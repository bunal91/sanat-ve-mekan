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Kendinizi tanıtın, dersin adını ve saatini söyleyin.
Sağdaki altı çizgi bu haftanın ilk egzersizi: aynı kalemle altı farklı ağırlıkta çizgi. Derse buradan gireceğiz.
Süre planı: teori ~60 dk, ara 10 dk, kurallar ve malzeme ~20 dk, ilk çizim 20 dk.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bir el kaldırma sorusu sorun: “Kaçınız çizim yapamadığını düşünüyor?” Genelde yarısı el kaldırır.
Bunu tehdit olarak değil veri olarak alın: 14. haftada aynı soruyu tekrar soracağız ve ön test/son test çizimleriyle karşılaştıracağız.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Ajanda. Son maddeyi vurgulayın: ders bitmeden herkes 20 dakikalık bir çizim yapacak ve teslim edecek. Bu çizim 14. haftaya kadar geri verilmeyecek.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1: tarihsel ve kavramsal giriş. Üç durak: Blombos, Plinius, Vasari.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Vurgu: insanın yaptığı en eski çizim bir alet değil. İşlevi yok. İşaret bırakma isteği aletten önce gelmiş olabilir.
Soru sorun: “Bugün sıkıldığınızda defterin kenarına ne çiziyorsunuz?” Aynı davranış.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hikâyeyi anlatırken ışığı kapatıp telefon fenerinizi bir öğrencinin profiline tutabilirsiniz. Duvardaki gölgenin konturunu parmakla gösterin. On saniye sürer ve dersin en akılda kalan anı olur.
İç mimarlık vurgusu: ilk çizim yüzeyi bir duvardı.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Türkçede bu bağ kayboluyor: “çizim” ve “tasarım” ayrı kelimeler. İtalyancada tek kelime. Öğrencilere bunun tesadüf olmadığını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 durak. Probité: dürüstlük, doğruluk, sağlamlık. Ingres için çizim, işin yalan söyleyemeyeceği yerdir — renk ve efekt gizler, çizgi gizlemez.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2. Buradan itibaren ders pratikleşiyor.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Buradaki en iyi gösterim: tahtaya “bir ev çizin” deyip 10 saniye verin. Neredeyse herkes üçgen çatılı kare çizer — çoğunun yaşadığı ev öyle değildir. Şema budur.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tabloyu öğrencilere fotoğraflatın. Dönem boyunca “şu an hangi beceriyi çalışıyoruz?” diye sorabilirsiniz.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alıntı dersin en pratik cümlesi. El zaten yeterince beceriklidir; imza atabiliyorsanız çizebilirsiniz. Eğitilecek olan göz.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3: dersin mesleki gerekçesi. Buradan sonra öğrenciler “bu neden zorunlu ders?” sorusunun yanıtını almış olmalı.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örnek verin: bir plan eskizinde iki çizgi yanlışlıkla kesişir, siz oraya bakarken bir eşik fikri doğar. Bu, kazayla değil eskizin doğasıyla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Öğrencilerin çoğu üniversiteye “kural koyucu eskiz” beklentisiyle gelir: temiz, bitmiş, gösterilebilir. Oysa mesleğin can damarı birincisidir ve o dağınıktır. Bunu erken söyleyin — süreç dosyası kuralının gerekçesi budur.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 dersin dijital politikasını duyurabilirsiniz: cetvel yok, şablon yok, üretken yapay zekâ görseli yok. Gerekçe bu slaytta.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Not: Bu söz Le Corbusier'ye yaygın biçimde atfedilir; birincil kaynağı kesin olarak gösterilemiyor. Derste kullanırken “atfedilir” demek dürüst olanı — ve bu, öğrenciye kaynak titizliği konusunda iyi bir örnek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4: 2. haftanın önizlemesi. Kısa tutun, merak uyandırın.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Kandinsky'nin iddiası bir hipotezdir ve bu derste onu gerçekten test edeceğiz: 2. haftada duygu matrisleri üretip birbirimizin kartlarını etiketsiz okuyacağız, isabet oranını tahtaya yazacağız.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yedi ayar 2. haftanın duygu matrisinin malzemesi. Şimdi kısa bir deneme yaptırabilirsiniz: herkes defterine 30 saniyede “tedirginlik” çizsin — yüz, sembol, ok yok, sadece çizgi. Üç tanesini gösterin.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5: dersin yapısı. Buradan sonra pratik bilgi.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hafta Vize 1 teslimi olduğu için modül listesinde yok — bunu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Takvimi öğrencilerle birlikte okumayın, sadece işaretli üç haftayı vurgulayın: 7, 11 ve 14. Geri kalanı izlencede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 sınav olmadığını duyunca rahatlar; hemen ardından stüdyo mührü kuralını duyurun (29. slayt) ki bunun daha kolay değil, daha sürekli bir sistem olduğu anlaşılsın.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mümkünse gerçek bir örnek gösterin (elinizdeki mavi tonlu katmanlı kart fotoğrafı). Türün adı: pop-up shadow box card / layered papercut diorama. Tarihsel dayanağı Hoogstraten'in perspektif kutusu (1655-60) ve tunnel book geleneği.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Serginin ölçme yanını anlatın: öğrencinin hedeflediği atmosfer kapalı zarfta hocada duracak, sergi sonunda hedeflenen ile algılanan karşılaştırılacak. Bu, 2. haftadaki sorunun mekân ölçeğinde tekrarı.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6: pratik kısım. Buradan sonrası öğrencinin not alması gereken bilgi.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Defteri ilk hafta getirtmeyin — malzeme listesini bu derste veriyorsunuz. Defter protokolü 2. haftadan itibaren işlemeye başlasın, ama sözleşmeyi bugün duyurun.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kuralı iyi anlatın: sınavın yerine geçen şey bu. Sınav olmaması, işin kolaylaşması değil — üretimin stüdyoya taşınması demek.
Mühür için küçük bir tarih kaşesi alın; ıslak imza her hafta 30 öğrenci için yorucu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Kampüse yakın kırtasiyeyi söyleyin. Bütçesi kısıtlı öğrenciler için: 2B tek kalem + defter ile de ilk üç hafta geçilebilir; kimse malzeme yüzünden geri kalmasın.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Dönemin motto'su bu olabilir. Süreç dosyası kuralının, 'temiz dosya düşük not alır' maddesinin ve günde 15 dakikanın hepsi bu cümleden çıkıyor.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Süreyi tam tutun. Çizim sırasında dolaşın ama kritik vermeyin — bu bir ölçüm, ders değil.
Çizimleri toplayıp tarih atın, kapalı bir zarfta saklayın. 14. haftaya kadar kimseye göstermeyin.
Toplarken tek cümle söyleyin: 'Bunu kaybetmeyeceğim ve kimseyle paylaşmayacağım.'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İzlenceyi ve rubriği bugün dağıtın — rubriğin ilk haftada paylaşılması dersin ölçme kurgusunun bir parçası.
Gelecek hafta için tek hazırlık: defter ve kalemler.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2588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İÇ MİMARLIK LİSANS · 1. SINIF · 1. HAFTA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8412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Serbest Çizim</a:t>
            </a:r>
            <a:endParaRPr lang="en-US" sz="6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Teknikleri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2245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 giriş: çizim neden bir düşünme aracıdır?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hafta  ·  4 modül  ·  11 atölye  ·  sınav yok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0" y="2148840"/>
            <a:ext cx="1828800" cy="0"/>
          </a:xfrm>
          <a:prstGeom prst="line">
            <a:avLst/>
          </a:prstGeom>
          <a:noFill/>
          <a:ln w="7620">
            <a:solidFill>
              <a:srgbClr val="4A54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0" y="2532888"/>
            <a:ext cx="1828800" cy="0"/>
          </a:xfrm>
          <a:prstGeom prst="line">
            <a:avLst/>
          </a:prstGeom>
          <a:noFill/>
          <a:ln w="12700">
            <a:solidFill>
              <a:srgbClr val="4A54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0" y="2916936"/>
            <a:ext cx="1828800" cy="0"/>
          </a:xfrm>
          <a:prstGeom prst="line">
            <a:avLst/>
          </a:prstGeom>
          <a:noFill/>
          <a:ln w="20320">
            <a:solidFill>
              <a:srgbClr val="4A54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3300984"/>
            <a:ext cx="1828800" cy="0"/>
          </a:xfrm>
          <a:prstGeom prst="line">
            <a:avLst/>
          </a:prstGeom>
          <a:noFill/>
          <a:ln w="30480">
            <a:solidFill>
              <a:srgbClr val="7FA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3685032"/>
            <a:ext cx="1828800" cy="0"/>
          </a:xfrm>
          <a:prstGeom prst="line">
            <a:avLst/>
          </a:prstGeom>
          <a:noFill/>
          <a:ln w="43180">
            <a:solidFill>
              <a:srgbClr val="7FA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4069080"/>
            <a:ext cx="1828800" cy="0"/>
          </a:xfrm>
          <a:prstGeom prst="line">
            <a:avLst/>
          </a:prstGeom>
          <a:noFill/>
          <a:ln w="63500">
            <a:solidFill>
              <a:srgbClr val="7FA9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çizgi ağırlığı merdiveni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BAŞLARKEN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34440"/>
            <a:ext cx="6035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bir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yetenek dersi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değil.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7223760" y="123444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43800" y="1554480"/>
            <a:ext cx="35478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öğrenilebilir bir beceridir.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derste ölçtüğümüz şey doğuştan gelen bir hüner değil;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gören, ölçen, kuran ve anlatan bir el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üç hafta sizden “doğru çizim” istemeyeceğiz. Ölçüm baskısı 5. haftada başlıyor. Bu sıralama bilinçli.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0292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“Kalem, hayal eden zihin ile beliren imge arasındaki köprüdür.”  — Juhani Pallasmaa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BUGÜN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derste ne konuşacağız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490472" y="1847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nedir?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90472" y="22037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73.000 yıllık bir alışkanlık, bir gölge ve bir kelime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976872" y="1847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Görmek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976872" y="22037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hepimiz aynı sandalyeyi çiziyoruz?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72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904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Düşünmek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90472" y="3502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Eskiz bir sunum aracı değil, bir düşünme aracıdır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172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3502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Nokta, çizgi, yüzey — ve duygunun grameri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90472" y="444398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Dönem planı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90472" y="4800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hafta, iki teslim, bir sergi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76872" y="444398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Beklentiler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4800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Defter, kurallar, malzeme — ve bugünkü ilk çizim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nedir?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alet değil, bir işaret bırakma alışkanlığı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ÇİZİM NEDİR?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51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73.000</a:t>
            </a:r>
            <a:endParaRPr lang="en-US" sz="7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957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100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yıl önce, bir taş parçasının üzerine</a:t>
            </a:r>
            <a:endParaRPr lang="en-US" sz="21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100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dokuz çizgi çizildi.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290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Güney Afrika, Blombos Mağarası.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uçlu bir aşıboyası parçası kalem gibi kullanılarak silkrit bir yonga üzerine çizilmiş çapraz tarama. Bilinen en eski çizim — kendisinden önceki bilinen örnekleri en az 30.000 yıl geride bırakıyor.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Önemli olan şu: bu bir alet değil. Kesmiyor, taşımıyor, işe yaramıyor.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bir işaret.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051560"/>
            <a:ext cx="4645152" cy="42062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06640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73568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0496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07424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74352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0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9480" y="228600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69480" y="306324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9480" y="384048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663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dokuz çizgilik çapraz tarama · şematik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Henshilwood ve ark., “An abstract drawing from the 73,000-year-old levels at Blombos Cave, South Africa”, Nature, 12 Eylül 2018.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ÇİZİM NEDİR?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bir gölgeden doğdu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Plinius, </a:t>
            </a:r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 Tarihi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(MS 77–79): Korintli çömlekçi Butades’in kızı, ertesi gün yola çıkacak sevgilisinin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 ışığıyla duvara düşen gölgesinin konturunu çizer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Babası bu ize kil basıp fırınlar; iş, Korint’in yıkılışına (MÖ 146) dek Nymphalar Tapınağı’nda saklanır.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Batı düşüncesinde bu, hem çizimin hem kabartmanın kuruluş anlatısıdır. Bizim için üç şey söylüyor: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014216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3977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bir kayıptan doğar.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251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Gitmekte olan bir şeyi tutma girişimi.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672584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46360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çizim bir duvarın üzerindeydi.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910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Yani ilk çizim yüzeyi bir iç mekândı.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5330952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52943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Kontur, ışığın bıraktığı sınırdır.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56869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icat edilmedi — bulundu.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35240" y="3246120"/>
            <a:ext cx="329184" cy="32918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52360" y="3657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kandil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006840" y="2377440"/>
            <a:ext cx="0" cy="228600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4709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figür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561320" y="2148840"/>
            <a:ext cx="146304" cy="2743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95560" y="4956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duvar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707624" y="2377440"/>
            <a:ext cx="457200" cy="22860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3291840"/>
            <a:ext cx="2743200" cy="-86868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863840" y="3456432"/>
            <a:ext cx="2743200" cy="123444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0625328" y="49560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gölge = ilk çizgi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Plinius, Naturalis Historia, XXXV. Türün resim sanatındaki karşılığı için: “Butades / Korintli Kız” anlatısı.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ÇİZİM NEDİR?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Disegno: çizim ile tasarım aynı kelimedir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İtalyanca </a:t>
            </a:r>
            <a:pPr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hem “çizim” hem “tasarım” demektir. Vasari 1568’de onu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“üç sanatın babası”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 tanımlar: mimarlık, heykel, resim. Ona göre disegno elin değil,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zihnin işidir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çizim, aklın dışarı çıkmış hâlidir. Tarihin ilk güzel sanatlar akademisinin adı da budur: Accademia delle Arti del Disegno.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1605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dersin var oluş sebebi bu kelimede saklı: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çizmeyi öğrenmek, tasarlamayı öğrenmenin bir parçasıdır.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0" y="2148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disegno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589520" y="3044952"/>
            <a:ext cx="50292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3209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 işi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589520" y="3913632"/>
            <a:ext cx="50292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37307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078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zihnin işi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4800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tek kelime, iki iş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Giorgio Vasari, Le Vite, 2. baskı, 1568. Accademia delle Arti del Disegno, Floransa, 1563.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Çizim, sanatın dürüstlüğüdür.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JEAN-AUGUSTE-DOMINIQUE INGRES  ·  “Le dessin est la probité de l’art.”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Görmek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Çizmenin zor kısmı el değil, göz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GÖRMEK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Neden hepimiz aynı sandalyeyi çiziyoruz?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Beyin ekonomiktir. Bir nesneye her baktığında onu yeniden görmez; daha önce kurduğu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şemayı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çağırır. “Sandalye” dendiğinde zihninizde beliren şey karşınızdaki sandalye değil,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sandalye fikridir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dört bacak, bir oturma yüzeyi, bir sırt.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Elinizden çıkan da budur. Bu bir yetenek eksikliği değil;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algının varsayılan ayarıdır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Dersin ilk işi bu ayarı geçici olarak kapatmayı öğretmek.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37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4’te bunu beş yöntemle deneyeceğiz: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kör kontur · modifiye kontur · jest · negatif alan · sentez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0" y="1737360"/>
            <a:ext cx="4279392" cy="36576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BİLDİĞİN SANDALYE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3063240"/>
            <a:ext cx="1371600" cy="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3063240"/>
            <a:ext cx="0" cy="77724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52560" y="3063240"/>
            <a:ext cx="0" cy="77724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0" y="2423160"/>
            <a:ext cx="0" cy="64008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GÖRDÜĞÜN SANDALYE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646920" y="4800600"/>
            <a:ext cx="1325880" cy="-256032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10928" y="4846320"/>
            <a:ext cx="146304" cy="475488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4572000"/>
            <a:ext cx="91440" cy="548640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4754880"/>
            <a:ext cx="256032" cy="-566928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5029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aynı nesne, iki farklı iş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GÖRMEK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Çizmek beş ayrı beceriye ayrılabilir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Betty Edwards, algısal çizimi öğretilebilir beş bileşene ayırır. Hepsi ayrı ayrı çalışılabilir — ve bu dersin haftaları bu beşliyi izler.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514600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25328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Kenarları görmek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25603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5694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227832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918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3246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Boşlukları görmek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2735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alan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32826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941064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0507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44168" y="39593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İlişkileri görmek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 ve perspektif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959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5, 8, 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654296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183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44168" y="46725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ve gölgeyi görmek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4700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 ve değer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47091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10, 11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5367528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4315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53858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Bütünü görmek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5413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kompozisyon ve sentez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54223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13, 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Betty Edwards, Drawing on the Right Side of the Brain — algısal çizimin beş bileşen becerisi.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Sorun görmek — daha doğrusu,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belirli bir görme biçimine geçebilmek.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BETTY EDWARDS  ·  Drawing on the Right Side of the Brain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Düşünmek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Eskiz bir sunum aracı değil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DÜŞÜNMEK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Eskiz, kendinizle kurduğunuz bir konuşmadır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bilişi araştırmacısı Gabriela Goldschmidt eskizi bir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diyalektik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olarak tanımlar: çizersiniz, çizdiğinize bakarsınız,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beklemediğiniz bir şey görürsünüz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ona göre yeniden çizersiniz. Süreç, yeterli tutarlılığa ulaştığınızda durur.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eskizin bulanıklığı bir kusur değildir.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Belirsizlik, alternatif üretiminin motorudur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net bir çizgi tek bir okuma verir, belirsiz bir çizgi beş okuma verir.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617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Bir fikir 30 saniyede kâğıda düşmüyorsa,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tasarım süreci yavaşlar.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132320" y="1737360"/>
            <a:ext cx="4279392" cy="36576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2286000"/>
            <a:ext cx="310896" cy="310896"/>
          </a:xfrm>
          <a:prstGeom prst="ellipse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138160" y="2304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90688" y="2615184"/>
            <a:ext cx="0" cy="429768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5240" y="3063240"/>
            <a:ext cx="310896" cy="310896"/>
          </a:xfrm>
          <a:prstGeom prst="ellipse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3081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90688" y="3392424"/>
            <a:ext cx="0" cy="429768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3840480"/>
            <a:ext cx="310896" cy="310896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3858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90688" y="4169664"/>
            <a:ext cx="0" cy="429768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35240" y="4617720"/>
            <a:ext cx="310896" cy="310896"/>
          </a:xfrm>
          <a:prstGeom prst="ellipse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8160" y="4636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yeniden çiz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635240" y="5029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döngü, tutarlılığa ulaşınca durur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Gabriela Goldschmidt, “The Dialectics of Sketching” ve “Manual Sketching: Why Is It Still Relevant?”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DÜŞÜNMEK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Üç tür eskiz, üç farklı iş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33192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606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Düşünme eskizi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310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thinking sketch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703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Kendinize çizersiniz. Kimse görmeyecek. Hızlı, dağınık, çok sayıda. Fikrin doğduğu yer burasıdır.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9120" y="1874520"/>
            <a:ext cx="33192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606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Konuşma eskizi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310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talking sketch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703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Birine çizersiniz. Stüdyoda hocanızla, ofiste ekiple. Ortak bir zemin kurar — kelimelerin yetmediği yerde.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01000" y="1874520"/>
            <a:ext cx="33192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06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 koyucu eskiz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10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prescriptive sketch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703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Uygulayana çizersiniz. Ne yapılacağını söyler; ölçülü, net, bağlayıcı.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34924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derste üçünü de çalışacağız — ama ağırlık birincide.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Eugene S. Ferguson, Engineering and the Mind’s Eye (1992) — eskizin üç türü.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DÜŞÜNMEK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El, zihnin uzantısıdır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6675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Juhani Pallasmaa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Düşünen El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’de mimarlık eğitimine bir eleştiri getirir: eğitim kavramsal, sözel ve entelektüel bilgiyi öne çıkarırken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bedensel süreçlerin sessiz bilgisini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geri plana atıyor. Oysa sanatçının ya da mimarın elindeki kalem,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hayal eden zihin ile beliren imge arasındaki köprüdür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araç bu köprüyü kısaltmaz — atlar. Bu derste elle çizmemizin sebebi nostalji değil: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el, gözün öğrendiğini kaydeden yerdir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818120" y="1783080"/>
            <a:ext cx="3593592" cy="32918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2194560"/>
            <a:ext cx="457200" cy="45720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23960" y="2267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412480" y="2670048"/>
            <a:ext cx="0" cy="374904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3063240"/>
            <a:ext cx="457200" cy="457200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2396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412480" y="3538728"/>
            <a:ext cx="0" cy="374904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3880" y="3931920"/>
            <a:ext cx="457200" cy="45720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40050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zihin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4343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kapalı bir döngü 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üçü aynı anda çalışır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Juhani Pallasmaa, The Thinking Hand: Existential and Embodied Wisdom in Architecture, Wiley, 2009.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Konuşmaktansa çizmeyi tercih ederim.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Çizmek daha hızlıdır ve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yalana daha az yer bırakır.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CORBUSIER’YE ATFEDİLİR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Çizgi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Nokta, çizgi, yüzey — ve duygunun grameri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ÇİZGİ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Nokta, çizgi, yüzey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Kandinsky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 ve Çizgiden Düzleme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’de (Bauhaus, 1926) tek bir iddia kurar: nokta, çizgi ve yüzeyin farklı kurguları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duygusal etkiler üretir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Ona göre her resimsel biçim bir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ve karşı-kuvvetler oyunudur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Klee ise aynı yıllarda çizgiyi bir hareket olarak tanımlar: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“Kendi başına yürüyüşe çıkmış aktif bir çizgi. Yürüyüş için yürüyüş.”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(Pedagojik Eskiz Defteri, 1925)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548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hafta: duyguyu çizgiyle anlatma atölyesi.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hafta: bir şarkının grafik partisyonu.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52560" y="2286000"/>
            <a:ext cx="182880" cy="1828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509760" y="22311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nokta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0" y="3200400"/>
            <a:ext cx="2377440" cy="0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çizgi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3794760"/>
            <a:ext cx="2377440" cy="1188720"/>
          </a:xfrm>
          <a:prstGeom prst="rect">
            <a:avLst/>
          </a:prstGeom>
          <a:solidFill>
            <a:srgbClr val="C9CCCE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4251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yüzey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Wassily Kandinsky, Punkt und Linie zu Fläche, Bauhausbücher 9, 1926 · Paul Klee, Pädagogisches Skizzenbuch, 1925.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ÇİZGİ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Elinizde yedi ayar var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tek bir şey değil. Aşağıdakiler bilinçli olarak kontrol edilebilir — ve her biri okuyucuya farklı bir şey söyler.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Basınç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hafif ↔ bastırılmış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33272" y="3456432"/>
            <a:ext cx="1920240" cy="0"/>
          </a:xfrm>
          <a:prstGeom prst="line">
            <a:avLst/>
          </a:prstGeom>
          <a:noFill/>
          <a:ln w="9525">
            <a:solidFill>
              <a:srgbClr val="1B1F2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yavaş ↔ savrulmuş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0752" y="3456432"/>
            <a:ext cx="1920240" cy="0"/>
          </a:xfrm>
          <a:prstGeom prst="line">
            <a:avLst/>
          </a:prstGeom>
          <a:noFill/>
          <a:ln w="19050">
            <a:solidFill>
              <a:srgbClr val="1B1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Süreklilik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kesintisiz ↔ kırık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28232" y="3456432"/>
            <a:ext cx="1920240" cy="0"/>
          </a:xfrm>
          <a:prstGeom prst="line">
            <a:avLst/>
          </a:prstGeom>
          <a:noFill/>
          <a:ln w="31750">
            <a:solidFill>
              <a:srgbClr val="1B1F24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86968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2571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Ritim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2571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düzenli ↔ düzensiz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25712" y="3456432"/>
            <a:ext cx="1920240" cy="0"/>
          </a:xfrm>
          <a:prstGeom prst="line">
            <a:avLst/>
          </a:prstGeom>
          <a:noFill/>
          <a:ln w="44450">
            <a:solidFill>
              <a:srgbClr val="1B1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Yoğunluk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seyrek ↔ sık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3327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ysDash"/>
          </a:ln>
        </p:spPr>
      </p:sp>
      <p:sp>
        <p:nvSpPr>
          <p:cNvPr id="25" name="Shape 23"/>
          <p:cNvSpPr/>
          <p:nvPr/>
        </p:nvSpPr>
        <p:spPr>
          <a:xfrm>
            <a:off x="347472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3075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Açısallık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73075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yumuşak ↔ keskin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3075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dashDot"/>
          </a:ln>
        </p:spPr>
      </p:sp>
      <p:sp>
        <p:nvSpPr>
          <p:cNvPr id="29" name="Shape 27"/>
          <p:cNvSpPr/>
          <p:nvPr/>
        </p:nvSpPr>
        <p:spPr>
          <a:xfrm>
            <a:off x="617220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823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2823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yatay ↔ düşey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2823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25712" y="4343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ve ikisi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arada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Dönem planı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hafta, iki teslim, bir sergi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Dört modül, sarmal ilerleyiş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modül bir öncekinin becerisini yeni bir bağlamda geri getirir. Çizgi 2. haftada ifade, 10. haftada ton, 11. haftada dokudur.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2697480"/>
            <a:ext cx="1920240" cy="0"/>
          </a:xfrm>
          <a:prstGeom prst="line">
            <a:avLst/>
          </a:prstGeom>
          <a:noFill/>
          <a:ln w="12700">
            <a:solidFill>
              <a:srgbClr val="1B1F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Çizginin Grameri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ne söyler?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1–3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30752" y="2697480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B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Görmenin İnşası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Gördüğümü nasıl doğru kurarım?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4–6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28232" y="2697480"/>
            <a:ext cx="1920240" cy="0"/>
          </a:xfrm>
          <a:prstGeom prst="line">
            <a:avLst/>
          </a:prstGeom>
          <a:noFill/>
          <a:ln w="44450">
            <a:solidFill>
              <a:srgbClr val="1B1F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823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C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2823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 Temsili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boyutu ikide nasıl inandırırım?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8–11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968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25712" y="2697480"/>
            <a:ext cx="1920240" cy="0"/>
          </a:xfrm>
          <a:prstGeom prst="line">
            <a:avLst/>
          </a:prstGeom>
          <a:noFill/>
          <a:ln w="63500">
            <a:solidFill>
              <a:srgbClr val="1B1F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12571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ve Atmosfer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2571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Derinliği nasıl kurarım?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12571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12–14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57784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çubuklarının kalınlığı dersin kendi konusudur: çizgi ağırlığı hiyerarşisi.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 dört hafta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99032" y="1856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Nokta, iz, jest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25856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41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99032" y="24231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Çizginin duygusu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2549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99032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Sesin notasyonu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3392424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57530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99032" y="35570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Kontur, jest, negatif alan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959352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4223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99032" y="41239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Ölçü, oran, eksen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4526280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70916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99032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Hacim: temel katılar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09320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276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99032" y="5257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1 · Çizgi Sözlüğü teslimi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66013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187452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85432" y="1856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 I: tek kaçış noktası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263640" y="225856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441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85432" y="24231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 II: mobilya ve ölçek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63640" y="282549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300837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Işık, değer, atmosferik perspektif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63640" y="3392424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63640" y="357530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85432" y="35570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ve doku · VİZE 2 teslimi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63640" y="3959352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63640" y="414223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885432" y="41239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Etüd haftası: yerinde çizim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263640" y="4526280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470916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85432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stüdyosu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263640" y="509320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63640" y="5276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885432" y="5257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SERGİ: Derinlik Odası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263640" y="566013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Sınav yok. Üç teslim var.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Hiçbirinde sınav salonu, kapalı kapı veya süre baskısı yok. Üçü de teslim edilen ve duvarda savunulan işler.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VİZE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Sözlüğü dosyası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7 · 6 pafta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8172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VİZE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 Dosyası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11 · 6 pafta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0100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%30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FİNAL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diyoraması + sergi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9360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 %30: eskiz defteri ve haftalık stüdyo üretimi %15  ·  ara ödevler %15 (5 ödev, en iyi 4’ü sayılır)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4406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teslimde 5 dakikalık masa savunması var. Sorular tekniğe değil, kararlarınıza yönelik olacak.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Final: katman diyoraması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760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Katlanınca düz duran, açılınca derinleşen, kesilmiş kâğıt katmanlardan kurulmuş bir mekân sahnesi.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katman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aralarında boşluk, önde bir çerçeve. Konu: 12. haftada sahada kendi çizdiğiniz gerçek bir iç mekân.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kesin kural: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katman önce elle çizilir; kesim çizimin türevidir.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37083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Asıl kararınız: değer sistemi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828032"/>
            <a:ext cx="402336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4828032"/>
            <a:ext cx="402336" cy="457200"/>
          </a:xfrm>
          <a:prstGeom prst="rect">
            <a:avLst/>
          </a:prstGeom>
          <a:solidFill>
            <a:srgbClr val="5F676D"/>
          </a:solidFill>
          <a:ln w="12700">
            <a:solidFill>
              <a:srgbClr val="5F676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4828032"/>
            <a:ext cx="402336" cy="457200"/>
          </a:xfrm>
          <a:prstGeom prst="rect">
            <a:avLst/>
          </a:prstGeom>
          <a:solidFill>
            <a:srgbClr val="7B8288"/>
          </a:solidFill>
          <a:ln w="12700">
            <a:solidFill>
              <a:srgbClr val="7B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48840" y="4828032"/>
            <a:ext cx="402336" cy="457200"/>
          </a:xfrm>
          <a:prstGeom prst="rect">
            <a:avLst/>
          </a:prstGeom>
          <a:solidFill>
            <a:srgbClr val="959B9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06040" y="4828032"/>
            <a:ext cx="402336" cy="4572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3240" y="4828032"/>
            <a:ext cx="402336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3583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mesafe mantığı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0" y="4828032"/>
            <a:ext cx="402336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4828032"/>
            <a:ext cx="402336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4828032"/>
            <a:ext cx="402336" cy="457200"/>
          </a:xfrm>
          <a:prstGeom prst="rect">
            <a:avLst/>
          </a:prstGeom>
          <a:solidFill>
            <a:srgbClr val="959B9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4828032"/>
            <a:ext cx="402336" cy="457200"/>
          </a:xfrm>
          <a:prstGeom prst="rect">
            <a:avLst/>
          </a:prstGeom>
          <a:solidFill>
            <a:srgbClr val="414950"/>
          </a:solidFill>
          <a:ln w="12700">
            <a:solidFill>
              <a:srgbClr val="414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0" y="4828032"/>
            <a:ext cx="402336" cy="4572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4828032"/>
            <a:ext cx="402336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0" y="53583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grafik mantık (notan)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70585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doğrudur — karıştırılması yanlıştır.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1737360"/>
            <a:ext cx="4507992" cy="39776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2468880"/>
            <a:ext cx="0" cy="2011680"/>
          </a:xfrm>
          <a:prstGeom prst="line">
            <a:avLst/>
          </a:prstGeom>
          <a:noFill/>
          <a:ln w="50800">
            <a:solidFill>
              <a:srgbClr val="232A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48472" y="2468880"/>
            <a:ext cx="0" cy="2011680"/>
          </a:xfrm>
          <a:prstGeom prst="line">
            <a:avLst/>
          </a:prstGeom>
          <a:noFill/>
          <a:ln w="50800">
            <a:solidFill>
              <a:srgbClr val="41495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61704" y="2468880"/>
            <a:ext cx="0" cy="2011680"/>
          </a:xfrm>
          <a:prstGeom prst="line">
            <a:avLst/>
          </a:prstGeom>
          <a:noFill/>
          <a:ln w="50800">
            <a:solidFill>
              <a:srgbClr val="5F676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74936" y="2468880"/>
            <a:ext cx="0" cy="2011680"/>
          </a:xfrm>
          <a:prstGeom prst="line">
            <a:avLst/>
          </a:prstGeom>
          <a:noFill/>
          <a:ln w="50800">
            <a:solidFill>
              <a:srgbClr val="7B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88168" y="2468880"/>
            <a:ext cx="0" cy="2011680"/>
          </a:xfrm>
          <a:prstGeom prst="line">
            <a:avLst/>
          </a:prstGeom>
          <a:noFill/>
          <a:ln w="50800">
            <a:solidFill>
              <a:srgbClr val="959B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3488" y="2377440"/>
            <a:ext cx="118872" cy="2194560"/>
          </a:xfrm>
          <a:prstGeom prst="rect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18520" y="2377440"/>
            <a:ext cx="118872" cy="219456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çerçeve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0744200" y="4663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0" y="5074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üstten kesit · açıkken 6–12 cm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326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Dönem bir sergiyle bitiyor: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“Derinlik Odası”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Diyoramalar göz hizasında dizilecek. Her işin yanındaki duvarda o işin katman çizimleri ve değer sistemi paftası asılı olacak.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i="1" dirty="0">
                <a:solidFill>
                  <a:srgbClr val="7FA9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Ziyaretçi önce sahneye bakıp derinliği yaşar.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i="1" dirty="0">
                <a:solidFill>
                  <a:srgbClr val="7FA9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Sonra yana döner ve o derinliğin birkaç düz çizimden nasıl kurulduğunu görür.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486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 bir kutlama değil — dersin son ölçme aracı. Ziyaretçiler her iş için tek bir soruyu yanıtlayacak: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 mekânda kendinizi nasıl hissettiniz?”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Beklentiler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Defter, kurallar, malzeme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6 · BEKLENTİLER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Eskiz defteri sözleşmesi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6596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2240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dakika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her gün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611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Haftada en az 5 gün. Her sayfada tarih ve süre. Konu serbest — ama haftanın tekniğinden en az iki sayfa.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 her hafta stüdyoda masanızda açık duracak.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1480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günde 15 dakika?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788920"/>
            <a:ext cx="44165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Çizim, haftada bir kez üç saat çalışılarak öğrenilmez. El alışkanlığı sıklıkla kurulur, süreyle değil.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 aynı zamanda dönem sonunda </a:t>
            </a:r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olacak: ilk hafta ve son hafta yaptığınız çizimi yan yana koyacağız.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6 · BEKLENTİLER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Beş kural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365760" cy="365760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11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47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Stüdyo mührü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128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ders sonunda o gün stüdyoda ürettiğiniz sayfaları tarihleyip paraflayacağım. Vize ve final dosyalarında sayfaların en az %60’ı paraflı olmak zorunda.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4708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1911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47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Cetvel yok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2128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haftada cetvel, gönye veya şablon kullanılmıyor. Perspektif haftaları dâhil. Dersin adı serbest çizim.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26440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3284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dosyası zorunlu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3016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Reddedilen denemeler, yırtılan sayfalar, ilk taslaklar dâhil teslim edilir. Temiz bir süreç dosyası düşük not alır.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26440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3284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Şablon ve yapay zekâ yok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63016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kesim şablonu, indirilmiş dosya, plotter kesimi ve üretken yapay zekâ görseli kullanılmaz. Ders el–göz–zihin döngüsünü ölçüyor.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468172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4573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6817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04748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Stüdyo dersinde devam zorunlu. Üretim burada oluyor; kaçırdığınız hafta telafi edilmiyor, birikiyor.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2356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ödevi kritiği uygulayarak 13. haftaya kadar bir kez yeniden teslim edebilirsiniz. Bu ders öğrenmeyi ödüllendirir.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6 · BEKLENTİLER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Malzeme listesi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haftaya kadar temin edilmeli. Toplam maliyet 400–700 TL bandında tutulabilir.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5148072" cy="33832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24712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ZORUNLU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24712" y="2880360"/>
            <a:ext cx="4526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dikişli eskiz defteri, 100+ gr — dönem defteri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eskiz bloğu, en az 50 yaprak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Kurşun kalem: HB, 2B, 4B, 6B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kömür kalem + sıkıştırılmış kömür çubuk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Fineliner 0.1 / 0.3 / 0.5, siyah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 marker seti, 3 ton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Hamur silgi + normal silgi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Kâğıt kıskacı ve A3 çizim altlığı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2286000"/>
            <a:ext cx="5148072" cy="33832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11112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ÖNERİLEN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88036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Sanguine/sepya çubuk + beyaz pastel — renkli kâğıt üzerine ışık için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 veya gri eskiz rulosu — üst üste eskiz için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Aydınger rulosu — 5. ve 12. haftada gerekli olacak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Katlanır tabure — 12. hafta saha etüdü için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50749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için gerekecek malzemeyi (fon kartonu, maket bıçağı, köpüklü bant) 11. haftada ayrıca duyuracağım.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İlk beş bin hatanızı ne kadar erken yaparsanız,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onları düzeltmeye o kadar erken başlarsınız.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KIMON NICOLAÏDES  ·  The Natural Way to Draw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ŞİMDİ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Bugünün son 20 dakikası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Teşhis çizimi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404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Kâğıdınıza adınızı ve bugünün tarihini yazın.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81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063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Yirmi dakikada iki şey çizin: tutmayan elinizi ve bir sandalyeyi.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398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7216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Silgi kullanabilirsiniz. Acele etmeyin, bitirmek zorunda değilsiniz.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9826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3799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Çizimi bana teslim edin.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212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çizimi 14. haftaya kadar görmeyeceksiniz.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49440" y="1783080"/>
            <a:ext cx="4462272" cy="39319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65176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haftada aynı görevi birebir tekrar yapacaksınız. Sonra bu çizimi size geri vereceğim.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İkisini yan yana koyup final dosyanızın ilk sayfası yapacaksınız.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çiziminizin “kötü” olması sorun değil — </a:t>
            </a:r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işimize yarayan şey o.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60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Çizim, insanın gördüğü şey değil,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başkalarına gösterebildiği şeydir.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79476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EDGAR DEGAS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09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hafta: çizginin duygusu.</a:t>
            </a:r>
            <a:endParaRPr lang="en-US" sz="20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Defterinizi getirin.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Serbest Çizim Teknikleri  ·  1. Hafta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Serbest Çizim Teknikleri — 1. Hafta</dc:title>
  <dc:subject>PptxGenJS Presentation</dc:subject>
  <dc:creator>Serbest Çizim Teknikleri</dc:creator>
  <cp:lastModifiedBy>Serbest Çizim Teknikleri</cp:lastModifiedBy>
  <cp:revision>1</cp:revision>
  <dcterms:created xsi:type="dcterms:W3CDTF">2026-09-03T09:48:24Z</dcterms:created>
  <dcterms:modified xsi:type="dcterms:W3CDTF">2026-09-03T09:48:24Z</dcterms:modified>
</cp:coreProperties>
</file>