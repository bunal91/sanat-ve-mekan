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Açılış. Süre planı: teori ~55 dk, kalem tutma ~25 dk, ara 10 dk, dönem planı ve kurallar ~25 dk, dışarı çıkma 60 dk.
Sağdaki altı çizgi bugünün ilk egzersizi: aynı kalemle altı farklı ağırlıkta çizgi.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kaldırma sorusu: “Kaçınız çizim yapamadığını düşünüyor?” Genelde yarısı el kaldırır. Bunu veri olarak alın; 14. haftada aynı soruyu tekrar soracağız.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 maddeyi vurgulayın: bugün dışarı çıkıyoruz. Hava durumuna göre yedek plan hazır olsun.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1. Her durağı dersin bir kuralına bağlayın — kronoloji ezberletmiyoruz.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Soru sorun: “Sıkıldığınızda defterin kenarına ne çiziyorsunuz?” Aynı davranış, 73.000 yıldır.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Işığı kapatıp telefon fenerini bir öğrencinin profiline tutun; duvardaki gölgenin konturunu parmakla gösterin. On saniye sürer, dersin en akılda kalan anı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Türkçede bu bağ kayboluyor: “çizim” ve “tasarım” ayrı kelimeler. İtalyancada tek kelime — bu tesadüf değil.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malzeme listesinin gerekçesi: 2H, HB, 2B, 4B, 6B istiyoruz çünkü kuruluş ve ton farklı sertlik istiyor.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4. haftanın dış zarf yöntemini önceden meşrulaştırıyor: yöntem yeni değil, 600 yıllık bir problemin elle çözümü.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Kısa geçin. Amaç: çizimin bir sır değil, ayrıştırılabilir bir beceri olduğunu göstermek.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Probité: dürüstlük, doğruluk, sağlamlık. Renk ve efekt gizler, çizgi gizlemez.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2: dersin yapısı. Bu diyagramı öğrencilere fotoğraflatın.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Dersin en önemli slaydı. Her hafta başında “bu hafta hangi adımdayız?” diye sorun.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ve 11. hafta teslim olduğu için evre listesinde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tabloyu fotoğraflatın. Dönem boyunca “şu an hangi beceriyi çalışıyoruz?” diye sorabilirsiniz.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Gösterim: tahtaya “bir ev çizin” deyip 10 saniye verin. Neredeyse herkes üçgen çatılı kare çizer — çoğunun yaşadığı ev öyle değildir. Şema budur.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Dersin en pratik cümlesi. El zaten yeterince beceriklidir; imza atabiliyorsanız çizebilirsiniz. Eğitilecek olan göz.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3: bugünün en pratik kısmı. Herkes kalemini çıkarsın, birlikte deneyeceğiz.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Burada 5 dakika ayakta uygulama yaptırın: herkes bir kâğıda önce bilekten, sonra omuzdan 30 cm'lik düz çizgi çeksin. Fark anında görülür.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Malzeme listesinde 2H, HB, 2B, 4B, 6B istememizin sebebi bu slayt.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Kısa deneme: herkes defterine 30 saniyede “tedirginlik” çizsin — yüz, sembol, ok yok, sadece çizgi. Üç tanesini gösterin. 2. haftanın önizlemesi.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Bugünkü dersin gerekçesi bu cümle: bu hafta teori yaptık, 13 hafta pratik yapacağız. İkisi ayrılmaz.
Not: Leonardo'nun defterlerinden derlenmiş bir cümledir; hangi kodekste geçtiği kesin değil — derste 'defterlerinden' demek yeterli ve dürüst.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4: pratik bilgi. Buradan sonrası not alınacak kısım.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Takvimi tek tek okumayın; işaretli üç haftayı vurgulayın: 7, 11 ve 14. Geri kalanı izlencede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Sınav olmadığını duyunca rahatlarlar; hemen ardından ev tekrarı sözleşmesini ve stüdyo mührünü duyurun.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 slayt dersin en çok itiraz alacak yeri. Net olun: tekrar zorunlu ve haftalık kontrol ediliyor. Karşılığında günlük defter yükü yok.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Mümkünse gerçek bir örnek gösterin. Türün adı: pop-up shadow box card / layered papercut diorama. Tarihsel dayanağı Hoogstraten'in perspektif kutusu (1655-60) ve tunnel book geleneği.
13. haftada kuru boya çalışacağız; renk serbest ama tek renk ailesi ve en az 5 değer kuralı 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Öğrencinin hedeflediği atmosfer kapalı zarfta hocada duracak; sergi sonunda hedeflenen ile algılanan karşılaştırılacak. Bu, 2. haftadaki sorunun mekân ölçeğinde tekrarı.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Bölüm 5: not alınacak kısım. Yavaş gidin.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Devam da zorunlu: %30 devamsızlık başarısızlık. Üretim burada oluyor; kaçırılan hafta telafi edilmiyor, birikiyor.
Mühür için küçük bir tarih kaşesi alın; 30 öğrenciye ıslak imza yorucu olur.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Kampüse yakın kırtasiyeyi söyleyin. Bütçe sıkıntısı olan öğrenciyle ders sonrası ayrı konuşun.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Dönemin mottosu. Süreç dosyası kuralı, “temiz dosya düşük not alır” maddesi ve ev tekrarı sözleşmesi hep bu cümleden çıkıyor.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Süreyi tam tutun. Dışarıda dolaşın ama kritik vermeyin — bu bir ölçüm, ders değil.
Sesli sorular sorun (yanıt beklemeden): Kaç parçadan oluşuyor? Parçalar nerede birleşiyor? En koyu yeri neresi? Neresi seni şaşırttı?
Çizimleri toplayıp tarihleyin, kapalı bir zarfta saklayın.
Yağmur ihtimaline karşı iç mekân yedeği: fakülte lobisinde bir nesne.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İzlenceyi ve rubriği bugün dağıtın — rubriğin ilk haftada paylaşılması ölçme kurgusunun bir parçası.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2588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İÇ MİMARLIK LİSANS · 1. SINIF · 1. HAFTA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84124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Serbest Çizim</a:t>
            </a:r>
            <a:endParaRPr lang="en-US" sz="6000" dirty="0"/>
          </a:p>
          <a:p>
            <a:pPr indent="0" marL="0">
              <a:lnSpc>
                <a:spcPts val="64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Teknikleri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2245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Derse giriş: çizim nedir, kalem nasıl tutulur, nasıl bakılır?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adım  ·  4 evre  ·  14 hafta  ·  sınav yok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9601200" y="2148840"/>
            <a:ext cx="1828800" cy="0"/>
          </a:xfrm>
          <a:prstGeom prst="line">
            <a:avLst/>
          </a:prstGeom>
          <a:noFill/>
          <a:ln w="7620">
            <a:solidFill>
              <a:srgbClr val="4A54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01200" y="2532888"/>
            <a:ext cx="1828800" cy="0"/>
          </a:xfrm>
          <a:prstGeom prst="line">
            <a:avLst/>
          </a:prstGeom>
          <a:noFill/>
          <a:ln w="12700">
            <a:solidFill>
              <a:srgbClr val="4A54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01200" y="2916936"/>
            <a:ext cx="1828800" cy="0"/>
          </a:xfrm>
          <a:prstGeom prst="line">
            <a:avLst/>
          </a:prstGeom>
          <a:noFill/>
          <a:ln w="20320">
            <a:solidFill>
              <a:srgbClr val="4A54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601200" y="3300984"/>
            <a:ext cx="1828800" cy="0"/>
          </a:xfrm>
          <a:prstGeom prst="line">
            <a:avLst/>
          </a:prstGeom>
          <a:noFill/>
          <a:ln w="30480">
            <a:solidFill>
              <a:srgbClr val="7FA9C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0" y="3685032"/>
            <a:ext cx="1828800" cy="0"/>
          </a:xfrm>
          <a:prstGeom prst="line">
            <a:avLst/>
          </a:prstGeom>
          <a:noFill/>
          <a:ln w="43180">
            <a:solidFill>
              <a:srgbClr val="7FA9C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4069080"/>
            <a:ext cx="1828800" cy="0"/>
          </a:xfrm>
          <a:prstGeom prst="line">
            <a:avLst/>
          </a:prstGeom>
          <a:noFill/>
          <a:ln w="63500">
            <a:solidFill>
              <a:srgbClr val="7FA9C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0" y="45262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çizgi ağırlığı merdiveni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BAŞLARKEN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34440"/>
            <a:ext cx="60350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bir</a:t>
            </a:r>
            <a:endParaRPr lang="en-US" sz="52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yetenek dersi</a:t>
            </a:r>
            <a:endParaRPr lang="en-US" sz="52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2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değil.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7223760" y="1234440"/>
            <a:ext cx="4187952" cy="36576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543800" y="1554480"/>
            <a:ext cx="354787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öğrenilebilir bir beceridir.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Ölçtüğümüz şey doğuştan gelen bir hüner değil;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gören, ölçen, kuran ve anlatan bir el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iki hafta sizden “doğru çizim” istemeyeceğiz. Ölçüm baskısı 3. haftada başlıyor. Bu sıralama bilinçli.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1206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“Kalem, hayal eden zihin ile beliren imge arasındaki köprüdür.”  — Juhani Pallasmaa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BUGÜN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derste ne konuşacağız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490472" y="1847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Çizimin kısa tarihi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490472" y="22037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73.000 yıl, bir gölge, bir kelime ve bir kalem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263640" y="18745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976872" y="1847088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Çizmenin dokuz adımı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976872" y="220370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Dersin omurgası: nokta'dan katmana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72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490472" y="314553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ve alet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90472" y="35021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nasıl tutulur, hangi kalem ne işe yarar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317296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976872" y="3145536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Dönem planı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976872" y="3502152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hafta, iki teslim, bir sergi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90472" y="444398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Kurallar ve malzeme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490472" y="4800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tekrarı sözleşmesi ve alışveriş listesi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447141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976872" y="4443984"/>
            <a:ext cx="4480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Dışarı çıkıyoruz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6976872" y="480060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Dersin son 60 dakikası: ilk çiziminiz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Çizimin kısa tarihi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Altı durak, altı kural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TARİHÇE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5156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73.000</a:t>
            </a:r>
            <a:endParaRPr lang="en-US" sz="7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3957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100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yıl önce, bir taş parçasının üzerine</a:t>
            </a:r>
            <a:endParaRPr lang="en-US" sz="21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100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dokuz çizgi çizildi.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42900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Güney Afrika, Blombos Mağarası. 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uçlu bir aşıboyası parçası kalem gibi kullanılarak silkrit bir yonga üzerine çizilmiş çapraz tarama. Bilinen en eski çizim — öncekileri en az 30.000 yıl geride bırakıyor.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Önemli olan şu: bu bir alet değil. Kesmiyor, taşımıyor, işe yaramıyor.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bir işaret.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766560" y="1051560"/>
            <a:ext cx="4645152" cy="42062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406640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73568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40496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07424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74352" y="1783080"/>
            <a:ext cx="868680" cy="2377440"/>
          </a:xfrm>
          <a:prstGeom prst="line">
            <a:avLst/>
          </a:prstGeom>
          <a:noFill/>
          <a:ln w="27940">
            <a:solidFill>
              <a:srgbClr val="232A2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241280" y="1783080"/>
            <a:ext cx="868680" cy="2377440"/>
          </a:xfrm>
          <a:prstGeom prst="line">
            <a:avLst/>
          </a:prstGeom>
          <a:noFill/>
          <a:ln w="27940">
            <a:solidFill>
              <a:srgbClr val="4149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69480" y="228600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269480" y="306324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69480" y="3840480"/>
            <a:ext cx="3566160" cy="0"/>
          </a:xfrm>
          <a:prstGeom prst="line">
            <a:avLst/>
          </a:prstGeom>
          <a:noFill/>
          <a:ln w="27940">
            <a:solidFill>
              <a:srgbClr val="5F676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6634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dokuz çizgilik çapraz tarama · şematik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Henshilwood ve ark., “An abstract drawing from the 73,000-year-old levels at Blombos Cave, South Africa”, Nature, 12 Eylül 2018.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TARİHÇE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 bir gölgeden doğdu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943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Plinius, </a:t>
            </a:r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Doğa Tarihi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(MS 77–79): Korintli çömlekçi Butades’in kızı, ertesi gün yola çıkacak sevgilisinin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kandil ışığıyla duvara düşen gölgesinin konturunu çizer</a:t>
            </a:r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Babası bu ize kil basıp fırınlar.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Batı düşüncesinde bu, çizimin kuruluş anlatısıdır. Bizim için üç şey söylüyor: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4014216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88720" y="39776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 bir kayıptan doğar.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4251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Gitmekte olan bir şeyi tutma girişimi.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77240" y="4672584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463600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İlk çizim bir duvarın üzerindeydi.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491032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Yani ilk çizim yüzeyi bir iç mekândı.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5330952"/>
            <a:ext cx="237744" cy="23774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88720" y="529437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Kontur, ışığın bıraktığı sınırdır.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556869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icat edilmedi — bulundu.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223760" y="173736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35240" y="3246120"/>
            <a:ext cx="329184" cy="329184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52360" y="365760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kandil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9006840" y="2377440"/>
            <a:ext cx="0" cy="228600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32520" y="47091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figür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561320" y="2148840"/>
            <a:ext cx="146304" cy="2743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07624" y="2377440"/>
            <a:ext cx="457200" cy="22860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0" y="3291840"/>
            <a:ext cx="2743200" cy="-868680"/>
          </a:xfrm>
          <a:prstGeom prst="line">
            <a:avLst/>
          </a:prstGeom>
          <a:noFill/>
          <a:ln w="12700">
            <a:solidFill>
              <a:srgbClr val="7FA9C6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7863840" y="3456432"/>
            <a:ext cx="2743200" cy="1234440"/>
          </a:xfrm>
          <a:prstGeom prst="line">
            <a:avLst/>
          </a:prstGeom>
          <a:noFill/>
          <a:ln w="12700">
            <a:solidFill>
              <a:srgbClr val="7FA9C6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10378440" y="495604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gölge = ilk çizgi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Plinius, Naturalis Historia, XXXV — “Butades / Korintli Kız” anlatısı.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TARİHÇE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Disegno: çizim ile tasarım aynı kelimedir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943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İtalyanca </a:t>
            </a:r>
            <a:pPr indent="0" marL="0">
              <a:lnSpc>
                <a:spcPts val="2400"/>
              </a:lnSpc>
              <a:buNone/>
            </a:pPr>
            <a:r>
              <a:rPr lang="en-US" sz="1600" b="1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hem “çizim” hem “tasarım” demektir. Vasari 1568’de onu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“üç sanatın babası”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olarak tanımlar: mimarlık, heykel, resim. Ona göre disegno elin değil,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önce zihnin işidir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Tarihin ilk güzel sanatlar akademisinin adı da budur: Accademia delle Arti del Disegno (Floransa, 1563).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29768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dersin var oluş sebebi bu kelimede saklı: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çizmeyi öğrenmek, tasarlamayı öğrenmenin bir parçasıdır.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7223760" y="1737360"/>
            <a:ext cx="4187952" cy="35661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0" y="21488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disegno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7589520" y="3044952"/>
            <a:ext cx="50292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86207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8229600" y="320954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elin işi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589520" y="3913632"/>
            <a:ext cx="50292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37307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tasarım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407822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zihnin işi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589520" y="48006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tek kelime, iki iş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Giorgio Vasari, Le Vite, 2. baskı, 1568 · Accademia delle Arti del Disegno, Floransa, 1563.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TARİHÇE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Elinizdeki kalem 230 yaşında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8521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1564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İngiltere’de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Borrowdale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’de saf grafit yatağı bulunur. Çubuk hâlinde kesilip iple sarılarak kullanılır. Ama yatak tükenir.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1795 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Fransız bilim insanı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Nicolas-Jacques Conté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grafiti toz hâline getirip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kille karıştırır ve fırınlar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Hem hammadde sıkıntısını çözer hem de yepyeni bir şey kazandırır: ayarlanabilir sertlik.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617720"/>
            <a:ext cx="5852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Kil çok → sert (H).  Grafit çok → yumuşak (B).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Elinizdeki 2B, bir savaş dönemi hammadde sıkıntısının çözümüdür.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040880" y="1737360"/>
            <a:ext cx="4370832" cy="37490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0" y="2167128"/>
            <a:ext cx="2194560" cy="0"/>
          </a:xfrm>
          <a:prstGeom prst="line">
            <a:avLst/>
          </a:prstGeom>
          <a:noFill/>
          <a:ln w="10160">
            <a:solidFill>
              <a:srgbClr val="FAFA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06640" y="20574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686800" y="2496312"/>
            <a:ext cx="2194560" cy="0"/>
          </a:xfrm>
          <a:prstGeom prst="line">
            <a:avLst/>
          </a:prstGeom>
          <a:noFill/>
          <a:ln w="15494">
            <a:solidFill>
              <a:srgbClr val="E2E4E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06640" y="238658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686800" y="2825496"/>
            <a:ext cx="2194560" cy="0"/>
          </a:xfrm>
          <a:prstGeom prst="line">
            <a:avLst/>
          </a:prstGeom>
          <a:noFill/>
          <a:ln w="20828">
            <a:solidFill>
              <a:srgbClr val="C9CCC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06640" y="27157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86800" y="3154680"/>
            <a:ext cx="2194560" cy="0"/>
          </a:xfrm>
          <a:prstGeom prst="line">
            <a:avLst/>
          </a:prstGeom>
          <a:noFill/>
          <a:ln w="26162">
            <a:solidFill>
              <a:srgbClr val="AFB4B7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406640" y="304495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686800" y="3483864"/>
            <a:ext cx="2194560" cy="0"/>
          </a:xfrm>
          <a:prstGeom prst="line">
            <a:avLst/>
          </a:prstGeom>
          <a:noFill/>
          <a:ln w="31496">
            <a:solidFill>
              <a:srgbClr val="959B9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406640" y="337413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686800" y="3813048"/>
            <a:ext cx="2194560" cy="0"/>
          </a:xfrm>
          <a:prstGeom prst="line">
            <a:avLst/>
          </a:prstGeom>
          <a:noFill/>
          <a:ln w="36830">
            <a:solidFill>
              <a:srgbClr val="7B828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06640" y="370332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686800" y="4142232"/>
            <a:ext cx="2194560" cy="0"/>
          </a:xfrm>
          <a:prstGeom prst="line">
            <a:avLst/>
          </a:prstGeom>
          <a:noFill/>
          <a:ln w="42164">
            <a:solidFill>
              <a:srgbClr val="7B828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06640" y="403250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686800" y="4471416"/>
            <a:ext cx="2194560" cy="0"/>
          </a:xfrm>
          <a:prstGeom prst="line">
            <a:avLst/>
          </a:prstGeom>
          <a:noFill/>
          <a:ln w="47498">
            <a:solidFill>
              <a:srgbClr val="5F676D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06640" y="436168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4B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86800" y="4800600"/>
            <a:ext cx="2194560" cy="0"/>
          </a:xfrm>
          <a:prstGeom prst="line">
            <a:avLst/>
          </a:prstGeom>
          <a:noFill/>
          <a:ln w="52832">
            <a:solidFill>
              <a:srgbClr val="41495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6640" y="469087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686800" y="5129784"/>
            <a:ext cx="2194560" cy="0"/>
          </a:xfrm>
          <a:prstGeom prst="line">
            <a:avLst/>
          </a:prstGeom>
          <a:noFill/>
          <a:ln w="58166">
            <a:solidFill>
              <a:srgbClr val="232A2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06640" y="502005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9B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406640" y="184708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sert · açık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7406640" y="5193792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yumuşak · koyu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Borrowdale grafit yatağı, 1564 · Nicolas-Jacques Conté, grafit–kil karışımı, 1795.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TARİHÇE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 hep bir görme aygıtı aradı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1435 — Alberti, </a:t>
            </a:r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Della Pittura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’da </a:t>
            </a:r>
            <a:pPr indent="0" marL="0">
              <a:lnSpc>
                <a:spcPts val="2400"/>
              </a:lnSpc>
              <a:buNone/>
            </a:pPr>
            <a:r>
              <a:rPr lang="en-US" sz="1600" b="1" i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(peçe) adını verdiği aygıtı tarif eder: ince ipliklerden dokunmuş, kalın ipliklerle karelere bölünmüş, çerçeveye gerilmiş bir tül. Çizer tülün arkasından bakar ve gördüğünü kare kare aktarır.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1525 — Dürer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aynı fikri ızgaralı çerçeve gravürleriyle gösterir.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5262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4. haftada öğreneceğimiz “dış zarf” yöntemi,</a:t>
            </a:r>
            <a:endParaRPr lang="en-US" sz="19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bu aygıtların elle yapılan hâlidir.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949440" y="1737360"/>
            <a:ext cx="4462272" cy="37490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0" y="2286000"/>
            <a:ext cx="0" cy="2194560"/>
          </a:xfrm>
          <a:prstGeom prst="line">
            <a:avLst/>
          </a:prstGeom>
          <a:noFill/>
          <a:ln w="17780">
            <a:solidFill>
              <a:srgbClr val="7B828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0" y="2286000"/>
            <a:ext cx="2194560" cy="0"/>
          </a:xfrm>
          <a:prstGeom prst="line">
            <a:avLst/>
          </a:prstGeom>
          <a:noFill/>
          <a:ln w="17780">
            <a:solidFill>
              <a:srgbClr val="7B828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12480" y="2286000"/>
            <a:ext cx="0" cy="2194560"/>
          </a:xfrm>
          <a:prstGeom prst="line">
            <a:avLst/>
          </a:prstGeom>
          <a:noFill/>
          <a:ln w="10160">
            <a:solidFill>
              <a:srgbClr val="AFB4B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0" y="2834640"/>
            <a:ext cx="2194560" cy="0"/>
          </a:xfrm>
          <a:prstGeom prst="line">
            <a:avLst/>
          </a:prstGeom>
          <a:noFill/>
          <a:ln w="10160">
            <a:solidFill>
              <a:srgbClr val="AFB4B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961120" y="2286000"/>
            <a:ext cx="0" cy="2194560"/>
          </a:xfrm>
          <a:prstGeom prst="line">
            <a:avLst/>
          </a:prstGeom>
          <a:noFill/>
          <a:ln w="17780">
            <a:solidFill>
              <a:srgbClr val="7B82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0" y="3383280"/>
            <a:ext cx="2194560" cy="0"/>
          </a:xfrm>
          <a:prstGeom prst="line">
            <a:avLst/>
          </a:prstGeom>
          <a:noFill/>
          <a:ln w="17780">
            <a:solidFill>
              <a:srgbClr val="7B828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09760" y="2286000"/>
            <a:ext cx="0" cy="2194560"/>
          </a:xfrm>
          <a:prstGeom prst="line">
            <a:avLst/>
          </a:prstGeom>
          <a:noFill/>
          <a:ln w="10160">
            <a:solidFill>
              <a:srgbClr val="AFB4B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0" y="3931920"/>
            <a:ext cx="2194560" cy="0"/>
          </a:xfrm>
          <a:prstGeom prst="line">
            <a:avLst/>
          </a:prstGeom>
          <a:noFill/>
          <a:ln w="10160">
            <a:solidFill>
              <a:srgbClr val="AFB4B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0" y="2286000"/>
            <a:ext cx="0" cy="2194560"/>
          </a:xfrm>
          <a:prstGeom prst="line">
            <a:avLst/>
          </a:prstGeom>
          <a:noFill/>
          <a:ln w="17780">
            <a:solidFill>
              <a:srgbClr val="7B82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0" y="4480560"/>
            <a:ext cx="2194560" cy="0"/>
          </a:xfrm>
          <a:prstGeom prst="line">
            <a:avLst/>
          </a:prstGeom>
          <a:noFill/>
          <a:ln w="17780">
            <a:solidFill>
              <a:srgbClr val="7B82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378440" y="3108960"/>
            <a:ext cx="274320" cy="274320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378440" y="3246120"/>
            <a:ext cx="-365760" cy="0"/>
          </a:xfrm>
          <a:prstGeom prst="line">
            <a:avLst/>
          </a:prstGeom>
          <a:noFill/>
          <a:ln w="12700">
            <a:solidFill>
              <a:srgbClr val="7FA9C6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10332720" y="345643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göz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46817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velo · ızgaralı çerçeve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Leon Battista Alberti, De pictura / Della Pittura, 1435 · Albrecht Dürer, Underweysung der Messung, Nürnberg, 1525.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1 · TARİHÇE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 öğretilebilir bileşenlere ayrıldı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920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1563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90195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Accademia delle Arti del Disegno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965960" y="228600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Floransa. Çizim ilk kez kurumsal bir müfredat konusu.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97280" y="2377440"/>
            <a:ext cx="0" cy="502920"/>
          </a:xfrm>
          <a:prstGeom prst="line">
            <a:avLst/>
          </a:prstGeom>
          <a:noFill/>
          <a:ln w="19050">
            <a:solidFill>
              <a:srgbClr val="D8DCD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9443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1919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29260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Bauhaus Vorkurs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965960" y="3310128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Itten’in temel kursu. Bugünkü “temel tasarım” dersinin atası.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97280" y="3401568"/>
            <a:ext cx="0" cy="502920"/>
          </a:xfrm>
          <a:prstGeom prst="line">
            <a:avLst/>
          </a:prstGeom>
          <a:noFill/>
          <a:ln w="19050">
            <a:solidFill>
              <a:srgbClr val="D8DCD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968496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1941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1965960" y="39502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Nicolaïdes · The Natural Way to Draw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4334256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Kör kontur ve dinamik çizim. 5. haftamızın kaynağı.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97280" y="4425696"/>
            <a:ext cx="0" cy="502920"/>
          </a:xfrm>
          <a:prstGeom prst="line">
            <a:avLst/>
          </a:prstGeom>
          <a:noFill/>
          <a:ln w="19050">
            <a:solidFill>
              <a:srgbClr val="D8DC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9926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1979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4974336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Edwards · Right Side of the Brain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5358384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Çizimi beş bileşen beceriye ayırır.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dersin dokuz adımı o geleneğin devamıdır.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Çizim, sanatın dürüstlüğüdür.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9834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JEAN-AUGUSTE-DOMINIQUE INGRES  ·  “Le dessin est la probité de l’art.”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Çizmenin dokuz adımı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Dersin omurgası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2 · OMURGA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Nokta’dan katmana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Ders kavramsal başlıklarla değil, çizme eyleminin kendi adımlarıyla ilerler. Her adım bir öncekinin üzerine biner ve hiçbiri atlanamaz.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0120" y="3246120"/>
            <a:ext cx="10058400" cy="0"/>
          </a:xfrm>
          <a:prstGeom prst="line">
            <a:avLst/>
          </a:prstGeom>
          <a:noFill/>
          <a:ln w="19050">
            <a:solidFill>
              <a:srgbClr val="D8DCD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3816" y="3099816"/>
            <a:ext cx="292608" cy="292608"/>
          </a:xfrm>
          <a:prstGeom prst="ellipse">
            <a:avLst/>
          </a:prstGeom>
          <a:solidFill>
            <a:srgbClr val="2A628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017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071116" y="3099816"/>
            <a:ext cx="292608" cy="292608"/>
          </a:xfrm>
          <a:prstGeom prst="ellipse">
            <a:avLst/>
          </a:prstGeom>
          <a:solidFill>
            <a:srgbClr val="2A628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602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5590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7602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28416" y="3099816"/>
            <a:ext cx="292608" cy="292608"/>
          </a:xfrm>
          <a:prstGeom prst="ellipse">
            <a:avLst/>
          </a:prstGeom>
          <a:solidFill>
            <a:srgbClr val="5F676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0175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8163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düzlem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0175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5716" y="3099816"/>
            <a:ext cx="292608" cy="292608"/>
          </a:xfrm>
          <a:prstGeom prst="ellipse">
            <a:avLst/>
          </a:prstGeom>
          <a:solidFill>
            <a:srgbClr val="5F676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2748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0736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2748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H4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843016" y="3099816"/>
            <a:ext cx="292608" cy="292608"/>
          </a:xfrm>
          <a:prstGeom prst="ellipse">
            <a:avLst/>
          </a:prstGeom>
          <a:solidFill>
            <a:srgbClr val="5F676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5321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3309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321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H5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100316" y="3099816"/>
            <a:ext cx="292608" cy="292608"/>
          </a:xfrm>
          <a:prstGeom prst="ellipse">
            <a:avLst/>
          </a:prstGeom>
          <a:solidFill>
            <a:srgbClr val="5F676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894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5882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perspektif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7894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357616" y="3099816"/>
            <a:ext cx="292608" cy="292608"/>
          </a:xfrm>
          <a:prstGeom prst="ellipse">
            <a:avLst/>
          </a:prstGeom>
          <a:solidFill>
            <a:srgbClr val="1B1F2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8455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80467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614916" y="3099816"/>
            <a:ext cx="292608" cy="292608"/>
          </a:xfrm>
          <a:prstGeom prst="ellipse">
            <a:avLst/>
          </a:prstGeom>
          <a:solidFill>
            <a:srgbClr val="1B1F2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040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1028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ışık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93040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H9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0872216" y="3099816"/>
            <a:ext cx="292608" cy="292608"/>
          </a:xfrm>
          <a:prstGeom prst="ellipse">
            <a:avLst/>
          </a:prstGeom>
          <a:solidFill>
            <a:srgbClr val="1B1F2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10561320" y="27614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10360152" y="3529584"/>
            <a:ext cx="1316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10561320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H13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1480" y="4343400"/>
            <a:ext cx="2354580" cy="0"/>
          </a:xfrm>
          <a:prstGeom prst="line">
            <a:avLst/>
          </a:prstGeom>
          <a:noFill/>
          <a:ln w="19050">
            <a:solidFill>
              <a:srgbClr val="2A628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11480" y="4480560"/>
            <a:ext cx="2354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· İZ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411480" y="4754880"/>
            <a:ext cx="2354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H1–2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926080" y="4343400"/>
            <a:ext cx="4869180" cy="0"/>
          </a:xfrm>
          <a:prstGeom prst="line">
            <a:avLst/>
          </a:prstGeom>
          <a:noFill/>
          <a:ln w="19050">
            <a:solidFill>
              <a:srgbClr val="2A6289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2926080" y="4480560"/>
            <a:ext cx="4869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II · BİÇİM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2926080" y="4754880"/>
            <a:ext cx="48691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H3–6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7955280" y="4343400"/>
            <a:ext cx="2354580" cy="0"/>
          </a:xfrm>
          <a:prstGeom prst="line">
            <a:avLst/>
          </a:prstGeom>
          <a:noFill/>
          <a:ln w="19050">
            <a:solidFill>
              <a:srgbClr val="2A628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955280" y="4480560"/>
            <a:ext cx="23545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III · YÜZEY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955280" y="4754880"/>
            <a:ext cx="2354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H8–9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0469880" y="4343400"/>
            <a:ext cx="1097280" cy="0"/>
          </a:xfrm>
          <a:prstGeom prst="line">
            <a:avLst/>
          </a:prstGeom>
          <a:noFill/>
          <a:ln w="19050">
            <a:solidFill>
              <a:srgbClr val="2A628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0469880" y="4480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IV · BÜTÜN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469880" y="47548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H10–14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77240" y="534924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ve 11. haftalar teslim haftalarıdır.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2 · OMURGA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Dört evre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Dokuz adım dört evrede toplanır. Evre çubuklarının kalınlığı dersin kendi konusudur: çizgi ağırlığı hiyerarşisi.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2450592" cy="31089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33272" y="2697480"/>
            <a:ext cx="1920240" cy="0"/>
          </a:xfrm>
          <a:prstGeom prst="line">
            <a:avLst/>
          </a:prstGeom>
          <a:noFill/>
          <a:ln w="12700">
            <a:solidFill>
              <a:srgbClr val="1B1F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3327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EVRE I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33272" y="32004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İz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033272" y="373075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ne söyler?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33272" y="459028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nokta · çizgi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1–2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474720" y="2377440"/>
            <a:ext cx="2450592" cy="31089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30752" y="2697480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73075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EVRE II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3730752" y="32004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Biçim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3730752" y="373075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Biçimi nasıl kurarım?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730752" y="459028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düzlem · hacim · kontur · perspektif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730752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3–6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377440"/>
            <a:ext cx="2450592" cy="31089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28232" y="2697480"/>
            <a:ext cx="1920240" cy="0"/>
          </a:xfrm>
          <a:prstGeom prst="line">
            <a:avLst/>
          </a:prstGeom>
          <a:noFill/>
          <a:ln w="50800">
            <a:solidFill>
              <a:srgbClr val="1B1F2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2823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EVRE III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428232" y="32004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373075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Yüzeyi nasıl anlatırım?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459028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doku · ışık ve gölge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428232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8–9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869680" y="2377440"/>
            <a:ext cx="2450592" cy="31089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25712" y="2697480"/>
            <a:ext cx="1920240" cy="0"/>
          </a:xfrm>
          <a:prstGeom prst="line">
            <a:avLst/>
          </a:prstGeom>
          <a:noFill/>
          <a:ln w="82550">
            <a:solidFill>
              <a:srgbClr val="1B1F24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25712" y="2880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EVRE IV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125712" y="32004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9125712" y="373075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Hepsini nasıl birleştiririm?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9125712" y="4590288"/>
            <a:ext cx="2057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natürmort · figür · katman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9125712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10–14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2 · OMURGA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Çizmek beş ayrı beceriye ayrılabilir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Betty Edwards, algısal çizimi öğretilebilir beş bileşene ayırır. Hepsi ayrı ayrı çalışılabilir — ve dersin dokuz adımı bu beşliyi izler.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560320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6243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25786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Kenarları görmek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60604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261518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3273552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33756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344168" y="3291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Boşlukları görmek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31927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negatif alan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3284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5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77240" y="3986784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0507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44168" y="4005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İlişkileri görmek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800600" y="403250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oran, dış zarf, göz hizası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0416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3 · 4 · 6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4700016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6402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44168" y="471830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ve gölgeyi görmek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474573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tarama ve ton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183880" y="475488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8 · 9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77240" y="5413248"/>
            <a:ext cx="384048" cy="384048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77240" y="547725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543153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Bütünü görmek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4800600" y="545896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natürmort, figür, katman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183880" y="546811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10 · 12 · 13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77240" y="6144768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Betty Edwards, Drawing on the Right Side of the Brain — algısal çizimin beş bileşen becerisi.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2 · OMURGA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Neden hepimiz aynı sandalyeyi çiziyoruz?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Beyin ekonomiktir. Bir nesneye her baktığında onu yeniden görmez; daha önce kurduğu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şemayı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çağırır. “Sandalye” dendiğinde zihninizde beliren şey karşınızdaki sandalye değil,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sandalye fikridir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dört bacak, bir oturma yüzeyi, bir sırt.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Elinizden çıkan da budur. Bu bir yetenek eksikliği değil; </a:t>
            </a:r>
            <a:pPr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algının varsayılan ayarıdır</a:t>
            </a:r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Dersin ilk işi bu ayarı geçici olarak kapatmayı öğretmek.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93776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Bugün dışarı çıktığımızda tam olarak bunu göreceğiz: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hafızadan çizdiğinizde şema çıkar, gözlemle çizdiğinizde nesne.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0" y="1737360"/>
            <a:ext cx="4279392" cy="36576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0" y="20116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BİLDİĞİN SANDALYE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7680960" y="3063240"/>
            <a:ext cx="1371600" cy="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680960" y="3063240"/>
            <a:ext cx="0" cy="77724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052560" y="3063240"/>
            <a:ext cx="0" cy="77724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80960" y="2423160"/>
            <a:ext cx="0" cy="640080"/>
          </a:xfrm>
          <a:prstGeom prst="line">
            <a:avLst/>
          </a:prstGeom>
          <a:noFill/>
          <a:ln w="38100">
            <a:solidFill>
              <a:srgbClr val="4149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0" y="4160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GÖRDÜĞÜN SANDALYE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646920" y="4800600"/>
            <a:ext cx="1325880" cy="-256032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710928" y="4846320"/>
            <a:ext cx="146304" cy="475488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881360" y="4572000"/>
            <a:ext cx="91440" cy="548640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0" y="4754880"/>
            <a:ext cx="256032" cy="-566928"/>
          </a:xfrm>
          <a:prstGeom prst="line">
            <a:avLst/>
          </a:prstGeom>
          <a:noFill/>
          <a:ln w="38100">
            <a:solidFill>
              <a:srgbClr val="1B1F2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0" y="5029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aynı nesne, iki farklı iş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Sorun görmek — daha doğrusu,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belirli bir görme biçimine geçebilmek.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9834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BETTY EDWARDS  ·  Drawing on the Right Side of the Brain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 ve alet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nasıl tutulur, hangi kalem ne işe yarar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EL VE ALET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Üç tutuş, üç eklem, üç ölçek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3319272" cy="32004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69848" y="2084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Yazı tutuşu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1069848" y="24871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tripod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2852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Baş, işaret ve orta parmak, uca yakın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37947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Detay, kontur, küçük ölçek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69848" y="4553712"/>
            <a:ext cx="45720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645920" y="44348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hareket BİLEK’den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89120" y="1828800"/>
            <a:ext cx="3319272" cy="32004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81728" y="2084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Üstten tutuş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24871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overhand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2852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Kalem avuç içinde, parmaklar üstte, uçtan uzak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37947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Jest, büyük hareket, tonlama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81728" y="4553712"/>
            <a:ext cx="45720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57800" y="44348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hareket OMUZ’den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01000" y="1828800"/>
            <a:ext cx="3319272" cy="32004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93608" y="20848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Uzun tutuş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293608" y="248716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293608" y="285292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Uçtan uzak, gevşek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293608" y="37947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 alma, hayalet çizgi, kuruluş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8293608" y="4553712"/>
            <a:ext cx="457200" cy="0"/>
          </a:xfrm>
          <a:prstGeom prst="line">
            <a:avLst/>
          </a:prstGeom>
          <a:noFill/>
          <a:ln w="25400">
            <a:solidFill>
              <a:srgbClr val="2A62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869680" y="443484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hareket DİRSEK’den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525780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Düz bir çizgi bilekten çizilemez. Bu fiziksel bir gerçektir — yetenek meselesi değil.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EL VE ALET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Kuruluş için sert, ton için yumuşak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7607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çizim iki ayrı işten oluşur ve ikisi </a:t>
            </a:r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kalemle yapılmaz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Kuruluş — H, HB. 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Açık, silinebilir, kâğıdı kirletmez. Dış zarf, eksenler, oran çizgileri.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 — 2B, 4B, 6B. </a:t>
            </a:r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Koyu, hızlı, geniş aralık. Gölge, doku, ağırlık.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9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5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yapılan iki hata: yumuşak kalemle kurmak (silinmez, kirlenir) ve sert kalemle tonlamak (kâğıdı çizer, ezer).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949440" y="1783080"/>
            <a:ext cx="4462272" cy="379476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0" y="2231136"/>
            <a:ext cx="2286000" cy="0"/>
          </a:xfrm>
          <a:prstGeom prst="line">
            <a:avLst/>
          </a:prstGeom>
          <a:noFill/>
          <a:ln w="10160">
            <a:solidFill>
              <a:srgbClr val="FAFAF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0" y="21214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595360" y="2560320"/>
            <a:ext cx="2286000" cy="0"/>
          </a:xfrm>
          <a:prstGeom prst="line">
            <a:avLst/>
          </a:prstGeom>
          <a:noFill/>
          <a:ln w="15494">
            <a:solidFill>
              <a:srgbClr val="E2E4E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245059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4H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595360" y="2889504"/>
            <a:ext cx="2286000" cy="0"/>
          </a:xfrm>
          <a:prstGeom prst="line">
            <a:avLst/>
          </a:prstGeom>
          <a:noFill/>
          <a:ln w="20828">
            <a:solidFill>
              <a:srgbClr val="C9CC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0" y="277977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595360" y="3218688"/>
            <a:ext cx="2286000" cy="0"/>
          </a:xfrm>
          <a:prstGeom prst="line">
            <a:avLst/>
          </a:prstGeom>
          <a:noFill/>
          <a:ln w="26162">
            <a:solidFill>
              <a:srgbClr val="AFB4B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0" y="310896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95360" y="3547872"/>
            <a:ext cx="2286000" cy="0"/>
          </a:xfrm>
          <a:prstGeom prst="line">
            <a:avLst/>
          </a:prstGeom>
          <a:noFill/>
          <a:ln w="31496">
            <a:solidFill>
              <a:srgbClr val="959B9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0" y="343814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95360" y="3877056"/>
            <a:ext cx="2286000" cy="0"/>
          </a:xfrm>
          <a:prstGeom prst="line">
            <a:avLst/>
          </a:prstGeom>
          <a:noFill/>
          <a:ln w="36830">
            <a:solidFill>
              <a:srgbClr val="7B828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0" y="37673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595360" y="4206240"/>
            <a:ext cx="2286000" cy="0"/>
          </a:xfrm>
          <a:prstGeom prst="line">
            <a:avLst/>
          </a:prstGeom>
          <a:noFill/>
          <a:ln w="42164">
            <a:solidFill>
              <a:srgbClr val="7B828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0" y="4096512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95360" y="4535424"/>
            <a:ext cx="2286000" cy="0"/>
          </a:xfrm>
          <a:prstGeom prst="line">
            <a:avLst/>
          </a:prstGeom>
          <a:noFill/>
          <a:ln w="47498">
            <a:solidFill>
              <a:srgbClr val="5F676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15200" y="4425696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4B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595360" y="4864608"/>
            <a:ext cx="2286000" cy="0"/>
          </a:xfrm>
          <a:prstGeom prst="line">
            <a:avLst/>
          </a:prstGeom>
          <a:noFill/>
          <a:ln w="52832">
            <a:solidFill>
              <a:srgbClr val="4149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0" y="475488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95360" y="5193792"/>
            <a:ext cx="2286000" cy="0"/>
          </a:xfrm>
          <a:prstGeom prst="line">
            <a:avLst/>
          </a:prstGeom>
          <a:noFill/>
          <a:ln w="58166">
            <a:solidFill>
              <a:srgbClr val="232A2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0" y="5084064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9B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0" y="190195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sert · açık · silinir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0" y="539496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yumuşak · koyu · kirlenir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3 · EL VE ALET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Elinizde yedi ayar var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Çizgi tek bir şey değil. Aşağıdakiler bilinçli olarak kontrol edilebilir — ve her biri okuyucuya farklı bir şey söyler. Gelecek hafta bunlarla duygu anlatacağız.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Basınç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03327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hafif ↔ bastırılmış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33272" y="3456432"/>
            <a:ext cx="1920240" cy="0"/>
          </a:xfrm>
          <a:prstGeom prst="line">
            <a:avLst/>
          </a:prstGeom>
          <a:noFill/>
          <a:ln w="9525">
            <a:solidFill>
              <a:srgbClr val="1B1F2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7472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Hız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73075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yavaş ↔ savrulmuş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0752" y="3456432"/>
            <a:ext cx="1920240" cy="0"/>
          </a:xfrm>
          <a:prstGeom prst="line">
            <a:avLst/>
          </a:prstGeom>
          <a:noFill/>
          <a:ln w="19050">
            <a:solidFill>
              <a:srgbClr val="1B1F2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2823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Süreklilik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642823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kesintisiz ↔ kırık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28232" y="3456432"/>
            <a:ext cx="1920240" cy="0"/>
          </a:xfrm>
          <a:prstGeom prst="line">
            <a:avLst/>
          </a:prstGeom>
          <a:noFill/>
          <a:ln w="31750">
            <a:solidFill>
              <a:srgbClr val="1B1F24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8869680" y="23774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25712" y="25786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Ritim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9125712" y="2889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düzenli ↔ düzensiz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125712" y="3456432"/>
            <a:ext cx="1920240" cy="0"/>
          </a:xfrm>
          <a:prstGeom prst="line">
            <a:avLst/>
          </a:prstGeom>
          <a:noFill/>
          <a:ln w="44450">
            <a:solidFill>
              <a:srgbClr val="1B1F2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3327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Yoğunluk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03327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seyrek ↔ sık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3327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ysDash"/>
          </a:ln>
        </p:spPr>
      </p:sp>
      <p:sp>
        <p:nvSpPr>
          <p:cNvPr id="25" name="Shape 23"/>
          <p:cNvSpPr/>
          <p:nvPr/>
        </p:nvSpPr>
        <p:spPr>
          <a:xfrm>
            <a:off x="347472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73075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Açısallık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73075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yumuşak ↔ keskin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3075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dashDot"/>
          </a:ln>
        </p:spPr>
      </p:sp>
      <p:sp>
        <p:nvSpPr>
          <p:cNvPr id="29" name="Shape 27"/>
          <p:cNvSpPr/>
          <p:nvPr/>
        </p:nvSpPr>
        <p:spPr>
          <a:xfrm>
            <a:off x="617220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28232" y="417880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6428232" y="44897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yatay ↔ düşey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28232" y="5056632"/>
            <a:ext cx="1920240" cy="0"/>
          </a:xfrm>
          <a:prstGeom prst="line">
            <a:avLst/>
          </a:prstGeom>
          <a:noFill/>
          <a:ln w="25400">
            <a:solidFill>
              <a:srgbClr val="1B1F2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69680" y="3977640"/>
            <a:ext cx="2450592" cy="141732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125712" y="43434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 ve ikisi</a:t>
            </a:r>
            <a:endParaRPr lang="en-US" sz="16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arada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Kuramsız pratiği seven, dümensiz ve pusulasız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gemiye binen denizciye benzer;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nereye varacağını asla bilemez.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9834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LEONARDO DA VINCI  ·  Defterler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Dönem planı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hafta, iki teslim, bir sergi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 dört hafta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7452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99032" y="18562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Giriş, kalem tutma, dışarıda gözlem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225856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4144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99032" y="24231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Nokta ve çizgi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77240" y="282549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00837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99032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Kare, elips, üçgen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77240" y="3392424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57530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99032" y="35570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Hacim + dış zarf yöntemi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77240" y="3959352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4223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99032" y="41239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 ve dinamik çizim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77240" y="4526280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470916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399032" y="4690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Perspektif: göz hizası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777240" y="509320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276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399032" y="5257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VİZE 1 TESLİMİ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777240" y="566013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263640" y="187452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885432" y="185623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Tarama ve ton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263640" y="225856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263640" y="244144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885432" y="242316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Işık ve gölge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6263640" y="282549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63640" y="300837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885432" y="2990088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Natürmort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6263640" y="3392424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63640" y="357530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6885432" y="355701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VİZE 2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263640" y="3959352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63640" y="414223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6885432" y="412394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İnsan çizimi ve mimari gösterimler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263640" y="4526280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263640" y="470916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59B9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6885432" y="4690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Diyorama katmanları + kuru boya</a:t>
            </a:r>
            <a:endParaRPr lang="en-US" sz="1500" dirty="0"/>
          </a:p>
        </p:txBody>
      </p:sp>
      <p:sp>
        <p:nvSpPr>
          <p:cNvPr id="42" name="Shape 40"/>
          <p:cNvSpPr/>
          <p:nvPr/>
        </p:nvSpPr>
        <p:spPr>
          <a:xfrm>
            <a:off x="6263640" y="5093208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263640" y="527608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885432" y="525780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FİNAL TESLİMİ ve sergi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6263640" y="5660136"/>
            <a:ext cx="5029200" cy="0"/>
          </a:xfrm>
          <a:prstGeom prst="line">
            <a:avLst/>
          </a:prstGeom>
          <a:noFill/>
          <a:ln w="9525">
            <a:solidFill>
              <a:srgbClr val="D8DCDF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Sınav yok. Üç teslim var.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Hiçbirinde sınav salonu, kapalı kapı veya süre baskısı yok. Vize 2’nin ilk yarısı sınıfta çizim yapılan bir bölümdür — sınav değil, kontrollü üretim.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984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%20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106984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VİZE 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06984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Küp serisi + dönem dosyası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6984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7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912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8172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%20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468172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VİZE 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8172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Yerinde çizim + dosya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01000" y="2377440"/>
            <a:ext cx="3319272" cy="22860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256032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%30</a:t>
            </a:r>
            <a:endParaRPr lang="en-US" sz="40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33467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FİNAL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3657600"/>
            <a:ext cx="2697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Katman diyoraması + sergi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293608" y="431596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Hafta 14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49834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Kalan %30: haftalık stüdyo üretimi ve ev tekrarları %20  ·  Ödev A (bir şarkıyı çizgiyle anlatmak) %10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4406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teslimde 5 dakikalık masa savunması var. Sorular tekniğe değil, kararlarınıza yönelik olacak.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 tekrarı sözleşmesi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B747C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Günlük çizim beklentimiz yok.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42316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Sınıfta yaptığınız</a:t>
            </a:r>
            <a:endParaRPr lang="en-US" sz="30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çalışmanın aynısını</a:t>
            </a:r>
            <a:endParaRPr lang="en-US" sz="30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evde bir kez daha yapın.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gelecek hafta yanınızda getirin.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89204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hafta ilk 20 dakikada kontrol edeceğiz: ev tekrarı, sınıftaki eşiyle yan yana konur.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949440" y="1828800"/>
            <a:ext cx="4462272" cy="397764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 tekrar?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651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Aynı problemi ikinci kez çözmek, iki farklı problemi bir kez çözmekten daha çok öğretir.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Sınıftaki çalışma yönlendirilmiştir, evdeki değildir. </a:t>
            </a:r>
            <a:pPr indent="0" marL="0">
              <a:lnSpc>
                <a:spcPts val="2100"/>
              </a:lnSpc>
              <a:buNone/>
            </a:pPr>
            <a:r>
              <a:rPr lang="en-US" sz="14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Fark, öğrenmenin nerede olduğunu gösterir.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denetlenebilir: getirilmeyen tekrar o haftanın süreç puanını düşürür.</a:t>
            </a:r>
            <a:endParaRPr lang="en-US" sz="14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Final: katman diyoraması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82880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Katlanınca düz duran, açılınca derinleşen bir sahne. </a:t>
            </a:r>
            <a:pPr indent="0" marL="0">
              <a:lnSpc>
                <a:spcPts val="2300"/>
              </a:lnSpc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az 8 katman</a:t>
            </a:r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aralarında boşluk, önde bir çerçeve. Konu serbest: bir manzara, figürler, bir iç mekân ya da tamamen grafik bir kompozisyon.</a:t>
            </a:r>
            <a:endParaRPr lang="en-US" sz="15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5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kesin kural: </a:t>
            </a:r>
            <a:pPr indent="0" marL="0">
              <a:lnSpc>
                <a:spcPts val="2300"/>
              </a:lnSpc>
              <a:buNone/>
            </a:pPr>
            <a:r>
              <a:rPr lang="en-US" sz="155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katman önce elle çizilir; kesim çizimin türevidir.</a:t>
            </a:r>
            <a:endParaRPr lang="en-US" sz="155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37083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Asıl kararınız: değer sistemi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828032"/>
            <a:ext cx="301752" cy="457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24712" y="4828032"/>
            <a:ext cx="301752" cy="457200"/>
          </a:xfrm>
          <a:prstGeom prst="rect">
            <a:avLst/>
          </a:prstGeom>
          <a:solidFill>
            <a:srgbClr val="414950"/>
          </a:solidFill>
          <a:ln w="12700">
            <a:solidFill>
              <a:srgbClr val="4149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72184" y="4828032"/>
            <a:ext cx="301752" cy="457200"/>
          </a:xfrm>
          <a:prstGeom prst="rect">
            <a:avLst/>
          </a:prstGeom>
          <a:solidFill>
            <a:srgbClr val="5F676D"/>
          </a:solidFill>
          <a:ln w="12700">
            <a:solidFill>
              <a:srgbClr val="5F676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19656" y="4828032"/>
            <a:ext cx="301752" cy="457200"/>
          </a:xfrm>
          <a:prstGeom prst="rect">
            <a:avLst/>
          </a:prstGeom>
          <a:solidFill>
            <a:srgbClr val="7B8288"/>
          </a:solidFill>
          <a:ln w="12700">
            <a:solidFill>
              <a:srgbClr val="7B82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67128" y="4828032"/>
            <a:ext cx="301752" cy="457200"/>
          </a:xfrm>
          <a:prstGeom prst="rect">
            <a:avLst/>
          </a:prstGeom>
          <a:solidFill>
            <a:srgbClr val="959B9F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14600" y="4828032"/>
            <a:ext cx="301752" cy="4572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862072" y="4828032"/>
            <a:ext cx="301752" cy="457200"/>
          </a:xfrm>
          <a:prstGeom prst="rect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09544" y="4828032"/>
            <a:ext cx="301752" cy="457200"/>
          </a:xfrm>
          <a:prstGeom prst="rect">
            <a:avLst/>
          </a:prstGeom>
          <a:solidFill>
            <a:srgbClr val="E2E4E5"/>
          </a:solidFill>
          <a:ln w="12700">
            <a:solidFill>
              <a:srgbClr val="E2E4E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535838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· mesafe mantığı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40480" y="4828032"/>
            <a:ext cx="301752" cy="457200"/>
          </a:xfrm>
          <a:prstGeom prst="rect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87952" y="4828032"/>
            <a:ext cx="301752" cy="457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35424" y="4828032"/>
            <a:ext cx="301752" cy="457200"/>
          </a:xfrm>
          <a:prstGeom prst="rect">
            <a:avLst/>
          </a:prstGeom>
          <a:solidFill>
            <a:srgbClr val="959B9F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82896" y="4828032"/>
            <a:ext cx="301752" cy="457200"/>
          </a:xfrm>
          <a:prstGeom prst="rect">
            <a:avLst/>
          </a:prstGeom>
          <a:solidFill>
            <a:srgbClr val="414950"/>
          </a:solidFill>
          <a:ln w="12700">
            <a:solidFill>
              <a:srgbClr val="4149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30368" y="4828032"/>
            <a:ext cx="301752" cy="45720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577840" y="4828032"/>
            <a:ext cx="301752" cy="457200"/>
          </a:xfrm>
          <a:prstGeom prst="rect">
            <a:avLst/>
          </a:prstGeom>
          <a:solidFill>
            <a:srgbClr val="232A2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5312" y="4828032"/>
            <a:ext cx="301752" cy="457200"/>
          </a:xfrm>
          <a:prstGeom prst="rect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828032"/>
            <a:ext cx="301752" cy="457200"/>
          </a:xfrm>
          <a:prstGeom prst="rect">
            <a:avLst/>
          </a:prstGeom>
          <a:solidFill>
            <a:srgbClr val="FAFAFA"/>
          </a:solidFill>
          <a:ln w="12700">
            <a:solidFill>
              <a:srgbClr val="FAFAF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840480" y="5358384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· grafik mantık (notan)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70585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İkisi de doğrudur — karıştırılması yanlıştır.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903720" y="1737360"/>
            <a:ext cx="4507992" cy="411480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951976" y="1965960"/>
            <a:ext cx="1371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750808" y="2148840"/>
            <a:ext cx="1371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49640" y="2331720"/>
            <a:ext cx="1371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32A2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48472" y="2514600"/>
            <a:ext cx="1371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1495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47304" y="2697480"/>
            <a:ext cx="1371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76D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46136" y="2880360"/>
            <a:ext cx="1371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7B828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44968" y="3063240"/>
            <a:ext cx="1371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959B9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543800" y="3246120"/>
            <a:ext cx="1371600" cy="1005840"/>
          </a:xfrm>
          <a:prstGeom prst="rect">
            <a:avLst/>
          </a:prstGeom>
          <a:solidFill>
            <a:srgbClr val="FFFFFF"/>
          </a:solidFill>
          <a:ln w="20320">
            <a:solidFill>
              <a:srgbClr val="AFB4B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0" y="51389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katman, ayrı ayrı çizilir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646920" y="3246120"/>
            <a:ext cx="457200" cy="0"/>
          </a:xfrm>
          <a:prstGeom prst="line">
            <a:avLst/>
          </a:prstGeom>
          <a:noFill/>
          <a:ln w="19050">
            <a:solidFill>
              <a:srgbClr val="2A628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966960" y="3108960"/>
            <a:ext cx="146304" cy="137160"/>
          </a:xfrm>
          <a:prstGeom prst="line">
            <a:avLst/>
          </a:prstGeom>
          <a:noFill/>
          <a:ln w="19050">
            <a:solidFill>
              <a:srgbClr val="2A628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966960" y="3383280"/>
            <a:ext cx="146304" cy="-137160"/>
          </a:xfrm>
          <a:prstGeom prst="line">
            <a:avLst/>
          </a:prstGeom>
          <a:noFill/>
          <a:ln w="19050">
            <a:solidFill>
              <a:srgbClr val="2A628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195560" y="2560320"/>
            <a:ext cx="1005840" cy="1371600"/>
          </a:xfrm>
          <a:prstGeom prst="rect">
            <a:avLst/>
          </a:prstGeom>
          <a:solidFill>
            <a:srgbClr val="FFFFFF"/>
          </a:solidFill>
          <a:ln w="20320">
            <a:solidFill>
              <a:srgbClr val="1B1F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241280" y="2834640"/>
            <a:ext cx="914400" cy="182880"/>
          </a:xfrm>
          <a:prstGeom prst="rect">
            <a:avLst/>
          </a:prstGeom>
          <a:solidFill>
            <a:srgbClr val="414950"/>
          </a:solidFill>
          <a:ln w="12700">
            <a:solidFill>
              <a:srgbClr val="41495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241280" y="3063240"/>
            <a:ext cx="914400" cy="182880"/>
          </a:xfrm>
          <a:prstGeom prst="rect">
            <a:avLst/>
          </a:prstGeom>
          <a:solidFill>
            <a:srgbClr val="7B8288"/>
          </a:solidFill>
          <a:ln w="12700">
            <a:solidFill>
              <a:srgbClr val="7B828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241280" y="3291840"/>
            <a:ext cx="914400" cy="182880"/>
          </a:xfrm>
          <a:prstGeom prst="rect">
            <a:avLst/>
          </a:prstGeom>
          <a:solidFill>
            <a:srgbClr val="AFB4B7"/>
          </a:solidFill>
          <a:ln w="12700">
            <a:solidFill>
              <a:srgbClr val="AFB4B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241280" y="3520440"/>
            <a:ext cx="914400" cy="182880"/>
          </a:xfrm>
          <a:prstGeom prst="rect">
            <a:avLst/>
          </a:prstGeom>
          <a:solidFill>
            <a:srgbClr val="E2E4E5"/>
          </a:solidFill>
          <a:ln w="12700">
            <a:solidFill>
              <a:srgbClr val="E2E4E5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058400" y="40416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önden tek sahne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4 · DÖNEM PLANI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326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Dönem bir sergiyle bitiyor:</a:t>
            </a:r>
            <a:endParaRPr lang="en-US" sz="4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“Derinlik Odası”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8803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Diyoramalar göz hizasında dizilecek. Her işin yanındaki duvarda o işin katman çizimleri ve değer sistemi paftası asılı olacak.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886200"/>
            <a:ext cx="9509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300" i="1" dirty="0">
                <a:solidFill>
                  <a:srgbClr val="7FA9C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Ziyaretçi önce sahneye bakıp derinliği yaşar.</a:t>
            </a:r>
            <a:endParaRPr lang="en-US" sz="23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300" i="1" dirty="0">
                <a:solidFill>
                  <a:srgbClr val="7FA9C6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Sonra yana döner ve o derinliğin sekiz düz çizimden nasıl kurulduğunu görür.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48640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 bir kutlama değil — dersin son ölçme aracı. Ziyaretçiler her iş için tek bir soruyu yanıtlayacak: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“Bu mekânda kendinizi nasıl hissettiniz?”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60020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342900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Kurallar ve malzeme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315968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Beş kural, bir alışveriş listesi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KURALLAR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Beş kural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847088"/>
            <a:ext cx="365760" cy="365760"/>
          </a:xfrm>
          <a:prstGeom prst="ellipse">
            <a:avLst/>
          </a:prstGeom>
          <a:solidFill>
            <a:srgbClr val="2A6289"/>
          </a:solidFill>
          <a:ln w="12700">
            <a:solidFill>
              <a:srgbClr val="2A62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11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47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tekrarı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221284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Sınıfta yapılanın aynısı evde bir kez daha yapılır ve getirilir. Her hafta ilk 20 dakikada kontrol edilir.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84708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0" y="191109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84708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Stüdyo mührü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766560" y="221284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ders sonunda o gün stüdyoda ürettiğiniz sayfaları tarihleyip paraflayacağım. Teslim dosyalarında sayfaların en az %60’ı paraflı olmak zorunda.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77240" y="326440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33284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Cetvel yok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63016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Hiçbir haftada cetvel, gönye veya şablon kullanılmıyor. Perspektif haftası dâhil. Dersin adı serbest çizim.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17920" y="326440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0" y="332841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32644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Süreç dosyası zorunlu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63016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Reddedilen denemeler, yırtılan sayfalar, ilk taslaklar dâhil teslim edilir. Temiz bir süreç dosyası düşük not alır.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777240" y="4681728"/>
            <a:ext cx="365760" cy="365760"/>
          </a:xfrm>
          <a:prstGeom prst="ellipse">
            <a:avLst/>
          </a:prstGeom>
          <a:solidFill>
            <a:srgbClr val="C9CCCE"/>
          </a:solidFill>
          <a:ln w="12700">
            <a:solidFill>
              <a:srgbClr val="C9CCC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4745736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468172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Şablon ve yapay zekâ yok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1325880" y="5047488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Hazır kesim şablonu, indirilmiş dosya, plotter kesimi ve üretken yapay zekâ görseli kullanılmaz.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2356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A62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tekrarlarından birini, kritiği uygulayarak 13. haftaya kadar bir kez yeniden teslim edebilirsiniz. Bu ders öğrenmeyi ödüllendirir.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BÖLÜM 5 · KURALLAR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Malzeme listesi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55648"/>
            <a:ext cx="106344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haftaya kadar temin edilmeli. İlk beş hafta tek bir 2B kalem ve defterle de geçilebilir — kimse malzeme yüzünden geri kalmasın.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" y="2286000"/>
            <a:ext cx="5148072" cy="338328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24712" y="2542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ZORUNLU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24712" y="2880360"/>
            <a:ext cx="45262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 dikişli eskiz defteri + A3 eskiz bloğu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Kurşun kalem: 2H, HB, 2B, 4B, 6B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kömür kalem + kömür çubuk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Fineliner 0.1 / 0.3 / 0.5, siyah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 marker seti, 3 ton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Hamur silgi + normal silgi + kalemtıraş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Kâğıt kıskacı ve A3 çizim altlığı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2286000"/>
            <a:ext cx="5148072" cy="338328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11112" y="2542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13. HAFTADAN İTİBAREN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611112" y="2880360"/>
            <a:ext cx="4526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Kuru boya seti — en az 24 renk; tek renk ailesinde 5 ton bulunacak şekilde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Renksiz burnishing kalemi (varsa)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 kartonu 160–200 gsm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Köpüklü çift taraflı bant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Maket bıçağı + kesim altlığı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11112" y="516636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6B74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Bunları 12. haftada ayrıca hatırlatacağım — şimdi almanıza gerek yok.</a:t>
            </a:r>
            <a:endParaRPr lang="en-US" sz="12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6868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874520"/>
            <a:ext cx="10058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İlk beş bin hatanızı ne kadar erken yaparsanız,</a:t>
            </a:r>
            <a:endParaRPr lang="en-US" sz="30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0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onları düzeltmeye o kadar erken başlarsınız.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498348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KIMON NICOLAÏDES  ·  The Natural Way to Draw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475488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ŞİMDİ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686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400" b="1" dirty="0">
                <a:solidFill>
                  <a:srgbClr val="1B1F2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Dışarı çıkıyoruz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7830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Dersin son 60 dakikası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95728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dk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377440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Birlikte dışarı çıkıyoruz. Herkes kendine bir nesne seçiyor — bir bank, bir bisiklet, bir korkuluk, bir ağaç kökü.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00400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318211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Defter ve kalem çantada kalıyor. Yalnızca bakıyoruz.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4005072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 dk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737360" y="3986784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Sınıfa dönüyoruz. Nesneye bakmadan, hafızadan çiziyoruz.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809744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628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dk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4791456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Çizimleri yan yana asıyoruz. Tek soru: hafıza neyi tuttu, neyi attı?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71500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çizimi 14. haftaya kadar saklıyorum.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949440" y="1783080"/>
            <a:ext cx="4462272" cy="4069080"/>
          </a:xfrm>
          <a:prstGeom prst="rect">
            <a:avLst/>
          </a:prstGeom>
          <a:solidFill>
            <a:srgbClr val="F1F3F4"/>
          </a:solidFill>
          <a:ln w="12700">
            <a:solidFill>
              <a:srgbClr val="F1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0" y="21031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Neden?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0" y="265176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haftada aynı şeyi bir kez daha yapacağız: dışarı çıkıp bir nesne seçip hafızadan çizeceğiz.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Sonra bugünkü çiziminizi size geri vereceğim. İkisini yan yana koyup final dosyanızın ilk sayfası yapacaksınız.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8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 çiziminizin “kötü” olması sorun değil — </a:t>
            </a:r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işimize yarayan şey o.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60120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dirty="0">
                <a:solidFill>
                  <a:srgbClr val="2A6289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“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9202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Çizim, insanın gördüğü şey değil,</a:t>
            </a:r>
            <a:endParaRPr lang="en-US" sz="3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200" i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başkalarına gösterebildiği şeydir.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794760"/>
            <a:ext cx="106344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140" kern="0" dirty="0">
                <a:solidFill>
                  <a:srgbClr val="7FA9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EDGAR DEGAS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0916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Gelecek hafta: nokta ve çizgi.</a:t>
            </a:r>
            <a:endParaRPr lang="en-US" sz="2000" dirty="0"/>
          </a:p>
          <a:p>
            <a:pPr indent="0" marL="0">
              <a:lnSpc>
                <a:spcPts val="2900"/>
              </a:lnSpc>
              <a:buNone/>
            </a:pPr>
            <a:r>
              <a:rPr lang="en-US" sz="2000" dirty="0">
                <a:solidFill>
                  <a:srgbClr val="C9CC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tekrarınızı ve kalemlerinizi getirin.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035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4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Serbest Çizim Teknikleri  ·  1. Hafta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Serbest Çizim Teknikleri — 1. Hafta</dc:title>
  <dc:subject>PptxGenJS Presentation</dc:subject>
  <dc:creator>Serbest Çizim Teknikleri</dc:creator>
  <cp:lastModifiedBy>Serbest Çizim Teknikleri</cp:lastModifiedBy>
  <cp:revision>1</cp:revision>
  <dcterms:created xsi:type="dcterms:W3CDTF">2026-09-03T17:36:04Z</dcterms:created>
  <dcterms:modified xsi:type="dcterms:W3CDTF">2026-09-03T17:36:04Z</dcterms:modified>
</cp:coreProperties>
</file>