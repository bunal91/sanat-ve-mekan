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Açılış. Ders 100 dakika (12.40–14.20). Süre planı: açılış + izlence 10 dk, tarihçe 30 dk, dönem planı ve kurallar 20 dk, kalem tutma ve sertlikler 15 dk, uygulama 20 dk, kapanış 5 dk.
Sağdaki altı çizgi bugünün ilk egzersizi: aynı kalemle altı farklı ağırlıkta çizgi.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kaldırma sorusu: “Kaçınız çizim yapamadığını düşünüyor?” Genelde yarısı el kaldırır. Bunu veri olarak alın; 14. haftada aynı soruyu tekrar soracağız.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maddeyi vurgulayın: bugün de çizeceğiz. Ders anlatım saati değil, üretim saati.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Bölüm 1. Her durağı dersin bir kuralına bağlayın — kronoloji ezberletmiyoruz.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Soru sorun: “Sıkıldığınızda defterin kenarına ne çiziyorsunuz?” Aynı davranış, 73.000 yıldır.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Işığı kapatıp telefon fenerini bir öğrencinin profiline tutun; duvardaki gölgenin konturunu parmakla gösterin. On saniye sürer, dersin en akılda kalan anı olur.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Türkçede bu bağ kayboluyor: “çizim” ve “tasarım” ayrı kelimeler. İtalyancada tek kelime — bu tesadüf değil.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malzeme listesinin gerekçesi: 2H, HB, 2B, 4B, 6B istiyoruz çünkü kuruluş ve ton farklı sertlik istiyor.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4. haftanın dış zarf yöntemini önceden meşrulaştırıyor: yöntem yeni değil, 600 yıllık bir problemin elle çözümü.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Kısa geçin. Amaç: çizimin bir sır değil, ayrıştırılabilir bir beceri olduğunu göstermek.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Probité: dürüstlük, doğruluk, sağlamlık. Renk ve efekt gizler, çizgi gizlemez.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Bölüm 2: dersin yapısı. Bu diyagramı öğrencilere fotoğraflatın.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Dersin en önemli slaydı. Her hafta başında “bu hafta hangi adımdayız?” diye sorun.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hafta (29 Ekim) tatil, 8. hafta quiz olduğu için evre listesinde yok.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tabloyu fotoğraflatın. Dönem boyunca “şu an hangi beceriyi çalışıyoruz?” diye sorabilirsiniz.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Gösterim: tahtaya “bir ev çizin” deyip 10 saniye verin. Neredeyse herkes üçgen çatılı kare çizer — çoğunun yaşadığı ev öyle değildir. Şema budur.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Dersin en pratik cümlesi. El zaten yeterince beceriklidir; imza atabiliyorsanız çizebilirsiniz. Eğitilecek olan göz.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Bölüm 3: bugünün en pratik kısmı. Herkes kalemini çıkarsın, birlikte deneyeceğiz.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Burada 5 dakika ayakta uygulama yaptırın: herkes bir kâğıda önce bilekten, sonra omuzdan 30 cm'lik düz çizgi çeksin. Fark anında görülür.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Malzeme listesinde 2H, HB, 2B, 4B, 6B istememizin sebebi bu slayt.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Kısa deneme: herkes defterine 30 saniyede “tedirginlik” çizsin — yüz, sembol, ok yok, sadece çizgi. Üç tanesini gösterin. 2. haftanın önizlemesi.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Bugünkü dersin gerekçesi bu cümle: bu hafta teori yaptık, 13 hafta pratik yapacağız. İkisi ayrılmaz.
Not: Leonardo'nun defterlerinden derlenmiş bir cümledir; hangi kodekste geçtiği kesin değil — derste 'defterlerinden' demek yeterli ve dürüst.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Bölüm 4: pratik bilgi. Buradan sonrası not alınacak kısım. İzlenceyi ekranda açık tutun.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Takvimi tek tek okumayın; işaretli üç haftayı vurgulayın: 5 (tatil), 8 (quiz) ve 14.
29 Ekim Cumhuriyet Bayramı perşembeye denk geliyor; o hafta ders yapılmayacak.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ölçüt izlencede tam hâliyle var; burada okumayın, izlenceye yönlendirin.
Vurgulanacak tek şey: dönem projesi yeni bir üretim değil, zaten yaptığınız işin derlenmesi. Düzenli çalışan için ek yük yok.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dönemin en çok işe yarayan uyarısıdır. İlk haftada söylenmezse yarısı sayfalarını atar.
Kişisel gelişim notu: “dönem başında ne yapamıyordum, şimdi ne yapabiliyorum” — bir sayfa, elle yazılabilir.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Karşılığında günlük defter yükü yok — bunu açıkça söyleyin, itirazı düşürür.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Mümkünse gerçek bir örnek gösterin. Türün adı: pop-up shadow box card / layered papercut diorama. Tarihsel dayanağı Hoogstraten'in perspektif kutusu (1655-60) ve tunnel book geleneği.
13. haftada kuru boya çalışacağız; renk serbest ama tek renk ailesi ve en az 5 değer kuralı 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slaytta yavaş gidin ve soru alın. Dönem içindeki itirazların neredeyse tamamı bu iki maddeden çıkıyor.
Mazeret sınavı üniversitenin yürürlükteki yönetmeliğine göre uygulanır.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Bölüm 5: not alınacak kısım. Yavaş gidin ve soru alın.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İlk iki kural mavi: bu ikisinden taviz yok.
Engelli öğrenci desteği: güçlük yaşayan öğrenciler doğrudan benimle ve üniversitenin engelli öğrenci birimiyle iletişime geçsin — bunu sözlü olarak söyleyin.
Ders kaydı KVKK kapsamında yalnızca bilgi ve onayla yapılabilir; izinsiz kayıt yasak.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Kampüse yakın kırtasiyeyi söyleyin. Bütçe sıkıntısı olan öğrenciyle ders sonrası ayrı konuşun.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Dönemin mottosu. Süreç dosyası kuralı, “temiz dosya düşük not alır” maddesi ve ev tekrarı sözleşmesi hep bu cümleden çıkıyor.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Metronom uygulamasını açın: 180 ve 150 BPM. Tempoyu öğrenci seçmesin, duysun.
Reprodüksiyonları sırayla tek tek yansıtın; ikisi aynı anda ekranda olursa öğrenci karşılaştırır, taklit etmez.
Süreyi siz tutun. Kutu başına 6 dakika; ilk 30 saniye kalem masada, sadece bakılır.
Ayrıntı: 06-ustalarin-cizgileri-hoca-notlari.md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İzlenceyi bugün dağıtın ve ölçütleri ilk haftada paylaşın — bu, ölçme kurgusunun bir parçası.
Bu hafta çizilen hafıza çizimini toplayıp tarihleyin ve saklayın: 14. haftada aynı protokol tekrarlanıp ikisi yan yana konacak.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325880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7FA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İÇ MİMARLIK VE ÇEVRE TASARIMI · IMC321 · 2026–27 GÜZ · 1. HAFTA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783080"/>
            <a:ext cx="8412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Serbest Çizim</a:t>
            </a:r>
            <a:endParaRPr lang="en-US" sz="60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Teknikleri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42245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Derse giriş: çizim nedir, kalem nasıl tutulur, nasıl bakılır?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Perşembe 12.40–14.20  ·  Mahzen Üst Salon  ·  2 kredi / 4 AKTS  ·  seçmeli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0" y="2148840"/>
            <a:ext cx="1828800" cy="0"/>
          </a:xfrm>
          <a:prstGeom prst="line">
            <a:avLst/>
          </a:prstGeom>
          <a:noFill/>
          <a:ln w="7620">
            <a:solidFill>
              <a:srgbClr val="4A54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2532888"/>
            <a:ext cx="1828800" cy="0"/>
          </a:xfrm>
          <a:prstGeom prst="line">
            <a:avLst/>
          </a:prstGeom>
          <a:noFill/>
          <a:ln w="12700">
            <a:solidFill>
              <a:srgbClr val="4A54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2916936"/>
            <a:ext cx="1828800" cy="0"/>
          </a:xfrm>
          <a:prstGeom prst="line">
            <a:avLst/>
          </a:prstGeom>
          <a:noFill/>
          <a:ln w="20320">
            <a:solidFill>
              <a:srgbClr val="4A54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0" y="3300984"/>
            <a:ext cx="1828800" cy="0"/>
          </a:xfrm>
          <a:prstGeom prst="line">
            <a:avLst/>
          </a:prstGeom>
          <a:noFill/>
          <a:ln w="30480">
            <a:solidFill>
              <a:srgbClr val="7FA9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0" y="3685032"/>
            <a:ext cx="1828800" cy="0"/>
          </a:xfrm>
          <a:prstGeom prst="line">
            <a:avLst/>
          </a:prstGeom>
          <a:noFill/>
          <a:ln w="43180">
            <a:solidFill>
              <a:srgbClr val="7FA9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0" y="4069080"/>
            <a:ext cx="1828800" cy="0"/>
          </a:xfrm>
          <a:prstGeom prst="line">
            <a:avLst/>
          </a:prstGeom>
          <a:noFill/>
          <a:ln w="63500">
            <a:solidFill>
              <a:srgbClr val="7FA9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0" y="4526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çizgi ağırlığı merdiveni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BAŞLARKEN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23444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 bir</a:t>
            </a:r>
            <a:endParaRPr lang="en-US" sz="52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yetenek dersi</a:t>
            </a:r>
            <a:endParaRPr lang="en-US" sz="52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değil.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7223760" y="1234440"/>
            <a:ext cx="4187952" cy="365760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43800" y="1554480"/>
            <a:ext cx="35478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Çizim öğrenilebilir bir beceridir.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Ölçtüğümüz şey doğuştan gelen bir hüner değil;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gören, ölçen, kuran ve anlatan bir el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iki hafta sizden “doğru çizim” istemeyeceğiz. Ölçüm baskısı 3. haftada başlıyor. Bu sıralama bilinçli.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512064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A628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“Kalem, hayal eden zihin ile beliren imge arasındaki köprüdür.”  — Juhani Pallasmaa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BUGÜN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 derste ne konuşacağız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490472" y="184708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Çizimin kısa tarihi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90472" y="220370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73.000 yıl, bir gölge, bir kelime ve bir kalem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976872" y="184708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Çizmenin dokuz adımı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976872" y="220370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Dersin omurgası: nokta'dan katmana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729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90472" y="314553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 alet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90472" y="35021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 nasıl tutulur, hangi kalem ne işe yarar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1729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314553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planı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976872" y="35021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hafta, bir quiz, iki teslim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4714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90472" y="444398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Kurallar ve malzeme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90472" y="48006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Neye uyacağız, ne alacağız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447141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76872" y="444398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976872" y="48006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Ustaların çizgileri: bugünün ilk iki kutusu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6002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42900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Çizimin kısa tarihi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431596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durak, altı kural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1 · TARİHÇE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515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73.000</a:t>
            </a:r>
            <a:endParaRPr lang="en-US" sz="7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39572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100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yıl önce, bir taş parçasının üzerine</a:t>
            </a:r>
            <a:endParaRPr lang="en-US" sz="2100" dirty="0"/>
          </a:p>
          <a:p>
            <a:pPr indent="0" marL="0">
              <a:lnSpc>
                <a:spcPts val="2900"/>
              </a:lnSpc>
              <a:buNone/>
            </a:pPr>
            <a:r>
              <a:rPr lang="en-US" sz="2100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dokuz çizgi çizildi.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4290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Güney Afrika, Blombos Mağarası.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 uçlu bir aşıboyası parçası kalem gibi kullanılarak silkrit bir yonga üzerine çizilmiş çapraz tarama. Bilinen en eski çizim — öncekileri en az 30.000 yıl geride bırakıyor.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9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 olan şu: bu bir alet değil. Kesmiyor, taşımıyor, işe yaramıyor.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bir işaret.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0" y="1051560"/>
            <a:ext cx="4645152" cy="420624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0" y="1783080"/>
            <a:ext cx="868680" cy="2377440"/>
          </a:xfrm>
          <a:prstGeom prst="line">
            <a:avLst/>
          </a:prstGeom>
          <a:noFill/>
          <a:ln w="27940">
            <a:solidFill>
              <a:srgbClr val="232A2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1783080"/>
            <a:ext cx="868680" cy="2377440"/>
          </a:xfrm>
          <a:prstGeom prst="line">
            <a:avLst/>
          </a:prstGeom>
          <a:noFill/>
          <a:ln w="27940">
            <a:solidFill>
              <a:srgbClr val="4149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40496" y="1783080"/>
            <a:ext cx="868680" cy="2377440"/>
          </a:xfrm>
          <a:prstGeom prst="line">
            <a:avLst/>
          </a:prstGeom>
          <a:noFill/>
          <a:ln w="27940">
            <a:solidFill>
              <a:srgbClr val="232A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07424" y="1783080"/>
            <a:ext cx="868680" cy="2377440"/>
          </a:xfrm>
          <a:prstGeom prst="line">
            <a:avLst/>
          </a:prstGeom>
          <a:noFill/>
          <a:ln w="27940">
            <a:solidFill>
              <a:srgbClr val="4149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74352" y="1783080"/>
            <a:ext cx="868680" cy="2377440"/>
          </a:xfrm>
          <a:prstGeom prst="line">
            <a:avLst/>
          </a:prstGeom>
          <a:noFill/>
          <a:ln w="27940">
            <a:solidFill>
              <a:srgbClr val="232A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0" y="1783080"/>
            <a:ext cx="868680" cy="2377440"/>
          </a:xfrm>
          <a:prstGeom prst="line">
            <a:avLst/>
          </a:prstGeom>
          <a:noFill/>
          <a:ln w="27940">
            <a:solidFill>
              <a:srgbClr val="4149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69480" y="2286000"/>
            <a:ext cx="3566160" cy="0"/>
          </a:xfrm>
          <a:prstGeom prst="line">
            <a:avLst/>
          </a:prstGeom>
          <a:noFill/>
          <a:ln w="27940">
            <a:solidFill>
              <a:srgbClr val="5F676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69480" y="3063240"/>
            <a:ext cx="3566160" cy="0"/>
          </a:xfrm>
          <a:prstGeom prst="line">
            <a:avLst/>
          </a:prstGeom>
          <a:noFill/>
          <a:ln w="27940">
            <a:solidFill>
              <a:srgbClr val="5F67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69480" y="3840480"/>
            <a:ext cx="3566160" cy="0"/>
          </a:xfrm>
          <a:prstGeom prst="line">
            <a:avLst/>
          </a:prstGeom>
          <a:noFill/>
          <a:ln w="27940">
            <a:solidFill>
              <a:srgbClr val="5F676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86600" y="4663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dokuz çizgilik çapraz tarama · şematik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6144768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Henshilwood ve ark., “An abstract drawing from the 73,000-year-old levels at Blombos Cave, South Africa”, Nature, 12 Eylül 2018.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1 · TARİHÇE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Çizim bir gölgeden doğdu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2880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Plinius, </a:t>
            </a:r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 Tarihi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(MS 77–79): Korintli çömlekçi Butades’in kızı, ertesi gün yola çıkacak sevgilisinin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kandil ışığıyla duvara düşen gölgesinin konturunu çizer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Babası bu ize kil basıp fırınlar.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9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Batı düşüncesinde bu, çizimin kuruluş anlatısıdır. Bizim için üç şey söylüyor: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4014216"/>
            <a:ext cx="237744" cy="237744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39776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Çizim bir kayıptan doğar.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42519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Gitmekte olan bir şeyi tutma girişimi.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4672584"/>
            <a:ext cx="237744" cy="237744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88720" y="46360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çizim bir duvarın üzerindeydi.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49103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Yani ilk çizim yüzeyi bir iç mekândı.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5330952"/>
            <a:ext cx="237744" cy="237744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529437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Kontur, ışığın bıraktığı sınırdır.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556869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Çizgi icat edilmedi — bulundu.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23760" y="1737360"/>
            <a:ext cx="4187952" cy="356616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35240" y="3246120"/>
            <a:ext cx="329184" cy="329184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52360" y="3657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kandil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06840" y="2377440"/>
            <a:ext cx="0" cy="2286000"/>
          </a:xfrm>
          <a:prstGeom prst="line">
            <a:avLst/>
          </a:prstGeom>
          <a:noFill/>
          <a:ln w="38100">
            <a:solidFill>
              <a:srgbClr val="4149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32520" y="47091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figür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561320" y="2148840"/>
            <a:ext cx="146304" cy="2743200"/>
          </a:xfrm>
          <a:prstGeom prst="rect">
            <a:avLst/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07624" y="2377440"/>
            <a:ext cx="457200" cy="2286000"/>
          </a:xfrm>
          <a:prstGeom prst="rect">
            <a:avLst/>
          </a:prstGeom>
          <a:solidFill>
            <a:srgbClr val="AFB4B7"/>
          </a:solidFill>
          <a:ln w="12700">
            <a:solidFill>
              <a:srgbClr val="AFB4B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3291840"/>
            <a:ext cx="2743200" cy="-868680"/>
          </a:xfrm>
          <a:prstGeom prst="line">
            <a:avLst/>
          </a:prstGeom>
          <a:noFill/>
          <a:ln w="12700">
            <a:solidFill>
              <a:srgbClr val="7FA9C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863840" y="3456432"/>
            <a:ext cx="2743200" cy="1234440"/>
          </a:xfrm>
          <a:prstGeom prst="line">
            <a:avLst/>
          </a:prstGeom>
          <a:noFill/>
          <a:ln w="12700">
            <a:solidFill>
              <a:srgbClr val="7FA9C6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10378440" y="49560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gölge = ilk çizgi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6144768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Plinius, Naturalis Historia, XXXV — “Butades / Korintli Kız” anlatısı.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1 · TARİHÇE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Disegno: çizim ile tasarım aynı kelimedir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2880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İtalyanca </a:t>
            </a:r>
            <a:pPr indent="0" marL="0">
              <a:lnSpc>
                <a:spcPts val="2400"/>
              </a:lnSpc>
              <a:buNone/>
            </a:pPr>
            <a:r>
              <a:rPr lang="en-US" sz="1600" b="1" i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disegno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hem “çizim” hem “tasarım” demektir. Vasari 1568’de onu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“üç sanatın babası”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olarak tanımlar: mimarlık, heykel, resim. Ona göre disegno elin değil,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zihnin işidir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Tarihin ilk güzel sanatlar akademisinin adı da budur: Accademia delle Arti del Disegno (Floransa, 1563).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2976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2A628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 dersin var oluş sebebi bu kelimede saklı: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2A628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çizmeyi öğrenmek, tasarlamayı öğrenmenin bir parçasıdır.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223760" y="1737360"/>
            <a:ext cx="4187952" cy="356616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0" y="21488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disegno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7589520" y="3044952"/>
            <a:ext cx="502920" cy="0"/>
          </a:xfrm>
          <a:prstGeom prst="line">
            <a:avLst/>
          </a:prstGeom>
          <a:noFill/>
          <a:ln w="25400">
            <a:solidFill>
              <a:srgbClr val="2A628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0" y="28620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çizim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32095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elin işi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3913632"/>
            <a:ext cx="502920" cy="0"/>
          </a:xfrm>
          <a:prstGeom prst="line">
            <a:avLst/>
          </a:prstGeom>
          <a:noFill/>
          <a:ln w="25400">
            <a:solidFill>
              <a:srgbClr val="2A62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3730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40782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zihnin işi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4800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 kelime, iki iş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6144768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Giorgio Vasari, Le Vite, 2. baskı, 1568 · Accademia delle Arti del Disegno, Floransa, 1563.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1 · TARİHÇE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Elinizdeki kalem 230 yaşında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28800"/>
            <a:ext cx="5852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1564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İngiltere’de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Borrowdale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’de saf grafit yatağı bulunur. Çubuk hâlinde kesilip iple sarılarak kullanılır. Ama yatak tükenir.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9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1795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Fransız bilim insanı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Nicolas-Jacques Conté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grafiti toz hâline getirip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 karıştırır ve fırınlar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Hem hammadde sıkıntısını çözer hem de yepyeni bir şey kazandırır: ayarlanabilir sertlik.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6177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2A628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Kil çok → sert (H).  Grafit çok → yumuşak (B).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2A628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Elinizdeki 2B, bir savaş dönemi hammadde sıkıntısının çözümüdür.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40880" y="1737360"/>
            <a:ext cx="4370832" cy="374904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2167128"/>
            <a:ext cx="2194560" cy="0"/>
          </a:xfrm>
          <a:prstGeom prst="line">
            <a:avLst/>
          </a:prstGeom>
          <a:noFill/>
          <a:ln w="10160">
            <a:solidFill>
              <a:srgbClr val="FAFA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0" y="20574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0" y="2496312"/>
            <a:ext cx="2194560" cy="0"/>
          </a:xfrm>
          <a:prstGeom prst="line">
            <a:avLst/>
          </a:prstGeom>
          <a:noFill/>
          <a:ln w="15494">
            <a:solidFill>
              <a:srgbClr val="E2E4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06640" y="23865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0" y="2825496"/>
            <a:ext cx="2194560" cy="0"/>
          </a:xfrm>
          <a:prstGeom prst="line">
            <a:avLst/>
          </a:prstGeom>
          <a:noFill/>
          <a:ln w="20828">
            <a:solidFill>
              <a:srgbClr val="C9CC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27157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0" y="3154680"/>
            <a:ext cx="2194560" cy="0"/>
          </a:xfrm>
          <a:prstGeom prst="line">
            <a:avLst/>
          </a:prstGeom>
          <a:noFill/>
          <a:ln w="26162">
            <a:solidFill>
              <a:srgbClr val="AFB4B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3044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0" y="3483864"/>
            <a:ext cx="2194560" cy="0"/>
          </a:xfrm>
          <a:prstGeom prst="line">
            <a:avLst/>
          </a:prstGeom>
          <a:noFill/>
          <a:ln w="31496">
            <a:solidFill>
              <a:srgbClr val="959B9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06640" y="33741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0" y="3813048"/>
            <a:ext cx="2194560" cy="0"/>
          </a:xfrm>
          <a:prstGeom prst="line">
            <a:avLst/>
          </a:prstGeom>
          <a:noFill/>
          <a:ln w="36830">
            <a:solidFill>
              <a:srgbClr val="7B82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06640" y="3703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0" y="4142232"/>
            <a:ext cx="2194560" cy="0"/>
          </a:xfrm>
          <a:prstGeom prst="line">
            <a:avLst/>
          </a:prstGeom>
          <a:noFill/>
          <a:ln w="42164">
            <a:solidFill>
              <a:srgbClr val="7B828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40325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0" y="4471416"/>
            <a:ext cx="2194560" cy="0"/>
          </a:xfrm>
          <a:prstGeom prst="line">
            <a:avLst/>
          </a:prstGeom>
          <a:noFill/>
          <a:ln w="47498">
            <a:solidFill>
              <a:srgbClr val="5F67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06640" y="43616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4B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0" y="4800600"/>
            <a:ext cx="2194560" cy="0"/>
          </a:xfrm>
          <a:prstGeom prst="line">
            <a:avLst/>
          </a:prstGeom>
          <a:noFill/>
          <a:ln w="52832">
            <a:solidFill>
              <a:srgbClr val="41495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06640" y="4690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6B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86800" y="5129784"/>
            <a:ext cx="2194560" cy="0"/>
          </a:xfrm>
          <a:prstGeom prst="line">
            <a:avLst/>
          </a:prstGeom>
          <a:noFill/>
          <a:ln w="58166">
            <a:solidFill>
              <a:srgbClr val="232A2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06640" y="50200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9B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18470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sert · açık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51937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yumuşak · koyu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6144768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Borrowdale grafit yatağı, 1564 · Nicolas-Jacques Conté, grafit–kil karışımı, 1795.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1 · TARİHÇE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Çizim hep bir görme aygıtı aradı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2880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1435 — Alberti, </a:t>
            </a:r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Della Pittura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’da </a:t>
            </a:r>
            <a:pPr indent="0" marL="0">
              <a:lnSpc>
                <a:spcPts val="2400"/>
              </a:lnSpc>
              <a:buNone/>
            </a:pPr>
            <a:r>
              <a:rPr lang="en-US" sz="1600" b="1" i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(peçe) adını verdiği aygıtı tarif eder: ince ipliklerden dokunmuş, kalın ipliklerle karelere bölünmüş, çerçeveye gerilmiş bir tül. Çizer tülün arkasından bakar ve gördüğünü kare kare aktarır.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9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1525 — Dürer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aynı fikri ızgaralı çerçeve gravürleriyle gösterir.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5262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i="1" dirty="0">
                <a:solidFill>
                  <a:srgbClr val="2A628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 haftada öğreneceğimiz “dış zarf” yöntemi,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i="1" dirty="0">
                <a:solidFill>
                  <a:srgbClr val="2A628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 aygıtların elle yapılan hâlidir.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949440" y="1737360"/>
            <a:ext cx="4462272" cy="374904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0" y="2286000"/>
            <a:ext cx="0" cy="2194560"/>
          </a:xfrm>
          <a:prstGeom prst="line">
            <a:avLst/>
          </a:prstGeom>
          <a:noFill/>
          <a:ln w="17780">
            <a:solidFill>
              <a:srgbClr val="7B82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2286000"/>
            <a:ext cx="2194560" cy="0"/>
          </a:xfrm>
          <a:prstGeom prst="line">
            <a:avLst/>
          </a:prstGeom>
          <a:noFill/>
          <a:ln w="17780">
            <a:solidFill>
              <a:srgbClr val="7B82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2286000"/>
            <a:ext cx="0" cy="2194560"/>
          </a:xfrm>
          <a:prstGeom prst="line">
            <a:avLst/>
          </a:prstGeom>
          <a:noFill/>
          <a:ln w="10160">
            <a:solidFill>
              <a:srgbClr val="AFB4B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2834640"/>
            <a:ext cx="2194560" cy="0"/>
          </a:xfrm>
          <a:prstGeom prst="line">
            <a:avLst/>
          </a:prstGeom>
          <a:noFill/>
          <a:ln w="10160">
            <a:solidFill>
              <a:srgbClr val="AFB4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0" y="2286000"/>
            <a:ext cx="0" cy="2194560"/>
          </a:xfrm>
          <a:prstGeom prst="line">
            <a:avLst/>
          </a:prstGeom>
          <a:noFill/>
          <a:ln w="17780">
            <a:solidFill>
              <a:srgbClr val="7B82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3383280"/>
            <a:ext cx="2194560" cy="0"/>
          </a:xfrm>
          <a:prstGeom prst="line">
            <a:avLst/>
          </a:prstGeom>
          <a:noFill/>
          <a:ln w="17780">
            <a:solidFill>
              <a:srgbClr val="7B82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0" y="2286000"/>
            <a:ext cx="0" cy="2194560"/>
          </a:xfrm>
          <a:prstGeom prst="line">
            <a:avLst/>
          </a:prstGeom>
          <a:noFill/>
          <a:ln w="10160">
            <a:solidFill>
              <a:srgbClr val="AFB4B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3931920"/>
            <a:ext cx="2194560" cy="0"/>
          </a:xfrm>
          <a:prstGeom prst="line">
            <a:avLst/>
          </a:prstGeom>
          <a:noFill/>
          <a:ln w="10160">
            <a:solidFill>
              <a:srgbClr val="AFB4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2286000"/>
            <a:ext cx="0" cy="2194560"/>
          </a:xfrm>
          <a:prstGeom prst="line">
            <a:avLst/>
          </a:prstGeom>
          <a:noFill/>
          <a:ln w="17780">
            <a:solidFill>
              <a:srgbClr val="7B82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4480560"/>
            <a:ext cx="2194560" cy="0"/>
          </a:xfrm>
          <a:prstGeom prst="line">
            <a:avLst/>
          </a:prstGeom>
          <a:noFill/>
          <a:ln w="17780">
            <a:solidFill>
              <a:srgbClr val="7B82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78440" y="3108960"/>
            <a:ext cx="274320" cy="274320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78440" y="3246120"/>
            <a:ext cx="-365760" cy="0"/>
          </a:xfrm>
          <a:prstGeom prst="line">
            <a:avLst/>
          </a:prstGeom>
          <a:noFill/>
          <a:ln w="12700">
            <a:solidFill>
              <a:srgbClr val="7FA9C6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10332720" y="34564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göz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4681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 · ızgaralı çerçeve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6144768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Leon Battista Alberti, De pictura / Della Pittura, 1435 · Albrecht Dürer, Underweysung der Messung, Nürnberg, 1525.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1 · TARİHÇE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Çizim öğretilebilir bileşenlere ayrıldı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1563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9019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Accademia delle Arti del Disegno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22860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Floransa. Çizim ilk kez kurumsal bir müfredat konusu.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2377440"/>
            <a:ext cx="0" cy="502920"/>
          </a:xfrm>
          <a:prstGeom prst="line">
            <a:avLst/>
          </a:prstGeom>
          <a:noFill/>
          <a:ln w="19050">
            <a:solidFill>
              <a:srgbClr val="D8DC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9443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1919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Bauhaus Vorkurs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331012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Itten’in temel kursu. Bugünkü “temel tasarım” dersinin atası.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3401568"/>
            <a:ext cx="0" cy="502920"/>
          </a:xfrm>
          <a:prstGeom prst="line">
            <a:avLst/>
          </a:prstGeom>
          <a:noFill/>
          <a:ln w="19050">
            <a:solidFill>
              <a:srgbClr val="D8DC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9684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1941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39502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Nicolaïdes · The Natural Way to Draw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4334256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Kör kontur ve dinamik çizim. 5. haftamızın kaynağı.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4425696"/>
            <a:ext cx="0" cy="502920"/>
          </a:xfrm>
          <a:prstGeom prst="line">
            <a:avLst/>
          </a:prstGeom>
          <a:noFill/>
          <a:ln w="19050">
            <a:solidFill>
              <a:srgbClr val="D8DC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9926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1979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497433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Edwards · Right Side of the Brain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535838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Çizimi beş bileşen beceriye ayırır.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669280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A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dersin dokuz adımı o geleneğin devamıdır.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686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2A628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7452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Çizim, sanatın dürüstlüğüdür.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498348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7FA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JEAN-AUGUSTE-DOMINIQUE INGRES  ·  “Le dessin est la probité de l’art.”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6002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42900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Çizmenin dokuz adımı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431596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Dersin omurgası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2 · OMURGA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Nokta’dan katmana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78308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kavramsal başlıklarla değil, çizme eyleminin kendi adımlarıyla ilerler. Her adım bir öncekinin üzerine biner ve hiçbiri atlanamaz.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0120" y="3246120"/>
            <a:ext cx="10058400" cy="0"/>
          </a:xfrm>
          <a:prstGeom prst="line">
            <a:avLst/>
          </a:prstGeom>
          <a:noFill/>
          <a:ln w="19050">
            <a:solidFill>
              <a:srgbClr val="D8DC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" y="3099816"/>
            <a:ext cx="292608" cy="292608"/>
          </a:xfrm>
          <a:prstGeom prst="ellipse">
            <a:avLst/>
          </a:prstGeom>
          <a:solidFill>
            <a:srgbClr val="2A628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761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01752" y="352958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8404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71116" y="3099816"/>
            <a:ext cx="292608" cy="292608"/>
          </a:xfrm>
          <a:prstGeom prst="ellipse">
            <a:avLst/>
          </a:prstGeom>
          <a:solidFill>
            <a:srgbClr val="2A628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60220" y="2761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559052" y="352958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çizgi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760220" y="38404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28416" y="3099816"/>
            <a:ext cx="292608" cy="292608"/>
          </a:xfrm>
          <a:prstGeom prst="ellipse">
            <a:avLst/>
          </a:prstGeom>
          <a:solidFill>
            <a:srgbClr val="5F676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2761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816352" y="352958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düzlem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38404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85716" y="3099816"/>
            <a:ext cx="292608" cy="292608"/>
          </a:xfrm>
          <a:prstGeom prst="ellipse">
            <a:avLst/>
          </a:prstGeom>
          <a:solidFill>
            <a:srgbClr val="5F676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74820" y="2761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073652" y="352958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hacim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74820" y="38404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43016" y="3099816"/>
            <a:ext cx="292608" cy="292608"/>
          </a:xfrm>
          <a:prstGeom prst="ellipse">
            <a:avLst/>
          </a:prstGeom>
          <a:solidFill>
            <a:srgbClr val="5F676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32120" y="2761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330952" y="352958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kontur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38404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00316" y="3099816"/>
            <a:ext cx="292608" cy="292608"/>
          </a:xfrm>
          <a:prstGeom prst="ellipse">
            <a:avLst/>
          </a:prstGeom>
          <a:solidFill>
            <a:srgbClr val="5F676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89420" y="2761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588252" y="352958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perspektif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789420" y="38404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57616" y="3099816"/>
            <a:ext cx="292608" cy="292608"/>
          </a:xfrm>
          <a:prstGeom prst="ellipse">
            <a:avLst/>
          </a:prstGeom>
          <a:solidFill>
            <a:srgbClr val="1B1F2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0" y="2761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845552" y="352958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046720" y="38404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614916" y="3099816"/>
            <a:ext cx="292608" cy="292608"/>
          </a:xfrm>
          <a:prstGeom prst="ellipse">
            <a:avLst/>
          </a:prstGeom>
          <a:solidFill>
            <a:srgbClr val="1B1F2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304020" y="2761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102852" y="352958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ışık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304020" y="38404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872216" y="3099816"/>
            <a:ext cx="292608" cy="292608"/>
          </a:xfrm>
          <a:prstGeom prst="ellipse">
            <a:avLst/>
          </a:prstGeom>
          <a:solidFill>
            <a:srgbClr val="1B1F2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61320" y="2761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0360152" y="352958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561320" y="38404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H13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4343400"/>
            <a:ext cx="2354580" cy="0"/>
          </a:xfrm>
          <a:prstGeom prst="line">
            <a:avLst/>
          </a:prstGeom>
          <a:noFill/>
          <a:ln w="19050">
            <a:solidFill>
              <a:srgbClr val="2A628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11480" y="4480560"/>
            <a:ext cx="2354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· İZ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11480" y="4754880"/>
            <a:ext cx="2354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926080" y="4343400"/>
            <a:ext cx="4869180" cy="0"/>
          </a:xfrm>
          <a:prstGeom prst="line">
            <a:avLst/>
          </a:prstGeom>
          <a:noFill/>
          <a:ln w="19050">
            <a:solidFill>
              <a:srgbClr val="2A628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926080" y="4480560"/>
            <a:ext cx="4869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 · BİÇİM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2926080" y="4754880"/>
            <a:ext cx="4869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H3–7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955280" y="4343400"/>
            <a:ext cx="2354580" cy="0"/>
          </a:xfrm>
          <a:prstGeom prst="line">
            <a:avLst/>
          </a:prstGeom>
          <a:noFill/>
          <a:ln w="19050">
            <a:solidFill>
              <a:srgbClr val="2A628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955280" y="4480560"/>
            <a:ext cx="2354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 · YÜZEY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7955280" y="4754880"/>
            <a:ext cx="2354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H9–10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469880" y="4343400"/>
            <a:ext cx="1097280" cy="0"/>
          </a:xfrm>
          <a:prstGeom prst="line">
            <a:avLst/>
          </a:prstGeom>
          <a:noFill/>
          <a:ln w="19050">
            <a:solidFill>
              <a:srgbClr val="2A628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469880" y="4480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 · BÜTÜN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0469880" y="4754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H11–14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777240" y="5349240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hafta (29 Ekim) ders yok  ·  8. hafta quiz.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2 · OMURGA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Dört evre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78308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Dokuz adım dört evrede toplanır. Evre çubuklarının kalınlığı dersin kendi konusudur: çizgi ağırlığı hiyerarşisi.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2450592" cy="310896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2697480"/>
            <a:ext cx="1920240" cy="0"/>
          </a:xfrm>
          <a:prstGeom prst="line">
            <a:avLst/>
          </a:prstGeom>
          <a:noFill/>
          <a:ln w="12700">
            <a:solidFill>
              <a:srgbClr val="1B1F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33272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EVRE I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3200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73075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Çizgi ne söyler?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459028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nokta · çizgi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5138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Hafta 1–2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377440"/>
            <a:ext cx="2450592" cy="310896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30752" y="2697480"/>
            <a:ext cx="1920240" cy="0"/>
          </a:xfrm>
          <a:prstGeom prst="line">
            <a:avLst/>
          </a:prstGeom>
          <a:noFill/>
          <a:ln w="25400">
            <a:solidFill>
              <a:srgbClr val="1B1F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30752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EVRE II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730752" y="3200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Biçim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730752" y="373075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Biçimi nasıl kurarım?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730752" y="459028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düzlem · hacim · kontur · perspektif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730752" y="5138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Hafta 3–7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2377440"/>
            <a:ext cx="2450592" cy="310896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8232" y="2697480"/>
            <a:ext cx="1920240" cy="0"/>
          </a:xfrm>
          <a:prstGeom prst="line">
            <a:avLst/>
          </a:prstGeom>
          <a:noFill/>
          <a:ln w="50800">
            <a:solidFill>
              <a:srgbClr val="1B1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28232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EVRE III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3200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Yüzey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28232" y="373075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Yüzeyi nasıl anlatırım?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28232" y="459028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doku · ışık ve gölge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28232" y="5138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Hafta 9–10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69680" y="2377440"/>
            <a:ext cx="2450592" cy="310896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25712" y="2697480"/>
            <a:ext cx="1920240" cy="0"/>
          </a:xfrm>
          <a:prstGeom prst="line">
            <a:avLst/>
          </a:prstGeom>
          <a:noFill/>
          <a:ln w="82550">
            <a:solidFill>
              <a:srgbClr val="1B1F2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25712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EVRE IV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125712" y="3200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125712" y="373075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Hepsini nasıl birleştiririm?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125712" y="459028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natürmort · mimari gösterim · katman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125712" y="5138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Hafta 11–14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2 · OMURGA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Çizmek beş ayrı beceriye ayrılabilir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78308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Betty Edwards, algısal çizimi öğretilebilir beş bileşene ayırır. Hepsi ayrı ayrı çalışılabilir — ve dersin dokuz adımı bu beşliyi izler.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560320"/>
            <a:ext cx="384048" cy="384048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6243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25786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Kenarları görmek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2606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kontur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26151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Hafta 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273552"/>
            <a:ext cx="384048" cy="384048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33756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291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Boşlukları görmek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3192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negatif alan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33284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Hafta 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986784"/>
            <a:ext cx="384048" cy="384048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05079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44168" y="4005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İlişkileri görmek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40325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oran, dış zarf, göz hizası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40416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Hafta 3 · 4 · 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4700016"/>
            <a:ext cx="384048" cy="384048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76402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44168" y="47183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Işık ve gölgeyi görmek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474573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tarama ve ton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183880" y="4754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Hafta 9 · 10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5413248"/>
            <a:ext cx="384048" cy="384048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4772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44168" y="54315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Bütünü görmek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54589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natürmort, mimari gösterim, katman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54681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Hafta 11 · 12 · 13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6144768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Betty Edwards, Drawing on the Right Side of the Brain — algısal çizimin beş bileşen becerisi.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2 · OMURGA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Neden hepimiz aynı sandalyeyi çiziyoruz?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28800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Beyin ekonomiktir. Bir nesneye her baktığında onu yeniden görmez; daha önce kurduğu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şemayı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çağırır. “Sandalye” dendiğinde zihninizde beliren şey karşınızdaki sandalye değil,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sandalye fikridir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dört bacak, bir oturma yüzeyi, bir sırt.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9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Elinizden çıkan da budur. Bu bir yetenek eksikliği değil;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algının varsayılan ayarıdır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Dersin ilk işi bu ayarı geçici olarak kapatmayı öğretmek.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9377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 haftanın ev ödevinde tam olarak bunu göreceksiniz: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hafızadan çizdiğinizde şema çıkar, gözlemle çizdiğinizde nesne.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0" y="1737360"/>
            <a:ext cx="4279392" cy="365760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BİLDİĞİN SANDALYE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680960" y="3063240"/>
            <a:ext cx="1371600" cy="0"/>
          </a:xfrm>
          <a:prstGeom prst="line">
            <a:avLst/>
          </a:prstGeom>
          <a:noFill/>
          <a:ln w="38100">
            <a:solidFill>
              <a:srgbClr val="4149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3063240"/>
            <a:ext cx="0" cy="777240"/>
          </a:xfrm>
          <a:prstGeom prst="line">
            <a:avLst/>
          </a:prstGeom>
          <a:noFill/>
          <a:ln w="38100">
            <a:solidFill>
              <a:srgbClr val="4149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3063240"/>
            <a:ext cx="0" cy="777240"/>
          </a:xfrm>
          <a:prstGeom prst="line">
            <a:avLst/>
          </a:prstGeom>
          <a:noFill/>
          <a:ln w="38100">
            <a:solidFill>
              <a:srgbClr val="4149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2423160"/>
            <a:ext cx="0" cy="640080"/>
          </a:xfrm>
          <a:prstGeom prst="line">
            <a:avLst/>
          </a:prstGeom>
          <a:noFill/>
          <a:ln w="38100">
            <a:solidFill>
              <a:srgbClr val="4149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0" y="4160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GÖRDÜĞÜN SANDALYE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46920" y="4800600"/>
            <a:ext cx="1325880" cy="-256032"/>
          </a:xfrm>
          <a:prstGeom prst="line">
            <a:avLst/>
          </a:prstGeom>
          <a:noFill/>
          <a:ln w="38100">
            <a:solidFill>
              <a:srgbClr val="1B1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10928" y="4846320"/>
            <a:ext cx="146304" cy="475488"/>
          </a:xfrm>
          <a:prstGeom prst="line">
            <a:avLst/>
          </a:prstGeom>
          <a:noFill/>
          <a:ln w="38100">
            <a:solidFill>
              <a:srgbClr val="1B1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81360" y="4572000"/>
            <a:ext cx="91440" cy="548640"/>
          </a:xfrm>
          <a:prstGeom prst="line">
            <a:avLst/>
          </a:prstGeom>
          <a:noFill/>
          <a:ln w="38100">
            <a:solidFill>
              <a:srgbClr val="1B1F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4754880"/>
            <a:ext cx="256032" cy="-566928"/>
          </a:xfrm>
          <a:prstGeom prst="line">
            <a:avLst/>
          </a:prstGeom>
          <a:noFill/>
          <a:ln w="38100">
            <a:solidFill>
              <a:srgbClr val="1B1F2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0" y="5029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aynı nesne, iki farklı iş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686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2A628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7452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Sorun görmek — daha doğrusu,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belirli bir görme biçimine geçebilmek.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498348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7FA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BETTY EDWARDS  ·  Drawing on the Right Side of the Brain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6002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42900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El ve alet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431596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 nasıl tutulur, hangi kalem ne işe yarar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3 · EL VE ALET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Üç tutuş, üç eklem, üç ölçek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3319272" cy="320040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2084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 tutuşu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487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tripod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28529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Baş, işaret ve orta parmak, uca yakın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3794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A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Detay, kontur, küçük ölçek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69848" y="4553712"/>
            <a:ext cx="457200" cy="0"/>
          </a:xfrm>
          <a:prstGeom prst="line">
            <a:avLst/>
          </a:prstGeom>
          <a:noFill/>
          <a:ln w="25400">
            <a:solidFill>
              <a:srgbClr val="2A628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4434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hareket BİLEK’den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3319272" cy="320040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81728" y="2084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Üstten tutuş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2487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overhand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681728" y="28529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 avuç içinde, parmaklar üstte, uçtan uzak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681728" y="3794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A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Jest, büyük hareket, tonlama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81728" y="4553712"/>
            <a:ext cx="457200" cy="0"/>
          </a:xfrm>
          <a:prstGeom prst="line">
            <a:avLst/>
          </a:prstGeom>
          <a:noFill/>
          <a:ln w="25400">
            <a:solidFill>
              <a:srgbClr val="2A62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57800" y="4434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hareket OMUZ’den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01000" y="1828800"/>
            <a:ext cx="3319272" cy="320040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93608" y="2084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tutuş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293608" y="2487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93608" y="28529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uzak, gevşek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3794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A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 alma, hayalet çizgi, kuruluş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93608" y="4553712"/>
            <a:ext cx="457200" cy="0"/>
          </a:xfrm>
          <a:prstGeom prst="line">
            <a:avLst/>
          </a:prstGeom>
          <a:noFill/>
          <a:ln w="25400">
            <a:solidFill>
              <a:srgbClr val="2A62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869680" y="4434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hareket DİRSEK’den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25780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2A628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Düz bir çizgi bilekten çizilemez. Bu fiziksel bir gerçektir — yetenek meselesi değil.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3 · EL VE ALET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Kuruluş için sert, ton için yumuşak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28800"/>
            <a:ext cx="5760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çizim iki ayrı işten oluşur ve ikisi </a:t>
            </a:r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kalemle yapılmaz</a:t>
            </a:r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9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Kuruluş — H, HB. </a:t>
            </a:r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Açık, silinebilir, kâğıdı kirletmez. Dış zarf, eksenler, oran çizgileri.</a:t>
            </a:r>
            <a:endParaRPr lang="en-US" sz="15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— 2B, 4B, 6B. </a:t>
            </a:r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Koyu, hızlı, geniş aralık. Gölge, doku, ağırlık.</a:t>
            </a:r>
            <a:endParaRPr lang="en-US" sz="15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9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sık yapılan iki hata: yumuşak kalemle kurmak (silinmez, kirlenir) ve sert kalemle tonlamak (kâğıdı çizer, ezer).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949440" y="1783080"/>
            <a:ext cx="4462272" cy="379476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2231136"/>
            <a:ext cx="2286000" cy="0"/>
          </a:xfrm>
          <a:prstGeom prst="line">
            <a:avLst/>
          </a:prstGeom>
          <a:noFill/>
          <a:ln w="10160">
            <a:solidFill>
              <a:srgbClr val="FAFA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0" y="21214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95360" y="2560320"/>
            <a:ext cx="2286000" cy="0"/>
          </a:xfrm>
          <a:prstGeom prst="line">
            <a:avLst/>
          </a:prstGeom>
          <a:noFill/>
          <a:ln w="15494">
            <a:solidFill>
              <a:srgbClr val="E2E4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0" y="24505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95360" y="2889504"/>
            <a:ext cx="2286000" cy="0"/>
          </a:xfrm>
          <a:prstGeom prst="line">
            <a:avLst/>
          </a:prstGeom>
          <a:noFill/>
          <a:ln w="20828">
            <a:solidFill>
              <a:srgbClr val="C9CC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0" y="27797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95360" y="3218688"/>
            <a:ext cx="2286000" cy="0"/>
          </a:xfrm>
          <a:prstGeom prst="line">
            <a:avLst/>
          </a:prstGeom>
          <a:noFill/>
          <a:ln w="26162">
            <a:solidFill>
              <a:srgbClr val="AFB4B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0" y="3108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95360" y="3547872"/>
            <a:ext cx="2286000" cy="0"/>
          </a:xfrm>
          <a:prstGeom prst="line">
            <a:avLst/>
          </a:prstGeom>
          <a:noFill/>
          <a:ln w="31496">
            <a:solidFill>
              <a:srgbClr val="959B9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0" y="34381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95360" y="3877056"/>
            <a:ext cx="2286000" cy="0"/>
          </a:xfrm>
          <a:prstGeom prst="line">
            <a:avLst/>
          </a:prstGeom>
          <a:noFill/>
          <a:ln w="36830">
            <a:solidFill>
              <a:srgbClr val="7B828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0" y="37673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95360" y="4206240"/>
            <a:ext cx="2286000" cy="0"/>
          </a:xfrm>
          <a:prstGeom prst="line">
            <a:avLst/>
          </a:prstGeom>
          <a:noFill/>
          <a:ln w="42164">
            <a:solidFill>
              <a:srgbClr val="7B828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0" y="4096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95360" y="4535424"/>
            <a:ext cx="2286000" cy="0"/>
          </a:xfrm>
          <a:prstGeom prst="line">
            <a:avLst/>
          </a:prstGeom>
          <a:noFill/>
          <a:ln w="47498">
            <a:solidFill>
              <a:srgbClr val="5F676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0" y="44256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95360" y="4864608"/>
            <a:ext cx="2286000" cy="0"/>
          </a:xfrm>
          <a:prstGeom prst="line">
            <a:avLst/>
          </a:prstGeom>
          <a:noFill/>
          <a:ln w="52832">
            <a:solidFill>
              <a:srgbClr val="4149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0" y="47548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95360" y="5193792"/>
            <a:ext cx="2286000" cy="0"/>
          </a:xfrm>
          <a:prstGeom prst="line">
            <a:avLst/>
          </a:prstGeom>
          <a:noFill/>
          <a:ln w="58166">
            <a:solidFill>
              <a:srgbClr val="232A2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0" y="50840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9B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19019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sert · açık · silinir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53949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yumuşak · koyu · kirlenir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3 · EL VE ALET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Elinizde yedi ayar var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78308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Çizgi tek bir şey değil. Aşağıdakiler bilinçli olarak kontrol edilebilir — ve her biri okuyucuya farklı bir şey söyler. Gelecek hafta bunlarla duygu anlatacağız.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2450592" cy="141732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" y="2578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Basınç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2889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hafif ↔ bastırılmış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33272" y="3456432"/>
            <a:ext cx="1920240" cy="0"/>
          </a:xfrm>
          <a:prstGeom prst="line">
            <a:avLst/>
          </a:prstGeom>
          <a:noFill/>
          <a:ln w="9525">
            <a:solidFill>
              <a:srgbClr val="1B1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2377440"/>
            <a:ext cx="2450592" cy="141732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30752" y="2578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30752" y="2889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yavaş ↔ savrulmuş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30752" y="3456432"/>
            <a:ext cx="1920240" cy="0"/>
          </a:xfrm>
          <a:prstGeom prst="line">
            <a:avLst/>
          </a:prstGeom>
          <a:noFill/>
          <a:ln w="19050">
            <a:solidFill>
              <a:srgbClr val="1B1F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2377440"/>
            <a:ext cx="2450592" cy="141732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28232" y="2578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Süreklilik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2889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kesintisiz ↔ kırık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28232" y="3456432"/>
            <a:ext cx="1920240" cy="0"/>
          </a:xfrm>
          <a:prstGeom prst="line">
            <a:avLst/>
          </a:prstGeom>
          <a:noFill/>
          <a:ln w="31750">
            <a:solidFill>
              <a:srgbClr val="1B1F24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869680" y="2377440"/>
            <a:ext cx="2450592" cy="141732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25712" y="2578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Ritim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25712" y="2889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düzenli ↔ düzensiz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25712" y="3456432"/>
            <a:ext cx="1920240" cy="0"/>
          </a:xfrm>
          <a:prstGeom prst="line">
            <a:avLst/>
          </a:prstGeom>
          <a:noFill/>
          <a:ln w="44450">
            <a:solidFill>
              <a:srgbClr val="1B1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977640"/>
            <a:ext cx="2450592" cy="141732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3272" y="41788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Yoğunluk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33272" y="4489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seyrek ↔ sık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33272" y="5056632"/>
            <a:ext cx="1920240" cy="0"/>
          </a:xfrm>
          <a:prstGeom prst="line">
            <a:avLst/>
          </a:prstGeom>
          <a:noFill/>
          <a:ln w="25400">
            <a:solidFill>
              <a:srgbClr val="1B1F24"/>
            </a:solidFill>
            <a:prstDash val="sysDash"/>
          </a:ln>
        </p:spPr>
      </p:sp>
      <p:sp>
        <p:nvSpPr>
          <p:cNvPr id="25" name="Shape 23"/>
          <p:cNvSpPr/>
          <p:nvPr/>
        </p:nvSpPr>
        <p:spPr>
          <a:xfrm>
            <a:off x="3474720" y="3977640"/>
            <a:ext cx="2450592" cy="141732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30752" y="41788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Açısallık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730752" y="4489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yumuşak ↔ keskin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30752" y="5056632"/>
            <a:ext cx="1920240" cy="0"/>
          </a:xfrm>
          <a:prstGeom prst="line">
            <a:avLst/>
          </a:prstGeom>
          <a:noFill/>
          <a:ln w="25400">
            <a:solidFill>
              <a:srgbClr val="1B1F24"/>
            </a:solidFill>
            <a:prstDash val="dashDot"/>
          </a:ln>
        </p:spPr>
      </p:sp>
      <p:sp>
        <p:nvSpPr>
          <p:cNvPr id="29" name="Shape 27"/>
          <p:cNvSpPr/>
          <p:nvPr/>
        </p:nvSpPr>
        <p:spPr>
          <a:xfrm>
            <a:off x="6172200" y="3977640"/>
            <a:ext cx="2450592" cy="141732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28232" y="41788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28232" y="4489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yatay ↔ düşey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28232" y="5056632"/>
            <a:ext cx="1920240" cy="0"/>
          </a:xfrm>
          <a:prstGeom prst="line">
            <a:avLst/>
          </a:prstGeom>
          <a:noFill/>
          <a:ln w="25400">
            <a:solidFill>
              <a:srgbClr val="1B1F2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69680" y="3977640"/>
            <a:ext cx="2450592" cy="141732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25712" y="4343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A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ve ikisi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A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arada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686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2A628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7452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Kuramsız pratiği seven, dümensiz ve pusulasız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gemiye binen denizciye benzer;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nereye varacağını asla bilemez.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498348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7FA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LEONARDO DA VINCI  ·  Defterler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6002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42900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Dönem planı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431596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hafta, bir quiz, iki teslim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4 · DÖNEM PLANI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 dört hafta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99032" y="18562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+ sunum · 1 Ekim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258568"/>
            <a:ext cx="5029200" cy="0"/>
          </a:xfrm>
          <a:prstGeom prst="line">
            <a:avLst/>
          </a:prstGeom>
          <a:noFill/>
          <a:ln w="9525">
            <a:solidFill>
              <a:srgbClr val="D8DC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4414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99032" y="24231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Nokta ve çizgi · Ödev 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825496"/>
            <a:ext cx="5029200" cy="0"/>
          </a:xfrm>
          <a:prstGeom prst="line">
            <a:avLst/>
          </a:prstGeom>
          <a:noFill/>
          <a:ln w="9525">
            <a:solidFill>
              <a:srgbClr val="D8DC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00837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99032" y="299008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Düzlem: kare, elips, üçgen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392424"/>
            <a:ext cx="5029200" cy="0"/>
          </a:xfrm>
          <a:prstGeom prst="line">
            <a:avLst/>
          </a:prstGeom>
          <a:noFill/>
          <a:ln w="9525">
            <a:solidFill>
              <a:srgbClr val="D8DC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57530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99032" y="355701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Hacim + dış zarf · Ödev 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" y="3959352"/>
            <a:ext cx="5029200" cy="0"/>
          </a:xfrm>
          <a:prstGeom prst="line">
            <a:avLst/>
          </a:prstGeom>
          <a:noFill/>
          <a:ln w="9525">
            <a:solidFill>
              <a:srgbClr val="D8DC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1422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99032" y="412394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EKİM — DERS YOK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" y="4526280"/>
            <a:ext cx="5029200" cy="0"/>
          </a:xfrm>
          <a:prstGeom prst="line">
            <a:avLst/>
          </a:prstGeom>
          <a:noFill/>
          <a:ln w="9525">
            <a:solidFill>
              <a:srgbClr val="D8DC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70916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99032" y="4690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Kontur ve dinamik çizim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77240" y="5093208"/>
            <a:ext cx="5029200" cy="0"/>
          </a:xfrm>
          <a:prstGeom prst="line">
            <a:avLst/>
          </a:prstGeom>
          <a:noFill/>
          <a:ln w="9525">
            <a:solidFill>
              <a:srgbClr val="D8DC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27608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99032" y="52578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Perspektif: göz hizası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77240" y="5660136"/>
            <a:ext cx="5029200" cy="0"/>
          </a:xfrm>
          <a:prstGeom prst="line">
            <a:avLst/>
          </a:prstGeom>
          <a:noFill/>
          <a:ln w="9525">
            <a:solidFill>
              <a:srgbClr val="D8DC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187452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85432" y="18562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19 Kasım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63640" y="2258568"/>
            <a:ext cx="5029200" cy="0"/>
          </a:xfrm>
          <a:prstGeom prst="line">
            <a:avLst/>
          </a:prstGeom>
          <a:noFill/>
          <a:ln w="9525">
            <a:solidFill>
              <a:srgbClr val="D8DCD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24414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85432" y="24231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Doku: tarama teknikleri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263640" y="2825496"/>
            <a:ext cx="5029200" cy="0"/>
          </a:xfrm>
          <a:prstGeom prst="line">
            <a:avLst/>
          </a:prstGeom>
          <a:noFill/>
          <a:ln w="9525">
            <a:solidFill>
              <a:srgbClr val="D8DCD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300837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85432" y="299008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Işık ve gölge · Ödev 3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263640" y="3392424"/>
            <a:ext cx="5029200" cy="0"/>
          </a:xfrm>
          <a:prstGeom prst="line">
            <a:avLst/>
          </a:prstGeom>
          <a:noFill/>
          <a:ln w="9525">
            <a:solidFill>
              <a:srgbClr val="D8DCD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357530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885432" y="355701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Natürmort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263640" y="3959352"/>
            <a:ext cx="5029200" cy="0"/>
          </a:xfrm>
          <a:prstGeom prst="line">
            <a:avLst/>
          </a:prstGeom>
          <a:noFill/>
          <a:ln w="9525">
            <a:solidFill>
              <a:srgbClr val="D8DCD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414223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885432" y="412394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gösterimler · Ödev 4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263640" y="4526280"/>
            <a:ext cx="5029200" cy="0"/>
          </a:xfrm>
          <a:prstGeom prst="line">
            <a:avLst/>
          </a:prstGeom>
          <a:noFill/>
          <a:ln w="9525">
            <a:solidFill>
              <a:srgbClr val="D8DCD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470916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9B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885432" y="4690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Katmanlı temsil + kuru boya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263640" y="5093208"/>
            <a:ext cx="5029200" cy="0"/>
          </a:xfrm>
          <a:prstGeom prst="line">
            <a:avLst/>
          </a:prstGeom>
          <a:noFill/>
          <a:ln w="9525">
            <a:solidFill>
              <a:srgbClr val="D8DCD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63640" y="527608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885432" y="52578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projesi stüdyosu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263640" y="5660136"/>
            <a:ext cx="5029200" cy="0"/>
          </a:xfrm>
          <a:prstGeom prst="line">
            <a:avLst/>
          </a:prstGeom>
          <a:noFill/>
          <a:ln w="9525">
            <a:solidFill>
              <a:srgbClr val="D8DCD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7240" y="5943600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projesi teslimi: fakülte sınav takvimiyle duyurulacak final sınav haftasında.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4 · DÖNEM PLANI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Üç bileşen. İkisi teslim, biri quiz.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78308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Dönemin tamamı bir dönem projesi (portfolyo), bir quiz ve bir final projesi üzerinden değerlendirilir. Not verirken gözlem doğruluğu, el kontrolü, teknik yetkinlik, kavramsal karar ve süreç düzenliliği birlikte gözetilir.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487168"/>
            <a:ext cx="3319272" cy="2487168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26700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%40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3456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DÖNEM PROJESİ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69848" y="3767328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Portfolyo: 4 ödev + 2 ev tekrarı + derste üretilen çizimler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461772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Hafta 14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487168"/>
            <a:ext cx="3319272" cy="2487168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81728" y="26700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%20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681728" y="3456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QUIZ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3767328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Yüz yüze, uygulamalı; ilk altı haftanın konuları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81728" y="461772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Hafta 8 · 19 Kasım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01000" y="2487168"/>
            <a:ext cx="3319272" cy="2487168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26700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%40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3456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FİNAL PROJESİ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3767328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Katmanlı mekân temsili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93608" y="461772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sınav haftası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230368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 koşulu: </a:t>
            </a:r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yarıyıl sonu başarı notunun en az </a:t>
            </a:r>
            <a:pPr indent="0" marL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olması gerekir (CC). Bu puanın altında kalan öğrenci, tüm teslimleri yapmış olsa dahi başarısız sayılır.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760720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Ölçütler: kuruluş ve oran · çizgi kalitesi · hacim, ton ve ışık · tekniğin yerinde kullanımı · kavramsal karar · süreç düzenliliği · kritiğin işlenmesi · dosya düzeni · zamanlama · eksiksiz teslim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4 · DÖNEM PLANI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Dönem projesi yeni bir iş değil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288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Portfolyo, dönem boyunca ürettiğiniz çalışmaların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tamamının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bir araya getirilmesidir — yeni bir üretim değil, var olanın derlenmesi.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9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Düzenli çalışan öğrenci için </a:t>
            </a:r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bir yük oluşturmaz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hiçbir şey saklamayan öğrenci için telafisi yoktur.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2062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2A628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Bugünden itibaren</a:t>
            </a:r>
            <a:endParaRPr lang="en-US" sz="25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2A628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hiçbir sayfayı atmayın.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523036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Denemeler, yarım kalan çizimler ve yeniden yapılan çalışmalar da dosyaya girer. Ölçtüğümüz şey sonuç değil süreç.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949440" y="1783080"/>
            <a:ext cx="4462272" cy="406908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0" y="2057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DOSYADA NE OLACAK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2487168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Kapak sayfası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sayfalık kişisel gelişim notu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ödev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ev tekrarı (3. ve 9. hafta)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Derste üretilen tüm çizimler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Denemeler ve yarım kalanlar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5029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 sırasına göre düzenlenir.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Teslim: 14. hafta.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4 · DÖNEM PLANI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 tekrarı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288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747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Günlük çizim beklentimiz yok.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2316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Sınıfta yaptığınız</a:t>
            </a:r>
            <a:endParaRPr lang="en-US" sz="3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çalışmanın aynısını</a:t>
            </a:r>
            <a:endParaRPr lang="en-US" sz="3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evde bir kez daha yapın.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2976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gelecek hafta yanınızda getirin.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8920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Dönemde iki ev tekrarı var: 3. hafta ve 9. hafta. İkisi de dönem projesi dosyasına girer.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9440" y="1828800"/>
            <a:ext cx="4462272" cy="397764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tekrar?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2651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problemi ikinci kez çözmek, iki farklı problemi bir kez çözmekten daha çok öğretir.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Sınıftaki çalışma yönlendirilmiştir, evdeki değildir. </a:t>
            </a:r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Fark, öğrenmenin nerede olduğunu gösterir.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Tekrarı sınıftaki eşiyle yan yana koyup birlikte bakacağız.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4 · DÖNEM PLANI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Final projesi: katmanlı temsil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2880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çizilmiş kâğıt katmanların arka arkaya, aralarında boşluk bırakılarak yerleştirilmesiyle kurulan, önden izlenen bir mekân temsili. </a:t>
            </a:r>
            <a:pPr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az 8 katman</a:t>
            </a:r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Konu serbest; zorunlu olan konu değil, katman mantığı ve değer sisteminin tutarlılığı.</a:t>
            </a:r>
            <a:endParaRPr lang="en-US" sz="15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kesin kural: </a:t>
            </a:r>
            <a:pPr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katman önce elle çizilir; kesim çizimin türevidir.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3708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Asıl kararınız: değer sistemi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4828032"/>
            <a:ext cx="301752" cy="457200"/>
          </a:xfrm>
          <a:prstGeom prst="rect">
            <a:avLst/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" y="4828032"/>
            <a:ext cx="301752" cy="457200"/>
          </a:xfrm>
          <a:prstGeom prst="rect">
            <a:avLst/>
          </a:prstGeom>
          <a:solidFill>
            <a:srgbClr val="414950"/>
          </a:solidFill>
          <a:ln w="12700">
            <a:solidFill>
              <a:srgbClr val="4149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72184" y="4828032"/>
            <a:ext cx="301752" cy="457200"/>
          </a:xfrm>
          <a:prstGeom prst="rect">
            <a:avLst/>
          </a:prstGeom>
          <a:solidFill>
            <a:srgbClr val="5F676D"/>
          </a:solidFill>
          <a:ln w="12700">
            <a:solidFill>
              <a:srgbClr val="5F67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19656" y="4828032"/>
            <a:ext cx="301752" cy="457200"/>
          </a:xfrm>
          <a:prstGeom prst="rect">
            <a:avLst/>
          </a:prstGeom>
          <a:solidFill>
            <a:srgbClr val="7B8288"/>
          </a:solidFill>
          <a:ln w="12700">
            <a:solidFill>
              <a:srgbClr val="7B82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67128" y="4828032"/>
            <a:ext cx="301752" cy="457200"/>
          </a:xfrm>
          <a:prstGeom prst="rect">
            <a:avLst/>
          </a:prstGeom>
          <a:solidFill>
            <a:srgbClr val="959B9F"/>
          </a:solidFill>
          <a:ln w="12700">
            <a:solidFill>
              <a:srgbClr val="959B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4828032"/>
            <a:ext cx="301752" cy="457200"/>
          </a:xfrm>
          <a:prstGeom prst="rect">
            <a:avLst/>
          </a:prstGeom>
          <a:solidFill>
            <a:srgbClr val="AFB4B7"/>
          </a:solidFill>
          <a:ln w="12700">
            <a:solidFill>
              <a:srgbClr val="AFB4B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62072" y="4828032"/>
            <a:ext cx="301752" cy="457200"/>
          </a:xfrm>
          <a:prstGeom prst="rect">
            <a:avLst/>
          </a:prstGeom>
          <a:solidFill>
            <a:srgbClr val="C9CCCE"/>
          </a:solidFill>
          <a:ln w="12700">
            <a:solidFill>
              <a:srgbClr val="C9CC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9544" y="4828032"/>
            <a:ext cx="301752" cy="457200"/>
          </a:xfrm>
          <a:prstGeom prst="rect">
            <a:avLst/>
          </a:prstGeom>
          <a:solidFill>
            <a:srgbClr val="E2E4E5"/>
          </a:solidFill>
          <a:ln w="12700">
            <a:solidFill>
              <a:srgbClr val="E2E4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358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· mesafe mantığı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0" y="4828032"/>
            <a:ext cx="301752" cy="457200"/>
          </a:xfrm>
          <a:prstGeom prst="rect">
            <a:avLst/>
          </a:prstGeom>
          <a:solidFill>
            <a:srgbClr val="C9CCCE"/>
          </a:solidFill>
          <a:ln w="12700">
            <a:solidFill>
              <a:srgbClr val="C9CC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87952" y="4828032"/>
            <a:ext cx="301752" cy="457200"/>
          </a:xfrm>
          <a:prstGeom prst="rect">
            <a:avLst/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35424" y="4828032"/>
            <a:ext cx="301752" cy="457200"/>
          </a:xfrm>
          <a:prstGeom prst="rect">
            <a:avLst/>
          </a:prstGeom>
          <a:solidFill>
            <a:srgbClr val="959B9F"/>
          </a:solidFill>
          <a:ln w="12700">
            <a:solidFill>
              <a:srgbClr val="959B9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82896" y="4828032"/>
            <a:ext cx="301752" cy="457200"/>
          </a:xfrm>
          <a:prstGeom prst="rect">
            <a:avLst/>
          </a:prstGeom>
          <a:solidFill>
            <a:srgbClr val="414950"/>
          </a:solidFill>
          <a:ln w="12700">
            <a:solidFill>
              <a:srgbClr val="4149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30368" y="4828032"/>
            <a:ext cx="301752" cy="457200"/>
          </a:xfrm>
          <a:prstGeom prst="rect">
            <a:avLst/>
          </a:prstGeom>
          <a:solidFill>
            <a:srgbClr val="AFB4B7"/>
          </a:solidFill>
          <a:ln w="12700">
            <a:solidFill>
              <a:srgbClr val="AFB4B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4828032"/>
            <a:ext cx="301752" cy="457200"/>
          </a:xfrm>
          <a:prstGeom prst="rect">
            <a:avLst/>
          </a:prstGeom>
          <a:solidFill>
            <a:srgbClr val="232A2F"/>
          </a:solidFill>
          <a:ln w="12700">
            <a:solidFill>
              <a:srgbClr val="232A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25312" y="4828032"/>
            <a:ext cx="301752" cy="457200"/>
          </a:xfrm>
          <a:prstGeom prst="rect">
            <a:avLst/>
          </a:prstGeom>
          <a:solidFill>
            <a:srgbClr val="C9CCCE"/>
          </a:solidFill>
          <a:ln w="12700">
            <a:solidFill>
              <a:srgbClr val="C9CC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4828032"/>
            <a:ext cx="301752" cy="4572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40480" y="53583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· grafik mantık (notan)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68756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2A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İkisi de doğrudur — karıştırılması yanlıştır. Ayrıntılı şartname 13. haftada yazılı olarak paylaşılacak.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903720" y="1737360"/>
            <a:ext cx="4507992" cy="411480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51976" y="1965960"/>
            <a:ext cx="1371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A2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50808" y="2148840"/>
            <a:ext cx="1371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A2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49640" y="2331720"/>
            <a:ext cx="1371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2A2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48472" y="2514600"/>
            <a:ext cx="1371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4149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47304" y="2697480"/>
            <a:ext cx="1371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5F676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46136" y="2880360"/>
            <a:ext cx="1371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B82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44968" y="3063240"/>
            <a:ext cx="1371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59B9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43800" y="3246120"/>
            <a:ext cx="1371600" cy="1005840"/>
          </a:xfrm>
          <a:prstGeom prst="rect">
            <a:avLst/>
          </a:prstGeom>
          <a:solidFill>
            <a:srgbClr val="FFFFFF"/>
          </a:solidFill>
          <a:ln w="20320">
            <a:solidFill>
              <a:srgbClr val="AFB4B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0" y="5138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katmanlar ayrı ayrı çizilir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646920" y="3246120"/>
            <a:ext cx="457200" cy="0"/>
          </a:xfrm>
          <a:prstGeom prst="line">
            <a:avLst/>
          </a:prstGeom>
          <a:noFill/>
          <a:ln w="19050">
            <a:solidFill>
              <a:srgbClr val="2A628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66960" y="3108960"/>
            <a:ext cx="146304" cy="137160"/>
          </a:xfrm>
          <a:prstGeom prst="line">
            <a:avLst/>
          </a:prstGeom>
          <a:noFill/>
          <a:ln w="19050">
            <a:solidFill>
              <a:srgbClr val="2A628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66960" y="3383280"/>
            <a:ext cx="146304" cy="-137160"/>
          </a:xfrm>
          <a:prstGeom prst="line">
            <a:avLst/>
          </a:prstGeom>
          <a:noFill/>
          <a:ln w="19050">
            <a:solidFill>
              <a:srgbClr val="2A628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95560" y="2560320"/>
            <a:ext cx="1005840" cy="1371600"/>
          </a:xfrm>
          <a:prstGeom prst="rect">
            <a:avLst/>
          </a:prstGeom>
          <a:solidFill>
            <a:srgbClr val="FFFFFF"/>
          </a:solidFill>
          <a:ln w="20320">
            <a:solidFill>
              <a:srgbClr val="1B1F2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41280" y="2834640"/>
            <a:ext cx="914400" cy="182880"/>
          </a:xfrm>
          <a:prstGeom prst="rect">
            <a:avLst/>
          </a:prstGeom>
          <a:solidFill>
            <a:srgbClr val="414950"/>
          </a:solidFill>
          <a:ln w="12700">
            <a:solidFill>
              <a:srgbClr val="4149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41280" y="3063240"/>
            <a:ext cx="914400" cy="182880"/>
          </a:xfrm>
          <a:prstGeom prst="rect">
            <a:avLst/>
          </a:prstGeom>
          <a:solidFill>
            <a:srgbClr val="7B8288"/>
          </a:solidFill>
          <a:ln w="12700">
            <a:solidFill>
              <a:srgbClr val="7B82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41280" y="3291840"/>
            <a:ext cx="914400" cy="182880"/>
          </a:xfrm>
          <a:prstGeom prst="rect">
            <a:avLst/>
          </a:prstGeom>
          <a:solidFill>
            <a:srgbClr val="AFB4B7"/>
          </a:solidFill>
          <a:ln w="12700">
            <a:solidFill>
              <a:srgbClr val="AFB4B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41280" y="3520440"/>
            <a:ext cx="914400" cy="182880"/>
          </a:xfrm>
          <a:prstGeom prst="rect">
            <a:avLst/>
          </a:prstGeom>
          <a:solidFill>
            <a:srgbClr val="E2E4E5"/>
          </a:solidFill>
          <a:ln w="12700">
            <a:solidFill>
              <a:srgbClr val="E2E4E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058400" y="4041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önden tek sahne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7FA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4 · DÖNEM PLANI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9326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İki şey pazarlığa kapalı: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devam ve teslim tarihi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0175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%80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95020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Derslerin en az %80'ine devam zorunlu. Her ders bir kez ıslak imza alınır; imzayı takip etmek öğrencinin sorumluluğundadır, sonradan imza talebi kabul edilmez.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5440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Sınırı aşan öğrenci final projesini teslim edemez.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30175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395020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 teslim kabul edilmez. Ödevler hem fiziksel olarak derse getirilir hem de ders platformuna yüklenir; e-posta ile gönderilen ödev kabul edilmez.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5440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Yetişemeyecekseniz tarihten önce haber verin.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6126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Dijital teslimlerinizi yükledikten sonra indirip kontrol edin. Bozuk ya da boş dosyaların sorumluluğu öğrenciye aittir.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6002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42900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Kurallar ve malzeme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4315968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kural, bir alışveriş listesi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5 · KURALLAR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Altı kural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01368"/>
            <a:ext cx="365760" cy="365760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653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013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Cetvel yok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6712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 haftada cetvel, gönye veya şablon kullanılmıyor. Perspektif haftası dâhil. Dersin adı serbest çizim.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801368"/>
            <a:ext cx="365760" cy="365760"/>
          </a:xfrm>
          <a:prstGeom prst="ellipse">
            <a:avLst/>
          </a:prstGeom>
          <a:solidFill>
            <a:srgbClr val="2A6289"/>
          </a:solidFill>
          <a:ln w="12700">
            <a:solidFill>
              <a:srgbClr val="2A628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0" y="18653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8013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62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yok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16712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yapay zekâ ile oluşturulmuş görüntüler teslim edilen çalışmalarda kullanılamaz. Bu ders el–göz–zihin döngüsünü ölçer.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191256"/>
            <a:ext cx="365760" cy="365760"/>
          </a:xfrm>
          <a:prstGeom prst="ellipse">
            <a:avLst/>
          </a:prstGeom>
          <a:solidFill>
            <a:srgbClr val="C9CCCE"/>
          </a:solidFill>
          <a:ln w="12700">
            <a:solidFill>
              <a:srgbClr val="C9CCC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552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912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Referans fotoğraf serbest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557016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Kaynağı belirtmek koşuluyla. Ancak fotoğraftan birebir kopya, gözlem çiziminin yerine geçmez.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191256"/>
            <a:ext cx="365760" cy="365760"/>
          </a:xfrm>
          <a:prstGeom prst="ellipse">
            <a:avLst/>
          </a:prstGeom>
          <a:solidFill>
            <a:srgbClr val="C9CCCE"/>
          </a:solidFill>
          <a:ln w="12700">
            <a:solidFill>
              <a:srgbClr val="C9CC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32552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31912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 ders saatinde olur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557016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Ders, evde yapılan işin gösterildiği bir saat değil. Her hafta kalem ve defterinizle gelin, burada çizin.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4581144"/>
            <a:ext cx="365760" cy="365760"/>
          </a:xfrm>
          <a:prstGeom prst="ellipse">
            <a:avLst/>
          </a:prstGeom>
          <a:solidFill>
            <a:srgbClr val="C9CCCE"/>
          </a:solidFill>
          <a:ln w="12700">
            <a:solidFill>
              <a:srgbClr val="C9CCC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6451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5811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 sayfa atılmaz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946904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Denemeler, yarım kalanlar ve yeniden yapılanlar dâhil her şey dönem projesi dosyasına girer. Temiz bir dosya düşük not alır.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4581144"/>
            <a:ext cx="365760" cy="365760"/>
          </a:xfrm>
          <a:prstGeom prst="ellipse">
            <a:avLst/>
          </a:prstGeom>
          <a:solidFill>
            <a:srgbClr val="C9CCCE"/>
          </a:solidFill>
          <a:ln w="12700">
            <a:solidFill>
              <a:srgbClr val="C9CCC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46451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45811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 çift kanaldan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4946904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teslim hem fiziksel olarak derse getirilir hem de ders platformuna yüklenir. E-posta ile ödev kabul edilmez.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6035040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Telefonlar ders başlamadan sessize alınır. Tablet ve dizüstü yalnızca ders amacıyla kullanılabilir.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BÖLÜM 5 · KURALLAR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Malzeme listesi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755648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haftaya kadar temin edilmeli. İlk beş hafta tek bir 2B kalem ve defterle de geçilebilir — kimse malzeme yüzünden geri kalmasın.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5148072" cy="338328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24712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ZORUNLU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24712" y="2880360"/>
            <a:ext cx="4526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dikişli eskiz defteri + A3 eskiz bloğu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Kurşun kalem: 2H, HB, 2B, 4B, 6B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İnce kömür kalem + kömür çubuk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Fineliner 0.1 / 0.3 / 0.5, siyah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 marker seti, 3 ton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Hamur silgi + normal silgi + kalemtıraş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Kâğıt kıskacı ve A3 çizim altlığı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2286000"/>
            <a:ext cx="5148072" cy="338328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11112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 HAFTADAN İTİBAREN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611112" y="288036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 boya seti — en az 24 renk; tek renk ailesinde 5 ton bulunacak şekilde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Renksiz burnishing kalemi (varsa)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 kartonu 160–200 gsm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Köpüklü çift taraflı bant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Maket bıçağı + kesim altlığı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611112" y="521208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Bunları 12. haftada hatırlatacağım.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için tek bir kurşun kalem yeterli.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686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2A628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7452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İlk beş bin hatanızı ne kadar erken yaparsanız,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onları düzeltmeye o kadar erken başlarsınız.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498348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7FA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KIMON NICOLAÏDES  ·  The Natural Way to Draw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475488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60" kern="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ŞİMDİ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1B1F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Ustaların çizgileri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7830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628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Bugünün son 20 dakikası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Sayfanızı üç katla sekize bölün. Bugün ilk iki kutuyu dolduruyoruz; kalan altısını gelecek hafta yapacağız.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00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3218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 TWOMBLY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32552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 BPM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358444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çizdiğini düşünme. Elini bırak, kâğıdın üstünde gezdir. Çok hafif bastır, sayfanın yarısı boş kalsın.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4988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344168" y="45171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HOKUSAI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4553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 BPM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44168" y="488289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Bastırarak başla, hareket ederken gevşet. Kenarı yuvarlatma — kır, basamak yap. Tek vuruş, tek karar.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8704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Kutulara hiçbir nesne çizilmez — yalnızca iz.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49440" y="1783080"/>
            <a:ext cx="4462272" cy="406908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Neden?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2651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elinizde tek bir çizgi var: yavaş, ürkek, arayan bir çizgi. Dönem sonunda sekiz olacak.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Kopyaladığımız şey görüntü değil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Sanatçının çizimini değil, elini çalışıyoruz.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8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 bir alettir, imza değil.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601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2A628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92024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200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Çizim, insanın gördüğü şey değil,</a:t>
            </a:r>
            <a:endParaRPr lang="en-US" sz="3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200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başkalarına gösterebildiği şeydir.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794760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40" kern="0" dirty="0">
                <a:solidFill>
                  <a:srgbClr val="7FA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EDGAR DEGAS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60" kern="0" dirty="0">
                <a:solidFill>
                  <a:srgbClr val="2A62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 HAFTANIN ÖDEVİ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892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C9C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Dışarıda bir nesne seçin. On dakika ona bakın — kalem çantada.</a:t>
            </a:r>
            <a:endParaRPr lang="en-US" sz="18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C9C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 eve gidip, ona bakmadan, hafızadan çizin. Gelecek hafta getirin.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779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nokta ve çizgi.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IMC321 Serbest Çizim Teknikleri  ·  2026–27 Güz  ·  1. Hafta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IMC321 Serbest Çizim Teknikleri — 1. Hafta</dc:title>
  <dc:subject>PptxGenJS Presentation</dc:subject>
  <dc:creator>Serbest Çizim Teknikleri</dc:creator>
  <cp:lastModifiedBy>Serbest Çizim Teknikleri</cp:lastModifiedBy>
  <cp:revision>1</cp:revision>
  <dcterms:created xsi:type="dcterms:W3CDTF">2026-09-30T11:34:46Z</dcterms:created>
  <dcterms:modified xsi:type="dcterms:W3CDTF">2026-09-30T11:34:46Z</dcterms:modified>
</cp:coreProperties>
</file>