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054e49-d346-783f-1d10-538da6e130c9}">
          <p14:sldIdLst>
            <p14:sldId id="256"/>
          </p14:sldIdLst>
        </p14:section>
        <p14:section name="Position" id="{63520d4c-a649-de0d-b2db-7930126490d6}">
          <p14:sldIdLst>
            <p14:sldId id="257"/>
            <p14:sldId id="258"/>
            <p14:sldId id="259"/>
            <p14:sldId id="260"/>
          </p14:sldIdLst>
        </p14:section>
        <p14:section name="Protocol" id="{7b59307b-6df6-f0c0-f353-577be6ad9be5}">
          <p14:sldIdLst>
            <p14:sldId id="261"/>
            <p14:sldId id="262"/>
          </p14:sldIdLst>
        </p14:section>
        <p14:section name="Results" id="{29c3ab19-de31-cd57-3681-96ff920aa2a1}">
          <p14:sldIdLst>
            <p14:sldId id="263"/>
            <p14:sldId id="264"/>
            <p14:sldId id="265"/>
            <p14:sldId id="266"/>
            <p14:sldId id="267"/>
          </p14:sldIdLst>
        </p14:section>
        <p14:section name="Benchmark" id="{b8c8e07a-fd31-a7d5-45c2-8f116f78cd8b}">
          <p14:sldIdLst>
            <p14:sldId id="268"/>
            <p14:sldId id="269"/>
            <p14:sldId id="270"/>
          </p14:sldIdLst>
        </p14:section>
        <p14:section name="Application" id="{fb6a7f14-3db9-8feb-622e-565a121051be}">
          <p14:sldIdLst>
            <p14:sldId id="271"/>
          </p14:sldIdLst>
        </p14:section>
        <p14:section name="Closing" id="{1af87437-e99a-f429-1efa-3a045e70028a}">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σ</c:v>
                </c:pt>
              </c:strCache>
            </c:strRef>
          </c:tx>
          <c:spPr>
            <a:solidFill>
              <a:srgbClr val="141414"/>
            </a:solidFill>
            <a:effectLst/>
          </c:spPr>
          <c:invertIfNegative val="0"/>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2E2E2"/>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c:v>
                </c:pt>
              </c:strCache>
            </c:strRef>
          </c:tx>
          <c:spPr>
            <a:solidFill>
              <a:srgbClr val="141414"/>
            </a:solidFill>
            <a:effectLst/>
          </c:spPr>
          <c:invertIfNegative val="0"/>
          <c:dLbls>
            <c:numFmt formatCode="0.0" sourceLinked="0"/>
            <c:txPr>
              <a:bodyPr/>
              <a:lstStyle/>
              <a:p>
                <a:pPr>
                  <a:defRPr b="0" i="0" strike="noStrike" sz="1000" u="none">
                    <a:solidFill>
                      <a:srgbClr val="3A3A3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c:v>
                </c:pt>
              </c:strCache>
            </c:strRef>
          </c:tx>
          <c:spPr>
            <a:solidFill>
              <a:srgbClr val="BFBFBF"/>
            </a:solidFill>
            <a:effectLst/>
          </c:spPr>
          <c:invertIfNegative val="0"/>
          <c:dLbls>
            <c:numFmt formatCode="0.0" sourceLinked="0"/>
            <c:txPr>
              <a:bodyPr/>
              <a:lstStyle/>
              <a:p>
                <a:pPr>
                  <a:defRPr b="0" i="0" strike="noStrike" sz="1000" u="none">
                    <a:solidFill>
                      <a:srgbClr val="3A3A3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3A3A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2E2"/>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50">
              <a:solidFill>
                <a:srgbClr val="8C8C8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This paper reports a production protocol and mechanical characterisation for a fully bio-based composite of waste eggshell bound in an agar-glycerol matrix, and proposes an evaluation criterion better suited to this class of material than compressive strength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where the field is rather than where my work is. Eggshell valorisation is well established - cement replacement, brick stabilisation, asphalt binders, lime substitution, ceramic bodies, particulate filler in thermoplastics. Reported loadings run from five to thirty percent. But look at the lower half of each stack. In every one of those cases the binding phase is petrochemical, clinker-based or ceramic. The waste is valorised; the matrix is not. This study replaces the binder as well, so both phases are biological.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bodies of literature meet here. On the left, eggshell: well established across construction and packaging, and the material argument is settled - 94 percent calcium carbonate, a useful porous microstructure, low specific gravity. On the right, agar: reasonably well characterised, but only as unfilled thin film in tension, for packaging. Nobody has characterised agar as the binder of a mineral-filled cast solid in bending, which is the actual loading case for an interior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Claiming a gap is cheap, so let me measure it. Materiom is an open commons for biomaterial recipes - CC-BY-SA, petrochemical ingredients excluded, each recipe archived as prior art, property data indexed with citable DOIs. The infrastructure exists. But property data exists for four recipes. The nearest analogue to this work is the mussel shell-sucrose ceramic, a shell mineral in a biological binder. Nothing couples a shell mineral to an agar binder, and nothing reports compressive, flexural, ignitability and hygric data for one formulation family. So the contribution is not originality of idea. It is a protocol and a property set entering a commons that is four recipes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The first two are formulation questions, the next two benchmarking, and the fifth is the one I actually care about and will return to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and it is the contribution. Read it left to right with the temperatures above. Shell preparation at 120 degrees for twenty minutes - I call that decontamination and drying, not sterilisation, because dry-heat sterilisation needs far higher temperatures and we did not verify sterility. Then the binder: water and glycerol first, agar added incrementally because bulk addition forms agglomerates that never redisperse, dissolved at 95. Temperature drops to 80 and the mineral goes in late, because adding it earlier lets it settle out. Fifty-five minutes of heating in total. Then silicone moulds, four days in mould, seven days ambient, and no oven at any point. Two disclosures: the material shrinks as water leaves and we did not log the dried dimensions, and stirring was manual so shear rate is uncontrolled.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constituents, and the division of labour matters. Eggshell carries load, agar forms the continuous network, glycerol decides brittle or ductile, shellac is a surface finish only. Water is not in the final material at all - it is the process variable that sets how densely the solids pack, and that turns out to be the controlling variable. Below, the formulation matrix with derived ratios. Two things to read. In the compression series shell-to-binder is exactly two point zero zero in all three mixes, so the only thing that varies is solids concentration. In the flexural series I declare a confound: glycerol was halved but batch mass was fixed, so water rose to compensate and the other ratios shifted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with standards and specimen geometries. I want the reporting convention on the record before any numbers appear: mechanical values are means of three specimens, individual values were not retained so I cannot give standard deviations, and the fire, absorption and density figures are single determinations - indicative, not characteristic.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result is tidier than I expected. Because shell-to-binder is fixed at two, solids concentration is the only variable, and compressive stress is linear in it with an R-squared of 0.994. Three points will fit almost any line, so I am not claiming a law. I am claiming a testable hypothesis with a physical reading: strength here is governed by packing density, not mineral content. If that is right, the route to a stronger composite is to remove water, not to add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is what I would ask about if I were sitting where you are. The curve is linear to about one megapascal, then stiffness falls away progressively as the agar network yields and the mineral redistributes. Peak arrives at roughly ten percent strain with no abrupt drop, and beyond peak the specimen keeps deforming while holding together. Energy is absorbed rather than released. One honesty point: the strain axis derives from an assumed ten percent maximum deformation based on observation, not instrumented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At 18.8 percent glycerol the composite deformed without developing measurable resistance - the machine registered nothing usable. Halving it gives 2.325 megapascals at a modulus of 192. The transition is sharp and lies between those values. Two disclosures. The glycerol effect is confounded with solids concentration, as I showed. And look at the tension face: it is kerfed. D790 assumes a solid rectangle and my calculation uses the full twenty millimetre depth, so some of this compliance is geometry. The modulus is a lower bound on the bulk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environmental properties. On fire: ignition at around ten seconds under direct flame, self-extinguishing four seconds after removal, charring local, no lateral spread, no melting or dripping. Probable mechanism is endothermic carbonate decomposition releasing carbon dioxide, not verified calorimetrically. To be explicit: this is an ignitability test. No Euroclass, no cone calorimetry, no smoke or toxicity. On water: 0.7 percent mass gain with three shellac coats, with local dissolution where the coating was thin, so coating integrity is the limit. On density: 1.38, between the fungal and cellulosic materials below and fired clay above, on a mould-volume basis so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materials this would sit alongside. Let me be blunt. One sixth of MDF, one twentieth of travertine - and travertine is the relevant comparison aesthetically because the material looks like it. It does beat compressed mushroom panel, the only other fully bio-based board in the set, by a factor of three. But on strength alone it does not compete with engineered wood or stone, and I will not claim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the material is an order of magnitude above mycelium composites and hempcrete. In stiffness it sits inside the bio-polymer band: 192, between soy bioplastic at 124 and flax-fibre PLA at 198, within the LDPE range. Note what that means. This is water-cast, dried at room temperature, no oven and no extrusion, and it reaches the stiffness of melt-processed bio-polymers. Wood is still two orders of magnitude above and I will not pretend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fifth question. The modulus of resilience is the elastic strain energy absorbed per unit volume up to permanent deformation - and the diagram on the left is the formula. The shaded area under the elastic line is one half sigma epsilon, and since epsilon equals sigma over E, that area is sigma squared over two E. Note where stiffness sits: in the denominator. So the low modulus that counted against the material on the previous slide is exactly what raises this quantity. For F2 it comes to about 14 kilojoules per cubic metre, from this study's own two measurements. Why does it fit this class? Because both programmes gave the same result - substantial deformation with retained integrity. Strength tells you the load at which a material stops performing, not how it then fails, and for a demountable non-loadbearing component that is what governs service life. The honest limit: I cannot give you a comparative table, because the literature reports strength and modulus in separate studies on different formulations. This is a data point and a measurement convention,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pathway follows from the measurements. Low strength with high deformation capacity means self-weight and handling loads only. Self-extinguishing with no dripping means interior surfaces away from ignition sources. Coating-dependent water resistance means dry interiors, not wet rooms and not facades. Repeatable small-format casting means a module rather than a sheet, so failure is replaced one unit at a time. Below that, six potentials - and I will call them potentials. Waste valorisation at source, low-energy production with no oven, biodegradable end-of-life including the finish, reversible adhesive-free assembly, direct displacement of quarried limestone rather than a downcycled use, and low-barrier manufacture. One caveat: no life-cycle assessment was carried out, so these are qualitative, not quantified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set these out precisely than have them found. Dispersion not reported. A formulation confound in the flexural comparison. A kerfed section treated as solid. Strain assumed, not instrumented. Shrinkage unquantified. The process not instrumented - manual stirring, one laboratory, one operator. No durability data of any kind. No fire classification and no LCA. Each defines a specific next experiment rather than a vague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reproducible protocol, parameter by parameter. Solids concentration, not mineral content, governs compressive strength. Plasticiser content sets the brittle-ductile transition. A water-cast, ambient-dried material reaches bio-polymer stiffness without an oven. And strength alone is the wrong criterion for this class: deformation capacity governs service behaviour, and strength and modulus should be reported together. Thank you -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references, left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rgbClr val="FFFFFF"/>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47120" y="6309360"/>
            <a:ext cx="365760" cy="256032"/>
          </a:xfrm>
          <a:prstGeom prst="rect">
            <a:avLst/>
          </a:prstGeom>
          <a:noFill/>
          <a:ln/>
        </p:spPr>
        <p:txBody>
          <a:bodyPr wrap="square" rtlCol="0"/>
          <a:lstStyle>
            <a:lvl1pPr algn="r" indent="0" marL="0">
              <a:buNone/>
              <a:defRPr lang="en-US" sz="900" dirty="0">
                <a:solidFill>
                  <a:srgbClr val="BFBFBF"/>
                </a:solidFill>
                <a:latin typeface="Calibri" pitchFamily="34" charset="0"/>
                <a:ea typeface="Calibri" pitchFamily="34" charset="-122"/>
                <a:cs typeface="Calibri" pitchFamily="34" charset="-120"/>
              </a:defRPr>
            </a:lvl1pPr>
          </a:lstStyle>
          <a:p>
            <a:pPr algn="r" indent="0" marL="0">
              <a:buNone/>
            </a:pP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47120" y="6309360"/>
            <a:ext cx="365760" cy="256032"/>
          </a:xfrm>
          <a:prstGeom prst="rect">
            <a:avLst/>
          </a:prstGeom>
          <a:noFill/>
          <a:ln/>
        </p:spPr>
        <p:txBody>
          <a:bodyPr wrap="square" rtlCol="0"/>
          <a:lstStyle>
            <a:lvl1pPr algn="r" indent="0" marL="0">
              <a:buNone/>
              <a:defRPr lang="en-US" sz="900" dirty="0">
                <a:solidFill>
                  <a:srgbClr val="5E5E5E"/>
                </a:solidFill>
                <a:latin typeface="Calibri" pitchFamily="34" charset="0"/>
                <a:ea typeface="Calibri" pitchFamily="34" charset="-122"/>
                <a:cs typeface="Calibri" pitchFamily="34" charset="-120"/>
              </a:defRPr>
            </a:lvl1pPr>
          </a:lstStyle>
          <a:p>
            <a:pPr algn="r" indent="0" marL="0">
              <a:buNone/>
            </a:pP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wash" descr="/home/user/sanat-ve-mekan/konferans-bildirisi/03-gorseller/01-prototip-cesitlemeleri.jpeg">    </p:cNvPr>
          <p:cNvPicPr>
            <a:picLocks noChangeAspect="1"/>
          </p:cNvPicPr>
          <p:nvPr/>
        </p:nvPicPr>
        <p:blipFill>
          <a:blip r:embed="rId1">
            <a:alphaModFix amt="28000"/>
          </a:blip>
          <a:stretch>
            <a:fillRect/>
          </a:stretch>
        </p:blipFill>
        <p:spPr>
          <a:xfrm>
            <a:off x="0" y="0"/>
            <a:ext cx="12188952" cy="6858000"/>
          </a:xfrm>
          <a:prstGeom prst="rect">
            <a:avLst/>
          </a:prstGeom>
        </p:spPr>
      </p:pic>
      <p:sp>
        <p:nvSpPr>
          <p:cNvPr id="3" name="scrim"/>
          <p:cNvSpPr/>
          <p:nvPr/>
        </p:nvSpPr>
        <p:spPr>
          <a:xfrm>
            <a:off x="0" y="0"/>
            <a:ext cx="6035040" cy="6858000"/>
          </a:xfrm>
          <a:prstGeom prst="rect">
            <a:avLst/>
          </a:prstGeom>
          <a:solidFill>
            <a:srgbClr val="141414">
              <a:alpha val="88000"/>
            </a:srgbClr>
          </a:solidFill>
          <a:ln w="12700">
            <a:solidFill>
              <a:srgbClr val="141414">
                <a:alpha val="0"/>
              </a:srgbClr>
            </a:solidFill>
            <a:prstDash val="solid"/>
          </a:ln>
        </p:spPr>
      </p:sp>
      <p:sp>
        <p:nvSpPr>
          <p:cNvPr id="4" name="Text 1"/>
          <p:cNvSpPr txBox="1"/>
          <p:nvPr/>
        </p:nvSpPr>
        <p:spPr>
          <a:xfrm>
            <a:off x="822960" y="2057400"/>
            <a:ext cx="4846320" cy="1828800"/>
          </a:xfrm>
          <a:prstGeom prst="rect">
            <a:avLst/>
          </a:prstGeom>
          <a:noFill/>
          <a:ln/>
        </p:spPr>
        <p:txBody>
          <a:bodyPr wrap="square" lIns="0" tIns="0" rIns="0" bIns="0" rtlCol="0" anchor="b"/>
          <a:lstStyle/>
          <a:p>
            <a:pPr indent="0" marL="0">
              <a:lnSpc>
                <a:spcPts val="3300"/>
              </a:lnSpc>
              <a:buNone/>
            </a:pPr>
            <a:r>
              <a:rPr lang="en-US" sz="2500" b="1" dirty="0">
                <a:solidFill>
                  <a:srgbClr val="FFFFFF"/>
                </a:solidFill>
                <a:latin typeface="Calibri" pitchFamily="34" charset="0"/>
                <a:ea typeface="Calibri" pitchFamily="34" charset="-122"/>
                <a:cs typeface="Calibri" pitchFamily="34" charset="-120"/>
              </a:rPr>
              <a:t>Development and Characterisation of</a:t>
            </a:r>
            <a:endParaRPr lang="en-US" sz="2500" dirty="0"/>
          </a:p>
          <a:p>
            <a:pPr indent="0" marL="0">
              <a:lnSpc>
                <a:spcPts val="3300"/>
              </a:lnSpc>
              <a:buNone/>
            </a:pPr>
            <a:r>
              <a:rPr lang="en-US" sz="2500" b="1" dirty="0">
                <a:solidFill>
                  <a:srgbClr val="FFFFFF"/>
                </a:solidFill>
                <a:latin typeface="Calibri" pitchFamily="34" charset="0"/>
                <a:ea typeface="Calibri" pitchFamily="34" charset="-122"/>
                <a:cs typeface="Calibri" pitchFamily="34" charset="-120"/>
              </a:rPr>
              <a:t>Eggshell–Agar Biocomposites for</a:t>
            </a:r>
            <a:endParaRPr lang="en-US" sz="2500" dirty="0"/>
          </a:p>
          <a:p>
            <a:pPr indent="0" marL="0">
              <a:lnSpc>
                <a:spcPts val="3300"/>
              </a:lnSpc>
              <a:buNone/>
            </a:pPr>
            <a:r>
              <a:rPr lang="en-US" sz="2500" b="1" dirty="0">
                <a:solidFill>
                  <a:srgbClr val="FFFFFF"/>
                </a:solidFill>
                <a:latin typeface="Calibri" pitchFamily="34" charset="0"/>
                <a:ea typeface="Calibri" pitchFamily="34" charset="-122"/>
                <a:cs typeface="Calibri" pitchFamily="34" charset="-120"/>
              </a:rPr>
              <a:t>Sustainable Interior Applications</a:t>
            </a:r>
            <a:endParaRPr lang="en-US" sz="2500" dirty="0"/>
          </a:p>
        </p:txBody>
      </p:sp>
      <p:sp>
        <p:nvSpPr>
          <p:cNvPr id="5" name="Text 2"/>
          <p:cNvSpPr txBox="1"/>
          <p:nvPr/>
        </p:nvSpPr>
        <p:spPr>
          <a:xfrm>
            <a:off x="822960" y="4160520"/>
            <a:ext cx="4846320" cy="7315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Betül Ünal</a:t>
            </a:r>
            <a:endParaRPr lang="en-US" sz="1300" dirty="0"/>
          </a:p>
          <a:p>
            <a:pPr indent="0" marL="0">
              <a:buNone/>
            </a:pPr>
            <a:r>
              <a:rPr lang="en-US" sz="1150" dirty="0">
                <a:solidFill>
                  <a:srgbClr val="9A9A9A"/>
                </a:solidFill>
                <a:latin typeface="Calibri" pitchFamily="34" charset="0"/>
                <a:ea typeface="Calibri" pitchFamily="34" charset="-122"/>
                <a:cs typeface="Calibri" pitchFamily="34" charset="-120"/>
              </a:rPr>
              <a:t>Department of Interior Architecture, Cappadocia University</a:t>
            </a:r>
            <a:endParaRPr lang="en-US" sz="1300" dirty="0"/>
          </a:p>
        </p:txBody>
      </p:sp>
      <p:sp>
        <p:nvSpPr>
          <p:cNvPr id="6" name="Text 3"/>
          <p:cNvSpPr txBox="1"/>
          <p:nvPr/>
        </p:nvSpPr>
        <p:spPr>
          <a:xfrm>
            <a:off x="822960" y="5120640"/>
            <a:ext cx="4846320" cy="274320"/>
          </a:xfrm>
          <a:prstGeom prst="rect">
            <a:avLst/>
          </a:prstGeom>
          <a:noFill/>
          <a:ln/>
        </p:spPr>
        <p:txBody>
          <a:bodyPr wrap="square" lIns="0" tIns="0" rIns="0" bIns="0" rtlCol="0" anchor="ctr"/>
          <a:lstStyle/>
          <a:p>
            <a:pPr indent="0" marL="0">
              <a:buNone/>
            </a:pPr>
            <a:r>
              <a:rPr lang="en-US" sz="900" b="1" spc="160" kern="0" dirty="0">
                <a:solidFill>
                  <a:srgbClr val="5E5E5E"/>
                </a:solidFill>
                <a:latin typeface="Calibri" pitchFamily="34" charset="0"/>
                <a:ea typeface="Calibri" pitchFamily="34" charset="-122"/>
                <a:cs typeface="Calibri" pitchFamily="34" charset="-120"/>
              </a:rPr>
              <a:t>ICSMMEP-26   ·   MECCA   ·   3–4 NOVEMBER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THE POSITION EGGSHELL OCCUPIES</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141414"/>
                </a:solidFill>
                <a:latin typeface="Calibri" pitchFamily="34" charset="0"/>
                <a:ea typeface="Calibri" pitchFamily="34" charset="-122"/>
                <a:cs typeface="Calibri" pitchFamily="34" charset="-120"/>
              </a:rPr>
              <a:t>The filler was already bio-based. The binder was not.</a:t>
            </a:r>
            <a:endParaRPr lang="en-US" sz="2100" dirty="0"/>
          </a:p>
        </p:txBody>
      </p:sp>
      <p:sp>
        <p:nvSpPr>
          <p:cNvPr id="4" name="Text 2"/>
          <p:cNvSpPr txBox="1"/>
          <p:nvPr/>
        </p:nvSpPr>
        <p:spPr>
          <a:xfrm>
            <a:off x="731520" y="1783080"/>
            <a:ext cx="493776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ESTABLISHED PRACTICE</a:t>
            </a:r>
            <a:endParaRPr lang="en-US" sz="850" dirty="0"/>
          </a:p>
        </p:txBody>
      </p:sp>
      <p:sp>
        <p:nvSpPr>
          <p:cNvPr id="5" name="t0.8"/>
          <p:cNvSpPr/>
          <p:nvPr/>
        </p:nvSpPr>
        <p:spPr>
          <a:xfrm>
            <a:off x="731520" y="2057400"/>
            <a:ext cx="4937760" cy="1005840"/>
          </a:xfrm>
          <a:prstGeom prst="rect">
            <a:avLst/>
          </a:prstGeom>
          <a:solidFill>
            <a:srgbClr val="F6F5F3"/>
          </a:solidFill>
          <a:ln w="12700">
            <a:solidFill>
              <a:srgbClr val="E2E2E2"/>
            </a:solidFill>
            <a:prstDash val="solid"/>
          </a:ln>
        </p:spPr>
      </p:sp>
      <p:sp>
        <p:nvSpPr>
          <p:cNvPr id="6" name="b0.8"/>
          <p:cNvSpPr/>
          <p:nvPr/>
        </p:nvSpPr>
        <p:spPr>
          <a:xfrm>
            <a:off x="731520" y="3063240"/>
            <a:ext cx="4937760" cy="1600200"/>
          </a:xfrm>
          <a:prstGeom prst="rect">
            <a:avLst/>
          </a:prstGeom>
          <a:solidFill>
            <a:srgbClr val="FFFFFF"/>
          </a:solidFill>
          <a:ln w="12700">
            <a:solidFill>
              <a:srgbClr val="E2E2E2"/>
            </a:solidFill>
            <a:prstDash val="solid"/>
          </a:ln>
        </p:spPr>
      </p:sp>
      <p:sp>
        <p:nvSpPr>
          <p:cNvPr id="7" name="Text 5"/>
          <p:cNvSpPr txBox="1"/>
          <p:nvPr/>
        </p:nvSpPr>
        <p:spPr>
          <a:xfrm>
            <a:off x="1005840" y="2221992"/>
            <a:ext cx="4389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Mineral phase</a:t>
            </a:r>
            <a:endParaRPr lang="en-US" sz="1200" dirty="0"/>
          </a:p>
        </p:txBody>
      </p:sp>
      <p:sp>
        <p:nvSpPr>
          <p:cNvPr id="8" name="Text 6"/>
          <p:cNvSpPr txBox="1"/>
          <p:nvPr/>
        </p:nvSpPr>
        <p:spPr>
          <a:xfrm>
            <a:off x="1005840" y="2514600"/>
            <a:ext cx="4389120" cy="274320"/>
          </a:xfrm>
          <a:prstGeom prst="rect">
            <a:avLst/>
          </a:prstGeom>
          <a:noFill/>
          <a:ln/>
        </p:spPr>
        <p:txBody>
          <a:bodyPr wrap="square" lIns="0" tIns="0" rIns="0" bIns="0" rtlCol="0" anchor="ctr"/>
          <a:lstStyle/>
          <a:p>
            <a:pPr indent="0" marL="0">
              <a:buNone/>
            </a:pPr>
            <a:r>
              <a:rPr lang="en-US" sz="1000" dirty="0">
                <a:solidFill>
                  <a:srgbClr val="8C8C8C"/>
                </a:solidFill>
                <a:latin typeface="Calibri" pitchFamily="34" charset="0"/>
                <a:ea typeface="Calibri" pitchFamily="34" charset="-122"/>
                <a:cs typeface="Calibri" pitchFamily="34" charset="-120"/>
              </a:rPr>
              <a:t>waste eggshell, 5–30% of matrix</a:t>
            </a:r>
            <a:endParaRPr lang="en-US" sz="1000" dirty="0"/>
          </a:p>
        </p:txBody>
      </p:sp>
      <p:sp>
        <p:nvSpPr>
          <p:cNvPr id="9" name="Text 7"/>
          <p:cNvSpPr txBox="1"/>
          <p:nvPr/>
        </p:nvSpPr>
        <p:spPr>
          <a:xfrm>
            <a:off x="1005840" y="3264408"/>
            <a:ext cx="4389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Binding phase</a:t>
            </a:r>
            <a:endParaRPr lang="en-US" sz="1200" dirty="0"/>
          </a:p>
        </p:txBody>
      </p:sp>
      <p:sp>
        <p:nvSpPr>
          <p:cNvPr id="10" name="Text 8"/>
          <p:cNvSpPr txBox="1"/>
          <p:nvPr/>
        </p:nvSpPr>
        <p:spPr>
          <a:xfrm>
            <a:off x="1005840" y="3557016"/>
            <a:ext cx="4389120" cy="54864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Portland clinker · bitumen · lime · ceramic body · PLA, epoxy, PVC, PU</a:t>
            </a:r>
            <a:endParaRPr lang="en-US" sz="1000" dirty="0"/>
          </a:p>
        </p:txBody>
      </p:sp>
      <p:sp>
        <p:nvSpPr>
          <p:cNvPr id="11" name="Text 9"/>
          <p:cNvSpPr txBox="1"/>
          <p:nvPr/>
        </p:nvSpPr>
        <p:spPr>
          <a:xfrm>
            <a:off x="6492240" y="1783080"/>
            <a:ext cx="493776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THIS STUDY</a:t>
            </a:r>
            <a:endParaRPr lang="en-US" sz="850" dirty="0"/>
          </a:p>
        </p:txBody>
      </p:sp>
      <p:sp>
        <p:nvSpPr>
          <p:cNvPr id="12" name="t7.1"/>
          <p:cNvSpPr/>
          <p:nvPr/>
        </p:nvSpPr>
        <p:spPr>
          <a:xfrm>
            <a:off x="6492240" y="2057400"/>
            <a:ext cx="4937760" cy="1005840"/>
          </a:xfrm>
          <a:prstGeom prst="rect">
            <a:avLst/>
          </a:prstGeom>
          <a:solidFill>
            <a:srgbClr val="F6F5F3"/>
          </a:solidFill>
          <a:ln w="12700">
            <a:solidFill>
              <a:srgbClr val="E2E2E2"/>
            </a:solidFill>
            <a:prstDash val="solid"/>
          </a:ln>
        </p:spPr>
      </p:sp>
      <p:sp>
        <p:nvSpPr>
          <p:cNvPr id="13" name="b7.1"/>
          <p:cNvSpPr/>
          <p:nvPr/>
        </p:nvSpPr>
        <p:spPr>
          <a:xfrm>
            <a:off x="6492240" y="3063240"/>
            <a:ext cx="4937760" cy="1600200"/>
          </a:xfrm>
          <a:prstGeom prst="rect">
            <a:avLst/>
          </a:prstGeom>
          <a:solidFill>
            <a:srgbClr val="B4513A"/>
          </a:solidFill>
          <a:ln w="12700">
            <a:solidFill>
              <a:srgbClr val="E2E2E2"/>
            </a:solidFill>
            <a:prstDash val="solid"/>
          </a:ln>
        </p:spPr>
      </p:sp>
      <p:sp>
        <p:nvSpPr>
          <p:cNvPr id="14" name="Text 12"/>
          <p:cNvSpPr txBox="1"/>
          <p:nvPr/>
        </p:nvSpPr>
        <p:spPr>
          <a:xfrm>
            <a:off x="6766560" y="2221992"/>
            <a:ext cx="4389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Mineral phase</a:t>
            </a:r>
            <a:endParaRPr lang="en-US" sz="1200" dirty="0"/>
          </a:p>
        </p:txBody>
      </p:sp>
      <p:sp>
        <p:nvSpPr>
          <p:cNvPr id="15" name="Text 13"/>
          <p:cNvSpPr txBox="1"/>
          <p:nvPr/>
        </p:nvSpPr>
        <p:spPr>
          <a:xfrm>
            <a:off x="6766560" y="2514600"/>
            <a:ext cx="4389120" cy="274320"/>
          </a:xfrm>
          <a:prstGeom prst="rect">
            <a:avLst/>
          </a:prstGeom>
          <a:noFill/>
          <a:ln/>
        </p:spPr>
        <p:txBody>
          <a:bodyPr wrap="square" lIns="0" tIns="0" rIns="0" bIns="0" rtlCol="0" anchor="ctr"/>
          <a:lstStyle/>
          <a:p>
            <a:pPr indent="0" marL="0">
              <a:buNone/>
            </a:pPr>
            <a:r>
              <a:rPr lang="en-US" sz="1000" dirty="0">
                <a:solidFill>
                  <a:srgbClr val="8C8C8C"/>
                </a:solidFill>
                <a:latin typeface="Calibri" pitchFamily="34" charset="0"/>
                <a:ea typeface="Calibri" pitchFamily="34" charset="-122"/>
                <a:cs typeface="Calibri" pitchFamily="34" charset="-120"/>
              </a:rPr>
              <a:t>waste eggshell, 66% of solids</a:t>
            </a:r>
            <a:endParaRPr lang="en-US" sz="1000" dirty="0"/>
          </a:p>
        </p:txBody>
      </p:sp>
      <p:sp>
        <p:nvSpPr>
          <p:cNvPr id="16" name="Text 14"/>
          <p:cNvSpPr txBox="1"/>
          <p:nvPr/>
        </p:nvSpPr>
        <p:spPr>
          <a:xfrm>
            <a:off x="6766560" y="3264408"/>
            <a:ext cx="438912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Binding phase</a:t>
            </a:r>
            <a:endParaRPr lang="en-US" sz="1200" dirty="0"/>
          </a:p>
        </p:txBody>
      </p:sp>
      <p:sp>
        <p:nvSpPr>
          <p:cNvPr id="17" name="Text 15"/>
          <p:cNvSpPr txBox="1"/>
          <p:nvPr/>
        </p:nvSpPr>
        <p:spPr>
          <a:xfrm>
            <a:off x="6766560" y="3557016"/>
            <a:ext cx="4389120" cy="548640"/>
          </a:xfrm>
          <a:prstGeom prst="rect">
            <a:avLst/>
          </a:prstGeom>
          <a:noFill/>
          <a:ln/>
        </p:spPr>
        <p:txBody>
          <a:bodyPr wrap="square" lIns="0" tIns="0" rIns="0" bIns="0" rtlCol="0" anchor="ctr"/>
          <a:lstStyle/>
          <a:p>
            <a:pPr indent="0" marL="0">
              <a:lnSpc>
                <a:spcPts val="1300"/>
              </a:lnSpc>
              <a:buNone/>
            </a:pPr>
            <a:r>
              <a:rPr lang="en-US" sz="1000" dirty="0">
                <a:solidFill>
                  <a:srgbClr val="F2E4DE"/>
                </a:solidFill>
                <a:latin typeface="Calibri" pitchFamily="34" charset="0"/>
                <a:ea typeface="Calibri" pitchFamily="34" charset="-122"/>
                <a:cs typeface="Calibri" pitchFamily="34" charset="-120"/>
              </a:rPr>
              <a:t>agar, plasticised with glycerol — biological and biodegradable</a:t>
            </a:r>
            <a:endParaRPr lang="en-US" sz="1000" dirty="0"/>
          </a:p>
        </p:txBody>
      </p:sp>
      <p:sp>
        <p:nvSpPr>
          <p:cNvPr id="18" name="tick1"/>
          <p:cNvSpPr/>
          <p:nvPr/>
        </p:nvSpPr>
        <p:spPr>
          <a:xfrm>
            <a:off x="5806440" y="2788920"/>
            <a:ext cx="365760" cy="36576"/>
          </a:xfrm>
          <a:prstGeom prst="rect">
            <a:avLst/>
          </a:prstGeom>
          <a:solidFill>
            <a:srgbClr val="BFBFBF"/>
          </a:solidFill>
          <a:ln w="12700">
            <a:solidFill>
              <a:srgbClr val="BFBFBF">
                <a:alpha val="0"/>
              </a:srgbClr>
            </a:solidFill>
            <a:prstDash val="solid"/>
          </a:ln>
        </p:spPr>
      </p:sp>
      <p:sp>
        <p:nvSpPr>
          <p:cNvPr id="19" name="arr"/>
          <p:cNvSpPr/>
          <p:nvPr/>
        </p:nvSpPr>
        <p:spPr>
          <a:xfrm>
            <a:off x="5760720" y="3566160"/>
            <a:ext cx="457200" cy="310896"/>
          </a:xfrm>
          <a:prstGeom prst="rightArrow">
            <a:avLst/>
          </a:prstGeom>
          <a:solidFill>
            <a:srgbClr val="B4513A"/>
          </a:solidFill>
          <a:ln w="12700">
            <a:solidFill>
              <a:srgbClr val="B4513A">
                <a:alpha val="0"/>
              </a:srgbClr>
            </a:solidFill>
            <a:prstDash val="solid"/>
          </a:ln>
        </p:spPr>
      </p:sp>
      <p:sp>
        <p:nvSpPr>
          <p:cNvPr id="20" name="Text 18"/>
          <p:cNvSpPr txBox="1"/>
          <p:nvPr/>
        </p:nvSpPr>
        <p:spPr>
          <a:xfrm>
            <a:off x="731520" y="4846320"/>
            <a:ext cx="4937760" cy="7315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The waste stream is valorised. The matrix remains petrochemical, clinker-based or ceramic.</a:t>
            </a:r>
            <a:endParaRPr lang="en-US" sz="1050" dirty="0"/>
          </a:p>
        </p:txBody>
      </p:sp>
      <p:sp>
        <p:nvSpPr>
          <p:cNvPr id="21" name="Text 19"/>
          <p:cNvSpPr txBox="1"/>
          <p:nvPr/>
        </p:nvSpPr>
        <p:spPr>
          <a:xfrm>
            <a:off x="6492240" y="4846320"/>
            <a:ext cx="4937760" cy="7315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Both phases are biological. The composite returns to a biological cycle intact.</a:t>
            </a:r>
            <a:endParaRPr lang="en-US" sz="1050" dirty="0"/>
          </a:p>
        </p:txBody>
      </p:sp>
      <p:sp>
        <p:nvSpPr>
          <p:cNvPr id="22" name="Text 20"/>
          <p:cNvSpPr txBox="1"/>
          <p:nvPr/>
        </p:nvSpPr>
        <p:spPr>
          <a:xfrm>
            <a:off x="731520" y="5760720"/>
            <a:ext cx="1069848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Teara et al. 2019 · Adogla et al. 2016 · Razzaq &amp; Yousif 2017 · Soundara &amp; Vilasini 2015 · Vilarinho et al. 2022 · Owuamanam &amp; Cree 2020</a:t>
            </a:r>
            <a:endParaRPr lang="en-US" sz="900" dirty="0"/>
          </a:p>
        </p:txBody>
      </p:sp>
      <p:sp>
        <p:nvSpPr>
          <p:cNvPr id="24"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WHAT IS ALREADY KNOWN</a:t>
            </a:r>
            <a:endParaRPr lang="en-US" sz="900" dirty="0"/>
          </a:p>
        </p:txBody>
      </p:sp>
      <p:sp>
        <p:nvSpPr>
          <p:cNvPr id="3" name="Text 1"/>
          <p:cNvSpPr txBox="1"/>
          <p:nvPr/>
        </p:nvSpPr>
        <p:spPr>
          <a:xfrm>
            <a:off x="731520" y="960120"/>
            <a:ext cx="512064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EGGSHELL — ESTABLISHED USES</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1234440"/>
          <a:ext cx="5120640" cy="914400"/>
        </p:xfrm>
        <a:graphic>
          <a:graphicData uri="http://schemas.openxmlformats.org/drawingml/2006/table">
            <a:tbl>
              <a:tblPr/>
              <a:tblGrid>
                <a:gridCol w="1874520"/>
                <a:gridCol w="1371600"/>
                <a:gridCol w="1874520"/>
              </a:tblGrid>
              <a:tr h="310896">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Matrix</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Cement replacement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Portland clinker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Teara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Laterite brick stabilisation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Cement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Adogla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Asphalt binder modification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Bitumen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Razzaq &amp; Yousif 2017</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Soil stabilisation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Lime substitute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Soundara &amp; Vilasini 2015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Eco-ceramic wall tile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Ceramic body</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Vilarinho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Particulate filler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PLA, epoxy, PVC, PU</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Owuamanam &amp; Cree 2020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 y="3611880"/>
            <a:ext cx="5120640" cy="8229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~94% calcium carbonate; porous, protein-bound crystalline structure; specific gravity 0.85–2.66. The material argument is settled.</a:t>
            </a:r>
            <a:endParaRPr lang="en-US" sz="1050" dirty="0"/>
          </a:p>
        </p:txBody>
      </p:sp>
      <p:sp>
        <p:nvSpPr>
          <p:cNvPr id="6" name="Text 3"/>
          <p:cNvSpPr txBox="1"/>
          <p:nvPr/>
        </p:nvSpPr>
        <p:spPr>
          <a:xfrm>
            <a:off x="6492240" y="960120"/>
            <a:ext cx="493776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AGAR — CHARACTERISED, BUT AS A FILM</a:t>
            </a:r>
            <a:endParaRPr lang="en-US" sz="850" dirty="0"/>
          </a:p>
        </p:txBody>
      </p:sp>
      <p:sp>
        <p:nvSpPr>
          <p:cNvPr id="7" name="Text 4"/>
          <p:cNvSpPr txBox="1"/>
          <p:nvPr/>
        </p:nvSpPr>
        <p:spPr>
          <a:xfrm>
            <a:off x="6492240" y="1234440"/>
            <a:ext cx="4937760" cy="1097280"/>
          </a:xfrm>
          <a:prstGeom prst="rect">
            <a:avLst/>
          </a:prstGeom>
          <a:noFill/>
          <a:ln/>
        </p:spPr>
        <p:txBody>
          <a:bodyPr wrap="square" lIns="0" tIns="0" rIns="0" bIns="0" rtlCol="0" anchor="t"/>
          <a:lstStyle/>
          <a:p>
            <a:pPr indent="0" marL="0">
              <a:lnSpc>
                <a:spcPts val="1750"/>
              </a:lnSpc>
              <a:buNone/>
            </a:pPr>
            <a:r>
              <a:rPr lang="en-US" sz="1150" dirty="0">
                <a:solidFill>
                  <a:srgbClr val="3A3A3A"/>
                </a:solidFill>
                <a:latin typeface="Calibri" pitchFamily="34" charset="0"/>
                <a:ea typeface="Calibri" pitchFamily="34" charset="-122"/>
                <a:cs typeface="Calibri" pitchFamily="34" charset="-120"/>
              </a:rPr>
              <a:t>Hernández et al. (2022) mapped 32 agar–glycerin–water formulations by design of experiments and released the dataset openly. Glycerol raises elongation and lowers tensile strength.</a:t>
            </a:r>
            <a:endParaRPr lang="en-US" sz="11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492240" y="2514600"/>
          <a:ext cx="4937760" cy="914400"/>
        </p:xfrm>
        <a:graphic>
          <a:graphicData uri="http://schemas.openxmlformats.org/drawingml/2006/table">
            <a:tbl>
              <a:tblPr/>
              <a:tblGrid>
                <a:gridCol w="1188720"/>
                <a:gridCol w="1783080"/>
                <a:gridCol w="1965960"/>
              </a:tblGrid>
              <a:tr h="329184">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Film literature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Form</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Thin cast film</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Cast solid, 20–50 mm</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Filler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Unfilled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Mineral, 66% of solids</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Loading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Uniaxial tension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Compression, bending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Packaging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6492240" y="4206240"/>
            <a:ext cx="4937760" cy="7315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The compositional logic carries over. The form, the filler and the loading case do not.</a:t>
            </a:r>
            <a:endParaRPr lang="en-US" sz="1050" dirty="0"/>
          </a:p>
        </p:txBody>
      </p:sp>
      <p:sp>
        <p:nvSpPr>
          <p:cNvPr id="11"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9A9A9A"/>
                </a:solidFill>
                <a:latin typeface="Calibri" pitchFamily="34" charset="0"/>
                <a:ea typeface="Calibri" pitchFamily="34" charset="-122"/>
                <a:cs typeface="Calibri" pitchFamily="34" charset="-120"/>
              </a:rPr>
              <a:t>THE GAP, MEASURED</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A commons four recipes deep.</a:t>
            </a:r>
            <a:endParaRPr lang="en-US" sz="2100" dirty="0"/>
          </a:p>
        </p:txBody>
      </p:sp>
      <p:sp>
        <p:nvSpPr>
          <p:cNvPr id="4" name="Text 2"/>
          <p:cNvSpPr txBox="1"/>
          <p:nvPr/>
        </p:nvSpPr>
        <p:spPr>
          <a:xfrm>
            <a:off x="731520" y="1920240"/>
            <a:ext cx="4937760" cy="146304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Materiom publishes biomaterial recipes under CC-BY-SA, excludes petrochemical ingredients, archives each as prior art, and indexes property data with citable DOIs. The infrastructure for shared procedures is built.</a:t>
            </a:r>
            <a:endParaRPr lang="en-US" sz="1200" dirty="0"/>
          </a:p>
        </p:txBody>
      </p:sp>
      <p:sp>
        <p:nvSpPr>
          <p:cNvPr id="5" name="Text 3"/>
          <p:cNvSpPr txBox="1"/>
          <p:nvPr/>
        </p:nvSpPr>
        <p:spPr>
          <a:xfrm>
            <a:off x="731520" y="3520440"/>
            <a:ext cx="2103120" cy="530352"/>
          </a:xfrm>
          <a:prstGeom prst="rect">
            <a:avLst/>
          </a:prstGeom>
          <a:noFill/>
          <a:ln/>
        </p:spPr>
        <p:txBody>
          <a:bodyPr wrap="square" lIns="0" tIns="0" rIns="0" bIns="0" rtlCol="0" anchor="b"/>
          <a:lstStyle/>
          <a:p>
            <a:pPr indent="0" marL="0">
              <a:buNone/>
            </a:pPr>
            <a:r>
              <a:rPr lang="en-US" sz="3000" b="1" dirty="0">
                <a:solidFill>
                  <a:srgbClr val="B4513A"/>
                </a:solidFill>
                <a:latin typeface="Calibri" pitchFamily="34" charset="0"/>
                <a:ea typeface="Calibri" pitchFamily="34" charset="-122"/>
                <a:cs typeface="Calibri" pitchFamily="34" charset="-120"/>
              </a:rPr>
              <a:t>4</a:t>
            </a:r>
            <a:endParaRPr lang="en-US" sz="3000" dirty="0"/>
          </a:p>
        </p:txBody>
      </p:sp>
      <p:sp>
        <p:nvSpPr>
          <p:cNvPr id="6" name="Text 4"/>
          <p:cNvSpPr txBox="1"/>
          <p:nvPr/>
        </p:nvSpPr>
        <p:spPr>
          <a:xfrm>
            <a:off x="731520" y="4069080"/>
            <a:ext cx="2103120" cy="420624"/>
          </a:xfrm>
          <a:prstGeom prst="rect">
            <a:avLst/>
          </a:prstGeom>
          <a:noFill/>
          <a:ln/>
        </p:spPr>
        <p:txBody>
          <a:bodyPr wrap="square" lIns="0" tIns="0" rIns="0" bIns="0" rtlCol="0" anchor="t"/>
          <a:lstStyle/>
          <a:p>
            <a:pPr indent="0" marL="0">
              <a:lnSpc>
                <a:spcPts val="1250"/>
              </a:lnSpc>
              <a:buNone/>
            </a:pPr>
            <a:r>
              <a:rPr lang="en-US" sz="950" dirty="0">
                <a:solidFill>
                  <a:srgbClr val="9A9A9A"/>
                </a:solidFill>
                <a:latin typeface="Calibri" pitchFamily="34" charset="0"/>
                <a:ea typeface="Calibri" pitchFamily="34" charset="-122"/>
                <a:cs typeface="Calibri" pitchFamily="34" charset="-120"/>
              </a:rPr>
              <a:t>recipes with published property data</a:t>
            </a:r>
            <a:endParaRPr lang="en-US" sz="950" dirty="0"/>
          </a:p>
        </p:txBody>
      </p:sp>
      <p:sp>
        <p:nvSpPr>
          <p:cNvPr id="7" name="Text 5"/>
          <p:cNvSpPr txBox="1"/>
          <p:nvPr/>
        </p:nvSpPr>
        <p:spPr>
          <a:xfrm>
            <a:off x="3200400" y="3566160"/>
            <a:ext cx="2468880" cy="219456"/>
          </a:xfrm>
          <a:prstGeom prst="rect">
            <a:avLst/>
          </a:prstGeom>
          <a:noFill/>
          <a:ln/>
        </p:spPr>
        <p:txBody>
          <a:bodyPr wrap="square" lIns="0" tIns="0" rIns="0" bIns="0" rtlCol="0" anchor="ctr"/>
          <a:lstStyle/>
          <a:p>
            <a:pPr indent="0" marL="0">
              <a:buNone/>
            </a:pPr>
            <a:r>
              <a:rPr lang="en-US" sz="850" b="1" spc="130" kern="0" dirty="0">
                <a:solidFill>
                  <a:srgbClr val="5E5E5E"/>
                </a:solidFill>
                <a:latin typeface="Calibri" pitchFamily="34" charset="0"/>
                <a:ea typeface="Calibri" pitchFamily="34" charset="-122"/>
                <a:cs typeface="Calibri" pitchFamily="34" charset="-120"/>
              </a:rPr>
              <a:t>WHICH ARE</a:t>
            </a:r>
            <a:endParaRPr lang="en-US" sz="850" dirty="0"/>
          </a:p>
        </p:txBody>
      </p:sp>
      <p:sp>
        <p:nvSpPr>
          <p:cNvPr id="8" name="Text 6"/>
          <p:cNvSpPr txBox="1"/>
          <p:nvPr/>
        </p:nvSpPr>
        <p:spPr>
          <a:xfrm>
            <a:off x="3200400" y="3840480"/>
            <a:ext cx="2468880" cy="1371600"/>
          </a:xfrm>
          <a:prstGeom prst="rect">
            <a:avLst/>
          </a:prstGeom>
          <a:noFill/>
          <a:ln/>
        </p:spPr>
        <p:txBody>
          <a:bodyPr wrap="square" lIns="0" tIns="0" rIns="0" bIns="0" rtlCol="0" anchor="t"/>
          <a:lstStyle/>
          <a:p>
            <a:pPr indent="0" marL="0">
              <a:lnSpc>
                <a:spcPts val="1550"/>
              </a:lnSpc>
              <a:buNone/>
            </a:pPr>
            <a:r>
              <a:rPr lang="en-US" sz="1050" dirty="0">
                <a:solidFill>
                  <a:srgbClr val="9A9A9A"/>
                </a:solidFill>
                <a:latin typeface="Calibri" pitchFamily="34" charset="0"/>
                <a:ea typeface="Calibri" pitchFamily="34" charset="-122"/>
                <a:cs typeface="Calibri" pitchFamily="34" charset="-120"/>
              </a:rPr>
              <a:t>agar bioplastic</a:t>
            </a:r>
            <a:endParaRPr lang="en-US" sz="1050" dirty="0"/>
          </a:p>
          <a:p>
            <a:pPr indent="0" marL="0">
              <a:lnSpc>
                <a:spcPts val="1550"/>
              </a:lnSpc>
              <a:buNone/>
            </a:pPr>
            <a:r>
              <a:rPr lang="en-US" sz="1050" dirty="0">
                <a:solidFill>
                  <a:srgbClr val="9A9A9A"/>
                </a:solidFill>
                <a:latin typeface="Calibri" pitchFamily="34" charset="0"/>
                <a:ea typeface="Calibri" pitchFamily="34" charset="-122"/>
                <a:cs typeface="Calibri" pitchFamily="34" charset="-120"/>
              </a:rPr>
              <a:t>gelatin bioplastic</a:t>
            </a:r>
            <a:endParaRPr lang="en-US" sz="1050" dirty="0"/>
          </a:p>
          <a:p>
            <a:pPr indent="0" marL="0">
              <a:lnSpc>
                <a:spcPts val="1550"/>
              </a:lnSpc>
              <a:buNone/>
            </a:pPr>
            <a:r>
              <a:rPr lang="en-US" sz="1050" dirty="0">
                <a:solidFill>
                  <a:srgbClr val="9A9A9A"/>
                </a:solidFill>
                <a:latin typeface="Calibri" pitchFamily="34" charset="0"/>
                <a:ea typeface="Calibri" pitchFamily="34" charset="-122"/>
                <a:cs typeface="Calibri" pitchFamily="34" charset="-120"/>
              </a:rPr>
              <a:t>mycelium–walnut shell</a:t>
            </a:r>
            <a:endParaRPr lang="en-US" sz="1050" dirty="0"/>
          </a:p>
          <a:p>
            <a:pPr indent="0" marL="0">
              <a:lnSpc>
                <a:spcPts val="1550"/>
              </a:lnSpc>
              <a:buNone/>
            </a:pPr>
            <a:r>
              <a:rPr lang="en-US" sz="1050" dirty="0">
                <a:solidFill>
                  <a:srgbClr val="9A9A9A"/>
                </a:solidFill>
                <a:latin typeface="Calibri" pitchFamily="34" charset="0"/>
                <a:ea typeface="Calibri" pitchFamily="34" charset="-122"/>
                <a:cs typeface="Calibri" pitchFamily="34" charset="-120"/>
              </a:rPr>
              <a:t>mussel shell–sucrose ceramic</a:t>
            </a:r>
            <a:endParaRPr lang="en-US" sz="1050" dirty="0"/>
          </a:p>
        </p:txBody>
      </p:sp>
      <p:sp>
        <p:nvSpPr>
          <p:cNvPr id="9" name="rule"/>
          <p:cNvSpPr/>
          <p:nvPr/>
        </p:nvSpPr>
        <p:spPr>
          <a:xfrm>
            <a:off x="6172200" y="1920240"/>
            <a:ext cx="18288" cy="3566160"/>
          </a:xfrm>
          <a:prstGeom prst="rect">
            <a:avLst/>
          </a:prstGeom>
          <a:solidFill>
            <a:srgbClr val="5E5E5E"/>
          </a:solidFill>
          <a:ln w="12700">
            <a:solidFill>
              <a:srgbClr val="5E5E5E">
                <a:alpha val="0"/>
              </a:srgbClr>
            </a:solidFill>
            <a:prstDash val="solid"/>
          </a:ln>
        </p:spPr>
      </p:sp>
      <p:sp>
        <p:nvSpPr>
          <p:cNvPr id="10" name="Text 8"/>
          <p:cNvSpPr txBox="1"/>
          <p:nvPr/>
        </p:nvSpPr>
        <p:spPr>
          <a:xfrm>
            <a:off x="6675120" y="1920240"/>
            <a:ext cx="4754880" cy="219456"/>
          </a:xfrm>
          <a:prstGeom prst="rect">
            <a:avLst/>
          </a:prstGeom>
          <a:noFill/>
          <a:ln/>
        </p:spPr>
        <p:txBody>
          <a:bodyPr wrap="square" lIns="0" tIns="0" rIns="0" bIns="0" rtlCol="0" anchor="ctr"/>
          <a:lstStyle/>
          <a:p>
            <a:pPr indent="0" marL="0">
              <a:buNone/>
            </a:pPr>
            <a:r>
              <a:rPr lang="en-US" sz="850" b="1" spc="130" kern="0" dirty="0">
                <a:solidFill>
                  <a:srgbClr val="5E5E5E"/>
                </a:solidFill>
                <a:latin typeface="Calibri" pitchFamily="34" charset="0"/>
                <a:ea typeface="Calibri" pitchFamily="34" charset="-122"/>
                <a:cs typeface="Calibri" pitchFamily="34" charset="-120"/>
              </a:rPr>
              <a:t>WHAT THAT MEANS HERE</a:t>
            </a:r>
            <a:endParaRPr lang="en-US" sz="850" dirty="0"/>
          </a:p>
        </p:txBody>
      </p:sp>
      <p:sp>
        <p:nvSpPr>
          <p:cNvPr id="11" name="Text 9"/>
          <p:cNvSpPr txBox="1"/>
          <p:nvPr/>
        </p:nvSpPr>
        <p:spPr>
          <a:xfrm>
            <a:off x="6675120" y="2194560"/>
            <a:ext cx="4754880" cy="192024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The nearest analogue is the mussel shell–sucrose ceramic: a shell mineral in a biological binder. Nothing couples a shell mineral to an agar binder. Nothing reports compressive, flexural, ignitability and hygric data for one formulation family.</a:t>
            </a:r>
            <a:endParaRPr lang="en-US" sz="1200" dirty="0"/>
          </a:p>
        </p:txBody>
      </p:sp>
      <p:sp>
        <p:nvSpPr>
          <p:cNvPr id="12" name="Text 10"/>
          <p:cNvSpPr txBox="1"/>
          <p:nvPr/>
        </p:nvSpPr>
        <p:spPr>
          <a:xfrm>
            <a:off x="6675120" y="4389120"/>
            <a:ext cx="4754880" cy="822960"/>
          </a:xfrm>
          <a:prstGeom prst="rect">
            <a:avLst/>
          </a:prstGeom>
          <a:noFill/>
          <a:ln/>
        </p:spPr>
        <p:txBody>
          <a:bodyPr wrap="square" lIns="0" tIns="0" rIns="0" bIns="0" rtlCol="0" anchor="ctr"/>
          <a:lstStyle/>
          <a:p>
            <a:pPr indent="0" marL="0">
              <a:lnSpc>
                <a:spcPts val="1900"/>
              </a:lnSpc>
              <a:buNone/>
            </a:pPr>
            <a:r>
              <a:rPr lang="en-US" sz="1350" b="1" dirty="0">
                <a:solidFill>
                  <a:srgbClr val="B4513A"/>
                </a:solidFill>
                <a:latin typeface="Calibri" pitchFamily="34" charset="0"/>
                <a:ea typeface="Calibri" pitchFamily="34" charset="-122"/>
                <a:cs typeface="Calibri" pitchFamily="34" charset="-120"/>
              </a:rPr>
              <a:t>The contribution is a protocol and a property set entering that commons.</a:t>
            </a:r>
            <a:endParaRPr lang="en-US" sz="1350" dirty="0"/>
          </a:p>
        </p:txBody>
      </p:sp>
      <p:sp>
        <p:nvSpPr>
          <p:cNvPr id="13" name="Text 11"/>
          <p:cNvSpPr txBox="1"/>
          <p:nvPr/>
        </p:nvSpPr>
        <p:spPr>
          <a:xfrm>
            <a:off x="731520" y="5760720"/>
            <a:ext cx="5486400" cy="457200"/>
          </a:xfrm>
          <a:prstGeom prst="rect">
            <a:avLst/>
          </a:prstGeom>
          <a:noFill/>
          <a:ln/>
        </p:spPr>
        <p:txBody>
          <a:bodyPr wrap="square" lIns="0" tIns="0" rIns="0" bIns="0" rtlCol="0" anchor="t"/>
          <a:lstStyle/>
          <a:p>
            <a:pPr indent="0" marL="0">
              <a:lnSpc>
                <a:spcPts val="1300"/>
              </a:lnSpc>
              <a:buNone/>
            </a:pPr>
            <a:r>
              <a:rPr lang="en-US" sz="900" dirty="0">
                <a:solidFill>
                  <a:srgbClr val="5E5E5E"/>
                </a:solidFill>
                <a:latin typeface="Calibri" pitchFamily="34" charset="0"/>
                <a:ea typeface="Calibri" pitchFamily="34" charset="-122"/>
                <a:cs typeface="Calibri" pitchFamily="34" charset="-120"/>
              </a:rPr>
              <a:t>materiom.org/data, accessed October 2026</a:t>
            </a:r>
            <a:endParaRPr lang="en-US" sz="900" dirty="0"/>
          </a:p>
        </p:txBody>
      </p:sp>
      <p:sp>
        <p:nvSpPr>
          <p:cNvPr id="15"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AIM AND QUESTIONS</a:t>
            </a:r>
            <a:endParaRPr lang="en-US" sz="900" dirty="0"/>
          </a:p>
        </p:txBody>
      </p:sp>
      <p:sp>
        <p:nvSpPr>
          <p:cNvPr id="3" name="Text 1"/>
          <p:cNvSpPr txBox="1"/>
          <p:nvPr/>
        </p:nvSpPr>
        <p:spPr>
          <a:xfrm>
            <a:off x="731520" y="914400"/>
            <a:ext cx="5029200" cy="1280160"/>
          </a:xfrm>
          <a:prstGeom prst="rect">
            <a:avLst/>
          </a:prstGeom>
          <a:noFill/>
          <a:ln/>
        </p:spPr>
        <p:txBody>
          <a:bodyPr wrap="square" lIns="0" tIns="0" rIns="0" bIns="0" rtlCol="0" anchor="t"/>
          <a:lstStyle/>
          <a:p>
            <a:pPr indent="0" marL="0">
              <a:lnSpc>
                <a:spcPts val="1900"/>
              </a:lnSpc>
              <a:buNone/>
            </a:pPr>
            <a:r>
              <a:rPr lang="en-US" sz="1300" dirty="0">
                <a:solidFill>
                  <a:srgbClr val="3A3A3A"/>
                </a:solidFill>
                <a:latin typeface="Calibri" pitchFamily="34" charset="0"/>
                <a:ea typeface="Calibri" pitchFamily="34" charset="-122"/>
                <a:cs typeface="Calibri" pitchFamily="34" charset="-120"/>
              </a:rPr>
              <a:t>To document a reproducible production protocol for a fully bio-based eggshell composite, and to characterise its mechanical, thermal and hygric response against conventional and bio-based interior materials.</a:t>
            </a:r>
            <a:endParaRPr lang="en-US" sz="1300" dirty="0"/>
          </a:p>
        </p:txBody>
      </p:sp>
      <p:sp>
        <p:nvSpPr>
          <p:cNvPr id="4" name="Text 2"/>
          <p:cNvSpPr txBox="1"/>
          <p:nvPr/>
        </p:nvSpPr>
        <p:spPr>
          <a:xfrm>
            <a:off x="731520" y="2468880"/>
            <a:ext cx="502920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SCOPE</a:t>
            </a:r>
            <a:endParaRPr lang="en-US" sz="850" dirty="0"/>
          </a:p>
        </p:txBody>
      </p:sp>
      <p:sp>
        <p:nvSpPr>
          <p:cNvPr id="5" name="Text 3"/>
          <p:cNvSpPr txBox="1"/>
          <p:nvPr/>
        </p:nvSpPr>
        <p:spPr>
          <a:xfrm>
            <a:off x="731520" y="2743200"/>
            <a:ext cx="5029200" cy="164592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Five formulations, two mechanical programmes</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Three specimens per formulation</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ASTM D790-17 · ISO 11925-2 · ASTM D570</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Single laboratory, ambient curing, no ageing</a:t>
            </a:r>
            <a:endParaRPr lang="en-US" sz="1150" dirty="0"/>
          </a:p>
        </p:txBody>
      </p:sp>
      <p:sp>
        <p:nvSpPr>
          <p:cNvPr id="6" name="Text 4"/>
          <p:cNvSpPr txBox="1"/>
          <p:nvPr/>
        </p:nvSpPr>
        <p:spPr>
          <a:xfrm>
            <a:off x="6492240" y="914400"/>
            <a:ext cx="493776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RESEARCH QUESTIONS</a:t>
            </a:r>
            <a:endParaRPr lang="en-US" sz="850" dirty="0"/>
          </a:p>
        </p:txBody>
      </p:sp>
      <p:sp>
        <p:nvSpPr>
          <p:cNvPr id="7" name="Text 5"/>
          <p:cNvSpPr txBox="1"/>
          <p:nvPr/>
        </p:nvSpPr>
        <p:spPr>
          <a:xfrm>
            <a:off x="6492240" y="1399032"/>
            <a:ext cx="457200" cy="256032"/>
          </a:xfrm>
          <a:prstGeom prst="rect">
            <a:avLst/>
          </a:prstGeom>
          <a:noFill/>
          <a:ln/>
        </p:spPr>
        <p:txBody>
          <a:bodyPr wrap="square" lIns="0" tIns="0" rIns="0" bIns="0" rtlCol="0" anchor="ctr"/>
          <a:lstStyle/>
          <a:p>
            <a:pPr indent="0" marL="0">
              <a:buNone/>
            </a:pPr>
            <a:r>
              <a:rPr lang="en-US" sz="1050" b="1" dirty="0">
                <a:solidFill>
                  <a:srgbClr val="B4513A"/>
                </a:solidFill>
                <a:latin typeface="Calibri" pitchFamily="34" charset="0"/>
                <a:ea typeface="Calibri" pitchFamily="34" charset="-122"/>
                <a:cs typeface="Calibri" pitchFamily="34" charset="-120"/>
              </a:rPr>
              <a:t>01</a:t>
            </a:r>
            <a:endParaRPr lang="en-US" sz="1050" dirty="0"/>
          </a:p>
        </p:txBody>
      </p:sp>
      <p:sp>
        <p:nvSpPr>
          <p:cNvPr id="8" name="Text 6"/>
          <p:cNvSpPr txBox="1"/>
          <p:nvPr/>
        </p:nvSpPr>
        <p:spPr>
          <a:xfrm>
            <a:off x="7040880" y="123444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3A3A3A"/>
                </a:solidFill>
                <a:latin typeface="Calibri" pitchFamily="34" charset="0"/>
                <a:ea typeface="Calibri" pitchFamily="34" charset="-122"/>
                <a:cs typeface="Calibri" pitchFamily="34" charset="-120"/>
              </a:rPr>
              <a:t>Which formulation variable governs compressive strength?</a:t>
            </a:r>
            <a:endParaRPr lang="en-US" sz="1200" dirty="0"/>
          </a:p>
        </p:txBody>
      </p:sp>
      <p:sp>
        <p:nvSpPr>
          <p:cNvPr id="9" name="Text 7"/>
          <p:cNvSpPr txBox="1"/>
          <p:nvPr/>
        </p:nvSpPr>
        <p:spPr>
          <a:xfrm>
            <a:off x="6492240" y="2148840"/>
            <a:ext cx="457200" cy="256032"/>
          </a:xfrm>
          <a:prstGeom prst="rect">
            <a:avLst/>
          </a:prstGeom>
          <a:noFill/>
          <a:ln/>
        </p:spPr>
        <p:txBody>
          <a:bodyPr wrap="square" lIns="0" tIns="0" rIns="0" bIns="0" rtlCol="0" anchor="ctr"/>
          <a:lstStyle/>
          <a:p>
            <a:pPr indent="0" marL="0">
              <a:buNone/>
            </a:pPr>
            <a:r>
              <a:rPr lang="en-US" sz="1050" b="1" dirty="0">
                <a:solidFill>
                  <a:srgbClr val="B4513A"/>
                </a:solidFill>
                <a:latin typeface="Calibri" pitchFamily="34" charset="0"/>
                <a:ea typeface="Calibri" pitchFamily="34" charset="-122"/>
                <a:cs typeface="Calibri" pitchFamily="34" charset="-120"/>
              </a:rPr>
              <a:t>02</a:t>
            </a:r>
            <a:endParaRPr lang="en-US" sz="1050" dirty="0"/>
          </a:p>
        </p:txBody>
      </p:sp>
      <p:sp>
        <p:nvSpPr>
          <p:cNvPr id="10" name="Text 8"/>
          <p:cNvSpPr txBox="1"/>
          <p:nvPr/>
        </p:nvSpPr>
        <p:spPr>
          <a:xfrm>
            <a:off x="7040880" y="1984248"/>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3A3A3A"/>
                </a:solidFill>
                <a:latin typeface="Calibri" pitchFamily="34" charset="0"/>
                <a:ea typeface="Calibri" pitchFamily="34" charset="-122"/>
                <a:cs typeface="Calibri" pitchFamily="34" charset="-120"/>
              </a:rPr>
              <a:t>What is the effect of plasticiser content on flexural behaviour?</a:t>
            </a:r>
            <a:endParaRPr lang="en-US" sz="1200" dirty="0"/>
          </a:p>
        </p:txBody>
      </p:sp>
      <p:sp>
        <p:nvSpPr>
          <p:cNvPr id="11" name="Text 9"/>
          <p:cNvSpPr txBox="1"/>
          <p:nvPr/>
        </p:nvSpPr>
        <p:spPr>
          <a:xfrm>
            <a:off x="6492240" y="2898648"/>
            <a:ext cx="457200" cy="256032"/>
          </a:xfrm>
          <a:prstGeom prst="rect">
            <a:avLst/>
          </a:prstGeom>
          <a:noFill/>
          <a:ln/>
        </p:spPr>
        <p:txBody>
          <a:bodyPr wrap="square" lIns="0" tIns="0" rIns="0" bIns="0" rtlCol="0" anchor="ctr"/>
          <a:lstStyle/>
          <a:p>
            <a:pPr indent="0" marL="0">
              <a:buNone/>
            </a:pPr>
            <a:r>
              <a:rPr lang="en-US" sz="1050" b="1" dirty="0">
                <a:solidFill>
                  <a:srgbClr val="B4513A"/>
                </a:solidFill>
                <a:latin typeface="Calibri" pitchFamily="34" charset="0"/>
                <a:ea typeface="Calibri" pitchFamily="34" charset="-122"/>
                <a:cs typeface="Calibri" pitchFamily="34" charset="-120"/>
              </a:rPr>
              <a:t>03</a:t>
            </a:r>
            <a:endParaRPr lang="en-US" sz="1050" dirty="0"/>
          </a:p>
        </p:txBody>
      </p:sp>
      <p:sp>
        <p:nvSpPr>
          <p:cNvPr id="12" name="Text 10"/>
          <p:cNvSpPr txBox="1"/>
          <p:nvPr/>
        </p:nvSpPr>
        <p:spPr>
          <a:xfrm>
            <a:off x="7040880" y="2734056"/>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3A3A3A"/>
                </a:solidFill>
                <a:latin typeface="Calibri" pitchFamily="34" charset="0"/>
                <a:ea typeface="Calibri" pitchFamily="34" charset="-122"/>
                <a:cs typeface="Calibri" pitchFamily="34" charset="-120"/>
              </a:rPr>
              <a:t>How does it compare with conventional interior materials?</a:t>
            </a:r>
            <a:endParaRPr lang="en-US" sz="1200" dirty="0"/>
          </a:p>
        </p:txBody>
      </p:sp>
      <p:sp>
        <p:nvSpPr>
          <p:cNvPr id="13" name="Text 11"/>
          <p:cNvSpPr txBox="1"/>
          <p:nvPr/>
        </p:nvSpPr>
        <p:spPr>
          <a:xfrm>
            <a:off x="6492240" y="3648456"/>
            <a:ext cx="457200" cy="256032"/>
          </a:xfrm>
          <a:prstGeom prst="rect">
            <a:avLst/>
          </a:prstGeom>
          <a:noFill/>
          <a:ln/>
        </p:spPr>
        <p:txBody>
          <a:bodyPr wrap="square" lIns="0" tIns="0" rIns="0" bIns="0" rtlCol="0" anchor="ctr"/>
          <a:lstStyle/>
          <a:p>
            <a:pPr indent="0" marL="0">
              <a:buNone/>
            </a:pPr>
            <a:r>
              <a:rPr lang="en-US" sz="1050" b="1" dirty="0">
                <a:solidFill>
                  <a:srgbClr val="B4513A"/>
                </a:solidFill>
                <a:latin typeface="Calibri" pitchFamily="34" charset="0"/>
                <a:ea typeface="Calibri" pitchFamily="34" charset="-122"/>
                <a:cs typeface="Calibri" pitchFamily="34" charset="-120"/>
              </a:rPr>
              <a:t>04</a:t>
            </a:r>
            <a:endParaRPr lang="en-US" sz="1050" dirty="0"/>
          </a:p>
        </p:txBody>
      </p:sp>
      <p:sp>
        <p:nvSpPr>
          <p:cNvPr id="14" name="Text 12"/>
          <p:cNvSpPr txBox="1"/>
          <p:nvPr/>
        </p:nvSpPr>
        <p:spPr>
          <a:xfrm>
            <a:off x="7040880" y="3483864"/>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3A3A3A"/>
                </a:solidFill>
                <a:latin typeface="Calibri" pitchFamily="34" charset="0"/>
                <a:ea typeface="Calibri" pitchFamily="34" charset="-122"/>
                <a:cs typeface="Calibri" pitchFamily="34" charset="-120"/>
              </a:rPr>
              <a:t>How does it compare with other bio-based composites?</a:t>
            </a:r>
            <a:endParaRPr lang="en-US" sz="1200" dirty="0"/>
          </a:p>
        </p:txBody>
      </p:sp>
      <p:sp>
        <p:nvSpPr>
          <p:cNvPr id="15" name="Text 13"/>
          <p:cNvSpPr txBox="1"/>
          <p:nvPr/>
        </p:nvSpPr>
        <p:spPr>
          <a:xfrm>
            <a:off x="6492240" y="4398264"/>
            <a:ext cx="457200" cy="256032"/>
          </a:xfrm>
          <a:prstGeom prst="rect">
            <a:avLst/>
          </a:prstGeom>
          <a:noFill/>
          <a:ln/>
        </p:spPr>
        <p:txBody>
          <a:bodyPr wrap="square" lIns="0" tIns="0" rIns="0" bIns="0" rtlCol="0" anchor="ctr"/>
          <a:lstStyle/>
          <a:p>
            <a:pPr indent="0" marL="0">
              <a:buNone/>
            </a:pPr>
            <a:r>
              <a:rPr lang="en-US" sz="1050" b="1" dirty="0">
                <a:solidFill>
                  <a:srgbClr val="B4513A"/>
                </a:solidFill>
                <a:latin typeface="Calibri" pitchFamily="34" charset="0"/>
                <a:ea typeface="Calibri" pitchFamily="34" charset="-122"/>
                <a:cs typeface="Calibri" pitchFamily="34" charset="-120"/>
              </a:rPr>
              <a:t>05</a:t>
            </a:r>
            <a:endParaRPr lang="en-US" sz="1050" dirty="0"/>
          </a:p>
        </p:txBody>
      </p:sp>
      <p:sp>
        <p:nvSpPr>
          <p:cNvPr id="16" name="Text 14"/>
          <p:cNvSpPr txBox="1"/>
          <p:nvPr/>
        </p:nvSpPr>
        <p:spPr>
          <a:xfrm>
            <a:off x="7040880" y="4233672"/>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3A3A3A"/>
                </a:solidFill>
                <a:latin typeface="Calibri" pitchFamily="34" charset="0"/>
                <a:ea typeface="Calibri" pitchFamily="34" charset="-122"/>
                <a:cs typeface="Calibri" pitchFamily="34" charset="-120"/>
              </a:rPr>
              <a:t>Is compressive strength the appropriate criterion at all?</a:t>
            </a:r>
            <a:endParaRPr lang="en-US" sz="1200" dirty="0"/>
          </a:p>
        </p:txBody>
      </p:sp>
      <p:sp>
        <p:nvSpPr>
          <p:cNvPr id="18"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PRODUCTION PROTOCOL</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141414"/>
                </a:solidFill>
                <a:latin typeface="Calibri" pitchFamily="34" charset="0"/>
                <a:ea typeface="Calibri" pitchFamily="34" charset="-122"/>
                <a:cs typeface="Calibri" pitchFamily="34" charset="-120"/>
              </a:rPr>
              <a:t>One cook, then eleven days at room temperature.</a:t>
            </a:r>
            <a:endParaRPr lang="en-US" sz="2100" dirty="0"/>
          </a:p>
        </p:txBody>
      </p:sp>
      <p:sp>
        <p:nvSpPr>
          <p:cNvPr id="4" name="Text 2"/>
          <p:cNvSpPr txBox="1"/>
          <p:nvPr/>
        </p:nvSpPr>
        <p:spPr>
          <a:xfrm>
            <a:off x="731520" y="1627632"/>
            <a:ext cx="2331720" cy="384048"/>
          </a:xfrm>
          <a:prstGeom prst="rect">
            <a:avLst/>
          </a:prstGeom>
          <a:noFill/>
          <a:ln/>
        </p:spPr>
        <p:txBody>
          <a:bodyPr wrap="square" lIns="0" tIns="0" rIns="0" bIns="0" rtlCol="0" anchor="b"/>
          <a:lstStyle/>
          <a:p>
            <a:pPr indent="0" marL="0">
              <a:buNone/>
            </a:pPr>
            <a:r>
              <a:rPr lang="en-US" sz="1900" b="1" dirty="0">
                <a:solidFill>
                  <a:srgbClr val="B4513A"/>
                </a:solidFill>
                <a:latin typeface="Calibri" pitchFamily="34" charset="0"/>
                <a:ea typeface="Calibri" pitchFamily="34" charset="-122"/>
                <a:cs typeface="Calibri" pitchFamily="34" charset="-120"/>
              </a:rPr>
              <a:t>120 °C</a:t>
            </a:r>
            <a:endParaRPr lang="en-US" sz="1900" dirty="0"/>
          </a:p>
        </p:txBody>
      </p:sp>
      <p:sp>
        <p:nvSpPr>
          <p:cNvPr id="5" name="Text 3"/>
          <p:cNvSpPr txBox="1"/>
          <p:nvPr/>
        </p:nvSpPr>
        <p:spPr>
          <a:xfrm>
            <a:off x="731520" y="2029968"/>
            <a:ext cx="2331720" cy="237744"/>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20 min</a:t>
            </a:r>
            <a:endParaRPr lang="en-US" sz="950" dirty="0"/>
          </a:p>
        </p:txBody>
      </p:sp>
      <p:sp>
        <p:nvSpPr>
          <p:cNvPr id="6" name="blk0"/>
          <p:cNvSpPr/>
          <p:nvPr/>
        </p:nvSpPr>
        <p:spPr>
          <a:xfrm>
            <a:off x="731520" y="2377440"/>
            <a:ext cx="2331720" cy="566928"/>
          </a:xfrm>
          <a:prstGeom prst="rect">
            <a:avLst/>
          </a:prstGeom>
          <a:solidFill>
            <a:srgbClr val="F6F5F3"/>
          </a:solidFill>
          <a:ln w="12700">
            <a:solidFill>
              <a:srgbClr val="E2E2E2"/>
            </a:solidFill>
            <a:prstDash val="solid"/>
          </a:ln>
        </p:spPr>
      </p:sp>
      <p:sp>
        <p:nvSpPr>
          <p:cNvPr id="7" name="Text 5"/>
          <p:cNvSpPr txBox="1"/>
          <p:nvPr/>
        </p:nvSpPr>
        <p:spPr>
          <a:xfrm>
            <a:off x="896112" y="2487168"/>
            <a:ext cx="365760" cy="237744"/>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01</a:t>
            </a:r>
            <a:endParaRPr lang="en-US" sz="950" dirty="0"/>
          </a:p>
        </p:txBody>
      </p:sp>
      <p:sp>
        <p:nvSpPr>
          <p:cNvPr id="8" name="Text 6"/>
          <p:cNvSpPr txBox="1"/>
          <p:nvPr/>
        </p:nvSpPr>
        <p:spPr>
          <a:xfrm>
            <a:off x="896112" y="2697480"/>
            <a:ext cx="2002536" cy="237744"/>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Mineral fraction</a:t>
            </a:r>
            <a:endParaRPr lang="en-US" sz="1200" dirty="0"/>
          </a:p>
        </p:txBody>
      </p:sp>
      <p:sp>
        <p:nvSpPr>
          <p:cNvPr id="9" name="a0"/>
          <p:cNvSpPr/>
          <p:nvPr/>
        </p:nvSpPr>
        <p:spPr>
          <a:xfrm>
            <a:off x="3154680" y="2578608"/>
            <a:ext cx="274320" cy="182880"/>
          </a:xfrm>
          <a:prstGeom prst="rightArrow">
            <a:avLst/>
          </a:prstGeom>
          <a:solidFill>
            <a:srgbClr val="BFBFBF"/>
          </a:solidFill>
          <a:ln w="12700">
            <a:solidFill>
              <a:srgbClr val="BFBFBF">
                <a:alpha val="0"/>
              </a:srgbClr>
            </a:solidFill>
            <a:prstDash val="solid"/>
          </a:ln>
        </p:spPr>
      </p:sp>
      <p:sp>
        <p:nvSpPr>
          <p:cNvPr id="10" name="Text 8"/>
          <p:cNvSpPr txBox="1"/>
          <p:nvPr/>
        </p:nvSpPr>
        <p:spPr>
          <a:xfrm>
            <a:off x="731520" y="3154680"/>
            <a:ext cx="2331720" cy="173736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Clean of membrane and residue</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Heat-treat: decontamination and drying</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Dry to constant mass</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Mill to homogeneous powder</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Sieve, 150 µm passing fraction</a:t>
            </a:r>
            <a:endParaRPr lang="en-US" sz="1000" dirty="0"/>
          </a:p>
        </p:txBody>
      </p:sp>
      <p:sp>
        <p:nvSpPr>
          <p:cNvPr id="11" name="Text 9"/>
          <p:cNvSpPr txBox="1"/>
          <p:nvPr/>
        </p:nvSpPr>
        <p:spPr>
          <a:xfrm>
            <a:off x="3520440" y="1627632"/>
            <a:ext cx="2331720" cy="384048"/>
          </a:xfrm>
          <a:prstGeom prst="rect">
            <a:avLst/>
          </a:prstGeom>
          <a:noFill/>
          <a:ln/>
        </p:spPr>
        <p:txBody>
          <a:bodyPr wrap="square" lIns="0" tIns="0" rIns="0" bIns="0" rtlCol="0" anchor="b"/>
          <a:lstStyle/>
          <a:p>
            <a:pPr indent="0" marL="0">
              <a:buNone/>
            </a:pPr>
            <a:r>
              <a:rPr lang="en-US" sz="1900" b="1" dirty="0">
                <a:solidFill>
                  <a:srgbClr val="B4513A"/>
                </a:solidFill>
                <a:latin typeface="Calibri" pitchFamily="34" charset="0"/>
                <a:ea typeface="Calibri" pitchFamily="34" charset="-122"/>
                <a:cs typeface="Calibri" pitchFamily="34" charset="-120"/>
              </a:rPr>
              <a:t>95 °C</a:t>
            </a:r>
            <a:endParaRPr lang="en-US" sz="1900" dirty="0"/>
          </a:p>
        </p:txBody>
      </p:sp>
      <p:sp>
        <p:nvSpPr>
          <p:cNvPr id="12" name="Text 10"/>
          <p:cNvSpPr txBox="1"/>
          <p:nvPr/>
        </p:nvSpPr>
        <p:spPr>
          <a:xfrm>
            <a:off x="3520440" y="2029968"/>
            <a:ext cx="2331720" cy="237744"/>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 55 min →</a:t>
            </a:r>
            <a:endParaRPr lang="en-US" sz="950" dirty="0"/>
          </a:p>
        </p:txBody>
      </p:sp>
      <p:sp>
        <p:nvSpPr>
          <p:cNvPr id="13" name="blk1"/>
          <p:cNvSpPr/>
          <p:nvPr/>
        </p:nvSpPr>
        <p:spPr>
          <a:xfrm>
            <a:off x="3520440" y="2377440"/>
            <a:ext cx="2331720" cy="566928"/>
          </a:xfrm>
          <a:prstGeom prst="rect">
            <a:avLst/>
          </a:prstGeom>
          <a:solidFill>
            <a:srgbClr val="F6F5F3"/>
          </a:solidFill>
          <a:ln w="12700">
            <a:solidFill>
              <a:srgbClr val="E2E2E2"/>
            </a:solidFill>
            <a:prstDash val="solid"/>
          </a:ln>
        </p:spPr>
      </p:sp>
      <p:sp>
        <p:nvSpPr>
          <p:cNvPr id="14" name="Text 12"/>
          <p:cNvSpPr txBox="1"/>
          <p:nvPr/>
        </p:nvSpPr>
        <p:spPr>
          <a:xfrm>
            <a:off x="3685032" y="2487168"/>
            <a:ext cx="365760" cy="237744"/>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02</a:t>
            </a:r>
            <a:endParaRPr lang="en-US" sz="950" dirty="0"/>
          </a:p>
        </p:txBody>
      </p:sp>
      <p:sp>
        <p:nvSpPr>
          <p:cNvPr id="15" name="Text 13"/>
          <p:cNvSpPr txBox="1"/>
          <p:nvPr/>
        </p:nvSpPr>
        <p:spPr>
          <a:xfrm>
            <a:off x="3685032" y="2697480"/>
            <a:ext cx="2002536" cy="237744"/>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Binder phase</a:t>
            </a:r>
            <a:endParaRPr lang="en-US" sz="1200" dirty="0"/>
          </a:p>
        </p:txBody>
      </p:sp>
      <p:sp>
        <p:nvSpPr>
          <p:cNvPr id="16" name="a1"/>
          <p:cNvSpPr/>
          <p:nvPr/>
        </p:nvSpPr>
        <p:spPr>
          <a:xfrm>
            <a:off x="5943600" y="2578608"/>
            <a:ext cx="274320" cy="182880"/>
          </a:xfrm>
          <a:prstGeom prst="rightArrow">
            <a:avLst/>
          </a:prstGeom>
          <a:solidFill>
            <a:srgbClr val="BFBFBF"/>
          </a:solidFill>
          <a:ln w="12700">
            <a:solidFill>
              <a:srgbClr val="BFBFBF">
                <a:alpha val="0"/>
              </a:srgbClr>
            </a:solidFill>
            <a:prstDash val="solid"/>
          </a:ln>
        </p:spPr>
      </p:sp>
      <p:sp>
        <p:nvSpPr>
          <p:cNvPr id="17" name="Text 15"/>
          <p:cNvSpPr txBox="1"/>
          <p:nvPr/>
        </p:nvSpPr>
        <p:spPr>
          <a:xfrm>
            <a:off x="3520440" y="3154680"/>
            <a:ext cx="2331720" cy="173736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Water and glycerol pre-mixed</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Agar added incrementally, stirred</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Held until fully in solution</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Bulk addition forms agglomerates</a:t>
            </a:r>
            <a:endParaRPr lang="en-US" sz="1000" dirty="0"/>
          </a:p>
        </p:txBody>
      </p:sp>
      <p:sp>
        <p:nvSpPr>
          <p:cNvPr id="18" name="Text 16"/>
          <p:cNvSpPr txBox="1"/>
          <p:nvPr/>
        </p:nvSpPr>
        <p:spPr>
          <a:xfrm>
            <a:off x="6309360" y="1627632"/>
            <a:ext cx="2331720" cy="384048"/>
          </a:xfrm>
          <a:prstGeom prst="rect">
            <a:avLst/>
          </a:prstGeom>
          <a:noFill/>
          <a:ln/>
        </p:spPr>
        <p:txBody>
          <a:bodyPr wrap="square" lIns="0" tIns="0" rIns="0" bIns="0" rtlCol="0" anchor="b"/>
          <a:lstStyle/>
          <a:p>
            <a:pPr indent="0" marL="0">
              <a:buNone/>
            </a:pPr>
            <a:r>
              <a:rPr lang="en-US" sz="1900" b="1" dirty="0">
                <a:solidFill>
                  <a:srgbClr val="B4513A"/>
                </a:solidFill>
                <a:latin typeface="Calibri" pitchFamily="34" charset="0"/>
                <a:ea typeface="Calibri" pitchFamily="34" charset="-122"/>
                <a:cs typeface="Calibri" pitchFamily="34" charset="-120"/>
              </a:rPr>
              <a:t>80 °C</a:t>
            </a:r>
            <a:endParaRPr lang="en-US" sz="1900" dirty="0"/>
          </a:p>
        </p:txBody>
      </p:sp>
      <p:sp>
        <p:nvSpPr>
          <p:cNvPr id="19" name="blk2"/>
          <p:cNvSpPr/>
          <p:nvPr/>
        </p:nvSpPr>
        <p:spPr>
          <a:xfrm>
            <a:off x="6309360" y="2377440"/>
            <a:ext cx="2331720" cy="566928"/>
          </a:xfrm>
          <a:prstGeom prst="rect">
            <a:avLst/>
          </a:prstGeom>
          <a:solidFill>
            <a:srgbClr val="F6F5F3"/>
          </a:solidFill>
          <a:ln w="12700">
            <a:solidFill>
              <a:srgbClr val="E2E2E2"/>
            </a:solidFill>
            <a:prstDash val="solid"/>
          </a:ln>
        </p:spPr>
      </p:sp>
      <p:sp>
        <p:nvSpPr>
          <p:cNvPr id="20" name="Text 18"/>
          <p:cNvSpPr txBox="1"/>
          <p:nvPr/>
        </p:nvSpPr>
        <p:spPr>
          <a:xfrm>
            <a:off x="6473952" y="2487168"/>
            <a:ext cx="365760" cy="237744"/>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03</a:t>
            </a:r>
            <a:endParaRPr lang="en-US" sz="950" dirty="0"/>
          </a:p>
        </p:txBody>
      </p:sp>
      <p:sp>
        <p:nvSpPr>
          <p:cNvPr id="21" name="Text 19"/>
          <p:cNvSpPr txBox="1"/>
          <p:nvPr/>
        </p:nvSpPr>
        <p:spPr>
          <a:xfrm>
            <a:off x="6473952" y="2697480"/>
            <a:ext cx="2002536" cy="237744"/>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Compositing</a:t>
            </a:r>
            <a:endParaRPr lang="en-US" sz="1200" dirty="0"/>
          </a:p>
        </p:txBody>
      </p:sp>
      <p:sp>
        <p:nvSpPr>
          <p:cNvPr id="22" name="a2"/>
          <p:cNvSpPr/>
          <p:nvPr/>
        </p:nvSpPr>
        <p:spPr>
          <a:xfrm>
            <a:off x="8732520" y="2578608"/>
            <a:ext cx="274320" cy="182880"/>
          </a:xfrm>
          <a:prstGeom prst="rightArrow">
            <a:avLst/>
          </a:prstGeom>
          <a:solidFill>
            <a:srgbClr val="BFBFBF"/>
          </a:solidFill>
          <a:ln w="12700">
            <a:solidFill>
              <a:srgbClr val="BFBFBF">
                <a:alpha val="0"/>
              </a:srgbClr>
            </a:solidFill>
            <a:prstDash val="solid"/>
          </a:ln>
        </p:spPr>
      </p:sp>
      <p:sp>
        <p:nvSpPr>
          <p:cNvPr id="23" name="Text 21"/>
          <p:cNvSpPr txBox="1"/>
          <p:nvPr/>
        </p:nvSpPr>
        <p:spPr>
          <a:xfrm>
            <a:off x="6309360" y="3154680"/>
            <a:ext cx="2331720" cy="173736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Temperature reduced, stirring kept</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Viscosity develops</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Shell fraction added incrementally</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Earlier addition lets it sediment</a:t>
            </a:r>
            <a:endParaRPr lang="en-US" sz="1000" dirty="0"/>
          </a:p>
        </p:txBody>
      </p:sp>
      <p:sp>
        <p:nvSpPr>
          <p:cNvPr id="24" name="Text 22"/>
          <p:cNvSpPr txBox="1"/>
          <p:nvPr/>
        </p:nvSpPr>
        <p:spPr>
          <a:xfrm>
            <a:off x="9098280" y="1627632"/>
            <a:ext cx="2331720" cy="384048"/>
          </a:xfrm>
          <a:prstGeom prst="rect">
            <a:avLst/>
          </a:prstGeom>
          <a:noFill/>
          <a:ln/>
        </p:spPr>
        <p:txBody>
          <a:bodyPr wrap="square" lIns="0" tIns="0" rIns="0" bIns="0" rtlCol="0" anchor="b"/>
          <a:lstStyle/>
          <a:p>
            <a:pPr indent="0" marL="0">
              <a:buNone/>
            </a:pPr>
            <a:r>
              <a:rPr lang="en-US" sz="1900" b="1" dirty="0">
                <a:solidFill>
                  <a:srgbClr val="B4513A"/>
                </a:solidFill>
                <a:latin typeface="Calibri" pitchFamily="34" charset="0"/>
                <a:ea typeface="Calibri" pitchFamily="34" charset="-122"/>
                <a:cs typeface="Calibri" pitchFamily="34" charset="-120"/>
              </a:rPr>
              <a:t>23 °C</a:t>
            </a:r>
            <a:endParaRPr lang="en-US" sz="1900" dirty="0"/>
          </a:p>
        </p:txBody>
      </p:sp>
      <p:sp>
        <p:nvSpPr>
          <p:cNvPr id="25" name="Text 23"/>
          <p:cNvSpPr txBox="1"/>
          <p:nvPr/>
        </p:nvSpPr>
        <p:spPr>
          <a:xfrm>
            <a:off x="9098280" y="2029968"/>
            <a:ext cx="2331720" cy="237744"/>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11 days</a:t>
            </a:r>
            <a:endParaRPr lang="en-US" sz="950" dirty="0"/>
          </a:p>
        </p:txBody>
      </p:sp>
      <p:sp>
        <p:nvSpPr>
          <p:cNvPr id="26" name="blk3"/>
          <p:cNvSpPr/>
          <p:nvPr/>
        </p:nvSpPr>
        <p:spPr>
          <a:xfrm>
            <a:off x="9098280" y="2377440"/>
            <a:ext cx="2331720" cy="566928"/>
          </a:xfrm>
          <a:prstGeom prst="rect">
            <a:avLst/>
          </a:prstGeom>
          <a:solidFill>
            <a:srgbClr val="FFFFFF"/>
          </a:solidFill>
          <a:ln w="12700">
            <a:solidFill>
              <a:srgbClr val="141414"/>
            </a:solidFill>
            <a:prstDash val="solid"/>
          </a:ln>
        </p:spPr>
      </p:sp>
      <p:sp>
        <p:nvSpPr>
          <p:cNvPr id="27" name="Text 25"/>
          <p:cNvSpPr txBox="1"/>
          <p:nvPr/>
        </p:nvSpPr>
        <p:spPr>
          <a:xfrm>
            <a:off x="9262872" y="2487168"/>
            <a:ext cx="365760" cy="237744"/>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04</a:t>
            </a:r>
            <a:endParaRPr lang="en-US" sz="950" dirty="0"/>
          </a:p>
        </p:txBody>
      </p:sp>
      <p:sp>
        <p:nvSpPr>
          <p:cNvPr id="28" name="Text 26"/>
          <p:cNvSpPr txBox="1"/>
          <p:nvPr/>
        </p:nvSpPr>
        <p:spPr>
          <a:xfrm>
            <a:off x="9262872" y="2697480"/>
            <a:ext cx="2002536" cy="237744"/>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Casting and cure</a:t>
            </a:r>
            <a:endParaRPr lang="en-US" sz="1200" dirty="0"/>
          </a:p>
        </p:txBody>
      </p:sp>
      <p:sp>
        <p:nvSpPr>
          <p:cNvPr id="29" name="Text 27"/>
          <p:cNvSpPr txBox="1"/>
          <p:nvPr/>
        </p:nvSpPr>
        <p:spPr>
          <a:xfrm>
            <a:off x="9098280" y="3154680"/>
            <a:ext cx="2331720" cy="173736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Silicone moulds, no parting agent</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Four days in mould</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Demoulded, seven days ambient</a:t>
            </a:r>
            <a:endParaRPr lang="en-US" sz="1000" dirty="0"/>
          </a:p>
          <a:p>
            <a:pPr marL="342900" indent="-342900">
              <a:lnSpc>
                <a:spcPts val="1500"/>
              </a:lnSpc>
              <a:spcAft>
                <a:spcPts val="600"/>
              </a:spcAft>
              <a:buSzPct val="100000"/>
              <a:buChar char="–"/>
            </a:pPr>
            <a:r>
              <a:rPr lang="en-US" sz="1000" dirty="0">
                <a:solidFill>
                  <a:srgbClr val="3A3A3A"/>
                </a:solidFill>
                <a:latin typeface="Calibri" pitchFamily="34" charset="0"/>
                <a:ea typeface="Calibri" pitchFamily="34" charset="-122"/>
                <a:cs typeface="Calibri" pitchFamily="34" charset="-120"/>
              </a:rPr>
              <a:t>No oven at any stage</a:t>
            </a:r>
            <a:endParaRPr lang="en-US" sz="1000" dirty="0"/>
          </a:p>
        </p:txBody>
      </p:sp>
      <p:sp>
        <p:nvSpPr>
          <p:cNvPr id="30" name="axis"/>
          <p:cNvSpPr/>
          <p:nvPr/>
        </p:nvSpPr>
        <p:spPr>
          <a:xfrm>
            <a:off x="731520" y="1517904"/>
            <a:ext cx="10698480" cy="18288"/>
          </a:xfrm>
          <a:prstGeom prst="rect">
            <a:avLst/>
          </a:prstGeom>
          <a:solidFill>
            <a:srgbClr val="E2E2E2"/>
          </a:solidFill>
          <a:ln w="12700">
            <a:solidFill>
              <a:srgbClr val="E2E2E2">
                <a:alpha val="0"/>
              </a:srgbClr>
            </a:solidFill>
            <a:prstDash val="solid"/>
          </a:ln>
        </p:spPr>
      </p:sp>
      <p:pic>
        <p:nvPicPr>
          <p:cNvPr id="31" name="proc" descr="/home/user/sanat-ve-mekan/konferans-bildirisi/03-gorseller/03-uretim-sureci.jpeg">    </p:cNvPr>
          <p:cNvPicPr>
            <a:picLocks noChangeAspect="1"/>
          </p:cNvPicPr>
          <p:nvPr/>
        </p:nvPicPr>
        <p:blipFill>
          <a:blip r:embed="rId1"/>
          <a:stretch>
            <a:fillRect/>
          </a:stretch>
        </p:blipFill>
        <p:spPr>
          <a:xfrm>
            <a:off x="731520" y="5074920"/>
            <a:ext cx="3291840" cy="1051560"/>
          </a:xfrm>
          <a:prstGeom prst="rect">
            <a:avLst/>
          </a:prstGeom>
        </p:spPr>
      </p:pic>
      <p:sp>
        <p:nvSpPr>
          <p:cNvPr id="32" name="Text 29"/>
          <p:cNvSpPr txBox="1"/>
          <p:nvPr/>
        </p:nvSpPr>
        <p:spPr>
          <a:xfrm>
            <a:off x="4343400" y="5074920"/>
            <a:ext cx="708660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DISCLOSURE — DIMENSIONAL LOSS</a:t>
            </a:r>
            <a:endParaRPr lang="en-US" sz="850" dirty="0"/>
          </a:p>
        </p:txBody>
      </p:sp>
      <p:sp>
        <p:nvSpPr>
          <p:cNvPr id="33" name="Text 30"/>
          <p:cNvSpPr txBox="1"/>
          <p:nvPr/>
        </p:nvSpPr>
        <p:spPr>
          <a:xfrm>
            <a:off x="4343400" y="5349240"/>
            <a:ext cx="7086600" cy="8229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The composite shrinks appreciably as water evaporates. Cross-sections were measured at test time, but post-drying dimensions were not logged, so dimensions quoted here are mould dimensions. Stirring was manual: shear rate and mixing energy are not controlled quantities.</a:t>
            </a:r>
            <a:endParaRPr lang="en-US" sz="1050" dirty="0"/>
          </a:p>
        </p:txBody>
      </p:sp>
      <p:sp>
        <p:nvSpPr>
          <p:cNvPr id="35"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CONSTITUENTS AND FORMULATIONS</a:t>
            </a:r>
            <a:endParaRPr lang="en-US" sz="900" dirty="0"/>
          </a:p>
        </p:txBody>
      </p:sp>
      <p:sp>
        <p:nvSpPr>
          <p:cNvPr id="3" name="Text 1"/>
          <p:cNvSpPr txBox="1"/>
          <p:nvPr/>
        </p:nvSpPr>
        <p:spPr>
          <a:xfrm>
            <a:off x="731520" y="914400"/>
            <a:ext cx="1069848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WHAT EACH COMPONENT DOES</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1920240"/>
                <a:gridCol w="1554480"/>
                <a:gridCol w="3291840"/>
                <a:gridCol w="3931920"/>
              </a:tblGrid>
              <a:tr h="34747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Constituent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Origin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Function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Relevant property</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47472">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Eggshell powder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Food waste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Mineral filler; carries load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94% CaCO₃; porous structure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Agar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Red seaweed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Continuous binding phase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Thermoreversible gel</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Glycerol</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Vegetable oil</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Plasticiser; sets ductility</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Humectant; low vapour pressure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Water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Carrier; sets solids packing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Fully evaporated on drying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Shellac</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Kerria lacca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Hydrophobic surface finish</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Biodegradable film-former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 y="3337560"/>
            <a:ext cx="10698480" cy="347472"/>
          </a:xfrm>
          <a:prstGeom prst="rect">
            <a:avLst/>
          </a:prstGeom>
          <a:noFill/>
          <a:ln/>
        </p:spPr>
        <p:txBody>
          <a:bodyPr wrap="square" lIns="0" tIns="0" rIns="0" bIns="0" rtlCol="0" anchor="ctr"/>
          <a:lstStyle/>
          <a:p>
            <a:pPr indent="0" marL="0">
              <a:buNone/>
            </a:pPr>
            <a:r>
              <a:rPr lang="en-US" sz="1300" b="1" dirty="0">
                <a:solidFill>
                  <a:srgbClr val="B4513A"/>
                </a:solidFill>
                <a:latin typeface="Calibri" pitchFamily="34" charset="0"/>
                <a:ea typeface="Calibri" pitchFamily="34" charset="-122"/>
                <a:cs typeface="Calibri" pitchFamily="34" charset="-120"/>
              </a:rPr>
              <a:t>Water is not a component of the finished material. It is the process variable that sets how densely the solids pack.</a:t>
            </a:r>
            <a:endParaRPr lang="en-US" sz="1300" dirty="0"/>
          </a:p>
        </p:txBody>
      </p:sp>
      <p:sp>
        <p:nvSpPr>
          <p:cNvPr id="6" name="Text 3"/>
          <p:cNvSpPr txBox="1"/>
          <p:nvPr/>
        </p:nvSpPr>
        <p:spPr>
          <a:xfrm>
            <a:off x="731520" y="3886200"/>
            <a:ext cx="1069848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FORMULATION MATRIX</a:t>
            </a:r>
            <a:endParaRPr lang="en-US" sz="8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731520" y="4160520"/>
          <a:ext cx="10698480" cy="914400"/>
        </p:xfrm>
        <a:graphic>
          <a:graphicData uri="http://schemas.openxmlformats.org/drawingml/2006/table">
            <a:tbl>
              <a:tblPr/>
              <a:tblGrid>
                <a:gridCol w="640080"/>
                <a:gridCol w="1645920"/>
                <a:gridCol w="868680"/>
                <a:gridCol w="822960"/>
                <a:gridCol w="777240"/>
                <a:gridCol w="1097280"/>
                <a:gridCol w="868680"/>
                <a:gridCol w="1371600"/>
                <a:gridCol w="1371600"/>
                <a:gridCol w="1234440"/>
              </a:tblGrid>
              <a:tr h="329184">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Water 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Agar 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g</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 binder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29184">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A3A3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A3A3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110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165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A3A3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6.1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320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1.46</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0.71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480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290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31520" y="5897880"/>
            <a:ext cx="5120640" cy="4572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Shell : binder is held at exactly 2.00 across the compression series. The only variable is solids concentration.</a:t>
            </a:r>
            <a:endParaRPr lang="en-US" sz="1050" dirty="0"/>
          </a:p>
        </p:txBody>
      </p:sp>
      <p:sp>
        <p:nvSpPr>
          <p:cNvPr id="9" name="Text 5"/>
          <p:cNvSpPr txBox="1"/>
          <p:nvPr/>
        </p:nvSpPr>
        <p:spPr>
          <a:xfrm>
            <a:off x="6492240" y="5897880"/>
            <a:ext cx="4937760" cy="4572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Glycerol was halved at fixed batch mass, so water rose with it: the plasticiser effect is not isolated.</a:t>
            </a:r>
            <a:endParaRPr lang="en-US" sz="1050" dirty="0"/>
          </a:p>
        </p:txBody>
      </p:sp>
      <p:sp>
        <p:nvSpPr>
          <p:cNvPr id="11"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TEST PROGRAMME</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960120"/>
          <a:ext cx="10698480" cy="914400"/>
        </p:xfrm>
        <a:graphic>
          <a:graphicData uri="http://schemas.openxmlformats.org/drawingml/2006/table">
            <a:tbl>
              <a:tblPr/>
              <a:tblGrid>
                <a:gridCol w="2286000"/>
                <a:gridCol w="2103120"/>
                <a:gridCol w="3200400"/>
                <a:gridCol w="1005840"/>
                <a:gridCol w="2103120"/>
              </a:tblGrid>
              <a:tr h="402336">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Property</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Specimen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Measured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40233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Compressive behaviour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Cube 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50 mm cube moulds</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 per mix</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Max load; compressive stress</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40233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Flexural behaviour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ASTM D790-17</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180 × 60 × 20 mm, 120 mm span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 per mix</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Flexural strength; modulus</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40233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Reaction to fire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ISO 11925-2:2020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40 × 50 mm, 45°, 15 s edge flame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Time to ignition; to extinguish</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40233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Water absorption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ASTM D570-98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40 × 50 mm, shellac-coated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Mass gain, 24 h immersion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40233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Bulk density</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Gravimetric</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50 mm cube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Mass / mould volume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3520440"/>
            <a:ext cx="1069848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REPORTING CONVENTION</a:t>
            </a:r>
            <a:endParaRPr lang="en-US" sz="850" dirty="0"/>
          </a:p>
        </p:txBody>
      </p:sp>
      <p:sp>
        <p:nvSpPr>
          <p:cNvPr id="5" name="Text 2"/>
          <p:cNvSpPr txBox="1"/>
          <p:nvPr/>
        </p:nvSpPr>
        <p:spPr>
          <a:xfrm>
            <a:off x="731520" y="3794760"/>
            <a:ext cx="10698480" cy="822960"/>
          </a:xfrm>
          <a:prstGeom prst="rect">
            <a:avLst/>
          </a:prstGeom>
          <a:noFill/>
          <a:ln/>
        </p:spPr>
        <p:txBody>
          <a:bodyPr wrap="square" lIns="0" tIns="0" rIns="0" bIns="0" rtlCol="0" anchor="t"/>
          <a:lstStyle/>
          <a:p>
            <a:pPr indent="0" marL="0">
              <a:lnSpc>
                <a:spcPts val="1850"/>
              </a:lnSpc>
              <a:buNone/>
            </a:pPr>
            <a:r>
              <a:rPr lang="en-US" sz="1250" dirty="0">
                <a:solidFill>
                  <a:srgbClr val="3A3A3A"/>
                </a:solidFill>
                <a:latin typeface="Calibri" pitchFamily="34" charset="0"/>
                <a:ea typeface="Calibri" pitchFamily="34" charset="-122"/>
                <a:cs typeface="Calibri" pitchFamily="34" charset="-120"/>
              </a:rPr>
              <a:t>Mechanical values are means of three specimens; individual specimen values were not retained, so standard deviations cannot be reported. Fire, absorption and density rest on single determinations and are indicative, not characteristic, values.</a:t>
            </a:r>
            <a:endParaRPr lang="en-US" sz="1250" dirty="0"/>
          </a:p>
        </p:txBody>
      </p:sp>
      <p:sp>
        <p:nvSpPr>
          <p:cNvPr id="6" name="Text 3"/>
          <p:cNvSpPr txBox="1"/>
          <p:nvPr/>
        </p:nvSpPr>
        <p:spPr>
          <a:xfrm>
            <a:off x="731520" y="4846320"/>
            <a:ext cx="1069848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All testing: Advanced Construction Materials Research Laboratory, Hacettepe University.</a:t>
            </a:r>
            <a:endParaRPr lang="en-US" sz="900" dirty="0"/>
          </a:p>
        </p:txBody>
      </p:sp>
      <p:sp>
        <p:nvSpPr>
          <p:cNvPr id="8"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COMPRESSION</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141414"/>
                </a:solidFill>
                <a:latin typeface="Calibri" pitchFamily="34" charset="0"/>
                <a:ea typeface="Calibri" pitchFamily="34" charset="-122"/>
                <a:cs typeface="Calibri" pitchFamily="34" charset="-120"/>
              </a:rPr>
              <a:t>Strength is set by packing density, not mineral content.</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1520" y="1783080"/>
          <a:ext cx="4389120" cy="914400"/>
        </p:xfrm>
        <a:graphic>
          <a:graphicData uri="http://schemas.openxmlformats.org/drawingml/2006/table">
            <a:tbl>
              <a:tblPr/>
              <a:tblGrid>
                <a:gridCol w="685800"/>
                <a:gridCol w="1508760"/>
                <a:gridCol w="1097280"/>
                <a:gridCol w="1097280"/>
              </a:tblGrid>
              <a:tr h="36576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kN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65760">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3.89</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2.55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4.30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6.80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 y="3383280"/>
            <a:ext cx="438912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OBSERVED RELATIONSHIP</a:t>
            </a:r>
            <a:endParaRPr lang="en-US" sz="850" dirty="0"/>
          </a:p>
        </p:txBody>
      </p:sp>
      <p:sp>
        <p:nvSpPr>
          <p:cNvPr id="6" name="Text 3"/>
          <p:cNvSpPr txBox="1"/>
          <p:nvPr/>
        </p:nvSpPr>
        <p:spPr>
          <a:xfrm>
            <a:off x="731520" y="3657600"/>
            <a:ext cx="4389120" cy="365760"/>
          </a:xfrm>
          <a:prstGeom prst="rect">
            <a:avLst/>
          </a:prstGeom>
          <a:noFill/>
          <a:ln/>
        </p:spPr>
        <p:txBody>
          <a:bodyPr wrap="square" lIns="0" tIns="0" rIns="0" bIns="0" rtlCol="0" anchor="ctr"/>
          <a:lstStyle/>
          <a:p>
            <a:pPr indent="0" marL="0">
              <a:buNone/>
            </a:pPr>
            <a:r>
              <a:rPr lang="en-US" sz="1500" b="1" dirty="0">
                <a:solidFill>
                  <a:srgbClr val="141414"/>
                </a:solidFill>
                <a:latin typeface="Calibri" pitchFamily="34" charset="0"/>
                <a:ea typeface="Calibri" pitchFamily="34" charset="-122"/>
                <a:cs typeface="Calibri" pitchFamily="34" charset="-120"/>
              </a:rPr>
              <a:t>σᴄ = 6.93 · (solids : water) + 0.04</a:t>
            </a:r>
            <a:endParaRPr lang="en-US" sz="1500" dirty="0"/>
          </a:p>
        </p:txBody>
      </p:sp>
      <p:sp>
        <p:nvSpPr>
          <p:cNvPr id="7" name="Text 4"/>
          <p:cNvSpPr txBox="1"/>
          <p:nvPr/>
        </p:nvSpPr>
        <p:spPr>
          <a:xfrm>
            <a:off x="731520" y="4041648"/>
            <a:ext cx="4389120" cy="256032"/>
          </a:xfrm>
          <a:prstGeom prst="rect">
            <a:avLst/>
          </a:prstGeom>
          <a:noFill/>
          <a:ln/>
        </p:spPr>
        <p:txBody>
          <a:bodyPr wrap="square" lIns="0" tIns="0" rIns="0" bIns="0" rtlCol="0" anchor="ctr"/>
          <a:lstStyle/>
          <a:p>
            <a:pPr indent="0" marL="0">
              <a:buNone/>
            </a:pPr>
            <a:r>
              <a:rPr lang="en-US" sz="1100" dirty="0">
                <a:solidFill>
                  <a:srgbClr val="B4513A"/>
                </a:solidFill>
                <a:latin typeface="Calibri" pitchFamily="34" charset="0"/>
                <a:ea typeface="Calibri" pitchFamily="34" charset="-122"/>
                <a:cs typeface="Calibri" pitchFamily="34" charset="-120"/>
              </a:rPr>
              <a:t>R² = 0.994  over 0.37 – 0.59</a:t>
            </a:r>
            <a:endParaRPr lang="en-US" sz="1100" dirty="0"/>
          </a:p>
        </p:txBody>
      </p:sp>
      <p:sp>
        <p:nvSpPr>
          <p:cNvPr id="8" name="Text 5"/>
          <p:cNvSpPr txBox="1"/>
          <p:nvPr/>
        </p:nvSpPr>
        <p:spPr>
          <a:xfrm>
            <a:off x="731520" y="4434840"/>
            <a:ext cx="4389120" cy="12801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With shell : binder fixed, compressive stress is linear in solids concentration across the range tested. Three formulations cannot establish a law — but the reading is testable: remove water rather than add shell.</a:t>
            </a:r>
            <a:endParaRPr lang="en-US" sz="1050" dirty="0"/>
          </a:p>
        </p:txBody>
      </p:sp>
      <p:graphicFrame>
        <p:nvGraphicFramePr>
          <p:cNvPr id="9" name="cc" descr=""/>
          <p:cNvGraphicFramePr/>
          <p:nvPr/>
        </p:nvGraphicFramePr>
        <p:xfrm>
          <a:off x="557784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11"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FAILURE MODE</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141414"/>
                </a:solidFill>
                <a:latin typeface="Calibri" pitchFamily="34" charset="0"/>
                <a:ea typeface="Calibri" pitchFamily="34" charset="-122"/>
                <a:cs typeface="Calibri" pitchFamily="34" charset="-120"/>
              </a:rPr>
              <a:t>It crushes progressively. It does not fracture.</a:t>
            </a:r>
            <a:endParaRPr lang="en-US" sz="2100" dirty="0"/>
          </a:p>
        </p:txBody>
      </p:sp>
      <p:pic>
        <p:nvPicPr>
          <p:cNvPr id="4" name="cube" descr="/home/user/sanat-ve-mekan/konferans-bildirisi/03-gorseller/04-basma-ficilasmis-kup.jpeg">    </p:cNvPr>
          <p:cNvPicPr>
            <a:picLocks noChangeAspect="1"/>
          </p:cNvPicPr>
          <p:nvPr/>
        </p:nvPicPr>
        <p:blipFill>
          <a:blip r:embed="rId1"/>
          <a:stretch>
            <a:fillRect/>
          </a:stretch>
        </p:blipFill>
        <p:spPr>
          <a:xfrm>
            <a:off x="731520" y="1783080"/>
            <a:ext cx="1691640" cy="3657600"/>
          </a:xfrm>
          <a:prstGeom prst="rect">
            <a:avLst/>
          </a:prstGeom>
        </p:spPr>
      </p:pic>
      <p:sp>
        <p:nvSpPr>
          <p:cNvPr id="5" name="Text 2"/>
          <p:cNvSpPr txBox="1"/>
          <p:nvPr/>
        </p:nvSpPr>
        <p:spPr>
          <a:xfrm>
            <a:off x="731520" y="5532120"/>
            <a:ext cx="201168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C3 after loading: barrelled, shortened, intact</a:t>
            </a:r>
            <a:endParaRPr lang="en-US" sz="900" dirty="0"/>
          </a:p>
        </p:txBody>
      </p:sp>
      <p:sp>
        <p:nvSpPr>
          <p:cNvPr id="6" name="Text 3"/>
          <p:cNvSpPr txBox="1"/>
          <p:nvPr/>
        </p:nvSpPr>
        <p:spPr>
          <a:xfrm>
            <a:off x="2880360" y="1783080"/>
            <a:ext cx="466344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COMPRESSIVE STRESS – STRAIN, C3</a:t>
            </a:r>
            <a:endParaRPr lang="en-US" sz="850" dirty="0"/>
          </a:p>
        </p:txBody>
      </p:sp>
      <p:pic>
        <p:nvPicPr>
          <p:cNvPr id="7" name="curve" descr="/home/user/sanat-ve-mekan/konferans-bildirisi/03-gorseller/05b-basma-egrisi.png">    </p:cNvPr>
          <p:cNvPicPr>
            <a:picLocks noChangeAspect="1"/>
          </p:cNvPicPr>
          <p:nvPr/>
        </p:nvPicPr>
        <p:blipFill>
          <a:blip r:embed="rId2"/>
          <a:stretch>
            <a:fillRect/>
          </a:stretch>
        </p:blipFill>
        <p:spPr>
          <a:xfrm>
            <a:off x="2880360" y="2057400"/>
            <a:ext cx="4663440" cy="2606040"/>
          </a:xfrm>
          <a:prstGeom prst="rect">
            <a:avLst/>
          </a:prstGeom>
        </p:spPr>
      </p:pic>
      <p:sp>
        <p:nvSpPr>
          <p:cNvPr id="8" name="Text 4"/>
          <p:cNvSpPr txBox="1"/>
          <p:nvPr/>
        </p:nvSpPr>
        <p:spPr>
          <a:xfrm>
            <a:off x="2286000" y="2926080"/>
            <a:ext cx="1188720" cy="274320"/>
          </a:xfrm>
          <a:prstGeom prst="rect">
            <a:avLst/>
          </a:prstGeom>
          <a:noFill/>
          <a:ln/>
        </p:spPr>
        <p:txBody>
          <a:bodyPr wrap="square" lIns="0" tIns="0" rIns="0" bIns="0" rtlCol="0" anchor="t"/>
          <a:lstStyle/>
          <a:p>
            <a:pPr indent="0" marL="0">
              <a:lnSpc>
                <a:spcPts val="1450"/>
              </a:lnSpc>
              <a:buNone/>
            </a:pPr>
            <a:r>
              <a:rPr lang="en-US" sz="950" dirty="0">
                <a:solidFill>
                  <a:srgbClr val="8C8C8C"/>
                </a:solidFill>
                <a:latin typeface="Calibri" pitchFamily="34" charset="0"/>
                <a:ea typeface="Calibri" pitchFamily="34" charset="-122"/>
                <a:cs typeface="Calibri" pitchFamily="34" charset="-120"/>
              </a:rPr>
              <a:t>Stress (MPa)</a:t>
            </a:r>
            <a:endParaRPr lang="en-US" sz="950" dirty="0"/>
          </a:p>
        </p:txBody>
      </p:sp>
      <p:sp>
        <p:nvSpPr>
          <p:cNvPr id="9" name="Text 5"/>
          <p:cNvSpPr txBox="1"/>
          <p:nvPr/>
        </p:nvSpPr>
        <p:spPr>
          <a:xfrm>
            <a:off x="2880360" y="4681728"/>
            <a:ext cx="4663440" cy="274320"/>
          </a:xfrm>
          <a:prstGeom prst="rect">
            <a:avLst/>
          </a:prstGeom>
          <a:noFill/>
          <a:ln/>
        </p:spPr>
        <p:txBody>
          <a:bodyPr wrap="square" lIns="0" tIns="0" rIns="0" bIns="0" rtlCol="0" anchor="t"/>
          <a:lstStyle/>
          <a:p>
            <a:pPr indent="0" marL="0">
              <a:lnSpc>
                <a:spcPts val="1450"/>
              </a:lnSpc>
              <a:buNone/>
            </a:pPr>
            <a:r>
              <a:rPr lang="en-US" sz="950" dirty="0">
                <a:solidFill>
                  <a:srgbClr val="8C8C8C"/>
                </a:solidFill>
                <a:latin typeface="Calibri" pitchFamily="34" charset="0"/>
                <a:ea typeface="Calibri" pitchFamily="34" charset="-122"/>
                <a:cs typeface="Calibri" pitchFamily="34" charset="-120"/>
              </a:rPr>
              <a:t>Strain</a:t>
            </a:r>
            <a:endParaRPr lang="en-US" sz="950" dirty="0"/>
          </a:p>
        </p:txBody>
      </p:sp>
      <p:sp>
        <p:nvSpPr>
          <p:cNvPr id="10" name="Text 6"/>
          <p:cNvSpPr txBox="1"/>
          <p:nvPr/>
        </p:nvSpPr>
        <p:spPr>
          <a:xfrm>
            <a:off x="2880360" y="5074920"/>
            <a:ext cx="4663440" cy="292608"/>
          </a:xfrm>
          <a:prstGeom prst="rect">
            <a:avLst/>
          </a:prstGeom>
          <a:noFill/>
          <a:ln/>
        </p:spPr>
        <p:txBody>
          <a:bodyPr wrap="square" lIns="0" tIns="0" rIns="0" bIns="0" rtlCol="0" anchor="ctr"/>
          <a:lstStyle/>
          <a:p>
            <a:pPr indent="0" marL="0">
              <a:buNone/>
            </a:pPr>
            <a:r>
              <a:rPr lang="en-US" sz="1250" b="1" dirty="0">
                <a:solidFill>
                  <a:srgbClr val="141414"/>
                </a:solidFill>
                <a:latin typeface="Calibri" pitchFamily="34" charset="0"/>
                <a:ea typeface="Calibri" pitchFamily="34" charset="-122"/>
                <a:cs typeface="Calibri" pitchFamily="34" charset="-120"/>
              </a:rPr>
              <a:t>1.38 g/cm³   ·   2.96 MPa per g/cm³</a:t>
            </a:r>
            <a:endParaRPr lang="en-US" sz="1250" dirty="0"/>
          </a:p>
        </p:txBody>
      </p:sp>
      <p:sp>
        <p:nvSpPr>
          <p:cNvPr id="11" name="Text 7"/>
          <p:cNvSpPr txBox="1"/>
          <p:nvPr/>
        </p:nvSpPr>
        <p:spPr>
          <a:xfrm>
            <a:off x="2880360" y="5394960"/>
            <a:ext cx="466344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Bulk density on a mould-volume basis, therefore a lower bound.</a:t>
            </a:r>
            <a:endParaRPr lang="en-US" sz="900" dirty="0"/>
          </a:p>
        </p:txBody>
      </p:sp>
      <p:sp>
        <p:nvSpPr>
          <p:cNvPr id="12" name="Text 8"/>
          <p:cNvSpPr txBox="1"/>
          <p:nvPr/>
        </p:nvSpPr>
        <p:spPr>
          <a:xfrm>
            <a:off x="8001000" y="1783080"/>
            <a:ext cx="342900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READING THE CURVE</a:t>
            </a:r>
            <a:endParaRPr lang="en-US" sz="850" dirty="0"/>
          </a:p>
        </p:txBody>
      </p:sp>
      <p:sp>
        <p:nvSpPr>
          <p:cNvPr id="13" name="Text 9"/>
          <p:cNvSpPr txBox="1"/>
          <p:nvPr/>
        </p:nvSpPr>
        <p:spPr>
          <a:xfrm>
            <a:off x="8001000" y="2057400"/>
            <a:ext cx="3429000" cy="256032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Linear elastic to approximately 1 MPa</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Progressive stiffness loss as the agar network yields</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Peak at roughly 10% strain, no abrupt load drop</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Beyond peak: deformation with retained integrity</a:t>
            </a:r>
            <a:endParaRPr lang="en-US" sz="1150" dirty="0"/>
          </a:p>
        </p:txBody>
      </p:sp>
      <p:sp>
        <p:nvSpPr>
          <p:cNvPr id="14" name="Text 10"/>
          <p:cNvSpPr txBox="1"/>
          <p:nvPr/>
        </p:nvSpPr>
        <p:spPr>
          <a:xfrm>
            <a:off x="8001000" y="4846320"/>
            <a:ext cx="342900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Strain derived from an assumed 10% maximum deformation based on observation, not instrumented measurement.</a:t>
            </a:r>
            <a:endParaRPr lang="en-US" sz="900" dirty="0"/>
          </a:p>
        </p:txBody>
      </p:sp>
      <p:sp>
        <p:nvSpPr>
          <p:cNvPr id="16"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FLEXURE</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141414"/>
                </a:solidFill>
                <a:latin typeface="Calibri" pitchFamily="34" charset="0"/>
                <a:ea typeface="Calibri" pitchFamily="34" charset="-122"/>
                <a:cs typeface="Calibri" pitchFamily="34" charset="-120"/>
              </a:rPr>
              <a:t>Plasticiser content decides whether the material resists at all.</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 y="1783080"/>
          <a:ext cx="6766560" cy="914400"/>
        </p:xfrm>
        <a:graphic>
          <a:graphicData uri="http://schemas.openxmlformats.org/drawingml/2006/table">
            <a:tbl>
              <a:tblPr/>
              <a:tblGrid>
                <a:gridCol w="685800"/>
                <a:gridCol w="1645920"/>
                <a:gridCol w="1005840"/>
                <a:gridCol w="1645920"/>
                <a:gridCol w="914400"/>
                <a:gridCol w="868680"/>
              </a:tblGrid>
              <a:tr h="36576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N</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σꜰ MPa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Eꜰ MPa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ε peak</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65760">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3A3A3A"/>
                          </a:solidFill>
                          <a:latin typeface="Calibri" pitchFamily="34" charset="0"/>
                          <a:ea typeface="Calibri" pitchFamily="34" charset="-122"/>
                          <a:cs typeface="Calibri" pitchFamily="34" charset="-120"/>
                        </a:rPr>
                        <a:t>not measurable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2.325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0.0121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 y="3017520"/>
            <a:ext cx="676656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σꜰ = 3FL / 2bd²  with F = 310 N, L = 120 mm, b = 60 mm, d = 20 mm</a:t>
            </a:r>
            <a:endParaRPr lang="en-US" sz="900" dirty="0"/>
          </a:p>
        </p:txBody>
      </p:sp>
      <p:pic>
        <p:nvPicPr>
          <p:cNvPr id="6" name="bend" descr="/home/user/sanat-ve-mekan/konferans-bildirisi/03-gorseller/06-egilme-buyuk-sehim.jpg">    </p:cNvPr>
          <p:cNvPicPr>
            <a:picLocks noChangeAspect="1"/>
          </p:cNvPicPr>
          <p:nvPr/>
        </p:nvPicPr>
        <p:blipFill>
          <a:blip r:embed="rId1"/>
          <a:stretch>
            <a:fillRect/>
          </a:stretch>
        </p:blipFill>
        <p:spPr>
          <a:xfrm>
            <a:off x="731520" y="3429000"/>
            <a:ext cx="1097280" cy="2441448"/>
          </a:xfrm>
          <a:prstGeom prst="rect">
            <a:avLst/>
          </a:prstGeom>
        </p:spPr>
      </p:pic>
      <p:pic>
        <p:nvPicPr>
          <p:cNvPr id="7" name="arch" descr="/home/user/sanat-ve-mekan/konferans-bildirisi/03-gorseller/08b-yivli-panel-kemer.jpg">    </p:cNvPr>
          <p:cNvPicPr>
            <a:picLocks noChangeAspect="1"/>
          </p:cNvPicPr>
          <p:nvPr/>
        </p:nvPicPr>
        <p:blipFill>
          <a:blip r:embed="rId2"/>
          <a:stretch>
            <a:fillRect/>
          </a:stretch>
        </p:blipFill>
        <p:spPr>
          <a:xfrm>
            <a:off x="2011680" y="3429000"/>
            <a:ext cx="1417320" cy="1984248"/>
          </a:xfrm>
          <a:prstGeom prst="rect">
            <a:avLst/>
          </a:prstGeom>
        </p:spPr>
      </p:pic>
      <p:pic>
        <p:nvPicPr>
          <p:cNvPr id="8" name="fc" descr="/home/user/sanat-ve-mekan/konferans-bildirisi/03-gorseller/09b-egilme-egrisi.png">    </p:cNvPr>
          <p:cNvPicPr>
            <a:picLocks noChangeAspect="1"/>
          </p:cNvPicPr>
          <p:nvPr/>
        </p:nvPicPr>
        <p:blipFill>
          <a:blip r:embed="rId3"/>
          <a:stretch>
            <a:fillRect/>
          </a:stretch>
        </p:blipFill>
        <p:spPr>
          <a:xfrm>
            <a:off x="3749040" y="3703320"/>
            <a:ext cx="3749040" cy="2121408"/>
          </a:xfrm>
          <a:prstGeom prst="rect">
            <a:avLst/>
          </a:prstGeom>
        </p:spPr>
      </p:pic>
      <p:sp>
        <p:nvSpPr>
          <p:cNvPr id="9" name="Text 3"/>
          <p:cNvSpPr txBox="1"/>
          <p:nvPr/>
        </p:nvSpPr>
        <p:spPr>
          <a:xfrm>
            <a:off x="3749040" y="3429000"/>
            <a:ext cx="374904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FLEXURAL STRESS – STRAIN, F2</a:t>
            </a:r>
            <a:endParaRPr lang="en-US" sz="850" dirty="0"/>
          </a:p>
        </p:txBody>
      </p:sp>
      <p:sp>
        <p:nvSpPr>
          <p:cNvPr id="10" name="Text 4"/>
          <p:cNvSpPr txBox="1"/>
          <p:nvPr/>
        </p:nvSpPr>
        <p:spPr>
          <a:xfrm>
            <a:off x="731520" y="5943600"/>
            <a:ext cx="274320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Three-point rig; kerfed panel arched by hand</a:t>
            </a:r>
            <a:endParaRPr lang="en-US" sz="900" dirty="0"/>
          </a:p>
        </p:txBody>
      </p:sp>
      <p:sp>
        <p:nvSpPr>
          <p:cNvPr id="11" name="Text 5"/>
          <p:cNvSpPr txBox="1"/>
          <p:nvPr/>
        </p:nvSpPr>
        <p:spPr>
          <a:xfrm>
            <a:off x="8001000" y="1783080"/>
            <a:ext cx="342900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DISCLOSURE — SECTION GEOMETRY</a:t>
            </a:r>
            <a:endParaRPr lang="en-US" sz="850" dirty="0"/>
          </a:p>
        </p:txBody>
      </p:sp>
      <p:sp>
        <p:nvSpPr>
          <p:cNvPr id="12" name="Text 6"/>
          <p:cNvSpPr txBox="1"/>
          <p:nvPr/>
        </p:nvSpPr>
        <p:spPr>
          <a:xfrm>
            <a:off x="8001000" y="2057400"/>
            <a:ext cx="3429000" cy="1828800"/>
          </a:xfrm>
          <a:prstGeom prst="rect">
            <a:avLst/>
          </a:prstGeom>
          <a:noFill/>
          <a:ln/>
        </p:spPr>
        <p:txBody>
          <a:bodyPr wrap="square" lIns="0" tIns="0" rIns="0" bIns="0" rtlCol="0" anchor="t"/>
          <a:lstStyle/>
          <a:p>
            <a:pPr indent="0" marL="0">
              <a:lnSpc>
                <a:spcPts val="1750"/>
              </a:lnSpc>
              <a:buNone/>
            </a:pPr>
            <a:r>
              <a:rPr lang="en-US" sz="1150" dirty="0">
                <a:solidFill>
                  <a:srgbClr val="3A3A3A"/>
                </a:solidFill>
                <a:latin typeface="Calibri" pitchFamily="34" charset="0"/>
                <a:ea typeface="Calibri" pitchFamily="34" charset="-122"/>
                <a:cs typeface="Calibri" pitchFamily="34" charset="-120"/>
              </a:rPr>
              <a:t>The specimen carries transverse kerfs on its tension face. ASTM D790-17 assumes a solid rectangular section and the calculation uses the full 60 × 20 mm. Part of the measured compliance is geometric, so the modulus is a lower bound.</a:t>
            </a:r>
            <a:endParaRPr lang="en-US" sz="1150" dirty="0"/>
          </a:p>
        </p:txBody>
      </p:sp>
      <p:sp>
        <p:nvSpPr>
          <p:cNvPr id="13" name="Text 7"/>
          <p:cNvSpPr txBox="1"/>
          <p:nvPr/>
        </p:nvSpPr>
        <p:spPr>
          <a:xfrm>
            <a:off x="8001000" y="4114800"/>
            <a:ext cx="342900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INTERPRETATION</a:t>
            </a:r>
            <a:endParaRPr lang="en-US" sz="850" dirty="0"/>
          </a:p>
        </p:txBody>
      </p:sp>
      <p:sp>
        <p:nvSpPr>
          <p:cNvPr id="14" name="Text 8"/>
          <p:cNvSpPr txBox="1"/>
          <p:nvPr/>
        </p:nvSpPr>
        <p:spPr>
          <a:xfrm>
            <a:off x="8001000" y="4389120"/>
            <a:ext cx="3429000" cy="1554480"/>
          </a:xfrm>
          <a:prstGeom prst="rect">
            <a:avLst/>
          </a:prstGeom>
          <a:noFill/>
          <a:ln/>
        </p:spPr>
        <p:txBody>
          <a:bodyPr wrap="square" lIns="0" tIns="0" rIns="0" bIns="0" rtlCol="0" anchor="t"/>
          <a:lstStyle/>
          <a:p>
            <a:pPr indent="0" marL="0">
              <a:lnSpc>
                <a:spcPts val="1750"/>
              </a:lnSpc>
              <a:buNone/>
            </a:pPr>
            <a:r>
              <a:rPr lang="en-US" sz="1150" dirty="0">
                <a:solidFill>
                  <a:srgbClr val="3A3A3A"/>
                </a:solidFill>
                <a:latin typeface="Calibri" pitchFamily="34" charset="0"/>
                <a:ea typeface="Calibri" pitchFamily="34" charset="-122"/>
                <a:cs typeface="Calibri" pitchFamily="34" charset="-120"/>
              </a:rPr>
              <a:t>At 18.8% glycerol the composite deformed without developing measurable resistance. Halving it produced a section that resists while still flexing. The transition lies between these values.</a:t>
            </a:r>
            <a:endParaRPr lang="en-US" sz="1150" dirty="0"/>
          </a:p>
        </p:txBody>
      </p:sp>
      <p:sp>
        <p:nvSpPr>
          <p:cNvPr id="16"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FIRE, MOISTURE, DENSITY</a:t>
            </a:r>
            <a:endParaRPr lang="en-US" sz="900" dirty="0"/>
          </a:p>
        </p:txBody>
      </p:sp>
      <p:pic>
        <p:nvPicPr>
          <p:cNvPr id="3" name="flame" descr="/home/user/sanat-ve-mekan/konferans-bildirisi/03-gorseller/10-alev-testi.png">    </p:cNvPr>
          <p:cNvPicPr>
            <a:picLocks noChangeAspect="1"/>
          </p:cNvPicPr>
          <p:nvPr/>
        </p:nvPicPr>
        <p:blipFill>
          <a:blip r:embed="rId1"/>
          <a:stretch>
            <a:fillRect/>
          </a:stretch>
        </p:blipFill>
        <p:spPr>
          <a:xfrm>
            <a:off x="731520" y="960120"/>
            <a:ext cx="1371600" cy="2971800"/>
          </a:xfrm>
          <a:prstGeom prst="rect">
            <a:avLst/>
          </a:prstGeom>
        </p:spPr>
      </p:pic>
      <p:sp>
        <p:nvSpPr>
          <p:cNvPr id="4" name="Text 1"/>
          <p:cNvSpPr txBox="1"/>
          <p:nvPr/>
        </p:nvSpPr>
        <p:spPr>
          <a:xfrm>
            <a:off x="2423160" y="960120"/>
            <a:ext cx="384048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IGNITABILITY — ISO 11925-2</a:t>
            </a:r>
            <a:endParaRPr lang="en-US" sz="850" dirty="0"/>
          </a:p>
        </p:txBody>
      </p:sp>
      <p:sp>
        <p:nvSpPr>
          <p:cNvPr id="5" name="Text 2"/>
          <p:cNvSpPr txBox="1"/>
          <p:nvPr/>
        </p:nvSpPr>
        <p:spPr>
          <a:xfrm>
            <a:off x="2423160" y="1280160"/>
            <a:ext cx="1737360" cy="530352"/>
          </a:xfrm>
          <a:prstGeom prst="rect">
            <a:avLst/>
          </a:prstGeom>
          <a:noFill/>
          <a:ln/>
        </p:spPr>
        <p:txBody>
          <a:bodyPr wrap="square" lIns="0" tIns="0" rIns="0" bIns="0" rtlCol="0" anchor="b"/>
          <a:lstStyle/>
          <a:p>
            <a:pPr indent="0" marL="0">
              <a:buNone/>
            </a:pPr>
            <a:r>
              <a:rPr lang="en-US" sz="3000" b="1" dirty="0">
                <a:solidFill>
                  <a:srgbClr val="B4513A"/>
                </a:solidFill>
                <a:latin typeface="Calibri" pitchFamily="34" charset="0"/>
                <a:ea typeface="Calibri" pitchFamily="34" charset="-122"/>
                <a:cs typeface="Calibri" pitchFamily="34" charset="-120"/>
              </a:rPr>
              <a:t>~10 s</a:t>
            </a:r>
            <a:endParaRPr lang="en-US" sz="3000" dirty="0"/>
          </a:p>
        </p:txBody>
      </p:sp>
      <p:sp>
        <p:nvSpPr>
          <p:cNvPr id="6" name="Text 3"/>
          <p:cNvSpPr txBox="1"/>
          <p:nvPr/>
        </p:nvSpPr>
        <p:spPr>
          <a:xfrm>
            <a:off x="2423160" y="1828800"/>
            <a:ext cx="173736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ignition</a:t>
            </a:r>
            <a:endParaRPr lang="en-US" sz="950" dirty="0"/>
          </a:p>
        </p:txBody>
      </p:sp>
      <p:sp>
        <p:nvSpPr>
          <p:cNvPr id="7" name="Text 4"/>
          <p:cNvSpPr txBox="1"/>
          <p:nvPr/>
        </p:nvSpPr>
        <p:spPr>
          <a:xfrm>
            <a:off x="4343400" y="1280160"/>
            <a:ext cx="1920240" cy="530352"/>
          </a:xfrm>
          <a:prstGeom prst="rect">
            <a:avLst/>
          </a:prstGeom>
          <a:noFill/>
          <a:ln/>
        </p:spPr>
        <p:txBody>
          <a:bodyPr wrap="square" lIns="0" tIns="0" rIns="0" bIns="0" rtlCol="0" anchor="b"/>
          <a:lstStyle/>
          <a:p>
            <a:pPr indent="0" marL="0">
              <a:buNone/>
            </a:pPr>
            <a:r>
              <a:rPr lang="en-US" sz="3000" b="1" dirty="0">
                <a:solidFill>
                  <a:srgbClr val="B4513A"/>
                </a:solidFill>
                <a:latin typeface="Calibri" pitchFamily="34" charset="0"/>
                <a:ea typeface="Calibri" pitchFamily="34" charset="-122"/>
                <a:cs typeface="Calibri" pitchFamily="34" charset="-120"/>
              </a:rPr>
              <a:t>4 s</a:t>
            </a:r>
            <a:endParaRPr lang="en-US" sz="3000" dirty="0"/>
          </a:p>
        </p:txBody>
      </p:sp>
      <p:sp>
        <p:nvSpPr>
          <p:cNvPr id="8" name="Text 5"/>
          <p:cNvSpPr txBox="1"/>
          <p:nvPr/>
        </p:nvSpPr>
        <p:spPr>
          <a:xfrm>
            <a:off x="4343400" y="1828800"/>
            <a:ext cx="19202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self-extinguish</a:t>
            </a:r>
            <a:endParaRPr lang="en-US" sz="950" dirty="0"/>
          </a:p>
        </p:txBody>
      </p:sp>
      <p:sp>
        <p:nvSpPr>
          <p:cNvPr id="9" name="Text 6"/>
          <p:cNvSpPr txBox="1"/>
          <p:nvPr/>
        </p:nvSpPr>
        <p:spPr>
          <a:xfrm>
            <a:off x="2423160" y="2514600"/>
            <a:ext cx="3840480" cy="118872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Charring local to flame contact</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No lateral flame spread</a:t>
            </a:r>
            <a:endParaRPr lang="en-US" sz="1150" dirty="0"/>
          </a:p>
          <a:p>
            <a:pPr marL="342900" indent="-342900">
              <a:lnSpc>
                <a:spcPts val="1650"/>
              </a:lnSpc>
              <a:spcAft>
                <a:spcPts val="600"/>
              </a:spcAft>
              <a:buSzPct val="100000"/>
              <a:buChar char="–"/>
            </a:pPr>
            <a:r>
              <a:rPr lang="en-US" sz="1150" dirty="0">
                <a:solidFill>
                  <a:srgbClr val="3A3A3A"/>
                </a:solidFill>
                <a:latin typeface="Calibri" pitchFamily="34" charset="0"/>
                <a:ea typeface="Calibri" pitchFamily="34" charset="-122"/>
                <a:cs typeface="Calibri" pitchFamily="34" charset="-120"/>
              </a:rPr>
              <a:t>No melting, no dripping</a:t>
            </a:r>
            <a:endParaRPr lang="en-US" sz="1150" dirty="0"/>
          </a:p>
        </p:txBody>
      </p:sp>
      <p:sp>
        <p:nvSpPr>
          <p:cNvPr id="10" name="Text 7"/>
          <p:cNvSpPr txBox="1"/>
          <p:nvPr/>
        </p:nvSpPr>
        <p:spPr>
          <a:xfrm>
            <a:off x="2423160" y="3886200"/>
            <a:ext cx="384048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Probable mechanism: endothermic carbonate decomposition releasing CO₂, not verified calorimetrically. Ignitability only — no Euroclass, cone calorimetry, smoke or toxicity data.</a:t>
            </a:r>
            <a:endParaRPr lang="en-US" sz="900" dirty="0"/>
          </a:p>
        </p:txBody>
      </p:sp>
      <p:sp>
        <p:nvSpPr>
          <p:cNvPr id="11" name="r2"/>
          <p:cNvSpPr/>
          <p:nvPr/>
        </p:nvSpPr>
        <p:spPr>
          <a:xfrm>
            <a:off x="6583680" y="960120"/>
            <a:ext cx="18288" cy="4206240"/>
          </a:xfrm>
          <a:prstGeom prst="rect">
            <a:avLst/>
          </a:prstGeom>
          <a:solidFill>
            <a:srgbClr val="E2E2E2"/>
          </a:solidFill>
          <a:ln w="12700">
            <a:solidFill>
              <a:srgbClr val="E2E2E2">
                <a:alpha val="0"/>
              </a:srgbClr>
            </a:solidFill>
            <a:prstDash val="solid"/>
          </a:ln>
        </p:spPr>
      </p:sp>
      <p:sp>
        <p:nvSpPr>
          <p:cNvPr id="12" name="Text 9"/>
          <p:cNvSpPr txBox="1"/>
          <p:nvPr/>
        </p:nvSpPr>
        <p:spPr>
          <a:xfrm>
            <a:off x="6949440" y="960120"/>
            <a:ext cx="448056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WATER ABSORPTION — ASTM D570</a:t>
            </a:r>
            <a:endParaRPr lang="en-US" sz="850" dirty="0"/>
          </a:p>
        </p:txBody>
      </p:sp>
      <p:sp>
        <p:nvSpPr>
          <p:cNvPr id="13" name="Text 10"/>
          <p:cNvSpPr txBox="1"/>
          <p:nvPr/>
        </p:nvSpPr>
        <p:spPr>
          <a:xfrm>
            <a:off x="6949440" y="1234440"/>
            <a:ext cx="1371600" cy="512064"/>
          </a:xfrm>
          <a:prstGeom prst="rect">
            <a:avLst/>
          </a:prstGeom>
          <a:noFill/>
          <a:ln/>
        </p:spPr>
        <p:txBody>
          <a:bodyPr wrap="square" lIns="0" tIns="0" rIns="0" bIns="0" rtlCol="0" anchor="b"/>
          <a:lstStyle/>
          <a:p>
            <a:pPr indent="0" marL="0">
              <a:buNone/>
            </a:pPr>
            <a:r>
              <a:rPr lang="en-US" sz="3000" b="1" dirty="0">
                <a:solidFill>
                  <a:srgbClr val="B4513A"/>
                </a:solidFill>
                <a:latin typeface="Calibri" pitchFamily="34" charset="0"/>
                <a:ea typeface="Calibri" pitchFamily="34" charset="-122"/>
                <a:cs typeface="Calibri" pitchFamily="34" charset="-120"/>
              </a:rPr>
              <a:t>0.7%</a:t>
            </a:r>
            <a:endParaRPr lang="en-US" sz="3000" dirty="0"/>
          </a:p>
        </p:txBody>
      </p:sp>
      <p:sp>
        <p:nvSpPr>
          <p:cNvPr id="14" name="Text 11"/>
          <p:cNvSpPr txBox="1"/>
          <p:nvPr/>
        </p:nvSpPr>
        <p:spPr>
          <a:xfrm>
            <a:off x="8412480" y="1280160"/>
            <a:ext cx="3017520" cy="100584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mass gain over 24 h immersion, shellac-coated. Local dissolution where the coating was thin: coating integrity is the limiting factor, not the composite.</a:t>
            </a:r>
            <a:endParaRPr lang="en-US" sz="1050" dirty="0"/>
          </a:p>
        </p:txBody>
      </p:sp>
      <p:sp>
        <p:nvSpPr>
          <p:cNvPr id="15" name="Text 12"/>
          <p:cNvSpPr txBox="1"/>
          <p:nvPr/>
        </p:nvSpPr>
        <p:spPr>
          <a:xfrm>
            <a:off x="6949440" y="2514600"/>
            <a:ext cx="448056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BULK DENSITY</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949440" y="2788920"/>
          <a:ext cx="4480560" cy="914400"/>
        </p:xfrm>
        <a:graphic>
          <a:graphicData uri="http://schemas.openxmlformats.org/drawingml/2006/table">
            <a:tbl>
              <a:tblPr/>
              <a:tblGrid>
                <a:gridCol w="1828800"/>
                <a:gridCol w="960120"/>
                <a:gridCol w="1691640"/>
              </a:tblGrid>
              <a:tr h="310896">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g/cm³</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10896">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1.38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Mycelium, cellulose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0.3 – 0.8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Fired clay brick</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1.6 – 2.0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Normal-weight concrete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6949440" y="4434840"/>
            <a:ext cx="448056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Quoted on a mould-volume basis and therefore a lower bound.</a:t>
            </a:r>
            <a:endParaRPr lang="en-US" sz="900" dirty="0"/>
          </a:p>
        </p:txBody>
      </p:sp>
      <p:sp>
        <p:nvSpPr>
          <p:cNvPr id="19"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AGAINST CONVENTIONAL INTERIOR MATERIALS</a:t>
            </a:r>
            <a:endParaRPr lang="en-US" sz="900" dirty="0"/>
          </a:p>
        </p:txBody>
      </p:sp>
      <p:graphicFrame>
        <p:nvGraphicFramePr>
          <p:cNvPr id="3" name="b1" descr=""/>
          <p:cNvGraphicFramePr/>
          <p:nvPr/>
        </p:nvGraphicFramePr>
        <p:xfrm>
          <a:off x="731520" y="960120"/>
          <a:ext cx="7406640" cy="43891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 y="5440680"/>
            <a:ext cx="740664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Velasco &amp; Gaona 2011 · Klyosov 2007 · Nemli &amp; Aydın 2007 · Altun 2006</a:t>
            </a:r>
            <a:endParaRPr lang="en-US" sz="900" dirty="0"/>
          </a:p>
        </p:txBody>
      </p:sp>
      <p:sp>
        <p:nvSpPr>
          <p:cNvPr id="5" name="Text 2"/>
          <p:cNvSpPr txBox="1"/>
          <p:nvPr/>
        </p:nvSpPr>
        <p:spPr>
          <a:xfrm>
            <a:off x="8595360" y="960120"/>
            <a:ext cx="283464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POSITION</a:t>
            </a:r>
            <a:endParaRPr lang="en-US" sz="850" dirty="0"/>
          </a:p>
        </p:txBody>
      </p:sp>
      <p:sp>
        <p:nvSpPr>
          <p:cNvPr id="6" name="Text 3"/>
          <p:cNvSpPr txBox="1"/>
          <p:nvPr/>
        </p:nvSpPr>
        <p:spPr>
          <a:xfrm>
            <a:off x="8595360" y="1234440"/>
            <a:ext cx="2834640" cy="2194560"/>
          </a:xfrm>
          <a:prstGeom prst="rect">
            <a:avLst/>
          </a:prstGeom>
          <a:noFill/>
          <a:ln/>
        </p:spPr>
        <p:txBody>
          <a:bodyPr wrap="square" lIns="0" tIns="0" rIns="0" bIns="0" rtlCol="0" anchor="t"/>
          <a:lstStyle/>
          <a:p>
            <a:pPr indent="0" marL="0">
              <a:lnSpc>
                <a:spcPts val="1750"/>
              </a:lnSpc>
              <a:buNone/>
            </a:pPr>
            <a:r>
              <a:rPr lang="en-US" sz="1150" dirty="0">
                <a:solidFill>
                  <a:srgbClr val="3A3A3A"/>
                </a:solidFill>
                <a:latin typeface="Calibri" pitchFamily="34" charset="0"/>
                <a:ea typeface="Calibri" pitchFamily="34" charset="-122"/>
                <a:cs typeface="Calibri" pitchFamily="34" charset="-120"/>
              </a:rPr>
              <a:t>One sixth the compressive strength of MDF and one twentieth that of travertine — a stone the material visually resembles. Three times compressed mushroom panel, the only other fully bio-based board here.</a:t>
            </a:r>
            <a:endParaRPr lang="en-US" sz="1150" dirty="0"/>
          </a:p>
        </p:txBody>
      </p:sp>
      <p:sp>
        <p:nvSpPr>
          <p:cNvPr id="7" name="Text 4"/>
          <p:cNvSpPr txBox="1"/>
          <p:nvPr/>
        </p:nvSpPr>
        <p:spPr>
          <a:xfrm>
            <a:off x="8595360" y="3749040"/>
            <a:ext cx="2834640" cy="1371600"/>
          </a:xfrm>
          <a:prstGeom prst="rect">
            <a:avLst/>
          </a:prstGeom>
          <a:noFill/>
          <a:ln/>
        </p:spPr>
        <p:txBody>
          <a:bodyPr wrap="square" lIns="0" tIns="0" rIns="0" bIns="0" rtlCol="0" anchor="ctr"/>
          <a:lstStyle/>
          <a:p>
            <a:pPr indent="0" marL="0">
              <a:lnSpc>
                <a:spcPts val="1700"/>
              </a:lnSpc>
              <a:buNone/>
            </a:pPr>
            <a:r>
              <a:rPr lang="en-US" sz="1150" b="1" dirty="0">
                <a:solidFill>
                  <a:srgbClr val="B4513A"/>
                </a:solidFill>
                <a:latin typeface="Calibri" pitchFamily="34" charset="0"/>
                <a:ea typeface="Calibri" pitchFamily="34" charset="-122"/>
                <a:cs typeface="Calibri" pitchFamily="34" charset="-120"/>
              </a:rPr>
              <a:t>On strength alone it does not compete with engineered wood or stone, and this paper does not claim it does.</a:t>
            </a:r>
            <a:endParaRPr lang="en-US" sz="1150" dirty="0"/>
          </a:p>
        </p:txBody>
      </p:sp>
      <p:sp>
        <p:nvSpPr>
          <p:cNvPr id="9"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AGAINST BIO-BASED COMPOSITES</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141414"/>
                </a:solidFill>
                <a:latin typeface="Calibri" pitchFamily="34" charset="0"/>
                <a:ea typeface="Calibri" pitchFamily="34" charset="-122"/>
                <a:cs typeface="Calibri" pitchFamily="34" charset="-120"/>
              </a:rPr>
              <a:t>Water-cast and ambient-dried, at melt-processed stiffness.</a:t>
            </a:r>
            <a:endParaRPr lang="en-US" sz="2100" dirty="0"/>
          </a:p>
        </p:txBody>
      </p:sp>
      <p:sp>
        <p:nvSpPr>
          <p:cNvPr id="4" name="Text 2"/>
          <p:cNvSpPr txBox="1"/>
          <p:nvPr/>
        </p:nvSpPr>
        <p:spPr>
          <a:xfrm>
            <a:off x="731520" y="1783080"/>
            <a:ext cx="512064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COMPRESSIVE STRENGTH</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2057400"/>
          <a:ext cx="5120640" cy="914400"/>
        </p:xfrm>
        <a:graphic>
          <a:graphicData uri="http://schemas.openxmlformats.org/drawingml/2006/table">
            <a:tbl>
              <a:tblPr/>
              <a:tblGrid>
                <a:gridCol w="2377440"/>
                <a:gridCol w="1371600"/>
                <a:gridCol w="1371600"/>
              </a:tblGrid>
              <a:tr h="329184">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29184">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0.145 – 0.452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Hempcrete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0.3 – 0.6</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Arnaud &amp; Gourlay 2012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Eggshell-filled PLA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 – 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Kim &amp; Pal 2010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Mineral-filled biocomposite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2.1 – 39.6</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Shah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30% algae-filled</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21.3</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Kim &amp; Pal 2010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309360" y="1783080"/>
            <a:ext cx="512064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ELASTIC MODULUS</a:t>
            </a:r>
            <a:endParaRPr lang="en-US" sz="8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309360" y="2057400"/>
          <a:ext cx="5120640" cy="914400"/>
        </p:xfrm>
        <a:graphic>
          <a:graphicData uri="http://schemas.openxmlformats.org/drawingml/2006/table">
            <a:tbl>
              <a:tblPr/>
              <a:tblGrid>
                <a:gridCol w="2286000"/>
                <a:gridCol w="1280160"/>
                <a:gridCol w="1554480"/>
              </a:tblGrid>
              <a:tr h="329184">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 MPa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6F5F3"/>
                    </a:solidFill>
                  </a:tcPr>
                </a:tc>
              </a:tr>
              <a:tr h="329184">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(F2)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1.8 – 5</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Islam et al. 2018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Soy-based bioplastic</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124</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Mansour et al. 2021</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Corn starch + hemp</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158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Dweib et al. 2004</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Flax-fibre PLA</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Faruk et al. 2012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LDPE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100 – 300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Zhao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Wood (pine)</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3A3A"/>
                          </a:solidFill>
                          <a:latin typeface="Calibri" pitchFamily="34" charset="0"/>
                          <a:ea typeface="Calibri" pitchFamily="34" charset="-122"/>
                          <a:cs typeface="Calibri" pitchFamily="34" charset="-120"/>
                        </a:rPr>
                        <a:t>11 000</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A3A3A"/>
                          </a:solidFill>
                          <a:latin typeface="Calibri" pitchFamily="34" charset="0"/>
                          <a:ea typeface="Calibri" pitchFamily="34" charset="-122"/>
                          <a:cs typeface="Calibri" pitchFamily="34" charset="-120"/>
                        </a:rPr>
                        <a:t>Pope &amp; Hudson 1989</a:t>
                      </a:r>
                      <a:endParaRPr lang="en-US" sz="1050" dirty="0">
                        <a:latin typeface="Calibri" charset="0"/>
                        <a:ea typeface="Calibri" charset="0"/>
                        <a:cs typeface="Calibri" charset="0"/>
                      </a:endParaRPr>
                    </a:p>
                  </a:txBody>
                  <a:tcPr marL="91440" marR="91440" marT="45720" marB="45720" anchor="ctr">
                    <a:lnL w="12700" cap="flat" cmpd="sng" algn="ctr">
                      <a:solidFill>
                        <a:srgbClr val="E2E2E2"/>
                      </a:solidFill>
                      <a:prstDash val="solid"/>
                      <a:round/>
                      <a:headEnd type="none" w="med" len="med"/>
                      <a:tailEnd type="none" w="med" len="med"/>
                    </a:lnL>
                    <a:lnR w="12700" cap="flat" cmpd="sng" algn="ctr">
                      <a:solidFill>
                        <a:srgbClr val="E2E2E2"/>
                      </a:solidFill>
                      <a:prstDash val="solid"/>
                      <a:round/>
                      <a:headEnd type="none" w="med" len="med"/>
                      <a:tailEnd type="none" w="med" len="med"/>
                    </a:lnR>
                    <a:lnT w="12700" cap="flat" cmpd="sng" algn="ctr">
                      <a:solidFill>
                        <a:srgbClr val="E2E2E2"/>
                      </a:solidFill>
                      <a:prstDash val="solid"/>
                      <a:round/>
                      <a:headEnd type="none" w="med" len="med"/>
                      <a:tailEnd type="none" w="med" len="med"/>
                    </a:lnT>
                    <a:lnB w="12700" cap="flat" cmpd="sng" algn="ctr">
                      <a:solidFill>
                        <a:srgbClr val="E2E2E2"/>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31520" y="4892040"/>
            <a:ext cx="10698480" cy="411480"/>
          </a:xfrm>
          <a:prstGeom prst="rect">
            <a:avLst/>
          </a:prstGeom>
          <a:noFill/>
          <a:ln/>
        </p:spPr>
        <p:txBody>
          <a:bodyPr wrap="square" lIns="0" tIns="0" rIns="0" bIns="0" rtlCol="0" anchor="t"/>
          <a:lstStyle/>
          <a:p>
            <a:pPr indent="0" marL="0">
              <a:lnSpc>
                <a:spcPts val="1850"/>
              </a:lnSpc>
              <a:buNone/>
            </a:pPr>
            <a:r>
              <a:rPr lang="en-US" sz="1250" dirty="0">
                <a:solidFill>
                  <a:srgbClr val="3A3A3A"/>
                </a:solidFill>
                <a:latin typeface="Calibri" pitchFamily="34" charset="0"/>
                <a:ea typeface="Calibri" pitchFamily="34" charset="-122"/>
                <a:cs typeface="Calibri" pitchFamily="34" charset="-120"/>
              </a:rPr>
              <a:t>An order of magnitude above the fungal and lime-binder family in compression, and inside the bio-polymer band in stiffness — between soy bioplastic and flax-fibre PLA, within the LDPE range.</a:t>
            </a:r>
            <a:endParaRPr lang="en-US" sz="1250" dirty="0"/>
          </a:p>
        </p:txBody>
      </p:sp>
      <p:sp>
        <p:nvSpPr>
          <p:cNvPr id="9" name="Text 5"/>
          <p:cNvSpPr txBox="1"/>
          <p:nvPr/>
        </p:nvSpPr>
        <p:spPr>
          <a:xfrm>
            <a:off x="731520" y="5440680"/>
            <a:ext cx="1069848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Unfilled agar films in the packaging literature sit well below this: the mineral phase, not the binder, carries the stiffness. Wood remains two orders of magnitude above.</a:t>
            </a:r>
            <a:endParaRPr lang="en-US" sz="900" dirty="0"/>
          </a:p>
        </p:txBody>
      </p:sp>
      <p:sp>
        <p:nvSpPr>
          <p:cNvPr id="11"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9A9A9A"/>
                </a:solidFill>
                <a:latin typeface="Calibri" pitchFamily="34" charset="0"/>
                <a:ea typeface="Calibri" pitchFamily="34" charset="-122"/>
                <a:cs typeface="Calibri" pitchFamily="34" charset="-120"/>
              </a:rPr>
              <a:t>A DERIVED PROPERTY</a:t>
            </a:r>
            <a:endParaRPr lang="en-US" sz="900" dirty="0"/>
          </a:p>
        </p:txBody>
      </p:sp>
      <p:sp>
        <p:nvSpPr>
          <p:cNvPr id="3" name="Text 1"/>
          <p:cNvSpPr txBox="1"/>
          <p:nvPr/>
        </p:nvSpPr>
        <p:spPr>
          <a:xfrm>
            <a:off x="731520" y="841248"/>
            <a:ext cx="10698480" cy="566928"/>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Stiffness sits in the denominator.</a:t>
            </a:r>
            <a:endParaRPr lang="en-US" sz="2100" dirty="0"/>
          </a:p>
        </p:txBody>
      </p:sp>
      <p:sp>
        <p:nvSpPr>
          <p:cNvPr id="4" name="vax"/>
          <p:cNvSpPr/>
          <p:nvPr/>
        </p:nvSpPr>
        <p:spPr>
          <a:xfrm>
            <a:off x="822960" y="2103120"/>
            <a:ext cx="18288" cy="2377440"/>
          </a:xfrm>
          <a:prstGeom prst="rect">
            <a:avLst/>
          </a:prstGeom>
          <a:solidFill>
            <a:srgbClr val="5E5E5E"/>
          </a:solidFill>
          <a:ln w="12700">
            <a:solidFill>
              <a:srgbClr val="5E5E5E">
                <a:alpha val="0"/>
              </a:srgbClr>
            </a:solidFill>
            <a:prstDash val="solid"/>
          </a:ln>
        </p:spPr>
      </p:sp>
      <p:sp>
        <p:nvSpPr>
          <p:cNvPr id="5" name="hax"/>
          <p:cNvSpPr/>
          <p:nvPr/>
        </p:nvSpPr>
        <p:spPr>
          <a:xfrm>
            <a:off x="822960" y="4480560"/>
            <a:ext cx="3931920" cy="18288"/>
          </a:xfrm>
          <a:prstGeom prst="rect">
            <a:avLst/>
          </a:prstGeom>
          <a:solidFill>
            <a:srgbClr val="5E5E5E"/>
          </a:solidFill>
          <a:ln w="12700">
            <a:solidFill>
              <a:srgbClr val="5E5E5E">
                <a:alpha val="0"/>
              </a:srgbClr>
            </a:solidFill>
            <a:prstDash val="solid"/>
          </a:ln>
        </p:spPr>
      </p:sp>
      <p:sp>
        <p:nvSpPr>
          <p:cNvPr id="6" name="area"/>
          <p:cNvSpPr/>
          <p:nvPr/>
        </p:nvSpPr>
        <p:spPr>
          <a:xfrm flipH="1">
            <a:off x="841248" y="2788920"/>
            <a:ext cx="2286000" cy="1691640"/>
          </a:xfrm>
          <a:prstGeom prst="rtTriangle">
            <a:avLst/>
          </a:prstGeom>
          <a:solidFill>
            <a:srgbClr val="B4513A">
              <a:alpha val="65000"/>
            </a:srgbClr>
          </a:solidFill>
          <a:ln w="19050">
            <a:solidFill>
              <a:srgbClr val="B4513A"/>
            </a:solidFill>
            <a:prstDash val="solid"/>
          </a:ln>
        </p:spPr>
      </p:sp>
      <p:sp>
        <p:nvSpPr>
          <p:cNvPr id="7" name="Text 5"/>
          <p:cNvSpPr txBox="1"/>
          <p:nvPr/>
        </p:nvSpPr>
        <p:spPr>
          <a:xfrm>
            <a:off x="320040" y="2606040"/>
            <a:ext cx="4572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σꜰ</a:t>
            </a:r>
            <a:endParaRPr lang="en-US" sz="1200" dirty="0"/>
          </a:p>
        </p:txBody>
      </p:sp>
      <p:sp>
        <p:nvSpPr>
          <p:cNvPr id="8" name="Text 6"/>
          <p:cNvSpPr txBox="1"/>
          <p:nvPr/>
        </p:nvSpPr>
        <p:spPr>
          <a:xfrm>
            <a:off x="2926080" y="4553712"/>
            <a:ext cx="36576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ε</a:t>
            </a:r>
            <a:endParaRPr lang="en-US" sz="1200" dirty="0"/>
          </a:p>
        </p:txBody>
      </p:sp>
      <p:sp>
        <p:nvSpPr>
          <p:cNvPr id="9" name="Text 7"/>
          <p:cNvSpPr txBox="1"/>
          <p:nvPr/>
        </p:nvSpPr>
        <p:spPr>
          <a:xfrm>
            <a:off x="1965960" y="3886200"/>
            <a:ext cx="5486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Ur</a:t>
            </a:r>
            <a:endParaRPr lang="en-US" sz="1300" dirty="0"/>
          </a:p>
        </p:txBody>
      </p:sp>
      <p:sp>
        <p:nvSpPr>
          <p:cNvPr id="10" name="Text 8"/>
          <p:cNvSpPr txBox="1"/>
          <p:nvPr/>
        </p:nvSpPr>
        <p:spPr>
          <a:xfrm>
            <a:off x="822960" y="4892040"/>
            <a:ext cx="3931920" cy="457200"/>
          </a:xfrm>
          <a:prstGeom prst="rect">
            <a:avLst/>
          </a:prstGeom>
          <a:noFill/>
          <a:ln/>
        </p:spPr>
        <p:txBody>
          <a:bodyPr wrap="square" lIns="0" tIns="0" rIns="0" bIns="0" rtlCol="0" anchor="t"/>
          <a:lstStyle/>
          <a:p>
            <a:pPr indent="0" marL="0">
              <a:lnSpc>
                <a:spcPts val="1300"/>
              </a:lnSpc>
              <a:buNone/>
            </a:pPr>
            <a:r>
              <a:rPr lang="en-US" sz="900" dirty="0">
                <a:solidFill>
                  <a:srgbClr val="5E5E5E"/>
                </a:solidFill>
                <a:latin typeface="Calibri" pitchFamily="34" charset="0"/>
                <a:ea typeface="Calibri" pitchFamily="34" charset="-122"/>
                <a:cs typeface="Calibri" pitchFamily="34" charset="-120"/>
              </a:rPr>
              <a:t>Area under the elastic region to yield  =  ½ σ ε  =  σ² / 2E</a:t>
            </a:r>
            <a:endParaRPr lang="en-US" sz="900" dirty="0"/>
          </a:p>
        </p:txBody>
      </p:sp>
      <p:sp>
        <p:nvSpPr>
          <p:cNvPr id="11" name="r3"/>
          <p:cNvSpPr/>
          <p:nvPr/>
        </p:nvSpPr>
        <p:spPr>
          <a:xfrm>
            <a:off x="5394960" y="1828800"/>
            <a:ext cx="18288" cy="3291840"/>
          </a:xfrm>
          <a:prstGeom prst="rect">
            <a:avLst/>
          </a:prstGeom>
          <a:solidFill>
            <a:srgbClr val="5E5E5E"/>
          </a:solidFill>
          <a:ln w="12700">
            <a:solidFill>
              <a:srgbClr val="5E5E5E">
                <a:alpha val="0"/>
              </a:srgbClr>
            </a:solidFill>
            <a:prstDash val="solid"/>
          </a:ln>
        </p:spPr>
      </p:sp>
      <p:sp>
        <p:nvSpPr>
          <p:cNvPr id="12" name="Text 10"/>
          <p:cNvSpPr txBox="1"/>
          <p:nvPr/>
        </p:nvSpPr>
        <p:spPr>
          <a:xfrm>
            <a:off x="5852160" y="1828800"/>
            <a:ext cx="2651760" cy="219456"/>
          </a:xfrm>
          <a:prstGeom prst="rect">
            <a:avLst/>
          </a:prstGeom>
          <a:noFill/>
          <a:ln/>
        </p:spPr>
        <p:txBody>
          <a:bodyPr wrap="square" lIns="0" tIns="0" rIns="0" bIns="0" rtlCol="0" anchor="ctr"/>
          <a:lstStyle/>
          <a:p>
            <a:pPr indent="0" marL="0">
              <a:buNone/>
            </a:pPr>
            <a:r>
              <a:rPr lang="en-US" sz="850" b="1" spc="130" kern="0" dirty="0">
                <a:solidFill>
                  <a:srgbClr val="5E5E5E"/>
                </a:solidFill>
                <a:latin typeface="Calibri" pitchFamily="34" charset="0"/>
                <a:ea typeface="Calibri" pitchFamily="34" charset="-122"/>
                <a:cs typeface="Calibri" pitchFamily="34" charset="-120"/>
              </a:rPr>
              <a:t>THE QUANTITY</a:t>
            </a:r>
            <a:endParaRPr lang="en-US" sz="850" dirty="0"/>
          </a:p>
        </p:txBody>
      </p:sp>
      <p:sp>
        <p:nvSpPr>
          <p:cNvPr id="13" name="Text 11"/>
          <p:cNvSpPr txBox="1"/>
          <p:nvPr/>
        </p:nvSpPr>
        <p:spPr>
          <a:xfrm>
            <a:off x="5852160" y="2103120"/>
            <a:ext cx="265176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Ur = σꜰ² / 2Eꜰ</a:t>
            </a:r>
            <a:endParaRPr lang="en-US" sz="1700" dirty="0"/>
          </a:p>
        </p:txBody>
      </p:sp>
      <p:sp>
        <p:nvSpPr>
          <p:cNvPr id="14" name="Text 12"/>
          <p:cNvSpPr txBox="1"/>
          <p:nvPr/>
        </p:nvSpPr>
        <p:spPr>
          <a:xfrm>
            <a:off x="5852160" y="2606040"/>
            <a:ext cx="2651760" cy="411480"/>
          </a:xfrm>
          <a:prstGeom prst="rect">
            <a:avLst/>
          </a:prstGeom>
          <a:noFill/>
          <a:ln/>
        </p:spPr>
        <p:txBody>
          <a:bodyPr wrap="square" lIns="0" tIns="0" rIns="0" bIns="0" rtlCol="0" anchor="ctr"/>
          <a:lstStyle/>
          <a:p>
            <a:pPr indent="0" marL="0">
              <a:buNone/>
            </a:pPr>
            <a:r>
              <a:rPr lang="en-US" sz="2200" b="1" dirty="0">
                <a:solidFill>
                  <a:srgbClr val="B4513A"/>
                </a:solidFill>
                <a:latin typeface="Calibri" pitchFamily="34" charset="0"/>
                <a:ea typeface="Calibri" pitchFamily="34" charset="-122"/>
                <a:cs typeface="Calibri" pitchFamily="34" charset="-120"/>
              </a:rPr>
              <a:t>14.1 kJ/m³</a:t>
            </a:r>
            <a:endParaRPr lang="en-US" sz="2200" dirty="0"/>
          </a:p>
        </p:txBody>
      </p:sp>
      <p:sp>
        <p:nvSpPr>
          <p:cNvPr id="15" name="Text 13"/>
          <p:cNvSpPr txBox="1"/>
          <p:nvPr/>
        </p:nvSpPr>
        <p:spPr>
          <a:xfrm>
            <a:off x="5852160" y="3063240"/>
            <a:ext cx="2651760" cy="457200"/>
          </a:xfrm>
          <a:prstGeom prst="rect">
            <a:avLst/>
          </a:prstGeom>
          <a:noFill/>
          <a:ln/>
        </p:spPr>
        <p:txBody>
          <a:bodyPr wrap="square" lIns="0" tIns="0" rIns="0" bIns="0" rtlCol="0" anchor="t"/>
          <a:lstStyle/>
          <a:p>
            <a:pPr indent="0" marL="0">
              <a:lnSpc>
                <a:spcPts val="1300"/>
              </a:lnSpc>
              <a:buNone/>
            </a:pPr>
            <a:r>
              <a:rPr lang="en-US" sz="900" dirty="0">
                <a:solidFill>
                  <a:srgbClr val="5E5E5E"/>
                </a:solidFill>
                <a:latin typeface="Calibri" pitchFamily="34" charset="0"/>
                <a:ea typeface="Calibri" pitchFamily="34" charset="-122"/>
                <a:cs typeface="Calibri" pitchFamily="34" charset="-120"/>
              </a:rPr>
              <a:t>2.325² / (2 × 192), from this study's own measured values for F2</a:t>
            </a:r>
            <a:endParaRPr lang="en-US" sz="900" dirty="0"/>
          </a:p>
        </p:txBody>
      </p:sp>
      <p:sp>
        <p:nvSpPr>
          <p:cNvPr id="16" name="Text 14"/>
          <p:cNvSpPr txBox="1"/>
          <p:nvPr/>
        </p:nvSpPr>
        <p:spPr>
          <a:xfrm>
            <a:off x="5852160" y="3749040"/>
            <a:ext cx="2651760" cy="1371600"/>
          </a:xfrm>
          <a:prstGeom prst="rect">
            <a:avLst/>
          </a:prstGeom>
          <a:noFill/>
          <a:ln/>
        </p:spPr>
        <p:txBody>
          <a:bodyPr wrap="square" lIns="0" tIns="0" rIns="0" bIns="0" rtlCol="0" anchor="t"/>
          <a:lstStyle/>
          <a:p>
            <a:pPr indent="0" marL="0">
              <a:lnSpc>
                <a:spcPts val="1650"/>
              </a:lnSpc>
              <a:buNone/>
            </a:pPr>
            <a:r>
              <a:rPr lang="en-US" sz="1150" dirty="0">
                <a:solidFill>
                  <a:srgbClr val="9A9A9A"/>
                </a:solidFill>
                <a:latin typeface="Calibri" pitchFamily="34" charset="0"/>
                <a:ea typeface="Calibri" pitchFamily="34" charset="-122"/>
                <a:cs typeface="Calibri" pitchFamily="34" charset="-120"/>
              </a:rPr>
              <a:t>The low modulus that counted against the material in the previous benchmark is exactly what raises this quantity.</a:t>
            </a:r>
            <a:endParaRPr lang="en-US" sz="1150" dirty="0"/>
          </a:p>
        </p:txBody>
      </p:sp>
      <p:sp>
        <p:nvSpPr>
          <p:cNvPr id="17" name="Text 15"/>
          <p:cNvSpPr txBox="1"/>
          <p:nvPr/>
        </p:nvSpPr>
        <p:spPr>
          <a:xfrm>
            <a:off x="8869680" y="1828800"/>
            <a:ext cx="2560320" cy="219456"/>
          </a:xfrm>
          <a:prstGeom prst="rect">
            <a:avLst/>
          </a:prstGeom>
          <a:noFill/>
          <a:ln/>
        </p:spPr>
        <p:txBody>
          <a:bodyPr wrap="square" lIns="0" tIns="0" rIns="0" bIns="0" rtlCol="0" anchor="ctr"/>
          <a:lstStyle/>
          <a:p>
            <a:pPr indent="0" marL="0">
              <a:buNone/>
            </a:pPr>
            <a:r>
              <a:rPr lang="en-US" sz="850" b="1" spc="130" kern="0" dirty="0">
                <a:solidFill>
                  <a:srgbClr val="5E5E5E"/>
                </a:solidFill>
                <a:latin typeface="Calibri" pitchFamily="34" charset="0"/>
                <a:ea typeface="Calibri" pitchFamily="34" charset="-122"/>
                <a:cs typeface="Calibri" pitchFamily="34" charset="-120"/>
              </a:rPr>
              <a:t>WHY IT FITS, AND ITS LIMIT</a:t>
            </a:r>
            <a:endParaRPr lang="en-US" sz="850" dirty="0"/>
          </a:p>
        </p:txBody>
      </p:sp>
      <p:sp>
        <p:nvSpPr>
          <p:cNvPr id="18" name="Text 16"/>
          <p:cNvSpPr txBox="1"/>
          <p:nvPr/>
        </p:nvSpPr>
        <p:spPr>
          <a:xfrm>
            <a:off x="8869680" y="2103120"/>
            <a:ext cx="2560320" cy="1828800"/>
          </a:xfrm>
          <a:prstGeom prst="rect">
            <a:avLst/>
          </a:prstGeom>
          <a:noFill/>
          <a:ln/>
        </p:spPr>
        <p:txBody>
          <a:bodyPr wrap="square" lIns="0" tIns="0" rIns="0" bIns="0" rtlCol="0" anchor="t"/>
          <a:lstStyle/>
          <a:p>
            <a:pPr indent="0" marL="0">
              <a:lnSpc>
                <a:spcPts val="1750"/>
              </a:lnSpc>
              <a:buNone/>
            </a:pPr>
            <a:r>
              <a:rPr lang="en-US" sz="1150" dirty="0">
                <a:solidFill>
                  <a:srgbClr val="FFFFFF"/>
                </a:solidFill>
                <a:latin typeface="Calibri" pitchFamily="34" charset="0"/>
                <a:ea typeface="Calibri" pitchFamily="34" charset="-122"/>
                <a:cs typeface="Calibri" pitchFamily="34" charset="-120"/>
              </a:rPr>
              <a:t>Both programmes gave the same result: substantial deformation with retained integrity. Strength records the load at which a material stops performing, not how it then fails.</a:t>
            </a:r>
            <a:endParaRPr lang="en-US" sz="1150" dirty="0"/>
          </a:p>
        </p:txBody>
      </p:sp>
      <p:sp>
        <p:nvSpPr>
          <p:cNvPr id="19" name="Text 17"/>
          <p:cNvSpPr txBox="1"/>
          <p:nvPr/>
        </p:nvSpPr>
        <p:spPr>
          <a:xfrm>
            <a:off x="8869680" y="4069080"/>
            <a:ext cx="2560320" cy="457200"/>
          </a:xfrm>
          <a:prstGeom prst="rect">
            <a:avLst/>
          </a:prstGeom>
          <a:noFill/>
          <a:ln/>
        </p:spPr>
        <p:txBody>
          <a:bodyPr wrap="square" lIns="0" tIns="0" rIns="0" bIns="0" rtlCol="0" anchor="t"/>
          <a:lstStyle/>
          <a:p>
            <a:pPr indent="0" marL="0">
              <a:lnSpc>
                <a:spcPts val="1300"/>
              </a:lnSpc>
              <a:buNone/>
            </a:pPr>
            <a:r>
              <a:rPr lang="en-US" sz="900" dirty="0">
                <a:solidFill>
                  <a:srgbClr val="5E5E5E"/>
                </a:solidFill>
                <a:latin typeface="Calibri" pitchFamily="34" charset="0"/>
                <a:ea typeface="Calibri" pitchFamily="34" charset="-122"/>
                <a:cs typeface="Calibri" pitchFamily="34" charset="-120"/>
              </a:rPr>
              <a:t>A comparative table cannot yet be assembled: the literature reports σ and E in separate studies on different formulations. This is a data point and a measurement convention, not a ranking.</a:t>
            </a:r>
            <a:endParaRPr lang="en-US" sz="900" dirty="0"/>
          </a:p>
        </p:txBody>
      </p:sp>
      <p:sp>
        <p:nvSpPr>
          <p:cNvPr id="21"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APPLICATION PATHWAY</a:t>
            </a:r>
            <a:endParaRPr lang="en-US" sz="900" dirty="0"/>
          </a:p>
        </p:txBody>
      </p:sp>
      <p:pic>
        <p:nvPicPr>
          <p:cNvPr id="3" name="mod" descr="/home/user/sanat-ve-mekan/konferans-bildirisi/03-gorseller/11-moduler-sistem.jpeg">    </p:cNvPr>
          <p:cNvPicPr>
            <a:picLocks noChangeAspect="1"/>
          </p:cNvPicPr>
          <p:nvPr/>
        </p:nvPicPr>
        <p:blipFill>
          <a:blip r:embed="rId1"/>
          <a:stretch>
            <a:fillRect/>
          </a:stretch>
        </p:blipFill>
        <p:spPr>
          <a:xfrm>
            <a:off x="731520" y="960120"/>
            <a:ext cx="2651760" cy="2185416"/>
          </a:xfrm>
          <a:prstGeom prst="rect">
            <a:avLst/>
          </a:prstGeom>
        </p:spPr>
      </p:pic>
      <p:pic>
        <p:nvPicPr>
          <p:cNvPr id="4" name="ren" descr="/home/user/sanat-ve-mekan/konferans-bildirisi/03-gorseller/12-ic-mekan-render.jpeg">    </p:cNvPr>
          <p:cNvPicPr>
            <a:picLocks noChangeAspect="1"/>
          </p:cNvPicPr>
          <p:nvPr/>
        </p:nvPicPr>
        <p:blipFill>
          <a:blip r:embed="rId2"/>
          <a:stretch>
            <a:fillRect/>
          </a:stretch>
        </p:blipFill>
        <p:spPr>
          <a:xfrm>
            <a:off x="731520" y="3337560"/>
            <a:ext cx="2651760" cy="2176272"/>
          </a:xfrm>
          <a:prstGeom prst="rect">
            <a:avLst/>
          </a:prstGeom>
        </p:spPr>
      </p:pic>
      <p:sp>
        <p:nvSpPr>
          <p:cNvPr id="5" name="Text 1"/>
          <p:cNvSpPr txBox="1"/>
          <p:nvPr/>
        </p:nvSpPr>
        <p:spPr>
          <a:xfrm>
            <a:off x="731520" y="5623560"/>
            <a:ext cx="265176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Modular proposal developed from the measured properties</a:t>
            </a:r>
            <a:endParaRPr lang="en-US" sz="900" dirty="0"/>
          </a:p>
        </p:txBody>
      </p:sp>
      <p:sp>
        <p:nvSpPr>
          <p:cNvPr id="6" name="Text 2"/>
          <p:cNvSpPr txBox="1"/>
          <p:nvPr/>
        </p:nvSpPr>
        <p:spPr>
          <a:xfrm>
            <a:off x="3840480" y="960120"/>
            <a:ext cx="758952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WHAT THE MEASUREMENTS PERMIT</a:t>
            </a:r>
            <a:endParaRPr lang="en-US" sz="850" dirty="0"/>
          </a:p>
        </p:txBody>
      </p:sp>
      <p:sp>
        <p:nvSpPr>
          <p:cNvPr id="7" name="Text 3"/>
          <p:cNvSpPr txBox="1"/>
          <p:nvPr/>
        </p:nvSpPr>
        <p:spPr>
          <a:xfrm>
            <a:off x="3840480" y="1261872"/>
            <a:ext cx="7589520" cy="475488"/>
          </a:xfrm>
          <a:prstGeom prst="rect">
            <a:avLst/>
          </a:prstGeom>
          <a:noFill/>
          <a:ln/>
        </p:spPr>
        <p:txBody>
          <a:bodyPr wrap="square" lIns="0" tIns="0" rIns="0" bIns="0" rtlCol="0" anchor="ctr"/>
          <a:lstStyle/>
          <a:p>
            <a:pPr indent="0" marL="0">
              <a:lnSpc>
                <a:spcPts val="1600"/>
              </a:lnSpc>
              <a:buNone/>
            </a:pPr>
            <a:r>
              <a:rPr lang="en-US" sz="1150" b="1" dirty="0">
                <a:solidFill>
                  <a:srgbClr val="141414"/>
                </a:solidFill>
                <a:latin typeface="Calibri" pitchFamily="34" charset="0"/>
                <a:ea typeface="Calibri" pitchFamily="34" charset="-122"/>
                <a:cs typeface="Calibri" pitchFamily="34" charset="-120"/>
              </a:rPr>
              <a:t>Low strength, high deformation capacity   </a:t>
            </a:r>
            <a:pPr indent="0" marL="0">
              <a:lnSpc>
                <a:spcPts val="1600"/>
              </a:lnSpc>
              <a:buNone/>
            </a:pPr>
            <a:r>
              <a:rPr lang="en-US" sz="1150" dirty="0">
                <a:solidFill>
                  <a:srgbClr val="8C8C8C"/>
                </a:solidFill>
                <a:latin typeface="Calibri" pitchFamily="34" charset="0"/>
                <a:ea typeface="Calibri" pitchFamily="34" charset="-122"/>
                <a:cs typeface="Calibri" pitchFamily="34" charset="-120"/>
              </a:rPr>
              <a:t>self-weight and handling loads only; no structural duty</a:t>
            </a:r>
            <a:endParaRPr lang="en-US" sz="1150" dirty="0"/>
          </a:p>
        </p:txBody>
      </p:sp>
      <p:sp>
        <p:nvSpPr>
          <p:cNvPr id="8" name="Text 4"/>
          <p:cNvSpPr txBox="1"/>
          <p:nvPr/>
        </p:nvSpPr>
        <p:spPr>
          <a:xfrm>
            <a:off x="3840480" y="1810512"/>
            <a:ext cx="7589520" cy="475488"/>
          </a:xfrm>
          <a:prstGeom prst="rect">
            <a:avLst/>
          </a:prstGeom>
          <a:noFill/>
          <a:ln/>
        </p:spPr>
        <p:txBody>
          <a:bodyPr wrap="square" lIns="0" tIns="0" rIns="0" bIns="0" rtlCol="0" anchor="ctr"/>
          <a:lstStyle/>
          <a:p>
            <a:pPr indent="0" marL="0">
              <a:lnSpc>
                <a:spcPts val="1600"/>
              </a:lnSpc>
              <a:buNone/>
            </a:pPr>
            <a:r>
              <a:rPr lang="en-US" sz="1150" b="1" dirty="0">
                <a:solidFill>
                  <a:srgbClr val="141414"/>
                </a:solidFill>
                <a:latin typeface="Calibri" pitchFamily="34" charset="0"/>
                <a:ea typeface="Calibri" pitchFamily="34" charset="-122"/>
                <a:cs typeface="Calibri" pitchFamily="34" charset="-120"/>
              </a:rPr>
              <a:t>Self-extinguishing, no dripping   </a:t>
            </a:r>
            <a:pPr indent="0" marL="0">
              <a:lnSpc>
                <a:spcPts val="1600"/>
              </a:lnSpc>
              <a:buNone/>
            </a:pPr>
            <a:r>
              <a:rPr lang="en-US" sz="1150" dirty="0">
                <a:solidFill>
                  <a:srgbClr val="8C8C8C"/>
                </a:solidFill>
                <a:latin typeface="Calibri" pitchFamily="34" charset="0"/>
                <a:ea typeface="Calibri" pitchFamily="34" charset="-122"/>
                <a:cs typeface="Calibri" pitchFamily="34" charset="-120"/>
              </a:rPr>
              <a:t>interior surfaces away from ignition sources</a:t>
            </a:r>
            <a:endParaRPr lang="en-US" sz="1150" dirty="0"/>
          </a:p>
        </p:txBody>
      </p:sp>
      <p:sp>
        <p:nvSpPr>
          <p:cNvPr id="9" name="Text 5"/>
          <p:cNvSpPr txBox="1"/>
          <p:nvPr/>
        </p:nvSpPr>
        <p:spPr>
          <a:xfrm>
            <a:off x="3840480" y="2359152"/>
            <a:ext cx="7589520" cy="475488"/>
          </a:xfrm>
          <a:prstGeom prst="rect">
            <a:avLst/>
          </a:prstGeom>
          <a:noFill/>
          <a:ln/>
        </p:spPr>
        <p:txBody>
          <a:bodyPr wrap="square" lIns="0" tIns="0" rIns="0" bIns="0" rtlCol="0" anchor="ctr"/>
          <a:lstStyle/>
          <a:p>
            <a:pPr indent="0" marL="0">
              <a:lnSpc>
                <a:spcPts val="1600"/>
              </a:lnSpc>
              <a:buNone/>
            </a:pPr>
            <a:r>
              <a:rPr lang="en-US" sz="1150" b="1" dirty="0">
                <a:solidFill>
                  <a:srgbClr val="141414"/>
                </a:solidFill>
                <a:latin typeface="Calibri" pitchFamily="34" charset="0"/>
                <a:ea typeface="Calibri" pitchFamily="34" charset="-122"/>
                <a:cs typeface="Calibri" pitchFamily="34" charset="-120"/>
              </a:rPr>
              <a:t>Coating-dependent water resistance   </a:t>
            </a:r>
            <a:pPr indent="0" marL="0">
              <a:lnSpc>
                <a:spcPts val="1600"/>
              </a:lnSpc>
              <a:buNone/>
            </a:pPr>
            <a:r>
              <a:rPr lang="en-US" sz="1150" dirty="0">
                <a:solidFill>
                  <a:srgbClr val="8C8C8C"/>
                </a:solidFill>
                <a:latin typeface="Calibri" pitchFamily="34" charset="0"/>
                <a:ea typeface="Calibri" pitchFamily="34" charset="-122"/>
                <a:cs typeface="Calibri" pitchFamily="34" charset="-120"/>
              </a:rPr>
              <a:t>dry interiors; not wet rooms or facades</a:t>
            </a:r>
            <a:endParaRPr lang="en-US" sz="1150" dirty="0"/>
          </a:p>
        </p:txBody>
      </p:sp>
      <p:sp>
        <p:nvSpPr>
          <p:cNvPr id="10" name="Text 6"/>
          <p:cNvSpPr txBox="1"/>
          <p:nvPr/>
        </p:nvSpPr>
        <p:spPr>
          <a:xfrm>
            <a:off x="3840480" y="2907792"/>
            <a:ext cx="7589520" cy="475488"/>
          </a:xfrm>
          <a:prstGeom prst="rect">
            <a:avLst/>
          </a:prstGeom>
          <a:noFill/>
          <a:ln/>
        </p:spPr>
        <p:txBody>
          <a:bodyPr wrap="square" lIns="0" tIns="0" rIns="0" bIns="0" rtlCol="0" anchor="ctr"/>
          <a:lstStyle/>
          <a:p>
            <a:pPr indent="0" marL="0">
              <a:lnSpc>
                <a:spcPts val="1600"/>
              </a:lnSpc>
              <a:buNone/>
            </a:pPr>
            <a:r>
              <a:rPr lang="en-US" sz="1150" b="1" dirty="0">
                <a:solidFill>
                  <a:srgbClr val="141414"/>
                </a:solidFill>
                <a:latin typeface="Calibri" pitchFamily="34" charset="0"/>
                <a:ea typeface="Calibri" pitchFamily="34" charset="-122"/>
                <a:cs typeface="Calibri" pitchFamily="34" charset="-120"/>
              </a:rPr>
              <a:t>Repeatable small-format casting   </a:t>
            </a:r>
            <a:pPr indent="0" marL="0">
              <a:lnSpc>
                <a:spcPts val="1600"/>
              </a:lnSpc>
              <a:buNone/>
            </a:pPr>
            <a:r>
              <a:rPr lang="en-US" sz="1150" dirty="0">
                <a:solidFill>
                  <a:srgbClr val="8C8C8C"/>
                </a:solidFill>
                <a:latin typeface="Calibri" pitchFamily="34" charset="0"/>
                <a:ea typeface="Calibri" pitchFamily="34" charset="-122"/>
                <a:cs typeface="Calibri" pitchFamily="34" charset="-120"/>
              </a:rPr>
              <a:t>a module, not a sheet — failure is replaced one unit at a time</a:t>
            </a:r>
            <a:endParaRPr lang="en-US" sz="1150" dirty="0"/>
          </a:p>
        </p:txBody>
      </p:sp>
      <p:sp>
        <p:nvSpPr>
          <p:cNvPr id="11" name="Text 7"/>
          <p:cNvSpPr txBox="1"/>
          <p:nvPr/>
        </p:nvSpPr>
        <p:spPr>
          <a:xfrm>
            <a:off x="3840480" y="3611880"/>
            <a:ext cx="758952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POTENTIALS FOR SUSTAINABLE INTERIORS</a:t>
            </a:r>
            <a:endParaRPr lang="en-US" sz="850" dirty="0"/>
          </a:p>
        </p:txBody>
      </p:sp>
      <p:sp>
        <p:nvSpPr>
          <p:cNvPr id="12" name="Text 8"/>
          <p:cNvSpPr txBox="1"/>
          <p:nvPr/>
        </p:nvSpPr>
        <p:spPr>
          <a:xfrm>
            <a:off x="3840480" y="3913632"/>
            <a:ext cx="3611880" cy="237744"/>
          </a:xfrm>
          <a:prstGeom prst="rect">
            <a:avLst/>
          </a:prstGeom>
          <a:noFill/>
          <a:ln/>
        </p:spPr>
        <p:txBody>
          <a:bodyPr wrap="square" lIns="0" tIns="0" rIns="0" bIns="0" rtlCol="0" anchor="ctr"/>
          <a:lstStyle/>
          <a:p>
            <a:pPr indent="0" marL="0">
              <a:buNone/>
            </a:pPr>
            <a:r>
              <a:rPr lang="en-US" sz="1100" b="1" dirty="0">
                <a:solidFill>
                  <a:srgbClr val="141414"/>
                </a:solidFill>
                <a:latin typeface="Calibri" pitchFamily="34" charset="0"/>
                <a:ea typeface="Calibri" pitchFamily="34" charset="-122"/>
                <a:cs typeface="Calibri" pitchFamily="34" charset="-120"/>
              </a:rPr>
              <a:t>Waste valorisation at source</a:t>
            </a:r>
            <a:endParaRPr lang="en-US" sz="1100" dirty="0"/>
          </a:p>
        </p:txBody>
      </p:sp>
      <p:sp>
        <p:nvSpPr>
          <p:cNvPr id="13" name="Text 9"/>
          <p:cNvSpPr txBox="1"/>
          <p:nvPr/>
        </p:nvSpPr>
        <p:spPr>
          <a:xfrm>
            <a:off x="3840480" y="4151376"/>
            <a:ext cx="3611880" cy="384048"/>
          </a:xfrm>
          <a:prstGeom prst="rect">
            <a:avLst/>
          </a:prstGeom>
          <a:noFill/>
          <a:ln/>
        </p:spPr>
        <p:txBody>
          <a:bodyPr wrap="square" lIns="0" tIns="0" rIns="0" bIns="0" rtlCol="0" anchor="ctr"/>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A local food-waste stream becomes a surface material with no intermediate industry.</a:t>
            </a:r>
            <a:endParaRPr lang="en-US" sz="950" dirty="0"/>
          </a:p>
        </p:txBody>
      </p:sp>
      <p:sp>
        <p:nvSpPr>
          <p:cNvPr id="14" name="Text 10"/>
          <p:cNvSpPr txBox="1"/>
          <p:nvPr/>
        </p:nvSpPr>
        <p:spPr>
          <a:xfrm>
            <a:off x="7726680" y="3913632"/>
            <a:ext cx="3611880" cy="237744"/>
          </a:xfrm>
          <a:prstGeom prst="rect">
            <a:avLst/>
          </a:prstGeom>
          <a:noFill/>
          <a:ln/>
        </p:spPr>
        <p:txBody>
          <a:bodyPr wrap="square" lIns="0" tIns="0" rIns="0" bIns="0" rtlCol="0" anchor="ctr"/>
          <a:lstStyle/>
          <a:p>
            <a:pPr indent="0" marL="0">
              <a:buNone/>
            </a:pPr>
            <a:r>
              <a:rPr lang="en-US" sz="1100" b="1" dirty="0">
                <a:solidFill>
                  <a:srgbClr val="141414"/>
                </a:solidFill>
                <a:latin typeface="Calibri" pitchFamily="34" charset="0"/>
                <a:ea typeface="Calibri" pitchFamily="34" charset="-122"/>
                <a:cs typeface="Calibri" pitchFamily="34" charset="-120"/>
              </a:rPr>
              <a:t>Low-energy production</a:t>
            </a:r>
            <a:endParaRPr lang="en-US" sz="1100" dirty="0"/>
          </a:p>
        </p:txBody>
      </p:sp>
      <p:sp>
        <p:nvSpPr>
          <p:cNvPr id="15" name="Text 11"/>
          <p:cNvSpPr txBox="1"/>
          <p:nvPr/>
        </p:nvSpPr>
        <p:spPr>
          <a:xfrm>
            <a:off x="7726680" y="4151376"/>
            <a:ext cx="3611880" cy="384048"/>
          </a:xfrm>
          <a:prstGeom prst="rect">
            <a:avLst/>
          </a:prstGeom>
          <a:noFill/>
          <a:ln/>
        </p:spPr>
        <p:txBody>
          <a:bodyPr wrap="square" lIns="0" tIns="0" rIns="0" bIns="0" rtlCol="0" anchor="ctr"/>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No oven, no autoclave, no extrusion. One 55-minute cook, then ambient drying.</a:t>
            </a:r>
            <a:endParaRPr lang="en-US" sz="950" dirty="0"/>
          </a:p>
        </p:txBody>
      </p:sp>
      <p:sp>
        <p:nvSpPr>
          <p:cNvPr id="16" name="Text 12"/>
          <p:cNvSpPr txBox="1"/>
          <p:nvPr/>
        </p:nvSpPr>
        <p:spPr>
          <a:xfrm>
            <a:off x="3840480" y="4590288"/>
            <a:ext cx="3611880" cy="237744"/>
          </a:xfrm>
          <a:prstGeom prst="rect">
            <a:avLst/>
          </a:prstGeom>
          <a:noFill/>
          <a:ln/>
        </p:spPr>
        <p:txBody>
          <a:bodyPr wrap="square" lIns="0" tIns="0" rIns="0" bIns="0" rtlCol="0" anchor="ctr"/>
          <a:lstStyle/>
          <a:p>
            <a:pPr indent="0" marL="0">
              <a:buNone/>
            </a:pPr>
            <a:r>
              <a:rPr lang="en-US" sz="1100" b="1" dirty="0">
                <a:solidFill>
                  <a:srgbClr val="141414"/>
                </a:solidFill>
                <a:latin typeface="Calibri" pitchFamily="34" charset="0"/>
                <a:ea typeface="Calibri" pitchFamily="34" charset="-122"/>
                <a:cs typeface="Calibri" pitchFamily="34" charset="-120"/>
              </a:rPr>
              <a:t>End-of-life by design</a:t>
            </a:r>
            <a:endParaRPr lang="en-US" sz="1100" dirty="0"/>
          </a:p>
        </p:txBody>
      </p:sp>
      <p:sp>
        <p:nvSpPr>
          <p:cNvPr id="17" name="Text 13"/>
          <p:cNvSpPr txBox="1"/>
          <p:nvPr/>
        </p:nvSpPr>
        <p:spPr>
          <a:xfrm>
            <a:off x="3840480" y="4828032"/>
            <a:ext cx="3611880" cy="384048"/>
          </a:xfrm>
          <a:prstGeom prst="rect">
            <a:avLst/>
          </a:prstGeom>
          <a:noFill/>
          <a:ln/>
        </p:spPr>
        <p:txBody>
          <a:bodyPr wrap="square" lIns="0" tIns="0" rIns="0" bIns="0" rtlCol="0" anchor="ctr"/>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Every constituent biodegrades, including the shellac finish.</a:t>
            </a:r>
            <a:endParaRPr lang="en-US" sz="950" dirty="0"/>
          </a:p>
        </p:txBody>
      </p:sp>
      <p:sp>
        <p:nvSpPr>
          <p:cNvPr id="18" name="Text 14"/>
          <p:cNvSpPr txBox="1"/>
          <p:nvPr/>
        </p:nvSpPr>
        <p:spPr>
          <a:xfrm>
            <a:off x="7726680" y="4590288"/>
            <a:ext cx="3611880" cy="237744"/>
          </a:xfrm>
          <a:prstGeom prst="rect">
            <a:avLst/>
          </a:prstGeom>
          <a:noFill/>
          <a:ln/>
        </p:spPr>
        <p:txBody>
          <a:bodyPr wrap="square" lIns="0" tIns="0" rIns="0" bIns="0" rtlCol="0" anchor="ctr"/>
          <a:lstStyle/>
          <a:p>
            <a:pPr indent="0" marL="0">
              <a:buNone/>
            </a:pPr>
            <a:r>
              <a:rPr lang="en-US" sz="1100" b="1" dirty="0">
                <a:solidFill>
                  <a:srgbClr val="141414"/>
                </a:solidFill>
                <a:latin typeface="Calibri" pitchFamily="34" charset="0"/>
                <a:ea typeface="Calibri" pitchFamily="34" charset="-122"/>
                <a:cs typeface="Calibri" pitchFamily="34" charset="-120"/>
              </a:rPr>
              <a:t>Reversible assembly</a:t>
            </a:r>
            <a:endParaRPr lang="en-US" sz="1100" dirty="0"/>
          </a:p>
        </p:txBody>
      </p:sp>
      <p:sp>
        <p:nvSpPr>
          <p:cNvPr id="19" name="Text 15"/>
          <p:cNvSpPr txBox="1"/>
          <p:nvPr/>
        </p:nvSpPr>
        <p:spPr>
          <a:xfrm>
            <a:off x="7726680" y="4828032"/>
            <a:ext cx="3611880" cy="384048"/>
          </a:xfrm>
          <a:prstGeom prst="rect">
            <a:avLst/>
          </a:prstGeom>
          <a:noFill/>
          <a:ln/>
        </p:spPr>
        <p:txBody>
          <a:bodyPr wrap="square" lIns="0" tIns="0" rIns="0" bIns="0" rtlCol="0" anchor="ctr"/>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Adhesive-free modular assembly means reuse precedes recycling.</a:t>
            </a:r>
            <a:endParaRPr lang="en-US" sz="950" dirty="0"/>
          </a:p>
        </p:txBody>
      </p:sp>
      <p:sp>
        <p:nvSpPr>
          <p:cNvPr id="20" name="Text 16"/>
          <p:cNvSpPr txBox="1"/>
          <p:nvPr/>
        </p:nvSpPr>
        <p:spPr>
          <a:xfrm>
            <a:off x="3840480" y="5266944"/>
            <a:ext cx="3611880" cy="237744"/>
          </a:xfrm>
          <a:prstGeom prst="rect">
            <a:avLst/>
          </a:prstGeom>
          <a:noFill/>
          <a:ln/>
        </p:spPr>
        <p:txBody>
          <a:bodyPr wrap="square" lIns="0" tIns="0" rIns="0" bIns="0" rtlCol="0" anchor="ctr"/>
          <a:lstStyle/>
          <a:p>
            <a:pPr indent="0" marL="0">
              <a:buNone/>
            </a:pPr>
            <a:r>
              <a:rPr lang="en-US" sz="1100" b="1" dirty="0">
                <a:solidFill>
                  <a:srgbClr val="141414"/>
                </a:solidFill>
                <a:latin typeface="Calibri" pitchFamily="34" charset="0"/>
                <a:ea typeface="Calibri" pitchFamily="34" charset="-122"/>
                <a:cs typeface="Calibri" pitchFamily="34" charset="-120"/>
              </a:rPr>
              <a:t>Displacing a mineral extraction</a:t>
            </a:r>
            <a:endParaRPr lang="en-US" sz="1100" dirty="0"/>
          </a:p>
        </p:txBody>
      </p:sp>
      <p:sp>
        <p:nvSpPr>
          <p:cNvPr id="21" name="Text 17"/>
          <p:cNvSpPr txBox="1"/>
          <p:nvPr/>
        </p:nvSpPr>
        <p:spPr>
          <a:xfrm>
            <a:off x="3840480" y="5504688"/>
            <a:ext cx="3611880" cy="384048"/>
          </a:xfrm>
          <a:prstGeom prst="rect">
            <a:avLst/>
          </a:prstGeom>
          <a:noFill/>
          <a:ln/>
        </p:spPr>
        <p:txBody>
          <a:bodyPr wrap="square" lIns="0" tIns="0" rIns="0" bIns="0" rtlCol="0" anchor="ctr"/>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Substitutes quarried limestone in a surface application, not a downcycled use.</a:t>
            </a:r>
            <a:endParaRPr lang="en-US" sz="950" dirty="0"/>
          </a:p>
        </p:txBody>
      </p:sp>
      <p:sp>
        <p:nvSpPr>
          <p:cNvPr id="22" name="Text 18"/>
          <p:cNvSpPr txBox="1"/>
          <p:nvPr/>
        </p:nvSpPr>
        <p:spPr>
          <a:xfrm>
            <a:off x="7726680" y="5266944"/>
            <a:ext cx="3611880" cy="237744"/>
          </a:xfrm>
          <a:prstGeom prst="rect">
            <a:avLst/>
          </a:prstGeom>
          <a:noFill/>
          <a:ln/>
        </p:spPr>
        <p:txBody>
          <a:bodyPr wrap="square" lIns="0" tIns="0" rIns="0" bIns="0" rtlCol="0" anchor="ctr"/>
          <a:lstStyle/>
          <a:p>
            <a:pPr indent="0" marL="0">
              <a:buNone/>
            </a:pPr>
            <a:r>
              <a:rPr lang="en-US" sz="1100" b="1" dirty="0">
                <a:solidFill>
                  <a:srgbClr val="141414"/>
                </a:solidFill>
                <a:latin typeface="Calibri" pitchFamily="34" charset="0"/>
                <a:ea typeface="Calibri" pitchFamily="34" charset="-122"/>
                <a:cs typeface="Calibri" pitchFamily="34" charset="-120"/>
              </a:rPr>
              <a:t>Low-barrier manufacture</a:t>
            </a:r>
            <a:endParaRPr lang="en-US" sz="1100" dirty="0"/>
          </a:p>
        </p:txBody>
      </p:sp>
      <p:sp>
        <p:nvSpPr>
          <p:cNvPr id="23" name="Text 19"/>
          <p:cNvSpPr txBox="1"/>
          <p:nvPr/>
        </p:nvSpPr>
        <p:spPr>
          <a:xfrm>
            <a:off x="7726680" y="5504688"/>
            <a:ext cx="3611880" cy="384048"/>
          </a:xfrm>
          <a:prstGeom prst="rect">
            <a:avLst/>
          </a:prstGeom>
          <a:noFill/>
          <a:ln/>
        </p:spPr>
        <p:txBody>
          <a:bodyPr wrap="square" lIns="0" tIns="0" rIns="0" bIns="0" rtlCol="0" anchor="ctr"/>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A grinder, a sieve, a hotplate and silicone moulds. Production can be distributed.</a:t>
            </a:r>
            <a:endParaRPr lang="en-US" sz="950" dirty="0"/>
          </a:p>
        </p:txBody>
      </p:sp>
      <p:sp>
        <p:nvSpPr>
          <p:cNvPr id="24" name="Text 20"/>
          <p:cNvSpPr txBox="1"/>
          <p:nvPr/>
        </p:nvSpPr>
        <p:spPr>
          <a:xfrm>
            <a:off x="3840480" y="5943600"/>
            <a:ext cx="7589520" cy="320040"/>
          </a:xfrm>
          <a:prstGeom prst="rect">
            <a:avLst/>
          </a:prstGeom>
          <a:noFill/>
          <a:ln/>
        </p:spPr>
        <p:txBody>
          <a:bodyPr wrap="square" lIns="0" tIns="0" rIns="0" bIns="0" rtlCol="0" anchor="ctr"/>
          <a:lstStyle/>
          <a:p>
            <a:pPr indent="0" marL="0">
              <a:buNone/>
            </a:pPr>
            <a:r>
              <a:rPr lang="en-US" sz="1050" b="1" dirty="0">
                <a:solidFill>
                  <a:srgbClr val="B4513A"/>
                </a:solidFill>
                <a:latin typeface="Calibri" pitchFamily="34" charset="0"/>
                <a:ea typeface="Calibri" pitchFamily="34" charset="-122"/>
                <a:cs typeface="Calibri" pitchFamily="34" charset="-120"/>
              </a:rPr>
              <a:t>No life-cycle assessment was carried out. These are qualitative potentials grounded in the protocol, not quantified environmental claims.</a:t>
            </a:r>
            <a:endParaRPr lang="en-US" sz="1050" dirty="0"/>
          </a:p>
        </p:txBody>
      </p:sp>
      <p:sp>
        <p:nvSpPr>
          <p:cNvPr id="26"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LIMITATIONS</a:t>
            </a:r>
            <a:endParaRPr lang="en-US" sz="900" dirty="0"/>
          </a:p>
        </p:txBody>
      </p:sp>
      <p:sp>
        <p:nvSpPr>
          <p:cNvPr id="3" name="Text 1"/>
          <p:cNvSpPr txBox="1"/>
          <p:nvPr/>
        </p:nvSpPr>
        <p:spPr>
          <a:xfrm>
            <a:off x="731520" y="100584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Dispersion not reported</a:t>
            </a:r>
            <a:endParaRPr lang="en-US" sz="1200" dirty="0"/>
          </a:p>
        </p:txBody>
      </p:sp>
      <p:sp>
        <p:nvSpPr>
          <p:cNvPr id="4" name="Text 2"/>
          <p:cNvSpPr txBox="1"/>
          <p:nvPr/>
        </p:nvSpPr>
        <p:spPr>
          <a:xfrm>
            <a:off x="731520" y="128016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Means of three specimens; individual values not retained, so no standard deviations.</a:t>
            </a:r>
            <a:endParaRPr lang="en-US" sz="1050" dirty="0"/>
          </a:p>
        </p:txBody>
      </p:sp>
      <p:sp>
        <p:nvSpPr>
          <p:cNvPr id="5" name="ln0"/>
          <p:cNvSpPr/>
          <p:nvPr/>
        </p:nvSpPr>
        <p:spPr>
          <a:xfrm>
            <a:off x="731520" y="2011680"/>
            <a:ext cx="5120640" cy="9144"/>
          </a:xfrm>
          <a:prstGeom prst="rect">
            <a:avLst/>
          </a:prstGeom>
          <a:solidFill>
            <a:srgbClr val="E2E2E2"/>
          </a:solidFill>
          <a:ln w="12700">
            <a:solidFill>
              <a:srgbClr val="E2E2E2">
                <a:alpha val="0"/>
              </a:srgbClr>
            </a:solidFill>
            <a:prstDash val="solid"/>
          </a:ln>
        </p:spPr>
      </p:sp>
      <p:sp>
        <p:nvSpPr>
          <p:cNvPr id="6" name="Text 4"/>
          <p:cNvSpPr txBox="1"/>
          <p:nvPr/>
        </p:nvSpPr>
        <p:spPr>
          <a:xfrm>
            <a:off x="6355080" y="100584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Formulation confound in flexure</a:t>
            </a:r>
            <a:endParaRPr lang="en-US" sz="1200" dirty="0"/>
          </a:p>
        </p:txBody>
      </p:sp>
      <p:sp>
        <p:nvSpPr>
          <p:cNvPr id="7" name="Text 5"/>
          <p:cNvSpPr txBox="1"/>
          <p:nvPr/>
        </p:nvSpPr>
        <p:spPr>
          <a:xfrm>
            <a:off x="6355080" y="128016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Glycerol, solids concentration and shell : binder moved together between F1 and F2.</a:t>
            </a:r>
            <a:endParaRPr lang="en-US" sz="1050" dirty="0"/>
          </a:p>
        </p:txBody>
      </p:sp>
      <p:sp>
        <p:nvSpPr>
          <p:cNvPr id="8" name="ln1"/>
          <p:cNvSpPr/>
          <p:nvPr/>
        </p:nvSpPr>
        <p:spPr>
          <a:xfrm>
            <a:off x="6355080" y="2011680"/>
            <a:ext cx="5120640" cy="9144"/>
          </a:xfrm>
          <a:prstGeom prst="rect">
            <a:avLst/>
          </a:prstGeom>
          <a:solidFill>
            <a:srgbClr val="E2E2E2"/>
          </a:solidFill>
          <a:ln w="12700">
            <a:solidFill>
              <a:srgbClr val="E2E2E2">
                <a:alpha val="0"/>
              </a:srgbClr>
            </a:solidFill>
            <a:prstDash val="solid"/>
          </a:ln>
        </p:spPr>
      </p:sp>
      <p:sp>
        <p:nvSpPr>
          <p:cNvPr id="9" name="Text 7"/>
          <p:cNvSpPr txBox="1"/>
          <p:nvPr/>
        </p:nvSpPr>
        <p:spPr>
          <a:xfrm>
            <a:off x="731520" y="219456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Section geometry in flexure</a:t>
            </a:r>
            <a:endParaRPr lang="en-US" sz="1200" dirty="0"/>
          </a:p>
        </p:txBody>
      </p:sp>
      <p:sp>
        <p:nvSpPr>
          <p:cNvPr id="10" name="Text 8"/>
          <p:cNvSpPr txBox="1"/>
          <p:nvPr/>
        </p:nvSpPr>
        <p:spPr>
          <a:xfrm>
            <a:off x="731520" y="246888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A kerfed specimen treated as a solid rectangle. The modulus is a lower bound.</a:t>
            </a:r>
            <a:endParaRPr lang="en-US" sz="1050" dirty="0"/>
          </a:p>
        </p:txBody>
      </p:sp>
      <p:sp>
        <p:nvSpPr>
          <p:cNvPr id="11" name="ln2"/>
          <p:cNvSpPr/>
          <p:nvPr/>
        </p:nvSpPr>
        <p:spPr>
          <a:xfrm>
            <a:off x="731520" y="3200400"/>
            <a:ext cx="5120640" cy="9144"/>
          </a:xfrm>
          <a:prstGeom prst="rect">
            <a:avLst/>
          </a:prstGeom>
          <a:solidFill>
            <a:srgbClr val="E2E2E2"/>
          </a:solidFill>
          <a:ln w="12700">
            <a:solidFill>
              <a:srgbClr val="E2E2E2">
                <a:alpha val="0"/>
              </a:srgbClr>
            </a:solidFill>
            <a:prstDash val="solid"/>
          </a:ln>
        </p:spPr>
      </p:sp>
      <p:sp>
        <p:nvSpPr>
          <p:cNvPr id="12" name="Text 10"/>
          <p:cNvSpPr txBox="1"/>
          <p:nvPr/>
        </p:nvSpPr>
        <p:spPr>
          <a:xfrm>
            <a:off x="6355080" y="219456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Strain not instrumented</a:t>
            </a:r>
            <a:endParaRPr lang="en-US" sz="1200" dirty="0"/>
          </a:p>
        </p:txBody>
      </p:sp>
      <p:sp>
        <p:nvSpPr>
          <p:cNvPr id="13" name="Text 11"/>
          <p:cNvSpPr txBox="1"/>
          <p:nvPr/>
        </p:nvSpPr>
        <p:spPr>
          <a:xfrm>
            <a:off x="6355080" y="246888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Compressive strain derived from an assumed 10% maximum deformation.</a:t>
            </a:r>
            <a:endParaRPr lang="en-US" sz="1050" dirty="0"/>
          </a:p>
        </p:txBody>
      </p:sp>
      <p:sp>
        <p:nvSpPr>
          <p:cNvPr id="14" name="ln3"/>
          <p:cNvSpPr/>
          <p:nvPr/>
        </p:nvSpPr>
        <p:spPr>
          <a:xfrm>
            <a:off x="6355080" y="3200400"/>
            <a:ext cx="5120640" cy="9144"/>
          </a:xfrm>
          <a:prstGeom prst="rect">
            <a:avLst/>
          </a:prstGeom>
          <a:solidFill>
            <a:srgbClr val="E2E2E2"/>
          </a:solidFill>
          <a:ln w="12700">
            <a:solidFill>
              <a:srgbClr val="E2E2E2">
                <a:alpha val="0"/>
              </a:srgbClr>
            </a:solidFill>
            <a:prstDash val="solid"/>
          </a:ln>
        </p:spPr>
      </p:sp>
      <p:sp>
        <p:nvSpPr>
          <p:cNvPr id="15" name="Text 13"/>
          <p:cNvSpPr txBox="1"/>
          <p:nvPr/>
        </p:nvSpPr>
        <p:spPr>
          <a:xfrm>
            <a:off x="731520" y="338328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Shrinkage unquantified</a:t>
            </a:r>
            <a:endParaRPr lang="en-US" sz="1200" dirty="0"/>
          </a:p>
        </p:txBody>
      </p:sp>
      <p:sp>
        <p:nvSpPr>
          <p:cNvPr id="16" name="Text 14"/>
          <p:cNvSpPr txBox="1"/>
          <p:nvPr/>
        </p:nvSpPr>
        <p:spPr>
          <a:xfrm>
            <a:off x="731520" y="365760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Post-drying dimensions not logged; density is a lower bound.</a:t>
            </a:r>
            <a:endParaRPr lang="en-US" sz="1050" dirty="0"/>
          </a:p>
        </p:txBody>
      </p:sp>
      <p:sp>
        <p:nvSpPr>
          <p:cNvPr id="17" name="ln4"/>
          <p:cNvSpPr/>
          <p:nvPr/>
        </p:nvSpPr>
        <p:spPr>
          <a:xfrm>
            <a:off x="731520" y="4389120"/>
            <a:ext cx="5120640" cy="9144"/>
          </a:xfrm>
          <a:prstGeom prst="rect">
            <a:avLst/>
          </a:prstGeom>
          <a:solidFill>
            <a:srgbClr val="E2E2E2"/>
          </a:solidFill>
          <a:ln w="12700">
            <a:solidFill>
              <a:srgbClr val="E2E2E2">
                <a:alpha val="0"/>
              </a:srgbClr>
            </a:solidFill>
            <a:prstDash val="solid"/>
          </a:ln>
        </p:spPr>
      </p:sp>
      <p:sp>
        <p:nvSpPr>
          <p:cNvPr id="18" name="Text 16"/>
          <p:cNvSpPr txBox="1"/>
          <p:nvPr/>
        </p:nvSpPr>
        <p:spPr>
          <a:xfrm>
            <a:off x="6355080" y="338328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Process not instrumented</a:t>
            </a:r>
            <a:endParaRPr lang="en-US" sz="1200" dirty="0"/>
          </a:p>
        </p:txBody>
      </p:sp>
      <p:sp>
        <p:nvSpPr>
          <p:cNvPr id="19" name="Text 17"/>
          <p:cNvSpPr txBox="1"/>
          <p:nvPr/>
        </p:nvSpPr>
        <p:spPr>
          <a:xfrm>
            <a:off x="6355080" y="365760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Manual stirring; single laboratory, single operator, no inter-laboratory reproduction.</a:t>
            </a:r>
            <a:endParaRPr lang="en-US" sz="1050" dirty="0"/>
          </a:p>
        </p:txBody>
      </p:sp>
      <p:sp>
        <p:nvSpPr>
          <p:cNvPr id="20" name="ln5"/>
          <p:cNvSpPr/>
          <p:nvPr/>
        </p:nvSpPr>
        <p:spPr>
          <a:xfrm>
            <a:off x="6355080" y="4389120"/>
            <a:ext cx="5120640" cy="9144"/>
          </a:xfrm>
          <a:prstGeom prst="rect">
            <a:avLst/>
          </a:prstGeom>
          <a:solidFill>
            <a:srgbClr val="E2E2E2"/>
          </a:solidFill>
          <a:ln w="12700">
            <a:solidFill>
              <a:srgbClr val="E2E2E2">
                <a:alpha val="0"/>
              </a:srgbClr>
            </a:solidFill>
            <a:prstDash val="solid"/>
          </a:ln>
        </p:spPr>
      </p:sp>
      <p:sp>
        <p:nvSpPr>
          <p:cNvPr id="21" name="Text 19"/>
          <p:cNvSpPr txBox="1"/>
          <p:nvPr/>
        </p:nvSpPr>
        <p:spPr>
          <a:xfrm>
            <a:off x="731520" y="457200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No durability data</a:t>
            </a:r>
            <a:endParaRPr lang="en-US" sz="1200" dirty="0"/>
          </a:p>
        </p:txBody>
      </p:sp>
      <p:sp>
        <p:nvSpPr>
          <p:cNvPr id="22" name="Text 20"/>
          <p:cNvSpPr txBox="1"/>
          <p:nvPr/>
        </p:nvSpPr>
        <p:spPr>
          <a:xfrm>
            <a:off x="731520" y="484632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No humidity or thermal cycling, UV exposure, microbial resistance or accelerated ageing.</a:t>
            </a:r>
            <a:endParaRPr lang="en-US" sz="1050" dirty="0"/>
          </a:p>
        </p:txBody>
      </p:sp>
      <p:sp>
        <p:nvSpPr>
          <p:cNvPr id="23" name="ln6"/>
          <p:cNvSpPr/>
          <p:nvPr/>
        </p:nvSpPr>
        <p:spPr>
          <a:xfrm>
            <a:off x="731520" y="5577840"/>
            <a:ext cx="5120640" cy="9144"/>
          </a:xfrm>
          <a:prstGeom prst="rect">
            <a:avLst/>
          </a:prstGeom>
          <a:solidFill>
            <a:srgbClr val="E2E2E2"/>
          </a:solidFill>
          <a:ln w="12700">
            <a:solidFill>
              <a:srgbClr val="E2E2E2">
                <a:alpha val="0"/>
              </a:srgbClr>
            </a:solidFill>
            <a:prstDash val="solid"/>
          </a:ln>
        </p:spPr>
      </p:sp>
      <p:sp>
        <p:nvSpPr>
          <p:cNvPr id="24" name="Text 22"/>
          <p:cNvSpPr txBox="1"/>
          <p:nvPr/>
        </p:nvSpPr>
        <p:spPr>
          <a:xfrm>
            <a:off x="6355080" y="4572000"/>
            <a:ext cx="512064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No fire classification or LCA</a:t>
            </a:r>
            <a:endParaRPr lang="en-US" sz="1200" dirty="0"/>
          </a:p>
        </p:txBody>
      </p:sp>
      <p:sp>
        <p:nvSpPr>
          <p:cNvPr id="25" name="Text 23"/>
          <p:cNvSpPr txBox="1"/>
          <p:nvPr/>
        </p:nvSpPr>
        <p:spPr>
          <a:xfrm>
            <a:off x="6355080" y="4846320"/>
            <a:ext cx="5120640" cy="658368"/>
          </a:xfrm>
          <a:prstGeom prst="rect">
            <a:avLst/>
          </a:prstGeom>
          <a:noFill/>
          <a:ln/>
        </p:spPr>
        <p:txBody>
          <a:bodyPr wrap="square" lIns="0" tIns="0" rIns="0" bIns="0" rtlCol="0" anchor="ctr"/>
          <a:lstStyle/>
          <a:p>
            <a:pPr indent="0" marL="0">
              <a:lnSpc>
                <a:spcPts val="1400"/>
              </a:lnSpc>
              <a:buNone/>
            </a:pPr>
            <a:r>
              <a:rPr lang="en-US" sz="1050" dirty="0">
                <a:solidFill>
                  <a:srgbClr val="8C8C8C"/>
                </a:solidFill>
                <a:latin typeface="Calibri" pitchFamily="34" charset="0"/>
                <a:ea typeface="Calibri" pitchFamily="34" charset="-122"/>
                <a:cs typeface="Calibri" pitchFamily="34" charset="-120"/>
              </a:rPr>
              <a:t>Ignitability only; no Euroclass determination and no life-cycle assessment.</a:t>
            </a:r>
            <a:endParaRPr lang="en-US" sz="1050" dirty="0"/>
          </a:p>
        </p:txBody>
      </p:sp>
      <p:sp>
        <p:nvSpPr>
          <p:cNvPr id="26" name="ln7"/>
          <p:cNvSpPr/>
          <p:nvPr/>
        </p:nvSpPr>
        <p:spPr>
          <a:xfrm>
            <a:off x="6355080" y="5577840"/>
            <a:ext cx="5120640" cy="9144"/>
          </a:xfrm>
          <a:prstGeom prst="rect">
            <a:avLst/>
          </a:prstGeom>
          <a:solidFill>
            <a:srgbClr val="E2E2E2"/>
          </a:solidFill>
          <a:ln w="12700">
            <a:solidFill>
              <a:srgbClr val="E2E2E2">
                <a:alpha val="0"/>
              </a:srgbClr>
            </a:solidFill>
            <a:prstDash val="solid"/>
          </a:ln>
        </p:spPr>
      </p:sp>
      <p:sp>
        <p:nvSpPr>
          <p:cNvPr id="27" name="Text 25"/>
          <p:cNvSpPr txBox="1"/>
          <p:nvPr/>
        </p:nvSpPr>
        <p:spPr>
          <a:xfrm>
            <a:off x="731520" y="5806440"/>
            <a:ext cx="10698480" cy="292608"/>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Each defines a specific next experiment rather than a general caveat.</a:t>
            </a:r>
            <a:endParaRPr lang="en-US" sz="1200" dirty="0"/>
          </a:p>
        </p:txBody>
      </p:sp>
      <p:sp>
        <p:nvSpPr>
          <p:cNvPr id="29"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9A9A9A"/>
                </a:solidFill>
                <a:latin typeface="Calibri" pitchFamily="34" charset="0"/>
                <a:ea typeface="Calibri" pitchFamily="34" charset="-122"/>
                <a:cs typeface="Calibri" pitchFamily="34" charset="-120"/>
              </a:rPr>
              <a:t>CONCLUSIONS</a:t>
            </a:r>
            <a:endParaRPr lang="en-US" sz="900" dirty="0"/>
          </a:p>
        </p:txBody>
      </p:sp>
      <p:sp>
        <p:nvSpPr>
          <p:cNvPr id="3" name="Text 1"/>
          <p:cNvSpPr txBox="1"/>
          <p:nvPr/>
        </p:nvSpPr>
        <p:spPr>
          <a:xfrm>
            <a:off x="731520" y="10515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4" name="Text 2"/>
          <p:cNvSpPr txBox="1"/>
          <p:nvPr/>
        </p:nvSpPr>
        <p:spPr>
          <a:xfrm>
            <a:off x="1325880" y="1051560"/>
            <a:ext cx="3657600" cy="621792"/>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reproducible protocol</a:t>
            </a:r>
            <a:endParaRPr lang="en-US" sz="1250" dirty="0"/>
          </a:p>
        </p:txBody>
      </p:sp>
      <p:sp>
        <p:nvSpPr>
          <p:cNvPr id="5" name="Text 3"/>
          <p:cNvSpPr txBox="1"/>
          <p:nvPr/>
        </p:nvSpPr>
        <p:spPr>
          <a:xfrm>
            <a:off x="5212080" y="1051560"/>
            <a:ext cx="6217920" cy="731520"/>
          </a:xfrm>
          <a:prstGeom prst="rect">
            <a:avLst/>
          </a:prstGeom>
          <a:noFill/>
          <a:ln/>
        </p:spPr>
        <p:txBody>
          <a:bodyPr wrap="square" lIns="0" tIns="0" rIns="0" bIns="0" rtlCol="0" anchor="ctr"/>
          <a:lstStyle/>
          <a:p>
            <a:pPr indent="0" marL="0">
              <a:lnSpc>
                <a:spcPts val="1500"/>
              </a:lnSpc>
              <a:buNone/>
            </a:pPr>
            <a:r>
              <a:rPr lang="en-US" sz="1100" dirty="0">
                <a:solidFill>
                  <a:srgbClr val="9A9A9A"/>
                </a:solidFill>
                <a:latin typeface="Calibri" pitchFamily="34" charset="0"/>
                <a:ea typeface="Calibri" pitchFamily="34" charset="-122"/>
                <a:cs typeface="Calibri" pitchFamily="34" charset="-120"/>
              </a:rPr>
              <a:t>120 °C shell treatment · 150 µm fraction · 95 °C dissolution · 80 °C cook · 55 min · silicone casting · 11 days ambient</a:t>
            </a:r>
            <a:endParaRPr lang="en-US" sz="1100" dirty="0"/>
          </a:p>
        </p:txBody>
      </p:sp>
      <p:sp>
        <p:nvSpPr>
          <p:cNvPr id="6" name="cl0"/>
          <p:cNvSpPr/>
          <p:nvPr/>
        </p:nvSpPr>
        <p:spPr>
          <a:xfrm>
            <a:off x="731520" y="1837944"/>
            <a:ext cx="10698480" cy="9144"/>
          </a:xfrm>
          <a:prstGeom prst="rect">
            <a:avLst/>
          </a:prstGeom>
          <a:solidFill>
            <a:srgbClr val="5E5E5E"/>
          </a:solidFill>
          <a:ln w="12700">
            <a:solidFill>
              <a:srgbClr val="5E5E5E">
                <a:alpha val="0"/>
              </a:srgbClr>
            </a:solidFill>
            <a:prstDash val="solid"/>
          </a:ln>
        </p:spPr>
      </p:sp>
      <p:sp>
        <p:nvSpPr>
          <p:cNvPr id="7" name="Text 5"/>
          <p:cNvSpPr txBox="1"/>
          <p:nvPr/>
        </p:nvSpPr>
        <p:spPr>
          <a:xfrm>
            <a:off x="731520" y="19659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8" name="Text 6"/>
          <p:cNvSpPr txBox="1"/>
          <p:nvPr/>
        </p:nvSpPr>
        <p:spPr>
          <a:xfrm>
            <a:off x="1325880" y="1965960"/>
            <a:ext cx="3657600" cy="621792"/>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Solids concentration governs strength</a:t>
            </a:r>
            <a:endParaRPr lang="en-US" sz="1250" dirty="0"/>
          </a:p>
        </p:txBody>
      </p:sp>
      <p:sp>
        <p:nvSpPr>
          <p:cNvPr id="9" name="Text 7"/>
          <p:cNvSpPr txBox="1"/>
          <p:nvPr/>
        </p:nvSpPr>
        <p:spPr>
          <a:xfrm>
            <a:off x="5212080" y="1965960"/>
            <a:ext cx="6217920" cy="731520"/>
          </a:xfrm>
          <a:prstGeom prst="rect">
            <a:avLst/>
          </a:prstGeom>
          <a:noFill/>
          <a:ln/>
        </p:spPr>
        <p:txBody>
          <a:bodyPr wrap="square" lIns="0" tIns="0" rIns="0" bIns="0" rtlCol="0" anchor="ctr"/>
          <a:lstStyle/>
          <a:p>
            <a:pPr indent="0" marL="0">
              <a:lnSpc>
                <a:spcPts val="1500"/>
              </a:lnSpc>
              <a:buNone/>
            </a:pPr>
            <a:r>
              <a:rPr lang="en-US" sz="1100" dirty="0">
                <a:solidFill>
                  <a:srgbClr val="9A9A9A"/>
                </a:solidFill>
                <a:latin typeface="Calibri" pitchFamily="34" charset="0"/>
                <a:ea typeface="Calibri" pitchFamily="34" charset="-122"/>
                <a:cs typeface="Calibri" pitchFamily="34" charset="-120"/>
              </a:rPr>
              <a:t>With shell : binder fixed at 2.00, compressive stress is linear in solids concentration across 0.37–0.59</a:t>
            </a:r>
            <a:endParaRPr lang="en-US" sz="1100" dirty="0"/>
          </a:p>
        </p:txBody>
      </p:sp>
      <p:sp>
        <p:nvSpPr>
          <p:cNvPr id="10" name="cl1"/>
          <p:cNvSpPr/>
          <p:nvPr/>
        </p:nvSpPr>
        <p:spPr>
          <a:xfrm>
            <a:off x="731520" y="2752344"/>
            <a:ext cx="10698480" cy="9144"/>
          </a:xfrm>
          <a:prstGeom prst="rect">
            <a:avLst/>
          </a:prstGeom>
          <a:solidFill>
            <a:srgbClr val="5E5E5E"/>
          </a:solidFill>
          <a:ln w="12700">
            <a:solidFill>
              <a:srgbClr val="5E5E5E">
                <a:alpha val="0"/>
              </a:srgbClr>
            </a:solidFill>
            <a:prstDash val="solid"/>
          </a:ln>
        </p:spPr>
      </p:sp>
      <p:sp>
        <p:nvSpPr>
          <p:cNvPr id="11" name="Text 9"/>
          <p:cNvSpPr txBox="1"/>
          <p:nvPr/>
        </p:nvSpPr>
        <p:spPr>
          <a:xfrm>
            <a:off x="731520" y="28803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2" name="Text 10"/>
          <p:cNvSpPr txBox="1"/>
          <p:nvPr/>
        </p:nvSpPr>
        <p:spPr>
          <a:xfrm>
            <a:off x="1325880" y="2880360"/>
            <a:ext cx="3657600" cy="621792"/>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Plasticiser sets the brittle–ductile transition</a:t>
            </a:r>
            <a:endParaRPr lang="en-US" sz="1250" dirty="0"/>
          </a:p>
        </p:txBody>
      </p:sp>
      <p:sp>
        <p:nvSpPr>
          <p:cNvPr id="13" name="Text 11"/>
          <p:cNvSpPr txBox="1"/>
          <p:nvPr/>
        </p:nvSpPr>
        <p:spPr>
          <a:xfrm>
            <a:off x="5212080" y="2880360"/>
            <a:ext cx="6217920" cy="731520"/>
          </a:xfrm>
          <a:prstGeom prst="rect">
            <a:avLst/>
          </a:prstGeom>
          <a:noFill/>
          <a:ln/>
        </p:spPr>
        <p:txBody>
          <a:bodyPr wrap="square" lIns="0" tIns="0" rIns="0" bIns="0" rtlCol="0" anchor="ctr"/>
          <a:lstStyle/>
          <a:p>
            <a:pPr indent="0" marL="0">
              <a:lnSpc>
                <a:spcPts val="1500"/>
              </a:lnSpc>
              <a:buNone/>
            </a:pPr>
            <a:r>
              <a:rPr lang="en-US" sz="1100" dirty="0">
                <a:solidFill>
                  <a:srgbClr val="9A9A9A"/>
                </a:solidFill>
                <a:latin typeface="Calibri" pitchFamily="34" charset="0"/>
                <a:ea typeface="Calibri" pitchFamily="34" charset="-122"/>
                <a:cs typeface="Calibri" pitchFamily="34" charset="-120"/>
              </a:rPr>
              <a:t>Between 18.8% and 10.3% glycerol, from unmeasurable compliance to 2.33 MPa at 192 MPa</a:t>
            </a:r>
            <a:endParaRPr lang="en-US" sz="1100" dirty="0"/>
          </a:p>
        </p:txBody>
      </p:sp>
      <p:sp>
        <p:nvSpPr>
          <p:cNvPr id="14" name="cl2"/>
          <p:cNvSpPr/>
          <p:nvPr/>
        </p:nvSpPr>
        <p:spPr>
          <a:xfrm>
            <a:off x="731520" y="3666744"/>
            <a:ext cx="10698480" cy="9144"/>
          </a:xfrm>
          <a:prstGeom prst="rect">
            <a:avLst/>
          </a:prstGeom>
          <a:solidFill>
            <a:srgbClr val="5E5E5E"/>
          </a:solidFill>
          <a:ln w="12700">
            <a:solidFill>
              <a:srgbClr val="5E5E5E">
                <a:alpha val="0"/>
              </a:srgbClr>
            </a:solidFill>
            <a:prstDash val="solid"/>
          </a:ln>
        </p:spPr>
      </p:sp>
      <p:sp>
        <p:nvSpPr>
          <p:cNvPr id="15" name="Text 13"/>
          <p:cNvSpPr txBox="1"/>
          <p:nvPr/>
        </p:nvSpPr>
        <p:spPr>
          <a:xfrm>
            <a:off x="731520" y="37947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325880" y="3794760"/>
            <a:ext cx="3657600" cy="621792"/>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Bio-polymer stiffness, oven-free</a:t>
            </a:r>
            <a:endParaRPr lang="en-US" sz="1250" dirty="0"/>
          </a:p>
        </p:txBody>
      </p:sp>
      <p:sp>
        <p:nvSpPr>
          <p:cNvPr id="17" name="Text 15"/>
          <p:cNvSpPr txBox="1"/>
          <p:nvPr/>
        </p:nvSpPr>
        <p:spPr>
          <a:xfrm>
            <a:off x="5212080" y="3794760"/>
            <a:ext cx="6217920" cy="731520"/>
          </a:xfrm>
          <a:prstGeom prst="rect">
            <a:avLst/>
          </a:prstGeom>
          <a:noFill/>
          <a:ln/>
        </p:spPr>
        <p:txBody>
          <a:bodyPr wrap="square" lIns="0" tIns="0" rIns="0" bIns="0" rtlCol="0" anchor="ctr"/>
          <a:lstStyle/>
          <a:p>
            <a:pPr indent="0" marL="0">
              <a:lnSpc>
                <a:spcPts val="1500"/>
              </a:lnSpc>
              <a:buNone/>
            </a:pPr>
            <a:r>
              <a:rPr lang="en-US" sz="1100" dirty="0">
                <a:solidFill>
                  <a:srgbClr val="9A9A9A"/>
                </a:solidFill>
                <a:latin typeface="Calibri" pitchFamily="34" charset="0"/>
                <a:ea typeface="Calibri" pitchFamily="34" charset="-122"/>
                <a:cs typeface="Calibri" pitchFamily="34" charset="-120"/>
              </a:rPr>
              <a:t>192 MPa places a water-cast, ambient-dried material inside the melt-processed bio-polymer band</a:t>
            </a:r>
            <a:endParaRPr lang="en-US" sz="1100" dirty="0"/>
          </a:p>
        </p:txBody>
      </p:sp>
      <p:sp>
        <p:nvSpPr>
          <p:cNvPr id="18" name="cl3"/>
          <p:cNvSpPr/>
          <p:nvPr/>
        </p:nvSpPr>
        <p:spPr>
          <a:xfrm>
            <a:off x="731520" y="4581144"/>
            <a:ext cx="10698480" cy="9144"/>
          </a:xfrm>
          <a:prstGeom prst="rect">
            <a:avLst/>
          </a:prstGeom>
          <a:solidFill>
            <a:srgbClr val="5E5E5E"/>
          </a:solidFill>
          <a:ln w="12700">
            <a:solidFill>
              <a:srgbClr val="5E5E5E">
                <a:alpha val="0"/>
              </a:srgbClr>
            </a:solidFill>
            <a:prstDash val="solid"/>
          </a:ln>
        </p:spPr>
      </p:sp>
      <p:sp>
        <p:nvSpPr>
          <p:cNvPr id="19" name="Text 17"/>
          <p:cNvSpPr txBox="1"/>
          <p:nvPr/>
        </p:nvSpPr>
        <p:spPr>
          <a:xfrm>
            <a:off x="731520" y="47091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0" name="Text 18"/>
          <p:cNvSpPr txBox="1"/>
          <p:nvPr/>
        </p:nvSpPr>
        <p:spPr>
          <a:xfrm>
            <a:off x="1325880" y="4709160"/>
            <a:ext cx="3657600" cy="621792"/>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Strength is the wrong sole criterion</a:t>
            </a:r>
            <a:endParaRPr lang="en-US" sz="1250" dirty="0"/>
          </a:p>
        </p:txBody>
      </p:sp>
      <p:sp>
        <p:nvSpPr>
          <p:cNvPr id="21" name="Text 19"/>
          <p:cNvSpPr txBox="1"/>
          <p:nvPr/>
        </p:nvSpPr>
        <p:spPr>
          <a:xfrm>
            <a:off x="5212080" y="4709160"/>
            <a:ext cx="6217920" cy="731520"/>
          </a:xfrm>
          <a:prstGeom prst="rect">
            <a:avLst/>
          </a:prstGeom>
          <a:noFill/>
          <a:ln/>
        </p:spPr>
        <p:txBody>
          <a:bodyPr wrap="square" lIns="0" tIns="0" rIns="0" bIns="0" rtlCol="0" anchor="ctr"/>
          <a:lstStyle/>
          <a:p>
            <a:pPr indent="0" marL="0">
              <a:lnSpc>
                <a:spcPts val="1500"/>
              </a:lnSpc>
              <a:buNone/>
            </a:pPr>
            <a:r>
              <a:rPr lang="en-US" sz="1100" dirty="0">
                <a:solidFill>
                  <a:srgbClr val="9A9A9A"/>
                </a:solidFill>
                <a:latin typeface="Calibri" pitchFamily="34" charset="0"/>
                <a:ea typeface="Calibri" pitchFamily="34" charset="-122"/>
                <a:cs typeface="Calibri" pitchFamily="34" charset="-120"/>
              </a:rPr>
              <a:t>Deformation capacity governs service behaviour; σ and E should be reported together</a:t>
            </a:r>
            <a:endParaRPr lang="en-US" sz="1100" dirty="0"/>
          </a:p>
        </p:txBody>
      </p:sp>
      <p:sp>
        <p:nvSpPr>
          <p:cNvPr id="22" name="Text 20"/>
          <p:cNvSpPr txBox="1"/>
          <p:nvPr/>
        </p:nvSpPr>
        <p:spPr>
          <a:xfrm>
            <a:off x="731520" y="5760720"/>
            <a:ext cx="1069848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Betül Ünal   ·   Cappadocia University   ·   b.unal91@gmail.com</a:t>
            </a:r>
            <a:endParaRPr lang="en-US" sz="1150" dirty="0"/>
          </a:p>
        </p:txBody>
      </p:sp>
      <p:sp>
        <p:nvSpPr>
          <p:cNvPr id="23" name="Text 21"/>
          <p:cNvSpPr txBox="1"/>
          <p:nvPr/>
        </p:nvSpPr>
        <p:spPr>
          <a:xfrm>
            <a:off x="731520" y="6053328"/>
            <a:ext cx="10698480" cy="457200"/>
          </a:xfrm>
          <a:prstGeom prst="rect">
            <a:avLst/>
          </a:prstGeom>
          <a:noFill/>
          <a:ln/>
        </p:spPr>
        <p:txBody>
          <a:bodyPr wrap="square" lIns="0" tIns="0" rIns="0" bIns="0" rtlCol="0" anchor="t"/>
          <a:lstStyle/>
          <a:p>
            <a:pPr indent="0" marL="0">
              <a:lnSpc>
                <a:spcPts val="1300"/>
              </a:lnSpc>
              <a:buNone/>
            </a:pPr>
            <a:r>
              <a:rPr lang="en-US" sz="900" dirty="0">
                <a:solidFill>
                  <a:srgbClr val="5E5E5E"/>
                </a:solidFill>
                <a:latin typeface="Calibri" pitchFamily="34" charset="0"/>
                <a:ea typeface="Calibri" pitchFamily="34" charset="-122"/>
                <a:cs typeface="Calibri" pitchFamily="34" charset="-120"/>
              </a:rPr>
              <a:t>Testing: Advanced Construction Materials Research Laboratory, Hacettepe University, with thanks to Dr Hüseyin İlcan. Derived from the author's doctoral dissertation, Hacettepe University, 2025.</a:t>
            </a:r>
            <a:endParaRPr lang="en-US" sz="900" dirty="0"/>
          </a:p>
        </p:txBody>
      </p:sp>
      <p:sp>
        <p:nvSpPr>
          <p:cNvPr id="25"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457200"/>
            <a:ext cx="10698480" cy="237744"/>
          </a:xfrm>
          <a:prstGeom prst="rect">
            <a:avLst/>
          </a:prstGeom>
          <a:noFill/>
          <a:ln/>
        </p:spPr>
        <p:txBody>
          <a:bodyPr wrap="square" lIns="0" tIns="0" rIns="0" bIns="0" rtlCol="0" anchor="ctr"/>
          <a:lstStyle/>
          <a:p>
            <a:pPr indent="0" marL="0">
              <a:buNone/>
            </a:pPr>
            <a:r>
              <a:rPr lang="en-US" sz="900" b="1" spc="160" kern="0" dirty="0">
                <a:solidFill>
                  <a:srgbClr val="8C8C8C"/>
                </a:solidFill>
                <a:latin typeface="Calibri" pitchFamily="34" charset="0"/>
                <a:ea typeface="Calibri" pitchFamily="34" charset="-122"/>
                <a:cs typeface="Calibri" pitchFamily="34" charset="-120"/>
              </a:rPr>
              <a:t>SELECTED REFERENCES</a:t>
            </a:r>
            <a:endParaRPr lang="en-US" sz="900" dirty="0"/>
          </a:p>
        </p:txBody>
      </p:sp>
      <p:sp>
        <p:nvSpPr>
          <p:cNvPr id="3" name="Text 1"/>
          <p:cNvSpPr txBox="1"/>
          <p:nvPr/>
        </p:nvSpPr>
        <p:spPr>
          <a:xfrm>
            <a:off x="731520" y="1005840"/>
            <a:ext cx="1069848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REVIEWS AND STATE OF THE ART</a:t>
            </a:r>
            <a:endParaRPr lang="en-US" sz="850" dirty="0"/>
          </a:p>
        </p:txBody>
      </p:sp>
      <p:sp>
        <p:nvSpPr>
          <p:cNvPr id="4" name="Text 2"/>
          <p:cNvSpPr txBox="1"/>
          <p:nvPr/>
        </p:nvSpPr>
        <p:spPr>
          <a:xfrm>
            <a:off x="731520" y="1280160"/>
            <a:ext cx="10698480" cy="109728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Ngayakamo, B. &amp; Onwualu, A.P. (2022). Valorisation of eggshell waste for sustainable construction materials. Heliyon.</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Owuamanam, S. &amp; Cree, D. (2020). Progress of bio-calcium carbonate waste eggshell and seashell fillers in polymer composites. Journal of Composites Science, 4(2), 70.</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Biogenic calcium carbonate from waste shells for advanced material applications (2022). Frontiers in Materials, 9, 1024977.</a:t>
            </a:r>
            <a:endParaRPr lang="en-US" sz="1000" dirty="0"/>
          </a:p>
        </p:txBody>
      </p:sp>
      <p:sp>
        <p:nvSpPr>
          <p:cNvPr id="5" name="rl0"/>
          <p:cNvSpPr/>
          <p:nvPr/>
        </p:nvSpPr>
        <p:spPr>
          <a:xfrm>
            <a:off x="731520" y="2377440"/>
            <a:ext cx="10698480" cy="9144"/>
          </a:xfrm>
          <a:prstGeom prst="rect">
            <a:avLst/>
          </a:prstGeom>
          <a:solidFill>
            <a:srgbClr val="E2E2E2"/>
          </a:solidFill>
          <a:ln w="12700">
            <a:solidFill>
              <a:srgbClr val="E2E2E2">
                <a:alpha val="0"/>
              </a:srgbClr>
            </a:solidFill>
            <a:prstDash val="solid"/>
          </a:ln>
        </p:spPr>
      </p:sp>
      <p:sp>
        <p:nvSpPr>
          <p:cNvPr id="6" name="Text 4"/>
          <p:cNvSpPr txBox="1"/>
          <p:nvPr/>
        </p:nvSpPr>
        <p:spPr>
          <a:xfrm>
            <a:off x="731520" y="2560320"/>
            <a:ext cx="1069848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AGAR AND BIO-POLYMER SYSTEMS</a:t>
            </a:r>
            <a:endParaRPr lang="en-US" sz="850" dirty="0"/>
          </a:p>
        </p:txBody>
      </p:sp>
      <p:sp>
        <p:nvSpPr>
          <p:cNvPr id="7" name="Text 5"/>
          <p:cNvSpPr txBox="1"/>
          <p:nvPr/>
        </p:nvSpPr>
        <p:spPr>
          <a:xfrm>
            <a:off x="731520" y="2834640"/>
            <a:ext cx="10698480" cy="109728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Hernández, V. et al. (2022). Agar biopolymer films for biodegradable packaging: a reference dataset. Materials, 15(11), 3954.</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Materiom (2026). Open biomaterial recipe commons and property database. materiom.org/data.</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Mansour et al. (2021) · Dweib et al. (2004) · Faruk et al. (2012) · Zhao et al. (2022) — bio-polymer elastic moduli.</a:t>
            </a:r>
            <a:endParaRPr lang="en-US" sz="1000" dirty="0"/>
          </a:p>
        </p:txBody>
      </p:sp>
      <p:sp>
        <p:nvSpPr>
          <p:cNvPr id="8" name="rl1"/>
          <p:cNvSpPr/>
          <p:nvPr/>
        </p:nvSpPr>
        <p:spPr>
          <a:xfrm>
            <a:off x="731520" y="3931920"/>
            <a:ext cx="10698480" cy="9144"/>
          </a:xfrm>
          <a:prstGeom prst="rect">
            <a:avLst/>
          </a:prstGeom>
          <a:solidFill>
            <a:srgbClr val="E2E2E2"/>
          </a:solidFill>
          <a:ln w="12700">
            <a:solidFill>
              <a:srgbClr val="E2E2E2">
                <a:alpha val="0"/>
              </a:srgbClr>
            </a:solidFill>
            <a:prstDash val="solid"/>
          </a:ln>
        </p:spPr>
      </p:sp>
      <p:sp>
        <p:nvSpPr>
          <p:cNvPr id="9" name="Text 7"/>
          <p:cNvSpPr txBox="1"/>
          <p:nvPr/>
        </p:nvSpPr>
        <p:spPr>
          <a:xfrm>
            <a:off x="731520" y="4114800"/>
            <a:ext cx="10698480" cy="219456"/>
          </a:xfrm>
          <a:prstGeom prst="rect">
            <a:avLst/>
          </a:prstGeom>
          <a:noFill/>
          <a:ln/>
        </p:spPr>
        <p:txBody>
          <a:bodyPr wrap="square" lIns="0" tIns="0" rIns="0" bIns="0" rtlCol="0" anchor="ctr"/>
          <a:lstStyle/>
          <a:p>
            <a:pPr indent="0" marL="0">
              <a:buNone/>
            </a:pPr>
            <a:r>
              <a:rPr lang="en-US" sz="850" b="1" spc="130" kern="0" dirty="0">
                <a:solidFill>
                  <a:srgbClr val="BFBFBF"/>
                </a:solidFill>
                <a:latin typeface="Calibri" pitchFamily="34" charset="0"/>
                <a:ea typeface="Calibri" pitchFamily="34" charset="-122"/>
                <a:cs typeface="Calibri" pitchFamily="34" charset="-120"/>
              </a:rPr>
              <a:t>COMPARATIVE MATERIAL DATA</a:t>
            </a:r>
            <a:endParaRPr lang="en-US" sz="850" dirty="0"/>
          </a:p>
        </p:txBody>
      </p:sp>
      <p:sp>
        <p:nvSpPr>
          <p:cNvPr id="10" name="Text 8"/>
          <p:cNvSpPr txBox="1"/>
          <p:nvPr/>
        </p:nvSpPr>
        <p:spPr>
          <a:xfrm>
            <a:off x="731520" y="4389120"/>
            <a:ext cx="10698480" cy="109728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Jones, M. et al. (2020) · Islam et al. (2018) — mycelium composites. Arnaud &amp; Gourlay (2012) — hempcrete.</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Kim &amp; Pal (2010) — eggshell-filled PLA. Shah et al. (2016) — mineral-filled biocomposites.</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Nemli &amp; Aydın (2007) — MDF. Altun (2006) — travertine. Klyosov (2007) — WPC. Velasco &amp; Gaona (2011) — mushroom panel.</a:t>
            </a:r>
            <a:endParaRPr lang="en-US" sz="1000" dirty="0"/>
          </a:p>
        </p:txBody>
      </p:sp>
      <p:sp>
        <p:nvSpPr>
          <p:cNvPr id="11" name="rl2"/>
          <p:cNvSpPr/>
          <p:nvPr/>
        </p:nvSpPr>
        <p:spPr>
          <a:xfrm>
            <a:off x="731520" y="5486400"/>
            <a:ext cx="10698480" cy="9144"/>
          </a:xfrm>
          <a:prstGeom prst="rect">
            <a:avLst/>
          </a:prstGeom>
          <a:solidFill>
            <a:srgbClr val="E2E2E2"/>
          </a:solidFill>
          <a:ln w="12700">
            <a:solidFill>
              <a:srgbClr val="E2E2E2">
                <a:alpha val="0"/>
              </a:srgbClr>
            </a:solidFill>
            <a:prstDash val="solid"/>
          </a:ln>
        </p:spPr>
      </p:sp>
      <p:sp>
        <p:nvSpPr>
          <p:cNvPr id="12" name="Text 10"/>
          <p:cNvSpPr txBox="1"/>
          <p:nvPr/>
        </p:nvSpPr>
        <p:spPr>
          <a:xfrm>
            <a:off x="731520" y="5760720"/>
            <a:ext cx="10698480" cy="457200"/>
          </a:xfrm>
          <a:prstGeom prst="rect">
            <a:avLst/>
          </a:prstGeom>
          <a:noFill/>
          <a:ln/>
        </p:spPr>
        <p:txBody>
          <a:bodyPr wrap="square" lIns="0" tIns="0" rIns="0" bIns="0" rtlCol="0" anchor="t"/>
          <a:lstStyle/>
          <a:p>
            <a:pPr indent="0" marL="0">
              <a:lnSpc>
                <a:spcPts val="1300"/>
              </a:lnSpc>
              <a:buNone/>
            </a:pPr>
            <a:r>
              <a:rPr lang="en-US" sz="900" dirty="0">
                <a:solidFill>
                  <a:srgbClr val="BFBFBF"/>
                </a:solidFill>
                <a:latin typeface="Calibri" pitchFamily="34" charset="0"/>
                <a:ea typeface="Calibri" pitchFamily="34" charset="-122"/>
                <a:cs typeface="Calibri" pitchFamily="34" charset="-120"/>
              </a:rPr>
              <a:t>Standards: ASTM D790-17 · ISO 11925-2:2020 · ASTM D570-98(2018).</a:t>
            </a:r>
            <a:endParaRPr lang="en-US" sz="900" dirty="0"/>
          </a:p>
        </p:txBody>
      </p:sp>
      <p:sp>
        <p:nvSpPr>
          <p:cNvPr id="14" name="Text 0"/>
          <p:cNvSpPr/>
          <p:nvPr>
            <p:ph idx="100" hasCustomPrompt="1"/>
          </p:nvPr>
        </p:nvSpPr>
        <p:spPr>
          <a:xfrm>
            <a:off x="11247120" y="630936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theme/theme1.xml><?xml version="1.0" encoding="utf-8"?>
<a:theme xmlns:a="http://schemas.openxmlformats.org/drawingml/2006/main" name="Eggshell Mono">
  <a:themeElements>
    <a:clrScheme name="Eggshell Mono">
      <a:dk1>
        <a:srgbClr val="141414"/>
      </a:dk1>
      <a:lt1>
        <a:srgbClr val="FFFFFF"/>
      </a:lt1>
      <a:dk2>
        <a:srgbClr val="141414"/>
      </a:dk2>
      <a:lt2>
        <a:srgbClr val="F6F5F3"/>
      </a:lt2>
      <a:accent1>
        <a:srgbClr val="B4513A"/>
      </a:accent1>
      <a:accent2>
        <a:srgbClr val="8C8C8C"/>
      </a:accent2>
      <a:accent3>
        <a:srgbClr val="3A3A3A"/>
      </a:accent3>
      <a:accent4>
        <a:srgbClr val="141414"/>
      </a:accent4>
      <a:accent5>
        <a:srgbClr val="E2E2E2"/>
      </a:accent5>
      <a:accent6>
        <a:srgbClr val="8C8C8C"/>
      </a:accent6>
      <a:hlink>
        <a:srgbClr val="B4513A"/>
      </a:hlink>
      <a:folHlink>
        <a:srgbClr val="8C8C8C"/>
      </a:folHlink>
    </a:clrScheme>
    <a:fontScheme name="Eggshell Mon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2026-10-25T06:41:35Z</dcterms:created>
  <dcterms:modified xsi:type="dcterms:W3CDTF">2026-10-25T06:41:35Z</dcterms:modified>
</cp:coreProperties>
</file>