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2ac3792-cb7b-e9e0-6659-21daf5986bf9}">
          <p14:sldIdLst>
            <p14:sldId id="256"/>
          </p14:sldIdLst>
        </p14:section>
        <p14:section name="Introduction" id="{9a858043-7780-b306-7d91-24230eed7f0f}">
          <p14:sldIdLst>
            <p14:sldId id="257"/>
            <p14:sldId id="258"/>
            <p14:sldId id="259"/>
            <p14:sldId id="260"/>
          </p14:sldIdLst>
        </p14:section>
        <p14:section name="Framework" id="{a8ff9875-f65d-738d-69fe-74f3872d6459}">
          <p14:sldIdLst>
            <p14:sldId id="261"/>
            <p14:sldId id="262"/>
            <p14:sldId id="263"/>
            <p14:sldId id="264"/>
            <p14:sldId id="265"/>
          </p14:sldIdLst>
        </p14:section>
        <p14:section name="Material" id="{b3f59cbf-8eee-e84f-e4a0-c306eac95d72}">
          <p14:sldIdLst>
            <p14:sldId id="266"/>
          </p14:sldIdLst>
        </p14:section>
        <p14:section name="Protocol" id="{bec91c56-db1a-8389-9b86-6060ded7e7bd}">
          <p14:sldIdLst>
            <p14:sldId id="267"/>
            <p14:sldId id="268"/>
            <p14:sldId id="269"/>
            <p14:sldId id="270"/>
          </p14:sldIdLst>
        </p14:section>
        <p14:section name="Results" id="{3d91e074-7716-1f7b-2139-449fc9232fd6}">
          <p14:sldIdLst>
            <p14:sldId id="271"/>
            <p14:sldId id="272"/>
            <p14:sldId id="273"/>
            <p14:sldId id="274"/>
            <p14:sldId id="275"/>
            <p14:sldId id="276"/>
          </p14:sldIdLst>
        </p14:section>
        <p14:section name="Benchmark" id="{73ed3ad2-ea9c-7949-3bfc-915b66f3a8a2}">
          <p14:sldIdLst>
            <p14:sldId id="277"/>
            <p14:sldId id="278"/>
            <p14:sldId id="279"/>
          </p14:sldIdLst>
        </p14:section>
        <p14:section name="Application" id="{231fb476-83ab-81db-c1c3-e411485cba15}">
          <p14:sldIdLst>
            <p14:sldId id="280"/>
          </p14:sldIdLst>
        </p14:section>
        <p14:section name="Closing" id="{8437cb03-1ba0-747a-5fad-2f39015abab4}">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σ</c:v>
                </c:pt>
              </c:strCache>
            </c:strRef>
          </c:tx>
          <c:spPr>
            <a:solidFill>
              <a:srgbClr val="141414"/>
            </a:solidFill>
            <a:effectLst/>
          </c:spPr>
          <c:invertIfNegative val="0"/>
          <c:dLbls>
            <c:numFmt formatCode="0.00" sourceLinked="0"/>
            <c:txPr>
              <a:bodyPr/>
              <a:lstStyle/>
              <a:p>
                <a:pPr>
                  <a:defRPr b="0" i="0" strike="noStrike" sz="1200" u="none">
                    <a:solidFill>
                      <a:srgbClr val="141414"/>
                    </a:solidFill>
                    <a:latin typeface="+mn-lt"/>
                  </a:defRPr>
                </a:pPr>
              </a:p>
            </c:txPr>
            <c:showLegendKey val="0"/>
            <c:showVal val="1"/>
            <c:showCatName val="0"/>
            <c:showSerName val="0"/>
            <c:showPercent val="0"/>
            <c:showBubbleSize val="0"/>
            <c:showLeaderLines val="0"/>
          </c:dLbls>
          <c:cat>
            <c:multiLvlStrRef>
              <c:f>Sheet1!$A$2:$A$4</c:f>
              <c:multiLvlStrCache>
                <c:ptCount val="3"/>
                <c:lvl>
                  <c:pt idx="0">
                    <c:v>C1  0.37</c:v>
                  </c:pt>
                  <c:pt idx="1">
                    <c:v>C2  0.44</c:v>
                  </c:pt>
                  <c:pt idx="2">
                    <c:v>C3  0.59</c:v>
                  </c:pt>
                </c:lvl>
              </c:multiLvlStrCache>
            </c:multiLvlStrRef>
          </c:cat>
          <c:val>
            <c:numRef>
              <c:f>Sheet1!$B$2:$B$4</c:f>
              <c:numCache>
                <c:formatCode>General</c:formatCode>
                <c:ptCount val="3"/>
                <c:pt idx="0">
                  <c:v>2.55</c:v>
                </c:pt>
                <c:pt idx="1">
                  <c:v>3.12</c:v>
                </c:pt>
                <c:pt idx="2">
                  <c:v>4.1</c:v>
                </c:pt>
              </c:numCache>
            </c:numRef>
          </c:val>
        </c:ser>
        <c:dLbls>
          <c:numFmt formatCode="0.00" sourceLinked="0"/>
          <c:txPr>
            <a:bodyPr/>
            <a:lstStyle/>
            <a:p>
              <a:pPr>
                <a:defRPr b="0" i="0" strike="noStrike" sz="1200" u="none">
                  <a:solidFill>
                    <a:srgbClr val="14141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Compressive stress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c:v>
                </c:pt>
              </c:strCache>
            </c:strRef>
          </c:tx>
          <c:spPr>
            <a:solidFill>
              <a:srgbClr val="141414"/>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Sheet1!$B$2:$B$6</c:f>
              <c:numCache>
                <c:formatCode>General</c:formatCode>
                <c:ptCount val="5"/>
                <c:pt idx="0">
                  <c:v>1.2</c:v>
                </c:pt>
                <c:pt idx="1">
                  <c:v>4.1</c:v>
                </c:pt>
                <c:pt idx="2">
                  <c:v>7.2</c:v>
                </c:pt>
                <c:pt idx="3">
                  <c:v>24</c:v>
                </c:pt>
                <c:pt idx="4">
                  <c:v>80</c:v>
                </c:pt>
              </c:numCache>
            </c:numRef>
          </c:val>
        </c:ser>
        <c:ser>
          <c:idx val="1"/>
          <c:order val="1"/>
          <c:tx>
            <c:strRef>
              <c:f>Sheet1!$C$1</c:f>
              <c:strCache>
                <c:ptCount val="1"/>
                <c:pt idx="0">
                  <c:v>Flexural</c:v>
                </c:pt>
              </c:strCache>
            </c:strRef>
          </c:tx>
          <c:spPr>
            <a:solidFill>
              <a:srgbClr val="BDBDBD"/>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Sheet1!$C$2:$C$6</c:f>
              <c:numCache>
                <c:formatCode>General</c:formatCode>
                <c:ptCount val="5"/>
                <c:pt idx="0">
                  <c:v>1</c:v>
                </c:pt>
                <c:pt idx="1">
                  <c:v>2.3</c:v>
                </c:pt>
                <c:pt idx="2">
                  <c:v>12</c:v>
                </c:pt>
                <c:pt idx="3">
                  <c:v>35</c:v>
                </c:pt>
                <c:pt idx="4">
                  <c:v>11</c:v>
                </c:pt>
              </c:numCache>
            </c:numRef>
          </c:val>
        </c:ser>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Strength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8C8C8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Betul Unal, Department of Interior Architecture, Cappadocia University. The panel in the photograph is the subject of this paper: a composite of waste eggshell bound in agar, cast at 300 by 300 millimetres. Over the next fifteen minutes I will set out the production protocol, the characterisation results, and an argument about how materials of this class should be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departure. Eggshell arises continuously as a food-processing by-product and is predominantly landfilled. Chemically it is almost pure calcium carbonate, between ninety-four and ninety-seven percent by mass, held in a porous protein-bound crystalline structure, and its specific gravity sits below that of most mineral fillers used in construction. That composition and that uninterrupted supply are why a substantial literature already incorporates it into construction and polymer materials. All shell used in this study came from a single bakery, collected over more than a year. I want to be clear at the outset: the case for eggshell as a mineral phase is settled, and this paper does not re-make it. The paper is concerned with the phase that binds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literature the study departs from, and reading down the middle column is the whole argument. Eggshell has been used as a partial cement replacement in concrete, as a stabiliser in compressed laterite brick and in clay, as a filler in hot-mix asphalt, in eco-ceramic wall tile, as a particulate filler in PVC and in flexible polyurethane foam, in ceramic-metal composites, in bone scaffolds, and even in wallpaper. The valorisation is real and it is well evidenced. But in every one of those cases the mineral is recovered from waste while the binding phase remains cementitious, ceramic or petrochemical. The environmental burden of the material is carried by the binder, and the binder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binder is agar, a thermoreversible polysaccharide extracted from red seaweed. It melts on heating and sets on cooling without chemical crosslinking, which means no reactive hardener and no elevated-temperature cure. Its behaviour with glycerol is reasonably well mapped: Hernandez and colleagues ran thirty-two agar, glycerin and water formulations by design of experiments in 2022 and released the dataset openly. But note the scope of that work. Unfilled thin films, loaded in uniaxial tension, evaluated for packaging. The compositional logic transfers to this study. The form and the loading case do not, and for an interior surface the loading case is bending.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follow directly from those two slides. First, the binding phase is never biological. Across the whole eggshell literature the mineral is recovered from waste while the matrix stays Portland clinker, bitumen, lime, a ceramic body or a thermoplastic - no study reports an eggshell composite in which both phases are biological and fully biodegradable. Second, agar is characterised only as an unfilled film in tension for packaging, not as the binder of a highly mineral-filled cast solid in bending. Third, property sets are reported in fragments: compressive, flexural, fire and hygric behaviour appear in separate studies on separate formulations, and no single study gives all four for one formulation family. I want to state the contribution precisely, because overclaiming here would be easy. It is not a novel constituent. It is a documented protocol and a single coherent property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stated narrowly on purpose: document a reproducible production protocol for a fully bio-based eggshell-agar composite, and characterise its mechanical, reaction-to-fire and hygric behaviour against published test standards. Four objectives follow. One, document the protocol in full, every parameter, in a form another laboratory can repeat. Two, characterise against published standards rather than ad hoc procedures. Three, position the results against two material families using published property data. Four, derive an evaluation criterion appropriate to this material class - and that fourth objective is the one I will spend most time 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set out explicitly so that nothing I say today is read beyond it. Within scope: five formulations, three specimens per formulation for the mechanical work, five properties, three published standards, ambient cure in a single laboratory by a single operator, and an application envelope of non-loadbearing interior surfaces. Outside scope: structural use, durability and accelerated ageing, reaction-to-fire classification, and life-cycle assessment. None of those four was generated in this work. What follows is characterisation data, not a performance specification, and I will return to each exclusion at the end as a defined next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and the order is the method. Produce, recording every production parameter. Measure against published standards. Position against two material families, conventional interior materials and bio-based composites. And propose an evaluation criterion derived from the observed behaviour. This is a material-driven sequence in the sense of Karana and colleagues: the properties are measured first and the application envelope is derived from them, rather than the material being selected to satisfy a form decided in advance. The design proposal I show near the end follows from the measurements and not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research questions. The first two are formulation questions - which variable governs compressive strength, and what plasticiser content does to flexural behaviour. The next two are benchmarking questions against the two material families. The fifth asks whether compressive strength is an adequate evaluation criterion for this class of material at all, and it is the question I care most about. Questions one to four are answered by measurement. Question five is answered by argument from those measurements, which is a different kind of claim and I will flag it as such when I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in two clauses, because the two are tested by different parts of the paper. First clause: a fully bio-based eggshell-agar composite can be produced repeatably under ambient conditions. That is tested by the protocol and the formulation series - a defined procedure, a fixed shell-to-binder ratio, five formulations, and a cure that requires no thermal input after mixing. Second clause: its performance as an interior surface material is governed by deformation capacity rather than by compressive strength. That is tested by the mechanical results and the two benchmarks. On provenance, and I would rather say this than have it asked: the dissertation this derives from states a broader hypothesis framed on spatial resilience in interior design. What you see here is the materials-engineering component of that, restated within the scope of the tests actually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 Four constituents: waste eggshell powder as the mineral phase, agar as the binder, glycerol as the plasticiser, water as the carrier, with a shellac finish where water resistance is required. Everything in this photograph is one formulation family - the variation in colour and texture comes from natural pigment and mould geometry, not from different compositions. The dark tones are beetroot.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the mineral phase. Whole shell from a single bakery, cleaned of membrane and residue by hand, heat-treated at 120 degrees for twenty minutes, milled in a laboratory grinder to a homogeneous powder, and sieved through a 150 micrometre mesh with only the passing fraction retained. The circles contract across the diagram to show what the stage actually does, which is progressive size reduction. Two points of precision. The 150 micrometre figure was selected to match the particle size used in the eggshell polymer-composite literature, so that the mineral phase here is comparable with that work. And I report the 120 degree step as decontamination and drying rather than sterilisation, because dry-heat sterilisation requires around 160 to 170 degrees for one to two hours and sterility was not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binder preparation, drawn as a temperature-time profile because that is what the stage is. Water and glycerol are pre-mixed first, before any solids are present. Agar is then added incrementally under continuous stirring - bulk addition forms agglomerates that do not redisperse. The mixture is taken to 95 degrees and held until the agar is fully in solution, because if viscosity builds before complete dissolution the gel network is patchy. The temperature is then reduced to 80 and held while viscosity develops, and the shell fraction is introduced incrementally near the end; introduced earlier, it sediments. Fifty-five minutes in total. This is a schematic: the two set points and the total time are recorded, the intermediate ramp rates are not, and stirring was manual so shear rate is not a controlled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casting and cure, drawn as a timeline. Day zero, cast into silicone moulds - silicone because it flexes enough to release without a parting agent and without damaging a specimen that has not fully consolidated. Four days in mould for setting and initial drying, demoulded on day four, then seven further days at around 23 degrees shielded from direct sun and forced air movement. Day eleven, finished specimen, with three shellac coats where water resistance is required. Note that there is no thermal input at all after the fifty-five minute preparation: the entire cure proceeds at room temperature, which matters for the embodied-energy argument later. The limitation, which I will repeat because it affects every number that follows: the composite shrinks appreciably as water evaporates, cross-sections were measured at test time but post-drying dimensions were not logged, so every dimension I quote is a mould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matrix with the derived ratios, and there are two things to read in it. In the compressive series shell-to-binder is exactly two point zero zero in all three mixes. That was not planned as a control, but the consequence is that solids concentration is the only variable in the series, which makes the compression result interpretable. In the flexural series I declare a confound: glycerol was halved but batch mass was held at 770 grams, so water rose to compensate and the other ratios shifted with it. The plasticiser effect is therefore not cleanly isolated, and I will say so again when I present the flexural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programme. I want the reporting convention on the record before any numbers appear. Mechanical values are means of three specimens; individual values were not retained, so I cannot give standard deviations. The ignitability, absorption and density figures rest on single determinations and are indicative rather than characteristic values. Compression was run as cube compression rather than to a named standard, and I flag that as a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compression result, and this answers research question one. Because shell-to-binder is fixed at two point zero zero across the series, solids concentration is the only variable - and compressive stress rises linearly with it, R-squared of 0.99 over the range 0.37 to 0.59. Three points will fit almost any line, so I am calling this a hypothesis rather than a law. But it has a clear physical reading: strength here is governed by packing density, not by mineral content as such. If that is right, the route to a stronger composite is to remove water rather than to add shell. The fitted relation is sigma equals 6.93 times the solids-to-water ratio plus 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mode, and it is what I would ask about from where you are sitting. The curve is linear to about one megapascal, then stiffness falls away progressively as the agar network yields and the mineral redistributes. Peak arrives near ten percent strain with no abrupt load drop, and beyond peak the specimen continues to deform while holding together. The photograph shows the consequence: the cube has barrelled, it is shorter and wider, and it is still a single body. Energy is absorbed rather than released. One honesty point on the axis: the strain scale derives from an assumed ten percent maximum deformation based on observation, not from instrumented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Flexure, to ASTM D790. The decisive variable is plasticiser content. At 18.8 percent glycerol the composite deformed without developing measurable resistance - the instrument registered nothing usable at all. Halving it gives 2.325 megapascals at a modulus of 192. The transition is sharp and it lies between those two values, which is itself a useful thing to know and a target for the next formulation series. Two limitations. The glycerol effect is confounded with solids concentration, as I flagged on the formulation slide. And the specimen is kerfed on its tension face while the standard assumes a solid rectangle, so the modulus I am quoting is a lower bound on the bulk material rather than a material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show this than ask you to take it on the numbers. On the left, the three-point rig at high deflection: the beam is deflected well past the failure point of a comparable ceramic and it has not parted. In the middle, a close-up of the tension face, where the transverse kerfs are visible. Below, the same panel arched by hand. The kerfs are why it arches, and they are also why I report the modulus as a lower bound rather than a material constant. The common result across both test programmes is substantial deformation with retained integrity, and that is the observation the final argument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water and density together. On ignitability: ignition at around ten seconds under direct flame, self-extinguishing four seconds after the flame is removed, with charring confined locally, no lateral spread, and no melting or dripping - which matters for a polymer-adjacent material. The probable mechanism is endothermic decomposition of the carbonate fraction releasing carbon dioxide and diluting the flame front, and I state that as a probable mechanism because it was not verified calorimetrically. To be precise: this is an ignitability test. There is no Euroclass classification, no cone calorimetry, no smoke or toxicity data. On water: 0.7 percent mass gain over twenty-four hours of full immersion with three shellac coats, with local dissolution where the coating was thin, so coating integrity is the limiting factor. On density: 1.38, above the fungal and cellulosic bio-materials and below fired clay, on a mould-volume basis and therefore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benchmark, against the materials this would sit alongside in an interior. Let me be direct. One sixth the compressive strength of MDF and one twentieth that of travertine - and travertine is the relevant aesthetic comparison, because the material resembles it. It does exceed compressed mushroom panel, the only other fully bio-based board in the set, by a factor of three in compression. But on strength alone the composite is not competitive with engineered wood or stone, and I am not going to claim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benchmark, and this is the one that matters. Against the bio-based family the position changes completely. In compression, an order of magnitude above mycelium composites and hempcrete, and within the range reported for eggshell-filled PLA. In stiffness, 192 megapascals - between soy bioplastic at 124 and flax-fibre PLA at 198, inside the LDPE range. Note what that means in process terms. This is water-cast and dried at room temperature, with no oven, no autoclave and no extruder, and it reaches the stiffness of melt-processed bio-polymers. One caution: the cited values come from studies with differing specimen geometry and test method, so this is a position statement rather than a controlled comparison. And wood remains two orders of magnitude above in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research question five, and the diagram is the argument. The shaded area under the elastic region is the energy a material absorbs per unit volume before it takes permanent damage. Because that area is one half sigma epsilon, and epsilon is sigma over E, the area reduces to sigma squared over two E. Notice where the elastic modulus sits: in the denominator. So the low modulus that counted against the material on the previous slide is the same property that raises this quantity. For this formulation it comes to about 14 kilojoules per cubic metre, computed from this study's own two measurements. Both test programmes gave the same qualitative result, substantial deformation with retained integrity. Strength records the load at which a material ceases to perform. It does not record whether it then fails gracefully or catastrophically, and for a demountable non-loadbearing component that is what governs service life. The limitation, stated plainly: I cannot give you a comparative table, because the literature reports strength and modulus in separate studies on separate formulations. This is a data point and a proposed reporting convention, not a ranking, and the value inherits the lower-bound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envelope follows from the measurements rather than being imposed on them, and each condition traces to a specific result. Non-loadbearing surfaces, carrying self-weight and handling loads only, because 4.1 megapascals supports nothing more. Dry interiors, not wet rooms and not facades, because water performance depends on coating integrity. Away from ignition sources: it self-extinguishes, but it carries no classification. And modular rather than sheet, which matters because damage is then replaced one unit at a time rather than refinishing a surface. On end of life: every constituent including the shellac is biodegradable, and reversible fixing allows the module to be recovered intact. What is displaced is quarried limestone, in a surface application rather than a downcycled one. The caveat: no life-cycle assessment was carried out, so these are qualitative potentials grounded in the protocol and not quantified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grouped in three classes rather than listed, because the grouping is itself informative. Measurement: no dispersion data, strain assumed rather than instrumented, shrinkage unquantified so density is a lower bound. Process: the flexural series is confounded, the kerfed section was calculated as solid, and stirring was manual in a single laboratory by a single operator. Untested: durability of any kind, reaction-to-fire classification beyond ignitability, and life-cycle assessment. I would rather set these out than have them found. Each one corresponds to a defined next experiment,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experiments, in order of what each one resolves. First, repeat with individual specimen values retained so dispersion can be reported - that is the most commonly requested addition and the cheapest to supply. Second, record post-drying geometry, which converts every lower bound in this presentation into a true value. Third, instrument the strain, which replaces the assumed ten percent deformation with a measured curve and makes the modulus of resilience defensible rather than indicative. Fourth, test an un-kerfed section, which separates the geometric contribution from the material one. Beyond those four: humidity and thermal cycling, microbial resistance, a reaction-to-fire classification, and a life-cycle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protocol that can be repeated, reported parameter by parameter. Packing density, not mineral content, governs compressive strength. Plasticiser content sets a brittle or a ductile response, and the transition is sharp. A water-cast, ambient-dried material reaches bio-polymer stiffness without thermal processing. And strength alone is an insufficient criterion for this class: deformation capacity governs service behaviour, so strength and modulus should be reported together.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left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
    <p:bg>
      <p:bgPr>
        <a:solidFill>
          <a:srgbClr val="14141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BDBDBD"/>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1414"/>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5A5A5A"/>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eg"/><Relationship Id="rId3" Type="http://schemas.openxmlformats.org/officeDocument/2006/relationships/image" Target="../media/image-20-3.jp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 descr="/home/user/sanat-ve-mekan/konferans-bildirisi/03-gorseller/02-panel-elde.png">    </p:cNvPr>
          <p:cNvPicPr>
            <a:picLocks noChangeAspect="1"/>
          </p:cNvPicPr>
          <p:nvPr/>
        </p:nvPicPr>
        <p:blipFill>
          <a:blip r:embed="rId1"/>
          <a:stretch>
            <a:fillRect/>
          </a:stretch>
        </p:blipFill>
        <p:spPr>
          <a:xfrm>
            <a:off x="5138928" y="0"/>
            <a:ext cx="7050024" cy="6858000"/>
          </a:xfrm>
          <a:prstGeom prst="rect">
            <a:avLst/>
          </a:prstGeom>
        </p:spPr>
      </p:pic>
      <p:sp>
        <p:nvSpPr>
          <p:cNvPr id="3" name="panel"/>
          <p:cNvSpPr/>
          <p:nvPr/>
        </p:nvSpPr>
        <p:spPr>
          <a:xfrm>
            <a:off x="0" y="0"/>
            <a:ext cx="5394960" cy="6858000"/>
          </a:xfrm>
          <a:prstGeom prst="rect">
            <a:avLst/>
          </a:prstGeom>
          <a:solidFill>
            <a:srgbClr val="141414"/>
          </a:solidFill>
          <a:ln w="12700">
            <a:solidFill>
              <a:srgbClr val="141414">
                <a:alpha val="0"/>
              </a:srgbClr>
            </a:solidFill>
            <a:prstDash val="solid"/>
          </a:ln>
        </p:spPr>
      </p:sp>
      <p:sp>
        <p:nvSpPr>
          <p:cNvPr id="4" name="Text 1"/>
          <p:cNvSpPr txBox="1"/>
          <p:nvPr/>
        </p:nvSpPr>
        <p:spPr>
          <a:xfrm>
            <a:off x="777240" y="2011680"/>
            <a:ext cx="4206240" cy="1463040"/>
          </a:xfrm>
          <a:prstGeom prst="rect">
            <a:avLst/>
          </a:prstGeom>
          <a:noFill/>
          <a:ln/>
        </p:spPr>
        <p:txBody>
          <a:bodyPr wrap="square" lIns="0" tIns="0" rIns="0" bIns="0" rtlCol="0" anchor="b"/>
          <a:lstStyle/>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Eggshell–Agar</a:t>
            </a:r>
            <a:endParaRPr lang="en-US" sz="3200" dirty="0"/>
          </a:p>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Biocomposites</a:t>
            </a:r>
            <a:endParaRPr lang="en-US" sz="3200" dirty="0"/>
          </a:p>
        </p:txBody>
      </p:sp>
      <p:sp>
        <p:nvSpPr>
          <p:cNvPr id="5" name="Text 2"/>
          <p:cNvSpPr txBox="1"/>
          <p:nvPr/>
        </p:nvSpPr>
        <p:spPr>
          <a:xfrm>
            <a:off x="777240" y="3611880"/>
            <a:ext cx="4023360" cy="640080"/>
          </a:xfrm>
          <a:prstGeom prst="rect">
            <a:avLst/>
          </a:prstGeom>
          <a:noFill/>
          <a:ln/>
        </p:spPr>
        <p:txBody>
          <a:bodyPr wrap="square" lIns="0" tIns="0" rIns="0" bIns="0" rtlCol="0" anchor="ctr"/>
          <a:lstStyle/>
          <a:p>
            <a:pPr indent="0" marL="0">
              <a:lnSpc>
                <a:spcPts val="1900"/>
              </a:lnSpc>
              <a:buNone/>
            </a:pPr>
            <a:r>
              <a:rPr lang="en-US" sz="1300" dirty="0">
                <a:solidFill>
                  <a:srgbClr val="C8C8C8"/>
                </a:solidFill>
                <a:latin typeface="Calibri" pitchFamily="34" charset="0"/>
                <a:ea typeface="Calibri" pitchFamily="34" charset="-122"/>
                <a:cs typeface="Calibri" pitchFamily="34" charset="-120"/>
              </a:rPr>
              <a:t>Development and characterisation for sustainable interior applications</a:t>
            </a:r>
            <a:endParaRPr lang="en-US" sz="1300" dirty="0"/>
          </a:p>
        </p:txBody>
      </p:sp>
      <p:sp>
        <p:nvSpPr>
          <p:cNvPr id="6" name="ru0.854.95"/>
          <p:cNvSpPr/>
          <p:nvPr/>
        </p:nvSpPr>
        <p:spPr>
          <a:xfrm>
            <a:off x="777240" y="4526280"/>
            <a:ext cx="2194560" cy="9144"/>
          </a:xfrm>
          <a:prstGeom prst="rect">
            <a:avLst/>
          </a:prstGeom>
          <a:solidFill>
            <a:srgbClr val="5A5A5A"/>
          </a:solidFill>
          <a:ln w="12700">
            <a:solidFill>
              <a:srgbClr val="5A5A5A">
                <a:alpha val="0"/>
              </a:srgbClr>
            </a:solidFill>
            <a:prstDash val="solid"/>
          </a:ln>
        </p:spPr>
      </p:sp>
      <p:sp>
        <p:nvSpPr>
          <p:cNvPr id="7" name="Text 4"/>
          <p:cNvSpPr txBox="1"/>
          <p:nvPr/>
        </p:nvSpPr>
        <p:spPr>
          <a:xfrm>
            <a:off x="777240" y="4754880"/>
            <a:ext cx="40233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Betül Ünal</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Department of Interior Architecture</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Cappadocia University</a:t>
            </a:r>
            <a:endParaRPr lang="en-US" sz="1300" dirty="0"/>
          </a:p>
        </p:txBody>
      </p:sp>
      <p:sp>
        <p:nvSpPr>
          <p:cNvPr id="8" name="Text 5"/>
          <p:cNvSpPr txBox="1"/>
          <p:nvPr/>
        </p:nvSpPr>
        <p:spPr>
          <a:xfrm>
            <a:off x="777240" y="5943600"/>
            <a:ext cx="4206240" cy="274320"/>
          </a:xfrm>
          <a:prstGeom prst="rect">
            <a:avLst/>
          </a:prstGeom>
          <a:noFill/>
          <a:ln/>
        </p:spPr>
        <p:txBody>
          <a:bodyPr wrap="square" lIns="0" tIns="0" rIns="0" bIns="0" rtlCol="0" anchor="ctr"/>
          <a:lstStyle/>
          <a:p>
            <a:pPr indent="0" marL="0">
              <a:buNone/>
            </a:pPr>
            <a:r>
              <a:rPr lang="en-US" sz="900" b="1" spc="140" kern="0" dirty="0">
                <a:solidFill>
                  <a:srgbClr val="5A5A5A"/>
                </a:solidFill>
                <a:latin typeface="Calibri" pitchFamily="34" charset="0"/>
                <a:ea typeface="Calibri" pitchFamily="34" charset="-122"/>
                <a:cs typeface="Calibri" pitchFamily="34" charset="-120"/>
              </a:rPr>
              <a:t>ICSMMEP-26   ·   MECCA   ·   3–4 NOVEMBER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Background</a:t>
            </a:r>
            <a:endParaRPr lang="en-US" sz="2000" dirty="0"/>
          </a:p>
        </p:txBody>
      </p:sp>
      <p:sp>
        <p:nvSpPr>
          <p:cNvPr id="3" name="Text 1"/>
          <p:cNvSpPr txBox="1"/>
          <p:nvPr/>
        </p:nvSpPr>
        <p:spPr>
          <a:xfrm>
            <a:off x="731520" y="1325880"/>
            <a:ext cx="64008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Point of departure</a:t>
            </a:r>
            <a:endParaRPr lang="en-US" sz="1300" dirty="0"/>
          </a:p>
        </p:txBody>
      </p:sp>
      <p:sp>
        <p:nvSpPr>
          <p:cNvPr id="4" name="Text 2"/>
          <p:cNvSpPr txBox="1"/>
          <p:nvPr/>
        </p:nvSpPr>
        <p:spPr>
          <a:xfrm>
            <a:off x="731520" y="1691640"/>
            <a:ext cx="6400800" cy="23774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Eggshell arises continuously as a food-processing by-product and is predominantly landfilled. It accounts for roughly a tenth of the mass of every egg, so the stream is neither small nor intermittent. Chemically it is almost pure calcium carbonate held in a porous, protein-bound crystalline structure, with a specific gravity below that of most mineral fillers used in construction.</a:t>
            </a:r>
            <a:endParaRPr lang="en-US" sz="1200" dirty="0"/>
          </a:p>
          <a:p>
            <a:pPr indent="0" marL="0">
              <a:lnSpc>
                <a:spcPts val="1800"/>
              </a:lnSpc>
              <a:buNone/>
            </a:pPr>
            <a:endParaRPr lang="en-US" sz="1200" dirty="0"/>
          </a:p>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Its composition and its uninterrupted supply have made it an established secondary mineral resource, and a substantial body of work has incorporated it into construction and polymer materials.</a:t>
            </a:r>
            <a:endParaRPr lang="en-US" sz="1200" dirty="0"/>
          </a:p>
        </p:txBody>
      </p:sp>
      <p:sp>
        <p:nvSpPr>
          <p:cNvPr id="5" name="Text 3"/>
          <p:cNvSpPr txBox="1"/>
          <p:nvPr/>
        </p:nvSpPr>
        <p:spPr>
          <a:xfrm>
            <a:off x="731520" y="3840480"/>
            <a:ext cx="64008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William &amp; Owen (1995) · Torres et al. (2010) · Owuamanam &amp; Cree (2020)</a:t>
            </a:r>
            <a:endParaRPr lang="en-US" sz="900" dirty="0"/>
          </a:p>
        </p:txBody>
      </p:sp>
      <p:sp>
        <p:nvSpPr>
          <p:cNvPr id="6" name="vr8.41.45"/>
          <p:cNvSpPr/>
          <p:nvPr/>
        </p:nvSpPr>
        <p:spPr>
          <a:xfrm>
            <a:off x="7680960" y="1325880"/>
            <a:ext cx="13716" cy="3383280"/>
          </a:xfrm>
          <a:prstGeom prst="rect">
            <a:avLst/>
          </a:prstGeom>
          <a:solidFill>
            <a:srgbClr val="E4E4E4"/>
          </a:solidFill>
          <a:ln w="12700">
            <a:solidFill>
              <a:srgbClr val="E4E4E4">
                <a:alpha val="0"/>
              </a:srgbClr>
            </a:solidFill>
            <a:prstDash val="solid"/>
          </a:ln>
        </p:spPr>
      </p:sp>
      <p:sp>
        <p:nvSpPr>
          <p:cNvPr id="7" name="Text 5"/>
          <p:cNvSpPr txBox="1"/>
          <p:nvPr/>
        </p:nvSpPr>
        <p:spPr>
          <a:xfrm>
            <a:off x="8138160" y="1325880"/>
            <a:ext cx="32918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Material basis</a:t>
            </a:r>
            <a:endParaRPr lang="en-US" sz="1300" dirty="0"/>
          </a:p>
        </p:txBody>
      </p:sp>
      <p:sp>
        <p:nvSpPr>
          <p:cNvPr id="8" name="Text 6"/>
          <p:cNvSpPr txBox="1"/>
          <p:nvPr/>
        </p:nvSpPr>
        <p:spPr>
          <a:xfrm>
            <a:off x="8138160" y="1737360"/>
            <a:ext cx="32918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94–97%</a:t>
            </a:r>
            <a:endParaRPr lang="en-US" sz="3200" dirty="0"/>
          </a:p>
        </p:txBody>
      </p:sp>
      <p:sp>
        <p:nvSpPr>
          <p:cNvPr id="9" name="Text 7"/>
          <p:cNvSpPr txBox="1"/>
          <p:nvPr/>
        </p:nvSpPr>
        <p:spPr>
          <a:xfrm>
            <a:off x="8138160" y="2383536"/>
            <a:ext cx="32918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calcium carbonate by mass</a:t>
            </a:r>
            <a:endParaRPr lang="en-US" sz="950" dirty="0"/>
          </a:p>
        </p:txBody>
      </p:sp>
      <p:sp>
        <p:nvSpPr>
          <p:cNvPr id="10" name="Text 8"/>
          <p:cNvSpPr txBox="1"/>
          <p:nvPr/>
        </p:nvSpPr>
        <p:spPr>
          <a:xfrm>
            <a:off x="8138160" y="2697480"/>
            <a:ext cx="32918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0.85–2.66</a:t>
            </a:r>
            <a:endParaRPr lang="en-US" sz="3200" dirty="0"/>
          </a:p>
        </p:txBody>
      </p:sp>
      <p:sp>
        <p:nvSpPr>
          <p:cNvPr id="11" name="Text 9"/>
          <p:cNvSpPr txBox="1"/>
          <p:nvPr/>
        </p:nvSpPr>
        <p:spPr>
          <a:xfrm>
            <a:off x="8138160" y="3343656"/>
            <a:ext cx="32918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specific gravity, below most mineral fillers</a:t>
            </a:r>
            <a:endParaRPr lang="en-US" sz="950" dirty="0"/>
          </a:p>
        </p:txBody>
      </p:sp>
      <p:sp>
        <p:nvSpPr>
          <p:cNvPr id="12" name="Text 10"/>
          <p:cNvSpPr txBox="1"/>
          <p:nvPr/>
        </p:nvSpPr>
        <p:spPr>
          <a:xfrm>
            <a:off x="8138160" y="3657600"/>
            <a:ext cx="32918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&gt; 12</a:t>
            </a:r>
            <a:endParaRPr lang="en-US" sz="3200" dirty="0"/>
          </a:p>
        </p:txBody>
      </p:sp>
      <p:sp>
        <p:nvSpPr>
          <p:cNvPr id="13" name="Text 11"/>
          <p:cNvSpPr txBox="1"/>
          <p:nvPr/>
        </p:nvSpPr>
        <p:spPr>
          <a:xfrm>
            <a:off x="8138160" y="4303776"/>
            <a:ext cx="32918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months of single-source collection for this study</a:t>
            </a:r>
            <a:endParaRPr lang="en-US" sz="950" dirty="0"/>
          </a:p>
        </p:txBody>
      </p:sp>
      <p:sp>
        <p:nvSpPr>
          <p:cNvPr id="14" name="ru0.85.3"/>
          <p:cNvSpPr/>
          <p:nvPr/>
        </p:nvSpPr>
        <p:spPr>
          <a:xfrm>
            <a:off x="731520" y="4846320"/>
            <a:ext cx="10698480" cy="9144"/>
          </a:xfrm>
          <a:prstGeom prst="rect">
            <a:avLst/>
          </a:prstGeom>
          <a:solidFill>
            <a:srgbClr val="E4E4E4"/>
          </a:solidFill>
          <a:ln w="12700">
            <a:solidFill>
              <a:srgbClr val="E4E4E4">
                <a:alpha val="0"/>
              </a:srgbClr>
            </a:solidFill>
            <a:prstDash val="solid"/>
          </a:ln>
        </p:spPr>
      </p:sp>
      <p:sp>
        <p:nvSpPr>
          <p:cNvPr id="15" name="Text 13"/>
          <p:cNvSpPr txBox="1"/>
          <p:nvPr/>
        </p:nvSpPr>
        <p:spPr>
          <a:xfrm>
            <a:off x="731520" y="502920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Disposal and valorisation routes</a:t>
            </a:r>
            <a:endParaRPr lang="en-US" sz="1300" dirty="0"/>
          </a:p>
        </p:txBody>
      </p:sp>
      <p:sp>
        <p:nvSpPr>
          <p:cNvPr id="16" name="nd0.85.95"/>
          <p:cNvSpPr/>
          <p:nvPr/>
        </p:nvSpPr>
        <p:spPr>
          <a:xfrm>
            <a:off x="731520" y="5440680"/>
            <a:ext cx="1828800" cy="411480"/>
          </a:xfrm>
          <a:prstGeom prst="rect">
            <a:avLst/>
          </a:prstGeom>
          <a:solidFill>
            <a:srgbClr val="F7F6F4"/>
          </a:solidFill>
          <a:ln w="12700">
            <a:solidFill>
              <a:srgbClr val="F7F6F4"/>
            </a:solidFill>
            <a:prstDash val="solid"/>
          </a:ln>
        </p:spPr>
      </p:sp>
      <p:sp>
        <p:nvSpPr>
          <p:cNvPr id="17" name="Text 15"/>
          <p:cNvSpPr txBox="1"/>
          <p:nvPr/>
        </p:nvSpPr>
        <p:spPr>
          <a:xfrm>
            <a:off x="841248" y="5440680"/>
            <a:ext cx="1609344" cy="41148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Food processing</a:t>
            </a:r>
            <a:endParaRPr lang="en-US" sz="1100" dirty="0"/>
          </a:p>
        </p:txBody>
      </p:sp>
      <p:sp>
        <p:nvSpPr>
          <p:cNvPr id="18" name="aw2.96.1"/>
          <p:cNvSpPr/>
          <p:nvPr/>
        </p:nvSpPr>
        <p:spPr>
          <a:xfrm>
            <a:off x="2651760" y="5577840"/>
            <a:ext cx="201168" cy="137160"/>
          </a:xfrm>
          <a:prstGeom prst="rightArrow">
            <a:avLst/>
          </a:prstGeom>
          <a:solidFill>
            <a:srgbClr val="BDBDBD"/>
          </a:solidFill>
          <a:ln w="12700">
            <a:solidFill>
              <a:srgbClr val="BDBDBD">
                <a:alpha val="0"/>
              </a:srgbClr>
            </a:solidFill>
            <a:prstDash val="solid"/>
          </a:ln>
        </p:spPr>
      </p:sp>
      <p:sp>
        <p:nvSpPr>
          <p:cNvPr id="19" name="nd3.255.95"/>
          <p:cNvSpPr/>
          <p:nvPr/>
        </p:nvSpPr>
        <p:spPr>
          <a:xfrm>
            <a:off x="2971800" y="5440680"/>
            <a:ext cx="2011680" cy="411480"/>
          </a:xfrm>
          <a:prstGeom prst="rect">
            <a:avLst/>
          </a:prstGeom>
          <a:solidFill>
            <a:srgbClr val="F7F6F4"/>
          </a:solidFill>
          <a:ln w="12700">
            <a:solidFill>
              <a:srgbClr val="F7F6F4"/>
            </a:solidFill>
            <a:prstDash val="solid"/>
          </a:ln>
        </p:spPr>
      </p:sp>
      <p:sp>
        <p:nvSpPr>
          <p:cNvPr id="20" name="Text 18"/>
          <p:cNvSpPr txBox="1"/>
          <p:nvPr/>
        </p:nvSpPr>
        <p:spPr>
          <a:xfrm>
            <a:off x="3081528" y="5440680"/>
            <a:ext cx="1792224" cy="41148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Waste eggshell</a:t>
            </a:r>
            <a:endParaRPr lang="en-US" sz="1100" dirty="0"/>
          </a:p>
        </p:txBody>
      </p:sp>
      <p:sp>
        <p:nvSpPr>
          <p:cNvPr id="21" name="br"/>
          <p:cNvSpPr/>
          <p:nvPr/>
        </p:nvSpPr>
        <p:spPr>
          <a:xfrm>
            <a:off x="5148072" y="5468112"/>
            <a:ext cx="18288" cy="502920"/>
          </a:xfrm>
          <a:prstGeom prst="rect">
            <a:avLst/>
          </a:prstGeom>
          <a:solidFill>
            <a:srgbClr val="BDBDBD"/>
          </a:solidFill>
          <a:ln w="12700">
            <a:solidFill>
              <a:srgbClr val="BDBDBD">
                <a:alpha val="0"/>
              </a:srgbClr>
            </a:solidFill>
            <a:prstDash val="solid"/>
          </a:ln>
        </p:spPr>
      </p:sp>
      <p:sp>
        <p:nvSpPr>
          <p:cNvPr id="22" name="aw5.725.9"/>
          <p:cNvSpPr/>
          <p:nvPr/>
        </p:nvSpPr>
        <p:spPr>
          <a:xfrm>
            <a:off x="5230368" y="5394960"/>
            <a:ext cx="201168" cy="137160"/>
          </a:xfrm>
          <a:prstGeom prst="rightArrow">
            <a:avLst/>
          </a:prstGeom>
          <a:solidFill>
            <a:srgbClr val="BDBDBD"/>
          </a:solidFill>
          <a:ln w="12700">
            <a:solidFill>
              <a:srgbClr val="BDBDBD">
                <a:alpha val="0"/>
              </a:srgbClr>
            </a:solidFill>
            <a:prstDash val="solid"/>
          </a:ln>
        </p:spPr>
      </p:sp>
      <p:sp>
        <p:nvSpPr>
          <p:cNvPr id="23" name="aw5.726.38"/>
          <p:cNvSpPr/>
          <p:nvPr/>
        </p:nvSpPr>
        <p:spPr>
          <a:xfrm>
            <a:off x="5230368" y="5833872"/>
            <a:ext cx="201168" cy="137160"/>
          </a:xfrm>
          <a:prstGeom prst="rightArrow">
            <a:avLst/>
          </a:prstGeom>
          <a:solidFill>
            <a:srgbClr val="BDBDBD"/>
          </a:solidFill>
          <a:ln w="12700">
            <a:solidFill>
              <a:srgbClr val="BDBDBD">
                <a:alpha val="0"/>
              </a:srgbClr>
            </a:solidFill>
            <a:prstDash val="solid"/>
          </a:ln>
        </p:spPr>
      </p:sp>
      <p:sp>
        <p:nvSpPr>
          <p:cNvPr id="24" name="nd6.055.78"/>
          <p:cNvSpPr/>
          <p:nvPr/>
        </p:nvSpPr>
        <p:spPr>
          <a:xfrm>
            <a:off x="5532120" y="5285232"/>
            <a:ext cx="2651760" cy="365760"/>
          </a:xfrm>
          <a:prstGeom prst="rect">
            <a:avLst/>
          </a:prstGeom>
          <a:solidFill>
            <a:srgbClr val="FFFFFF"/>
          </a:solidFill>
          <a:ln w="12700">
            <a:solidFill>
              <a:srgbClr val="BDBDBD"/>
            </a:solidFill>
            <a:prstDash val="solid"/>
          </a:ln>
        </p:spPr>
      </p:sp>
      <p:sp>
        <p:nvSpPr>
          <p:cNvPr id="25" name="Text 23"/>
          <p:cNvSpPr txBox="1"/>
          <p:nvPr/>
        </p:nvSpPr>
        <p:spPr>
          <a:xfrm>
            <a:off x="5641848" y="5285232"/>
            <a:ext cx="2432304" cy="365760"/>
          </a:xfrm>
          <a:prstGeom prst="rect">
            <a:avLst/>
          </a:prstGeom>
          <a:noFill/>
          <a:ln/>
        </p:spPr>
        <p:txBody>
          <a:bodyPr wrap="square" lIns="0" tIns="0" rIns="0" bIns="0" rtlCol="0" anchor="ctr"/>
          <a:lstStyle/>
          <a:p>
            <a:pPr algn="ctr" indent="0" marL="0">
              <a:lnSpc>
                <a:spcPts val="1400"/>
              </a:lnSpc>
              <a:buNone/>
            </a:pPr>
            <a:r>
              <a:rPr lang="en-US" sz="1100" b="1" dirty="0">
                <a:solidFill>
                  <a:srgbClr val="8C8C8C"/>
                </a:solidFill>
                <a:latin typeface="Calibri" pitchFamily="34" charset="0"/>
                <a:ea typeface="Calibri" pitchFamily="34" charset="-122"/>
                <a:cs typeface="Calibri" pitchFamily="34" charset="-120"/>
              </a:rPr>
              <a:t>Landfill — current practice</a:t>
            </a:r>
            <a:endParaRPr lang="en-US" sz="1100" dirty="0"/>
          </a:p>
        </p:txBody>
      </p:sp>
      <p:sp>
        <p:nvSpPr>
          <p:cNvPr id="26" name="nd6.056.26"/>
          <p:cNvSpPr/>
          <p:nvPr/>
        </p:nvSpPr>
        <p:spPr>
          <a:xfrm>
            <a:off x="5532120" y="5724144"/>
            <a:ext cx="2651760" cy="365760"/>
          </a:xfrm>
          <a:prstGeom prst="rect">
            <a:avLst/>
          </a:prstGeom>
          <a:solidFill>
            <a:srgbClr val="B4513A"/>
          </a:solidFill>
          <a:ln w="12700">
            <a:solidFill>
              <a:srgbClr val="B4513A"/>
            </a:solidFill>
            <a:prstDash val="solid"/>
          </a:ln>
        </p:spPr>
      </p:sp>
      <p:sp>
        <p:nvSpPr>
          <p:cNvPr id="27" name="Text 25"/>
          <p:cNvSpPr txBox="1"/>
          <p:nvPr/>
        </p:nvSpPr>
        <p:spPr>
          <a:xfrm>
            <a:off x="5641848" y="5724144"/>
            <a:ext cx="2432304" cy="365760"/>
          </a:xfrm>
          <a:prstGeom prst="rect">
            <a:avLst/>
          </a:prstGeom>
          <a:noFill/>
          <a:ln/>
        </p:spPr>
        <p:txBody>
          <a:bodyPr wrap="square" lIns="0" tIns="0" rIns="0" bIns="0" rtlCol="0" anchor="ctr"/>
          <a:lstStyle/>
          <a:p>
            <a:pPr algn="ctr" indent="0" marL="0">
              <a:lnSpc>
                <a:spcPts val="1400"/>
              </a:lnSpc>
              <a:buNone/>
            </a:pPr>
            <a:r>
              <a:rPr lang="en-US" sz="1100" b="1" dirty="0">
                <a:solidFill>
                  <a:srgbClr val="FFFFFF"/>
                </a:solidFill>
                <a:latin typeface="Calibri" pitchFamily="34" charset="0"/>
                <a:ea typeface="Calibri" pitchFamily="34" charset="-122"/>
                <a:cs typeface="Calibri" pitchFamily="34" charset="-120"/>
              </a:rPr>
              <a:t>Secondary mineral resource</a:t>
            </a:r>
            <a:endParaRPr lang="en-US" sz="1100" dirty="0"/>
          </a:p>
        </p:txBody>
      </p:sp>
      <p:sp>
        <p:nvSpPr>
          <p:cNvPr id="28" name="Text 26"/>
          <p:cNvSpPr txBox="1"/>
          <p:nvPr/>
        </p:nvSpPr>
        <p:spPr>
          <a:xfrm>
            <a:off x="8503920" y="5349240"/>
            <a:ext cx="2926080" cy="822960"/>
          </a:xfrm>
          <a:prstGeom prst="rect">
            <a:avLst/>
          </a:prstGeom>
          <a:noFill/>
          <a:ln/>
        </p:spPr>
        <p:txBody>
          <a:bodyPr wrap="square" lIns="0" tIns="0" rIns="0" bIns="0" rtlCol="0" anchor="ctr"/>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case for eggshell as a mineral phase is settled. This paper is concerned with the phase that binds it.</a:t>
            </a:r>
            <a:endParaRPr lang="en-US" sz="1200" dirty="0"/>
          </a:p>
        </p:txBody>
      </p:sp>
      <p:sp>
        <p:nvSpPr>
          <p:cNvPr id="30"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Prior applications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Established uses of eggshell waste in engineered materials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4297680"/>
                <a:gridCol w="2834640"/>
                <a:gridCol w="3566160"/>
              </a:tblGrid>
              <a:tr h="310896">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Binding phase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Partial cement replacement in concrete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Portland clinker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Teara et al. (2019); Bhartiya &amp; Dubey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Compressed laterite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Soil – lime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Adogla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Hot-mix asphalt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Bitumen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Razzaq &amp; Yousif (2017)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Clay stabilisation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Clay mineral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Soundara &amp; Vilasini (2015)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Eco-ceramic wall tile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Ceramic body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Vilarinho et al. (2022)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Particulate filler in PVC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Poly(vinyl chloride)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Skórczewska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Filler in flexible polyurethane foam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Polyurethane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Victor et al. (2019)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Ceramic–metal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Metal matrix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Bilici et al. (2023); Yönetken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Bone tissue scaffold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Calcium phosphate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Shafiei et al. (2019)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Wallpaper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Cellulosic furnish</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Tutuş et al.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5.72"/>
          <p:cNvSpPr/>
          <p:nvPr/>
        </p:nvSpPr>
        <p:spPr>
          <a:xfrm>
            <a:off x="731520" y="5230368"/>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5376672"/>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What every row above has in common</a:t>
            </a:r>
            <a:endParaRPr lang="en-US" sz="1300" dirty="0"/>
          </a:p>
        </p:txBody>
      </p:sp>
      <p:sp>
        <p:nvSpPr>
          <p:cNvPr id="7" name="ph1"/>
          <p:cNvSpPr/>
          <p:nvPr/>
        </p:nvSpPr>
        <p:spPr>
          <a:xfrm>
            <a:off x="731520" y="5623560"/>
            <a:ext cx="10698480" cy="347472"/>
          </a:xfrm>
          <a:prstGeom prst="rect">
            <a:avLst/>
          </a:prstGeom>
          <a:solidFill>
            <a:srgbClr val="B4513A"/>
          </a:solidFill>
          <a:ln w="12700">
            <a:solidFill>
              <a:srgbClr val="B4513A">
                <a:alpha val="0"/>
              </a:srgbClr>
            </a:solidFill>
            <a:prstDash val="solid"/>
          </a:ln>
        </p:spPr>
      </p:sp>
      <p:sp>
        <p:nvSpPr>
          <p:cNvPr id="8" name="Text 5"/>
          <p:cNvSpPr txBox="1"/>
          <p:nvPr/>
        </p:nvSpPr>
        <p:spPr>
          <a:xfrm>
            <a:off x="914400" y="5623560"/>
            <a:ext cx="10332720" cy="347472"/>
          </a:xfrm>
          <a:prstGeom prst="rect">
            <a:avLst/>
          </a:prstGeom>
          <a:noFill/>
          <a:ln/>
        </p:spPr>
        <p:txBody>
          <a:bodyPr wrap="square" lIns="0" tIns="0" rIns="0" bIns="0" rtlCol="0" anchor="ctr"/>
          <a:lstStyle/>
          <a:p>
            <a:pPr indent="0" marL="0">
              <a:buNone/>
            </a:pPr>
            <a:r>
              <a:rPr lang="en-US" sz="1100" b="1" spc="40" kern="0" dirty="0">
                <a:solidFill>
                  <a:srgbClr val="FFFFFF"/>
                </a:solidFill>
                <a:latin typeface="Calibri" pitchFamily="34" charset="0"/>
                <a:ea typeface="Calibri" pitchFamily="34" charset="-122"/>
                <a:cs typeface="Calibri" pitchFamily="34" charset="-120"/>
              </a:rPr>
              <a:t>MINERAL PHASE   ·   recovered from waste in every study above</a:t>
            </a:r>
            <a:endParaRPr lang="en-US" sz="1100" dirty="0"/>
          </a:p>
        </p:txBody>
      </p:sp>
      <p:sp>
        <p:nvSpPr>
          <p:cNvPr id="9" name="ph2"/>
          <p:cNvSpPr/>
          <p:nvPr/>
        </p:nvSpPr>
        <p:spPr>
          <a:xfrm>
            <a:off x="731520" y="5971032"/>
            <a:ext cx="10698480" cy="347472"/>
          </a:xfrm>
          <a:prstGeom prst="rect">
            <a:avLst/>
          </a:prstGeom>
          <a:solidFill>
            <a:srgbClr val="141414"/>
          </a:solidFill>
          <a:ln w="12700">
            <a:solidFill>
              <a:srgbClr val="141414">
                <a:alpha val="0"/>
              </a:srgbClr>
            </a:solidFill>
            <a:prstDash val="solid"/>
          </a:ln>
        </p:spPr>
      </p:sp>
      <p:sp>
        <p:nvSpPr>
          <p:cNvPr id="10" name="Text 7"/>
          <p:cNvSpPr txBox="1"/>
          <p:nvPr/>
        </p:nvSpPr>
        <p:spPr>
          <a:xfrm>
            <a:off x="914400" y="5971032"/>
            <a:ext cx="10332720" cy="347472"/>
          </a:xfrm>
          <a:prstGeom prst="rect">
            <a:avLst/>
          </a:prstGeom>
          <a:noFill/>
          <a:ln/>
        </p:spPr>
        <p:txBody>
          <a:bodyPr wrap="square" lIns="0" tIns="0" rIns="0" bIns="0" rtlCol="0" anchor="ctr"/>
          <a:lstStyle/>
          <a:p>
            <a:pPr indent="0" marL="0">
              <a:buNone/>
            </a:pPr>
            <a:r>
              <a:rPr lang="en-US" sz="1100" b="1" spc="40" kern="0" dirty="0">
                <a:solidFill>
                  <a:srgbClr val="FFFFFF"/>
                </a:solidFill>
                <a:latin typeface="Calibri" pitchFamily="34" charset="0"/>
                <a:ea typeface="Calibri" pitchFamily="34" charset="-122"/>
                <a:cs typeface="Calibri" pitchFamily="34" charset="-120"/>
              </a:rPr>
              <a:t>BINDING PHASE   ·   cementitious, ceramic or petrochemical in every study above</a:t>
            </a:r>
            <a:endParaRPr lang="en-US" sz="11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Agar as binder</a:t>
            </a:r>
            <a:endParaRPr lang="en-US" sz="2000" dirty="0"/>
          </a:p>
        </p:txBody>
      </p:sp>
      <p:sp>
        <p:nvSpPr>
          <p:cNvPr id="3" name="Text 1"/>
          <p:cNvSpPr txBox="1"/>
          <p:nvPr/>
        </p:nvSpPr>
        <p:spPr>
          <a:xfrm>
            <a:off x="731520" y="13258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Properties and existing characterisation</a:t>
            </a:r>
            <a:endParaRPr lang="en-US" sz="1300" dirty="0"/>
          </a:p>
        </p:txBody>
      </p:sp>
      <p:sp>
        <p:nvSpPr>
          <p:cNvPr id="4" name="Text 2"/>
          <p:cNvSpPr txBox="1"/>
          <p:nvPr/>
        </p:nvSpPr>
        <p:spPr>
          <a:xfrm>
            <a:off x="731520" y="1691640"/>
            <a:ext cx="5029200" cy="16459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Agar is a thermoreversible polysaccharide extracted from red seaweed. It melts on heating and sets on cooling without chemical crosslinking, so no reactive hardener is required. Its behaviour with glycerol has been mapped systematically across 32 formulations and released as an open reference dataset.</a:t>
            </a:r>
            <a:endParaRPr lang="en-US" sz="1200" dirty="0"/>
          </a:p>
        </p:txBody>
      </p:sp>
      <p:sp>
        <p:nvSpPr>
          <p:cNvPr id="5" name="ru0.83.5"/>
          <p:cNvSpPr/>
          <p:nvPr/>
        </p:nvSpPr>
        <p:spPr>
          <a:xfrm>
            <a:off x="731520" y="3200400"/>
            <a:ext cx="5029200" cy="9144"/>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33832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Scope of that characterisation</a:t>
            </a:r>
            <a:endParaRPr lang="en-US" sz="1300" dirty="0"/>
          </a:p>
        </p:txBody>
      </p:sp>
      <p:sp>
        <p:nvSpPr>
          <p:cNvPr id="7" name="Text 5"/>
          <p:cNvSpPr txBox="1"/>
          <p:nvPr/>
        </p:nvSpPr>
        <p:spPr>
          <a:xfrm>
            <a:off x="731520" y="3749040"/>
            <a:ext cx="5029200" cy="109728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Unfilled thin films, loaded in uniaxial tension, evaluated for packaging. Agar has not been characterised as the binding phase of a mineral-filled cast solid in bending.</a:t>
            </a:r>
            <a:endParaRPr lang="en-US" sz="1200" dirty="0"/>
          </a:p>
        </p:txBody>
      </p:sp>
      <p:sp>
        <p:nvSpPr>
          <p:cNvPr id="8" name="ru0.85.3"/>
          <p:cNvSpPr/>
          <p:nvPr/>
        </p:nvSpPr>
        <p:spPr>
          <a:xfrm>
            <a:off x="731520" y="4846320"/>
            <a:ext cx="502920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502920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Thermoreversible setting</a:t>
            </a:r>
            <a:endParaRPr lang="en-US" sz="1300" dirty="0"/>
          </a:p>
        </p:txBody>
      </p:sp>
      <p:sp>
        <p:nvSpPr>
          <p:cNvPr id="10" name="nd0.95.95"/>
          <p:cNvSpPr/>
          <p:nvPr/>
        </p:nvSpPr>
        <p:spPr>
          <a:xfrm>
            <a:off x="822960" y="5440680"/>
            <a:ext cx="1554480" cy="411480"/>
          </a:xfrm>
          <a:prstGeom prst="rect">
            <a:avLst/>
          </a:prstGeom>
          <a:solidFill>
            <a:srgbClr val="F7F6F4"/>
          </a:solidFill>
          <a:ln w="12700">
            <a:solidFill>
              <a:srgbClr val="F7F6F4"/>
            </a:solidFill>
            <a:prstDash val="solid"/>
          </a:ln>
        </p:spPr>
      </p:sp>
      <p:sp>
        <p:nvSpPr>
          <p:cNvPr id="11" name="Text 9"/>
          <p:cNvSpPr txBox="1"/>
          <p:nvPr/>
        </p:nvSpPr>
        <p:spPr>
          <a:xfrm>
            <a:off x="932688" y="5440680"/>
            <a:ext cx="1335024" cy="41148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Gel — solid</a:t>
            </a:r>
            <a:endParaRPr lang="en-US" sz="1100" dirty="0"/>
          </a:p>
        </p:txBody>
      </p:sp>
      <p:sp>
        <p:nvSpPr>
          <p:cNvPr id="12" name="nd45.95"/>
          <p:cNvSpPr/>
          <p:nvPr/>
        </p:nvSpPr>
        <p:spPr>
          <a:xfrm>
            <a:off x="3657600" y="5440680"/>
            <a:ext cx="1554480" cy="411480"/>
          </a:xfrm>
          <a:prstGeom prst="rect">
            <a:avLst/>
          </a:prstGeom>
          <a:solidFill>
            <a:srgbClr val="F7F6F4"/>
          </a:solidFill>
          <a:ln w="12700">
            <a:solidFill>
              <a:srgbClr val="F7F6F4"/>
            </a:solidFill>
            <a:prstDash val="solid"/>
          </a:ln>
        </p:spPr>
      </p:sp>
      <p:sp>
        <p:nvSpPr>
          <p:cNvPr id="13" name="Text 11"/>
          <p:cNvSpPr txBox="1"/>
          <p:nvPr/>
        </p:nvSpPr>
        <p:spPr>
          <a:xfrm>
            <a:off x="3767328" y="5440680"/>
            <a:ext cx="1335024" cy="41148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Sol — in solution</a:t>
            </a:r>
            <a:endParaRPr lang="en-US" sz="1100" dirty="0"/>
          </a:p>
        </p:txBody>
      </p:sp>
      <p:sp>
        <p:nvSpPr>
          <p:cNvPr id="14" name="cyh"/>
          <p:cNvSpPr/>
          <p:nvPr/>
        </p:nvSpPr>
        <p:spPr>
          <a:xfrm>
            <a:off x="2487168" y="5468112"/>
            <a:ext cx="1060704" cy="137160"/>
          </a:xfrm>
          <a:prstGeom prst="rightArrow">
            <a:avLst/>
          </a:prstGeom>
          <a:solidFill>
            <a:srgbClr val="B4513A"/>
          </a:solidFill>
          <a:ln w="12700">
            <a:solidFill>
              <a:srgbClr val="B4513A">
                <a:alpha val="0"/>
              </a:srgbClr>
            </a:solidFill>
            <a:prstDash val="solid"/>
          </a:ln>
        </p:spPr>
      </p:sp>
      <p:sp>
        <p:nvSpPr>
          <p:cNvPr id="15" name="cyc"/>
          <p:cNvSpPr/>
          <p:nvPr/>
        </p:nvSpPr>
        <p:spPr>
          <a:xfrm>
            <a:off x="2487168" y="5733288"/>
            <a:ext cx="1060704" cy="137160"/>
          </a:xfrm>
          <a:prstGeom prst="leftArrow">
            <a:avLst/>
          </a:prstGeom>
          <a:solidFill>
            <a:srgbClr val="141414"/>
          </a:solidFill>
          <a:ln w="12700">
            <a:solidFill>
              <a:srgbClr val="141414">
                <a:alpha val="0"/>
              </a:srgbClr>
            </a:solidFill>
            <a:prstDash val="solid"/>
          </a:ln>
        </p:spPr>
      </p:sp>
      <p:sp>
        <p:nvSpPr>
          <p:cNvPr id="16" name="Text 14"/>
          <p:cNvSpPr txBox="1"/>
          <p:nvPr/>
        </p:nvSpPr>
        <p:spPr>
          <a:xfrm>
            <a:off x="2377440" y="5230368"/>
            <a:ext cx="1280160" cy="219456"/>
          </a:xfrm>
          <a:prstGeom prst="rect">
            <a:avLst/>
          </a:prstGeom>
          <a:noFill/>
          <a:ln/>
        </p:spPr>
        <p:txBody>
          <a:bodyPr wrap="square" lIns="0" tIns="0" rIns="0" bIns="0" rtlCol="0" anchor="ctr"/>
          <a:lstStyle/>
          <a:p>
            <a:pPr algn="ctr" indent="0" marL="0">
              <a:buNone/>
            </a:pPr>
            <a:r>
              <a:rPr lang="en-US" sz="950" dirty="0">
                <a:solidFill>
                  <a:srgbClr val="B4513A"/>
                </a:solidFill>
                <a:latin typeface="Calibri" pitchFamily="34" charset="0"/>
                <a:ea typeface="Calibri" pitchFamily="34" charset="-122"/>
                <a:cs typeface="Calibri" pitchFamily="34" charset="-120"/>
              </a:rPr>
              <a:t>heat, 95 °C</a:t>
            </a:r>
            <a:endParaRPr lang="en-US" sz="950" dirty="0"/>
          </a:p>
        </p:txBody>
      </p:sp>
      <p:sp>
        <p:nvSpPr>
          <p:cNvPr id="17" name="Text 15"/>
          <p:cNvSpPr txBox="1"/>
          <p:nvPr/>
        </p:nvSpPr>
        <p:spPr>
          <a:xfrm>
            <a:off x="2377440" y="5888736"/>
            <a:ext cx="1280160" cy="219456"/>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cool, ambient</a:t>
            </a:r>
            <a:endParaRPr lang="en-US" sz="950" dirty="0"/>
          </a:p>
        </p:txBody>
      </p:sp>
      <p:sp>
        <p:nvSpPr>
          <p:cNvPr id="18" name="Text 16"/>
          <p:cNvSpPr txBox="1"/>
          <p:nvPr/>
        </p:nvSpPr>
        <p:spPr>
          <a:xfrm>
            <a:off x="731520" y="6217920"/>
            <a:ext cx="5029200" cy="45720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transition is physical, not chemical: no reactive hardener, no cure temperature, and at 66% mineral loading no coupling agent.</a:t>
            </a:r>
            <a:endParaRPr lang="en-US" sz="1150" dirty="0"/>
          </a:p>
        </p:txBody>
      </p:sp>
      <p:sp>
        <p:nvSpPr>
          <p:cNvPr id="19" name="vr6.71.45"/>
          <p:cNvSpPr/>
          <p:nvPr/>
        </p:nvSpPr>
        <p:spPr>
          <a:xfrm>
            <a:off x="6126480" y="1325880"/>
            <a:ext cx="13716" cy="4937760"/>
          </a:xfrm>
          <a:prstGeom prst="rect">
            <a:avLst/>
          </a:prstGeom>
          <a:solidFill>
            <a:srgbClr val="E4E4E4"/>
          </a:solidFill>
          <a:ln w="12700">
            <a:solidFill>
              <a:srgbClr val="E4E4E4">
                <a:alpha val="0"/>
              </a:srgbClr>
            </a:solidFill>
            <a:prstDash val="solid"/>
          </a:ln>
        </p:spPr>
      </p:sp>
      <p:sp>
        <p:nvSpPr>
          <p:cNvPr id="20" name="Text 18"/>
          <p:cNvSpPr txBox="1"/>
          <p:nvPr/>
        </p:nvSpPr>
        <p:spPr>
          <a:xfrm>
            <a:off x="6583680" y="1325880"/>
            <a:ext cx="48463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Form and loading case in this study</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0" y="1691640"/>
          <a:ext cx="4846320" cy="914400"/>
        </p:xfrm>
        <a:graphic>
          <a:graphicData uri="http://schemas.openxmlformats.org/drawingml/2006/table">
            <a:tbl>
              <a:tblPr/>
              <a:tblGrid>
                <a:gridCol w="1371600"/>
                <a:gridCol w="1645920"/>
                <a:gridCol w="1828800"/>
              </a:tblGrid>
              <a:tr h="530352">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Film literature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Thin cast film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Cast solid, 20–50 mm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 phase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Unfilled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66% of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Loading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Uniaxial tension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 and bending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Intended use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Packaging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Interior surfaces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6583680" y="4526280"/>
            <a:ext cx="4846320" cy="9144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compositional logic transfers. The form and the loading case do not, and it is the loading case that governs use as an interior surface.</a:t>
            </a:r>
            <a:endParaRPr lang="en-US" sz="1200" dirty="0"/>
          </a:p>
        </p:txBody>
      </p:sp>
      <p:sp>
        <p:nvSpPr>
          <p:cNvPr id="23" name="Text 20"/>
          <p:cNvSpPr txBox="1"/>
          <p:nvPr/>
        </p:nvSpPr>
        <p:spPr>
          <a:xfrm>
            <a:off x="6583680" y="5760720"/>
            <a:ext cx="48463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Hernández et al. (2022), Materials 15(11), 3954 — 32 agar / glycerin / water formulations, released as an open dataset.</a:t>
            </a:r>
            <a:endParaRPr lang="en-US" sz="900" dirty="0"/>
          </a:p>
        </p:txBody>
      </p:sp>
      <p:sp>
        <p:nvSpPr>
          <p:cNvPr id="2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gap</a:t>
            </a:r>
            <a:endParaRPr lang="en-US" sz="2000" dirty="0"/>
          </a:p>
        </p:txBody>
      </p:sp>
      <p:sp>
        <p:nvSpPr>
          <p:cNvPr id="3" name="Text 1"/>
          <p:cNvSpPr txBox="1"/>
          <p:nvPr/>
        </p:nvSpPr>
        <p:spPr>
          <a:xfrm>
            <a:off x="731520" y="1325880"/>
            <a:ext cx="10698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Three gaps follow from the preceding two slides</a:t>
            </a:r>
            <a:endParaRPr lang="en-US" sz="1300" dirty="0"/>
          </a:p>
        </p:txBody>
      </p:sp>
      <p:sp>
        <p:nvSpPr>
          <p:cNvPr id="4" name="ru0.81.9"/>
          <p:cNvSpPr/>
          <p:nvPr/>
        </p:nvSpPr>
        <p:spPr>
          <a:xfrm>
            <a:off x="731520" y="1737360"/>
            <a:ext cx="10698480" cy="9144"/>
          </a:xfrm>
          <a:prstGeom prst="rect">
            <a:avLst/>
          </a:prstGeom>
          <a:solidFill>
            <a:srgbClr val="5A5A5A"/>
          </a:solidFill>
          <a:ln w="12700">
            <a:solidFill>
              <a:srgbClr val="5A5A5A">
                <a:alpha val="0"/>
              </a:srgbClr>
            </a:solidFill>
            <a:prstDash val="solid"/>
          </a:ln>
        </p:spPr>
      </p:sp>
      <p:sp>
        <p:nvSpPr>
          <p:cNvPr id="5" name="Text 3"/>
          <p:cNvSpPr txBox="1"/>
          <p:nvPr/>
        </p:nvSpPr>
        <p:spPr>
          <a:xfrm>
            <a:off x="731520" y="201168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965960"/>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The binding phase is never biological</a:t>
            </a:r>
            <a:endParaRPr lang="en-US" sz="1300" dirty="0"/>
          </a:p>
        </p:txBody>
      </p:sp>
      <p:sp>
        <p:nvSpPr>
          <p:cNvPr id="7" name="Text 5"/>
          <p:cNvSpPr txBox="1"/>
          <p:nvPr/>
        </p:nvSpPr>
        <p:spPr>
          <a:xfrm>
            <a:off x="5440680" y="198424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Across the eggshell literature the mineral is recovered from waste while the matrix remains Portland clinker, bitumen, lime, a ceramic body or a thermoplastic. No study reports an eggshell composite in which both phases are of biological origin and fully biodegradable.</a:t>
            </a:r>
            <a:endParaRPr lang="en-US" sz="1200" dirty="0"/>
          </a:p>
        </p:txBody>
      </p:sp>
      <p:sp>
        <p:nvSpPr>
          <p:cNvPr id="8" name="ru0.83.4299999999999997"/>
          <p:cNvSpPr/>
          <p:nvPr/>
        </p:nvSpPr>
        <p:spPr>
          <a:xfrm>
            <a:off x="731520" y="3136392"/>
            <a:ext cx="10698480" cy="9144"/>
          </a:xfrm>
          <a:prstGeom prst="rect">
            <a:avLst/>
          </a:prstGeom>
          <a:solidFill>
            <a:srgbClr val="5A5A5A"/>
          </a:solidFill>
          <a:ln w="12700">
            <a:solidFill>
              <a:srgbClr val="5A5A5A">
                <a:alpha val="0"/>
              </a:srgbClr>
            </a:solidFill>
            <a:prstDash val="solid"/>
          </a:ln>
        </p:spPr>
      </p:sp>
      <p:sp>
        <p:nvSpPr>
          <p:cNvPr id="9" name="Text 7"/>
          <p:cNvSpPr txBox="1"/>
          <p:nvPr/>
        </p:nvSpPr>
        <p:spPr>
          <a:xfrm>
            <a:off x="731520" y="3401568"/>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1417320" y="3355848"/>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Agar is characterised only as an unfilled film</a:t>
            </a:r>
            <a:endParaRPr lang="en-US" sz="1300" dirty="0"/>
          </a:p>
        </p:txBody>
      </p:sp>
      <p:sp>
        <p:nvSpPr>
          <p:cNvPr id="11" name="Text 9"/>
          <p:cNvSpPr txBox="1"/>
          <p:nvPr/>
        </p:nvSpPr>
        <p:spPr>
          <a:xfrm>
            <a:off x="5440680" y="3374136"/>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The reference dataset covers thin films in uniaxial tension for packaging. The behaviour of agar as the binding phase of a highly mineral-filled cast solid, loaded in bending, is not reported.</a:t>
            </a:r>
            <a:endParaRPr lang="en-US" sz="1200" dirty="0"/>
          </a:p>
        </p:txBody>
      </p:sp>
      <p:sp>
        <p:nvSpPr>
          <p:cNvPr id="12" name="ru0.84.95"/>
          <p:cNvSpPr/>
          <p:nvPr/>
        </p:nvSpPr>
        <p:spPr>
          <a:xfrm>
            <a:off x="731520" y="4526280"/>
            <a:ext cx="10698480" cy="9144"/>
          </a:xfrm>
          <a:prstGeom prst="rect">
            <a:avLst/>
          </a:prstGeom>
          <a:solidFill>
            <a:srgbClr val="5A5A5A"/>
          </a:solidFill>
          <a:ln w="12700">
            <a:solidFill>
              <a:srgbClr val="5A5A5A">
                <a:alpha val="0"/>
              </a:srgbClr>
            </a:solidFill>
            <a:prstDash val="solid"/>
          </a:ln>
        </p:spPr>
      </p:sp>
      <p:sp>
        <p:nvSpPr>
          <p:cNvPr id="13" name="Text 11"/>
          <p:cNvSpPr txBox="1"/>
          <p:nvPr/>
        </p:nvSpPr>
        <p:spPr>
          <a:xfrm>
            <a:off x="731520" y="4791456"/>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17320" y="4745736"/>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Property sets are reported in fragments</a:t>
            </a:r>
            <a:endParaRPr lang="en-US" sz="1300" dirty="0"/>
          </a:p>
        </p:txBody>
      </p:sp>
      <p:sp>
        <p:nvSpPr>
          <p:cNvPr id="15" name="Text 13"/>
          <p:cNvSpPr txBox="1"/>
          <p:nvPr/>
        </p:nvSpPr>
        <p:spPr>
          <a:xfrm>
            <a:off x="5440680" y="4764024"/>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Compressive, flexural, reaction-to-fire and hygric behaviour are reported in separate studies on separate formulations. No single study gives all four for one eggshell–biopolymer formulation family.</a:t>
            </a:r>
            <a:endParaRPr lang="en-US" sz="1200" dirty="0"/>
          </a:p>
        </p:txBody>
      </p:sp>
      <p:sp>
        <p:nvSpPr>
          <p:cNvPr id="16" name="Text 14"/>
          <p:cNvSpPr txBox="1"/>
          <p:nvPr/>
        </p:nvSpPr>
        <p:spPr>
          <a:xfrm>
            <a:off x="731520" y="608076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FFFFFF"/>
                </a:solidFill>
                <a:latin typeface="Calibri" pitchFamily="34" charset="0"/>
                <a:ea typeface="Calibri" pitchFamily="34" charset="-122"/>
                <a:cs typeface="Calibri" pitchFamily="34" charset="-120"/>
              </a:rPr>
              <a:t>The contribution is therefore a documented protocol and a single coherent property set, not a novel constituent.</a:t>
            </a:r>
            <a:endParaRPr lang="en-US" sz="1200" dirty="0"/>
          </a:p>
        </p:txBody>
      </p:sp>
      <p:sp>
        <p:nvSpPr>
          <p:cNvPr id="1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Aim</a:t>
            </a:r>
            <a:endParaRPr lang="en-US" sz="2000" dirty="0"/>
          </a:p>
        </p:txBody>
      </p:sp>
      <p:sp>
        <p:nvSpPr>
          <p:cNvPr id="3" name="aimp"/>
          <p:cNvSpPr/>
          <p:nvPr/>
        </p:nvSpPr>
        <p:spPr>
          <a:xfrm>
            <a:off x="731520" y="1325880"/>
            <a:ext cx="10698480" cy="1051560"/>
          </a:xfrm>
          <a:prstGeom prst="rect">
            <a:avLst/>
          </a:prstGeom>
          <a:solidFill>
            <a:srgbClr val="F7F6F4"/>
          </a:solidFill>
          <a:ln w="12700">
            <a:solidFill>
              <a:srgbClr val="F7F6F4">
                <a:alpha val="0"/>
              </a:srgbClr>
            </a:solidFill>
            <a:prstDash val="solid"/>
          </a:ln>
        </p:spPr>
      </p:sp>
      <p:sp>
        <p:nvSpPr>
          <p:cNvPr id="4" name="Text 2"/>
          <p:cNvSpPr txBox="1"/>
          <p:nvPr/>
        </p:nvSpPr>
        <p:spPr>
          <a:xfrm>
            <a:off x="1051560" y="1572768"/>
            <a:ext cx="10058400" cy="64008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To document a reproducible production protocol for a fully bio-based eggshell–agar composite, and to characterise its mechanical, reaction-to-fire and hygric behaviour against published test standards.</a:t>
            </a:r>
            <a:endParaRPr lang="en-US" sz="1300" dirty="0"/>
          </a:p>
        </p:txBody>
      </p:sp>
      <p:sp>
        <p:nvSpPr>
          <p:cNvPr id="5" name="Text 3"/>
          <p:cNvSpPr txBox="1"/>
          <p:nvPr/>
        </p:nvSpPr>
        <p:spPr>
          <a:xfrm>
            <a:off x="731520" y="269748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Objectives</a:t>
            </a:r>
            <a:endParaRPr lang="en-US" sz="1300" dirty="0"/>
          </a:p>
        </p:txBody>
      </p:sp>
      <p:sp>
        <p:nvSpPr>
          <p:cNvPr id="6" name="ru0.83.35"/>
          <p:cNvSpPr/>
          <p:nvPr/>
        </p:nvSpPr>
        <p:spPr>
          <a:xfrm>
            <a:off x="731520" y="3063240"/>
            <a:ext cx="10698480" cy="9144"/>
          </a:xfrm>
          <a:prstGeom prst="rect">
            <a:avLst/>
          </a:prstGeom>
          <a:solidFill>
            <a:srgbClr val="E4E4E4"/>
          </a:solidFill>
          <a:ln w="12700">
            <a:solidFill>
              <a:srgbClr val="E4E4E4">
                <a:alpha val="0"/>
              </a:srgbClr>
            </a:solidFill>
            <a:prstDash val="solid"/>
          </a:ln>
        </p:spPr>
      </p:sp>
      <p:sp>
        <p:nvSpPr>
          <p:cNvPr id="7" name="Text 5"/>
          <p:cNvSpPr txBox="1"/>
          <p:nvPr/>
        </p:nvSpPr>
        <p:spPr>
          <a:xfrm>
            <a:off x="731520" y="333756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17320" y="329184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Document the protocol in full</a:t>
            </a:r>
            <a:endParaRPr lang="en-US" sz="1300" dirty="0"/>
          </a:p>
        </p:txBody>
      </p:sp>
      <p:sp>
        <p:nvSpPr>
          <p:cNvPr id="9" name="Text 7"/>
          <p:cNvSpPr txBox="1"/>
          <p:nvPr/>
        </p:nvSpPr>
        <p:spPr>
          <a:xfrm>
            <a:off x="5440680" y="331012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Every parameter of mineral preparation, binder preparation, casting and cure reported in a form another laboratory can repeat.</a:t>
            </a:r>
            <a:endParaRPr lang="en-US" sz="1200" dirty="0"/>
          </a:p>
        </p:txBody>
      </p:sp>
      <p:sp>
        <p:nvSpPr>
          <p:cNvPr id="10" name="ru0.84.32"/>
          <p:cNvSpPr/>
          <p:nvPr/>
        </p:nvSpPr>
        <p:spPr>
          <a:xfrm>
            <a:off x="731520" y="3950208"/>
            <a:ext cx="10698480" cy="9144"/>
          </a:xfrm>
          <a:prstGeom prst="rect">
            <a:avLst/>
          </a:prstGeom>
          <a:solidFill>
            <a:srgbClr val="E4E4E4"/>
          </a:solidFill>
          <a:ln w="12700">
            <a:solidFill>
              <a:srgbClr val="E4E4E4">
                <a:alpha val="0"/>
              </a:srgbClr>
            </a:solidFill>
            <a:prstDash val="solid"/>
          </a:ln>
        </p:spPr>
      </p:sp>
      <p:sp>
        <p:nvSpPr>
          <p:cNvPr id="11" name="Text 9"/>
          <p:cNvSpPr txBox="1"/>
          <p:nvPr/>
        </p:nvSpPr>
        <p:spPr>
          <a:xfrm>
            <a:off x="731520" y="411480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2" name="Text 10"/>
          <p:cNvSpPr txBox="1"/>
          <p:nvPr/>
        </p:nvSpPr>
        <p:spPr>
          <a:xfrm>
            <a:off x="1417320" y="406908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Characterise against published standards</a:t>
            </a:r>
            <a:endParaRPr lang="en-US" sz="1300" dirty="0"/>
          </a:p>
        </p:txBody>
      </p:sp>
      <p:sp>
        <p:nvSpPr>
          <p:cNvPr id="13" name="Text 11"/>
          <p:cNvSpPr txBox="1"/>
          <p:nvPr/>
        </p:nvSpPr>
        <p:spPr>
          <a:xfrm>
            <a:off x="5440680" y="408736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Compressive and flexural behaviour, ignitability and water absorption, determined to ASTM D790-17, ISO 11925-2:2020 and ASTM D570-98.</a:t>
            </a:r>
            <a:endParaRPr lang="en-US" sz="1200" dirty="0"/>
          </a:p>
        </p:txBody>
      </p:sp>
      <p:sp>
        <p:nvSpPr>
          <p:cNvPr id="14" name="ru0.85.17"/>
          <p:cNvSpPr/>
          <p:nvPr/>
        </p:nvSpPr>
        <p:spPr>
          <a:xfrm>
            <a:off x="731520" y="4727448"/>
            <a:ext cx="10698480" cy="9144"/>
          </a:xfrm>
          <a:prstGeom prst="rect">
            <a:avLst/>
          </a:prstGeom>
          <a:solidFill>
            <a:srgbClr val="E4E4E4"/>
          </a:solidFill>
          <a:ln w="12700">
            <a:solidFill>
              <a:srgbClr val="E4E4E4">
                <a:alpha val="0"/>
              </a:srgbClr>
            </a:solidFill>
            <a:prstDash val="solid"/>
          </a:ln>
        </p:spPr>
      </p:sp>
      <p:sp>
        <p:nvSpPr>
          <p:cNvPr id="15" name="Text 13"/>
          <p:cNvSpPr txBox="1"/>
          <p:nvPr/>
        </p:nvSpPr>
        <p:spPr>
          <a:xfrm>
            <a:off x="731520" y="48920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1417320" y="484632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Position the results</a:t>
            </a:r>
            <a:endParaRPr lang="en-US" sz="1300" dirty="0"/>
          </a:p>
        </p:txBody>
      </p:sp>
      <p:sp>
        <p:nvSpPr>
          <p:cNvPr id="17" name="Text 15"/>
          <p:cNvSpPr txBox="1"/>
          <p:nvPr/>
        </p:nvSpPr>
        <p:spPr>
          <a:xfrm>
            <a:off x="5440680" y="486460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Benchmarked against conventional interior materials and against the bio-based composite family, from published property data.</a:t>
            </a:r>
            <a:endParaRPr lang="en-US" sz="1200" dirty="0"/>
          </a:p>
        </p:txBody>
      </p:sp>
      <p:sp>
        <p:nvSpPr>
          <p:cNvPr id="18" name="ru0.86.02"/>
          <p:cNvSpPr/>
          <p:nvPr/>
        </p:nvSpPr>
        <p:spPr>
          <a:xfrm>
            <a:off x="731520" y="5504688"/>
            <a:ext cx="10698480" cy="9144"/>
          </a:xfrm>
          <a:prstGeom prst="rect">
            <a:avLst/>
          </a:prstGeom>
          <a:solidFill>
            <a:srgbClr val="E4E4E4"/>
          </a:solidFill>
          <a:ln w="12700">
            <a:solidFill>
              <a:srgbClr val="E4E4E4">
                <a:alpha val="0"/>
              </a:srgbClr>
            </a:solidFill>
            <a:prstDash val="solid"/>
          </a:ln>
        </p:spPr>
      </p:sp>
      <p:sp>
        <p:nvSpPr>
          <p:cNvPr id="19" name="Text 17"/>
          <p:cNvSpPr txBox="1"/>
          <p:nvPr/>
        </p:nvSpPr>
        <p:spPr>
          <a:xfrm>
            <a:off x="731520" y="566928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20" name="Text 18"/>
          <p:cNvSpPr txBox="1"/>
          <p:nvPr/>
        </p:nvSpPr>
        <p:spPr>
          <a:xfrm>
            <a:off x="1417320" y="562356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Derive an evaluation criterion</a:t>
            </a:r>
            <a:endParaRPr lang="en-US" sz="1300" dirty="0"/>
          </a:p>
        </p:txBody>
      </p:sp>
      <p:sp>
        <p:nvSpPr>
          <p:cNvPr id="21" name="Text 19"/>
          <p:cNvSpPr txBox="1"/>
          <p:nvPr/>
        </p:nvSpPr>
        <p:spPr>
          <a:xfrm>
            <a:off x="5440680" y="564184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Establish which measured quantity governs service behaviour for this material class, and report it alongside strength.</a:t>
            </a:r>
            <a:endParaRPr lang="en-US" sz="1200" dirty="0"/>
          </a:p>
        </p:txBody>
      </p:sp>
      <p:sp>
        <p:nvSpPr>
          <p:cNvPr id="2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Scope</a:t>
            </a:r>
            <a:endParaRPr lang="en-US" sz="2000" dirty="0"/>
          </a:p>
        </p:txBody>
      </p:sp>
      <p:sp>
        <p:nvSpPr>
          <p:cNvPr id="3" name="Text 1"/>
          <p:cNvSpPr txBox="1"/>
          <p:nvPr/>
        </p:nvSpPr>
        <p:spPr>
          <a:xfrm>
            <a:off x="731520" y="1325880"/>
            <a:ext cx="64008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Within scope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400800" cy="914400"/>
        </p:xfrm>
        <a:graphic>
          <a:graphicData uri="http://schemas.openxmlformats.org/drawingml/2006/table">
            <a:tbl>
              <a:tblPr/>
              <a:tblGrid>
                <a:gridCol w="1737360"/>
                <a:gridCol w="4663440"/>
              </a:tblGrid>
              <a:tr h="45720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Formulations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Five — three compressive, two flexural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Specimens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Three per formulation for mechanical testing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Properties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 flexure, ignitability, water absorption, bulk density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Standards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D790-17 · ISO 11925-2:2020 · ASTM D570-98(2018)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Conditions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Ambient cure, single laboratory, single operator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Non-loadbearing interior surfaces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vr8.41.45"/>
          <p:cNvSpPr/>
          <p:nvPr/>
        </p:nvSpPr>
        <p:spPr>
          <a:xfrm>
            <a:off x="7680960" y="1325880"/>
            <a:ext cx="13716" cy="3566160"/>
          </a:xfrm>
          <a:prstGeom prst="rect">
            <a:avLst/>
          </a:prstGeom>
          <a:solidFill>
            <a:srgbClr val="E4E4E4"/>
          </a:solidFill>
          <a:ln w="12700">
            <a:solidFill>
              <a:srgbClr val="E4E4E4">
                <a:alpha val="0"/>
              </a:srgbClr>
            </a:solidFill>
            <a:prstDash val="solid"/>
          </a:ln>
        </p:spPr>
      </p:sp>
      <p:sp>
        <p:nvSpPr>
          <p:cNvPr id="6" name="Text 3"/>
          <p:cNvSpPr txBox="1"/>
          <p:nvPr/>
        </p:nvSpPr>
        <p:spPr>
          <a:xfrm>
            <a:off x="8138160" y="1325880"/>
            <a:ext cx="32918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Outside scope</a:t>
            </a:r>
            <a:endParaRPr lang="en-US" sz="1300" dirty="0"/>
          </a:p>
        </p:txBody>
      </p:sp>
      <p:sp>
        <p:nvSpPr>
          <p:cNvPr id="7" name="Text 4"/>
          <p:cNvSpPr txBox="1"/>
          <p:nvPr/>
        </p:nvSpPr>
        <p:spPr>
          <a:xfrm>
            <a:off x="8138160" y="1691640"/>
            <a:ext cx="3291840" cy="164592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No durability, classification or life-cycle data were generated. The results reported here are characterisation data, not a performance specification.</a:t>
            </a:r>
            <a:endParaRPr lang="en-US" sz="1200" dirty="0"/>
          </a:p>
        </p:txBody>
      </p:sp>
      <p:sp>
        <p:nvSpPr>
          <p:cNvPr id="8" name="Text 5"/>
          <p:cNvSpPr txBox="1"/>
          <p:nvPr/>
        </p:nvSpPr>
        <p:spPr>
          <a:xfrm>
            <a:off x="8138160" y="3566160"/>
            <a:ext cx="32918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Each exclusion is revisited as a defined next experiment in the closing section.</a:t>
            </a:r>
            <a:endParaRPr lang="en-US" sz="900" dirty="0"/>
          </a:p>
        </p:txBody>
      </p:sp>
      <p:sp>
        <p:nvSpPr>
          <p:cNvPr id="9" name="ru0.85.6"/>
          <p:cNvSpPr/>
          <p:nvPr/>
        </p:nvSpPr>
        <p:spPr>
          <a:xfrm>
            <a:off x="731520" y="5120640"/>
            <a:ext cx="10698480" cy="9144"/>
          </a:xfrm>
          <a:prstGeom prst="rect">
            <a:avLst/>
          </a:prstGeom>
          <a:solidFill>
            <a:srgbClr val="E4E4E4"/>
          </a:solidFill>
          <a:ln w="12700">
            <a:solidFill>
              <a:srgbClr val="E4E4E4">
                <a:alpha val="0"/>
              </a:srgbClr>
            </a:solidFill>
            <a:prstDash val="solid"/>
          </a:ln>
        </p:spPr>
      </p:sp>
      <p:sp>
        <p:nvSpPr>
          <p:cNvPr id="10" name="Text 7"/>
          <p:cNvSpPr txBox="1"/>
          <p:nvPr/>
        </p:nvSpPr>
        <p:spPr>
          <a:xfrm>
            <a:off x="731520" y="5285232"/>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Property coverage</a:t>
            </a:r>
            <a:endParaRPr lang="en-US" sz="1300" dirty="0"/>
          </a:p>
        </p:txBody>
      </p:sp>
      <p:sp>
        <p:nvSpPr>
          <p:cNvPr id="11" name="ch0"/>
          <p:cNvSpPr/>
          <p:nvPr/>
        </p:nvSpPr>
        <p:spPr>
          <a:xfrm>
            <a:off x="731520" y="5669280"/>
            <a:ext cx="1097280" cy="475488"/>
          </a:xfrm>
          <a:prstGeom prst="rect">
            <a:avLst/>
          </a:prstGeom>
          <a:solidFill>
            <a:srgbClr val="141414"/>
          </a:solidFill>
          <a:ln w="12700">
            <a:solidFill>
              <a:srgbClr val="141414"/>
            </a:solidFill>
            <a:prstDash val="solid"/>
          </a:ln>
        </p:spPr>
      </p:sp>
      <p:sp>
        <p:nvSpPr>
          <p:cNvPr id="12" name="Text 9"/>
          <p:cNvSpPr txBox="1"/>
          <p:nvPr/>
        </p:nvSpPr>
        <p:spPr>
          <a:xfrm>
            <a:off x="786384"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Compression</a:t>
            </a:r>
            <a:endParaRPr lang="en-US" sz="950" dirty="0"/>
          </a:p>
        </p:txBody>
      </p:sp>
      <p:sp>
        <p:nvSpPr>
          <p:cNvPr id="13" name="ch1"/>
          <p:cNvSpPr/>
          <p:nvPr/>
        </p:nvSpPr>
        <p:spPr>
          <a:xfrm>
            <a:off x="1929384" y="5669280"/>
            <a:ext cx="1097280" cy="475488"/>
          </a:xfrm>
          <a:prstGeom prst="rect">
            <a:avLst/>
          </a:prstGeom>
          <a:solidFill>
            <a:srgbClr val="141414"/>
          </a:solidFill>
          <a:ln w="12700">
            <a:solidFill>
              <a:srgbClr val="141414"/>
            </a:solidFill>
            <a:prstDash val="solid"/>
          </a:ln>
        </p:spPr>
      </p:sp>
      <p:sp>
        <p:nvSpPr>
          <p:cNvPr id="14" name="Text 11"/>
          <p:cNvSpPr txBox="1"/>
          <p:nvPr/>
        </p:nvSpPr>
        <p:spPr>
          <a:xfrm>
            <a:off x="1984248"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Flexure</a:t>
            </a:r>
            <a:endParaRPr lang="en-US" sz="950" dirty="0"/>
          </a:p>
        </p:txBody>
      </p:sp>
      <p:sp>
        <p:nvSpPr>
          <p:cNvPr id="15" name="ch2"/>
          <p:cNvSpPr/>
          <p:nvPr/>
        </p:nvSpPr>
        <p:spPr>
          <a:xfrm>
            <a:off x="3127248" y="5669280"/>
            <a:ext cx="1097280" cy="475488"/>
          </a:xfrm>
          <a:prstGeom prst="rect">
            <a:avLst/>
          </a:prstGeom>
          <a:solidFill>
            <a:srgbClr val="141414"/>
          </a:solidFill>
          <a:ln w="12700">
            <a:solidFill>
              <a:srgbClr val="141414"/>
            </a:solidFill>
            <a:prstDash val="solid"/>
          </a:ln>
        </p:spPr>
      </p:sp>
      <p:sp>
        <p:nvSpPr>
          <p:cNvPr id="16" name="Text 13"/>
          <p:cNvSpPr txBox="1"/>
          <p:nvPr/>
        </p:nvSpPr>
        <p:spPr>
          <a:xfrm>
            <a:off x="3182112"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Ignitability</a:t>
            </a:r>
            <a:endParaRPr lang="en-US" sz="950" dirty="0"/>
          </a:p>
        </p:txBody>
      </p:sp>
      <p:sp>
        <p:nvSpPr>
          <p:cNvPr id="17" name="ch3"/>
          <p:cNvSpPr/>
          <p:nvPr/>
        </p:nvSpPr>
        <p:spPr>
          <a:xfrm>
            <a:off x="4325112" y="5669280"/>
            <a:ext cx="1097280" cy="475488"/>
          </a:xfrm>
          <a:prstGeom prst="rect">
            <a:avLst/>
          </a:prstGeom>
          <a:solidFill>
            <a:srgbClr val="141414"/>
          </a:solidFill>
          <a:ln w="12700">
            <a:solidFill>
              <a:srgbClr val="141414"/>
            </a:solidFill>
            <a:prstDash val="solid"/>
          </a:ln>
        </p:spPr>
      </p:sp>
      <p:sp>
        <p:nvSpPr>
          <p:cNvPr id="18" name="Text 15"/>
          <p:cNvSpPr txBox="1"/>
          <p:nvPr/>
        </p:nvSpPr>
        <p:spPr>
          <a:xfrm>
            <a:off x="4379976"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Water absorption</a:t>
            </a:r>
            <a:endParaRPr lang="en-US" sz="950" dirty="0"/>
          </a:p>
        </p:txBody>
      </p:sp>
      <p:sp>
        <p:nvSpPr>
          <p:cNvPr id="19" name="ch4"/>
          <p:cNvSpPr/>
          <p:nvPr/>
        </p:nvSpPr>
        <p:spPr>
          <a:xfrm>
            <a:off x="5522976" y="5669280"/>
            <a:ext cx="1097280" cy="475488"/>
          </a:xfrm>
          <a:prstGeom prst="rect">
            <a:avLst/>
          </a:prstGeom>
          <a:solidFill>
            <a:srgbClr val="141414"/>
          </a:solidFill>
          <a:ln w="12700">
            <a:solidFill>
              <a:srgbClr val="141414"/>
            </a:solidFill>
            <a:prstDash val="solid"/>
          </a:ln>
        </p:spPr>
      </p:sp>
      <p:sp>
        <p:nvSpPr>
          <p:cNvPr id="20" name="Text 17"/>
          <p:cNvSpPr txBox="1"/>
          <p:nvPr/>
        </p:nvSpPr>
        <p:spPr>
          <a:xfrm>
            <a:off x="5577840"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Bulk density</a:t>
            </a:r>
            <a:endParaRPr lang="en-US" sz="950" dirty="0"/>
          </a:p>
        </p:txBody>
      </p:sp>
      <p:sp>
        <p:nvSpPr>
          <p:cNvPr id="21" name="ch5"/>
          <p:cNvSpPr/>
          <p:nvPr/>
        </p:nvSpPr>
        <p:spPr>
          <a:xfrm>
            <a:off x="6720840" y="5669280"/>
            <a:ext cx="1097280" cy="475488"/>
          </a:xfrm>
          <a:prstGeom prst="rect">
            <a:avLst/>
          </a:prstGeom>
          <a:solidFill>
            <a:srgbClr val="FFFFFF"/>
          </a:solidFill>
          <a:ln w="12700">
            <a:solidFill>
              <a:srgbClr val="BDBDBD"/>
            </a:solidFill>
            <a:prstDash val="solid"/>
          </a:ln>
        </p:spPr>
      </p:sp>
      <p:sp>
        <p:nvSpPr>
          <p:cNvPr id="22" name="Text 19"/>
          <p:cNvSpPr txBox="1"/>
          <p:nvPr/>
        </p:nvSpPr>
        <p:spPr>
          <a:xfrm>
            <a:off x="6775704"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Durability</a:t>
            </a:r>
            <a:endParaRPr lang="en-US" sz="950" dirty="0"/>
          </a:p>
        </p:txBody>
      </p:sp>
      <p:sp>
        <p:nvSpPr>
          <p:cNvPr id="23" name="ch6"/>
          <p:cNvSpPr/>
          <p:nvPr/>
        </p:nvSpPr>
        <p:spPr>
          <a:xfrm>
            <a:off x="7918704" y="5669280"/>
            <a:ext cx="1097280" cy="475488"/>
          </a:xfrm>
          <a:prstGeom prst="rect">
            <a:avLst/>
          </a:prstGeom>
          <a:solidFill>
            <a:srgbClr val="FFFFFF"/>
          </a:solidFill>
          <a:ln w="12700">
            <a:solidFill>
              <a:srgbClr val="BDBDBD"/>
            </a:solidFill>
            <a:prstDash val="solid"/>
          </a:ln>
        </p:spPr>
      </p:sp>
      <p:sp>
        <p:nvSpPr>
          <p:cNvPr id="24" name="Text 21"/>
          <p:cNvSpPr txBox="1"/>
          <p:nvPr/>
        </p:nvSpPr>
        <p:spPr>
          <a:xfrm>
            <a:off x="7973568"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Fire classification</a:t>
            </a:r>
            <a:endParaRPr lang="en-US" sz="950" dirty="0"/>
          </a:p>
        </p:txBody>
      </p:sp>
      <p:sp>
        <p:nvSpPr>
          <p:cNvPr id="25" name="ch7"/>
          <p:cNvSpPr/>
          <p:nvPr/>
        </p:nvSpPr>
        <p:spPr>
          <a:xfrm>
            <a:off x="9116568" y="5669280"/>
            <a:ext cx="1097280" cy="475488"/>
          </a:xfrm>
          <a:prstGeom prst="rect">
            <a:avLst/>
          </a:prstGeom>
          <a:solidFill>
            <a:srgbClr val="FFFFFF"/>
          </a:solidFill>
          <a:ln w="12700">
            <a:solidFill>
              <a:srgbClr val="BDBDBD"/>
            </a:solidFill>
            <a:prstDash val="solid"/>
          </a:ln>
        </p:spPr>
      </p:sp>
      <p:sp>
        <p:nvSpPr>
          <p:cNvPr id="26" name="Text 23"/>
          <p:cNvSpPr txBox="1"/>
          <p:nvPr/>
        </p:nvSpPr>
        <p:spPr>
          <a:xfrm>
            <a:off x="9171432"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Life-cycle</a:t>
            </a:r>
            <a:endParaRPr lang="en-US" sz="950" dirty="0"/>
          </a:p>
        </p:txBody>
      </p:sp>
      <p:sp>
        <p:nvSpPr>
          <p:cNvPr id="27" name="ch8"/>
          <p:cNvSpPr/>
          <p:nvPr/>
        </p:nvSpPr>
        <p:spPr>
          <a:xfrm>
            <a:off x="10314432" y="5669280"/>
            <a:ext cx="1097280" cy="475488"/>
          </a:xfrm>
          <a:prstGeom prst="rect">
            <a:avLst/>
          </a:prstGeom>
          <a:solidFill>
            <a:srgbClr val="FFFFFF"/>
          </a:solidFill>
          <a:ln w="12700">
            <a:solidFill>
              <a:srgbClr val="BDBDBD"/>
            </a:solidFill>
            <a:prstDash val="solid"/>
          </a:ln>
        </p:spPr>
      </p:sp>
      <p:sp>
        <p:nvSpPr>
          <p:cNvPr id="28" name="Text 25"/>
          <p:cNvSpPr txBox="1"/>
          <p:nvPr/>
        </p:nvSpPr>
        <p:spPr>
          <a:xfrm>
            <a:off x="10369296"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Structural use</a:t>
            </a:r>
            <a:endParaRPr lang="en-US" sz="950" dirty="0"/>
          </a:p>
        </p:txBody>
      </p:sp>
      <p:sp>
        <p:nvSpPr>
          <p:cNvPr id="29" name="Text 26"/>
          <p:cNvSpPr txBox="1"/>
          <p:nvPr/>
        </p:nvSpPr>
        <p:spPr>
          <a:xfrm>
            <a:off x="731520" y="626364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Filled: determined in this study. Outlined: not determined, and therefore outside every claim made in this presentation.</a:t>
            </a:r>
            <a:endParaRPr lang="en-US" sz="900" dirty="0"/>
          </a:p>
        </p:txBody>
      </p:sp>
      <p:sp>
        <p:nvSpPr>
          <p:cNvPr id="3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Method</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 material-driven sequence in four stages</a:t>
            </a:r>
            <a:endParaRPr lang="en-US" sz="1300" dirty="0"/>
          </a:p>
        </p:txBody>
      </p:sp>
      <p:sp>
        <p:nvSpPr>
          <p:cNvPr id="4" name="mo0"/>
          <p:cNvSpPr/>
          <p:nvPr/>
        </p:nvSpPr>
        <p:spPr>
          <a:xfrm>
            <a:off x="731520" y="1783080"/>
            <a:ext cx="420624" cy="420624"/>
          </a:xfrm>
          <a:prstGeom prst="ellipse">
            <a:avLst/>
          </a:prstGeom>
          <a:solidFill>
            <a:srgbClr val="FFFFFF"/>
          </a:solidFill>
          <a:ln w="15875">
            <a:solidFill>
              <a:srgbClr val="141414"/>
            </a:solidFill>
            <a:prstDash val="solid"/>
          </a:ln>
        </p:spPr>
      </p:sp>
      <p:sp>
        <p:nvSpPr>
          <p:cNvPr id="5" name="Text 3"/>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731520"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Produce</a:t>
            </a:r>
            <a:endParaRPr lang="en-US" sz="1300" dirty="0"/>
          </a:p>
        </p:txBody>
      </p:sp>
      <p:sp>
        <p:nvSpPr>
          <p:cNvPr id="7" name="Text 5"/>
          <p:cNvSpPr txBox="1"/>
          <p:nvPr/>
        </p:nvSpPr>
        <p:spPr>
          <a:xfrm>
            <a:off x="731520"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Develop the composite and record every production parameter.</a:t>
            </a:r>
            <a:endParaRPr lang="en-US" sz="1200" dirty="0"/>
          </a:p>
        </p:txBody>
      </p:sp>
      <p:sp>
        <p:nvSpPr>
          <p:cNvPr id="8" name="ru0.84.18"/>
          <p:cNvSpPr/>
          <p:nvPr/>
        </p:nvSpPr>
        <p:spPr>
          <a:xfrm>
            <a:off x="731520" y="3822192"/>
            <a:ext cx="2359152"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Iterative formulation over twelve months</a:t>
            </a:r>
            <a:endParaRPr lang="en-US" sz="1000" dirty="0"/>
          </a:p>
        </p:txBody>
      </p:sp>
      <p:sp>
        <p:nvSpPr>
          <p:cNvPr id="10" name="ma0"/>
          <p:cNvSpPr/>
          <p:nvPr/>
        </p:nvSpPr>
        <p:spPr>
          <a:xfrm>
            <a:off x="3310128" y="1901952"/>
            <a:ext cx="219456" cy="164592"/>
          </a:xfrm>
          <a:prstGeom prst="rightArrow">
            <a:avLst/>
          </a:prstGeom>
          <a:solidFill>
            <a:srgbClr val="BDBDBD"/>
          </a:solidFill>
          <a:ln w="12700">
            <a:solidFill>
              <a:srgbClr val="BDBDBD">
                <a:alpha val="0"/>
              </a:srgbClr>
            </a:solidFill>
            <a:prstDash val="solid"/>
          </a:ln>
        </p:spPr>
      </p:sp>
      <p:sp>
        <p:nvSpPr>
          <p:cNvPr id="11" name="mo1"/>
          <p:cNvSpPr/>
          <p:nvPr/>
        </p:nvSpPr>
        <p:spPr>
          <a:xfrm>
            <a:off x="3575304" y="1783080"/>
            <a:ext cx="420624" cy="420624"/>
          </a:xfrm>
          <a:prstGeom prst="ellipse">
            <a:avLst/>
          </a:prstGeom>
          <a:solidFill>
            <a:srgbClr val="FFFFFF"/>
          </a:solidFill>
          <a:ln w="15875">
            <a:solidFill>
              <a:srgbClr val="141414"/>
            </a:solidFill>
            <a:prstDash val="solid"/>
          </a:ln>
        </p:spPr>
      </p:sp>
      <p:sp>
        <p:nvSpPr>
          <p:cNvPr id="12" name="Text 10"/>
          <p:cNvSpPr txBox="1"/>
          <p:nvPr/>
        </p:nvSpPr>
        <p:spPr>
          <a:xfrm>
            <a:off x="3575304"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575304"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a:t>
            </a:r>
            <a:endParaRPr lang="en-US" sz="1300" dirty="0"/>
          </a:p>
        </p:txBody>
      </p:sp>
      <p:sp>
        <p:nvSpPr>
          <p:cNvPr id="14" name="Text 12"/>
          <p:cNvSpPr txBox="1"/>
          <p:nvPr/>
        </p:nvSpPr>
        <p:spPr>
          <a:xfrm>
            <a:off x="3575304"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Characterise the cured material against published test standards.</a:t>
            </a:r>
            <a:endParaRPr lang="en-US" sz="1200" dirty="0"/>
          </a:p>
        </p:txBody>
      </p:sp>
      <p:sp>
        <p:nvSpPr>
          <p:cNvPr id="15" name="ru3.914.18"/>
          <p:cNvSpPr/>
          <p:nvPr/>
        </p:nvSpPr>
        <p:spPr>
          <a:xfrm>
            <a:off x="3575304" y="3822192"/>
            <a:ext cx="2359152" cy="9144"/>
          </a:xfrm>
          <a:prstGeom prst="rect">
            <a:avLst/>
          </a:prstGeom>
          <a:solidFill>
            <a:srgbClr val="E4E4E4"/>
          </a:solidFill>
          <a:ln w="12700">
            <a:solidFill>
              <a:srgbClr val="E4E4E4">
                <a:alpha val="0"/>
              </a:srgbClr>
            </a:solidFill>
            <a:prstDash val="solid"/>
          </a:ln>
        </p:spPr>
      </p:sp>
      <p:sp>
        <p:nvSpPr>
          <p:cNvPr id="16" name="Text 14"/>
          <p:cNvSpPr txBox="1"/>
          <p:nvPr/>
        </p:nvSpPr>
        <p:spPr>
          <a:xfrm>
            <a:off x="3575304"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Compression · flexure · ignitability · absorption</a:t>
            </a:r>
            <a:endParaRPr lang="en-US" sz="1000" dirty="0"/>
          </a:p>
        </p:txBody>
      </p:sp>
      <p:sp>
        <p:nvSpPr>
          <p:cNvPr id="17" name="ma1"/>
          <p:cNvSpPr/>
          <p:nvPr/>
        </p:nvSpPr>
        <p:spPr>
          <a:xfrm>
            <a:off x="6153912" y="1901952"/>
            <a:ext cx="219456" cy="164592"/>
          </a:xfrm>
          <a:prstGeom prst="rightArrow">
            <a:avLst/>
          </a:prstGeom>
          <a:solidFill>
            <a:srgbClr val="BDBDBD"/>
          </a:solidFill>
          <a:ln w="12700">
            <a:solidFill>
              <a:srgbClr val="BDBDBD">
                <a:alpha val="0"/>
              </a:srgbClr>
            </a:solidFill>
            <a:prstDash val="solid"/>
          </a:ln>
        </p:spPr>
      </p:sp>
      <p:sp>
        <p:nvSpPr>
          <p:cNvPr id="18" name="mo2"/>
          <p:cNvSpPr/>
          <p:nvPr/>
        </p:nvSpPr>
        <p:spPr>
          <a:xfrm>
            <a:off x="6419088" y="1783080"/>
            <a:ext cx="420624" cy="420624"/>
          </a:xfrm>
          <a:prstGeom prst="ellipse">
            <a:avLst/>
          </a:prstGeom>
          <a:solidFill>
            <a:srgbClr val="FFFFFF"/>
          </a:solidFill>
          <a:ln w="15875">
            <a:solidFill>
              <a:srgbClr val="141414"/>
            </a:solidFill>
            <a:prstDash val="solid"/>
          </a:ln>
        </p:spPr>
      </p:sp>
      <p:sp>
        <p:nvSpPr>
          <p:cNvPr id="19" name="Text 17"/>
          <p:cNvSpPr txBox="1"/>
          <p:nvPr/>
        </p:nvSpPr>
        <p:spPr>
          <a:xfrm>
            <a:off x="6419088"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6419088"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Position</a:t>
            </a:r>
            <a:endParaRPr lang="en-US" sz="1300" dirty="0"/>
          </a:p>
        </p:txBody>
      </p:sp>
      <p:sp>
        <p:nvSpPr>
          <p:cNvPr id="21" name="Text 19"/>
          <p:cNvSpPr txBox="1"/>
          <p:nvPr/>
        </p:nvSpPr>
        <p:spPr>
          <a:xfrm>
            <a:off x="6419088"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Benchmark the results against two material families.</a:t>
            </a:r>
            <a:endParaRPr lang="en-US" sz="1200" dirty="0"/>
          </a:p>
        </p:txBody>
      </p:sp>
      <p:sp>
        <p:nvSpPr>
          <p:cNvPr id="22" name="ru7.024.18"/>
          <p:cNvSpPr/>
          <p:nvPr/>
        </p:nvSpPr>
        <p:spPr>
          <a:xfrm>
            <a:off x="6419088" y="3822192"/>
            <a:ext cx="2359152" cy="9144"/>
          </a:xfrm>
          <a:prstGeom prst="rect">
            <a:avLst/>
          </a:prstGeom>
          <a:solidFill>
            <a:srgbClr val="E4E4E4"/>
          </a:solidFill>
          <a:ln w="12700">
            <a:solidFill>
              <a:srgbClr val="E4E4E4">
                <a:alpha val="0"/>
              </a:srgbClr>
            </a:solidFill>
            <a:prstDash val="solid"/>
          </a:ln>
        </p:spPr>
      </p:sp>
      <p:sp>
        <p:nvSpPr>
          <p:cNvPr id="23" name="Text 21"/>
          <p:cNvSpPr txBox="1"/>
          <p:nvPr/>
        </p:nvSpPr>
        <p:spPr>
          <a:xfrm>
            <a:off x="6419088"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Conventional interior materials · bio-based composites</a:t>
            </a:r>
            <a:endParaRPr lang="en-US" sz="1000" dirty="0"/>
          </a:p>
        </p:txBody>
      </p:sp>
      <p:sp>
        <p:nvSpPr>
          <p:cNvPr id="24" name="ma2"/>
          <p:cNvSpPr/>
          <p:nvPr/>
        </p:nvSpPr>
        <p:spPr>
          <a:xfrm>
            <a:off x="8997696" y="1901952"/>
            <a:ext cx="219456" cy="164592"/>
          </a:xfrm>
          <a:prstGeom prst="rightArrow">
            <a:avLst/>
          </a:prstGeom>
          <a:solidFill>
            <a:srgbClr val="BDBDBD"/>
          </a:solidFill>
          <a:ln w="12700">
            <a:solidFill>
              <a:srgbClr val="BDBDBD">
                <a:alpha val="0"/>
              </a:srgbClr>
            </a:solidFill>
            <a:prstDash val="solid"/>
          </a:ln>
        </p:spPr>
      </p:sp>
      <p:sp>
        <p:nvSpPr>
          <p:cNvPr id="25" name="mo3"/>
          <p:cNvSpPr/>
          <p:nvPr/>
        </p:nvSpPr>
        <p:spPr>
          <a:xfrm>
            <a:off x="9262872" y="1783080"/>
            <a:ext cx="420624" cy="420624"/>
          </a:xfrm>
          <a:prstGeom prst="ellipse">
            <a:avLst/>
          </a:prstGeom>
          <a:solidFill>
            <a:srgbClr val="B4513A"/>
          </a:solidFill>
          <a:ln w="15875">
            <a:solidFill>
              <a:srgbClr val="B4513A"/>
            </a:solidFill>
            <a:prstDash val="solid"/>
          </a:ln>
        </p:spPr>
      </p:sp>
      <p:sp>
        <p:nvSpPr>
          <p:cNvPr id="26" name="Text 24"/>
          <p:cNvSpPr txBox="1"/>
          <p:nvPr/>
        </p:nvSpPr>
        <p:spPr>
          <a:xfrm>
            <a:off x="9262872" y="17830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9262872"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Propose</a:t>
            </a:r>
            <a:endParaRPr lang="en-US" sz="1300" dirty="0"/>
          </a:p>
        </p:txBody>
      </p:sp>
      <p:sp>
        <p:nvSpPr>
          <p:cNvPr id="28" name="Text 26"/>
          <p:cNvSpPr txBox="1"/>
          <p:nvPr/>
        </p:nvSpPr>
        <p:spPr>
          <a:xfrm>
            <a:off x="9262872"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Derive an evaluation criterion from the observed behaviour.</a:t>
            </a:r>
            <a:endParaRPr lang="en-US" sz="1200" dirty="0"/>
          </a:p>
        </p:txBody>
      </p:sp>
      <p:sp>
        <p:nvSpPr>
          <p:cNvPr id="29" name="ru10.134.18"/>
          <p:cNvSpPr/>
          <p:nvPr/>
        </p:nvSpPr>
        <p:spPr>
          <a:xfrm>
            <a:off x="9262872" y="3822192"/>
            <a:ext cx="2359152" cy="9144"/>
          </a:xfrm>
          <a:prstGeom prst="rect">
            <a:avLst/>
          </a:prstGeom>
          <a:solidFill>
            <a:srgbClr val="E4E4E4"/>
          </a:solidFill>
          <a:ln w="12700">
            <a:solidFill>
              <a:srgbClr val="E4E4E4">
                <a:alpha val="0"/>
              </a:srgbClr>
            </a:solidFill>
            <a:prstDash val="solid"/>
          </a:ln>
        </p:spPr>
      </p:sp>
      <p:sp>
        <p:nvSpPr>
          <p:cNvPr id="30" name="Text 28"/>
          <p:cNvSpPr txBox="1"/>
          <p:nvPr/>
        </p:nvSpPr>
        <p:spPr>
          <a:xfrm>
            <a:off x="9262872"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Deformation capacity reported alongside strength</a:t>
            </a:r>
            <a:endParaRPr lang="en-US" sz="1000" dirty="0"/>
          </a:p>
        </p:txBody>
      </p:sp>
      <p:sp>
        <p:nvSpPr>
          <p:cNvPr id="31" name="ru0.85.35"/>
          <p:cNvSpPr/>
          <p:nvPr/>
        </p:nvSpPr>
        <p:spPr>
          <a:xfrm>
            <a:off x="731520" y="4892040"/>
            <a:ext cx="10698480" cy="9144"/>
          </a:xfrm>
          <a:prstGeom prst="rect">
            <a:avLst/>
          </a:prstGeom>
          <a:solidFill>
            <a:srgbClr val="E4E4E4"/>
          </a:solidFill>
          <a:ln w="12700">
            <a:solidFill>
              <a:srgbClr val="E4E4E4">
                <a:alpha val="0"/>
              </a:srgbClr>
            </a:solidFill>
            <a:prstDash val="solid"/>
          </a:ln>
        </p:spPr>
      </p:sp>
      <p:sp>
        <p:nvSpPr>
          <p:cNvPr id="32" name="Text 30"/>
          <p:cNvSpPr txBox="1"/>
          <p:nvPr/>
        </p:nvSpPr>
        <p:spPr>
          <a:xfrm>
            <a:off x="731520" y="5074920"/>
            <a:ext cx="10698480" cy="8229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order is material-driven: properties are measured first and the application envelope is derived from them, rather than the material being selected to satisfy a predetermined form. The design proposal presented later follows from the measurements and not the reverse.</a:t>
            </a:r>
            <a:endParaRPr lang="en-US" sz="1200" dirty="0"/>
          </a:p>
        </p:txBody>
      </p:sp>
      <p:sp>
        <p:nvSpPr>
          <p:cNvPr id="33" name="Text 31"/>
          <p:cNvSpPr txBox="1"/>
          <p:nvPr/>
        </p:nvSpPr>
        <p:spPr>
          <a:xfrm>
            <a:off x="731520" y="61264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Material-driven design after Karana et al. (2015)</a:t>
            </a:r>
            <a:endParaRPr lang="en-US" sz="900" dirty="0"/>
          </a:p>
        </p:txBody>
      </p:sp>
      <p:sp>
        <p:nvSpPr>
          <p:cNvPr id="3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Research questions</a:t>
            </a:r>
            <a:endParaRPr lang="en-US" sz="2000" dirty="0"/>
          </a:p>
        </p:txBody>
      </p:sp>
      <p:sp>
        <p:nvSpPr>
          <p:cNvPr id="3" name="ru0.81.5"/>
          <p:cNvSpPr/>
          <p:nvPr/>
        </p:nvSpPr>
        <p:spPr>
          <a:xfrm>
            <a:off x="731520" y="1371600"/>
            <a:ext cx="10698480" cy="9144"/>
          </a:xfrm>
          <a:prstGeom prst="rect">
            <a:avLst/>
          </a:prstGeom>
          <a:solidFill>
            <a:srgbClr val="E4E4E4"/>
          </a:solidFill>
          <a:ln w="12700">
            <a:solidFill>
              <a:srgbClr val="E4E4E4">
                <a:alpha val="0"/>
              </a:srgbClr>
            </a:solidFill>
            <a:prstDash val="solid"/>
          </a:ln>
        </p:spPr>
      </p:sp>
      <p:sp>
        <p:nvSpPr>
          <p:cNvPr id="4" name="Text 2"/>
          <p:cNvSpPr txBox="1"/>
          <p:nvPr/>
        </p:nvSpPr>
        <p:spPr>
          <a:xfrm>
            <a:off x="731520" y="167335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5" name="Text 3"/>
          <p:cNvSpPr txBox="1"/>
          <p:nvPr/>
        </p:nvSpPr>
        <p:spPr>
          <a:xfrm>
            <a:off x="1417320" y="160020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Which formulation variable governs compressive strength?</a:t>
            </a:r>
            <a:endParaRPr lang="en-US" sz="1300" dirty="0"/>
          </a:p>
        </p:txBody>
      </p:sp>
      <p:sp>
        <p:nvSpPr>
          <p:cNvPr id="6" name="Text 4"/>
          <p:cNvSpPr txBox="1"/>
          <p:nvPr/>
        </p:nvSpPr>
        <p:spPr>
          <a:xfrm>
            <a:off x="9509760" y="163677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7" name="ru0.82.4699999999999998"/>
          <p:cNvSpPr/>
          <p:nvPr/>
        </p:nvSpPr>
        <p:spPr>
          <a:xfrm>
            <a:off x="731520" y="2258568"/>
            <a:ext cx="10698480" cy="9144"/>
          </a:xfrm>
          <a:prstGeom prst="rect">
            <a:avLst/>
          </a:prstGeom>
          <a:solidFill>
            <a:srgbClr val="E4E4E4"/>
          </a:solidFill>
          <a:ln w="12700">
            <a:solidFill>
              <a:srgbClr val="E4E4E4">
                <a:alpha val="0"/>
              </a:srgbClr>
            </a:solidFill>
            <a:prstDash val="solid"/>
          </a:ln>
        </p:spPr>
      </p:sp>
      <p:sp>
        <p:nvSpPr>
          <p:cNvPr id="8" name="Text 6"/>
          <p:cNvSpPr txBox="1"/>
          <p:nvPr/>
        </p:nvSpPr>
        <p:spPr>
          <a:xfrm>
            <a:off x="731520" y="254203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6888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plasticiser content affect flexural behaviour?</a:t>
            </a:r>
            <a:endParaRPr lang="en-US" sz="1300" dirty="0"/>
          </a:p>
        </p:txBody>
      </p:sp>
      <p:sp>
        <p:nvSpPr>
          <p:cNvPr id="10" name="Text 8"/>
          <p:cNvSpPr txBox="1"/>
          <p:nvPr/>
        </p:nvSpPr>
        <p:spPr>
          <a:xfrm>
            <a:off x="9509760" y="250545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11" name="ru0.83.42"/>
          <p:cNvSpPr/>
          <p:nvPr/>
        </p:nvSpPr>
        <p:spPr>
          <a:xfrm>
            <a:off x="731520" y="3127248"/>
            <a:ext cx="1069848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731520" y="341071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1417320" y="333756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the composite compare with conventional interior materials?</a:t>
            </a:r>
            <a:endParaRPr lang="en-US" sz="1300" dirty="0"/>
          </a:p>
        </p:txBody>
      </p:sp>
      <p:sp>
        <p:nvSpPr>
          <p:cNvPr id="14" name="Text 12"/>
          <p:cNvSpPr txBox="1"/>
          <p:nvPr/>
        </p:nvSpPr>
        <p:spPr>
          <a:xfrm>
            <a:off x="9509760" y="337413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5" name="ru0.84.37"/>
          <p:cNvSpPr/>
          <p:nvPr/>
        </p:nvSpPr>
        <p:spPr>
          <a:xfrm>
            <a:off x="731520" y="3995928"/>
            <a:ext cx="10698480" cy="9144"/>
          </a:xfrm>
          <a:prstGeom prst="rect">
            <a:avLst/>
          </a:prstGeom>
          <a:solidFill>
            <a:srgbClr val="E4E4E4"/>
          </a:solidFill>
          <a:ln w="12700">
            <a:solidFill>
              <a:srgbClr val="E4E4E4">
                <a:alpha val="0"/>
              </a:srgbClr>
            </a:solidFill>
            <a:prstDash val="solid"/>
          </a:ln>
        </p:spPr>
      </p:sp>
      <p:sp>
        <p:nvSpPr>
          <p:cNvPr id="16" name="Text 14"/>
          <p:cNvSpPr txBox="1"/>
          <p:nvPr/>
        </p:nvSpPr>
        <p:spPr>
          <a:xfrm>
            <a:off x="731520" y="427939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17320" y="420624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it compare with other bio-based composites?</a:t>
            </a:r>
            <a:endParaRPr lang="en-US" sz="1300" dirty="0"/>
          </a:p>
        </p:txBody>
      </p:sp>
      <p:sp>
        <p:nvSpPr>
          <p:cNvPr id="18" name="Text 16"/>
          <p:cNvSpPr txBox="1"/>
          <p:nvPr/>
        </p:nvSpPr>
        <p:spPr>
          <a:xfrm>
            <a:off x="9509760" y="424281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9" name="ru0.85.319999999999999"/>
          <p:cNvSpPr/>
          <p:nvPr/>
        </p:nvSpPr>
        <p:spPr>
          <a:xfrm>
            <a:off x="731520" y="4864608"/>
            <a:ext cx="10698480" cy="9144"/>
          </a:xfrm>
          <a:prstGeom prst="rect">
            <a:avLst/>
          </a:prstGeom>
          <a:solidFill>
            <a:srgbClr val="E4E4E4"/>
          </a:solidFill>
          <a:ln w="12700">
            <a:solidFill>
              <a:srgbClr val="E4E4E4">
                <a:alpha val="0"/>
              </a:srgbClr>
            </a:solidFill>
            <a:prstDash val="solid"/>
          </a:ln>
        </p:spPr>
      </p:sp>
      <p:sp>
        <p:nvSpPr>
          <p:cNvPr id="20" name="Text 18"/>
          <p:cNvSpPr txBox="1"/>
          <p:nvPr/>
        </p:nvSpPr>
        <p:spPr>
          <a:xfrm>
            <a:off x="731520" y="514807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1" name="Text 19"/>
          <p:cNvSpPr txBox="1"/>
          <p:nvPr/>
        </p:nvSpPr>
        <p:spPr>
          <a:xfrm>
            <a:off x="1417320" y="507492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Is compressive strength an adequate evaluation criterion for this class?</a:t>
            </a:r>
            <a:endParaRPr lang="en-US" sz="1300" dirty="0"/>
          </a:p>
        </p:txBody>
      </p:sp>
      <p:sp>
        <p:nvSpPr>
          <p:cNvPr id="22" name="Text 20"/>
          <p:cNvSpPr txBox="1"/>
          <p:nvPr/>
        </p:nvSpPr>
        <p:spPr>
          <a:xfrm>
            <a:off x="9509760" y="511149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Criterion</a:t>
            </a:r>
            <a:endParaRPr lang="en-US" sz="1050" dirty="0"/>
          </a:p>
        </p:txBody>
      </p:sp>
      <p:sp>
        <p:nvSpPr>
          <p:cNvPr id="23" name="ru0.86.27"/>
          <p:cNvSpPr/>
          <p:nvPr/>
        </p:nvSpPr>
        <p:spPr>
          <a:xfrm>
            <a:off x="731520" y="5733288"/>
            <a:ext cx="10698480" cy="9144"/>
          </a:xfrm>
          <a:prstGeom prst="rect">
            <a:avLst/>
          </a:prstGeom>
          <a:solidFill>
            <a:srgbClr val="E4E4E4"/>
          </a:solidFill>
          <a:ln w="12700">
            <a:solidFill>
              <a:srgbClr val="E4E4E4">
                <a:alpha val="0"/>
              </a:srgbClr>
            </a:solidFill>
            <a:prstDash val="solid"/>
          </a:ln>
        </p:spPr>
      </p:sp>
      <p:sp>
        <p:nvSpPr>
          <p:cNvPr id="24" name="Text 22"/>
          <p:cNvSpPr txBox="1"/>
          <p:nvPr/>
        </p:nvSpPr>
        <p:spPr>
          <a:xfrm>
            <a:off x="731520" y="603504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Questions one to four are answered by measurement. Question five is answered by argument from those measurements.</a:t>
            </a:r>
            <a:endParaRPr lang="en-US" sz="12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Hypothesis</a:t>
            </a:r>
            <a:endParaRPr lang="en-US" sz="2000" dirty="0"/>
          </a:p>
        </p:txBody>
      </p:sp>
      <p:sp>
        <p:nvSpPr>
          <p:cNvPr id="3" name="hyp"/>
          <p:cNvSpPr/>
          <p:nvPr/>
        </p:nvSpPr>
        <p:spPr>
          <a:xfrm>
            <a:off x="731520" y="1325880"/>
            <a:ext cx="10698480" cy="1188720"/>
          </a:xfrm>
          <a:prstGeom prst="rect">
            <a:avLst/>
          </a:prstGeom>
          <a:solidFill>
            <a:srgbClr val="F7F6F4"/>
          </a:solidFill>
          <a:ln w="12700">
            <a:solidFill>
              <a:srgbClr val="F7F6F4">
                <a:alpha val="0"/>
              </a:srgbClr>
            </a:solidFill>
            <a:prstDash val="solid"/>
          </a:ln>
        </p:spPr>
      </p:sp>
      <p:sp>
        <p:nvSpPr>
          <p:cNvPr id="4" name="Text 2"/>
          <p:cNvSpPr txBox="1"/>
          <p:nvPr/>
        </p:nvSpPr>
        <p:spPr>
          <a:xfrm>
            <a:off x="1051560" y="1627632"/>
            <a:ext cx="10058400" cy="731520"/>
          </a:xfrm>
          <a:prstGeom prst="rect">
            <a:avLst/>
          </a:prstGeom>
          <a:noFill/>
          <a:ln/>
        </p:spPr>
        <p:txBody>
          <a:bodyPr wrap="square" lIns="0" tIns="0" rIns="0" bIns="0" rtlCol="0" anchor="ctr"/>
          <a:lstStyle/>
          <a:p>
            <a:pPr indent="0" marL="0">
              <a:lnSpc>
                <a:spcPts val="2000"/>
              </a:lnSpc>
              <a:buNone/>
            </a:pPr>
            <a:r>
              <a:rPr lang="en-US" sz="1300" b="1" dirty="0">
                <a:solidFill>
                  <a:srgbClr val="141414"/>
                </a:solidFill>
                <a:latin typeface="Calibri" pitchFamily="34" charset="0"/>
                <a:ea typeface="Calibri" pitchFamily="34" charset="-122"/>
                <a:cs typeface="Calibri" pitchFamily="34" charset="-120"/>
              </a:rPr>
              <a:t>A fully bio-based eggshell–agar composite can be produced repeatably under ambient conditions, and its performance as an interior surface material is governed by deformation capacity rather than by compressive strength.</a:t>
            </a:r>
            <a:endParaRPr lang="en-US" sz="1300" dirty="0"/>
          </a:p>
        </p:txBody>
      </p:sp>
      <p:sp>
        <p:nvSpPr>
          <p:cNvPr id="5" name="Text 3"/>
          <p:cNvSpPr txBox="1"/>
          <p:nvPr/>
        </p:nvSpPr>
        <p:spPr>
          <a:xfrm>
            <a:off x="731520" y="283464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Two clauses, tested separately</a:t>
            </a:r>
            <a:endParaRPr lang="en-US" sz="1300" dirty="0"/>
          </a:p>
        </p:txBody>
      </p:sp>
      <p:sp>
        <p:nvSpPr>
          <p:cNvPr id="6" name="ru0.83.5"/>
          <p:cNvSpPr/>
          <p:nvPr/>
        </p:nvSpPr>
        <p:spPr>
          <a:xfrm>
            <a:off x="731520" y="3200400"/>
            <a:ext cx="10698480" cy="9144"/>
          </a:xfrm>
          <a:prstGeom prst="rect">
            <a:avLst/>
          </a:prstGeom>
          <a:solidFill>
            <a:srgbClr val="E4E4E4"/>
          </a:solidFill>
          <a:ln w="12700">
            <a:solidFill>
              <a:srgbClr val="E4E4E4">
                <a:alpha val="0"/>
              </a:srgbClr>
            </a:solidFill>
            <a:prstDash val="solid"/>
          </a:ln>
        </p:spPr>
      </p:sp>
      <p:sp>
        <p:nvSpPr>
          <p:cNvPr id="7" name="Text 5"/>
          <p:cNvSpPr txBox="1"/>
          <p:nvPr/>
        </p:nvSpPr>
        <p:spPr>
          <a:xfrm>
            <a:off x="731520" y="3456432"/>
            <a:ext cx="10058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Clause 1</a:t>
            </a:r>
            <a:endParaRPr lang="en-US" sz="1200" dirty="0"/>
          </a:p>
        </p:txBody>
      </p:sp>
      <p:sp>
        <p:nvSpPr>
          <p:cNvPr id="8" name="Text 6"/>
          <p:cNvSpPr txBox="1"/>
          <p:nvPr/>
        </p:nvSpPr>
        <p:spPr>
          <a:xfrm>
            <a:off x="1920240" y="3429000"/>
            <a:ext cx="393192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Producible repeatably under ambient conditions</a:t>
            </a:r>
            <a:endParaRPr lang="en-US" sz="1300" dirty="0"/>
          </a:p>
        </p:txBody>
      </p:sp>
      <p:sp>
        <p:nvSpPr>
          <p:cNvPr id="9" name="Text 7"/>
          <p:cNvSpPr txBox="1"/>
          <p:nvPr/>
        </p:nvSpPr>
        <p:spPr>
          <a:xfrm>
            <a:off x="6126480" y="3447288"/>
            <a:ext cx="4297680" cy="86868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Tested by the production protocol and the formulation series: a defined procedure, a fixed shell-to-binder ratio, five formulations and a cure requiring no thermal input after mixing.</a:t>
            </a:r>
            <a:endParaRPr lang="en-US" sz="1200" dirty="0"/>
          </a:p>
        </p:txBody>
      </p:sp>
      <p:sp>
        <p:nvSpPr>
          <p:cNvPr id="10" name="aw11.53.92"/>
          <p:cNvSpPr/>
          <p:nvPr/>
        </p:nvSpPr>
        <p:spPr>
          <a:xfrm>
            <a:off x="10515600" y="3584448"/>
            <a:ext cx="201168" cy="137160"/>
          </a:xfrm>
          <a:prstGeom prst="rightArrow">
            <a:avLst/>
          </a:prstGeom>
          <a:solidFill>
            <a:srgbClr val="BDBDBD"/>
          </a:solidFill>
          <a:ln w="12700">
            <a:solidFill>
              <a:srgbClr val="BDBDBD">
                <a:alpha val="0"/>
              </a:srgbClr>
            </a:solidFill>
            <a:prstDash val="solid"/>
          </a:ln>
        </p:spPr>
      </p:sp>
      <p:sp>
        <p:nvSpPr>
          <p:cNvPr id="11" name="Text 9"/>
          <p:cNvSpPr txBox="1"/>
          <p:nvPr/>
        </p:nvSpPr>
        <p:spPr>
          <a:xfrm>
            <a:off x="10835640" y="3410712"/>
            <a:ext cx="868680" cy="548640"/>
          </a:xfrm>
          <a:prstGeom prst="rect">
            <a:avLst/>
          </a:prstGeom>
          <a:noFill/>
          <a:ln/>
        </p:spPr>
        <p:txBody>
          <a:bodyPr wrap="square" lIns="0" tIns="0" rIns="0" bIns="0" rtlCol="0" anchor="ctr"/>
          <a:lstStyle/>
          <a:p>
            <a:pPr indent="0" marL="0">
              <a:lnSpc>
                <a:spcPts val="1400"/>
              </a:lnSpc>
              <a:buNone/>
            </a:pPr>
            <a:r>
              <a:rPr lang="en-US" sz="1100" b="1" dirty="0">
                <a:solidFill>
                  <a:srgbClr val="B4513A"/>
                </a:solidFill>
                <a:latin typeface="Calibri" pitchFamily="34" charset="0"/>
                <a:ea typeface="Calibri" pitchFamily="34" charset="-122"/>
                <a:cs typeface="Calibri" pitchFamily="34" charset="-120"/>
              </a:rPr>
              <a:t>Slides</a:t>
            </a:r>
            <a:endParaRPr lang="en-US" sz="1100" dirty="0"/>
          </a:p>
          <a:p>
            <a:pPr indent="0" marL="0">
              <a:lnSpc>
                <a:spcPts val="1400"/>
              </a:lnSpc>
              <a:buNone/>
            </a:pPr>
            <a:r>
              <a:rPr lang="en-US" sz="1100" b="1" dirty="0">
                <a:solidFill>
                  <a:srgbClr val="B4513A"/>
                </a:solidFill>
                <a:latin typeface="Calibri" pitchFamily="34" charset="0"/>
                <a:ea typeface="Calibri" pitchFamily="34" charset="-122"/>
                <a:cs typeface="Calibri" pitchFamily="34" charset="-120"/>
              </a:rPr>
              <a:t>12–15</a:t>
            </a:r>
            <a:endParaRPr lang="en-US" sz="1100" dirty="0"/>
          </a:p>
        </p:txBody>
      </p:sp>
      <p:sp>
        <p:nvSpPr>
          <p:cNvPr id="12" name="ru0.84.75"/>
          <p:cNvSpPr/>
          <p:nvPr/>
        </p:nvSpPr>
        <p:spPr>
          <a:xfrm>
            <a:off x="731520" y="4343400"/>
            <a:ext cx="10698480" cy="9144"/>
          </a:xfrm>
          <a:prstGeom prst="rect">
            <a:avLst/>
          </a:prstGeom>
          <a:solidFill>
            <a:srgbClr val="E4E4E4"/>
          </a:solidFill>
          <a:ln w="12700">
            <a:solidFill>
              <a:srgbClr val="E4E4E4">
                <a:alpha val="0"/>
              </a:srgbClr>
            </a:solidFill>
            <a:prstDash val="solid"/>
          </a:ln>
        </p:spPr>
      </p:sp>
      <p:sp>
        <p:nvSpPr>
          <p:cNvPr id="13" name="Text 11"/>
          <p:cNvSpPr txBox="1"/>
          <p:nvPr/>
        </p:nvSpPr>
        <p:spPr>
          <a:xfrm>
            <a:off x="731520" y="4553712"/>
            <a:ext cx="10058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Clause 2</a:t>
            </a:r>
            <a:endParaRPr lang="en-US" sz="1200" dirty="0"/>
          </a:p>
        </p:txBody>
      </p:sp>
      <p:sp>
        <p:nvSpPr>
          <p:cNvPr id="14" name="Text 12"/>
          <p:cNvSpPr txBox="1"/>
          <p:nvPr/>
        </p:nvSpPr>
        <p:spPr>
          <a:xfrm>
            <a:off x="1920240" y="4526280"/>
            <a:ext cx="393192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Governed by deformation capacity rather than strength</a:t>
            </a:r>
            <a:endParaRPr lang="en-US" sz="1300" dirty="0"/>
          </a:p>
        </p:txBody>
      </p:sp>
      <p:sp>
        <p:nvSpPr>
          <p:cNvPr id="15" name="Text 13"/>
          <p:cNvSpPr txBox="1"/>
          <p:nvPr/>
        </p:nvSpPr>
        <p:spPr>
          <a:xfrm>
            <a:off x="6126480" y="4544568"/>
            <a:ext cx="4297680" cy="86868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Tested by the mechanical results and the two benchmarks: the failure mode in compression, the flexural response, and the position of the modulus of resilience relative to strength.</a:t>
            </a:r>
            <a:endParaRPr lang="en-US" sz="1200" dirty="0"/>
          </a:p>
        </p:txBody>
      </p:sp>
      <p:sp>
        <p:nvSpPr>
          <p:cNvPr id="16" name="aw11.55.12"/>
          <p:cNvSpPr/>
          <p:nvPr/>
        </p:nvSpPr>
        <p:spPr>
          <a:xfrm>
            <a:off x="10515600" y="4681728"/>
            <a:ext cx="201168" cy="137160"/>
          </a:xfrm>
          <a:prstGeom prst="rightArrow">
            <a:avLst/>
          </a:prstGeom>
          <a:solidFill>
            <a:srgbClr val="BDBDBD"/>
          </a:solidFill>
          <a:ln w="12700">
            <a:solidFill>
              <a:srgbClr val="BDBDBD">
                <a:alpha val="0"/>
              </a:srgbClr>
            </a:solidFill>
            <a:prstDash val="solid"/>
          </a:ln>
        </p:spPr>
      </p:sp>
      <p:sp>
        <p:nvSpPr>
          <p:cNvPr id="17" name="Text 15"/>
          <p:cNvSpPr txBox="1"/>
          <p:nvPr/>
        </p:nvSpPr>
        <p:spPr>
          <a:xfrm>
            <a:off x="10835640" y="4507992"/>
            <a:ext cx="868680" cy="548640"/>
          </a:xfrm>
          <a:prstGeom prst="rect">
            <a:avLst/>
          </a:prstGeom>
          <a:noFill/>
          <a:ln/>
        </p:spPr>
        <p:txBody>
          <a:bodyPr wrap="square" lIns="0" tIns="0" rIns="0" bIns="0" rtlCol="0" anchor="ctr"/>
          <a:lstStyle/>
          <a:p>
            <a:pPr indent="0" marL="0">
              <a:lnSpc>
                <a:spcPts val="1400"/>
              </a:lnSpc>
              <a:buNone/>
            </a:pPr>
            <a:r>
              <a:rPr lang="en-US" sz="1100" b="1" dirty="0">
                <a:solidFill>
                  <a:srgbClr val="B4513A"/>
                </a:solidFill>
                <a:latin typeface="Calibri" pitchFamily="34" charset="0"/>
                <a:ea typeface="Calibri" pitchFamily="34" charset="-122"/>
                <a:cs typeface="Calibri" pitchFamily="34" charset="-120"/>
              </a:rPr>
              <a:t>Slides</a:t>
            </a:r>
            <a:endParaRPr lang="en-US" sz="1100" dirty="0"/>
          </a:p>
          <a:p>
            <a:pPr indent="0" marL="0">
              <a:lnSpc>
                <a:spcPts val="1400"/>
              </a:lnSpc>
              <a:buNone/>
            </a:pPr>
            <a:r>
              <a:rPr lang="en-US" sz="1100" b="1" dirty="0">
                <a:solidFill>
                  <a:srgbClr val="B4513A"/>
                </a:solidFill>
                <a:latin typeface="Calibri" pitchFamily="34" charset="0"/>
                <a:ea typeface="Calibri" pitchFamily="34" charset="-122"/>
                <a:cs typeface="Calibri" pitchFamily="34" charset="-120"/>
              </a:rPr>
              <a:t>17–24</a:t>
            </a:r>
            <a:endParaRPr lang="en-US" sz="1100" dirty="0"/>
          </a:p>
        </p:txBody>
      </p:sp>
      <p:sp>
        <p:nvSpPr>
          <p:cNvPr id="18" name="ru0.86.15"/>
          <p:cNvSpPr/>
          <p:nvPr/>
        </p:nvSpPr>
        <p:spPr>
          <a:xfrm>
            <a:off x="731520" y="5623560"/>
            <a:ext cx="10698480" cy="9144"/>
          </a:xfrm>
          <a:prstGeom prst="rect">
            <a:avLst/>
          </a:prstGeom>
          <a:solidFill>
            <a:srgbClr val="E4E4E4"/>
          </a:solidFill>
          <a:ln w="12700">
            <a:solidFill>
              <a:srgbClr val="E4E4E4">
                <a:alpha val="0"/>
              </a:srgbClr>
            </a:solidFill>
            <a:prstDash val="solid"/>
          </a:ln>
        </p:spPr>
      </p:sp>
      <p:sp>
        <p:nvSpPr>
          <p:cNvPr id="19" name="Text 17"/>
          <p:cNvSpPr txBox="1"/>
          <p:nvPr/>
        </p:nvSpPr>
        <p:spPr>
          <a:xfrm>
            <a:off x="731520" y="580644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Provenance. The dissertation from which this work derives states a broader hypothesis framed on spatial resilience in interior design. The formulation above is the materials-engineering component of it, restated within the scope of the tests reported here.</a:t>
            </a:r>
            <a:endParaRPr lang="en-US" sz="90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mat" descr="/home/user/sanat-ve-mekan/konferans-bildirisi/03-gorseller/01-prototip-cesitlemeleri.jpeg">    </p:cNvPr>
          <p:cNvPicPr>
            <a:picLocks noChangeAspect="1"/>
          </p:cNvPicPr>
          <p:nvPr/>
        </p:nvPicPr>
        <p:blipFill>
          <a:blip r:embed="rId1"/>
          <a:stretch>
            <a:fillRect/>
          </a:stretch>
        </p:blipFill>
        <p:spPr>
          <a:xfrm>
            <a:off x="0" y="0"/>
            <a:ext cx="12188952" cy="6858000"/>
          </a:xfrm>
          <a:prstGeom prst="rect">
            <a:avLst/>
          </a:prstGeom>
        </p:spPr>
      </p:pic>
      <p:sp>
        <p:nvSpPr>
          <p:cNvPr id="3" name="bd"/>
          <p:cNvSpPr/>
          <p:nvPr/>
        </p:nvSpPr>
        <p:spPr>
          <a:xfrm>
            <a:off x="0" y="5532120"/>
            <a:ext cx="12188952" cy="1325880"/>
          </a:xfrm>
          <a:prstGeom prst="rect">
            <a:avLst/>
          </a:prstGeom>
          <a:solidFill>
            <a:srgbClr val="141414">
              <a:alpha val="94000"/>
            </a:srgbClr>
          </a:solidFill>
          <a:ln w="12700">
            <a:solidFill>
              <a:srgbClr val="141414">
                <a:alpha val="0"/>
              </a:srgbClr>
            </a:solidFill>
            <a:prstDash val="solid"/>
          </a:ln>
        </p:spPr>
      </p:sp>
      <p:sp>
        <p:nvSpPr>
          <p:cNvPr id="4" name="Text 1"/>
          <p:cNvSpPr txBox="1"/>
          <p:nvPr/>
        </p:nvSpPr>
        <p:spPr>
          <a:xfrm>
            <a:off x="731520" y="5742432"/>
            <a:ext cx="106984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Four constituents, each biodegradable</a:t>
            </a:r>
            <a:endParaRPr lang="en-US" sz="2000" dirty="0"/>
          </a:p>
        </p:txBody>
      </p:sp>
      <p:sp>
        <p:nvSpPr>
          <p:cNvPr id="5" name="Text 2"/>
          <p:cNvSpPr txBox="1"/>
          <p:nvPr/>
        </p:nvSpPr>
        <p:spPr>
          <a:xfrm>
            <a:off x="731520" y="6163056"/>
            <a:ext cx="10698480" cy="274320"/>
          </a:xfrm>
          <a:prstGeom prst="rect">
            <a:avLst/>
          </a:prstGeom>
          <a:noFill/>
          <a:ln/>
        </p:spPr>
        <p:txBody>
          <a:bodyPr wrap="square" lIns="0" tIns="0" rIns="0" bIns="0" rtlCol="0" anchor="ctr"/>
          <a:lstStyle/>
          <a:p>
            <a:pPr indent="0" marL="0">
              <a:buNone/>
            </a:pPr>
            <a:r>
              <a:rPr lang="en-US" sz="1050" dirty="0">
                <a:solidFill>
                  <a:srgbClr val="CFCFCF"/>
                </a:solidFill>
                <a:latin typeface="Calibri" pitchFamily="34" charset="0"/>
                <a:ea typeface="Calibri" pitchFamily="34" charset="-122"/>
                <a:cs typeface="Calibri" pitchFamily="34" charset="-120"/>
              </a:rPr>
              <a:t>Waste eggshell powder · agar · glycerol · water, with a shellac finish. Colour and texture vary with natural pigment and mould geometry at constant composition.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1 · Mineral phase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Progressive size reduction of the shell to a sieved powder</a:t>
            </a:r>
            <a:endParaRPr lang="en-US" sz="1300" dirty="0"/>
          </a:p>
        </p:txBody>
      </p:sp>
      <p:sp>
        <p:nvSpPr>
          <p:cNvPr id="4" name="pc0"/>
          <p:cNvSpPr/>
          <p:nvPr/>
        </p:nvSpPr>
        <p:spPr>
          <a:xfrm>
            <a:off x="1303020" y="1737360"/>
            <a:ext cx="822960" cy="822960"/>
          </a:xfrm>
          <a:prstGeom prst="ellipse">
            <a:avLst/>
          </a:prstGeom>
          <a:solidFill>
            <a:srgbClr val="F7F6F4"/>
          </a:solidFill>
          <a:ln w="12700">
            <a:solidFill>
              <a:srgbClr val="E4E4E4"/>
            </a:solidFill>
            <a:prstDash val="solid"/>
          </a:ln>
        </p:spPr>
      </p:sp>
      <p:sp>
        <p:nvSpPr>
          <p:cNvPr id="5" name="Text 3"/>
          <p:cNvSpPr txBox="1"/>
          <p:nvPr/>
        </p:nvSpPr>
        <p:spPr>
          <a:xfrm>
            <a:off x="731520"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Whole shell</a:t>
            </a:r>
            <a:endParaRPr lang="en-US" sz="1300" dirty="0"/>
          </a:p>
        </p:txBody>
      </p:sp>
      <p:sp>
        <p:nvSpPr>
          <p:cNvPr id="6" name="Text 4"/>
          <p:cNvSpPr txBox="1"/>
          <p:nvPr/>
        </p:nvSpPr>
        <p:spPr>
          <a:xfrm>
            <a:off x="731520"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collected from a single bakery</a:t>
            </a:r>
            <a:endParaRPr lang="en-US" sz="1050" dirty="0"/>
          </a:p>
        </p:txBody>
      </p:sp>
      <p:sp>
        <p:nvSpPr>
          <p:cNvPr id="7" name="Text 5"/>
          <p:cNvSpPr txBox="1"/>
          <p:nvPr/>
        </p:nvSpPr>
        <p:spPr>
          <a:xfrm>
            <a:off x="731520" y="3749040"/>
            <a:ext cx="1965960" cy="274320"/>
          </a:xfrm>
          <a:prstGeom prst="rect">
            <a:avLst/>
          </a:prstGeom>
          <a:noFill/>
          <a:ln/>
        </p:spPr>
        <p:txBody>
          <a:bodyPr wrap="square" lIns="0" tIns="0" rIns="0" bIns="0" rtlCol="0" anchor="ctr"/>
          <a:lstStyle/>
          <a:p>
            <a:pPr algn="ctr" indent="0" marL="0">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8" name="pa0"/>
          <p:cNvSpPr/>
          <p:nvPr/>
        </p:nvSpPr>
        <p:spPr>
          <a:xfrm>
            <a:off x="2715768" y="2084832"/>
            <a:ext cx="182880" cy="137160"/>
          </a:xfrm>
          <a:prstGeom prst="rightArrow">
            <a:avLst/>
          </a:prstGeom>
          <a:solidFill>
            <a:srgbClr val="BDBDBD"/>
          </a:solidFill>
          <a:ln w="12700">
            <a:solidFill>
              <a:srgbClr val="BDBDBD">
                <a:alpha val="0"/>
              </a:srgbClr>
            </a:solidFill>
            <a:prstDash val="solid"/>
          </a:ln>
        </p:spPr>
      </p:sp>
      <p:sp>
        <p:nvSpPr>
          <p:cNvPr id="9" name="pc1"/>
          <p:cNvSpPr/>
          <p:nvPr/>
        </p:nvSpPr>
        <p:spPr>
          <a:xfrm>
            <a:off x="3552444" y="1801368"/>
            <a:ext cx="694944" cy="694944"/>
          </a:xfrm>
          <a:prstGeom prst="ellipse">
            <a:avLst/>
          </a:prstGeom>
          <a:solidFill>
            <a:srgbClr val="F7F6F4"/>
          </a:solidFill>
          <a:ln w="12700">
            <a:solidFill>
              <a:srgbClr val="E4E4E4"/>
            </a:solidFill>
            <a:prstDash val="solid"/>
          </a:ln>
        </p:spPr>
      </p:sp>
      <p:sp>
        <p:nvSpPr>
          <p:cNvPr id="10" name="Text 8"/>
          <p:cNvSpPr txBox="1"/>
          <p:nvPr/>
        </p:nvSpPr>
        <p:spPr>
          <a:xfrm>
            <a:off x="2916936"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Cleaned</a:t>
            </a:r>
            <a:endParaRPr lang="en-US" sz="1300" dirty="0"/>
          </a:p>
        </p:txBody>
      </p:sp>
      <p:sp>
        <p:nvSpPr>
          <p:cNvPr id="11" name="Text 9"/>
          <p:cNvSpPr txBox="1"/>
          <p:nvPr/>
        </p:nvSpPr>
        <p:spPr>
          <a:xfrm>
            <a:off x="2916936"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membrane and residue removed manually</a:t>
            </a:r>
            <a:endParaRPr lang="en-US" sz="1050" dirty="0"/>
          </a:p>
        </p:txBody>
      </p:sp>
      <p:sp>
        <p:nvSpPr>
          <p:cNvPr id="12" name="Text 10"/>
          <p:cNvSpPr txBox="1"/>
          <p:nvPr/>
        </p:nvSpPr>
        <p:spPr>
          <a:xfrm>
            <a:off x="2916936" y="3749040"/>
            <a:ext cx="1965960" cy="274320"/>
          </a:xfrm>
          <a:prstGeom prst="rect">
            <a:avLst/>
          </a:prstGeom>
          <a:noFill/>
          <a:ln/>
        </p:spPr>
        <p:txBody>
          <a:bodyPr wrap="square" lIns="0" tIns="0" rIns="0" bIns="0" rtlCol="0" anchor="ctr"/>
          <a:lstStyle/>
          <a:p>
            <a:pPr algn="ctr" indent="0" marL="0">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13" name="pa1"/>
          <p:cNvSpPr/>
          <p:nvPr/>
        </p:nvSpPr>
        <p:spPr>
          <a:xfrm>
            <a:off x="4901184" y="2084832"/>
            <a:ext cx="182880" cy="137160"/>
          </a:xfrm>
          <a:prstGeom prst="rightArrow">
            <a:avLst/>
          </a:prstGeom>
          <a:solidFill>
            <a:srgbClr val="BDBDBD"/>
          </a:solidFill>
          <a:ln w="12700">
            <a:solidFill>
              <a:srgbClr val="BDBDBD">
                <a:alpha val="0"/>
              </a:srgbClr>
            </a:solidFill>
            <a:prstDash val="solid"/>
          </a:ln>
        </p:spPr>
      </p:sp>
      <p:sp>
        <p:nvSpPr>
          <p:cNvPr id="14" name="pc2"/>
          <p:cNvSpPr/>
          <p:nvPr/>
        </p:nvSpPr>
        <p:spPr>
          <a:xfrm>
            <a:off x="5801868" y="1865376"/>
            <a:ext cx="566928" cy="566928"/>
          </a:xfrm>
          <a:prstGeom prst="ellipse">
            <a:avLst/>
          </a:prstGeom>
          <a:solidFill>
            <a:srgbClr val="F7F6F4"/>
          </a:solidFill>
          <a:ln w="12700">
            <a:solidFill>
              <a:srgbClr val="E4E4E4"/>
            </a:solidFill>
            <a:prstDash val="solid"/>
          </a:ln>
        </p:spPr>
      </p:sp>
      <p:sp>
        <p:nvSpPr>
          <p:cNvPr id="15" name="Text 13"/>
          <p:cNvSpPr txBox="1"/>
          <p:nvPr/>
        </p:nvSpPr>
        <p:spPr>
          <a:xfrm>
            <a:off x="5102352"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Heat-treated</a:t>
            </a:r>
            <a:endParaRPr lang="en-US" sz="1300" dirty="0"/>
          </a:p>
        </p:txBody>
      </p:sp>
      <p:sp>
        <p:nvSpPr>
          <p:cNvPr id="16" name="Text 14"/>
          <p:cNvSpPr txBox="1"/>
          <p:nvPr/>
        </p:nvSpPr>
        <p:spPr>
          <a:xfrm>
            <a:off x="5102352"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decontamination and drying</a:t>
            </a:r>
            <a:endParaRPr lang="en-US" sz="1050" dirty="0"/>
          </a:p>
        </p:txBody>
      </p:sp>
      <p:sp>
        <p:nvSpPr>
          <p:cNvPr id="17" name="Text 15"/>
          <p:cNvSpPr txBox="1"/>
          <p:nvPr/>
        </p:nvSpPr>
        <p:spPr>
          <a:xfrm>
            <a:off x="5102352"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120 °C, 20 min</a:t>
            </a:r>
            <a:endParaRPr lang="en-US" sz="1100" dirty="0"/>
          </a:p>
        </p:txBody>
      </p:sp>
      <p:sp>
        <p:nvSpPr>
          <p:cNvPr id="18" name="pa2"/>
          <p:cNvSpPr/>
          <p:nvPr/>
        </p:nvSpPr>
        <p:spPr>
          <a:xfrm>
            <a:off x="7086600" y="2084832"/>
            <a:ext cx="182880" cy="137160"/>
          </a:xfrm>
          <a:prstGeom prst="rightArrow">
            <a:avLst/>
          </a:prstGeom>
          <a:solidFill>
            <a:srgbClr val="BDBDBD"/>
          </a:solidFill>
          <a:ln w="12700">
            <a:solidFill>
              <a:srgbClr val="BDBDBD">
                <a:alpha val="0"/>
              </a:srgbClr>
            </a:solidFill>
            <a:prstDash val="solid"/>
          </a:ln>
        </p:spPr>
      </p:sp>
      <p:sp>
        <p:nvSpPr>
          <p:cNvPr id="19" name="pc3"/>
          <p:cNvSpPr/>
          <p:nvPr/>
        </p:nvSpPr>
        <p:spPr>
          <a:xfrm>
            <a:off x="8051292" y="1929384"/>
            <a:ext cx="438912" cy="438912"/>
          </a:xfrm>
          <a:prstGeom prst="ellipse">
            <a:avLst/>
          </a:prstGeom>
          <a:solidFill>
            <a:srgbClr val="F7F6F4"/>
          </a:solidFill>
          <a:ln w="12700">
            <a:solidFill>
              <a:srgbClr val="E4E4E4"/>
            </a:solidFill>
            <a:prstDash val="solid"/>
          </a:ln>
        </p:spPr>
      </p:sp>
      <p:sp>
        <p:nvSpPr>
          <p:cNvPr id="20" name="Text 18"/>
          <p:cNvSpPr txBox="1"/>
          <p:nvPr/>
        </p:nvSpPr>
        <p:spPr>
          <a:xfrm>
            <a:off x="7287768"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Milled</a:t>
            </a:r>
            <a:endParaRPr lang="en-US" sz="1300" dirty="0"/>
          </a:p>
        </p:txBody>
      </p:sp>
      <p:sp>
        <p:nvSpPr>
          <p:cNvPr id="21" name="Text 19"/>
          <p:cNvSpPr txBox="1"/>
          <p:nvPr/>
        </p:nvSpPr>
        <p:spPr>
          <a:xfrm>
            <a:off x="7287768"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laboratory mechanical grinder</a:t>
            </a:r>
            <a:endParaRPr lang="en-US" sz="1050" dirty="0"/>
          </a:p>
        </p:txBody>
      </p:sp>
      <p:sp>
        <p:nvSpPr>
          <p:cNvPr id="22" name="Text 20"/>
          <p:cNvSpPr txBox="1"/>
          <p:nvPr/>
        </p:nvSpPr>
        <p:spPr>
          <a:xfrm>
            <a:off x="7287768"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to homogeneous powder</a:t>
            </a:r>
            <a:endParaRPr lang="en-US" sz="1100" dirty="0"/>
          </a:p>
        </p:txBody>
      </p:sp>
      <p:sp>
        <p:nvSpPr>
          <p:cNvPr id="23" name="pa3"/>
          <p:cNvSpPr/>
          <p:nvPr/>
        </p:nvSpPr>
        <p:spPr>
          <a:xfrm>
            <a:off x="9272016" y="2084832"/>
            <a:ext cx="182880" cy="137160"/>
          </a:xfrm>
          <a:prstGeom prst="rightArrow">
            <a:avLst/>
          </a:prstGeom>
          <a:solidFill>
            <a:srgbClr val="BDBDBD"/>
          </a:solidFill>
          <a:ln w="12700">
            <a:solidFill>
              <a:srgbClr val="BDBDBD">
                <a:alpha val="0"/>
              </a:srgbClr>
            </a:solidFill>
            <a:prstDash val="solid"/>
          </a:ln>
        </p:spPr>
      </p:sp>
      <p:sp>
        <p:nvSpPr>
          <p:cNvPr id="24" name="pc4"/>
          <p:cNvSpPr/>
          <p:nvPr/>
        </p:nvSpPr>
        <p:spPr>
          <a:xfrm>
            <a:off x="10300716" y="1993392"/>
            <a:ext cx="310896" cy="310896"/>
          </a:xfrm>
          <a:prstGeom prst="ellipse">
            <a:avLst/>
          </a:prstGeom>
          <a:solidFill>
            <a:srgbClr val="B4513A"/>
          </a:solidFill>
          <a:ln w="12700">
            <a:solidFill>
              <a:srgbClr val="B4513A"/>
            </a:solidFill>
            <a:prstDash val="solid"/>
          </a:ln>
        </p:spPr>
      </p:sp>
      <p:sp>
        <p:nvSpPr>
          <p:cNvPr id="25" name="Text 23"/>
          <p:cNvSpPr txBox="1"/>
          <p:nvPr/>
        </p:nvSpPr>
        <p:spPr>
          <a:xfrm>
            <a:off x="9473184"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Sieved</a:t>
            </a:r>
            <a:endParaRPr lang="en-US" sz="1300" dirty="0"/>
          </a:p>
        </p:txBody>
      </p:sp>
      <p:sp>
        <p:nvSpPr>
          <p:cNvPr id="26" name="Text 24"/>
          <p:cNvSpPr txBox="1"/>
          <p:nvPr/>
        </p:nvSpPr>
        <p:spPr>
          <a:xfrm>
            <a:off x="9473184"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passing fraction retained</a:t>
            </a:r>
            <a:endParaRPr lang="en-US" sz="1050" dirty="0"/>
          </a:p>
        </p:txBody>
      </p:sp>
      <p:sp>
        <p:nvSpPr>
          <p:cNvPr id="27" name="Text 25"/>
          <p:cNvSpPr txBox="1"/>
          <p:nvPr/>
        </p:nvSpPr>
        <p:spPr>
          <a:xfrm>
            <a:off x="9473184"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150 µm mesh</a:t>
            </a:r>
            <a:endParaRPr lang="en-US" sz="1100" dirty="0"/>
          </a:p>
        </p:txBody>
      </p:sp>
      <p:sp>
        <p:nvSpPr>
          <p:cNvPr id="28" name="ru0.84.75"/>
          <p:cNvSpPr/>
          <p:nvPr/>
        </p:nvSpPr>
        <p:spPr>
          <a:xfrm>
            <a:off x="731520" y="4343400"/>
            <a:ext cx="10698480" cy="9144"/>
          </a:xfrm>
          <a:prstGeom prst="rect">
            <a:avLst/>
          </a:prstGeom>
          <a:solidFill>
            <a:srgbClr val="E4E4E4"/>
          </a:solidFill>
          <a:ln w="12700">
            <a:solidFill>
              <a:srgbClr val="E4E4E4">
                <a:alpha val="0"/>
              </a:srgbClr>
            </a:solidFill>
            <a:prstDash val="solid"/>
          </a:ln>
        </p:spPr>
      </p:sp>
      <p:sp>
        <p:nvSpPr>
          <p:cNvPr id="29" name="Text 27"/>
          <p:cNvSpPr txBox="1"/>
          <p:nvPr/>
        </p:nvSpPr>
        <p:spPr>
          <a:xfrm>
            <a:off x="731520" y="45262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Particle size rationale</a:t>
            </a:r>
            <a:endParaRPr lang="en-US" sz="1300" dirty="0"/>
          </a:p>
        </p:txBody>
      </p:sp>
      <p:sp>
        <p:nvSpPr>
          <p:cNvPr id="30" name="Text 28"/>
          <p:cNvSpPr txBox="1"/>
          <p:nvPr/>
        </p:nvSpPr>
        <p:spPr>
          <a:xfrm>
            <a:off x="731520" y="4892040"/>
            <a:ext cx="5029200" cy="10058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150 µm fraction was selected to match the particle size used in the eggshell polymer-composite literature, so that the mineral phase in this study is comparable with that body of work.</a:t>
            </a:r>
            <a:endParaRPr lang="en-US" sz="1200" dirty="0"/>
          </a:p>
        </p:txBody>
      </p:sp>
      <p:sp>
        <p:nvSpPr>
          <p:cNvPr id="31" name="Text 29"/>
          <p:cNvSpPr txBox="1"/>
          <p:nvPr/>
        </p:nvSpPr>
        <p:spPr>
          <a:xfrm>
            <a:off x="6400800" y="45262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Terminology</a:t>
            </a:r>
            <a:endParaRPr lang="en-US" sz="1300" dirty="0"/>
          </a:p>
        </p:txBody>
      </p:sp>
      <p:sp>
        <p:nvSpPr>
          <p:cNvPr id="32" name="Text 30"/>
          <p:cNvSpPr txBox="1"/>
          <p:nvPr/>
        </p:nvSpPr>
        <p:spPr>
          <a:xfrm>
            <a:off x="6400800" y="4892040"/>
            <a:ext cx="5029200" cy="10058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120 °C step is reported as decontamination and drying, not sterilisation. Dry-heat sterilisation requires substantially higher temperatures for longer, and sterility was not verified.</a:t>
            </a:r>
            <a:endParaRPr lang="en-US" sz="1200" dirty="0"/>
          </a:p>
        </p:txBody>
      </p:sp>
      <p:sp>
        <p:nvSpPr>
          <p:cNvPr id="3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2 · Binder preparation</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Temperature–time profile of the 55-minute preparation</a:t>
            </a:r>
            <a:endParaRPr lang="en-US" sz="1300" dirty="0"/>
          </a:p>
        </p:txBody>
      </p:sp>
      <p:sp>
        <p:nvSpPr>
          <p:cNvPr id="4" name="tv"/>
          <p:cNvSpPr/>
          <p:nvPr/>
        </p:nvSpPr>
        <p:spPr>
          <a:xfrm>
            <a:off x="1463040" y="1874520"/>
            <a:ext cx="18288" cy="2468880"/>
          </a:xfrm>
          <a:prstGeom prst="rect">
            <a:avLst/>
          </a:prstGeom>
          <a:solidFill>
            <a:srgbClr val="E4E4E4"/>
          </a:solidFill>
          <a:ln w="12700">
            <a:solidFill>
              <a:srgbClr val="E4E4E4">
                <a:alpha val="0"/>
              </a:srgbClr>
            </a:solidFill>
            <a:prstDash val="solid"/>
          </a:ln>
        </p:spPr>
      </p:sp>
      <p:sp>
        <p:nvSpPr>
          <p:cNvPr id="5" name="th"/>
          <p:cNvSpPr/>
          <p:nvPr/>
        </p:nvSpPr>
        <p:spPr>
          <a:xfrm>
            <a:off x="1463040" y="4343400"/>
            <a:ext cx="8778240" cy="18288"/>
          </a:xfrm>
          <a:prstGeom prst="rect">
            <a:avLst/>
          </a:prstGeom>
          <a:solidFill>
            <a:srgbClr val="E4E4E4"/>
          </a:solidFill>
          <a:ln w="12700">
            <a:solidFill>
              <a:srgbClr val="E4E4E4">
                <a:alpha val="0"/>
              </a:srgbClr>
            </a:solidFill>
            <a:prstDash val="solid"/>
          </a:ln>
        </p:spPr>
      </p:sp>
      <p:sp>
        <p:nvSpPr>
          <p:cNvPr id="6" name="ramp"/>
          <p:cNvSpPr/>
          <p:nvPr/>
        </p:nvSpPr>
        <p:spPr>
          <a:xfrm flipV="1">
            <a:off x="1463040" y="2194560"/>
            <a:ext cx="1737360" cy="2148840"/>
          </a:xfrm>
          <a:prstGeom prst="line">
            <a:avLst/>
          </a:prstGeom>
          <a:noFill/>
          <a:ln w="28575">
            <a:solidFill>
              <a:srgbClr val="141414"/>
            </a:solidFill>
            <a:prstDash val="solid"/>
          </a:ln>
        </p:spPr>
      </p:sp>
      <p:sp>
        <p:nvSpPr>
          <p:cNvPr id="7" name="pl95"/>
          <p:cNvSpPr/>
          <p:nvPr/>
        </p:nvSpPr>
        <p:spPr>
          <a:xfrm>
            <a:off x="3200400" y="2194560"/>
            <a:ext cx="2011680" cy="27432"/>
          </a:xfrm>
          <a:prstGeom prst="rect">
            <a:avLst/>
          </a:prstGeom>
          <a:solidFill>
            <a:srgbClr val="141414"/>
          </a:solidFill>
          <a:ln w="12700">
            <a:solidFill>
              <a:srgbClr val="141414">
                <a:alpha val="0"/>
              </a:srgbClr>
            </a:solidFill>
            <a:prstDash val="solid"/>
          </a:ln>
        </p:spPr>
      </p:sp>
      <p:sp>
        <p:nvSpPr>
          <p:cNvPr id="8" name="drop"/>
          <p:cNvSpPr/>
          <p:nvPr/>
        </p:nvSpPr>
        <p:spPr>
          <a:xfrm>
            <a:off x="5212080" y="2194560"/>
            <a:ext cx="685800" cy="594360"/>
          </a:xfrm>
          <a:prstGeom prst="line">
            <a:avLst/>
          </a:prstGeom>
          <a:noFill/>
          <a:ln w="28575">
            <a:solidFill>
              <a:srgbClr val="141414"/>
            </a:solidFill>
            <a:prstDash val="solid"/>
          </a:ln>
        </p:spPr>
      </p:sp>
      <p:sp>
        <p:nvSpPr>
          <p:cNvPr id="9" name="pl80"/>
          <p:cNvSpPr/>
          <p:nvPr/>
        </p:nvSpPr>
        <p:spPr>
          <a:xfrm>
            <a:off x="5897880" y="2788920"/>
            <a:ext cx="4206240" cy="27432"/>
          </a:xfrm>
          <a:prstGeom prst="rect">
            <a:avLst/>
          </a:prstGeom>
          <a:solidFill>
            <a:srgbClr val="141414"/>
          </a:solidFill>
          <a:ln w="12700">
            <a:solidFill>
              <a:srgbClr val="141414">
                <a:alpha val="0"/>
              </a:srgbClr>
            </a:solidFill>
            <a:prstDash val="solid"/>
          </a:ln>
        </p:spPr>
      </p:sp>
      <p:sp>
        <p:nvSpPr>
          <p:cNvPr id="10" name="Text 8"/>
          <p:cNvSpPr txBox="1"/>
          <p:nvPr/>
        </p:nvSpPr>
        <p:spPr>
          <a:xfrm>
            <a:off x="548640" y="2048256"/>
            <a:ext cx="822960" cy="274320"/>
          </a:xfrm>
          <a:prstGeom prst="rect">
            <a:avLst/>
          </a:prstGeom>
          <a:noFill/>
          <a:ln/>
        </p:spPr>
        <p:txBody>
          <a:bodyPr wrap="square" lIns="0" tIns="0" rIns="0" bIns="0" rtlCol="0" anchor="ctr"/>
          <a:lstStyle/>
          <a:p>
            <a:pPr algn="r" indent="0" marL="0">
              <a:buNone/>
            </a:pPr>
            <a:r>
              <a:rPr lang="en-US" sz="1200" b="1" dirty="0">
                <a:solidFill>
                  <a:srgbClr val="B4513A"/>
                </a:solidFill>
                <a:latin typeface="Calibri" pitchFamily="34" charset="0"/>
                <a:ea typeface="Calibri" pitchFamily="34" charset="-122"/>
                <a:cs typeface="Calibri" pitchFamily="34" charset="-120"/>
              </a:rPr>
              <a:t>95 °C</a:t>
            </a:r>
            <a:endParaRPr lang="en-US" sz="1200" dirty="0"/>
          </a:p>
        </p:txBody>
      </p:sp>
      <p:sp>
        <p:nvSpPr>
          <p:cNvPr id="11" name="Text 9"/>
          <p:cNvSpPr txBox="1"/>
          <p:nvPr/>
        </p:nvSpPr>
        <p:spPr>
          <a:xfrm>
            <a:off x="548640" y="2642616"/>
            <a:ext cx="822960" cy="274320"/>
          </a:xfrm>
          <a:prstGeom prst="rect">
            <a:avLst/>
          </a:prstGeom>
          <a:noFill/>
          <a:ln/>
        </p:spPr>
        <p:txBody>
          <a:bodyPr wrap="square" lIns="0" tIns="0" rIns="0" bIns="0" rtlCol="0" anchor="ctr"/>
          <a:lstStyle/>
          <a:p>
            <a:pPr algn="r" indent="0" marL="0">
              <a:buNone/>
            </a:pPr>
            <a:r>
              <a:rPr lang="en-US" sz="1200" b="1" dirty="0">
                <a:solidFill>
                  <a:srgbClr val="B4513A"/>
                </a:solidFill>
                <a:latin typeface="Calibri" pitchFamily="34" charset="0"/>
                <a:ea typeface="Calibri" pitchFamily="34" charset="-122"/>
                <a:cs typeface="Calibri" pitchFamily="34" charset="-120"/>
              </a:rPr>
              <a:t>80 °C</a:t>
            </a:r>
            <a:endParaRPr lang="en-US" sz="1200" dirty="0"/>
          </a:p>
        </p:txBody>
      </p:sp>
      <p:sp>
        <p:nvSpPr>
          <p:cNvPr id="12" name="Text 10"/>
          <p:cNvSpPr txBox="1"/>
          <p:nvPr/>
        </p:nvSpPr>
        <p:spPr>
          <a:xfrm>
            <a:off x="548640" y="4197096"/>
            <a:ext cx="822960" cy="274320"/>
          </a:xfrm>
          <a:prstGeom prst="rect">
            <a:avLst/>
          </a:prstGeom>
          <a:noFill/>
          <a:ln/>
        </p:spPr>
        <p:txBody>
          <a:bodyPr wrap="square" lIns="0" tIns="0" rIns="0" bIns="0" rtlCol="0" anchor="t"/>
          <a:lstStyle/>
          <a:p>
            <a:pPr indent="0" marL="0">
              <a:lnSpc>
                <a:spcPts val="1500"/>
              </a:lnSpc>
              <a:buNone/>
            </a:pPr>
            <a:r>
              <a:rPr lang="en-US" sz="1000" dirty="0">
                <a:solidFill>
                  <a:srgbClr val="8C8C8C"/>
                </a:solidFill>
                <a:latin typeface="Calibri" pitchFamily="34" charset="0"/>
                <a:ea typeface="Calibri" pitchFamily="34" charset="-122"/>
                <a:cs typeface="Calibri" pitchFamily="34" charset="-120"/>
              </a:rPr>
              <a:t>ambient</a:t>
            </a:r>
            <a:endParaRPr lang="en-US" sz="1000" dirty="0"/>
          </a:p>
        </p:txBody>
      </p:sp>
      <p:sp>
        <p:nvSpPr>
          <p:cNvPr id="13" name="Text 11"/>
          <p:cNvSpPr txBox="1"/>
          <p:nvPr/>
        </p:nvSpPr>
        <p:spPr>
          <a:xfrm>
            <a:off x="8229600" y="3959352"/>
            <a:ext cx="2011680" cy="274320"/>
          </a:xfrm>
          <a:prstGeom prst="rect">
            <a:avLst/>
          </a:prstGeom>
          <a:noFill/>
          <a:ln/>
        </p:spPr>
        <p:txBody>
          <a:bodyPr wrap="square" lIns="0" tIns="0" rIns="0" bIns="0" rtlCol="0" anchor="ctr"/>
          <a:lstStyle/>
          <a:p>
            <a:pPr algn="r" indent="0" marL="0">
              <a:buNone/>
            </a:pPr>
            <a:r>
              <a:rPr lang="en-US" sz="1200" b="1" dirty="0">
                <a:solidFill>
                  <a:srgbClr val="141414"/>
                </a:solidFill>
                <a:latin typeface="Calibri" pitchFamily="34" charset="0"/>
                <a:ea typeface="Calibri" pitchFamily="34" charset="-122"/>
                <a:cs typeface="Calibri" pitchFamily="34" charset="-120"/>
              </a:rPr>
              <a:t>55 min total</a:t>
            </a:r>
            <a:endParaRPr lang="en-US" sz="1200" dirty="0"/>
          </a:p>
        </p:txBody>
      </p:sp>
      <p:sp>
        <p:nvSpPr>
          <p:cNvPr id="14" name="mk0"/>
          <p:cNvSpPr/>
          <p:nvPr/>
        </p:nvSpPr>
        <p:spPr>
          <a:xfrm>
            <a:off x="2057400" y="4279392"/>
            <a:ext cx="128016" cy="128016"/>
          </a:xfrm>
          <a:prstGeom prst="ellipse">
            <a:avLst/>
          </a:prstGeom>
          <a:solidFill>
            <a:srgbClr val="B4513A"/>
          </a:solidFill>
          <a:ln w="12700">
            <a:solidFill>
              <a:srgbClr val="B4513A">
                <a:alpha val="0"/>
              </a:srgbClr>
            </a:solidFill>
            <a:prstDash val="solid"/>
          </a:ln>
        </p:spPr>
      </p:sp>
      <p:sp>
        <p:nvSpPr>
          <p:cNvPr id="15" name="Text 13"/>
          <p:cNvSpPr txBox="1"/>
          <p:nvPr/>
        </p:nvSpPr>
        <p:spPr>
          <a:xfrm>
            <a:off x="160020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Water and glycerol</a:t>
            </a:r>
            <a:endParaRPr lang="en-US" sz="1200" dirty="0"/>
          </a:p>
        </p:txBody>
      </p:sp>
      <p:sp>
        <p:nvSpPr>
          <p:cNvPr id="16" name="Text 14"/>
          <p:cNvSpPr txBox="1"/>
          <p:nvPr/>
        </p:nvSpPr>
        <p:spPr>
          <a:xfrm>
            <a:off x="160020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pre-mixed, no solids present</a:t>
            </a:r>
            <a:endParaRPr lang="en-US" sz="1000" dirty="0"/>
          </a:p>
        </p:txBody>
      </p:sp>
      <p:sp>
        <p:nvSpPr>
          <p:cNvPr id="17" name="dl0"/>
          <p:cNvSpPr/>
          <p:nvPr/>
        </p:nvSpPr>
        <p:spPr>
          <a:xfrm>
            <a:off x="2121408" y="4343400"/>
            <a:ext cx="10973" cy="228600"/>
          </a:xfrm>
          <a:prstGeom prst="rect">
            <a:avLst/>
          </a:prstGeom>
          <a:solidFill>
            <a:srgbClr val="BDBDBD"/>
          </a:solidFill>
          <a:ln w="12700">
            <a:solidFill>
              <a:srgbClr val="BDBDBD">
                <a:alpha val="0"/>
              </a:srgbClr>
            </a:solidFill>
            <a:prstDash val="solid"/>
          </a:ln>
        </p:spPr>
      </p:sp>
      <p:sp>
        <p:nvSpPr>
          <p:cNvPr id="18" name="mk1"/>
          <p:cNvSpPr/>
          <p:nvPr/>
        </p:nvSpPr>
        <p:spPr>
          <a:xfrm>
            <a:off x="3840480" y="2130552"/>
            <a:ext cx="128016" cy="128016"/>
          </a:xfrm>
          <a:prstGeom prst="ellipse">
            <a:avLst/>
          </a:prstGeom>
          <a:solidFill>
            <a:srgbClr val="B4513A"/>
          </a:solidFill>
          <a:ln w="12700">
            <a:solidFill>
              <a:srgbClr val="B4513A">
                <a:alpha val="0"/>
              </a:srgbClr>
            </a:solidFill>
            <a:prstDash val="solid"/>
          </a:ln>
        </p:spPr>
      </p:sp>
      <p:sp>
        <p:nvSpPr>
          <p:cNvPr id="19" name="Text 17"/>
          <p:cNvSpPr txBox="1"/>
          <p:nvPr/>
        </p:nvSpPr>
        <p:spPr>
          <a:xfrm>
            <a:off x="338328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Agar dissolution</a:t>
            </a:r>
            <a:endParaRPr lang="en-US" sz="1200" dirty="0"/>
          </a:p>
        </p:txBody>
      </p:sp>
      <p:sp>
        <p:nvSpPr>
          <p:cNvPr id="20" name="Text 18"/>
          <p:cNvSpPr txBox="1"/>
          <p:nvPr/>
        </p:nvSpPr>
        <p:spPr>
          <a:xfrm>
            <a:off x="338328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added incrementally, stirred</a:t>
            </a:r>
            <a:endParaRPr lang="en-US" sz="1000" dirty="0"/>
          </a:p>
        </p:txBody>
      </p:sp>
      <p:sp>
        <p:nvSpPr>
          <p:cNvPr id="21" name="dl1"/>
          <p:cNvSpPr/>
          <p:nvPr/>
        </p:nvSpPr>
        <p:spPr>
          <a:xfrm>
            <a:off x="3904488" y="2194560"/>
            <a:ext cx="10973" cy="2377440"/>
          </a:xfrm>
          <a:prstGeom prst="rect">
            <a:avLst/>
          </a:prstGeom>
          <a:solidFill>
            <a:srgbClr val="BDBDBD"/>
          </a:solidFill>
          <a:ln w="12700">
            <a:solidFill>
              <a:srgbClr val="BDBDBD">
                <a:alpha val="0"/>
              </a:srgbClr>
            </a:solidFill>
            <a:prstDash val="solid"/>
          </a:ln>
        </p:spPr>
      </p:sp>
      <p:sp>
        <p:nvSpPr>
          <p:cNvPr id="22" name="mk2"/>
          <p:cNvSpPr/>
          <p:nvPr/>
        </p:nvSpPr>
        <p:spPr>
          <a:xfrm>
            <a:off x="6583680" y="2724912"/>
            <a:ext cx="128016" cy="128016"/>
          </a:xfrm>
          <a:prstGeom prst="ellipse">
            <a:avLst/>
          </a:prstGeom>
          <a:solidFill>
            <a:srgbClr val="B4513A"/>
          </a:solidFill>
          <a:ln w="12700">
            <a:solidFill>
              <a:srgbClr val="B4513A">
                <a:alpha val="0"/>
              </a:srgbClr>
            </a:solidFill>
            <a:prstDash val="solid"/>
          </a:ln>
        </p:spPr>
      </p:sp>
      <p:sp>
        <p:nvSpPr>
          <p:cNvPr id="23" name="Text 21"/>
          <p:cNvSpPr txBox="1"/>
          <p:nvPr/>
        </p:nvSpPr>
        <p:spPr>
          <a:xfrm>
            <a:off x="612648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Viscosity development</a:t>
            </a:r>
            <a:endParaRPr lang="en-US" sz="1200" dirty="0"/>
          </a:p>
        </p:txBody>
      </p:sp>
      <p:sp>
        <p:nvSpPr>
          <p:cNvPr id="24" name="Text 22"/>
          <p:cNvSpPr txBox="1"/>
          <p:nvPr/>
        </p:nvSpPr>
        <p:spPr>
          <a:xfrm>
            <a:off x="612648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continuous stirring</a:t>
            </a:r>
            <a:endParaRPr lang="en-US" sz="1000" dirty="0"/>
          </a:p>
        </p:txBody>
      </p:sp>
      <p:sp>
        <p:nvSpPr>
          <p:cNvPr id="25" name="dl2"/>
          <p:cNvSpPr/>
          <p:nvPr/>
        </p:nvSpPr>
        <p:spPr>
          <a:xfrm>
            <a:off x="6647688" y="2788920"/>
            <a:ext cx="10973" cy="1783080"/>
          </a:xfrm>
          <a:prstGeom prst="rect">
            <a:avLst/>
          </a:prstGeom>
          <a:solidFill>
            <a:srgbClr val="BDBDBD"/>
          </a:solidFill>
          <a:ln w="12700">
            <a:solidFill>
              <a:srgbClr val="BDBDBD">
                <a:alpha val="0"/>
              </a:srgbClr>
            </a:solidFill>
            <a:prstDash val="solid"/>
          </a:ln>
        </p:spPr>
      </p:sp>
      <p:sp>
        <p:nvSpPr>
          <p:cNvPr id="26" name="mk3"/>
          <p:cNvSpPr/>
          <p:nvPr/>
        </p:nvSpPr>
        <p:spPr>
          <a:xfrm>
            <a:off x="9235440" y="2724912"/>
            <a:ext cx="128016" cy="128016"/>
          </a:xfrm>
          <a:prstGeom prst="ellipse">
            <a:avLst/>
          </a:prstGeom>
          <a:solidFill>
            <a:srgbClr val="B4513A"/>
          </a:solidFill>
          <a:ln w="12700">
            <a:solidFill>
              <a:srgbClr val="B4513A">
                <a:alpha val="0"/>
              </a:srgbClr>
            </a:solidFill>
            <a:prstDash val="solid"/>
          </a:ln>
        </p:spPr>
      </p:sp>
      <p:sp>
        <p:nvSpPr>
          <p:cNvPr id="27" name="Text 25"/>
          <p:cNvSpPr txBox="1"/>
          <p:nvPr/>
        </p:nvSpPr>
        <p:spPr>
          <a:xfrm>
            <a:off x="877824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Shell addition</a:t>
            </a:r>
            <a:endParaRPr lang="en-US" sz="1200" dirty="0"/>
          </a:p>
        </p:txBody>
      </p:sp>
      <p:sp>
        <p:nvSpPr>
          <p:cNvPr id="28" name="Text 26"/>
          <p:cNvSpPr txBox="1"/>
          <p:nvPr/>
        </p:nvSpPr>
        <p:spPr>
          <a:xfrm>
            <a:off x="877824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incremental, near the end</a:t>
            </a:r>
            <a:endParaRPr lang="en-US" sz="1000" dirty="0"/>
          </a:p>
        </p:txBody>
      </p:sp>
      <p:sp>
        <p:nvSpPr>
          <p:cNvPr id="29" name="dl3"/>
          <p:cNvSpPr/>
          <p:nvPr/>
        </p:nvSpPr>
        <p:spPr>
          <a:xfrm>
            <a:off x="9299448" y="2788920"/>
            <a:ext cx="10973" cy="1783080"/>
          </a:xfrm>
          <a:prstGeom prst="rect">
            <a:avLst/>
          </a:prstGeom>
          <a:solidFill>
            <a:srgbClr val="BDBDBD"/>
          </a:solidFill>
          <a:ln w="12700">
            <a:solidFill>
              <a:srgbClr val="BDBDBD">
                <a:alpha val="0"/>
              </a:srgbClr>
            </a:solidFill>
            <a:prstDash val="solid"/>
          </a:ln>
        </p:spPr>
      </p:sp>
      <p:sp>
        <p:nvSpPr>
          <p:cNvPr id="30" name="ru0.86.05"/>
          <p:cNvSpPr/>
          <p:nvPr/>
        </p:nvSpPr>
        <p:spPr>
          <a:xfrm>
            <a:off x="731520" y="5532120"/>
            <a:ext cx="10698480" cy="9144"/>
          </a:xfrm>
          <a:prstGeom prst="rect">
            <a:avLst/>
          </a:prstGeom>
          <a:solidFill>
            <a:srgbClr val="E4E4E4"/>
          </a:solidFill>
          <a:ln w="12700">
            <a:solidFill>
              <a:srgbClr val="E4E4E4">
                <a:alpha val="0"/>
              </a:srgbClr>
            </a:solidFill>
            <a:prstDash val="solid"/>
          </a:ln>
        </p:spPr>
      </p:sp>
      <p:sp>
        <p:nvSpPr>
          <p:cNvPr id="31" name="Text 29"/>
          <p:cNvSpPr txBox="1"/>
          <p:nvPr/>
        </p:nvSpPr>
        <p:spPr>
          <a:xfrm>
            <a:off x="731520" y="5715000"/>
            <a:ext cx="10698480" cy="5486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Agar is taken into solution before viscosity develops; incremental addition prevents agglomeration, and the shell fraction is introduced late to prevent sedimentation.</a:t>
            </a:r>
            <a:endParaRPr lang="en-US" sz="1200" dirty="0"/>
          </a:p>
        </p:txBody>
      </p:sp>
      <p:sp>
        <p:nvSpPr>
          <p:cNvPr id="32" name="Text 30"/>
          <p:cNvSpPr txBox="1"/>
          <p:nvPr/>
        </p:nvSpPr>
        <p:spPr>
          <a:xfrm>
            <a:off x="731520" y="63550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Schematic. The two set points and the total heating time are recorded; intermediate ramp rates are not, and are drawn indicatively. Stirring was manual, so shear rate is not a controlled quantity.</a:t>
            </a:r>
            <a:endParaRPr lang="en-US" sz="900" dirty="0"/>
          </a:p>
        </p:txBody>
      </p:sp>
      <p:sp>
        <p:nvSpPr>
          <p:cNvPr id="3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3 · Casting and cure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Eleven days from casting to finished specimen, without thermal input</a:t>
            </a:r>
            <a:endParaRPr lang="en-US" sz="1300" dirty="0"/>
          </a:p>
        </p:txBody>
      </p:sp>
      <p:sp>
        <p:nvSpPr>
          <p:cNvPr id="4" name="c1"/>
          <p:cNvSpPr/>
          <p:nvPr/>
        </p:nvSpPr>
        <p:spPr>
          <a:xfrm>
            <a:off x="731520" y="2606040"/>
            <a:ext cx="3851453" cy="713232"/>
          </a:xfrm>
          <a:prstGeom prst="rect">
            <a:avLst/>
          </a:prstGeom>
          <a:solidFill>
            <a:srgbClr val="F7F6F4"/>
          </a:solidFill>
          <a:ln w="12700">
            <a:solidFill>
              <a:srgbClr val="E4E4E4"/>
            </a:solidFill>
            <a:prstDash val="solid"/>
          </a:ln>
        </p:spPr>
      </p:sp>
      <p:sp>
        <p:nvSpPr>
          <p:cNvPr id="5" name="c2"/>
          <p:cNvSpPr/>
          <p:nvPr/>
        </p:nvSpPr>
        <p:spPr>
          <a:xfrm>
            <a:off x="4582973" y="2606040"/>
            <a:ext cx="6847027" cy="713232"/>
          </a:xfrm>
          <a:prstGeom prst="rect">
            <a:avLst/>
          </a:prstGeom>
          <a:solidFill>
            <a:srgbClr val="FFFFFF"/>
          </a:solidFill>
          <a:ln w="12700">
            <a:solidFill>
              <a:srgbClr val="141414"/>
            </a:solidFill>
            <a:prstDash val="solid"/>
          </a:ln>
        </p:spPr>
      </p:sp>
      <p:sp>
        <p:nvSpPr>
          <p:cNvPr id="6" name="Text 4"/>
          <p:cNvSpPr txBox="1"/>
          <p:nvPr/>
        </p:nvSpPr>
        <p:spPr>
          <a:xfrm>
            <a:off x="1005840" y="2734056"/>
            <a:ext cx="2743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In mould</a:t>
            </a:r>
            <a:endParaRPr lang="en-US" sz="1300" dirty="0"/>
          </a:p>
        </p:txBody>
      </p:sp>
      <p:sp>
        <p:nvSpPr>
          <p:cNvPr id="7" name="Text 5"/>
          <p:cNvSpPr txBox="1"/>
          <p:nvPr/>
        </p:nvSpPr>
        <p:spPr>
          <a:xfrm>
            <a:off x="1005840" y="3008376"/>
            <a:ext cx="3108960" cy="2743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setting and initial drying</a:t>
            </a:r>
            <a:endParaRPr lang="en-US" sz="1050" dirty="0"/>
          </a:p>
        </p:txBody>
      </p:sp>
      <p:sp>
        <p:nvSpPr>
          <p:cNvPr id="8" name="Text 6"/>
          <p:cNvSpPr txBox="1"/>
          <p:nvPr/>
        </p:nvSpPr>
        <p:spPr>
          <a:xfrm>
            <a:off x="4857293" y="2734056"/>
            <a:ext cx="36576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Ambient consolidation</a:t>
            </a:r>
            <a:endParaRPr lang="en-US" sz="1300" dirty="0"/>
          </a:p>
        </p:txBody>
      </p:sp>
      <p:sp>
        <p:nvSpPr>
          <p:cNvPr id="9" name="Text 7"/>
          <p:cNvSpPr txBox="1"/>
          <p:nvPr/>
        </p:nvSpPr>
        <p:spPr>
          <a:xfrm>
            <a:off x="4857293" y="3008376"/>
            <a:ext cx="4572000" cy="2743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 23 °C, shielded from direct sun and air movement</a:t>
            </a:r>
            <a:endParaRPr lang="en-US" sz="1050" dirty="0"/>
          </a:p>
        </p:txBody>
      </p:sp>
      <p:sp>
        <p:nvSpPr>
          <p:cNvPr id="10" name="tk0"/>
          <p:cNvSpPr/>
          <p:nvPr/>
        </p:nvSpPr>
        <p:spPr>
          <a:xfrm>
            <a:off x="731520" y="2148840"/>
            <a:ext cx="18288" cy="384048"/>
          </a:xfrm>
          <a:prstGeom prst="rect">
            <a:avLst/>
          </a:prstGeom>
          <a:solidFill>
            <a:srgbClr val="141414"/>
          </a:solidFill>
          <a:ln w="12700">
            <a:solidFill>
              <a:srgbClr val="141414">
                <a:alpha val="0"/>
              </a:srgbClr>
            </a:solidFill>
            <a:prstDash val="solid"/>
          </a:ln>
        </p:spPr>
      </p:sp>
      <p:sp>
        <p:nvSpPr>
          <p:cNvPr id="11" name="Text 9"/>
          <p:cNvSpPr txBox="1"/>
          <p:nvPr/>
        </p:nvSpPr>
        <p:spPr>
          <a:xfrm>
            <a:off x="822960" y="1764792"/>
            <a:ext cx="1371600" cy="274320"/>
          </a:xfrm>
          <a:prstGeom prst="rect">
            <a:avLst/>
          </a:prstGeom>
          <a:noFill/>
          <a:ln/>
        </p:spPr>
        <p:txBody>
          <a:bodyPr wrap="square" lIns="0" tIns="0" rIns="0" bIns="0" rtlCol="0" anchor="ctr"/>
          <a:lstStyle/>
          <a:p>
            <a:pPr algn="l" indent="0" marL="0">
              <a:buNone/>
            </a:pPr>
            <a:r>
              <a:rPr lang="en-US" sz="1300" b="1" dirty="0">
                <a:solidFill>
                  <a:srgbClr val="B4513A"/>
                </a:solidFill>
                <a:latin typeface="Calibri" pitchFamily="34" charset="0"/>
                <a:ea typeface="Calibri" pitchFamily="34" charset="-122"/>
                <a:cs typeface="Calibri" pitchFamily="34" charset="-120"/>
              </a:rPr>
              <a:t>Day 0</a:t>
            </a:r>
            <a:endParaRPr lang="en-US" sz="1300" dirty="0"/>
          </a:p>
        </p:txBody>
      </p:sp>
      <p:sp>
        <p:nvSpPr>
          <p:cNvPr id="12" name="Text 10"/>
          <p:cNvSpPr txBox="1"/>
          <p:nvPr/>
        </p:nvSpPr>
        <p:spPr>
          <a:xfrm>
            <a:off x="822960" y="3465576"/>
            <a:ext cx="2834640" cy="274320"/>
          </a:xfrm>
          <a:prstGeom prst="rect">
            <a:avLst/>
          </a:prstGeom>
          <a:noFill/>
          <a:ln/>
        </p:spPr>
        <p:txBody>
          <a:bodyPr wrap="square" lIns="0" tIns="0" rIns="0" bIns="0" rtlCol="0" anchor="ctr"/>
          <a:lstStyle/>
          <a:p>
            <a:pPr algn="l" indent="0" marL="0">
              <a:buNone/>
            </a:pPr>
            <a:r>
              <a:rPr lang="en-US" sz="1050" dirty="0">
                <a:solidFill>
                  <a:srgbClr val="8C8C8C"/>
                </a:solidFill>
                <a:latin typeface="Calibri" pitchFamily="34" charset="0"/>
                <a:ea typeface="Calibri" pitchFamily="34" charset="-122"/>
                <a:cs typeface="Calibri" pitchFamily="34" charset="-120"/>
              </a:rPr>
              <a:t>cast into silicone moulds</a:t>
            </a:r>
            <a:endParaRPr lang="en-US" sz="1050" dirty="0"/>
          </a:p>
        </p:txBody>
      </p:sp>
      <p:sp>
        <p:nvSpPr>
          <p:cNvPr id="13" name="tk1"/>
          <p:cNvSpPr/>
          <p:nvPr/>
        </p:nvSpPr>
        <p:spPr>
          <a:xfrm>
            <a:off x="4582973" y="2148840"/>
            <a:ext cx="18288" cy="384048"/>
          </a:xfrm>
          <a:prstGeom prst="rect">
            <a:avLst/>
          </a:prstGeom>
          <a:solidFill>
            <a:srgbClr val="141414"/>
          </a:solidFill>
          <a:ln w="12700">
            <a:solidFill>
              <a:srgbClr val="141414">
                <a:alpha val="0"/>
              </a:srgbClr>
            </a:solidFill>
            <a:prstDash val="solid"/>
          </a:ln>
        </p:spPr>
      </p:sp>
      <p:sp>
        <p:nvSpPr>
          <p:cNvPr id="14" name="Text 12"/>
          <p:cNvSpPr txBox="1"/>
          <p:nvPr/>
        </p:nvSpPr>
        <p:spPr>
          <a:xfrm>
            <a:off x="4674413" y="1764792"/>
            <a:ext cx="1371600" cy="274320"/>
          </a:xfrm>
          <a:prstGeom prst="rect">
            <a:avLst/>
          </a:prstGeom>
          <a:noFill/>
          <a:ln/>
        </p:spPr>
        <p:txBody>
          <a:bodyPr wrap="square" lIns="0" tIns="0" rIns="0" bIns="0" rtlCol="0" anchor="ctr"/>
          <a:lstStyle/>
          <a:p>
            <a:pPr algn="l" indent="0" marL="0">
              <a:buNone/>
            </a:pPr>
            <a:r>
              <a:rPr lang="en-US" sz="1300" b="1" dirty="0">
                <a:solidFill>
                  <a:srgbClr val="B4513A"/>
                </a:solidFill>
                <a:latin typeface="Calibri" pitchFamily="34" charset="0"/>
                <a:ea typeface="Calibri" pitchFamily="34" charset="-122"/>
                <a:cs typeface="Calibri" pitchFamily="34" charset="-120"/>
              </a:rPr>
              <a:t>Day 4</a:t>
            </a:r>
            <a:endParaRPr lang="en-US" sz="1300" dirty="0"/>
          </a:p>
        </p:txBody>
      </p:sp>
      <p:sp>
        <p:nvSpPr>
          <p:cNvPr id="15" name="Text 13"/>
          <p:cNvSpPr txBox="1"/>
          <p:nvPr/>
        </p:nvSpPr>
        <p:spPr>
          <a:xfrm>
            <a:off x="4674413" y="3465576"/>
            <a:ext cx="2834640" cy="274320"/>
          </a:xfrm>
          <a:prstGeom prst="rect">
            <a:avLst/>
          </a:prstGeom>
          <a:noFill/>
          <a:ln/>
        </p:spPr>
        <p:txBody>
          <a:bodyPr wrap="square" lIns="0" tIns="0" rIns="0" bIns="0" rtlCol="0" anchor="ctr"/>
          <a:lstStyle/>
          <a:p>
            <a:pPr algn="l" indent="0" marL="0">
              <a:buNone/>
            </a:pPr>
            <a:r>
              <a:rPr lang="en-US" sz="1050" dirty="0">
                <a:solidFill>
                  <a:srgbClr val="8C8C8C"/>
                </a:solidFill>
                <a:latin typeface="Calibri" pitchFamily="34" charset="0"/>
                <a:ea typeface="Calibri" pitchFamily="34" charset="-122"/>
                <a:cs typeface="Calibri" pitchFamily="34" charset="-120"/>
              </a:rPr>
              <a:t>demoulded</a:t>
            </a:r>
            <a:endParaRPr lang="en-US" sz="1050" dirty="0"/>
          </a:p>
        </p:txBody>
      </p:sp>
      <p:sp>
        <p:nvSpPr>
          <p:cNvPr id="16" name="tk2"/>
          <p:cNvSpPr/>
          <p:nvPr/>
        </p:nvSpPr>
        <p:spPr>
          <a:xfrm>
            <a:off x="11420856" y="2148840"/>
            <a:ext cx="18288" cy="384048"/>
          </a:xfrm>
          <a:prstGeom prst="rect">
            <a:avLst/>
          </a:prstGeom>
          <a:solidFill>
            <a:srgbClr val="141414"/>
          </a:solidFill>
          <a:ln w="12700">
            <a:solidFill>
              <a:srgbClr val="141414">
                <a:alpha val="0"/>
              </a:srgbClr>
            </a:solidFill>
            <a:prstDash val="solid"/>
          </a:ln>
        </p:spPr>
      </p:sp>
      <p:sp>
        <p:nvSpPr>
          <p:cNvPr id="17" name="Text 15"/>
          <p:cNvSpPr txBox="1"/>
          <p:nvPr/>
        </p:nvSpPr>
        <p:spPr>
          <a:xfrm>
            <a:off x="10058400" y="1764792"/>
            <a:ext cx="1371600" cy="274320"/>
          </a:xfrm>
          <a:prstGeom prst="rect">
            <a:avLst/>
          </a:prstGeom>
          <a:noFill/>
          <a:ln/>
        </p:spPr>
        <p:txBody>
          <a:bodyPr wrap="square" lIns="0" tIns="0" rIns="0" bIns="0" rtlCol="0" anchor="ctr"/>
          <a:lstStyle/>
          <a:p>
            <a:pPr algn="r" indent="0" marL="0">
              <a:buNone/>
            </a:pPr>
            <a:r>
              <a:rPr lang="en-US" sz="1300" b="1" dirty="0">
                <a:solidFill>
                  <a:srgbClr val="B4513A"/>
                </a:solidFill>
                <a:latin typeface="Calibri" pitchFamily="34" charset="0"/>
                <a:ea typeface="Calibri" pitchFamily="34" charset="-122"/>
                <a:cs typeface="Calibri" pitchFamily="34" charset="-120"/>
              </a:rPr>
              <a:t>Day 11</a:t>
            </a:r>
            <a:endParaRPr lang="en-US" sz="1300" dirty="0"/>
          </a:p>
        </p:txBody>
      </p:sp>
      <p:sp>
        <p:nvSpPr>
          <p:cNvPr id="18" name="Text 16"/>
          <p:cNvSpPr txBox="1"/>
          <p:nvPr/>
        </p:nvSpPr>
        <p:spPr>
          <a:xfrm>
            <a:off x="8686800" y="3465576"/>
            <a:ext cx="28346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finished specimen, three shellac coats</a:t>
            </a:r>
            <a:endParaRPr lang="en-US" sz="1050" dirty="0"/>
          </a:p>
        </p:txBody>
      </p:sp>
      <p:sp>
        <p:nvSpPr>
          <p:cNvPr id="19" name="ru0.84.35"/>
          <p:cNvSpPr/>
          <p:nvPr/>
        </p:nvSpPr>
        <p:spPr>
          <a:xfrm>
            <a:off x="731520" y="3977640"/>
            <a:ext cx="10698480" cy="9144"/>
          </a:xfrm>
          <a:prstGeom prst="rect">
            <a:avLst/>
          </a:prstGeom>
          <a:solidFill>
            <a:srgbClr val="E4E4E4"/>
          </a:solidFill>
          <a:ln w="12700">
            <a:solidFill>
              <a:srgbClr val="E4E4E4">
                <a:alpha val="0"/>
              </a:srgbClr>
            </a:solidFill>
            <a:prstDash val="solid"/>
          </a:ln>
        </p:spPr>
      </p:sp>
      <p:sp>
        <p:nvSpPr>
          <p:cNvPr id="20" name="Text 18"/>
          <p:cNvSpPr txBox="1"/>
          <p:nvPr/>
        </p:nvSpPr>
        <p:spPr>
          <a:xfrm>
            <a:off x="731520" y="416052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Mould material</a:t>
            </a:r>
            <a:endParaRPr lang="en-US" sz="1300" dirty="0"/>
          </a:p>
        </p:txBody>
      </p:sp>
      <p:sp>
        <p:nvSpPr>
          <p:cNvPr id="21" name="Text 19"/>
          <p:cNvSpPr txBox="1"/>
          <p:nvPr/>
        </p:nvSpPr>
        <p:spPr>
          <a:xfrm>
            <a:off x="731520" y="4526280"/>
            <a:ext cx="5029200" cy="91440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Silicone, flexible enough to release without a parting agent and without damaging a partially consolidated specimen. 50 mm cube moulds for compression, flat moulds otherwise.</a:t>
            </a:r>
            <a:endParaRPr lang="en-US" sz="1200" dirty="0"/>
          </a:p>
        </p:txBody>
      </p:sp>
      <p:sp>
        <p:nvSpPr>
          <p:cNvPr id="22" name="Text 20"/>
          <p:cNvSpPr txBox="1"/>
          <p:nvPr/>
        </p:nvSpPr>
        <p:spPr>
          <a:xfrm>
            <a:off x="6400800" y="416052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Thermal input</a:t>
            </a:r>
            <a:endParaRPr lang="en-US" sz="1300" dirty="0"/>
          </a:p>
        </p:txBody>
      </p:sp>
      <p:sp>
        <p:nvSpPr>
          <p:cNvPr id="23" name="Text 21"/>
          <p:cNvSpPr txBox="1"/>
          <p:nvPr/>
        </p:nvSpPr>
        <p:spPr>
          <a:xfrm>
            <a:off x="6400800" y="4526280"/>
            <a:ext cx="5029200" cy="91440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None after the 55-minute preparation. The entire cure proceeds at room temperature, which is relevant to the embodied-energy argument.</a:t>
            </a:r>
            <a:endParaRPr lang="en-US" sz="1200" dirty="0"/>
          </a:p>
        </p:txBody>
      </p:sp>
      <p:sp>
        <p:nvSpPr>
          <p:cNvPr id="24" name="disc"/>
          <p:cNvSpPr/>
          <p:nvPr/>
        </p:nvSpPr>
        <p:spPr>
          <a:xfrm>
            <a:off x="731520" y="5577840"/>
            <a:ext cx="10698480" cy="868680"/>
          </a:xfrm>
          <a:prstGeom prst="rect">
            <a:avLst/>
          </a:prstGeom>
          <a:solidFill>
            <a:srgbClr val="F7F6F4"/>
          </a:solidFill>
          <a:ln w="12700">
            <a:solidFill>
              <a:srgbClr val="F7F6F4">
                <a:alpha val="0"/>
              </a:srgbClr>
            </a:solidFill>
            <a:prstDash val="solid"/>
          </a:ln>
        </p:spPr>
      </p:sp>
      <p:sp>
        <p:nvSpPr>
          <p:cNvPr id="25" name="Text 23"/>
          <p:cNvSpPr txBox="1"/>
          <p:nvPr/>
        </p:nvSpPr>
        <p:spPr>
          <a:xfrm>
            <a:off x="1051560" y="5760720"/>
            <a:ext cx="10058400" cy="548640"/>
          </a:xfrm>
          <a:prstGeom prst="rect">
            <a:avLst/>
          </a:prstGeom>
          <a:noFill/>
          <a:ln/>
        </p:spPr>
        <p:txBody>
          <a:bodyPr wrap="square" lIns="0" tIns="0" rIns="0" bIns="0" rtlCol="0" anchor="ctr"/>
          <a:lstStyle/>
          <a:p>
            <a:pPr indent="0" marL="0">
              <a:lnSpc>
                <a:spcPts val="1700"/>
              </a:lnSpc>
              <a:buNone/>
            </a:pPr>
            <a:r>
              <a:rPr lang="en-US" sz="1200" b="1" dirty="0">
                <a:solidFill>
                  <a:srgbClr val="B4513A"/>
                </a:solidFill>
                <a:latin typeface="Calibri" pitchFamily="34" charset="0"/>
                <a:ea typeface="Calibri" pitchFamily="34" charset="-122"/>
                <a:cs typeface="Calibri" pitchFamily="34" charset="-120"/>
              </a:rPr>
              <a:t>Limitation   </a:t>
            </a:r>
            <a:pPr indent="0" marL="0">
              <a:lnSpc>
                <a:spcPts val="1700"/>
              </a:lnSpc>
              <a:buNone/>
            </a:pPr>
            <a:r>
              <a:rPr lang="en-US" sz="1200" dirty="0">
                <a:solidFill>
                  <a:srgbClr val="141414"/>
                </a:solidFill>
                <a:latin typeface="Calibri" pitchFamily="34" charset="0"/>
                <a:ea typeface="Calibri" pitchFamily="34" charset="-122"/>
                <a:cs typeface="Calibri" pitchFamily="34" charset="-120"/>
              </a:rPr>
              <a:t>the composite shrinks appreciably as water evaporates. Cross-sections were measured at test time, but post-drying dimensions were not logged, so every dimension quoted in this presentation is a mould dimension.</a:t>
            </a:r>
            <a:endParaRPr lang="en-US" sz="1200" dirty="0"/>
          </a:p>
        </p:txBody>
      </p:sp>
      <p:sp>
        <p:nvSpPr>
          <p:cNvPr id="27"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Formulations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Five mixes, with the derived ratios that govern the results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640080"/>
                <a:gridCol w="1645920"/>
                <a:gridCol w="868680"/>
                <a:gridCol w="822960"/>
                <a:gridCol w="777240"/>
                <a:gridCol w="1097280"/>
                <a:gridCol w="868680"/>
                <a:gridCol w="1371600"/>
                <a:gridCol w="1371600"/>
                <a:gridCol w="123444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Water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Agar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 binder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165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6.1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1.46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4.45"/>
          <p:cNvSpPr/>
          <p:nvPr/>
        </p:nvSpPr>
        <p:spPr>
          <a:xfrm>
            <a:off x="731520" y="4069080"/>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4224528"/>
            <a:ext cx="54864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Batch composition by mass</a:t>
            </a:r>
            <a:endParaRPr lang="en-US" sz="1300" dirty="0"/>
          </a:p>
        </p:txBody>
      </p:sp>
      <p:sp>
        <p:nvSpPr>
          <p:cNvPr id="7" name="sw0.85.02"/>
          <p:cNvSpPr/>
          <p:nvPr/>
        </p:nvSpPr>
        <p:spPr>
          <a:xfrm>
            <a:off x="731520" y="4626864"/>
            <a:ext cx="164592" cy="109728"/>
          </a:xfrm>
          <a:prstGeom prst="rect">
            <a:avLst/>
          </a:prstGeom>
          <a:solidFill>
            <a:srgbClr val="BDBDBD"/>
          </a:solidFill>
          <a:ln w="12700">
            <a:solidFill>
              <a:srgbClr val="BDBDBD">
                <a:alpha val="0"/>
              </a:srgbClr>
            </a:solidFill>
            <a:prstDash val="solid"/>
          </a:ln>
        </p:spPr>
      </p:sp>
      <p:sp>
        <p:nvSpPr>
          <p:cNvPr id="8" name="Text 5"/>
          <p:cNvSpPr txBox="1"/>
          <p:nvPr/>
        </p:nvSpPr>
        <p:spPr>
          <a:xfrm>
            <a:off x="96926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water</a:t>
            </a:r>
            <a:endParaRPr lang="en-US" sz="950" dirty="0"/>
          </a:p>
        </p:txBody>
      </p:sp>
      <p:sp>
        <p:nvSpPr>
          <p:cNvPr id="9" name="sw25.02"/>
          <p:cNvSpPr/>
          <p:nvPr/>
        </p:nvSpPr>
        <p:spPr>
          <a:xfrm>
            <a:off x="1828800" y="4626864"/>
            <a:ext cx="164592" cy="109728"/>
          </a:xfrm>
          <a:prstGeom prst="rect">
            <a:avLst/>
          </a:prstGeom>
          <a:solidFill>
            <a:srgbClr val="B4513A"/>
          </a:solidFill>
          <a:ln w="12700">
            <a:solidFill>
              <a:srgbClr val="B4513A">
                <a:alpha val="0"/>
              </a:srgbClr>
            </a:solidFill>
            <a:prstDash val="solid"/>
          </a:ln>
        </p:spPr>
      </p:sp>
      <p:sp>
        <p:nvSpPr>
          <p:cNvPr id="10" name="Text 7"/>
          <p:cNvSpPr txBox="1"/>
          <p:nvPr/>
        </p:nvSpPr>
        <p:spPr>
          <a:xfrm>
            <a:off x="206654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shell</a:t>
            </a:r>
            <a:endParaRPr lang="en-US" sz="950" dirty="0"/>
          </a:p>
        </p:txBody>
      </p:sp>
      <p:sp>
        <p:nvSpPr>
          <p:cNvPr id="11" name="sw3.25.02"/>
          <p:cNvSpPr/>
          <p:nvPr/>
        </p:nvSpPr>
        <p:spPr>
          <a:xfrm>
            <a:off x="2926080" y="4626864"/>
            <a:ext cx="164592" cy="109728"/>
          </a:xfrm>
          <a:prstGeom prst="rect">
            <a:avLst/>
          </a:prstGeom>
          <a:solidFill>
            <a:srgbClr val="141414"/>
          </a:solidFill>
          <a:ln w="12700">
            <a:solidFill>
              <a:srgbClr val="141414">
                <a:alpha val="0"/>
              </a:srgbClr>
            </a:solidFill>
            <a:prstDash val="solid"/>
          </a:ln>
        </p:spPr>
      </p:sp>
      <p:sp>
        <p:nvSpPr>
          <p:cNvPr id="12" name="Text 9"/>
          <p:cNvSpPr txBox="1"/>
          <p:nvPr/>
        </p:nvSpPr>
        <p:spPr>
          <a:xfrm>
            <a:off x="316382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agar</a:t>
            </a:r>
            <a:endParaRPr lang="en-US" sz="950" dirty="0"/>
          </a:p>
        </p:txBody>
      </p:sp>
      <p:sp>
        <p:nvSpPr>
          <p:cNvPr id="13" name="sw4.45.02"/>
          <p:cNvSpPr/>
          <p:nvPr/>
        </p:nvSpPr>
        <p:spPr>
          <a:xfrm>
            <a:off x="4023360" y="4626864"/>
            <a:ext cx="164592" cy="109728"/>
          </a:xfrm>
          <a:prstGeom prst="rect">
            <a:avLst/>
          </a:prstGeom>
          <a:solidFill>
            <a:srgbClr val="8C8C8C"/>
          </a:solidFill>
          <a:ln w="12700">
            <a:solidFill>
              <a:srgbClr val="8C8C8C">
                <a:alpha val="0"/>
              </a:srgbClr>
            </a:solidFill>
            <a:prstDash val="solid"/>
          </a:ln>
        </p:spPr>
      </p:sp>
      <p:sp>
        <p:nvSpPr>
          <p:cNvPr id="14" name="Text 11"/>
          <p:cNvSpPr txBox="1"/>
          <p:nvPr/>
        </p:nvSpPr>
        <p:spPr>
          <a:xfrm>
            <a:off x="426110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glycerol</a:t>
            </a:r>
            <a:endParaRPr lang="en-US" sz="950" dirty="0"/>
          </a:p>
        </p:txBody>
      </p:sp>
      <p:sp>
        <p:nvSpPr>
          <p:cNvPr id="15" name="Text 12"/>
          <p:cNvSpPr txBox="1"/>
          <p:nvPr/>
        </p:nvSpPr>
        <p:spPr>
          <a:xfrm>
            <a:off x="731520" y="491947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C1</a:t>
            </a:r>
            <a:endParaRPr lang="en-US" sz="1050" dirty="0"/>
          </a:p>
        </p:txBody>
      </p:sp>
      <p:sp>
        <p:nvSpPr>
          <p:cNvPr id="16" name="sb1.355.380"/>
          <p:cNvSpPr/>
          <p:nvPr/>
        </p:nvSpPr>
        <p:spPr>
          <a:xfrm>
            <a:off x="1234440" y="4919472"/>
            <a:ext cx="3405883" cy="201168"/>
          </a:xfrm>
          <a:prstGeom prst="rect">
            <a:avLst/>
          </a:prstGeom>
          <a:solidFill>
            <a:srgbClr val="BDBDBD"/>
          </a:solidFill>
          <a:ln w="9525">
            <a:solidFill>
              <a:srgbClr val="FFFFFF"/>
            </a:solidFill>
            <a:prstDash val="solid"/>
          </a:ln>
        </p:spPr>
      </p:sp>
      <p:sp>
        <p:nvSpPr>
          <p:cNvPr id="17" name="sb1.355.381"/>
          <p:cNvSpPr/>
          <p:nvPr/>
        </p:nvSpPr>
        <p:spPr>
          <a:xfrm>
            <a:off x="4640323" y="4919472"/>
            <a:ext cx="838371" cy="201168"/>
          </a:xfrm>
          <a:prstGeom prst="rect">
            <a:avLst/>
          </a:prstGeom>
          <a:solidFill>
            <a:srgbClr val="B4513A"/>
          </a:solidFill>
          <a:ln w="9525">
            <a:solidFill>
              <a:srgbClr val="FFFFFF"/>
            </a:solidFill>
            <a:prstDash val="solid"/>
          </a:ln>
        </p:spPr>
      </p:sp>
      <p:sp>
        <p:nvSpPr>
          <p:cNvPr id="18" name="sb1.355.382"/>
          <p:cNvSpPr/>
          <p:nvPr/>
        </p:nvSpPr>
        <p:spPr>
          <a:xfrm>
            <a:off x="5478694" y="4919472"/>
            <a:ext cx="366787" cy="201168"/>
          </a:xfrm>
          <a:prstGeom prst="rect">
            <a:avLst/>
          </a:prstGeom>
          <a:solidFill>
            <a:srgbClr val="141414"/>
          </a:solidFill>
          <a:ln w="9525">
            <a:solidFill>
              <a:srgbClr val="FFFFFF"/>
            </a:solidFill>
            <a:prstDash val="solid"/>
          </a:ln>
        </p:spPr>
      </p:sp>
      <p:sp>
        <p:nvSpPr>
          <p:cNvPr id="19" name="sb1.355.383"/>
          <p:cNvSpPr/>
          <p:nvPr/>
        </p:nvSpPr>
        <p:spPr>
          <a:xfrm>
            <a:off x="5845482" y="4919472"/>
            <a:ext cx="52398" cy="201168"/>
          </a:xfrm>
          <a:prstGeom prst="rect">
            <a:avLst/>
          </a:prstGeom>
          <a:solidFill>
            <a:srgbClr val="8C8C8C"/>
          </a:solidFill>
          <a:ln w="9525">
            <a:solidFill>
              <a:srgbClr val="FFFFFF"/>
            </a:solidFill>
            <a:prstDash val="solid"/>
          </a:ln>
        </p:spPr>
      </p:sp>
      <p:sp>
        <p:nvSpPr>
          <p:cNvPr id="20" name="Text 17"/>
          <p:cNvSpPr txBox="1"/>
          <p:nvPr/>
        </p:nvSpPr>
        <p:spPr>
          <a:xfrm>
            <a:off x="5961888" y="491947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73% water</a:t>
            </a:r>
            <a:endParaRPr lang="en-US" sz="950" dirty="0"/>
          </a:p>
        </p:txBody>
      </p:sp>
      <p:sp>
        <p:nvSpPr>
          <p:cNvPr id="21" name="Text 18"/>
          <p:cNvSpPr txBox="1"/>
          <p:nvPr/>
        </p:nvSpPr>
        <p:spPr>
          <a:xfrm>
            <a:off x="731520" y="519379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C2</a:t>
            </a:r>
            <a:endParaRPr lang="en-US" sz="1050" dirty="0"/>
          </a:p>
        </p:txBody>
      </p:sp>
      <p:sp>
        <p:nvSpPr>
          <p:cNvPr id="22" name="sb1.355.680"/>
          <p:cNvSpPr/>
          <p:nvPr/>
        </p:nvSpPr>
        <p:spPr>
          <a:xfrm>
            <a:off x="1234440" y="5193792"/>
            <a:ext cx="3248689" cy="201168"/>
          </a:xfrm>
          <a:prstGeom prst="rect">
            <a:avLst/>
          </a:prstGeom>
          <a:solidFill>
            <a:srgbClr val="BDBDBD"/>
          </a:solidFill>
          <a:ln w="9525">
            <a:solidFill>
              <a:srgbClr val="FFFFFF"/>
            </a:solidFill>
            <a:prstDash val="solid"/>
          </a:ln>
        </p:spPr>
      </p:sp>
      <p:sp>
        <p:nvSpPr>
          <p:cNvPr id="23" name="sb1.355.681"/>
          <p:cNvSpPr/>
          <p:nvPr/>
        </p:nvSpPr>
        <p:spPr>
          <a:xfrm>
            <a:off x="4483129" y="5193792"/>
            <a:ext cx="943168" cy="201168"/>
          </a:xfrm>
          <a:prstGeom prst="rect">
            <a:avLst/>
          </a:prstGeom>
          <a:solidFill>
            <a:srgbClr val="B4513A"/>
          </a:solidFill>
          <a:ln w="9525">
            <a:solidFill>
              <a:srgbClr val="FFFFFF"/>
            </a:solidFill>
            <a:prstDash val="solid"/>
          </a:ln>
        </p:spPr>
      </p:sp>
      <p:sp>
        <p:nvSpPr>
          <p:cNvPr id="24" name="sb1.355.682"/>
          <p:cNvSpPr/>
          <p:nvPr/>
        </p:nvSpPr>
        <p:spPr>
          <a:xfrm>
            <a:off x="5426296" y="5193792"/>
            <a:ext cx="419186" cy="201168"/>
          </a:xfrm>
          <a:prstGeom prst="rect">
            <a:avLst/>
          </a:prstGeom>
          <a:solidFill>
            <a:srgbClr val="141414"/>
          </a:solidFill>
          <a:ln w="9525">
            <a:solidFill>
              <a:srgbClr val="FFFFFF"/>
            </a:solidFill>
            <a:prstDash val="solid"/>
          </a:ln>
        </p:spPr>
      </p:sp>
      <p:sp>
        <p:nvSpPr>
          <p:cNvPr id="25" name="sb1.355.683"/>
          <p:cNvSpPr/>
          <p:nvPr/>
        </p:nvSpPr>
        <p:spPr>
          <a:xfrm>
            <a:off x="5845482" y="5193792"/>
            <a:ext cx="52398" cy="201168"/>
          </a:xfrm>
          <a:prstGeom prst="rect">
            <a:avLst/>
          </a:prstGeom>
          <a:solidFill>
            <a:srgbClr val="8C8C8C"/>
          </a:solidFill>
          <a:ln w="9525">
            <a:solidFill>
              <a:srgbClr val="FFFFFF"/>
            </a:solidFill>
            <a:prstDash val="solid"/>
          </a:ln>
        </p:spPr>
      </p:sp>
      <p:sp>
        <p:nvSpPr>
          <p:cNvPr id="26" name="Text 23"/>
          <p:cNvSpPr txBox="1"/>
          <p:nvPr/>
        </p:nvSpPr>
        <p:spPr>
          <a:xfrm>
            <a:off x="5961888" y="519379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70% water</a:t>
            </a:r>
            <a:endParaRPr lang="en-US" sz="950" dirty="0"/>
          </a:p>
        </p:txBody>
      </p:sp>
      <p:sp>
        <p:nvSpPr>
          <p:cNvPr id="27" name="Text 24"/>
          <p:cNvSpPr txBox="1"/>
          <p:nvPr/>
        </p:nvSpPr>
        <p:spPr>
          <a:xfrm>
            <a:off x="731520" y="546811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C3</a:t>
            </a:r>
            <a:endParaRPr lang="en-US" sz="1050" dirty="0"/>
          </a:p>
        </p:txBody>
      </p:sp>
      <p:sp>
        <p:nvSpPr>
          <p:cNvPr id="28" name="sb1.355.97999999999999950"/>
          <p:cNvSpPr/>
          <p:nvPr/>
        </p:nvSpPr>
        <p:spPr>
          <a:xfrm>
            <a:off x="1234440" y="5468112"/>
            <a:ext cx="2934299" cy="201168"/>
          </a:xfrm>
          <a:prstGeom prst="rect">
            <a:avLst/>
          </a:prstGeom>
          <a:solidFill>
            <a:srgbClr val="BDBDBD"/>
          </a:solidFill>
          <a:ln w="9525">
            <a:solidFill>
              <a:srgbClr val="FFFFFF"/>
            </a:solidFill>
            <a:prstDash val="solid"/>
          </a:ln>
        </p:spPr>
      </p:sp>
      <p:sp>
        <p:nvSpPr>
          <p:cNvPr id="29" name="sb1.355.97999999999999951"/>
          <p:cNvSpPr/>
          <p:nvPr/>
        </p:nvSpPr>
        <p:spPr>
          <a:xfrm>
            <a:off x="4168739" y="5468112"/>
            <a:ext cx="1152760" cy="201168"/>
          </a:xfrm>
          <a:prstGeom prst="rect">
            <a:avLst/>
          </a:prstGeom>
          <a:solidFill>
            <a:srgbClr val="B4513A"/>
          </a:solidFill>
          <a:ln w="9525">
            <a:solidFill>
              <a:srgbClr val="FFFFFF"/>
            </a:solidFill>
            <a:prstDash val="solid"/>
          </a:ln>
        </p:spPr>
      </p:sp>
      <p:sp>
        <p:nvSpPr>
          <p:cNvPr id="30" name="sb1.355.97999999999999952"/>
          <p:cNvSpPr/>
          <p:nvPr/>
        </p:nvSpPr>
        <p:spPr>
          <a:xfrm>
            <a:off x="5321500" y="5468112"/>
            <a:ext cx="471584" cy="201168"/>
          </a:xfrm>
          <a:prstGeom prst="rect">
            <a:avLst/>
          </a:prstGeom>
          <a:solidFill>
            <a:srgbClr val="141414"/>
          </a:solidFill>
          <a:ln w="9525">
            <a:solidFill>
              <a:srgbClr val="FFFFFF"/>
            </a:solidFill>
            <a:prstDash val="solid"/>
          </a:ln>
        </p:spPr>
      </p:sp>
      <p:sp>
        <p:nvSpPr>
          <p:cNvPr id="31" name="sb1.355.97999999999999953"/>
          <p:cNvSpPr/>
          <p:nvPr/>
        </p:nvSpPr>
        <p:spPr>
          <a:xfrm>
            <a:off x="5793084" y="5468112"/>
            <a:ext cx="104796" cy="201168"/>
          </a:xfrm>
          <a:prstGeom prst="rect">
            <a:avLst/>
          </a:prstGeom>
          <a:solidFill>
            <a:srgbClr val="8C8C8C"/>
          </a:solidFill>
          <a:ln w="9525">
            <a:solidFill>
              <a:srgbClr val="FFFFFF"/>
            </a:solidFill>
            <a:prstDash val="solid"/>
          </a:ln>
        </p:spPr>
      </p:sp>
      <p:sp>
        <p:nvSpPr>
          <p:cNvPr id="32" name="Text 29"/>
          <p:cNvSpPr txBox="1"/>
          <p:nvPr/>
        </p:nvSpPr>
        <p:spPr>
          <a:xfrm>
            <a:off x="5961888" y="546811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63% water</a:t>
            </a:r>
            <a:endParaRPr lang="en-US" sz="950" dirty="0"/>
          </a:p>
        </p:txBody>
      </p:sp>
      <p:sp>
        <p:nvSpPr>
          <p:cNvPr id="33" name="Text 30"/>
          <p:cNvSpPr txBox="1"/>
          <p:nvPr/>
        </p:nvSpPr>
        <p:spPr>
          <a:xfrm>
            <a:off x="731520" y="574243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F1</a:t>
            </a:r>
            <a:endParaRPr lang="en-US" sz="1050" dirty="0"/>
          </a:p>
        </p:txBody>
      </p:sp>
      <p:sp>
        <p:nvSpPr>
          <p:cNvPr id="34" name="sb1.356.2799999999999990"/>
          <p:cNvSpPr/>
          <p:nvPr/>
        </p:nvSpPr>
        <p:spPr>
          <a:xfrm>
            <a:off x="1234440" y="5742432"/>
            <a:ext cx="2725387" cy="201168"/>
          </a:xfrm>
          <a:prstGeom prst="rect">
            <a:avLst/>
          </a:prstGeom>
          <a:solidFill>
            <a:srgbClr val="BDBDBD"/>
          </a:solidFill>
          <a:ln w="9525">
            <a:solidFill>
              <a:srgbClr val="FFFFFF"/>
            </a:solidFill>
            <a:prstDash val="solid"/>
          </a:ln>
        </p:spPr>
      </p:sp>
      <p:sp>
        <p:nvSpPr>
          <p:cNvPr id="35" name="sb1.356.2799999999999991"/>
          <p:cNvSpPr/>
          <p:nvPr/>
        </p:nvSpPr>
        <p:spPr>
          <a:xfrm>
            <a:off x="3959827" y="5742432"/>
            <a:ext cx="1150719" cy="201168"/>
          </a:xfrm>
          <a:prstGeom prst="rect">
            <a:avLst/>
          </a:prstGeom>
          <a:solidFill>
            <a:srgbClr val="B4513A"/>
          </a:solidFill>
          <a:ln w="9525">
            <a:solidFill>
              <a:srgbClr val="FFFFFF"/>
            </a:solidFill>
            <a:prstDash val="solid"/>
          </a:ln>
        </p:spPr>
      </p:sp>
      <p:sp>
        <p:nvSpPr>
          <p:cNvPr id="36" name="sb1.356.2799999999999992"/>
          <p:cNvSpPr/>
          <p:nvPr/>
        </p:nvSpPr>
        <p:spPr>
          <a:xfrm>
            <a:off x="5110546" y="5742432"/>
            <a:ext cx="423949" cy="201168"/>
          </a:xfrm>
          <a:prstGeom prst="rect">
            <a:avLst/>
          </a:prstGeom>
          <a:solidFill>
            <a:srgbClr val="141414"/>
          </a:solidFill>
          <a:ln w="9525">
            <a:solidFill>
              <a:srgbClr val="FFFFFF"/>
            </a:solidFill>
            <a:prstDash val="solid"/>
          </a:ln>
        </p:spPr>
      </p:sp>
      <p:sp>
        <p:nvSpPr>
          <p:cNvPr id="37" name="sb1.356.2799999999999993"/>
          <p:cNvSpPr/>
          <p:nvPr/>
        </p:nvSpPr>
        <p:spPr>
          <a:xfrm>
            <a:off x="5534495" y="5742432"/>
            <a:ext cx="363385" cy="201168"/>
          </a:xfrm>
          <a:prstGeom prst="rect">
            <a:avLst/>
          </a:prstGeom>
          <a:solidFill>
            <a:srgbClr val="8C8C8C"/>
          </a:solidFill>
          <a:ln w="9525">
            <a:solidFill>
              <a:srgbClr val="FFFFFF"/>
            </a:solidFill>
            <a:prstDash val="solid"/>
          </a:ln>
        </p:spPr>
      </p:sp>
      <p:sp>
        <p:nvSpPr>
          <p:cNvPr id="38" name="Text 35"/>
          <p:cNvSpPr txBox="1"/>
          <p:nvPr/>
        </p:nvSpPr>
        <p:spPr>
          <a:xfrm>
            <a:off x="5961888" y="5742432"/>
            <a:ext cx="1005840" cy="201168"/>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58% water</a:t>
            </a:r>
            <a:endParaRPr lang="en-US" sz="950" dirty="0"/>
          </a:p>
        </p:txBody>
      </p:sp>
      <p:sp>
        <p:nvSpPr>
          <p:cNvPr id="39" name="Text 36"/>
          <p:cNvSpPr txBox="1"/>
          <p:nvPr/>
        </p:nvSpPr>
        <p:spPr>
          <a:xfrm>
            <a:off x="731520" y="601675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F2</a:t>
            </a:r>
            <a:endParaRPr lang="en-US" sz="1050" dirty="0"/>
          </a:p>
        </p:txBody>
      </p:sp>
      <p:sp>
        <p:nvSpPr>
          <p:cNvPr id="40" name="sb1.356.580"/>
          <p:cNvSpPr/>
          <p:nvPr/>
        </p:nvSpPr>
        <p:spPr>
          <a:xfrm>
            <a:off x="1234440" y="6016752"/>
            <a:ext cx="2907079" cy="201168"/>
          </a:xfrm>
          <a:prstGeom prst="rect">
            <a:avLst/>
          </a:prstGeom>
          <a:solidFill>
            <a:srgbClr val="BDBDBD"/>
          </a:solidFill>
          <a:ln w="9525">
            <a:solidFill>
              <a:srgbClr val="FFFFFF"/>
            </a:solidFill>
            <a:prstDash val="solid"/>
          </a:ln>
        </p:spPr>
      </p:sp>
      <p:sp>
        <p:nvSpPr>
          <p:cNvPr id="41" name="sb1.356.581"/>
          <p:cNvSpPr/>
          <p:nvPr/>
        </p:nvSpPr>
        <p:spPr>
          <a:xfrm>
            <a:off x="4141519" y="6016752"/>
            <a:ext cx="1150719" cy="201168"/>
          </a:xfrm>
          <a:prstGeom prst="rect">
            <a:avLst/>
          </a:prstGeom>
          <a:solidFill>
            <a:srgbClr val="B4513A"/>
          </a:solidFill>
          <a:ln w="9525">
            <a:solidFill>
              <a:srgbClr val="FFFFFF"/>
            </a:solidFill>
            <a:prstDash val="solid"/>
          </a:ln>
        </p:spPr>
      </p:sp>
      <p:sp>
        <p:nvSpPr>
          <p:cNvPr id="42" name="sb1.356.582"/>
          <p:cNvSpPr/>
          <p:nvPr/>
        </p:nvSpPr>
        <p:spPr>
          <a:xfrm>
            <a:off x="5292238" y="6016752"/>
            <a:ext cx="423949" cy="201168"/>
          </a:xfrm>
          <a:prstGeom prst="rect">
            <a:avLst/>
          </a:prstGeom>
          <a:solidFill>
            <a:srgbClr val="141414"/>
          </a:solidFill>
          <a:ln w="9525">
            <a:solidFill>
              <a:srgbClr val="FFFFFF"/>
            </a:solidFill>
            <a:prstDash val="solid"/>
          </a:ln>
        </p:spPr>
      </p:sp>
      <p:sp>
        <p:nvSpPr>
          <p:cNvPr id="43" name="sb1.356.583"/>
          <p:cNvSpPr/>
          <p:nvPr/>
        </p:nvSpPr>
        <p:spPr>
          <a:xfrm>
            <a:off x="5716188" y="6016752"/>
            <a:ext cx="181692" cy="201168"/>
          </a:xfrm>
          <a:prstGeom prst="rect">
            <a:avLst/>
          </a:prstGeom>
          <a:solidFill>
            <a:srgbClr val="8C8C8C"/>
          </a:solidFill>
          <a:ln w="9525">
            <a:solidFill>
              <a:srgbClr val="FFFFFF"/>
            </a:solidFill>
            <a:prstDash val="solid"/>
          </a:ln>
        </p:spPr>
      </p:sp>
      <p:sp>
        <p:nvSpPr>
          <p:cNvPr id="44" name="Text 41"/>
          <p:cNvSpPr txBox="1"/>
          <p:nvPr/>
        </p:nvSpPr>
        <p:spPr>
          <a:xfrm>
            <a:off x="5961888" y="6016752"/>
            <a:ext cx="1005840" cy="201168"/>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62% water</a:t>
            </a:r>
            <a:endParaRPr lang="en-US" sz="950" dirty="0"/>
          </a:p>
        </p:txBody>
      </p:sp>
      <p:sp>
        <p:nvSpPr>
          <p:cNvPr id="45" name="vr84.45"/>
          <p:cNvSpPr/>
          <p:nvPr/>
        </p:nvSpPr>
        <p:spPr>
          <a:xfrm>
            <a:off x="7315200" y="4069080"/>
            <a:ext cx="13716" cy="2194560"/>
          </a:xfrm>
          <a:prstGeom prst="rect">
            <a:avLst/>
          </a:prstGeom>
          <a:solidFill>
            <a:srgbClr val="E4E4E4"/>
          </a:solidFill>
          <a:ln w="12700">
            <a:solidFill>
              <a:srgbClr val="E4E4E4">
                <a:alpha val="0"/>
              </a:srgbClr>
            </a:solidFill>
            <a:prstDash val="solid"/>
          </a:ln>
        </p:spPr>
      </p:sp>
      <p:sp>
        <p:nvSpPr>
          <p:cNvPr id="46" name="Text 43"/>
          <p:cNvSpPr txBox="1"/>
          <p:nvPr/>
        </p:nvSpPr>
        <p:spPr>
          <a:xfrm>
            <a:off x="7680960" y="4224528"/>
            <a:ext cx="37490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series</a:t>
            </a:r>
            <a:endParaRPr lang="en-US" sz="1300" dirty="0"/>
          </a:p>
        </p:txBody>
      </p:sp>
      <p:sp>
        <p:nvSpPr>
          <p:cNvPr id="47" name="Text 44"/>
          <p:cNvSpPr txBox="1"/>
          <p:nvPr/>
        </p:nvSpPr>
        <p:spPr>
          <a:xfrm>
            <a:off x="7680960" y="4572000"/>
            <a:ext cx="374904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Shell-to-binder is held at exactly 2.00 across all three mixes, so solids concentration is the only variable — the water band shortens from C1 to C3.</a:t>
            </a:r>
            <a:endParaRPr lang="en-US" sz="1150" dirty="0"/>
          </a:p>
        </p:txBody>
      </p:sp>
      <p:sp>
        <p:nvSpPr>
          <p:cNvPr id="48" name="Text 45"/>
          <p:cNvSpPr txBox="1"/>
          <p:nvPr/>
        </p:nvSpPr>
        <p:spPr>
          <a:xfrm>
            <a:off x="7680960" y="5486400"/>
            <a:ext cx="37490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Flexural series</a:t>
            </a:r>
            <a:endParaRPr lang="en-US" sz="1300" dirty="0"/>
          </a:p>
        </p:txBody>
      </p:sp>
      <p:sp>
        <p:nvSpPr>
          <p:cNvPr id="49" name="Text 46"/>
          <p:cNvSpPr txBox="1"/>
          <p:nvPr/>
        </p:nvSpPr>
        <p:spPr>
          <a:xfrm>
            <a:off x="7680960" y="5833872"/>
            <a:ext cx="374904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Glycerol was halved at fixed batch mass, so water rose with it. The plasticiser effect is not isolated.</a:t>
            </a:r>
            <a:endParaRPr lang="en-US" sz="1150" dirty="0"/>
          </a:p>
        </p:txBody>
      </p:sp>
      <p:sp>
        <p:nvSpPr>
          <p:cNvPr id="50" name="Text 47"/>
          <p:cNvSpPr txBox="1"/>
          <p:nvPr/>
        </p:nvSpPr>
        <p:spPr>
          <a:xfrm>
            <a:off x="731520" y="6446520"/>
            <a:ext cx="64008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Three specimens per formulation. Values reported later are means; individual values were not retained, so standard deviations cannot be given.</a:t>
            </a:r>
            <a:endParaRPr lang="en-US" sz="900" dirty="0"/>
          </a:p>
        </p:txBody>
      </p:sp>
      <p:sp>
        <p:nvSpPr>
          <p:cNvPr id="5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Test programme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Five properties, three published standards, four specimen geometries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2743200"/>
                <a:gridCol w="2651760"/>
                <a:gridCol w="1280160"/>
                <a:gridCol w="4023360"/>
              </a:tblGrid>
              <a:tr h="36576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Property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Quantity measured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Compressive behaviour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Cube 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 per mix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Maximum load; compressive stress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Flexural behaviour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D790-17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 per mix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Flexural strength; flexural modulus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Reaction to fire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ISO 11925-2:2020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Time to ignition; time to extinguish</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Water absorption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D570-98(2018)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Mass gain over 24 h immersion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Bulk density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Gravimetric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Mass per mould volume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31520" y="3977640"/>
            <a:ext cx="10698480" cy="45720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Mechanical values are means of three specimens; individual values were not retained, so standard deviations cannot be reported. Ignitability, absorption and density rest on single determinations and are indicative rather than characteristic values.</a:t>
            </a:r>
            <a:endParaRPr lang="en-US" sz="1150" dirty="0"/>
          </a:p>
        </p:txBody>
      </p:sp>
      <p:sp>
        <p:nvSpPr>
          <p:cNvPr id="6" name="ru0.85.15"/>
          <p:cNvSpPr/>
          <p:nvPr/>
        </p:nvSpPr>
        <p:spPr>
          <a:xfrm>
            <a:off x="731520" y="4709160"/>
            <a:ext cx="10698480" cy="9144"/>
          </a:xfrm>
          <a:prstGeom prst="rect">
            <a:avLst/>
          </a:prstGeom>
          <a:solidFill>
            <a:srgbClr val="E4E4E4"/>
          </a:solidFill>
          <a:ln w="12700">
            <a:solidFill>
              <a:srgbClr val="E4E4E4">
                <a:alpha val="0"/>
              </a:srgbClr>
            </a:solidFill>
            <a:prstDash val="solid"/>
          </a:ln>
        </p:spPr>
      </p:sp>
      <p:sp>
        <p:nvSpPr>
          <p:cNvPr id="7" name="Text 4"/>
          <p:cNvSpPr txBox="1"/>
          <p:nvPr/>
        </p:nvSpPr>
        <p:spPr>
          <a:xfrm>
            <a:off x="731520" y="5943600"/>
            <a:ext cx="2606040" cy="256032"/>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Cube compression</a:t>
            </a:r>
            <a:endParaRPr lang="en-US" sz="1200" dirty="0"/>
          </a:p>
        </p:txBody>
      </p:sp>
      <p:sp>
        <p:nvSpPr>
          <p:cNvPr id="8" name="Text 5"/>
          <p:cNvSpPr txBox="1"/>
          <p:nvPr/>
        </p:nvSpPr>
        <p:spPr>
          <a:xfrm>
            <a:off x="731520" y="6217920"/>
            <a:ext cx="2606040" cy="274320"/>
          </a:xfrm>
          <a:prstGeom prst="rect">
            <a:avLst/>
          </a:prstGeom>
          <a:noFill/>
          <a:ln/>
        </p:spPr>
        <p:txBody>
          <a:bodyPr wrap="square" lIns="0" tIns="0" rIns="0" bIns="0" rtlCol="0" anchor="ctr"/>
          <a:lstStyle/>
          <a:p>
            <a:pPr algn="ctr" indent="0" marL="0">
              <a:lnSpc>
                <a:spcPts val="1200"/>
              </a:lnSpc>
              <a:buNone/>
            </a:pPr>
            <a:r>
              <a:rPr lang="en-US" sz="950" dirty="0">
                <a:solidFill>
                  <a:srgbClr val="8C8C8C"/>
                </a:solidFill>
                <a:latin typeface="Calibri" pitchFamily="34" charset="0"/>
                <a:ea typeface="Calibri" pitchFamily="34" charset="-122"/>
                <a:cs typeface="Calibri" pitchFamily="34" charset="-120"/>
              </a:rPr>
              <a:t>50 mm cube, platen-loaded</a:t>
            </a:r>
            <a:endParaRPr lang="en-US" sz="950" dirty="0"/>
          </a:p>
        </p:txBody>
      </p:sp>
      <p:sp>
        <p:nvSpPr>
          <p:cNvPr id="9" name="sp0"/>
          <p:cNvSpPr/>
          <p:nvPr/>
        </p:nvSpPr>
        <p:spPr>
          <a:xfrm>
            <a:off x="3364992" y="4983480"/>
            <a:ext cx="13716" cy="1463040"/>
          </a:xfrm>
          <a:prstGeom prst="rect">
            <a:avLst/>
          </a:prstGeom>
          <a:solidFill>
            <a:srgbClr val="E4E4E4"/>
          </a:solidFill>
          <a:ln w="12700">
            <a:solidFill>
              <a:srgbClr val="E4E4E4">
                <a:alpha val="0"/>
              </a:srgbClr>
            </a:solidFill>
            <a:prstDash val="solid"/>
          </a:ln>
        </p:spPr>
      </p:sp>
      <p:sp>
        <p:nvSpPr>
          <p:cNvPr id="10" name="Text 7"/>
          <p:cNvSpPr txBox="1"/>
          <p:nvPr/>
        </p:nvSpPr>
        <p:spPr>
          <a:xfrm>
            <a:off x="3429000" y="5943600"/>
            <a:ext cx="2606040" cy="256032"/>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Three-point flexure</a:t>
            </a:r>
            <a:endParaRPr lang="en-US" sz="1200" dirty="0"/>
          </a:p>
        </p:txBody>
      </p:sp>
      <p:sp>
        <p:nvSpPr>
          <p:cNvPr id="11" name="Text 8"/>
          <p:cNvSpPr txBox="1"/>
          <p:nvPr/>
        </p:nvSpPr>
        <p:spPr>
          <a:xfrm>
            <a:off x="3429000" y="6217920"/>
            <a:ext cx="2606040" cy="274320"/>
          </a:xfrm>
          <a:prstGeom prst="rect">
            <a:avLst/>
          </a:prstGeom>
          <a:noFill/>
          <a:ln/>
        </p:spPr>
        <p:txBody>
          <a:bodyPr wrap="square" lIns="0" tIns="0" rIns="0" bIns="0" rtlCol="0" anchor="ctr"/>
          <a:lstStyle/>
          <a:p>
            <a:pPr algn="ctr" indent="0" marL="0">
              <a:lnSpc>
                <a:spcPts val="1200"/>
              </a:lnSpc>
              <a:buNone/>
            </a:pPr>
            <a:r>
              <a:rPr lang="en-US" sz="950" dirty="0">
                <a:solidFill>
                  <a:srgbClr val="8C8C8C"/>
                </a:solidFill>
                <a:latin typeface="Calibri" pitchFamily="34" charset="0"/>
                <a:ea typeface="Calibri" pitchFamily="34" charset="-122"/>
                <a:cs typeface="Calibri" pitchFamily="34" charset="-120"/>
              </a:rPr>
              <a:t>180 × 60 × 20 mm, 120 mm span</a:t>
            </a:r>
            <a:endParaRPr lang="en-US" sz="950" dirty="0"/>
          </a:p>
        </p:txBody>
      </p:sp>
      <p:sp>
        <p:nvSpPr>
          <p:cNvPr id="12" name="sp1"/>
          <p:cNvSpPr/>
          <p:nvPr/>
        </p:nvSpPr>
        <p:spPr>
          <a:xfrm>
            <a:off x="6062472" y="4983480"/>
            <a:ext cx="13716" cy="1463040"/>
          </a:xfrm>
          <a:prstGeom prst="rect">
            <a:avLst/>
          </a:prstGeom>
          <a:solidFill>
            <a:srgbClr val="E4E4E4"/>
          </a:solidFill>
          <a:ln w="12700">
            <a:solidFill>
              <a:srgbClr val="E4E4E4">
                <a:alpha val="0"/>
              </a:srgbClr>
            </a:solidFill>
            <a:prstDash val="solid"/>
          </a:ln>
        </p:spPr>
      </p:sp>
      <p:sp>
        <p:nvSpPr>
          <p:cNvPr id="13" name="Text 10"/>
          <p:cNvSpPr txBox="1"/>
          <p:nvPr/>
        </p:nvSpPr>
        <p:spPr>
          <a:xfrm>
            <a:off x="6126480" y="5943600"/>
            <a:ext cx="2606040" cy="256032"/>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Edge ignition</a:t>
            </a:r>
            <a:endParaRPr lang="en-US" sz="1200" dirty="0"/>
          </a:p>
        </p:txBody>
      </p:sp>
      <p:sp>
        <p:nvSpPr>
          <p:cNvPr id="14" name="Text 11"/>
          <p:cNvSpPr txBox="1"/>
          <p:nvPr/>
        </p:nvSpPr>
        <p:spPr>
          <a:xfrm>
            <a:off x="6126480" y="6217920"/>
            <a:ext cx="2606040" cy="274320"/>
          </a:xfrm>
          <a:prstGeom prst="rect">
            <a:avLst/>
          </a:prstGeom>
          <a:noFill/>
          <a:ln/>
        </p:spPr>
        <p:txBody>
          <a:bodyPr wrap="square" lIns="0" tIns="0" rIns="0" bIns="0" rtlCol="0" anchor="ctr"/>
          <a:lstStyle/>
          <a:p>
            <a:pPr algn="ctr" indent="0" marL="0">
              <a:lnSpc>
                <a:spcPts val="1200"/>
              </a:lnSpc>
              <a:buNone/>
            </a:pPr>
            <a:r>
              <a:rPr lang="en-US" sz="950" dirty="0">
                <a:solidFill>
                  <a:srgbClr val="8C8C8C"/>
                </a:solidFill>
                <a:latin typeface="Calibri" pitchFamily="34" charset="0"/>
                <a:ea typeface="Calibri" pitchFamily="34" charset="-122"/>
                <a:cs typeface="Calibri" pitchFamily="34" charset="-120"/>
              </a:rPr>
              <a:t>40 × 50 mm at 45°, 15 s flame</a:t>
            </a:r>
            <a:endParaRPr lang="en-US" sz="950" dirty="0"/>
          </a:p>
        </p:txBody>
      </p:sp>
      <p:sp>
        <p:nvSpPr>
          <p:cNvPr id="15" name="sp2"/>
          <p:cNvSpPr/>
          <p:nvPr/>
        </p:nvSpPr>
        <p:spPr>
          <a:xfrm>
            <a:off x="8759952" y="4983480"/>
            <a:ext cx="13716" cy="1463040"/>
          </a:xfrm>
          <a:prstGeom prst="rect">
            <a:avLst/>
          </a:prstGeom>
          <a:solidFill>
            <a:srgbClr val="E4E4E4"/>
          </a:solidFill>
          <a:ln w="12700">
            <a:solidFill>
              <a:srgbClr val="E4E4E4">
                <a:alpha val="0"/>
              </a:srgbClr>
            </a:solidFill>
            <a:prstDash val="solid"/>
          </a:ln>
        </p:spPr>
      </p:sp>
      <p:sp>
        <p:nvSpPr>
          <p:cNvPr id="16" name="Text 13"/>
          <p:cNvSpPr txBox="1"/>
          <p:nvPr/>
        </p:nvSpPr>
        <p:spPr>
          <a:xfrm>
            <a:off x="8823960" y="5943600"/>
            <a:ext cx="2606040" cy="256032"/>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Immersion</a:t>
            </a:r>
            <a:endParaRPr lang="en-US" sz="1200" dirty="0"/>
          </a:p>
        </p:txBody>
      </p:sp>
      <p:sp>
        <p:nvSpPr>
          <p:cNvPr id="17" name="Text 14"/>
          <p:cNvSpPr txBox="1"/>
          <p:nvPr/>
        </p:nvSpPr>
        <p:spPr>
          <a:xfrm>
            <a:off x="8823960" y="6217920"/>
            <a:ext cx="2606040" cy="274320"/>
          </a:xfrm>
          <a:prstGeom prst="rect">
            <a:avLst/>
          </a:prstGeom>
          <a:noFill/>
          <a:ln/>
        </p:spPr>
        <p:txBody>
          <a:bodyPr wrap="square" lIns="0" tIns="0" rIns="0" bIns="0" rtlCol="0" anchor="ctr"/>
          <a:lstStyle/>
          <a:p>
            <a:pPr algn="ctr" indent="0" marL="0">
              <a:lnSpc>
                <a:spcPts val="1200"/>
              </a:lnSpc>
              <a:buNone/>
            </a:pPr>
            <a:r>
              <a:rPr lang="en-US" sz="950" dirty="0">
                <a:solidFill>
                  <a:srgbClr val="8C8C8C"/>
                </a:solidFill>
                <a:latin typeface="Calibri" pitchFamily="34" charset="0"/>
                <a:ea typeface="Calibri" pitchFamily="34" charset="-122"/>
                <a:cs typeface="Calibri" pitchFamily="34" charset="-120"/>
              </a:rPr>
              <a:t>40 × 50 mm, shellac-coated, 24 h</a:t>
            </a:r>
            <a:endParaRPr lang="en-US" sz="950" dirty="0"/>
          </a:p>
        </p:txBody>
      </p:sp>
      <p:sp>
        <p:nvSpPr>
          <p:cNvPr id="18" name="cl1"/>
          <p:cNvSpPr/>
          <p:nvPr/>
        </p:nvSpPr>
        <p:spPr>
          <a:xfrm>
            <a:off x="1947672" y="4873752"/>
            <a:ext cx="128016" cy="219456"/>
          </a:xfrm>
          <a:prstGeom prst="downArrow">
            <a:avLst/>
          </a:prstGeom>
          <a:solidFill>
            <a:srgbClr val="B4513A"/>
          </a:solidFill>
          <a:ln w="12700">
            <a:solidFill>
              <a:srgbClr val="B4513A">
                <a:alpha val="0"/>
              </a:srgbClr>
            </a:solidFill>
            <a:prstDash val="solid"/>
          </a:ln>
        </p:spPr>
      </p:sp>
      <p:sp>
        <p:nvSpPr>
          <p:cNvPr id="19" name="pt1"/>
          <p:cNvSpPr/>
          <p:nvPr/>
        </p:nvSpPr>
        <p:spPr>
          <a:xfrm>
            <a:off x="1508760" y="5138928"/>
            <a:ext cx="1005840" cy="64008"/>
          </a:xfrm>
          <a:prstGeom prst="rect">
            <a:avLst/>
          </a:prstGeom>
          <a:solidFill>
            <a:srgbClr val="141414"/>
          </a:solidFill>
          <a:ln w="12700">
            <a:solidFill>
              <a:srgbClr val="141414">
                <a:alpha val="0"/>
              </a:srgbClr>
            </a:solidFill>
            <a:prstDash val="solid"/>
          </a:ln>
        </p:spPr>
      </p:sp>
      <p:sp>
        <p:nvSpPr>
          <p:cNvPr id="20" name="cb1"/>
          <p:cNvSpPr/>
          <p:nvPr/>
        </p:nvSpPr>
        <p:spPr>
          <a:xfrm>
            <a:off x="1600200" y="5230368"/>
            <a:ext cx="822960" cy="512064"/>
          </a:xfrm>
          <a:prstGeom prst="rect">
            <a:avLst/>
          </a:prstGeom>
          <a:solidFill>
            <a:srgbClr val="F7F6F4"/>
          </a:solidFill>
          <a:ln w="15875">
            <a:solidFill>
              <a:srgbClr val="141414"/>
            </a:solidFill>
            <a:prstDash val="solid"/>
          </a:ln>
        </p:spPr>
      </p:sp>
      <p:sp>
        <p:nvSpPr>
          <p:cNvPr id="21" name="pt2"/>
          <p:cNvSpPr/>
          <p:nvPr/>
        </p:nvSpPr>
        <p:spPr>
          <a:xfrm>
            <a:off x="1508760" y="5769864"/>
            <a:ext cx="1005840" cy="64008"/>
          </a:xfrm>
          <a:prstGeom prst="rect">
            <a:avLst/>
          </a:prstGeom>
          <a:solidFill>
            <a:srgbClr val="141414"/>
          </a:solidFill>
          <a:ln w="12700">
            <a:solidFill>
              <a:srgbClr val="141414">
                <a:alpha val="0"/>
              </a:srgbClr>
            </a:solidFill>
            <a:prstDash val="solid"/>
          </a:ln>
        </p:spPr>
      </p:sp>
      <p:sp>
        <p:nvSpPr>
          <p:cNvPr id="22" name="cl2"/>
          <p:cNvSpPr/>
          <p:nvPr/>
        </p:nvSpPr>
        <p:spPr>
          <a:xfrm>
            <a:off x="4672584" y="4937760"/>
            <a:ext cx="128016" cy="237744"/>
          </a:xfrm>
          <a:prstGeom prst="downArrow">
            <a:avLst/>
          </a:prstGeom>
          <a:solidFill>
            <a:srgbClr val="B4513A"/>
          </a:solidFill>
          <a:ln w="12700">
            <a:solidFill>
              <a:srgbClr val="B4513A">
                <a:alpha val="0"/>
              </a:srgbClr>
            </a:solidFill>
            <a:prstDash val="solid"/>
          </a:ln>
        </p:spPr>
      </p:sp>
      <p:sp>
        <p:nvSpPr>
          <p:cNvPr id="23" name="bm"/>
          <p:cNvSpPr/>
          <p:nvPr/>
        </p:nvSpPr>
        <p:spPr>
          <a:xfrm>
            <a:off x="3611880" y="5230368"/>
            <a:ext cx="2240280" cy="182880"/>
          </a:xfrm>
          <a:prstGeom prst="rect">
            <a:avLst/>
          </a:prstGeom>
          <a:solidFill>
            <a:srgbClr val="F7F6F4"/>
          </a:solidFill>
          <a:ln w="15875">
            <a:solidFill>
              <a:srgbClr val="141414"/>
            </a:solidFill>
            <a:prstDash val="solid"/>
          </a:ln>
        </p:spPr>
      </p:sp>
      <p:sp>
        <p:nvSpPr>
          <p:cNvPr id="24" name="su1"/>
          <p:cNvSpPr/>
          <p:nvPr/>
        </p:nvSpPr>
        <p:spPr>
          <a:xfrm>
            <a:off x="3813048" y="5431536"/>
            <a:ext cx="219456" cy="182880"/>
          </a:xfrm>
          <a:prstGeom prst="triangle">
            <a:avLst/>
          </a:prstGeom>
          <a:solidFill>
            <a:srgbClr val="141414"/>
          </a:solidFill>
          <a:ln w="12700">
            <a:solidFill>
              <a:srgbClr val="141414">
                <a:alpha val="0"/>
              </a:srgbClr>
            </a:solidFill>
            <a:prstDash val="solid"/>
          </a:ln>
        </p:spPr>
      </p:sp>
      <p:sp>
        <p:nvSpPr>
          <p:cNvPr id="25" name="su2"/>
          <p:cNvSpPr/>
          <p:nvPr/>
        </p:nvSpPr>
        <p:spPr>
          <a:xfrm>
            <a:off x="5431536" y="5431536"/>
            <a:ext cx="219456" cy="182880"/>
          </a:xfrm>
          <a:prstGeom prst="triangle">
            <a:avLst/>
          </a:prstGeom>
          <a:solidFill>
            <a:srgbClr val="141414"/>
          </a:solidFill>
          <a:ln w="12700">
            <a:solidFill>
              <a:srgbClr val="141414">
                <a:alpha val="0"/>
              </a:srgbClr>
            </a:solidFill>
            <a:prstDash val="solid"/>
          </a:ln>
        </p:spPr>
      </p:sp>
      <p:sp>
        <p:nvSpPr>
          <p:cNvPr id="26" name="spn"/>
          <p:cNvSpPr/>
          <p:nvPr/>
        </p:nvSpPr>
        <p:spPr>
          <a:xfrm>
            <a:off x="3922776" y="5724144"/>
            <a:ext cx="1618488" cy="13716"/>
          </a:xfrm>
          <a:prstGeom prst="rect">
            <a:avLst/>
          </a:prstGeom>
          <a:solidFill>
            <a:srgbClr val="BDBDBD"/>
          </a:solidFill>
          <a:ln w="12700">
            <a:solidFill>
              <a:srgbClr val="BDBDBD">
                <a:alpha val="0"/>
              </a:srgbClr>
            </a:solidFill>
            <a:prstDash val="solid"/>
          </a:ln>
        </p:spPr>
      </p:sp>
      <p:sp>
        <p:nvSpPr>
          <p:cNvPr id="27" name="Text 24"/>
          <p:cNvSpPr txBox="1"/>
          <p:nvPr/>
        </p:nvSpPr>
        <p:spPr>
          <a:xfrm>
            <a:off x="4114800" y="5742432"/>
            <a:ext cx="1234440" cy="201168"/>
          </a:xfrm>
          <a:prstGeom prst="rect">
            <a:avLst/>
          </a:prstGeom>
          <a:noFill/>
          <a:ln/>
        </p:spPr>
        <p:txBody>
          <a:bodyPr wrap="square" lIns="0" tIns="0" rIns="0" bIns="0" rtlCol="0" anchor="ctr"/>
          <a:lstStyle/>
          <a:p>
            <a:pPr algn="ctr" indent="0" marL="0">
              <a:buNone/>
            </a:pPr>
            <a:r>
              <a:rPr lang="en-US" sz="900" dirty="0">
                <a:solidFill>
                  <a:srgbClr val="8C8C8C"/>
                </a:solidFill>
                <a:latin typeface="Calibri" pitchFamily="34" charset="0"/>
                <a:ea typeface="Calibri" pitchFamily="34" charset="-122"/>
                <a:cs typeface="Calibri" pitchFamily="34" charset="-120"/>
              </a:rPr>
              <a:t>120 mm</a:t>
            </a:r>
            <a:endParaRPr lang="en-US" sz="900" dirty="0"/>
          </a:p>
        </p:txBody>
      </p:sp>
      <p:sp>
        <p:nvSpPr>
          <p:cNvPr id="28" name="fs"/>
          <p:cNvSpPr/>
          <p:nvPr/>
        </p:nvSpPr>
        <p:spPr>
          <a:xfrm rot="2700000">
            <a:off x="6903720" y="4992624"/>
            <a:ext cx="603504" cy="603504"/>
          </a:xfrm>
          <a:prstGeom prst="rect">
            <a:avLst/>
          </a:prstGeom>
          <a:solidFill>
            <a:srgbClr val="F7F6F4"/>
          </a:solidFill>
          <a:ln w="15875">
            <a:solidFill>
              <a:srgbClr val="141414"/>
            </a:solidFill>
            <a:prstDash val="solid"/>
          </a:ln>
        </p:spPr>
      </p:sp>
      <p:sp>
        <p:nvSpPr>
          <p:cNvPr id="29" name="fm"/>
          <p:cNvSpPr/>
          <p:nvPr/>
        </p:nvSpPr>
        <p:spPr>
          <a:xfrm>
            <a:off x="7114032" y="5687568"/>
            <a:ext cx="182880" cy="219456"/>
          </a:xfrm>
          <a:prstGeom prst="triangle">
            <a:avLst/>
          </a:prstGeom>
          <a:solidFill>
            <a:srgbClr val="B4513A"/>
          </a:solidFill>
          <a:ln w="12700">
            <a:solidFill>
              <a:srgbClr val="B4513A">
                <a:alpha val="0"/>
              </a:srgbClr>
            </a:solidFill>
            <a:prstDash val="solid"/>
          </a:ln>
        </p:spPr>
      </p:sp>
      <p:sp>
        <p:nvSpPr>
          <p:cNvPr id="30" name="Text 27"/>
          <p:cNvSpPr txBox="1"/>
          <p:nvPr/>
        </p:nvSpPr>
        <p:spPr>
          <a:xfrm>
            <a:off x="7653528" y="5230368"/>
            <a:ext cx="4572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45°</a:t>
            </a:r>
            <a:endParaRPr lang="en-US" sz="900" dirty="0"/>
          </a:p>
        </p:txBody>
      </p:sp>
      <p:sp>
        <p:nvSpPr>
          <p:cNvPr id="31" name="vs"/>
          <p:cNvSpPr/>
          <p:nvPr/>
        </p:nvSpPr>
        <p:spPr>
          <a:xfrm>
            <a:off x="9281160" y="5074920"/>
            <a:ext cx="1691640" cy="777240"/>
          </a:xfrm>
          <a:prstGeom prst="rect">
            <a:avLst/>
          </a:prstGeom>
          <a:solidFill>
            <a:srgbClr val="FFFFFF"/>
          </a:solidFill>
          <a:ln w="15875">
            <a:solidFill>
              <a:srgbClr val="141414"/>
            </a:solidFill>
            <a:prstDash val="solid"/>
          </a:ln>
        </p:spPr>
      </p:sp>
      <p:sp>
        <p:nvSpPr>
          <p:cNvPr id="32" name="wt"/>
          <p:cNvSpPr/>
          <p:nvPr/>
        </p:nvSpPr>
        <p:spPr>
          <a:xfrm>
            <a:off x="9299448" y="5285232"/>
            <a:ext cx="1655064" cy="548640"/>
          </a:xfrm>
          <a:prstGeom prst="rect">
            <a:avLst/>
          </a:prstGeom>
          <a:solidFill>
            <a:srgbClr val="B4513A">
              <a:alpha val="28000"/>
            </a:srgbClr>
          </a:solidFill>
          <a:ln w="12700">
            <a:solidFill>
              <a:srgbClr val="B4513A">
                <a:alpha val="0"/>
              </a:srgbClr>
            </a:solidFill>
            <a:prstDash val="solid"/>
          </a:ln>
        </p:spPr>
      </p:sp>
      <p:sp>
        <p:nvSpPr>
          <p:cNvPr id="33" name="cp"/>
          <p:cNvSpPr/>
          <p:nvPr/>
        </p:nvSpPr>
        <p:spPr>
          <a:xfrm>
            <a:off x="9829800" y="5413248"/>
            <a:ext cx="594360" cy="310896"/>
          </a:xfrm>
          <a:prstGeom prst="rect">
            <a:avLst/>
          </a:prstGeom>
          <a:solidFill>
            <a:srgbClr val="F7F6F4"/>
          </a:solidFill>
          <a:ln w="12700">
            <a:solidFill>
              <a:srgbClr val="141414"/>
            </a:solidFill>
            <a:prstDash val="solid"/>
          </a:ln>
        </p:spPr>
      </p:sp>
      <p:sp>
        <p:nvSpPr>
          <p:cNvPr id="34" name="Text 31"/>
          <p:cNvSpPr txBox="1"/>
          <p:nvPr/>
        </p:nvSpPr>
        <p:spPr>
          <a:xfrm>
            <a:off x="731520" y="65836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All testing: Advanced Construction Materials Research Laboratory, Hacettepe University.  ·  Schematic, not to scale.</a:t>
            </a:r>
            <a:endParaRPr lang="en-US" sz="900" dirty="0"/>
          </a:p>
        </p:txBody>
      </p:sp>
      <p:sp>
        <p:nvSpPr>
          <p:cNvPr id="3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Compression</a:t>
            </a:r>
            <a:endParaRPr lang="en-US" sz="2000" dirty="0"/>
          </a:p>
        </p:txBody>
      </p:sp>
      <p:sp>
        <p:nvSpPr>
          <p:cNvPr id="3" name="Text 1"/>
          <p:cNvSpPr txBox="1"/>
          <p:nvPr/>
        </p:nvSpPr>
        <p:spPr>
          <a:xfrm>
            <a:off x="731520" y="132588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Measured values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4206240" cy="914400"/>
        </p:xfrm>
        <a:graphic>
          <a:graphicData uri="http://schemas.openxmlformats.org/drawingml/2006/table">
            <a:tbl>
              <a:tblPr/>
              <a:tblGrid>
                <a:gridCol w="640080"/>
                <a:gridCol w="1463040"/>
                <a:gridCol w="1051560"/>
                <a:gridCol w="105156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kN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3.89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2.55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6.80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3.7"/>
          <p:cNvSpPr/>
          <p:nvPr/>
        </p:nvSpPr>
        <p:spPr>
          <a:xfrm>
            <a:off x="731520" y="3383280"/>
            <a:ext cx="420624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3566160"/>
            <a:ext cx="4206240" cy="73152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Compressive strength rises with solids concentration, not with mineral content.</a:t>
            </a:r>
            <a:endParaRPr lang="en-US" sz="1200" dirty="0"/>
          </a:p>
        </p:txBody>
      </p:sp>
      <p:sp>
        <p:nvSpPr>
          <p:cNvPr id="7" name="Text 4"/>
          <p:cNvSpPr txBox="1"/>
          <p:nvPr/>
        </p:nvSpPr>
        <p:spPr>
          <a:xfrm>
            <a:off x="731520" y="4434840"/>
            <a:ext cx="4206240" cy="14630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Shell-to-binder is fixed at 2.00 across the series, so packing density is the only variable. The relation is linear over the range tested, R² = 0.99 — three formulations, and therefore a hypothesis rather than a law.</a:t>
            </a:r>
            <a:endParaRPr lang="en-US" sz="1200" dirty="0"/>
          </a:p>
        </p:txBody>
      </p:sp>
      <p:sp>
        <p:nvSpPr>
          <p:cNvPr id="8" name="Text 5"/>
          <p:cNvSpPr txBox="1"/>
          <p:nvPr/>
        </p:nvSpPr>
        <p:spPr>
          <a:xfrm>
            <a:off x="731520" y="598932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Fitted relation: σᴄ = 6.93 (solids : water) + 0.04</a:t>
            </a:r>
            <a:endParaRPr lang="en-US" sz="900" dirty="0"/>
          </a:p>
        </p:txBody>
      </p:sp>
      <p:graphicFrame>
        <p:nvGraphicFramePr>
          <p:cNvPr id="9" name="cc" descr=""/>
          <p:cNvGraphicFramePr/>
          <p:nvPr/>
        </p:nvGraphicFramePr>
        <p:xfrm>
          <a:off x="5394960" y="146304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394960" y="5989320"/>
            <a:ext cx="60350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Solids : water ratio shown beneath each formulation identifier.</a:t>
            </a:r>
            <a:endParaRPr lang="en-US" sz="9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Compressive failure</a:t>
            </a:r>
            <a:endParaRPr lang="en-US" sz="2000" dirty="0"/>
          </a:p>
        </p:txBody>
      </p:sp>
      <p:pic>
        <p:nvPicPr>
          <p:cNvPr id="3" name="cube" descr="/home/user/sanat-ve-mekan/konferans-bildirisi/03-gorseller/04-basma-ficilasmis-kup.jpeg">    </p:cNvPr>
          <p:cNvPicPr>
            <a:picLocks noChangeAspect="1"/>
          </p:cNvPicPr>
          <p:nvPr/>
        </p:nvPicPr>
        <p:blipFill>
          <a:blip r:embed="rId1"/>
          <a:stretch>
            <a:fillRect/>
          </a:stretch>
        </p:blipFill>
        <p:spPr>
          <a:xfrm>
            <a:off x="731520" y="1371600"/>
            <a:ext cx="2286000" cy="4946904"/>
          </a:xfrm>
          <a:prstGeom prst="rect">
            <a:avLst/>
          </a:prstGeom>
        </p:spPr>
      </p:pic>
      <p:sp>
        <p:nvSpPr>
          <p:cNvPr id="4" name="Text 1"/>
          <p:cNvSpPr txBox="1"/>
          <p:nvPr/>
        </p:nvSpPr>
        <p:spPr>
          <a:xfrm>
            <a:off x="3566160" y="1371600"/>
            <a:ext cx="47548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stress (MPa) – strain, C3</a:t>
            </a:r>
            <a:endParaRPr lang="en-US" sz="1300" dirty="0"/>
          </a:p>
        </p:txBody>
      </p:sp>
      <p:pic>
        <p:nvPicPr>
          <p:cNvPr id="5" name="curve" descr="/home/user/sanat-ve-mekan/konferans-bildirisi/03-gorseller/05b-basma-egrisi.png">    </p:cNvPr>
          <p:cNvPicPr>
            <a:picLocks noChangeAspect="1"/>
          </p:cNvPicPr>
          <p:nvPr/>
        </p:nvPicPr>
        <p:blipFill>
          <a:blip r:embed="rId2"/>
          <a:stretch>
            <a:fillRect/>
          </a:stretch>
        </p:blipFill>
        <p:spPr>
          <a:xfrm>
            <a:off x="3566160" y="1783080"/>
            <a:ext cx="4754880" cy="2660904"/>
          </a:xfrm>
          <a:prstGeom prst="rect">
            <a:avLst/>
          </a:prstGeom>
        </p:spPr>
      </p:pic>
      <p:sp>
        <p:nvSpPr>
          <p:cNvPr id="6" name="Text 2"/>
          <p:cNvSpPr txBox="1"/>
          <p:nvPr/>
        </p:nvSpPr>
        <p:spPr>
          <a:xfrm>
            <a:off x="3566160" y="4663440"/>
            <a:ext cx="47548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Observed response</a:t>
            </a:r>
            <a:endParaRPr lang="en-US" sz="1300" dirty="0"/>
          </a:p>
        </p:txBody>
      </p:sp>
      <p:sp>
        <p:nvSpPr>
          <p:cNvPr id="7" name="Text 3"/>
          <p:cNvSpPr txBox="1"/>
          <p:nvPr/>
        </p:nvSpPr>
        <p:spPr>
          <a:xfrm>
            <a:off x="3566160" y="5029200"/>
            <a:ext cx="4754880" cy="1280160"/>
          </a:xfrm>
          <a:prstGeom prst="rect">
            <a:avLst/>
          </a:prstGeom>
          <a:noFill/>
          <a:ln/>
        </p:spPr>
        <p:txBody>
          <a:bodyPr wrap="square" lIns="0" tIns="0" rIns="0" bIns="0" rtlCol="0" anchor="ctr"/>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Linear to approximately 1 MPa, then progressive loss of stiffness</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Peak stress near 10% strain, with no abrupt load drop</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Continued deformation beyond peak with retained integrity</a:t>
            </a:r>
            <a:endParaRPr lang="en-US" sz="1150" dirty="0"/>
          </a:p>
        </p:txBody>
      </p:sp>
      <p:sp>
        <p:nvSpPr>
          <p:cNvPr id="8" name="vr9.51.5"/>
          <p:cNvSpPr/>
          <p:nvPr/>
        </p:nvSpPr>
        <p:spPr>
          <a:xfrm>
            <a:off x="8686800" y="1371600"/>
            <a:ext cx="13716" cy="4572000"/>
          </a:xfrm>
          <a:prstGeom prst="rect">
            <a:avLst/>
          </a:prstGeom>
          <a:solidFill>
            <a:srgbClr val="E4E4E4"/>
          </a:solidFill>
          <a:ln w="12700">
            <a:solidFill>
              <a:srgbClr val="E4E4E4">
                <a:alpha val="0"/>
              </a:srgbClr>
            </a:solidFill>
            <a:prstDash val="solid"/>
          </a:ln>
        </p:spPr>
      </p:sp>
      <p:sp>
        <p:nvSpPr>
          <p:cNvPr id="9" name="Text 5"/>
          <p:cNvSpPr txBox="1"/>
          <p:nvPr/>
        </p:nvSpPr>
        <p:spPr>
          <a:xfrm>
            <a:off x="9144000" y="1371600"/>
            <a:ext cx="22860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Interpretation</a:t>
            </a:r>
            <a:endParaRPr lang="en-US" sz="1300" dirty="0"/>
          </a:p>
        </p:txBody>
      </p:sp>
      <p:sp>
        <p:nvSpPr>
          <p:cNvPr id="10" name="Text 6"/>
          <p:cNvSpPr txBox="1"/>
          <p:nvPr/>
        </p:nvSpPr>
        <p:spPr>
          <a:xfrm>
            <a:off x="9144000" y="1737360"/>
            <a:ext cx="2286000" cy="23774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agar network yields and the mineral redistributes rather than the section parting. Energy is absorbed rather than released, and the specimen remains a single body after test.</a:t>
            </a:r>
            <a:endParaRPr lang="en-US" sz="1200" dirty="0"/>
          </a:p>
        </p:txBody>
      </p:sp>
      <p:sp>
        <p:nvSpPr>
          <p:cNvPr id="11" name="ru104.1"/>
          <p:cNvSpPr/>
          <p:nvPr/>
        </p:nvSpPr>
        <p:spPr>
          <a:xfrm>
            <a:off x="9144000" y="3749040"/>
            <a:ext cx="2286000" cy="9144"/>
          </a:xfrm>
          <a:prstGeom prst="rect">
            <a:avLst/>
          </a:prstGeom>
          <a:solidFill>
            <a:srgbClr val="E4E4E4"/>
          </a:solidFill>
          <a:ln w="12700">
            <a:solidFill>
              <a:srgbClr val="E4E4E4">
                <a:alpha val="0"/>
              </a:srgbClr>
            </a:solidFill>
            <a:prstDash val="solid"/>
          </a:ln>
        </p:spPr>
      </p:sp>
      <p:sp>
        <p:nvSpPr>
          <p:cNvPr id="12" name="Text 8"/>
          <p:cNvSpPr txBox="1"/>
          <p:nvPr/>
        </p:nvSpPr>
        <p:spPr>
          <a:xfrm>
            <a:off x="9144000" y="3931920"/>
            <a:ext cx="2286000" cy="9144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Failure proceeds by progressive crushing rather than by fracture.</a:t>
            </a:r>
            <a:endParaRPr lang="en-US" sz="1200" dirty="0"/>
          </a:p>
        </p:txBody>
      </p:sp>
      <p:sp>
        <p:nvSpPr>
          <p:cNvPr id="13" name="Text 9"/>
          <p:cNvSpPr txBox="1"/>
          <p:nvPr/>
        </p:nvSpPr>
        <p:spPr>
          <a:xfrm>
            <a:off x="9144000" y="5029200"/>
            <a:ext cx="2286000" cy="12801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For a demountable component this is the behaviour that governs service life: damage accumulates visibly rather than arriving as sudden loss of the section.</a:t>
            </a:r>
            <a:endParaRPr lang="en-US" sz="1150" dirty="0"/>
          </a:p>
        </p:txBody>
      </p:sp>
      <p:sp>
        <p:nvSpPr>
          <p:cNvPr id="14" name="Text 10"/>
          <p:cNvSpPr txBox="1"/>
          <p:nvPr/>
        </p:nvSpPr>
        <p:spPr>
          <a:xfrm>
            <a:off x="731520" y="64008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Strain derived from an assumed 10% maximum deformation based on observation, not instrumented measurement.  ·  Bulk density 1.38 g/cm³, mould-volume basis.</a:t>
            </a:r>
            <a:endParaRPr lang="en-US" sz="900" dirty="0"/>
          </a:p>
        </p:txBody>
      </p:sp>
      <p:sp>
        <p:nvSpPr>
          <p:cNvPr id="1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Flexure</a:t>
            </a:r>
            <a:endParaRPr lang="en-US" sz="2000" dirty="0"/>
          </a:p>
        </p:txBody>
      </p:sp>
      <p:sp>
        <p:nvSpPr>
          <p:cNvPr id="3" name="Text 1"/>
          <p:cNvSpPr txBox="1"/>
          <p:nvPr/>
        </p:nvSpPr>
        <p:spPr>
          <a:xfrm>
            <a:off x="731520" y="1325880"/>
            <a:ext cx="66751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Measured values — ASTM D790-17, three-point</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675120" cy="914400"/>
        </p:xfrm>
        <a:graphic>
          <a:graphicData uri="http://schemas.openxmlformats.org/drawingml/2006/table">
            <a:tbl>
              <a:tblPr/>
              <a:tblGrid>
                <a:gridCol w="685800"/>
                <a:gridCol w="1600200"/>
                <a:gridCol w="1005840"/>
                <a:gridCol w="1600200"/>
                <a:gridCol w="914400"/>
                <a:gridCol w="86868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Eꜰ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ε peak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i="1" dirty="0">
                          <a:solidFill>
                            <a:srgbClr val="3C3C3C"/>
                          </a:solidFill>
                          <a:latin typeface="Calibri" pitchFamily="34" charset="0"/>
                          <a:ea typeface="Calibri" pitchFamily="34" charset="-122"/>
                          <a:cs typeface="Calibri" pitchFamily="34" charset="-120"/>
                        </a:rPr>
                        <a:t>not measurable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2.325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0.0121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3.35"/>
          <p:cNvSpPr/>
          <p:nvPr/>
        </p:nvSpPr>
        <p:spPr>
          <a:xfrm>
            <a:off x="731520" y="3063240"/>
            <a:ext cx="667512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324612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Flexural stress (MPa) – strain, F2</a:t>
            </a:r>
            <a:endParaRPr lang="en-US" sz="1300" dirty="0"/>
          </a:p>
        </p:txBody>
      </p:sp>
      <p:pic>
        <p:nvPicPr>
          <p:cNvPr id="7" name="fc" descr="/home/user/sanat-ve-mekan/konferans-bildirisi/03-gorseller/09b-egilme-egrisi.png">    </p:cNvPr>
          <p:cNvPicPr>
            <a:picLocks noChangeAspect="1"/>
          </p:cNvPicPr>
          <p:nvPr/>
        </p:nvPicPr>
        <p:blipFill>
          <a:blip r:embed="rId1"/>
          <a:stretch>
            <a:fillRect/>
          </a:stretch>
        </p:blipFill>
        <p:spPr>
          <a:xfrm>
            <a:off x="731520" y="3611880"/>
            <a:ext cx="4206240" cy="2377440"/>
          </a:xfrm>
          <a:prstGeom prst="rect">
            <a:avLst/>
          </a:prstGeom>
        </p:spPr>
      </p:pic>
      <p:sp>
        <p:nvSpPr>
          <p:cNvPr id="8" name="Text 4"/>
          <p:cNvSpPr txBox="1"/>
          <p:nvPr/>
        </p:nvSpPr>
        <p:spPr>
          <a:xfrm>
            <a:off x="5303520" y="3611880"/>
            <a:ext cx="2286000" cy="21945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At 18.8% glycerol the instrument registered no usable resistance. Halving the plasticiser gave a section that resists while still deforming substantially.</a:t>
            </a:r>
            <a:endParaRPr lang="en-US" sz="1200" dirty="0"/>
          </a:p>
        </p:txBody>
      </p:sp>
      <p:sp>
        <p:nvSpPr>
          <p:cNvPr id="9" name="Text 5"/>
          <p:cNvSpPr txBox="1"/>
          <p:nvPr/>
        </p:nvSpPr>
        <p:spPr>
          <a:xfrm>
            <a:off x="5303520" y="5349240"/>
            <a:ext cx="2286000" cy="64008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transition lies between these two values.</a:t>
            </a:r>
            <a:endParaRPr lang="en-US" sz="1200" dirty="0"/>
          </a:p>
        </p:txBody>
      </p:sp>
      <p:sp>
        <p:nvSpPr>
          <p:cNvPr id="10" name="vr8.61.45"/>
          <p:cNvSpPr/>
          <p:nvPr/>
        </p:nvSpPr>
        <p:spPr>
          <a:xfrm>
            <a:off x="7863840" y="1325880"/>
            <a:ext cx="13716" cy="4846320"/>
          </a:xfrm>
          <a:prstGeom prst="rect">
            <a:avLst/>
          </a:prstGeom>
          <a:solidFill>
            <a:srgbClr val="E4E4E4"/>
          </a:solidFill>
          <a:ln w="12700">
            <a:solidFill>
              <a:srgbClr val="E4E4E4">
                <a:alpha val="0"/>
              </a:srgbClr>
            </a:solidFill>
            <a:prstDash val="solid"/>
          </a:ln>
        </p:spPr>
      </p:sp>
      <p:sp>
        <p:nvSpPr>
          <p:cNvPr id="11" name="Text 7"/>
          <p:cNvSpPr txBox="1"/>
          <p:nvPr/>
        </p:nvSpPr>
        <p:spPr>
          <a:xfrm>
            <a:off x="8321040" y="1325880"/>
            <a:ext cx="31089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Limitation</a:t>
            </a:r>
            <a:endParaRPr lang="en-US" sz="1300" dirty="0"/>
          </a:p>
        </p:txBody>
      </p:sp>
      <p:sp>
        <p:nvSpPr>
          <p:cNvPr id="12" name="Text 8"/>
          <p:cNvSpPr txBox="1"/>
          <p:nvPr/>
        </p:nvSpPr>
        <p:spPr>
          <a:xfrm>
            <a:off x="8321040" y="1691640"/>
            <a:ext cx="3108960" cy="201168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specimen is kerfed on its tension face. The standard assumes a solid rectangular section and the calculation uses the full section, so part of the measured compliance is geometric and the reported modulus is a lower bound.</a:t>
            </a:r>
            <a:endParaRPr lang="en-US" sz="1200" dirty="0"/>
          </a:p>
        </p:txBody>
      </p:sp>
      <p:sp>
        <p:nvSpPr>
          <p:cNvPr id="13" name="ru9.14.3"/>
          <p:cNvSpPr/>
          <p:nvPr/>
        </p:nvSpPr>
        <p:spPr>
          <a:xfrm>
            <a:off x="8321040" y="3931920"/>
            <a:ext cx="3108960" cy="9144"/>
          </a:xfrm>
          <a:prstGeom prst="rect">
            <a:avLst/>
          </a:prstGeom>
          <a:solidFill>
            <a:srgbClr val="E4E4E4"/>
          </a:solidFill>
          <a:ln w="12700">
            <a:solidFill>
              <a:srgbClr val="E4E4E4">
                <a:alpha val="0"/>
              </a:srgbClr>
            </a:solidFill>
            <a:prstDash val="solid"/>
          </a:ln>
        </p:spPr>
      </p:sp>
      <p:sp>
        <p:nvSpPr>
          <p:cNvPr id="14" name="Text 10"/>
          <p:cNvSpPr txBox="1"/>
          <p:nvPr/>
        </p:nvSpPr>
        <p:spPr>
          <a:xfrm>
            <a:off x="8321040" y="4114800"/>
            <a:ext cx="3108960" cy="9144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Flexural resistance is governed by plasticiser content.</a:t>
            </a:r>
            <a:endParaRPr lang="en-US" sz="1200" dirty="0"/>
          </a:p>
        </p:txBody>
      </p:sp>
      <p:sp>
        <p:nvSpPr>
          <p:cNvPr id="15" name="Text 11"/>
          <p:cNvSpPr txBox="1"/>
          <p:nvPr/>
        </p:nvSpPr>
        <p:spPr>
          <a:xfrm>
            <a:off x="8321040" y="5029200"/>
            <a:ext cx="3108960" cy="118872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composition at which the composite ceases to resist and merely deforms lies between 10.3 and 18.8% glycerol on solids. Locating it is the first task of the next formulation series.</a:t>
            </a:r>
            <a:endParaRPr lang="en-US" sz="1150" dirty="0"/>
          </a:p>
        </p:txBody>
      </p:sp>
      <p:sp>
        <p:nvSpPr>
          <p:cNvPr id="16" name="Text 12"/>
          <p:cNvSpPr txBox="1"/>
          <p:nvPr/>
        </p:nvSpPr>
        <p:spPr>
          <a:xfrm>
            <a:off x="8321040" y="6355080"/>
            <a:ext cx="28346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Confounded with solids concentration: batch mass was held constant, so water rose as glycerol fell.</a:t>
            </a:r>
            <a:endParaRPr lang="en-US" sz="900" dirty="0"/>
          </a:p>
        </p:txBody>
      </p:sp>
      <p:sp>
        <p:nvSpPr>
          <p:cNvPr id="17" name="Text 13"/>
          <p:cNvSpPr txBox="1"/>
          <p:nvPr/>
        </p:nvSpPr>
        <p:spPr>
          <a:xfrm>
            <a:off x="731520" y="6126480"/>
            <a:ext cx="66751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Flexural strength computed as σꜰ = 3FL / 2bd² on the full rectangular section.</a:t>
            </a:r>
            <a:endParaRPr lang="en-US" sz="900" dirty="0"/>
          </a:p>
        </p:txBody>
      </p:sp>
      <p:sp>
        <p:nvSpPr>
          <p:cNvPr id="1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b1" descr="/home/user/sanat-ve-mekan/konferans-bildirisi/03-gorseller/06-egilme-buyuk-sehim.jpg">    </p:cNvPr>
          <p:cNvPicPr>
            <a:picLocks noChangeAspect="1"/>
          </p:cNvPicPr>
          <p:nvPr/>
        </p:nvPicPr>
        <p:blipFill>
          <a:blip r:embed="rId1"/>
          <a:stretch>
            <a:fillRect/>
          </a:stretch>
        </p:blipFill>
        <p:spPr>
          <a:xfrm>
            <a:off x="0" y="0"/>
            <a:ext cx="3090672" cy="6858000"/>
          </a:xfrm>
          <a:prstGeom prst="rect">
            <a:avLst/>
          </a:prstGeom>
        </p:spPr>
      </p:pic>
      <p:pic>
        <p:nvPicPr>
          <p:cNvPr id="3" name="b2" descr="/home/user/sanat-ve-mekan/konferans-bildirisi/03-gorseller/07-egilme-yakin-yiv.jpeg">    </p:cNvPr>
          <p:cNvPicPr>
            <a:picLocks noChangeAspect="1"/>
          </p:cNvPicPr>
          <p:nvPr/>
        </p:nvPicPr>
        <p:blipFill>
          <a:blip r:embed="rId2"/>
          <a:stretch>
            <a:fillRect/>
          </a:stretch>
        </p:blipFill>
        <p:spPr>
          <a:xfrm>
            <a:off x="3182112" y="0"/>
            <a:ext cx="4572000" cy="3429000"/>
          </a:xfrm>
          <a:prstGeom prst="rect">
            <a:avLst/>
          </a:prstGeom>
        </p:spPr>
      </p:pic>
      <p:pic>
        <p:nvPicPr>
          <p:cNvPr id="4" name="b3" descr="/home/user/sanat-ve-mekan/konferans-bildirisi/03-gorseller/08b-yivli-panel-kemer.jpg">    </p:cNvPr>
          <p:cNvPicPr>
            <a:picLocks noChangeAspect="1"/>
          </p:cNvPicPr>
          <p:nvPr/>
        </p:nvPicPr>
        <p:blipFill>
          <a:blip r:embed="rId3"/>
          <a:stretch>
            <a:fillRect/>
          </a:stretch>
        </p:blipFill>
        <p:spPr>
          <a:xfrm>
            <a:off x="3182112" y="3520440"/>
            <a:ext cx="4572000" cy="3337560"/>
          </a:xfrm>
          <a:prstGeom prst="rect">
            <a:avLst/>
          </a:prstGeom>
        </p:spPr>
      </p:pic>
      <p:sp>
        <p:nvSpPr>
          <p:cNvPr id="5" name="pane"/>
          <p:cNvSpPr/>
          <p:nvPr/>
        </p:nvSpPr>
        <p:spPr>
          <a:xfrm>
            <a:off x="7845552" y="0"/>
            <a:ext cx="4343400" cy="6858000"/>
          </a:xfrm>
          <a:prstGeom prst="rect">
            <a:avLst/>
          </a:prstGeom>
          <a:solidFill>
            <a:srgbClr val="141414"/>
          </a:solidFill>
          <a:ln w="12700">
            <a:solidFill>
              <a:srgbClr val="141414">
                <a:alpha val="0"/>
              </a:srgbClr>
            </a:solidFill>
            <a:prstDash val="solid"/>
          </a:ln>
        </p:spPr>
      </p:sp>
      <p:sp>
        <p:nvSpPr>
          <p:cNvPr id="6" name="Text 1"/>
          <p:cNvSpPr txBox="1"/>
          <p:nvPr/>
        </p:nvSpPr>
        <p:spPr>
          <a:xfrm>
            <a:off x="8321040" y="1280160"/>
            <a:ext cx="33832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Flexural deformation</a:t>
            </a:r>
            <a:endParaRPr lang="en-US" sz="2000" dirty="0"/>
          </a:p>
        </p:txBody>
      </p:sp>
      <p:sp>
        <p:nvSpPr>
          <p:cNvPr id="7" name="Text 2"/>
          <p:cNvSpPr txBox="1"/>
          <p:nvPr/>
        </p:nvSpPr>
        <p:spPr>
          <a:xfrm>
            <a:off x="8321040" y="1920240"/>
            <a:ext cx="3383280" cy="256032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beam is deflected well beyond the failure point of a comparable ceramic without parting. Transverse kerfs on the tension face permit the panel to be arched by hand.</a:t>
            </a:r>
            <a:endParaRPr lang="en-US" sz="1200" dirty="0"/>
          </a:p>
          <a:p>
            <a:pPr indent="0" marL="0">
              <a:lnSpc>
                <a:spcPts val="1800"/>
              </a:lnSpc>
              <a:buNone/>
            </a:pPr>
            <a:endParaRPr lang="en-US" sz="1200" dirty="0"/>
          </a:p>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kerfs are also why the measured compliance is partly geometric, and why the reported modulus is a lower bound rather than a material constant.</a:t>
            </a:r>
            <a:endParaRPr lang="en-US" sz="1200" dirty="0"/>
          </a:p>
        </p:txBody>
      </p:sp>
      <p:sp>
        <p:nvSpPr>
          <p:cNvPr id="8" name="Text 3"/>
          <p:cNvSpPr txBox="1"/>
          <p:nvPr/>
        </p:nvSpPr>
        <p:spPr>
          <a:xfrm>
            <a:off x="8321040" y="4663440"/>
            <a:ext cx="3383280" cy="822960"/>
          </a:xfrm>
          <a:prstGeom prst="rect">
            <a:avLst/>
          </a:prstGeom>
          <a:noFill/>
          <a:ln/>
        </p:spPr>
        <p:txBody>
          <a:bodyPr wrap="square" lIns="0" tIns="0" rIns="0" bIns="0" rtlCol="0" anchor="t"/>
          <a:lstStyle/>
          <a:p>
            <a:pPr indent="0" marL="0">
              <a:lnSpc>
                <a:spcPts val="1800"/>
              </a:lnSpc>
              <a:buNone/>
            </a:pPr>
            <a:r>
              <a:rPr lang="en-US" sz="1200" b="1" i="1" dirty="0">
                <a:solidFill>
                  <a:srgbClr val="FFFFFF"/>
                </a:solidFill>
                <a:latin typeface="Calibri" pitchFamily="34" charset="0"/>
                <a:ea typeface="Calibri" pitchFamily="34" charset="-122"/>
                <a:cs typeface="Calibri" pitchFamily="34" charset="-120"/>
              </a:rPr>
              <a:t>Substantial deformation with retained integrity, in both test programmes.</a:t>
            </a:r>
            <a:endParaRPr lang="en-US" sz="1200" dirty="0"/>
          </a:p>
        </p:txBody>
      </p:sp>
      <p:sp>
        <p:nvSpPr>
          <p:cNvPr id="9" name="Text 4"/>
          <p:cNvSpPr txBox="1"/>
          <p:nvPr/>
        </p:nvSpPr>
        <p:spPr>
          <a:xfrm>
            <a:off x="8321040" y="5715000"/>
            <a:ext cx="33832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Three-point rig at high deflection · close-up of the kerfed tension face · panel arched by hand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Fire, water, density</a:t>
            </a:r>
            <a:endParaRPr lang="en-US" sz="2000" dirty="0"/>
          </a:p>
        </p:txBody>
      </p:sp>
      <p:pic>
        <p:nvPicPr>
          <p:cNvPr id="3" name="fl" descr="/home/user/sanat-ve-mekan/konferans-bildirisi/03-gorseller/10-alev-testi.png">    </p:cNvPr>
          <p:cNvPicPr>
            <a:picLocks noChangeAspect="1"/>
          </p:cNvPicPr>
          <p:nvPr/>
        </p:nvPicPr>
        <p:blipFill>
          <a:blip r:embed="rId1"/>
          <a:stretch>
            <a:fillRect/>
          </a:stretch>
        </p:blipFill>
        <p:spPr>
          <a:xfrm>
            <a:off x="731520" y="1371600"/>
            <a:ext cx="2011680" cy="4361688"/>
          </a:xfrm>
          <a:prstGeom prst="rect">
            <a:avLst/>
          </a:prstGeom>
        </p:spPr>
      </p:pic>
      <p:sp>
        <p:nvSpPr>
          <p:cNvPr id="4" name="Text 1"/>
          <p:cNvSpPr txBox="1"/>
          <p:nvPr/>
        </p:nvSpPr>
        <p:spPr>
          <a:xfrm>
            <a:off x="3200400" y="1325880"/>
            <a:ext cx="30175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Ignitability</a:t>
            </a:r>
            <a:endParaRPr lang="en-US" sz="1300" dirty="0"/>
          </a:p>
        </p:txBody>
      </p:sp>
      <p:sp>
        <p:nvSpPr>
          <p:cNvPr id="5" name="Text 2"/>
          <p:cNvSpPr txBox="1"/>
          <p:nvPr/>
        </p:nvSpPr>
        <p:spPr>
          <a:xfrm>
            <a:off x="3200400" y="1737360"/>
            <a:ext cx="301752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 10 s</a:t>
            </a:r>
            <a:endParaRPr lang="en-US" sz="3200" dirty="0"/>
          </a:p>
        </p:txBody>
      </p:sp>
      <p:sp>
        <p:nvSpPr>
          <p:cNvPr id="6" name="Text 3"/>
          <p:cNvSpPr txBox="1"/>
          <p:nvPr/>
        </p:nvSpPr>
        <p:spPr>
          <a:xfrm>
            <a:off x="3200400" y="2383536"/>
            <a:ext cx="301752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ignition under direct flame</a:t>
            </a:r>
            <a:endParaRPr lang="en-US" sz="950" dirty="0"/>
          </a:p>
        </p:txBody>
      </p:sp>
      <p:sp>
        <p:nvSpPr>
          <p:cNvPr id="7" name="Text 4"/>
          <p:cNvSpPr txBox="1"/>
          <p:nvPr/>
        </p:nvSpPr>
        <p:spPr>
          <a:xfrm>
            <a:off x="3200400" y="2834640"/>
            <a:ext cx="301752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4 s</a:t>
            </a:r>
            <a:endParaRPr lang="en-US" sz="3200" dirty="0"/>
          </a:p>
        </p:txBody>
      </p:sp>
      <p:sp>
        <p:nvSpPr>
          <p:cNvPr id="8" name="Text 5"/>
          <p:cNvSpPr txBox="1"/>
          <p:nvPr/>
        </p:nvSpPr>
        <p:spPr>
          <a:xfrm>
            <a:off x="3200400" y="3480816"/>
            <a:ext cx="301752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self-extinguish after flame removal</a:t>
            </a:r>
            <a:endParaRPr lang="en-US" sz="950" dirty="0"/>
          </a:p>
        </p:txBody>
      </p:sp>
      <p:sp>
        <p:nvSpPr>
          <p:cNvPr id="9" name="Text 6"/>
          <p:cNvSpPr txBox="1"/>
          <p:nvPr/>
        </p:nvSpPr>
        <p:spPr>
          <a:xfrm>
            <a:off x="3200400" y="3931920"/>
            <a:ext cx="3017520" cy="1188720"/>
          </a:xfrm>
          <a:prstGeom prst="rect">
            <a:avLst/>
          </a:prstGeom>
          <a:noFill/>
          <a:ln/>
        </p:spPr>
        <p:txBody>
          <a:bodyPr wrap="square" lIns="0" tIns="0" rIns="0" bIns="0" rtlCol="0" anchor="ctr"/>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Charring remains local</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lateral flame spread</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melting and no dripping</a:t>
            </a:r>
            <a:endParaRPr lang="en-US" sz="1150" dirty="0"/>
          </a:p>
        </p:txBody>
      </p:sp>
      <p:sp>
        <p:nvSpPr>
          <p:cNvPr id="10" name="Text 7"/>
          <p:cNvSpPr txBox="1"/>
          <p:nvPr/>
        </p:nvSpPr>
        <p:spPr>
          <a:xfrm>
            <a:off x="3200400" y="5257800"/>
            <a:ext cx="3017520" cy="91440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probable mechanism is endothermic decomposition of the carbonate fraction, diluting the flame front. This was not verified calorimetrically.</a:t>
            </a:r>
            <a:endParaRPr lang="en-US" sz="1150" dirty="0"/>
          </a:p>
        </p:txBody>
      </p:sp>
      <p:sp>
        <p:nvSpPr>
          <p:cNvPr id="11" name="Text 8"/>
          <p:cNvSpPr txBox="1"/>
          <p:nvPr/>
        </p:nvSpPr>
        <p:spPr>
          <a:xfrm>
            <a:off x="3200400" y="6355080"/>
            <a:ext cx="3017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ISO 11925-2:2020. Ignitability only: no Euroclass classification, cone calorimetry, smoke or toxicity data.</a:t>
            </a:r>
            <a:endParaRPr lang="en-US" sz="900" dirty="0"/>
          </a:p>
        </p:txBody>
      </p:sp>
      <p:sp>
        <p:nvSpPr>
          <p:cNvPr id="12" name="vr7.31.45"/>
          <p:cNvSpPr/>
          <p:nvPr/>
        </p:nvSpPr>
        <p:spPr>
          <a:xfrm>
            <a:off x="6675120" y="1325880"/>
            <a:ext cx="13716" cy="4480560"/>
          </a:xfrm>
          <a:prstGeom prst="rect">
            <a:avLst/>
          </a:prstGeom>
          <a:solidFill>
            <a:srgbClr val="E4E4E4"/>
          </a:solidFill>
          <a:ln w="12700">
            <a:solidFill>
              <a:srgbClr val="E4E4E4">
                <a:alpha val="0"/>
              </a:srgbClr>
            </a:solidFill>
            <a:prstDash val="solid"/>
          </a:ln>
        </p:spPr>
      </p:sp>
      <p:sp>
        <p:nvSpPr>
          <p:cNvPr id="13" name="Text 10"/>
          <p:cNvSpPr txBox="1"/>
          <p:nvPr/>
        </p:nvSpPr>
        <p:spPr>
          <a:xfrm>
            <a:off x="7132320" y="1325880"/>
            <a:ext cx="42976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Water absorption, 24 h immersion</a:t>
            </a:r>
            <a:endParaRPr lang="en-US" sz="1300" dirty="0"/>
          </a:p>
        </p:txBody>
      </p:sp>
      <p:sp>
        <p:nvSpPr>
          <p:cNvPr id="14" name="Text 11"/>
          <p:cNvSpPr txBox="1"/>
          <p:nvPr/>
        </p:nvSpPr>
        <p:spPr>
          <a:xfrm>
            <a:off x="7132320" y="1691640"/>
            <a:ext cx="1645920" cy="54864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0.7%</a:t>
            </a:r>
            <a:endParaRPr lang="en-US" sz="3200" dirty="0"/>
          </a:p>
        </p:txBody>
      </p:sp>
      <p:sp>
        <p:nvSpPr>
          <p:cNvPr id="15" name="Text 12"/>
          <p:cNvSpPr txBox="1"/>
          <p:nvPr/>
        </p:nvSpPr>
        <p:spPr>
          <a:xfrm>
            <a:off x="8869680" y="1783080"/>
            <a:ext cx="2560320" cy="109728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mass gain, shellac-coated. Coating integrity rather than the composite is the limiting factor for humid service.</a:t>
            </a:r>
            <a:endParaRPr lang="en-US" sz="1150" dirty="0"/>
          </a:p>
        </p:txBody>
      </p:sp>
      <p:sp>
        <p:nvSpPr>
          <p:cNvPr id="16" name="ru7.83.2"/>
          <p:cNvSpPr/>
          <p:nvPr/>
        </p:nvSpPr>
        <p:spPr>
          <a:xfrm>
            <a:off x="7132320" y="2926080"/>
            <a:ext cx="4297680" cy="9144"/>
          </a:xfrm>
          <a:prstGeom prst="rect">
            <a:avLst/>
          </a:prstGeom>
          <a:solidFill>
            <a:srgbClr val="E4E4E4"/>
          </a:solidFill>
          <a:ln w="12700">
            <a:solidFill>
              <a:srgbClr val="E4E4E4">
                <a:alpha val="0"/>
              </a:srgbClr>
            </a:solidFill>
            <a:prstDash val="solid"/>
          </a:ln>
        </p:spPr>
      </p:sp>
      <p:sp>
        <p:nvSpPr>
          <p:cNvPr id="17" name="Text 14"/>
          <p:cNvSpPr txBox="1"/>
          <p:nvPr/>
        </p:nvSpPr>
        <p:spPr>
          <a:xfrm>
            <a:off x="7132320" y="3108960"/>
            <a:ext cx="42976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Bulk density</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132320" y="3474720"/>
          <a:ext cx="4297680" cy="914400"/>
        </p:xfrm>
        <a:graphic>
          <a:graphicData uri="http://schemas.openxmlformats.org/drawingml/2006/table">
            <a:tbl>
              <a:tblPr/>
              <a:tblGrid>
                <a:gridCol w="1783080"/>
                <a:gridCol w="914400"/>
                <a:gridCol w="1600200"/>
              </a:tblGrid>
              <a:tr h="347472">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g/cm³</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47472">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cellulose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Fired clay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1.6 – 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Normal-weight concrete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7132320" y="5440680"/>
            <a:ext cx="429768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Denser than the fungal and cellulosic family, lighter than fired clay. Mould-volume basis, therefore a lower bound.</a:t>
            </a:r>
            <a:endParaRPr lang="en-US" sz="115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Conventional materials</a:t>
            </a:r>
            <a:endParaRPr lang="en-US" sz="2000" dirty="0"/>
          </a:p>
        </p:txBody>
      </p:sp>
      <p:sp>
        <p:nvSpPr>
          <p:cNvPr id="3" name="Text 1"/>
          <p:cNvSpPr txBox="1"/>
          <p:nvPr/>
        </p:nvSpPr>
        <p:spPr>
          <a:xfrm>
            <a:off x="731520" y="1298448"/>
            <a:ext cx="75895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and flexural strength against interior surface materials</a:t>
            </a:r>
            <a:endParaRPr lang="en-US" sz="1300" dirty="0"/>
          </a:p>
        </p:txBody>
      </p:sp>
      <p:graphicFrame>
        <p:nvGraphicFramePr>
          <p:cNvPr id="4" name="bc1" descr=""/>
          <p:cNvGraphicFramePr/>
          <p:nvPr/>
        </p:nvGraphicFramePr>
        <p:xfrm>
          <a:off x="731520" y="1645920"/>
          <a:ext cx="758952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 y="5943600"/>
            <a:ext cx="7589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Velasco &amp; Gaona (2011) · Klyosov (2007) · Nemli &amp; Aydın (2007) · Altun (2006)</a:t>
            </a:r>
            <a:endParaRPr lang="en-US" sz="900" dirty="0"/>
          </a:p>
        </p:txBody>
      </p:sp>
      <p:sp>
        <p:nvSpPr>
          <p:cNvPr id="6" name="vr9.51.45"/>
          <p:cNvSpPr/>
          <p:nvPr/>
        </p:nvSpPr>
        <p:spPr>
          <a:xfrm>
            <a:off x="8686800" y="1325880"/>
            <a:ext cx="13716" cy="4572000"/>
          </a:xfrm>
          <a:prstGeom prst="rect">
            <a:avLst/>
          </a:prstGeom>
          <a:solidFill>
            <a:srgbClr val="E4E4E4"/>
          </a:solidFill>
          <a:ln w="12700">
            <a:solidFill>
              <a:srgbClr val="E4E4E4">
                <a:alpha val="0"/>
              </a:srgbClr>
            </a:solidFill>
            <a:prstDash val="solid"/>
          </a:ln>
        </p:spPr>
      </p:sp>
      <p:sp>
        <p:nvSpPr>
          <p:cNvPr id="7" name="Text 4"/>
          <p:cNvSpPr txBox="1"/>
          <p:nvPr/>
        </p:nvSpPr>
        <p:spPr>
          <a:xfrm>
            <a:off x="9144000" y="1325880"/>
            <a:ext cx="22860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Position</a:t>
            </a:r>
            <a:endParaRPr lang="en-US" sz="1300" dirty="0"/>
          </a:p>
        </p:txBody>
      </p:sp>
      <p:sp>
        <p:nvSpPr>
          <p:cNvPr id="8" name="Text 5"/>
          <p:cNvSpPr txBox="1"/>
          <p:nvPr/>
        </p:nvSpPr>
        <p:spPr>
          <a:xfrm>
            <a:off x="9144000" y="1691640"/>
            <a:ext cx="2286000" cy="25603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One sixth the compressive strength of MDF and one twentieth that of travertine, a stone the material visually resembles. Three times the compressive strength of compressed mushroom panel, the only other fully bio-based board in the set.</a:t>
            </a:r>
            <a:endParaRPr lang="en-US" sz="1200" dirty="0"/>
          </a:p>
        </p:txBody>
      </p:sp>
      <p:sp>
        <p:nvSpPr>
          <p:cNvPr id="9" name="Text 6"/>
          <p:cNvSpPr txBox="1"/>
          <p:nvPr/>
        </p:nvSpPr>
        <p:spPr>
          <a:xfrm>
            <a:off x="9144000" y="4526280"/>
            <a:ext cx="2286000" cy="109728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On strength alone the composite is not competitive with engineered wood or stone.</a:t>
            </a:r>
            <a:endParaRPr lang="en-US" sz="1200" dirty="0"/>
          </a:p>
        </p:txBody>
      </p:sp>
      <p:sp>
        <p:nvSpPr>
          <p:cNvPr id="1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Bio-based composites</a:t>
            </a:r>
            <a:endParaRPr lang="en-US" sz="2000" dirty="0"/>
          </a:p>
        </p:txBody>
      </p:sp>
      <p:sp>
        <p:nvSpPr>
          <p:cNvPr id="3" name="Text 1"/>
          <p:cNvSpPr txBox="1"/>
          <p:nvPr/>
        </p:nvSpPr>
        <p:spPr>
          <a:xfrm>
            <a:off x="731520" y="1298448"/>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strength</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5120640" cy="914400"/>
        </p:xfrm>
        <a:graphic>
          <a:graphicData uri="http://schemas.openxmlformats.org/drawingml/2006/table">
            <a:tbl>
              <a:tblPr/>
              <a:tblGrid>
                <a:gridCol w="2377440"/>
                <a:gridCol w="1371600"/>
                <a:gridCol w="1371600"/>
              </a:tblGrid>
              <a:tr h="36576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65760">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0.145 – 0.452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Hempcrete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Arnaud &amp; Gourlay (2012)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Eggshell-filled PLA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 – 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Kim &amp; Pal (2010)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Mineral-filled biocomposite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2.1 – 39.6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Shah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0" y="1298448"/>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Elastic modulus</a:t>
            </a:r>
            <a:endParaRPr lang="en-US" sz="13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400800" y="1645920"/>
          <a:ext cx="5029200" cy="914400"/>
        </p:xfrm>
        <a:graphic>
          <a:graphicData uri="http://schemas.openxmlformats.org/drawingml/2006/table">
            <a:tbl>
              <a:tblPr/>
              <a:tblGrid>
                <a:gridCol w="2240280"/>
                <a:gridCol w="1234440"/>
                <a:gridCol w="1554480"/>
              </a:tblGrid>
              <a:tr h="329184">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E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29184">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 – 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Islam et al.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Soy-based bioplastic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124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Mansour et al. (2021)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Flax-fibre PLA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Faruk et al. (2012)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LDPE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100 – 300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Zhao et al. (2022)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Wood (pine)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11 000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Pope &amp; Hudson (1989)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7" name="ru0.84.4"/>
          <p:cNvSpPr/>
          <p:nvPr/>
        </p:nvSpPr>
        <p:spPr>
          <a:xfrm>
            <a:off x="731520" y="4023360"/>
            <a:ext cx="10698480" cy="9144"/>
          </a:xfrm>
          <a:prstGeom prst="rect">
            <a:avLst/>
          </a:prstGeom>
          <a:solidFill>
            <a:srgbClr val="E4E4E4"/>
          </a:solidFill>
          <a:ln w="12700">
            <a:solidFill>
              <a:srgbClr val="E4E4E4">
                <a:alpha val="0"/>
              </a:srgbClr>
            </a:solidFill>
            <a:prstDash val="solid"/>
          </a:ln>
        </p:spPr>
      </p:sp>
      <p:sp>
        <p:nvSpPr>
          <p:cNvPr id="8" name="Text 4"/>
          <p:cNvSpPr txBox="1"/>
          <p:nvPr/>
        </p:nvSpPr>
        <p:spPr>
          <a:xfrm>
            <a:off x="731520" y="417880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Elastic modulus on a logarithmic scale, MPa</a:t>
            </a:r>
            <a:endParaRPr lang="en-US" sz="1300" dirty="0"/>
          </a:p>
        </p:txBody>
      </p:sp>
      <p:sp>
        <p:nvSpPr>
          <p:cNvPr id="9" name="lax"/>
          <p:cNvSpPr/>
          <p:nvPr/>
        </p:nvSpPr>
        <p:spPr>
          <a:xfrm>
            <a:off x="1188720" y="5257800"/>
            <a:ext cx="9948672" cy="18288"/>
          </a:xfrm>
          <a:prstGeom prst="rect">
            <a:avLst/>
          </a:prstGeom>
          <a:solidFill>
            <a:srgbClr val="141414"/>
          </a:solidFill>
          <a:ln w="12700">
            <a:solidFill>
              <a:srgbClr val="141414">
                <a:alpha val="0"/>
              </a:srgbClr>
            </a:solidFill>
            <a:prstDash val="solid"/>
          </a:ln>
        </p:spPr>
      </p:sp>
      <p:sp>
        <p:nvSpPr>
          <p:cNvPr id="10" name="lt1"/>
          <p:cNvSpPr/>
          <p:nvPr/>
        </p:nvSpPr>
        <p:spPr>
          <a:xfrm>
            <a:off x="1188720" y="5257800"/>
            <a:ext cx="13716" cy="128016"/>
          </a:xfrm>
          <a:prstGeom prst="rect">
            <a:avLst/>
          </a:prstGeom>
          <a:solidFill>
            <a:srgbClr val="BDBDBD"/>
          </a:solidFill>
          <a:ln w="12700">
            <a:solidFill>
              <a:srgbClr val="BDBDBD">
                <a:alpha val="0"/>
              </a:srgbClr>
            </a:solidFill>
            <a:prstDash val="solid"/>
          </a:ln>
        </p:spPr>
      </p:sp>
      <p:sp>
        <p:nvSpPr>
          <p:cNvPr id="11" name="Text 7"/>
          <p:cNvSpPr txBox="1"/>
          <p:nvPr/>
        </p:nvSpPr>
        <p:spPr>
          <a:xfrm>
            <a:off x="777240" y="54041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a:t>
            </a:r>
            <a:endParaRPr lang="en-US" sz="950" dirty="0"/>
          </a:p>
        </p:txBody>
      </p:sp>
      <p:sp>
        <p:nvSpPr>
          <p:cNvPr id="12" name="lt10"/>
          <p:cNvSpPr/>
          <p:nvPr/>
        </p:nvSpPr>
        <p:spPr>
          <a:xfrm>
            <a:off x="3675888" y="5257800"/>
            <a:ext cx="13716" cy="128016"/>
          </a:xfrm>
          <a:prstGeom prst="rect">
            <a:avLst/>
          </a:prstGeom>
          <a:solidFill>
            <a:srgbClr val="BDBDBD"/>
          </a:solidFill>
          <a:ln w="12700">
            <a:solidFill>
              <a:srgbClr val="BDBDBD">
                <a:alpha val="0"/>
              </a:srgbClr>
            </a:solidFill>
            <a:prstDash val="solid"/>
          </a:ln>
        </p:spPr>
      </p:sp>
      <p:sp>
        <p:nvSpPr>
          <p:cNvPr id="13" name="Text 9"/>
          <p:cNvSpPr txBox="1"/>
          <p:nvPr/>
        </p:nvSpPr>
        <p:spPr>
          <a:xfrm>
            <a:off x="3264408" y="54041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a:t>
            </a:r>
            <a:endParaRPr lang="en-US" sz="950" dirty="0"/>
          </a:p>
        </p:txBody>
      </p:sp>
      <p:sp>
        <p:nvSpPr>
          <p:cNvPr id="14" name="lt100"/>
          <p:cNvSpPr/>
          <p:nvPr/>
        </p:nvSpPr>
        <p:spPr>
          <a:xfrm>
            <a:off x="6163056" y="5257800"/>
            <a:ext cx="13716" cy="128016"/>
          </a:xfrm>
          <a:prstGeom prst="rect">
            <a:avLst/>
          </a:prstGeom>
          <a:solidFill>
            <a:srgbClr val="BDBDBD"/>
          </a:solidFill>
          <a:ln w="12700">
            <a:solidFill>
              <a:srgbClr val="BDBDBD">
                <a:alpha val="0"/>
              </a:srgbClr>
            </a:solidFill>
            <a:prstDash val="solid"/>
          </a:ln>
        </p:spPr>
      </p:sp>
      <p:sp>
        <p:nvSpPr>
          <p:cNvPr id="15" name="Text 11"/>
          <p:cNvSpPr txBox="1"/>
          <p:nvPr/>
        </p:nvSpPr>
        <p:spPr>
          <a:xfrm>
            <a:off x="5751576" y="54041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a:t>
            </a:r>
            <a:endParaRPr lang="en-US" sz="950" dirty="0"/>
          </a:p>
        </p:txBody>
      </p:sp>
      <p:sp>
        <p:nvSpPr>
          <p:cNvPr id="16" name="lt1000"/>
          <p:cNvSpPr/>
          <p:nvPr/>
        </p:nvSpPr>
        <p:spPr>
          <a:xfrm>
            <a:off x="8650224" y="5257800"/>
            <a:ext cx="13716" cy="128016"/>
          </a:xfrm>
          <a:prstGeom prst="rect">
            <a:avLst/>
          </a:prstGeom>
          <a:solidFill>
            <a:srgbClr val="BDBDBD"/>
          </a:solidFill>
          <a:ln w="12700">
            <a:solidFill>
              <a:srgbClr val="BDBDBD">
                <a:alpha val="0"/>
              </a:srgbClr>
            </a:solidFill>
            <a:prstDash val="solid"/>
          </a:ln>
        </p:spPr>
      </p:sp>
      <p:sp>
        <p:nvSpPr>
          <p:cNvPr id="17" name="Text 13"/>
          <p:cNvSpPr txBox="1"/>
          <p:nvPr/>
        </p:nvSpPr>
        <p:spPr>
          <a:xfrm>
            <a:off x="8238744" y="54041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1,000</a:t>
            </a:r>
            <a:endParaRPr lang="en-US" sz="950" dirty="0"/>
          </a:p>
        </p:txBody>
      </p:sp>
      <p:sp>
        <p:nvSpPr>
          <p:cNvPr id="18" name="lt10000"/>
          <p:cNvSpPr/>
          <p:nvPr/>
        </p:nvSpPr>
        <p:spPr>
          <a:xfrm>
            <a:off x="11137392" y="5257800"/>
            <a:ext cx="13716" cy="128016"/>
          </a:xfrm>
          <a:prstGeom prst="rect">
            <a:avLst/>
          </a:prstGeom>
          <a:solidFill>
            <a:srgbClr val="BDBDBD"/>
          </a:solidFill>
          <a:ln w="12700">
            <a:solidFill>
              <a:srgbClr val="BDBDBD">
                <a:alpha val="0"/>
              </a:srgbClr>
            </a:solidFill>
            <a:prstDash val="solid"/>
          </a:ln>
        </p:spPr>
      </p:sp>
      <p:sp>
        <p:nvSpPr>
          <p:cNvPr id="19" name="Text 15"/>
          <p:cNvSpPr txBox="1"/>
          <p:nvPr/>
        </p:nvSpPr>
        <p:spPr>
          <a:xfrm>
            <a:off x="10725912" y="54041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10,000</a:t>
            </a:r>
            <a:endParaRPr lang="en-US" sz="950" dirty="0"/>
          </a:p>
        </p:txBody>
      </p:sp>
      <p:sp>
        <p:nvSpPr>
          <p:cNvPr id="20" name="lr0"/>
          <p:cNvSpPr/>
          <p:nvPr/>
        </p:nvSpPr>
        <p:spPr>
          <a:xfrm>
            <a:off x="1823626" y="4983480"/>
            <a:ext cx="1103550" cy="91440"/>
          </a:xfrm>
          <a:prstGeom prst="rect">
            <a:avLst/>
          </a:prstGeom>
          <a:solidFill>
            <a:srgbClr val="8C8C8C">
              <a:alpha val="55000"/>
            </a:srgbClr>
          </a:solidFill>
          <a:ln w="12700">
            <a:solidFill>
              <a:srgbClr val="8C8C8C">
                <a:alpha val="0"/>
              </a:srgbClr>
            </a:solidFill>
            <a:prstDash val="solid"/>
          </a:ln>
        </p:spPr>
      </p:sp>
      <p:sp>
        <p:nvSpPr>
          <p:cNvPr id="21" name="Text 17"/>
          <p:cNvSpPr txBox="1"/>
          <p:nvPr/>
        </p:nvSpPr>
        <p:spPr>
          <a:xfrm>
            <a:off x="3018616" y="4919472"/>
            <a:ext cx="1188720" cy="219456"/>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Mycelium</a:t>
            </a:r>
            <a:endParaRPr lang="en-US" sz="950" dirty="0"/>
          </a:p>
        </p:txBody>
      </p:sp>
      <p:sp>
        <p:nvSpPr>
          <p:cNvPr id="22" name="lr1"/>
          <p:cNvSpPr/>
          <p:nvPr/>
        </p:nvSpPr>
        <p:spPr>
          <a:xfrm>
            <a:off x="6163056" y="4745736"/>
            <a:ext cx="1186681" cy="91440"/>
          </a:xfrm>
          <a:prstGeom prst="rect">
            <a:avLst/>
          </a:prstGeom>
          <a:solidFill>
            <a:srgbClr val="8C8C8C">
              <a:alpha val="55000"/>
            </a:srgbClr>
          </a:solidFill>
          <a:ln w="12700">
            <a:solidFill>
              <a:srgbClr val="8C8C8C">
                <a:alpha val="0"/>
              </a:srgbClr>
            </a:solidFill>
            <a:prstDash val="solid"/>
          </a:ln>
        </p:spPr>
      </p:sp>
      <p:sp>
        <p:nvSpPr>
          <p:cNvPr id="23" name="Text 19"/>
          <p:cNvSpPr txBox="1"/>
          <p:nvPr/>
        </p:nvSpPr>
        <p:spPr>
          <a:xfrm>
            <a:off x="7441177" y="4681728"/>
            <a:ext cx="1188720" cy="219456"/>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LDPE</a:t>
            </a:r>
            <a:endParaRPr lang="en-US" sz="950" dirty="0"/>
          </a:p>
        </p:txBody>
      </p:sp>
      <p:sp>
        <p:nvSpPr>
          <p:cNvPr id="24" name="lp0"/>
          <p:cNvSpPr/>
          <p:nvPr/>
        </p:nvSpPr>
        <p:spPr>
          <a:xfrm>
            <a:off x="6345119" y="5207508"/>
            <a:ext cx="100584" cy="100584"/>
          </a:xfrm>
          <a:prstGeom prst="ellipse">
            <a:avLst/>
          </a:prstGeom>
          <a:solidFill>
            <a:srgbClr val="8C8C8C"/>
          </a:solidFill>
          <a:ln w="12700">
            <a:solidFill>
              <a:srgbClr val="8C8C8C">
                <a:alpha val="0"/>
              </a:srgbClr>
            </a:solidFill>
            <a:prstDash val="solid"/>
          </a:ln>
        </p:spPr>
      </p:sp>
      <p:sp>
        <p:nvSpPr>
          <p:cNvPr id="25" name="lp1"/>
          <p:cNvSpPr/>
          <p:nvPr/>
        </p:nvSpPr>
        <p:spPr>
          <a:xfrm>
            <a:off x="6850620" y="5207508"/>
            <a:ext cx="100584" cy="100584"/>
          </a:xfrm>
          <a:prstGeom prst="ellipse">
            <a:avLst/>
          </a:prstGeom>
          <a:solidFill>
            <a:srgbClr val="8C8C8C"/>
          </a:solidFill>
          <a:ln w="12700">
            <a:solidFill>
              <a:srgbClr val="8C8C8C">
                <a:alpha val="0"/>
              </a:srgbClr>
            </a:solidFill>
            <a:prstDash val="solid"/>
          </a:ln>
        </p:spPr>
      </p:sp>
      <p:sp>
        <p:nvSpPr>
          <p:cNvPr id="26" name="lp2"/>
          <p:cNvSpPr/>
          <p:nvPr/>
        </p:nvSpPr>
        <p:spPr>
          <a:xfrm>
            <a:off x="11190051" y="5207508"/>
            <a:ext cx="100584" cy="100584"/>
          </a:xfrm>
          <a:prstGeom prst="ellipse">
            <a:avLst/>
          </a:prstGeom>
          <a:solidFill>
            <a:srgbClr val="8C8C8C"/>
          </a:solidFill>
          <a:ln w="12700">
            <a:solidFill>
              <a:srgbClr val="8C8C8C">
                <a:alpha val="0"/>
              </a:srgbClr>
            </a:solidFill>
            <a:prstDash val="solid"/>
          </a:ln>
        </p:spPr>
      </p:sp>
      <p:sp>
        <p:nvSpPr>
          <p:cNvPr id="27" name="Text 23"/>
          <p:cNvSpPr txBox="1"/>
          <p:nvPr/>
        </p:nvSpPr>
        <p:spPr>
          <a:xfrm>
            <a:off x="9640143" y="4946904"/>
            <a:ext cx="1463040" cy="219456"/>
          </a:xfrm>
          <a:prstGeom prst="rect">
            <a:avLst/>
          </a:prstGeom>
          <a:noFill/>
          <a:ln/>
        </p:spPr>
        <p:txBody>
          <a:bodyPr wrap="square" lIns="0" tIns="0" rIns="0" bIns="0" rtlCol="0" anchor="ctr"/>
          <a:lstStyle/>
          <a:p>
            <a:pPr algn="r" indent="0" marL="0">
              <a:buNone/>
            </a:pPr>
            <a:r>
              <a:rPr lang="en-US" sz="950" dirty="0">
                <a:solidFill>
                  <a:srgbClr val="8C8C8C"/>
                </a:solidFill>
                <a:latin typeface="Calibri" pitchFamily="34" charset="0"/>
                <a:ea typeface="Calibri" pitchFamily="34" charset="-122"/>
                <a:cs typeface="Calibri" pitchFamily="34" charset="-120"/>
              </a:rPr>
              <a:t>Pine</a:t>
            </a:r>
            <a:endParaRPr lang="en-US" sz="950" dirty="0"/>
          </a:p>
        </p:txBody>
      </p:sp>
      <p:sp>
        <p:nvSpPr>
          <p:cNvPr id="28" name="lme"/>
          <p:cNvSpPr/>
          <p:nvPr/>
        </p:nvSpPr>
        <p:spPr>
          <a:xfrm>
            <a:off x="6785378" y="5175504"/>
            <a:ext cx="164592" cy="164592"/>
          </a:xfrm>
          <a:prstGeom prst="ellipse">
            <a:avLst/>
          </a:prstGeom>
          <a:solidFill>
            <a:srgbClr val="B4513A"/>
          </a:solidFill>
          <a:ln w="12700">
            <a:solidFill>
              <a:srgbClr val="B4513A">
                <a:alpha val="0"/>
              </a:srgbClr>
            </a:solidFill>
            <a:prstDash val="solid"/>
          </a:ln>
        </p:spPr>
      </p:sp>
      <p:sp>
        <p:nvSpPr>
          <p:cNvPr id="29" name="lml"/>
          <p:cNvSpPr/>
          <p:nvPr/>
        </p:nvSpPr>
        <p:spPr>
          <a:xfrm>
            <a:off x="6860359" y="4690872"/>
            <a:ext cx="14630" cy="484632"/>
          </a:xfrm>
          <a:prstGeom prst="rect">
            <a:avLst/>
          </a:prstGeom>
          <a:solidFill>
            <a:srgbClr val="B4513A"/>
          </a:solidFill>
          <a:ln w="12700">
            <a:solidFill>
              <a:srgbClr val="B4513A">
                <a:alpha val="0"/>
              </a:srgbClr>
            </a:solidFill>
            <a:prstDash val="solid"/>
          </a:ln>
        </p:spPr>
      </p:sp>
      <p:sp>
        <p:nvSpPr>
          <p:cNvPr id="30" name="Text 26"/>
          <p:cNvSpPr txBox="1"/>
          <p:nvPr/>
        </p:nvSpPr>
        <p:spPr>
          <a:xfrm>
            <a:off x="5953274" y="4453128"/>
            <a:ext cx="1828800" cy="237744"/>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This study  192</a:t>
            </a:r>
            <a:endParaRPr lang="en-US" sz="1100" dirty="0"/>
          </a:p>
        </p:txBody>
      </p:sp>
      <p:sp>
        <p:nvSpPr>
          <p:cNvPr id="31" name="Text 27"/>
          <p:cNvSpPr txBox="1"/>
          <p:nvPr/>
        </p:nvSpPr>
        <p:spPr>
          <a:xfrm>
            <a:off x="731520" y="5897880"/>
            <a:ext cx="10698480" cy="4572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Water-cast and ambient-dried, the composite attains the stiffness range of melt-processed bio-polymers.</a:t>
            </a:r>
            <a:endParaRPr lang="en-US" sz="1200" dirty="0"/>
          </a:p>
        </p:txBody>
      </p:sp>
      <p:sp>
        <p:nvSpPr>
          <p:cNvPr id="32" name="Text 28"/>
          <p:cNvSpPr txBox="1"/>
          <p:nvPr/>
        </p:nvSpPr>
        <p:spPr>
          <a:xfrm>
            <a:off x="731520" y="64008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Unlabelled points: soy-based bioplastic 124 MPa, flax-fibre PLA 198 MPa.  ·  An order of magnitude above the fungal and lime-binder family in compression; wood remains two orders of magnitude above in modulus. Values are reported as published; specimen geometry and test method differ between sources.</a:t>
            </a:r>
            <a:endParaRPr lang="en-US" sz="900" dirty="0"/>
          </a:p>
        </p:txBody>
      </p:sp>
      <p:sp>
        <p:nvSpPr>
          <p:cNvPr id="3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Modulus of resilience</a:t>
            </a:r>
            <a:endParaRPr lang="en-US" sz="2000" dirty="0"/>
          </a:p>
        </p:txBody>
      </p:sp>
      <p:sp>
        <p:nvSpPr>
          <p:cNvPr id="3" name="Text 1"/>
          <p:cNvSpPr txBox="1"/>
          <p:nvPr/>
        </p:nvSpPr>
        <p:spPr>
          <a:xfrm>
            <a:off x="822960" y="1298448"/>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Elastic energy absorbed per unit volume</a:t>
            </a:r>
            <a:endParaRPr lang="en-US" sz="1300" dirty="0"/>
          </a:p>
        </p:txBody>
      </p:sp>
      <p:sp>
        <p:nvSpPr>
          <p:cNvPr id="4" name="vx"/>
          <p:cNvSpPr/>
          <p:nvPr/>
        </p:nvSpPr>
        <p:spPr>
          <a:xfrm>
            <a:off x="822960" y="1920240"/>
            <a:ext cx="18288" cy="2743200"/>
          </a:xfrm>
          <a:prstGeom prst="rect">
            <a:avLst/>
          </a:prstGeom>
          <a:solidFill>
            <a:srgbClr val="5A5A5A"/>
          </a:solidFill>
          <a:ln w="12700">
            <a:solidFill>
              <a:srgbClr val="5A5A5A">
                <a:alpha val="0"/>
              </a:srgbClr>
            </a:solidFill>
            <a:prstDash val="solid"/>
          </a:ln>
        </p:spPr>
      </p:sp>
      <p:sp>
        <p:nvSpPr>
          <p:cNvPr id="5" name="hx"/>
          <p:cNvSpPr/>
          <p:nvPr/>
        </p:nvSpPr>
        <p:spPr>
          <a:xfrm>
            <a:off x="822960" y="4663440"/>
            <a:ext cx="4206240" cy="18288"/>
          </a:xfrm>
          <a:prstGeom prst="rect">
            <a:avLst/>
          </a:prstGeom>
          <a:solidFill>
            <a:srgbClr val="5A5A5A"/>
          </a:solidFill>
          <a:ln w="12700">
            <a:solidFill>
              <a:srgbClr val="5A5A5A">
                <a:alpha val="0"/>
              </a:srgbClr>
            </a:solidFill>
            <a:prstDash val="solid"/>
          </a:ln>
        </p:spPr>
      </p:sp>
      <p:sp>
        <p:nvSpPr>
          <p:cNvPr id="6" name="area"/>
          <p:cNvSpPr/>
          <p:nvPr/>
        </p:nvSpPr>
        <p:spPr>
          <a:xfrm flipH="1">
            <a:off x="841248" y="2697480"/>
            <a:ext cx="2560320" cy="1965960"/>
          </a:xfrm>
          <a:prstGeom prst="rtTriangle">
            <a:avLst/>
          </a:prstGeom>
          <a:solidFill>
            <a:srgbClr val="B4513A">
              <a:alpha val="72000"/>
            </a:srgbClr>
          </a:solidFill>
          <a:ln w="25400">
            <a:solidFill>
              <a:srgbClr val="B4513A"/>
            </a:solidFill>
            <a:prstDash val="solid"/>
          </a:ln>
        </p:spPr>
      </p:sp>
      <p:sp>
        <p:nvSpPr>
          <p:cNvPr id="7" name="Text 5"/>
          <p:cNvSpPr txBox="1"/>
          <p:nvPr/>
        </p:nvSpPr>
        <p:spPr>
          <a:xfrm>
            <a:off x="45720" y="2468880"/>
            <a:ext cx="731520" cy="274320"/>
          </a:xfrm>
          <a:prstGeom prst="rect">
            <a:avLst/>
          </a:prstGeom>
          <a:noFill/>
          <a:ln/>
        </p:spPr>
        <p:txBody>
          <a:bodyPr wrap="square" lIns="0" tIns="0" rIns="0" bIns="0" rtlCol="0" anchor="ctr"/>
          <a:lstStyle/>
          <a:p>
            <a:pPr algn="r" indent="0" marL="0">
              <a:buNone/>
            </a:pPr>
            <a:r>
              <a:rPr lang="en-US" sz="1100" dirty="0">
                <a:solidFill>
                  <a:srgbClr val="9E9E9E"/>
                </a:solidFill>
                <a:latin typeface="Calibri" pitchFamily="34" charset="0"/>
                <a:ea typeface="Calibri" pitchFamily="34" charset="-122"/>
                <a:cs typeface="Calibri" pitchFamily="34" charset="-120"/>
              </a:rPr>
              <a:t>stress</a:t>
            </a:r>
            <a:endParaRPr lang="en-US" sz="1100" dirty="0"/>
          </a:p>
        </p:txBody>
      </p:sp>
      <p:sp>
        <p:nvSpPr>
          <p:cNvPr id="8" name="Text 6"/>
          <p:cNvSpPr txBox="1"/>
          <p:nvPr/>
        </p:nvSpPr>
        <p:spPr>
          <a:xfrm>
            <a:off x="3154680" y="4754880"/>
            <a:ext cx="731520" cy="274320"/>
          </a:xfrm>
          <a:prstGeom prst="rect">
            <a:avLst/>
          </a:prstGeom>
          <a:noFill/>
          <a:ln/>
        </p:spPr>
        <p:txBody>
          <a:bodyPr wrap="square" lIns="0" tIns="0" rIns="0" bIns="0" rtlCol="0" anchor="ctr"/>
          <a:lstStyle/>
          <a:p>
            <a:pPr indent="0" marL="0">
              <a:buNone/>
            </a:pPr>
            <a:r>
              <a:rPr lang="en-US" sz="1100" dirty="0">
                <a:solidFill>
                  <a:srgbClr val="9E9E9E"/>
                </a:solidFill>
                <a:latin typeface="Calibri" pitchFamily="34" charset="0"/>
                <a:ea typeface="Calibri" pitchFamily="34" charset="-122"/>
                <a:cs typeface="Calibri" pitchFamily="34" charset="-120"/>
              </a:rPr>
              <a:t>strain</a:t>
            </a:r>
            <a:endParaRPr lang="en-US" sz="1100" dirty="0"/>
          </a:p>
        </p:txBody>
      </p:sp>
      <p:sp>
        <p:nvSpPr>
          <p:cNvPr id="9" name="Text 7"/>
          <p:cNvSpPr txBox="1"/>
          <p:nvPr/>
        </p:nvSpPr>
        <p:spPr>
          <a:xfrm>
            <a:off x="2057400" y="3886200"/>
            <a:ext cx="640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Ur</a:t>
            </a:r>
            <a:endParaRPr lang="en-US" sz="1300" dirty="0"/>
          </a:p>
        </p:txBody>
      </p:sp>
      <p:sp>
        <p:nvSpPr>
          <p:cNvPr id="10" name="Text 8"/>
          <p:cNvSpPr txBox="1"/>
          <p:nvPr/>
        </p:nvSpPr>
        <p:spPr>
          <a:xfrm>
            <a:off x="822960" y="512064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The shaded area is the energy absorbed per unit volume before permanent damage: ½ σ ε, and with ε = σ / E it reduces to the expression at right.</a:t>
            </a:r>
            <a:endParaRPr lang="en-US" sz="900" dirty="0"/>
          </a:p>
        </p:txBody>
      </p:sp>
      <p:sp>
        <p:nvSpPr>
          <p:cNvPr id="11" name="vr6.31.42"/>
          <p:cNvSpPr/>
          <p:nvPr/>
        </p:nvSpPr>
        <p:spPr>
          <a:xfrm>
            <a:off x="5760720" y="1298448"/>
            <a:ext cx="13716" cy="4572000"/>
          </a:xfrm>
          <a:prstGeom prst="rect">
            <a:avLst/>
          </a:prstGeom>
          <a:solidFill>
            <a:srgbClr val="5A5A5A"/>
          </a:solidFill>
          <a:ln w="12700">
            <a:solidFill>
              <a:srgbClr val="5A5A5A">
                <a:alpha val="0"/>
              </a:srgbClr>
            </a:solidFill>
            <a:prstDash val="solid"/>
          </a:ln>
        </p:spPr>
      </p:sp>
      <p:sp>
        <p:nvSpPr>
          <p:cNvPr id="12" name="Text 10"/>
          <p:cNvSpPr txBox="1"/>
          <p:nvPr/>
        </p:nvSpPr>
        <p:spPr>
          <a:xfrm>
            <a:off x="6217920" y="1783080"/>
            <a:ext cx="29260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Ur  =  σ² / 2E</a:t>
            </a:r>
            <a:endParaRPr lang="en-US" sz="2200" dirty="0"/>
          </a:p>
        </p:txBody>
      </p:sp>
      <p:sp>
        <p:nvSpPr>
          <p:cNvPr id="13" name="Text 11"/>
          <p:cNvSpPr txBox="1"/>
          <p:nvPr/>
        </p:nvSpPr>
        <p:spPr>
          <a:xfrm>
            <a:off x="6217920" y="2377440"/>
            <a:ext cx="2926080" cy="502920"/>
          </a:xfrm>
          <a:prstGeom prst="rect">
            <a:avLst/>
          </a:prstGeom>
          <a:noFill/>
          <a:ln/>
        </p:spPr>
        <p:txBody>
          <a:bodyPr wrap="square" lIns="0" tIns="0" rIns="0" bIns="0" rtlCol="0" anchor="ctr"/>
          <a:lstStyle/>
          <a:p>
            <a:pPr indent="0" marL="0">
              <a:buNone/>
            </a:pPr>
            <a:r>
              <a:rPr lang="en-US" sz="2600" b="1" dirty="0">
                <a:solidFill>
                  <a:srgbClr val="B4513A"/>
                </a:solidFill>
                <a:latin typeface="Calibri" pitchFamily="34" charset="0"/>
                <a:ea typeface="Calibri" pitchFamily="34" charset="-122"/>
                <a:cs typeface="Calibri" pitchFamily="34" charset="-120"/>
              </a:rPr>
              <a:t>14.1 kJ/m³</a:t>
            </a:r>
            <a:endParaRPr lang="en-US" sz="2600" dirty="0"/>
          </a:p>
        </p:txBody>
      </p:sp>
      <p:sp>
        <p:nvSpPr>
          <p:cNvPr id="14" name="Text 12"/>
          <p:cNvSpPr txBox="1"/>
          <p:nvPr/>
        </p:nvSpPr>
        <p:spPr>
          <a:xfrm>
            <a:off x="6217920" y="2926080"/>
            <a:ext cx="29260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computed from this study's own σꜰ = 2.325 MPa and Eꜰ = 192 MPa</a:t>
            </a:r>
            <a:endParaRPr lang="en-US" sz="900" dirty="0"/>
          </a:p>
        </p:txBody>
      </p:sp>
      <p:sp>
        <p:nvSpPr>
          <p:cNvPr id="15" name="Text 13"/>
          <p:cNvSpPr txBox="1"/>
          <p:nvPr/>
        </p:nvSpPr>
        <p:spPr>
          <a:xfrm>
            <a:off x="6217920" y="3520440"/>
            <a:ext cx="2926080" cy="640080"/>
          </a:xfrm>
          <a:prstGeom prst="rect">
            <a:avLst/>
          </a:prstGeom>
          <a:noFill/>
          <a:ln/>
        </p:spPr>
        <p:txBody>
          <a:bodyPr wrap="square" lIns="0" tIns="0" rIns="0" bIns="0" rtlCol="0" anchor="t"/>
          <a:lstStyle/>
          <a:p>
            <a:pPr indent="0" marL="0">
              <a:lnSpc>
                <a:spcPts val="1800"/>
              </a:lnSpc>
              <a:buNone/>
            </a:pPr>
            <a:r>
              <a:rPr lang="en-US" sz="1200" b="1" dirty="0">
                <a:solidFill>
                  <a:srgbClr val="FFFFFF"/>
                </a:solidFill>
                <a:latin typeface="Calibri" pitchFamily="34" charset="0"/>
                <a:ea typeface="Calibri" pitchFamily="34" charset="-122"/>
                <a:cs typeface="Calibri" pitchFamily="34" charset="-120"/>
              </a:rPr>
              <a:t>Elastic modulus appears in the denominator.</a:t>
            </a:r>
            <a:endParaRPr lang="en-US" sz="1200" dirty="0"/>
          </a:p>
        </p:txBody>
      </p:sp>
      <p:sp>
        <p:nvSpPr>
          <p:cNvPr id="16" name="Text 14"/>
          <p:cNvSpPr txBox="1"/>
          <p:nvPr/>
        </p:nvSpPr>
        <p:spPr>
          <a:xfrm>
            <a:off x="6217920" y="4206240"/>
            <a:ext cx="2926080" cy="146304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low modulus that counted against the material on the preceding slide is the same property that raises this quantity. Strength records the load at which performance ceases; it does not record whether failure is graceful or catastrophic.</a:t>
            </a:r>
            <a:endParaRPr lang="en-US" sz="1200" dirty="0"/>
          </a:p>
        </p:txBody>
      </p:sp>
      <p:sp>
        <p:nvSpPr>
          <p:cNvPr id="17" name="Text 15"/>
          <p:cNvSpPr txBox="1"/>
          <p:nvPr/>
        </p:nvSpPr>
        <p:spPr>
          <a:xfrm>
            <a:off x="9509760" y="1298448"/>
            <a:ext cx="19202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Limitation</a:t>
            </a:r>
            <a:endParaRPr lang="en-US" sz="1300" dirty="0"/>
          </a:p>
        </p:txBody>
      </p:sp>
      <p:sp>
        <p:nvSpPr>
          <p:cNvPr id="18" name="Text 16"/>
          <p:cNvSpPr txBox="1"/>
          <p:nvPr/>
        </p:nvSpPr>
        <p:spPr>
          <a:xfrm>
            <a:off x="9509760" y="1691640"/>
            <a:ext cx="1920240" cy="3108960"/>
          </a:xfrm>
          <a:prstGeom prst="rect">
            <a:avLst/>
          </a:prstGeom>
          <a:noFill/>
          <a:ln/>
        </p:spPr>
        <p:txBody>
          <a:bodyPr wrap="square" lIns="0" tIns="0" rIns="0" bIns="0" rtlCol="0" anchor="t"/>
          <a:lstStyle/>
          <a:p>
            <a:pPr indent="0" marL="0">
              <a:lnSpc>
                <a:spcPts val="1750"/>
              </a:lnSpc>
              <a:buNone/>
            </a:pPr>
            <a:r>
              <a:rPr lang="en-US" sz="1150" dirty="0">
                <a:solidFill>
                  <a:srgbClr val="FFFFFF"/>
                </a:solidFill>
                <a:latin typeface="Calibri" pitchFamily="34" charset="0"/>
                <a:ea typeface="Calibri" pitchFamily="34" charset="-122"/>
                <a:cs typeface="Calibri" pitchFamily="34" charset="-120"/>
              </a:rPr>
              <a:t>A comparative table cannot yet be assembled: the literature reports strength and modulus in separate studies on separate formulations.</a:t>
            </a:r>
            <a:endParaRPr lang="en-US" sz="1150" dirty="0"/>
          </a:p>
          <a:p>
            <a:pPr indent="0" marL="0">
              <a:lnSpc>
                <a:spcPts val="1750"/>
              </a:lnSpc>
              <a:buNone/>
            </a:pPr>
            <a:endParaRPr lang="en-US" sz="1150" dirty="0"/>
          </a:p>
          <a:p>
            <a:pPr indent="0" marL="0">
              <a:lnSpc>
                <a:spcPts val="1750"/>
              </a:lnSpc>
              <a:buNone/>
            </a:pPr>
            <a:r>
              <a:rPr lang="en-US" sz="1150" dirty="0">
                <a:solidFill>
                  <a:srgbClr val="FFFFFF"/>
                </a:solidFill>
                <a:latin typeface="Calibri" pitchFamily="34" charset="0"/>
                <a:ea typeface="Calibri" pitchFamily="34" charset="-122"/>
                <a:cs typeface="Calibri" pitchFamily="34" charset="-120"/>
              </a:rPr>
              <a:t>This is a data point and a proposed reporting convention, not a ranking, and the value inherits the lower-bound modulus.</a:t>
            </a:r>
            <a:endParaRPr lang="en-US" sz="1150" dirty="0"/>
          </a:p>
        </p:txBody>
      </p:sp>
      <p:sp>
        <p:nvSpPr>
          <p:cNvPr id="19" name="Text 17"/>
          <p:cNvSpPr txBox="1"/>
          <p:nvPr/>
        </p:nvSpPr>
        <p:spPr>
          <a:xfrm>
            <a:off x="822960" y="6263640"/>
            <a:ext cx="101498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Resilience as a property of systems that absorb disturbance and retain function, after Holling (1973).</a:t>
            </a:r>
            <a:endParaRPr lang="en-US" sz="90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Application envelope</a:t>
            </a:r>
            <a:endParaRPr lang="en-US" sz="2000" dirty="0"/>
          </a:p>
        </p:txBody>
      </p:sp>
      <p:sp>
        <p:nvSpPr>
          <p:cNvPr id="3" name="Text 1"/>
          <p:cNvSpPr txBox="1"/>
          <p:nvPr/>
        </p:nvSpPr>
        <p:spPr>
          <a:xfrm>
            <a:off x="731520" y="1298448"/>
            <a:ext cx="40233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proposal derived from the measurements</a:t>
            </a:r>
            <a:endParaRPr lang="en-US" sz="1300" dirty="0"/>
          </a:p>
        </p:txBody>
      </p:sp>
      <p:pic>
        <p:nvPicPr>
          <p:cNvPr id="4" name="ren" descr="/home/user/sanat-ve-mekan/konferans-bildirisi/03-gorseller/12-ic-mekan-render.jpeg">    </p:cNvPr>
          <p:cNvPicPr>
            <a:picLocks noChangeAspect="1"/>
          </p:cNvPicPr>
          <p:nvPr/>
        </p:nvPicPr>
        <p:blipFill>
          <a:blip r:embed="rId1"/>
          <a:stretch>
            <a:fillRect/>
          </a:stretch>
        </p:blipFill>
        <p:spPr>
          <a:xfrm>
            <a:off x="731520" y="1664208"/>
            <a:ext cx="4206240" cy="3447288"/>
          </a:xfrm>
          <a:prstGeom prst="rect">
            <a:avLst/>
          </a:prstGeom>
        </p:spPr>
      </p:pic>
      <p:sp>
        <p:nvSpPr>
          <p:cNvPr id="5" name="Text 2"/>
          <p:cNvSpPr txBox="1"/>
          <p:nvPr/>
        </p:nvSpPr>
        <p:spPr>
          <a:xfrm>
            <a:off x="731520" y="5230368"/>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Demountable modules on a reversible fixing, replaceable one unit at a time.</a:t>
            </a:r>
            <a:endParaRPr lang="en-US" sz="900" dirty="0"/>
          </a:p>
        </p:txBody>
      </p:sp>
      <p:sp>
        <p:nvSpPr>
          <p:cNvPr id="6" name="vr5.61.42"/>
          <p:cNvSpPr/>
          <p:nvPr/>
        </p:nvSpPr>
        <p:spPr>
          <a:xfrm>
            <a:off x="5120640" y="1298448"/>
            <a:ext cx="13716" cy="3657600"/>
          </a:xfrm>
          <a:prstGeom prst="rect">
            <a:avLst/>
          </a:prstGeom>
          <a:solidFill>
            <a:srgbClr val="E4E4E4"/>
          </a:solidFill>
          <a:ln w="12700">
            <a:solidFill>
              <a:srgbClr val="E4E4E4">
                <a:alpha val="0"/>
              </a:srgbClr>
            </a:solidFill>
            <a:prstDash val="solid"/>
          </a:ln>
        </p:spPr>
      </p:sp>
      <p:sp>
        <p:nvSpPr>
          <p:cNvPr id="7" name="Text 4"/>
          <p:cNvSpPr txBox="1"/>
          <p:nvPr/>
        </p:nvSpPr>
        <p:spPr>
          <a:xfrm>
            <a:off x="5577840" y="1298448"/>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Conditions of use, each traced to a measured result</a:t>
            </a:r>
            <a:endParaRPr lang="en-US" sz="1300" dirty="0"/>
          </a:p>
        </p:txBody>
      </p:sp>
      <p:sp>
        <p:nvSpPr>
          <p:cNvPr id="8" name="Text 5"/>
          <p:cNvSpPr txBox="1"/>
          <p:nvPr/>
        </p:nvSpPr>
        <p:spPr>
          <a:xfrm>
            <a:off x="5577840" y="1737360"/>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Non-loadbearing surfaces</a:t>
            </a:r>
            <a:endParaRPr lang="en-US" sz="1300" dirty="0"/>
          </a:p>
        </p:txBody>
      </p:sp>
      <p:sp>
        <p:nvSpPr>
          <p:cNvPr id="9" name="Text 6"/>
          <p:cNvSpPr txBox="1"/>
          <p:nvPr/>
        </p:nvSpPr>
        <p:spPr>
          <a:xfrm>
            <a:off x="5577840" y="2039112"/>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self-weight and handling loads only; σᴄ = 4.1 MPa</a:t>
            </a:r>
            <a:endParaRPr lang="en-US" sz="1150" dirty="0"/>
          </a:p>
        </p:txBody>
      </p:sp>
      <p:sp>
        <p:nvSpPr>
          <p:cNvPr id="10" name="ru6.12.62"/>
          <p:cNvSpPr/>
          <p:nvPr/>
        </p:nvSpPr>
        <p:spPr>
          <a:xfrm>
            <a:off x="5577840" y="2395728"/>
            <a:ext cx="5852160" cy="9144"/>
          </a:xfrm>
          <a:prstGeom prst="rect">
            <a:avLst/>
          </a:prstGeom>
          <a:solidFill>
            <a:srgbClr val="E4E4E4"/>
          </a:solidFill>
          <a:ln w="12700">
            <a:solidFill>
              <a:srgbClr val="E4E4E4">
                <a:alpha val="0"/>
              </a:srgbClr>
            </a:solidFill>
            <a:prstDash val="solid"/>
          </a:ln>
        </p:spPr>
      </p:sp>
      <p:sp>
        <p:nvSpPr>
          <p:cNvPr id="11" name="Text 8"/>
          <p:cNvSpPr txBox="1"/>
          <p:nvPr/>
        </p:nvSpPr>
        <p:spPr>
          <a:xfrm>
            <a:off x="5577840" y="2542032"/>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Dry interiors</a:t>
            </a:r>
            <a:endParaRPr lang="en-US" sz="1300" dirty="0"/>
          </a:p>
        </p:txBody>
      </p:sp>
      <p:sp>
        <p:nvSpPr>
          <p:cNvPr id="12" name="Text 9"/>
          <p:cNvSpPr txBox="1"/>
          <p:nvPr/>
        </p:nvSpPr>
        <p:spPr>
          <a:xfrm>
            <a:off x="5577840" y="2843784"/>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not wet rooms, not façades; absorption depends on coating integrity</a:t>
            </a:r>
            <a:endParaRPr lang="en-US" sz="1150" dirty="0"/>
          </a:p>
        </p:txBody>
      </p:sp>
      <p:sp>
        <p:nvSpPr>
          <p:cNvPr id="13" name="ru6.13.5"/>
          <p:cNvSpPr/>
          <p:nvPr/>
        </p:nvSpPr>
        <p:spPr>
          <a:xfrm>
            <a:off x="5577840" y="3200400"/>
            <a:ext cx="5852160" cy="9144"/>
          </a:xfrm>
          <a:prstGeom prst="rect">
            <a:avLst/>
          </a:prstGeom>
          <a:solidFill>
            <a:srgbClr val="E4E4E4"/>
          </a:solidFill>
          <a:ln w="12700">
            <a:solidFill>
              <a:srgbClr val="E4E4E4">
                <a:alpha val="0"/>
              </a:srgbClr>
            </a:solidFill>
            <a:prstDash val="solid"/>
          </a:ln>
        </p:spPr>
      </p:sp>
      <p:sp>
        <p:nvSpPr>
          <p:cNvPr id="14" name="Text 11"/>
          <p:cNvSpPr txBox="1"/>
          <p:nvPr/>
        </p:nvSpPr>
        <p:spPr>
          <a:xfrm>
            <a:off x="5577840" y="3346704"/>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Away from ignition sources</a:t>
            </a:r>
            <a:endParaRPr lang="en-US" sz="1300" dirty="0"/>
          </a:p>
        </p:txBody>
      </p:sp>
      <p:sp>
        <p:nvSpPr>
          <p:cNvPr id="15" name="Text 12"/>
          <p:cNvSpPr txBox="1"/>
          <p:nvPr/>
        </p:nvSpPr>
        <p:spPr>
          <a:xfrm>
            <a:off x="5577840" y="3648456"/>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self-extinguishing, but unclassified for reaction to fire</a:t>
            </a:r>
            <a:endParaRPr lang="en-US" sz="1150" dirty="0"/>
          </a:p>
        </p:txBody>
      </p:sp>
      <p:sp>
        <p:nvSpPr>
          <p:cNvPr id="16" name="ru6.14.38"/>
          <p:cNvSpPr/>
          <p:nvPr/>
        </p:nvSpPr>
        <p:spPr>
          <a:xfrm>
            <a:off x="5577840" y="4005072"/>
            <a:ext cx="5852160" cy="9144"/>
          </a:xfrm>
          <a:prstGeom prst="rect">
            <a:avLst/>
          </a:prstGeom>
          <a:solidFill>
            <a:srgbClr val="E4E4E4"/>
          </a:solidFill>
          <a:ln w="12700">
            <a:solidFill>
              <a:srgbClr val="E4E4E4">
                <a:alpha val="0"/>
              </a:srgbClr>
            </a:solidFill>
            <a:prstDash val="solid"/>
          </a:ln>
        </p:spPr>
      </p:sp>
      <p:sp>
        <p:nvSpPr>
          <p:cNvPr id="17" name="Text 14"/>
          <p:cNvSpPr txBox="1"/>
          <p:nvPr/>
        </p:nvSpPr>
        <p:spPr>
          <a:xfrm>
            <a:off x="5577840" y="4151376"/>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rather than sheet</a:t>
            </a:r>
            <a:endParaRPr lang="en-US" sz="1300" dirty="0"/>
          </a:p>
        </p:txBody>
      </p:sp>
      <p:sp>
        <p:nvSpPr>
          <p:cNvPr id="18" name="Text 15"/>
          <p:cNvSpPr txBox="1"/>
          <p:nvPr/>
        </p:nvSpPr>
        <p:spPr>
          <a:xfrm>
            <a:off x="5577840" y="4453128"/>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damage is replaced one unit at a time</a:t>
            </a:r>
            <a:endParaRPr lang="en-US" sz="1150" dirty="0"/>
          </a:p>
        </p:txBody>
      </p:sp>
      <p:sp>
        <p:nvSpPr>
          <p:cNvPr id="19" name="ru6.15.5"/>
          <p:cNvSpPr/>
          <p:nvPr/>
        </p:nvSpPr>
        <p:spPr>
          <a:xfrm>
            <a:off x="5577840" y="5029200"/>
            <a:ext cx="5852160" cy="9144"/>
          </a:xfrm>
          <a:prstGeom prst="rect">
            <a:avLst/>
          </a:prstGeom>
          <a:solidFill>
            <a:srgbClr val="E4E4E4"/>
          </a:solidFill>
          <a:ln w="12700">
            <a:solidFill>
              <a:srgbClr val="E4E4E4">
                <a:alpha val="0"/>
              </a:srgbClr>
            </a:solidFill>
            <a:prstDash val="solid"/>
          </a:ln>
        </p:spPr>
      </p:sp>
      <p:sp>
        <p:nvSpPr>
          <p:cNvPr id="20" name="Text 17"/>
          <p:cNvSpPr txBox="1"/>
          <p:nvPr/>
        </p:nvSpPr>
        <p:spPr>
          <a:xfrm>
            <a:off x="5577840" y="5166360"/>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End-of-life pathway</a:t>
            </a:r>
            <a:endParaRPr lang="en-US" sz="1300" dirty="0"/>
          </a:p>
        </p:txBody>
      </p:sp>
      <p:sp>
        <p:nvSpPr>
          <p:cNvPr id="21" name="Text 18"/>
          <p:cNvSpPr txBox="1"/>
          <p:nvPr/>
        </p:nvSpPr>
        <p:spPr>
          <a:xfrm>
            <a:off x="5577840" y="5532120"/>
            <a:ext cx="585216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Every constituent, the shellac finish included, is biodegradable; reversible fixing allows recovery of the module intact. What is displaced is quarried limestone, in a surface application rather than a downcycled one.</a:t>
            </a:r>
            <a:endParaRPr lang="en-US" sz="1150" dirty="0"/>
          </a:p>
        </p:txBody>
      </p:sp>
      <p:sp>
        <p:nvSpPr>
          <p:cNvPr id="22" name="Text 19"/>
          <p:cNvSpPr txBox="1"/>
          <p:nvPr/>
        </p:nvSpPr>
        <p:spPr>
          <a:xfrm>
            <a:off x="731520" y="580644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No life-cycle assessment was carried out. These are qualitative potentials grounded in the protocol, not quantified claims.</a:t>
            </a:r>
            <a:endParaRPr lang="en-US" sz="900" dirty="0"/>
          </a:p>
        </p:txBody>
      </p:sp>
      <p:sp>
        <p:nvSpPr>
          <p:cNvPr id="2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Limitations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Three classes, each with a defined remedy</a:t>
            </a:r>
            <a:endParaRPr lang="en-US" sz="1300" dirty="0"/>
          </a:p>
        </p:txBody>
      </p:sp>
      <p:sp>
        <p:nvSpPr>
          <p:cNvPr id="4" name="Text 2"/>
          <p:cNvSpPr txBox="1"/>
          <p:nvPr/>
        </p:nvSpPr>
        <p:spPr>
          <a:xfrm>
            <a:off x="731520" y="1783080"/>
            <a:ext cx="3291840" cy="32004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Measurement</a:t>
            </a:r>
            <a:endParaRPr lang="en-US" sz="1300" dirty="0"/>
          </a:p>
        </p:txBody>
      </p:sp>
      <p:sp>
        <p:nvSpPr>
          <p:cNvPr id="5" name="ru0.82.42"/>
          <p:cNvSpPr/>
          <p:nvPr/>
        </p:nvSpPr>
        <p:spPr>
          <a:xfrm>
            <a:off x="731520" y="2212848"/>
            <a:ext cx="3291840" cy="9144"/>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2377440"/>
            <a:ext cx="3291840" cy="274320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No dispersion data — means of three specimens, individual values not retained</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Compressive strain assumed from observation, not instrumented</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Shrinkage unquantified, so bulk density is a lower bound</a:t>
            </a:r>
            <a:endParaRPr lang="en-US" sz="1200" dirty="0"/>
          </a:p>
        </p:txBody>
      </p:sp>
      <p:sp>
        <p:nvSpPr>
          <p:cNvPr id="7" name="Text 5"/>
          <p:cNvSpPr txBox="1"/>
          <p:nvPr/>
        </p:nvSpPr>
        <p:spPr>
          <a:xfrm>
            <a:off x="4389120" y="1783080"/>
            <a:ext cx="3291840" cy="32004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Process</a:t>
            </a:r>
            <a:endParaRPr lang="en-US" sz="1300" dirty="0"/>
          </a:p>
        </p:txBody>
      </p:sp>
      <p:sp>
        <p:nvSpPr>
          <p:cNvPr id="8" name="ru4.82.42"/>
          <p:cNvSpPr/>
          <p:nvPr/>
        </p:nvSpPr>
        <p:spPr>
          <a:xfrm>
            <a:off x="4389120" y="2212848"/>
            <a:ext cx="329184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4389120" y="2377440"/>
            <a:ext cx="3291840" cy="274320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Flexural series confounded — glycerol and solids concentration moved together</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Kerfed section calculated as solid, so flexural modulus is a lower bound</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Manual stirring; a single laboratory and a single operator</a:t>
            </a:r>
            <a:endParaRPr lang="en-US" sz="1200" dirty="0"/>
          </a:p>
        </p:txBody>
      </p:sp>
      <p:sp>
        <p:nvSpPr>
          <p:cNvPr id="10" name="Text 8"/>
          <p:cNvSpPr txBox="1"/>
          <p:nvPr/>
        </p:nvSpPr>
        <p:spPr>
          <a:xfrm>
            <a:off x="8046720" y="1783080"/>
            <a:ext cx="3291840" cy="32004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Untested</a:t>
            </a:r>
            <a:endParaRPr lang="en-US" sz="1300" dirty="0"/>
          </a:p>
        </p:txBody>
      </p:sp>
      <p:sp>
        <p:nvSpPr>
          <p:cNvPr id="11" name="ru8.82.42"/>
          <p:cNvSpPr/>
          <p:nvPr/>
        </p:nvSpPr>
        <p:spPr>
          <a:xfrm>
            <a:off x="8046720" y="2212848"/>
            <a:ext cx="329184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8046720" y="2377440"/>
            <a:ext cx="3291840" cy="274320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Durability — humidity, thermal cycling, UV, microbial attack, ageing</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Reaction-to-fire classification beyond ignitability</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Life-cycle assessment</a:t>
            </a:r>
            <a:endParaRPr lang="en-US" sz="1200" dirty="0"/>
          </a:p>
        </p:txBody>
      </p:sp>
      <p:sp>
        <p:nvSpPr>
          <p:cNvPr id="13" name="ru0.85.85"/>
          <p:cNvSpPr/>
          <p:nvPr/>
        </p:nvSpPr>
        <p:spPr>
          <a:xfrm>
            <a:off x="731520" y="5349240"/>
            <a:ext cx="10698480" cy="9144"/>
          </a:xfrm>
          <a:prstGeom prst="rect">
            <a:avLst/>
          </a:prstGeom>
          <a:solidFill>
            <a:srgbClr val="E4E4E4"/>
          </a:solidFill>
          <a:ln w="12700">
            <a:solidFill>
              <a:srgbClr val="E4E4E4">
                <a:alpha val="0"/>
              </a:srgbClr>
            </a:solidFill>
            <a:prstDash val="solid"/>
          </a:ln>
        </p:spPr>
      </p:sp>
      <p:sp>
        <p:nvSpPr>
          <p:cNvPr id="14" name="Text 12"/>
          <p:cNvSpPr txBox="1"/>
          <p:nvPr/>
        </p:nvSpPr>
        <p:spPr>
          <a:xfrm>
            <a:off x="731520" y="5532120"/>
            <a:ext cx="10698480" cy="4572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Each limitation above corresponds to a defined next experiment, set out on the following slide.</a:t>
            </a:r>
            <a:endParaRPr lang="en-US" sz="1200" dirty="0"/>
          </a:p>
        </p:txBody>
      </p:sp>
      <p:sp>
        <p:nvSpPr>
          <p:cNvPr id="1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Further work</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Four experiments, in order of what each one resolves</a:t>
            </a:r>
            <a:endParaRPr lang="en-US" sz="1300" dirty="0"/>
          </a:p>
        </p:txBody>
      </p:sp>
      <p:sp>
        <p:nvSpPr>
          <p:cNvPr id="4" name="ru0.81.85"/>
          <p:cNvSpPr/>
          <p:nvPr/>
        </p:nvSpPr>
        <p:spPr>
          <a:xfrm>
            <a:off x="731520" y="1691640"/>
            <a:ext cx="10698480" cy="9144"/>
          </a:xfrm>
          <a:prstGeom prst="rect">
            <a:avLst/>
          </a:prstGeom>
          <a:solidFill>
            <a:srgbClr val="E4E4E4"/>
          </a:solidFill>
          <a:ln w="12700">
            <a:solidFill>
              <a:srgbClr val="E4E4E4">
                <a:alpha val="0"/>
              </a:srgbClr>
            </a:solidFill>
            <a:prstDash val="solid"/>
          </a:ln>
        </p:spPr>
      </p:sp>
      <p:sp>
        <p:nvSpPr>
          <p:cNvPr id="5" name="Text 3"/>
          <p:cNvSpPr txBox="1"/>
          <p:nvPr/>
        </p:nvSpPr>
        <p:spPr>
          <a:xfrm>
            <a:off x="731520" y="196596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92024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Repeat with dispersion reported</a:t>
            </a:r>
            <a:endParaRPr lang="en-US" sz="1300" dirty="0"/>
          </a:p>
        </p:txBody>
      </p:sp>
      <p:sp>
        <p:nvSpPr>
          <p:cNvPr id="7" name="Text 5"/>
          <p:cNvSpPr txBox="1"/>
          <p:nvPr/>
        </p:nvSpPr>
        <p:spPr>
          <a:xfrm>
            <a:off x="5440680" y="193852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Three or more specimens per formulation with individual values retained, so that standard deviations and a coefficient of variation can be reported.</a:t>
            </a:r>
            <a:endParaRPr lang="en-US" sz="1200" dirty="0"/>
          </a:p>
        </p:txBody>
      </p:sp>
      <p:sp>
        <p:nvSpPr>
          <p:cNvPr id="8" name="ru0.83.05"/>
          <p:cNvSpPr/>
          <p:nvPr/>
        </p:nvSpPr>
        <p:spPr>
          <a:xfrm>
            <a:off x="731520" y="2788920"/>
            <a:ext cx="1069848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297180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1417320" y="292608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Record post-drying geometry</a:t>
            </a:r>
            <a:endParaRPr lang="en-US" sz="1300" dirty="0"/>
          </a:p>
        </p:txBody>
      </p:sp>
      <p:sp>
        <p:nvSpPr>
          <p:cNvPr id="11" name="Text 9"/>
          <p:cNvSpPr txBox="1"/>
          <p:nvPr/>
        </p:nvSpPr>
        <p:spPr>
          <a:xfrm>
            <a:off x="5440680" y="294436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Measure and log the dried cross-section, converting every lower bound in this presentation into a true stress and a true density.</a:t>
            </a:r>
            <a:endParaRPr lang="en-US" sz="1200" dirty="0"/>
          </a:p>
        </p:txBody>
      </p:sp>
      <p:sp>
        <p:nvSpPr>
          <p:cNvPr id="12" name="ru0.84.15"/>
          <p:cNvSpPr/>
          <p:nvPr/>
        </p:nvSpPr>
        <p:spPr>
          <a:xfrm>
            <a:off x="731520" y="3794760"/>
            <a:ext cx="10698480" cy="9144"/>
          </a:xfrm>
          <a:prstGeom prst="rect">
            <a:avLst/>
          </a:prstGeom>
          <a:solidFill>
            <a:srgbClr val="E4E4E4"/>
          </a:solidFill>
          <a:ln w="12700">
            <a:solidFill>
              <a:srgbClr val="E4E4E4">
                <a:alpha val="0"/>
              </a:srgbClr>
            </a:solidFill>
            <a:prstDash val="solid"/>
          </a:ln>
        </p:spPr>
      </p:sp>
      <p:sp>
        <p:nvSpPr>
          <p:cNvPr id="13" name="Text 11"/>
          <p:cNvSpPr txBox="1"/>
          <p:nvPr/>
        </p:nvSpPr>
        <p:spPr>
          <a:xfrm>
            <a:off x="731520" y="39776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17320" y="393192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Instrument the strain</a:t>
            </a:r>
            <a:endParaRPr lang="en-US" sz="1300" dirty="0"/>
          </a:p>
        </p:txBody>
      </p:sp>
      <p:sp>
        <p:nvSpPr>
          <p:cNvPr id="15" name="Text 13"/>
          <p:cNvSpPr txBox="1"/>
          <p:nvPr/>
        </p:nvSpPr>
        <p:spPr>
          <a:xfrm>
            <a:off x="5440680" y="395020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Replace the assumed 10% deformation with measured strain, yielding a real stress–strain curve and a defensible modulus of resilience.</a:t>
            </a:r>
            <a:endParaRPr lang="en-US" sz="1200" dirty="0"/>
          </a:p>
        </p:txBody>
      </p:sp>
      <p:sp>
        <p:nvSpPr>
          <p:cNvPr id="16" name="ru0.85.250000000000001"/>
          <p:cNvSpPr/>
          <p:nvPr/>
        </p:nvSpPr>
        <p:spPr>
          <a:xfrm>
            <a:off x="731520" y="4800600"/>
            <a:ext cx="10698480" cy="9144"/>
          </a:xfrm>
          <a:prstGeom prst="rect">
            <a:avLst/>
          </a:prstGeom>
          <a:solidFill>
            <a:srgbClr val="E4E4E4"/>
          </a:solidFill>
          <a:ln w="12700">
            <a:solidFill>
              <a:srgbClr val="E4E4E4">
                <a:alpha val="0"/>
              </a:srgbClr>
            </a:solidFill>
            <a:prstDash val="solid"/>
          </a:ln>
        </p:spPr>
      </p:sp>
      <p:sp>
        <p:nvSpPr>
          <p:cNvPr id="17" name="Text 15"/>
          <p:cNvSpPr txBox="1"/>
          <p:nvPr/>
        </p:nvSpPr>
        <p:spPr>
          <a:xfrm>
            <a:off x="731520" y="498348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8" name="Text 16"/>
          <p:cNvSpPr txBox="1"/>
          <p:nvPr/>
        </p:nvSpPr>
        <p:spPr>
          <a:xfrm>
            <a:off x="1417320" y="493776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Test an un-kerfed section</a:t>
            </a:r>
            <a:endParaRPr lang="en-US" sz="1300" dirty="0"/>
          </a:p>
        </p:txBody>
      </p:sp>
      <p:sp>
        <p:nvSpPr>
          <p:cNvPr id="19" name="Text 17"/>
          <p:cNvSpPr txBox="1"/>
          <p:nvPr/>
        </p:nvSpPr>
        <p:spPr>
          <a:xfrm>
            <a:off x="5440680" y="495604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Separate the geometric contribution from the material contribution, so that the flexural modulus becomes a material constant.</a:t>
            </a:r>
            <a:endParaRPr lang="en-US" sz="1200" dirty="0"/>
          </a:p>
        </p:txBody>
      </p:sp>
      <p:sp>
        <p:nvSpPr>
          <p:cNvPr id="20" name="ru0.86.3"/>
          <p:cNvSpPr/>
          <p:nvPr/>
        </p:nvSpPr>
        <p:spPr>
          <a:xfrm>
            <a:off x="731520" y="5760720"/>
            <a:ext cx="10698480" cy="9144"/>
          </a:xfrm>
          <a:prstGeom prst="rect">
            <a:avLst/>
          </a:prstGeom>
          <a:solidFill>
            <a:srgbClr val="E4E4E4"/>
          </a:solidFill>
          <a:ln w="12700">
            <a:solidFill>
              <a:srgbClr val="E4E4E4">
                <a:alpha val="0"/>
              </a:srgbClr>
            </a:solidFill>
            <a:prstDash val="solid"/>
          </a:ln>
        </p:spPr>
      </p:sp>
      <p:sp>
        <p:nvSpPr>
          <p:cNvPr id="21" name="Text 19"/>
          <p:cNvSpPr txBox="1"/>
          <p:nvPr/>
        </p:nvSpPr>
        <p:spPr>
          <a:xfrm>
            <a:off x="731520" y="5943600"/>
            <a:ext cx="10698480" cy="54864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Beyond these four: humidity and thermal cycling, microbial resistance, a reaction-to-fire classification, and a life-cycle assessment to support the environmental argument quantitatively.</a:t>
            </a:r>
            <a:endParaRPr lang="en-US" sz="1150" dirty="0"/>
          </a:p>
        </p:txBody>
      </p:sp>
      <p:sp>
        <p:nvSpPr>
          <p:cNvPr id="2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Conclusions</a:t>
            </a:r>
            <a:endParaRPr lang="en-US" sz="2000" dirty="0"/>
          </a:p>
        </p:txBody>
      </p:sp>
      <p:sp>
        <p:nvSpPr>
          <p:cNvPr id="3" name="Text 1"/>
          <p:cNvSpPr txBox="1"/>
          <p:nvPr/>
        </p:nvSpPr>
        <p:spPr>
          <a:xfrm>
            <a:off x="731520" y="1728216"/>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4" name="Text 2"/>
          <p:cNvSpPr txBox="1"/>
          <p:nvPr/>
        </p:nvSpPr>
        <p:spPr>
          <a:xfrm>
            <a:off x="1371600" y="1691640"/>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protocol that can be repeated</a:t>
            </a:r>
            <a:endParaRPr lang="en-US" sz="1300" dirty="0"/>
          </a:p>
        </p:txBody>
      </p:sp>
      <p:sp>
        <p:nvSpPr>
          <p:cNvPr id="5" name="Text 3"/>
          <p:cNvSpPr txBox="1"/>
          <p:nvPr/>
        </p:nvSpPr>
        <p:spPr>
          <a:xfrm>
            <a:off x="8229600" y="1709928"/>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every production parameter reported</a:t>
            </a:r>
            <a:endParaRPr lang="en-US" sz="1200" dirty="0"/>
          </a:p>
        </p:txBody>
      </p:sp>
      <p:sp>
        <p:nvSpPr>
          <p:cNvPr id="6" name="ru0.82.47"/>
          <p:cNvSpPr/>
          <p:nvPr/>
        </p:nvSpPr>
        <p:spPr>
          <a:xfrm>
            <a:off x="731520" y="2258568"/>
            <a:ext cx="10698480" cy="9144"/>
          </a:xfrm>
          <a:prstGeom prst="rect">
            <a:avLst/>
          </a:prstGeom>
          <a:solidFill>
            <a:srgbClr val="5A5A5A"/>
          </a:solidFill>
          <a:ln w="12700">
            <a:solidFill>
              <a:srgbClr val="5A5A5A">
                <a:alpha val="0"/>
              </a:srgbClr>
            </a:solidFill>
            <a:prstDash val="solid"/>
          </a:ln>
        </p:spPr>
      </p:sp>
      <p:sp>
        <p:nvSpPr>
          <p:cNvPr id="7" name="Text 5"/>
          <p:cNvSpPr txBox="1"/>
          <p:nvPr/>
        </p:nvSpPr>
        <p:spPr>
          <a:xfrm>
            <a:off x="731520" y="2569464"/>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8" name="Text 6"/>
          <p:cNvSpPr txBox="1"/>
          <p:nvPr/>
        </p:nvSpPr>
        <p:spPr>
          <a:xfrm>
            <a:off x="1371600" y="2532888"/>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Packing density governs compressive strength</a:t>
            </a:r>
            <a:endParaRPr lang="en-US" sz="1300" dirty="0"/>
          </a:p>
        </p:txBody>
      </p:sp>
      <p:sp>
        <p:nvSpPr>
          <p:cNvPr id="9" name="Text 7"/>
          <p:cNvSpPr txBox="1"/>
          <p:nvPr/>
        </p:nvSpPr>
        <p:spPr>
          <a:xfrm>
            <a:off x="8229600" y="2551176"/>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not mineral content</a:t>
            </a:r>
            <a:endParaRPr lang="en-US" sz="1200" dirty="0"/>
          </a:p>
        </p:txBody>
      </p:sp>
      <p:sp>
        <p:nvSpPr>
          <p:cNvPr id="10" name="ru0.83.39"/>
          <p:cNvSpPr/>
          <p:nvPr/>
        </p:nvSpPr>
        <p:spPr>
          <a:xfrm>
            <a:off x="731520" y="3099816"/>
            <a:ext cx="10698480" cy="9144"/>
          </a:xfrm>
          <a:prstGeom prst="rect">
            <a:avLst/>
          </a:prstGeom>
          <a:solidFill>
            <a:srgbClr val="5A5A5A"/>
          </a:solidFill>
          <a:ln w="12700">
            <a:solidFill>
              <a:srgbClr val="5A5A5A">
                <a:alpha val="0"/>
              </a:srgbClr>
            </a:solidFill>
            <a:prstDash val="solid"/>
          </a:ln>
        </p:spPr>
      </p:sp>
      <p:sp>
        <p:nvSpPr>
          <p:cNvPr id="11" name="Text 9"/>
          <p:cNvSpPr txBox="1"/>
          <p:nvPr/>
        </p:nvSpPr>
        <p:spPr>
          <a:xfrm>
            <a:off x="731520" y="3410712"/>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371600" y="3374136"/>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Plasticiser content sets brittle or ductile response</a:t>
            </a:r>
            <a:endParaRPr lang="en-US" sz="1300" dirty="0"/>
          </a:p>
        </p:txBody>
      </p:sp>
      <p:sp>
        <p:nvSpPr>
          <p:cNvPr id="13" name="Text 11"/>
          <p:cNvSpPr txBox="1"/>
          <p:nvPr/>
        </p:nvSpPr>
        <p:spPr>
          <a:xfrm>
            <a:off x="8229600" y="3392424"/>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the transition is sharp</a:t>
            </a:r>
            <a:endParaRPr lang="en-US" sz="1200" dirty="0"/>
          </a:p>
        </p:txBody>
      </p:sp>
      <p:sp>
        <p:nvSpPr>
          <p:cNvPr id="14" name="ru0.84.3100000000000005"/>
          <p:cNvSpPr/>
          <p:nvPr/>
        </p:nvSpPr>
        <p:spPr>
          <a:xfrm>
            <a:off x="731520" y="3941064"/>
            <a:ext cx="10698480" cy="9144"/>
          </a:xfrm>
          <a:prstGeom prst="rect">
            <a:avLst/>
          </a:prstGeom>
          <a:solidFill>
            <a:srgbClr val="5A5A5A"/>
          </a:solidFill>
          <a:ln w="12700">
            <a:solidFill>
              <a:srgbClr val="5A5A5A">
                <a:alpha val="0"/>
              </a:srgbClr>
            </a:solidFill>
            <a:prstDash val="solid"/>
          </a:ln>
        </p:spPr>
      </p:sp>
      <p:sp>
        <p:nvSpPr>
          <p:cNvPr id="15" name="Text 13"/>
          <p:cNvSpPr txBox="1"/>
          <p:nvPr/>
        </p:nvSpPr>
        <p:spPr>
          <a:xfrm>
            <a:off x="731520" y="4251960"/>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6" name="Text 14"/>
          <p:cNvSpPr txBox="1"/>
          <p:nvPr/>
        </p:nvSpPr>
        <p:spPr>
          <a:xfrm>
            <a:off x="1371600" y="4215384"/>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Bio-polymer stiffness without thermal processing</a:t>
            </a:r>
            <a:endParaRPr lang="en-US" sz="1300" dirty="0"/>
          </a:p>
        </p:txBody>
      </p:sp>
      <p:sp>
        <p:nvSpPr>
          <p:cNvPr id="17" name="Text 15"/>
          <p:cNvSpPr txBox="1"/>
          <p:nvPr/>
        </p:nvSpPr>
        <p:spPr>
          <a:xfrm>
            <a:off x="8229600" y="4233672"/>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water-cast, ambient-dried</a:t>
            </a:r>
            <a:endParaRPr lang="en-US" sz="1200" dirty="0"/>
          </a:p>
        </p:txBody>
      </p:sp>
      <p:sp>
        <p:nvSpPr>
          <p:cNvPr id="18" name="ru0.85.23"/>
          <p:cNvSpPr/>
          <p:nvPr/>
        </p:nvSpPr>
        <p:spPr>
          <a:xfrm>
            <a:off x="731520" y="4782312"/>
            <a:ext cx="10698480" cy="9144"/>
          </a:xfrm>
          <a:prstGeom prst="rect">
            <a:avLst/>
          </a:prstGeom>
          <a:solidFill>
            <a:srgbClr val="5A5A5A"/>
          </a:solidFill>
          <a:ln w="12700">
            <a:solidFill>
              <a:srgbClr val="5A5A5A">
                <a:alpha val="0"/>
              </a:srgbClr>
            </a:solidFill>
            <a:prstDash val="solid"/>
          </a:ln>
        </p:spPr>
      </p:sp>
      <p:sp>
        <p:nvSpPr>
          <p:cNvPr id="19" name="Text 17"/>
          <p:cNvSpPr txBox="1"/>
          <p:nvPr/>
        </p:nvSpPr>
        <p:spPr>
          <a:xfrm>
            <a:off x="731520" y="5093208"/>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371600" y="5056632"/>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Strength alone is an insufficient criterion</a:t>
            </a:r>
            <a:endParaRPr lang="en-US" sz="1300" dirty="0"/>
          </a:p>
        </p:txBody>
      </p:sp>
      <p:sp>
        <p:nvSpPr>
          <p:cNvPr id="21" name="Text 19"/>
          <p:cNvSpPr txBox="1"/>
          <p:nvPr/>
        </p:nvSpPr>
        <p:spPr>
          <a:xfrm>
            <a:off x="8229600" y="5074920"/>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report σ and E together</a:t>
            </a:r>
            <a:endParaRPr lang="en-US" sz="1200" dirty="0"/>
          </a:p>
        </p:txBody>
      </p:sp>
      <p:sp>
        <p:nvSpPr>
          <p:cNvPr id="22" name="ru0.86.15"/>
          <p:cNvSpPr/>
          <p:nvPr/>
        </p:nvSpPr>
        <p:spPr>
          <a:xfrm>
            <a:off x="731520" y="5623560"/>
            <a:ext cx="10698480" cy="9144"/>
          </a:xfrm>
          <a:prstGeom prst="rect">
            <a:avLst/>
          </a:prstGeom>
          <a:solidFill>
            <a:srgbClr val="5A5A5A"/>
          </a:solidFill>
          <a:ln w="12700">
            <a:solidFill>
              <a:srgbClr val="5A5A5A">
                <a:alpha val="0"/>
              </a:srgbClr>
            </a:solidFill>
            <a:prstDash val="solid"/>
          </a:ln>
        </p:spPr>
      </p:sp>
      <p:sp>
        <p:nvSpPr>
          <p:cNvPr id="23" name="Text 21"/>
          <p:cNvSpPr txBox="1"/>
          <p:nvPr/>
        </p:nvSpPr>
        <p:spPr>
          <a:xfrm>
            <a:off x="731520" y="5943600"/>
            <a:ext cx="10698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Betül Ünal   ·   b.unal91@gmail.com</a:t>
            </a:r>
            <a:endParaRPr lang="en-US" sz="1200" dirty="0"/>
          </a:p>
        </p:txBody>
      </p:sp>
      <p:sp>
        <p:nvSpPr>
          <p:cNvPr id="24" name="Text 22"/>
          <p:cNvSpPr txBox="1"/>
          <p:nvPr/>
        </p:nvSpPr>
        <p:spPr>
          <a:xfrm>
            <a:off x="731520" y="626364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Testing: Advanced Construction Materials Research Laboratory, Hacettepe University, with thanks to Dr Hüseyin İlcan. Derived from the author's doctoral dissertation, Hacettepe University, 2025.</a:t>
            </a:r>
            <a:endParaRPr lang="en-US" sz="9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References</a:t>
            </a:r>
            <a:endParaRPr lang="en-US" sz="2000" dirty="0"/>
          </a:p>
        </p:txBody>
      </p:sp>
      <p:sp>
        <p:nvSpPr>
          <p:cNvPr id="3" name="Text 1"/>
          <p:cNvSpPr txBox="1"/>
          <p:nvPr/>
        </p:nvSpPr>
        <p:spPr>
          <a:xfrm>
            <a:off x="731520" y="1188720"/>
            <a:ext cx="5029200" cy="5349240"/>
          </a:xfrm>
          <a:prstGeom prst="rect">
            <a:avLst/>
          </a:prstGeom>
          <a:noFill/>
          <a:ln/>
        </p:spPr>
        <p:txBody>
          <a:bodyPr wrap="square" lIns="0" tIns="0" rIns="0" bIns="0" rtlCol="0" anchor="t"/>
          <a:lstStyle/>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Adogla, F., Yalley, P.P.K. &amp; Arkoh, M. (2016) Improving compressed laterite bricks using powdered eggshells. The International Journal of Engineering and Science, 5(4), 65–70.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Altun, İ.A. (2006) Mechanical properties of travertine. Afyon Kocatepe University.</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Arnaud, L. &amp; Gourlay, E. (2012) Experimental study of parameters influencing mechanical properties of hemp concretes. Construction and Building Materials, 28(1), 50–56.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Ashby, M.F. (2011) Materials selection in mechanical design. 4th edn. Oxford: Butterworth-Heinemann.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(2017) ASTM D790-17: Flexural properties of unreinforced and reinforced plastics. West Conshohocken, PA.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(2018) ASTM D570-98: Water absorption of plastics. West Conshohocken, PA.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Bhartiya, A. &amp; Dubey, M. (2018) Replacement of cement with coconut shell ash and egg shell powder. IRJET, 5(6).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Bilici, V.O., Peşmen, G., Yönetken, A. &amp; Erol, A. (2023) Effect of egg-shell particulate reinforcement in ceramic-metal composites. Thermal Science, 27(4B), 3179–3188.</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Faruk, O., Bledzki, A.K., Fink, H.-P. &amp; Sain, M. (2012) Biocomposites reinforced with natural fibers. Progress in Polymer Science, 37(11), 1552–1596.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Hernández, V. et al. (2022) Agar biopolymer films for biodegradable packaging: a reference dataset. Materials, 15(11), 3954.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Hirschler, M.M. (2013) Flammability and fire testing. In: Handbook of environmental degradation of materials. Oxford: William Andrew, 197–230.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Holling, C.S. (1973) Resilience and stability of ecological systems. Annual Review of Ecology and Systematics, 4, 1–23.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International Organization for Standardization (2020) ISO 11925-2: Ignitability of products subjected to direct impingement of flame — single-flame source test. Geneva.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Islam, M.R., Tudryn, G., Bucinell, R., Schadler, L. &amp; Picu, R.C. (2018) Mechanical behavior of mycelium-based particulate composites. Journal of Materials Science, 53, 16371–16382.</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Jones, M., Mautner, A., Luenco, S., Bismarck, A. &amp; John, S. (2020) Engineered mycelium composite construction materials. Journal of Bionanoscience, 14(1), 1–10.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Karana, E., Barati, B., Rognoli, V. &amp; Zeeuw van der Laan, A. (2015) Material driven design (MDD). International Journal of Design, 9(2), 35–54.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Kim, H.-S. &amp; Pal, K. (2010) Mechanical properties of eggshell-filled poly(lactic acid) composites. Macromolecular Research.</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Klyosov, A.A. (2007) Wood-plastic composites. Hoboken, NJ: Wiley-Interscience.</a:t>
            </a:r>
            <a:endParaRPr lang="en-US" sz="800" dirty="0"/>
          </a:p>
        </p:txBody>
      </p:sp>
      <p:sp>
        <p:nvSpPr>
          <p:cNvPr id="4" name="Text 2"/>
          <p:cNvSpPr txBox="1"/>
          <p:nvPr/>
        </p:nvSpPr>
        <p:spPr>
          <a:xfrm>
            <a:off x="6400800" y="1188720"/>
            <a:ext cx="5029200" cy="5349240"/>
          </a:xfrm>
          <a:prstGeom prst="rect">
            <a:avLst/>
          </a:prstGeom>
          <a:noFill/>
          <a:ln/>
        </p:spPr>
        <p:txBody>
          <a:bodyPr wrap="square" lIns="0" tIns="0" rIns="0" bIns="0" rtlCol="0" anchor="t"/>
          <a:lstStyle/>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Mansour, G., Zoumaki, M., Tsongas, K. &amp; Tzetzis, D. (2021) Microstructural and finite element analysis of soy protein isolate bioplastics. Materials, 14(19), 5479.</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Nemli, G. &amp; Aydın, A. (2007) Evaluation of the physical and mechanical properties of particleboard. Building and Environment, 42(3), 1210–1214.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Owuamanam, S. &amp; Cree, D. (2020) Progress of bio-calcium carbonate waste eggshell and seashell fillers in polymer composites: a review. Journal of Composites Science, 4(2), 70.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Pope, D.G. &amp; Hudson, R.G. (1989) Mechanical properties of timber. Structural Engineer.</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Razzaq, A.K. &amp; Yousif, R.A. (2017) Sustainability of HMA by using of egg shell powder. International Conference on Sustainable Futures, Bahrain.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Shafiei, S. et al. (2019) Egg shell-derived calcium phosphate/carbon dot nanofibrous scaffolds. Materials Science and Engineering: C, 100, 564–575.</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Shah, D.U., Vollrath, F., Stires, J. &amp; Deheyn, D.D. (2016) Housing fly larvae in silk: mechanical properties of mineral-filled biocomposites. Materials &amp; Design, 109, 723–731.</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Skórczewska, K., Kwiatkowski, W. &amp; Kwiatkowski, M. (2020) Poly(vinyl chloride) composites with waste eggshell as a natural filler. Polymer Composites, 41(9), 3580–3589.</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Soundara, B. &amp; Vilasini, P.P. (2015) Effect of egg shell powder on the properties of clay. 50th Indian Geotechnical Conference, Pune.</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Teara, A. et al. (2019) Durability of fly ash and eggshell powder to replace cement in concrete. IOP Conf. Series: Earth and Environmental Science, 244, 012025.</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Torres, F.G., Troncoso, O.P., Piaggio, F. &amp; Hijar, A. (2010) Structure–property relationships of a biopolymer network: the eggshell membrane. Acta Biomaterialia, 6(9), 3687–3693.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Tutuş, A. et al. (2018) Evaluation of egg shells in wallpaper production. 1st International Technological Sciences and Design Symposium, Giresun.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Velasco, P.M. &amp; Gaona, J.L. (2011) Mechanical characterisation of compressed agricultural-waste panels. Construction and Building Materials.</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Victor, E.I., Louis, I.C., Alfred, N.O. &amp; Ozioma, U.N. (2019) Use of chicken eggshells as fillers in flexible polyurethane foam. International Journal of Industrial Engineering, 3(1), 1–6.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Vilarinho, I.S., Filippi, E. &amp; Seabra, M.P. (2022) Development of eco-ceramic wall tiles with bioCaCO₃ from eggshells waste. Open Ceramics, 9, 100220.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William, J.S. &amp; Owen, J.C. (1995) Egg science and technology. 4th edn. Boca Raton, FL: CRC Press.</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Yönetken, A., Erol, A., Yakar, A. &amp; Peşmen, G. (2016) Ceramic-metal composites produced by electroless Ni plating of AlN-Astaloy Cr-M. IJCMNMME, 10(3).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Zhao, X. et al. (2022) Mechanical recycling of low-density polyethylene: property evolution. Resources, Conservation and Recycling.</a:t>
            </a:r>
            <a:endParaRPr lang="en-US" sz="800" dirty="0"/>
          </a:p>
        </p:txBody>
      </p:sp>
      <p:sp>
        <p:nvSpPr>
          <p:cNvPr id="5" name="vr6.61.35"/>
          <p:cNvSpPr/>
          <p:nvPr/>
        </p:nvSpPr>
        <p:spPr>
          <a:xfrm>
            <a:off x="6035040" y="1234440"/>
            <a:ext cx="13716" cy="5029200"/>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658368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Standards applied: ASTM D790-17 · ISO 11925-2:2020 · ASTM D570-98(2018).</a:t>
            </a:r>
            <a:endParaRPr lang="en-US" sz="900" dirty="0"/>
          </a:p>
        </p:txBody>
      </p:sp>
      <p:sp>
        <p:nvSpPr>
          <p:cNvPr id="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theme/theme1.xml><?xml version="1.0" encoding="utf-8"?>
<a:theme xmlns:a="http://schemas.openxmlformats.org/drawingml/2006/main" name="Eggshell Mono">
  <a:themeElements>
    <a:clrScheme name="Eggshell Mono">
      <a:dk1>
        <a:srgbClr val="141414"/>
      </a:dk1>
      <a:lt1>
        <a:srgbClr val="FFFFFF"/>
      </a:lt1>
      <a:dk2>
        <a:srgbClr val="141414"/>
      </a:dk2>
      <a:lt2>
        <a:srgbClr val="F7F6F4"/>
      </a:lt2>
      <a:accent1>
        <a:srgbClr val="B4513A"/>
      </a:accent1>
      <a:accent2>
        <a:srgbClr val="8C8C8C"/>
      </a:accent2>
      <a:accent3>
        <a:srgbClr val="3C3C3C"/>
      </a:accent3>
      <a:accent4>
        <a:srgbClr val="141414"/>
      </a:accent4>
      <a:accent5>
        <a:srgbClr val="E4E4E4"/>
      </a:accent5>
      <a:accent6>
        <a:srgbClr val="8C8C8C"/>
      </a:accent6>
      <a:hlink>
        <a:srgbClr val="B4513A"/>
      </a:hlink>
      <a:folHlink>
        <a:srgbClr val="8C8C8C"/>
      </a:folHlink>
    </a:clrScheme>
    <a:fontScheme name="Eggshell Mon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Betul Unal</cp:lastModifiedBy>
  <cp:revision>1</cp:revision>
  <dcterms:created xsi:type="dcterms:W3CDTF">2026-10-25T12:09:30Z</dcterms:created>
  <dcterms:modified xsi:type="dcterms:W3CDTF">2026-10-25T12:09:30Z</dcterms:modified>
</cp:coreProperties>
</file>