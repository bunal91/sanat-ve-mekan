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edb4115-c06e-dfb4-b6a5-1bcc548d2442}">
          <p14:sldIdLst>
            <p14:sldId id="256"/>
          </p14:sldIdLst>
        </p14:section>
        <p14:section name="Position" id="{1e094ba3-f976-e35c-8b57-4b7862f9879c}">
          <p14:sldIdLst>
            <p14:sldId id="257"/>
            <p14:sldId id="258"/>
            <p14:sldId id="259"/>
            <p14:sldId id="260"/>
            <p14:sldId id="261"/>
            <p14:sldId id="262"/>
            <p14:sldId id="263"/>
          </p14:sldIdLst>
        </p14:section>
        <p14:section name="Material" id="{13976e64-ee6f-3613-6236-b5718ba13019}">
          <p14:sldIdLst>
            <p14:sldId id="264"/>
          </p14:sldIdLst>
        </p14:section>
        <p14:section name="Protocol" id="{319f2e8d-7710-8922-330c-7a82edc1f489}">
          <p14:sldIdLst>
            <p14:sldId id="265"/>
            <p14:sldId id="266"/>
            <p14:sldId id="267"/>
            <p14:sldId id="268"/>
          </p14:sldIdLst>
        </p14:section>
        <p14:section name="Results" id="{5e824f98-7f99-06d4-18b4-557c5dedfe81}">
          <p14:sldIdLst>
            <p14:sldId id="269"/>
            <p14:sldId id="270"/>
            <p14:sldId id="271"/>
            <p14:sldId id="272"/>
            <p14:sldId id="273"/>
            <p14:sldId id="274"/>
          </p14:sldIdLst>
        </p14:section>
        <p14:section name="Benchmark" id="{eaa6c3c4-510b-5ef8-bccb-7be3600d5010}">
          <p14:sldIdLst>
            <p14:sldId id="275"/>
            <p14:sldId id="276"/>
            <p14:sldId id="277"/>
          </p14:sldIdLst>
        </p14:section>
        <p14:section name="Application" id="{ce87d3b6-d1d0-2a91-0546-cc098e47a687}">
          <p14:sldIdLst>
            <p14:sldId id="278"/>
          </p14:sldIdLst>
        </p14:section>
        <p14:section name="Closing" id="{bba0fbbd-518f-fb35-6295-64ad45f7116c}">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σ</c:v>
                </c:pt>
              </c:strCache>
            </c:strRef>
          </c:tx>
          <c:spPr>
            <a:solidFill>
              <a:srgbClr val="141414"/>
            </a:solidFill>
            <a:effectLst/>
          </c:spPr>
          <c:invertIfNegative val="0"/>
          <c:dLbls>
            <c:numFmt formatCode="0.00" sourceLinked="0"/>
            <c:txPr>
              <a:bodyPr/>
              <a:lstStyle/>
              <a:p>
                <a:pPr>
                  <a:defRPr b="0" i="0" strike="noStrike" sz="1300" u="none">
                    <a:solidFill>
                      <a:srgbClr val="141414"/>
                    </a:solidFill>
                    <a:latin typeface="+mn-lt"/>
                  </a:defRPr>
                </a:pPr>
              </a:p>
            </c:txPr>
            <c:showLegendKey val="0"/>
            <c:showVal val="1"/>
            <c:showCatName val="0"/>
            <c:showSerName val="0"/>
            <c:showPercent val="0"/>
            <c:showBubbleSize val="0"/>
            <c:showLeaderLines val="0"/>
          </c:dLbls>
          <c:cat>
            <c:multiLvlStrRef>
              <c:f>Sheet1!$A$2:$A$4</c:f>
              <c:multiLvlStrCache>
                <c:ptCount val="3"/>
                <c:lvl>
                  <c:pt idx="0">
                    <c:v>C1  0.37</c:v>
                  </c:pt>
                  <c:pt idx="1">
                    <c:v>C2  0.44</c:v>
                  </c:pt>
                  <c:pt idx="2">
                    <c:v>C3  0.59</c:v>
                  </c:pt>
                </c:lvl>
              </c:multiLvlStrCache>
            </c:multiLvlStrRef>
          </c:cat>
          <c:val>
            <c:numRef>
              <c:f>Sheet1!$B$2:$B$4</c:f>
              <c:numCache>
                <c:formatCode>General</c:formatCode>
                <c:ptCount val="3"/>
                <c:pt idx="0">
                  <c:v>2.55</c:v>
                </c:pt>
                <c:pt idx="1">
                  <c:v>3.12</c:v>
                </c:pt>
                <c:pt idx="2">
                  <c:v>4.1</c:v>
                </c:pt>
              </c:numCache>
            </c:numRef>
          </c:val>
        </c:ser>
        <c:dLbls>
          <c:numFmt formatCode="0.00" sourceLinked="0"/>
          <c:txPr>
            <a:bodyPr/>
            <a:lstStyle/>
            <a:p>
              <a:pPr>
                <a:defRPr b="0" i="0" strike="noStrike" sz="1300" u="none">
                  <a:solidFill>
                    <a:srgbClr val="141414"/>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8C8C8C"/>
                </a:solidFill>
                <a:latin typeface="+mn-lt"/>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4E4E4"/>
              </a:solidFill>
              <a:prstDash val="solid"/>
              <a:round/>
            </a:ln>
          </c:spPr>
        </c:majorGridlines>
        <c:title>
          <c:tx>
            <c:rich>
              <a:bodyPr/>
              <a:lstStyle/>
              <a:p>
                <a:pPr>
                  <a:defRPr sz="1050" b="0" i="0" u="none" strike="noStrike">
                    <a:solidFill>
                      <a:srgbClr val="8C8C8C"/>
                    </a:solidFill>
                    <a:latin typeface="+mn-lt"/>
                  </a:defRPr>
                </a:pPr>
                <a:r>
                  <a:rPr sz="1050" b="0" i="0" u="none" strike="noStrike">
                    <a:solidFill>
                      <a:srgbClr val="8C8C8C"/>
                    </a:solidFill>
                    <a:latin typeface="+mn-lt"/>
                  </a:rPr>
                  <a:t>Compressive stress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Compressive</c:v>
                </c:pt>
              </c:strCache>
            </c:strRef>
          </c:tx>
          <c:spPr>
            <a:solidFill>
              <a:srgbClr val="141414"/>
            </a:solidFill>
            <a:effectLst/>
          </c:spPr>
          <c:invertIfNegative val="0"/>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Sheet1!$B$2:$B$6</c:f>
              <c:numCache>
                <c:formatCode>General</c:formatCode>
                <c:ptCount val="5"/>
                <c:pt idx="0">
                  <c:v>1.2</c:v>
                </c:pt>
                <c:pt idx="1">
                  <c:v>4.1</c:v>
                </c:pt>
                <c:pt idx="2">
                  <c:v>7.2</c:v>
                </c:pt>
                <c:pt idx="3">
                  <c:v>24</c:v>
                </c:pt>
                <c:pt idx="4">
                  <c:v>80</c:v>
                </c:pt>
              </c:numCache>
            </c:numRef>
          </c:val>
        </c:ser>
        <c:ser>
          <c:idx val="1"/>
          <c:order val="1"/>
          <c:tx>
            <c:strRef>
              <c:f>Sheet1!$C$1</c:f>
              <c:strCache>
                <c:ptCount val="1"/>
                <c:pt idx="0">
                  <c:v>Flexural</c:v>
                </c:pt>
              </c:strCache>
            </c:strRef>
          </c:tx>
          <c:spPr>
            <a:solidFill>
              <a:srgbClr val="BDBDBD"/>
            </a:solidFill>
            <a:effectLst/>
          </c:spPr>
          <c:invertIfNegative val="0"/>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cat>
            <c:multiLvlStrRef>
              <c:f>Sheet1!$A$2:$A$6</c:f>
              <c:multiLvlStrCache>
                <c:ptCount val="5"/>
                <c:lvl>
                  <c:pt idx="0">
                    <c:v>Compressed
mushroom panel</c:v>
                  </c:pt>
                  <c:pt idx="1">
                    <c:v>This study
(C3)</c:v>
                  </c:pt>
                  <c:pt idx="2">
                    <c:v>WPC</c:v>
                  </c:pt>
                  <c:pt idx="3">
                    <c:v>MDF</c:v>
                  </c:pt>
                  <c:pt idx="4">
                    <c:v>Travertine</c:v>
                  </c:pt>
                </c:lvl>
              </c:multiLvlStrCache>
            </c:multiLvlStrRef>
          </c:cat>
          <c:val>
            <c:numRef>
              <c:f>Sheet1!$C$2:$C$6</c:f>
              <c:numCache>
                <c:formatCode>General</c:formatCode>
                <c:ptCount val="5"/>
                <c:pt idx="0">
                  <c:v>1</c:v>
                </c:pt>
                <c:pt idx="1">
                  <c:v>2.3</c:v>
                </c:pt>
                <c:pt idx="2">
                  <c:v>12</c:v>
                </c:pt>
                <c:pt idx="3">
                  <c:v>35</c:v>
                </c:pt>
                <c:pt idx="4">
                  <c:v>11</c:v>
                </c:pt>
              </c:numCache>
            </c:numRef>
          </c:val>
        </c:ser>
        <c:dLbls>
          <c:numFmt formatCode="0.0" sourceLinked="0"/>
          <c:txPr>
            <a:bodyPr/>
            <a:lstStyle/>
            <a:p>
              <a:pPr>
                <a:defRPr b="0" i="0" strike="noStrike" sz="1000" u="none">
                  <a:solidFill>
                    <a:srgbClr val="3C3C3C"/>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4E4"/>
              </a:solidFill>
              <a:prstDash val="solid"/>
              <a:round/>
            </a:ln>
          </c:spPr>
        </c:majorGridlines>
        <c:title>
          <c:tx>
            <c:rich>
              <a:bodyPr/>
              <a:lstStyle/>
              <a:p>
                <a:pPr>
                  <a:defRPr sz="1050" b="0" i="0" u="none" strike="noStrike">
                    <a:solidFill>
                      <a:srgbClr val="8C8C8C"/>
                    </a:solidFill>
                    <a:latin typeface="+mn-lt"/>
                  </a:defRPr>
                </a:pPr>
                <a:r>
                  <a:rPr sz="1050" b="0" i="0" u="none" strike="noStrike">
                    <a:solidFill>
                      <a:srgbClr val="8C8C8C"/>
                    </a:solidFill>
                    <a:latin typeface="+mn-lt"/>
                  </a:rPr>
                  <a:t>Strength (MPa)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050">
              <a:solidFill>
                <a:srgbClr val="8C8C8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Betul Unal, Department of Interior Architecture, Cappadocia University. What you are looking at is the material: a composite of waste eggshell bound in agar. Over the next fifteen minutes I will give you the production protocol, the characterisation, and an argument about how materials like this should be evaluated.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material starts. Eggshell is generated continuously as food waste and landfilled at scale. Chemically it is almost pure calcium carbonate, with a porous, protein-bound crystalline structure and a specific gravity lower than most mineral fillers. Every shell in this study came from one bakery, collected over more than a year. The material argument for eggshell is settled - that is not what this paper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problem, and it is a problem about the binder rather than the filler. Eggshell valorisation is well established - cement replacement, brick stabilisation, asphalt binders, lime substitution, ceramic bodies, particulate filler in thermoplastics, with loadings from five to thirty percent. But look at the lower block in each stack. In every one of those cases the binding phase is petrochemical, clinker-based or ceramic. The waste is valorised; the matrix is not. This study replaces the binder too, so both phases are biological.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binder is agar - a thermoreversible polysaccharide from red seaweed, which melts on heating and sets on cooling without chemical crosslinking. Its behaviour with glycerol is reasonably well mapped: Hernandez and colleagues ran thirty-two agar, glycerin and water formulations by design of experiments in 2022 and released the dataset openly. But all of that is unfilled thin film, tested in tension, for packaging. Nobody has characterised agar as the binder of a mineral-filled cast solid in bending, which is the actual loading case for an interior surface. The compositional logic carries over. The form and the loading case do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Claiming a gap is cheap, so let me measure it. Materiom is an open commons for biomaterial recipes - CC-BY-SA licensed, each recipe archived as prior art, property data indexed with citable DOIs. The infrastructure exists. But property data exists for four recipes. Four. The nearest analogue to this work is the last one, a shell mineral in a biological binder. Nothing couples a shell mineral to agar, and nothing reports compressive, flexural, ignitability and hygric data for one formulation family. So the contribution is not originality of idea. It is a protocol and a property set entering a commons that is four recipes deep.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is narrow and I want to state it narrowly: document a protocol others can repeat, and characterise what the material can and cannot do. The right-hand column is what is in scope. The left-hand list is what is not, and I will come back to each of those at the end. In particular there is no durability testing, no fire classification and no life-cycle assessment in this work, so nothing I say today should be read as a performance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steps, and the order matters. Produce, recording every parameter. Measure against published standards. Position against two material families - conventional interior materials and bio-based composites. And then propose an evaluation criterion derived from how the material actually behaves. This is a material-driven sequence: the properties are measured first and the application is derived from them, rather than the material being chosen to fit a form that was decided in advance. The design proposal I show near the end follows from the measurements, not the other way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questions. The first two are formulation questions, the next two benchmarking, and the fifth is the one I actually care about. The hypothesis has two clauses, and the paper tests both: first, that the composite can be produced repeatably under ambient conditions; second, that for interior surfaces its performance is governed by deformation capacity rather than strength. A note on lineage: the dissertation this derives from states a broader hypothesis, framed around spatial resilience in interior design. What you see here is the materials-engineering slice of it, scoped to what these tests can actually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material. Four constituents: waste eggshell powder as the mineral phase, agar as the binder, glycerol as the plasticiser, water as the carrier, and a shellac finish where water resistance matters. Everything you see here is one formulation family - the variation in colour and texture comes from natural pigments and mould geometry, not from different compositions. Beetroot gives the dark tones.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the mineral. Whole shell from one bakery, cleaned of membrane and residue by hand, heat-treated at 120 degrees for twenty minutes, milled to a homogeneous powder, and sieved through a 150 micrometre mesh with only the passing fraction used. The circles shrink to show what is actually happening: progressive size reduction. Two things worth saying. The 150 micrometre figure was chosen to match the particle size used in the eggshell polymer-composite literature, so the mineral phase here is comparable with that body of work. And I call the 120 degree step decontamination and drying rather than sterilisation, because dry-heat sterilisation needs around 160 to 170 degrees for one to two hours and we did not verify sterility.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two, the binder, drawn as a temperature profile because that is what it is. Water and glycerol are pre-mixed first, before any solids go in. Agar is then added incrementally under continuous stirring - bulk addition forms agglomerates that never redisperse. The mixture is taken to 95 degrees and held until the agar is fully in solution, because if viscosity builds before complete dissolution you get a patchy gel network. Then the temperature drops to 80 and is held there while viscosity develops, and the shell fraction goes in incrementally near the end - earlier and it sediments out. Fifty-five minutes in total. I should be clear this is a schematic: the two set points and the total time are recorded, the intermediate ramp rates are not. And stirring was manual, so shear rate is not a controlled quantity.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three, casting and cure, drawn as a timeline. Day zero, cast into silicone moulds - silicone because it flexes enough to release without a parting agent and without damaging a specimen that has not fully consolidated. Four days in mould for setting and initial drying. Demoulded on day four, then seven more days at around 23 degrees, shielded from direct sun and forced air movement. Day eleven, finished specimen. And note: after the fifty-five minute cook the material receives no further heat input at all. The entire cure is at room temperature, which matters for the energy argument later. The disclosure, which I will repeat because it affects every number that follows: the composite shrinks appreciably as water evaporates, cross-sections were measured at test time but post-drying dimensions were not logged, so every dimension I quote today is a mould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formulation matrix with derived ratios. Two things to read. In the compression series shell-to-binder is exactly two point zero zero in all three mixes - that was not planned as a control, but it means the only thing that varies is solids concentration. In the flexural series I declare a confound: glycerol was halved but batch mass was fixed at 770 grams, so water rose to compensate and the other ratios shifted with it. The plasticiser effect is not cleanly isolated.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programme. I want the reporting convention on the record before any numbers appear: mechanical values are means of three specimens, individual values were not retained so I cannot give standard deviations, and the fire, absorption and density figures are single determinations - indicative, not characteristic.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compression result. Because shell-to-binder is fixed at two point zero zero across the series, solids concentration is the only variable - and compressive stress rises linearly with it, R-squared of 0.99 over the range 0.37 to 0.59. Three points will fit almost any line, so I am calling this a hypothesis rather than a law. But it has a clear physical reading: strength here is governed by packing density, not by mineral content as such. If that is right, the route to a stronger composite is to remove water, not to add shell. The fitted relation is sigma equals 6.93 times the solids-to-water ratio plus 0.04, if anyone wants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failure mode, and it is what I would ask about if I were sitting where you are. The curve is linear to about one megapascal, then stiffness falls away progressively as the agar network yields and the mineral redistributes. Peak arrives near ten percent strain with no abrupt drop, and beyond peak the specimen keeps deforming while holding together. Look at the photograph: the cube has barrelled, it is shorter and wider, and it is still one object. Energy is absorbed rather than released. One honesty point: the strain axis derives from an assumed ten percent maximum deformation based on observation, not instrumented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Flexure, to ASTM D790. The decisive variable is plasticiser. At 18.8 percent glycerol the composite deformed without developing measurable resistance - the machine registered nothing usable at all. Halving it gives 2.325 megapascals at a modulus of 192. The transition is sharp and it lies between those two values, which is itself useful to know. Two disclosures: the glycerol effect is confounded with solids concentration, and the specimen is kerfed on its tension face while the standard assumes a solid rectangle, so the modulus I am quoting is a lower bound on the bulk material. The flexural strength formula is three F L over two b d squared, if anyone wants to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you to see this rather than take my word for it. On the left, the three-point rig at high deflection - the beam is bent well past anything a ceramic would survive, and it has not fractured. In the middle, a close-up of the tension face: those are transverse kerfs. And below, the same panel arched by hand. The kerfs are why it arches, and they are also why I am calling the modulus a lower bound rather than a material constant. I would rather point at this than have someone find it in the photograph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Fire and water together. On fire: ignition at around ten seconds under direct flame, self-extinguishing four seconds after the flame is removed. Charring stayed local, no lateral spread, and no melting or dripping, which matters for a polymer-adjacent material. The probable mechanism is the carbonate fraction decomposing endothermically and releasing carbon dioxide, diluting the flame front - not verified calorimetrically. To be clear: this is an ignitability test, there is no Euroclass classification, no cone calorimetry, no smoke or toxicity data. On water: 0.7 percent mass gain over twenty-four hours of full immersion with three shellac coats, with local dissolution where the coating was thin, so coating integrity is the limiting factor. And on density: 1.38, between the fungal and cellulosic bio-materials below and fired clay above, on a mould-volume basis so a lower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benchmark, against the materials this would sit alongside. Let me be blunt. One sixth of MDF, one twentieth of travertine - and travertine is the relevant comparison aesthetically, because the material actually looks like it. It does beat compressed mushroom panel, the only other fully bio-based board in the set, by a factor of three. But on strength alone it does not compete with engineered wood or stone, and I am not going to claim that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benchmark, and this is the one that matters. Against the bio-based family the position changes completely. In compression, an order of magnitude above mycelium composites and hempcrete. In stiffness, 192 megapascals - between soy bioplastic at 124 and flax-fibre PLA at 198, inside the LDPE range. Note what that means. This is water-cast, dried at room temperature, no oven, no autoclave, no extrusion, and it reaches the stiffness of melt-processed bio-polymers. Wood is still two orders of magnitude above, and I will not pretend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me to the fifth question. The diagram is the argument. The shaded area under the elastic region is the energy a material absorbs per unit volume before it takes permanent damage - and because that area is one half sigma epsilon, and epsilon is sigma over E, the area is sigma squared over two E. Notice where stiffness sits: in the denominator. So the low modulus that counted against the material on the previous slide is exactly what raises this quantity. For this formulation it comes to about 14 kilojoules per cubic metre, from this study's own two measurements - 2.325 squared over twice 192. Both test programmes gave the same qualitative result: substantial deformation with retained integrity. Strength records the load at which a material stops performing. It does not record whether it then fails gracefully or catastrophically, and for a demountable non-loadbearing component that is what governs service life. The honest limit: I cannot give you a comparative table, because the literature reports strength and modulus in separate studies on different formulations. This is a data point and a measurement convention, not a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it fits follows from the measurements rather than being imposed on them. Non-loadbearing surfaces, carrying self-weight and handling loads only. Dry interiors - not wet rooms and not facades, because water performance depends on the coating. Away from ignition sources: it self-extinguishes, but it is unclassified. And modular rather than sheet, which matters because failure is then replaced one unit at a time. The strip along the bottom is the loop this closes: bakery waste becomes shell powder with a grinder and a sieve, one fifty-five minute cook, a cast module dried at ambient, assembled reversibly so it can be recovered intact, and at end of life every constituent degrades - including the shellac - so the material returns to the stream it came from. What is displaced is quarried limestone, in a surface application rather than a downcycled one. One caveat: no life-cycle assessment was carried out, so these are qualitative potentials grounded in the protocol, not quantified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limits, in three groups rather than a list, because the grouping is the point. Measurement: no dispersion data, strain assumed rather than instrumented, shrinkage unquantified. Process: the flexural series is confounded, the kerfed section was calculated as solid, and stirring was manual in one laboratory by one operator. Untested: durability of any kind, fire classification, life-cycle assessment. I would rather set these out than have them found - and none of them is unknown to me. Each one is the next experiment, which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experiments, in order of what they unlock. First, repeat with individual specimen values retained, so dispersion can be reported - that is the single most requested thing and the cheapest to fix. Second, record post-drying geometry, which converts every lower bound in this talk into a real value. Third, instrument the strain, which replaces the assumed ten percent deformation with a measured curve and makes the modulus of resilience defensible rather than indicative. Fourth, test an un-kerfed section, which separates the geometric contribution from the material one. Beyond those four: humidity and thermal cycling, microbial resistance, a fire classification, and a life-cycle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protocol others can repeat, reported parameter by parameter. Packing density, not mineral content, governs compressive strength. Plasticiser content sets brittle or ductile, and the transition is sharp. A water-cast, ambient-dried material reaches bio-polymer stiffness without an oven. And strength is not the only criterion: for this class, deformation capacity governs service behaviour, so strength and modulus should be reported together.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left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ULL">
    <p:bg>
      <p:bgPr>
        <a:solidFill>
          <a:srgbClr val="14141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
    <p:bg>
      <p:bgPr>
        <a:solidFill>
          <a:srgbClr val="FFFFFF"/>
        </a:solidFill>
      </p:bgPr>
    </p:bg>
    <p:spTree>
      <p:nvGrpSpPr>
        <p:cNvPr id="1" name=""/>
        <p:cNvGrpSpPr/>
        <p:nvPr/>
      </p:nvGrpSpPr>
      <p:grpSpPr>
        <a:xfrm>
          <a:off x="0" y="0"/>
          <a:ext cx="0" cy="0"/>
          <a:chOff x="0" y="0"/>
          <a:chExt cx="0" cy="0"/>
        </a:xfrm>
      </p:grpSpPr>
      <p:sp>
        <p:nvSpPr>
          <p:cNvPr id="2" name="Text 0"/>
          <p:cNvSpPr/>
          <p:nvPr>
            <p:ph idx="100" hasCustomPrompt="1"/>
          </p:nvPr>
        </p:nvSpPr>
        <p:spPr>
          <a:xfrm>
            <a:off x="11292840" y="6355080"/>
            <a:ext cx="365760" cy="237744"/>
          </a:xfrm>
          <a:prstGeom prst="rect">
            <a:avLst/>
          </a:prstGeom>
          <a:noFill/>
          <a:ln/>
        </p:spPr>
        <p:txBody>
          <a:bodyPr wrap="square" rtlCol="0"/>
          <a:lstStyle>
            <a:lvl1pPr algn="r" indent="0" marL="0">
              <a:buNone/>
              <a:defRPr lang="en-US" sz="850" dirty="0">
                <a:solidFill>
                  <a:srgbClr val="BDBDBD"/>
                </a:solidFill>
                <a:latin typeface="Calibri" pitchFamily="34" charset="0"/>
                <a:ea typeface="Calibri" pitchFamily="34" charset="-122"/>
                <a:cs typeface="Calibri" pitchFamily="34" charset="-120"/>
              </a:defRPr>
            </a:lvl1pPr>
          </a:lstStyle>
          <a:p>
            <a:pPr algn="r" indent="0" marL="0">
              <a:buNone/>
            </a:pPr>
            <a:endParaRPr lang="en-US" sz="85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41414"/>
        </a:solidFill>
      </p:bgPr>
    </p:bg>
    <p:spTree>
      <p:nvGrpSpPr>
        <p:cNvPr id="1" name=""/>
        <p:cNvGrpSpPr/>
        <p:nvPr/>
      </p:nvGrpSpPr>
      <p:grpSpPr>
        <a:xfrm>
          <a:off x="0" y="0"/>
          <a:ext cx="0" cy="0"/>
          <a:chOff x="0" y="0"/>
          <a:chExt cx="0" cy="0"/>
        </a:xfrm>
      </p:grpSpPr>
      <p:sp>
        <p:nvSpPr>
          <p:cNvPr id="2" name="Text 0"/>
          <p:cNvSpPr/>
          <p:nvPr>
            <p:ph idx="100" hasCustomPrompt="1"/>
          </p:nvPr>
        </p:nvSpPr>
        <p:spPr>
          <a:xfrm>
            <a:off x="11292840" y="6355080"/>
            <a:ext cx="365760" cy="237744"/>
          </a:xfrm>
          <a:prstGeom prst="rect">
            <a:avLst/>
          </a:prstGeom>
          <a:noFill/>
          <a:ln/>
        </p:spPr>
        <p:txBody>
          <a:bodyPr wrap="square" rtlCol="0"/>
          <a:lstStyle>
            <a:lvl1pPr algn="r" indent="0" marL="0">
              <a:buNone/>
              <a:defRPr lang="en-US" sz="850" dirty="0">
                <a:solidFill>
                  <a:srgbClr val="5A5A5A"/>
                </a:solidFill>
                <a:latin typeface="Calibri" pitchFamily="34" charset="0"/>
                <a:ea typeface="Calibri" pitchFamily="34" charset="-122"/>
                <a:cs typeface="Calibri" pitchFamily="34" charset="-120"/>
              </a:defRPr>
            </a:lvl1pPr>
          </a:lstStyle>
          <a:p>
            <a:pPr algn="r" indent="0" marL="0">
              <a:buNone/>
            </a:pPr>
            <a:endParaRPr lang="en-US" sz="8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eg"/><Relationship Id="rId3" Type="http://schemas.openxmlformats.org/officeDocument/2006/relationships/image" Target="../media/image-18-3.jp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 descr="/home/user/sanat-ve-mekan/konferans-bildirisi/03-gorseller/01-prototip-cesitlemeleri.jpeg">    </p:cNvPr>
          <p:cNvPicPr>
            <a:picLocks noChangeAspect="1"/>
          </p:cNvPicPr>
          <p:nvPr/>
        </p:nvPicPr>
        <p:blipFill>
          <a:blip r:embed="rId1"/>
          <a:stretch>
            <a:fillRect/>
          </a:stretch>
        </p:blipFill>
        <p:spPr>
          <a:xfrm>
            <a:off x="0" y="0"/>
            <a:ext cx="12188952" cy="6858000"/>
          </a:xfrm>
          <a:prstGeom prst="rect">
            <a:avLst/>
          </a:prstGeom>
        </p:spPr>
      </p:pic>
      <p:sp>
        <p:nvSpPr>
          <p:cNvPr id="3" name="panel"/>
          <p:cNvSpPr/>
          <p:nvPr/>
        </p:nvSpPr>
        <p:spPr>
          <a:xfrm>
            <a:off x="0" y="0"/>
            <a:ext cx="5394960" cy="6858000"/>
          </a:xfrm>
          <a:prstGeom prst="rect">
            <a:avLst/>
          </a:prstGeom>
          <a:solidFill>
            <a:srgbClr val="141414"/>
          </a:solidFill>
          <a:ln w="12700">
            <a:solidFill>
              <a:srgbClr val="141414">
                <a:alpha val="0"/>
              </a:srgbClr>
            </a:solidFill>
            <a:prstDash val="solid"/>
          </a:ln>
        </p:spPr>
      </p:sp>
      <p:sp>
        <p:nvSpPr>
          <p:cNvPr id="4" name="Text 1"/>
          <p:cNvSpPr txBox="1"/>
          <p:nvPr/>
        </p:nvSpPr>
        <p:spPr>
          <a:xfrm>
            <a:off x="777240" y="2011680"/>
            <a:ext cx="4206240" cy="1463040"/>
          </a:xfrm>
          <a:prstGeom prst="rect">
            <a:avLst/>
          </a:prstGeom>
          <a:noFill/>
          <a:ln/>
        </p:spPr>
        <p:txBody>
          <a:bodyPr wrap="square" lIns="0" tIns="0" rIns="0" bIns="0" rtlCol="0" anchor="b"/>
          <a:lstStyle/>
          <a:p>
            <a:pPr indent="0" marL="0">
              <a:lnSpc>
                <a:spcPts val="4200"/>
              </a:lnSpc>
              <a:buNone/>
            </a:pPr>
            <a:r>
              <a:rPr lang="en-US" sz="3200" b="1" dirty="0">
                <a:solidFill>
                  <a:srgbClr val="FFFFFF"/>
                </a:solidFill>
                <a:latin typeface="Calibri" pitchFamily="34" charset="0"/>
                <a:ea typeface="Calibri" pitchFamily="34" charset="-122"/>
                <a:cs typeface="Calibri" pitchFamily="34" charset="-120"/>
              </a:rPr>
              <a:t>Eggshell–Agar</a:t>
            </a:r>
            <a:endParaRPr lang="en-US" sz="3200" dirty="0"/>
          </a:p>
          <a:p>
            <a:pPr indent="0" marL="0">
              <a:lnSpc>
                <a:spcPts val="4200"/>
              </a:lnSpc>
              <a:buNone/>
            </a:pPr>
            <a:r>
              <a:rPr lang="en-US" sz="3200" b="1" dirty="0">
                <a:solidFill>
                  <a:srgbClr val="FFFFFF"/>
                </a:solidFill>
                <a:latin typeface="Calibri" pitchFamily="34" charset="0"/>
                <a:ea typeface="Calibri" pitchFamily="34" charset="-122"/>
                <a:cs typeface="Calibri" pitchFamily="34" charset="-120"/>
              </a:rPr>
              <a:t>Biocomposites</a:t>
            </a:r>
            <a:endParaRPr lang="en-US" sz="3200" dirty="0"/>
          </a:p>
        </p:txBody>
      </p:sp>
      <p:sp>
        <p:nvSpPr>
          <p:cNvPr id="5" name="Text 2"/>
          <p:cNvSpPr txBox="1"/>
          <p:nvPr/>
        </p:nvSpPr>
        <p:spPr>
          <a:xfrm>
            <a:off x="777240" y="3611880"/>
            <a:ext cx="4023360" cy="640080"/>
          </a:xfrm>
          <a:prstGeom prst="rect">
            <a:avLst/>
          </a:prstGeom>
          <a:noFill/>
          <a:ln/>
        </p:spPr>
        <p:txBody>
          <a:bodyPr wrap="square" lIns="0" tIns="0" rIns="0" bIns="0" rtlCol="0" anchor="ctr"/>
          <a:lstStyle/>
          <a:p>
            <a:pPr indent="0" marL="0">
              <a:lnSpc>
                <a:spcPts val="1900"/>
              </a:lnSpc>
              <a:buNone/>
            </a:pPr>
            <a:r>
              <a:rPr lang="en-US" sz="1300" dirty="0">
                <a:solidFill>
                  <a:srgbClr val="C8C8C8"/>
                </a:solidFill>
                <a:latin typeface="Calibri" pitchFamily="34" charset="0"/>
                <a:ea typeface="Calibri" pitchFamily="34" charset="-122"/>
                <a:cs typeface="Calibri" pitchFamily="34" charset="-120"/>
              </a:rPr>
              <a:t>Development and characterisation for sustainable interior applications</a:t>
            </a:r>
            <a:endParaRPr lang="en-US" sz="1300" dirty="0"/>
          </a:p>
        </p:txBody>
      </p:sp>
      <p:sp>
        <p:nvSpPr>
          <p:cNvPr id="6" name="ru0.854.95"/>
          <p:cNvSpPr/>
          <p:nvPr/>
        </p:nvSpPr>
        <p:spPr>
          <a:xfrm>
            <a:off x="777240" y="4526280"/>
            <a:ext cx="2194560" cy="9144"/>
          </a:xfrm>
          <a:prstGeom prst="rect">
            <a:avLst/>
          </a:prstGeom>
          <a:solidFill>
            <a:srgbClr val="5A5A5A"/>
          </a:solidFill>
          <a:ln w="12700">
            <a:solidFill>
              <a:srgbClr val="5A5A5A">
                <a:alpha val="0"/>
              </a:srgbClr>
            </a:solidFill>
            <a:prstDash val="solid"/>
          </a:ln>
        </p:spPr>
      </p:sp>
      <p:sp>
        <p:nvSpPr>
          <p:cNvPr id="7" name="Text 4"/>
          <p:cNvSpPr txBox="1"/>
          <p:nvPr/>
        </p:nvSpPr>
        <p:spPr>
          <a:xfrm>
            <a:off x="777240" y="4754880"/>
            <a:ext cx="4023360" cy="9144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Betül Ünal</a:t>
            </a:r>
            <a:endParaRPr lang="en-US" sz="1300" dirty="0"/>
          </a:p>
          <a:p>
            <a:pPr indent="0" marL="0">
              <a:buNone/>
            </a:pPr>
            <a:r>
              <a:rPr lang="en-US" sz="1100" dirty="0">
                <a:solidFill>
                  <a:srgbClr val="9E9E9E"/>
                </a:solidFill>
                <a:latin typeface="Calibri" pitchFamily="34" charset="0"/>
                <a:ea typeface="Calibri" pitchFamily="34" charset="-122"/>
                <a:cs typeface="Calibri" pitchFamily="34" charset="-120"/>
              </a:rPr>
              <a:t>Department of Interior Architecture</a:t>
            </a:r>
            <a:endParaRPr lang="en-US" sz="1300" dirty="0"/>
          </a:p>
          <a:p>
            <a:pPr indent="0" marL="0">
              <a:buNone/>
            </a:pPr>
            <a:r>
              <a:rPr lang="en-US" sz="1100" dirty="0">
                <a:solidFill>
                  <a:srgbClr val="9E9E9E"/>
                </a:solidFill>
                <a:latin typeface="Calibri" pitchFamily="34" charset="0"/>
                <a:ea typeface="Calibri" pitchFamily="34" charset="-122"/>
                <a:cs typeface="Calibri" pitchFamily="34" charset="-120"/>
              </a:rPr>
              <a:t>Cappadocia University</a:t>
            </a:r>
            <a:endParaRPr lang="en-US" sz="1300" dirty="0"/>
          </a:p>
        </p:txBody>
      </p:sp>
      <p:sp>
        <p:nvSpPr>
          <p:cNvPr id="8" name="Text 5"/>
          <p:cNvSpPr txBox="1"/>
          <p:nvPr/>
        </p:nvSpPr>
        <p:spPr>
          <a:xfrm>
            <a:off x="777240" y="5943600"/>
            <a:ext cx="4206240" cy="274320"/>
          </a:xfrm>
          <a:prstGeom prst="rect">
            <a:avLst/>
          </a:prstGeom>
          <a:noFill/>
          <a:ln/>
        </p:spPr>
        <p:txBody>
          <a:bodyPr wrap="square" lIns="0" tIns="0" rIns="0" bIns="0" rtlCol="0" anchor="ctr"/>
          <a:lstStyle/>
          <a:p>
            <a:pPr indent="0" marL="0">
              <a:buNone/>
            </a:pPr>
            <a:r>
              <a:rPr lang="en-US" sz="850" b="1" spc="140" kern="0" dirty="0">
                <a:solidFill>
                  <a:srgbClr val="5A5A5A"/>
                </a:solidFill>
                <a:latin typeface="Calibri" pitchFamily="34" charset="0"/>
                <a:ea typeface="Calibri" pitchFamily="34" charset="-122"/>
                <a:cs typeface="Calibri" pitchFamily="34" charset="-120"/>
              </a:rPr>
              <a:t>ICSMMEP-26   ·   MECCA   ·   3–4 NOVEMBER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The waste</a:t>
            </a:r>
            <a:endParaRPr lang="en-US" sz="2000" dirty="0"/>
          </a:p>
        </p:txBody>
      </p:sp>
      <p:pic>
        <p:nvPicPr>
          <p:cNvPr id="3" name="waste" descr="/home/user/sanat-ve-mekan/konferans-bildirisi/03-gorseller/03-uretim-sureci.jpeg">    </p:cNvPr>
          <p:cNvPicPr>
            <a:picLocks noChangeAspect="1"/>
          </p:cNvPicPr>
          <p:nvPr/>
        </p:nvPicPr>
        <p:blipFill>
          <a:blip r:embed="rId1"/>
          <a:stretch>
            <a:fillRect/>
          </a:stretch>
        </p:blipFill>
        <p:spPr>
          <a:xfrm>
            <a:off x="0" y="1234440"/>
            <a:ext cx="12188952" cy="3895344"/>
          </a:xfrm>
          <a:prstGeom prst="rect">
            <a:avLst/>
          </a:prstGeom>
        </p:spPr>
      </p:pic>
      <p:sp>
        <p:nvSpPr>
          <p:cNvPr id="4" name="Text 1"/>
          <p:cNvSpPr txBox="1"/>
          <p:nvPr/>
        </p:nvSpPr>
        <p:spPr>
          <a:xfrm>
            <a:off x="731520" y="5349240"/>
            <a:ext cx="2194560" cy="571500"/>
          </a:xfrm>
          <a:prstGeom prst="rect">
            <a:avLst/>
          </a:prstGeom>
          <a:noFill/>
          <a:ln/>
        </p:spPr>
        <p:txBody>
          <a:bodyPr wrap="square" lIns="0" tIns="0" rIns="0" bIns="0" rtlCol="0" anchor="b"/>
          <a:lstStyle/>
          <a:p>
            <a:pPr indent="0" marL="0">
              <a:buNone/>
            </a:pPr>
            <a:r>
              <a:rPr lang="en-US" sz="3000" b="1" dirty="0">
                <a:solidFill>
                  <a:srgbClr val="B4513A"/>
                </a:solidFill>
                <a:latin typeface="Calibri" pitchFamily="34" charset="0"/>
                <a:ea typeface="Calibri" pitchFamily="34" charset="-122"/>
                <a:cs typeface="Calibri" pitchFamily="34" charset="-120"/>
              </a:rPr>
              <a:t>94%</a:t>
            </a:r>
            <a:endParaRPr lang="en-US" sz="3000" dirty="0"/>
          </a:p>
        </p:txBody>
      </p:sp>
      <p:sp>
        <p:nvSpPr>
          <p:cNvPr id="5" name="Text 2"/>
          <p:cNvSpPr txBox="1"/>
          <p:nvPr/>
        </p:nvSpPr>
        <p:spPr>
          <a:xfrm>
            <a:off x="731520" y="5957316"/>
            <a:ext cx="219456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calcium carbonate</a:t>
            </a:r>
            <a:endParaRPr lang="en-US" sz="950" dirty="0"/>
          </a:p>
        </p:txBody>
      </p:sp>
      <p:sp>
        <p:nvSpPr>
          <p:cNvPr id="6" name="Text 3"/>
          <p:cNvSpPr txBox="1"/>
          <p:nvPr/>
        </p:nvSpPr>
        <p:spPr>
          <a:xfrm>
            <a:off x="3291840" y="5349240"/>
            <a:ext cx="2194560" cy="571500"/>
          </a:xfrm>
          <a:prstGeom prst="rect">
            <a:avLst/>
          </a:prstGeom>
          <a:noFill/>
          <a:ln/>
        </p:spPr>
        <p:txBody>
          <a:bodyPr wrap="square" lIns="0" tIns="0" rIns="0" bIns="0" rtlCol="0" anchor="b"/>
          <a:lstStyle/>
          <a:p>
            <a:pPr indent="0" marL="0">
              <a:buNone/>
            </a:pPr>
            <a:r>
              <a:rPr lang="en-US" sz="3000" b="1" dirty="0">
                <a:solidFill>
                  <a:srgbClr val="B4513A"/>
                </a:solidFill>
                <a:latin typeface="Calibri" pitchFamily="34" charset="0"/>
                <a:ea typeface="Calibri" pitchFamily="34" charset="-122"/>
                <a:cs typeface="Calibri" pitchFamily="34" charset="-120"/>
              </a:rPr>
              <a:t>&gt; 12</a:t>
            </a:r>
            <a:endParaRPr lang="en-US" sz="3000" dirty="0"/>
          </a:p>
        </p:txBody>
      </p:sp>
      <p:sp>
        <p:nvSpPr>
          <p:cNvPr id="7" name="Text 4"/>
          <p:cNvSpPr txBox="1"/>
          <p:nvPr/>
        </p:nvSpPr>
        <p:spPr>
          <a:xfrm>
            <a:off x="3291840" y="5957316"/>
            <a:ext cx="219456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months of collection</a:t>
            </a:r>
            <a:endParaRPr lang="en-US" sz="950" dirty="0"/>
          </a:p>
        </p:txBody>
      </p:sp>
      <p:sp>
        <p:nvSpPr>
          <p:cNvPr id="8" name="Text 5"/>
          <p:cNvSpPr txBox="1"/>
          <p:nvPr/>
        </p:nvSpPr>
        <p:spPr>
          <a:xfrm>
            <a:off x="5852160" y="5349240"/>
            <a:ext cx="2194560" cy="571500"/>
          </a:xfrm>
          <a:prstGeom prst="rect">
            <a:avLst/>
          </a:prstGeom>
          <a:noFill/>
          <a:ln/>
        </p:spPr>
        <p:txBody>
          <a:bodyPr wrap="square" lIns="0" tIns="0" rIns="0" bIns="0" rtlCol="0" anchor="b"/>
          <a:lstStyle/>
          <a:p>
            <a:pPr indent="0" marL="0">
              <a:buNone/>
            </a:pPr>
            <a:r>
              <a:rPr lang="en-US" sz="3000" b="1" dirty="0">
                <a:solidFill>
                  <a:srgbClr val="B4513A"/>
                </a:solidFill>
                <a:latin typeface="Calibri" pitchFamily="34" charset="0"/>
                <a:ea typeface="Calibri" pitchFamily="34" charset="-122"/>
                <a:cs typeface="Calibri" pitchFamily="34" charset="-120"/>
              </a:rPr>
              <a:t>1</a:t>
            </a:r>
            <a:endParaRPr lang="en-US" sz="3000" dirty="0"/>
          </a:p>
        </p:txBody>
      </p:sp>
      <p:sp>
        <p:nvSpPr>
          <p:cNvPr id="9" name="Text 6"/>
          <p:cNvSpPr txBox="1"/>
          <p:nvPr/>
        </p:nvSpPr>
        <p:spPr>
          <a:xfrm>
            <a:off x="5852160" y="5957316"/>
            <a:ext cx="219456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local bakery</a:t>
            </a:r>
            <a:endParaRPr lang="en-US" sz="950" dirty="0"/>
          </a:p>
        </p:txBody>
      </p:sp>
      <p:sp>
        <p:nvSpPr>
          <p:cNvPr id="10" name="Text 7"/>
          <p:cNvSpPr txBox="1"/>
          <p:nvPr/>
        </p:nvSpPr>
        <p:spPr>
          <a:xfrm>
            <a:off x="8503920" y="5440680"/>
            <a:ext cx="2926080" cy="91440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Porous, protein-bound crystalline structure. Specific gravity 0.85–2.66 — lighter than most mineral fillers.</a:t>
            </a:r>
            <a:endParaRPr lang="en-US" sz="1050" dirty="0"/>
          </a:p>
        </p:txBody>
      </p:sp>
      <p:sp>
        <p:nvSpPr>
          <p:cNvPr id="1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The problem</a:t>
            </a:r>
            <a:endParaRPr lang="en-US" sz="2000" dirty="0"/>
          </a:p>
        </p:txBody>
      </p:sp>
      <p:sp>
        <p:nvSpPr>
          <p:cNvPr id="3" name="Text 1"/>
          <p:cNvSpPr txBox="1"/>
          <p:nvPr/>
        </p:nvSpPr>
        <p:spPr>
          <a:xfrm>
            <a:off x="731520" y="1371600"/>
            <a:ext cx="502920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ESTABLISHED PRACTICE</a:t>
            </a:r>
            <a:endParaRPr lang="en-US" sz="850" dirty="0"/>
          </a:p>
        </p:txBody>
      </p:sp>
      <p:sp>
        <p:nvSpPr>
          <p:cNvPr id="4" name="t0.8"/>
          <p:cNvSpPr/>
          <p:nvPr/>
        </p:nvSpPr>
        <p:spPr>
          <a:xfrm>
            <a:off x="731520" y="1645920"/>
            <a:ext cx="5029200" cy="1371600"/>
          </a:xfrm>
          <a:prstGeom prst="rect">
            <a:avLst/>
          </a:prstGeom>
          <a:solidFill>
            <a:srgbClr val="F7F6F4"/>
          </a:solidFill>
          <a:ln w="12700">
            <a:solidFill>
              <a:srgbClr val="E4E4E4"/>
            </a:solidFill>
            <a:prstDash val="solid"/>
          </a:ln>
        </p:spPr>
      </p:sp>
      <p:sp>
        <p:nvSpPr>
          <p:cNvPr id="5" name="b0.8"/>
          <p:cNvSpPr/>
          <p:nvPr/>
        </p:nvSpPr>
        <p:spPr>
          <a:xfrm>
            <a:off x="731520" y="3017520"/>
            <a:ext cx="5029200" cy="1920240"/>
          </a:xfrm>
          <a:prstGeom prst="rect">
            <a:avLst/>
          </a:prstGeom>
          <a:solidFill>
            <a:srgbClr val="FFFFFF"/>
          </a:solidFill>
          <a:ln w="12700">
            <a:solidFill>
              <a:srgbClr val="E4E4E4"/>
            </a:solidFill>
            <a:prstDash val="solid"/>
          </a:ln>
        </p:spPr>
      </p:sp>
      <p:sp>
        <p:nvSpPr>
          <p:cNvPr id="6" name="Text 4"/>
          <p:cNvSpPr txBox="1"/>
          <p:nvPr/>
        </p:nvSpPr>
        <p:spPr>
          <a:xfrm>
            <a:off x="1051560" y="2029968"/>
            <a:ext cx="4389120" cy="310896"/>
          </a:xfrm>
          <a:prstGeom prst="rect">
            <a:avLst/>
          </a:prstGeom>
          <a:noFill/>
          <a:ln/>
        </p:spPr>
        <p:txBody>
          <a:bodyPr wrap="square" lIns="0" tIns="0" rIns="0" bIns="0" rtlCol="0" anchor="ctr"/>
          <a:lstStyle/>
          <a:p>
            <a:pPr indent="0" marL="0">
              <a:buNone/>
            </a:pPr>
            <a:r>
              <a:rPr lang="en-US" sz="1400" b="1" dirty="0">
                <a:solidFill>
                  <a:srgbClr val="141414"/>
                </a:solidFill>
                <a:latin typeface="Calibri" pitchFamily="34" charset="0"/>
                <a:ea typeface="Calibri" pitchFamily="34" charset="-122"/>
                <a:cs typeface="Calibri" pitchFamily="34" charset="-120"/>
              </a:rPr>
              <a:t>Mineral phase</a:t>
            </a:r>
            <a:endParaRPr lang="en-US" sz="1400" dirty="0"/>
          </a:p>
        </p:txBody>
      </p:sp>
      <p:sp>
        <p:nvSpPr>
          <p:cNvPr id="7" name="Text 5"/>
          <p:cNvSpPr txBox="1"/>
          <p:nvPr/>
        </p:nvSpPr>
        <p:spPr>
          <a:xfrm>
            <a:off x="1051560" y="2377440"/>
            <a:ext cx="4389120" cy="36576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waste eggshell, 5–30% of matrix</a:t>
            </a:r>
            <a:endParaRPr lang="en-US" sz="1100" dirty="0"/>
          </a:p>
        </p:txBody>
      </p:sp>
      <p:sp>
        <p:nvSpPr>
          <p:cNvPr id="8" name="Text 6"/>
          <p:cNvSpPr txBox="1"/>
          <p:nvPr/>
        </p:nvSpPr>
        <p:spPr>
          <a:xfrm>
            <a:off x="1051560" y="3474720"/>
            <a:ext cx="4389120" cy="310896"/>
          </a:xfrm>
          <a:prstGeom prst="rect">
            <a:avLst/>
          </a:prstGeom>
          <a:noFill/>
          <a:ln/>
        </p:spPr>
        <p:txBody>
          <a:bodyPr wrap="square" lIns="0" tIns="0" rIns="0" bIns="0" rtlCol="0" anchor="ctr"/>
          <a:lstStyle/>
          <a:p>
            <a:pPr indent="0" marL="0">
              <a:buNone/>
            </a:pPr>
            <a:r>
              <a:rPr lang="en-US" sz="1400" b="1" dirty="0">
                <a:solidFill>
                  <a:srgbClr val="141414"/>
                </a:solidFill>
                <a:latin typeface="Calibri" pitchFamily="34" charset="0"/>
                <a:ea typeface="Calibri" pitchFamily="34" charset="-122"/>
                <a:cs typeface="Calibri" pitchFamily="34" charset="-120"/>
              </a:rPr>
              <a:t>Binding phase</a:t>
            </a:r>
            <a:endParaRPr lang="en-US" sz="1400" dirty="0"/>
          </a:p>
        </p:txBody>
      </p:sp>
      <p:sp>
        <p:nvSpPr>
          <p:cNvPr id="9" name="Text 7"/>
          <p:cNvSpPr txBox="1"/>
          <p:nvPr/>
        </p:nvSpPr>
        <p:spPr>
          <a:xfrm>
            <a:off x="1051560" y="3840480"/>
            <a:ext cx="4389120" cy="777240"/>
          </a:xfrm>
          <a:prstGeom prst="rect">
            <a:avLst/>
          </a:prstGeom>
          <a:noFill/>
          <a:ln/>
        </p:spPr>
        <p:txBody>
          <a:bodyPr wrap="square" lIns="0" tIns="0" rIns="0" bIns="0" rtlCol="0" anchor="ctr"/>
          <a:lstStyle/>
          <a:p>
            <a:pPr indent="0" marL="0">
              <a:lnSpc>
                <a:spcPts val="1500"/>
              </a:lnSpc>
              <a:buNone/>
            </a:pPr>
            <a:r>
              <a:rPr lang="en-US" sz="1100" dirty="0">
                <a:solidFill>
                  <a:srgbClr val="8C8C8C"/>
                </a:solidFill>
                <a:latin typeface="Calibri" pitchFamily="34" charset="0"/>
                <a:ea typeface="Calibri" pitchFamily="34" charset="-122"/>
                <a:cs typeface="Calibri" pitchFamily="34" charset="-120"/>
              </a:rPr>
              <a:t>Portland clinker · bitumen · lime · ceramic body · PLA, epoxy, PVC, PU</a:t>
            </a:r>
            <a:endParaRPr lang="en-US" sz="1100" dirty="0"/>
          </a:p>
        </p:txBody>
      </p:sp>
      <p:sp>
        <p:nvSpPr>
          <p:cNvPr id="10" name="Text 8"/>
          <p:cNvSpPr txBox="1"/>
          <p:nvPr/>
        </p:nvSpPr>
        <p:spPr>
          <a:xfrm>
            <a:off x="6400800" y="1371600"/>
            <a:ext cx="502920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THIS STUDY</a:t>
            </a:r>
            <a:endParaRPr lang="en-US" sz="850" dirty="0"/>
          </a:p>
        </p:txBody>
      </p:sp>
      <p:sp>
        <p:nvSpPr>
          <p:cNvPr id="11" name="t7"/>
          <p:cNvSpPr/>
          <p:nvPr/>
        </p:nvSpPr>
        <p:spPr>
          <a:xfrm>
            <a:off x="6400800" y="1645920"/>
            <a:ext cx="5029200" cy="1371600"/>
          </a:xfrm>
          <a:prstGeom prst="rect">
            <a:avLst/>
          </a:prstGeom>
          <a:solidFill>
            <a:srgbClr val="F7F6F4"/>
          </a:solidFill>
          <a:ln w="12700">
            <a:solidFill>
              <a:srgbClr val="E4E4E4"/>
            </a:solidFill>
            <a:prstDash val="solid"/>
          </a:ln>
        </p:spPr>
      </p:sp>
      <p:sp>
        <p:nvSpPr>
          <p:cNvPr id="12" name="b7"/>
          <p:cNvSpPr/>
          <p:nvPr/>
        </p:nvSpPr>
        <p:spPr>
          <a:xfrm>
            <a:off x="6400800" y="3017520"/>
            <a:ext cx="5029200" cy="1920240"/>
          </a:xfrm>
          <a:prstGeom prst="rect">
            <a:avLst/>
          </a:prstGeom>
          <a:solidFill>
            <a:srgbClr val="B4513A"/>
          </a:solidFill>
          <a:ln w="12700">
            <a:solidFill>
              <a:srgbClr val="B4513A"/>
            </a:solidFill>
            <a:prstDash val="solid"/>
          </a:ln>
        </p:spPr>
      </p:sp>
      <p:sp>
        <p:nvSpPr>
          <p:cNvPr id="13" name="Text 11"/>
          <p:cNvSpPr txBox="1"/>
          <p:nvPr/>
        </p:nvSpPr>
        <p:spPr>
          <a:xfrm>
            <a:off x="6720840" y="2029968"/>
            <a:ext cx="4389120" cy="310896"/>
          </a:xfrm>
          <a:prstGeom prst="rect">
            <a:avLst/>
          </a:prstGeom>
          <a:noFill/>
          <a:ln/>
        </p:spPr>
        <p:txBody>
          <a:bodyPr wrap="square" lIns="0" tIns="0" rIns="0" bIns="0" rtlCol="0" anchor="ctr"/>
          <a:lstStyle/>
          <a:p>
            <a:pPr indent="0" marL="0">
              <a:buNone/>
            </a:pPr>
            <a:r>
              <a:rPr lang="en-US" sz="1400" b="1" dirty="0">
                <a:solidFill>
                  <a:srgbClr val="141414"/>
                </a:solidFill>
                <a:latin typeface="Calibri" pitchFamily="34" charset="0"/>
                <a:ea typeface="Calibri" pitchFamily="34" charset="-122"/>
                <a:cs typeface="Calibri" pitchFamily="34" charset="-120"/>
              </a:rPr>
              <a:t>Mineral phase</a:t>
            </a:r>
            <a:endParaRPr lang="en-US" sz="1400" dirty="0"/>
          </a:p>
        </p:txBody>
      </p:sp>
      <p:sp>
        <p:nvSpPr>
          <p:cNvPr id="14" name="Text 12"/>
          <p:cNvSpPr txBox="1"/>
          <p:nvPr/>
        </p:nvSpPr>
        <p:spPr>
          <a:xfrm>
            <a:off x="6720840" y="2377440"/>
            <a:ext cx="4389120" cy="365760"/>
          </a:xfrm>
          <a:prstGeom prst="rect">
            <a:avLst/>
          </a:prstGeom>
          <a:noFill/>
          <a:ln/>
        </p:spPr>
        <p:txBody>
          <a:bodyPr wrap="square" lIns="0" tIns="0" rIns="0" bIns="0" rtlCol="0" anchor="ctr"/>
          <a:lstStyle/>
          <a:p>
            <a:pPr indent="0" marL="0">
              <a:buNone/>
            </a:pPr>
            <a:r>
              <a:rPr lang="en-US" sz="1100" dirty="0">
                <a:solidFill>
                  <a:srgbClr val="8C8C8C"/>
                </a:solidFill>
                <a:latin typeface="Calibri" pitchFamily="34" charset="0"/>
                <a:ea typeface="Calibri" pitchFamily="34" charset="-122"/>
                <a:cs typeface="Calibri" pitchFamily="34" charset="-120"/>
              </a:rPr>
              <a:t>waste eggshell, 66% of solids</a:t>
            </a:r>
            <a:endParaRPr lang="en-US" sz="1100" dirty="0"/>
          </a:p>
        </p:txBody>
      </p:sp>
      <p:sp>
        <p:nvSpPr>
          <p:cNvPr id="15" name="Text 13"/>
          <p:cNvSpPr txBox="1"/>
          <p:nvPr/>
        </p:nvSpPr>
        <p:spPr>
          <a:xfrm>
            <a:off x="6720840" y="3474720"/>
            <a:ext cx="4389120"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Binding phase</a:t>
            </a:r>
            <a:endParaRPr lang="en-US" sz="1400" dirty="0"/>
          </a:p>
        </p:txBody>
      </p:sp>
      <p:sp>
        <p:nvSpPr>
          <p:cNvPr id="16" name="Text 14"/>
          <p:cNvSpPr txBox="1"/>
          <p:nvPr/>
        </p:nvSpPr>
        <p:spPr>
          <a:xfrm>
            <a:off x="6720840" y="3840480"/>
            <a:ext cx="4389120" cy="777240"/>
          </a:xfrm>
          <a:prstGeom prst="rect">
            <a:avLst/>
          </a:prstGeom>
          <a:noFill/>
          <a:ln/>
        </p:spPr>
        <p:txBody>
          <a:bodyPr wrap="square" lIns="0" tIns="0" rIns="0" bIns="0" rtlCol="0" anchor="ctr"/>
          <a:lstStyle/>
          <a:p>
            <a:pPr indent="0" marL="0">
              <a:lnSpc>
                <a:spcPts val="1500"/>
              </a:lnSpc>
              <a:buNone/>
            </a:pPr>
            <a:r>
              <a:rPr lang="en-US" sz="1100" dirty="0">
                <a:solidFill>
                  <a:srgbClr val="F2E4DE"/>
                </a:solidFill>
                <a:latin typeface="Calibri" pitchFamily="34" charset="0"/>
                <a:ea typeface="Calibri" pitchFamily="34" charset="-122"/>
                <a:cs typeface="Calibri" pitchFamily="34" charset="-120"/>
              </a:rPr>
              <a:t>agar, plasticised with glycerol</a:t>
            </a:r>
            <a:endParaRPr lang="en-US" sz="1100" dirty="0"/>
          </a:p>
        </p:txBody>
      </p:sp>
      <p:sp>
        <p:nvSpPr>
          <p:cNvPr id="17" name="ar"/>
          <p:cNvSpPr/>
          <p:nvPr/>
        </p:nvSpPr>
        <p:spPr>
          <a:xfrm>
            <a:off x="5897880" y="3108960"/>
            <a:ext cx="411480" cy="292608"/>
          </a:xfrm>
          <a:prstGeom prst="rightArrow">
            <a:avLst/>
          </a:prstGeom>
          <a:solidFill>
            <a:srgbClr val="B4513A"/>
          </a:solidFill>
          <a:ln w="12700">
            <a:solidFill>
              <a:srgbClr val="B4513A">
                <a:alpha val="0"/>
              </a:srgbClr>
            </a:solidFill>
            <a:prstDash val="solid"/>
          </a:ln>
        </p:spPr>
      </p:sp>
      <p:sp>
        <p:nvSpPr>
          <p:cNvPr id="18" name="Text 16"/>
          <p:cNvSpPr txBox="1"/>
          <p:nvPr/>
        </p:nvSpPr>
        <p:spPr>
          <a:xfrm>
            <a:off x="731520" y="5166360"/>
            <a:ext cx="5029200" cy="7315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The waste is valorised. The matrix is not.</a:t>
            </a:r>
            <a:endParaRPr lang="en-US" sz="1050" dirty="0"/>
          </a:p>
        </p:txBody>
      </p:sp>
      <p:sp>
        <p:nvSpPr>
          <p:cNvPr id="19" name="Text 17"/>
          <p:cNvSpPr txBox="1"/>
          <p:nvPr/>
        </p:nvSpPr>
        <p:spPr>
          <a:xfrm>
            <a:off x="6400800" y="5166360"/>
            <a:ext cx="5029200" cy="7315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Both phases biological and biodegradable.</a:t>
            </a:r>
            <a:endParaRPr lang="en-US" sz="1050" dirty="0"/>
          </a:p>
        </p:txBody>
      </p:sp>
      <p:sp>
        <p:nvSpPr>
          <p:cNvPr id="20" name="Text 18"/>
          <p:cNvSpPr txBox="1"/>
          <p:nvPr/>
        </p:nvSpPr>
        <p:spPr>
          <a:xfrm>
            <a:off x="731520" y="5897880"/>
            <a:ext cx="106984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Teara et al. 2019 · Adogla et al. 2016 · Razzaq &amp; Yousif 2017 · Soundara &amp; Vilasini 2015 · Vilarinho et al. 2022 · Owuamanam &amp; Cree 2020</a:t>
            </a:r>
            <a:endParaRPr lang="en-US" sz="900" dirty="0"/>
          </a:p>
        </p:txBody>
      </p:sp>
      <p:sp>
        <p:nvSpPr>
          <p:cNvPr id="2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The binder</a:t>
            </a:r>
            <a:endParaRPr lang="en-US" sz="2000" dirty="0"/>
          </a:p>
        </p:txBody>
      </p:sp>
      <p:sp>
        <p:nvSpPr>
          <p:cNvPr id="3" name="Text 1"/>
          <p:cNvSpPr txBox="1"/>
          <p:nvPr/>
        </p:nvSpPr>
        <p:spPr>
          <a:xfrm>
            <a:off x="731520" y="1371600"/>
            <a:ext cx="5029200" cy="1280160"/>
          </a:xfrm>
          <a:prstGeom prst="rect">
            <a:avLst/>
          </a:prstGeom>
          <a:noFill/>
          <a:ln/>
        </p:spPr>
        <p:txBody>
          <a:bodyPr wrap="square" lIns="0" tIns="0" rIns="0" bIns="0" rtlCol="0" anchor="t"/>
          <a:lstStyle/>
          <a:p>
            <a:pPr indent="0" marL="0">
              <a:lnSpc>
                <a:spcPts val="1900"/>
              </a:lnSpc>
              <a:buNone/>
            </a:pPr>
            <a:r>
              <a:rPr lang="en-US" sz="1300" dirty="0">
                <a:solidFill>
                  <a:srgbClr val="3C3C3C"/>
                </a:solidFill>
                <a:latin typeface="Calibri" pitchFamily="34" charset="0"/>
                <a:ea typeface="Calibri" pitchFamily="34" charset="-122"/>
                <a:cs typeface="Calibri" pitchFamily="34" charset="-120"/>
              </a:rPr>
              <a:t>Agar is a thermoreversible polysaccharide from red seaweed. Its behaviour with glycerol has been mapped systematically — 32 formulations, released as an open dataset.</a:t>
            </a:r>
            <a:endParaRPr lang="en-US" sz="1300" dirty="0"/>
          </a:p>
        </p:txBody>
      </p:sp>
      <p:sp>
        <p:nvSpPr>
          <p:cNvPr id="4" name="Text 2"/>
          <p:cNvSpPr txBox="1"/>
          <p:nvPr/>
        </p:nvSpPr>
        <p:spPr>
          <a:xfrm>
            <a:off x="731520" y="2834640"/>
            <a:ext cx="502920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Hernández et al. (2022), Materials 15(11), 3954</a:t>
            </a:r>
            <a:endParaRPr lang="en-US" sz="900" dirty="0"/>
          </a:p>
        </p:txBody>
      </p:sp>
      <p:sp>
        <p:nvSpPr>
          <p:cNvPr id="5" name="Text 3"/>
          <p:cNvSpPr txBox="1"/>
          <p:nvPr/>
        </p:nvSpPr>
        <p:spPr>
          <a:xfrm>
            <a:off x="731520" y="3429000"/>
            <a:ext cx="502920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BUT ONLY AS A FILM</a:t>
            </a:r>
            <a:endParaRPr lang="en-US" sz="850" dirty="0"/>
          </a:p>
        </p:txBody>
      </p:sp>
      <p:sp>
        <p:nvSpPr>
          <p:cNvPr id="6" name="Text 4"/>
          <p:cNvSpPr txBox="1"/>
          <p:nvPr/>
        </p:nvSpPr>
        <p:spPr>
          <a:xfrm>
            <a:off x="731520" y="3703320"/>
            <a:ext cx="5029200" cy="1188720"/>
          </a:xfrm>
          <a:prstGeom prst="rect">
            <a:avLst/>
          </a:prstGeom>
          <a:noFill/>
          <a:ln/>
        </p:spPr>
        <p:txBody>
          <a:bodyPr wrap="square" lIns="0" tIns="0" rIns="0" bIns="0" rtlCol="0" anchor="t"/>
          <a:lstStyle/>
          <a:p>
            <a:pPr indent="0" marL="0">
              <a:lnSpc>
                <a:spcPts val="1900"/>
              </a:lnSpc>
              <a:buNone/>
            </a:pPr>
            <a:r>
              <a:rPr lang="en-US" sz="1300" dirty="0">
                <a:solidFill>
                  <a:srgbClr val="3C3C3C"/>
                </a:solidFill>
                <a:latin typeface="Calibri" pitchFamily="34" charset="0"/>
                <a:ea typeface="Calibri" pitchFamily="34" charset="-122"/>
                <a:cs typeface="Calibri" pitchFamily="34" charset="-120"/>
              </a:rPr>
              <a:t>Unfilled, thin, tested in uniaxial tension, for packaging. Never as the binder of a mineral-filled cast solid in bending.</a:t>
            </a:r>
            <a:endParaRPr lang="en-US" sz="1300" dirty="0"/>
          </a:p>
        </p:txBody>
      </p:sp>
      <p:sp>
        <p:nvSpPr>
          <p:cNvPr id="7" name="vr6.61.5"/>
          <p:cNvSpPr/>
          <p:nvPr/>
        </p:nvSpPr>
        <p:spPr>
          <a:xfrm>
            <a:off x="6035040" y="1371600"/>
            <a:ext cx="13716" cy="4206240"/>
          </a:xfrm>
          <a:prstGeom prst="rect">
            <a:avLst/>
          </a:prstGeom>
          <a:solidFill>
            <a:srgbClr val="E4E4E4"/>
          </a:solidFill>
          <a:ln w="12700">
            <a:solidFill>
              <a:srgbClr val="E4E4E4">
                <a:alpha val="0"/>
              </a:srgbClr>
            </a:solidFill>
            <a:prstDash val="solid"/>
          </a:ln>
        </p:spPr>
      </p:sp>
      <p:sp>
        <p:nvSpPr>
          <p:cNvPr id="8" name="Text 6"/>
          <p:cNvSpPr txBox="1"/>
          <p:nvPr/>
        </p:nvSpPr>
        <p:spPr>
          <a:xfrm>
            <a:off x="6492240" y="1371600"/>
            <a:ext cx="493776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THE SHIFT</a:t>
            </a:r>
            <a:endParaRPr lang="en-US" sz="8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92240" y="1645920"/>
          <a:ext cx="4937760" cy="914400"/>
        </p:xfrm>
        <a:graphic>
          <a:graphicData uri="http://schemas.openxmlformats.org/drawingml/2006/table">
            <a:tbl>
              <a:tblPr/>
              <a:tblGrid>
                <a:gridCol w="1188720"/>
                <a:gridCol w="1783080"/>
                <a:gridCol w="196596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Film literature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This study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Form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Thin cast film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Cast solid, 20–50 mm</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Filler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Unfilled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Mineral, 66% of solids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Loading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Uniaxial tension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 bending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Use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Packaging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Interior surfaces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6492240" y="3611880"/>
            <a:ext cx="4937760" cy="7315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The compositional logic carries over. The form and the loading case do not.</a:t>
            </a:r>
            <a:endParaRPr lang="en-US" sz="1050" dirty="0"/>
          </a:p>
        </p:txBody>
      </p:sp>
      <p:sp>
        <p:nvSpPr>
          <p:cNvPr id="1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gap</a:t>
            </a:r>
            <a:endParaRPr lang="en-US" sz="2000" dirty="0"/>
          </a:p>
        </p:txBody>
      </p:sp>
      <p:sp>
        <p:nvSpPr>
          <p:cNvPr id="3" name="Text 1"/>
          <p:cNvSpPr txBox="1"/>
          <p:nvPr/>
        </p:nvSpPr>
        <p:spPr>
          <a:xfrm>
            <a:off x="731520" y="1371600"/>
            <a:ext cx="4846320" cy="1371600"/>
          </a:xfrm>
          <a:prstGeom prst="rect">
            <a:avLst/>
          </a:prstGeom>
          <a:noFill/>
          <a:ln/>
        </p:spPr>
        <p:txBody>
          <a:bodyPr wrap="square" lIns="0" tIns="0" rIns="0" bIns="0" rtlCol="0" anchor="t"/>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Materiom publishes biomaterial recipes under CC-BY-SA, archives each as prior art, and indexes property data with citable DOIs. The infrastructure for shared procedures is built.</a:t>
            </a:r>
            <a:endParaRPr lang="en-US" sz="1300" dirty="0"/>
          </a:p>
        </p:txBody>
      </p:sp>
      <p:sp>
        <p:nvSpPr>
          <p:cNvPr id="4" name="Text 2"/>
          <p:cNvSpPr txBox="1"/>
          <p:nvPr/>
        </p:nvSpPr>
        <p:spPr>
          <a:xfrm>
            <a:off x="731520" y="3108960"/>
            <a:ext cx="2011680" cy="1028700"/>
          </a:xfrm>
          <a:prstGeom prst="rect">
            <a:avLst/>
          </a:prstGeom>
          <a:noFill/>
          <a:ln/>
        </p:spPr>
        <p:txBody>
          <a:bodyPr wrap="square" lIns="0" tIns="0" rIns="0" bIns="0" rtlCol="0" anchor="b"/>
          <a:lstStyle/>
          <a:p>
            <a:pPr indent="0" marL="0">
              <a:buNone/>
            </a:pPr>
            <a:r>
              <a:rPr lang="en-US" sz="5400" b="1" dirty="0">
                <a:solidFill>
                  <a:srgbClr val="B4513A"/>
                </a:solidFill>
                <a:latin typeface="Calibri" pitchFamily="34" charset="0"/>
                <a:ea typeface="Calibri" pitchFamily="34" charset="-122"/>
                <a:cs typeface="Calibri" pitchFamily="34" charset="-120"/>
              </a:rPr>
              <a:t>4</a:t>
            </a:r>
            <a:endParaRPr lang="en-US" sz="5400" dirty="0"/>
          </a:p>
        </p:txBody>
      </p:sp>
      <p:sp>
        <p:nvSpPr>
          <p:cNvPr id="5" name="Text 3"/>
          <p:cNvSpPr txBox="1"/>
          <p:nvPr/>
        </p:nvSpPr>
        <p:spPr>
          <a:xfrm>
            <a:off x="731520" y="4174236"/>
            <a:ext cx="2011680" cy="420624"/>
          </a:xfrm>
          <a:prstGeom prst="rect">
            <a:avLst/>
          </a:prstGeom>
          <a:noFill/>
          <a:ln/>
        </p:spPr>
        <p:txBody>
          <a:bodyPr wrap="square" lIns="0" tIns="0" rIns="0" bIns="0" rtlCol="0" anchor="t"/>
          <a:lstStyle/>
          <a:p>
            <a:pPr indent="0" marL="0">
              <a:lnSpc>
                <a:spcPts val="1250"/>
              </a:lnSpc>
              <a:buNone/>
            </a:pPr>
            <a:r>
              <a:rPr lang="en-US" sz="950" dirty="0">
                <a:solidFill>
                  <a:srgbClr val="9E9E9E"/>
                </a:solidFill>
                <a:latin typeface="Calibri" pitchFamily="34" charset="0"/>
                <a:ea typeface="Calibri" pitchFamily="34" charset="-122"/>
                <a:cs typeface="Calibri" pitchFamily="34" charset="-120"/>
              </a:rPr>
              <a:t>recipes with published property data</a:t>
            </a:r>
            <a:endParaRPr lang="en-US" sz="950" dirty="0"/>
          </a:p>
        </p:txBody>
      </p:sp>
      <p:sp>
        <p:nvSpPr>
          <p:cNvPr id="6" name="Text 4"/>
          <p:cNvSpPr txBox="1"/>
          <p:nvPr/>
        </p:nvSpPr>
        <p:spPr>
          <a:xfrm>
            <a:off x="3200400" y="3200400"/>
            <a:ext cx="2377440" cy="219456"/>
          </a:xfrm>
          <a:prstGeom prst="rect">
            <a:avLst/>
          </a:prstGeom>
          <a:noFill/>
          <a:ln/>
        </p:spPr>
        <p:txBody>
          <a:bodyPr wrap="square" lIns="0" tIns="0" rIns="0" bIns="0" rtlCol="0" anchor="ctr"/>
          <a:lstStyle/>
          <a:p>
            <a:pPr indent="0" marL="0">
              <a:buNone/>
            </a:pPr>
            <a:r>
              <a:rPr lang="en-US" sz="850" b="1" spc="130" kern="0" dirty="0">
                <a:solidFill>
                  <a:srgbClr val="8A8A8A"/>
                </a:solidFill>
                <a:latin typeface="Calibri" pitchFamily="34" charset="0"/>
                <a:ea typeface="Calibri" pitchFamily="34" charset="-122"/>
                <a:cs typeface="Calibri" pitchFamily="34" charset="-120"/>
              </a:rPr>
              <a:t>WHICH ARE</a:t>
            </a:r>
            <a:endParaRPr lang="en-US" sz="850" dirty="0"/>
          </a:p>
        </p:txBody>
      </p:sp>
      <p:sp>
        <p:nvSpPr>
          <p:cNvPr id="7" name="Text 5"/>
          <p:cNvSpPr txBox="1"/>
          <p:nvPr/>
        </p:nvSpPr>
        <p:spPr>
          <a:xfrm>
            <a:off x="3200400" y="3474720"/>
            <a:ext cx="2377440" cy="1463040"/>
          </a:xfrm>
          <a:prstGeom prst="rect">
            <a:avLst/>
          </a:prstGeom>
          <a:noFill/>
          <a:ln/>
        </p:spPr>
        <p:txBody>
          <a:bodyPr wrap="square" lIns="0" tIns="0" rIns="0" bIns="0" rtlCol="0" anchor="t"/>
          <a:lstStyle/>
          <a:p>
            <a:pPr indent="0" marL="0">
              <a:lnSpc>
                <a:spcPts val="1600"/>
              </a:lnSpc>
              <a:buNone/>
            </a:pPr>
            <a:r>
              <a:rPr lang="en-US" sz="1100" dirty="0">
                <a:solidFill>
                  <a:srgbClr val="9E9E9E"/>
                </a:solidFill>
                <a:latin typeface="Calibri" pitchFamily="34" charset="0"/>
                <a:ea typeface="Calibri" pitchFamily="34" charset="-122"/>
                <a:cs typeface="Calibri" pitchFamily="34" charset="-120"/>
              </a:rPr>
              <a:t>agar bioplastic</a:t>
            </a:r>
            <a:endParaRPr lang="en-US" sz="1100" dirty="0"/>
          </a:p>
          <a:p>
            <a:pPr indent="0" marL="0">
              <a:lnSpc>
                <a:spcPts val="1600"/>
              </a:lnSpc>
              <a:buNone/>
            </a:pPr>
            <a:r>
              <a:rPr lang="en-US" sz="1100" dirty="0">
                <a:solidFill>
                  <a:srgbClr val="9E9E9E"/>
                </a:solidFill>
                <a:latin typeface="Calibri" pitchFamily="34" charset="0"/>
                <a:ea typeface="Calibri" pitchFamily="34" charset="-122"/>
                <a:cs typeface="Calibri" pitchFamily="34" charset="-120"/>
              </a:rPr>
              <a:t>gelatin bioplastic</a:t>
            </a:r>
            <a:endParaRPr lang="en-US" sz="1100" dirty="0"/>
          </a:p>
          <a:p>
            <a:pPr indent="0" marL="0">
              <a:lnSpc>
                <a:spcPts val="1600"/>
              </a:lnSpc>
              <a:buNone/>
            </a:pPr>
            <a:r>
              <a:rPr lang="en-US" sz="1100" dirty="0">
                <a:solidFill>
                  <a:srgbClr val="9E9E9E"/>
                </a:solidFill>
                <a:latin typeface="Calibri" pitchFamily="34" charset="0"/>
                <a:ea typeface="Calibri" pitchFamily="34" charset="-122"/>
                <a:cs typeface="Calibri" pitchFamily="34" charset="-120"/>
              </a:rPr>
              <a:t>mycelium–walnut shell</a:t>
            </a:r>
            <a:endParaRPr lang="en-US" sz="1100" dirty="0"/>
          </a:p>
          <a:p>
            <a:pPr indent="0" marL="0">
              <a:lnSpc>
                <a:spcPts val="1600"/>
              </a:lnSpc>
              <a:buNone/>
            </a:pPr>
            <a:r>
              <a:rPr lang="en-US" sz="1100" dirty="0">
                <a:solidFill>
                  <a:srgbClr val="9E9E9E"/>
                </a:solidFill>
                <a:latin typeface="Calibri" pitchFamily="34" charset="0"/>
                <a:ea typeface="Calibri" pitchFamily="34" charset="-122"/>
                <a:cs typeface="Calibri" pitchFamily="34" charset="-120"/>
              </a:rPr>
              <a:t>mussel shell–sucrose ceramic</a:t>
            </a:r>
            <a:endParaRPr lang="en-US" sz="1100" dirty="0"/>
          </a:p>
        </p:txBody>
      </p:sp>
      <p:sp>
        <p:nvSpPr>
          <p:cNvPr id="8" name="vr6.61.5"/>
          <p:cNvSpPr/>
          <p:nvPr/>
        </p:nvSpPr>
        <p:spPr>
          <a:xfrm>
            <a:off x="6035040" y="1371600"/>
            <a:ext cx="13716" cy="4023360"/>
          </a:xfrm>
          <a:prstGeom prst="rect">
            <a:avLst/>
          </a:prstGeom>
          <a:solidFill>
            <a:srgbClr val="5A5A5A"/>
          </a:solidFill>
          <a:ln w="12700">
            <a:solidFill>
              <a:srgbClr val="5A5A5A">
                <a:alpha val="0"/>
              </a:srgbClr>
            </a:solidFill>
            <a:prstDash val="solid"/>
          </a:ln>
        </p:spPr>
      </p:sp>
      <p:sp>
        <p:nvSpPr>
          <p:cNvPr id="9" name="Text 7"/>
          <p:cNvSpPr txBox="1"/>
          <p:nvPr/>
        </p:nvSpPr>
        <p:spPr>
          <a:xfrm>
            <a:off x="6492240" y="1371600"/>
            <a:ext cx="4937760" cy="219456"/>
          </a:xfrm>
          <a:prstGeom prst="rect">
            <a:avLst/>
          </a:prstGeom>
          <a:noFill/>
          <a:ln/>
        </p:spPr>
        <p:txBody>
          <a:bodyPr wrap="square" lIns="0" tIns="0" rIns="0" bIns="0" rtlCol="0" anchor="ctr"/>
          <a:lstStyle/>
          <a:p>
            <a:pPr indent="0" marL="0">
              <a:buNone/>
            </a:pPr>
            <a:r>
              <a:rPr lang="en-US" sz="850" b="1" spc="130" kern="0" dirty="0">
                <a:solidFill>
                  <a:srgbClr val="8A8A8A"/>
                </a:solidFill>
                <a:latin typeface="Calibri" pitchFamily="34" charset="0"/>
                <a:ea typeface="Calibri" pitchFamily="34" charset="-122"/>
                <a:cs typeface="Calibri" pitchFamily="34" charset="-120"/>
              </a:rPr>
              <a:t>WHAT THAT MEANS</a:t>
            </a:r>
            <a:endParaRPr lang="en-US" sz="850" dirty="0"/>
          </a:p>
        </p:txBody>
      </p:sp>
      <p:sp>
        <p:nvSpPr>
          <p:cNvPr id="10" name="Text 8"/>
          <p:cNvSpPr txBox="1"/>
          <p:nvPr/>
        </p:nvSpPr>
        <p:spPr>
          <a:xfrm>
            <a:off x="6492240" y="1645920"/>
            <a:ext cx="4937760" cy="1828800"/>
          </a:xfrm>
          <a:prstGeom prst="rect">
            <a:avLst/>
          </a:prstGeom>
          <a:noFill/>
          <a:ln/>
        </p:spPr>
        <p:txBody>
          <a:bodyPr wrap="square" lIns="0" tIns="0" rIns="0" bIns="0" rtlCol="0" anchor="t"/>
          <a:lstStyle/>
          <a:p>
            <a:pPr indent="0" marL="0">
              <a:lnSpc>
                <a:spcPts val="1900"/>
              </a:lnSpc>
              <a:buNone/>
            </a:pPr>
            <a:r>
              <a:rPr lang="en-US" sz="1300" dirty="0">
                <a:solidFill>
                  <a:srgbClr val="FFFFFF"/>
                </a:solidFill>
                <a:latin typeface="Calibri" pitchFamily="34" charset="0"/>
                <a:ea typeface="Calibri" pitchFamily="34" charset="-122"/>
                <a:cs typeface="Calibri" pitchFamily="34" charset="-120"/>
              </a:rPr>
              <a:t>The nearest analogue is the mussel shell–sucrose ceramic: a shell mineral in a biological binder. Nothing couples a shell mineral to agar. Nothing reports compressive, flexural, ignitability and hygric data for one formulation family.</a:t>
            </a:r>
            <a:endParaRPr lang="en-US" sz="1300" dirty="0"/>
          </a:p>
        </p:txBody>
      </p:sp>
      <p:sp>
        <p:nvSpPr>
          <p:cNvPr id="11" name="Text 9"/>
          <p:cNvSpPr txBox="1"/>
          <p:nvPr/>
        </p:nvSpPr>
        <p:spPr>
          <a:xfrm>
            <a:off x="6492240" y="3931920"/>
            <a:ext cx="4937760" cy="731520"/>
          </a:xfrm>
          <a:prstGeom prst="rect">
            <a:avLst/>
          </a:prstGeom>
          <a:noFill/>
          <a:ln/>
        </p:spPr>
        <p:txBody>
          <a:bodyPr wrap="square" lIns="0" tIns="0" rIns="0" bIns="0" rtlCol="0" anchor="ctr"/>
          <a:lstStyle/>
          <a:p>
            <a:pPr indent="0" marL="0">
              <a:lnSpc>
                <a:spcPts val="2100"/>
              </a:lnSpc>
              <a:buNone/>
            </a:pPr>
            <a:r>
              <a:rPr lang="en-US" sz="1500" b="1" dirty="0">
                <a:solidFill>
                  <a:srgbClr val="B4513A"/>
                </a:solidFill>
                <a:latin typeface="Calibri" pitchFamily="34" charset="0"/>
                <a:ea typeface="Calibri" pitchFamily="34" charset="-122"/>
                <a:cs typeface="Calibri" pitchFamily="34" charset="-120"/>
              </a:rPr>
              <a:t>A protocol and a property set entering that commons.</a:t>
            </a:r>
            <a:endParaRPr lang="en-US" sz="1500" dirty="0"/>
          </a:p>
        </p:txBody>
      </p:sp>
      <p:sp>
        <p:nvSpPr>
          <p:cNvPr id="12" name="Text 10"/>
          <p:cNvSpPr txBox="1"/>
          <p:nvPr/>
        </p:nvSpPr>
        <p:spPr>
          <a:xfrm>
            <a:off x="731520" y="5852160"/>
            <a:ext cx="548640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materiom.org/data, accessed October 2026</a:t>
            </a:r>
            <a:endParaRPr lang="en-US" sz="900" dirty="0"/>
          </a:p>
        </p:txBody>
      </p:sp>
      <p:sp>
        <p:nvSpPr>
          <p:cNvPr id="1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Aim and scope</a:t>
            </a:r>
            <a:endParaRPr lang="en-US" sz="2000" dirty="0"/>
          </a:p>
        </p:txBody>
      </p:sp>
      <p:sp>
        <p:nvSpPr>
          <p:cNvPr id="3" name="Text 1"/>
          <p:cNvSpPr txBox="1"/>
          <p:nvPr/>
        </p:nvSpPr>
        <p:spPr>
          <a:xfrm>
            <a:off x="731520" y="1371600"/>
            <a:ext cx="502920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AIM</a:t>
            </a:r>
            <a:endParaRPr lang="en-US" sz="850" dirty="0"/>
          </a:p>
        </p:txBody>
      </p:sp>
      <p:sp>
        <p:nvSpPr>
          <p:cNvPr id="4" name="Text 2"/>
          <p:cNvSpPr txBox="1"/>
          <p:nvPr/>
        </p:nvSpPr>
        <p:spPr>
          <a:xfrm>
            <a:off x="731520" y="1645920"/>
            <a:ext cx="5029200" cy="1097280"/>
          </a:xfrm>
          <a:prstGeom prst="rect">
            <a:avLst/>
          </a:prstGeom>
          <a:noFill/>
          <a:ln/>
        </p:spPr>
        <p:txBody>
          <a:bodyPr wrap="square" lIns="0" tIns="0" rIns="0" bIns="0" rtlCol="0" anchor="ctr"/>
          <a:lstStyle/>
          <a:p>
            <a:pPr indent="0" marL="0">
              <a:lnSpc>
                <a:spcPts val="2400"/>
              </a:lnSpc>
              <a:buNone/>
            </a:pPr>
            <a:r>
              <a:rPr lang="en-US" sz="1600" dirty="0">
                <a:solidFill>
                  <a:srgbClr val="141414"/>
                </a:solidFill>
                <a:latin typeface="Calibri" pitchFamily="34" charset="0"/>
                <a:ea typeface="Calibri" pitchFamily="34" charset="-122"/>
                <a:cs typeface="Calibri" pitchFamily="34" charset="-120"/>
              </a:rPr>
              <a:t>To document a reproducible production protocol for a fully bio-based eggshell composite, and to characterise what it can and cannot do.</a:t>
            </a:r>
            <a:endParaRPr lang="en-US" sz="1600" dirty="0"/>
          </a:p>
        </p:txBody>
      </p:sp>
      <p:sp>
        <p:nvSpPr>
          <p:cNvPr id="5" name="ru0.83.3"/>
          <p:cNvSpPr/>
          <p:nvPr/>
        </p:nvSpPr>
        <p:spPr>
          <a:xfrm>
            <a:off x="731520" y="3017520"/>
            <a:ext cx="5029200" cy="9144"/>
          </a:xfrm>
          <a:prstGeom prst="rect">
            <a:avLst/>
          </a:prstGeom>
          <a:solidFill>
            <a:srgbClr val="E4E4E4"/>
          </a:solidFill>
          <a:ln w="12700">
            <a:solidFill>
              <a:srgbClr val="E4E4E4">
                <a:alpha val="0"/>
              </a:srgbClr>
            </a:solidFill>
            <a:prstDash val="solid"/>
          </a:ln>
        </p:spPr>
      </p:sp>
      <p:sp>
        <p:nvSpPr>
          <p:cNvPr id="6" name="Text 4"/>
          <p:cNvSpPr txBox="1"/>
          <p:nvPr/>
        </p:nvSpPr>
        <p:spPr>
          <a:xfrm>
            <a:off x="731520" y="3246120"/>
            <a:ext cx="502920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NOT IN SCOPE</a:t>
            </a:r>
            <a:endParaRPr lang="en-US" sz="850" dirty="0"/>
          </a:p>
        </p:txBody>
      </p:sp>
      <p:sp>
        <p:nvSpPr>
          <p:cNvPr id="7" name="Text 5"/>
          <p:cNvSpPr txBox="1"/>
          <p:nvPr/>
        </p:nvSpPr>
        <p:spPr>
          <a:xfrm>
            <a:off x="731520" y="3520440"/>
            <a:ext cx="5029200" cy="1645920"/>
          </a:xfrm>
          <a:prstGeom prst="rect">
            <a:avLst/>
          </a:prstGeom>
          <a:noFill/>
          <a:ln/>
        </p:spPr>
        <p:txBody>
          <a:bodyPr wrap="square" lIns="0" tIns="0" rIns="0" bIns="0" rtlCol="0" anchor="ctr"/>
          <a:lstStyle/>
          <a:p>
            <a:pPr marL="342900" indent="-342900">
              <a:lnSpc>
                <a:spcPts val="1750"/>
              </a:lnSpc>
              <a:spcAft>
                <a:spcPts val="600"/>
              </a:spcAft>
              <a:buSzPct val="100000"/>
              <a:buChar char="–"/>
            </a:pPr>
            <a:r>
              <a:rPr lang="en-US" sz="1250" dirty="0">
                <a:solidFill>
                  <a:srgbClr val="3C3C3C"/>
                </a:solidFill>
                <a:latin typeface="Calibri" pitchFamily="34" charset="0"/>
                <a:ea typeface="Calibri" pitchFamily="34" charset="-122"/>
                <a:cs typeface="Calibri" pitchFamily="34" charset="-120"/>
              </a:rPr>
              <a:t>Structural or loadbearing use</a:t>
            </a:r>
            <a:endParaRPr lang="en-US" sz="1250" dirty="0"/>
          </a:p>
          <a:p>
            <a:pPr marL="342900" indent="-342900">
              <a:lnSpc>
                <a:spcPts val="1750"/>
              </a:lnSpc>
              <a:spcAft>
                <a:spcPts val="600"/>
              </a:spcAft>
              <a:buSzPct val="100000"/>
              <a:buChar char="–"/>
            </a:pPr>
            <a:r>
              <a:rPr lang="en-US" sz="1250" dirty="0">
                <a:solidFill>
                  <a:srgbClr val="3C3C3C"/>
                </a:solidFill>
                <a:latin typeface="Calibri" pitchFamily="34" charset="0"/>
                <a:ea typeface="Calibri" pitchFamily="34" charset="-122"/>
                <a:cs typeface="Calibri" pitchFamily="34" charset="-120"/>
              </a:rPr>
              <a:t>Durability and accelerated ageing</a:t>
            </a:r>
            <a:endParaRPr lang="en-US" sz="1250" dirty="0"/>
          </a:p>
          <a:p>
            <a:pPr marL="342900" indent="-342900">
              <a:lnSpc>
                <a:spcPts val="1750"/>
              </a:lnSpc>
              <a:spcAft>
                <a:spcPts val="600"/>
              </a:spcAft>
              <a:buSzPct val="100000"/>
              <a:buChar char="–"/>
            </a:pPr>
            <a:r>
              <a:rPr lang="en-US" sz="1250" dirty="0">
                <a:solidFill>
                  <a:srgbClr val="3C3C3C"/>
                </a:solidFill>
                <a:latin typeface="Calibri" pitchFamily="34" charset="0"/>
                <a:ea typeface="Calibri" pitchFamily="34" charset="-122"/>
                <a:cs typeface="Calibri" pitchFamily="34" charset="-120"/>
              </a:rPr>
              <a:t>Reaction-to-fire classification</a:t>
            </a:r>
            <a:endParaRPr lang="en-US" sz="1250" dirty="0"/>
          </a:p>
          <a:p>
            <a:pPr marL="342900" indent="-342900">
              <a:lnSpc>
                <a:spcPts val="1750"/>
              </a:lnSpc>
              <a:spcAft>
                <a:spcPts val="600"/>
              </a:spcAft>
              <a:buSzPct val="100000"/>
              <a:buChar char="–"/>
            </a:pPr>
            <a:r>
              <a:rPr lang="en-US" sz="1250" dirty="0">
                <a:solidFill>
                  <a:srgbClr val="3C3C3C"/>
                </a:solidFill>
                <a:latin typeface="Calibri" pitchFamily="34" charset="0"/>
                <a:ea typeface="Calibri" pitchFamily="34" charset="-122"/>
                <a:cs typeface="Calibri" pitchFamily="34" charset="-120"/>
              </a:rPr>
              <a:t>Life-cycle assessment</a:t>
            </a:r>
            <a:endParaRPr lang="en-US" sz="1250" dirty="0"/>
          </a:p>
        </p:txBody>
      </p:sp>
      <p:sp>
        <p:nvSpPr>
          <p:cNvPr id="8" name="vr6.61.5"/>
          <p:cNvSpPr/>
          <p:nvPr/>
        </p:nvSpPr>
        <p:spPr>
          <a:xfrm>
            <a:off x="6035040" y="1371600"/>
            <a:ext cx="13716" cy="4023360"/>
          </a:xfrm>
          <a:prstGeom prst="rect">
            <a:avLst/>
          </a:prstGeom>
          <a:solidFill>
            <a:srgbClr val="E4E4E4"/>
          </a:solidFill>
          <a:ln w="12700">
            <a:solidFill>
              <a:srgbClr val="E4E4E4">
                <a:alpha val="0"/>
              </a:srgbClr>
            </a:solidFill>
            <a:prstDash val="solid"/>
          </a:ln>
        </p:spPr>
      </p:sp>
      <p:sp>
        <p:nvSpPr>
          <p:cNvPr id="9" name="Text 7"/>
          <p:cNvSpPr txBox="1"/>
          <p:nvPr/>
        </p:nvSpPr>
        <p:spPr>
          <a:xfrm>
            <a:off x="6492240" y="1371600"/>
            <a:ext cx="493776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IN SCOPE</a:t>
            </a:r>
            <a:endParaRPr lang="en-US" sz="8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92240" y="1645920"/>
          <a:ext cx="4937760" cy="914400"/>
        </p:xfrm>
        <a:graphic>
          <a:graphicData uri="http://schemas.openxmlformats.org/drawingml/2006/table">
            <a:tbl>
              <a:tblPr/>
              <a:tblGrid>
                <a:gridCol w="1645920"/>
                <a:gridCol w="329184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Dimension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This study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Formulations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Five — three compression, two flexure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Specimens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Three per formulation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Properties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 flexure, ignitability, absorption, density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Standards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ASTM D790-17 · ISO 11925-2 · ASTM D570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Conditions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Ambient cure, single laboratory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Application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Non-loadbearing interior surfaces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1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Method</a:t>
            </a:r>
            <a:endParaRPr lang="en-US" sz="2000" dirty="0"/>
          </a:p>
        </p:txBody>
      </p:sp>
      <p:sp>
        <p:nvSpPr>
          <p:cNvPr id="3" name="mo0"/>
          <p:cNvSpPr/>
          <p:nvPr/>
        </p:nvSpPr>
        <p:spPr>
          <a:xfrm>
            <a:off x="731520" y="1600200"/>
            <a:ext cx="420624" cy="420624"/>
          </a:xfrm>
          <a:prstGeom prst="ellipse">
            <a:avLst/>
          </a:prstGeom>
          <a:solidFill>
            <a:srgbClr val="FFFFFF"/>
          </a:solidFill>
          <a:ln w="15875">
            <a:solidFill>
              <a:srgbClr val="141414"/>
            </a:solidFill>
            <a:prstDash val="solid"/>
          </a:ln>
        </p:spPr>
      </p:sp>
      <p:sp>
        <p:nvSpPr>
          <p:cNvPr id="4" name="Text 2"/>
          <p:cNvSpPr txBox="1"/>
          <p:nvPr/>
        </p:nvSpPr>
        <p:spPr>
          <a:xfrm>
            <a:off x="731520" y="160020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1</a:t>
            </a:r>
            <a:endParaRPr lang="en-US" sz="1200" dirty="0"/>
          </a:p>
        </p:txBody>
      </p:sp>
      <p:sp>
        <p:nvSpPr>
          <p:cNvPr id="5" name="Text 3"/>
          <p:cNvSpPr txBox="1"/>
          <p:nvPr/>
        </p:nvSpPr>
        <p:spPr>
          <a:xfrm>
            <a:off x="731520" y="2240280"/>
            <a:ext cx="2542032" cy="329184"/>
          </a:xfrm>
          <a:prstGeom prst="rect">
            <a:avLst/>
          </a:prstGeom>
          <a:noFill/>
          <a:ln/>
        </p:spPr>
        <p:txBody>
          <a:bodyPr wrap="square" lIns="0" tIns="0" rIns="0" bIns="0" rtlCol="0" anchor="ctr"/>
          <a:lstStyle/>
          <a:p>
            <a:pPr indent="0" marL="0">
              <a:buNone/>
            </a:pPr>
            <a:r>
              <a:rPr lang="en-US" sz="1700" b="1" dirty="0">
                <a:solidFill>
                  <a:srgbClr val="141414"/>
                </a:solidFill>
                <a:latin typeface="Calibri" pitchFamily="34" charset="0"/>
                <a:ea typeface="Calibri" pitchFamily="34" charset="-122"/>
                <a:cs typeface="Calibri" pitchFamily="34" charset="-120"/>
              </a:rPr>
              <a:t>Produce</a:t>
            </a:r>
            <a:endParaRPr lang="en-US" sz="1700" dirty="0"/>
          </a:p>
        </p:txBody>
      </p:sp>
      <p:sp>
        <p:nvSpPr>
          <p:cNvPr id="6" name="Text 4"/>
          <p:cNvSpPr txBox="1"/>
          <p:nvPr/>
        </p:nvSpPr>
        <p:spPr>
          <a:xfrm>
            <a:off x="731520" y="2651760"/>
            <a:ext cx="2359152" cy="82296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Develop the composite and record every parameter</a:t>
            </a:r>
            <a:endParaRPr lang="en-US" sz="1200" dirty="0"/>
          </a:p>
        </p:txBody>
      </p:sp>
      <p:sp>
        <p:nvSpPr>
          <p:cNvPr id="7" name="ru0.83.95"/>
          <p:cNvSpPr/>
          <p:nvPr/>
        </p:nvSpPr>
        <p:spPr>
          <a:xfrm>
            <a:off x="731520" y="3611880"/>
            <a:ext cx="2359152" cy="9144"/>
          </a:xfrm>
          <a:prstGeom prst="rect">
            <a:avLst/>
          </a:prstGeom>
          <a:solidFill>
            <a:srgbClr val="E4E4E4"/>
          </a:solidFill>
          <a:ln w="12700">
            <a:solidFill>
              <a:srgbClr val="E4E4E4">
                <a:alpha val="0"/>
              </a:srgbClr>
            </a:solidFill>
            <a:prstDash val="solid"/>
          </a:ln>
        </p:spPr>
      </p:sp>
      <p:sp>
        <p:nvSpPr>
          <p:cNvPr id="8" name="Text 6"/>
          <p:cNvSpPr txBox="1"/>
          <p:nvPr/>
        </p:nvSpPr>
        <p:spPr>
          <a:xfrm>
            <a:off x="731520" y="3767328"/>
            <a:ext cx="2359152" cy="548640"/>
          </a:xfrm>
          <a:prstGeom prst="rect">
            <a:avLst/>
          </a:prstGeom>
          <a:noFill/>
          <a:ln/>
        </p:spPr>
        <p:txBody>
          <a:bodyPr wrap="square" lIns="0" tIns="0" rIns="0" bIns="0" rtlCol="0" anchor="ctr"/>
          <a:lstStyle/>
          <a:p>
            <a:pPr indent="0" marL="0">
              <a:lnSpc>
                <a:spcPts val="1400"/>
              </a:lnSpc>
              <a:buNone/>
            </a:pPr>
            <a:r>
              <a:rPr lang="en-US" sz="1000" dirty="0">
                <a:solidFill>
                  <a:srgbClr val="8C8C8C"/>
                </a:solidFill>
                <a:latin typeface="Calibri" pitchFamily="34" charset="0"/>
                <a:ea typeface="Calibri" pitchFamily="34" charset="-122"/>
                <a:cs typeface="Calibri" pitchFamily="34" charset="-120"/>
              </a:rPr>
              <a:t>Iterative formulation, over one year</a:t>
            </a:r>
            <a:endParaRPr lang="en-US" sz="1000" dirty="0"/>
          </a:p>
        </p:txBody>
      </p:sp>
      <p:sp>
        <p:nvSpPr>
          <p:cNvPr id="9" name="ma0"/>
          <p:cNvSpPr/>
          <p:nvPr/>
        </p:nvSpPr>
        <p:spPr>
          <a:xfrm>
            <a:off x="3310128" y="1719072"/>
            <a:ext cx="219456" cy="164592"/>
          </a:xfrm>
          <a:prstGeom prst="rightArrow">
            <a:avLst/>
          </a:prstGeom>
          <a:solidFill>
            <a:srgbClr val="BDBDBD"/>
          </a:solidFill>
          <a:ln w="12700">
            <a:solidFill>
              <a:srgbClr val="BDBDBD">
                <a:alpha val="0"/>
              </a:srgbClr>
            </a:solidFill>
            <a:prstDash val="solid"/>
          </a:ln>
        </p:spPr>
      </p:sp>
      <p:sp>
        <p:nvSpPr>
          <p:cNvPr id="10" name="mo1"/>
          <p:cNvSpPr/>
          <p:nvPr/>
        </p:nvSpPr>
        <p:spPr>
          <a:xfrm>
            <a:off x="3575304" y="1600200"/>
            <a:ext cx="420624" cy="420624"/>
          </a:xfrm>
          <a:prstGeom prst="ellipse">
            <a:avLst/>
          </a:prstGeom>
          <a:solidFill>
            <a:srgbClr val="FFFFFF"/>
          </a:solidFill>
          <a:ln w="15875">
            <a:solidFill>
              <a:srgbClr val="141414"/>
            </a:solidFill>
            <a:prstDash val="solid"/>
          </a:ln>
        </p:spPr>
      </p:sp>
      <p:sp>
        <p:nvSpPr>
          <p:cNvPr id="11" name="Text 9"/>
          <p:cNvSpPr txBox="1"/>
          <p:nvPr/>
        </p:nvSpPr>
        <p:spPr>
          <a:xfrm>
            <a:off x="3575304" y="160020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2</a:t>
            </a:r>
            <a:endParaRPr lang="en-US" sz="1200" dirty="0"/>
          </a:p>
        </p:txBody>
      </p:sp>
      <p:sp>
        <p:nvSpPr>
          <p:cNvPr id="12" name="Text 10"/>
          <p:cNvSpPr txBox="1"/>
          <p:nvPr/>
        </p:nvSpPr>
        <p:spPr>
          <a:xfrm>
            <a:off x="3575304" y="2240280"/>
            <a:ext cx="2542032" cy="329184"/>
          </a:xfrm>
          <a:prstGeom prst="rect">
            <a:avLst/>
          </a:prstGeom>
          <a:noFill/>
          <a:ln/>
        </p:spPr>
        <p:txBody>
          <a:bodyPr wrap="square" lIns="0" tIns="0" rIns="0" bIns="0" rtlCol="0" anchor="ctr"/>
          <a:lstStyle/>
          <a:p>
            <a:pPr indent="0" marL="0">
              <a:buNone/>
            </a:pPr>
            <a:r>
              <a:rPr lang="en-US" sz="1700" b="1" dirty="0">
                <a:solidFill>
                  <a:srgbClr val="141414"/>
                </a:solidFill>
                <a:latin typeface="Calibri" pitchFamily="34" charset="0"/>
                <a:ea typeface="Calibri" pitchFamily="34" charset="-122"/>
                <a:cs typeface="Calibri" pitchFamily="34" charset="-120"/>
              </a:rPr>
              <a:t>Measure</a:t>
            </a:r>
            <a:endParaRPr lang="en-US" sz="1700" dirty="0"/>
          </a:p>
        </p:txBody>
      </p:sp>
      <p:sp>
        <p:nvSpPr>
          <p:cNvPr id="13" name="Text 11"/>
          <p:cNvSpPr txBox="1"/>
          <p:nvPr/>
        </p:nvSpPr>
        <p:spPr>
          <a:xfrm>
            <a:off x="3575304" y="2651760"/>
            <a:ext cx="2359152" cy="82296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Characterise against published standards</a:t>
            </a:r>
            <a:endParaRPr lang="en-US" sz="1200" dirty="0"/>
          </a:p>
        </p:txBody>
      </p:sp>
      <p:sp>
        <p:nvSpPr>
          <p:cNvPr id="14" name="ru3.913.95"/>
          <p:cNvSpPr/>
          <p:nvPr/>
        </p:nvSpPr>
        <p:spPr>
          <a:xfrm>
            <a:off x="3575304" y="3611880"/>
            <a:ext cx="2359152" cy="9144"/>
          </a:xfrm>
          <a:prstGeom prst="rect">
            <a:avLst/>
          </a:prstGeom>
          <a:solidFill>
            <a:srgbClr val="E4E4E4"/>
          </a:solidFill>
          <a:ln w="12700">
            <a:solidFill>
              <a:srgbClr val="E4E4E4">
                <a:alpha val="0"/>
              </a:srgbClr>
            </a:solidFill>
            <a:prstDash val="solid"/>
          </a:ln>
        </p:spPr>
      </p:sp>
      <p:sp>
        <p:nvSpPr>
          <p:cNvPr id="15" name="Text 13"/>
          <p:cNvSpPr txBox="1"/>
          <p:nvPr/>
        </p:nvSpPr>
        <p:spPr>
          <a:xfrm>
            <a:off x="3575304" y="3767328"/>
            <a:ext cx="2359152" cy="548640"/>
          </a:xfrm>
          <a:prstGeom prst="rect">
            <a:avLst/>
          </a:prstGeom>
          <a:noFill/>
          <a:ln/>
        </p:spPr>
        <p:txBody>
          <a:bodyPr wrap="square" lIns="0" tIns="0" rIns="0" bIns="0" rtlCol="0" anchor="ctr"/>
          <a:lstStyle/>
          <a:p>
            <a:pPr indent="0" marL="0">
              <a:lnSpc>
                <a:spcPts val="1400"/>
              </a:lnSpc>
              <a:buNone/>
            </a:pPr>
            <a:r>
              <a:rPr lang="en-US" sz="1000" dirty="0">
                <a:solidFill>
                  <a:srgbClr val="8C8C8C"/>
                </a:solidFill>
                <a:latin typeface="Calibri" pitchFamily="34" charset="0"/>
                <a:ea typeface="Calibri" pitchFamily="34" charset="-122"/>
                <a:cs typeface="Calibri" pitchFamily="34" charset="-120"/>
              </a:rPr>
              <a:t>Compression · flexure · fire · absorption</a:t>
            </a:r>
            <a:endParaRPr lang="en-US" sz="1000" dirty="0"/>
          </a:p>
        </p:txBody>
      </p:sp>
      <p:sp>
        <p:nvSpPr>
          <p:cNvPr id="16" name="ma1"/>
          <p:cNvSpPr/>
          <p:nvPr/>
        </p:nvSpPr>
        <p:spPr>
          <a:xfrm>
            <a:off x="6153912" y="1719072"/>
            <a:ext cx="219456" cy="164592"/>
          </a:xfrm>
          <a:prstGeom prst="rightArrow">
            <a:avLst/>
          </a:prstGeom>
          <a:solidFill>
            <a:srgbClr val="BDBDBD"/>
          </a:solidFill>
          <a:ln w="12700">
            <a:solidFill>
              <a:srgbClr val="BDBDBD">
                <a:alpha val="0"/>
              </a:srgbClr>
            </a:solidFill>
            <a:prstDash val="solid"/>
          </a:ln>
        </p:spPr>
      </p:sp>
      <p:sp>
        <p:nvSpPr>
          <p:cNvPr id="17" name="mo2"/>
          <p:cNvSpPr/>
          <p:nvPr/>
        </p:nvSpPr>
        <p:spPr>
          <a:xfrm>
            <a:off x="6419088" y="1600200"/>
            <a:ext cx="420624" cy="420624"/>
          </a:xfrm>
          <a:prstGeom prst="ellipse">
            <a:avLst/>
          </a:prstGeom>
          <a:solidFill>
            <a:srgbClr val="FFFFFF"/>
          </a:solidFill>
          <a:ln w="15875">
            <a:solidFill>
              <a:srgbClr val="141414"/>
            </a:solidFill>
            <a:prstDash val="solid"/>
          </a:ln>
        </p:spPr>
      </p:sp>
      <p:sp>
        <p:nvSpPr>
          <p:cNvPr id="18" name="Text 16"/>
          <p:cNvSpPr txBox="1"/>
          <p:nvPr/>
        </p:nvSpPr>
        <p:spPr>
          <a:xfrm>
            <a:off x="6419088" y="1600200"/>
            <a:ext cx="420624" cy="420624"/>
          </a:xfrm>
          <a:prstGeom prst="rect">
            <a:avLst/>
          </a:prstGeom>
          <a:noFill/>
          <a:ln/>
        </p:spPr>
        <p:txBody>
          <a:bodyPr wrap="square" lIns="0" tIns="0" rIns="0" bIns="0" rtlCol="0" anchor="ctr"/>
          <a:lstStyle/>
          <a:p>
            <a:pPr algn="ctr" indent="0" marL="0">
              <a:buNone/>
            </a:pPr>
            <a:r>
              <a:rPr lang="en-US" sz="1200" b="1" dirty="0">
                <a:solidFill>
                  <a:srgbClr val="141414"/>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6419088" y="2240280"/>
            <a:ext cx="2542032" cy="329184"/>
          </a:xfrm>
          <a:prstGeom prst="rect">
            <a:avLst/>
          </a:prstGeom>
          <a:noFill/>
          <a:ln/>
        </p:spPr>
        <p:txBody>
          <a:bodyPr wrap="square" lIns="0" tIns="0" rIns="0" bIns="0" rtlCol="0" anchor="ctr"/>
          <a:lstStyle/>
          <a:p>
            <a:pPr indent="0" marL="0">
              <a:buNone/>
            </a:pPr>
            <a:r>
              <a:rPr lang="en-US" sz="1700" b="1" dirty="0">
                <a:solidFill>
                  <a:srgbClr val="141414"/>
                </a:solidFill>
                <a:latin typeface="Calibri" pitchFamily="34" charset="0"/>
                <a:ea typeface="Calibri" pitchFamily="34" charset="-122"/>
                <a:cs typeface="Calibri" pitchFamily="34" charset="-120"/>
              </a:rPr>
              <a:t>Position</a:t>
            </a:r>
            <a:endParaRPr lang="en-US" sz="1700" dirty="0"/>
          </a:p>
        </p:txBody>
      </p:sp>
      <p:sp>
        <p:nvSpPr>
          <p:cNvPr id="20" name="Text 18"/>
          <p:cNvSpPr txBox="1"/>
          <p:nvPr/>
        </p:nvSpPr>
        <p:spPr>
          <a:xfrm>
            <a:off x="6419088" y="2651760"/>
            <a:ext cx="2359152" cy="82296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Benchmark against two material families</a:t>
            </a:r>
            <a:endParaRPr lang="en-US" sz="1200" dirty="0"/>
          </a:p>
        </p:txBody>
      </p:sp>
      <p:sp>
        <p:nvSpPr>
          <p:cNvPr id="21" name="ru7.023.95"/>
          <p:cNvSpPr/>
          <p:nvPr/>
        </p:nvSpPr>
        <p:spPr>
          <a:xfrm>
            <a:off x="6419088" y="3611880"/>
            <a:ext cx="2359152" cy="9144"/>
          </a:xfrm>
          <a:prstGeom prst="rect">
            <a:avLst/>
          </a:prstGeom>
          <a:solidFill>
            <a:srgbClr val="E4E4E4"/>
          </a:solidFill>
          <a:ln w="12700">
            <a:solidFill>
              <a:srgbClr val="E4E4E4">
                <a:alpha val="0"/>
              </a:srgbClr>
            </a:solidFill>
            <a:prstDash val="solid"/>
          </a:ln>
        </p:spPr>
      </p:sp>
      <p:sp>
        <p:nvSpPr>
          <p:cNvPr id="22" name="Text 20"/>
          <p:cNvSpPr txBox="1"/>
          <p:nvPr/>
        </p:nvSpPr>
        <p:spPr>
          <a:xfrm>
            <a:off x="6419088" y="3767328"/>
            <a:ext cx="2359152" cy="548640"/>
          </a:xfrm>
          <a:prstGeom prst="rect">
            <a:avLst/>
          </a:prstGeom>
          <a:noFill/>
          <a:ln/>
        </p:spPr>
        <p:txBody>
          <a:bodyPr wrap="square" lIns="0" tIns="0" rIns="0" bIns="0" rtlCol="0" anchor="ctr"/>
          <a:lstStyle/>
          <a:p>
            <a:pPr indent="0" marL="0">
              <a:lnSpc>
                <a:spcPts val="1400"/>
              </a:lnSpc>
              <a:buNone/>
            </a:pPr>
            <a:r>
              <a:rPr lang="en-US" sz="1000" dirty="0">
                <a:solidFill>
                  <a:srgbClr val="8C8C8C"/>
                </a:solidFill>
                <a:latin typeface="Calibri" pitchFamily="34" charset="0"/>
                <a:ea typeface="Calibri" pitchFamily="34" charset="-122"/>
                <a:cs typeface="Calibri" pitchFamily="34" charset="-120"/>
              </a:rPr>
              <a:t>Conventional interior · bio-based composites</a:t>
            </a:r>
            <a:endParaRPr lang="en-US" sz="1000" dirty="0"/>
          </a:p>
        </p:txBody>
      </p:sp>
      <p:sp>
        <p:nvSpPr>
          <p:cNvPr id="23" name="ma2"/>
          <p:cNvSpPr/>
          <p:nvPr/>
        </p:nvSpPr>
        <p:spPr>
          <a:xfrm>
            <a:off x="8997696" y="1719072"/>
            <a:ext cx="219456" cy="164592"/>
          </a:xfrm>
          <a:prstGeom prst="rightArrow">
            <a:avLst/>
          </a:prstGeom>
          <a:solidFill>
            <a:srgbClr val="BDBDBD"/>
          </a:solidFill>
          <a:ln w="12700">
            <a:solidFill>
              <a:srgbClr val="BDBDBD">
                <a:alpha val="0"/>
              </a:srgbClr>
            </a:solidFill>
            <a:prstDash val="solid"/>
          </a:ln>
        </p:spPr>
      </p:sp>
      <p:sp>
        <p:nvSpPr>
          <p:cNvPr id="24" name="mo3"/>
          <p:cNvSpPr/>
          <p:nvPr/>
        </p:nvSpPr>
        <p:spPr>
          <a:xfrm>
            <a:off x="9262872" y="1600200"/>
            <a:ext cx="420624" cy="420624"/>
          </a:xfrm>
          <a:prstGeom prst="ellipse">
            <a:avLst/>
          </a:prstGeom>
          <a:solidFill>
            <a:srgbClr val="B4513A"/>
          </a:solidFill>
          <a:ln w="15875">
            <a:solidFill>
              <a:srgbClr val="B4513A"/>
            </a:solidFill>
            <a:prstDash val="solid"/>
          </a:ln>
        </p:spPr>
      </p:sp>
      <p:sp>
        <p:nvSpPr>
          <p:cNvPr id="25" name="Text 23"/>
          <p:cNvSpPr txBox="1"/>
          <p:nvPr/>
        </p:nvSpPr>
        <p:spPr>
          <a:xfrm>
            <a:off x="9262872" y="160020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txBox="1"/>
          <p:nvPr/>
        </p:nvSpPr>
        <p:spPr>
          <a:xfrm>
            <a:off x="9262872" y="2240280"/>
            <a:ext cx="2542032" cy="329184"/>
          </a:xfrm>
          <a:prstGeom prst="rect">
            <a:avLst/>
          </a:prstGeom>
          <a:noFill/>
          <a:ln/>
        </p:spPr>
        <p:txBody>
          <a:bodyPr wrap="square" lIns="0" tIns="0" rIns="0" bIns="0" rtlCol="0" anchor="ctr"/>
          <a:lstStyle/>
          <a:p>
            <a:pPr indent="0" marL="0">
              <a:buNone/>
            </a:pPr>
            <a:r>
              <a:rPr lang="en-US" sz="1700" b="1" dirty="0">
                <a:solidFill>
                  <a:srgbClr val="141414"/>
                </a:solidFill>
                <a:latin typeface="Calibri" pitchFamily="34" charset="0"/>
                <a:ea typeface="Calibri" pitchFamily="34" charset="-122"/>
                <a:cs typeface="Calibri" pitchFamily="34" charset="-120"/>
              </a:rPr>
              <a:t>Propose</a:t>
            </a:r>
            <a:endParaRPr lang="en-US" sz="1700" dirty="0"/>
          </a:p>
        </p:txBody>
      </p:sp>
      <p:sp>
        <p:nvSpPr>
          <p:cNvPr id="27" name="Text 25"/>
          <p:cNvSpPr txBox="1"/>
          <p:nvPr/>
        </p:nvSpPr>
        <p:spPr>
          <a:xfrm>
            <a:off x="9262872" y="2651760"/>
            <a:ext cx="2359152" cy="822960"/>
          </a:xfrm>
          <a:prstGeom prst="rect">
            <a:avLst/>
          </a:prstGeom>
          <a:noFill/>
          <a:ln/>
        </p:spPr>
        <p:txBody>
          <a:bodyPr wrap="square" lIns="0" tIns="0" rIns="0" bIns="0" rtlCol="0" anchor="ctr"/>
          <a:lstStyle/>
          <a:p>
            <a:pPr indent="0" marL="0">
              <a:lnSpc>
                <a:spcPts val="1700"/>
              </a:lnSpc>
              <a:buNone/>
            </a:pPr>
            <a:r>
              <a:rPr lang="en-US" sz="1200" dirty="0">
                <a:solidFill>
                  <a:srgbClr val="3C3C3C"/>
                </a:solidFill>
                <a:latin typeface="Calibri" pitchFamily="34" charset="0"/>
                <a:ea typeface="Calibri" pitchFamily="34" charset="-122"/>
                <a:cs typeface="Calibri" pitchFamily="34" charset="-120"/>
              </a:rPr>
              <a:t>Derive an evaluation criterion from the behaviour</a:t>
            </a:r>
            <a:endParaRPr lang="en-US" sz="1200" dirty="0"/>
          </a:p>
        </p:txBody>
      </p:sp>
      <p:sp>
        <p:nvSpPr>
          <p:cNvPr id="28" name="ru10.133.95"/>
          <p:cNvSpPr/>
          <p:nvPr/>
        </p:nvSpPr>
        <p:spPr>
          <a:xfrm>
            <a:off x="9262872" y="3611880"/>
            <a:ext cx="2359152" cy="9144"/>
          </a:xfrm>
          <a:prstGeom prst="rect">
            <a:avLst/>
          </a:prstGeom>
          <a:solidFill>
            <a:srgbClr val="E4E4E4"/>
          </a:solidFill>
          <a:ln w="12700">
            <a:solidFill>
              <a:srgbClr val="E4E4E4">
                <a:alpha val="0"/>
              </a:srgbClr>
            </a:solidFill>
            <a:prstDash val="solid"/>
          </a:ln>
        </p:spPr>
      </p:sp>
      <p:sp>
        <p:nvSpPr>
          <p:cNvPr id="29" name="Text 27"/>
          <p:cNvSpPr txBox="1"/>
          <p:nvPr/>
        </p:nvSpPr>
        <p:spPr>
          <a:xfrm>
            <a:off x="9262872" y="3767328"/>
            <a:ext cx="2359152" cy="548640"/>
          </a:xfrm>
          <a:prstGeom prst="rect">
            <a:avLst/>
          </a:prstGeom>
          <a:noFill/>
          <a:ln/>
        </p:spPr>
        <p:txBody>
          <a:bodyPr wrap="square" lIns="0" tIns="0" rIns="0" bIns="0" rtlCol="0" anchor="ctr"/>
          <a:lstStyle/>
          <a:p>
            <a:pPr indent="0" marL="0">
              <a:lnSpc>
                <a:spcPts val="1400"/>
              </a:lnSpc>
              <a:buNone/>
            </a:pPr>
            <a:r>
              <a:rPr lang="en-US" sz="1000" dirty="0">
                <a:solidFill>
                  <a:srgbClr val="8C8C8C"/>
                </a:solidFill>
                <a:latin typeface="Calibri" pitchFamily="34" charset="0"/>
                <a:ea typeface="Calibri" pitchFamily="34" charset="-122"/>
                <a:cs typeface="Calibri" pitchFamily="34" charset="-120"/>
              </a:rPr>
              <a:t>Deformation capacity alongside strength</a:t>
            </a:r>
            <a:endParaRPr lang="en-US" sz="1000" dirty="0"/>
          </a:p>
        </p:txBody>
      </p:sp>
      <p:sp>
        <p:nvSpPr>
          <p:cNvPr id="30" name="ru0.85.2"/>
          <p:cNvSpPr/>
          <p:nvPr/>
        </p:nvSpPr>
        <p:spPr>
          <a:xfrm>
            <a:off x="731520" y="4754880"/>
            <a:ext cx="10698480" cy="9144"/>
          </a:xfrm>
          <a:prstGeom prst="rect">
            <a:avLst/>
          </a:prstGeom>
          <a:solidFill>
            <a:srgbClr val="E4E4E4"/>
          </a:solidFill>
          <a:ln w="12700">
            <a:solidFill>
              <a:srgbClr val="E4E4E4">
                <a:alpha val="0"/>
              </a:srgbClr>
            </a:solidFill>
            <a:prstDash val="solid"/>
          </a:ln>
        </p:spPr>
      </p:sp>
      <p:sp>
        <p:nvSpPr>
          <p:cNvPr id="31" name="Text 29"/>
          <p:cNvSpPr txBox="1"/>
          <p:nvPr/>
        </p:nvSpPr>
        <p:spPr>
          <a:xfrm>
            <a:off x="731520" y="4937760"/>
            <a:ext cx="10698480" cy="82296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Material-driven: the properties are measured first and the application is derived from them, rather than the material being selected to fit a predetermined form. The design proposal shown later follows from the measurements, not the other way round.</a:t>
            </a:r>
            <a:endParaRPr lang="en-US" sz="1050" dirty="0"/>
          </a:p>
        </p:txBody>
      </p:sp>
      <p:sp>
        <p:nvSpPr>
          <p:cNvPr id="33"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Questions</a:t>
            </a:r>
            <a:endParaRPr lang="en-US" sz="2000" dirty="0"/>
          </a:p>
        </p:txBody>
      </p:sp>
      <p:sp>
        <p:nvSpPr>
          <p:cNvPr id="3" name="Text 1"/>
          <p:cNvSpPr txBox="1"/>
          <p:nvPr/>
        </p:nvSpPr>
        <p:spPr>
          <a:xfrm>
            <a:off x="731520" y="1444752"/>
            <a:ext cx="548640" cy="274320"/>
          </a:xfrm>
          <a:prstGeom prst="rect">
            <a:avLst/>
          </a:prstGeom>
          <a:noFill/>
          <a:ln/>
        </p:spPr>
        <p:txBody>
          <a:bodyPr wrap="square" lIns="0" tIns="0" rIns="0" bIns="0" rtlCol="0" anchor="ctr"/>
          <a:lstStyle/>
          <a:p>
            <a:pPr indent="0" marL="0">
              <a:buNone/>
            </a:pPr>
            <a:r>
              <a:rPr lang="en-US" sz="1100" b="1" dirty="0">
                <a:solidFill>
                  <a:srgbClr val="B4513A"/>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463040" y="1371600"/>
            <a:ext cx="9966960" cy="457200"/>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Which formulation variable governs compressive strength?</a:t>
            </a:r>
            <a:endParaRPr lang="en-US" sz="1500" dirty="0"/>
          </a:p>
        </p:txBody>
      </p:sp>
      <p:sp>
        <p:nvSpPr>
          <p:cNvPr id="5" name="ru0.82.05"/>
          <p:cNvSpPr/>
          <p:nvPr/>
        </p:nvSpPr>
        <p:spPr>
          <a:xfrm>
            <a:off x="731520" y="1874520"/>
            <a:ext cx="10698480" cy="9144"/>
          </a:xfrm>
          <a:prstGeom prst="rect">
            <a:avLst/>
          </a:prstGeom>
          <a:solidFill>
            <a:srgbClr val="E4E4E4"/>
          </a:solidFill>
          <a:ln w="12700">
            <a:solidFill>
              <a:srgbClr val="E4E4E4">
                <a:alpha val="0"/>
              </a:srgbClr>
            </a:solidFill>
            <a:prstDash val="solid"/>
          </a:ln>
        </p:spPr>
      </p:sp>
      <p:sp>
        <p:nvSpPr>
          <p:cNvPr id="6" name="Text 4"/>
          <p:cNvSpPr txBox="1"/>
          <p:nvPr/>
        </p:nvSpPr>
        <p:spPr>
          <a:xfrm>
            <a:off x="731520" y="2103120"/>
            <a:ext cx="548640" cy="274320"/>
          </a:xfrm>
          <a:prstGeom prst="rect">
            <a:avLst/>
          </a:prstGeom>
          <a:noFill/>
          <a:ln/>
        </p:spPr>
        <p:txBody>
          <a:bodyPr wrap="square" lIns="0" tIns="0" rIns="0" bIns="0" rtlCol="0" anchor="ctr"/>
          <a:lstStyle/>
          <a:p>
            <a:pPr indent="0" marL="0">
              <a:buNone/>
            </a:pPr>
            <a:r>
              <a:rPr lang="en-US" sz="1100" b="1" dirty="0">
                <a:solidFill>
                  <a:srgbClr val="B4513A"/>
                </a:solidFill>
                <a:latin typeface="Calibri" pitchFamily="34" charset="0"/>
                <a:ea typeface="Calibri" pitchFamily="34" charset="-122"/>
                <a:cs typeface="Calibri" pitchFamily="34" charset="-120"/>
              </a:rPr>
              <a:t>02</a:t>
            </a:r>
            <a:endParaRPr lang="en-US" sz="1100" dirty="0"/>
          </a:p>
        </p:txBody>
      </p:sp>
      <p:sp>
        <p:nvSpPr>
          <p:cNvPr id="7" name="Text 5"/>
          <p:cNvSpPr txBox="1"/>
          <p:nvPr/>
        </p:nvSpPr>
        <p:spPr>
          <a:xfrm>
            <a:off x="1463040" y="2029968"/>
            <a:ext cx="9966960" cy="457200"/>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What does plasticiser content do to flexural behaviour?</a:t>
            </a:r>
            <a:endParaRPr lang="en-US" sz="1500" dirty="0"/>
          </a:p>
        </p:txBody>
      </p:sp>
      <p:sp>
        <p:nvSpPr>
          <p:cNvPr id="8" name="ru0.82.7699999999999996"/>
          <p:cNvSpPr/>
          <p:nvPr/>
        </p:nvSpPr>
        <p:spPr>
          <a:xfrm>
            <a:off x="731520" y="2532888"/>
            <a:ext cx="10698480" cy="9144"/>
          </a:xfrm>
          <a:prstGeom prst="rect">
            <a:avLst/>
          </a:prstGeom>
          <a:solidFill>
            <a:srgbClr val="E4E4E4"/>
          </a:solidFill>
          <a:ln w="12700">
            <a:solidFill>
              <a:srgbClr val="E4E4E4">
                <a:alpha val="0"/>
              </a:srgbClr>
            </a:solidFill>
            <a:prstDash val="solid"/>
          </a:ln>
        </p:spPr>
      </p:sp>
      <p:sp>
        <p:nvSpPr>
          <p:cNvPr id="9" name="Text 7"/>
          <p:cNvSpPr txBox="1"/>
          <p:nvPr/>
        </p:nvSpPr>
        <p:spPr>
          <a:xfrm>
            <a:off x="731520" y="2761488"/>
            <a:ext cx="548640" cy="274320"/>
          </a:xfrm>
          <a:prstGeom prst="rect">
            <a:avLst/>
          </a:prstGeom>
          <a:noFill/>
          <a:ln/>
        </p:spPr>
        <p:txBody>
          <a:bodyPr wrap="square" lIns="0" tIns="0" rIns="0" bIns="0" rtlCol="0" anchor="ctr"/>
          <a:lstStyle/>
          <a:p>
            <a:pPr indent="0" marL="0">
              <a:buNone/>
            </a:pPr>
            <a:r>
              <a:rPr lang="en-US" sz="1100" b="1" dirty="0">
                <a:solidFill>
                  <a:srgbClr val="B4513A"/>
                </a:solidFill>
                <a:latin typeface="Calibri" pitchFamily="34" charset="0"/>
                <a:ea typeface="Calibri" pitchFamily="34" charset="-122"/>
                <a:cs typeface="Calibri" pitchFamily="34" charset="-120"/>
              </a:rPr>
              <a:t>03</a:t>
            </a:r>
            <a:endParaRPr lang="en-US" sz="1100" dirty="0"/>
          </a:p>
        </p:txBody>
      </p:sp>
      <p:sp>
        <p:nvSpPr>
          <p:cNvPr id="10" name="Text 8"/>
          <p:cNvSpPr txBox="1"/>
          <p:nvPr/>
        </p:nvSpPr>
        <p:spPr>
          <a:xfrm>
            <a:off x="1463040" y="2688336"/>
            <a:ext cx="9966960" cy="457200"/>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How does it compare with conventional interior materials?</a:t>
            </a:r>
            <a:endParaRPr lang="en-US" sz="1500" dirty="0"/>
          </a:p>
        </p:txBody>
      </p:sp>
      <p:sp>
        <p:nvSpPr>
          <p:cNvPr id="11" name="ru0.83.49"/>
          <p:cNvSpPr/>
          <p:nvPr/>
        </p:nvSpPr>
        <p:spPr>
          <a:xfrm>
            <a:off x="731520" y="3191256"/>
            <a:ext cx="10698480" cy="9144"/>
          </a:xfrm>
          <a:prstGeom prst="rect">
            <a:avLst/>
          </a:prstGeom>
          <a:solidFill>
            <a:srgbClr val="E4E4E4"/>
          </a:solidFill>
          <a:ln w="12700">
            <a:solidFill>
              <a:srgbClr val="E4E4E4">
                <a:alpha val="0"/>
              </a:srgbClr>
            </a:solidFill>
            <a:prstDash val="solid"/>
          </a:ln>
        </p:spPr>
      </p:sp>
      <p:sp>
        <p:nvSpPr>
          <p:cNvPr id="12" name="Text 10"/>
          <p:cNvSpPr txBox="1"/>
          <p:nvPr/>
        </p:nvSpPr>
        <p:spPr>
          <a:xfrm>
            <a:off x="731520" y="3419856"/>
            <a:ext cx="548640" cy="274320"/>
          </a:xfrm>
          <a:prstGeom prst="rect">
            <a:avLst/>
          </a:prstGeom>
          <a:noFill/>
          <a:ln/>
        </p:spPr>
        <p:txBody>
          <a:bodyPr wrap="square" lIns="0" tIns="0" rIns="0" bIns="0" rtlCol="0" anchor="ctr"/>
          <a:lstStyle/>
          <a:p>
            <a:pPr indent="0" marL="0">
              <a:buNone/>
            </a:pPr>
            <a:r>
              <a:rPr lang="en-US" sz="1100" b="1" dirty="0">
                <a:solidFill>
                  <a:srgbClr val="B4513A"/>
                </a:solidFill>
                <a:latin typeface="Calibri" pitchFamily="34" charset="0"/>
                <a:ea typeface="Calibri" pitchFamily="34" charset="-122"/>
                <a:cs typeface="Calibri" pitchFamily="34" charset="-120"/>
              </a:rPr>
              <a:t>04</a:t>
            </a:r>
            <a:endParaRPr lang="en-US" sz="1100" dirty="0"/>
          </a:p>
        </p:txBody>
      </p:sp>
      <p:sp>
        <p:nvSpPr>
          <p:cNvPr id="13" name="Text 11"/>
          <p:cNvSpPr txBox="1"/>
          <p:nvPr/>
        </p:nvSpPr>
        <p:spPr>
          <a:xfrm>
            <a:off x="1463040" y="3346704"/>
            <a:ext cx="9966960" cy="457200"/>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How does it compare with other bio-based composites?</a:t>
            </a:r>
            <a:endParaRPr lang="en-US" sz="1500" dirty="0"/>
          </a:p>
        </p:txBody>
      </p:sp>
      <p:sp>
        <p:nvSpPr>
          <p:cNvPr id="14" name="ru0.84.21"/>
          <p:cNvSpPr/>
          <p:nvPr/>
        </p:nvSpPr>
        <p:spPr>
          <a:xfrm>
            <a:off x="731520" y="3849624"/>
            <a:ext cx="10698480" cy="9144"/>
          </a:xfrm>
          <a:prstGeom prst="rect">
            <a:avLst/>
          </a:prstGeom>
          <a:solidFill>
            <a:srgbClr val="E4E4E4"/>
          </a:solidFill>
          <a:ln w="12700">
            <a:solidFill>
              <a:srgbClr val="E4E4E4">
                <a:alpha val="0"/>
              </a:srgbClr>
            </a:solidFill>
            <a:prstDash val="solid"/>
          </a:ln>
        </p:spPr>
      </p:sp>
      <p:sp>
        <p:nvSpPr>
          <p:cNvPr id="15" name="Text 13"/>
          <p:cNvSpPr txBox="1"/>
          <p:nvPr/>
        </p:nvSpPr>
        <p:spPr>
          <a:xfrm>
            <a:off x="731520" y="4078224"/>
            <a:ext cx="548640" cy="274320"/>
          </a:xfrm>
          <a:prstGeom prst="rect">
            <a:avLst/>
          </a:prstGeom>
          <a:noFill/>
          <a:ln/>
        </p:spPr>
        <p:txBody>
          <a:bodyPr wrap="square" lIns="0" tIns="0" rIns="0" bIns="0" rtlCol="0" anchor="ctr"/>
          <a:lstStyle/>
          <a:p>
            <a:pPr indent="0" marL="0">
              <a:buNone/>
            </a:pPr>
            <a:r>
              <a:rPr lang="en-US" sz="1100" b="1" dirty="0">
                <a:solidFill>
                  <a:srgbClr val="B4513A"/>
                </a:solidFill>
                <a:latin typeface="Calibri" pitchFamily="34" charset="0"/>
                <a:ea typeface="Calibri" pitchFamily="34" charset="-122"/>
                <a:cs typeface="Calibri" pitchFamily="34" charset="-120"/>
              </a:rPr>
              <a:t>05</a:t>
            </a:r>
            <a:endParaRPr lang="en-US" sz="1100" dirty="0"/>
          </a:p>
        </p:txBody>
      </p:sp>
      <p:sp>
        <p:nvSpPr>
          <p:cNvPr id="16" name="Text 14"/>
          <p:cNvSpPr txBox="1"/>
          <p:nvPr/>
        </p:nvSpPr>
        <p:spPr>
          <a:xfrm>
            <a:off x="1463040" y="4005072"/>
            <a:ext cx="9966960" cy="457200"/>
          </a:xfrm>
          <a:prstGeom prst="rect">
            <a:avLst/>
          </a:prstGeom>
          <a:noFill/>
          <a:ln/>
        </p:spPr>
        <p:txBody>
          <a:bodyPr wrap="square" lIns="0" tIns="0" rIns="0" bIns="0" rtlCol="0" anchor="ctr"/>
          <a:lstStyle/>
          <a:p>
            <a:pPr indent="0" marL="0">
              <a:buNone/>
            </a:pPr>
            <a:r>
              <a:rPr lang="en-US" sz="1500" dirty="0">
                <a:solidFill>
                  <a:srgbClr val="141414"/>
                </a:solidFill>
                <a:latin typeface="Calibri" pitchFamily="34" charset="0"/>
                <a:ea typeface="Calibri" pitchFamily="34" charset="-122"/>
                <a:cs typeface="Calibri" pitchFamily="34" charset="-120"/>
              </a:rPr>
              <a:t>Is compressive strength the right criterion at all?</a:t>
            </a:r>
            <a:endParaRPr lang="en-US" sz="1500" dirty="0"/>
          </a:p>
        </p:txBody>
      </p:sp>
      <p:sp>
        <p:nvSpPr>
          <p:cNvPr id="17" name="hyp"/>
          <p:cNvSpPr/>
          <p:nvPr/>
        </p:nvSpPr>
        <p:spPr>
          <a:xfrm>
            <a:off x="731520" y="4846320"/>
            <a:ext cx="10698480" cy="1234440"/>
          </a:xfrm>
          <a:prstGeom prst="rect">
            <a:avLst/>
          </a:prstGeom>
          <a:solidFill>
            <a:srgbClr val="F7F6F4"/>
          </a:solidFill>
          <a:ln w="12700">
            <a:solidFill>
              <a:srgbClr val="F7F6F4">
                <a:alpha val="0"/>
              </a:srgbClr>
            </a:solidFill>
            <a:prstDash val="solid"/>
          </a:ln>
        </p:spPr>
      </p:sp>
      <p:sp>
        <p:nvSpPr>
          <p:cNvPr id="18" name="Text 16"/>
          <p:cNvSpPr txBox="1"/>
          <p:nvPr/>
        </p:nvSpPr>
        <p:spPr>
          <a:xfrm>
            <a:off x="1051560" y="5047488"/>
            <a:ext cx="1005840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HYPOTHESIS</a:t>
            </a:r>
            <a:endParaRPr lang="en-US" sz="850" dirty="0"/>
          </a:p>
        </p:txBody>
      </p:sp>
      <p:sp>
        <p:nvSpPr>
          <p:cNvPr id="19" name="Text 17"/>
          <p:cNvSpPr txBox="1"/>
          <p:nvPr/>
        </p:nvSpPr>
        <p:spPr>
          <a:xfrm>
            <a:off x="1051560" y="5321808"/>
            <a:ext cx="10058400" cy="640080"/>
          </a:xfrm>
          <a:prstGeom prst="rect">
            <a:avLst/>
          </a:prstGeom>
          <a:noFill/>
          <a:ln/>
        </p:spPr>
        <p:txBody>
          <a:bodyPr wrap="square" lIns="0" tIns="0" rIns="0" bIns="0" rtlCol="0" anchor="ctr"/>
          <a:lstStyle/>
          <a:p>
            <a:pPr indent="0" marL="0">
              <a:lnSpc>
                <a:spcPts val="2000"/>
              </a:lnSpc>
              <a:buNone/>
            </a:pPr>
            <a:r>
              <a:rPr lang="en-US" sz="1400" b="1" dirty="0">
                <a:solidFill>
                  <a:srgbClr val="141414"/>
                </a:solidFill>
                <a:latin typeface="Calibri" pitchFamily="34" charset="0"/>
                <a:ea typeface="Calibri" pitchFamily="34" charset="-122"/>
                <a:cs typeface="Calibri" pitchFamily="34" charset="-120"/>
              </a:rPr>
              <a:t>A fully bio-based eggshell–agar composite can be produced repeatably under ambient conditions, and its performance for interior surfaces is governed by deformation capacity rather than by strength.</a:t>
            </a:r>
            <a:endParaRPr lang="en-US" sz="1400" dirty="0"/>
          </a:p>
        </p:txBody>
      </p:sp>
      <p:sp>
        <p:nvSpPr>
          <p:cNvPr id="2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mat" descr="/home/user/sanat-ve-mekan/konferans-bildirisi/03-gorseller/01-prototip-cesitlemeleri.jpeg">    </p:cNvPr>
          <p:cNvPicPr>
            <a:picLocks noChangeAspect="1"/>
          </p:cNvPicPr>
          <p:nvPr/>
        </p:nvPicPr>
        <p:blipFill>
          <a:blip r:embed="rId1"/>
          <a:stretch>
            <a:fillRect/>
          </a:stretch>
        </p:blipFill>
        <p:spPr>
          <a:xfrm>
            <a:off x="0" y="0"/>
            <a:ext cx="12188952" cy="6858000"/>
          </a:xfrm>
          <a:prstGeom prst="rect">
            <a:avLst/>
          </a:prstGeom>
        </p:spPr>
      </p:pic>
      <p:sp>
        <p:nvSpPr>
          <p:cNvPr id="3" name="bd"/>
          <p:cNvSpPr/>
          <p:nvPr/>
        </p:nvSpPr>
        <p:spPr>
          <a:xfrm>
            <a:off x="0" y="5532120"/>
            <a:ext cx="12188952" cy="1325880"/>
          </a:xfrm>
          <a:prstGeom prst="rect">
            <a:avLst/>
          </a:prstGeom>
          <a:solidFill>
            <a:srgbClr val="141414">
              <a:alpha val="94000"/>
            </a:srgbClr>
          </a:solidFill>
          <a:ln w="12700">
            <a:solidFill>
              <a:srgbClr val="141414">
                <a:alpha val="0"/>
              </a:srgbClr>
            </a:solidFill>
            <a:prstDash val="solid"/>
          </a:ln>
        </p:spPr>
      </p:sp>
      <p:sp>
        <p:nvSpPr>
          <p:cNvPr id="4" name="Text 1"/>
          <p:cNvSpPr txBox="1"/>
          <p:nvPr/>
        </p:nvSpPr>
        <p:spPr>
          <a:xfrm>
            <a:off x="731520" y="5760720"/>
            <a:ext cx="7315200" cy="34747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Four constituents, all biodegradable</a:t>
            </a:r>
            <a:endParaRPr lang="en-US" sz="1700" dirty="0"/>
          </a:p>
        </p:txBody>
      </p:sp>
      <p:sp>
        <p:nvSpPr>
          <p:cNvPr id="5" name="Text 2"/>
          <p:cNvSpPr txBox="1"/>
          <p:nvPr/>
        </p:nvSpPr>
        <p:spPr>
          <a:xfrm>
            <a:off x="731520" y="6144768"/>
            <a:ext cx="10698480" cy="274320"/>
          </a:xfrm>
          <a:prstGeom prst="rect">
            <a:avLst/>
          </a:prstGeom>
          <a:noFill/>
          <a:ln/>
        </p:spPr>
        <p:txBody>
          <a:bodyPr wrap="square" lIns="0" tIns="0" rIns="0" bIns="0" rtlCol="0" anchor="ctr"/>
          <a:lstStyle/>
          <a:p>
            <a:pPr indent="0" marL="0">
              <a:buNone/>
            </a:pPr>
            <a:r>
              <a:rPr lang="en-US" sz="1050" dirty="0">
                <a:solidFill>
                  <a:srgbClr val="CFCFCF"/>
                </a:solidFill>
                <a:latin typeface="Calibri" pitchFamily="34" charset="0"/>
                <a:ea typeface="Calibri" pitchFamily="34" charset="-122"/>
                <a:cs typeface="Calibri" pitchFamily="34" charset="-120"/>
              </a:rPr>
              <a:t>Waste eggshell powder · agar · glycerol · water, with a shellac finish. Colour and texture vary from natural pigments and mould geometry at constant composition.</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1 — the mineral</a:t>
            </a:r>
            <a:endParaRPr lang="en-US" sz="2000" dirty="0"/>
          </a:p>
        </p:txBody>
      </p:sp>
      <p:sp>
        <p:nvSpPr>
          <p:cNvPr id="3" name="pc0"/>
          <p:cNvSpPr/>
          <p:nvPr/>
        </p:nvSpPr>
        <p:spPr>
          <a:xfrm>
            <a:off x="1303020" y="1600200"/>
            <a:ext cx="822960" cy="822960"/>
          </a:xfrm>
          <a:prstGeom prst="ellipse">
            <a:avLst/>
          </a:prstGeom>
          <a:solidFill>
            <a:srgbClr val="F7F6F4"/>
          </a:solidFill>
          <a:ln w="12700">
            <a:solidFill>
              <a:srgbClr val="E4E4E4"/>
            </a:solidFill>
            <a:prstDash val="solid"/>
          </a:ln>
        </p:spPr>
      </p:sp>
      <p:sp>
        <p:nvSpPr>
          <p:cNvPr id="4" name="Text 2"/>
          <p:cNvSpPr txBox="1"/>
          <p:nvPr/>
        </p:nvSpPr>
        <p:spPr>
          <a:xfrm>
            <a:off x="731520" y="2606040"/>
            <a:ext cx="1965960" cy="292608"/>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Whole shell</a:t>
            </a:r>
            <a:endParaRPr lang="en-US" sz="1300" dirty="0"/>
          </a:p>
        </p:txBody>
      </p:sp>
      <p:sp>
        <p:nvSpPr>
          <p:cNvPr id="5" name="Text 3"/>
          <p:cNvSpPr txBox="1"/>
          <p:nvPr/>
        </p:nvSpPr>
        <p:spPr>
          <a:xfrm>
            <a:off x="731520" y="292608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collected from one bakery</a:t>
            </a:r>
            <a:endParaRPr lang="en-US" sz="1050" dirty="0"/>
          </a:p>
        </p:txBody>
      </p:sp>
      <p:sp>
        <p:nvSpPr>
          <p:cNvPr id="6" name="Text 4"/>
          <p:cNvSpPr txBox="1"/>
          <p:nvPr/>
        </p:nvSpPr>
        <p:spPr>
          <a:xfrm>
            <a:off x="731520" y="3611880"/>
            <a:ext cx="1965960" cy="274320"/>
          </a:xfrm>
          <a:prstGeom prst="rect">
            <a:avLst/>
          </a:prstGeom>
          <a:noFill/>
          <a:ln/>
        </p:spPr>
        <p:txBody>
          <a:bodyPr wrap="square" lIns="0" tIns="0" rIns="0" bIns="0" rtlCol="0" anchor="ctr"/>
          <a:lstStyle/>
          <a:p>
            <a:pPr algn="ctr" indent="0" marL="0">
              <a:buNone/>
            </a:pPr>
            <a:r>
              <a:rPr lang="en-US" sz="1100" b="1" dirty="0">
                <a:solidFill>
                  <a:srgbClr val="BDBDBD"/>
                </a:solidFill>
                <a:latin typeface="Calibri" pitchFamily="34" charset="0"/>
                <a:ea typeface="Calibri" pitchFamily="34" charset="-122"/>
                <a:cs typeface="Calibri" pitchFamily="34" charset="-120"/>
              </a:rPr>
              <a:t>—</a:t>
            </a:r>
            <a:endParaRPr lang="en-US" sz="1100" dirty="0"/>
          </a:p>
        </p:txBody>
      </p:sp>
      <p:sp>
        <p:nvSpPr>
          <p:cNvPr id="7" name="pa0"/>
          <p:cNvSpPr/>
          <p:nvPr/>
        </p:nvSpPr>
        <p:spPr>
          <a:xfrm>
            <a:off x="2715768" y="1947672"/>
            <a:ext cx="182880" cy="137160"/>
          </a:xfrm>
          <a:prstGeom prst="rightArrow">
            <a:avLst/>
          </a:prstGeom>
          <a:solidFill>
            <a:srgbClr val="BDBDBD"/>
          </a:solidFill>
          <a:ln w="12700">
            <a:solidFill>
              <a:srgbClr val="BDBDBD">
                <a:alpha val="0"/>
              </a:srgbClr>
            </a:solidFill>
            <a:prstDash val="solid"/>
          </a:ln>
        </p:spPr>
      </p:sp>
      <p:sp>
        <p:nvSpPr>
          <p:cNvPr id="8" name="pc1"/>
          <p:cNvSpPr/>
          <p:nvPr/>
        </p:nvSpPr>
        <p:spPr>
          <a:xfrm>
            <a:off x="3552444" y="1664208"/>
            <a:ext cx="694944" cy="694944"/>
          </a:xfrm>
          <a:prstGeom prst="ellipse">
            <a:avLst/>
          </a:prstGeom>
          <a:solidFill>
            <a:srgbClr val="F7F6F4"/>
          </a:solidFill>
          <a:ln w="12700">
            <a:solidFill>
              <a:srgbClr val="E4E4E4"/>
            </a:solidFill>
            <a:prstDash val="solid"/>
          </a:ln>
        </p:spPr>
      </p:sp>
      <p:sp>
        <p:nvSpPr>
          <p:cNvPr id="9" name="Text 7"/>
          <p:cNvSpPr txBox="1"/>
          <p:nvPr/>
        </p:nvSpPr>
        <p:spPr>
          <a:xfrm>
            <a:off x="2916936" y="2606040"/>
            <a:ext cx="1965960" cy="292608"/>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Cleaned</a:t>
            </a:r>
            <a:endParaRPr lang="en-US" sz="1300" dirty="0"/>
          </a:p>
        </p:txBody>
      </p:sp>
      <p:sp>
        <p:nvSpPr>
          <p:cNvPr id="10" name="Text 8"/>
          <p:cNvSpPr txBox="1"/>
          <p:nvPr/>
        </p:nvSpPr>
        <p:spPr>
          <a:xfrm>
            <a:off x="2916936" y="292608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membrane and residue removed by hand</a:t>
            </a:r>
            <a:endParaRPr lang="en-US" sz="1050" dirty="0"/>
          </a:p>
        </p:txBody>
      </p:sp>
      <p:sp>
        <p:nvSpPr>
          <p:cNvPr id="11" name="Text 9"/>
          <p:cNvSpPr txBox="1"/>
          <p:nvPr/>
        </p:nvSpPr>
        <p:spPr>
          <a:xfrm>
            <a:off x="2916936" y="3611880"/>
            <a:ext cx="1965960" cy="274320"/>
          </a:xfrm>
          <a:prstGeom prst="rect">
            <a:avLst/>
          </a:prstGeom>
          <a:noFill/>
          <a:ln/>
        </p:spPr>
        <p:txBody>
          <a:bodyPr wrap="square" lIns="0" tIns="0" rIns="0" bIns="0" rtlCol="0" anchor="ctr"/>
          <a:lstStyle/>
          <a:p>
            <a:pPr algn="ctr" indent="0" marL="0">
              <a:buNone/>
            </a:pPr>
            <a:r>
              <a:rPr lang="en-US" sz="1100" b="1" dirty="0">
                <a:solidFill>
                  <a:srgbClr val="BDBDBD"/>
                </a:solidFill>
                <a:latin typeface="Calibri" pitchFamily="34" charset="0"/>
                <a:ea typeface="Calibri" pitchFamily="34" charset="-122"/>
                <a:cs typeface="Calibri" pitchFamily="34" charset="-120"/>
              </a:rPr>
              <a:t>—</a:t>
            </a:r>
            <a:endParaRPr lang="en-US" sz="1100" dirty="0"/>
          </a:p>
        </p:txBody>
      </p:sp>
      <p:sp>
        <p:nvSpPr>
          <p:cNvPr id="12" name="pa1"/>
          <p:cNvSpPr/>
          <p:nvPr/>
        </p:nvSpPr>
        <p:spPr>
          <a:xfrm>
            <a:off x="4901184" y="1947672"/>
            <a:ext cx="182880" cy="137160"/>
          </a:xfrm>
          <a:prstGeom prst="rightArrow">
            <a:avLst/>
          </a:prstGeom>
          <a:solidFill>
            <a:srgbClr val="BDBDBD"/>
          </a:solidFill>
          <a:ln w="12700">
            <a:solidFill>
              <a:srgbClr val="BDBDBD">
                <a:alpha val="0"/>
              </a:srgbClr>
            </a:solidFill>
            <a:prstDash val="solid"/>
          </a:ln>
        </p:spPr>
      </p:sp>
      <p:sp>
        <p:nvSpPr>
          <p:cNvPr id="13" name="pc2"/>
          <p:cNvSpPr/>
          <p:nvPr/>
        </p:nvSpPr>
        <p:spPr>
          <a:xfrm>
            <a:off x="5801868" y="1728216"/>
            <a:ext cx="566928" cy="566928"/>
          </a:xfrm>
          <a:prstGeom prst="ellipse">
            <a:avLst/>
          </a:prstGeom>
          <a:solidFill>
            <a:srgbClr val="F7F6F4"/>
          </a:solidFill>
          <a:ln w="12700">
            <a:solidFill>
              <a:srgbClr val="E4E4E4"/>
            </a:solidFill>
            <a:prstDash val="solid"/>
          </a:ln>
        </p:spPr>
      </p:sp>
      <p:sp>
        <p:nvSpPr>
          <p:cNvPr id="14" name="Text 12"/>
          <p:cNvSpPr txBox="1"/>
          <p:nvPr/>
        </p:nvSpPr>
        <p:spPr>
          <a:xfrm>
            <a:off x="5102352" y="2606040"/>
            <a:ext cx="1965960" cy="292608"/>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Heat-treated</a:t>
            </a:r>
            <a:endParaRPr lang="en-US" sz="1300" dirty="0"/>
          </a:p>
        </p:txBody>
      </p:sp>
      <p:sp>
        <p:nvSpPr>
          <p:cNvPr id="15" name="Text 13"/>
          <p:cNvSpPr txBox="1"/>
          <p:nvPr/>
        </p:nvSpPr>
        <p:spPr>
          <a:xfrm>
            <a:off x="5102352" y="292608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decontamination and drying</a:t>
            </a:r>
            <a:endParaRPr lang="en-US" sz="1050" dirty="0"/>
          </a:p>
        </p:txBody>
      </p:sp>
      <p:sp>
        <p:nvSpPr>
          <p:cNvPr id="16" name="Text 14"/>
          <p:cNvSpPr txBox="1"/>
          <p:nvPr/>
        </p:nvSpPr>
        <p:spPr>
          <a:xfrm>
            <a:off x="5102352" y="361188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120 °C, 20 min</a:t>
            </a:r>
            <a:endParaRPr lang="en-US" sz="1100" dirty="0"/>
          </a:p>
        </p:txBody>
      </p:sp>
      <p:sp>
        <p:nvSpPr>
          <p:cNvPr id="17" name="pa2"/>
          <p:cNvSpPr/>
          <p:nvPr/>
        </p:nvSpPr>
        <p:spPr>
          <a:xfrm>
            <a:off x="7086600" y="1947672"/>
            <a:ext cx="182880" cy="137160"/>
          </a:xfrm>
          <a:prstGeom prst="rightArrow">
            <a:avLst/>
          </a:prstGeom>
          <a:solidFill>
            <a:srgbClr val="BDBDBD"/>
          </a:solidFill>
          <a:ln w="12700">
            <a:solidFill>
              <a:srgbClr val="BDBDBD">
                <a:alpha val="0"/>
              </a:srgbClr>
            </a:solidFill>
            <a:prstDash val="solid"/>
          </a:ln>
        </p:spPr>
      </p:sp>
      <p:sp>
        <p:nvSpPr>
          <p:cNvPr id="18" name="pc3"/>
          <p:cNvSpPr/>
          <p:nvPr/>
        </p:nvSpPr>
        <p:spPr>
          <a:xfrm>
            <a:off x="8051292" y="1792224"/>
            <a:ext cx="438912" cy="438912"/>
          </a:xfrm>
          <a:prstGeom prst="ellipse">
            <a:avLst/>
          </a:prstGeom>
          <a:solidFill>
            <a:srgbClr val="F7F6F4"/>
          </a:solidFill>
          <a:ln w="12700">
            <a:solidFill>
              <a:srgbClr val="E4E4E4"/>
            </a:solidFill>
            <a:prstDash val="solid"/>
          </a:ln>
        </p:spPr>
      </p:sp>
      <p:sp>
        <p:nvSpPr>
          <p:cNvPr id="19" name="Text 17"/>
          <p:cNvSpPr txBox="1"/>
          <p:nvPr/>
        </p:nvSpPr>
        <p:spPr>
          <a:xfrm>
            <a:off x="7287768" y="2606040"/>
            <a:ext cx="1965960" cy="292608"/>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Milled</a:t>
            </a:r>
            <a:endParaRPr lang="en-US" sz="1300" dirty="0"/>
          </a:p>
        </p:txBody>
      </p:sp>
      <p:sp>
        <p:nvSpPr>
          <p:cNvPr id="20" name="Text 18"/>
          <p:cNvSpPr txBox="1"/>
          <p:nvPr/>
        </p:nvSpPr>
        <p:spPr>
          <a:xfrm>
            <a:off x="7287768" y="292608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laboratory mechanical grinder</a:t>
            </a:r>
            <a:endParaRPr lang="en-US" sz="1050" dirty="0"/>
          </a:p>
        </p:txBody>
      </p:sp>
      <p:sp>
        <p:nvSpPr>
          <p:cNvPr id="21" name="Text 19"/>
          <p:cNvSpPr txBox="1"/>
          <p:nvPr/>
        </p:nvSpPr>
        <p:spPr>
          <a:xfrm>
            <a:off x="7287768" y="361188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to homogeneous powder</a:t>
            </a:r>
            <a:endParaRPr lang="en-US" sz="1100" dirty="0"/>
          </a:p>
        </p:txBody>
      </p:sp>
      <p:sp>
        <p:nvSpPr>
          <p:cNvPr id="22" name="pa3"/>
          <p:cNvSpPr/>
          <p:nvPr/>
        </p:nvSpPr>
        <p:spPr>
          <a:xfrm>
            <a:off x="9272016" y="1947672"/>
            <a:ext cx="182880" cy="137160"/>
          </a:xfrm>
          <a:prstGeom prst="rightArrow">
            <a:avLst/>
          </a:prstGeom>
          <a:solidFill>
            <a:srgbClr val="BDBDBD"/>
          </a:solidFill>
          <a:ln w="12700">
            <a:solidFill>
              <a:srgbClr val="BDBDBD">
                <a:alpha val="0"/>
              </a:srgbClr>
            </a:solidFill>
            <a:prstDash val="solid"/>
          </a:ln>
        </p:spPr>
      </p:sp>
      <p:sp>
        <p:nvSpPr>
          <p:cNvPr id="23" name="pc4"/>
          <p:cNvSpPr/>
          <p:nvPr/>
        </p:nvSpPr>
        <p:spPr>
          <a:xfrm>
            <a:off x="10300716" y="1856232"/>
            <a:ext cx="310896" cy="310896"/>
          </a:xfrm>
          <a:prstGeom prst="ellipse">
            <a:avLst/>
          </a:prstGeom>
          <a:solidFill>
            <a:srgbClr val="B4513A"/>
          </a:solidFill>
          <a:ln w="12700">
            <a:solidFill>
              <a:srgbClr val="B4513A"/>
            </a:solidFill>
            <a:prstDash val="solid"/>
          </a:ln>
        </p:spPr>
      </p:sp>
      <p:sp>
        <p:nvSpPr>
          <p:cNvPr id="24" name="Text 22"/>
          <p:cNvSpPr txBox="1"/>
          <p:nvPr/>
        </p:nvSpPr>
        <p:spPr>
          <a:xfrm>
            <a:off x="9473184" y="2606040"/>
            <a:ext cx="1965960" cy="292608"/>
          </a:xfrm>
          <a:prstGeom prst="rect">
            <a:avLst/>
          </a:prstGeom>
          <a:noFill/>
          <a:ln/>
        </p:spPr>
        <p:txBody>
          <a:bodyPr wrap="square" lIns="0" tIns="0" rIns="0" bIns="0" rtlCol="0" anchor="ctr"/>
          <a:lstStyle/>
          <a:p>
            <a:pPr algn="ctr" indent="0" marL="0">
              <a:buNone/>
            </a:pPr>
            <a:r>
              <a:rPr lang="en-US" sz="1300" b="1" dirty="0">
                <a:solidFill>
                  <a:srgbClr val="141414"/>
                </a:solidFill>
                <a:latin typeface="Calibri" pitchFamily="34" charset="0"/>
                <a:ea typeface="Calibri" pitchFamily="34" charset="-122"/>
                <a:cs typeface="Calibri" pitchFamily="34" charset="-120"/>
              </a:rPr>
              <a:t>Sieved</a:t>
            </a:r>
            <a:endParaRPr lang="en-US" sz="1300" dirty="0"/>
          </a:p>
        </p:txBody>
      </p:sp>
      <p:sp>
        <p:nvSpPr>
          <p:cNvPr id="25" name="Text 23"/>
          <p:cNvSpPr txBox="1"/>
          <p:nvPr/>
        </p:nvSpPr>
        <p:spPr>
          <a:xfrm>
            <a:off x="9473184" y="2926080"/>
            <a:ext cx="1965960" cy="594360"/>
          </a:xfrm>
          <a:prstGeom prst="rect">
            <a:avLst/>
          </a:prstGeom>
          <a:noFill/>
          <a:ln/>
        </p:spPr>
        <p:txBody>
          <a:bodyPr wrap="square" lIns="0" tIns="0" rIns="0" bIns="0" rtlCol="0" anchor="ctr"/>
          <a:lstStyle/>
          <a:p>
            <a:pPr algn="ctr" indent="0" marL="0">
              <a:lnSpc>
                <a:spcPts val="1400"/>
              </a:lnSpc>
              <a:buNone/>
            </a:pPr>
            <a:r>
              <a:rPr lang="en-US" sz="1050" dirty="0">
                <a:solidFill>
                  <a:srgbClr val="8C8C8C"/>
                </a:solidFill>
                <a:latin typeface="Calibri" pitchFamily="34" charset="0"/>
                <a:ea typeface="Calibri" pitchFamily="34" charset="-122"/>
                <a:cs typeface="Calibri" pitchFamily="34" charset="-120"/>
              </a:rPr>
              <a:t>passing fraction only</a:t>
            </a:r>
            <a:endParaRPr lang="en-US" sz="1050" dirty="0"/>
          </a:p>
        </p:txBody>
      </p:sp>
      <p:sp>
        <p:nvSpPr>
          <p:cNvPr id="26" name="Text 24"/>
          <p:cNvSpPr txBox="1"/>
          <p:nvPr/>
        </p:nvSpPr>
        <p:spPr>
          <a:xfrm>
            <a:off x="9473184" y="3611880"/>
            <a:ext cx="1965960" cy="274320"/>
          </a:xfrm>
          <a:prstGeom prst="rect">
            <a:avLst/>
          </a:prstGeom>
          <a:noFill/>
          <a:ln/>
        </p:spPr>
        <p:txBody>
          <a:bodyPr wrap="square" lIns="0" tIns="0" rIns="0" bIns="0" rtlCol="0" anchor="ctr"/>
          <a:lstStyle/>
          <a:p>
            <a:pPr algn="ctr" indent="0" marL="0">
              <a:buNone/>
            </a:pPr>
            <a:r>
              <a:rPr lang="en-US" sz="1100" b="1" dirty="0">
                <a:solidFill>
                  <a:srgbClr val="B4513A"/>
                </a:solidFill>
                <a:latin typeface="Calibri" pitchFamily="34" charset="0"/>
                <a:ea typeface="Calibri" pitchFamily="34" charset="-122"/>
                <a:cs typeface="Calibri" pitchFamily="34" charset="-120"/>
              </a:rPr>
              <a:t>150 µm mesh</a:t>
            </a:r>
            <a:endParaRPr lang="en-US" sz="1100" dirty="0"/>
          </a:p>
        </p:txBody>
      </p:sp>
      <p:sp>
        <p:nvSpPr>
          <p:cNvPr id="27" name="ru0.84.6"/>
          <p:cNvSpPr/>
          <p:nvPr/>
        </p:nvSpPr>
        <p:spPr>
          <a:xfrm>
            <a:off x="731520" y="4206240"/>
            <a:ext cx="10698480" cy="9144"/>
          </a:xfrm>
          <a:prstGeom prst="rect">
            <a:avLst/>
          </a:prstGeom>
          <a:solidFill>
            <a:srgbClr val="E4E4E4"/>
          </a:solidFill>
          <a:ln w="12700">
            <a:solidFill>
              <a:srgbClr val="E4E4E4">
                <a:alpha val="0"/>
              </a:srgbClr>
            </a:solidFill>
            <a:prstDash val="solid"/>
          </a:ln>
        </p:spPr>
      </p:sp>
      <p:sp>
        <p:nvSpPr>
          <p:cNvPr id="28" name="Text 26"/>
          <p:cNvSpPr txBox="1"/>
          <p:nvPr/>
        </p:nvSpPr>
        <p:spPr>
          <a:xfrm>
            <a:off x="731520" y="4389120"/>
            <a:ext cx="502920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WHY 150 ΜM</a:t>
            </a:r>
            <a:endParaRPr lang="en-US" sz="850" dirty="0"/>
          </a:p>
        </p:txBody>
      </p:sp>
      <p:sp>
        <p:nvSpPr>
          <p:cNvPr id="29" name="Text 27"/>
          <p:cNvSpPr txBox="1"/>
          <p:nvPr/>
        </p:nvSpPr>
        <p:spPr>
          <a:xfrm>
            <a:off x="731520" y="4663440"/>
            <a:ext cx="5029200" cy="91440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Chosen to match the particle size used in the eggshell polymer-composite literature, so the mineral phase here is comparable with that work.</a:t>
            </a:r>
            <a:endParaRPr lang="en-US" sz="1050" dirty="0"/>
          </a:p>
        </p:txBody>
      </p:sp>
      <p:sp>
        <p:nvSpPr>
          <p:cNvPr id="30" name="Text 28"/>
          <p:cNvSpPr txBox="1"/>
          <p:nvPr/>
        </p:nvSpPr>
        <p:spPr>
          <a:xfrm>
            <a:off x="6492240" y="4389120"/>
            <a:ext cx="493776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WHY NOT STERILISATION</a:t>
            </a:r>
            <a:endParaRPr lang="en-US" sz="850" dirty="0"/>
          </a:p>
        </p:txBody>
      </p:sp>
      <p:sp>
        <p:nvSpPr>
          <p:cNvPr id="31" name="Text 29"/>
          <p:cNvSpPr txBox="1"/>
          <p:nvPr/>
        </p:nvSpPr>
        <p:spPr>
          <a:xfrm>
            <a:off x="6492240" y="4663440"/>
            <a:ext cx="4937760" cy="91440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Dry-heat sterilisation needs far higher temperatures for far longer, and sterility was not verified. This step is decontamination and drying.</a:t>
            </a:r>
            <a:endParaRPr lang="en-US" sz="1050" dirty="0"/>
          </a:p>
        </p:txBody>
      </p:sp>
      <p:sp>
        <p:nvSpPr>
          <p:cNvPr id="33"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2 — the binder</a:t>
            </a:r>
            <a:endParaRPr lang="en-US" sz="2000" dirty="0"/>
          </a:p>
        </p:txBody>
      </p:sp>
      <p:sp>
        <p:nvSpPr>
          <p:cNvPr id="3" name="tv"/>
          <p:cNvSpPr/>
          <p:nvPr/>
        </p:nvSpPr>
        <p:spPr>
          <a:xfrm>
            <a:off x="1463040" y="1783080"/>
            <a:ext cx="18288" cy="2651760"/>
          </a:xfrm>
          <a:prstGeom prst="rect">
            <a:avLst/>
          </a:prstGeom>
          <a:solidFill>
            <a:srgbClr val="E4E4E4"/>
          </a:solidFill>
          <a:ln w="12700">
            <a:solidFill>
              <a:srgbClr val="E4E4E4">
                <a:alpha val="0"/>
              </a:srgbClr>
            </a:solidFill>
            <a:prstDash val="solid"/>
          </a:ln>
        </p:spPr>
      </p:sp>
      <p:sp>
        <p:nvSpPr>
          <p:cNvPr id="4" name="th"/>
          <p:cNvSpPr/>
          <p:nvPr/>
        </p:nvSpPr>
        <p:spPr>
          <a:xfrm>
            <a:off x="1463040" y="4434840"/>
            <a:ext cx="8778240" cy="18288"/>
          </a:xfrm>
          <a:prstGeom prst="rect">
            <a:avLst/>
          </a:prstGeom>
          <a:solidFill>
            <a:srgbClr val="E4E4E4"/>
          </a:solidFill>
          <a:ln w="12700">
            <a:solidFill>
              <a:srgbClr val="E4E4E4">
                <a:alpha val="0"/>
              </a:srgbClr>
            </a:solidFill>
            <a:prstDash val="solid"/>
          </a:ln>
        </p:spPr>
      </p:sp>
      <p:sp>
        <p:nvSpPr>
          <p:cNvPr id="5" name="ramp"/>
          <p:cNvSpPr/>
          <p:nvPr/>
        </p:nvSpPr>
        <p:spPr>
          <a:xfrm flipV="1">
            <a:off x="1463040" y="2103120"/>
            <a:ext cx="1737360" cy="2331720"/>
          </a:xfrm>
          <a:prstGeom prst="line">
            <a:avLst/>
          </a:prstGeom>
          <a:noFill/>
          <a:ln w="28575">
            <a:solidFill>
              <a:srgbClr val="141414"/>
            </a:solidFill>
            <a:prstDash val="solid"/>
          </a:ln>
        </p:spPr>
      </p:sp>
      <p:sp>
        <p:nvSpPr>
          <p:cNvPr id="6" name="pl95"/>
          <p:cNvSpPr/>
          <p:nvPr/>
        </p:nvSpPr>
        <p:spPr>
          <a:xfrm>
            <a:off x="3200400" y="2103120"/>
            <a:ext cx="2011680" cy="27432"/>
          </a:xfrm>
          <a:prstGeom prst="rect">
            <a:avLst/>
          </a:prstGeom>
          <a:solidFill>
            <a:srgbClr val="141414"/>
          </a:solidFill>
          <a:ln w="12700">
            <a:solidFill>
              <a:srgbClr val="141414">
                <a:alpha val="0"/>
              </a:srgbClr>
            </a:solidFill>
            <a:prstDash val="solid"/>
          </a:ln>
        </p:spPr>
      </p:sp>
      <p:sp>
        <p:nvSpPr>
          <p:cNvPr id="7" name="drop"/>
          <p:cNvSpPr/>
          <p:nvPr/>
        </p:nvSpPr>
        <p:spPr>
          <a:xfrm>
            <a:off x="5212080" y="2103120"/>
            <a:ext cx="685800" cy="594360"/>
          </a:xfrm>
          <a:prstGeom prst="line">
            <a:avLst/>
          </a:prstGeom>
          <a:noFill/>
          <a:ln w="28575">
            <a:solidFill>
              <a:srgbClr val="141414"/>
            </a:solidFill>
            <a:prstDash val="solid"/>
          </a:ln>
        </p:spPr>
      </p:sp>
      <p:sp>
        <p:nvSpPr>
          <p:cNvPr id="8" name="pl80"/>
          <p:cNvSpPr/>
          <p:nvPr/>
        </p:nvSpPr>
        <p:spPr>
          <a:xfrm>
            <a:off x="5897880" y="2697480"/>
            <a:ext cx="4206240" cy="27432"/>
          </a:xfrm>
          <a:prstGeom prst="rect">
            <a:avLst/>
          </a:prstGeom>
          <a:solidFill>
            <a:srgbClr val="141414"/>
          </a:solidFill>
          <a:ln w="12700">
            <a:solidFill>
              <a:srgbClr val="141414">
                <a:alpha val="0"/>
              </a:srgbClr>
            </a:solidFill>
            <a:prstDash val="solid"/>
          </a:ln>
        </p:spPr>
      </p:sp>
      <p:sp>
        <p:nvSpPr>
          <p:cNvPr id="9" name="Text 7"/>
          <p:cNvSpPr txBox="1"/>
          <p:nvPr/>
        </p:nvSpPr>
        <p:spPr>
          <a:xfrm>
            <a:off x="548640" y="1956816"/>
            <a:ext cx="822960" cy="274320"/>
          </a:xfrm>
          <a:prstGeom prst="rect">
            <a:avLst/>
          </a:prstGeom>
          <a:noFill/>
          <a:ln/>
        </p:spPr>
        <p:txBody>
          <a:bodyPr wrap="square" lIns="0" tIns="0" rIns="0" bIns="0" rtlCol="0" anchor="ctr"/>
          <a:lstStyle/>
          <a:p>
            <a:pPr algn="r" indent="0" marL="0">
              <a:buNone/>
            </a:pPr>
            <a:r>
              <a:rPr lang="en-US" sz="1300" b="1" dirty="0">
                <a:solidFill>
                  <a:srgbClr val="B4513A"/>
                </a:solidFill>
                <a:latin typeface="Calibri" pitchFamily="34" charset="0"/>
                <a:ea typeface="Calibri" pitchFamily="34" charset="-122"/>
                <a:cs typeface="Calibri" pitchFamily="34" charset="-120"/>
              </a:rPr>
              <a:t>95 °C</a:t>
            </a:r>
            <a:endParaRPr lang="en-US" sz="1300" dirty="0"/>
          </a:p>
        </p:txBody>
      </p:sp>
      <p:sp>
        <p:nvSpPr>
          <p:cNvPr id="10" name="Text 8"/>
          <p:cNvSpPr txBox="1"/>
          <p:nvPr/>
        </p:nvSpPr>
        <p:spPr>
          <a:xfrm>
            <a:off x="548640" y="2551176"/>
            <a:ext cx="822960" cy="274320"/>
          </a:xfrm>
          <a:prstGeom prst="rect">
            <a:avLst/>
          </a:prstGeom>
          <a:noFill/>
          <a:ln/>
        </p:spPr>
        <p:txBody>
          <a:bodyPr wrap="square" lIns="0" tIns="0" rIns="0" bIns="0" rtlCol="0" anchor="ctr"/>
          <a:lstStyle/>
          <a:p>
            <a:pPr algn="r" indent="0" marL="0">
              <a:buNone/>
            </a:pPr>
            <a:r>
              <a:rPr lang="en-US" sz="1300" b="1" dirty="0">
                <a:solidFill>
                  <a:srgbClr val="B4513A"/>
                </a:solidFill>
                <a:latin typeface="Calibri" pitchFamily="34" charset="0"/>
                <a:ea typeface="Calibri" pitchFamily="34" charset="-122"/>
                <a:cs typeface="Calibri" pitchFamily="34" charset="-120"/>
              </a:rPr>
              <a:t>80 °C</a:t>
            </a:r>
            <a:endParaRPr lang="en-US" sz="1300" dirty="0"/>
          </a:p>
        </p:txBody>
      </p:sp>
      <p:sp>
        <p:nvSpPr>
          <p:cNvPr id="11" name="Text 9"/>
          <p:cNvSpPr txBox="1"/>
          <p:nvPr/>
        </p:nvSpPr>
        <p:spPr>
          <a:xfrm>
            <a:off x="548640" y="4288536"/>
            <a:ext cx="822960" cy="274320"/>
          </a:xfrm>
          <a:prstGeom prst="rect">
            <a:avLst/>
          </a:prstGeom>
          <a:noFill/>
          <a:ln/>
        </p:spPr>
        <p:txBody>
          <a:bodyPr wrap="square" lIns="0" tIns="0" rIns="0" bIns="0" rtlCol="0" anchor="t"/>
          <a:lstStyle/>
          <a:p>
            <a:pPr indent="0" marL="0">
              <a:lnSpc>
                <a:spcPts val="1500"/>
              </a:lnSpc>
              <a:buNone/>
            </a:pPr>
            <a:r>
              <a:rPr lang="en-US" sz="1000" dirty="0">
                <a:solidFill>
                  <a:srgbClr val="8C8C8C"/>
                </a:solidFill>
                <a:latin typeface="Calibri" pitchFamily="34" charset="0"/>
                <a:ea typeface="Calibri" pitchFamily="34" charset="-122"/>
                <a:cs typeface="Calibri" pitchFamily="34" charset="-120"/>
              </a:rPr>
              <a:t>ambient</a:t>
            </a:r>
            <a:endParaRPr lang="en-US" sz="1000" dirty="0"/>
          </a:p>
        </p:txBody>
      </p:sp>
      <p:sp>
        <p:nvSpPr>
          <p:cNvPr id="12" name="Text 10"/>
          <p:cNvSpPr txBox="1"/>
          <p:nvPr/>
        </p:nvSpPr>
        <p:spPr>
          <a:xfrm>
            <a:off x="1463040" y="4562856"/>
            <a:ext cx="2743200" cy="274320"/>
          </a:xfrm>
          <a:prstGeom prst="rect">
            <a:avLst/>
          </a:prstGeom>
          <a:noFill/>
          <a:ln/>
        </p:spPr>
        <p:txBody>
          <a:bodyPr wrap="square" lIns="0" tIns="0" rIns="0" bIns="0" rtlCol="0" anchor="t"/>
          <a:lstStyle/>
          <a:p>
            <a:pPr indent="0" marL="0">
              <a:lnSpc>
                <a:spcPts val="1500"/>
              </a:lnSpc>
              <a:buNone/>
            </a:pPr>
            <a:r>
              <a:rPr lang="en-US" sz="1000" dirty="0">
                <a:solidFill>
                  <a:srgbClr val="8C8C8C"/>
                </a:solidFill>
                <a:latin typeface="Calibri" pitchFamily="34" charset="0"/>
                <a:ea typeface="Calibri" pitchFamily="34" charset="-122"/>
                <a:cs typeface="Calibri" pitchFamily="34" charset="-120"/>
              </a:rPr>
              <a:t>0</a:t>
            </a:r>
            <a:endParaRPr lang="en-US" sz="1000" dirty="0"/>
          </a:p>
        </p:txBody>
      </p:sp>
      <p:sp>
        <p:nvSpPr>
          <p:cNvPr id="13" name="Text 11"/>
          <p:cNvSpPr txBox="1"/>
          <p:nvPr/>
        </p:nvSpPr>
        <p:spPr>
          <a:xfrm>
            <a:off x="8229600" y="4050792"/>
            <a:ext cx="2011680" cy="274320"/>
          </a:xfrm>
          <a:prstGeom prst="rect">
            <a:avLst/>
          </a:prstGeom>
          <a:noFill/>
          <a:ln/>
        </p:spPr>
        <p:txBody>
          <a:bodyPr wrap="square" lIns="0" tIns="0" rIns="0" bIns="0" rtlCol="0" anchor="ctr"/>
          <a:lstStyle/>
          <a:p>
            <a:pPr algn="r" indent="0" marL="0">
              <a:buNone/>
            </a:pPr>
            <a:r>
              <a:rPr lang="en-US" sz="1100" b="1" dirty="0">
                <a:solidFill>
                  <a:srgbClr val="141414"/>
                </a:solidFill>
                <a:latin typeface="Calibri" pitchFamily="34" charset="0"/>
                <a:ea typeface="Calibri" pitchFamily="34" charset="-122"/>
                <a:cs typeface="Calibri" pitchFamily="34" charset="-120"/>
              </a:rPr>
              <a:t>55 min total</a:t>
            </a:r>
            <a:endParaRPr lang="en-US" sz="1100" dirty="0"/>
          </a:p>
        </p:txBody>
      </p:sp>
      <p:sp>
        <p:nvSpPr>
          <p:cNvPr id="14" name="mk0"/>
          <p:cNvSpPr/>
          <p:nvPr/>
        </p:nvSpPr>
        <p:spPr>
          <a:xfrm>
            <a:off x="2057400" y="4370832"/>
            <a:ext cx="128016" cy="128016"/>
          </a:xfrm>
          <a:prstGeom prst="ellipse">
            <a:avLst/>
          </a:prstGeom>
          <a:solidFill>
            <a:srgbClr val="B4513A"/>
          </a:solidFill>
          <a:ln w="12700">
            <a:solidFill>
              <a:srgbClr val="B4513A">
                <a:alpha val="0"/>
              </a:srgbClr>
            </a:solidFill>
            <a:prstDash val="solid"/>
          </a:ln>
        </p:spPr>
      </p:sp>
      <p:sp>
        <p:nvSpPr>
          <p:cNvPr id="15" name="Text 13"/>
          <p:cNvSpPr txBox="1"/>
          <p:nvPr/>
        </p:nvSpPr>
        <p:spPr>
          <a:xfrm>
            <a:off x="1600200" y="4663440"/>
            <a:ext cx="201168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Water + glycerol</a:t>
            </a:r>
            <a:endParaRPr lang="en-US" sz="1200" dirty="0"/>
          </a:p>
        </p:txBody>
      </p:sp>
      <p:sp>
        <p:nvSpPr>
          <p:cNvPr id="16" name="Text 14"/>
          <p:cNvSpPr txBox="1"/>
          <p:nvPr/>
        </p:nvSpPr>
        <p:spPr>
          <a:xfrm>
            <a:off x="1600200" y="4956048"/>
            <a:ext cx="201168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pre-mixed, no solids yet</a:t>
            </a:r>
            <a:endParaRPr lang="en-US" sz="1000" dirty="0"/>
          </a:p>
        </p:txBody>
      </p:sp>
      <p:sp>
        <p:nvSpPr>
          <p:cNvPr id="17" name="dl0"/>
          <p:cNvSpPr/>
          <p:nvPr/>
        </p:nvSpPr>
        <p:spPr>
          <a:xfrm>
            <a:off x="2121408" y="4434840"/>
            <a:ext cx="10973" cy="182880"/>
          </a:xfrm>
          <a:prstGeom prst="rect">
            <a:avLst/>
          </a:prstGeom>
          <a:solidFill>
            <a:srgbClr val="BDBDBD"/>
          </a:solidFill>
          <a:ln w="12700">
            <a:solidFill>
              <a:srgbClr val="BDBDBD">
                <a:alpha val="0"/>
              </a:srgbClr>
            </a:solidFill>
            <a:prstDash val="solid"/>
          </a:ln>
        </p:spPr>
      </p:sp>
      <p:sp>
        <p:nvSpPr>
          <p:cNvPr id="18" name="mk1"/>
          <p:cNvSpPr/>
          <p:nvPr/>
        </p:nvSpPr>
        <p:spPr>
          <a:xfrm>
            <a:off x="3840480" y="2039112"/>
            <a:ext cx="128016" cy="128016"/>
          </a:xfrm>
          <a:prstGeom prst="ellipse">
            <a:avLst/>
          </a:prstGeom>
          <a:solidFill>
            <a:srgbClr val="B4513A"/>
          </a:solidFill>
          <a:ln w="12700">
            <a:solidFill>
              <a:srgbClr val="B4513A">
                <a:alpha val="0"/>
              </a:srgbClr>
            </a:solidFill>
            <a:prstDash val="solid"/>
          </a:ln>
        </p:spPr>
      </p:sp>
      <p:sp>
        <p:nvSpPr>
          <p:cNvPr id="19" name="Text 17"/>
          <p:cNvSpPr txBox="1"/>
          <p:nvPr/>
        </p:nvSpPr>
        <p:spPr>
          <a:xfrm>
            <a:off x="3383280" y="4663440"/>
            <a:ext cx="201168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Agar dissolving</a:t>
            </a:r>
            <a:endParaRPr lang="en-US" sz="1200" dirty="0"/>
          </a:p>
        </p:txBody>
      </p:sp>
      <p:sp>
        <p:nvSpPr>
          <p:cNvPr id="20" name="Text 18"/>
          <p:cNvSpPr txBox="1"/>
          <p:nvPr/>
        </p:nvSpPr>
        <p:spPr>
          <a:xfrm>
            <a:off x="3383280" y="4956048"/>
            <a:ext cx="201168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added incrementally, stirred</a:t>
            </a:r>
            <a:endParaRPr lang="en-US" sz="1000" dirty="0"/>
          </a:p>
        </p:txBody>
      </p:sp>
      <p:sp>
        <p:nvSpPr>
          <p:cNvPr id="21" name="dl1"/>
          <p:cNvSpPr/>
          <p:nvPr/>
        </p:nvSpPr>
        <p:spPr>
          <a:xfrm>
            <a:off x="3904488" y="2103120"/>
            <a:ext cx="10973" cy="2514600"/>
          </a:xfrm>
          <a:prstGeom prst="rect">
            <a:avLst/>
          </a:prstGeom>
          <a:solidFill>
            <a:srgbClr val="BDBDBD"/>
          </a:solidFill>
          <a:ln w="12700">
            <a:solidFill>
              <a:srgbClr val="BDBDBD">
                <a:alpha val="0"/>
              </a:srgbClr>
            </a:solidFill>
            <a:prstDash val="solid"/>
          </a:ln>
        </p:spPr>
      </p:sp>
      <p:sp>
        <p:nvSpPr>
          <p:cNvPr id="22" name="mk2"/>
          <p:cNvSpPr/>
          <p:nvPr/>
        </p:nvSpPr>
        <p:spPr>
          <a:xfrm>
            <a:off x="6583680" y="2633472"/>
            <a:ext cx="128016" cy="128016"/>
          </a:xfrm>
          <a:prstGeom prst="ellipse">
            <a:avLst/>
          </a:prstGeom>
          <a:solidFill>
            <a:srgbClr val="B4513A"/>
          </a:solidFill>
          <a:ln w="12700">
            <a:solidFill>
              <a:srgbClr val="B4513A">
                <a:alpha val="0"/>
              </a:srgbClr>
            </a:solidFill>
            <a:prstDash val="solid"/>
          </a:ln>
        </p:spPr>
      </p:sp>
      <p:sp>
        <p:nvSpPr>
          <p:cNvPr id="23" name="Text 21"/>
          <p:cNvSpPr txBox="1"/>
          <p:nvPr/>
        </p:nvSpPr>
        <p:spPr>
          <a:xfrm>
            <a:off x="6126480" y="4663440"/>
            <a:ext cx="201168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Viscosity develops</a:t>
            </a:r>
            <a:endParaRPr lang="en-US" sz="1200" dirty="0"/>
          </a:p>
        </p:txBody>
      </p:sp>
      <p:sp>
        <p:nvSpPr>
          <p:cNvPr id="24" name="Text 22"/>
          <p:cNvSpPr txBox="1"/>
          <p:nvPr/>
        </p:nvSpPr>
        <p:spPr>
          <a:xfrm>
            <a:off x="6126480" y="4956048"/>
            <a:ext cx="201168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continuous stirring</a:t>
            </a:r>
            <a:endParaRPr lang="en-US" sz="1000" dirty="0"/>
          </a:p>
        </p:txBody>
      </p:sp>
      <p:sp>
        <p:nvSpPr>
          <p:cNvPr id="25" name="dl2"/>
          <p:cNvSpPr/>
          <p:nvPr/>
        </p:nvSpPr>
        <p:spPr>
          <a:xfrm>
            <a:off x="6647688" y="2697480"/>
            <a:ext cx="10973" cy="1920240"/>
          </a:xfrm>
          <a:prstGeom prst="rect">
            <a:avLst/>
          </a:prstGeom>
          <a:solidFill>
            <a:srgbClr val="BDBDBD"/>
          </a:solidFill>
          <a:ln w="12700">
            <a:solidFill>
              <a:srgbClr val="BDBDBD">
                <a:alpha val="0"/>
              </a:srgbClr>
            </a:solidFill>
            <a:prstDash val="solid"/>
          </a:ln>
        </p:spPr>
      </p:sp>
      <p:sp>
        <p:nvSpPr>
          <p:cNvPr id="26" name="mk3"/>
          <p:cNvSpPr/>
          <p:nvPr/>
        </p:nvSpPr>
        <p:spPr>
          <a:xfrm>
            <a:off x="9235440" y="2633472"/>
            <a:ext cx="128016" cy="128016"/>
          </a:xfrm>
          <a:prstGeom prst="ellipse">
            <a:avLst/>
          </a:prstGeom>
          <a:solidFill>
            <a:srgbClr val="B4513A"/>
          </a:solidFill>
          <a:ln w="12700">
            <a:solidFill>
              <a:srgbClr val="B4513A">
                <a:alpha val="0"/>
              </a:srgbClr>
            </a:solidFill>
            <a:prstDash val="solid"/>
          </a:ln>
        </p:spPr>
      </p:sp>
      <p:sp>
        <p:nvSpPr>
          <p:cNvPr id="27" name="Text 25"/>
          <p:cNvSpPr txBox="1"/>
          <p:nvPr/>
        </p:nvSpPr>
        <p:spPr>
          <a:xfrm>
            <a:off x="8778240" y="4663440"/>
            <a:ext cx="2011680" cy="274320"/>
          </a:xfrm>
          <a:prstGeom prst="rect">
            <a:avLst/>
          </a:prstGeom>
          <a:noFill/>
          <a:ln/>
        </p:spPr>
        <p:txBody>
          <a:bodyPr wrap="square" lIns="0" tIns="0" rIns="0" bIns="0" rtlCol="0" anchor="ctr"/>
          <a:lstStyle/>
          <a:p>
            <a:pPr indent="0" marL="0">
              <a:buNone/>
            </a:pPr>
            <a:r>
              <a:rPr lang="en-US" sz="1200" b="1" dirty="0">
                <a:solidFill>
                  <a:srgbClr val="141414"/>
                </a:solidFill>
                <a:latin typeface="Calibri" pitchFamily="34" charset="0"/>
                <a:ea typeface="Calibri" pitchFamily="34" charset="-122"/>
                <a:cs typeface="Calibri" pitchFamily="34" charset="-120"/>
              </a:rPr>
              <a:t>Shell added</a:t>
            </a:r>
            <a:endParaRPr lang="en-US" sz="1200" dirty="0"/>
          </a:p>
        </p:txBody>
      </p:sp>
      <p:sp>
        <p:nvSpPr>
          <p:cNvPr id="28" name="Text 26"/>
          <p:cNvSpPr txBox="1"/>
          <p:nvPr/>
        </p:nvSpPr>
        <p:spPr>
          <a:xfrm>
            <a:off x="8778240" y="4956048"/>
            <a:ext cx="2011680" cy="457200"/>
          </a:xfrm>
          <a:prstGeom prst="rect">
            <a:avLst/>
          </a:prstGeom>
          <a:noFill/>
          <a:ln/>
        </p:spPr>
        <p:txBody>
          <a:bodyPr wrap="square" lIns="0" tIns="0" rIns="0" bIns="0" rtlCol="0" anchor="ctr"/>
          <a:lstStyle/>
          <a:p>
            <a:pPr indent="0" marL="0">
              <a:lnSpc>
                <a:spcPts val="1300"/>
              </a:lnSpc>
              <a:buNone/>
            </a:pPr>
            <a:r>
              <a:rPr lang="en-US" sz="1000" dirty="0">
                <a:solidFill>
                  <a:srgbClr val="8C8C8C"/>
                </a:solidFill>
                <a:latin typeface="Calibri" pitchFamily="34" charset="0"/>
                <a:ea typeface="Calibri" pitchFamily="34" charset="-122"/>
                <a:cs typeface="Calibri" pitchFamily="34" charset="-120"/>
              </a:rPr>
              <a:t>incrementally, near the end</a:t>
            </a:r>
            <a:endParaRPr lang="en-US" sz="1000" dirty="0"/>
          </a:p>
        </p:txBody>
      </p:sp>
      <p:sp>
        <p:nvSpPr>
          <p:cNvPr id="29" name="dl3"/>
          <p:cNvSpPr/>
          <p:nvPr/>
        </p:nvSpPr>
        <p:spPr>
          <a:xfrm>
            <a:off x="9299448" y="2697480"/>
            <a:ext cx="10973" cy="1920240"/>
          </a:xfrm>
          <a:prstGeom prst="rect">
            <a:avLst/>
          </a:prstGeom>
          <a:solidFill>
            <a:srgbClr val="BDBDBD"/>
          </a:solidFill>
          <a:ln w="12700">
            <a:solidFill>
              <a:srgbClr val="BDBDBD">
                <a:alpha val="0"/>
              </a:srgbClr>
            </a:solidFill>
            <a:prstDash val="solid"/>
          </a:ln>
        </p:spPr>
      </p:sp>
      <p:sp>
        <p:nvSpPr>
          <p:cNvPr id="30" name="Text 28"/>
          <p:cNvSpPr txBox="1"/>
          <p:nvPr/>
        </p:nvSpPr>
        <p:spPr>
          <a:xfrm>
            <a:off x="731520" y="5760720"/>
            <a:ext cx="106984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Schematic. The two set points and the total heating time are recorded; intermediate ramp rates are not, and are drawn indicatively. Stirring was manual throughout: shear rate is not a controlled quantity.</a:t>
            </a:r>
            <a:endParaRPr lang="en-US" sz="900" dirty="0"/>
          </a:p>
        </p:txBody>
      </p:sp>
      <p:sp>
        <p:nvSpPr>
          <p:cNvPr id="3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Stage 3 — casting and cure</a:t>
            </a:r>
            <a:endParaRPr lang="en-US" sz="2000" dirty="0"/>
          </a:p>
        </p:txBody>
      </p:sp>
      <p:sp>
        <p:nvSpPr>
          <p:cNvPr id="3" name="c1"/>
          <p:cNvSpPr/>
          <p:nvPr/>
        </p:nvSpPr>
        <p:spPr>
          <a:xfrm>
            <a:off x="731520" y="2103120"/>
            <a:ext cx="3851453" cy="713232"/>
          </a:xfrm>
          <a:prstGeom prst="rect">
            <a:avLst/>
          </a:prstGeom>
          <a:solidFill>
            <a:srgbClr val="F7F6F4"/>
          </a:solidFill>
          <a:ln w="12700">
            <a:solidFill>
              <a:srgbClr val="E4E4E4"/>
            </a:solidFill>
            <a:prstDash val="solid"/>
          </a:ln>
        </p:spPr>
      </p:sp>
      <p:sp>
        <p:nvSpPr>
          <p:cNvPr id="4" name="c2"/>
          <p:cNvSpPr/>
          <p:nvPr/>
        </p:nvSpPr>
        <p:spPr>
          <a:xfrm>
            <a:off x="4582973" y="2103120"/>
            <a:ext cx="6847027" cy="713232"/>
          </a:xfrm>
          <a:prstGeom prst="rect">
            <a:avLst/>
          </a:prstGeom>
          <a:solidFill>
            <a:srgbClr val="FFFFFF"/>
          </a:solidFill>
          <a:ln w="12700">
            <a:solidFill>
              <a:srgbClr val="141414"/>
            </a:solidFill>
            <a:prstDash val="solid"/>
          </a:ln>
        </p:spPr>
      </p:sp>
      <p:sp>
        <p:nvSpPr>
          <p:cNvPr id="5" name="Text 3"/>
          <p:cNvSpPr txBox="1"/>
          <p:nvPr/>
        </p:nvSpPr>
        <p:spPr>
          <a:xfrm>
            <a:off x="1005840" y="2231136"/>
            <a:ext cx="27432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In mould</a:t>
            </a:r>
            <a:endParaRPr lang="en-US" sz="1300" dirty="0"/>
          </a:p>
        </p:txBody>
      </p:sp>
      <p:sp>
        <p:nvSpPr>
          <p:cNvPr id="6" name="Text 4"/>
          <p:cNvSpPr txBox="1"/>
          <p:nvPr/>
        </p:nvSpPr>
        <p:spPr>
          <a:xfrm>
            <a:off x="1005840" y="2505456"/>
            <a:ext cx="3108960" cy="2743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setting and initial drying</a:t>
            </a:r>
            <a:endParaRPr lang="en-US" sz="1050" dirty="0"/>
          </a:p>
        </p:txBody>
      </p:sp>
      <p:sp>
        <p:nvSpPr>
          <p:cNvPr id="7" name="Text 5"/>
          <p:cNvSpPr txBox="1"/>
          <p:nvPr/>
        </p:nvSpPr>
        <p:spPr>
          <a:xfrm>
            <a:off x="4857293" y="2231136"/>
            <a:ext cx="3657600" cy="274320"/>
          </a:xfrm>
          <a:prstGeom prst="rect">
            <a:avLst/>
          </a:prstGeom>
          <a:noFill/>
          <a:ln/>
        </p:spPr>
        <p:txBody>
          <a:bodyPr wrap="square" lIns="0" tIns="0" rIns="0" bIns="0" rtlCol="0" anchor="ctr"/>
          <a:lstStyle/>
          <a:p>
            <a:pPr indent="0" marL="0">
              <a:buNone/>
            </a:pPr>
            <a:r>
              <a:rPr lang="en-US" sz="1300" b="1" dirty="0">
                <a:solidFill>
                  <a:srgbClr val="141414"/>
                </a:solidFill>
                <a:latin typeface="Calibri" pitchFamily="34" charset="0"/>
                <a:ea typeface="Calibri" pitchFamily="34" charset="-122"/>
                <a:cs typeface="Calibri" pitchFamily="34" charset="-120"/>
              </a:rPr>
              <a:t>Ambient consolidation</a:t>
            </a:r>
            <a:endParaRPr lang="en-US" sz="1300" dirty="0"/>
          </a:p>
        </p:txBody>
      </p:sp>
      <p:sp>
        <p:nvSpPr>
          <p:cNvPr id="8" name="Text 6"/>
          <p:cNvSpPr txBox="1"/>
          <p:nvPr/>
        </p:nvSpPr>
        <p:spPr>
          <a:xfrm>
            <a:off x="4857293" y="2505456"/>
            <a:ext cx="4572000" cy="27432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~23 °C, shielded from direct sun and air movement</a:t>
            </a:r>
            <a:endParaRPr lang="en-US" sz="1050" dirty="0"/>
          </a:p>
        </p:txBody>
      </p:sp>
      <p:sp>
        <p:nvSpPr>
          <p:cNvPr id="9" name="tk0"/>
          <p:cNvSpPr/>
          <p:nvPr/>
        </p:nvSpPr>
        <p:spPr>
          <a:xfrm>
            <a:off x="731520" y="1645920"/>
            <a:ext cx="18288" cy="384048"/>
          </a:xfrm>
          <a:prstGeom prst="rect">
            <a:avLst/>
          </a:prstGeom>
          <a:solidFill>
            <a:srgbClr val="141414"/>
          </a:solidFill>
          <a:ln w="12700">
            <a:solidFill>
              <a:srgbClr val="141414">
                <a:alpha val="0"/>
              </a:srgbClr>
            </a:solidFill>
            <a:prstDash val="solid"/>
          </a:ln>
        </p:spPr>
      </p:sp>
      <p:sp>
        <p:nvSpPr>
          <p:cNvPr id="10" name="Text 8"/>
          <p:cNvSpPr txBox="1"/>
          <p:nvPr/>
        </p:nvSpPr>
        <p:spPr>
          <a:xfrm>
            <a:off x="822960" y="1261872"/>
            <a:ext cx="1371600" cy="274320"/>
          </a:xfrm>
          <a:prstGeom prst="rect">
            <a:avLst/>
          </a:prstGeom>
          <a:noFill/>
          <a:ln/>
        </p:spPr>
        <p:txBody>
          <a:bodyPr wrap="square" lIns="0" tIns="0" rIns="0" bIns="0" rtlCol="0" anchor="ctr"/>
          <a:lstStyle/>
          <a:p>
            <a:pPr algn="l" indent="0" marL="0">
              <a:buNone/>
            </a:pPr>
            <a:r>
              <a:rPr lang="en-US" sz="1300" b="1" dirty="0">
                <a:solidFill>
                  <a:srgbClr val="B4513A"/>
                </a:solidFill>
                <a:latin typeface="Calibri" pitchFamily="34" charset="0"/>
                <a:ea typeface="Calibri" pitchFamily="34" charset="-122"/>
                <a:cs typeface="Calibri" pitchFamily="34" charset="-120"/>
              </a:rPr>
              <a:t>Day 0</a:t>
            </a:r>
            <a:endParaRPr lang="en-US" sz="1300" dirty="0"/>
          </a:p>
        </p:txBody>
      </p:sp>
      <p:sp>
        <p:nvSpPr>
          <p:cNvPr id="11" name="Text 9"/>
          <p:cNvSpPr txBox="1"/>
          <p:nvPr/>
        </p:nvSpPr>
        <p:spPr>
          <a:xfrm>
            <a:off x="822960" y="2962656"/>
            <a:ext cx="2377440" cy="274320"/>
          </a:xfrm>
          <a:prstGeom prst="rect">
            <a:avLst/>
          </a:prstGeom>
          <a:noFill/>
          <a:ln/>
        </p:spPr>
        <p:txBody>
          <a:bodyPr wrap="square" lIns="0" tIns="0" rIns="0" bIns="0" rtlCol="0" anchor="ctr"/>
          <a:lstStyle/>
          <a:p>
            <a:pPr algn="l" indent="0" marL="0">
              <a:buNone/>
            </a:pPr>
            <a:r>
              <a:rPr lang="en-US" sz="1050" dirty="0">
                <a:solidFill>
                  <a:srgbClr val="8C8C8C"/>
                </a:solidFill>
                <a:latin typeface="Calibri" pitchFamily="34" charset="0"/>
                <a:ea typeface="Calibri" pitchFamily="34" charset="-122"/>
                <a:cs typeface="Calibri" pitchFamily="34" charset="-120"/>
              </a:rPr>
              <a:t>cast into silicone moulds</a:t>
            </a:r>
            <a:endParaRPr lang="en-US" sz="1050" dirty="0"/>
          </a:p>
        </p:txBody>
      </p:sp>
      <p:sp>
        <p:nvSpPr>
          <p:cNvPr id="12" name="tk1"/>
          <p:cNvSpPr/>
          <p:nvPr/>
        </p:nvSpPr>
        <p:spPr>
          <a:xfrm>
            <a:off x="4582973" y="1645920"/>
            <a:ext cx="18288" cy="384048"/>
          </a:xfrm>
          <a:prstGeom prst="rect">
            <a:avLst/>
          </a:prstGeom>
          <a:solidFill>
            <a:srgbClr val="141414"/>
          </a:solidFill>
          <a:ln w="12700">
            <a:solidFill>
              <a:srgbClr val="141414">
                <a:alpha val="0"/>
              </a:srgbClr>
            </a:solidFill>
            <a:prstDash val="solid"/>
          </a:ln>
        </p:spPr>
      </p:sp>
      <p:sp>
        <p:nvSpPr>
          <p:cNvPr id="13" name="Text 11"/>
          <p:cNvSpPr txBox="1"/>
          <p:nvPr/>
        </p:nvSpPr>
        <p:spPr>
          <a:xfrm>
            <a:off x="4674413" y="1261872"/>
            <a:ext cx="1371600" cy="274320"/>
          </a:xfrm>
          <a:prstGeom prst="rect">
            <a:avLst/>
          </a:prstGeom>
          <a:noFill/>
          <a:ln/>
        </p:spPr>
        <p:txBody>
          <a:bodyPr wrap="square" lIns="0" tIns="0" rIns="0" bIns="0" rtlCol="0" anchor="ctr"/>
          <a:lstStyle/>
          <a:p>
            <a:pPr algn="l" indent="0" marL="0">
              <a:buNone/>
            </a:pPr>
            <a:r>
              <a:rPr lang="en-US" sz="1300" b="1" dirty="0">
                <a:solidFill>
                  <a:srgbClr val="B4513A"/>
                </a:solidFill>
                <a:latin typeface="Calibri" pitchFamily="34" charset="0"/>
                <a:ea typeface="Calibri" pitchFamily="34" charset="-122"/>
                <a:cs typeface="Calibri" pitchFamily="34" charset="-120"/>
              </a:rPr>
              <a:t>Day 4</a:t>
            </a:r>
            <a:endParaRPr lang="en-US" sz="1300" dirty="0"/>
          </a:p>
        </p:txBody>
      </p:sp>
      <p:sp>
        <p:nvSpPr>
          <p:cNvPr id="14" name="Text 12"/>
          <p:cNvSpPr txBox="1"/>
          <p:nvPr/>
        </p:nvSpPr>
        <p:spPr>
          <a:xfrm>
            <a:off x="4674413" y="2962656"/>
            <a:ext cx="2377440" cy="274320"/>
          </a:xfrm>
          <a:prstGeom prst="rect">
            <a:avLst/>
          </a:prstGeom>
          <a:noFill/>
          <a:ln/>
        </p:spPr>
        <p:txBody>
          <a:bodyPr wrap="square" lIns="0" tIns="0" rIns="0" bIns="0" rtlCol="0" anchor="ctr"/>
          <a:lstStyle/>
          <a:p>
            <a:pPr algn="l" indent="0" marL="0">
              <a:buNone/>
            </a:pPr>
            <a:r>
              <a:rPr lang="en-US" sz="1050" dirty="0">
                <a:solidFill>
                  <a:srgbClr val="8C8C8C"/>
                </a:solidFill>
                <a:latin typeface="Calibri" pitchFamily="34" charset="0"/>
                <a:ea typeface="Calibri" pitchFamily="34" charset="-122"/>
                <a:cs typeface="Calibri" pitchFamily="34" charset="-120"/>
              </a:rPr>
              <a:t>demoulded</a:t>
            </a:r>
            <a:endParaRPr lang="en-US" sz="1050" dirty="0"/>
          </a:p>
        </p:txBody>
      </p:sp>
      <p:sp>
        <p:nvSpPr>
          <p:cNvPr id="15" name="tk2"/>
          <p:cNvSpPr/>
          <p:nvPr/>
        </p:nvSpPr>
        <p:spPr>
          <a:xfrm>
            <a:off x="11420856" y="1645920"/>
            <a:ext cx="18288" cy="384048"/>
          </a:xfrm>
          <a:prstGeom prst="rect">
            <a:avLst/>
          </a:prstGeom>
          <a:solidFill>
            <a:srgbClr val="141414"/>
          </a:solidFill>
          <a:ln w="12700">
            <a:solidFill>
              <a:srgbClr val="141414">
                <a:alpha val="0"/>
              </a:srgbClr>
            </a:solidFill>
            <a:prstDash val="solid"/>
          </a:ln>
        </p:spPr>
      </p:sp>
      <p:sp>
        <p:nvSpPr>
          <p:cNvPr id="16" name="Text 14"/>
          <p:cNvSpPr txBox="1"/>
          <p:nvPr/>
        </p:nvSpPr>
        <p:spPr>
          <a:xfrm>
            <a:off x="10058400" y="1261872"/>
            <a:ext cx="1371600" cy="274320"/>
          </a:xfrm>
          <a:prstGeom prst="rect">
            <a:avLst/>
          </a:prstGeom>
          <a:noFill/>
          <a:ln/>
        </p:spPr>
        <p:txBody>
          <a:bodyPr wrap="square" lIns="0" tIns="0" rIns="0" bIns="0" rtlCol="0" anchor="ctr"/>
          <a:lstStyle/>
          <a:p>
            <a:pPr algn="r" indent="0" marL="0">
              <a:buNone/>
            </a:pPr>
            <a:r>
              <a:rPr lang="en-US" sz="1300" b="1" dirty="0">
                <a:solidFill>
                  <a:srgbClr val="B4513A"/>
                </a:solidFill>
                <a:latin typeface="Calibri" pitchFamily="34" charset="0"/>
                <a:ea typeface="Calibri" pitchFamily="34" charset="-122"/>
                <a:cs typeface="Calibri" pitchFamily="34" charset="-120"/>
              </a:rPr>
              <a:t>Day 11</a:t>
            </a:r>
            <a:endParaRPr lang="en-US" sz="1300" dirty="0"/>
          </a:p>
        </p:txBody>
      </p:sp>
      <p:sp>
        <p:nvSpPr>
          <p:cNvPr id="17" name="Text 15"/>
          <p:cNvSpPr txBox="1"/>
          <p:nvPr/>
        </p:nvSpPr>
        <p:spPr>
          <a:xfrm>
            <a:off x="9144000" y="2962656"/>
            <a:ext cx="2377440" cy="274320"/>
          </a:xfrm>
          <a:prstGeom prst="rect">
            <a:avLst/>
          </a:prstGeom>
          <a:noFill/>
          <a:ln/>
        </p:spPr>
        <p:txBody>
          <a:bodyPr wrap="square" lIns="0" tIns="0" rIns="0" bIns="0" rtlCol="0" anchor="ctr"/>
          <a:lstStyle/>
          <a:p>
            <a:pPr algn="r" indent="0" marL="0">
              <a:buNone/>
            </a:pPr>
            <a:r>
              <a:rPr lang="en-US" sz="1050" dirty="0">
                <a:solidFill>
                  <a:srgbClr val="8C8C8C"/>
                </a:solidFill>
                <a:latin typeface="Calibri" pitchFamily="34" charset="0"/>
                <a:ea typeface="Calibri" pitchFamily="34" charset="-122"/>
                <a:cs typeface="Calibri" pitchFamily="34" charset="-120"/>
              </a:rPr>
              <a:t>finished specimen</a:t>
            </a:r>
            <a:endParaRPr lang="en-US" sz="1050" dirty="0"/>
          </a:p>
        </p:txBody>
      </p:sp>
      <p:sp>
        <p:nvSpPr>
          <p:cNvPr id="18" name="ru0.84.1"/>
          <p:cNvSpPr/>
          <p:nvPr/>
        </p:nvSpPr>
        <p:spPr>
          <a:xfrm>
            <a:off x="731520" y="3749040"/>
            <a:ext cx="10698480" cy="9144"/>
          </a:xfrm>
          <a:prstGeom prst="rect">
            <a:avLst/>
          </a:prstGeom>
          <a:solidFill>
            <a:srgbClr val="E4E4E4"/>
          </a:solidFill>
          <a:ln w="12700">
            <a:solidFill>
              <a:srgbClr val="E4E4E4">
                <a:alpha val="0"/>
              </a:srgbClr>
            </a:solidFill>
            <a:prstDash val="solid"/>
          </a:ln>
        </p:spPr>
      </p:sp>
      <p:sp>
        <p:nvSpPr>
          <p:cNvPr id="19" name="Text 17"/>
          <p:cNvSpPr txBox="1"/>
          <p:nvPr/>
        </p:nvSpPr>
        <p:spPr>
          <a:xfrm>
            <a:off x="731520" y="3931920"/>
            <a:ext cx="502920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WHY SILICONE</a:t>
            </a:r>
            <a:endParaRPr lang="en-US" sz="850" dirty="0"/>
          </a:p>
        </p:txBody>
      </p:sp>
      <p:sp>
        <p:nvSpPr>
          <p:cNvPr id="20" name="Text 18"/>
          <p:cNvSpPr txBox="1"/>
          <p:nvPr/>
        </p:nvSpPr>
        <p:spPr>
          <a:xfrm>
            <a:off x="731520" y="4206240"/>
            <a:ext cx="5029200" cy="82296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Flexible enough to release without a parting agent and without damaging the partially consolidated specimen. 50 mm cube moulds for compression, flat moulds otherwise.</a:t>
            </a:r>
            <a:endParaRPr lang="en-US" sz="1050" dirty="0"/>
          </a:p>
        </p:txBody>
      </p:sp>
      <p:sp>
        <p:nvSpPr>
          <p:cNvPr id="21" name="Text 19"/>
          <p:cNvSpPr txBox="1"/>
          <p:nvPr/>
        </p:nvSpPr>
        <p:spPr>
          <a:xfrm>
            <a:off x="6492240" y="3931920"/>
            <a:ext cx="493776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NO OVEN AT ANY STAGE</a:t>
            </a:r>
            <a:endParaRPr lang="en-US" sz="850" dirty="0"/>
          </a:p>
        </p:txBody>
      </p:sp>
      <p:sp>
        <p:nvSpPr>
          <p:cNvPr id="22" name="Text 20"/>
          <p:cNvSpPr txBox="1"/>
          <p:nvPr/>
        </p:nvSpPr>
        <p:spPr>
          <a:xfrm>
            <a:off x="6492240" y="4206240"/>
            <a:ext cx="4937760" cy="82296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After the 55-minute cook the material receives no further heat input. The entire cure is at room temperature.</a:t>
            </a:r>
            <a:endParaRPr lang="en-US" sz="1050" dirty="0"/>
          </a:p>
        </p:txBody>
      </p:sp>
      <p:sp>
        <p:nvSpPr>
          <p:cNvPr id="23" name="disc"/>
          <p:cNvSpPr/>
          <p:nvPr/>
        </p:nvSpPr>
        <p:spPr>
          <a:xfrm>
            <a:off x="731520" y="5257800"/>
            <a:ext cx="10698480" cy="868680"/>
          </a:xfrm>
          <a:prstGeom prst="rect">
            <a:avLst/>
          </a:prstGeom>
          <a:solidFill>
            <a:srgbClr val="F7F6F4"/>
          </a:solidFill>
          <a:ln w="12700">
            <a:solidFill>
              <a:srgbClr val="F7F6F4">
                <a:alpha val="0"/>
              </a:srgbClr>
            </a:solidFill>
            <a:prstDash val="solid"/>
          </a:ln>
        </p:spPr>
      </p:sp>
      <p:sp>
        <p:nvSpPr>
          <p:cNvPr id="24" name="Text 22"/>
          <p:cNvSpPr txBox="1"/>
          <p:nvPr/>
        </p:nvSpPr>
        <p:spPr>
          <a:xfrm>
            <a:off x="1051560" y="5440680"/>
            <a:ext cx="10058400" cy="548640"/>
          </a:xfrm>
          <a:prstGeom prst="rect">
            <a:avLst/>
          </a:prstGeom>
          <a:noFill/>
          <a:ln/>
        </p:spPr>
        <p:txBody>
          <a:bodyPr wrap="square" lIns="0" tIns="0" rIns="0" bIns="0" rtlCol="0" anchor="ctr"/>
          <a:lstStyle/>
          <a:p>
            <a:pPr indent="0" marL="0">
              <a:lnSpc>
                <a:spcPts val="1700"/>
              </a:lnSpc>
              <a:buNone/>
            </a:pPr>
            <a:r>
              <a:rPr lang="en-US" sz="1200" b="1" dirty="0">
                <a:solidFill>
                  <a:srgbClr val="B4513A"/>
                </a:solidFill>
                <a:latin typeface="Calibri" pitchFamily="34" charset="0"/>
                <a:ea typeface="Calibri" pitchFamily="34" charset="-122"/>
                <a:cs typeface="Calibri" pitchFamily="34" charset="-120"/>
              </a:rPr>
              <a:t>Disclosure   </a:t>
            </a:r>
            <a:pPr indent="0" marL="0">
              <a:lnSpc>
                <a:spcPts val="1700"/>
              </a:lnSpc>
              <a:buNone/>
            </a:pPr>
            <a:r>
              <a:rPr lang="en-US" sz="1200" dirty="0">
                <a:solidFill>
                  <a:srgbClr val="141414"/>
                </a:solidFill>
                <a:latin typeface="Calibri" pitchFamily="34" charset="0"/>
                <a:ea typeface="Calibri" pitchFamily="34" charset="-122"/>
                <a:cs typeface="Calibri" pitchFamily="34" charset="-120"/>
              </a:rPr>
              <a:t>the composite shrinks appreciably as water evaporates. Cross-sections were measured at test time, but post-drying dimensions were not logged, so every dimension quoted in this talk is a mould dimension.</a:t>
            </a:r>
            <a:endParaRPr lang="en-US" sz="1200" dirty="0"/>
          </a:p>
        </p:txBody>
      </p:sp>
      <p:sp>
        <p:nvSpPr>
          <p:cNvPr id="26"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Formulations</a:t>
            </a:r>
            <a:endParaRPr lang="en-US" sz="2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640080"/>
                <a:gridCol w="1645920"/>
                <a:gridCol w="868680"/>
                <a:gridCol w="822960"/>
                <a:gridCol w="777240"/>
                <a:gridCol w="1097280"/>
                <a:gridCol w="868680"/>
                <a:gridCol w="1371600"/>
                <a:gridCol w="1371600"/>
                <a:gridCol w="1234440"/>
              </a:tblGrid>
              <a:tr h="365760">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Test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Water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Shell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Agar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g</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Shell : binder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 water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 solids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65760">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325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65760">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135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65760">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165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3C3C3C"/>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6.1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65760">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450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60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1.46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0.71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18.8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65760">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70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731520" y="3840480"/>
            <a:ext cx="502920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COMPRESSION SERIES</a:t>
            </a:r>
            <a:endParaRPr lang="en-US" sz="850" dirty="0"/>
          </a:p>
        </p:txBody>
      </p:sp>
      <p:sp>
        <p:nvSpPr>
          <p:cNvPr id="5" name="Text 2"/>
          <p:cNvSpPr txBox="1"/>
          <p:nvPr/>
        </p:nvSpPr>
        <p:spPr>
          <a:xfrm>
            <a:off x="731520" y="4114800"/>
            <a:ext cx="5029200" cy="822960"/>
          </a:xfrm>
          <a:prstGeom prst="rect">
            <a:avLst/>
          </a:prstGeom>
          <a:noFill/>
          <a:ln/>
        </p:spPr>
        <p:txBody>
          <a:bodyPr wrap="square" lIns="0" tIns="0" rIns="0" bIns="0" rtlCol="0" anchor="t"/>
          <a:lstStyle/>
          <a:p>
            <a:pPr indent="0" marL="0">
              <a:lnSpc>
                <a:spcPts val="1900"/>
              </a:lnSpc>
              <a:buNone/>
            </a:pPr>
            <a:r>
              <a:rPr lang="en-US" sz="1300" dirty="0">
                <a:solidFill>
                  <a:srgbClr val="3C3C3C"/>
                </a:solidFill>
                <a:latin typeface="Calibri" pitchFamily="34" charset="0"/>
                <a:ea typeface="Calibri" pitchFamily="34" charset="-122"/>
                <a:cs typeface="Calibri" pitchFamily="34" charset="-120"/>
              </a:rPr>
              <a:t>Shell : binder is held at exactly 2.00. The only variable is solids concentration.</a:t>
            </a:r>
            <a:endParaRPr lang="en-US" sz="1300" dirty="0"/>
          </a:p>
        </p:txBody>
      </p:sp>
      <p:sp>
        <p:nvSpPr>
          <p:cNvPr id="6" name="Text 3"/>
          <p:cNvSpPr txBox="1"/>
          <p:nvPr/>
        </p:nvSpPr>
        <p:spPr>
          <a:xfrm>
            <a:off x="6400800" y="3840480"/>
            <a:ext cx="502920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FLEXURAL SERIES — CONFOUND</a:t>
            </a:r>
            <a:endParaRPr lang="en-US" sz="850" dirty="0"/>
          </a:p>
        </p:txBody>
      </p:sp>
      <p:sp>
        <p:nvSpPr>
          <p:cNvPr id="7" name="Text 4"/>
          <p:cNvSpPr txBox="1"/>
          <p:nvPr/>
        </p:nvSpPr>
        <p:spPr>
          <a:xfrm>
            <a:off x="6400800" y="4114800"/>
            <a:ext cx="5029200" cy="914400"/>
          </a:xfrm>
          <a:prstGeom prst="rect">
            <a:avLst/>
          </a:prstGeom>
          <a:noFill/>
          <a:ln/>
        </p:spPr>
        <p:txBody>
          <a:bodyPr wrap="square" lIns="0" tIns="0" rIns="0" bIns="0" rtlCol="0" anchor="t"/>
          <a:lstStyle/>
          <a:p>
            <a:pPr indent="0" marL="0">
              <a:lnSpc>
                <a:spcPts val="1900"/>
              </a:lnSpc>
              <a:buNone/>
            </a:pPr>
            <a:r>
              <a:rPr lang="en-US" sz="1300" dirty="0">
                <a:solidFill>
                  <a:srgbClr val="3C3C3C"/>
                </a:solidFill>
                <a:latin typeface="Calibri" pitchFamily="34" charset="0"/>
                <a:ea typeface="Calibri" pitchFamily="34" charset="-122"/>
                <a:cs typeface="Calibri" pitchFamily="34" charset="-120"/>
              </a:rPr>
              <a:t>Glycerol was halved at fixed batch mass, so water rose with it. The plasticiser effect is not isolated.</a:t>
            </a:r>
            <a:endParaRPr lang="en-US" sz="1300" dirty="0"/>
          </a:p>
        </p:txBody>
      </p:sp>
      <p:sp>
        <p:nvSpPr>
          <p:cNvPr id="8" name="Text 5"/>
          <p:cNvSpPr txBox="1"/>
          <p:nvPr/>
        </p:nvSpPr>
        <p:spPr>
          <a:xfrm>
            <a:off x="731520" y="5394960"/>
            <a:ext cx="106984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Three specimens per formulation. Values are means; individual specimen values were not retained, so standard deviations are not available.</a:t>
            </a:r>
            <a:endParaRPr lang="en-US" sz="900" dirty="0"/>
          </a:p>
        </p:txBody>
      </p:sp>
      <p:sp>
        <p:nvSpPr>
          <p:cNvPr id="10"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Tests</a:t>
            </a:r>
            <a:endParaRPr lang="en-US" sz="2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2286000"/>
                <a:gridCol w="2103120"/>
                <a:gridCol w="3200400"/>
                <a:gridCol w="1005840"/>
                <a:gridCol w="2103120"/>
              </a:tblGrid>
              <a:tr h="420624">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Property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Standard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Specimen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Measured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420624">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Compressive behaviour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Cube compression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50 mm cube moulds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 per mix</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Max load; compressive stress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20624">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Flexural behaviour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ASTM D790-17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180 × 60 × 20 mm, 120 mm span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 per mix</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Flexural strength; modulus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20624">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Reaction to fire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ISO 11925-2:2020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40 × 50 mm, 45°, 15 s edge flame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Time to ignition; to extinguish</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20624">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Water absorption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ASTM D570-98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40 × 50 mm, shellac-coated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Mass gain, 24 h immersion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420624">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Bulk density</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Gravimetric</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50 mm cube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Mass / mould volume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4" name="ru0.84.5"/>
          <p:cNvSpPr/>
          <p:nvPr/>
        </p:nvSpPr>
        <p:spPr>
          <a:xfrm>
            <a:off x="731520" y="4114800"/>
            <a:ext cx="10698480" cy="9144"/>
          </a:xfrm>
          <a:prstGeom prst="rect">
            <a:avLst/>
          </a:prstGeom>
          <a:solidFill>
            <a:srgbClr val="E4E4E4"/>
          </a:solidFill>
          <a:ln w="12700">
            <a:solidFill>
              <a:srgbClr val="E4E4E4">
                <a:alpha val="0"/>
              </a:srgbClr>
            </a:solidFill>
            <a:prstDash val="solid"/>
          </a:ln>
        </p:spPr>
      </p:sp>
      <p:sp>
        <p:nvSpPr>
          <p:cNvPr id="5" name="Text 2"/>
          <p:cNvSpPr txBox="1"/>
          <p:nvPr/>
        </p:nvSpPr>
        <p:spPr>
          <a:xfrm>
            <a:off x="731520" y="4297680"/>
            <a:ext cx="10698480" cy="822960"/>
          </a:xfrm>
          <a:prstGeom prst="rect">
            <a:avLst/>
          </a:prstGeom>
          <a:noFill/>
          <a:ln/>
        </p:spPr>
        <p:txBody>
          <a:bodyPr wrap="square" lIns="0" tIns="0" rIns="0" bIns="0" rtlCol="0" anchor="t"/>
          <a:lstStyle/>
          <a:p>
            <a:pPr indent="0" marL="0">
              <a:lnSpc>
                <a:spcPts val="1850"/>
              </a:lnSpc>
              <a:buNone/>
            </a:pPr>
            <a:r>
              <a:rPr lang="en-US" sz="1250" dirty="0">
                <a:solidFill>
                  <a:srgbClr val="3C3C3C"/>
                </a:solidFill>
                <a:latin typeface="Calibri" pitchFamily="34" charset="0"/>
                <a:ea typeface="Calibri" pitchFamily="34" charset="-122"/>
                <a:cs typeface="Calibri" pitchFamily="34" charset="-120"/>
              </a:rPr>
              <a:t>Mechanical values are means of three specimens; individual values were not retained, so standard deviations cannot be reported. Fire, absorption and density rest on single determinations and are indicative, not characteristic.</a:t>
            </a:r>
            <a:endParaRPr lang="en-US" sz="1250" dirty="0"/>
          </a:p>
        </p:txBody>
      </p:sp>
      <p:sp>
        <p:nvSpPr>
          <p:cNvPr id="6" name="Text 3"/>
          <p:cNvSpPr txBox="1"/>
          <p:nvPr/>
        </p:nvSpPr>
        <p:spPr>
          <a:xfrm>
            <a:off x="731520" y="5349240"/>
            <a:ext cx="106984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All testing: Advanced Construction Materials Research Laboratory, Hacettepe University.</a:t>
            </a:r>
            <a:endParaRPr lang="en-US" sz="900" dirty="0"/>
          </a:p>
        </p:txBody>
      </p:sp>
      <p:sp>
        <p:nvSpPr>
          <p:cNvPr id="8"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Compression</a:t>
            </a:r>
            <a:endParaRPr lang="en-US" sz="2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31520" y="1463040"/>
          <a:ext cx="4206240" cy="914400"/>
        </p:xfrm>
        <a:graphic>
          <a:graphicData uri="http://schemas.openxmlformats.org/drawingml/2006/table">
            <a:tbl>
              <a:tblPr/>
              <a:tblGrid>
                <a:gridCol w="640080"/>
                <a:gridCol w="1463040"/>
                <a:gridCol w="1051560"/>
                <a:gridCol w="105156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Solids : water</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Fₘₐₓ kN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σᴄ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3.89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2.55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4.30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0.59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6.80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4.10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4" name="ru0.83.4"/>
          <p:cNvSpPr/>
          <p:nvPr/>
        </p:nvSpPr>
        <p:spPr>
          <a:xfrm>
            <a:off x="731520" y="3108960"/>
            <a:ext cx="4206240" cy="9144"/>
          </a:xfrm>
          <a:prstGeom prst="rect">
            <a:avLst/>
          </a:prstGeom>
          <a:solidFill>
            <a:srgbClr val="E4E4E4"/>
          </a:solidFill>
          <a:ln w="12700">
            <a:solidFill>
              <a:srgbClr val="E4E4E4">
                <a:alpha val="0"/>
              </a:srgbClr>
            </a:solidFill>
            <a:prstDash val="solid"/>
          </a:ln>
        </p:spPr>
      </p:sp>
      <p:sp>
        <p:nvSpPr>
          <p:cNvPr id="5" name="Text 2"/>
          <p:cNvSpPr txBox="1"/>
          <p:nvPr/>
        </p:nvSpPr>
        <p:spPr>
          <a:xfrm>
            <a:off x="731520" y="3337560"/>
            <a:ext cx="4206240" cy="731520"/>
          </a:xfrm>
          <a:prstGeom prst="rect">
            <a:avLst/>
          </a:prstGeom>
          <a:noFill/>
          <a:ln/>
        </p:spPr>
        <p:txBody>
          <a:bodyPr wrap="square" lIns="0" tIns="0" rIns="0" bIns="0" rtlCol="0" anchor="ctr"/>
          <a:lstStyle/>
          <a:p>
            <a:pPr indent="0" marL="0">
              <a:lnSpc>
                <a:spcPts val="2100"/>
              </a:lnSpc>
              <a:buNone/>
            </a:pPr>
            <a:r>
              <a:rPr lang="en-US" sz="1500" b="1" dirty="0">
                <a:solidFill>
                  <a:srgbClr val="141414"/>
                </a:solidFill>
                <a:latin typeface="Calibri" pitchFamily="34" charset="0"/>
                <a:ea typeface="Calibri" pitchFamily="34" charset="-122"/>
                <a:cs typeface="Calibri" pitchFamily="34" charset="-120"/>
              </a:rPr>
              <a:t>Strength rises with solids concentration, not with mineral content.</a:t>
            </a:r>
            <a:endParaRPr lang="en-US" sz="1500" dirty="0"/>
          </a:p>
        </p:txBody>
      </p:sp>
      <p:sp>
        <p:nvSpPr>
          <p:cNvPr id="6" name="Text 3"/>
          <p:cNvSpPr txBox="1"/>
          <p:nvPr/>
        </p:nvSpPr>
        <p:spPr>
          <a:xfrm>
            <a:off x="731520" y="4206240"/>
            <a:ext cx="4206240" cy="137160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Shell : binder is fixed at 2.00 across the series, so packing density is the only variable. Linear across the range tested, R² = 0.99 — three formulations, so a hypothesis, not a law.</a:t>
            </a:r>
            <a:endParaRPr lang="en-US" sz="1050" dirty="0"/>
          </a:p>
        </p:txBody>
      </p:sp>
      <p:graphicFrame>
        <p:nvGraphicFramePr>
          <p:cNvPr id="7" name="cc" descr=""/>
          <p:cNvGraphicFramePr/>
          <p:nvPr/>
        </p:nvGraphicFramePr>
        <p:xfrm>
          <a:off x="5394960" y="146304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9"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Crushing</a:t>
            </a:r>
            <a:endParaRPr lang="en-US" sz="2000" dirty="0"/>
          </a:p>
        </p:txBody>
      </p:sp>
      <p:pic>
        <p:nvPicPr>
          <p:cNvPr id="3" name="cube" descr="/home/user/sanat-ve-mekan/konferans-bildirisi/03-gorseller/04-basma-ficilasmis-kup.jpeg">    </p:cNvPr>
          <p:cNvPicPr>
            <a:picLocks noChangeAspect="1"/>
          </p:cNvPicPr>
          <p:nvPr/>
        </p:nvPicPr>
        <p:blipFill>
          <a:blip r:embed="rId1"/>
          <a:stretch>
            <a:fillRect/>
          </a:stretch>
        </p:blipFill>
        <p:spPr>
          <a:xfrm>
            <a:off x="731520" y="1371600"/>
            <a:ext cx="2286000" cy="4946904"/>
          </a:xfrm>
          <a:prstGeom prst="rect">
            <a:avLst/>
          </a:prstGeom>
        </p:spPr>
      </p:pic>
      <p:pic>
        <p:nvPicPr>
          <p:cNvPr id="4" name="curve" descr="/home/user/sanat-ve-mekan/konferans-bildirisi/03-gorseller/05b-basma-egrisi.png">    </p:cNvPr>
          <p:cNvPicPr>
            <a:picLocks noChangeAspect="1"/>
          </p:cNvPicPr>
          <p:nvPr/>
        </p:nvPicPr>
        <p:blipFill>
          <a:blip r:embed="rId2"/>
          <a:stretch>
            <a:fillRect/>
          </a:stretch>
        </p:blipFill>
        <p:spPr>
          <a:xfrm>
            <a:off x="3566160" y="2103120"/>
            <a:ext cx="4754880" cy="2660904"/>
          </a:xfrm>
          <a:prstGeom prst="rect">
            <a:avLst/>
          </a:prstGeom>
        </p:spPr>
      </p:pic>
      <p:sp>
        <p:nvSpPr>
          <p:cNvPr id="5" name="Text 1"/>
          <p:cNvSpPr txBox="1"/>
          <p:nvPr/>
        </p:nvSpPr>
        <p:spPr>
          <a:xfrm>
            <a:off x="3566160" y="1783080"/>
            <a:ext cx="475488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COMPRESSIVE STRESS – STRAIN, C3</a:t>
            </a:r>
            <a:endParaRPr lang="en-US" sz="850" dirty="0"/>
          </a:p>
        </p:txBody>
      </p:sp>
      <p:sp>
        <p:nvSpPr>
          <p:cNvPr id="6" name="vr9.61.5"/>
          <p:cNvSpPr/>
          <p:nvPr/>
        </p:nvSpPr>
        <p:spPr>
          <a:xfrm>
            <a:off x="8778240" y="1371600"/>
            <a:ext cx="13716" cy="4572000"/>
          </a:xfrm>
          <a:prstGeom prst="rect">
            <a:avLst/>
          </a:prstGeom>
          <a:solidFill>
            <a:srgbClr val="E4E4E4"/>
          </a:solidFill>
          <a:ln w="12700">
            <a:solidFill>
              <a:srgbClr val="E4E4E4">
                <a:alpha val="0"/>
              </a:srgbClr>
            </a:solidFill>
            <a:prstDash val="solid"/>
          </a:ln>
        </p:spPr>
      </p:sp>
      <p:sp>
        <p:nvSpPr>
          <p:cNvPr id="7" name="Text 3"/>
          <p:cNvSpPr txBox="1"/>
          <p:nvPr/>
        </p:nvSpPr>
        <p:spPr>
          <a:xfrm>
            <a:off x="9235440" y="1371600"/>
            <a:ext cx="219456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THE CURVE</a:t>
            </a:r>
            <a:endParaRPr lang="en-US" sz="850" dirty="0"/>
          </a:p>
        </p:txBody>
      </p:sp>
      <p:sp>
        <p:nvSpPr>
          <p:cNvPr id="8" name="Text 4"/>
          <p:cNvSpPr txBox="1"/>
          <p:nvPr/>
        </p:nvSpPr>
        <p:spPr>
          <a:xfrm>
            <a:off x="9235440" y="1691640"/>
            <a:ext cx="2194560" cy="2926080"/>
          </a:xfrm>
          <a:prstGeom prst="rect">
            <a:avLst/>
          </a:prstGeom>
          <a:noFill/>
          <a:ln/>
        </p:spPr>
        <p:txBody>
          <a:bodyPr wrap="square" lIns="0" tIns="0" rIns="0" bIns="0" rtlCol="0" anchor="ctr"/>
          <a:lstStyle/>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Linear to about 1 MPa</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Progressive stiffness loss</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Peak near 10% strain</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No abrupt load drop</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Deformation with retained integrity</a:t>
            </a:r>
            <a:endParaRPr lang="en-US" sz="1150" dirty="0"/>
          </a:p>
        </p:txBody>
      </p:sp>
      <p:sp>
        <p:nvSpPr>
          <p:cNvPr id="9" name="Text 5"/>
          <p:cNvSpPr txBox="1"/>
          <p:nvPr/>
        </p:nvSpPr>
        <p:spPr>
          <a:xfrm>
            <a:off x="9235440" y="4754880"/>
            <a:ext cx="2194560" cy="822960"/>
          </a:xfrm>
          <a:prstGeom prst="rect">
            <a:avLst/>
          </a:prstGeom>
          <a:noFill/>
          <a:ln/>
        </p:spPr>
        <p:txBody>
          <a:bodyPr wrap="square" lIns="0" tIns="0" rIns="0" bIns="0" rtlCol="0" anchor="ctr"/>
          <a:lstStyle/>
          <a:p>
            <a:pPr indent="0" marL="0">
              <a:lnSpc>
                <a:spcPts val="2100"/>
              </a:lnSpc>
              <a:buNone/>
            </a:pPr>
            <a:r>
              <a:rPr lang="en-US" sz="1500" b="1" dirty="0">
                <a:solidFill>
                  <a:srgbClr val="B4513A"/>
                </a:solidFill>
                <a:latin typeface="Calibri" pitchFamily="34" charset="0"/>
                <a:ea typeface="Calibri" pitchFamily="34" charset="-122"/>
                <a:cs typeface="Calibri" pitchFamily="34" charset="-120"/>
              </a:rPr>
              <a:t>It crushes.</a:t>
            </a:r>
            <a:endParaRPr lang="en-US" sz="1500" dirty="0"/>
          </a:p>
          <a:p>
            <a:pPr indent="0" marL="0">
              <a:lnSpc>
                <a:spcPts val="2100"/>
              </a:lnSpc>
              <a:buNone/>
            </a:pPr>
            <a:r>
              <a:rPr lang="en-US" sz="1500" b="1" dirty="0">
                <a:solidFill>
                  <a:srgbClr val="B4513A"/>
                </a:solidFill>
                <a:latin typeface="Calibri" pitchFamily="34" charset="0"/>
                <a:ea typeface="Calibri" pitchFamily="34" charset="-122"/>
                <a:cs typeface="Calibri" pitchFamily="34" charset="-120"/>
              </a:rPr>
              <a:t>It does not fracture.</a:t>
            </a:r>
            <a:endParaRPr lang="en-US" sz="1500" dirty="0"/>
          </a:p>
        </p:txBody>
      </p:sp>
      <p:sp>
        <p:nvSpPr>
          <p:cNvPr id="10" name="Text 6"/>
          <p:cNvSpPr txBox="1"/>
          <p:nvPr/>
        </p:nvSpPr>
        <p:spPr>
          <a:xfrm>
            <a:off x="731520" y="5989320"/>
            <a:ext cx="106984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Strain derived from an assumed 10% maximum deformation based on observation, not instrumented measurement.  ·  Bulk density 1.38 g/cm³, mould-volume basis.</a:t>
            </a:r>
            <a:endParaRPr lang="en-US" sz="900" dirty="0"/>
          </a:p>
        </p:txBody>
      </p:sp>
      <p:sp>
        <p:nvSpPr>
          <p:cNvPr id="12"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Flexure</a:t>
            </a:r>
            <a:endParaRPr lang="en-US" sz="2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31520" y="1463040"/>
          <a:ext cx="6675120" cy="914400"/>
        </p:xfrm>
        <a:graphic>
          <a:graphicData uri="http://schemas.openxmlformats.org/drawingml/2006/table">
            <a:tbl>
              <a:tblPr/>
              <a:tblGrid>
                <a:gridCol w="685800"/>
                <a:gridCol w="1600200"/>
                <a:gridCol w="1005840"/>
                <a:gridCol w="1600200"/>
                <a:gridCol w="914400"/>
                <a:gridCol w="868680"/>
              </a:tblGrid>
              <a:tr h="384048">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ID</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Glycerol % solids</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Fₘₐₓ N</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σꜰ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Eꜰ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ε peak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18.8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i="1" dirty="0">
                          <a:solidFill>
                            <a:srgbClr val="3C3C3C"/>
                          </a:solidFill>
                          <a:latin typeface="Calibri" pitchFamily="34" charset="0"/>
                          <a:ea typeface="Calibri" pitchFamily="34" charset="-122"/>
                          <a:cs typeface="Calibri" pitchFamily="34" charset="-120"/>
                        </a:rPr>
                        <a:t>not measurable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84048">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F2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310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2.325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192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0.0121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pic>
        <p:nvPicPr>
          <p:cNvPr id="4" name="fc" descr="/home/user/sanat-ve-mekan/konferans-bildirisi/03-gorseller/09b-egilme-egrisi.png">    </p:cNvPr>
          <p:cNvPicPr>
            <a:picLocks noChangeAspect="1"/>
          </p:cNvPicPr>
          <p:nvPr/>
        </p:nvPicPr>
        <p:blipFill>
          <a:blip r:embed="rId1"/>
          <a:stretch>
            <a:fillRect/>
          </a:stretch>
        </p:blipFill>
        <p:spPr>
          <a:xfrm>
            <a:off x="731520" y="3108960"/>
            <a:ext cx="4206240" cy="2377440"/>
          </a:xfrm>
          <a:prstGeom prst="rect">
            <a:avLst/>
          </a:prstGeom>
        </p:spPr>
      </p:pic>
      <p:sp>
        <p:nvSpPr>
          <p:cNvPr id="5" name="Text 1"/>
          <p:cNvSpPr txBox="1"/>
          <p:nvPr/>
        </p:nvSpPr>
        <p:spPr>
          <a:xfrm>
            <a:off x="731520" y="2834640"/>
            <a:ext cx="420624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FLEXURAL STRESS – STRAIN, F2</a:t>
            </a:r>
            <a:endParaRPr lang="en-US" sz="850" dirty="0"/>
          </a:p>
        </p:txBody>
      </p:sp>
      <p:sp>
        <p:nvSpPr>
          <p:cNvPr id="6" name="vr8.61.6"/>
          <p:cNvSpPr/>
          <p:nvPr/>
        </p:nvSpPr>
        <p:spPr>
          <a:xfrm>
            <a:off x="7863840" y="1463040"/>
            <a:ext cx="13716" cy="4480560"/>
          </a:xfrm>
          <a:prstGeom prst="rect">
            <a:avLst/>
          </a:prstGeom>
          <a:solidFill>
            <a:srgbClr val="E4E4E4"/>
          </a:solidFill>
          <a:ln w="12700">
            <a:solidFill>
              <a:srgbClr val="E4E4E4">
                <a:alpha val="0"/>
              </a:srgbClr>
            </a:solidFill>
            <a:prstDash val="solid"/>
          </a:ln>
        </p:spPr>
      </p:sp>
      <p:sp>
        <p:nvSpPr>
          <p:cNvPr id="7" name="Text 3"/>
          <p:cNvSpPr txBox="1"/>
          <p:nvPr/>
        </p:nvSpPr>
        <p:spPr>
          <a:xfrm>
            <a:off x="8321040" y="1463040"/>
            <a:ext cx="310896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DISCLOSURE</a:t>
            </a:r>
            <a:endParaRPr lang="en-US" sz="850" dirty="0"/>
          </a:p>
        </p:txBody>
      </p:sp>
      <p:sp>
        <p:nvSpPr>
          <p:cNvPr id="8" name="Text 4"/>
          <p:cNvSpPr txBox="1"/>
          <p:nvPr/>
        </p:nvSpPr>
        <p:spPr>
          <a:xfrm>
            <a:off x="8321040" y="1737360"/>
            <a:ext cx="3108960" cy="1920240"/>
          </a:xfrm>
          <a:prstGeom prst="rect">
            <a:avLst/>
          </a:prstGeom>
          <a:noFill/>
          <a:ln/>
        </p:spPr>
        <p:txBody>
          <a:bodyPr wrap="square" lIns="0" tIns="0" rIns="0" bIns="0" rtlCol="0" anchor="t"/>
          <a:lstStyle/>
          <a:p>
            <a:pPr indent="0" marL="0">
              <a:lnSpc>
                <a:spcPts val="1750"/>
              </a:lnSpc>
              <a:buNone/>
            </a:pPr>
            <a:r>
              <a:rPr lang="en-US" sz="1150" dirty="0">
                <a:solidFill>
                  <a:srgbClr val="3C3C3C"/>
                </a:solidFill>
                <a:latin typeface="Calibri" pitchFamily="34" charset="0"/>
                <a:ea typeface="Calibri" pitchFamily="34" charset="-122"/>
                <a:cs typeface="Calibri" pitchFamily="34" charset="-120"/>
              </a:rPr>
              <a:t>The specimen is kerfed on its tension face. The standard assumes a solid rectangle, and the calculation uses the full section. Part of the compliance is geometric: the modulus is a lower bound.</a:t>
            </a:r>
            <a:endParaRPr lang="en-US" sz="1150" dirty="0"/>
          </a:p>
        </p:txBody>
      </p:sp>
      <p:sp>
        <p:nvSpPr>
          <p:cNvPr id="9" name="ru9.14.2"/>
          <p:cNvSpPr/>
          <p:nvPr/>
        </p:nvSpPr>
        <p:spPr>
          <a:xfrm>
            <a:off x="8321040" y="3840480"/>
            <a:ext cx="3108960" cy="9144"/>
          </a:xfrm>
          <a:prstGeom prst="rect">
            <a:avLst/>
          </a:prstGeom>
          <a:solidFill>
            <a:srgbClr val="E4E4E4"/>
          </a:solidFill>
          <a:ln w="12700">
            <a:solidFill>
              <a:srgbClr val="E4E4E4">
                <a:alpha val="0"/>
              </a:srgbClr>
            </a:solidFill>
            <a:prstDash val="solid"/>
          </a:ln>
        </p:spPr>
      </p:sp>
      <p:sp>
        <p:nvSpPr>
          <p:cNvPr id="10" name="Text 6"/>
          <p:cNvSpPr txBox="1"/>
          <p:nvPr/>
        </p:nvSpPr>
        <p:spPr>
          <a:xfrm>
            <a:off x="8321040" y="4069080"/>
            <a:ext cx="3108960" cy="822960"/>
          </a:xfrm>
          <a:prstGeom prst="rect">
            <a:avLst/>
          </a:prstGeom>
          <a:noFill/>
          <a:ln/>
        </p:spPr>
        <p:txBody>
          <a:bodyPr wrap="square" lIns="0" tIns="0" rIns="0" bIns="0" rtlCol="0" anchor="ctr"/>
          <a:lstStyle/>
          <a:p>
            <a:pPr indent="0" marL="0">
              <a:lnSpc>
                <a:spcPts val="2100"/>
              </a:lnSpc>
              <a:buNone/>
            </a:pPr>
            <a:r>
              <a:rPr lang="en-US" sz="1500" b="1" dirty="0">
                <a:solidFill>
                  <a:srgbClr val="B4513A"/>
                </a:solidFill>
                <a:latin typeface="Calibri" pitchFamily="34" charset="0"/>
                <a:ea typeface="Calibri" pitchFamily="34" charset="-122"/>
                <a:cs typeface="Calibri" pitchFamily="34" charset="-120"/>
              </a:rPr>
              <a:t>Plasticiser decides whether it resists at all.</a:t>
            </a:r>
            <a:endParaRPr lang="en-US" sz="1500" dirty="0"/>
          </a:p>
        </p:txBody>
      </p:sp>
      <p:sp>
        <p:nvSpPr>
          <p:cNvPr id="11" name="Text 7"/>
          <p:cNvSpPr txBox="1"/>
          <p:nvPr/>
        </p:nvSpPr>
        <p:spPr>
          <a:xfrm>
            <a:off x="8321040" y="5029200"/>
            <a:ext cx="3108960" cy="91440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At 18.8% glycerol the machine registered nothing usable. Halving it gave a section that resists while still flexing.</a:t>
            </a:r>
            <a:endParaRPr lang="en-US" sz="1050" dirty="0"/>
          </a:p>
        </p:txBody>
      </p:sp>
      <p:sp>
        <p:nvSpPr>
          <p:cNvPr id="12" name="Text 8"/>
          <p:cNvSpPr txBox="1"/>
          <p:nvPr/>
        </p:nvSpPr>
        <p:spPr>
          <a:xfrm>
            <a:off x="5303520" y="3108960"/>
            <a:ext cx="2286000" cy="219456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Three specimens per formulation. The two formulations differ in glycerol, but batch mass was fixed, so solids concentration moved as well.</a:t>
            </a:r>
            <a:endParaRPr lang="en-US" sz="1050" dirty="0"/>
          </a:p>
        </p:txBody>
      </p:sp>
      <p:sp>
        <p:nvSpPr>
          <p:cNvPr id="1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b1" descr="/home/user/sanat-ve-mekan/konferans-bildirisi/03-gorseller/06-egilme-buyuk-sehim.jpg">    </p:cNvPr>
          <p:cNvPicPr>
            <a:picLocks noChangeAspect="1"/>
          </p:cNvPicPr>
          <p:nvPr/>
        </p:nvPicPr>
        <p:blipFill>
          <a:blip r:embed="rId1"/>
          <a:stretch>
            <a:fillRect/>
          </a:stretch>
        </p:blipFill>
        <p:spPr>
          <a:xfrm>
            <a:off x="0" y="0"/>
            <a:ext cx="3090672" cy="6858000"/>
          </a:xfrm>
          <a:prstGeom prst="rect">
            <a:avLst/>
          </a:prstGeom>
        </p:spPr>
      </p:pic>
      <p:pic>
        <p:nvPicPr>
          <p:cNvPr id="3" name="b2" descr="/home/user/sanat-ve-mekan/konferans-bildirisi/03-gorseller/07-egilme-yakin-yiv.jpeg">    </p:cNvPr>
          <p:cNvPicPr>
            <a:picLocks noChangeAspect="1"/>
          </p:cNvPicPr>
          <p:nvPr/>
        </p:nvPicPr>
        <p:blipFill>
          <a:blip r:embed="rId2"/>
          <a:stretch>
            <a:fillRect/>
          </a:stretch>
        </p:blipFill>
        <p:spPr>
          <a:xfrm>
            <a:off x="3182112" y="0"/>
            <a:ext cx="4572000" cy="3429000"/>
          </a:xfrm>
          <a:prstGeom prst="rect">
            <a:avLst/>
          </a:prstGeom>
        </p:spPr>
      </p:pic>
      <p:pic>
        <p:nvPicPr>
          <p:cNvPr id="4" name="b3" descr="/home/user/sanat-ve-mekan/konferans-bildirisi/03-gorseller/08b-yivli-panel-kemer.jpg">    </p:cNvPr>
          <p:cNvPicPr>
            <a:picLocks noChangeAspect="1"/>
          </p:cNvPicPr>
          <p:nvPr/>
        </p:nvPicPr>
        <p:blipFill>
          <a:blip r:embed="rId3"/>
          <a:stretch>
            <a:fillRect/>
          </a:stretch>
        </p:blipFill>
        <p:spPr>
          <a:xfrm>
            <a:off x="3182112" y="3520440"/>
            <a:ext cx="4572000" cy="3337560"/>
          </a:xfrm>
          <a:prstGeom prst="rect">
            <a:avLst/>
          </a:prstGeom>
        </p:spPr>
      </p:pic>
      <p:sp>
        <p:nvSpPr>
          <p:cNvPr id="5" name="pane"/>
          <p:cNvSpPr/>
          <p:nvPr/>
        </p:nvSpPr>
        <p:spPr>
          <a:xfrm>
            <a:off x="7845552" y="0"/>
            <a:ext cx="4343400" cy="6858000"/>
          </a:xfrm>
          <a:prstGeom prst="rect">
            <a:avLst/>
          </a:prstGeom>
          <a:solidFill>
            <a:srgbClr val="141414"/>
          </a:solidFill>
          <a:ln w="12700">
            <a:solidFill>
              <a:srgbClr val="141414">
                <a:alpha val="0"/>
              </a:srgbClr>
            </a:solidFill>
            <a:prstDash val="solid"/>
          </a:ln>
        </p:spPr>
      </p:sp>
      <p:sp>
        <p:nvSpPr>
          <p:cNvPr id="6" name="Text 1"/>
          <p:cNvSpPr txBox="1"/>
          <p:nvPr/>
        </p:nvSpPr>
        <p:spPr>
          <a:xfrm>
            <a:off x="8321040" y="1371600"/>
            <a:ext cx="3383280" cy="219456"/>
          </a:xfrm>
          <a:prstGeom prst="rect">
            <a:avLst/>
          </a:prstGeom>
          <a:noFill/>
          <a:ln/>
        </p:spPr>
        <p:txBody>
          <a:bodyPr wrap="square" lIns="0" tIns="0" rIns="0" bIns="0" rtlCol="0" anchor="ctr"/>
          <a:lstStyle/>
          <a:p>
            <a:pPr indent="0" marL="0">
              <a:buNone/>
            </a:pPr>
            <a:r>
              <a:rPr lang="en-US" sz="850" b="1" spc="130" kern="0" dirty="0">
                <a:solidFill>
                  <a:srgbClr val="8A8A8A"/>
                </a:solidFill>
                <a:latin typeface="Calibri" pitchFamily="34" charset="0"/>
                <a:ea typeface="Calibri" pitchFamily="34" charset="-122"/>
                <a:cs typeface="Calibri" pitchFamily="34" charset="-120"/>
              </a:rPr>
              <a:t>BENDING</a:t>
            </a:r>
            <a:endParaRPr lang="en-US" sz="850" dirty="0"/>
          </a:p>
        </p:txBody>
      </p:sp>
      <p:sp>
        <p:nvSpPr>
          <p:cNvPr id="7" name="Text 2"/>
          <p:cNvSpPr txBox="1"/>
          <p:nvPr/>
        </p:nvSpPr>
        <p:spPr>
          <a:xfrm>
            <a:off x="8321040" y="1691640"/>
            <a:ext cx="3383280" cy="914400"/>
          </a:xfrm>
          <a:prstGeom prst="rect">
            <a:avLst/>
          </a:prstGeom>
          <a:noFill/>
          <a:ln/>
        </p:spPr>
        <p:txBody>
          <a:bodyPr wrap="square" lIns="0" tIns="0" rIns="0" bIns="0" rtlCol="0" anchor="ctr"/>
          <a:lstStyle/>
          <a:p>
            <a:pPr indent="0" marL="0">
              <a:lnSpc>
                <a:spcPts val="2500"/>
              </a:lnSpc>
              <a:buNone/>
            </a:pPr>
            <a:r>
              <a:rPr lang="en-US" sz="1800" b="1" dirty="0">
                <a:solidFill>
                  <a:srgbClr val="FFFFFF"/>
                </a:solidFill>
                <a:latin typeface="Calibri" pitchFamily="34" charset="0"/>
                <a:ea typeface="Calibri" pitchFamily="34" charset="-122"/>
                <a:cs typeface="Calibri" pitchFamily="34" charset="-120"/>
              </a:rPr>
              <a:t>The kerfs are visible, and so is the consequence.</a:t>
            </a:r>
            <a:endParaRPr lang="en-US" sz="1800" dirty="0"/>
          </a:p>
        </p:txBody>
      </p:sp>
      <p:sp>
        <p:nvSpPr>
          <p:cNvPr id="8" name="Text 3"/>
          <p:cNvSpPr txBox="1"/>
          <p:nvPr/>
        </p:nvSpPr>
        <p:spPr>
          <a:xfrm>
            <a:off x="8321040" y="2834640"/>
            <a:ext cx="3383280" cy="2011680"/>
          </a:xfrm>
          <a:prstGeom prst="rect">
            <a:avLst/>
          </a:prstGeom>
          <a:noFill/>
          <a:ln/>
        </p:spPr>
        <p:txBody>
          <a:bodyPr wrap="square" lIns="0" tIns="0" rIns="0" bIns="0" rtlCol="0" anchor="t"/>
          <a:lstStyle/>
          <a:p>
            <a:pPr indent="0" marL="0">
              <a:lnSpc>
                <a:spcPts val="1800"/>
              </a:lnSpc>
              <a:buNone/>
            </a:pPr>
            <a:r>
              <a:rPr lang="en-US" sz="1200" dirty="0">
                <a:solidFill>
                  <a:srgbClr val="FFFFFF"/>
                </a:solidFill>
                <a:latin typeface="Calibri" pitchFamily="34" charset="0"/>
                <a:ea typeface="Calibri" pitchFamily="34" charset="-122"/>
                <a:cs typeface="Calibri" pitchFamily="34" charset="-120"/>
              </a:rPr>
              <a:t>Transverse kerfs on the tension face let the panel arch by hand. They also mean the measured compliance is partly geometric, which is why the reported modulus is a lower bound rather than a material constant.</a:t>
            </a:r>
            <a:endParaRPr lang="en-US" sz="1200" dirty="0"/>
          </a:p>
        </p:txBody>
      </p:sp>
      <p:sp>
        <p:nvSpPr>
          <p:cNvPr id="9" name="Text 4"/>
          <p:cNvSpPr txBox="1"/>
          <p:nvPr/>
        </p:nvSpPr>
        <p:spPr>
          <a:xfrm>
            <a:off x="8321040" y="5120640"/>
            <a:ext cx="33832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Three-point rig at high deflection · close-up of the kerfed tension face · panel arched by hand</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Fire and water</a:t>
            </a:r>
            <a:endParaRPr lang="en-US" sz="2000" dirty="0"/>
          </a:p>
        </p:txBody>
      </p:sp>
      <p:pic>
        <p:nvPicPr>
          <p:cNvPr id="3" name="fl" descr="/home/user/sanat-ve-mekan/konferans-bildirisi/03-gorseller/10-alev-testi.png">    </p:cNvPr>
          <p:cNvPicPr>
            <a:picLocks noChangeAspect="1"/>
          </p:cNvPicPr>
          <p:nvPr/>
        </p:nvPicPr>
        <p:blipFill>
          <a:blip r:embed="rId1"/>
          <a:stretch>
            <a:fillRect/>
          </a:stretch>
        </p:blipFill>
        <p:spPr>
          <a:xfrm>
            <a:off x="731520" y="1371600"/>
            <a:ext cx="2011680" cy="4361688"/>
          </a:xfrm>
          <a:prstGeom prst="rect">
            <a:avLst/>
          </a:prstGeom>
        </p:spPr>
      </p:pic>
      <p:sp>
        <p:nvSpPr>
          <p:cNvPr id="4" name="Text 1"/>
          <p:cNvSpPr txBox="1"/>
          <p:nvPr/>
        </p:nvSpPr>
        <p:spPr>
          <a:xfrm>
            <a:off x="3200400" y="1371600"/>
            <a:ext cx="301752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IGNITABILITY — ISO 11925-2</a:t>
            </a:r>
            <a:endParaRPr lang="en-US" sz="850" dirty="0"/>
          </a:p>
        </p:txBody>
      </p:sp>
      <p:sp>
        <p:nvSpPr>
          <p:cNvPr id="5" name="Text 2"/>
          <p:cNvSpPr txBox="1"/>
          <p:nvPr/>
        </p:nvSpPr>
        <p:spPr>
          <a:xfrm>
            <a:off x="3200400" y="1691640"/>
            <a:ext cx="3017520" cy="685800"/>
          </a:xfrm>
          <a:prstGeom prst="rect">
            <a:avLst/>
          </a:prstGeom>
          <a:noFill/>
          <a:ln/>
        </p:spPr>
        <p:txBody>
          <a:bodyPr wrap="square" lIns="0" tIns="0" rIns="0" bIns="0" rtlCol="0" anchor="b"/>
          <a:lstStyle/>
          <a:p>
            <a:pPr indent="0" marL="0">
              <a:buNone/>
            </a:pPr>
            <a:r>
              <a:rPr lang="en-US" sz="3600" b="1" dirty="0">
                <a:solidFill>
                  <a:srgbClr val="B4513A"/>
                </a:solidFill>
                <a:latin typeface="Calibri" pitchFamily="34" charset="0"/>
                <a:ea typeface="Calibri" pitchFamily="34" charset="-122"/>
                <a:cs typeface="Calibri" pitchFamily="34" charset="-120"/>
              </a:rPr>
              <a:t>~10 s</a:t>
            </a:r>
            <a:endParaRPr lang="en-US" sz="3600" dirty="0"/>
          </a:p>
        </p:txBody>
      </p:sp>
      <p:sp>
        <p:nvSpPr>
          <p:cNvPr id="6" name="Text 3"/>
          <p:cNvSpPr txBox="1"/>
          <p:nvPr/>
        </p:nvSpPr>
        <p:spPr>
          <a:xfrm>
            <a:off x="3200400" y="2414016"/>
            <a:ext cx="301752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to ignition under direct flame</a:t>
            </a:r>
            <a:endParaRPr lang="en-US" sz="950" dirty="0"/>
          </a:p>
        </p:txBody>
      </p:sp>
      <p:sp>
        <p:nvSpPr>
          <p:cNvPr id="7" name="Text 4"/>
          <p:cNvSpPr txBox="1"/>
          <p:nvPr/>
        </p:nvSpPr>
        <p:spPr>
          <a:xfrm>
            <a:off x="3200400" y="2880360"/>
            <a:ext cx="3017520" cy="685800"/>
          </a:xfrm>
          <a:prstGeom prst="rect">
            <a:avLst/>
          </a:prstGeom>
          <a:noFill/>
          <a:ln/>
        </p:spPr>
        <p:txBody>
          <a:bodyPr wrap="square" lIns="0" tIns="0" rIns="0" bIns="0" rtlCol="0" anchor="b"/>
          <a:lstStyle/>
          <a:p>
            <a:pPr indent="0" marL="0">
              <a:buNone/>
            </a:pPr>
            <a:r>
              <a:rPr lang="en-US" sz="3600" b="1" dirty="0">
                <a:solidFill>
                  <a:srgbClr val="B4513A"/>
                </a:solidFill>
                <a:latin typeface="Calibri" pitchFamily="34" charset="0"/>
                <a:ea typeface="Calibri" pitchFamily="34" charset="-122"/>
                <a:cs typeface="Calibri" pitchFamily="34" charset="-120"/>
              </a:rPr>
              <a:t>4 s</a:t>
            </a:r>
            <a:endParaRPr lang="en-US" sz="3600" dirty="0"/>
          </a:p>
        </p:txBody>
      </p:sp>
      <p:sp>
        <p:nvSpPr>
          <p:cNvPr id="8" name="Text 5"/>
          <p:cNvSpPr txBox="1"/>
          <p:nvPr/>
        </p:nvSpPr>
        <p:spPr>
          <a:xfrm>
            <a:off x="3200400" y="3602736"/>
            <a:ext cx="3017520" cy="420624"/>
          </a:xfrm>
          <a:prstGeom prst="rect">
            <a:avLst/>
          </a:prstGeom>
          <a:noFill/>
          <a:ln/>
        </p:spPr>
        <p:txBody>
          <a:bodyPr wrap="square" lIns="0" tIns="0" rIns="0" bIns="0" rtlCol="0" anchor="t"/>
          <a:lstStyle/>
          <a:p>
            <a:pPr indent="0" marL="0">
              <a:lnSpc>
                <a:spcPts val="1250"/>
              </a:lnSpc>
              <a:buNone/>
            </a:pPr>
            <a:r>
              <a:rPr lang="en-US" sz="950" dirty="0">
                <a:solidFill>
                  <a:srgbClr val="8C8C8C"/>
                </a:solidFill>
                <a:latin typeface="Calibri" pitchFamily="34" charset="0"/>
                <a:ea typeface="Calibri" pitchFamily="34" charset="-122"/>
                <a:cs typeface="Calibri" pitchFamily="34" charset="-120"/>
              </a:rPr>
              <a:t>to self-extinguish</a:t>
            </a:r>
            <a:endParaRPr lang="en-US" sz="950" dirty="0"/>
          </a:p>
        </p:txBody>
      </p:sp>
      <p:sp>
        <p:nvSpPr>
          <p:cNvPr id="9" name="Text 6"/>
          <p:cNvSpPr txBox="1"/>
          <p:nvPr/>
        </p:nvSpPr>
        <p:spPr>
          <a:xfrm>
            <a:off x="3200400" y="4023360"/>
            <a:ext cx="3017520" cy="1371600"/>
          </a:xfrm>
          <a:prstGeom prst="rect">
            <a:avLst/>
          </a:prstGeom>
          <a:noFill/>
          <a:ln/>
        </p:spPr>
        <p:txBody>
          <a:bodyPr wrap="square" lIns="0" tIns="0" rIns="0" bIns="0" rtlCol="0" anchor="ctr"/>
          <a:lstStyle/>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Charring stays local</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No lateral spread</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No melting, no dripping</a:t>
            </a:r>
            <a:endParaRPr lang="en-US" sz="1150" dirty="0"/>
          </a:p>
        </p:txBody>
      </p:sp>
      <p:sp>
        <p:nvSpPr>
          <p:cNvPr id="10" name="Text 7"/>
          <p:cNvSpPr txBox="1"/>
          <p:nvPr/>
        </p:nvSpPr>
        <p:spPr>
          <a:xfrm>
            <a:off x="3200400" y="5577840"/>
            <a:ext cx="30175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Ignitability only. No Euroclass, cone calorimetry, smoke or toxicity data.</a:t>
            </a:r>
            <a:endParaRPr lang="en-US" sz="900" dirty="0"/>
          </a:p>
        </p:txBody>
      </p:sp>
      <p:sp>
        <p:nvSpPr>
          <p:cNvPr id="11" name="vr7.31.5"/>
          <p:cNvSpPr/>
          <p:nvPr/>
        </p:nvSpPr>
        <p:spPr>
          <a:xfrm>
            <a:off x="6675120" y="1371600"/>
            <a:ext cx="13716" cy="4389120"/>
          </a:xfrm>
          <a:prstGeom prst="rect">
            <a:avLst/>
          </a:prstGeom>
          <a:solidFill>
            <a:srgbClr val="E4E4E4"/>
          </a:solidFill>
          <a:ln w="12700">
            <a:solidFill>
              <a:srgbClr val="E4E4E4">
                <a:alpha val="0"/>
              </a:srgbClr>
            </a:solidFill>
            <a:prstDash val="solid"/>
          </a:ln>
        </p:spPr>
      </p:sp>
      <p:sp>
        <p:nvSpPr>
          <p:cNvPr id="12" name="Text 9"/>
          <p:cNvSpPr txBox="1"/>
          <p:nvPr/>
        </p:nvSpPr>
        <p:spPr>
          <a:xfrm>
            <a:off x="7132320" y="1371600"/>
            <a:ext cx="429768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ABSORPTION — 24 H IMMERSION</a:t>
            </a:r>
            <a:endParaRPr lang="en-US" sz="850" dirty="0"/>
          </a:p>
        </p:txBody>
      </p:sp>
      <p:sp>
        <p:nvSpPr>
          <p:cNvPr id="13" name="Text 10"/>
          <p:cNvSpPr txBox="1"/>
          <p:nvPr/>
        </p:nvSpPr>
        <p:spPr>
          <a:xfrm>
            <a:off x="7132320" y="1645920"/>
            <a:ext cx="1645920" cy="548640"/>
          </a:xfrm>
          <a:prstGeom prst="rect">
            <a:avLst/>
          </a:prstGeom>
          <a:noFill/>
          <a:ln/>
        </p:spPr>
        <p:txBody>
          <a:bodyPr wrap="square" lIns="0" tIns="0" rIns="0" bIns="0" rtlCol="0" anchor="b"/>
          <a:lstStyle/>
          <a:p>
            <a:pPr indent="0" marL="0">
              <a:buNone/>
            </a:pPr>
            <a:r>
              <a:rPr lang="en-US" sz="3600" b="1" dirty="0">
                <a:solidFill>
                  <a:srgbClr val="B4513A"/>
                </a:solidFill>
                <a:latin typeface="Calibri" pitchFamily="34" charset="0"/>
                <a:ea typeface="Calibri" pitchFamily="34" charset="-122"/>
                <a:cs typeface="Calibri" pitchFamily="34" charset="-120"/>
              </a:rPr>
              <a:t>0.7%</a:t>
            </a:r>
            <a:endParaRPr lang="en-US" sz="3600" dirty="0"/>
          </a:p>
        </p:txBody>
      </p:sp>
      <p:sp>
        <p:nvSpPr>
          <p:cNvPr id="14" name="Text 11"/>
          <p:cNvSpPr txBox="1"/>
          <p:nvPr/>
        </p:nvSpPr>
        <p:spPr>
          <a:xfrm>
            <a:off x="8869680" y="1737360"/>
            <a:ext cx="2560320" cy="1097280"/>
          </a:xfrm>
          <a:prstGeom prst="rect">
            <a:avLst/>
          </a:prstGeom>
          <a:noFill/>
          <a:ln/>
        </p:spPr>
        <p:txBody>
          <a:bodyPr wrap="square" lIns="0" tIns="0" rIns="0" bIns="0" rtlCol="0" anchor="t"/>
          <a:lstStyle/>
          <a:p>
            <a:pPr indent="0" marL="0">
              <a:lnSpc>
                <a:spcPts val="1600"/>
              </a:lnSpc>
              <a:buNone/>
            </a:pPr>
            <a:r>
              <a:rPr lang="en-US" sz="1100" dirty="0">
                <a:solidFill>
                  <a:srgbClr val="8C8C8C"/>
                </a:solidFill>
                <a:latin typeface="Calibri" pitchFamily="34" charset="0"/>
                <a:ea typeface="Calibri" pitchFamily="34" charset="-122"/>
                <a:cs typeface="Calibri" pitchFamily="34" charset="-120"/>
              </a:rPr>
              <a:t>mass gain, shellac-coated. Coating integrity, not the composite, is the limiting factor for humid use.</a:t>
            </a:r>
            <a:endParaRPr lang="en-US" sz="1100" dirty="0"/>
          </a:p>
        </p:txBody>
      </p:sp>
      <p:sp>
        <p:nvSpPr>
          <p:cNvPr id="15" name="ru7.83.15"/>
          <p:cNvSpPr/>
          <p:nvPr/>
        </p:nvSpPr>
        <p:spPr>
          <a:xfrm>
            <a:off x="7132320" y="2880360"/>
            <a:ext cx="4297680" cy="9144"/>
          </a:xfrm>
          <a:prstGeom prst="rect">
            <a:avLst/>
          </a:prstGeom>
          <a:solidFill>
            <a:srgbClr val="E4E4E4"/>
          </a:solidFill>
          <a:ln w="12700">
            <a:solidFill>
              <a:srgbClr val="E4E4E4">
                <a:alpha val="0"/>
              </a:srgbClr>
            </a:solidFill>
            <a:prstDash val="solid"/>
          </a:ln>
        </p:spPr>
      </p:sp>
      <p:sp>
        <p:nvSpPr>
          <p:cNvPr id="16" name="Text 13"/>
          <p:cNvSpPr txBox="1"/>
          <p:nvPr/>
        </p:nvSpPr>
        <p:spPr>
          <a:xfrm>
            <a:off x="7132320" y="3063240"/>
            <a:ext cx="429768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BULK DENSITY</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7132320" y="3337560"/>
          <a:ext cx="4297680" cy="914400"/>
        </p:xfrm>
        <a:graphic>
          <a:graphicData uri="http://schemas.openxmlformats.org/drawingml/2006/table">
            <a:tbl>
              <a:tblPr/>
              <a:tblGrid>
                <a:gridCol w="1783080"/>
                <a:gridCol w="914400"/>
                <a:gridCol w="1600200"/>
              </a:tblGrid>
              <a:tr h="347472">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g/cm³</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47472">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1.38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Mycelium, cellulose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 – 0.8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Jones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Fired clay brick</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1.6 – 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William &amp; Owen 1995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Normal-weight concrete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William &amp; Owen 1995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7132320" y="5029200"/>
            <a:ext cx="4297680" cy="82296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Denser than the fungal and cellulosic family, lighter than fired clay. Mould-volume basis, therefore a lower bound.</a:t>
            </a:r>
            <a:endParaRPr lang="en-US" sz="1050" dirty="0"/>
          </a:p>
        </p:txBody>
      </p:sp>
      <p:sp>
        <p:nvSpPr>
          <p:cNvPr id="20"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Versus stone and board</a:t>
            </a:r>
            <a:endParaRPr lang="en-US" sz="2000" dirty="0"/>
          </a:p>
        </p:txBody>
      </p:sp>
      <p:graphicFrame>
        <p:nvGraphicFramePr>
          <p:cNvPr id="3" name="b1" descr=""/>
          <p:cNvGraphicFramePr/>
          <p:nvPr/>
        </p:nvGraphicFramePr>
        <p:xfrm>
          <a:off x="731520" y="1371600"/>
          <a:ext cx="7589520" cy="43891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31520" y="5852160"/>
            <a:ext cx="758952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Velasco &amp; Gaona 2011 · Klyosov 2007 · Nemli &amp; Aydın 2007 · Altun 2006</a:t>
            </a:r>
            <a:endParaRPr lang="en-US" sz="900" dirty="0"/>
          </a:p>
        </p:txBody>
      </p:sp>
      <p:sp>
        <p:nvSpPr>
          <p:cNvPr id="5" name="vr9.51.5"/>
          <p:cNvSpPr/>
          <p:nvPr/>
        </p:nvSpPr>
        <p:spPr>
          <a:xfrm>
            <a:off x="8686800" y="1371600"/>
            <a:ext cx="13716" cy="4389120"/>
          </a:xfrm>
          <a:prstGeom prst="rect">
            <a:avLst/>
          </a:prstGeom>
          <a:solidFill>
            <a:srgbClr val="E4E4E4"/>
          </a:solidFill>
          <a:ln w="12700">
            <a:solidFill>
              <a:srgbClr val="E4E4E4">
                <a:alpha val="0"/>
              </a:srgbClr>
            </a:solidFill>
            <a:prstDash val="solid"/>
          </a:ln>
        </p:spPr>
      </p:sp>
      <p:sp>
        <p:nvSpPr>
          <p:cNvPr id="6" name="Text 3"/>
          <p:cNvSpPr txBox="1"/>
          <p:nvPr/>
        </p:nvSpPr>
        <p:spPr>
          <a:xfrm>
            <a:off x="9144000" y="1463040"/>
            <a:ext cx="2286000" cy="1005840"/>
          </a:xfrm>
          <a:prstGeom prst="rect">
            <a:avLst/>
          </a:prstGeom>
          <a:noFill/>
          <a:ln/>
        </p:spPr>
        <p:txBody>
          <a:bodyPr wrap="square" lIns="0" tIns="0" rIns="0" bIns="0" rtlCol="0" anchor="ctr"/>
          <a:lstStyle/>
          <a:p>
            <a:pPr indent="0" marL="0">
              <a:lnSpc>
                <a:spcPts val="2300"/>
              </a:lnSpc>
              <a:buNone/>
            </a:pPr>
            <a:r>
              <a:rPr lang="en-US" sz="1700" b="1" dirty="0">
                <a:solidFill>
                  <a:srgbClr val="141414"/>
                </a:solidFill>
                <a:latin typeface="Calibri" pitchFamily="34" charset="0"/>
                <a:ea typeface="Calibri" pitchFamily="34" charset="-122"/>
                <a:cs typeface="Calibri" pitchFamily="34" charset="-120"/>
              </a:rPr>
              <a:t>On strength alone it does not compete.</a:t>
            </a:r>
            <a:endParaRPr lang="en-US" sz="1700" dirty="0"/>
          </a:p>
        </p:txBody>
      </p:sp>
      <p:sp>
        <p:nvSpPr>
          <p:cNvPr id="7" name="Text 4"/>
          <p:cNvSpPr txBox="1"/>
          <p:nvPr/>
        </p:nvSpPr>
        <p:spPr>
          <a:xfrm>
            <a:off x="9144000" y="2697480"/>
            <a:ext cx="2286000" cy="219456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One sixth the compressive strength of MDF. One twentieth that of travertine — a stone it visually resembles. Three times compressed mushroom panel, the only other fully bio-based board here.</a:t>
            </a:r>
            <a:endParaRPr lang="en-US" sz="1050" dirty="0"/>
          </a:p>
        </p:txBody>
      </p:sp>
      <p:sp>
        <p:nvSpPr>
          <p:cNvPr id="9"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Versus bio-based</a:t>
            </a:r>
            <a:endParaRPr lang="en-US" sz="2000" dirty="0"/>
          </a:p>
        </p:txBody>
      </p:sp>
      <p:sp>
        <p:nvSpPr>
          <p:cNvPr id="3" name="Text 1"/>
          <p:cNvSpPr txBox="1"/>
          <p:nvPr/>
        </p:nvSpPr>
        <p:spPr>
          <a:xfrm>
            <a:off x="731520" y="1371600"/>
            <a:ext cx="512064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COMPRESSIVE STRENGTH</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5120640" cy="914400"/>
        </p:xfrm>
        <a:graphic>
          <a:graphicData uri="http://schemas.openxmlformats.org/drawingml/2006/table">
            <a:tbl>
              <a:tblPr/>
              <a:tblGrid>
                <a:gridCol w="2377440"/>
                <a:gridCol w="1371600"/>
                <a:gridCol w="1371600"/>
              </a:tblGrid>
              <a:tr h="347472">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σᴄ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47472">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(C3)</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4.1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Mycelium 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0.145 – 0.452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Jones et al. 2020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Hempcrete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0.3 – 0.6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Arnaud &amp; Gourlay 2012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Eggshell-filled PLA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 – 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Kim &amp; Pal 2010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Mineral-filled biocomposite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2.1 – 39.6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Shah et al. 2016</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0" y="1371600"/>
            <a:ext cx="502920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ELASTIC MODULUS</a:t>
            </a:r>
            <a:endParaRPr lang="en-US" sz="85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6400800" y="1645920"/>
          <a:ext cx="5029200" cy="914400"/>
        </p:xfrm>
        <a:graphic>
          <a:graphicData uri="http://schemas.openxmlformats.org/drawingml/2006/table">
            <a:tbl>
              <a:tblPr/>
              <a:tblGrid>
                <a:gridCol w="2240280"/>
                <a:gridCol w="1234440"/>
                <a:gridCol w="1554480"/>
              </a:tblGrid>
              <a:tr h="347472">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Material</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E MPa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c>
                  <a:txBody>
                    <a:bodyPr/>
                    <a:lstStyle/>
                    <a:p>
                      <a:pPr algn="ctr" indent="0" marL="0">
                        <a:buNone/>
                      </a:pPr>
                      <a:r>
                        <a:rPr lang="en-US" sz="1050" b="1" dirty="0">
                          <a:solidFill>
                            <a:srgbClr val="141414"/>
                          </a:solidFill>
                          <a:latin typeface="Calibri" pitchFamily="34" charset="0"/>
                          <a:ea typeface="Calibri" pitchFamily="34" charset="-122"/>
                          <a:cs typeface="Calibri" pitchFamily="34" charset="-120"/>
                        </a:rPr>
                        <a:t>Reference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7F6F4"/>
                    </a:solidFill>
                  </a:tcPr>
                </a:tc>
              </a:tr>
              <a:tr h="347472">
                <a:tc>
                  <a:txBody>
                    <a:bodyPr/>
                    <a:lstStyle/>
                    <a:p>
                      <a:pPr algn="l" indent="0" marL="0">
                        <a:buNone/>
                      </a:pPr>
                      <a:r>
                        <a:rPr lang="en-US" sz="1050" b="1" dirty="0">
                          <a:solidFill>
                            <a:srgbClr val="B4513A"/>
                          </a:solidFill>
                          <a:latin typeface="Calibri" pitchFamily="34" charset="0"/>
                          <a:ea typeface="Calibri" pitchFamily="34" charset="-122"/>
                          <a:cs typeface="Calibri" pitchFamily="34" charset="-120"/>
                        </a:rPr>
                        <a:t>This study (F2)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B4513A"/>
                          </a:solidFill>
                          <a:latin typeface="Calibri" pitchFamily="34" charset="0"/>
                          <a:ea typeface="Calibri" pitchFamily="34" charset="-122"/>
                          <a:cs typeface="Calibri" pitchFamily="34" charset="-120"/>
                        </a:rPr>
                        <a:t>192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Mycelium composite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1.8 – 5</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Islam et al. 2018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Soy-based bioplastic</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124</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Mansour et al. 2021</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Flax-fibre PLA</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198</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Faruk et al. 2012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LDPE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100 – 300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Zhao et al. 2022</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Wood (pine)</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C3C3C"/>
                          </a:solidFill>
                          <a:latin typeface="Calibri" pitchFamily="34" charset="0"/>
                          <a:ea typeface="Calibri" pitchFamily="34" charset="-122"/>
                          <a:cs typeface="Calibri" pitchFamily="34" charset="-120"/>
                        </a:rPr>
                        <a:t>11 000</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c>
                  <a:txBody>
                    <a:bodyPr/>
                    <a:lstStyle/>
                    <a:p>
                      <a:pPr algn="l" indent="0" marL="0">
                        <a:buNone/>
                      </a:pPr>
                      <a:r>
                        <a:rPr lang="en-US" sz="1050" dirty="0">
                          <a:solidFill>
                            <a:srgbClr val="3C3C3C"/>
                          </a:solidFill>
                          <a:latin typeface="Calibri" pitchFamily="34" charset="0"/>
                          <a:ea typeface="Calibri" pitchFamily="34" charset="-122"/>
                          <a:cs typeface="Calibri" pitchFamily="34" charset="-120"/>
                        </a:rPr>
                        <a:t>Pope &amp; Hudson 1989</a:t>
                      </a:r>
                      <a:endParaRPr lang="en-US" sz="1050" dirty="0">
                        <a:latin typeface="Calibri" charset="0"/>
                        <a:ea typeface="Calibri" charset="0"/>
                        <a:cs typeface="Calibri" charset="0"/>
                      </a:endParaRPr>
                    </a:p>
                  </a:txBody>
                  <a:tcPr marL="91440" marR="91440" marT="45720" marB="45720" anchor="ctr">
                    <a:lnL w="12700" cap="flat" cmpd="sng" algn="ctr">
                      <a:solidFill>
                        <a:srgbClr val="E4E4E4"/>
                      </a:solidFill>
                      <a:prstDash val="solid"/>
                      <a:round/>
                      <a:headEnd type="none" w="med" len="med"/>
                      <a:tailEnd type="none" w="med" len="med"/>
                    </a:lnL>
                    <a:lnR w="12700" cap="flat" cmpd="sng" algn="ctr">
                      <a:solidFill>
                        <a:srgbClr val="E4E4E4"/>
                      </a:solidFill>
                      <a:prstDash val="solid"/>
                      <a:round/>
                      <a:headEnd type="none" w="med" len="med"/>
                      <a:tailEnd type="none" w="med" len="med"/>
                    </a:lnR>
                    <a:lnT w="12700" cap="flat" cmpd="sng" algn="ctr">
                      <a:solidFill>
                        <a:srgbClr val="E4E4E4"/>
                      </a:solidFill>
                      <a:prstDash val="solid"/>
                      <a:round/>
                      <a:headEnd type="none" w="med" len="med"/>
                      <a:tailEnd type="none" w="med" len="med"/>
                    </a:lnT>
                    <a:lnB w="12700" cap="flat" cmpd="sng" algn="ctr">
                      <a:solidFill>
                        <a:srgbClr val="E4E4E4"/>
                      </a:solidFill>
                      <a:prstDash val="solid"/>
                      <a:round/>
                      <a:headEnd type="none" w="med" len="med"/>
                      <a:tailEnd type="none" w="med" len="med"/>
                    </a:lnB>
                    <a:solidFill>
                      <a:srgbClr val="FFFFFF"/>
                    </a:solidFill>
                  </a:tcPr>
                </a:tc>
              </a:tr>
            </a:tbl>
          </a:graphicData>
        </a:graphic>
      </p:graphicFrame>
      <p:sp>
        <p:nvSpPr>
          <p:cNvPr id="7" name="ru0.84.45"/>
          <p:cNvSpPr/>
          <p:nvPr/>
        </p:nvSpPr>
        <p:spPr>
          <a:xfrm>
            <a:off x="731520" y="4069080"/>
            <a:ext cx="10698480" cy="9144"/>
          </a:xfrm>
          <a:prstGeom prst="rect">
            <a:avLst/>
          </a:prstGeom>
          <a:solidFill>
            <a:srgbClr val="E4E4E4"/>
          </a:solidFill>
          <a:ln w="12700">
            <a:solidFill>
              <a:srgbClr val="E4E4E4">
                <a:alpha val="0"/>
              </a:srgbClr>
            </a:solidFill>
            <a:prstDash val="solid"/>
          </a:ln>
        </p:spPr>
      </p:sp>
      <p:sp>
        <p:nvSpPr>
          <p:cNvPr id="8" name="Text 4"/>
          <p:cNvSpPr txBox="1"/>
          <p:nvPr/>
        </p:nvSpPr>
        <p:spPr>
          <a:xfrm>
            <a:off x="731520" y="4297680"/>
            <a:ext cx="10698480" cy="411480"/>
          </a:xfrm>
          <a:prstGeom prst="rect">
            <a:avLst/>
          </a:prstGeom>
          <a:noFill/>
          <a:ln/>
        </p:spPr>
        <p:txBody>
          <a:bodyPr wrap="square" lIns="0" tIns="0" rIns="0" bIns="0" rtlCol="0" anchor="ctr"/>
          <a:lstStyle/>
          <a:p>
            <a:pPr indent="0" marL="0">
              <a:buNone/>
            </a:pPr>
            <a:r>
              <a:rPr lang="en-US" sz="1900" b="1" dirty="0">
                <a:solidFill>
                  <a:srgbClr val="B4513A"/>
                </a:solidFill>
                <a:latin typeface="Calibri" pitchFamily="34" charset="0"/>
                <a:ea typeface="Calibri" pitchFamily="34" charset="-122"/>
                <a:cs typeface="Calibri" pitchFamily="34" charset="-120"/>
              </a:rPr>
              <a:t>Water-cast and ambient-dried, at melt-processed stiffness.</a:t>
            </a:r>
            <a:endParaRPr lang="en-US" sz="1900" dirty="0"/>
          </a:p>
        </p:txBody>
      </p:sp>
      <p:sp>
        <p:nvSpPr>
          <p:cNvPr id="9" name="Text 5"/>
          <p:cNvSpPr txBox="1"/>
          <p:nvPr/>
        </p:nvSpPr>
        <p:spPr>
          <a:xfrm>
            <a:off x="731520" y="4846320"/>
            <a:ext cx="10698480" cy="91440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An order of magnitude above the fungal and lime-binder family in compression, and inside the bio-polymer band in stiffness — between soy bioplastic and flax-fibre PLA, within the LDPE range. No oven, no autoclave, no extrusion. Wood remains two orders of magnitude above.</a:t>
            </a:r>
            <a:endParaRPr lang="en-US" sz="1050" dirty="0"/>
          </a:p>
        </p:txBody>
      </p:sp>
      <p:sp>
        <p:nvSpPr>
          <p:cNvPr id="1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Resilience</a:t>
            </a:r>
            <a:endParaRPr lang="en-US" sz="2000" dirty="0"/>
          </a:p>
        </p:txBody>
      </p:sp>
      <p:sp>
        <p:nvSpPr>
          <p:cNvPr id="3" name="vx"/>
          <p:cNvSpPr/>
          <p:nvPr/>
        </p:nvSpPr>
        <p:spPr>
          <a:xfrm>
            <a:off x="822960" y="1828800"/>
            <a:ext cx="18288" cy="2834640"/>
          </a:xfrm>
          <a:prstGeom prst="rect">
            <a:avLst/>
          </a:prstGeom>
          <a:solidFill>
            <a:srgbClr val="5A5A5A"/>
          </a:solidFill>
          <a:ln w="12700">
            <a:solidFill>
              <a:srgbClr val="5A5A5A">
                <a:alpha val="0"/>
              </a:srgbClr>
            </a:solidFill>
            <a:prstDash val="solid"/>
          </a:ln>
        </p:spPr>
      </p:sp>
      <p:sp>
        <p:nvSpPr>
          <p:cNvPr id="4" name="hx"/>
          <p:cNvSpPr/>
          <p:nvPr/>
        </p:nvSpPr>
        <p:spPr>
          <a:xfrm>
            <a:off x="822960" y="4663440"/>
            <a:ext cx="4206240" cy="18288"/>
          </a:xfrm>
          <a:prstGeom prst="rect">
            <a:avLst/>
          </a:prstGeom>
          <a:solidFill>
            <a:srgbClr val="5A5A5A"/>
          </a:solidFill>
          <a:ln w="12700">
            <a:solidFill>
              <a:srgbClr val="5A5A5A">
                <a:alpha val="0"/>
              </a:srgbClr>
            </a:solidFill>
            <a:prstDash val="solid"/>
          </a:ln>
        </p:spPr>
      </p:sp>
      <p:sp>
        <p:nvSpPr>
          <p:cNvPr id="5" name="area"/>
          <p:cNvSpPr/>
          <p:nvPr/>
        </p:nvSpPr>
        <p:spPr>
          <a:xfrm flipH="1">
            <a:off x="841248" y="2606040"/>
            <a:ext cx="2560320" cy="2057400"/>
          </a:xfrm>
          <a:prstGeom prst="rtTriangle">
            <a:avLst/>
          </a:prstGeom>
          <a:solidFill>
            <a:srgbClr val="B4513A">
              <a:alpha val="72000"/>
            </a:srgbClr>
          </a:solidFill>
          <a:ln w="25400">
            <a:solidFill>
              <a:srgbClr val="B4513A"/>
            </a:solidFill>
            <a:prstDash val="solid"/>
          </a:ln>
        </p:spPr>
      </p:sp>
      <p:sp>
        <p:nvSpPr>
          <p:cNvPr id="6" name="Text 4"/>
          <p:cNvSpPr txBox="1"/>
          <p:nvPr/>
        </p:nvSpPr>
        <p:spPr>
          <a:xfrm>
            <a:off x="45720" y="2377440"/>
            <a:ext cx="731520" cy="274320"/>
          </a:xfrm>
          <a:prstGeom prst="rect">
            <a:avLst/>
          </a:prstGeom>
          <a:noFill/>
          <a:ln/>
        </p:spPr>
        <p:txBody>
          <a:bodyPr wrap="square" lIns="0" tIns="0" rIns="0" bIns="0" rtlCol="0" anchor="ctr"/>
          <a:lstStyle/>
          <a:p>
            <a:pPr algn="r" indent="0" marL="0">
              <a:buNone/>
            </a:pPr>
            <a:r>
              <a:rPr lang="en-US" sz="1100" dirty="0">
                <a:solidFill>
                  <a:srgbClr val="9E9E9E"/>
                </a:solidFill>
                <a:latin typeface="Calibri" pitchFamily="34" charset="0"/>
                <a:ea typeface="Calibri" pitchFamily="34" charset="-122"/>
                <a:cs typeface="Calibri" pitchFamily="34" charset="-120"/>
              </a:rPr>
              <a:t>stress</a:t>
            </a:r>
            <a:endParaRPr lang="en-US" sz="1100" dirty="0"/>
          </a:p>
        </p:txBody>
      </p:sp>
      <p:sp>
        <p:nvSpPr>
          <p:cNvPr id="7" name="Text 5"/>
          <p:cNvSpPr txBox="1"/>
          <p:nvPr/>
        </p:nvSpPr>
        <p:spPr>
          <a:xfrm>
            <a:off x="3154680" y="4754880"/>
            <a:ext cx="731520" cy="274320"/>
          </a:xfrm>
          <a:prstGeom prst="rect">
            <a:avLst/>
          </a:prstGeom>
          <a:noFill/>
          <a:ln/>
        </p:spPr>
        <p:txBody>
          <a:bodyPr wrap="square" lIns="0" tIns="0" rIns="0" bIns="0" rtlCol="0" anchor="ctr"/>
          <a:lstStyle/>
          <a:p>
            <a:pPr indent="0" marL="0">
              <a:buNone/>
            </a:pPr>
            <a:r>
              <a:rPr lang="en-US" sz="1100" dirty="0">
                <a:solidFill>
                  <a:srgbClr val="9E9E9E"/>
                </a:solidFill>
                <a:latin typeface="Calibri" pitchFamily="34" charset="0"/>
                <a:ea typeface="Calibri" pitchFamily="34" charset="-122"/>
                <a:cs typeface="Calibri" pitchFamily="34" charset="-120"/>
              </a:rPr>
              <a:t>strain</a:t>
            </a:r>
            <a:endParaRPr lang="en-US" sz="1100" dirty="0"/>
          </a:p>
        </p:txBody>
      </p:sp>
      <p:sp>
        <p:nvSpPr>
          <p:cNvPr id="8" name="Text 6"/>
          <p:cNvSpPr txBox="1"/>
          <p:nvPr/>
        </p:nvSpPr>
        <p:spPr>
          <a:xfrm>
            <a:off x="2057400" y="3886200"/>
            <a:ext cx="640080" cy="29260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Ur</a:t>
            </a:r>
            <a:endParaRPr lang="en-US" sz="1500" dirty="0"/>
          </a:p>
        </p:txBody>
      </p:sp>
      <p:sp>
        <p:nvSpPr>
          <p:cNvPr id="9" name="Text 7"/>
          <p:cNvSpPr txBox="1"/>
          <p:nvPr/>
        </p:nvSpPr>
        <p:spPr>
          <a:xfrm>
            <a:off x="822960" y="5120640"/>
            <a:ext cx="420624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The shaded area is the elastic energy absorbed per unit volume before permanent damage.</a:t>
            </a:r>
            <a:endParaRPr lang="en-US" sz="900" dirty="0"/>
          </a:p>
        </p:txBody>
      </p:sp>
      <p:sp>
        <p:nvSpPr>
          <p:cNvPr id="10" name="vr6.31.5"/>
          <p:cNvSpPr/>
          <p:nvPr/>
        </p:nvSpPr>
        <p:spPr>
          <a:xfrm>
            <a:off x="5760720" y="1371600"/>
            <a:ext cx="13716" cy="4389120"/>
          </a:xfrm>
          <a:prstGeom prst="rect">
            <a:avLst/>
          </a:prstGeom>
          <a:solidFill>
            <a:srgbClr val="5A5A5A"/>
          </a:solidFill>
          <a:ln w="12700">
            <a:solidFill>
              <a:srgbClr val="5A5A5A">
                <a:alpha val="0"/>
              </a:srgbClr>
            </a:solidFill>
            <a:prstDash val="solid"/>
          </a:ln>
        </p:spPr>
      </p:sp>
      <p:sp>
        <p:nvSpPr>
          <p:cNvPr id="11" name="Text 9"/>
          <p:cNvSpPr txBox="1"/>
          <p:nvPr/>
        </p:nvSpPr>
        <p:spPr>
          <a:xfrm>
            <a:off x="6217920" y="1783080"/>
            <a:ext cx="274320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Ur  =  σ² / 2E</a:t>
            </a:r>
            <a:endParaRPr lang="en-US" sz="2200" dirty="0"/>
          </a:p>
        </p:txBody>
      </p:sp>
      <p:sp>
        <p:nvSpPr>
          <p:cNvPr id="12" name="Text 10"/>
          <p:cNvSpPr txBox="1"/>
          <p:nvPr/>
        </p:nvSpPr>
        <p:spPr>
          <a:xfrm>
            <a:off x="6217920" y="2377440"/>
            <a:ext cx="2743200" cy="502920"/>
          </a:xfrm>
          <a:prstGeom prst="rect">
            <a:avLst/>
          </a:prstGeom>
          <a:noFill/>
          <a:ln/>
        </p:spPr>
        <p:txBody>
          <a:bodyPr wrap="square" lIns="0" tIns="0" rIns="0" bIns="0" rtlCol="0" anchor="ctr"/>
          <a:lstStyle/>
          <a:p>
            <a:pPr indent="0" marL="0">
              <a:buNone/>
            </a:pPr>
            <a:r>
              <a:rPr lang="en-US" sz="2600" b="1" dirty="0">
                <a:solidFill>
                  <a:srgbClr val="B4513A"/>
                </a:solidFill>
                <a:latin typeface="Calibri" pitchFamily="34" charset="0"/>
                <a:ea typeface="Calibri" pitchFamily="34" charset="-122"/>
                <a:cs typeface="Calibri" pitchFamily="34" charset="-120"/>
              </a:rPr>
              <a:t>14.1 kJ/m³</a:t>
            </a:r>
            <a:endParaRPr lang="en-US" sz="2600" dirty="0"/>
          </a:p>
        </p:txBody>
      </p:sp>
      <p:sp>
        <p:nvSpPr>
          <p:cNvPr id="13" name="Text 11"/>
          <p:cNvSpPr txBox="1"/>
          <p:nvPr/>
        </p:nvSpPr>
        <p:spPr>
          <a:xfrm>
            <a:off x="6217920" y="2926080"/>
            <a:ext cx="274320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for the formulation measured here</a:t>
            </a:r>
            <a:endParaRPr lang="en-US" sz="900" dirty="0"/>
          </a:p>
        </p:txBody>
      </p:sp>
      <p:sp>
        <p:nvSpPr>
          <p:cNvPr id="14" name="Text 12"/>
          <p:cNvSpPr txBox="1"/>
          <p:nvPr/>
        </p:nvSpPr>
        <p:spPr>
          <a:xfrm>
            <a:off x="6217920" y="3611880"/>
            <a:ext cx="2743200" cy="822960"/>
          </a:xfrm>
          <a:prstGeom prst="rect">
            <a:avLst/>
          </a:prstGeom>
          <a:noFill/>
          <a:ln/>
        </p:spPr>
        <p:txBody>
          <a:bodyPr wrap="square" lIns="0" tIns="0" rIns="0" bIns="0" rtlCol="0" anchor="ctr"/>
          <a:lstStyle/>
          <a:p>
            <a:pPr indent="0" marL="0">
              <a:lnSpc>
                <a:spcPts val="2200"/>
              </a:lnSpc>
              <a:buNone/>
            </a:pPr>
            <a:r>
              <a:rPr lang="en-US" sz="1600" b="1" dirty="0">
                <a:solidFill>
                  <a:srgbClr val="FFFFFF"/>
                </a:solidFill>
                <a:latin typeface="Calibri" pitchFamily="34" charset="0"/>
                <a:ea typeface="Calibri" pitchFamily="34" charset="-122"/>
                <a:cs typeface="Calibri" pitchFamily="34" charset="-120"/>
              </a:rPr>
              <a:t>Stiffness sits in the denominator.</a:t>
            </a:r>
            <a:endParaRPr lang="en-US" sz="1600" dirty="0"/>
          </a:p>
        </p:txBody>
      </p:sp>
      <p:sp>
        <p:nvSpPr>
          <p:cNvPr id="15" name="Text 13"/>
          <p:cNvSpPr txBox="1"/>
          <p:nvPr/>
        </p:nvSpPr>
        <p:spPr>
          <a:xfrm>
            <a:off x="6217920" y="4572000"/>
            <a:ext cx="2743200" cy="1097280"/>
          </a:xfrm>
          <a:prstGeom prst="rect">
            <a:avLst/>
          </a:prstGeom>
          <a:noFill/>
          <a:ln/>
        </p:spPr>
        <p:txBody>
          <a:bodyPr wrap="square" lIns="0" tIns="0" rIns="0" bIns="0" rtlCol="0" anchor="t"/>
          <a:lstStyle/>
          <a:p>
            <a:pPr indent="0" marL="0">
              <a:lnSpc>
                <a:spcPts val="1650"/>
              </a:lnSpc>
              <a:buNone/>
            </a:pPr>
            <a:r>
              <a:rPr lang="en-US" sz="1150" dirty="0">
                <a:solidFill>
                  <a:srgbClr val="9E9E9E"/>
                </a:solidFill>
                <a:latin typeface="Calibri" pitchFamily="34" charset="0"/>
                <a:ea typeface="Calibri" pitchFamily="34" charset="-122"/>
                <a:cs typeface="Calibri" pitchFamily="34" charset="-120"/>
              </a:rPr>
              <a:t>The low modulus that counted against the material on the previous slide is exactly what raises this quantity.</a:t>
            </a:r>
            <a:endParaRPr lang="en-US" sz="1150" dirty="0"/>
          </a:p>
        </p:txBody>
      </p:sp>
      <p:sp>
        <p:nvSpPr>
          <p:cNvPr id="16" name="Text 14"/>
          <p:cNvSpPr txBox="1"/>
          <p:nvPr/>
        </p:nvSpPr>
        <p:spPr>
          <a:xfrm>
            <a:off x="9418320" y="1371600"/>
            <a:ext cx="2011680" cy="219456"/>
          </a:xfrm>
          <a:prstGeom prst="rect">
            <a:avLst/>
          </a:prstGeom>
          <a:noFill/>
          <a:ln/>
        </p:spPr>
        <p:txBody>
          <a:bodyPr wrap="square" lIns="0" tIns="0" rIns="0" bIns="0" rtlCol="0" anchor="ctr"/>
          <a:lstStyle/>
          <a:p>
            <a:pPr indent="0" marL="0">
              <a:buNone/>
            </a:pPr>
            <a:r>
              <a:rPr lang="en-US" sz="850" b="1" spc="130" kern="0" dirty="0">
                <a:solidFill>
                  <a:srgbClr val="8A8A8A"/>
                </a:solidFill>
                <a:latin typeface="Calibri" pitchFamily="34" charset="0"/>
                <a:ea typeface="Calibri" pitchFamily="34" charset="-122"/>
                <a:cs typeface="Calibri" pitchFamily="34" charset="-120"/>
              </a:rPr>
              <a:t>THE LIMIT</a:t>
            </a:r>
            <a:endParaRPr lang="en-US" sz="850" dirty="0"/>
          </a:p>
        </p:txBody>
      </p:sp>
      <p:sp>
        <p:nvSpPr>
          <p:cNvPr id="17" name="Text 15"/>
          <p:cNvSpPr txBox="1"/>
          <p:nvPr/>
        </p:nvSpPr>
        <p:spPr>
          <a:xfrm>
            <a:off x="9418320" y="1691640"/>
            <a:ext cx="20116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A comparative table cannot yet be assembled: the literature reports strength and modulus in separate studies on different formulations. This is a data point and a measurement convention, not a ranking.</a:t>
            </a:r>
            <a:endParaRPr lang="en-US" sz="900" dirty="0"/>
          </a:p>
        </p:txBody>
      </p:sp>
      <p:sp>
        <p:nvSpPr>
          <p:cNvPr id="19"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Where it fits</a:t>
            </a:r>
            <a:endParaRPr lang="en-US" sz="2000" dirty="0"/>
          </a:p>
        </p:txBody>
      </p:sp>
      <p:pic>
        <p:nvPicPr>
          <p:cNvPr id="3" name="ren" descr="/home/user/sanat-ve-mekan/konferans-bildirisi/03-gorseller/12-ic-mekan-render.jpeg">    </p:cNvPr>
          <p:cNvPicPr>
            <a:picLocks noChangeAspect="1"/>
          </p:cNvPicPr>
          <p:nvPr/>
        </p:nvPicPr>
        <p:blipFill>
          <a:blip r:embed="rId1"/>
          <a:stretch>
            <a:fillRect/>
          </a:stretch>
        </p:blipFill>
        <p:spPr>
          <a:xfrm>
            <a:off x="731520" y="1371600"/>
            <a:ext cx="4023360" cy="3300984"/>
          </a:xfrm>
          <a:prstGeom prst="rect">
            <a:avLst/>
          </a:prstGeom>
        </p:spPr>
      </p:pic>
      <p:sp>
        <p:nvSpPr>
          <p:cNvPr id="4" name="Text 1"/>
          <p:cNvSpPr txBox="1"/>
          <p:nvPr/>
        </p:nvSpPr>
        <p:spPr>
          <a:xfrm>
            <a:off x="731520" y="4754880"/>
            <a:ext cx="402336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Modular interior proposal derived from the measured properties</a:t>
            </a:r>
            <a:endParaRPr lang="en-US" sz="900" dirty="0"/>
          </a:p>
        </p:txBody>
      </p:sp>
      <p:sp>
        <p:nvSpPr>
          <p:cNvPr id="5" name="vr5.61.5"/>
          <p:cNvSpPr/>
          <p:nvPr/>
        </p:nvSpPr>
        <p:spPr>
          <a:xfrm>
            <a:off x="5120640" y="1371600"/>
            <a:ext cx="13716" cy="3566160"/>
          </a:xfrm>
          <a:prstGeom prst="rect">
            <a:avLst/>
          </a:prstGeom>
          <a:solidFill>
            <a:srgbClr val="E4E4E4"/>
          </a:solidFill>
          <a:ln w="12700">
            <a:solidFill>
              <a:srgbClr val="E4E4E4">
                <a:alpha val="0"/>
              </a:srgbClr>
            </a:solidFill>
            <a:prstDash val="solid"/>
          </a:ln>
        </p:spPr>
      </p:sp>
      <p:sp>
        <p:nvSpPr>
          <p:cNvPr id="6" name="Text 3"/>
          <p:cNvSpPr txBox="1"/>
          <p:nvPr/>
        </p:nvSpPr>
        <p:spPr>
          <a:xfrm>
            <a:off x="5577840" y="1417320"/>
            <a:ext cx="5852160" cy="274320"/>
          </a:xfrm>
          <a:prstGeom prst="rect">
            <a:avLst/>
          </a:prstGeom>
          <a:noFill/>
          <a:ln/>
        </p:spPr>
        <p:txBody>
          <a:bodyPr wrap="square" lIns="0" tIns="0" rIns="0" bIns="0" rtlCol="0" anchor="ctr"/>
          <a:lstStyle/>
          <a:p>
            <a:pPr indent="0" marL="0">
              <a:buNone/>
            </a:pPr>
            <a:r>
              <a:rPr lang="en-US" sz="1400" b="1" dirty="0">
                <a:solidFill>
                  <a:srgbClr val="141414"/>
                </a:solidFill>
                <a:latin typeface="Calibri" pitchFamily="34" charset="0"/>
                <a:ea typeface="Calibri" pitchFamily="34" charset="-122"/>
                <a:cs typeface="Calibri" pitchFamily="34" charset="-120"/>
              </a:rPr>
              <a:t>Non-loadbearing surfaces</a:t>
            </a:r>
            <a:endParaRPr lang="en-US" sz="1400" dirty="0"/>
          </a:p>
        </p:txBody>
      </p:sp>
      <p:sp>
        <p:nvSpPr>
          <p:cNvPr id="7" name="Text 4"/>
          <p:cNvSpPr txBox="1"/>
          <p:nvPr/>
        </p:nvSpPr>
        <p:spPr>
          <a:xfrm>
            <a:off x="5577840" y="1719072"/>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self-weight and handling loads only</a:t>
            </a:r>
            <a:endParaRPr lang="en-US" sz="1150" dirty="0"/>
          </a:p>
        </p:txBody>
      </p:sp>
      <p:sp>
        <p:nvSpPr>
          <p:cNvPr id="8" name="ru6.12.33"/>
          <p:cNvSpPr/>
          <p:nvPr/>
        </p:nvSpPr>
        <p:spPr>
          <a:xfrm>
            <a:off x="5577840" y="2130552"/>
            <a:ext cx="5852160" cy="9144"/>
          </a:xfrm>
          <a:prstGeom prst="rect">
            <a:avLst/>
          </a:prstGeom>
          <a:solidFill>
            <a:srgbClr val="E4E4E4"/>
          </a:solidFill>
          <a:ln w="12700">
            <a:solidFill>
              <a:srgbClr val="E4E4E4">
                <a:alpha val="0"/>
              </a:srgbClr>
            </a:solidFill>
            <a:prstDash val="solid"/>
          </a:ln>
        </p:spPr>
      </p:sp>
      <p:sp>
        <p:nvSpPr>
          <p:cNvPr id="9" name="Text 6"/>
          <p:cNvSpPr txBox="1"/>
          <p:nvPr/>
        </p:nvSpPr>
        <p:spPr>
          <a:xfrm>
            <a:off x="5577840" y="2286000"/>
            <a:ext cx="5852160" cy="274320"/>
          </a:xfrm>
          <a:prstGeom prst="rect">
            <a:avLst/>
          </a:prstGeom>
          <a:noFill/>
          <a:ln/>
        </p:spPr>
        <p:txBody>
          <a:bodyPr wrap="square" lIns="0" tIns="0" rIns="0" bIns="0" rtlCol="0" anchor="ctr"/>
          <a:lstStyle/>
          <a:p>
            <a:pPr indent="0" marL="0">
              <a:buNone/>
            </a:pPr>
            <a:r>
              <a:rPr lang="en-US" sz="1400" b="1" dirty="0">
                <a:solidFill>
                  <a:srgbClr val="141414"/>
                </a:solidFill>
                <a:latin typeface="Calibri" pitchFamily="34" charset="0"/>
                <a:ea typeface="Calibri" pitchFamily="34" charset="-122"/>
                <a:cs typeface="Calibri" pitchFamily="34" charset="-120"/>
              </a:rPr>
              <a:t>Dry interiors</a:t>
            </a:r>
            <a:endParaRPr lang="en-US" sz="1400" dirty="0"/>
          </a:p>
        </p:txBody>
      </p:sp>
      <p:sp>
        <p:nvSpPr>
          <p:cNvPr id="10" name="Text 7"/>
          <p:cNvSpPr txBox="1"/>
          <p:nvPr/>
        </p:nvSpPr>
        <p:spPr>
          <a:xfrm>
            <a:off x="5577840" y="2587752"/>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not wet rooms, not facades</a:t>
            </a:r>
            <a:endParaRPr lang="en-US" sz="1150" dirty="0"/>
          </a:p>
        </p:txBody>
      </p:sp>
      <p:sp>
        <p:nvSpPr>
          <p:cNvPr id="11" name="ru6.13.2800000000000002"/>
          <p:cNvSpPr/>
          <p:nvPr/>
        </p:nvSpPr>
        <p:spPr>
          <a:xfrm>
            <a:off x="5577840" y="2999232"/>
            <a:ext cx="5852160" cy="9144"/>
          </a:xfrm>
          <a:prstGeom prst="rect">
            <a:avLst/>
          </a:prstGeom>
          <a:solidFill>
            <a:srgbClr val="E4E4E4"/>
          </a:solidFill>
          <a:ln w="12700">
            <a:solidFill>
              <a:srgbClr val="E4E4E4">
                <a:alpha val="0"/>
              </a:srgbClr>
            </a:solidFill>
            <a:prstDash val="solid"/>
          </a:ln>
        </p:spPr>
      </p:sp>
      <p:sp>
        <p:nvSpPr>
          <p:cNvPr id="12" name="Text 9"/>
          <p:cNvSpPr txBox="1"/>
          <p:nvPr/>
        </p:nvSpPr>
        <p:spPr>
          <a:xfrm>
            <a:off x="5577840" y="3154680"/>
            <a:ext cx="5852160" cy="274320"/>
          </a:xfrm>
          <a:prstGeom prst="rect">
            <a:avLst/>
          </a:prstGeom>
          <a:noFill/>
          <a:ln/>
        </p:spPr>
        <p:txBody>
          <a:bodyPr wrap="square" lIns="0" tIns="0" rIns="0" bIns="0" rtlCol="0" anchor="ctr"/>
          <a:lstStyle/>
          <a:p>
            <a:pPr indent="0" marL="0">
              <a:buNone/>
            </a:pPr>
            <a:r>
              <a:rPr lang="en-US" sz="1400" b="1" dirty="0">
                <a:solidFill>
                  <a:srgbClr val="141414"/>
                </a:solidFill>
                <a:latin typeface="Calibri" pitchFamily="34" charset="0"/>
                <a:ea typeface="Calibri" pitchFamily="34" charset="-122"/>
                <a:cs typeface="Calibri" pitchFamily="34" charset="-120"/>
              </a:rPr>
              <a:t>Away from ignition sources</a:t>
            </a:r>
            <a:endParaRPr lang="en-US" sz="1400" dirty="0"/>
          </a:p>
        </p:txBody>
      </p:sp>
      <p:sp>
        <p:nvSpPr>
          <p:cNvPr id="13" name="Text 10"/>
          <p:cNvSpPr txBox="1"/>
          <p:nvPr/>
        </p:nvSpPr>
        <p:spPr>
          <a:xfrm>
            <a:off x="5577840" y="3456432"/>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self-extinguishing, but unclassified</a:t>
            </a:r>
            <a:endParaRPr lang="en-US" sz="1150" dirty="0"/>
          </a:p>
        </p:txBody>
      </p:sp>
      <p:sp>
        <p:nvSpPr>
          <p:cNvPr id="14" name="ru6.14.23"/>
          <p:cNvSpPr/>
          <p:nvPr/>
        </p:nvSpPr>
        <p:spPr>
          <a:xfrm>
            <a:off x="5577840" y="3867912"/>
            <a:ext cx="5852160" cy="9144"/>
          </a:xfrm>
          <a:prstGeom prst="rect">
            <a:avLst/>
          </a:prstGeom>
          <a:solidFill>
            <a:srgbClr val="E4E4E4"/>
          </a:solidFill>
          <a:ln w="12700">
            <a:solidFill>
              <a:srgbClr val="E4E4E4">
                <a:alpha val="0"/>
              </a:srgbClr>
            </a:solidFill>
            <a:prstDash val="solid"/>
          </a:ln>
        </p:spPr>
      </p:sp>
      <p:sp>
        <p:nvSpPr>
          <p:cNvPr id="15" name="Text 12"/>
          <p:cNvSpPr txBox="1"/>
          <p:nvPr/>
        </p:nvSpPr>
        <p:spPr>
          <a:xfrm>
            <a:off x="5577840" y="4023360"/>
            <a:ext cx="5852160" cy="274320"/>
          </a:xfrm>
          <a:prstGeom prst="rect">
            <a:avLst/>
          </a:prstGeom>
          <a:noFill/>
          <a:ln/>
        </p:spPr>
        <p:txBody>
          <a:bodyPr wrap="square" lIns="0" tIns="0" rIns="0" bIns="0" rtlCol="0" anchor="ctr"/>
          <a:lstStyle/>
          <a:p>
            <a:pPr indent="0" marL="0">
              <a:buNone/>
            </a:pPr>
            <a:r>
              <a:rPr lang="en-US" sz="1400" b="1" dirty="0">
                <a:solidFill>
                  <a:srgbClr val="141414"/>
                </a:solidFill>
                <a:latin typeface="Calibri" pitchFamily="34" charset="0"/>
                <a:ea typeface="Calibri" pitchFamily="34" charset="-122"/>
                <a:cs typeface="Calibri" pitchFamily="34" charset="-120"/>
              </a:rPr>
              <a:t>Modular, not sheet</a:t>
            </a:r>
            <a:endParaRPr lang="en-US" sz="1400" dirty="0"/>
          </a:p>
        </p:txBody>
      </p:sp>
      <p:sp>
        <p:nvSpPr>
          <p:cNvPr id="16" name="Text 13"/>
          <p:cNvSpPr txBox="1"/>
          <p:nvPr/>
        </p:nvSpPr>
        <p:spPr>
          <a:xfrm>
            <a:off x="5577840" y="4325112"/>
            <a:ext cx="5852160" cy="365760"/>
          </a:xfrm>
          <a:prstGeom prst="rect">
            <a:avLst/>
          </a:prstGeom>
          <a:noFill/>
          <a:ln/>
        </p:spPr>
        <p:txBody>
          <a:bodyPr wrap="square" lIns="0" tIns="0" rIns="0" bIns="0" rtlCol="0" anchor="ctr"/>
          <a:lstStyle/>
          <a:p>
            <a:pPr indent="0" marL="0">
              <a:buNone/>
            </a:pPr>
            <a:r>
              <a:rPr lang="en-US" sz="1150" dirty="0">
                <a:solidFill>
                  <a:srgbClr val="8C8C8C"/>
                </a:solidFill>
                <a:latin typeface="Calibri" pitchFamily="34" charset="0"/>
                <a:ea typeface="Calibri" pitchFamily="34" charset="-122"/>
                <a:cs typeface="Calibri" pitchFamily="34" charset="-120"/>
              </a:rPr>
              <a:t>failure replaced one unit at a time</a:t>
            </a:r>
            <a:endParaRPr lang="en-US" sz="1150" dirty="0"/>
          </a:p>
        </p:txBody>
      </p:sp>
      <p:sp>
        <p:nvSpPr>
          <p:cNvPr id="17" name="ru0.85.7"/>
          <p:cNvSpPr/>
          <p:nvPr/>
        </p:nvSpPr>
        <p:spPr>
          <a:xfrm>
            <a:off x="731520" y="5212080"/>
            <a:ext cx="10698480" cy="9144"/>
          </a:xfrm>
          <a:prstGeom prst="rect">
            <a:avLst/>
          </a:prstGeom>
          <a:solidFill>
            <a:srgbClr val="E4E4E4"/>
          </a:solidFill>
          <a:ln w="12700">
            <a:solidFill>
              <a:srgbClr val="E4E4E4">
                <a:alpha val="0"/>
              </a:srgbClr>
            </a:solidFill>
            <a:prstDash val="solid"/>
          </a:ln>
        </p:spPr>
      </p:sp>
      <p:sp>
        <p:nvSpPr>
          <p:cNvPr id="18" name="Text 15"/>
          <p:cNvSpPr txBox="1"/>
          <p:nvPr/>
        </p:nvSpPr>
        <p:spPr>
          <a:xfrm>
            <a:off x="731520" y="5394960"/>
            <a:ext cx="1069848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AND THE LOOP IT CLOSES</a:t>
            </a:r>
            <a:endParaRPr lang="en-US" sz="850" dirty="0"/>
          </a:p>
        </p:txBody>
      </p:sp>
      <p:sp>
        <p:nvSpPr>
          <p:cNvPr id="19" name="lp0"/>
          <p:cNvSpPr/>
          <p:nvPr/>
        </p:nvSpPr>
        <p:spPr>
          <a:xfrm>
            <a:off x="731520" y="5715000"/>
            <a:ext cx="1600200" cy="457200"/>
          </a:xfrm>
          <a:prstGeom prst="rect">
            <a:avLst/>
          </a:prstGeom>
          <a:solidFill>
            <a:srgbClr val="F7F6F4"/>
          </a:solidFill>
          <a:ln w="12700">
            <a:solidFill>
              <a:srgbClr val="E4E4E4"/>
            </a:solidFill>
            <a:prstDash val="solid"/>
          </a:ln>
        </p:spPr>
      </p:sp>
      <p:sp>
        <p:nvSpPr>
          <p:cNvPr id="20" name="Text 17"/>
          <p:cNvSpPr txBox="1"/>
          <p:nvPr/>
        </p:nvSpPr>
        <p:spPr>
          <a:xfrm>
            <a:off x="822960" y="5715000"/>
            <a:ext cx="1417320" cy="457200"/>
          </a:xfrm>
          <a:prstGeom prst="rect">
            <a:avLst/>
          </a:prstGeom>
          <a:noFill/>
          <a:ln/>
        </p:spPr>
        <p:txBody>
          <a:bodyPr wrap="square" lIns="0" tIns="0" rIns="0" bIns="0" rtlCol="0" anchor="ctr"/>
          <a:lstStyle/>
          <a:p>
            <a:pPr algn="ctr" indent="0" marL="0">
              <a:lnSpc>
                <a:spcPts val="1200"/>
              </a:lnSpc>
              <a:buNone/>
            </a:pPr>
            <a:r>
              <a:rPr lang="en-US" sz="1000" b="1" dirty="0">
                <a:solidFill>
                  <a:srgbClr val="141414"/>
                </a:solidFill>
                <a:latin typeface="Calibri" pitchFamily="34" charset="0"/>
                <a:ea typeface="Calibri" pitchFamily="34" charset="-122"/>
                <a:cs typeface="Calibri" pitchFamily="34" charset="-120"/>
              </a:rPr>
              <a:t>Bakery waste</a:t>
            </a:r>
            <a:endParaRPr lang="en-US" sz="1000" dirty="0"/>
          </a:p>
        </p:txBody>
      </p:sp>
      <p:sp>
        <p:nvSpPr>
          <p:cNvPr id="21" name="la0"/>
          <p:cNvSpPr/>
          <p:nvPr/>
        </p:nvSpPr>
        <p:spPr>
          <a:xfrm>
            <a:off x="2359152" y="5879592"/>
            <a:ext cx="164592" cy="128016"/>
          </a:xfrm>
          <a:prstGeom prst="rightArrow">
            <a:avLst/>
          </a:prstGeom>
          <a:solidFill>
            <a:srgbClr val="BDBDBD"/>
          </a:solidFill>
          <a:ln w="12700">
            <a:solidFill>
              <a:srgbClr val="BDBDBD">
                <a:alpha val="0"/>
              </a:srgbClr>
            </a:solidFill>
            <a:prstDash val="solid"/>
          </a:ln>
        </p:spPr>
      </p:sp>
      <p:sp>
        <p:nvSpPr>
          <p:cNvPr id="22" name="lp1"/>
          <p:cNvSpPr/>
          <p:nvPr/>
        </p:nvSpPr>
        <p:spPr>
          <a:xfrm>
            <a:off x="2551176" y="5715000"/>
            <a:ext cx="1600200" cy="457200"/>
          </a:xfrm>
          <a:prstGeom prst="rect">
            <a:avLst/>
          </a:prstGeom>
          <a:solidFill>
            <a:srgbClr val="F7F6F4"/>
          </a:solidFill>
          <a:ln w="12700">
            <a:solidFill>
              <a:srgbClr val="E4E4E4"/>
            </a:solidFill>
            <a:prstDash val="solid"/>
          </a:ln>
        </p:spPr>
      </p:sp>
      <p:sp>
        <p:nvSpPr>
          <p:cNvPr id="23" name="Text 20"/>
          <p:cNvSpPr txBox="1"/>
          <p:nvPr/>
        </p:nvSpPr>
        <p:spPr>
          <a:xfrm>
            <a:off x="2642616" y="5715000"/>
            <a:ext cx="1417320" cy="457200"/>
          </a:xfrm>
          <a:prstGeom prst="rect">
            <a:avLst/>
          </a:prstGeom>
          <a:noFill/>
          <a:ln/>
        </p:spPr>
        <p:txBody>
          <a:bodyPr wrap="square" lIns="0" tIns="0" rIns="0" bIns="0" rtlCol="0" anchor="ctr"/>
          <a:lstStyle/>
          <a:p>
            <a:pPr algn="ctr" indent="0" marL="0">
              <a:lnSpc>
                <a:spcPts val="1200"/>
              </a:lnSpc>
              <a:buNone/>
            </a:pPr>
            <a:r>
              <a:rPr lang="en-US" sz="1000" b="1" dirty="0">
                <a:solidFill>
                  <a:srgbClr val="141414"/>
                </a:solidFill>
                <a:latin typeface="Calibri" pitchFamily="34" charset="0"/>
                <a:ea typeface="Calibri" pitchFamily="34" charset="-122"/>
                <a:cs typeface="Calibri" pitchFamily="34" charset="-120"/>
              </a:rPr>
              <a:t>Shell powder</a:t>
            </a:r>
            <a:endParaRPr lang="en-US" sz="1000" dirty="0"/>
          </a:p>
        </p:txBody>
      </p:sp>
      <p:sp>
        <p:nvSpPr>
          <p:cNvPr id="24" name="la1"/>
          <p:cNvSpPr/>
          <p:nvPr/>
        </p:nvSpPr>
        <p:spPr>
          <a:xfrm>
            <a:off x="4178808" y="5879592"/>
            <a:ext cx="164592" cy="128016"/>
          </a:xfrm>
          <a:prstGeom prst="rightArrow">
            <a:avLst/>
          </a:prstGeom>
          <a:solidFill>
            <a:srgbClr val="BDBDBD"/>
          </a:solidFill>
          <a:ln w="12700">
            <a:solidFill>
              <a:srgbClr val="BDBDBD">
                <a:alpha val="0"/>
              </a:srgbClr>
            </a:solidFill>
            <a:prstDash val="solid"/>
          </a:ln>
        </p:spPr>
      </p:sp>
      <p:sp>
        <p:nvSpPr>
          <p:cNvPr id="25" name="lp2"/>
          <p:cNvSpPr/>
          <p:nvPr/>
        </p:nvSpPr>
        <p:spPr>
          <a:xfrm>
            <a:off x="4370832" y="5715000"/>
            <a:ext cx="1600200" cy="457200"/>
          </a:xfrm>
          <a:prstGeom prst="rect">
            <a:avLst/>
          </a:prstGeom>
          <a:solidFill>
            <a:srgbClr val="F7F6F4"/>
          </a:solidFill>
          <a:ln w="12700">
            <a:solidFill>
              <a:srgbClr val="E4E4E4"/>
            </a:solidFill>
            <a:prstDash val="solid"/>
          </a:ln>
        </p:spPr>
      </p:sp>
      <p:sp>
        <p:nvSpPr>
          <p:cNvPr id="26" name="Text 23"/>
          <p:cNvSpPr txBox="1"/>
          <p:nvPr/>
        </p:nvSpPr>
        <p:spPr>
          <a:xfrm>
            <a:off x="4462272" y="5715000"/>
            <a:ext cx="1417320" cy="457200"/>
          </a:xfrm>
          <a:prstGeom prst="rect">
            <a:avLst/>
          </a:prstGeom>
          <a:noFill/>
          <a:ln/>
        </p:spPr>
        <p:txBody>
          <a:bodyPr wrap="square" lIns="0" tIns="0" rIns="0" bIns="0" rtlCol="0" anchor="ctr"/>
          <a:lstStyle/>
          <a:p>
            <a:pPr algn="ctr" indent="0" marL="0">
              <a:lnSpc>
                <a:spcPts val="1200"/>
              </a:lnSpc>
              <a:buNone/>
            </a:pPr>
            <a:r>
              <a:rPr lang="en-US" sz="1000" b="1" dirty="0">
                <a:solidFill>
                  <a:srgbClr val="141414"/>
                </a:solidFill>
                <a:latin typeface="Calibri" pitchFamily="34" charset="0"/>
                <a:ea typeface="Calibri" pitchFamily="34" charset="-122"/>
                <a:cs typeface="Calibri" pitchFamily="34" charset="-120"/>
              </a:rPr>
              <a:t>One 55-min cook</a:t>
            </a:r>
            <a:endParaRPr lang="en-US" sz="1000" dirty="0"/>
          </a:p>
        </p:txBody>
      </p:sp>
      <p:sp>
        <p:nvSpPr>
          <p:cNvPr id="27" name="la2"/>
          <p:cNvSpPr/>
          <p:nvPr/>
        </p:nvSpPr>
        <p:spPr>
          <a:xfrm>
            <a:off x="5998464" y="5879592"/>
            <a:ext cx="164592" cy="128016"/>
          </a:xfrm>
          <a:prstGeom prst="rightArrow">
            <a:avLst/>
          </a:prstGeom>
          <a:solidFill>
            <a:srgbClr val="BDBDBD"/>
          </a:solidFill>
          <a:ln w="12700">
            <a:solidFill>
              <a:srgbClr val="BDBDBD">
                <a:alpha val="0"/>
              </a:srgbClr>
            </a:solidFill>
            <a:prstDash val="solid"/>
          </a:ln>
        </p:spPr>
      </p:sp>
      <p:sp>
        <p:nvSpPr>
          <p:cNvPr id="28" name="lp3"/>
          <p:cNvSpPr/>
          <p:nvPr/>
        </p:nvSpPr>
        <p:spPr>
          <a:xfrm>
            <a:off x="6190488" y="5715000"/>
            <a:ext cx="1600200" cy="457200"/>
          </a:xfrm>
          <a:prstGeom prst="rect">
            <a:avLst/>
          </a:prstGeom>
          <a:solidFill>
            <a:srgbClr val="F7F6F4"/>
          </a:solidFill>
          <a:ln w="12700">
            <a:solidFill>
              <a:srgbClr val="E4E4E4"/>
            </a:solidFill>
            <a:prstDash val="solid"/>
          </a:ln>
        </p:spPr>
      </p:sp>
      <p:sp>
        <p:nvSpPr>
          <p:cNvPr id="29" name="Text 26"/>
          <p:cNvSpPr txBox="1"/>
          <p:nvPr/>
        </p:nvSpPr>
        <p:spPr>
          <a:xfrm>
            <a:off x="6281928" y="5715000"/>
            <a:ext cx="1417320" cy="457200"/>
          </a:xfrm>
          <a:prstGeom prst="rect">
            <a:avLst/>
          </a:prstGeom>
          <a:noFill/>
          <a:ln/>
        </p:spPr>
        <p:txBody>
          <a:bodyPr wrap="square" lIns="0" tIns="0" rIns="0" bIns="0" rtlCol="0" anchor="ctr"/>
          <a:lstStyle/>
          <a:p>
            <a:pPr algn="ctr" indent="0" marL="0">
              <a:lnSpc>
                <a:spcPts val="1200"/>
              </a:lnSpc>
              <a:buNone/>
            </a:pPr>
            <a:r>
              <a:rPr lang="en-US" sz="1000" b="1" dirty="0">
                <a:solidFill>
                  <a:srgbClr val="141414"/>
                </a:solidFill>
                <a:latin typeface="Calibri" pitchFamily="34" charset="0"/>
                <a:ea typeface="Calibri" pitchFamily="34" charset="-122"/>
                <a:cs typeface="Calibri" pitchFamily="34" charset="-120"/>
              </a:rPr>
              <a:t>Cast module</a:t>
            </a:r>
            <a:endParaRPr lang="en-US" sz="1000" dirty="0"/>
          </a:p>
        </p:txBody>
      </p:sp>
      <p:sp>
        <p:nvSpPr>
          <p:cNvPr id="30" name="la3"/>
          <p:cNvSpPr/>
          <p:nvPr/>
        </p:nvSpPr>
        <p:spPr>
          <a:xfrm>
            <a:off x="7818120" y="5879592"/>
            <a:ext cx="164592" cy="128016"/>
          </a:xfrm>
          <a:prstGeom prst="rightArrow">
            <a:avLst/>
          </a:prstGeom>
          <a:solidFill>
            <a:srgbClr val="BDBDBD"/>
          </a:solidFill>
          <a:ln w="12700">
            <a:solidFill>
              <a:srgbClr val="BDBDBD">
                <a:alpha val="0"/>
              </a:srgbClr>
            </a:solidFill>
            <a:prstDash val="solid"/>
          </a:ln>
        </p:spPr>
      </p:sp>
      <p:sp>
        <p:nvSpPr>
          <p:cNvPr id="31" name="lp4"/>
          <p:cNvSpPr/>
          <p:nvPr/>
        </p:nvSpPr>
        <p:spPr>
          <a:xfrm>
            <a:off x="8010144" y="5715000"/>
            <a:ext cx="1600200" cy="457200"/>
          </a:xfrm>
          <a:prstGeom prst="rect">
            <a:avLst/>
          </a:prstGeom>
          <a:solidFill>
            <a:srgbClr val="F7F6F4"/>
          </a:solidFill>
          <a:ln w="12700">
            <a:solidFill>
              <a:srgbClr val="E4E4E4"/>
            </a:solidFill>
            <a:prstDash val="solid"/>
          </a:ln>
        </p:spPr>
      </p:sp>
      <p:sp>
        <p:nvSpPr>
          <p:cNvPr id="32" name="Text 29"/>
          <p:cNvSpPr txBox="1"/>
          <p:nvPr/>
        </p:nvSpPr>
        <p:spPr>
          <a:xfrm>
            <a:off x="8101584" y="5715000"/>
            <a:ext cx="1417320" cy="457200"/>
          </a:xfrm>
          <a:prstGeom prst="rect">
            <a:avLst/>
          </a:prstGeom>
          <a:noFill/>
          <a:ln/>
        </p:spPr>
        <p:txBody>
          <a:bodyPr wrap="square" lIns="0" tIns="0" rIns="0" bIns="0" rtlCol="0" anchor="ctr"/>
          <a:lstStyle/>
          <a:p>
            <a:pPr algn="ctr" indent="0" marL="0">
              <a:lnSpc>
                <a:spcPts val="1200"/>
              </a:lnSpc>
              <a:buNone/>
            </a:pPr>
            <a:r>
              <a:rPr lang="en-US" sz="1000" b="1" dirty="0">
                <a:solidFill>
                  <a:srgbClr val="141414"/>
                </a:solidFill>
                <a:latin typeface="Calibri" pitchFamily="34" charset="0"/>
                <a:ea typeface="Calibri" pitchFamily="34" charset="-122"/>
                <a:cs typeface="Calibri" pitchFamily="34" charset="-120"/>
              </a:rPr>
              <a:t>Reversible assembly</a:t>
            </a:r>
            <a:endParaRPr lang="en-US" sz="1000" dirty="0"/>
          </a:p>
        </p:txBody>
      </p:sp>
      <p:sp>
        <p:nvSpPr>
          <p:cNvPr id="33" name="la4"/>
          <p:cNvSpPr/>
          <p:nvPr/>
        </p:nvSpPr>
        <p:spPr>
          <a:xfrm>
            <a:off x="9637776" y="5879592"/>
            <a:ext cx="164592" cy="128016"/>
          </a:xfrm>
          <a:prstGeom prst="rightArrow">
            <a:avLst/>
          </a:prstGeom>
          <a:solidFill>
            <a:srgbClr val="BDBDBD"/>
          </a:solidFill>
          <a:ln w="12700">
            <a:solidFill>
              <a:srgbClr val="BDBDBD">
                <a:alpha val="0"/>
              </a:srgbClr>
            </a:solidFill>
            <a:prstDash val="solid"/>
          </a:ln>
        </p:spPr>
      </p:sp>
      <p:sp>
        <p:nvSpPr>
          <p:cNvPr id="34" name="lp5"/>
          <p:cNvSpPr/>
          <p:nvPr/>
        </p:nvSpPr>
        <p:spPr>
          <a:xfrm>
            <a:off x="9829800" y="5715000"/>
            <a:ext cx="1600200" cy="457200"/>
          </a:xfrm>
          <a:prstGeom prst="rect">
            <a:avLst/>
          </a:prstGeom>
          <a:solidFill>
            <a:srgbClr val="B4513A"/>
          </a:solidFill>
          <a:ln w="12700">
            <a:solidFill>
              <a:srgbClr val="B4513A"/>
            </a:solidFill>
            <a:prstDash val="solid"/>
          </a:ln>
        </p:spPr>
      </p:sp>
      <p:sp>
        <p:nvSpPr>
          <p:cNvPr id="35" name="Text 32"/>
          <p:cNvSpPr txBox="1"/>
          <p:nvPr/>
        </p:nvSpPr>
        <p:spPr>
          <a:xfrm>
            <a:off x="9921240" y="5715000"/>
            <a:ext cx="1417320" cy="457200"/>
          </a:xfrm>
          <a:prstGeom prst="rect">
            <a:avLst/>
          </a:prstGeom>
          <a:noFill/>
          <a:ln/>
        </p:spPr>
        <p:txBody>
          <a:bodyPr wrap="square" lIns="0" tIns="0" rIns="0" bIns="0" rtlCol="0" anchor="ctr"/>
          <a:lstStyle/>
          <a:p>
            <a:pPr algn="ctr" indent="0" marL="0">
              <a:lnSpc>
                <a:spcPts val="1200"/>
              </a:lnSpc>
              <a:buNone/>
            </a:pPr>
            <a:r>
              <a:rPr lang="en-US" sz="1000" b="1" dirty="0">
                <a:solidFill>
                  <a:srgbClr val="FFFFFF"/>
                </a:solidFill>
                <a:latin typeface="Calibri" pitchFamily="34" charset="0"/>
                <a:ea typeface="Calibri" pitchFamily="34" charset="-122"/>
                <a:cs typeface="Calibri" pitchFamily="34" charset="-120"/>
              </a:rPr>
              <a:t>Biological cycle</a:t>
            </a:r>
            <a:endParaRPr lang="en-US" sz="1000" dirty="0"/>
          </a:p>
        </p:txBody>
      </p:sp>
      <p:sp>
        <p:nvSpPr>
          <p:cNvPr id="37"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Limits</a:t>
            </a:r>
            <a:endParaRPr lang="en-US" sz="2000" dirty="0"/>
          </a:p>
        </p:txBody>
      </p:sp>
      <p:sp>
        <p:nvSpPr>
          <p:cNvPr id="3" name="Text 1"/>
          <p:cNvSpPr txBox="1"/>
          <p:nvPr/>
        </p:nvSpPr>
        <p:spPr>
          <a:xfrm>
            <a:off x="731520" y="1463040"/>
            <a:ext cx="3291840" cy="365760"/>
          </a:xfrm>
          <a:prstGeom prst="rect">
            <a:avLst/>
          </a:prstGeom>
          <a:noFill/>
          <a:ln/>
        </p:spPr>
        <p:txBody>
          <a:bodyPr wrap="square" lIns="0" tIns="0" rIns="0" bIns="0" rtlCol="0" anchor="ctr"/>
          <a:lstStyle/>
          <a:p>
            <a:pPr indent="0" marL="0">
              <a:buNone/>
            </a:pPr>
            <a:r>
              <a:rPr lang="en-US" sz="1800" b="1" dirty="0">
                <a:solidFill>
                  <a:srgbClr val="141414"/>
                </a:solidFill>
                <a:latin typeface="Calibri" pitchFamily="34" charset="0"/>
                <a:ea typeface="Calibri" pitchFamily="34" charset="-122"/>
                <a:cs typeface="Calibri" pitchFamily="34" charset="-120"/>
              </a:rPr>
              <a:t>Measurement</a:t>
            </a:r>
            <a:endParaRPr lang="en-US" sz="1800" dirty="0"/>
          </a:p>
        </p:txBody>
      </p:sp>
      <p:sp>
        <p:nvSpPr>
          <p:cNvPr id="4" name="ru0.82.15"/>
          <p:cNvSpPr/>
          <p:nvPr/>
        </p:nvSpPr>
        <p:spPr>
          <a:xfrm>
            <a:off x="731520" y="1965960"/>
            <a:ext cx="3291840" cy="9144"/>
          </a:xfrm>
          <a:prstGeom prst="rect">
            <a:avLst/>
          </a:prstGeom>
          <a:solidFill>
            <a:srgbClr val="E4E4E4"/>
          </a:solidFill>
          <a:ln w="12700">
            <a:solidFill>
              <a:srgbClr val="E4E4E4">
                <a:alpha val="0"/>
              </a:srgbClr>
            </a:solidFill>
            <a:prstDash val="solid"/>
          </a:ln>
        </p:spPr>
      </p:sp>
      <p:sp>
        <p:nvSpPr>
          <p:cNvPr id="5" name="Text 3"/>
          <p:cNvSpPr txBox="1"/>
          <p:nvPr/>
        </p:nvSpPr>
        <p:spPr>
          <a:xfrm>
            <a:off x="731520" y="2084832"/>
            <a:ext cx="3291840" cy="2560320"/>
          </a:xfrm>
          <a:prstGeom prst="rect">
            <a:avLst/>
          </a:prstGeom>
          <a:noFill/>
          <a:ln/>
        </p:spPr>
        <p:txBody>
          <a:bodyPr wrap="square" lIns="0" tIns="0" rIns="0" bIns="0" rtlCol="0" anchor="ctr"/>
          <a:lstStyle/>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No dispersion data — means of three, individual values not retained</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Compressive strain assumed from observation, not instrumented</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Shrinkage unquantified — density is a lower bound</a:t>
            </a:r>
            <a:endParaRPr lang="en-US" sz="1150" dirty="0"/>
          </a:p>
        </p:txBody>
      </p:sp>
      <p:sp>
        <p:nvSpPr>
          <p:cNvPr id="6" name="Text 4"/>
          <p:cNvSpPr txBox="1"/>
          <p:nvPr/>
        </p:nvSpPr>
        <p:spPr>
          <a:xfrm>
            <a:off x="4389120" y="1463040"/>
            <a:ext cx="3291840" cy="365760"/>
          </a:xfrm>
          <a:prstGeom prst="rect">
            <a:avLst/>
          </a:prstGeom>
          <a:noFill/>
          <a:ln/>
        </p:spPr>
        <p:txBody>
          <a:bodyPr wrap="square" lIns="0" tIns="0" rIns="0" bIns="0" rtlCol="0" anchor="ctr"/>
          <a:lstStyle/>
          <a:p>
            <a:pPr indent="0" marL="0">
              <a:buNone/>
            </a:pPr>
            <a:r>
              <a:rPr lang="en-US" sz="1800" b="1" dirty="0">
                <a:solidFill>
                  <a:srgbClr val="141414"/>
                </a:solidFill>
                <a:latin typeface="Calibri" pitchFamily="34" charset="0"/>
                <a:ea typeface="Calibri" pitchFamily="34" charset="-122"/>
                <a:cs typeface="Calibri" pitchFamily="34" charset="-120"/>
              </a:rPr>
              <a:t>Process</a:t>
            </a:r>
            <a:endParaRPr lang="en-US" sz="1800" dirty="0"/>
          </a:p>
        </p:txBody>
      </p:sp>
      <p:sp>
        <p:nvSpPr>
          <p:cNvPr id="7" name="ru4.82.15"/>
          <p:cNvSpPr/>
          <p:nvPr/>
        </p:nvSpPr>
        <p:spPr>
          <a:xfrm>
            <a:off x="4389120" y="1965960"/>
            <a:ext cx="3291840" cy="9144"/>
          </a:xfrm>
          <a:prstGeom prst="rect">
            <a:avLst/>
          </a:prstGeom>
          <a:solidFill>
            <a:srgbClr val="E4E4E4"/>
          </a:solidFill>
          <a:ln w="12700">
            <a:solidFill>
              <a:srgbClr val="E4E4E4">
                <a:alpha val="0"/>
              </a:srgbClr>
            </a:solidFill>
            <a:prstDash val="solid"/>
          </a:ln>
        </p:spPr>
      </p:sp>
      <p:sp>
        <p:nvSpPr>
          <p:cNvPr id="8" name="Text 6"/>
          <p:cNvSpPr txBox="1"/>
          <p:nvPr/>
        </p:nvSpPr>
        <p:spPr>
          <a:xfrm>
            <a:off x="4389120" y="2084832"/>
            <a:ext cx="3291840" cy="2560320"/>
          </a:xfrm>
          <a:prstGeom prst="rect">
            <a:avLst/>
          </a:prstGeom>
          <a:noFill/>
          <a:ln/>
        </p:spPr>
        <p:txBody>
          <a:bodyPr wrap="square" lIns="0" tIns="0" rIns="0" bIns="0" rtlCol="0" anchor="ctr"/>
          <a:lstStyle/>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Flexural series confounded — glycerol and solids moved together</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Kerfed section calculated as solid — modulus is a lower bound</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Manual stirring; one laboratory, one operator</a:t>
            </a:r>
            <a:endParaRPr lang="en-US" sz="1150" dirty="0"/>
          </a:p>
        </p:txBody>
      </p:sp>
      <p:sp>
        <p:nvSpPr>
          <p:cNvPr id="9" name="Text 7"/>
          <p:cNvSpPr txBox="1"/>
          <p:nvPr/>
        </p:nvSpPr>
        <p:spPr>
          <a:xfrm>
            <a:off x="8046720" y="1463040"/>
            <a:ext cx="3291840" cy="365760"/>
          </a:xfrm>
          <a:prstGeom prst="rect">
            <a:avLst/>
          </a:prstGeom>
          <a:noFill/>
          <a:ln/>
        </p:spPr>
        <p:txBody>
          <a:bodyPr wrap="square" lIns="0" tIns="0" rIns="0" bIns="0" rtlCol="0" anchor="ctr"/>
          <a:lstStyle/>
          <a:p>
            <a:pPr indent="0" marL="0">
              <a:buNone/>
            </a:pPr>
            <a:r>
              <a:rPr lang="en-US" sz="1800" b="1" dirty="0">
                <a:solidFill>
                  <a:srgbClr val="141414"/>
                </a:solidFill>
                <a:latin typeface="Calibri" pitchFamily="34" charset="0"/>
                <a:ea typeface="Calibri" pitchFamily="34" charset="-122"/>
                <a:cs typeface="Calibri" pitchFamily="34" charset="-120"/>
              </a:rPr>
              <a:t>Untested</a:t>
            </a:r>
            <a:endParaRPr lang="en-US" sz="1800" dirty="0"/>
          </a:p>
        </p:txBody>
      </p:sp>
      <p:sp>
        <p:nvSpPr>
          <p:cNvPr id="10" name="ru8.82.15"/>
          <p:cNvSpPr/>
          <p:nvPr/>
        </p:nvSpPr>
        <p:spPr>
          <a:xfrm>
            <a:off x="8046720" y="1965960"/>
            <a:ext cx="3291840" cy="9144"/>
          </a:xfrm>
          <a:prstGeom prst="rect">
            <a:avLst/>
          </a:prstGeom>
          <a:solidFill>
            <a:srgbClr val="E4E4E4"/>
          </a:solidFill>
          <a:ln w="12700">
            <a:solidFill>
              <a:srgbClr val="E4E4E4">
                <a:alpha val="0"/>
              </a:srgbClr>
            </a:solidFill>
            <a:prstDash val="solid"/>
          </a:ln>
        </p:spPr>
      </p:sp>
      <p:sp>
        <p:nvSpPr>
          <p:cNvPr id="11" name="Text 9"/>
          <p:cNvSpPr txBox="1"/>
          <p:nvPr/>
        </p:nvSpPr>
        <p:spPr>
          <a:xfrm>
            <a:off x="8046720" y="2084832"/>
            <a:ext cx="3291840" cy="2560320"/>
          </a:xfrm>
          <a:prstGeom prst="rect">
            <a:avLst/>
          </a:prstGeom>
          <a:noFill/>
          <a:ln/>
        </p:spPr>
        <p:txBody>
          <a:bodyPr wrap="square" lIns="0" tIns="0" rIns="0" bIns="0" rtlCol="0" anchor="ctr"/>
          <a:lstStyle/>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Durability — humidity, thermal cycling, UV, microbial, ageing</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Reaction-to-fire classification</a:t>
            </a:r>
            <a:endParaRPr lang="en-US" sz="1150" dirty="0"/>
          </a:p>
          <a:p>
            <a:pPr marL="342900" indent="-342900">
              <a:lnSpc>
                <a:spcPts val="1650"/>
              </a:lnSpc>
              <a:spcAft>
                <a:spcPts val="600"/>
              </a:spcAft>
              <a:buSzPct val="100000"/>
              <a:buChar char="–"/>
            </a:pPr>
            <a:r>
              <a:rPr lang="en-US" sz="1150" dirty="0">
                <a:solidFill>
                  <a:srgbClr val="3C3C3C"/>
                </a:solidFill>
                <a:latin typeface="Calibri" pitchFamily="34" charset="0"/>
                <a:ea typeface="Calibri" pitchFamily="34" charset="-122"/>
                <a:cs typeface="Calibri" pitchFamily="34" charset="-120"/>
              </a:rPr>
              <a:t>Life-cycle assessment</a:t>
            </a:r>
            <a:endParaRPr lang="en-US" sz="1150" dirty="0"/>
          </a:p>
        </p:txBody>
      </p:sp>
      <p:sp>
        <p:nvSpPr>
          <p:cNvPr id="12" name="Text 10"/>
          <p:cNvSpPr txBox="1"/>
          <p:nvPr/>
        </p:nvSpPr>
        <p:spPr>
          <a:xfrm>
            <a:off x="731520" y="5120640"/>
            <a:ext cx="10698480" cy="365760"/>
          </a:xfrm>
          <a:prstGeom prst="rect">
            <a:avLst/>
          </a:prstGeom>
          <a:noFill/>
          <a:ln/>
        </p:spPr>
        <p:txBody>
          <a:bodyPr wrap="square" lIns="0" tIns="0" rIns="0" bIns="0" rtlCol="0" anchor="ctr"/>
          <a:lstStyle/>
          <a:p>
            <a:pPr indent="0" marL="0">
              <a:buNone/>
            </a:pPr>
            <a:r>
              <a:rPr lang="en-US" sz="1500" b="1" dirty="0">
                <a:solidFill>
                  <a:srgbClr val="B4513A"/>
                </a:solidFill>
                <a:latin typeface="Calibri" pitchFamily="34" charset="0"/>
                <a:ea typeface="Calibri" pitchFamily="34" charset="-122"/>
                <a:cs typeface="Calibri" pitchFamily="34" charset="-120"/>
              </a:rPr>
              <a:t>None of these is unknown. Each one is the next experiment.</a:t>
            </a:r>
            <a:endParaRPr lang="en-US" sz="1500" dirty="0"/>
          </a:p>
        </p:txBody>
      </p:sp>
      <p:sp>
        <p:nvSpPr>
          <p:cNvPr id="1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Next</a:t>
            </a:r>
            <a:endParaRPr lang="en-US" sz="2000" dirty="0"/>
          </a:p>
        </p:txBody>
      </p:sp>
      <p:sp>
        <p:nvSpPr>
          <p:cNvPr id="3" name="Text 1"/>
          <p:cNvSpPr txBox="1"/>
          <p:nvPr/>
        </p:nvSpPr>
        <p:spPr>
          <a:xfrm>
            <a:off x="731520" y="1618488"/>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01</a:t>
            </a:r>
            <a:endParaRPr lang="en-US" sz="1200" dirty="0"/>
          </a:p>
        </p:txBody>
      </p:sp>
      <p:sp>
        <p:nvSpPr>
          <p:cNvPr id="4" name="Text 2"/>
          <p:cNvSpPr txBox="1"/>
          <p:nvPr/>
        </p:nvSpPr>
        <p:spPr>
          <a:xfrm>
            <a:off x="1463040" y="1463040"/>
            <a:ext cx="3657600" cy="548640"/>
          </a:xfrm>
          <a:prstGeom prst="rect">
            <a:avLst/>
          </a:prstGeom>
          <a:noFill/>
          <a:ln/>
        </p:spPr>
        <p:txBody>
          <a:bodyPr wrap="square" lIns="0" tIns="0" rIns="0" bIns="0" rtlCol="0" anchor="ctr"/>
          <a:lstStyle/>
          <a:p>
            <a:pPr indent="0" marL="0">
              <a:lnSpc>
                <a:spcPts val="1900"/>
              </a:lnSpc>
              <a:buNone/>
            </a:pPr>
            <a:r>
              <a:rPr lang="en-US" sz="1500" b="1" dirty="0">
                <a:solidFill>
                  <a:srgbClr val="141414"/>
                </a:solidFill>
                <a:latin typeface="Calibri" pitchFamily="34" charset="0"/>
                <a:ea typeface="Calibri" pitchFamily="34" charset="-122"/>
                <a:cs typeface="Calibri" pitchFamily="34" charset="-120"/>
              </a:rPr>
              <a:t>Repeat with dispersion</a:t>
            </a:r>
            <a:endParaRPr lang="en-US" sz="1500" dirty="0"/>
          </a:p>
        </p:txBody>
      </p:sp>
      <p:sp>
        <p:nvSpPr>
          <p:cNvPr id="5" name="Text 3"/>
          <p:cNvSpPr txBox="1"/>
          <p:nvPr/>
        </p:nvSpPr>
        <p:spPr>
          <a:xfrm>
            <a:off x="5394960" y="1554480"/>
            <a:ext cx="6035040" cy="731520"/>
          </a:xfrm>
          <a:prstGeom prst="rect">
            <a:avLst/>
          </a:prstGeom>
          <a:noFill/>
          <a:ln/>
        </p:spPr>
        <p:txBody>
          <a:bodyPr wrap="square" lIns="0" tIns="0" rIns="0" bIns="0" rtlCol="0" anchor="ctr"/>
          <a:lstStyle/>
          <a:p>
            <a:pPr indent="0" marL="0">
              <a:lnSpc>
                <a:spcPts val="1600"/>
              </a:lnSpc>
              <a:buNone/>
            </a:pPr>
            <a:r>
              <a:rPr lang="en-US" sz="1150" dirty="0">
                <a:solidFill>
                  <a:srgbClr val="8C8C8C"/>
                </a:solidFill>
                <a:latin typeface="Calibri" pitchFamily="34" charset="0"/>
                <a:ea typeface="Calibri" pitchFamily="34" charset="-122"/>
                <a:cs typeface="Calibri" pitchFamily="34" charset="-120"/>
              </a:rPr>
              <a:t>Three or more specimens per formulation with individual values retained, so standard deviations can be reported.</a:t>
            </a:r>
            <a:endParaRPr lang="en-US" sz="1150" dirty="0"/>
          </a:p>
        </p:txBody>
      </p:sp>
      <p:sp>
        <p:nvSpPr>
          <p:cNvPr id="6" name="ru0.82.6"/>
          <p:cNvSpPr/>
          <p:nvPr/>
        </p:nvSpPr>
        <p:spPr>
          <a:xfrm>
            <a:off x="731520" y="2377440"/>
            <a:ext cx="10698480" cy="9144"/>
          </a:xfrm>
          <a:prstGeom prst="rect">
            <a:avLst/>
          </a:prstGeom>
          <a:solidFill>
            <a:srgbClr val="E4E4E4"/>
          </a:solidFill>
          <a:ln w="12700">
            <a:solidFill>
              <a:srgbClr val="E4E4E4">
                <a:alpha val="0"/>
              </a:srgbClr>
            </a:solidFill>
            <a:prstDash val="solid"/>
          </a:ln>
        </p:spPr>
      </p:sp>
      <p:sp>
        <p:nvSpPr>
          <p:cNvPr id="7" name="Text 5"/>
          <p:cNvSpPr txBox="1"/>
          <p:nvPr/>
        </p:nvSpPr>
        <p:spPr>
          <a:xfrm>
            <a:off x="731520" y="2697480"/>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02</a:t>
            </a:r>
            <a:endParaRPr lang="en-US" sz="1200" dirty="0"/>
          </a:p>
        </p:txBody>
      </p:sp>
      <p:sp>
        <p:nvSpPr>
          <p:cNvPr id="8" name="Text 6"/>
          <p:cNvSpPr txBox="1"/>
          <p:nvPr/>
        </p:nvSpPr>
        <p:spPr>
          <a:xfrm>
            <a:off x="1463040" y="2542032"/>
            <a:ext cx="3657600" cy="548640"/>
          </a:xfrm>
          <a:prstGeom prst="rect">
            <a:avLst/>
          </a:prstGeom>
          <a:noFill/>
          <a:ln/>
        </p:spPr>
        <p:txBody>
          <a:bodyPr wrap="square" lIns="0" tIns="0" rIns="0" bIns="0" rtlCol="0" anchor="ctr"/>
          <a:lstStyle/>
          <a:p>
            <a:pPr indent="0" marL="0">
              <a:lnSpc>
                <a:spcPts val="1900"/>
              </a:lnSpc>
              <a:buNone/>
            </a:pPr>
            <a:r>
              <a:rPr lang="en-US" sz="1500" b="1" dirty="0">
                <a:solidFill>
                  <a:srgbClr val="141414"/>
                </a:solidFill>
                <a:latin typeface="Calibri" pitchFamily="34" charset="0"/>
                <a:ea typeface="Calibri" pitchFamily="34" charset="-122"/>
                <a:cs typeface="Calibri" pitchFamily="34" charset="-120"/>
              </a:rPr>
              <a:t>Record post-drying geometry</a:t>
            </a:r>
            <a:endParaRPr lang="en-US" sz="1500" dirty="0"/>
          </a:p>
        </p:txBody>
      </p:sp>
      <p:sp>
        <p:nvSpPr>
          <p:cNvPr id="9" name="Text 7"/>
          <p:cNvSpPr txBox="1"/>
          <p:nvPr/>
        </p:nvSpPr>
        <p:spPr>
          <a:xfrm>
            <a:off x="5394960" y="2633472"/>
            <a:ext cx="6035040" cy="731520"/>
          </a:xfrm>
          <a:prstGeom prst="rect">
            <a:avLst/>
          </a:prstGeom>
          <a:noFill/>
          <a:ln/>
        </p:spPr>
        <p:txBody>
          <a:bodyPr wrap="square" lIns="0" tIns="0" rIns="0" bIns="0" rtlCol="0" anchor="ctr"/>
          <a:lstStyle/>
          <a:p>
            <a:pPr indent="0" marL="0">
              <a:lnSpc>
                <a:spcPts val="1600"/>
              </a:lnSpc>
              <a:buNone/>
            </a:pPr>
            <a:r>
              <a:rPr lang="en-US" sz="1150" dirty="0">
                <a:solidFill>
                  <a:srgbClr val="8C8C8C"/>
                </a:solidFill>
                <a:latin typeface="Calibri" pitchFamily="34" charset="0"/>
                <a:ea typeface="Calibri" pitchFamily="34" charset="-122"/>
                <a:cs typeface="Calibri" pitchFamily="34" charset="-120"/>
              </a:rPr>
              <a:t>Measure and log the dried cross-section, giving a true stress and a true density rather than lower bounds.</a:t>
            </a:r>
            <a:endParaRPr lang="en-US" sz="1150" dirty="0"/>
          </a:p>
        </p:txBody>
      </p:sp>
      <p:sp>
        <p:nvSpPr>
          <p:cNvPr id="10" name="ru0.83.7800000000000002"/>
          <p:cNvSpPr/>
          <p:nvPr/>
        </p:nvSpPr>
        <p:spPr>
          <a:xfrm>
            <a:off x="731520" y="3456432"/>
            <a:ext cx="10698480" cy="9144"/>
          </a:xfrm>
          <a:prstGeom prst="rect">
            <a:avLst/>
          </a:prstGeom>
          <a:solidFill>
            <a:srgbClr val="E4E4E4"/>
          </a:solidFill>
          <a:ln w="12700">
            <a:solidFill>
              <a:srgbClr val="E4E4E4">
                <a:alpha val="0"/>
              </a:srgbClr>
            </a:solidFill>
            <a:prstDash val="solid"/>
          </a:ln>
        </p:spPr>
      </p:sp>
      <p:sp>
        <p:nvSpPr>
          <p:cNvPr id="11" name="Text 9"/>
          <p:cNvSpPr txBox="1"/>
          <p:nvPr/>
        </p:nvSpPr>
        <p:spPr>
          <a:xfrm>
            <a:off x="731520" y="3776472"/>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03</a:t>
            </a:r>
            <a:endParaRPr lang="en-US" sz="1200" dirty="0"/>
          </a:p>
        </p:txBody>
      </p:sp>
      <p:sp>
        <p:nvSpPr>
          <p:cNvPr id="12" name="Text 10"/>
          <p:cNvSpPr txBox="1"/>
          <p:nvPr/>
        </p:nvSpPr>
        <p:spPr>
          <a:xfrm>
            <a:off x="1463040" y="3621024"/>
            <a:ext cx="3657600" cy="548640"/>
          </a:xfrm>
          <a:prstGeom prst="rect">
            <a:avLst/>
          </a:prstGeom>
          <a:noFill/>
          <a:ln/>
        </p:spPr>
        <p:txBody>
          <a:bodyPr wrap="square" lIns="0" tIns="0" rIns="0" bIns="0" rtlCol="0" anchor="ctr"/>
          <a:lstStyle/>
          <a:p>
            <a:pPr indent="0" marL="0">
              <a:lnSpc>
                <a:spcPts val="1900"/>
              </a:lnSpc>
              <a:buNone/>
            </a:pPr>
            <a:r>
              <a:rPr lang="en-US" sz="1500" b="1" dirty="0">
                <a:solidFill>
                  <a:srgbClr val="141414"/>
                </a:solidFill>
                <a:latin typeface="Calibri" pitchFamily="34" charset="0"/>
                <a:ea typeface="Calibri" pitchFamily="34" charset="-122"/>
                <a:cs typeface="Calibri" pitchFamily="34" charset="-120"/>
              </a:rPr>
              <a:t>Instrument the strain</a:t>
            </a:r>
            <a:endParaRPr lang="en-US" sz="1500" dirty="0"/>
          </a:p>
        </p:txBody>
      </p:sp>
      <p:sp>
        <p:nvSpPr>
          <p:cNvPr id="13" name="Text 11"/>
          <p:cNvSpPr txBox="1"/>
          <p:nvPr/>
        </p:nvSpPr>
        <p:spPr>
          <a:xfrm>
            <a:off x="5394960" y="3712464"/>
            <a:ext cx="6035040" cy="731520"/>
          </a:xfrm>
          <a:prstGeom prst="rect">
            <a:avLst/>
          </a:prstGeom>
          <a:noFill/>
          <a:ln/>
        </p:spPr>
        <p:txBody>
          <a:bodyPr wrap="square" lIns="0" tIns="0" rIns="0" bIns="0" rtlCol="0" anchor="ctr"/>
          <a:lstStyle/>
          <a:p>
            <a:pPr indent="0" marL="0">
              <a:lnSpc>
                <a:spcPts val="1600"/>
              </a:lnSpc>
              <a:buNone/>
            </a:pPr>
            <a:r>
              <a:rPr lang="en-US" sz="1150" dirty="0">
                <a:solidFill>
                  <a:srgbClr val="8C8C8C"/>
                </a:solidFill>
                <a:latin typeface="Calibri" pitchFamily="34" charset="0"/>
                <a:ea typeface="Calibri" pitchFamily="34" charset="-122"/>
                <a:cs typeface="Calibri" pitchFamily="34" charset="-120"/>
              </a:rPr>
              <a:t>Replace the assumed 10% deformation with measured strain, giving a real stress–strain curve and a defensible modulus of resilience.</a:t>
            </a:r>
            <a:endParaRPr lang="en-US" sz="1150" dirty="0"/>
          </a:p>
        </p:txBody>
      </p:sp>
      <p:sp>
        <p:nvSpPr>
          <p:cNvPr id="14" name="ru0.84.96"/>
          <p:cNvSpPr/>
          <p:nvPr/>
        </p:nvSpPr>
        <p:spPr>
          <a:xfrm>
            <a:off x="731520" y="4535424"/>
            <a:ext cx="10698480" cy="9144"/>
          </a:xfrm>
          <a:prstGeom prst="rect">
            <a:avLst/>
          </a:prstGeom>
          <a:solidFill>
            <a:srgbClr val="E4E4E4"/>
          </a:solidFill>
          <a:ln w="12700">
            <a:solidFill>
              <a:srgbClr val="E4E4E4">
                <a:alpha val="0"/>
              </a:srgbClr>
            </a:solidFill>
            <a:prstDash val="solid"/>
          </a:ln>
        </p:spPr>
      </p:sp>
      <p:sp>
        <p:nvSpPr>
          <p:cNvPr id="15" name="Text 13"/>
          <p:cNvSpPr txBox="1"/>
          <p:nvPr/>
        </p:nvSpPr>
        <p:spPr>
          <a:xfrm>
            <a:off x="731520" y="4855464"/>
            <a:ext cx="548640" cy="274320"/>
          </a:xfrm>
          <a:prstGeom prst="rect">
            <a:avLst/>
          </a:prstGeom>
          <a:noFill/>
          <a:ln/>
        </p:spPr>
        <p:txBody>
          <a:bodyPr wrap="square" lIns="0" tIns="0" rIns="0" bIns="0" rtlCol="0" anchor="ctr"/>
          <a:lstStyle/>
          <a:p>
            <a:pPr indent="0" marL="0">
              <a:buNone/>
            </a:pPr>
            <a:r>
              <a:rPr lang="en-US" sz="1200" b="1" dirty="0">
                <a:solidFill>
                  <a:srgbClr val="B4513A"/>
                </a:solidFill>
                <a:latin typeface="Calibri" pitchFamily="34" charset="0"/>
                <a:ea typeface="Calibri" pitchFamily="34" charset="-122"/>
                <a:cs typeface="Calibri" pitchFamily="34" charset="-120"/>
              </a:rPr>
              <a:t>04</a:t>
            </a:r>
            <a:endParaRPr lang="en-US" sz="1200" dirty="0"/>
          </a:p>
        </p:txBody>
      </p:sp>
      <p:sp>
        <p:nvSpPr>
          <p:cNvPr id="16" name="Text 14"/>
          <p:cNvSpPr txBox="1"/>
          <p:nvPr/>
        </p:nvSpPr>
        <p:spPr>
          <a:xfrm>
            <a:off x="1463040" y="4700016"/>
            <a:ext cx="3657600" cy="548640"/>
          </a:xfrm>
          <a:prstGeom prst="rect">
            <a:avLst/>
          </a:prstGeom>
          <a:noFill/>
          <a:ln/>
        </p:spPr>
        <p:txBody>
          <a:bodyPr wrap="square" lIns="0" tIns="0" rIns="0" bIns="0" rtlCol="0" anchor="ctr"/>
          <a:lstStyle/>
          <a:p>
            <a:pPr indent="0" marL="0">
              <a:lnSpc>
                <a:spcPts val="1900"/>
              </a:lnSpc>
              <a:buNone/>
            </a:pPr>
            <a:r>
              <a:rPr lang="en-US" sz="1500" b="1" dirty="0">
                <a:solidFill>
                  <a:srgbClr val="141414"/>
                </a:solidFill>
                <a:latin typeface="Calibri" pitchFamily="34" charset="0"/>
                <a:ea typeface="Calibri" pitchFamily="34" charset="-122"/>
                <a:cs typeface="Calibri" pitchFamily="34" charset="-120"/>
              </a:rPr>
              <a:t>Test an un-kerfed section</a:t>
            </a:r>
            <a:endParaRPr lang="en-US" sz="1500" dirty="0"/>
          </a:p>
        </p:txBody>
      </p:sp>
      <p:sp>
        <p:nvSpPr>
          <p:cNvPr id="17" name="Text 15"/>
          <p:cNvSpPr txBox="1"/>
          <p:nvPr/>
        </p:nvSpPr>
        <p:spPr>
          <a:xfrm>
            <a:off x="5394960" y="4791456"/>
            <a:ext cx="6035040" cy="731520"/>
          </a:xfrm>
          <a:prstGeom prst="rect">
            <a:avLst/>
          </a:prstGeom>
          <a:noFill/>
          <a:ln/>
        </p:spPr>
        <p:txBody>
          <a:bodyPr wrap="square" lIns="0" tIns="0" rIns="0" bIns="0" rtlCol="0" anchor="ctr"/>
          <a:lstStyle/>
          <a:p>
            <a:pPr indent="0" marL="0">
              <a:lnSpc>
                <a:spcPts val="1600"/>
              </a:lnSpc>
              <a:buNone/>
            </a:pPr>
            <a:r>
              <a:rPr lang="en-US" sz="1150" dirty="0">
                <a:solidFill>
                  <a:srgbClr val="8C8C8C"/>
                </a:solidFill>
                <a:latin typeface="Calibri" pitchFamily="34" charset="0"/>
                <a:ea typeface="Calibri" pitchFamily="34" charset="-122"/>
                <a:cs typeface="Calibri" pitchFamily="34" charset="-120"/>
              </a:rPr>
              <a:t>Separate the geometric contribution from the material one, so the flexural modulus becomes a material constant.</a:t>
            </a:r>
            <a:endParaRPr lang="en-US" sz="1150" dirty="0"/>
          </a:p>
        </p:txBody>
      </p:sp>
      <p:sp>
        <p:nvSpPr>
          <p:cNvPr id="18" name="ru0.86.1"/>
          <p:cNvSpPr/>
          <p:nvPr/>
        </p:nvSpPr>
        <p:spPr>
          <a:xfrm>
            <a:off x="731520" y="5577840"/>
            <a:ext cx="10698480" cy="9144"/>
          </a:xfrm>
          <a:prstGeom prst="rect">
            <a:avLst/>
          </a:prstGeom>
          <a:solidFill>
            <a:srgbClr val="E4E4E4"/>
          </a:solidFill>
          <a:ln w="12700">
            <a:solidFill>
              <a:srgbClr val="E4E4E4">
                <a:alpha val="0"/>
              </a:srgbClr>
            </a:solidFill>
            <a:prstDash val="solid"/>
          </a:ln>
        </p:spPr>
      </p:sp>
      <p:sp>
        <p:nvSpPr>
          <p:cNvPr id="19" name="Text 17"/>
          <p:cNvSpPr txBox="1"/>
          <p:nvPr/>
        </p:nvSpPr>
        <p:spPr>
          <a:xfrm>
            <a:off x="731520" y="5760720"/>
            <a:ext cx="10698480" cy="548640"/>
          </a:xfrm>
          <a:prstGeom prst="rect">
            <a:avLst/>
          </a:prstGeom>
          <a:noFill/>
          <a:ln/>
        </p:spPr>
        <p:txBody>
          <a:bodyPr wrap="square" lIns="0" tIns="0" rIns="0" bIns="0" rtlCol="0" anchor="t"/>
          <a:lstStyle/>
          <a:p>
            <a:pPr indent="0" marL="0">
              <a:lnSpc>
                <a:spcPts val="1550"/>
              </a:lnSpc>
              <a:buNone/>
            </a:pPr>
            <a:r>
              <a:rPr lang="en-US" sz="1050" dirty="0">
                <a:solidFill>
                  <a:srgbClr val="8C8C8C"/>
                </a:solidFill>
                <a:latin typeface="Calibri" pitchFamily="34" charset="0"/>
                <a:ea typeface="Calibri" pitchFamily="34" charset="-122"/>
                <a:cs typeface="Calibri" pitchFamily="34" charset="-120"/>
              </a:rPr>
              <a:t>Beyond these four: humidity and thermal cycling, microbial resistance, a reaction-to-fire classification, and a life-cycle assessment to support the environmental argument quantitatively.</a:t>
            </a:r>
            <a:endParaRPr lang="en-US" sz="1050" dirty="0"/>
          </a:p>
        </p:txBody>
      </p:sp>
      <p:sp>
        <p:nvSpPr>
          <p:cNvPr id="21"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Conclusions</a:t>
            </a:r>
            <a:endParaRPr lang="en-US" sz="2000" dirty="0"/>
          </a:p>
        </p:txBody>
      </p:sp>
      <p:sp>
        <p:nvSpPr>
          <p:cNvPr id="3" name="Text 1"/>
          <p:cNvSpPr txBox="1"/>
          <p:nvPr/>
        </p:nvSpPr>
        <p:spPr>
          <a:xfrm>
            <a:off x="731520" y="1563624"/>
            <a:ext cx="502920" cy="274320"/>
          </a:xfrm>
          <a:prstGeom prst="rect">
            <a:avLst/>
          </a:prstGeom>
          <a:noFill/>
          <a:ln/>
        </p:spPr>
        <p:txBody>
          <a:bodyPr wrap="square" lIns="0" tIns="0" rIns="0" bIns="0" rtlCol="0" anchor="ctr"/>
          <a:lstStyle/>
          <a:p>
            <a:pPr indent="0" marL="0">
              <a:buNone/>
            </a:pPr>
            <a:r>
              <a:rPr lang="en-US" sz="1100" b="1" dirty="0">
                <a:solidFill>
                  <a:srgbClr val="B4513A"/>
                </a:solidFill>
                <a:latin typeface="Calibri" pitchFamily="34" charset="0"/>
                <a:ea typeface="Calibri" pitchFamily="34" charset="-122"/>
                <a:cs typeface="Calibri" pitchFamily="34" charset="-120"/>
              </a:rPr>
              <a:t>01</a:t>
            </a:r>
            <a:endParaRPr lang="en-US" sz="1100" dirty="0"/>
          </a:p>
        </p:txBody>
      </p:sp>
      <p:sp>
        <p:nvSpPr>
          <p:cNvPr id="4" name="Text 2"/>
          <p:cNvSpPr txBox="1"/>
          <p:nvPr/>
        </p:nvSpPr>
        <p:spPr>
          <a:xfrm>
            <a:off x="1371600" y="1508760"/>
            <a:ext cx="6400800" cy="4114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A protocol others can repeat</a:t>
            </a:r>
            <a:endParaRPr lang="en-US" sz="1900" dirty="0"/>
          </a:p>
        </p:txBody>
      </p:sp>
      <p:sp>
        <p:nvSpPr>
          <p:cNvPr id="5" name="Text 3"/>
          <p:cNvSpPr txBox="1"/>
          <p:nvPr/>
        </p:nvSpPr>
        <p:spPr>
          <a:xfrm>
            <a:off x="8046720" y="1572768"/>
            <a:ext cx="338328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every parameter reported</a:t>
            </a:r>
            <a:endParaRPr lang="en-US" sz="1200" dirty="0"/>
          </a:p>
        </p:txBody>
      </p:sp>
      <p:sp>
        <p:nvSpPr>
          <p:cNvPr id="6" name="ru0.82.27"/>
          <p:cNvSpPr/>
          <p:nvPr/>
        </p:nvSpPr>
        <p:spPr>
          <a:xfrm>
            <a:off x="731520" y="2075688"/>
            <a:ext cx="10698480" cy="9144"/>
          </a:xfrm>
          <a:prstGeom prst="rect">
            <a:avLst/>
          </a:prstGeom>
          <a:solidFill>
            <a:srgbClr val="5A5A5A"/>
          </a:solidFill>
          <a:ln w="12700">
            <a:solidFill>
              <a:srgbClr val="5A5A5A">
                <a:alpha val="0"/>
              </a:srgbClr>
            </a:solidFill>
            <a:prstDash val="solid"/>
          </a:ln>
        </p:spPr>
      </p:sp>
      <p:sp>
        <p:nvSpPr>
          <p:cNvPr id="7" name="Text 5"/>
          <p:cNvSpPr txBox="1"/>
          <p:nvPr/>
        </p:nvSpPr>
        <p:spPr>
          <a:xfrm>
            <a:off x="731520" y="2404872"/>
            <a:ext cx="502920" cy="274320"/>
          </a:xfrm>
          <a:prstGeom prst="rect">
            <a:avLst/>
          </a:prstGeom>
          <a:noFill/>
          <a:ln/>
        </p:spPr>
        <p:txBody>
          <a:bodyPr wrap="square" lIns="0" tIns="0" rIns="0" bIns="0" rtlCol="0" anchor="ctr"/>
          <a:lstStyle/>
          <a:p>
            <a:pPr indent="0" marL="0">
              <a:buNone/>
            </a:pPr>
            <a:r>
              <a:rPr lang="en-US" sz="1100" b="1" dirty="0">
                <a:solidFill>
                  <a:srgbClr val="B4513A"/>
                </a:solidFill>
                <a:latin typeface="Calibri" pitchFamily="34" charset="0"/>
                <a:ea typeface="Calibri" pitchFamily="34" charset="-122"/>
                <a:cs typeface="Calibri" pitchFamily="34" charset="-120"/>
              </a:rPr>
              <a:t>02</a:t>
            </a:r>
            <a:endParaRPr lang="en-US" sz="1100" dirty="0"/>
          </a:p>
        </p:txBody>
      </p:sp>
      <p:sp>
        <p:nvSpPr>
          <p:cNvPr id="8" name="Text 6"/>
          <p:cNvSpPr txBox="1"/>
          <p:nvPr/>
        </p:nvSpPr>
        <p:spPr>
          <a:xfrm>
            <a:off x="1371600" y="2350008"/>
            <a:ext cx="6400800" cy="4114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Packing density governs strength</a:t>
            </a:r>
            <a:endParaRPr lang="en-US" sz="1900" dirty="0"/>
          </a:p>
        </p:txBody>
      </p:sp>
      <p:sp>
        <p:nvSpPr>
          <p:cNvPr id="9" name="Text 7"/>
          <p:cNvSpPr txBox="1"/>
          <p:nvPr/>
        </p:nvSpPr>
        <p:spPr>
          <a:xfrm>
            <a:off x="8046720" y="2414016"/>
            <a:ext cx="338328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not mineral content</a:t>
            </a:r>
            <a:endParaRPr lang="en-US" sz="1200" dirty="0"/>
          </a:p>
        </p:txBody>
      </p:sp>
      <p:sp>
        <p:nvSpPr>
          <p:cNvPr id="10" name="ru0.83.19"/>
          <p:cNvSpPr/>
          <p:nvPr/>
        </p:nvSpPr>
        <p:spPr>
          <a:xfrm>
            <a:off x="731520" y="2916936"/>
            <a:ext cx="10698480" cy="9144"/>
          </a:xfrm>
          <a:prstGeom prst="rect">
            <a:avLst/>
          </a:prstGeom>
          <a:solidFill>
            <a:srgbClr val="5A5A5A"/>
          </a:solidFill>
          <a:ln w="12700">
            <a:solidFill>
              <a:srgbClr val="5A5A5A">
                <a:alpha val="0"/>
              </a:srgbClr>
            </a:solidFill>
            <a:prstDash val="solid"/>
          </a:ln>
        </p:spPr>
      </p:sp>
      <p:sp>
        <p:nvSpPr>
          <p:cNvPr id="11" name="Text 9"/>
          <p:cNvSpPr txBox="1"/>
          <p:nvPr/>
        </p:nvSpPr>
        <p:spPr>
          <a:xfrm>
            <a:off x="731520" y="3246120"/>
            <a:ext cx="502920" cy="274320"/>
          </a:xfrm>
          <a:prstGeom prst="rect">
            <a:avLst/>
          </a:prstGeom>
          <a:noFill/>
          <a:ln/>
        </p:spPr>
        <p:txBody>
          <a:bodyPr wrap="square" lIns="0" tIns="0" rIns="0" bIns="0" rtlCol="0" anchor="ctr"/>
          <a:lstStyle/>
          <a:p>
            <a:pPr indent="0" marL="0">
              <a:buNone/>
            </a:pPr>
            <a:r>
              <a:rPr lang="en-US" sz="1100" b="1" dirty="0">
                <a:solidFill>
                  <a:srgbClr val="B4513A"/>
                </a:solidFill>
                <a:latin typeface="Calibri" pitchFamily="34" charset="0"/>
                <a:ea typeface="Calibri" pitchFamily="34" charset="-122"/>
                <a:cs typeface="Calibri" pitchFamily="34" charset="-120"/>
              </a:rPr>
              <a:t>03</a:t>
            </a:r>
            <a:endParaRPr lang="en-US" sz="1100" dirty="0"/>
          </a:p>
        </p:txBody>
      </p:sp>
      <p:sp>
        <p:nvSpPr>
          <p:cNvPr id="12" name="Text 10"/>
          <p:cNvSpPr txBox="1"/>
          <p:nvPr/>
        </p:nvSpPr>
        <p:spPr>
          <a:xfrm>
            <a:off x="1371600" y="3191256"/>
            <a:ext cx="6400800" cy="4114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Plasticiser sets brittle or ductile</a:t>
            </a:r>
            <a:endParaRPr lang="en-US" sz="1900" dirty="0"/>
          </a:p>
        </p:txBody>
      </p:sp>
      <p:sp>
        <p:nvSpPr>
          <p:cNvPr id="13" name="Text 11"/>
          <p:cNvSpPr txBox="1"/>
          <p:nvPr/>
        </p:nvSpPr>
        <p:spPr>
          <a:xfrm>
            <a:off x="8046720" y="3255264"/>
            <a:ext cx="338328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the transition is sharp</a:t>
            </a:r>
            <a:endParaRPr lang="en-US" sz="1200" dirty="0"/>
          </a:p>
        </p:txBody>
      </p:sp>
      <p:sp>
        <p:nvSpPr>
          <p:cNvPr id="14" name="ru0.84.11"/>
          <p:cNvSpPr/>
          <p:nvPr/>
        </p:nvSpPr>
        <p:spPr>
          <a:xfrm>
            <a:off x="731520" y="3758184"/>
            <a:ext cx="10698480" cy="9144"/>
          </a:xfrm>
          <a:prstGeom prst="rect">
            <a:avLst/>
          </a:prstGeom>
          <a:solidFill>
            <a:srgbClr val="5A5A5A"/>
          </a:solidFill>
          <a:ln w="12700">
            <a:solidFill>
              <a:srgbClr val="5A5A5A">
                <a:alpha val="0"/>
              </a:srgbClr>
            </a:solidFill>
            <a:prstDash val="solid"/>
          </a:ln>
        </p:spPr>
      </p:sp>
      <p:sp>
        <p:nvSpPr>
          <p:cNvPr id="15" name="Text 13"/>
          <p:cNvSpPr txBox="1"/>
          <p:nvPr/>
        </p:nvSpPr>
        <p:spPr>
          <a:xfrm>
            <a:off x="731520" y="4087368"/>
            <a:ext cx="502920" cy="274320"/>
          </a:xfrm>
          <a:prstGeom prst="rect">
            <a:avLst/>
          </a:prstGeom>
          <a:noFill/>
          <a:ln/>
        </p:spPr>
        <p:txBody>
          <a:bodyPr wrap="square" lIns="0" tIns="0" rIns="0" bIns="0" rtlCol="0" anchor="ctr"/>
          <a:lstStyle/>
          <a:p>
            <a:pPr indent="0" marL="0">
              <a:buNone/>
            </a:pPr>
            <a:r>
              <a:rPr lang="en-US" sz="1100" b="1" dirty="0">
                <a:solidFill>
                  <a:srgbClr val="B4513A"/>
                </a:solidFill>
                <a:latin typeface="Calibri" pitchFamily="34" charset="0"/>
                <a:ea typeface="Calibri" pitchFamily="34" charset="-122"/>
                <a:cs typeface="Calibri" pitchFamily="34" charset="-120"/>
              </a:rPr>
              <a:t>04</a:t>
            </a:r>
            <a:endParaRPr lang="en-US" sz="1100" dirty="0"/>
          </a:p>
        </p:txBody>
      </p:sp>
      <p:sp>
        <p:nvSpPr>
          <p:cNvPr id="16" name="Text 14"/>
          <p:cNvSpPr txBox="1"/>
          <p:nvPr/>
        </p:nvSpPr>
        <p:spPr>
          <a:xfrm>
            <a:off x="1371600" y="4032504"/>
            <a:ext cx="6400800" cy="4114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Bio-polymer stiffness, oven-free</a:t>
            </a:r>
            <a:endParaRPr lang="en-US" sz="1900" dirty="0"/>
          </a:p>
        </p:txBody>
      </p:sp>
      <p:sp>
        <p:nvSpPr>
          <p:cNvPr id="17" name="Text 15"/>
          <p:cNvSpPr txBox="1"/>
          <p:nvPr/>
        </p:nvSpPr>
        <p:spPr>
          <a:xfrm>
            <a:off x="8046720" y="4096512"/>
            <a:ext cx="338328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water-cast, ambient-dried</a:t>
            </a:r>
            <a:endParaRPr lang="en-US" sz="1200" dirty="0"/>
          </a:p>
        </p:txBody>
      </p:sp>
      <p:sp>
        <p:nvSpPr>
          <p:cNvPr id="18" name="ru0.85.03"/>
          <p:cNvSpPr/>
          <p:nvPr/>
        </p:nvSpPr>
        <p:spPr>
          <a:xfrm>
            <a:off x="731520" y="4599432"/>
            <a:ext cx="10698480" cy="9144"/>
          </a:xfrm>
          <a:prstGeom prst="rect">
            <a:avLst/>
          </a:prstGeom>
          <a:solidFill>
            <a:srgbClr val="5A5A5A"/>
          </a:solidFill>
          <a:ln w="12700">
            <a:solidFill>
              <a:srgbClr val="5A5A5A">
                <a:alpha val="0"/>
              </a:srgbClr>
            </a:solidFill>
            <a:prstDash val="solid"/>
          </a:ln>
        </p:spPr>
      </p:sp>
      <p:sp>
        <p:nvSpPr>
          <p:cNvPr id="19" name="Text 17"/>
          <p:cNvSpPr txBox="1"/>
          <p:nvPr/>
        </p:nvSpPr>
        <p:spPr>
          <a:xfrm>
            <a:off x="731520" y="4928616"/>
            <a:ext cx="502920" cy="274320"/>
          </a:xfrm>
          <a:prstGeom prst="rect">
            <a:avLst/>
          </a:prstGeom>
          <a:noFill/>
          <a:ln/>
        </p:spPr>
        <p:txBody>
          <a:bodyPr wrap="square" lIns="0" tIns="0" rIns="0" bIns="0" rtlCol="0" anchor="ctr"/>
          <a:lstStyle/>
          <a:p>
            <a:pPr indent="0" marL="0">
              <a:buNone/>
            </a:pPr>
            <a:r>
              <a:rPr lang="en-US" sz="1100" b="1" dirty="0">
                <a:solidFill>
                  <a:srgbClr val="B4513A"/>
                </a:solidFill>
                <a:latin typeface="Calibri" pitchFamily="34" charset="0"/>
                <a:ea typeface="Calibri" pitchFamily="34" charset="-122"/>
                <a:cs typeface="Calibri" pitchFamily="34" charset="-120"/>
              </a:rPr>
              <a:t>05</a:t>
            </a:r>
            <a:endParaRPr lang="en-US" sz="1100" dirty="0"/>
          </a:p>
        </p:txBody>
      </p:sp>
      <p:sp>
        <p:nvSpPr>
          <p:cNvPr id="20" name="Text 18"/>
          <p:cNvSpPr txBox="1"/>
          <p:nvPr/>
        </p:nvSpPr>
        <p:spPr>
          <a:xfrm>
            <a:off x="1371600" y="4873752"/>
            <a:ext cx="6400800" cy="41148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Strength is not the only criterion</a:t>
            </a:r>
            <a:endParaRPr lang="en-US" sz="1900" dirty="0"/>
          </a:p>
        </p:txBody>
      </p:sp>
      <p:sp>
        <p:nvSpPr>
          <p:cNvPr id="21" name="Text 19"/>
          <p:cNvSpPr txBox="1"/>
          <p:nvPr/>
        </p:nvSpPr>
        <p:spPr>
          <a:xfrm>
            <a:off x="8046720" y="4937760"/>
            <a:ext cx="3383280" cy="365760"/>
          </a:xfrm>
          <a:prstGeom prst="rect">
            <a:avLst/>
          </a:prstGeom>
          <a:noFill/>
          <a:ln/>
        </p:spPr>
        <p:txBody>
          <a:bodyPr wrap="square" lIns="0" tIns="0" rIns="0" bIns="0" rtlCol="0" anchor="ctr"/>
          <a:lstStyle/>
          <a:p>
            <a:pPr indent="0" marL="0">
              <a:buNone/>
            </a:pPr>
            <a:r>
              <a:rPr lang="en-US" sz="1200" dirty="0">
                <a:solidFill>
                  <a:srgbClr val="9E9E9E"/>
                </a:solidFill>
                <a:latin typeface="Calibri" pitchFamily="34" charset="0"/>
                <a:ea typeface="Calibri" pitchFamily="34" charset="-122"/>
                <a:cs typeface="Calibri" pitchFamily="34" charset="-120"/>
              </a:rPr>
              <a:t>report σ and E together</a:t>
            </a:r>
            <a:endParaRPr lang="en-US" sz="1200" dirty="0"/>
          </a:p>
        </p:txBody>
      </p:sp>
      <p:sp>
        <p:nvSpPr>
          <p:cNvPr id="22" name="Text 20"/>
          <p:cNvSpPr txBox="1"/>
          <p:nvPr/>
        </p:nvSpPr>
        <p:spPr>
          <a:xfrm>
            <a:off x="731520" y="5897880"/>
            <a:ext cx="106984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Betül Ünal   ·   b.unal91@gmail.com</a:t>
            </a:r>
            <a:endParaRPr lang="en-US" sz="1200" dirty="0"/>
          </a:p>
        </p:txBody>
      </p:sp>
      <p:sp>
        <p:nvSpPr>
          <p:cNvPr id="23" name="Text 21"/>
          <p:cNvSpPr txBox="1"/>
          <p:nvPr/>
        </p:nvSpPr>
        <p:spPr>
          <a:xfrm>
            <a:off x="731520" y="6199632"/>
            <a:ext cx="10698480" cy="457200"/>
          </a:xfrm>
          <a:prstGeom prst="rect">
            <a:avLst/>
          </a:prstGeom>
          <a:noFill/>
          <a:ln/>
        </p:spPr>
        <p:txBody>
          <a:bodyPr wrap="square" lIns="0" tIns="0" rIns="0" bIns="0" rtlCol="0" anchor="t"/>
          <a:lstStyle/>
          <a:p>
            <a:pPr indent="0" marL="0">
              <a:lnSpc>
                <a:spcPts val="1250"/>
              </a:lnSpc>
              <a:buNone/>
            </a:pPr>
            <a:r>
              <a:rPr lang="en-US" sz="900" dirty="0">
                <a:solidFill>
                  <a:srgbClr val="8E8E8E"/>
                </a:solidFill>
                <a:latin typeface="Calibri" pitchFamily="34" charset="0"/>
                <a:ea typeface="Calibri" pitchFamily="34" charset="-122"/>
                <a:cs typeface="Calibri" pitchFamily="34" charset="-120"/>
              </a:rPr>
              <a:t>Testing: Advanced Construction Materials Research Laboratory, Hacettepe University, with thanks to Dr Hüseyin İlcan. Derived from the author's doctoral dissertation, Hacettepe University, 2025.</a:t>
            </a:r>
            <a:endParaRPr lang="en-US" sz="900" dirty="0"/>
          </a:p>
        </p:txBody>
      </p:sp>
      <p:sp>
        <p:nvSpPr>
          <p:cNvPr id="25"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731520" y="502920"/>
            <a:ext cx="10698480" cy="457200"/>
          </a:xfrm>
          <a:prstGeom prst="rect">
            <a:avLst/>
          </a:prstGeom>
          <a:noFill/>
          <a:ln/>
        </p:spPr>
        <p:txBody>
          <a:bodyPr wrap="square" lIns="0" tIns="0" rIns="0" bIns="0" rtlCol="0" anchor="ctr"/>
          <a:lstStyle/>
          <a:p>
            <a:pPr indent="0" marL="0">
              <a:buNone/>
            </a:pPr>
            <a:r>
              <a:rPr lang="en-US" sz="2000" b="1" dirty="0">
                <a:solidFill>
                  <a:srgbClr val="141414"/>
                </a:solidFill>
                <a:latin typeface="Calibri" pitchFamily="34" charset="0"/>
                <a:ea typeface="Calibri" pitchFamily="34" charset="-122"/>
                <a:cs typeface="Calibri" pitchFamily="34" charset="-120"/>
              </a:rPr>
              <a:t>References</a:t>
            </a:r>
            <a:endParaRPr lang="en-US" sz="2000" dirty="0"/>
          </a:p>
        </p:txBody>
      </p:sp>
      <p:sp>
        <p:nvSpPr>
          <p:cNvPr id="3" name="Text 1"/>
          <p:cNvSpPr txBox="1"/>
          <p:nvPr/>
        </p:nvSpPr>
        <p:spPr>
          <a:xfrm>
            <a:off x="731520" y="1417320"/>
            <a:ext cx="1069848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REVIEWS AND STATE OF THE ART</a:t>
            </a:r>
            <a:endParaRPr lang="en-US" sz="850" dirty="0"/>
          </a:p>
        </p:txBody>
      </p:sp>
      <p:sp>
        <p:nvSpPr>
          <p:cNvPr id="4" name="Text 2"/>
          <p:cNvSpPr txBox="1"/>
          <p:nvPr/>
        </p:nvSpPr>
        <p:spPr>
          <a:xfrm>
            <a:off x="731520" y="1691640"/>
            <a:ext cx="10698480" cy="1097280"/>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Ngayakamo, B. &amp; Onwualu, A.P. (2022). Valorisation of eggshell waste for sustainable construction materials. Heliyon.</a:t>
            </a:r>
            <a:endParaRPr lang="en-US" sz="1000" dirty="0"/>
          </a:p>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Owuamanam, S. &amp; Cree, D. (2020). Progress of bio-calcium carbonate waste eggshell and seashell fillers in polymer composites. Journal of Composites Science, 4(2), 70.</a:t>
            </a:r>
            <a:endParaRPr lang="en-US" sz="1000" dirty="0"/>
          </a:p>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Biogenic calcium carbonate from waste shells for advanced material applications (2022). Frontiers in Materials, 9, 1024977.</a:t>
            </a:r>
            <a:endParaRPr lang="en-US" sz="1000" dirty="0"/>
          </a:p>
        </p:txBody>
      </p:sp>
      <p:sp>
        <p:nvSpPr>
          <p:cNvPr id="5" name="ru0.83.0700000000000003"/>
          <p:cNvSpPr/>
          <p:nvPr/>
        </p:nvSpPr>
        <p:spPr>
          <a:xfrm>
            <a:off x="731520" y="2807208"/>
            <a:ext cx="10698480" cy="9144"/>
          </a:xfrm>
          <a:prstGeom prst="rect">
            <a:avLst/>
          </a:prstGeom>
          <a:solidFill>
            <a:srgbClr val="E4E4E4"/>
          </a:solidFill>
          <a:ln w="12700">
            <a:solidFill>
              <a:srgbClr val="E4E4E4">
                <a:alpha val="0"/>
              </a:srgbClr>
            </a:solidFill>
            <a:prstDash val="solid"/>
          </a:ln>
        </p:spPr>
      </p:sp>
      <p:sp>
        <p:nvSpPr>
          <p:cNvPr id="6" name="Text 4"/>
          <p:cNvSpPr txBox="1"/>
          <p:nvPr/>
        </p:nvSpPr>
        <p:spPr>
          <a:xfrm>
            <a:off x="731520" y="2971800"/>
            <a:ext cx="1069848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AGAR AND BIO-POLYMER SYSTEMS</a:t>
            </a:r>
            <a:endParaRPr lang="en-US" sz="850" dirty="0"/>
          </a:p>
        </p:txBody>
      </p:sp>
      <p:sp>
        <p:nvSpPr>
          <p:cNvPr id="7" name="Text 5"/>
          <p:cNvSpPr txBox="1"/>
          <p:nvPr/>
        </p:nvSpPr>
        <p:spPr>
          <a:xfrm>
            <a:off x="731520" y="3246120"/>
            <a:ext cx="10698480" cy="1097280"/>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Hernández, V. et al. (2022). Agar biopolymer films for biodegradable packaging: a reference dataset. Materials, 15(11), 3954.</a:t>
            </a:r>
            <a:endParaRPr lang="en-US" sz="1000" dirty="0"/>
          </a:p>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Materiom (2026). Open biomaterial recipe commons and property database. materiom.org/data.</a:t>
            </a:r>
            <a:endParaRPr lang="en-US" sz="1000" dirty="0"/>
          </a:p>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Mansour et al. (2021) · Faruk et al. (2012) · Zhao et al. (2022) — bio-polymer elastic moduli.</a:t>
            </a:r>
            <a:endParaRPr lang="en-US" sz="1000" dirty="0"/>
          </a:p>
        </p:txBody>
      </p:sp>
      <p:sp>
        <p:nvSpPr>
          <p:cNvPr id="8" name="ru0.84.77"/>
          <p:cNvSpPr/>
          <p:nvPr/>
        </p:nvSpPr>
        <p:spPr>
          <a:xfrm>
            <a:off x="731520" y="4361688"/>
            <a:ext cx="10698480" cy="9144"/>
          </a:xfrm>
          <a:prstGeom prst="rect">
            <a:avLst/>
          </a:prstGeom>
          <a:solidFill>
            <a:srgbClr val="E4E4E4"/>
          </a:solidFill>
          <a:ln w="12700">
            <a:solidFill>
              <a:srgbClr val="E4E4E4">
                <a:alpha val="0"/>
              </a:srgbClr>
            </a:solidFill>
            <a:prstDash val="solid"/>
          </a:ln>
        </p:spPr>
      </p:sp>
      <p:sp>
        <p:nvSpPr>
          <p:cNvPr id="9" name="Text 7"/>
          <p:cNvSpPr txBox="1"/>
          <p:nvPr/>
        </p:nvSpPr>
        <p:spPr>
          <a:xfrm>
            <a:off x="731520" y="4526280"/>
            <a:ext cx="10698480" cy="219456"/>
          </a:xfrm>
          <a:prstGeom prst="rect">
            <a:avLst/>
          </a:prstGeom>
          <a:noFill/>
          <a:ln/>
        </p:spPr>
        <p:txBody>
          <a:bodyPr wrap="square" lIns="0" tIns="0" rIns="0" bIns="0" rtlCol="0" anchor="ctr"/>
          <a:lstStyle/>
          <a:p>
            <a:pPr indent="0" marL="0">
              <a:buNone/>
            </a:pPr>
            <a:r>
              <a:rPr lang="en-US" sz="850" b="1" spc="130" kern="0" dirty="0">
                <a:solidFill>
                  <a:srgbClr val="BDBDBD"/>
                </a:solidFill>
                <a:latin typeface="Calibri" pitchFamily="34" charset="0"/>
                <a:ea typeface="Calibri" pitchFamily="34" charset="-122"/>
                <a:cs typeface="Calibri" pitchFamily="34" charset="-120"/>
              </a:rPr>
              <a:t>COMPARATIVE MATERIAL DATA</a:t>
            </a:r>
            <a:endParaRPr lang="en-US" sz="850" dirty="0"/>
          </a:p>
        </p:txBody>
      </p:sp>
      <p:sp>
        <p:nvSpPr>
          <p:cNvPr id="10" name="Text 8"/>
          <p:cNvSpPr txBox="1"/>
          <p:nvPr/>
        </p:nvSpPr>
        <p:spPr>
          <a:xfrm>
            <a:off x="731520" y="4800600"/>
            <a:ext cx="10698480" cy="1097280"/>
          </a:xfrm>
          <a:prstGeom prst="rect">
            <a:avLst/>
          </a:prstGeom>
          <a:noFill/>
          <a:ln/>
        </p:spPr>
        <p:txBody>
          <a:bodyPr wrap="square" lIns="0" tIns="0" rIns="0" bIns="0" rtlCol="0" anchor="ctr"/>
          <a:lstStyle/>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Jones, M. et al. (2020) · Islam et al. (2018) — mycelium composites. Arnaud &amp; Gourlay (2012) — hempcrete.</a:t>
            </a:r>
            <a:endParaRPr lang="en-US" sz="1000" dirty="0"/>
          </a:p>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Kim &amp; Pal (2010) — eggshell-filled PLA. Shah et al. (2016) — mineral-filled biocomposites.</a:t>
            </a:r>
            <a:endParaRPr lang="en-US" sz="1000" dirty="0"/>
          </a:p>
          <a:p>
            <a:pPr marL="342900" indent="-342900">
              <a:lnSpc>
                <a:spcPts val="1400"/>
              </a:lnSpc>
              <a:spcAft>
                <a:spcPts val="300"/>
              </a:spcAft>
              <a:buSzPct val="100000"/>
              <a:buChar char="–"/>
            </a:pPr>
            <a:r>
              <a:rPr lang="en-US" sz="1000" dirty="0">
                <a:solidFill>
                  <a:srgbClr val="8C8C8C"/>
                </a:solidFill>
                <a:latin typeface="Calibri" pitchFamily="34" charset="0"/>
                <a:ea typeface="Calibri" pitchFamily="34" charset="-122"/>
                <a:cs typeface="Calibri" pitchFamily="34" charset="-120"/>
              </a:rPr>
              <a:t>Nemli &amp; Aydın (2007) — MDF. Altun (2006) — travertine. Klyosov (2007) — WPC. Velasco &amp; Gaona (2011) — mushroom panel.</a:t>
            </a:r>
            <a:endParaRPr lang="en-US" sz="1000" dirty="0"/>
          </a:p>
        </p:txBody>
      </p:sp>
      <p:sp>
        <p:nvSpPr>
          <p:cNvPr id="11" name="ru0.86.470000000000001"/>
          <p:cNvSpPr/>
          <p:nvPr/>
        </p:nvSpPr>
        <p:spPr>
          <a:xfrm>
            <a:off x="731520" y="5916168"/>
            <a:ext cx="10698480" cy="9144"/>
          </a:xfrm>
          <a:prstGeom prst="rect">
            <a:avLst/>
          </a:prstGeom>
          <a:solidFill>
            <a:srgbClr val="E4E4E4"/>
          </a:solidFill>
          <a:ln w="12700">
            <a:solidFill>
              <a:srgbClr val="E4E4E4">
                <a:alpha val="0"/>
              </a:srgbClr>
            </a:solidFill>
            <a:prstDash val="solid"/>
          </a:ln>
        </p:spPr>
      </p:sp>
      <p:sp>
        <p:nvSpPr>
          <p:cNvPr id="12" name="Text 10"/>
          <p:cNvSpPr txBox="1"/>
          <p:nvPr/>
        </p:nvSpPr>
        <p:spPr>
          <a:xfrm>
            <a:off x="731520" y="6080760"/>
            <a:ext cx="10698480" cy="457200"/>
          </a:xfrm>
          <a:prstGeom prst="rect">
            <a:avLst/>
          </a:prstGeom>
          <a:noFill/>
          <a:ln/>
        </p:spPr>
        <p:txBody>
          <a:bodyPr wrap="square" lIns="0" tIns="0" rIns="0" bIns="0" rtlCol="0" anchor="t"/>
          <a:lstStyle/>
          <a:p>
            <a:pPr indent="0" marL="0">
              <a:lnSpc>
                <a:spcPts val="1250"/>
              </a:lnSpc>
              <a:buNone/>
            </a:pPr>
            <a:r>
              <a:rPr lang="en-US" sz="900" dirty="0">
                <a:solidFill>
                  <a:srgbClr val="BDBDBD"/>
                </a:solidFill>
                <a:latin typeface="Calibri" pitchFamily="34" charset="0"/>
                <a:ea typeface="Calibri" pitchFamily="34" charset="-122"/>
                <a:cs typeface="Calibri" pitchFamily="34" charset="-120"/>
              </a:rPr>
              <a:t>Standards: ASTM D790-17 · ISO 11925-2:2020 · ASTM D570-98(2018).</a:t>
            </a:r>
            <a:endParaRPr lang="en-US" sz="900" dirty="0"/>
          </a:p>
        </p:txBody>
      </p:sp>
      <p:sp>
        <p:nvSpPr>
          <p:cNvPr id="14" name="Text 0"/>
          <p:cNvSpPr/>
          <p:nvPr>
            <p:ph idx="100" hasCustomPrompt="1"/>
          </p:nvPr>
        </p:nvSpPr>
        <p:spPr>
          <a:xfrm>
            <a:off x="11292840" y="6355080"/>
            <a:ext cx="365760" cy="237744"/>
          </a:xfrm>
          <a:prstGeom prst="rect">
            <a:avLst/>
          </a:prstGeom>
          <a:noFill/>
          <a:ln/>
        </p:spPr>
        <p:txBody>
          <a:bodyPr wrap="square" rtlCol="0"/>
          <a:lstStyle/>
          <a:p>
            <a:pPr algn="r" indent="0" marL="0">
              <a:buNone/>
            </a:pPr>
            <a:endParaRPr lang="en-US" sz="850" dirty="0"/>
          </a:p>
        </p:txBody>
      </p:sp>
    </p:spTree>
  </p:cSld>
  <p:clrMapOvr>
    <a:masterClrMapping/>
  </p:clrMapOvr>
</p:sld>
</file>

<file path=ppt/theme/theme1.xml><?xml version="1.0" encoding="utf-8"?>
<a:theme xmlns:a="http://schemas.openxmlformats.org/drawingml/2006/main" name="Eggshell Mono">
  <a:themeElements>
    <a:clrScheme name="Eggshell Mono">
      <a:dk1>
        <a:srgbClr val="141414"/>
      </a:dk1>
      <a:lt1>
        <a:srgbClr val="FFFFFF"/>
      </a:lt1>
      <a:dk2>
        <a:srgbClr val="141414"/>
      </a:dk2>
      <a:lt2>
        <a:srgbClr val="F7F6F4"/>
      </a:lt2>
      <a:accent1>
        <a:srgbClr val="B4513A"/>
      </a:accent1>
      <a:accent2>
        <a:srgbClr val="8C8C8C"/>
      </a:accent2>
      <a:accent3>
        <a:srgbClr val="3C3C3C"/>
      </a:accent3>
      <a:accent4>
        <a:srgbClr val="141414"/>
      </a:accent4>
      <a:accent5>
        <a:srgbClr val="E4E4E4"/>
      </a:accent5>
      <a:accent6>
        <a:srgbClr val="8C8C8C"/>
      </a:accent6>
      <a:hlink>
        <a:srgbClr val="B4513A"/>
      </a:hlink>
      <a:folHlink>
        <a:srgbClr val="8C8C8C"/>
      </a:folHlink>
    </a:clrScheme>
    <a:fontScheme name="Eggshell Mon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Eggshell-Agar Biocomposites for Sustainable Interior Applications</dc:title>
  <dc:subject>PptxGenJS Presentation</dc:subject>
  <dc:creator>Betul Unal</dc:creator>
  <cp:lastModifiedBy>Betul Unal</cp:lastModifiedBy>
  <cp:revision>1</cp:revision>
  <dcterms:created xsi:type="dcterms:W3CDTF">2026-10-25T07:13:30Z</dcterms:created>
  <dcterms:modified xsi:type="dcterms:W3CDTF">2026-10-25T07:13:30Z</dcterms:modified>
</cp:coreProperties>
</file>