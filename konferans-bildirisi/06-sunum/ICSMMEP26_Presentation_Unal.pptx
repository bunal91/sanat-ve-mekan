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8171d2c-e6e8-e1b3-390a-493852e01fb7}">
          <p14:sldIdLst>
            <p14:sldId id="256"/>
            <p14:sldId id="257"/>
            <p14:sldId id="258"/>
            <p14:sldId id="259"/>
            <p14:sldId id="260"/>
          </p14:sldIdLst>
        </p14:section>
        <p14:section name="Production" id="{f773e57e-28b0-b3d1-469e-8d22f54a8f0a}">
          <p14:sldIdLst>
            <p14:sldId id="261"/>
            <p14:sldId id="262"/>
            <p14:sldId id="263"/>
            <p14:sldId id="264"/>
          </p14:sldIdLst>
        </p14:section>
        <p14:section name="Characterisation" id="{49a11f27-995d-bb9e-99f5-72526cde4fd9}">
          <p14:sldIdLst>
            <p14:sldId id="265"/>
            <p14:sldId id="266"/>
            <p14:sldId id="267"/>
            <p14:sldId id="268"/>
            <p14:sldId id="269"/>
            <p14:sldId id="270"/>
          </p14:sldIdLst>
        </p14:section>
        <p14:section name="Benchmarking" id="{4cc6851a-2980-566a-3f49-2c577551bdab}">
          <p14:sldIdLst>
            <p14:sldId id="271"/>
            <p14:sldId id="272"/>
            <p14:sldId id="273"/>
          </p14:sldIdLst>
        </p14:section>
        <p14:section name="Application" id="{f19893bb-32f9-a91c-040f-56cd606c6d75}">
          <p14:sldIdLst>
            <p14:sldId id="274"/>
            <p14:sldId id="275"/>
          </p14:sldIdLst>
        </p14:section>
        <p14:section name="Closing" id="{ff0147db-1435-79f1-2f30-3f48b3676f63}">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σ</c:v>
                </c:pt>
              </c:strCache>
            </c:strRef>
          </c:tx>
          <c:spPr>
            <a:solidFill>
              <a:srgbClr val="1B3B2F"/>
            </a:solidFill>
            <a:effectLst/>
          </c:spPr>
          <c:invertIfNegative val="0"/>
          <c:dLbls>
            <c:numFmt formatCode="0.00" sourceLinked="0"/>
            <c:txPr>
              <a:bodyPr/>
              <a:lstStyle/>
              <a:p>
                <a:pPr>
                  <a:defRPr b="0" i="0" strike="noStrike" sz="1200" u="none">
                    <a:solidFill>
                      <a:srgbClr val="1A1A18"/>
                    </a:solidFill>
                    <a:latin typeface="+mn-lt"/>
                  </a:defRPr>
                </a:pPr>
              </a:p>
            </c:txPr>
            <c:showLegendKey val="0"/>
            <c:showVal val="1"/>
            <c:showCatName val="0"/>
            <c:showSerName val="0"/>
            <c:showPercent val="0"/>
            <c:showBubbleSize val="0"/>
            <c:showLeaderLines val="0"/>
          </c:dLbls>
          <c:cat>
            <c:multiLvlStrRef>
              <c:f>Sheet1!$A$2:$A$4</c:f>
              <c:multiLvlStrCache>
                <c:ptCount val="3"/>
                <c:lvl>
                  <c:pt idx="0">
                    <c:v>C1  0.37</c:v>
                  </c:pt>
                  <c:pt idx="1">
                    <c:v>C2  0.44</c:v>
                  </c:pt>
                  <c:pt idx="2">
                    <c:v>C3  0.59</c:v>
                  </c:pt>
                </c:lvl>
              </c:multiLvlStrCache>
            </c:multiLvlStrRef>
          </c:cat>
          <c:val>
            <c:numRef>
              <c:f>Sheet1!$B$2:$B$4</c:f>
              <c:numCache>
                <c:formatCode>General</c:formatCode>
                <c:ptCount val="3"/>
                <c:pt idx="0">
                  <c:v>2.55</c:v>
                </c:pt>
                <c:pt idx="1">
                  <c:v>3.12</c:v>
                </c:pt>
                <c:pt idx="2">
                  <c:v>4.1</c:v>
                </c:pt>
              </c:numCache>
            </c:numRef>
          </c:val>
        </c:ser>
        <c:dLbls>
          <c:numFmt formatCode="0.00" sourceLinked="0"/>
          <c:txPr>
            <a:bodyPr/>
            <a:lstStyle/>
            <a:p>
              <a:pPr>
                <a:defRPr b="0" i="0" strike="noStrike" sz="1200" u="none">
                  <a:solidFill>
                    <a:srgbClr val="1A1A18"/>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7736B"/>
                </a:solidFill>
                <a:latin typeface="+mn-lt"/>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4E0D8"/>
              </a:solidFill>
              <a:prstDash val="solid"/>
              <a:round/>
            </a:ln>
          </c:spPr>
        </c:majorGridlines>
        <c:title>
          <c:tx>
            <c:rich>
              <a:bodyPr/>
              <a:lstStyle/>
              <a:p>
                <a:pPr>
                  <a:defRPr sz="1100" b="0" i="0" u="none" strike="noStrike">
                    <a:solidFill>
                      <a:srgbClr val="77736B"/>
                    </a:solidFill>
                    <a:latin typeface="+mn-lt"/>
                  </a:defRPr>
                </a:pPr>
                <a:r>
                  <a:rPr sz="1100" b="0" i="0" u="none" strike="noStrike">
                    <a:solidFill>
                      <a:srgbClr val="77736B"/>
                    </a:solidFill>
                    <a:latin typeface="+mn-lt"/>
                  </a:rPr>
                  <a:t>Compressive stress (MPa)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773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Compressive</c:v>
                </c:pt>
              </c:strCache>
            </c:strRef>
          </c:tx>
          <c:spPr>
            <a:solidFill>
              <a:srgbClr val="1B3B2F"/>
            </a:solidFill>
            <a:effectLst/>
          </c:spPr>
          <c:invertIfNegative val="0"/>
          <c:dLbls>
            <c:numFmt formatCode="0.0" sourceLinked="0"/>
            <c:txPr>
              <a:bodyPr/>
              <a:lstStyle/>
              <a:p>
                <a:pPr>
                  <a:defRPr b="0" i="0" strike="noStrike" sz="1000" u="none">
                    <a:solidFill>
                      <a:srgbClr val="1A1A18"/>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Compressed
mushroom panel</c:v>
                  </c:pt>
                  <c:pt idx="1">
                    <c:v>This study
(C3)</c:v>
                  </c:pt>
                  <c:pt idx="2">
                    <c:v>WPC</c:v>
                  </c:pt>
                  <c:pt idx="3">
                    <c:v>MDF</c:v>
                  </c:pt>
                  <c:pt idx="4">
                    <c:v>Travertine</c:v>
                  </c:pt>
                </c:lvl>
              </c:multiLvlStrCache>
            </c:multiLvlStrRef>
          </c:cat>
          <c:val>
            <c:numRef>
              <c:f>Sheet1!$B$2:$B$6</c:f>
              <c:numCache>
                <c:formatCode>General</c:formatCode>
                <c:ptCount val="5"/>
                <c:pt idx="0">
                  <c:v>1.2</c:v>
                </c:pt>
                <c:pt idx="1">
                  <c:v>4.1</c:v>
                </c:pt>
                <c:pt idx="2">
                  <c:v>7.2</c:v>
                </c:pt>
                <c:pt idx="3">
                  <c:v>24</c:v>
                </c:pt>
                <c:pt idx="4">
                  <c:v>80</c:v>
                </c:pt>
              </c:numCache>
            </c:numRef>
          </c:val>
        </c:ser>
        <c:ser>
          <c:idx val="1"/>
          <c:order val="1"/>
          <c:tx>
            <c:strRef>
              <c:f>Sheet1!$C$1</c:f>
              <c:strCache>
                <c:ptCount val="1"/>
                <c:pt idx="0">
                  <c:v>Flexural</c:v>
                </c:pt>
              </c:strCache>
            </c:strRef>
          </c:tx>
          <c:spPr>
            <a:solidFill>
              <a:srgbClr val="B8AE9B"/>
            </a:solidFill>
            <a:effectLst/>
          </c:spPr>
          <c:invertIfNegative val="0"/>
          <c:dLbls>
            <c:numFmt formatCode="0.0" sourceLinked="0"/>
            <c:txPr>
              <a:bodyPr/>
              <a:lstStyle/>
              <a:p>
                <a:pPr>
                  <a:defRPr b="0" i="0" strike="noStrike" sz="1000" u="none">
                    <a:solidFill>
                      <a:srgbClr val="1A1A18"/>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Compressed
mushroom panel</c:v>
                  </c:pt>
                  <c:pt idx="1">
                    <c:v>This study
(C3)</c:v>
                  </c:pt>
                  <c:pt idx="2">
                    <c:v>WPC</c:v>
                  </c:pt>
                  <c:pt idx="3">
                    <c:v>MDF</c:v>
                  </c:pt>
                  <c:pt idx="4">
                    <c:v>Travertine</c:v>
                  </c:pt>
                </c:lvl>
              </c:multiLvlStrCache>
            </c:multiLvlStrRef>
          </c:cat>
          <c:val>
            <c:numRef>
              <c:f>Sheet1!$C$2:$C$6</c:f>
              <c:numCache>
                <c:formatCode>General</c:formatCode>
                <c:ptCount val="5"/>
                <c:pt idx="0">
                  <c:v>1</c:v>
                </c:pt>
                <c:pt idx="1">
                  <c:v>2.3</c:v>
                </c:pt>
                <c:pt idx="2">
                  <c:v>12</c:v>
                </c:pt>
                <c:pt idx="3">
                  <c:v>35</c:v>
                </c:pt>
                <c:pt idx="4">
                  <c:v>11</c:v>
                </c:pt>
              </c:numCache>
            </c:numRef>
          </c:val>
        </c:ser>
        <c:dLbls>
          <c:numFmt formatCode="0.0" sourceLinked="0"/>
          <c:txPr>
            <a:bodyPr/>
            <a:lstStyle/>
            <a:p>
              <a:pPr>
                <a:defRPr b="0" i="0" strike="noStrike" sz="1000" u="none">
                  <a:solidFill>
                    <a:srgbClr val="1A1A18"/>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77736B"/>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0D8"/>
              </a:solidFill>
              <a:prstDash val="solid"/>
              <a:round/>
            </a:ln>
          </c:spPr>
        </c:majorGridlines>
        <c:title>
          <c:tx>
            <c:rich>
              <a:bodyPr/>
              <a:lstStyle/>
              <a:p>
                <a:pPr>
                  <a:defRPr sz="1100" b="0" i="0" u="none" strike="noStrike">
                    <a:solidFill>
                      <a:srgbClr val="77736B"/>
                    </a:solidFill>
                    <a:latin typeface="+mn-lt"/>
                  </a:defRPr>
                </a:pPr>
                <a:r>
                  <a:rPr sz="1100" b="0" i="0" u="none" strike="noStrike">
                    <a:solidFill>
                      <a:srgbClr val="77736B"/>
                    </a:solidFill>
                    <a:latin typeface="+mn-lt"/>
                  </a:rPr>
                  <a:t>Strength (MPa)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7736B"/>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77736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Betul Unal, Department of Interior Architecture, Cappadocia University. This paper reports a production protocol and mechanical characterisation for a fully bio-based composite made from waste eggshell bound in an agar-glycerol matrix, and proposes an evaluation criterion better suited to this class of material than compressive strength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where the field is rather than where my work is. Eggshell valorisation is well established - cement replacement, brick stabilisation, asphalt binders, lime substitution, ceramic bodies, and particulate filler in thermoplastics. The reason is clear: 94 percent calcium carbonate, a useful porous microstructure, and a lower specific gravity than most mineral fillers. The material argument for eggshell is settled. What is not settled is what binds it, because in every one of these cases the matrix is petrochemical, clinker-based or ceramic. The waste is valorised; the binder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the binder. Agar-glycerol systems are reasonably well characterised. Hernandez and colleagues mapped thirty-two agar, glycerin and water formulations by design of experiments in 2022 and released the dataset openly. The consistent finding is that glycerol raises elongation and lowers tensile strength. But all of that concerns unfilled thin films, tested in tension, for packaging. Agar has not been characterised as the binder of a mineral-filled cast solid in bending, which is the actual loading case for an interior surface component. The compositional logic carries over; the form and the loading case do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Claiming a gap is cheap, so let me show it rather than assert it. Materiom is an open commons for biomaterial recipes - CC-BY-SA, petrochemical ingredients excluded, each recipe archived as prior art, property data indexed with citable DOIs. The infrastructure for shared procedures exists. But property data currently exists for four recipes. The nearest analogue to this work is the mussel shell-sucrose ceramic, a shell mineral in a biological binder. Nothing couples a shell mineral to an agar binder, and nothing reports compressive, flexural, ignitability and hygric data for one formulation family. So the contribution is not that nobody thought of this. It is a protocol and a property set entering a commons that is four recipes deep.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questions. The first two are formulation questions, the next two benchmarking, and the fifth is the one I actually care about and will return to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constituents, and the division of labour matters. Eggshell carries load. Agar forms the continuous network. Glycerol decides whether the composite behaves brittle or ductile. Shellac is a surface finish only. And water is not in the final material at all - it is the process variable that sets how densely the solids pack. Keep that last point, because it turns out to be the controlling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Shell preparation. Two points. First, I call the 120 degree step decontamination and drying rather than sterilisation, because dry-heat sterilisation needs around 160 to 170 degrees for one to two hours and we did not verify sterility. Second, the 150 micrometre sieve was chosen to match the particle size used in the polymer-composite eggshell literature, so the mineral phase here is comparable to that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binder is a two-stage thermal regime: dissolution at 95, then a controlled cook at 80, 55 minutes in total. Two stages because viscosity building before full dissolution gives a patchy gel network. And plainly: stirring was manual, so shear rate is not a controlled quantity. This is reproducible in a studio. It is not yet tight enough for an instrumented laboratory.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Compositing, casting and drying. The mineral goes in late, at 80 degrees, because adding it earlier lets it settle. Silicone moulds release without a parting agent. Four days in mould, seven days consolidating, all at ambient - no oven at any point, which matters for the energy argument. The disclosure: the material shrinks as water leaves. Cross-sections were measured at test time but the dried dimensions were not logged, so unless I say otherwise these are mould dimensions.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formulation matrix with derived ratios, and the two right-hand columns are the ones to read. In the compression series shell-to-binder is exactly two point zero zero in all three mixes - not planned as a control, but it means the only thing that varies is solids concentration. In the flexural series I have to declare a confound: glycerol was halved, but batch mass was fixed at 770 grams, so water rose to compensate and the other two ratios shifted with it. The plasticiser effect is not cleanly isolated.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programme with standards and specimen geometries. I want the reporting convention on the record before any numbers appear: mechanical values are means of three specimens, individual values were not retained so I cannot give standard deviations, and the fire, absorption and density figures are single determinations - indicative, not characteristic.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compression result is tidier than I expected. Because shell-to-binder is fixed at two, solids concentration is the only variable, and compressive stress is linear in it with an R-squared of 0.994 across 0.37 to 0.59. Three points will fit almost any line, so I am not claiming a law. I am claiming a testable hypothesis with a clear physical reading: strength here is governed by packing density, not mineral content as such. If that is right, the route to a stronger composite is to remove water, not to add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is what I would ask about if I were sitting where you are. The curve is linear to about one megapascal, then stiffness falls away progressively as the agar network yields and the mineral redistributes. Peak arrives at roughly ten percent strain with no abrupt drop, and beyond peak the specimen keeps deforming while holding together. Energy is absorbed rather than released. One honesty point: the strain axis derives from an assumed ten percent maximum deformation based on observation, not instrumented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Flexure, to ASTM D790. The decisive variable is plasticiser. At 18.8 percent glycerol the composite deformed without developing measurable resistance - the machine registered nothing usable. Halving it gives 2.325 megapascals at a modulus of 192. The transition is sharp and it lies between those two values. Two disclosures. The glycerol effect is confounded with solids concentration, as I showed. And look at the tension face: it is kerfed. D790 assumes a solid rectangle and my calculation uses the full twenty millimetre depth, so some of this compliance is geometry. The modulus I am quoting is a lower bound on the bulk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environmental properties. On fire: ignition at around ten seconds under direct flame, self-extinguishing four seconds after removal, charring local, no lateral spread, no melting or dripping. The probable mechanism is endothermic carbonate decomposition releasing carbon dioxide, not verified calorimetrically. To be explicit: 11925-2 is an ignitability test. No Euroclass, no cone calorimetry, no smoke or toxicity. On water: 0.7 percent mass gain with three shellac coats, with local dissolution where the coating was thin, so coating integrity is the limit, not the composite. On density: 1.38, between the fungal and cellulosic materials below and fired clay above, on a mould-volume basis so a lower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benchmark, against the conventional materials this would sit alongside. Let me be blunt. One sixth of MDF, one twentieth of travertine - and travertine is the relevant comparison aesthetically because the material looks like it. It does beat compressed mushroom panel, the only other fully bio-based board in the set, by a factor of three. But on strength alone it does not compete with engineered wood or stone, and I will not claim that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benchmark, and this is the one that matters. Against the bio-based family the position changes completely. In compression the material is an order of magnitude above mycelium composites and hempcrete. In stiffness it sits inside the bio-polymer band: 192, between soy bioplastic at 124 and flax-fibre PLA at 198, within the LDPE range. Note what that means. This is water-cast, dried at room temperature, with no oven and no extrusion, and it reaches the stiffness of melt-processed bio-polymers. Wood is still two orders of magnitude above and I will not pretend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me to the fifth question. The modulus of resilience is the elastic strain energy absorbed per unit volume up to permanent deformation. Note where stiffness sits: in the denominator. So the low modulus that counted against the material in the first benchmark is exactly what raises this quantity. For F2 it comes to about 14 kilojoules per cubic metre, from this study's own two measurements. Why does it fit? Because both programmes gave the same qualitative result - substantial deformation with retained integrity. Strength tells you the load at which a material stops performing. It does not tell you whether it then fails gracefully or catastrophically, and for a demountable non-loadbearing component that is what governs service life. The honest limit: I cannot give a comparative table, because the literature reports strength and modulus in separate studies on different formulations. This is a data point and a measurement convention, not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application pathway follows from the measurements rather than being imposed on them. Low strength with high deformation capacity means self-weight and handling loads only. Self-extinguishing with no dripping means interior surfaces away from ignition sources. Coating-dependent water resistance means dry interiors, not wet rooms and not facades. And repeatable small-format casting means a module rather than a sheet, which matters because failure is then replaced one unit at a time. The assembly is adhesive-free and therefore reversible, units interlock and share load, a damaged unit is exchangeable, and colour and texture vary within one formulation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potentials, and I will call them potentials. Waste valorisation at source - a local stream becomes a surface material with no intermediate industry. Low-energy production - no oven, no autoclave, no extrusion; one cook and then ambient drying. End-of-life by design - everything biodegrades including the shellac. Reversible assembly, so reuse precedes recycling. A direct displacement of quarried limestone rather than a downcycled use. And low-barrier manufacture. One caveat that matters: no life-cycle assessment was carried out, so these are qualitative potentials, not quantified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set these out precisely than have them found. Dispersion not reported. A formulation confound in the flexural comparison. A kerfed section treated as solid. Strain assumed, not instrumented. Shrinkage unquantified. The process not instrumented - manual stirring, one laboratory, one operator. No durability data of any kind. No fire classification and no LCA. Each defines a specific next experiment rather than a vague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reproducible protocol, parameter by parameter. Solids concentration, not mineral content, governs compressive strength. Plasticiser content sets the brittle-ductile transition, and that transition lies between 18.8 and 10.3 percent glycerol. A water-cast, ambient-dried material reaches bio-polymer stiffness without an oven. And strength alone is the wrong criterion for this class: deformation capacity governs service behaviour, and strength and modulus should be reported together. Thank you -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Selected references, left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3B2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7498080" cy="210312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r>
              <a:rPr lang="en-US" sz="3200" b="1" dirty="0">
                <a:solidFill>
                  <a:srgbClr val="FFFFFF"/>
                </a:solidFill>
              </a:rPr>
              <a:t> </a:t>
            </a:r>
            <a:endParaRPr lang="en-US" sz="3200" dirty="0"/>
          </a:p>
        </p:txBody>
      </p:sp>
      <p:sp>
        <p:nvSpPr>
          <p:cNvPr id="3" name="Text 0"/>
          <p:cNvSpPr/>
          <p:nvPr>
            <p:ph idx="101" type="body" hasCustomPrompt="1"/>
          </p:nvPr>
        </p:nvSpPr>
        <p:spPr>
          <a:xfrm>
            <a:off x="731520" y="4160520"/>
            <a:ext cx="7498080" cy="1554480"/>
          </a:xfrm>
          <a:prstGeom prst="rect">
            <a:avLst/>
          </a:prstGeom>
          <a:noFill/>
          <a:ln/>
        </p:spPr>
        <p:txBody>
          <a:bodyPr wrap="square" rtlCol="0"/>
          <a:lstStyle>
            <a:lvl1pPr algn="l" indent="0" marL="0">
              <a:buNone/>
              <a:defRPr lang="en-US" sz="1400" dirty="0">
                <a:solidFill>
                  <a:srgbClr val="A9BFB1"/>
                </a:solidFill>
              </a:defRPr>
            </a:lvl1pPr>
          </a:lstStyle>
          <a:p>
            <a:pPr algn="l" indent="0" marL="0">
              <a:buNone/>
            </a:pPr>
            <a:r>
              <a:rPr lang="en-US" sz="1400" dirty="0">
                <a:solidFill>
                  <a:srgbClr val="A9BFB1"/>
                </a:solidFill>
              </a:rPr>
              <a:t> </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lstStyle>
            <a:lvl1pPr algn="l" indent="0" marL="0">
              <a:buNone/>
              <a:defRPr lang="en-US" sz="2600" b="1" dirty="0">
                <a:solidFill>
                  <a:srgbClr val="1A1A18"/>
                </a:solidFill>
              </a:defRPr>
            </a:lvl1pPr>
          </a:lstStyle>
          <a:p>
            <a:pPr algn="l" indent="0" marL="0">
              <a:buNone/>
            </a:pPr>
            <a:r>
              <a:rPr lang="en-US" sz="2600" b="1" dirty="0">
                <a:solidFill>
                  <a:srgbClr val="1A1A18"/>
                </a:solidFill>
              </a:rPr>
              <a:t> </a:t>
            </a:r>
            <a:endParaRPr lang="en-US" sz="2600" dirty="0"/>
          </a:p>
        </p:txBody>
      </p:sp>
      <p:sp>
        <p:nvSpPr>
          <p:cNvPr id="3" name="Text 0"/>
          <p:cNvSpPr/>
          <p:nvPr>
            <p:ph idx="101" hasCustomPrompt="1"/>
          </p:nvPr>
        </p:nvSpPr>
        <p:spPr>
          <a:xfrm>
            <a:off x="11155680" y="6263640"/>
            <a:ext cx="457200" cy="274320"/>
          </a:xfrm>
          <a:prstGeom prst="rect">
            <a:avLst/>
          </a:prstGeom>
          <a:noFill/>
          <a:ln/>
        </p:spPr>
        <p:txBody>
          <a:bodyPr wrap="square" rtlCol="0"/>
          <a:lstStyle>
            <a:lvl1pPr algn="r" indent="0" marL="0">
              <a:buNone/>
              <a:defRPr lang="en-US" sz="900" dirty="0">
                <a:solidFill>
                  <a:srgbClr val="A8A49B"/>
                </a:solidFill>
              </a:defRPr>
            </a:lvl1pPr>
          </a:lstStyle>
          <a:p>
            <a:pPr algn="r" indent="0" marL="0">
              <a:buNone/>
            </a:pPr>
            <a:endParaRPr lang="en-US" sz="9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IVOT">
    <p:bg>
      <p:bgPr>
        <a:solidFill>
          <a:srgbClr val="1B3B2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lstStyle>
            <a:lvl1pPr algn="l" indent="0" marL="0">
              <a:buNone/>
              <a:defRPr lang="en-US" sz="2600" b="1" dirty="0">
                <a:solidFill>
                  <a:srgbClr val="FFFFFF"/>
                </a:solidFill>
              </a:defRPr>
            </a:lvl1pPr>
          </a:lstStyle>
          <a:p>
            <a:pPr algn="l" indent="0" marL="0">
              <a:buNone/>
            </a:pPr>
            <a:r>
              <a:rPr lang="en-US" sz="2600" b="1" dirty="0">
                <a:solidFill>
                  <a:srgbClr val="FFFFFF"/>
                </a:solidFill>
              </a:rPr>
              <a:t> </a:t>
            </a:r>
            <a:endParaRPr lang="en-US" sz="2600" dirty="0"/>
          </a:p>
        </p:txBody>
      </p:sp>
      <p:sp>
        <p:nvSpPr>
          <p:cNvPr id="3" name="Text 0"/>
          <p:cNvSpPr/>
          <p:nvPr>
            <p:ph idx="101" hasCustomPrompt="1"/>
          </p:nvPr>
        </p:nvSpPr>
        <p:spPr>
          <a:xfrm>
            <a:off x="11155680" y="6263640"/>
            <a:ext cx="457200" cy="274320"/>
          </a:xfrm>
          <a:prstGeom prst="rect">
            <a:avLst/>
          </a:prstGeom>
          <a:noFill/>
          <a:ln/>
        </p:spPr>
        <p:txBody>
          <a:bodyPr wrap="square" rtlCol="0"/>
          <a:lstStyle>
            <a:lvl1pPr algn="r" indent="0" marL="0">
              <a:buNone/>
              <a:defRPr lang="en-US" sz="900" dirty="0">
                <a:solidFill>
                  <a:srgbClr val="5F7A66"/>
                </a:solidFill>
              </a:defRPr>
            </a:lvl1pPr>
          </a:lstStyle>
          <a:p>
            <a:pPr algn="r" indent="0" marL="0">
              <a:buNone/>
            </a:pP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image" Target="../media/image-19-2.jpe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ro" descr="/home/user/sanat-ve-mekan/konferans-bildirisi/03-gorseller/01-prototip-cesitlemeleri.jpeg">    </p:cNvPr>
          <p:cNvPicPr>
            <a:picLocks noChangeAspect="1"/>
          </p:cNvPicPr>
          <p:nvPr/>
        </p:nvPicPr>
        <p:blipFill>
          <a:blip r:embed="rId1"/>
          <a:stretch>
            <a:fillRect/>
          </a:stretch>
        </p:blipFill>
        <p:spPr>
          <a:xfrm>
            <a:off x="8503920" y="2331720"/>
            <a:ext cx="3108960" cy="1746504"/>
          </a:xfrm>
          <a:prstGeom prst="rect">
            <a:avLst/>
          </a:prstGeom>
        </p:spPr>
      </p:pic>
      <p:sp>
        <p:nvSpPr>
          <p:cNvPr id="3" name="Text 0"/>
          <p:cNvSpPr/>
          <p:nvPr>
            <p:ph idx="100" type="title" hasCustomPrompt="1"/>
          </p:nvPr>
        </p:nvSpPr>
        <p:spPr>
          <a:xfrm>
            <a:off x="731520" y="1828800"/>
            <a:ext cx="7498080" cy="2103120"/>
          </a:xfrm>
          <a:prstGeom prst="rect">
            <a:avLst/>
          </a:prstGeom>
          <a:noFill/>
          <a:ln/>
        </p:spPr>
        <p:txBody>
          <a:bodyPr wrap="square" rtlCol="0" anchor="b"/>
          <a:lstStyle/>
          <a:p>
            <a:pPr algn="l" indent="0" marL="0">
              <a:buNone/>
            </a:pPr>
            <a:r>
              <a:rPr lang="en-US" sz="3200" b="1" dirty="0">
                <a:solidFill>
                  <a:srgbClr val="FFFFFF"/>
                </a:solidFill>
              </a:rPr>
              <a:t>Development and Characterisation of Eggshell–Agar Biocomposites for Sustainable Interior Applications</a:t>
            </a:r>
            <a:endParaRPr lang="en-US" sz="3200" dirty="0"/>
          </a:p>
        </p:txBody>
      </p:sp>
      <p:sp>
        <p:nvSpPr>
          <p:cNvPr id="4" name="Text 0"/>
          <p:cNvSpPr/>
          <p:nvPr>
            <p:ph idx="101" type="body" hasCustomPrompt="1"/>
          </p:nvPr>
        </p:nvSpPr>
        <p:spPr>
          <a:xfrm>
            <a:off x="731520" y="4160520"/>
            <a:ext cx="7498080" cy="1554480"/>
          </a:xfrm>
          <a:prstGeom prst="rect">
            <a:avLst/>
          </a:prstGeom>
          <a:noFill/>
          <a:ln/>
        </p:spPr>
        <p:txBody>
          <a:bodyPr wrap="square" rtlCol="0" anchor="t"/>
          <a:lstStyle/>
          <a:p>
            <a:pPr algn="l" indent="0" marL="0">
              <a:buNone/>
            </a:pPr>
            <a:r>
              <a:rPr lang="en-US" sz="1600" b="1" dirty="0">
                <a:solidFill>
                  <a:srgbClr val="FFFFFF"/>
                </a:solidFill>
              </a:rPr>
              <a:t>Betül Ünal</a:t>
            </a:r>
            <a:endParaRPr lang="en-US" sz="1400" dirty="0"/>
          </a:p>
          <a:p>
            <a:pPr algn="l" indent="0" marL="0">
              <a:buNone/>
            </a:pPr>
            <a:r>
              <a:rPr lang="en-US" sz="1400" dirty="0">
                <a:solidFill>
                  <a:srgbClr val="A9BFB1"/>
                </a:solidFill>
              </a:rPr>
              <a:t>Department of Interior Architecture, Cappadocia University, Nevşehir, Türkiye</a:t>
            </a:r>
            <a:endParaRPr lang="en-US" sz="1400" dirty="0"/>
          </a:p>
          <a:p>
            <a:pPr algn="l" indent="0" marL="0">
              <a:buNone/>
            </a:pPr>
            <a:r>
              <a:rPr lang="en-US" sz="900" dirty="0">
                <a:solidFill>
                  <a:srgbClr val="A9BFB1"/>
                </a:solidFill>
              </a:rPr>
              <a:t> </a:t>
            </a:r>
            <a:endParaRPr lang="en-US" sz="1400" dirty="0"/>
          </a:p>
          <a:p>
            <a:pPr algn="l" indent="0" marL="0">
              <a:buNone/>
            </a:pPr>
            <a:r>
              <a:rPr lang="en-US" sz="1400" dirty="0">
                <a:solidFill>
                  <a:srgbClr val="7E937F"/>
                </a:solidFill>
              </a:rPr>
              <a:t>ICSMMEP-26  ·  Mecca  ·  3–4 November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Eggshell valorisation is established</a:t>
            </a:r>
            <a:endParaRPr lang="en-US" sz="2600" dirty="0"/>
          </a:p>
        </p:txBody>
      </p:sp>
      <p:sp>
        <p:nvSpPr>
          <p:cNvPr id="3" name="Text 1"/>
          <p:cNvSpPr txBox="1"/>
          <p:nvPr/>
        </p:nvSpPr>
        <p:spPr>
          <a:xfrm>
            <a:off x="731520" y="1417320"/>
            <a:ext cx="6400800" cy="237744"/>
          </a:xfrm>
          <a:prstGeom prst="rect">
            <a:avLst/>
          </a:prstGeom>
          <a:noFill/>
          <a:ln/>
        </p:spPr>
        <p:txBody>
          <a:bodyPr wrap="square" lIns="0" tIns="0" rIns="0" bIns="0" rtlCol="0" anchor="ctr"/>
          <a:lstStyle/>
          <a:p>
            <a:pPr indent="0" marL="0">
              <a:buNone/>
            </a:pPr>
            <a:r>
              <a:rPr lang="en-US" sz="950" b="1" spc="120" kern="0" dirty="0">
                <a:solidFill>
                  <a:srgbClr val="A8A49B"/>
                </a:solidFill>
              </a:rPr>
              <a:t>WHERE EGGSHELL WASTE CURRENTLY GOES</a:t>
            </a:r>
            <a:endParaRPr lang="en-US" sz="9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31520" y="1719072"/>
          <a:ext cx="6400800" cy="914400"/>
        </p:xfrm>
        <a:graphic>
          <a:graphicData uri="http://schemas.openxmlformats.org/drawingml/2006/table">
            <a:tbl>
              <a:tblPr/>
              <a:tblGrid>
                <a:gridCol w="2651760"/>
                <a:gridCol w="1828800"/>
                <a:gridCol w="1920240"/>
              </a:tblGrid>
              <a:tr h="338328">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Application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Matrix</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Reference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r>
              <a:tr h="338328">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Cement replacement</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Portland clinker</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Teara et al. 2019</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38328">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Laterite brick stabilisation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Cement</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Adogla et al. 2016</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38328">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Asphalt binder modification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Bitumen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Razzaq &amp; Yousif 2017</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38328">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Soil stabilisation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Lime substitute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Soundara &amp; Vilasini 2015</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38328">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Eco-ceramic wall tile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Ceramic body</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Vilarinho et al. 2022</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38328">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Particulate filler</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PLA, epoxy, PVC, PU</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Owuamanam &amp; Cree 2020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31520" y="4251960"/>
            <a:ext cx="6400800" cy="365760"/>
          </a:xfrm>
          <a:prstGeom prst="rect">
            <a:avLst/>
          </a:prstGeom>
          <a:noFill/>
          <a:ln/>
        </p:spPr>
        <p:txBody>
          <a:bodyPr wrap="square" lIns="0" tIns="0" rIns="0" bIns="0" rtlCol="0" anchor="ctr"/>
          <a:lstStyle/>
          <a:p>
            <a:pPr indent="0" marL="0">
              <a:buNone/>
            </a:pPr>
            <a:r>
              <a:rPr lang="en-US" sz="1400" b="1" dirty="0">
                <a:solidFill>
                  <a:srgbClr val="C9622F"/>
                </a:solidFill>
              </a:rPr>
              <a:t>In every case the matrix is petrochemical, clinker-based or ceramic.</a:t>
            </a:r>
            <a:endParaRPr lang="en-US" sz="1400" dirty="0"/>
          </a:p>
        </p:txBody>
      </p:sp>
      <p:sp>
        <p:nvSpPr>
          <p:cNvPr id="6" name="Text 3"/>
          <p:cNvSpPr txBox="1"/>
          <p:nvPr/>
        </p:nvSpPr>
        <p:spPr>
          <a:xfrm>
            <a:off x="7863840" y="1417320"/>
            <a:ext cx="3566160" cy="237744"/>
          </a:xfrm>
          <a:prstGeom prst="rect">
            <a:avLst/>
          </a:prstGeom>
          <a:noFill/>
          <a:ln/>
        </p:spPr>
        <p:txBody>
          <a:bodyPr wrap="square" lIns="0" tIns="0" rIns="0" bIns="0" rtlCol="0" anchor="ctr"/>
          <a:lstStyle/>
          <a:p>
            <a:pPr indent="0" marL="0">
              <a:buNone/>
            </a:pPr>
            <a:r>
              <a:rPr lang="en-US" sz="950" b="1" spc="120" kern="0" dirty="0">
                <a:solidFill>
                  <a:srgbClr val="A8A49B"/>
                </a:solidFill>
              </a:rPr>
              <a:t>WHY THE FIELD RETURNS TO IT</a:t>
            </a:r>
            <a:endParaRPr lang="en-US" sz="950" dirty="0"/>
          </a:p>
        </p:txBody>
      </p:sp>
      <p:sp>
        <p:nvSpPr>
          <p:cNvPr id="7" name="Text 4"/>
          <p:cNvSpPr txBox="1"/>
          <p:nvPr/>
        </p:nvSpPr>
        <p:spPr>
          <a:xfrm>
            <a:off x="7863840" y="1719072"/>
            <a:ext cx="3566160" cy="27432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1A1A18"/>
                </a:solidFill>
              </a:rPr>
              <a:t>~94% calcium carbonate</a:t>
            </a:r>
            <a:endParaRPr lang="en-US" sz="1200" dirty="0"/>
          </a:p>
          <a:p>
            <a:pPr marL="342900" indent="-342900">
              <a:lnSpc>
                <a:spcPts val="1700"/>
              </a:lnSpc>
              <a:spcAft>
                <a:spcPts val="700"/>
              </a:spcAft>
              <a:buSzPct val="100000"/>
              <a:buChar char="•"/>
            </a:pPr>
            <a:r>
              <a:rPr lang="en-US" sz="1200" dirty="0">
                <a:solidFill>
                  <a:srgbClr val="1A1A18"/>
                </a:solidFill>
              </a:rPr>
              <a:t>Porous, protein-bound crystalline structure</a:t>
            </a:r>
            <a:endParaRPr lang="en-US" sz="1200" dirty="0"/>
          </a:p>
          <a:p>
            <a:pPr marL="342900" indent="-342900">
              <a:lnSpc>
                <a:spcPts val="1700"/>
              </a:lnSpc>
              <a:spcAft>
                <a:spcPts val="700"/>
              </a:spcAft>
              <a:buSzPct val="100000"/>
              <a:buChar char="•"/>
            </a:pPr>
            <a:r>
              <a:rPr lang="en-US" sz="1200" dirty="0">
                <a:solidFill>
                  <a:srgbClr val="1A1A18"/>
                </a:solidFill>
              </a:rPr>
              <a:t>Specific gravity 0.85–2.66</a:t>
            </a:r>
            <a:endParaRPr lang="en-US" sz="1200" dirty="0"/>
          </a:p>
          <a:p>
            <a:pPr marL="342900" indent="-342900">
              <a:lnSpc>
                <a:spcPts val="1700"/>
              </a:lnSpc>
              <a:spcAft>
                <a:spcPts val="700"/>
              </a:spcAft>
              <a:buSzPct val="100000"/>
              <a:buChar char="•"/>
            </a:pPr>
            <a:r>
              <a:rPr lang="en-US" sz="1200" dirty="0">
                <a:solidFill>
                  <a:srgbClr val="1A1A18"/>
                </a:solidFill>
              </a:rPr>
              <a:t>Continuously generated, landfilled at scale</a:t>
            </a:r>
            <a:endParaRPr lang="en-US" sz="1200" dirty="0"/>
          </a:p>
        </p:txBody>
      </p:sp>
      <p:sp>
        <p:nvSpPr>
          <p:cNvPr id="8" name="Text 5"/>
          <p:cNvSpPr txBox="1"/>
          <p:nvPr/>
        </p:nvSpPr>
        <p:spPr>
          <a:xfrm>
            <a:off x="7863840" y="4160520"/>
            <a:ext cx="3566160" cy="822960"/>
          </a:xfrm>
          <a:prstGeom prst="rect">
            <a:avLst/>
          </a:prstGeom>
          <a:noFill/>
          <a:ln/>
        </p:spPr>
        <p:txBody>
          <a:bodyPr wrap="square" lIns="0" tIns="0" rIns="0" bIns="0" rtlCol="0" anchor="t"/>
          <a:lstStyle/>
          <a:p>
            <a:pPr indent="0" marL="0">
              <a:lnSpc>
                <a:spcPts val="1700"/>
              </a:lnSpc>
              <a:buNone/>
            </a:pPr>
            <a:r>
              <a:rPr lang="en-US" sz="1200" dirty="0">
                <a:solidFill>
                  <a:srgbClr val="77736B"/>
                </a:solidFill>
              </a:rPr>
              <a:t>The material argument is settled. The open question is what binds it.</a:t>
            </a:r>
            <a:endParaRPr lang="en-US" sz="1200" dirty="0"/>
          </a:p>
        </p:txBody>
      </p:sp>
      <p:sp>
        <p:nvSpPr>
          <p:cNvPr id="9" name="Text 6"/>
          <p:cNvSpPr txBox="1"/>
          <p:nvPr/>
        </p:nvSpPr>
        <p:spPr>
          <a:xfrm>
            <a:off x="731520" y="4800600"/>
            <a:ext cx="640080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William &amp; Owen 1995  ·  Torres et al. 2010  ·  Shafiei et al. 2019</a:t>
            </a:r>
            <a:endParaRPr lang="en-US" sz="1000" dirty="0"/>
          </a:p>
        </p:txBody>
      </p:sp>
      <p:sp>
        <p:nvSpPr>
          <p:cNvPr id="11"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Agar is characterised — but only as a film</a:t>
            </a:r>
            <a:endParaRPr lang="en-US" sz="2600" dirty="0"/>
          </a:p>
        </p:txBody>
      </p:sp>
      <p:sp>
        <p:nvSpPr>
          <p:cNvPr id="3" name="Text 1"/>
          <p:cNvSpPr txBox="1"/>
          <p:nvPr/>
        </p:nvSpPr>
        <p:spPr>
          <a:xfrm>
            <a:off x="731520" y="1417320"/>
            <a:ext cx="5120640" cy="237744"/>
          </a:xfrm>
          <a:prstGeom prst="rect">
            <a:avLst/>
          </a:prstGeom>
          <a:noFill/>
          <a:ln/>
        </p:spPr>
        <p:txBody>
          <a:bodyPr wrap="square" lIns="0" tIns="0" rIns="0" bIns="0" rtlCol="0" anchor="ctr"/>
          <a:lstStyle/>
          <a:p>
            <a:pPr indent="0" marL="0">
              <a:buNone/>
            </a:pPr>
            <a:r>
              <a:rPr lang="en-US" sz="950" b="1" spc="120" kern="0" dirty="0">
                <a:solidFill>
                  <a:srgbClr val="A8A49B"/>
                </a:solidFill>
              </a:rPr>
              <a:t>WHAT IS KNOWN</a:t>
            </a:r>
            <a:endParaRPr lang="en-US" sz="950" dirty="0"/>
          </a:p>
        </p:txBody>
      </p:sp>
      <p:sp>
        <p:nvSpPr>
          <p:cNvPr id="4" name="Text 2"/>
          <p:cNvSpPr txBox="1"/>
          <p:nvPr/>
        </p:nvSpPr>
        <p:spPr>
          <a:xfrm>
            <a:off x="731520" y="1737360"/>
            <a:ext cx="5120640" cy="1371600"/>
          </a:xfrm>
          <a:prstGeom prst="rect">
            <a:avLst/>
          </a:prstGeom>
          <a:noFill/>
          <a:ln/>
        </p:spPr>
        <p:txBody>
          <a:bodyPr wrap="square" lIns="0" tIns="0" rIns="0" bIns="0" rtlCol="0" anchor="t"/>
          <a:lstStyle/>
          <a:p>
            <a:pPr indent="0" marL="0">
              <a:lnSpc>
                <a:spcPts val="1850"/>
              </a:lnSpc>
              <a:buNone/>
            </a:pPr>
            <a:r>
              <a:rPr lang="en-US" sz="1250" dirty="0">
                <a:solidFill>
                  <a:srgbClr val="1A1A18"/>
                </a:solidFill>
              </a:rPr>
              <a:t>Hernández et al. (2022) mapped 32 agar–glycerin–water formulations by design of experiments and released the dataset openly. Across the film literature, glycerol raises elongation and lowers tensile strength.</a:t>
            </a:r>
            <a:endParaRPr lang="en-US" sz="1250" dirty="0"/>
          </a:p>
        </p:txBody>
      </p:sp>
      <p:sp>
        <p:nvSpPr>
          <p:cNvPr id="5" name="Text 3"/>
          <p:cNvSpPr txBox="1"/>
          <p:nvPr/>
        </p:nvSpPr>
        <p:spPr>
          <a:xfrm>
            <a:off x="731520" y="3337560"/>
            <a:ext cx="5120640" cy="237744"/>
          </a:xfrm>
          <a:prstGeom prst="rect">
            <a:avLst/>
          </a:prstGeom>
          <a:noFill/>
          <a:ln/>
        </p:spPr>
        <p:txBody>
          <a:bodyPr wrap="square" lIns="0" tIns="0" rIns="0" bIns="0" rtlCol="0" anchor="ctr"/>
          <a:lstStyle/>
          <a:p>
            <a:pPr indent="0" marL="0">
              <a:buNone/>
            </a:pPr>
            <a:r>
              <a:rPr lang="en-US" sz="950" b="1" spc="120" kern="0" dirty="0">
                <a:solidFill>
                  <a:srgbClr val="A8A49B"/>
                </a:solidFill>
              </a:rPr>
              <a:t>WHAT IS NOT</a:t>
            </a:r>
            <a:endParaRPr lang="en-US" sz="950" dirty="0"/>
          </a:p>
        </p:txBody>
      </p:sp>
      <p:sp>
        <p:nvSpPr>
          <p:cNvPr id="6" name="Text 4"/>
          <p:cNvSpPr txBox="1"/>
          <p:nvPr/>
        </p:nvSpPr>
        <p:spPr>
          <a:xfrm>
            <a:off x="731520" y="3657600"/>
            <a:ext cx="5120640" cy="1371600"/>
          </a:xfrm>
          <a:prstGeom prst="rect">
            <a:avLst/>
          </a:prstGeom>
          <a:noFill/>
          <a:ln/>
        </p:spPr>
        <p:txBody>
          <a:bodyPr wrap="square" lIns="0" tIns="0" rIns="0" bIns="0" rtlCol="0" anchor="t"/>
          <a:lstStyle/>
          <a:p>
            <a:pPr indent="0" marL="0">
              <a:lnSpc>
                <a:spcPts val="1850"/>
              </a:lnSpc>
              <a:buNone/>
            </a:pPr>
            <a:r>
              <a:rPr lang="en-US" sz="1250" dirty="0">
                <a:solidFill>
                  <a:srgbClr val="1A1A18"/>
                </a:solidFill>
              </a:rPr>
              <a:t>That work concerns unfilled thin films in uniaxial tension, for packaging. Agar has not been characterised as the binder of a mineral-filled cast solid in bending — the loading case for an interior surface.</a:t>
            </a:r>
            <a:endParaRPr lang="en-US" sz="1250" dirty="0"/>
          </a:p>
        </p:txBody>
      </p:sp>
      <p:sp>
        <p:nvSpPr>
          <p:cNvPr id="7" name="Text 5"/>
          <p:cNvSpPr txBox="1"/>
          <p:nvPr/>
        </p:nvSpPr>
        <p:spPr>
          <a:xfrm>
            <a:off x="6675120" y="1417320"/>
            <a:ext cx="4754880" cy="237744"/>
          </a:xfrm>
          <a:prstGeom prst="rect">
            <a:avLst/>
          </a:prstGeom>
          <a:noFill/>
          <a:ln/>
        </p:spPr>
        <p:txBody>
          <a:bodyPr wrap="square" lIns="0" tIns="0" rIns="0" bIns="0" rtlCol="0" anchor="ctr"/>
          <a:lstStyle/>
          <a:p>
            <a:pPr indent="0" marL="0">
              <a:buNone/>
            </a:pPr>
            <a:r>
              <a:rPr lang="en-US" sz="950" b="1" spc="120" kern="0" dirty="0">
                <a:solidFill>
                  <a:srgbClr val="A8A49B"/>
                </a:solidFill>
              </a:rPr>
              <a:t>THE SHIFT THIS STUDY MAKES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675120" y="1719072"/>
          <a:ext cx="4754880" cy="914400"/>
        </p:xfrm>
        <a:graphic>
          <a:graphicData uri="http://schemas.openxmlformats.org/drawingml/2006/table">
            <a:tbl>
              <a:tblPr/>
              <a:tblGrid>
                <a:gridCol w="1280160"/>
                <a:gridCol w="1691640"/>
                <a:gridCol w="1783080"/>
              </a:tblGrid>
              <a:tr h="384048">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Film literature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This study</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r>
              <a:tr h="384048">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Form</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Thin cast film</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Cast solid, 20–50 mm</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Filler</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Unfilled</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Mineral, 66% of solids</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Loading</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Tension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Compression, bending</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Use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Packaging</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Interior surfaces</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6675120" y="3840480"/>
            <a:ext cx="4754880" cy="914400"/>
          </a:xfrm>
          <a:prstGeom prst="rect">
            <a:avLst/>
          </a:prstGeom>
          <a:noFill/>
          <a:ln/>
        </p:spPr>
        <p:txBody>
          <a:bodyPr wrap="square" lIns="0" tIns="0" rIns="0" bIns="0" rtlCol="0" anchor="t"/>
          <a:lstStyle/>
          <a:p>
            <a:pPr indent="0" marL="0">
              <a:lnSpc>
                <a:spcPts val="1750"/>
              </a:lnSpc>
              <a:buNone/>
            </a:pPr>
            <a:r>
              <a:rPr lang="en-US" sz="1250" dirty="0">
                <a:solidFill>
                  <a:srgbClr val="77736B"/>
                </a:solidFill>
              </a:rPr>
              <a:t>The compositional logic carries over. The form, the filler and the loading case do not.</a:t>
            </a:r>
            <a:endParaRPr lang="en-US" sz="1250" dirty="0"/>
          </a:p>
        </p:txBody>
      </p:sp>
      <p:sp>
        <p:nvSpPr>
          <p:cNvPr id="11"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FFFFFF"/>
                </a:solidFill>
              </a:rPr>
              <a:t>The gap is documented, not asserted</a:t>
            </a:r>
            <a:endParaRPr lang="en-US" sz="2600" dirty="0"/>
          </a:p>
        </p:txBody>
      </p:sp>
      <p:sp>
        <p:nvSpPr>
          <p:cNvPr id="3" name="Text 1"/>
          <p:cNvSpPr txBox="1"/>
          <p:nvPr/>
        </p:nvSpPr>
        <p:spPr>
          <a:xfrm>
            <a:off x="731520" y="1554480"/>
            <a:ext cx="5120640" cy="237744"/>
          </a:xfrm>
          <a:prstGeom prst="rect">
            <a:avLst/>
          </a:prstGeom>
          <a:noFill/>
          <a:ln/>
        </p:spPr>
        <p:txBody>
          <a:bodyPr wrap="square" lIns="0" tIns="0" rIns="0" bIns="0" rtlCol="0" anchor="ctr"/>
          <a:lstStyle/>
          <a:p>
            <a:pPr indent="0" marL="0">
              <a:buNone/>
            </a:pPr>
            <a:r>
              <a:rPr lang="en-US" sz="950" b="1" spc="120" kern="0" dirty="0">
                <a:solidFill>
                  <a:srgbClr val="A9BFB1"/>
                </a:solidFill>
              </a:rPr>
              <a:t>AN OPEN COMMONS EXISTS</a:t>
            </a:r>
            <a:endParaRPr lang="en-US" sz="950" dirty="0"/>
          </a:p>
        </p:txBody>
      </p:sp>
      <p:sp>
        <p:nvSpPr>
          <p:cNvPr id="4" name="Text 2"/>
          <p:cNvSpPr txBox="1"/>
          <p:nvPr/>
        </p:nvSpPr>
        <p:spPr>
          <a:xfrm>
            <a:off x="731520" y="1874520"/>
            <a:ext cx="5120640" cy="1463040"/>
          </a:xfrm>
          <a:prstGeom prst="rect">
            <a:avLst/>
          </a:prstGeom>
          <a:noFill/>
          <a:ln/>
        </p:spPr>
        <p:txBody>
          <a:bodyPr wrap="square" lIns="0" tIns="0" rIns="0" bIns="0" rtlCol="0" anchor="t"/>
          <a:lstStyle/>
          <a:p>
            <a:pPr indent="0" marL="0">
              <a:lnSpc>
                <a:spcPts val="1900"/>
              </a:lnSpc>
              <a:buNone/>
            </a:pPr>
            <a:r>
              <a:rPr lang="en-US" sz="1300" dirty="0">
                <a:solidFill>
                  <a:srgbClr val="FFFFFF"/>
                </a:solidFill>
              </a:rPr>
              <a:t>Materiom publishes biomaterial recipes under CC-BY-SA, excludes petrochemical ingredients, archives each as prior art, and indexes property data with citable DOIs. The infrastructure is built.</a:t>
            </a:r>
            <a:endParaRPr lang="en-US" sz="1300" dirty="0"/>
          </a:p>
        </p:txBody>
      </p:sp>
      <p:sp>
        <p:nvSpPr>
          <p:cNvPr id="5" name="Text 3"/>
          <p:cNvSpPr txBox="1"/>
          <p:nvPr/>
        </p:nvSpPr>
        <p:spPr>
          <a:xfrm>
            <a:off x="731520" y="3657600"/>
            <a:ext cx="2194560" cy="566928"/>
          </a:xfrm>
          <a:prstGeom prst="rect">
            <a:avLst/>
          </a:prstGeom>
          <a:noFill/>
          <a:ln/>
        </p:spPr>
        <p:txBody>
          <a:bodyPr wrap="square" lIns="0" tIns="0" rIns="0" bIns="0" rtlCol="0" anchor="b"/>
          <a:lstStyle/>
          <a:p>
            <a:pPr indent="0" marL="0">
              <a:buNone/>
            </a:pPr>
            <a:r>
              <a:rPr lang="en-US" sz="3200" b="1" dirty="0">
                <a:solidFill>
                  <a:srgbClr val="C9622F"/>
                </a:solidFill>
                <a:latin typeface="Cambria" pitchFamily="34" charset="0"/>
                <a:ea typeface="Cambria" pitchFamily="34" charset="-122"/>
                <a:cs typeface="Cambria" pitchFamily="34" charset="-120"/>
              </a:rPr>
              <a:t>4</a:t>
            </a:r>
            <a:endParaRPr lang="en-US" sz="3200" dirty="0"/>
          </a:p>
        </p:txBody>
      </p:sp>
      <p:sp>
        <p:nvSpPr>
          <p:cNvPr id="6" name="Text 4"/>
          <p:cNvSpPr txBox="1"/>
          <p:nvPr/>
        </p:nvSpPr>
        <p:spPr>
          <a:xfrm>
            <a:off x="731520" y="4261104"/>
            <a:ext cx="2194560" cy="457200"/>
          </a:xfrm>
          <a:prstGeom prst="rect">
            <a:avLst/>
          </a:prstGeom>
          <a:noFill/>
          <a:ln/>
        </p:spPr>
        <p:txBody>
          <a:bodyPr wrap="square" lIns="0" tIns="0" rIns="0" bIns="0" rtlCol="0" anchor="t"/>
          <a:lstStyle/>
          <a:p>
            <a:pPr indent="0" marL="0">
              <a:lnSpc>
                <a:spcPts val="1400"/>
              </a:lnSpc>
              <a:buNone/>
            </a:pPr>
            <a:r>
              <a:rPr lang="en-US" sz="1050" dirty="0">
                <a:solidFill>
                  <a:srgbClr val="A9BFB1"/>
                </a:solidFill>
              </a:rPr>
              <a:t>recipes with published property data</a:t>
            </a:r>
            <a:endParaRPr lang="en-US" sz="1050" dirty="0"/>
          </a:p>
        </p:txBody>
      </p:sp>
      <p:sp>
        <p:nvSpPr>
          <p:cNvPr id="7" name="Text 5"/>
          <p:cNvSpPr txBox="1"/>
          <p:nvPr/>
        </p:nvSpPr>
        <p:spPr>
          <a:xfrm>
            <a:off x="3291840" y="3703320"/>
            <a:ext cx="2560320" cy="1463040"/>
          </a:xfrm>
          <a:prstGeom prst="rect">
            <a:avLst/>
          </a:prstGeom>
          <a:noFill/>
          <a:ln/>
        </p:spPr>
        <p:txBody>
          <a:bodyPr wrap="square" lIns="0" tIns="0" rIns="0" bIns="0" rtlCol="0" anchor="t"/>
          <a:lstStyle/>
          <a:p>
            <a:pPr indent="0" marL="0">
              <a:lnSpc>
                <a:spcPts val="1700"/>
              </a:lnSpc>
              <a:buNone/>
            </a:pPr>
            <a:r>
              <a:rPr lang="en-US" sz="1200" dirty="0">
                <a:solidFill>
                  <a:srgbClr val="A9BFB1"/>
                </a:solidFill>
              </a:rPr>
              <a:t>agar bioplastic</a:t>
            </a:r>
            <a:endParaRPr lang="en-US" sz="1200" dirty="0"/>
          </a:p>
          <a:p>
            <a:pPr indent="0" marL="0">
              <a:lnSpc>
                <a:spcPts val="1700"/>
              </a:lnSpc>
              <a:buNone/>
            </a:pPr>
            <a:r>
              <a:rPr lang="en-US" sz="1200" dirty="0">
                <a:solidFill>
                  <a:srgbClr val="A9BFB1"/>
                </a:solidFill>
              </a:rPr>
              <a:t>gelatin bioplastic</a:t>
            </a:r>
            <a:endParaRPr lang="en-US" sz="1200" dirty="0"/>
          </a:p>
          <a:p>
            <a:pPr indent="0" marL="0">
              <a:lnSpc>
                <a:spcPts val="1700"/>
              </a:lnSpc>
              <a:buNone/>
            </a:pPr>
            <a:r>
              <a:rPr lang="en-US" sz="1200" dirty="0">
                <a:solidFill>
                  <a:srgbClr val="A9BFB1"/>
                </a:solidFill>
              </a:rPr>
              <a:t>mycelium–walnut shell</a:t>
            </a:r>
            <a:endParaRPr lang="en-US" sz="1200" dirty="0"/>
          </a:p>
          <a:p>
            <a:pPr indent="0" marL="0">
              <a:lnSpc>
                <a:spcPts val="1700"/>
              </a:lnSpc>
              <a:buNone/>
            </a:pPr>
            <a:r>
              <a:rPr lang="en-US" sz="1200" dirty="0">
                <a:solidFill>
                  <a:srgbClr val="A9BFB1"/>
                </a:solidFill>
              </a:rPr>
              <a:t>mussel shell–sucrose ceramic</a:t>
            </a:r>
            <a:endParaRPr lang="en-US" sz="1200" dirty="0"/>
          </a:p>
        </p:txBody>
      </p:sp>
      <p:sp>
        <p:nvSpPr>
          <p:cNvPr id="8" name="Text 6"/>
          <p:cNvSpPr txBox="1"/>
          <p:nvPr/>
        </p:nvSpPr>
        <p:spPr>
          <a:xfrm>
            <a:off x="6675120" y="1554480"/>
            <a:ext cx="4754880" cy="237744"/>
          </a:xfrm>
          <a:prstGeom prst="rect">
            <a:avLst/>
          </a:prstGeom>
          <a:noFill/>
          <a:ln/>
        </p:spPr>
        <p:txBody>
          <a:bodyPr wrap="square" lIns="0" tIns="0" rIns="0" bIns="0" rtlCol="0" anchor="ctr"/>
          <a:lstStyle/>
          <a:p>
            <a:pPr indent="0" marL="0">
              <a:buNone/>
            </a:pPr>
            <a:r>
              <a:rPr lang="en-US" sz="950" b="1" spc="120" kern="0" dirty="0">
                <a:solidFill>
                  <a:srgbClr val="A9BFB1"/>
                </a:solidFill>
              </a:rPr>
              <a:t>WHAT THAT MEANS HERE</a:t>
            </a:r>
            <a:endParaRPr lang="en-US" sz="950" dirty="0"/>
          </a:p>
        </p:txBody>
      </p:sp>
      <p:sp>
        <p:nvSpPr>
          <p:cNvPr id="9" name="Text 7"/>
          <p:cNvSpPr txBox="1"/>
          <p:nvPr/>
        </p:nvSpPr>
        <p:spPr>
          <a:xfrm>
            <a:off x="6675120" y="1874520"/>
            <a:ext cx="4754880" cy="2011680"/>
          </a:xfrm>
          <a:prstGeom prst="rect">
            <a:avLst/>
          </a:prstGeom>
          <a:noFill/>
          <a:ln/>
        </p:spPr>
        <p:txBody>
          <a:bodyPr wrap="square" lIns="0" tIns="0" rIns="0" bIns="0" rtlCol="0" anchor="t"/>
          <a:lstStyle/>
          <a:p>
            <a:pPr indent="0" marL="0">
              <a:lnSpc>
                <a:spcPts val="1900"/>
              </a:lnSpc>
              <a:buNone/>
            </a:pPr>
            <a:r>
              <a:rPr lang="en-US" sz="1300" dirty="0">
                <a:solidFill>
                  <a:srgbClr val="FFFFFF"/>
                </a:solidFill>
              </a:rPr>
              <a:t>The nearest analogue is the mussel shell–sucrose ceramic: a shell mineral in a biological binder. Nothing couples a shell mineral to an agar binder, and nothing reports compressive, flexural, ignitability and hygric data for one formulation family.</a:t>
            </a:r>
            <a:endParaRPr lang="en-US" sz="1300" dirty="0"/>
          </a:p>
        </p:txBody>
      </p:sp>
      <p:sp>
        <p:nvSpPr>
          <p:cNvPr id="10" name="Text 8"/>
          <p:cNvSpPr txBox="1"/>
          <p:nvPr/>
        </p:nvSpPr>
        <p:spPr>
          <a:xfrm>
            <a:off x="6675120" y="4114800"/>
            <a:ext cx="4754880" cy="822960"/>
          </a:xfrm>
          <a:prstGeom prst="rect">
            <a:avLst/>
          </a:prstGeom>
          <a:noFill/>
          <a:ln/>
        </p:spPr>
        <p:txBody>
          <a:bodyPr wrap="square" lIns="0" tIns="0" rIns="0" bIns="0" rtlCol="0" anchor="ctr"/>
          <a:lstStyle/>
          <a:p>
            <a:pPr indent="0" marL="0">
              <a:lnSpc>
                <a:spcPts val="2000"/>
              </a:lnSpc>
              <a:buNone/>
            </a:pPr>
            <a:r>
              <a:rPr lang="en-US" sz="1400" b="1" dirty="0">
                <a:solidFill>
                  <a:srgbClr val="F0C9A8"/>
                </a:solidFill>
              </a:rPr>
              <a:t>A protocol and a property set entering a commons four recipes deep.</a:t>
            </a:r>
            <a:endParaRPr lang="en-US" sz="1400" dirty="0"/>
          </a:p>
        </p:txBody>
      </p:sp>
      <p:sp>
        <p:nvSpPr>
          <p:cNvPr id="11" name="Text 9"/>
          <p:cNvSpPr txBox="1"/>
          <p:nvPr/>
        </p:nvSpPr>
        <p:spPr>
          <a:xfrm>
            <a:off x="731520" y="5715000"/>
            <a:ext cx="548640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materiom.org/data, accessed October 2026</a:t>
            </a:r>
            <a:endParaRPr lang="en-US" sz="1000" dirty="0"/>
          </a:p>
        </p:txBody>
      </p:sp>
      <p:sp>
        <p:nvSpPr>
          <p:cNvPr id="13"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Aim and research questions</a:t>
            </a:r>
            <a:endParaRPr lang="en-US" sz="2600" dirty="0"/>
          </a:p>
        </p:txBody>
      </p:sp>
      <p:sp>
        <p:nvSpPr>
          <p:cNvPr id="3" name="Text 1"/>
          <p:cNvSpPr txBox="1"/>
          <p:nvPr/>
        </p:nvSpPr>
        <p:spPr>
          <a:xfrm>
            <a:off x="731520" y="1417320"/>
            <a:ext cx="4846320" cy="237744"/>
          </a:xfrm>
          <a:prstGeom prst="rect">
            <a:avLst/>
          </a:prstGeom>
          <a:noFill/>
          <a:ln/>
        </p:spPr>
        <p:txBody>
          <a:bodyPr wrap="square" lIns="0" tIns="0" rIns="0" bIns="0" rtlCol="0" anchor="ctr"/>
          <a:lstStyle/>
          <a:p>
            <a:pPr indent="0" marL="0">
              <a:buNone/>
            </a:pPr>
            <a:r>
              <a:rPr lang="en-US" sz="950" b="1" spc="120" kern="0" dirty="0">
                <a:solidFill>
                  <a:srgbClr val="A8A49B"/>
                </a:solidFill>
              </a:rPr>
              <a:t>AIM</a:t>
            </a:r>
            <a:endParaRPr lang="en-US" sz="950" dirty="0"/>
          </a:p>
        </p:txBody>
      </p:sp>
      <p:sp>
        <p:nvSpPr>
          <p:cNvPr id="4" name="Text 2"/>
          <p:cNvSpPr txBox="1"/>
          <p:nvPr/>
        </p:nvSpPr>
        <p:spPr>
          <a:xfrm>
            <a:off x="731520" y="1737360"/>
            <a:ext cx="4846320" cy="1371600"/>
          </a:xfrm>
          <a:prstGeom prst="rect">
            <a:avLst/>
          </a:prstGeom>
          <a:noFill/>
          <a:ln/>
        </p:spPr>
        <p:txBody>
          <a:bodyPr wrap="square" lIns="0" tIns="0" rIns="0" bIns="0" rtlCol="0" anchor="t"/>
          <a:lstStyle/>
          <a:p>
            <a:pPr indent="0" marL="0">
              <a:lnSpc>
                <a:spcPts val="1900"/>
              </a:lnSpc>
              <a:buNone/>
            </a:pPr>
            <a:r>
              <a:rPr lang="en-US" sz="1300" dirty="0">
                <a:solidFill>
                  <a:srgbClr val="1A1A18"/>
                </a:solidFill>
              </a:rPr>
              <a:t>To document a reproducible production protocol for a fully bio-based eggshell composite, and to characterise its mechanical, thermal and hygric response against conventional and bio-based interior materials.</a:t>
            </a:r>
            <a:endParaRPr lang="en-US" sz="1300" dirty="0"/>
          </a:p>
        </p:txBody>
      </p:sp>
      <p:sp>
        <p:nvSpPr>
          <p:cNvPr id="5" name="Text 3"/>
          <p:cNvSpPr txBox="1"/>
          <p:nvPr/>
        </p:nvSpPr>
        <p:spPr>
          <a:xfrm>
            <a:off x="731520" y="3429000"/>
            <a:ext cx="4846320" cy="237744"/>
          </a:xfrm>
          <a:prstGeom prst="rect">
            <a:avLst/>
          </a:prstGeom>
          <a:noFill/>
          <a:ln/>
        </p:spPr>
        <p:txBody>
          <a:bodyPr wrap="square" lIns="0" tIns="0" rIns="0" bIns="0" rtlCol="0" anchor="ctr"/>
          <a:lstStyle/>
          <a:p>
            <a:pPr indent="0" marL="0">
              <a:buNone/>
            </a:pPr>
            <a:r>
              <a:rPr lang="en-US" sz="950" b="1" spc="120" kern="0" dirty="0">
                <a:solidFill>
                  <a:srgbClr val="A8A49B"/>
                </a:solidFill>
              </a:rPr>
              <a:t>SCOPE</a:t>
            </a:r>
            <a:endParaRPr lang="en-US" sz="950" dirty="0"/>
          </a:p>
        </p:txBody>
      </p:sp>
      <p:sp>
        <p:nvSpPr>
          <p:cNvPr id="6" name="Text 4"/>
          <p:cNvSpPr txBox="1"/>
          <p:nvPr/>
        </p:nvSpPr>
        <p:spPr>
          <a:xfrm>
            <a:off x="731520" y="3749040"/>
            <a:ext cx="4846320" cy="173736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1A1A18"/>
                </a:solidFill>
              </a:rPr>
              <a:t>Five formulations, two mechanical programmes</a:t>
            </a:r>
            <a:endParaRPr lang="en-US" sz="1200" dirty="0"/>
          </a:p>
          <a:p>
            <a:pPr marL="342900" indent="-342900">
              <a:lnSpc>
                <a:spcPts val="1700"/>
              </a:lnSpc>
              <a:spcAft>
                <a:spcPts val="700"/>
              </a:spcAft>
              <a:buSzPct val="100000"/>
              <a:buChar char="•"/>
            </a:pPr>
            <a:r>
              <a:rPr lang="en-US" sz="1200" dirty="0">
                <a:solidFill>
                  <a:srgbClr val="1A1A18"/>
                </a:solidFill>
              </a:rPr>
              <a:t>Three specimens per formulation</a:t>
            </a:r>
            <a:endParaRPr lang="en-US" sz="1200" dirty="0"/>
          </a:p>
          <a:p>
            <a:pPr marL="342900" indent="-342900">
              <a:lnSpc>
                <a:spcPts val="1700"/>
              </a:lnSpc>
              <a:spcAft>
                <a:spcPts val="700"/>
              </a:spcAft>
              <a:buSzPct val="100000"/>
              <a:buChar char="•"/>
            </a:pPr>
            <a:r>
              <a:rPr lang="en-US" sz="1200" dirty="0">
                <a:solidFill>
                  <a:srgbClr val="1A1A18"/>
                </a:solidFill>
              </a:rPr>
              <a:t>ASTM D790-17, ISO 11925-2, ASTM D570</a:t>
            </a:r>
            <a:endParaRPr lang="en-US" sz="1200" dirty="0"/>
          </a:p>
          <a:p>
            <a:pPr marL="342900" indent="-342900">
              <a:lnSpc>
                <a:spcPts val="1700"/>
              </a:lnSpc>
              <a:spcAft>
                <a:spcPts val="700"/>
              </a:spcAft>
              <a:buSzPct val="100000"/>
              <a:buChar char="•"/>
            </a:pPr>
            <a:r>
              <a:rPr lang="en-US" sz="1200" dirty="0">
                <a:solidFill>
                  <a:srgbClr val="1A1A18"/>
                </a:solidFill>
              </a:rPr>
              <a:t>Single laboratory, ambient curing, no ageing</a:t>
            </a:r>
            <a:endParaRPr lang="en-US" sz="1200" dirty="0"/>
          </a:p>
        </p:txBody>
      </p:sp>
      <p:sp>
        <p:nvSpPr>
          <p:cNvPr id="7" name="Text 5"/>
          <p:cNvSpPr txBox="1"/>
          <p:nvPr/>
        </p:nvSpPr>
        <p:spPr>
          <a:xfrm>
            <a:off x="6400800" y="1417320"/>
            <a:ext cx="5029200" cy="237744"/>
          </a:xfrm>
          <a:prstGeom prst="rect">
            <a:avLst/>
          </a:prstGeom>
          <a:noFill/>
          <a:ln/>
        </p:spPr>
        <p:txBody>
          <a:bodyPr wrap="square" lIns="0" tIns="0" rIns="0" bIns="0" rtlCol="0" anchor="ctr"/>
          <a:lstStyle/>
          <a:p>
            <a:pPr indent="0" marL="0">
              <a:buNone/>
            </a:pPr>
            <a:r>
              <a:rPr lang="en-US" sz="950" b="1" spc="120" kern="0" dirty="0">
                <a:solidFill>
                  <a:srgbClr val="A8A49B"/>
                </a:solidFill>
              </a:rPr>
              <a:t>RESEARCH QUESTIONS</a:t>
            </a:r>
            <a:endParaRPr lang="en-US" sz="950" dirty="0"/>
          </a:p>
        </p:txBody>
      </p:sp>
      <p:sp>
        <p:nvSpPr>
          <p:cNvPr id="8" name="Text 6"/>
          <p:cNvSpPr txBox="1"/>
          <p:nvPr/>
        </p:nvSpPr>
        <p:spPr>
          <a:xfrm>
            <a:off x="6400800" y="1783080"/>
            <a:ext cx="502920" cy="274320"/>
          </a:xfrm>
          <a:prstGeom prst="rect">
            <a:avLst/>
          </a:prstGeom>
          <a:noFill/>
          <a:ln/>
        </p:spPr>
        <p:txBody>
          <a:bodyPr wrap="square" lIns="0" tIns="0" rIns="0" bIns="0" rtlCol="0" anchor="ctr"/>
          <a:lstStyle/>
          <a:p>
            <a:pPr indent="0" marL="0">
              <a:buNone/>
            </a:pPr>
            <a:r>
              <a:rPr lang="en-US" sz="1200" b="1" dirty="0">
                <a:solidFill>
                  <a:srgbClr val="C9622F"/>
                </a:solidFill>
                <a:latin typeface="Cambria" pitchFamily="34" charset="0"/>
                <a:ea typeface="Cambria" pitchFamily="34" charset="-122"/>
                <a:cs typeface="Cambria" pitchFamily="34" charset="-120"/>
              </a:rPr>
              <a:t>Q1</a:t>
            </a:r>
            <a:endParaRPr lang="en-US" sz="1200" dirty="0"/>
          </a:p>
        </p:txBody>
      </p:sp>
      <p:sp>
        <p:nvSpPr>
          <p:cNvPr id="9" name="Text 7"/>
          <p:cNvSpPr txBox="1"/>
          <p:nvPr/>
        </p:nvSpPr>
        <p:spPr>
          <a:xfrm>
            <a:off x="6949440" y="1783080"/>
            <a:ext cx="4480560" cy="640080"/>
          </a:xfrm>
          <a:prstGeom prst="rect">
            <a:avLst/>
          </a:prstGeom>
          <a:noFill/>
          <a:ln/>
        </p:spPr>
        <p:txBody>
          <a:bodyPr wrap="square" lIns="0" tIns="0" rIns="0" bIns="0" rtlCol="0" anchor="ctr"/>
          <a:lstStyle/>
          <a:p>
            <a:pPr indent="0" marL="0">
              <a:lnSpc>
                <a:spcPts val="1700"/>
              </a:lnSpc>
              <a:buNone/>
            </a:pPr>
            <a:r>
              <a:rPr lang="en-US" sz="1250" dirty="0">
                <a:solidFill>
                  <a:srgbClr val="1A1A18"/>
                </a:solidFill>
              </a:rPr>
              <a:t>Which formulation variable governs compressive strength?</a:t>
            </a:r>
            <a:endParaRPr lang="en-US" sz="1250" dirty="0"/>
          </a:p>
        </p:txBody>
      </p:sp>
      <p:sp>
        <p:nvSpPr>
          <p:cNvPr id="10" name="Text 8"/>
          <p:cNvSpPr txBox="1"/>
          <p:nvPr/>
        </p:nvSpPr>
        <p:spPr>
          <a:xfrm>
            <a:off x="6400800" y="2569464"/>
            <a:ext cx="502920" cy="274320"/>
          </a:xfrm>
          <a:prstGeom prst="rect">
            <a:avLst/>
          </a:prstGeom>
          <a:noFill/>
          <a:ln/>
        </p:spPr>
        <p:txBody>
          <a:bodyPr wrap="square" lIns="0" tIns="0" rIns="0" bIns="0" rtlCol="0" anchor="ctr"/>
          <a:lstStyle/>
          <a:p>
            <a:pPr indent="0" marL="0">
              <a:buNone/>
            </a:pPr>
            <a:r>
              <a:rPr lang="en-US" sz="1200" b="1" dirty="0">
                <a:solidFill>
                  <a:srgbClr val="C9622F"/>
                </a:solidFill>
                <a:latin typeface="Cambria" pitchFamily="34" charset="0"/>
                <a:ea typeface="Cambria" pitchFamily="34" charset="-122"/>
                <a:cs typeface="Cambria" pitchFamily="34" charset="-120"/>
              </a:rPr>
              <a:t>Q2</a:t>
            </a:r>
            <a:endParaRPr lang="en-US" sz="1200" dirty="0"/>
          </a:p>
        </p:txBody>
      </p:sp>
      <p:sp>
        <p:nvSpPr>
          <p:cNvPr id="11" name="Text 9"/>
          <p:cNvSpPr txBox="1"/>
          <p:nvPr/>
        </p:nvSpPr>
        <p:spPr>
          <a:xfrm>
            <a:off x="6949440" y="2569464"/>
            <a:ext cx="4480560" cy="640080"/>
          </a:xfrm>
          <a:prstGeom prst="rect">
            <a:avLst/>
          </a:prstGeom>
          <a:noFill/>
          <a:ln/>
        </p:spPr>
        <p:txBody>
          <a:bodyPr wrap="square" lIns="0" tIns="0" rIns="0" bIns="0" rtlCol="0" anchor="ctr"/>
          <a:lstStyle/>
          <a:p>
            <a:pPr indent="0" marL="0">
              <a:lnSpc>
                <a:spcPts val="1700"/>
              </a:lnSpc>
              <a:buNone/>
            </a:pPr>
            <a:r>
              <a:rPr lang="en-US" sz="1250" dirty="0">
                <a:solidFill>
                  <a:srgbClr val="1A1A18"/>
                </a:solidFill>
              </a:rPr>
              <a:t>What is the effect of plasticiser content on flexural behaviour?</a:t>
            </a:r>
            <a:endParaRPr lang="en-US" sz="1250" dirty="0"/>
          </a:p>
        </p:txBody>
      </p:sp>
      <p:sp>
        <p:nvSpPr>
          <p:cNvPr id="12" name="Text 10"/>
          <p:cNvSpPr txBox="1"/>
          <p:nvPr/>
        </p:nvSpPr>
        <p:spPr>
          <a:xfrm>
            <a:off x="6400800" y="3355848"/>
            <a:ext cx="502920" cy="274320"/>
          </a:xfrm>
          <a:prstGeom prst="rect">
            <a:avLst/>
          </a:prstGeom>
          <a:noFill/>
          <a:ln/>
        </p:spPr>
        <p:txBody>
          <a:bodyPr wrap="square" lIns="0" tIns="0" rIns="0" bIns="0" rtlCol="0" anchor="ctr"/>
          <a:lstStyle/>
          <a:p>
            <a:pPr indent="0" marL="0">
              <a:buNone/>
            </a:pPr>
            <a:r>
              <a:rPr lang="en-US" sz="1200" b="1" dirty="0">
                <a:solidFill>
                  <a:srgbClr val="C9622F"/>
                </a:solidFill>
                <a:latin typeface="Cambria" pitchFamily="34" charset="0"/>
                <a:ea typeface="Cambria" pitchFamily="34" charset="-122"/>
                <a:cs typeface="Cambria" pitchFamily="34" charset="-120"/>
              </a:rPr>
              <a:t>Q3</a:t>
            </a:r>
            <a:endParaRPr lang="en-US" sz="1200" dirty="0"/>
          </a:p>
        </p:txBody>
      </p:sp>
      <p:sp>
        <p:nvSpPr>
          <p:cNvPr id="13" name="Text 11"/>
          <p:cNvSpPr txBox="1"/>
          <p:nvPr/>
        </p:nvSpPr>
        <p:spPr>
          <a:xfrm>
            <a:off x="6949440" y="3355848"/>
            <a:ext cx="4480560" cy="640080"/>
          </a:xfrm>
          <a:prstGeom prst="rect">
            <a:avLst/>
          </a:prstGeom>
          <a:noFill/>
          <a:ln/>
        </p:spPr>
        <p:txBody>
          <a:bodyPr wrap="square" lIns="0" tIns="0" rIns="0" bIns="0" rtlCol="0" anchor="ctr"/>
          <a:lstStyle/>
          <a:p>
            <a:pPr indent="0" marL="0">
              <a:lnSpc>
                <a:spcPts val="1700"/>
              </a:lnSpc>
              <a:buNone/>
            </a:pPr>
            <a:r>
              <a:rPr lang="en-US" sz="1250" dirty="0">
                <a:solidFill>
                  <a:srgbClr val="1A1A18"/>
                </a:solidFill>
              </a:rPr>
              <a:t>How does it compare with conventional interior materials?</a:t>
            </a:r>
            <a:endParaRPr lang="en-US" sz="1250" dirty="0"/>
          </a:p>
        </p:txBody>
      </p:sp>
      <p:sp>
        <p:nvSpPr>
          <p:cNvPr id="14" name="Text 12"/>
          <p:cNvSpPr txBox="1"/>
          <p:nvPr/>
        </p:nvSpPr>
        <p:spPr>
          <a:xfrm>
            <a:off x="6400800" y="4142232"/>
            <a:ext cx="502920" cy="274320"/>
          </a:xfrm>
          <a:prstGeom prst="rect">
            <a:avLst/>
          </a:prstGeom>
          <a:noFill/>
          <a:ln/>
        </p:spPr>
        <p:txBody>
          <a:bodyPr wrap="square" lIns="0" tIns="0" rIns="0" bIns="0" rtlCol="0" anchor="ctr"/>
          <a:lstStyle/>
          <a:p>
            <a:pPr indent="0" marL="0">
              <a:buNone/>
            </a:pPr>
            <a:r>
              <a:rPr lang="en-US" sz="1200" b="1" dirty="0">
                <a:solidFill>
                  <a:srgbClr val="C9622F"/>
                </a:solidFill>
                <a:latin typeface="Cambria" pitchFamily="34" charset="0"/>
                <a:ea typeface="Cambria" pitchFamily="34" charset="-122"/>
                <a:cs typeface="Cambria" pitchFamily="34" charset="-120"/>
              </a:rPr>
              <a:t>Q4</a:t>
            </a:r>
            <a:endParaRPr lang="en-US" sz="1200" dirty="0"/>
          </a:p>
        </p:txBody>
      </p:sp>
      <p:sp>
        <p:nvSpPr>
          <p:cNvPr id="15" name="Text 13"/>
          <p:cNvSpPr txBox="1"/>
          <p:nvPr/>
        </p:nvSpPr>
        <p:spPr>
          <a:xfrm>
            <a:off x="6949440" y="4142232"/>
            <a:ext cx="4480560" cy="640080"/>
          </a:xfrm>
          <a:prstGeom prst="rect">
            <a:avLst/>
          </a:prstGeom>
          <a:noFill/>
          <a:ln/>
        </p:spPr>
        <p:txBody>
          <a:bodyPr wrap="square" lIns="0" tIns="0" rIns="0" bIns="0" rtlCol="0" anchor="ctr"/>
          <a:lstStyle/>
          <a:p>
            <a:pPr indent="0" marL="0">
              <a:lnSpc>
                <a:spcPts val="1700"/>
              </a:lnSpc>
              <a:buNone/>
            </a:pPr>
            <a:r>
              <a:rPr lang="en-US" sz="1250" dirty="0">
                <a:solidFill>
                  <a:srgbClr val="1A1A18"/>
                </a:solidFill>
              </a:rPr>
              <a:t>How does it compare with other bio-based composites?</a:t>
            </a:r>
            <a:endParaRPr lang="en-US" sz="1250" dirty="0"/>
          </a:p>
        </p:txBody>
      </p:sp>
      <p:sp>
        <p:nvSpPr>
          <p:cNvPr id="16" name="Text 14"/>
          <p:cNvSpPr txBox="1"/>
          <p:nvPr/>
        </p:nvSpPr>
        <p:spPr>
          <a:xfrm>
            <a:off x="6400800" y="4928616"/>
            <a:ext cx="502920" cy="274320"/>
          </a:xfrm>
          <a:prstGeom prst="rect">
            <a:avLst/>
          </a:prstGeom>
          <a:noFill/>
          <a:ln/>
        </p:spPr>
        <p:txBody>
          <a:bodyPr wrap="square" lIns="0" tIns="0" rIns="0" bIns="0" rtlCol="0" anchor="ctr"/>
          <a:lstStyle/>
          <a:p>
            <a:pPr indent="0" marL="0">
              <a:buNone/>
            </a:pPr>
            <a:r>
              <a:rPr lang="en-US" sz="1200" b="1" dirty="0">
                <a:solidFill>
                  <a:srgbClr val="C9622F"/>
                </a:solidFill>
                <a:latin typeface="Cambria" pitchFamily="34" charset="0"/>
                <a:ea typeface="Cambria" pitchFamily="34" charset="-122"/>
                <a:cs typeface="Cambria" pitchFamily="34" charset="-120"/>
              </a:rPr>
              <a:t>Q5</a:t>
            </a:r>
            <a:endParaRPr lang="en-US" sz="1200" dirty="0"/>
          </a:p>
        </p:txBody>
      </p:sp>
      <p:sp>
        <p:nvSpPr>
          <p:cNvPr id="17" name="Text 15"/>
          <p:cNvSpPr txBox="1"/>
          <p:nvPr/>
        </p:nvSpPr>
        <p:spPr>
          <a:xfrm>
            <a:off x="6949440" y="4928616"/>
            <a:ext cx="4480560" cy="640080"/>
          </a:xfrm>
          <a:prstGeom prst="rect">
            <a:avLst/>
          </a:prstGeom>
          <a:noFill/>
          <a:ln/>
        </p:spPr>
        <p:txBody>
          <a:bodyPr wrap="square" lIns="0" tIns="0" rIns="0" bIns="0" rtlCol="0" anchor="ctr"/>
          <a:lstStyle/>
          <a:p>
            <a:pPr indent="0" marL="0">
              <a:lnSpc>
                <a:spcPts val="1700"/>
              </a:lnSpc>
              <a:buNone/>
            </a:pPr>
            <a:r>
              <a:rPr lang="en-US" sz="1250" dirty="0">
                <a:solidFill>
                  <a:srgbClr val="1A1A18"/>
                </a:solidFill>
              </a:rPr>
              <a:t>Is compressive strength the appropriate criterion at all?</a:t>
            </a:r>
            <a:endParaRPr lang="en-US" sz="1250" dirty="0"/>
          </a:p>
        </p:txBody>
      </p:sp>
      <p:sp>
        <p:nvSpPr>
          <p:cNvPr id="19"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Constituents and their function</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31520" y="1417320"/>
          <a:ext cx="10698480" cy="914400"/>
        </p:xfrm>
        <a:graphic>
          <a:graphicData uri="http://schemas.openxmlformats.org/drawingml/2006/table">
            <a:tbl>
              <a:tblPr/>
              <a:tblGrid>
                <a:gridCol w="1920240"/>
                <a:gridCol w="1554480"/>
                <a:gridCol w="3291840"/>
                <a:gridCol w="3931920"/>
              </a:tblGrid>
              <a:tr h="438912">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Constituent</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Origin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Function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Relevant property</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r>
              <a:tr h="438912">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Eggshell powder</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Food waste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Mineral filler; carries load</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94% CaCO₃; porous structure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438912">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Agar</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Red seaweed</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Continuous binding phase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Thermoreversible gel</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438912">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Glycerol</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Vegetable oil</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Plasticiser; sets ductility</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Humectant; low vapour pressure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438912">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Water</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Carrier; sets solids packing</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Fully evaporated on drying</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438912">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Shellac</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Kerria lacca</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Hydrophobic surface finish</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Biodegradable film-former</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731520" y="4114800"/>
            <a:ext cx="10698480" cy="411480"/>
          </a:xfrm>
          <a:prstGeom prst="rect">
            <a:avLst/>
          </a:prstGeom>
          <a:noFill/>
          <a:ln/>
        </p:spPr>
        <p:txBody>
          <a:bodyPr wrap="square" lIns="0" tIns="0" rIns="0" bIns="0" rtlCol="0" anchor="ctr"/>
          <a:lstStyle/>
          <a:p>
            <a:pPr indent="0" marL="0">
              <a:buNone/>
            </a:pPr>
            <a:r>
              <a:rPr lang="en-US" sz="1400" b="1" dirty="0">
                <a:solidFill>
                  <a:srgbClr val="C9622F"/>
                </a:solidFill>
              </a:rPr>
              <a:t>Water is not a component of the finished material. It is the process variable that determines how densely the solids pack.</a:t>
            </a:r>
            <a:endParaRPr lang="en-US" sz="1400" dirty="0"/>
          </a:p>
        </p:txBody>
      </p:sp>
      <p:sp>
        <p:nvSpPr>
          <p:cNvPr id="5" name="Text 2"/>
          <p:cNvSpPr txBox="1"/>
          <p:nvPr/>
        </p:nvSpPr>
        <p:spPr>
          <a:xfrm>
            <a:off x="731520" y="4709160"/>
            <a:ext cx="1069848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Gelatine, starch and vinegar were trialled during development and are not part of the reported formulations.</a:t>
            </a:r>
            <a:endParaRPr lang="en-US" sz="1000" dirty="0"/>
          </a:p>
        </p:txBody>
      </p:sp>
      <p:sp>
        <p:nvSpPr>
          <p:cNvPr id="7"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Protocol I — mineral fraction</a:t>
            </a:r>
            <a:endParaRPr lang="en-US" sz="2600" dirty="0"/>
          </a:p>
        </p:txBody>
      </p:sp>
      <p:sp>
        <p:nvSpPr>
          <p:cNvPr id="3" name="Text 1"/>
          <p:cNvSpPr txBox="1"/>
          <p:nvPr/>
        </p:nvSpPr>
        <p:spPr>
          <a:xfrm>
            <a:off x="731520" y="1463040"/>
            <a:ext cx="457200" cy="274320"/>
          </a:xfrm>
          <a:prstGeom prst="rect">
            <a:avLst/>
          </a:prstGeom>
          <a:noFill/>
          <a:ln/>
        </p:spPr>
        <p:txBody>
          <a:bodyPr wrap="square" lIns="0" tIns="0" rIns="0" bIns="0" rtlCol="0" anchor="ctr"/>
          <a:lstStyle/>
          <a:p>
            <a:pPr indent="0" marL="0">
              <a:buNone/>
            </a:pPr>
            <a:r>
              <a:rPr lang="en-US" sz="1100" b="1" dirty="0">
                <a:solidFill>
                  <a:srgbClr val="C9622F"/>
                </a:solidFill>
                <a:latin typeface="Cambria" pitchFamily="34" charset="0"/>
                <a:ea typeface="Cambria" pitchFamily="34" charset="-122"/>
                <a:cs typeface="Cambria" pitchFamily="34" charset="-120"/>
              </a:rPr>
              <a:t>01</a:t>
            </a:r>
            <a:endParaRPr lang="en-US" sz="1100" dirty="0"/>
          </a:p>
        </p:txBody>
      </p:sp>
      <p:sp>
        <p:nvSpPr>
          <p:cNvPr id="4" name="Text 2"/>
          <p:cNvSpPr txBox="1"/>
          <p:nvPr/>
        </p:nvSpPr>
        <p:spPr>
          <a:xfrm>
            <a:off x="1261872" y="1463040"/>
            <a:ext cx="6144768" cy="274320"/>
          </a:xfrm>
          <a:prstGeom prst="rect">
            <a:avLst/>
          </a:prstGeom>
          <a:noFill/>
          <a:ln/>
        </p:spPr>
        <p:txBody>
          <a:bodyPr wrap="square" lIns="0" tIns="0" rIns="0" bIns="0" rtlCol="0" anchor="ctr"/>
          <a:lstStyle/>
          <a:p>
            <a:pPr indent="0" marL="0">
              <a:buNone/>
            </a:pPr>
            <a:r>
              <a:rPr lang="en-US" sz="1350" b="1" dirty="0">
                <a:solidFill>
                  <a:srgbClr val="1A1A18"/>
                </a:solidFill>
              </a:rPr>
              <a:t>Collection and cleaning</a:t>
            </a:r>
            <a:endParaRPr lang="en-US" sz="1350" dirty="0"/>
          </a:p>
        </p:txBody>
      </p:sp>
      <p:sp>
        <p:nvSpPr>
          <p:cNvPr id="5" name="Text 3"/>
          <p:cNvSpPr txBox="1"/>
          <p:nvPr/>
        </p:nvSpPr>
        <p:spPr>
          <a:xfrm>
            <a:off x="1261872" y="1737360"/>
            <a:ext cx="6144768" cy="621792"/>
          </a:xfrm>
          <a:prstGeom prst="rect">
            <a:avLst/>
          </a:prstGeom>
          <a:noFill/>
          <a:ln/>
        </p:spPr>
        <p:txBody>
          <a:bodyPr wrap="square" lIns="0" tIns="0" rIns="0" bIns="0" rtlCol="0" anchor="t"/>
          <a:lstStyle/>
          <a:p>
            <a:pPr indent="0" marL="0">
              <a:lnSpc>
                <a:spcPts val="1500"/>
              </a:lnSpc>
              <a:buNone/>
            </a:pPr>
            <a:r>
              <a:rPr lang="en-US" sz="1100" dirty="0">
                <a:solidFill>
                  <a:srgbClr val="77736B"/>
                </a:solidFill>
              </a:rPr>
              <a:t>Single local bakery, over one year. Membrane and organic residue removed.</a:t>
            </a:r>
            <a:endParaRPr lang="en-US" sz="1100" dirty="0"/>
          </a:p>
        </p:txBody>
      </p:sp>
      <p:sp>
        <p:nvSpPr>
          <p:cNvPr id="6" name="Text 4"/>
          <p:cNvSpPr txBox="1"/>
          <p:nvPr/>
        </p:nvSpPr>
        <p:spPr>
          <a:xfrm>
            <a:off x="731520" y="2395728"/>
            <a:ext cx="457200" cy="274320"/>
          </a:xfrm>
          <a:prstGeom prst="rect">
            <a:avLst/>
          </a:prstGeom>
          <a:noFill/>
          <a:ln/>
        </p:spPr>
        <p:txBody>
          <a:bodyPr wrap="square" lIns="0" tIns="0" rIns="0" bIns="0" rtlCol="0" anchor="ctr"/>
          <a:lstStyle/>
          <a:p>
            <a:pPr indent="0" marL="0">
              <a:buNone/>
            </a:pPr>
            <a:r>
              <a:rPr lang="en-US" sz="1100" b="1" dirty="0">
                <a:solidFill>
                  <a:srgbClr val="C9622F"/>
                </a:solidFill>
                <a:latin typeface="Cambria" pitchFamily="34" charset="0"/>
                <a:ea typeface="Cambria" pitchFamily="34" charset="-122"/>
                <a:cs typeface="Cambria" pitchFamily="34" charset="-120"/>
              </a:rPr>
              <a:t>02</a:t>
            </a:r>
            <a:endParaRPr lang="en-US" sz="1100" dirty="0"/>
          </a:p>
        </p:txBody>
      </p:sp>
      <p:sp>
        <p:nvSpPr>
          <p:cNvPr id="7" name="Text 5"/>
          <p:cNvSpPr txBox="1"/>
          <p:nvPr/>
        </p:nvSpPr>
        <p:spPr>
          <a:xfrm>
            <a:off x="1261872" y="2395728"/>
            <a:ext cx="6144768" cy="274320"/>
          </a:xfrm>
          <a:prstGeom prst="rect">
            <a:avLst/>
          </a:prstGeom>
          <a:noFill/>
          <a:ln/>
        </p:spPr>
        <p:txBody>
          <a:bodyPr wrap="square" lIns="0" tIns="0" rIns="0" bIns="0" rtlCol="0" anchor="ctr"/>
          <a:lstStyle/>
          <a:p>
            <a:pPr indent="0" marL="0">
              <a:buNone/>
            </a:pPr>
            <a:r>
              <a:rPr lang="en-US" sz="1350" b="1" dirty="0">
                <a:solidFill>
                  <a:srgbClr val="1A1A18"/>
                </a:solidFill>
              </a:rPr>
              <a:t>Thermal treatment</a:t>
            </a:r>
            <a:endParaRPr lang="en-US" sz="1350" dirty="0"/>
          </a:p>
        </p:txBody>
      </p:sp>
      <p:sp>
        <p:nvSpPr>
          <p:cNvPr id="8" name="Text 6"/>
          <p:cNvSpPr txBox="1"/>
          <p:nvPr/>
        </p:nvSpPr>
        <p:spPr>
          <a:xfrm>
            <a:off x="1261872" y="2670048"/>
            <a:ext cx="6144768" cy="621792"/>
          </a:xfrm>
          <a:prstGeom prst="rect">
            <a:avLst/>
          </a:prstGeom>
          <a:noFill/>
          <a:ln/>
        </p:spPr>
        <p:txBody>
          <a:bodyPr wrap="square" lIns="0" tIns="0" rIns="0" bIns="0" rtlCol="0" anchor="t"/>
          <a:lstStyle/>
          <a:p>
            <a:pPr indent="0" marL="0">
              <a:lnSpc>
                <a:spcPts val="1500"/>
              </a:lnSpc>
              <a:buNone/>
            </a:pPr>
            <a:r>
              <a:rPr lang="en-US" sz="1100" dirty="0">
                <a:solidFill>
                  <a:srgbClr val="77736B"/>
                </a:solidFill>
              </a:rPr>
              <a:t>120 °C for 20 min. Decontamination and drying, not sterilisation: sterility was not verified.</a:t>
            </a:r>
            <a:endParaRPr lang="en-US" sz="1100" dirty="0"/>
          </a:p>
        </p:txBody>
      </p:sp>
      <p:sp>
        <p:nvSpPr>
          <p:cNvPr id="9" name="Text 7"/>
          <p:cNvSpPr txBox="1"/>
          <p:nvPr/>
        </p:nvSpPr>
        <p:spPr>
          <a:xfrm>
            <a:off x="731520" y="3328416"/>
            <a:ext cx="457200" cy="274320"/>
          </a:xfrm>
          <a:prstGeom prst="rect">
            <a:avLst/>
          </a:prstGeom>
          <a:noFill/>
          <a:ln/>
        </p:spPr>
        <p:txBody>
          <a:bodyPr wrap="square" lIns="0" tIns="0" rIns="0" bIns="0" rtlCol="0" anchor="ctr"/>
          <a:lstStyle/>
          <a:p>
            <a:pPr indent="0" marL="0">
              <a:buNone/>
            </a:pPr>
            <a:r>
              <a:rPr lang="en-US" sz="1100" b="1" dirty="0">
                <a:solidFill>
                  <a:srgbClr val="C9622F"/>
                </a:solidFill>
                <a:latin typeface="Cambria" pitchFamily="34" charset="0"/>
                <a:ea typeface="Cambria" pitchFamily="34" charset="-122"/>
                <a:cs typeface="Cambria" pitchFamily="34" charset="-120"/>
              </a:rPr>
              <a:t>03</a:t>
            </a:r>
            <a:endParaRPr lang="en-US" sz="1100" dirty="0"/>
          </a:p>
        </p:txBody>
      </p:sp>
      <p:sp>
        <p:nvSpPr>
          <p:cNvPr id="10" name="Text 8"/>
          <p:cNvSpPr txBox="1"/>
          <p:nvPr/>
        </p:nvSpPr>
        <p:spPr>
          <a:xfrm>
            <a:off x="1261872" y="3328416"/>
            <a:ext cx="6144768" cy="274320"/>
          </a:xfrm>
          <a:prstGeom prst="rect">
            <a:avLst/>
          </a:prstGeom>
          <a:noFill/>
          <a:ln/>
        </p:spPr>
        <p:txBody>
          <a:bodyPr wrap="square" lIns="0" tIns="0" rIns="0" bIns="0" rtlCol="0" anchor="ctr"/>
          <a:lstStyle/>
          <a:p>
            <a:pPr indent="0" marL="0">
              <a:buNone/>
            </a:pPr>
            <a:r>
              <a:rPr lang="en-US" sz="1350" b="1" dirty="0">
                <a:solidFill>
                  <a:srgbClr val="1A1A18"/>
                </a:solidFill>
              </a:rPr>
              <a:t>Cooling and drying</a:t>
            </a:r>
            <a:endParaRPr lang="en-US" sz="1350" dirty="0"/>
          </a:p>
        </p:txBody>
      </p:sp>
      <p:sp>
        <p:nvSpPr>
          <p:cNvPr id="11" name="Text 9"/>
          <p:cNvSpPr txBox="1"/>
          <p:nvPr/>
        </p:nvSpPr>
        <p:spPr>
          <a:xfrm>
            <a:off x="1261872" y="3602736"/>
            <a:ext cx="6144768" cy="621792"/>
          </a:xfrm>
          <a:prstGeom prst="rect">
            <a:avLst/>
          </a:prstGeom>
          <a:noFill/>
          <a:ln/>
        </p:spPr>
        <p:txBody>
          <a:bodyPr wrap="square" lIns="0" tIns="0" rIns="0" bIns="0" rtlCol="0" anchor="t"/>
          <a:lstStyle/>
          <a:p>
            <a:pPr indent="0" marL="0">
              <a:lnSpc>
                <a:spcPts val="1500"/>
              </a:lnSpc>
              <a:buNone/>
            </a:pPr>
            <a:r>
              <a:rPr lang="en-US" sz="1100" dirty="0">
                <a:solidFill>
                  <a:srgbClr val="77736B"/>
                </a:solidFill>
              </a:rPr>
              <a:t>To ambient, then dried until no further mass loss.</a:t>
            </a:r>
            <a:endParaRPr lang="en-US" sz="1100" dirty="0"/>
          </a:p>
        </p:txBody>
      </p:sp>
      <p:sp>
        <p:nvSpPr>
          <p:cNvPr id="12" name="Text 10"/>
          <p:cNvSpPr txBox="1"/>
          <p:nvPr/>
        </p:nvSpPr>
        <p:spPr>
          <a:xfrm>
            <a:off x="731520" y="4261104"/>
            <a:ext cx="457200" cy="274320"/>
          </a:xfrm>
          <a:prstGeom prst="rect">
            <a:avLst/>
          </a:prstGeom>
          <a:noFill/>
          <a:ln/>
        </p:spPr>
        <p:txBody>
          <a:bodyPr wrap="square" lIns="0" tIns="0" rIns="0" bIns="0" rtlCol="0" anchor="ctr"/>
          <a:lstStyle/>
          <a:p>
            <a:pPr indent="0" marL="0">
              <a:buNone/>
            </a:pPr>
            <a:r>
              <a:rPr lang="en-US" sz="1100" b="1" dirty="0">
                <a:solidFill>
                  <a:srgbClr val="C9622F"/>
                </a:solidFill>
                <a:latin typeface="Cambria" pitchFamily="34" charset="0"/>
                <a:ea typeface="Cambria" pitchFamily="34" charset="-122"/>
                <a:cs typeface="Cambria" pitchFamily="34" charset="-120"/>
              </a:rPr>
              <a:t>04</a:t>
            </a:r>
            <a:endParaRPr lang="en-US" sz="1100" dirty="0"/>
          </a:p>
        </p:txBody>
      </p:sp>
      <p:sp>
        <p:nvSpPr>
          <p:cNvPr id="13" name="Text 11"/>
          <p:cNvSpPr txBox="1"/>
          <p:nvPr/>
        </p:nvSpPr>
        <p:spPr>
          <a:xfrm>
            <a:off x="1261872" y="4261104"/>
            <a:ext cx="6144768" cy="274320"/>
          </a:xfrm>
          <a:prstGeom prst="rect">
            <a:avLst/>
          </a:prstGeom>
          <a:noFill/>
          <a:ln/>
        </p:spPr>
        <p:txBody>
          <a:bodyPr wrap="square" lIns="0" tIns="0" rIns="0" bIns="0" rtlCol="0" anchor="ctr"/>
          <a:lstStyle/>
          <a:p>
            <a:pPr indent="0" marL="0">
              <a:buNone/>
            </a:pPr>
            <a:r>
              <a:rPr lang="en-US" sz="1350" b="1" dirty="0">
                <a:solidFill>
                  <a:srgbClr val="1A1A18"/>
                </a:solidFill>
              </a:rPr>
              <a:t>Milling</a:t>
            </a:r>
            <a:endParaRPr lang="en-US" sz="1350" dirty="0"/>
          </a:p>
        </p:txBody>
      </p:sp>
      <p:sp>
        <p:nvSpPr>
          <p:cNvPr id="14" name="Text 12"/>
          <p:cNvSpPr txBox="1"/>
          <p:nvPr/>
        </p:nvSpPr>
        <p:spPr>
          <a:xfrm>
            <a:off x="1261872" y="4535424"/>
            <a:ext cx="6144768" cy="621792"/>
          </a:xfrm>
          <a:prstGeom prst="rect">
            <a:avLst/>
          </a:prstGeom>
          <a:noFill/>
          <a:ln/>
        </p:spPr>
        <p:txBody>
          <a:bodyPr wrap="square" lIns="0" tIns="0" rIns="0" bIns="0" rtlCol="0" anchor="t"/>
          <a:lstStyle/>
          <a:p>
            <a:pPr indent="0" marL="0">
              <a:lnSpc>
                <a:spcPts val="1500"/>
              </a:lnSpc>
              <a:buNone/>
            </a:pPr>
            <a:r>
              <a:rPr lang="en-US" sz="1100" dirty="0">
                <a:solidFill>
                  <a:srgbClr val="77736B"/>
                </a:solidFill>
              </a:rPr>
              <a:t>Laboratory mechanical grinder, to a visually homogeneous powder.</a:t>
            </a:r>
            <a:endParaRPr lang="en-US" sz="1100" dirty="0"/>
          </a:p>
        </p:txBody>
      </p:sp>
      <p:sp>
        <p:nvSpPr>
          <p:cNvPr id="15" name="Text 13"/>
          <p:cNvSpPr txBox="1"/>
          <p:nvPr/>
        </p:nvSpPr>
        <p:spPr>
          <a:xfrm>
            <a:off x="731520" y="5193792"/>
            <a:ext cx="457200" cy="274320"/>
          </a:xfrm>
          <a:prstGeom prst="rect">
            <a:avLst/>
          </a:prstGeom>
          <a:noFill/>
          <a:ln/>
        </p:spPr>
        <p:txBody>
          <a:bodyPr wrap="square" lIns="0" tIns="0" rIns="0" bIns="0" rtlCol="0" anchor="ctr"/>
          <a:lstStyle/>
          <a:p>
            <a:pPr indent="0" marL="0">
              <a:buNone/>
            </a:pPr>
            <a:r>
              <a:rPr lang="en-US" sz="1100" b="1" dirty="0">
                <a:solidFill>
                  <a:srgbClr val="C9622F"/>
                </a:solidFill>
                <a:latin typeface="Cambria" pitchFamily="34" charset="0"/>
                <a:ea typeface="Cambria" pitchFamily="34" charset="-122"/>
                <a:cs typeface="Cambria" pitchFamily="34" charset="-120"/>
              </a:rPr>
              <a:t>05</a:t>
            </a:r>
            <a:endParaRPr lang="en-US" sz="1100" dirty="0"/>
          </a:p>
        </p:txBody>
      </p:sp>
      <p:sp>
        <p:nvSpPr>
          <p:cNvPr id="16" name="Text 14"/>
          <p:cNvSpPr txBox="1"/>
          <p:nvPr/>
        </p:nvSpPr>
        <p:spPr>
          <a:xfrm>
            <a:off x="1261872" y="5193792"/>
            <a:ext cx="6144768" cy="274320"/>
          </a:xfrm>
          <a:prstGeom prst="rect">
            <a:avLst/>
          </a:prstGeom>
          <a:noFill/>
          <a:ln/>
        </p:spPr>
        <p:txBody>
          <a:bodyPr wrap="square" lIns="0" tIns="0" rIns="0" bIns="0" rtlCol="0" anchor="ctr"/>
          <a:lstStyle/>
          <a:p>
            <a:pPr indent="0" marL="0">
              <a:buNone/>
            </a:pPr>
            <a:r>
              <a:rPr lang="en-US" sz="1350" b="1" dirty="0">
                <a:solidFill>
                  <a:srgbClr val="1A1A18"/>
                </a:solidFill>
              </a:rPr>
              <a:t>Sieving</a:t>
            </a:r>
            <a:endParaRPr lang="en-US" sz="1350" dirty="0"/>
          </a:p>
        </p:txBody>
      </p:sp>
      <p:sp>
        <p:nvSpPr>
          <p:cNvPr id="17" name="Text 15"/>
          <p:cNvSpPr txBox="1"/>
          <p:nvPr/>
        </p:nvSpPr>
        <p:spPr>
          <a:xfrm>
            <a:off x="1261872" y="5468112"/>
            <a:ext cx="6144768" cy="621792"/>
          </a:xfrm>
          <a:prstGeom prst="rect">
            <a:avLst/>
          </a:prstGeom>
          <a:noFill/>
          <a:ln/>
        </p:spPr>
        <p:txBody>
          <a:bodyPr wrap="square" lIns="0" tIns="0" rIns="0" bIns="0" rtlCol="0" anchor="t"/>
          <a:lstStyle/>
          <a:p>
            <a:pPr indent="0" marL="0">
              <a:lnSpc>
                <a:spcPts val="1500"/>
              </a:lnSpc>
              <a:buNone/>
            </a:pPr>
            <a:r>
              <a:rPr lang="en-US" sz="1100" dirty="0">
                <a:solidFill>
                  <a:srgbClr val="77736B"/>
                </a:solidFill>
              </a:rPr>
              <a:t>150 µm mesh; passing fraction only, consistent with polymer-composite practice.</a:t>
            </a:r>
            <a:endParaRPr lang="en-US" sz="1100" dirty="0"/>
          </a:p>
        </p:txBody>
      </p:sp>
      <p:pic>
        <p:nvPicPr>
          <p:cNvPr id="18" name="shells" descr="/home/user/sanat-ve-mekan/konferans-bildirisi/03-gorseller/03-uretim-sureci.jpeg">    </p:cNvPr>
          <p:cNvPicPr>
            <a:picLocks noChangeAspect="1"/>
          </p:cNvPicPr>
          <p:nvPr/>
        </p:nvPicPr>
        <p:blipFill>
          <a:blip r:embed="rId1"/>
          <a:stretch>
            <a:fillRect/>
          </a:stretch>
        </p:blipFill>
        <p:spPr>
          <a:xfrm>
            <a:off x="8138160" y="1463040"/>
            <a:ext cx="3291840" cy="1051560"/>
          </a:xfrm>
          <a:prstGeom prst="rect">
            <a:avLst/>
          </a:prstGeom>
        </p:spPr>
      </p:pic>
      <p:sp>
        <p:nvSpPr>
          <p:cNvPr id="19" name="Text 16"/>
          <p:cNvSpPr txBox="1"/>
          <p:nvPr/>
        </p:nvSpPr>
        <p:spPr>
          <a:xfrm>
            <a:off x="8138160" y="2834640"/>
            <a:ext cx="1554480" cy="566928"/>
          </a:xfrm>
          <a:prstGeom prst="rect">
            <a:avLst/>
          </a:prstGeom>
          <a:noFill/>
          <a:ln/>
        </p:spPr>
        <p:txBody>
          <a:bodyPr wrap="square" lIns="0" tIns="0" rIns="0" bIns="0" rtlCol="0" anchor="b"/>
          <a:lstStyle/>
          <a:p>
            <a:pPr indent="0" marL="0">
              <a:buNone/>
            </a:pPr>
            <a:r>
              <a:rPr lang="en-US" sz="3200" b="1" dirty="0">
                <a:solidFill>
                  <a:srgbClr val="C9622F"/>
                </a:solidFill>
                <a:latin typeface="Cambria" pitchFamily="34" charset="0"/>
                <a:ea typeface="Cambria" pitchFamily="34" charset="-122"/>
                <a:cs typeface="Cambria" pitchFamily="34" charset="-120"/>
              </a:rPr>
              <a:t>120 °C</a:t>
            </a:r>
            <a:endParaRPr lang="en-US" sz="3200" dirty="0"/>
          </a:p>
        </p:txBody>
      </p:sp>
      <p:sp>
        <p:nvSpPr>
          <p:cNvPr id="20" name="Text 17"/>
          <p:cNvSpPr txBox="1"/>
          <p:nvPr/>
        </p:nvSpPr>
        <p:spPr>
          <a:xfrm>
            <a:off x="8138160" y="3438144"/>
            <a:ext cx="1554480" cy="457200"/>
          </a:xfrm>
          <a:prstGeom prst="rect">
            <a:avLst/>
          </a:prstGeom>
          <a:noFill/>
          <a:ln/>
        </p:spPr>
        <p:txBody>
          <a:bodyPr wrap="square" lIns="0" tIns="0" rIns="0" bIns="0" rtlCol="0" anchor="t"/>
          <a:lstStyle/>
          <a:p>
            <a:pPr indent="0" marL="0">
              <a:lnSpc>
                <a:spcPts val="1400"/>
              </a:lnSpc>
              <a:buNone/>
            </a:pPr>
            <a:r>
              <a:rPr lang="en-US" sz="1050" dirty="0">
                <a:solidFill>
                  <a:srgbClr val="77736B"/>
                </a:solidFill>
              </a:rPr>
              <a:t>20 min</a:t>
            </a:r>
            <a:endParaRPr lang="en-US" sz="1050" dirty="0"/>
          </a:p>
        </p:txBody>
      </p:sp>
      <p:sp>
        <p:nvSpPr>
          <p:cNvPr id="21" name="Text 18"/>
          <p:cNvSpPr txBox="1"/>
          <p:nvPr/>
        </p:nvSpPr>
        <p:spPr>
          <a:xfrm>
            <a:off x="9875520" y="2834640"/>
            <a:ext cx="1554480" cy="566928"/>
          </a:xfrm>
          <a:prstGeom prst="rect">
            <a:avLst/>
          </a:prstGeom>
          <a:noFill/>
          <a:ln/>
        </p:spPr>
        <p:txBody>
          <a:bodyPr wrap="square" lIns="0" tIns="0" rIns="0" bIns="0" rtlCol="0" anchor="b"/>
          <a:lstStyle/>
          <a:p>
            <a:pPr indent="0" marL="0">
              <a:buNone/>
            </a:pPr>
            <a:r>
              <a:rPr lang="en-US" sz="3200" b="1" dirty="0">
                <a:solidFill>
                  <a:srgbClr val="C9622F"/>
                </a:solidFill>
                <a:latin typeface="Cambria" pitchFamily="34" charset="0"/>
                <a:ea typeface="Cambria" pitchFamily="34" charset="-122"/>
                <a:cs typeface="Cambria" pitchFamily="34" charset="-120"/>
              </a:rPr>
              <a:t>150 µm</a:t>
            </a:r>
            <a:endParaRPr lang="en-US" sz="3200" dirty="0"/>
          </a:p>
        </p:txBody>
      </p:sp>
      <p:sp>
        <p:nvSpPr>
          <p:cNvPr id="22" name="Text 19"/>
          <p:cNvSpPr txBox="1"/>
          <p:nvPr/>
        </p:nvSpPr>
        <p:spPr>
          <a:xfrm>
            <a:off x="9875520" y="3438144"/>
            <a:ext cx="1554480" cy="457200"/>
          </a:xfrm>
          <a:prstGeom prst="rect">
            <a:avLst/>
          </a:prstGeom>
          <a:noFill/>
          <a:ln/>
        </p:spPr>
        <p:txBody>
          <a:bodyPr wrap="square" lIns="0" tIns="0" rIns="0" bIns="0" rtlCol="0" anchor="t"/>
          <a:lstStyle/>
          <a:p>
            <a:pPr indent="0" marL="0">
              <a:lnSpc>
                <a:spcPts val="1400"/>
              </a:lnSpc>
              <a:buNone/>
            </a:pPr>
            <a:r>
              <a:rPr lang="en-US" sz="1050" dirty="0">
                <a:solidFill>
                  <a:srgbClr val="77736B"/>
                </a:solidFill>
              </a:rPr>
              <a:t>sieve aperture</a:t>
            </a:r>
            <a:endParaRPr lang="en-US" sz="1050" dirty="0"/>
          </a:p>
        </p:txBody>
      </p:sp>
      <p:sp>
        <p:nvSpPr>
          <p:cNvPr id="24"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Protocol II — binder phase</a:t>
            </a:r>
            <a:endParaRPr lang="en-US" sz="2600" dirty="0"/>
          </a:p>
        </p:txBody>
      </p:sp>
      <p:sp>
        <p:nvSpPr>
          <p:cNvPr id="3" name="Text 1"/>
          <p:cNvSpPr txBox="1"/>
          <p:nvPr/>
        </p:nvSpPr>
        <p:spPr>
          <a:xfrm>
            <a:off x="731520" y="1463040"/>
            <a:ext cx="457200" cy="274320"/>
          </a:xfrm>
          <a:prstGeom prst="rect">
            <a:avLst/>
          </a:prstGeom>
          <a:noFill/>
          <a:ln/>
        </p:spPr>
        <p:txBody>
          <a:bodyPr wrap="square" lIns="0" tIns="0" rIns="0" bIns="0" rtlCol="0" anchor="ctr"/>
          <a:lstStyle/>
          <a:p>
            <a:pPr indent="0" marL="0">
              <a:buNone/>
            </a:pPr>
            <a:r>
              <a:rPr lang="en-US" sz="1100" b="1" dirty="0">
                <a:solidFill>
                  <a:srgbClr val="C9622F"/>
                </a:solidFill>
                <a:latin typeface="Cambria" pitchFamily="34" charset="0"/>
                <a:ea typeface="Cambria" pitchFamily="34" charset="-122"/>
                <a:cs typeface="Cambria" pitchFamily="34" charset="-120"/>
              </a:rPr>
              <a:t>01</a:t>
            </a:r>
            <a:endParaRPr lang="en-US" sz="1100" dirty="0"/>
          </a:p>
        </p:txBody>
      </p:sp>
      <p:sp>
        <p:nvSpPr>
          <p:cNvPr id="4" name="Text 2"/>
          <p:cNvSpPr txBox="1"/>
          <p:nvPr/>
        </p:nvSpPr>
        <p:spPr>
          <a:xfrm>
            <a:off x="1261872" y="1463040"/>
            <a:ext cx="6144768" cy="274320"/>
          </a:xfrm>
          <a:prstGeom prst="rect">
            <a:avLst/>
          </a:prstGeom>
          <a:noFill/>
          <a:ln/>
        </p:spPr>
        <p:txBody>
          <a:bodyPr wrap="square" lIns="0" tIns="0" rIns="0" bIns="0" rtlCol="0" anchor="ctr"/>
          <a:lstStyle/>
          <a:p>
            <a:pPr indent="0" marL="0">
              <a:buNone/>
            </a:pPr>
            <a:r>
              <a:rPr lang="en-US" sz="1350" b="1" dirty="0">
                <a:solidFill>
                  <a:srgbClr val="1A1A18"/>
                </a:solidFill>
              </a:rPr>
              <a:t>Pre-mixing</a:t>
            </a:r>
            <a:endParaRPr lang="en-US" sz="1350" dirty="0"/>
          </a:p>
        </p:txBody>
      </p:sp>
      <p:sp>
        <p:nvSpPr>
          <p:cNvPr id="5" name="Text 3"/>
          <p:cNvSpPr txBox="1"/>
          <p:nvPr/>
        </p:nvSpPr>
        <p:spPr>
          <a:xfrm>
            <a:off x="1261872" y="1737360"/>
            <a:ext cx="6144768" cy="786384"/>
          </a:xfrm>
          <a:prstGeom prst="rect">
            <a:avLst/>
          </a:prstGeom>
          <a:noFill/>
          <a:ln/>
        </p:spPr>
        <p:txBody>
          <a:bodyPr wrap="square" lIns="0" tIns="0" rIns="0" bIns="0" rtlCol="0" anchor="t"/>
          <a:lstStyle/>
          <a:p>
            <a:pPr indent="0" marL="0">
              <a:lnSpc>
                <a:spcPts val="1500"/>
              </a:lnSpc>
              <a:buNone/>
            </a:pPr>
            <a:r>
              <a:rPr lang="en-US" sz="1100" dirty="0">
                <a:solidFill>
                  <a:srgbClr val="77736B"/>
                </a:solidFill>
              </a:rPr>
              <a:t>Water and glycerol to a homogeneous liquid before any solids enter.</a:t>
            </a:r>
            <a:endParaRPr lang="en-US" sz="1100" dirty="0"/>
          </a:p>
        </p:txBody>
      </p:sp>
      <p:sp>
        <p:nvSpPr>
          <p:cNvPr id="6" name="Text 4"/>
          <p:cNvSpPr txBox="1"/>
          <p:nvPr/>
        </p:nvSpPr>
        <p:spPr>
          <a:xfrm>
            <a:off x="731520" y="2560320"/>
            <a:ext cx="457200" cy="274320"/>
          </a:xfrm>
          <a:prstGeom prst="rect">
            <a:avLst/>
          </a:prstGeom>
          <a:noFill/>
          <a:ln/>
        </p:spPr>
        <p:txBody>
          <a:bodyPr wrap="square" lIns="0" tIns="0" rIns="0" bIns="0" rtlCol="0" anchor="ctr"/>
          <a:lstStyle/>
          <a:p>
            <a:pPr indent="0" marL="0">
              <a:buNone/>
            </a:pPr>
            <a:r>
              <a:rPr lang="en-US" sz="1100" b="1" dirty="0">
                <a:solidFill>
                  <a:srgbClr val="C9622F"/>
                </a:solidFill>
                <a:latin typeface="Cambria" pitchFamily="34" charset="0"/>
                <a:ea typeface="Cambria" pitchFamily="34" charset="-122"/>
                <a:cs typeface="Cambria" pitchFamily="34" charset="-120"/>
              </a:rPr>
              <a:t>02</a:t>
            </a:r>
            <a:endParaRPr lang="en-US" sz="1100" dirty="0"/>
          </a:p>
        </p:txBody>
      </p:sp>
      <p:sp>
        <p:nvSpPr>
          <p:cNvPr id="7" name="Text 5"/>
          <p:cNvSpPr txBox="1"/>
          <p:nvPr/>
        </p:nvSpPr>
        <p:spPr>
          <a:xfrm>
            <a:off x="1261872" y="2560320"/>
            <a:ext cx="6144768" cy="274320"/>
          </a:xfrm>
          <a:prstGeom prst="rect">
            <a:avLst/>
          </a:prstGeom>
          <a:noFill/>
          <a:ln/>
        </p:spPr>
        <p:txBody>
          <a:bodyPr wrap="square" lIns="0" tIns="0" rIns="0" bIns="0" rtlCol="0" anchor="ctr"/>
          <a:lstStyle/>
          <a:p>
            <a:pPr indent="0" marL="0">
              <a:buNone/>
            </a:pPr>
            <a:r>
              <a:rPr lang="en-US" sz="1350" b="1" dirty="0">
                <a:solidFill>
                  <a:srgbClr val="1A1A18"/>
                </a:solidFill>
              </a:rPr>
              <a:t>Agar dispersion</a:t>
            </a:r>
            <a:endParaRPr lang="en-US" sz="1350" dirty="0"/>
          </a:p>
        </p:txBody>
      </p:sp>
      <p:sp>
        <p:nvSpPr>
          <p:cNvPr id="8" name="Text 6"/>
          <p:cNvSpPr txBox="1"/>
          <p:nvPr/>
        </p:nvSpPr>
        <p:spPr>
          <a:xfrm>
            <a:off x="1261872" y="2834640"/>
            <a:ext cx="6144768" cy="786384"/>
          </a:xfrm>
          <a:prstGeom prst="rect">
            <a:avLst/>
          </a:prstGeom>
          <a:noFill/>
          <a:ln/>
        </p:spPr>
        <p:txBody>
          <a:bodyPr wrap="square" lIns="0" tIns="0" rIns="0" bIns="0" rtlCol="0" anchor="t"/>
          <a:lstStyle/>
          <a:p>
            <a:pPr indent="0" marL="0">
              <a:lnSpc>
                <a:spcPts val="1500"/>
              </a:lnSpc>
              <a:buNone/>
            </a:pPr>
            <a:r>
              <a:rPr lang="en-US" sz="1100" dirty="0">
                <a:solidFill>
                  <a:srgbClr val="77736B"/>
                </a:solidFill>
              </a:rPr>
              <a:t>Added incrementally under continuous stirring. Bulk addition forms agglomerates that do not redisperse.</a:t>
            </a:r>
            <a:endParaRPr lang="en-US" sz="1100" dirty="0"/>
          </a:p>
        </p:txBody>
      </p:sp>
      <p:sp>
        <p:nvSpPr>
          <p:cNvPr id="9" name="Text 7"/>
          <p:cNvSpPr txBox="1"/>
          <p:nvPr/>
        </p:nvSpPr>
        <p:spPr>
          <a:xfrm>
            <a:off x="731520" y="3657600"/>
            <a:ext cx="457200" cy="274320"/>
          </a:xfrm>
          <a:prstGeom prst="rect">
            <a:avLst/>
          </a:prstGeom>
          <a:noFill/>
          <a:ln/>
        </p:spPr>
        <p:txBody>
          <a:bodyPr wrap="square" lIns="0" tIns="0" rIns="0" bIns="0" rtlCol="0" anchor="ctr"/>
          <a:lstStyle/>
          <a:p>
            <a:pPr indent="0" marL="0">
              <a:buNone/>
            </a:pPr>
            <a:r>
              <a:rPr lang="en-US" sz="1100" b="1" dirty="0">
                <a:solidFill>
                  <a:srgbClr val="C9622F"/>
                </a:solidFill>
                <a:latin typeface="Cambria" pitchFamily="34" charset="0"/>
                <a:ea typeface="Cambria" pitchFamily="34" charset="-122"/>
                <a:cs typeface="Cambria" pitchFamily="34" charset="-120"/>
              </a:rPr>
              <a:t>03</a:t>
            </a:r>
            <a:endParaRPr lang="en-US" sz="1100" dirty="0"/>
          </a:p>
        </p:txBody>
      </p:sp>
      <p:sp>
        <p:nvSpPr>
          <p:cNvPr id="10" name="Text 8"/>
          <p:cNvSpPr txBox="1"/>
          <p:nvPr/>
        </p:nvSpPr>
        <p:spPr>
          <a:xfrm>
            <a:off x="1261872" y="3657600"/>
            <a:ext cx="6144768" cy="274320"/>
          </a:xfrm>
          <a:prstGeom prst="rect">
            <a:avLst/>
          </a:prstGeom>
          <a:noFill/>
          <a:ln/>
        </p:spPr>
        <p:txBody>
          <a:bodyPr wrap="square" lIns="0" tIns="0" rIns="0" bIns="0" rtlCol="0" anchor="ctr"/>
          <a:lstStyle/>
          <a:p>
            <a:pPr indent="0" marL="0">
              <a:buNone/>
            </a:pPr>
            <a:r>
              <a:rPr lang="en-US" sz="1350" b="1" dirty="0">
                <a:solidFill>
                  <a:srgbClr val="1A1A18"/>
                </a:solidFill>
              </a:rPr>
              <a:t>Dissolution</a:t>
            </a:r>
            <a:endParaRPr lang="en-US" sz="1350" dirty="0"/>
          </a:p>
        </p:txBody>
      </p:sp>
      <p:sp>
        <p:nvSpPr>
          <p:cNvPr id="11" name="Text 9"/>
          <p:cNvSpPr txBox="1"/>
          <p:nvPr/>
        </p:nvSpPr>
        <p:spPr>
          <a:xfrm>
            <a:off x="1261872" y="3931920"/>
            <a:ext cx="6144768" cy="786384"/>
          </a:xfrm>
          <a:prstGeom prst="rect">
            <a:avLst/>
          </a:prstGeom>
          <a:noFill/>
          <a:ln/>
        </p:spPr>
        <p:txBody>
          <a:bodyPr wrap="square" lIns="0" tIns="0" rIns="0" bIns="0" rtlCol="0" anchor="t"/>
          <a:lstStyle/>
          <a:p>
            <a:pPr indent="0" marL="0">
              <a:lnSpc>
                <a:spcPts val="1500"/>
              </a:lnSpc>
              <a:buNone/>
            </a:pPr>
            <a:r>
              <a:rPr lang="en-US" sz="1100" dirty="0">
                <a:solidFill>
                  <a:srgbClr val="77736B"/>
                </a:solidFill>
              </a:rPr>
              <a:t>Heated to 95 °C and held until the agar is fully in solution.</a:t>
            </a:r>
            <a:endParaRPr lang="en-US" sz="1100" dirty="0"/>
          </a:p>
        </p:txBody>
      </p:sp>
      <p:sp>
        <p:nvSpPr>
          <p:cNvPr id="12" name="Text 10"/>
          <p:cNvSpPr txBox="1"/>
          <p:nvPr/>
        </p:nvSpPr>
        <p:spPr>
          <a:xfrm>
            <a:off x="731520" y="4754880"/>
            <a:ext cx="457200" cy="274320"/>
          </a:xfrm>
          <a:prstGeom prst="rect">
            <a:avLst/>
          </a:prstGeom>
          <a:noFill/>
          <a:ln/>
        </p:spPr>
        <p:txBody>
          <a:bodyPr wrap="square" lIns="0" tIns="0" rIns="0" bIns="0" rtlCol="0" anchor="ctr"/>
          <a:lstStyle/>
          <a:p>
            <a:pPr indent="0" marL="0">
              <a:buNone/>
            </a:pPr>
            <a:r>
              <a:rPr lang="en-US" sz="1100" b="1" dirty="0">
                <a:solidFill>
                  <a:srgbClr val="C9622F"/>
                </a:solidFill>
                <a:latin typeface="Cambria" pitchFamily="34" charset="0"/>
                <a:ea typeface="Cambria" pitchFamily="34" charset="-122"/>
                <a:cs typeface="Cambria" pitchFamily="34" charset="-120"/>
              </a:rPr>
              <a:t>04</a:t>
            </a:r>
            <a:endParaRPr lang="en-US" sz="1100" dirty="0"/>
          </a:p>
        </p:txBody>
      </p:sp>
      <p:sp>
        <p:nvSpPr>
          <p:cNvPr id="13" name="Text 11"/>
          <p:cNvSpPr txBox="1"/>
          <p:nvPr/>
        </p:nvSpPr>
        <p:spPr>
          <a:xfrm>
            <a:off x="1261872" y="4754880"/>
            <a:ext cx="6144768" cy="274320"/>
          </a:xfrm>
          <a:prstGeom prst="rect">
            <a:avLst/>
          </a:prstGeom>
          <a:noFill/>
          <a:ln/>
        </p:spPr>
        <p:txBody>
          <a:bodyPr wrap="square" lIns="0" tIns="0" rIns="0" bIns="0" rtlCol="0" anchor="ctr"/>
          <a:lstStyle/>
          <a:p>
            <a:pPr indent="0" marL="0">
              <a:buNone/>
            </a:pPr>
            <a:r>
              <a:rPr lang="en-US" sz="1350" b="1" dirty="0">
                <a:solidFill>
                  <a:srgbClr val="1A1A18"/>
                </a:solidFill>
              </a:rPr>
              <a:t>Controlled cook</a:t>
            </a:r>
            <a:endParaRPr lang="en-US" sz="1350" dirty="0"/>
          </a:p>
        </p:txBody>
      </p:sp>
      <p:sp>
        <p:nvSpPr>
          <p:cNvPr id="14" name="Text 12"/>
          <p:cNvSpPr txBox="1"/>
          <p:nvPr/>
        </p:nvSpPr>
        <p:spPr>
          <a:xfrm>
            <a:off x="1261872" y="5029200"/>
            <a:ext cx="6144768" cy="786384"/>
          </a:xfrm>
          <a:prstGeom prst="rect">
            <a:avLst/>
          </a:prstGeom>
          <a:noFill/>
          <a:ln/>
        </p:spPr>
        <p:txBody>
          <a:bodyPr wrap="square" lIns="0" tIns="0" rIns="0" bIns="0" rtlCol="0" anchor="t"/>
          <a:lstStyle/>
          <a:p>
            <a:pPr indent="0" marL="0">
              <a:lnSpc>
                <a:spcPts val="1500"/>
              </a:lnSpc>
              <a:buNone/>
            </a:pPr>
            <a:r>
              <a:rPr lang="en-US" sz="1100" dirty="0">
                <a:solidFill>
                  <a:srgbClr val="77736B"/>
                </a:solidFill>
              </a:rPr>
              <a:t>Reduced to 80 °C and held, stirring maintained, while viscosity develops.</a:t>
            </a:r>
            <a:endParaRPr lang="en-US" sz="1100" dirty="0"/>
          </a:p>
        </p:txBody>
      </p:sp>
      <p:sp>
        <p:nvSpPr>
          <p:cNvPr id="15" name="Text 13"/>
          <p:cNvSpPr txBox="1"/>
          <p:nvPr/>
        </p:nvSpPr>
        <p:spPr>
          <a:xfrm>
            <a:off x="8138160" y="1463040"/>
            <a:ext cx="3291840" cy="237744"/>
          </a:xfrm>
          <a:prstGeom prst="rect">
            <a:avLst/>
          </a:prstGeom>
          <a:noFill/>
          <a:ln/>
        </p:spPr>
        <p:txBody>
          <a:bodyPr wrap="square" lIns="0" tIns="0" rIns="0" bIns="0" rtlCol="0" anchor="ctr"/>
          <a:lstStyle/>
          <a:p>
            <a:pPr indent="0" marL="0">
              <a:buNone/>
            </a:pPr>
            <a:r>
              <a:rPr lang="en-US" sz="950" b="1" spc="120" kern="0" dirty="0">
                <a:solidFill>
                  <a:srgbClr val="A8A49B"/>
                </a:solidFill>
              </a:rPr>
              <a:t>THERMAL REGIME</a:t>
            </a:r>
            <a:endParaRPr lang="en-US" sz="950" dirty="0"/>
          </a:p>
        </p:txBody>
      </p:sp>
      <p:sp>
        <p:nvSpPr>
          <p:cNvPr id="16" name="Text 14"/>
          <p:cNvSpPr txBox="1"/>
          <p:nvPr/>
        </p:nvSpPr>
        <p:spPr>
          <a:xfrm>
            <a:off x="8138160" y="1783080"/>
            <a:ext cx="3291840" cy="566928"/>
          </a:xfrm>
          <a:prstGeom prst="rect">
            <a:avLst/>
          </a:prstGeom>
          <a:noFill/>
          <a:ln/>
        </p:spPr>
        <p:txBody>
          <a:bodyPr wrap="square" lIns="0" tIns="0" rIns="0" bIns="0" rtlCol="0" anchor="b"/>
          <a:lstStyle/>
          <a:p>
            <a:pPr indent="0" marL="0">
              <a:buNone/>
            </a:pPr>
            <a:r>
              <a:rPr lang="en-US" sz="3200" b="1" dirty="0">
                <a:solidFill>
                  <a:srgbClr val="C9622F"/>
                </a:solidFill>
                <a:latin typeface="Cambria" pitchFamily="34" charset="0"/>
                <a:ea typeface="Cambria" pitchFamily="34" charset="-122"/>
                <a:cs typeface="Cambria" pitchFamily="34" charset="-120"/>
              </a:rPr>
              <a:t>95 °C</a:t>
            </a:r>
            <a:endParaRPr lang="en-US" sz="3200" dirty="0"/>
          </a:p>
        </p:txBody>
      </p:sp>
      <p:sp>
        <p:nvSpPr>
          <p:cNvPr id="17" name="Text 15"/>
          <p:cNvSpPr txBox="1"/>
          <p:nvPr/>
        </p:nvSpPr>
        <p:spPr>
          <a:xfrm>
            <a:off x="8138160" y="2386584"/>
            <a:ext cx="3291840" cy="457200"/>
          </a:xfrm>
          <a:prstGeom prst="rect">
            <a:avLst/>
          </a:prstGeom>
          <a:noFill/>
          <a:ln/>
        </p:spPr>
        <p:txBody>
          <a:bodyPr wrap="square" lIns="0" tIns="0" rIns="0" bIns="0" rtlCol="0" anchor="t"/>
          <a:lstStyle/>
          <a:p>
            <a:pPr indent="0" marL="0">
              <a:lnSpc>
                <a:spcPts val="1400"/>
              </a:lnSpc>
              <a:buNone/>
            </a:pPr>
            <a:r>
              <a:rPr lang="en-US" sz="1050" dirty="0">
                <a:solidFill>
                  <a:srgbClr val="77736B"/>
                </a:solidFill>
              </a:rPr>
              <a:t>dissolution set point</a:t>
            </a:r>
            <a:endParaRPr lang="en-US" sz="1050" dirty="0"/>
          </a:p>
        </p:txBody>
      </p:sp>
      <p:sp>
        <p:nvSpPr>
          <p:cNvPr id="18" name="Text 16"/>
          <p:cNvSpPr txBox="1"/>
          <p:nvPr/>
        </p:nvSpPr>
        <p:spPr>
          <a:xfrm>
            <a:off x="8138160" y="2880360"/>
            <a:ext cx="3291840" cy="566928"/>
          </a:xfrm>
          <a:prstGeom prst="rect">
            <a:avLst/>
          </a:prstGeom>
          <a:noFill/>
          <a:ln/>
        </p:spPr>
        <p:txBody>
          <a:bodyPr wrap="square" lIns="0" tIns="0" rIns="0" bIns="0" rtlCol="0" anchor="b"/>
          <a:lstStyle/>
          <a:p>
            <a:pPr indent="0" marL="0">
              <a:buNone/>
            </a:pPr>
            <a:r>
              <a:rPr lang="en-US" sz="3200" b="1" dirty="0">
                <a:solidFill>
                  <a:srgbClr val="C9622F"/>
                </a:solidFill>
                <a:latin typeface="Cambria" pitchFamily="34" charset="0"/>
                <a:ea typeface="Cambria" pitchFamily="34" charset="-122"/>
                <a:cs typeface="Cambria" pitchFamily="34" charset="-120"/>
              </a:rPr>
              <a:t>80 °C</a:t>
            </a:r>
            <a:endParaRPr lang="en-US" sz="3200" dirty="0"/>
          </a:p>
        </p:txBody>
      </p:sp>
      <p:sp>
        <p:nvSpPr>
          <p:cNvPr id="19" name="Text 17"/>
          <p:cNvSpPr txBox="1"/>
          <p:nvPr/>
        </p:nvSpPr>
        <p:spPr>
          <a:xfrm>
            <a:off x="8138160" y="3483864"/>
            <a:ext cx="3291840" cy="457200"/>
          </a:xfrm>
          <a:prstGeom prst="rect">
            <a:avLst/>
          </a:prstGeom>
          <a:noFill/>
          <a:ln/>
        </p:spPr>
        <p:txBody>
          <a:bodyPr wrap="square" lIns="0" tIns="0" rIns="0" bIns="0" rtlCol="0" anchor="t"/>
          <a:lstStyle/>
          <a:p>
            <a:pPr indent="0" marL="0">
              <a:lnSpc>
                <a:spcPts val="1400"/>
              </a:lnSpc>
              <a:buNone/>
            </a:pPr>
            <a:r>
              <a:rPr lang="en-US" sz="1050" dirty="0">
                <a:solidFill>
                  <a:srgbClr val="77736B"/>
                </a:solidFill>
              </a:rPr>
              <a:t>controlled cook</a:t>
            </a:r>
            <a:endParaRPr lang="en-US" sz="1050" dirty="0"/>
          </a:p>
        </p:txBody>
      </p:sp>
      <p:sp>
        <p:nvSpPr>
          <p:cNvPr id="20" name="Text 18"/>
          <p:cNvSpPr txBox="1"/>
          <p:nvPr/>
        </p:nvSpPr>
        <p:spPr>
          <a:xfrm>
            <a:off x="8138160" y="3977640"/>
            <a:ext cx="3291840" cy="566928"/>
          </a:xfrm>
          <a:prstGeom prst="rect">
            <a:avLst/>
          </a:prstGeom>
          <a:noFill/>
          <a:ln/>
        </p:spPr>
        <p:txBody>
          <a:bodyPr wrap="square" lIns="0" tIns="0" rIns="0" bIns="0" rtlCol="0" anchor="b"/>
          <a:lstStyle/>
          <a:p>
            <a:pPr indent="0" marL="0">
              <a:buNone/>
            </a:pPr>
            <a:r>
              <a:rPr lang="en-US" sz="3200" b="1" dirty="0">
                <a:solidFill>
                  <a:srgbClr val="C9622F"/>
                </a:solidFill>
                <a:latin typeface="Cambria" pitchFamily="34" charset="0"/>
                <a:ea typeface="Cambria" pitchFamily="34" charset="-122"/>
                <a:cs typeface="Cambria" pitchFamily="34" charset="-120"/>
              </a:rPr>
              <a:t>55 min</a:t>
            </a:r>
            <a:endParaRPr lang="en-US" sz="3200" dirty="0"/>
          </a:p>
        </p:txBody>
      </p:sp>
      <p:sp>
        <p:nvSpPr>
          <p:cNvPr id="21" name="Text 19"/>
          <p:cNvSpPr txBox="1"/>
          <p:nvPr/>
        </p:nvSpPr>
        <p:spPr>
          <a:xfrm>
            <a:off x="8138160" y="4581144"/>
            <a:ext cx="3291840" cy="457200"/>
          </a:xfrm>
          <a:prstGeom prst="rect">
            <a:avLst/>
          </a:prstGeom>
          <a:noFill/>
          <a:ln/>
        </p:spPr>
        <p:txBody>
          <a:bodyPr wrap="square" lIns="0" tIns="0" rIns="0" bIns="0" rtlCol="0" anchor="t"/>
          <a:lstStyle/>
          <a:p>
            <a:pPr indent="0" marL="0">
              <a:lnSpc>
                <a:spcPts val="1400"/>
              </a:lnSpc>
              <a:buNone/>
            </a:pPr>
            <a:r>
              <a:rPr lang="en-US" sz="1050" dirty="0">
                <a:solidFill>
                  <a:srgbClr val="77736B"/>
                </a:solidFill>
              </a:rPr>
              <a:t>total heating time</a:t>
            </a:r>
            <a:endParaRPr lang="en-US" sz="1050" dirty="0"/>
          </a:p>
        </p:txBody>
      </p:sp>
      <p:sp>
        <p:nvSpPr>
          <p:cNvPr id="22" name="Text 20"/>
          <p:cNvSpPr txBox="1"/>
          <p:nvPr/>
        </p:nvSpPr>
        <p:spPr>
          <a:xfrm>
            <a:off x="731520" y="5623560"/>
            <a:ext cx="6675120" cy="457200"/>
          </a:xfrm>
          <a:prstGeom prst="rect">
            <a:avLst/>
          </a:prstGeom>
          <a:noFill/>
          <a:ln/>
        </p:spPr>
        <p:txBody>
          <a:bodyPr wrap="square" lIns="0" tIns="0" rIns="0" bIns="0" rtlCol="0" anchor="ctr"/>
          <a:lstStyle/>
          <a:p>
            <a:pPr indent="0" marL="0">
              <a:lnSpc>
                <a:spcPts val="1700"/>
              </a:lnSpc>
              <a:buNone/>
            </a:pPr>
            <a:r>
              <a:rPr lang="en-US" sz="1250" b="1" dirty="0">
                <a:solidFill>
                  <a:srgbClr val="C9622F"/>
                </a:solidFill>
              </a:rPr>
              <a:t>Stirring was manual. Shear rate and mixing energy are not controlled quantities.</a:t>
            </a:r>
            <a:endParaRPr lang="en-US" sz="1250" dirty="0"/>
          </a:p>
        </p:txBody>
      </p:sp>
      <p:sp>
        <p:nvSpPr>
          <p:cNvPr id="23" name="Text 21"/>
          <p:cNvSpPr txBox="1"/>
          <p:nvPr/>
        </p:nvSpPr>
        <p:spPr>
          <a:xfrm>
            <a:off x="8138160" y="5029200"/>
            <a:ext cx="329184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Two-stage regime follows the 70–90 °C band reported for agar preparation.</a:t>
            </a:r>
            <a:endParaRPr lang="en-US" sz="1000" dirty="0"/>
          </a:p>
        </p:txBody>
      </p:sp>
      <p:sp>
        <p:nvSpPr>
          <p:cNvPr id="25"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Protocol III — compositing, casting, drying</a:t>
            </a:r>
            <a:endParaRPr lang="en-US" sz="2600" dirty="0"/>
          </a:p>
        </p:txBody>
      </p:sp>
      <p:sp>
        <p:nvSpPr>
          <p:cNvPr id="3" name="Text 1"/>
          <p:cNvSpPr txBox="1"/>
          <p:nvPr/>
        </p:nvSpPr>
        <p:spPr>
          <a:xfrm>
            <a:off x="731520" y="1463040"/>
            <a:ext cx="457200" cy="274320"/>
          </a:xfrm>
          <a:prstGeom prst="rect">
            <a:avLst/>
          </a:prstGeom>
          <a:noFill/>
          <a:ln/>
        </p:spPr>
        <p:txBody>
          <a:bodyPr wrap="square" lIns="0" tIns="0" rIns="0" bIns="0" rtlCol="0" anchor="ctr"/>
          <a:lstStyle/>
          <a:p>
            <a:pPr indent="0" marL="0">
              <a:buNone/>
            </a:pPr>
            <a:r>
              <a:rPr lang="en-US" sz="1100" b="1" dirty="0">
                <a:solidFill>
                  <a:srgbClr val="C9622F"/>
                </a:solidFill>
                <a:latin typeface="Cambria" pitchFamily="34" charset="0"/>
                <a:ea typeface="Cambria" pitchFamily="34" charset="-122"/>
                <a:cs typeface="Cambria" pitchFamily="34" charset="-120"/>
              </a:rPr>
              <a:t>01</a:t>
            </a:r>
            <a:endParaRPr lang="en-US" sz="1100" dirty="0"/>
          </a:p>
        </p:txBody>
      </p:sp>
      <p:sp>
        <p:nvSpPr>
          <p:cNvPr id="4" name="Text 2"/>
          <p:cNvSpPr txBox="1"/>
          <p:nvPr/>
        </p:nvSpPr>
        <p:spPr>
          <a:xfrm>
            <a:off x="1261872" y="1463040"/>
            <a:ext cx="6144768" cy="274320"/>
          </a:xfrm>
          <a:prstGeom prst="rect">
            <a:avLst/>
          </a:prstGeom>
          <a:noFill/>
          <a:ln/>
        </p:spPr>
        <p:txBody>
          <a:bodyPr wrap="square" lIns="0" tIns="0" rIns="0" bIns="0" rtlCol="0" anchor="ctr"/>
          <a:lstStyle/>
          <a:p>
            <a:pPr indent="0" marL="0">
              <a:buNone/>
            </a:pPr>
            <a:r>
              <a:rPr lang="en-US" sz="1350" b="1" dirty="0">
                <a:solidFill>
                  <a:srgbClr val="1A1A18"/>
                </a:solidFill>
              </a:rPr>
              <a:t>Mineral incorporation</a:t>
            </a:r>
            <a:endParaRPr lang="en-US" sz="1350" dirty="0"/>
          </a:p>
        </p:txBody>
      </p:sp>
      <p:sp>
        <p:nvSpPr>
          <p:cNvPr id="5" name="Text 3"/>
          <p:cNvSpPr txBox="1"/>
          <p:nvPr/>
        </p:nvSpPr>
        <p:spPr>
          <a:xfrm>
            <a:off x="1261872" y="1737360"/>
            <a:ext cx="6144768" cy="786384"/>
          </a:xfrm>
          <a:prstGeom prst="rect">
            <a:avLst/>
          </a:prstGeom>
          <a:noFill/>
          <a:ln/>
        </p:spPr>
        <p:txBody>
          <a:bodyPr wrap="square" lIns="0" tIns="0" rIns="0" bIns="0" rtlCol="0" anchor="t"/>
          <a:lstStyle/>
          <a:p>
            <a:pPr indent="0" marL="0">
              <a:lnSpc>
                <a:spcPts val="1500"/>
              </a:lnSpc>
              <a:buNone/>
            </a:pPr>
            <a:r>
              <a:rPr lang="en-US" sz="1100" dirty="0">
                <a:solidFill>
                  <a:srgbClr val="77736B"/>
                </a:solidFill>
              </a:rPr>
              <a:t>Added incrementally into the binder at 80 °C. Earlier addition lets the mineral sediment out.</a:t>
            </a:r>
            <a:endParaRPr lang="en-US" sz="1100" dirty="0"/>
          </a:p>
        </p:txBody>
      </p:sp>
      <p:sp>
        <p:nvSpPr>
          <p:cNvPr id="6" name="Text 4"/>
          <p:cNvSpPr txBox="1"/>
          <p:nvPr/>
        </p:nvSpPr>
        <p:spPr>
          <a:xfrm>
            <a:off x="731520" y="2560320"/>
            <a:ext cx="457200" cy="274320"/>
          </a:xfrm>
          <a:prstGeom prst="rect">
            <a:avLst/>
          </a:prstGeom>
          <a:noFill/>
          <a:ln/>
        </p:spPr>
        <p:txBody>
          <a:bodyPr wrap="square" lIns="0" tIns="0" rIns="0" bIns="0" rtlCol="0" anchor="ctr"/>
          <a:lstStyle/>
          <a:p>
            <a:pPr indent="0" marL="0">
              <a:buNone/>
            </a:pPr>
            <a:r>
              <a:rPr lang="en-US" sz="1100" b="1" dirty="0">
                <a:solidFill>
                  <a:srgbClr val="C9622F"/>
                </a:solidFill>
                <a:latin typeface="Cambria" pitchFamily="34" charset="0"/>
                <a:ea typeface="Cambria" pitchFamily="34" charset="-122"/>
                <a:cs typeface="Cambria" pitchFamily="34" charset="-120"/>
              </a:rPr>
              <a:t>02</a:t>
            </a:r>
            <a:endParaRPr lang="en-US" sz="1100" dirty="0"/>
          </a:p>
        </p:txBody>
      </p:sp>
      <p:sp>
        <p:nvSpPr>
          <p:cNvPr id="7" name="Text 5"/>
          <p:cNvSpPr txBox="1"/>
          <p:nvPr/>
        </p:nvSpPr>
        <p:spPr>
          <a:xfrm>
            <a:off x="1261872" y="2560320"/>
            <a:ext cx="6144768" cy="274320"/>
          </a:xfrm>
          <a:prstGeom prst="rect">
            <a:avLst/>
          </a:prstGeom>
          <a:noFill/>
          <a:ln/>
        </p:spPr>
        <p:txBody>
          <a:bodyPr wrap="square" lIns="0" tIns="0" rIns="0" bIns="0" rtlCol="0" anchor="ctr"/>
          <a:lstStyle/>
          <a:p>
            <a:pPr indent="0" marL="0">
              <a:buNone/>
            </a:pPr>
            <a:r>
              <a:rPr lang="en-US" sz="1350" b="1" dirty="0">
                <a:solidFill>
                  <a:srgbClr val="1A1A18"/>
                </a:solidFill>
              </a:rPr>
              <a:t>Casting</a:t>
            </a:r>
            <a:endParaRPr lang="en-US" sz="1350" dirty="0"/>
          </a:p>
        </p:txBody>
      </p:sp>
      <p:sp>
        <p:nvSpPr>
          <p:cNvPr id="8" name="Text 6"/>
          <p:cNvSpPr txBox="1"/>
          <p:nvPr/>
        </p:nvSpPr>
        <p:spPr>
          <a:xfrm>
            <a:off x="1261872" y="2834640"/>
            <a:ext cx="6144768" cy="786384"/>
          </a:xfrm>
          <a:prstGeom prst="rect">
            <a:avLst/>
          </a:prstGeom>
          <a:noFill/>
          <a:ln/>
        </p:spPr>
        <p:txBody>
          <a:bodyPr wrap="square" lIns="0" tIns="0" rIns="0" bIns="0" rtlCol="0" anchor="t"/>
          <a:lstStyle/>
          <a:p>
            <a:pPr indent="0" marL="0">
              <a:lnSpc>
                <a:spcPts val="1500"/>
              </a:lnSpc>
              <a:buNone/>
            </a:pPr>
            <a:r>
              <a:rPr lang="en-US" sz="1100" dirty="0">
                <a:solidFill>
                  <a:srgbClr val="77736B"/>
                </a:solidFill>
              </a:rPr>
              <a:t>Silicone moulds, levelled. Silicone releases without a parting agent. 50 mm cubes for compression, flat moulds otherwise.</a:t>
            </a:r>
            <a:endParaRPr lang="en-US" sz="1100" dirty="0"/>
          </a:p>
        </p:txBody>
      </p:sp>
      <p:sp>
        <p:nvSpPr>
          <p:cNvPr id="9" name="Text 7"/>
          <p:cNvSpPr txBox="1"/>
          <p:nvPr/>
        </p:nvSpPr>
        <p:spPr>
          <a:xfrm>
            <a:off x="731520" y="3657600"/>
            <a:ext cx="457200" cy="274320"/>
          </a:xfrm>
          <a:prstGeom prst="rect">
            <a:avLst/>
          </a:prstGeom>
          <a:noFill/>
          <a:ln/>
        </p:spPr>
        <p:txBody>
          <a:bodyPr wrap="square" lIns="0" tIns="0" rIns="0" bIns="0" rtlCol="0" anchor="ctr"/>
          <a:lstStyle/>
          <a:p>
            <a:pPr indent="0" marL="0">
              <a:buNone/>
            </a:pPr>
            <a:r>
              <a:rPr lang="en-US" sz="1100" b="1" dirty="0">
                <a:solidFill>
                  <a:srgbClr val="C9622F"/>
                </a:solidFill>
                <a:latin typeface="Cambria" pitchFamily="34" charset="0"/>
                <a:ea typeface="Cambria" pitchFamily="34" charset="-122"/>
                <a:cs typeface="Cambria" pitchFamily="34" charset="-120"/>
              </a:rPr>
              <a:t>03</a:t>
            </a:r>
            <a:endParaRPr lang="en-US" sz="1100" dirty="0"/>
          </a:p>
        </p:txBody>
      </p:sp>
      <p:sp>
        <p:nvSpPr>
          <p:cNvPr id="10" name="Text 8"/>
          <p:cNvSpPr txBox="1"/>
          <p:nvPr/>
        </p:nvSpPr>
        <p:spPr>
          <a:xfrm>
            <a:off x="1261872" y="3657600"/>
            <a:ext cx="6144768" cy="274320"/>
          </a:xfrm>
          <a:prstGeom prst="rect">
            <a:avLst/>
          </a:prstGeom>
          <a:noFill/>
          <a:ln/>
        </p:spPr>
        <p:txBody>
          <a:bodyPr wrap="square" lIns="0" tIns="0" rIns="0" bIns="0" rtlCol="0" anchor="ctr"/>
          <a:lstStyle/>
          <a:p>
            <a:pPr indent="0" marL="0">
              <a:buNone/>
            </a:pPr>
            <a:r>
              <a:rPr lang="en-US" sz="1350" b="1" dirty="0">
                <a:solidFill>
                  <a:srgbClr val="1A1A18"/>
                </a:solidFill>
              </a:rPr>
              <a:t>In-mould setting</a:t>
            </a:r>
            <a:endParaRPr lang="en-US" sz="1350" dirty="0"/>
          </a:p>
        </p:txBody>
      </p:sp>
      <p:sp>
        <p:nvSpPr>
          <p:cNvPr id="11" name="Text 9"/>
          <p:cNvSpPr txBox="1"/>
          <p:nvPr/>
        </p:nvSpPr>
        <p:spPr>
          <a:xfrm>
            <a:off x="1261872" y="3931920"/>
            <a:ext cx="6144768" cy="786384"/>
          </a:xfrm>
          <a:prstGeom prst="rect">
            <a:avLst/>
          </a:prstGeom>
          <a:noFill/>
          <a:ln/>
        </p:spPr>
        <p:txBody>
          <a:bodyPr wrap="square" lIns="0" tIns="0" rIns="0" bIns="0" rtlCol="0" anchor="t"/>
          <a:lstStyle/>
          <a:p>
            <a:pPr indent="0" marL="0">
              <a:lnSpc>
                <a:spcPts val="1500"/>
              </a:lnSpc>
              <a:buNone/>
            </a:pPr>
            <a:r>
              <a:rPr lang="en-US" sz="1100" dirty="0">
                <a:solidFill>
                  <a:srgbClr val="77736B"/>
                </a:solidFill>
              </a:rPr>
              <a:t>Four days.</a:t>
            </a:r>
            <a:endParaRPr lang="en-US" sz="1100" dirty="0"/>
          </a:p>
        </p:txBody>
      </p:sp>
      <p:sp>
        <p:nvSpPr>
          <p:cNvPr id="12" name="Text 10"/>
          <p:cNvSpPr txBox="1"/>
          <p:nvPr/>
        </p:nvSpPr>
        <p:spPr>
          <a:xfrm>
            <a:off x="731520" y="4754880"/>
            <a:ext cx="457200" cy="274320"/>
          </a:xfrm>
          <a:prstGeom prst="rect">
            <a:avLst/>
          </a:prstGeom>
          <a:noFill/>
          <a:ln/>
        </p:spPr>
        <p:txBody>
          <a:bodyPr wrap="square" lIns="0" tIns="0" rIns="0" bIns="0" rtlCol="0" anchor="ctr"/>
          <a:lstStyle/>
          <a:p>
            <a:pPr indent="0" marL="0">
              <a:buNone/>
            </a:pPr>
            <a:r>
              <a:rPr lang="en-US" sz="1100" b="1" dirty="0">
                <a:solidFill>
                  <a:srgbClr val="C9622F"/>
                </a:solidFill>
                <a:latin typeface="Cambria" pitchFamily="34" charset="0"/>
                <a:ea typeface="Cambria" pitchFamily="34" charset="-122"/>
                <a:cs typeface="Cambria" pitchFamily="34" charset="-120"/>
              </a:rPr>
              <a:t>04</a:t>
            </a:r>
            <a:endParaRPr lang="en-US" sz="1100" dirty="0"/>
          </a:p>
        </p:txBody>
      </p:sp>
      <p:sp>
        <p:nvSpPr>
          <p:cNvPr id="13" name="Text 11"/>
          <p:cNvSpPr txBox="1"/>
          <p:nvPr/>
        </p:nvSpPr>
        <p:spPr>
          <a:xfrm>
            <a:off x="1261872" y="4754880"/>
            <a:ext cx="6144768" cy="274320"/>
          </a:xfrm>
          <a:prstGeom prst="rect">
            <a:avLst/>
          </a:prstGeom>
          <a:noFill/>
          <a:ln/>
        </p:spPr>
        <p:txBody>
          <a:bodyPr wrap="square" lIns="0" tIns="0" rIns="0" bIns="0" rtlCol="0" anchor="ctr"/>
          <a:lstStyle/>
          <a:p>
            <a:pPr indent="0" marL="0">
              <a:buNone/>
            </a:pPr>
            <a:r>
              <a:rPr lang="en-US" sz="1350" b="1" dirty="0">
                <a:solidFill>
                  <a:srgbClr val="1A1A18"/>
                </a:solidFill>
              </a:rPr>
              <a:t>Ambient consolidation</a:t>
            </a:r>
            <a:endParaRPr lang="en-US" sz="1350" dirty="0"/>
          </a:p>
        </p:txBody>
      </p:sp>
      <p:sp>
        <p:nvSpPr>
          <p:cNvPr id="14" name="Text 12"/>
          <p:cNvSpPr txBox="1"/>
          <p:nvPr/>
        </p:nvSpPr>
        <p:spPr>
          <a:xfrm>
            <a:off x="1261872" y="5029200"/>
            <a:ext cx="6144768" cy="786384"/>
          </a:xfrm>
          <a:prstGeom prst="rect">
            <a:avLst/>
          </a:prstGeom>
          <a:noFill/>
          <a:ln/>
        </p:spPr>
        <p:txBody>
          <a:bodyPr wrap="square" lIns="0" tIns="0" rIns="0" bIns="0" rtlCol="0" anchor="t"/>
          <a:lstStyle/>
          <a:p>
            <a:pPr indent="0" marL="0">
              <a:lnSpc>
                <a:spcPts val="1500"/>
              </a:lnSpc>
              <a:buNone/>
            </a:pPr>
            <a:r>
              <a:rPr lang="en-US" sz="1100" dirty="0">
                <a:solidFill>
                  <a:srgbClr val="77736B"/>
                </a:solidFill>
              </a:rPr>
              <a:t>Demoulded, then seven days at ~23 °C, shielded from sun and air movement. No oven at any stage.</a:t>
            </a:r>
            <a:endParaRPr lang="en-US" sz="1100" dirty="0"/>
          </a:p>
        </p:txBody>
      </p:sp>
      <p:sp>
        <p:nvSpPr>
          <p:cNvPr id="15" name="Text 13"/>
          <p:cNvSpPr txBox="1"/>
          <p:nvPr/>
        </p:nvSpPr>
        <p:spPr>
          <a:xfrm>
            <a:off x="8138160" y="1463040"/>
            <a:ext cx="3291840" cy="237744"/>
          </a:xfrm>
          <a:prstGeom prst="rect">
            <a:avLst/>
          </a:prstGeom>
          <a:noFill/>
          <a:ln/>
        </p:spPr>
        <p:txBody>
          <a:bodyPr wrap="square" lIns="0" tIns="0" rIns="0" bIns="0" rtlCol="0" anchor="ctr"/>
          <a:lstStyle/>
          <a:p>
            <a:pPr indent="0" marL="0">
              <a:buNone/>
            </a:pPr>
            <a:r>
              <a:rPr lang="en-US" sz="950" b="1" spc="120" kern="0" dirty="0">
                <a:solidFill>
                  <a:srgbClr val="A8A49B"/>
                </a:solidFill>
              </a:rPr>
              <a:t>DISCLOSURE — DIMENSIONAL LOSS</a:t>
            </a:r>
            <a:endParaRPr lang="en-US" sz="950" dirty="0"/>
          </a:p>
        </p:txBody>
      </p:sp>
      <p:sp>
        <p:nvSpPr>
          <p:cNvPr id="16" name="Text 14"/>
          <p:cNvSpPr txBox="1"/>
          <p:nvPr/>
        </p:nvSpPr>
        <p:spPr>
          <a:xfrm>
            <a:off x="8138160" y="1783080"/>
            <a:ext cx="3291840" cy="2377440"/>
          </a:xfrm>
          <a:prstGeom prst="rect">
            <a:avLst/>
          </a:prstGeom>
          <a:noFill/>
          <a:ln/>
        </p:spPr>
        <p:txBody>
          <a:bodyPr wrap="square" lIns="0" tIns="0" rIns="0" bIns="0" rtlCol="0" anchor="t"/>
          <a:lstStyle/>
          <a:p>
            <a:pPr indent="0" marL="0">
              <a:lnSpc>
                <a:spcPts val="1800"/>
              </a:lnSpc>
              <a:buNone/>
            </a:pPr>
            <a:r>
              <a:rPr lang="en-US" sz="1200" dirty="0">
                <a:solidFill>
                  <a:srgbClr val="1A1A18"/>
                </a:solidFill>
              </a:rPr>
              <a:t>The composite shrinks appreciably as water evaporates. Cross-sections were measured at test time, but post-drying dimensions were not logged. Dimensions quoted here are mould dimensions.</a:t>
            </a:r>
            <a:endParaRPr lang="en-US" sz="1200" dirty="0"/>
          </a:p>
        </p:txBody>
      </p:sp>
      <p:sp>
        <p:nvSpPr>
          <p:cNvPr id="17" name="Text 15"/>
          <p:cNvSpPr txBox="1"/>
          <p:nvPr/>
        </p:nvSpPr>
        <p:spPr>
          <a:xfrm>
            <a:off x="8138160" y="4480560"/>
            <a:ext cx="3291840" cy="411480"/>
          </a:xfrm>
          <a:prstGeom prst="rect">
            <a:avLst/>
          </a:prstGeom>
          <a:noFill/>
          <a:ln/>
        </p:spPr>
        <p:txBody>
          <a:bodyPr wrap="square" lIns="0" tIns="0" rIns="0" bIns="0" rtlCol="0" anchor="ctr"/>
          <a:lstStyle/>
          <a:p>
            <a:pPr indent="0" marL="0">
              <a:buNone/>
            </a:pPr>
            <a:r>
              <a:rPr lang="en-US" sz="1500" b="1" dirty="0">
                <a:solidFill>
                  <a:srgbClr val="C9622F"/>
                </a:solidFill>
                <a:latin typeface="Cambria" pitchFamily="34" charset="0"/>
                <a:ea typeface="Cambria" pitchFamily="34" charset="-122"/>
                <a:cs typeface="Cambria" pitchFamily="34" charset="-120"/>
              </a:rPr>
              <a:t>23 °C  ·  11 days  ·  no oven</a:t>
            </a:r>
            <a:endParaRPr lang="en-US" sz="1500" dirty="0"/>
          </a:p>
        </p:txBody>
      </p:sp>
      <p:sp>
        <p:nvSpPr>
          <p:cNvPr id="18" name="Text 16"/>
          <p:cNvSpPr txBox="1"/>
          <p:nvPr/>
        </p:nvSpPr>
        <p:spPr>
          <a:xfrm>
            <a:off x="8138160" y="4983480"/>
            <a:ext cx="329184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Anyone applying this protocol should record geometry after drying, not at casting.</a:t>
            </a:r>
            <a:endParaRPr lang="en-US" sz="1000" dirty="0"/>
          </a:p>
        </p:txBody>
      </p:sp>
      <p:sp>
        <p:nvSpPr>
          <p:cNvPr id="20"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Formulation matrix</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31520" y="1417320"/>
          <a:ext cx="10698480" cy="914400"/>
        </p:xfrm>
        <a:graphic>
          <a:graphicData uri="http://schemas.openxmlformats.org/drawingml/2006/table">
            <a:tbl>
              <a:tblPr/>
              <a:tblGrid>
                <a:gridCol w="640080"/>
                <a:gridCol w="1645920"/>
                <a:gridCol w="868680"/>
                <a:gridCol w="822960"/>
                <a:gridCol w="777240"/>
                <a:gridCol w="1097280"/>
                <a:gridCol w="868680"/>
                <a:gridCol w="1371600"/>
                <a:gridCol w="1371600"/>
                <a:gridCol w="1234440"/>
              </a:tblGrid>
              <a:tr h="384048">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ID</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Test</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Water g</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Shell g</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Agar g</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Glycerol g</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Solids g</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Shell : binder</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Solids : water</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Glycerol % solids</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r>
              <a:tr h="384048">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C1</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Compression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325</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80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120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0.37</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84048">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C2</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Compression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310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90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40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135</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0.44</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84048">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C3</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Compression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280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110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165</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0.59</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6.1</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84048">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F1</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Flexure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450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190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70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60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320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1.46</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0.71</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18.8</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84048">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F2</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Flexure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480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190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70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290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1.90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0.60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10.3</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731520" y="3977640"/>
            <a:ext cx="5029200" cy="237744"/>
          </a:xfrm>
          <a:prstGeom prst="rect">
            <a:avLst/>
          </a:prstGeom>
          <a:noFill/>
          <a:ln/>
        </p:spPr>
        <p:txBody>
          <a:bodyPr wrap="square" lIns="0" tIns="0" rIns="0" bIns="0" rtlCol="0" anchor="ctr"/>
          <a:lstStyle/>
          <a:p>
            <a:pPr indent="0" marL="0">
              <a:buNone/>
            </a:pPr>
            <a:r>
              <a:rPr lang="en-US" sz="950" b="1" spc="120" kern="0" dirty="0">
                <a:solidFill>
                  <a:srgbClr val="A8A49B"/>
                </a:solidFill>
              </a:rPr>
              <a:t>COMPRESSION SERIES</a:t>
            </a:r>
            <a:endParaRPr lang="en-US" sz="950" dirty="0"/>
          </a:p>
        </p:txBody>
      </p:sp>
      <p:sp>
        <p:nvSpPr>
          <p:cNvPr id="5" name="Text 2"/>
          <p:cNvSpPr txBox="1"/>
          <p:nvPr/>
        </p:nvSpPr>
        <p:spPr>
          <a:xfrm>
            <a:off x="731520" y="4279392"/>
            <a:ext cx="5029200" cy="1097280"/>
          </a:xfrm>
          <a:prstGeom prst="rect">
            <a:avLst/>
          </a:prstGeom>
          <a:noFill/>
          <a:ln/>
        </p:spPr>
        <p:txBody>
          <a:bodyPr wrap="square" lIns="0" tIns="0" rIns="0" bIns="0" rtlCol="0" anchor="t"/>
          <a:lstStyle/>
          <a:p>
            <a:pPr indent="0" marL="0">
              <a:lnSpc>
                <a:spcPts val="1850"/>
              </a:lnSpc>
              <a:buNone/>
            </a:pPr>
            <a:r>
              <a:rPr lang="en-US" sz="1250" dirty="0">
                <a:solidFill>
                  <a:srgbClr val="1A1A18"/>
                </a:solidFill>
              </a:rPr>
              <a:t>Shell : binder is held at exactly 2.00. The only variable that changes is solids concentration, 0.37 to 0.59.</a:t>
            </a:r>
            <a:endParaRPr lang="en-US" sz="1250" dirty="0"/>
          </a:p>
        </p:txBody>
      </p:sp>
      <p:sp>
        <p:nvSpPr>
          <p:cNvPr id="6" name="Text 3"/>
          <p:cNvSpPr txBox="1"/>
          <p:nvPr/>
        </p:nvSpPr>
        <p:spPr>
          <a:xfrm>
            <a:off x="6400800" y="3977640"/>
            <a:ext cx="5029200" cy="237744"/>
          </a:xfrm>
          <a:prstGeom prst="rect">
            <a:avLst/>
          </a:prstGeom>
          <a:noFill/>
          <a:ln/>
        </p:spPr>
        <p:txBody>
          <a:bodyPr wrap="square" lIns="0" tIns="0" rIns="0" bIns="0" rtlCol="0" anchor="ctr"/>
          <a:lstStyle/>
          <a:p>
            <a:pPr indent="0" marL="0">
              <a:buNone/>
            </a:pPr>
            <a:r>
              <a:rPr lang="en-US" sz="950" b="1" spc="120" kern="0" dirty="0">
                <a:solidFill>
                  <a:srgbClr val="A8A49B"/>
                </a:solidFill>
              </a:rPr>
              <a:t>FLEXURAL SERIES — CONFOUND</a:t>
            </a:r>
            <a:endParaRPr lang="en-US" sz="950" dirty="0"/>
          </a:p>
        </p:txBody>
      </p:sp>
      <p:sp>
        <p:nvSpPr>
          <p:cNvPr id="7" name="Text 4"/>
          <p:cNvSpPr txBox="1"/>
          <p:nvPr/>
        </p:nvSpPr>
        <p:spPr>
          <a:xfrm>
            <a:off x="6400800" y="4279392"/>
            <a:ext cx="5029200" cy="1097280"/>
          </a:xfrm>
          <a:prstGeom prst="rect">
            <a:avLst/>
          </a:prstGeom>
          <a:noFill/>
          <a:ln/>
        </p:spPr>
        <p:txBody>
          <a:bodyPr wrap="square" lIns="0" tIns="0" rIns="0" bIns="0" rtlCol="0" anchor="t"/>
          <a:lstStyle/>
          <a:p>
            <a:pPr indent="0" marL="0">
              <a:lnSpc>
                <a:spcPts val="1850"/>
              </a:lnSpc>
              <a:buNone/>
            </a:pPr>
            <a:r>
              <a:rPr lang="en-US" sz="1250" dirty="0">
                <a:solidFill>
                  <a:srgbClr val="1A1A18"/>
                </a:solidFill>
              </a:rPr>
              <a:t>Glycerol was halved but batch mass was fixed at 770 g, so water rose to compensate and the other ratios moved with it. The plasticiser effect is not isolated.</a:t>
            </a:r>
            <a:endParaRPr lang="en-US" sz="1250" dirty="0"/>
          </a:p>
        </p:txBody>
      </p:sp>
      <p:sp>
        <p:nvSpPr>
          <p:cNvPr id="8" name="Text 5"/>
          <p:cNvSpPr txBox="1"/>
          <p:nvPr/>
        </p:nvSpPr>
        <p:spPr>
          <a:xfrm>
            <a:off x="731520" y="5669280"/>
            <a:ext cx="1069848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Three specimens per formulation. Values are means; individual specimen values were not retained, so standard deviations are not available.</a:t>
            </a:r>
            <a:endParaRPr lang="en-US" sz="1000" dirty="0"/>
          </a:p>
        </p:txBody>
      </p:sp>
      <p:sp>
        <p:nvSpPr>
          <p:cNvPr id="10"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Test programme</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 y="1417320"/>
          <a:ext cx="10698480" cy="914400"/>
        </p:xfrm>
        <a:graphic>
          <a:graphicData uri="http://schemas.openxmlformats.org/drawingml/2006/table">
            <a:tbl>
              <a:tblPr/>
              <a:tblGrid>
                <a:gridCol w="2286000"/>
                <a:gridCol w="2103120"/>
                <a:gridCol w="3200400"/>
                <a:gridCol w="1005840"/>
                <a:gridCol w="2103120"/>
              </a:tblGrid>
              <a:tr h="457200">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Property</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Standard</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Specimen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Measured</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r>
              <a:tr h="457200">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Compressive behaviour</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Cube compression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50 mm cube moulds</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3 per mix</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Max load; compressive stress</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Flexural behaviour</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ASTM D790-17</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180 × 60 × 20 mm, 120 mm span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3 per mix</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Flexural strength; modulus</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Reaction to fire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ISO 11925-2:2020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40 × 50 mm, 45°, 15 s</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Time to ignition; to extinguish</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Water absorption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ASTM D570-98</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40 × 50 mm, shellac-coated</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Mass gain, 24 h immersion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457200">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Bulk density</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Gravimetric</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50 mm cube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Mass / mould volume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731520" y="4343400"/>
            <a:ext cx="10698480" cy="237744"/>
          </a:xfrm>
          <a:prstGeom prst="rect">
            <a:avLst/>
          </a:prstGeom>
          <a:noFill/>
          <a:ln/>
        </p:spPr>
        <p:txBody>
          <a:bodyPr wrap="square" lIns="0" tIns="0" rIns="0" bIns="0" rtlCol="0" anchor="ctr"/>
          <a:lstStyle/>
          <a:p>
            <a:pPr indent="0" marL="0">
              <a:buNone/>
            </a:pPr>
            <a:r>
              <a:rPr lang="en-US" sz="950" b="1" spc="120" kern="0" dirty="0">
                <a:solidFill>
                  <a:srgbClr val="A8A49B"/>
                </a:solidFill>
              </a:rPr>
              <a:t>REPORTING CONVENTION</a:t>
            </a:r>
            <a:endParaRPr lang="en-US" sz="950" dirty="0"/>
          </a:p>
        </p:txBody>
      </p:sp>
      <p:sp>
        <p:nvSpPr>
          <p:cNvPr id="5" name="Text 2"/>
          <p:cNvSpPr txBox="1"/>
          <p:nvPr/>
        </p:nvSpPr>
        <p:spPr>
          <a:xfrm>
            <a:off x="731520" y="4663440"/>
            <a:ext cx="10698480" cy="914400"/>
          </a:xfrm>
          <a:prstGeom prst="rect">
            <a:avLst/>
          </a:prstGeom>
          <a:noFill/>
          <a:ln/>
        </p:spPr>
        <p:txBody>
          <a:bodyPr wrap="square" lIns="0" tIns="0" rIns="0" bIns="0" rtlCol="0" anchor="t"/>
          <a:lstStyle/>
          <a:p>
            <a:pPr indent="0" marL="0">
              <a:lnSpc>
                <a:spcPts val="1900"/>
              </a:lnSpc>
              <a:buNone/>
            </a:pPr>
            <a:r>
              <a:rPr lang="en-US" sz="1300" dirty="0">
                <a:solidFill>
                  <a:srgbClr val="1A1A18"/>
                </a:solidFill>
              </a:rPr>
              <a:t>Mechanical values are means of three specimens; standard deviations cannot be reported. Fire, absorption and density rest on single determinations and are indicative, not characteristic, values.</a:t>
            </a:r>
            <a:endParaRPr lang="en-US" sz="1300" dirty="0"/>
          </a:p>
        </p:txBody>
      </p:sp>
      <p:sp>
        <p:nvSpPr>
          <p:cNvPr id="6" name="Text 3"/>
          <p:cNvSpPr txBox="1"/>
          <p:nvPr/>
        </p:nvSpPr>
        <p:spPr>
          <a:xfrm>
            <a:off x="731520" y="5577840"/>
            <a:ext cx="1069848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All testing: Advanced Construction Materials Research Laboratory, Hacettepe University.</a:t>
            </a:r>
            <a:endParaRPr lang="en-US" sz="1000" dirty="0"/>
          </a:p>
        </p:txBody>
      </p:sp>
      <p:sp>
        <p:nvSpPr>
          <p:cNvPr id="8"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Compressive strength scales with solids concentration</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1520" y="1463040"/>
          <a:ext cx="4572000" cy="914400"/>
        </p:xfrm>
        <a:graphic>
          <a:graphicData uri="http://schemas.openxmlformats.org/drawingml/2006/table">
            <a:tbl>
              <a:tblPr/>
              <a:tblGrid>
                <a:gridCol w="731520"/>
                <a:gridCol w="1554480"/>
                <a:gridCol w="1143000"/>
                <a:gridCol w="1143000"/>
              </a:tblGrid>
              <a:tr h="402336">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ID</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Solids : water</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Fₘₐₓ kN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σᴄ MPa</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r>
              <a:tr h="402336">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C1</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0.37</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3.89</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2.55</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402336">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C2</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0.44</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4.30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402336">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C3</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0.59</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9622F"/>
                          </a:solidFill>
                          <a:latin typeface="Calibri" pitchFamily="34" charset="0"/>
                          <a:ea typeface="Calibri" pitchFamily="34" charset="-122"/>
                          <a:cs typeface="Calibri" pitchFamily="34" charset="-120"/>
                        </a:rPr>
                        <a:t>6.80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9622F"/>
                          </a:solidFill>
                          <a:latin typeface="Calibri" pitchFamily="34" charset="0"/>
                          <a:ea typeface="Calibri" pitchFamily="34" charset="-122"/>
                          <a:cs typeface="Calibri" pitchFamily="34" charset="-120"/>
                        </a:rPr>
                        <a:t>4.10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bl>
          </a:graphicData>
        </a:graphic>
      </p:graphicFrame>
      <p:graphicFrame>
        <p:nvGraphicFramePr>
          <p:cNvPr id="4" name="cchart" descr=""/>
          <p:cNvGraphicFramePr/>
          <p:nvPr/>
        </p:nvGraphicFramePr>
        <p:xfrm>
          <a:off x="5760720" y="1371600"/>
          <a:ext cx="5669280" cy="310896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731520" y="3200400"/>
            <a:ext cx="4572000" cy="237744"/>
          </a:xfrm>
          <a:prstGeom prst="rect">
            <a:avLst/>
          </a:prstGeom>
          <a:noFill/>
          <a:ln/>
        </p:spPr>
        <p:txBody>
          <a:bodyPr wrap="square" lIns="0" tIns="0" rIns="0" bIns="0" rtlCol="0" anchor="ctr"/>
          <a:lstStyle/>
          <a:p>
            <a:pPr indent="0" marL="0">
              <a:buNone/>
            </a:pPr>
            <a:r>
              <a:rPr lang="en-US" sz="950" b="1" spc="120" kern="0" dirty="0">
                <a:solidFill>
                  <a:srgbClr val="A8A49B"/>
                </a:solidFill>
              </a:rPr>
              <a:t>OBSERVED RELATIONSHIP</a:t>
            </a:r>
            <a:endParaRPr lang="en-US" sz="950" dirty="0"/>
          </a:p>
        </p:txBody>
      </p:sp>
      <p:sp>
        <p:nvSpPr>
          <p:cNvPr id="6" name="Text 2"/>
          <p:cNvSpPr txBox="1"/>
          <p:nvPr/>
        </p:nvSpPr>
        <p:spPr>
          <a:xfrm>
            <a:off x="731520" y="3520440"/>
            <a:ext cx="4572000" cy="411480"/>
          </a:xfrm>
          <a:prstGeom prst="rect">
            <a:avLst/>
          </a:prstGeom>
          <a:noFill/>
          <a:ln/>
        </p:spPr>
        <p:txBody>
          <a:bodyPr wrap="square" lIns="0" tIns="0" rIns="0" bIns="0" rtlCol="0" anchor="ctr"/>
          <a:lstStyle/>
          <a:p>
            <a:pPr indent="0" marL="0">
              <a:buNone/>
            </a:pPr>
            <a:r>
              <a:rPr lang="en-US" sz="1600" b="1" dirty="0">
                <a:solidFill>
                  <a:srgbClr val="1A1A18"/>
                </a:solidFill>
                <a:latin typeface="Cambria" pitchFamily="34" charset="0"/>
                <a:ea typeface="Cambria" pitchFamily="34" charset="-122"/>
                <a:cs typeface="Cambria" pitchFamily="34" charset="-120"/>
              </a:rPr>
              <a:t>σᴄ = 6.93 · (solids : water) + 0.04</a:t>
            </a:r>
            <a:endParaRPr lang="en-US" sz="1600" dirty="0"/>
          </a:p>
        </p:txBody>
      </p:sp>
      <p:sp>
        <p:nvSpPr>
          <p:cNvPr id="7" name="Text 3"/>
          <p:cNvSpPr txBox="1"/>
          <p:nvPr/>
        </p:nvSpPr>
        <p:spPr>
          <a:xfrm>
            <a:off x="731520" y="3950208"/>
            <a:ext cx="4572000" cy="274320"/>
          </a:xfrm>
          <a:prstGeom prst="rect">
            <a:avLst/>
          </a:prstGeom>
          <a:noFill/>
          <a:ln/>
        </p:spPr>
        <p:txBody>
          <a:bodyPr wrap="square" lIns="0" tIns="0" rIns="0" bIns="0" rtlCol="0" anchor="ctr"/>
          <a:lstStyle/>
          <a:p>
            <a:pPr indent="0" marL="0">
              <a:buNone/>
            </a:pPr>
            <a:r>
              <a:rPr lang="en-US" sz="1200" dirty="0">
                <a:solidFill>
                  <a:srgbClr val="C9622F"/>
                </a:solidFill>
              </a:rPr>
              <a:t>R² = 0.994  over 0.37 – 0.59</a:t>
            </a:r>
            <a:endParaRPr lang="en-US" sz="1200" dirty="0"/>
          </a:p>
        </p:txBody>
      </p:sp>
      <p:sp>
        <p:nvSpPr>
          <p:cNvPr id="8" name="Text 4"/>
          <p:cNvSpPr txBox="1"/>
          <p:nvPr/>
        </p:nvSpPr>
        <p:spPr>
          <a:xfrm>
            <a:off x="731520" y="4343400"/>
            <a:ext cx="4572000" cy="1280160"/>
          </a:xfrm>
          <a:prstGeom prst="rect">
            <a:avLst/>
          </a:prstGeom>
          <a:noFill/>
          <a:ln/>
        </p:spPr>
        <p:txBody>
          <a:bodyPr wrap="square" lIns="0" tIns="0" rIns="0" bIns="0" rtlCol="0" anchor="t"/>
          <a:lstStyle/>
          <a:p>
            <a:pPr indent="0" marL="0">
              <a:lnSpc>
                <a:spcPts val="1700"/>
              </a:lnSpc>
              <a:buNone/>
            </a:pPr>
            <a:r>
              <a:rPr lang="en-US" sz="1200" dirty="0">
                <a:solidFill>
                  <a:srgbClr val="77736B"/>
                </a:solidFill>
              </a:rPr>
              <a:t>With shell : binder fixed, strength is linear in solids concentration across the range tested. Three formulations cannot establish a law — but the reading is that packing density, not mineral content, sets strength.</a:t>
            </a:r>
            <a:endParaRPr lang="en-US" sz="1200" dirty="0"/>
          </a:p>
        </p:txBody>
      </p:sp>
      <p:sp>
        <p:nvSpPr>
          <p:cNvPr id="10"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Failure mode: progressive crushing</a:t>
            </a:r>
            <a:endParaRPr lang="en-US" sz="2600" dirty="0"/>
          </a:p>
        </p:txBody>
      </p:sp>
      <p:pic>
        <p:nvPicPr>
          <p:cNvPr id="3" name="cube" descr="/home/user/sanat-ve-mekan/konferans-bildirisi/03-gorseller/04-basma-ficilasmis-kup.jpeg">    </p:cNvPr>
          <p:cNvPicPr>
            <a:picLocks noChangeAspect="1"/>
          </p:cNvPicPr>
          <p:nvPr/>
        </p:nvPicPr>
        <p:blipFill>
          <a:blip r:embed="rId1"/>
          <a:stretch>
            <a:fillRect/>
          </a:stretch>
        </p:blipFill>
        <p:spPr>
          <a:xfrm>
            <a:off x="731520" y="1417320"/>
            <a:ext cx="1783080" cy="3858768"/>
          </a:xfrm>
          <a:prstGeom prst="rect">
            <a:avLst/>
          </a:prstGeom>
        </p:spPr>
      </p:pic>
      <p:sp>
        <p:nvSpPr>
          <p:cNvPr id="4" name="Text 1"/>
          <p:cNvSpPr txBox="1"/>
          <p:nvPr/>
        </p:nvSpPr>
        <p:spPr>
          <a:xfrm>
            <a:off x="731520" y="5349240"/>
            <a:ext cx="210312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C3 after loading: barrelled, shortened, intact</a:t>
            </a:r>
            <a:endParaRPr lang="en-US" sz="1000" dirty="0"/>
          </a:p>
        </p:txBody>
      </p:sp>
      <p:sp>
        <p:nvSpPr>
          <p:cNvPr id="5" name="Text 2"/>
          <p:cNvSpPr txBox="1"/>
          <p:nvPr/>
        </p:nvSpPr>
        <p:spPr>
          <a:xfrm>
            <a:off x="3017520" y="1417320"/>
            <a:ext cx="4572000" cy="237744"/>
          </a:xfrm>
          <a:prstGeom prst="rect">
            <a:avLst/>
          </a:prstGeom>
          <a:noFill/>
          <a:ln/>
        </p:spPr>
        <p:txBody>
          <a:bodyPr wrap="square" lIns="0" tIns="0" rIns="0" bIns="0" rtlCol="0" anchor="ctr"/>
          <a:lstStyle/>
          <a:p>
            <a:pPr indent="0" marL="0">
              <a:buNone/>
            </a:pPr>
            <a:r>
              <a:rPr lang="en-US" sz="950" b="1" spc="120" kern="0" dirty="0">
                <a:solidFill>
                  <a:srgbClr val="A8A49B"/>
                </a:solidFill>
              </a:rPr>
              <a:t>COMPRESSIVE STRESS – STRAIN, C3</a:t>
            </a:r>
            <a:endParaRPr lang="en-US" sz="950" dirty="0"/>
          </a:p>
        </p:txBody>
      </p:sp>
      <p:pic>
        <p:nvPicPr>
          <p:cNvPr id="6" name="curve" descr="/home/user/sanat-ve-mekan/konferans-bildirisi/03-gorseller/05b-basma-egrisi.png">    </p:cNvPr>
          <p:cNvPicPr>
            <a:picLocks noChangeAspect="1"/>
          </p:cNvPicPr>
          <p:nvPr/>
        </p:nvPicPr>
        <p:blipFill>
          <a:blip r:embed="rId2"/>
          <a:stretch>
            <a:fillRect/>
          </a:stretch>
        </p:blipFill>
        <p:spPr>
          <a:xfrm>
            <a:off x="3017520" y="1737360"/>
            <a:ext cx="4572000" cy="2560320"/>
          </a:xfrm>
          <a:prstGeom prst="rect">
            <a:avLst/>
          </a:prstGeom>
        </p:spPr>
      </p:pic>
      <p:sp>
        <p:nvSpPr>
          <p:cNvPr id="7" name="Text 3"/>
          <p:cNvSpPr txBox="1"/>
          <p:nvPr/>
        </p:nvSpPr>
        <p:spPr>
          <a:xfrm>
            <a:off x="2395728" y="2560320"/>
            <a:ext cx="1188720" cy="274320"/>
          </a:xfrm>
          <a:prstGeom prst="rect">
            <a:avLst/>
          </a:prstGeom>
          <a:noFill/>
          <a:ln/>
        </p:spPr>
        <p:txBody>
          <a:bodyPr wrap="square" lIns="0" tIns="0" rIns="0" bIns="0" rtlCol="0" anchor="t"/>
          <a:lstStyle/>
          <a:p>
            <a:pPr indent="0" marL="0">
              <a:lnSpc>
                <a:spcPts val="1500"/>
              </a:lnSpc>
              <a:buNone/>
            </a:pPr>
            <a:r>
              <a:rPr lang="en-US" sz="1000" dirty="0">
                <a:solidFill>
                  <a:srgbClr val="77736B"/>
                </a:solidFill>
              </a:rPr>
              <a:t>Stress (MPa)</a:t>
            </a:r>
            <a:endParaRPr lang="en-US" sz="1000" dirty="0"/>
          </a:p>
        </p:txBody>
      </p:sp>
      <p:sp>
        <p:nvSpPr>
          <p:cNvPr id="8" name="Text 4"/>
          <p:cNvSpPr txBox="1"/>
          <p:nvPr/>
        </p:nvSpPr>
        <p:spPr>
          <a:xfrm>
            <a:off x="3017520" y="4315968"/>
            <a:ext cx="4572000" cy="274320"/>
          </a:xfrm>
          <a:prstGeom prst="rect">
            <a:avLst/>
          </a:prstGeom>
          <a:noFill/>
          <a:ln/>
        </p:spPr>
        <p:txBody>
          <a:bodyPr wrap="square" lIns="0" tIns="0" rIns="0" bIns="0" rtlCol="0" anchor="t"/>
          <a:lstStyle/>
          <a:p>
            <a:pPr indent="0" marL="0">
              <a:lnSpc>
                <a:spcPts val="1500"/>
              </a:lnSpc>
              <a:buNone/>
            </a:pPr>
            <a:r>
              <a:rPr lang="en-US" sz="1000" dirty="0">
                <a:solidFill>
                  <a:srgbClr val="77736B"/>
                </a:solidFill>
              </a:rPr>
              <a:t>Strain</a:t>
            </a:r>
            <a:endParaRPr lang="en-US" sz="1000" dirty="0"/>
          </a:p>
        </p:txBody>
      </p:sp>
      <p:sp>
        <p:nvSpPr>
          <p:cNvPr id="9" name="Text 5"/>
          <p:cNvSpPr txBox="1"/>
          <p:nvPr/>
        </p:nvSpPr>
        <p:spPr>
          <a:xfrm>
            <a:off x="8092440" y="1737360"/>
            <a:ext cx="3337560" cy="27432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1A1A18"/>
                </a:solidFill>
              </a:rPr>
              <a:t>Linear elastic to approximately 1 MPa</a:t>
            </a:r>
            <a:endParaRPr lang="en-US" sz="1200" dirty="0"/>
          </a:p>
          <a:p>
            <a:pPr marL="342900" indent="-342900">
              <a:lnSpc>
                <a:spcPts val="1700"/>
              </a:lnSpc>
              <a:spcAft>
                <a:spcPts val="700"/>
              </a:spcAft>
              <a:buSzPct val="100000"/>
              <a:buChar char="•"/>
            </a:pPr>
            <a:r>
              <a:rPr lang="en-US" sz="1200" dirty="0">
                <a:solidFill>
                  <a:srgbClr val="1A1A18"/>
                </a:solidFill>
              </a:rPr>
              <a:t>Progressive stiffness loss as the agar network yields</a:t>
            </a:r>
            <a:endParaRPr lang="en-US" sz="1200" dirty="0"/>
          </a:p>
          <a:p>
            <a:pPr marL="342900" indent="-342900">
              <a:lnSpc>
                <a:spcPts val="1700"/>
              </a:lnSpc>
              <a:spcAft>
                <a:spcPts val="700"/>
              </a:spcAft>
              <a:buSzPct val="100000"/>
              <a:buChar char="•"/>
            </a:pPr>
            <a:r>
              <a:rPr lang="en-US" sz="1200" dirty="0">
                <a:solidFill>
                  <a:srgbClr val="1A1A18"/>
                </a:solidFill>
              </a:rPr>
              <a:t>Peak at roughly 10% strain, no abrupt load drop</a:t>
            </a:r>
            <a:endParaRPr lang="en-US" sz="1200" dirty="0"/>
          </a:p>
          <a:p>
            <a:pPr marL="342900" indent="-342900">
              <a:lnSpc>
                <a:spcPts val="1700"/>
              </a:lnSpc>
              <a:spcAft>
                <a:spcPts val="700"/>
              </a:spcAft>
              <a:buSzPct val="100000"/>
              <a:buChar char="•"/>
            </a:pPr>
            <a:r>
              <a:rPr lang="en-US" sz="1200" dirty="0">
                <a:solidFill>
                  <a:srgbClr val="1A1A18"/>
                </a:solidFill>
              </a:rPr>
              <a:t>Beyond peak: deformation with retained integrity</a:t>
            </a:r>
            <a:endParaRPr lang="en-US" sz="1200" dirty="0"/>
          </a:p>
        </p:txBody>
      </p:sp>
      <p:sp>
        <p:nvSpPr>
          <p:cNvPr id="10" name="Text 6"/>
          <p:cNvSpPr txBox="1"/>
          <p:nvPr/>
        </p:nvSpPr>
        <p:spPr>
          <a:xfrm>
            <a:off x="8092440" y="1417320"/>
            <a:ext cx="3337560" cy="237744"/>
          </a:xfrm>
          <a:prstGeom prst="rect">
            <a:avLst/>
          </a:prstGeom>
          <a:noFill/>
          <a:ln/>
        </p:spPr>
        <p:txBody>
          <a:bodyPr wrap="square" lIns="0" tIns="0" rIns="0" bIns="0" rtlCol="0" anchor="ctr"/>
          <a:lstStyle/>
          <a:p>
            <a:pPr indent="0" marL="0">
              <a:buNone/>
            </a:pPr>
            <a:r>
              <a:rPr lang="en-US" sz="950" b="1" spc="120" kern="0" dirty="0">
                <a:solidFill>
                  <a:srgbClr val="A8A49B"/>
                </a:solidFill>
              </a:rPr>
              <a:t>READING THE CURVE</a:t>
            </a:r>
            <a:endParaRPr lang="en-US" sz="950" dirty="0"/>
          </a:p>
        </p:txBody>
      </p:sp>
      <p:sp>
        <p:nvSpPr>
          <p:cNvPr id="11" name="Text 7"/>
          <p:cNvSpPr txBox="1"/>
          <p:nvPr/>
        </p:nvSpPr>
        <p:spPr>
          <a:xfrm>
            <a:off x="3017520" y="4709160"/>
            <a:ext cx="4572000" cy="320040"/>
          </a:xfrm>
          <a:prstGeom prst="rect">
            <a:avLst/>
          </a:prstGeom>
          <a:noFill/>
          <a:ln/>
        </p:spPr>
        <p:txBody>
          <a:bodyPr wrap="square" lIns="0" tIns="0" rIns="0" bIns="0" rtlCol="0" anchor="ctr"/>
          <a:lstStyle/>
          <a:p>
            <a:pPr indent="0" marL="0">
              <a:buNone/>
            </a:pPr>
            <a:r>
              <a:rPr lang="en-US" sz="1300" b="1" dirty="0">
                <a:solidFill>
                  <a:srgbClr val="1A1A18"/>
                </a:solidFill>
              </a:rPr>
              <a:t>1.38 g/cm³  ·  2.96 MPa per g/cm³</a:t>
            </a:r>
            <a:endParaRPr lang="en-US" sz="1300" dirty="0"/>
          </a:p>
        </p:txBody>
      </p:sp>
      <p:sp>
        <p:nvSpPr>
          <p:cNvPr id="12" name="Text 8"/>
          <p:cNvSpPr txBox="1"/>
          <p:nvPr/>
        </p:nvSpPr>
        <p:spPr>
          <a:xfrm>
            <a:off x="8092440" y="4663440"/>
            <a:ext cx="333756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Strain derived from an assumed 10% maximum deformation based on observation, not instrumented.</a:t>
            </a:r>
            <a:endParaRPr lang="en-US" sz="1000" dirty="0"/>
          </a:p>
        </p:txBody>
      </p:sp>
      <p:sp>
        <p:nvSpPr>
          <p:cNvPr id="13" name="Text 9"/>
          <p:cNvSpPr txBox="1"/>
          <p:nvPr/>
        </p:nvSpPr>
        <p:spPr>
          <a:xfrm>
            <a:off x="3017520" y="5029200"/>
            <a:ext cx="457200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Bulk density on a mould-volume basis; specific compressive strength.</a:t>
            </a:r>
            <a:endParaRPr lang="en-US" sz="1000" dirty="0"/>
          </a:p>
        </p:txBody>
      </p:sp>
      <p:sp>
        <p:nvSpPr>
          <p:cNvPr id="15"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Flexure: plasticiser content is decisive</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1463040"/>
          <a:ext cx="6675120" cy="914400"/>
        </p:xfrm>
        <a:graphic>
          <a:graphicData uri="http://schemas.openxmlformats.org/drawingml/2006/table">
            <a:tbl>
              <a:tblPr/>
              <a:tblGrid>
                <a:gridCol w="685800"/>
                <a:gridCol w="1600200"/>
                <a:gridCol w="1005840"/>
                <a:gridCol w="1600200"/>
                <a:gridCol w="914400"/>
                <a:gridCol w="868680"/>
              </a:tblGrid>
              <a:tr h="402336">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ID</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Glycerol % solids</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Fₘₐₓ N</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σꜰ MPa</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Eꜰ MPa</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ε peak</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r>
              <a:tr h="402336">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F1</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18.8</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i="1" dirty="0">
                          <a:solidFill>
                            <a:srgbClr val="1A1A18"/>
                          </a:solidFill>
                          <a:latin typeface="Calibri" pitchFamily="34" charset="0"/>
                          <a:ea typeface="Calibri" pitchFamily="34" charset="-122"/>
                          <a:cs typeface="Calibri" pitchFamily="34" charset="-120"/>
                        </a:rPr>
                        <a:t>not measurable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402336">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F2</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10.3</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310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9622F"/>
                          </a:solidFill>
                          <a:latin typeface="Calibri" pitchFamily="34" charset="0"/>
                          <a:ea typeface="Calibri" pitchFamily="34" charset="-122"/>
                          <a:cs typeface="Calibri" pitchFamily="34" charset="-120"/>
                        </a:rPr>
                        <a:t>2.325</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9622F"/>
                          </a:solidFill>
                          <a:latin typeface="Calibri" pitchFamily="34" charset="0"/>
                          <a:ea typeface="Calibri" pitchFamily="34" charset="-122"/>
                          <a:cs typeface="Calibri" pitchFamily="34" charset="-120"/>
                        </a:rPr>
                        <a:t>192</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0.0121</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731520" y="2788920"/>
            <a:ext cx="6675120" cy="320040"/>
          </a:xfrm>
          <a:prstGeom prst="rect">
            <a:avLst/>
          </a:prstGeom>
          <a:noFill/>
          <a:ln/>
        </p:spPr>
        <p:txBody>
          <a:bodyPr wrap="square" lIns="0" tIns="0" rIns="0" bIns="0" rtlCol="0" anchor="t"/>
          <a:lstStyle/>
          <a:p>
            <a:pPr indent="0" marL="0">
              <a:lnSpc>
                <a:spcPts val="1600"/>
              </a:lnSpc>
              <a:buNone/>
            </a:pPr>
            <a:r>
              <a:rPr lang="en-US" sz="1100" dirty="0">
                <a:solidFill>
                  <a:srgbClr val="77736B"/>
                </a:solidFill>
              </a:rPr>
              <a:t>σꜰ = 3FL / 2bd²  with F = 310 N, L = 120 mm, b = 60 mm, d = 20 mm</a:t>
            </a:r>
            <a:endParaRPr lang="en-US" sz="1100" dirty="0"/>
          </a:p>
        </p:txBody>
      </p:sp>
      <p:pic>
        <p:nvPicPr>
          <p:cNvPr id="5" name="bend" descr="/home/user/sanat-ve-mekan/konferans-bildirisi/03-gorseller/06-egilme-buyuk-sehim.jpg">    </p:cNvPr>
          <p:cNvPicPr>
            <a:picLocks noChangeAspect="1"/>
          </p:cNvPicPr>
          <p:nvPr/>
        </p:nvPicPr>
        <p:blipFill>
          <a:blip r:embed="rId1"/>
          <a:stretch>
            <a:fillRect/>
          </a:stretch>
        </p:blipFill>
        <p:spPr>
          <a:xfrm>
            <a:off x="731520" y="3291840"/>
            <a:ext cx="1143000" cy="2542032"/>
          </a:xfrm>
          <a:prstGeom prst="rect">
            <a:avLst/>
          </a:prstGeom>
        </p:spPr>
      </p:pic>
      <p:pic>
        <p:nvPicPr>
          <p:cNvPr id="6" name="arch" descr="/home/user/sanat-ve-mekan/konferans-bildirisi/03-gorseller/08b-yivli-panel-kemer.jpg">    </p:cNvPr>
          <p:cNvPicPr>
            <a:picLocks noChangeAspect="1"/>
          </p:cNvPicPr>
          <p:nvPr/>
        </p:nvPicPr>
        <p:blipFill>
          <a:blip r:embed="rId2"/>
          <a:stretch>
            <a:fillRect/>
          </a:stretch>
        </p:blipFill>
        <p:spPr>
          <a:xfrm>
            <a:off x="2103120" y="3291840"/>
            <a:ext cx="1463040" cy="2048256"/>
          </a:xfrm>
          <a:prstGeom prst="rect">
            <a:avLst/>
          </a:prstGeom>
        </p:spPr>
      </p:pic>
      <p:pic>
        <p:nvPicPr>
          <p:cNvPr id="7" name="fcurve" descr="/home/user/sanat-ve-mekan/konferans-bildirisi/03-gorseller/09b-egilme-egrisi.png">    </p:cNvPr>
          <p:cNvPicPr>
            <a:picLocks noChangeAspect="1"/>
          </p:cNvPicPr>
          <p:nvPr/>
        </p:nvPicPr>
        <p:blipFill>
          <a:blip r:embed="rId3"/>
          <a:stretch>
            <a:fillRect/>
          </a:stretch>
        </p:blipFill>
        <p:spPr>
          <a:xfrm>
            <a:off x="3886200" y="3611880"/>
            <a:ext cx="3520440" cy="1993392"/>
          </a:xfrm>
          <a:prstGeom prst="rect">
            <a:avLst/>
          </a:prstGeom>
        </p:spPr>
      </p:pic>
      <p:sp>
        <p:nvSpPr>
          <p:cNvPr id="8" name="Text 2"/>
          <p:cNvSpPr txBox="1"/>
          <p:nvPr/>
        </p:nvSpPr>
        <p:spPr>
          <a:xfrm>
            <a:off x="731520" y="5897880"/>
            <a:ext cx="283464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Three-point rig; kerfed panel arched by hand</a:t>
            </a:r>
            <a:endParaRPr lang="en-US" sz="1000" dirty="0"/>
          </a:p>
        </p:txBody>
      </p:sp>
      <p:sp>
        <p:nvSpPr>
          <p:cNvPr id="9" name="Text 3"/>
          <p:cNvSpPr txBox="1"/>
          <p:nvPr/>
        </p:nvSpPr>
        <p:spPr>
          <a:xfrm>
            <a:off x="3886200" y="3291840"/>
            <a:ext cx="3520440" cy="237744"/>
          </a:xfrm>
          <a:prstGeom prst="rect">
            <a:avLst/>
          </a:prstGeom>
          <a:noFill/>
          <a:ln/>
        </p:spPr>
        <p:txBody>
          <a:bodyPr wrap="square" lIns="0" tIns="0" rIns="0" bIns="0" rtlCol="0" anchor="ctr"/>
          <a:lstStyle/>
          <a:p>
            <a:pPr indent="0" marL="0">
              <a:buNone/>
            </a:pPr>
            <a:r>
              <a:rPr lang="en-US" sz="950" b="1" spc="120" kern="0" dirty="0">
                <a:solidFill>
                  <a:srgbClr val="A8A49B"/>
                </a:solidFill>
              </a:rPr>
              <a:t>FLEXURAL STRESS – STRAIN, F2</a:t>
            </a:r>
            <a:endParaRPr lang="en-US" sz="950" dirty="0"/>
          </a:p>
        </p:txBody>
      </p:sp>
      <p:sp>
        <p:nvSpPr>
          <p:cNvPr id="10" name="Text 4"/>
          <p:cNvSpPr txBox="1"/>
          <p:nvPr/>
        </p:nvSpPr>
        <p:spPr>
          <a:xfrm>
            <a:off x="8092440" y="1463040"/>
            <a:ext cx="3337560" cy="237744"/>
          </a:xfrm>
          <a:prstGeom prst="rect">
            <a:avLst/>
          </a:prstGeom>
          <a:noFill/>
          <a:ln/>
        </p:spPr>
        <p:txBody>
          <a:bodyPr wrap="square" lIns="0" tIns="0" rIns="0" bIns="0" rtlCol="0" anchor="ctr"/>
          <a:lstStyle/>
          <a:p>
            <a:pPr indent="0" marL="0">
              <a:buNone/>
            </a:pPr>
            <a:r>
              <a:rPr lang="en-US" sz="950" b="1" spc="120" kern="0" dirty="0">
                <a:solidFill>
                  <a:srgbClr val="A8A49B"/>
                </a:solidFill>
              </a:rPr>
              <a:t>DISCLOSURE — SECTION GEOMETRY</a:t>
            </a:r>
            <a:endParaRPr lang="en-US" sz="950" dirty="0"/>
          </a:p>
        </p:txBody>
      </p:sp>
      <p:sp>
        <p:nvSpPr>
          <p:cNvPr id="11" name="Text 5"/>
          <p:cNvSpPr txBox="1"/>
          <p:nvPr/>
        </p:nvSpPr>
        <p:spPr>
          <a:xfrm>
            <a:off x="8092440" y="1783080"/>
            <a:ext cx="3337560" cy="1920240"/>
          </a:xfrm>
          <a:prstGeom prst="rect">
            <a:avLst/>
          </a:prstGeom>
          <a:noFill/>
          <a:ln/>
        </p:spPr>
        <p:txBody>
          <a:bodyPr wrap="square" lIns="0" tIns="0" rIns="0" bIns="0" rtlCol="0" anchor="t"/>
          <a:lstStyle/>
          <a:p>
            <a:pPr indent="0" marL="0">
              <a:lnSpc>
                <a:spcPts val="1800"/>
              </a:lnSpc>
              <a:buNone/>
            </a:pPr>
            <a:r>
              <a:rPr lang="en-US" sz="1200" dirty="0">
                <a:solidFill>
                  <a:srgbClr val="1A1A18"/>
                </a:solidFill>
              </a:rPr>
              <a:t>The specimen carries transverse kerfs on its tension face. ASTM D790-17 assumes a solid rectangular section and the calculation uses the full 60 × 20 mm. Part of the measured compliance is geometric, so the modulus is a lower bound.</a:t>
            </a:r>
            <a:endParaRPr lang="en-US" sz="1200" dirty="0"/>
          </a:p>
        </p:txBody>
      </p:sp>
      <p:sp>
        <p:nvSpPr>
          <p:cNvPr id="12" name="Text 6"/>
          <p:cNvSpPr txBox="1"/>
          <p:nvPr/>
        </p:nvSpPr>
        <p:spPr>
          <a:xfrm>
            <a:off x="8092440" y="3977640"/>
            <a:ext cx="3337560" cy="237744"/>
          </a:xfrm>
          <a:prstGeom prst="rect">
            <a:avLst/>
          </a:prstGeom>
          <a:noFill/>
          <a:ln/>
        </p:spPr>
        <p:txBody>
          <a:bodyPr wrap="square" lIns="0" tIns="0" rIns="0" bIns="0" rtlCol="0" anchor="ctr"/>
          <a:lstStyle/>
          <a:p>
            <a:pPr indent="0" marL="0">
              <a:buNone/>
            </a:pPr>
            <a:r>
              <a:rPr lang="en-US" sz="950" b="1" spc="120" kern="0" dirty="0">
                <a:solidFill>
                  <a:srgbClr val="A8A49B"/>
                </a:solidFill>
              </a:rPr>
              <a:t>INTERPRETATION</a:t>
            </a:r>
            <a:endParaRPr lang="en-US" sz="950" dirty="0"/>
          </a:p>
        </p:txBody>
      </p:sp>
      <p:sp>
        <p:nvSpPr>
          <p:cNvPr id="13" name="Text 7"/>
          <p:cNvSpPr txBox="1"/>
          <p:nvPr/>
        </p:nvSpPr>
        <p:spPr>
          <a:xfrm>
            <a:off x="8092440" y="4297680"/>
            <a:ext cx="3337560" cy="1554480"/>
          </a:xfrm>
          <a:prstGeom prst="rect">
            <a:avLst/>
          </a:prstGeom>
          <a:noFill/>
          <a:ln/>
        </p:spPr>
        <p:txBody>
          <a:bodyPr wrap="square" lIns="0" tIns="0" rIns="0" bIns="0" rtlCol="0" anchor="t"/>
          <a:lstStyle/>
          <a:p>
            <a:pPr indent="0" marL="0">
              <a:lnSpc>
                <a:spcPts val="1800"/>
              </a:lnSpc>
              <a:buNone/>
            </a:pPr>
            <a:r>
              <a:rPr lang="en-US" sz="1200" dirty="0">
                <a:solidFill>
                  <a:srgbClr val="1A1A18"/>
                </a:solidFill>
              </a:rPr>
              <a:t>At 18.8% glycerol the composite deformed without developing measurable resistance. Halving it produced a section that resists while still flexing. The transition lies between these values.</a:t>
            </a:r>
            <a:endParaRPr lang="en-US" sz="1200" dirty="0"/>
          </a:p>
        </p:txBody>
      </p:sp>
      <p:sp>
        <p:nvSpPr>
          <p:cNvPr id="15"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Fire, hygric response and density</a:t>
            </a:r>
            <a:endParaRPr lang="en-US" sz="2600" dirty="0"/>
          </a:p>
        </p:txBody>
      </p:sp>
      <p:pic>
        <p:nvPicPr>
          <p:cNvPr id="3" name="flame" descr="/home/user/sanat-ve-mekan/konferans-bildirisi/03-gorseller/10-alev-testi.png">    </p:cNvPr>
          <p:cNvPicPr>
            <a:picLocks noChangeAspect="1"/>
          </p:cNvPicPr>
          <p:nvPr/>
        </p:nvPicPr>
        <p:blipFill>
          <a:blip r:embed="rId1"/>
          <a:stretch>
            <a:fillRect/>
          </a:stretch>
        </p:blipFill>
        <p:spPr>
          <a:xfrm>
            <a:off x="731520" y="1417320"/>
            <a:ext cx="1463040" cy="3172968"/>
          </a:xfrm>
          <a:prstGeom prst="rect">
            <a:avLst/>
          </a:prstGeom>
        </p:spPr>
      </p:pic>
      <p:sp>
        <p:nvSpPr>
          <p:cNvPr id="4" name="Text 1"/>
          <p:cNvSpPr txBox="1"/>
          <p:nvPr/>
        </p:nvSpPr>
        <p:spPr>
          <a:xfrm>
            <a:off x="2514600" y="1417320"/>
            <a:ext cx="3840480" cy="237744"/>
          </a:xfrm>
          <a:prstGeom prst="rect">
            <a:avLst/>
          </a:prstGeom>
          <a:noFill/>
          <a:ln/>
        </p:spPr>
        <p:txBody>
          <a:bodyPr wrap="square" lIns="0" tIns="0" rIns="0" bIns="0" rtlCol="0" anchor="ctr"/>
          <a:lstStyle/>
          <a:p>
            <a:pPr indent="0" marL="0">
              <a:buNone/>
            </a:pPr>
            <a:r>
              <a:rPr lang="en-US" sz="950" b="1" spc="120" kern="0" dirty="0">
                <a:solidFill>
                  <a:srgbClr val="A8A49B"/>
                </a:solidFill>
              </a:rPr>
              <a:t>IGNITABILITY — ISO 11925-2</a:t>
            </a:r>
            <a:endParaRPr lang="en-US" sz="950" dirty="0"/>
          </a:p>
        </p:txBody>
      </p:sp>
      <p:sp>
        <p:nvSpPr>
          <p:cNvPr id="5" name="Text 2"/>
          <p:cNvSpPr txBox="1"/>
          <p:nvPr/>
        </p:nvSpPr>
        <p:spPr>
          <a:xfrm>
            <a:off x="2514600" y="1783080"/>
            <a:ext cx="1737360" cy="566928"/>
          </a:xfrm>
          <a:prstGeom prst="rect">
            <a:avLst/>
          </a:prstGeom>
          <a:noFill/>
          <a:ln/>
        </p:spPr>
        <p:txBody>
          <a:bodyPr wrap="square" lIns="0" tIns="0" rIns="0" bIns="0" rtlCol="0" anchor="b"/>
          <a:lstStyle/>
          <a:p>
            <a:pPr indent="0" marL="0">
              <a:buNone/>
            </a:pPr>
            <a:r>
              <a:rPr lang="en-US" sz="3200" b="1" dirty="0">
                <a:solidFill>
                  <a:srgbClr val="C9622F"/>
                </a:solidFill>
                <a:latin typeface="Cambria" pitchFamily="34" charset="0"/>
                <a:ea typeface="Cambria" pitchFamily="34" charset="-122"/>
                <a:cs typeface="Cambria" pitchFamily="34" charset="-120"/>
              </a:rPr>
              <a:t>~10 s</a:t>
            </a:r>
            <a:endParaRPr lang="en-US" sz="3200" dirty="0"/>
          </a:p>
        </p:txBody>
      </p:sp>
      <p:sp>
        <p:nvSpPr>
          <p:cNvPr id="6" name="Text 3"/>
          <p:cNvSpPr txBox="1"/>
          <p:nvPr/>
        </p:nvSpPr>
        <p:spPr>
          <a:xfrm>
            <a:off x="2514600" y="2386584"/>
            <a:ext cx="1737360" cy="457200"/>
          </a:xfrm>
          <a:prstGeom prst="rect">
            <a:avLst/>
          </a:prstGeom>
          <a:noFill/>
          <a:ln/>
        </p:spPr>
        <p:txBody>
          <a:bodyPr wrap="square" lIns="0" tIns="0" rIns="0" bIns="0" rtlCol="0" anchor="t"/>
          <a:lstStyle/>
          <a:p>
            <a:pPr indent="0" marL="0">
              <a:lnSpc>
                <a:spcPts val="1400"/>
              </a:lnSpc>
              <a:buNone/>
            </a:pPr>
            <a:r>
              <a:rPr lang="en-US" sz="1050" dirty="0">
                <a:solidFill>
                  <a:srgbClr val="77736B"/>
                </a:solidFill>
              </a:rPr>
              <a:t>to ignition</a:t>
            </a:r>
            <a:endParaRPr lang="en-US" sz="1050" dirty="0"/>
          </a:p>
        </p:txBody>
      </p:sp>
      <p:sp>
        <p:nvSpPr>
          <p:cNvPr id="7" name="Text 4"/>
          <p:cNvSpPr txBox="1"/>
          <p:nvPr/>
        </p:nvSpPr>
        <p:spPr>
          <a:xfrm>
            <a:off x="4434840" y="1783080"/>
            <a:ext cx="1920240" cy="566928"/>
          </a:xfrm>
          <a:prstGeom prst="rect">
            <a:avLst/>
          </a:prstGeom>
          <a:noFill/>
          <a:ln/>
        </p:spPr>
        <p:txBody>
          <a:bodyPr wrap="square" lIns="0" tIns="0" rIns="0" bIns="0" rtlCol="0" anchor="b"/>
          <a:lstStyle/>
          <a:p>
            <a:pPr indent="0" marL="0">
              <a:buNone/>
            </a:pPr>
            <a:r>
              <a:rPr lang="en-US" sz="3200" b="1" dirty="0">
                <a:solidFill>
                  <a:srgbClr val="C9622F"/>
                </a:solidFill>
                <a:latin typeface="Cambria" pitchFamily="34" charset="0"/>
                <a:ea typeface="Cambria" pitchFamily="34" charset="-122"/>
                <a:cs typeface="Cambria" pitchFamily="34" charset="-120"/>
              </a:rPr>
              <a:t>4 s</a:t>
            </a:r>
            <a:endParaRPr lang="en-US" sz="3200" dirty="0"/>
          </a:p>
        </p:txBody>
      </p:sp>
      <p:sp>
        <p:nvSpPr>
          <p:cNvPr id="8" name="Text 5"/>
          <p:cNvSpPr txBox="1"/>
          <p:nvPr/>
        </p:nvSpPr>
        <p:spPr>
          <a:xfrm>
            <a:off x="4434840" y="2386584"/>
            <a:ext cx="1920240" cy="457200"/>
          </a:xfrm>
          <a:prstGeom prst="rect">
            <a:avLst/>
          </a:prstGeom>
          <a:noFill/>
          <a:ln/>
        </p:spPr>
        <p:txBody>
          <a:bodyPr wrap="square" lIns="0" tIns="0" rIns="0" bIns="0" rtlCol="0" anchor="t"/>
          <a:lstStyle/>
          <a:p>
            <a:pPr indent="0" marL="0">
              <a:lnSpc>
                <a:spcPts val="1400"/>
              </a:lnSpc>
              <a:buNone/>
            </a:pPr>
            <a:r>
              <a:rPr lang="en-US" sz="1050" dirty="0">
                <a:solidFill>
                  <a:srgbClr val="77736B"/>
                </a:solidFill>
              </a:rPr>
              <a:t>to self-extinguish</a:t>
            </a:r>
            <a:endParaRPr lang="en-US" sz="1050" dirty="0"/>
          </a:p>
        </p:txBody>
      </p:sp>
      <p:sp>
        <p:nvSpPr>
          <p:cNvPr id="9" name="Text 6"/>
          <p:cNvSpPr txBox="1"/>
          <p:nvPr/>
        </p:nvSpPr>
        <p:spPr>
          <a:xfrm>
            <a:off x="2514600" y="3017520"/>
            <a:ext cx="3840480" cy="128016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1A1A18"/>
                </a:solidFill>
              </a:rPr>
              <a:t>Charring local to flame contact</a:t>
            </a:r>
            <a:endParaRPr lang="en-US" sz="1200" dirty="0"/>
          </a:p>
          <a:p>
            <a:pPr marL="342900" indent="-342900">
              <a:lnSpc>
                <a:spcPts val="1700"/>
              </a:lnSpc>
              <a:spcAft>
                <a:spcPts val="700"/>
              </a:spcAft>
              <a:buSzPct val="100000"/>
              <a:buChar char="•"/>
            </a:pPr>
            <a:r>
              <a:rPr lang="en-US" sz="1200" dirty="0">
                <a:solidFill>
                  <a:srgbClr val="1A1A18"/>
                </a:solidFill>
              </a:rPr>
              <a:t>No lateral flame spread</a:t>
            </a:r>
            <a:endParaRPr lang="en-US" sz="1200" dirty="0"/>
          </a:p>
          <a:p>
            <a:pPr marL="342900" indent="-342900">
              <a:lnSpc>
                <a:spcPts val="1700"/>
              </a:lnSpc>
              <a:spcAft>
                <a:spcPts val="700"/>
              </a:spcAft>
              <a:buSzPct val="100000"/>
              <a:buChar char="•"/>
            </a:pPr>
            <a:r>
              <a:rPr lang="en-US" sz="1200" dirty="0">
                <a:solidFill>
                  <a:srgbClr val="1A1A18"/>
                </a:solidFill>
              </a:rPr>
              <a:t>No melting, no dripping</a:t>
            </a:r>
            <a:endParaRPr lang="en-US" sz="1200" dirty="0"/>
          </a:p>
        </p:txBody>
      </p:sp>
      <p:sp>
        <p:nvSpPr>
          <p:cNvPr id="10" name="Text 7"/>
          <p:cNvSpPr txBox="1"/>
          <p:nvPr/>
        </p:nvSpPr>
        <p:spPr>
          <a:xfrm>
            <a:off x="2514600" y="4480560"/>
            <a:ext cx="384048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Probable mechanism: endothermic carbonate decomposition releasing CO₂. Not verified calorimetrically. Ignitability only — no Euroclass, cone calorimetry, smoke or toxicity data.</a:t>
            </a:r>
            <a:endParaRPr lang="en-US" sz="1000" dirty="0"/>
          </a:p>
        </p:txBody>
      </p:sp>
      <p:sp>
        <p:nvSpPr>
          <p:cNvPr id="11" name="Text 8"/>
          <p:cNvSpPr txBox="1"/>
          <p:nvPr/>
        </p:nvSpPr>
        <p:spPr>
          <a:xfrm>
            <a:off x="6766560" y="1417320"/>
            <a:ext cx="4663440" cy="237744"/>
          </a:xfrm>
          <a:prstGeom prst="rect">
            <a:avLst/>
          </a:prstGeom>
          <a:noFill/>
          <a:ln/>
        </p:spPr>
        <p:txBody>
          <a:bodyPr wrap="square" lIns="0" tIns="0" rIns="0" bIns="0" rtlCol="0" anchor="ctr"/>
          <a:lstStyle/>
          <a:p>
            <a:pPr indent="0" marL="0">
              <a:buNone/>
            </a:pPr>
            <a:r>
              <a:rPr lang="en-US" sz="950" b="1" spc="120" kern="0" dirty="0">
                <a:solidFill>
                  <a:srgbClr val="A8A49B"/>
                </a:solidFill>
              </a:rPr>
              <a:t>WATER ABSORPTION — ASTM D570</a:t>
            </a:r>
            <a:endParaRPr lang="en-US" sz="950" dirty="0"/>
          </a:p>
        </p:txBody>
      </p:sp>
      <p:sp>
        <p:nvSpPr>
          <p:cNvPr id="12" name="Text 9"/>
          <p:cNvSpPr txBox="1"/>
          <p:nvPr/>
        </p:nvSpPr>
        <p:spPr>
          <a:xfrm>
            <a:off x="6766560" y="1737360"/>
            <a:ext cx="1371600" cy="548640"/>
          </a:xfrm>
          <a:prstGeom prst="rect">
            <a:avLst/>
          </a:prstGeom>
          <a:noFill/>
          <a:ln/>
        </p:spPr>
        <p:txBody>
          <a:bodyPr wrap="square" lIns="0" tIns="0" rIns="0" bIns="0" rtlCol="0" anchor="b"/>
          <a:lstStyle/>
          <a:p>
            <a:pPr indent="0" marL="0">
              <a:buNone/>
            </a:pPr>
            <a:r>
              <a:rPr lang="en-US" sz="3200" b="1" dirty="0">
                <a:solidFill>
                  <a:srgbClr val="C9622F"/>
                </a:solidFill>
                <a:latin typeface="Cambria" pitchFamily="34" charset="0"/>
                <a:ea typeface="Cambria" pitchFamily="34" charset="-122"/>
                <a:cs typeface="Cambria" pitchFamily="34" charset="-120"/>
              </a:rPr>
              <a:t>0.7%</a:t>
            </a:r>
            <a:endParaRPr lang="en-US" sz="3200" dirty="0"/>
          </a:p>
        </p:txBody>
      </p:sp>
      <p:sp>
        <p:nvSpPr>
          <p:cNvPr id="13" name="Text 10"/>
          <p:cNvSpPr txBox="1"/>
          <p:nvPr/>
        </p:nvSpPr>
        <p:spPr>
          <a:xfrm>
            <a:off x="8229600" y="1783080"/>
            <a:ext cx="3200400" cy="1005840"/>
          </a:xfrm>
          <a:prstGeom prst="rect">
            <a:avLst/>
          </a:prstGeom>
          <a:noFill/>
          <a:ln/>
        </p:spPr>
        <p:txBody>
          <a:bodyPr wrap="square" lIns="0" tIns="0" rIns="0" bIns="0" rtlCol="0" anchor="t"/>
          <a:lstStyle/>
          <a:p>
            <a:pPr indent="0" marL="0">
              <a:lnSpc>
                <a:spcPts val="1650"/>
              </a:lnSpc>
              <a:buNone/>
            </a:pPr>
            <a:r>
              <a:rPr lang="en-US" sz="1150" dirty="0">
                <a:solidFill>
                  <a:srgbClr val="77736B"/>
                </a:solidFill>
              </a:rPr>
              <a:t>mass gain over 24 h immersion, shellac-coated. Local dissolution where the coating was thin: coating integrity is the limiting factor.</a:t>
            </a:r>
            <a:endParaRPr lang="en-US" sz="1150" dirty="0"/>
          </a:p>
        </p:txBody>
      </p:sp>
      <p:sp>
        <p:nvSpPr>
          <p:cNvPr id="14" name="Text 11"/>
          <p:cNvSpPr txBox="1"/>
          <p:nvPr/>
        </p:nvSpPr>
        <p:spPr>
          <a:xfrm>
            <a:off x="6766560" y="3017520"/>
            <a:ext cx="4663440" cy="237744"/>
          </a:xfrm>
          <a:prstGeom prst="rect">
            <a:avLst/>
          </a:prstGeom>
          <a:noFill/>
          <a:ln/>
        </p:spPr>
        <p:txBody>
          <a:bodyPr wrap="square" lIns="0" tIns="0" rIns="0" bIns="0" rtlCol="0" anchor="ctr"/>
          <a:lstStyle/>
          <a:p>
            <a:pPr indent="0" marL="0">
              <a:buNone/>
            </a:pPr>
            <a:r>
              <a:rPr lang="en-US" sz="950" b="1" spc="120" kern="0" dirty="0">
                <a:solidFill>
                  <a:srgbClr val="A8A49B"/>
                </a:solidFill>
              </a:rPr>
              <a:t>BULK DENSITY</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766560" y="3337560"/>
          <a:ext cx="4663440" cy="914400"/>
        </p:xfrm>
        <a:graphic>
          <a:graphicData uri="http://schemas.openxmlformats.org/drawingml/2006/table">
            <a:tbl>
              <a:tblPr/>
              <a:tblGrid>
                <a:gridCol w="1920240"/>
                <a:gridCol w="1005840"/>
                <a:gridCol w="1737360"/>
              </a:tblGrid>
              <a:tr h="329184">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Material</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g/cm³</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Reference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r>
              <a:tr h="329184">
                <a:tc>
                  <a:txBody>
                    <a:bodyPr/>
                    <a:lstStyle/>
                    <a:p>
                      <a:pPr algn="l" indent="0" marL="0">
                        <a:buNone/>
                      </a:pPr>
                      <a:r>
                        <a:rPr lang="en-US" sz="1150" b="1" dirty="0">
                          <a:solidFill>
                            <a:srgbClr val="C9622F"/>
                          </a:solidFill>
                          <a:latin typeface="Calibri" pitchFamily="34" charset="0"/>
                          <a:ea typeface="Calibri" pitchFamily="34" charset="-122"/>
                          <a:cs typeface="Calibri" pitchFamily="34" charset="-120"/>
                        </a:rPr>
                        <a:t>This study (C3)</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9622F"/>
                          </a:solidFill>
                          <a:latin typeface="Calibri" pitchFamily="34" charset="0"/>
                          <a:ea typeface="Calibri" pitchFamily="34" charset="-122"/>
                          <a:cs typeface="Calibri" pitchFamily="34" charset="-120"/>
                        </a:rPr>
                        <a:t>1.38</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Mycelium, cellulose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0.3 – 0.8</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Jones et al. 2020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Fired clay brick</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1.6 – 2.0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William &amp; Owen 1995</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Normal-weight concrete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William &amp; Owen 1995</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bl>
          </a:graphicData>
        </a:graphic>
      </p:graphicFrame>
      <p:sp>
        <p:nvSpPr>
          <p:cNvPr id="16" name="Text 12"/>
          <p:cNvSpPr txBox="1"/>
          <p:nvPr/>
        </p:nvSpPr>
        <p:spPr>
          <a:xfrm>
            <a:off x="6766560" y="5074920"/>
            <a:ext cx="466344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Quoted on a mould-volume basis and therefore a lower bound.</a:t>
            </a:r>
            <a:endParaRPr lang="en-US" sz="1000" dirty="0"/>
          </a:p>
        </p:txBody>
      </p:sp>
      <p:sp>
        <p:nvSpPr>
          <p:cNvPr id="18"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Benchmark I — conventional interior materials</a:t>
            </a:r>
            <a:endParaRPr lang="en-US" sz="2600" dirty="0"/>
          </a:p>
        </p:txBody>
      </p:sp>
      <p:graphicFrame>
        <p:nvGraphicFramePr>
          <p:cNvPr id="3" name="b1" descr=""/>
          <p:cNvGraphicFramePr/>
          <p:nvPr/>
        </p:nvGraphicFramePr>
        <p:xfrm>
          <a:off x="731520" y="1371600"/>
          <a:ext cx="7315200" cy="41148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31520" y="5532120"/>
            <a:ext cx="731520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Velasco &amp; Gaona 2011 · Klyosov 2007 · Nemli &amp; Aydın 2007 · Altun 2006</a:t>
            </a:r>
            <a:endParaRPr lang="en-US" sz="1000" dirty="0"/>
          </a:p>
        </p:txBody>
      </p:sp>
      <p:sp>
        <p:nvSpPr>
          <p:cNvPr id="5" name="Text 2"/>
          <p:cNvSpPr txBox="1"/>
          <p:nvPr/>
        </p:nvSpPr>
        <p:spPr>
          <a:xfrm>
            <a:off x="8412480" y="1371600"/>
            <a:ext cx="3017520" cy="237744"/>
          </a:xfrm>
          <a:prstGeom prst="rect">
            <a:avLst/>
          </a:prstGeom>
          <a:noFill/>
          <a:ln/>
        </p:spPr>
        <p:txBody>
          <a:bodyPr wrap="square" lIns="0" tIns="0" rIns="0" bIns="0" rtlCol="0" anchor="ctr"/>
          <a:lstStyle/>
          <a:p>
            <a:pPr indent="0" marL="0">
              <a:buNone/>
            </a:pPr>
            <a:r>
              <a:rPr lang="en-US" sz="950" b="1" spc="120" kern="0" dirty="0">
                <a:solidFill>
                  <a:srgbClr val="A8A49B"/>
                </a:solidFill>
              </a:rPr>
              <a:t>POSITION</a:t>
            </a:r>
            <a:endParaRPr lang="en-US" sz="950" dirty="0"/>
          </a:p>
        </p:txBody>
      </p:sp>
      <p:sp>
        <p:nvSpPr>
          <p:cNvPr id="6" name="Text 3"/>
          <p:cNvSpPr txBox="1"/>
          <p:nvPr/>
        </p:nvSpPr>
        <p:spPr>
          <a:xfrm>
            <a:off x="8412480" y="1691640"/>
            <a:ext cx="3017520" cy="2194560"/>
          </a:xfrm>
          <a:prstGeom prst="rect">
            <a:avLst/>
          </a:prstGeom>
          <a:noFill/>
          <a:ln/>
        </p:spPr>
        <p:txBody>
          <a:bodyPr wrap="square" lIns="0" tIns="0" rIns="0" bIns="0" rtlCol="0" anchor="t"/>
          <a:lstStyle/>
          <a:p>
            <a:pPr indent="0" marL="0">
              <a:lnSpc>
                <a:spcPts val="1850"/>
              </a:lnSpc>
              <a:buNone/>
            </a:pPr>
            <a:r>
              <a:rPr lang="en-US" sz="1250" dirty="0">
                <a:solidFill>
                  <a:srgbClr val="1A1A18"/>
                </a:solidFill>
              </a:rPr>
              <a:t>One sixth the compressive strength of MDF and one twentieth that of travertine — a stone the material visually resembles. Three times compressed mushroom panel, the only other fully bio-based board here.</a:t>
            </a:r>
            <a:endParaRPr lang="en-US" sz="1250" dirty="0"/>
          </a:p>
        </p:txBody>
      </p:sp>
      <p:sp>
        <p:nvSpPr>
          <p:cNvPr id="7" name="Text 4"/>
          <p:cNvSpPr txBox="1"/>
          <p:nvPr/>
        </p:nvSpPr>
        <p:spPr>
          <a:xfrm>
            <a:off x="8412480" y="4114800"/>
            <a:ext cx="3017520" cy="1371600"/>
          </a:xfrm>
          <a:prstGeom prst="rect">
            <a:avLst/>
          </a:prstGeom>
          <a:noFill/>
          <a:ln/>
        </p:spPr>
        <p:txBody>
          <a:bodyPr wrap="square" lIns="0" tIns="0" rIns="0" bIns="0" rtlCol="0" anchor="ctr"/>
          <a:lstStyle/>
          <a:p>
            <a:pPr indent="0" marL="0">
              <a:lnSpc>
                <a:spcPts val="1800"/>
              </a:lnSpc>
              <a:buNone/>
            </a:pPr>
            <a:r>
              <a:rPr lang="en-US" sz="1250" b="1" dirty="0">
                <a:solidFill>
                  <a:srgbClr val="C9622F"/>
                </a:solidFill>
              </a:rPr>
              <a:t>On strength alone it does not compete with engineered wood or stone, and this paper does not claim it does.</a:t>
            </a:r>
            <a:endParaRPr lang="en-US" sz="1250" dirty="0"/>
          </a:p>
        </p:txBody>
      </p:sp>
      <p:sp>
        <p:nvSpPr>
          <p:cNvPr id="9"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Benchmark II — bio-based composites</a:t>
            </a:r>
            <a:endParaRPr lang="en-US" sz="2600" dirty="0"/>
          </a:p>
        </p:txBody>
      </p:sp>
      <p:sp>
        <p:nvSpPr>
          <p:cNvPr id="3" name="Text 1"/>
          <p:cNvSpPr txBox="1"/>
          <p:nvPr/>
        </p:nvSpPr>
        <p:spPr>
          <a:xfrm>
            <a:off x="731520" y="1371600"/>
            <a:ext cx="5120640" cy="237744"/>
          </a:xfrm>
          <a:prstGeom prst="rect">
            <a:avLst/>
          </a:prstGeom>
          <a:noFill/>
          <a:ln/>
        </p:spPr>
        <p:txBody>
          <a:bodyPr wrap="square" lIns="0" tIns="0" rIns="0" bIns="0" rtlCol="0" anchor="ctr"/>
          <a:lstStyle/>
          <a:p>
            <a:pPr indent="0" marL="0">
              <a:buNone/>
            </a:pPr>
            <a:r>
              <a:rPr lang="en-US" sz="950" b="1" spc="120" kern="0" dirty="0">
                <a:solidFill>
                  <a:srgbClr val="A8A49B"/>
                </a:solidFill>
              </a:rPr>
              <a:t>COMPRESSIVE STRENGTH</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5120640" cy="914400"/>
        </p:xfrm>
        <a:graphic>
          <a:graphicData uri="http://schemas.openxmlformats.org/drawingml/2006/table">
            <a:tbl>
              <a:tblPr/>
              <a:tblGrid>
                <a:gridCol w="2377440"/>
                <a:gridCol w="1371600"/>
                <a:gridCol w="1371600"/>
              </a:tblGrid>
              <a:tr h="365760">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Material</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σᴄ MPa</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Reference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r>
              <a:tr h="365760">
                <a:tc>
                  <a:txBody>
                    <a:bodyPr/>
                    <a:lstStyle/>
                    <a:p>
                      <a:pPr algn="l" indent="0" marL="0">
                        <a:buNone/>
                      </a:pPr>
                      <a:r>
                        <a:rPr lang="en-US" sz="1150" b="1" dirty="0">
                          <a:solidFill>
                            <a:srgbClr val="C9622F"/>
                          </a:solidFill>
                          <a:latin typeface="Calibri" pitchFamily="34" charset="0"/>
                          <a:ea typeface="Calibri" pitchFamily="34" charset="-122"/>
                          <a:cs typeface="Calibri" pitchFamily="34" charset="-120"/>
                        </a:rPr>
                        <a:t>This study (C3)</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9622F"/>
                          </a:solidFill>
                          <a:latin typeface="Calibri" pitchFamily="34" charset="0"/>
                          <a:ea typeface="Calibri" pitchFamily="34" charset="-122"/>
                          <a:cs typeface="Calibri" pitchFamily="34" charset="-120"/>
                        </a:rPr>
                        <a:t>4.1</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Mycelium composite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0.145 – 0.452</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Jones et al. 2020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Hempcrete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0.3 – 0.6</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Arnaud &amp; Gourlay 2012</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Eggshell-filled PLA</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2 – 5</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Kim &amp; Pal 2010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Mineral-filled biocomposite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2.1 – 39.6</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Shah et al. 2016</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30% algae-filled</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21.3</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Kim &amp; Pal 2010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309360" y="1371600"/>
            <a:ext cx="5120640" cy="237744"/>
          </a:xfrm>
          <a:prstGeom prst="rect">
            <a:avLst/>
          </a:prstGeom>
          <a:noFill/>
          <a:ln/>
        </p:spPr>
        <p:txBody>
          <a:bodyPr wrap="square" lIns="0" tIns="0" rIns="0" bIns="0" rtlCol="0" anchor="ctr"/>
          <a:lstStyle/>
          <a:p>
            <a:pPr indent="0" marL="0">
              <a:buNone/>
            </a:pPr>
            <a:r>
              <a:rPr lang="en-US" sz="950" b="1" spc="120" kern="0" dirty="0">
                <a:solidFill>
                  <a:srgbClr val="A8A49B"/>
                </a:solidFill>
              </a:rPr>
              <a:t>ELASTIC MODULUS</a:t>
            </a:r>
            <a:endParaRPr lang="en-US" sz="95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309360" y="1691640"/>
          <a:ext cx="5120640" cy="914400"/>
        </p:xfrm>
        <a:graphic>
          <a:graphicData uri="http://schemas.openxmlformats.org/drawingml/2006/table">
            <a:tbl>
              <a:tblPr/>
              <a:tblGrid>
                <a:gridCol w="2286000"/>
                <a:gridCol w="1280160"/>
                <a:gridCol w="1554480"/>
              </a:tblGrid>
              <a:tr h="365760">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Material</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E MPa</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c>
                  <a:txBody>
                    <a:bodyPr/>
                    <a:lstStyle/>
                    <a:p>
                      <a:pPr algn="ctr" indent="0" marL="0">
                        <a:buNone/>
                      </a:pPr>
                      <a:r>
                        <a:rPr lang="en-US" sz="1150" b="1" dirty="0">
                          <a:solidFill>
                            <a:srgbClr val="1A1A18"/>
                          </a:solidFill>
                          <a:latin typeface="Calibri" pitchFamily="34" charset="0"/>
                          <a:ea typeface="Calibri" pitchFamily="34" charset="-122"/>
                          <a:cs typeface="Calibri" pitchFamily="34" charset="-120"/>
                        </a:rPr>
                        <a:t>Reference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7F5F0"/>
                    </a:solidFill>
                  </a:tcPr>
                </a:tc>
              </a:tr>
              <a:tr h="365760">
                <a:tc>
                  <a:txBody>
                    <a:bodyPr/>
                    <a:lstStyle/>
                    <a:p>
                      <a:pPr algn="l" indent="0" marL="0">
                        <a:buNone/>
                      </a:pPr>
                      <a:r>
                        <a:rPr lang="en-US" sz="1150" b="1" dirty="0">
                          <a:solidFill>
                            <a:srgbClr val="C9622F"/>
                          </a:solidFill>
                          <a:latin typeface="Calibri" pitchFamily="34" charset="0"/>
                          <a:ea typeface="Calibri" pitchFamily="34" charset="-122"/>
                          <a:cs typeface="Calibri" pitchFamily="34" charset="-120"/>
                        </a:rPr>
                        <a:t>This study (F2)</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9622F"/>
                          </a:solidFill>
                          <a:latin typeface="Calibri" pitchFamily="34" charset="0"/>
                          <a:ea typeface="Calibri" pitchFamily="34" charset="-122"/>
                          <a:cs typeface="Calibri" pitchFamily="34" charset="-120"/>
                        </a:rPr>
                        <a:t>192</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Mycelium composite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1.8 – 5</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Islam et al. 2018</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Soy-based bioplastic</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124</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Mansour et al. 2021</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Corn starch + hemp</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158</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Dweib et al. 2004</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Flax-fibre PLA</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198</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Faruk et al. 2012</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LDPE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100 – 300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Zhao et al. 2022</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Wood (pine)</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8"/>
                          </a:solidFill>
                          <a:latin typeface="Calibri" pitchFamily="34" charset="0"/>
                          <a:ea typeface="Calibri" pitchFamily="34" charset="-122"/>
                          <a:cs typeface="Calibri" pitchFamily="34" charset="-120"/>
                        </a:rPr>
                        <a:t>11 000</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8"/>
                          </a:solidFill>
                          <a:latin typeface="Calibri" pitchFamily="34" charset="0"/>
                          <a:ea typeface="Calibri" pitchFamily="34" charset="-122"/>
                          <a:cs typeface="Calibri" pitchFamily="34" charset="-120"/>
                        </a:rPr>
                        <a:t>Pope &amp; Hudson 1989</a:t>
                      </a:r>
                      <a:endParaRPr lang="en-US" sz="1150" dirty="0">
                        <a:latin typeface="Calibri" charset="0"/>
                        <a:ea typeface="Calibri" charset="0"/>
                        <a:cs typeface="Calibri" charset="0"/>
                      </a:endParaRPr>
                    </a:p>
                  </a:txBody>
                  <a:tcPr marL="91440" marR="91440" marT="45720" marB="45720" anchor="ctr">
                    <a:lnL w="12700" cap="flat" cmpd="sng" algn="ctr">
                      <a:solidFill>
                        <a:srgbClr val="E4E0D8"/>
                      </a:solidFill>
                      <a:prstDash val="solid"/>
                      <a:round/>
                      <a:headEnd type="none" w="med" len="med"/>
                      <a:tailEnd type="none" w="med" len="med"/>
                    </a:lnL>
                    <a:lnR w="12700" cap="flat" cmpd="sng" algn="ctr">
                      <a:solidFill>
                        <a:srgbClr val="E4E0D8"/>
                      </a:solidFill>
                      <a:prstDash val="solid"/>
                      <a:round/>
                      <a:headEnd type="none" w="med" len="med"/>
                      <a:tailEnd type="none" w="med" len="med"/>
                    </a:lnR>
                    <a:lnT w="12700" cap="flat" cmpd="sng" algn="ctr">
                      <a:solidFill>
                        <a:srgbClr val="E4E0D8"/>
                      </a:solidFill>
                      <a:prstDash val="solid"/>
                      <a:round/>
                      <a:headEnd type="none" w="med" len="med"/>
                      <a:tailEnd type="none" w="med" len="med"/>
                    </a:lnT>
                    <a:lnB w="12700" cap="flat" cmpd="sng" algn="ctr">
                      <a:solidFill>
                        <a:srgbClr val="E4E0D8"/>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731520" y="4617720"/>
            <a:ext cx="10698480" cy="411480"/>
          </a:xfrm>
          <a:prstGeom prst="rect">
            <a:avLst/>
          </a:prstGeom>
          <a:noFill/>
          <a:ln/>
        </p:spPr>
        <p:txBody>
          <a:bodyPr wrap="square" lIns="0" tIns="0" rIns="0" bIns="0" rtlCol="0" anchor="ctr"/>
          <a:lstStyle/>
          <a:p>
            <a:pPr indent="0" marL="0">
              <a:buNone/>
            </a:pPr>
            <a:r>
              <a:rPr lang="en-US" sz="1400" dirty="0">
                <a:solidFill>
                  <a:srgbClr val="1A1A18"/>
                </a:solidFill>
              </a:rPr>
              <a:t>An order of magnitude above the fungal and lime-binder family in compression, and inside the bio-polymer band in stiffness.</a:t>
            </a:r>
            <a:endParaRPr lang="en-US" sz="1400" dirty="0"/>
          </a:p>
        </p:txBody>
      </p:sp>
      <p:sp>
        <p:nvSpPr>
          <p:cNvPr id="8" name="Text 4"/>
          <p:cNvSpPr txBox="1"/>
          <p:nvPr/>
        </p:nvSpPr>
        <p:spPr>
          <a:xfrm>
            <a:off x="731520" y="5120640"/>
            <a:ext cx="10698480" cy="411480"/>
          </a:xfrm>
          <a:prstGeom prst="rect">
            <a:avLst/>
          </a:prstGeom>
          <a:noFill/>
          <a:ln/>
        </p:spPr>
        <p:txBody>
          <a:bodyPr wrap="square" lIns="0" tIns="0" rIns="0" bIns="0" rtlCol="0" anchor="ctr"/>
          <a:lstStyle/>
          <a:p>
            <a:pPr indent="0" marL="0">
              <a:buNone/>
            </a:pPr>
            <a:r>
              <a:rPr lang="en-US" sz="1400" b="1" dirty="0">
                <a:solidFill>
                  <a:srgbClr val="C9622F"/>
                </a:solidFill>
              </a:rPr>
              <a:t>A water-cast, ambient-dried material reaches the stiffness of melt-processed bio-polymers.</a:t>
            </a:r>
            <a:endParaRPr lang="en-US" sz="1400" dirty="0"/>
          </a:p>
        </p:txBody>
      </p:sp>
      <p:sp>
        <p:nvSpPr>
          <p:cNvPr id="9" name="Text 5"/>
          <p:cNvSpPr txBox="1"/>
          <p:nvPr/>
        </p:nvSpPr>
        <p:spPr>
          <a:xfrm>
            <a:off x="731520" y="5669280"/>
            <a:ext cx="1069848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Unfilled agar films in the packaging literature sit well below this: the mineral phase, not the binder, carries the stiffness.</a:t>
            </a:r>
            <a:endParaRPr lang="en-US" sz="1000" dirty="0"/>
          </a:p>
        </p:txBody>
      </p:sp>
      <p:sp>
        <p:nvSpPr>
          <p:cNvPr id="11"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FFFFFF"/>
                </a:solidFill>
              </a:rPr>
              <a:t>A derived property: modulus of resilience</a:t>
            </a:r>
            <a:endParaRPr lang="en-US" sz="2600" dirty="0"/>
          </a:p>
        </p:txBody>
      </p:sp>
      <p:sp>
        <p:nvSpPr>
          <p:cNvPr id="3" name="Text 1"/>
          <p:cNvSpPr txBox="1"/>
          <p:nvPr/>
        </p:nvSpPr>
        <p:spPr>
          <a:xfrm>
            <a:off x="731520" y="1554480"/>
            <a:ext cx="5120640" cy="237744"/>
          </a:xfrm>
          <a:prstGeom prst="rect">
            <a:avLst/>
          </a:prstGeom>
          <a:noFill/>
          <a:ln/>
        </p:spPr>
        <p:txBody>
          <a:bodyPr wrap="square" lIns="0" tIns="0" rIns="0" bIns="0" rtlCol="0" anchor="ctr"/>
          <a:lstStyle/>
          <a:p>
            <a:pPr indent="0" marL="0">
              <a:buNone/>
            </a:pPr>
            <a:r>
              <a:rPr lang="en-US" sz="950" b="1" spc="120" kern="0" dirty="0">
                <a:solidFill>
                  <a:srgbClr val="A9BFB1"/>
                </a:solidFill>
              </a:rPr>
              <a:t>DEFINITION</a:t>
            </a:r>
            <a:endParaRPr lang="en-US" sz="950" dirty="0"/>
          </a:p>
        </p:txBody>
      </p:sp>
      <p:sp>
        <p:nvSpPr>
          <p:cNvPr id="4" name="Text 2"/>
          <p:cNvSpPr txBox="1"/>
          <p:nvPr/>
        </p:nvSpPr>
        <p:spPr>
          <a:xfrm>
            <a:off x="731520" y="1874520"/>
            <a:ext cx="512064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Ur  =  σꜰ² / 2Eꜰ</a:t>
            </a:r>
            <a:endParaRPr lang="en-US" sz="2600" dirty="0"/>
          </a:p>
        </p:txBody>
      </p:sp>
      <p:sp>
        <p:nvSpPr>
          <p:cNvPr id="5" name="Text 3"/>
          <p:cNvSpPr txBox="1"/>
          <p:nvPr/>
        </p:nvSpPr>
        <p:spPr>
          <a:xfrm>
            <a:off x="731520" y="2514600"/>
            <a:ext cx="5120640" cy="822960"/>
          </a:xfrm>
          <a:prstGeom prst="rect">
            <a:avLst/>
          </a:prstGeom>
          <a:noFill/>
          <a:ln/>
        </p:spPr>
        <p:txBody>
          <a:bodyPr wrap="square" lIns="0" tIns="0" rIns="0" bIns="0" rtlCol="0" anchor="t"/>
          <a:lstStyle/>
          <a:p>
            <a:pPr indent="0" marL="0">
              <a:lnSpc>
                <a:spcPts val="1750"/>
              </a:lnSpc>
              <a:buNone/>
            </a:pPr>
            <a:r>
              <a:rPr lang="en-US" sz="1250" dirty="0">
                <a:solidFill>
                  <a:srgbClr val="A9BFB1"/>
                </a:solidFill>
              </a:rPr>
              <a:t>Elastic strain energy absorbed per unit volume up to permanent deformation — the area under the curve to yield.</a:t>
            </a:r>
            <a:endParaRPr lang="en-US" sz="1250" dirty="0"/>
          </a:p>
        </p:txBody>
      </p:sp>
      <p:sp>
        <p:nvSpPr>
          <p:cNvPr id="6" name="Text 4"/>
          <p:cNvSpPr txBox="1"/>
          <p:nvPr/>
        </p:nvSpPr>
        <p:spPr>
          <a:xfrm>
            <a:off x="731520" y="3566160"/>
            <a:ext cx="512064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2.325² / (2 × 192)  =  14.1 kJ/m³</a:t>
            </a:r>
            <a:endParaRPr lang="en-US" sz="1700" dirty="0"/>
          </a:p>
        </p:txBody>
      </p:sp>
      <p:sp>
        <p:nvSpPr>
          <p:cNvPr id="7" name="Text 5"/>
          <p:cNvSpPr txBox="1"/>
          <p:nvPr/>
        </p:nvSpPr>
        <p:spPr>
          <a:xfrm>
            <a:off x="731520" y="4069080"/>
            <a:ext cx="512064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from this study's own measured σꜰ and Eꜰ for F2</a:t>
            </a:r>
            <a:endParaRPr lang="en-US" sz="1000" dirty="0"/>
          </a:p>
        </p:txBody>
      </p:sp>
      <p:sp>
        <p:nvSpPr>
          <p:cNvPr id="8" name="Text 6"/>
          <p:cNvSpPr txBox="1"/>
          <p:nvPr/>
        </p:nvSpPr>
        <p:spPr>
          <a:xfrm>
            <a:off x="731520" y="4617720"/>
            <a:ext cx="5120640" cy="1005840"/>
          </a:xfrm>
          <a:prstGeom prst="rect">
            <a:avLst/>
          </a:prstGeom>
          <a:noFill/>
          <a:ln/>
        </p:spPr>
        <p:txBody>
          <a:bodyPr wrap="square" lIns="0" tIns="0" rIns="0" bIns="0" rtlCol="0" anchor="ctr"/>
          <a:lstStyle/>
          <a:p>
            <a:pPr indent="0" marL="0">
              <a:lnSpc>
                <a:spcPts val="2000"/>
              </a:lnSpc>
              <a:buNone/>
            </a:pPr>
            <a:r>
              <a:rPr lang="en-US" sz="1400" b="1" dirty="0">
                <a:solidFill>
                  <a:srgbClr val="F0C9A8"/>
                </a:solidFill>
              </a:rPr>
              <a:t>Stiffness sits in the denominator. The low modulus reported as a deficiency in Benchmark I is what raises this quantity.</a:t>
            </a:r>
            <a:endParaRPr lang="en-US" sz="1400" dirty="0"/>
          </a:p>
        </p:txBody>
      </p:sp>
      <p:sp>
        <p:nvSpPr>
          <p:cNvPr id="9" name="Text 7"/>
          <p:cNvSpPr txBox="1"/>
          <p:nvPr/>
        </p:nvSpPr>
        <p:spPr>
          <a:xfrm>
            <a:off x="6675120" y="1554480"/>
            <a:ext cx="4754880" cy="237744"/>
          </a:xfrm>
          <a:prstGeom prst="rect">
            <a:avLst/>
          </a:prstGeom>
          <a:noFill/>
          <a:ln/>
        </p:spPr>
        <p:txBody>
          <a:bodyPr wrap="square" lIns="0" tIns="0" rIns="0" bIns="0" rtlCol="0" anchor="ctr"/>
          <a:lstStyle/>
          <a:p>
            <a:pPr indent="0" marL="0">
              <a:buNone/>
            </a:pPr>
            <a:r>
              <a:rPr lang="en-US" sz="950" b="1" spc="120" kern="0" dirty="0">
                <a:solidFill>
                  <a:srgbClr val="A9BFB1"/>
                </a:solidFill>
              </a:rPr>
              <a:t>WHY IT FITS THIS CLASS</a:t>
            </a:r>
            <a:endParaRPr lang="en-US" sz="950" dirty="0"/>
          </a:p>
        </p:txBody>
      </p:sp>
      <p:sp>
        <p:nvSpPr>
          <p:cNvPr id="10" name="Text 8"/>
          <p:cNvSpPr txBox="1"/>
          <p:nvPr/>
        </p:nvSpPr>
        <p:spPr>
          <a:xfrm>
            <a:off x="6675120" y="1874520"/>
            <a:ext cx="4754880" cy="1828800"/>
          </a:xfrm>
          <a:prstGeom prst="rect">
            <a:avLst/>
          </a:prstGeom>
          <a:noFill/>
          <a:ln/>
        </p:spPr>
        <p:txBody>
          <a:bodyPr wrap="square" lIns="0" tIns="0" rIns="0" bIns="0" rtlCol="0" anchor="t"/>
          <a:lstStyle/>
          <a:p>
            <a:pPr indent="0" marL="0">
              <a:lnSpc>
                <a:spcPts val="1850"/>
              </a:lnSpc>
              <a:buNone/>
            </a:pPr>
            <a:r>
              <a:rPr lang="en-US" sz="1250" dirty="0">
                <a:solidFill>
                  <a:srgbClr val="FFFFFF"/>
                </a:solidFill>
              </a:rPr>
              <a:t>Both programmes gave the same qualitative result: substantial deformation with retained integrity. Strength records the load at which a material stops performing, not whether it then fails gracefully or catastrophically — which, for a demountable non-loadbearing component, governs service life.</a:t>
            </a:r>
            <a:endParaRPr lang="en-US" sz="1250" dirty="0"/>
          </a:p>
        </p:txBody>
      </p:sp>
      <p:sp>
        <p:nvSpPr>
          <p:cNvPr id="11" name="Text 9"/>
          <p:cNvSpPr txBox="1"/>
          <p:nvPr/>
        </p:nvSpPr>
        <p:spPr>
          <a:xfrm>
            <a:off x="6675120" y="3931920"/>
            <a:ext cx="4754880" cy="237744"/>
          </a:xfrm>
          <a:prstGeom prst="rect">
            <a:avLst/>
          </a:prstGeom>
          <a:noFill/>
          <a:ln/>
        </p:spPr>
        <p:txBody>
          <a:bodyPr wrap="square" lIns="0" tIns="0" rIns="0" bIns="0" rtlCol="0" anchor="ctr"/>
          <a:lstStyle/>
          <a:p>
            <a:pPr indent="0" marL="0">
              <a:buNone/>
            </a:pPr>
            <a:r>
              <a:rPr lang="en-US" sz="950" b="1" spc="120" kern="0" dirty="0">
                <a:solidFill>
                  <a:srgbClr val="A9BFB1"/>
                </a:solidFill>
              </a:rPr>
              <a:t>PROPOSAL, AND ITS LIMIT</a:t>
            </a:r>
            <a:endParaRPr lang="en-US" sz="950" dirty="0"/>
          </a:p>
        </p:txBody>
      </p:sp>
      <p:sp>
        <p:nvSpPr>
          <p:cNvPr id="12" name="Text 10"/>
          <p:cNvSpPr txBox="1"/>
          <p:nvPr/>
        </p:nvSpPr>
        <p:spPr>
          <a:xfrm>
            <a:off x="6675120" y="4251960"/>
            <a:ext cx="4754880" cy="1737360"/>
          </a:xfrm>
          <a:prstGeom prst="rect">
            <a:avLst/>
          </a:prstGeom>
          <a:noFill/>
          <a:ln/>
        </p:spPr>
        <p:txBody>
          <a:bodyPr wrap="square" lIns="0" tIns="0" rIns="0" bIns="0" rtlCol="0" anchor="t"/>
          <a:lstStyle/>
          <a:p>
            <a:pPr indent="0" marL="0">
              <a:lnSpc>
                <a:spcPts val="1750"/>
              </a:lnSpc>
              <a:buNone/>
            </a:pPr>
            <a:r>
              <a:rPr lang="en-US" sz="1250" dirty="0">
                <a:solidFill>
                  <a:srgbClr val="A9BFB1"/>
                </a:solidFill>
              </a:rPr>
              <a:t>Report σ and E from the same specimen set so Ur can be derived. At present the literature reports them in separate studies on different formulations, so a comparative table cannot be assembled. This is a data point and a measurement convention, not a ranking.</a:t>
            </a:r>
            <a:endParaRPr lang="en-US" sz="1250" dirty="0"/>
          </a:p>
        </p:txBody>
      </p:sp>
      <p:sp>
        <p:nvSpPr>
          <p:cNvPr id="14"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Application pathway</a:t>
            </a:r>
            <a:endParaRPr lang="en-US" sz="2600" dirty="0"/>
          </a:p>
        </p:txBody>
      </p:sp>
      <p:pic>
        <p:nvPicPr>
          <p:cNvPr id="3" name="mod" descr="/home/user/sanat-ve-mekan/konferans-bildirisi/03-gorseller/11-moduler-sistem.jpeg">    </p:cNvPr>
          <p:cNvPicPr>
            <a:picLocks noChangeAspect="1"/>
          </p:cNvPicPr>
          <p:nvPr/>
        </p:nvPicPr>
        <p:blipFill>
          <a:blip r:embed="rId1"/>
          <a:stretch>
            <a:fillRect/>
          </a:stretch>
        </p:blipFill>
        <p:spPr>
          <a:xfrm>
            <a:off x="731520" y="1417320"/>
            <a:ext cx="2834640" cy="2331720"/>
          </a:xfrm>
          <a:prstGeom prst="rect">
            <a:avLst/>
          </a:prstGeom>
        </p:spPr>
      </p:pic>
      <p:pic>
        <p:nvPicPr>
          <p:cNvPr id="4" name="ren" descr="/home/user/sanat-ve-mekan/konferans-bildirisi/03-gorseller/12-ic-mekan-render.jpeg">    </p:cNvPr>
          <p:cNvPicPr>
            <a:picLocks noChangeAspect="1"/>
          </p:cNvPicPr>
          <p:nvPr/>
        </p:nvPicPr>
        <p:blipFill>
          <a:blip r:embed="rId2"/>
          <a:stretch>
            <a:fillRect/>
          </a:stretch>
        </p:blipFill>
        <p:spPr>
          <a:xfrm>
            <a:off x="731520" y="3931920"/>
            <a:ext cx="2834640" cy="2322576"/>
          </a:xfrm>
          <a:prstGeom prst="rect">
            <a:avLst/>
          </a:prstGeom>
        </p:spPr>
      </p:pic>
      <p:sp>
        <p:nvSpPr>
          <p:cNvPr id="5" name="Text 1"/>
          <p:cNvSpPr txBox="1"/>
          <p:nvPr/>
        </p:nvSpPr>
        <p:spPr>
          <a:xfrm>
            <a:off x="3977640" y="1417320"/>
            <a:ext cx="7452360" cy="237744"/>
          </a:xfrm>
          <a:prstGeom prst="rect">
            <a:avLst/>
          </a:prstGeom>
          <a:noFill/>
          <a:ln/>
        </p:spPr>
        <p:txBody>
          <a:bodyPr wrap="square" lIns="0" tIns="0" rIns="0" bIns="0" rtlCol="0" anchor="ctr"/>
          <a:lstStyle/>
          <a:p>
            <a:pPr indent="0" marL="0">
              <a:buNone/>
            </a:pPr>
            <a:r>
              <a:rPr lang="en-US" sz="950" b="1" spc="120" kern="0" dirty="0">
                <a:solidFill>
                  <a:srgbClr val="A8A49B"/>
                </a:solidFill>
              </a:rPr>
              <a:t>DERIVED FROM THE MEASURED PROPERTIES</a:t>
            </a:r>
            <a:endParaRPr lang="en-US" sz="950" dirty="0"/>
          </a:p>
        </p:txBody>
      </p:sp>
      <p:sp>
        <p:nvSpPr>
          <p:cNvPr id="6" name="Text 2"/>
          <p:cNvSpPr txBox="1"/>
          <p:nvPr/>
        </p:nvSpPr>
        <p:spPr>
          <a:xfrm>
            <a:off x="3977640" y="1783080"/>
            <a:ext cx="7452360" cy="502920"/>
          </a:xfrm>
          <a:prstGeom prst="rect">
            <a:avLst/>
          </a:prstGeom>
          <a:noFill/>
          <a:ln/>
        </p:spPr>
        <p:txBody>
          <a:bodyPr wrap="square" lIns="0" tIns="0" rIns="0" bIns="0" rtlCol="0" anchor="ctr"/>
          <a:lstStyle/>
          <a:p>
            <a:pPr indent="0" marL="0">
              <a:lnSpc>
                <a:spcPts val="1700"/>
              </a:lnSpc>
              <a:buNone/>
            </a:pPr>
            <a:r>
              <a:rPr lang="en-US" sz="1250" b="1" dirty="0">
                <a:solidFill>
                  <a:srgbClr val="1A1A18"/>
                </a:solidFill>
              </a:rPr>
              <a:t>Low strength, high deformation capacity  →  </a:t>
            </a:r>
            <a:pPr indent="0" marL="0">
              <a:lnSpc>
                <a:spcPts val="1700"/>
              </a:lnSpc>
              <a:buNone/>
            </a:pPr>
            <a:r>
              <a:rPr lang="en-US" sz="1250" dirty="0">
                <a:solidFill>
                  <a:srgbClr val="77736B"/>
                </a:solidFill>
              </a:rPr>
              <a:t>self-weight and handling loads only; no structural duty</a:t>
            </a:r>
            <a:endParaRPr lang="en-US" sz="1250" dirty="0"/>
          </a:p>
        </p:txBody>
      </p:sp>
      <p:sp>
        <p:nvSpPr>
          <p:cNvPr id="7" name="Text 3"/>
          <p:cNvSpPr txBox="1"/>
          <p:nvPr/>
        </p:nvSpPr>
        <p:spPr>
          <a:xfrm>
            <a:off x="3977640" y="2350008"/>
            <a:ext cx="7452360" cy="502920"/>
          </a:xfrm>
          <a:prstGeom prst="rect">
            <a:avLst/>
          </a:prstGeom>
          <a:noFill/>
          <a:ln/>
        </p:spPr>
        <p:txBody>
          <a:bodyPr wrap="square" lIns="0" tIns="0" rIns="0" bIns="0" rtlCol="0" anchor="ctr"/>
          <a:lstStyle/>
          <a:p>
            <a:pPr indent="0" marL="0">
              <a:lnSpc>
                <a:spcPts val="1700"/>
              </a:lnSpc>
              <a:buNone/>
            </a:pPr>
            <a:r>
              <a:rPr lang="en-US" sz="1250" b="1" dirty="0">
                <a:solidFill>
                  <a:srgbClr val="1A1A18"/>
                </a:solidFill>
              </a:rPr>
              <a:t>Self-extinguishing, no dripping  →  </a:t>
            </a:r>
            <a:pPr indent="0" marL="0">
              <a:lnSpc>
                <a:spcPts val="1700"/>
              </a:lnSpc>
              <a:buNone/>
            </a:pPr>
            <a:r>
              <a:rPr lang="en-US" sz="1250" dirty="0">
                <a:solidFill>
                  <a:srgbClr val="77736B"/>
                </a:solidFill>
              </a:rPr>
              <a:t>interior surfaces away from ignition sources</a:t>
            </a:r>
            <a:endParaRPr lang="en-US" sz="1250" dirty="0"/>
          </a:p>
        </p:txBody>
      </p:sp>
      <p:sp>
        <p:nvSpPr>
          <p:cNvPr id="8" name="Text 4"/>
          <p:cNvSpPr txBox="1"/>
          <p:nvPr/>
        </p:nvSpPr>
        <p:spPr>
          <a:xfrm>
            <a:off x="3977640" y="2916936"/>
            <a:ext cx="7452360" cy="502920"/>
          </a:xfrm>
          <a:prstGeom prst="rect">
            <a:avLst/>
          </a:prstGeom>
          <a:noFill/>
          <a:ln/>
        </p:spPr>
        <p:txBody>
          <a:bodyPr wrap="square" lIns="0" tIns="0" rIns="0" bIns="0" rtlCol="0" anchor="ctr"/>
          <a:lstStyle/>
          <a:p>
            <a:pPr indent="0" marL="0">
              <a:lnSpc>
                <a:spcPts val="1700"/>
              </a:lnSpc>
              <a:buNone/>
            </a:pPr>
            <a:r>
              <a:rPr lang="en-US" sz="1250" b="1" dirty="0">
                <a:solidFill>
                  <a:srgbClr val="1A1A18"/>
                </a:solidFill>
              </a:rPr>
              <a:t>Coating-dependent water resistance  →  </a:t>
            </a:r>
            <a:pPr indent="0" marL="0">
              <a:lnSpc>
                <a:spcPts val="1700"/>
              </a:lnSpc>
              <a:buNone/>
            </a:pPr>
            <a:r>
              <a:rPr lang="en-US" sz="1250" dirty="0">
                <a:solidFill>
                  <a:srgbClr val="77736B"/>
                </a:solidFill>
              </a:rPr>
              <a:t>dry interiors; not wet rooms or facades</a:t>
            </a:r>
            <a:endParaRPr lang="en-US" sz="1250" dirty="0"/>
          </a:p>
        </p:txBody>
      </p:sp>
      <p:sp>
        <p:nvSpPr>
          <p:cNvPr id="9" name="Text 5"/>
          <p:cNvSpPr txBox="1"/>
          <p:nvPr/>
        </p:nvSpPr>
        <p:spPr>
          <a:xfrm>
            <a:off x="3977640" y="3483864"/>
            <a:ext cx="7452360" cy="502920"/>
          </a:xfrm>
          <a:prstGeom prst="rect">
            <a:avLst/>
          </a:prstGeom>
          <a:noFill/>
          <a:ln/>
        </p:spPr>
        <p:txBody>
          <a:bodyPr wrap="square" lIns="0" tIns="0" rIns="0" bIns="0" rtlCol="0" anchor="ctr"/>
          <a:lstStyle/>
          <a:p>
            <a:pPr indent="0" marL="0">
              <a:lnSpc>
                <a:spcPts val="1700"/>
              </a:lnSpc>
              <a:buNone/>
            </a:pPr>
            <a:r>
              <a:rPr lang="en-US" sz="1250" b="1" dirty="0">
                <a:solidFill>
                  <a:srgbClr val="1A1A18"/>
                </a:solidFill>
              </a:rPr>
              <a:t>Repeatable small-format casting  →  </a:t>
            </a:r>
            <a:pPr indent="0" marL="0">
              <a:lnSpc>
                <a:spcPts val="1700"/>
              </a:lnSpc>
              <a:buNone/>
            </a:pPr>
            <a:r>
              <a:rPr lang="en-US" sz="1250" dirty="0">
                <a:solidFill>
                  <a:srgbClr val="77736B"/>
                </a:solidFill>
              </a:rPr>
              <a:t>a module, not a sheet — failure is replaced one unit at a time</a:t>
            </a:r>
            <a:endParaRPr lang="en-US" sz="1250" dirty="0"/>
          </a:p>
        </p:txBody>
      </p:sp>
      <p:sp>
        <p:nvSpPr>
          <p:cNvPr id="10" name="Text 6"/>
          <p:cNvSpPr txBox="1"/>
          <p:nvPr/>
        </p:nvSpPr>
        <p:spPr>
          <a:xfrm>
            <a:off x="3977640" y="4206240"/>
            <a:ext cx="7452360" cy="237744"/>
          </a:xfrm>
          <a:prstGeom prst="rect">
            <a:avLst/>
          </a:prstGeom>
          <a:noFill/>
          <a:ln/>
        </p:spPr>
        <p:txBody>
          <a:bodyPr wrap="square" lIns="0" tIns="0" rIns="0" bIns="0" rtlCol="0" anchor="ctr"/>
          <a:lstStyle/>
          <a:p>
            <a:pPr indent="0" marL="0">
              <a:buNone/>
            </a:pPr>
            <a:r>
              <a:rPr lang="en-US" sz="950" b="1" spc="120" kern="0" dirty="0">
                <a:solidFill>
                  <a:srgbClr val="A8A49B"/>
                </a:solidFill>
              </a:rPr>
              <a:t>SYSTEM CHARACTERISTICS</a:t>
            </a:r>
            <a:endParaRPr lang="en-US" sz="950" dirty="0"/>
          </a:p>
        </p:txBody>
      </p:sp>
      <p:sp>
        <p:nvSpPr>
          <p:cNvPr id="11" name="Text 7"/>
          <p:cNvSpPr txBox="1"/>
          <p:nvPr/>
        </p:nvSpPr>
        <p:spPr>
          <a:xfrm>
            <a:off x="3977640" y="4526280"/>
            <a:ext cx="7452360" cy="1737360"/>
          </a:xfrm>
          <a:prstGeom prst="rect">
            <a:avLst/>
          </a:prstGeom>
          <a:noFill/>
          <a:ln/>
        </p:spPr>
        <p:txBody>
          <a:bodyPr wrap="square" lIns="0" tIns="0" rIns="0" bIns="0" rtlCol="0" anchor="ctr"/>
          <a:lstStyle/>
          <a:p>
            <a:pPr marL="342900" indent="-342900">
              <a:lnSpc>
                <a:spcPts val="1750"/>
              </a:lnSpc>
              <a:spcAft>
                <a:spcPts val="700"/>
              </a:spcAft>
              <a:buSzPct val="100000"/>
              <a:buChar char="•"/>
            </a:pPr>
            <a:r>
              <a:rPr lang="en-US" sz="1250" dirty="0">
                <a:solidFill>
                  <a:srgbClr val="1A1A18"/>
                </a:solidFill>
              </a:rPr>
              <a:t>Reversible assembly — cast units joined without adhesive, recoverable intact</a:t>
            </a:r>
            <a:endParaRPr lang="en-US" sz="1250" dirty="0"/>
          </a:p>
          <a:p>
            <a:pPr marL="342900" indent="-342900">
              <a:lnSpc>
                <a:spcPts val="1750"/>
              </a:lnSpc>
              <a:spcAft>
                <a:spcPts val="700"/>
              </a:spcAft>
              <a:buSzPct val="100000"/>
              <a:buChar char="•"/>
            </a:pPr>
            <a:r>
              <a:rPr lang="en-US" sz="1250" dirty="0">
                <a:solidFill>
                  <a:srgbClr val="1A1A18"/>
                </a:solidFill>
              </a:rPr>
              <a:t>Distributed load path — units interlock and share load across neighbours</a:t>
            </a:r>
            <a:endParaRPr lang="en-US" sz="1250" dirty="0"/>
          </a:p>
          <a:p>
            <a:pPr marL="342900" indent="-342900">
              <a:lnSpc>
                <a:spcPts val="1750"/>
              </a:lnSpc>
              <a:spcAft>
                <a:spcPts val="700"/>
              </a:spcAft>
              <a:buSzPct val="100000"/>
              <a:buChar char="•"/>
            </a:pPr>
            <a:r>
              <a:rPr lang="en-US" sz="1250" dirty="0">
                <a:solidFill>
                  <a:srgbClr val="1A1A18"/>
                </a:solidFill>
              </a:rPr>
              <a:t>Unit replaceability — a damaged unit is exchanged without dismantling</a:t>
            </a:r>
            <a:endParaRPr lang="en-US" sz="1250" dirty="0"/>
          </a:p>
          <a:p>
            <a:pPr marL="342900" indent="-342900">
              <a:lnSpc>
                <a:spcPts val="1750"/>
              </a:lnSpc>
              <a:spcAft>
                <a:spcPts val="700"/>
              </a:spcAft>
              <a:buSzPct val="100000"/>
              <a:buChar char="•"/>
            </a:pPr>
            <a:r>
              <a:rPr lang="en-US" sz="1250" dirty="0">
                <a:solidFill>
                  <a:srgbClr val="1A1A18"/>
                </a:solidFill>
              </a:rPr>
              <a:t>Formulation-family variation — colour and texture from pigment and mould geometry</a:t>
            </a:r>
            <a:endParaRPr lang="en-US" sz="1250" dirty="0"/>
          </a:p>
        </p:txBody>
      </p:sp>
      <p:sp>
        <p:nvSpPr>
          <p:cNvPr id="13"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Potentials for sustainable interiors</a:t>
            </a:r>
            <a:endParaRPr lang="en-US" sz="2600" dirty="0"/>
          </a:p>
        </p:txBody>
      </p:sp>
      <p:sp>
        <p:nvSpPr>
          <p:cNvPr id="3" name="Text 1"/>
          <p:cNvSpPr txBox="1"/>
          <p:nvPr/>
        </p:nvSpPr>
        <p:spPr>
          <a:xfrm>
            <a:off x="731520" y="1463040"/>
            <a:ext cx="5120640" cy="292608"/>
          </a:xfrm>
          <a:prstGeom prst="rect">
            <a:avLst/>
          </a:prstGeom>
          <a:noFill/>
          <a:ln/>
        </p:spPr>
        <p:txBody>
          <a:bodyPr wrap="square" lIns="0" tIns="0" rIns="0" bIns="0" rtlCol="0" anchor="ctr"/>
          <a:lstStyle/>
          <a:p>
            <a:pPr indent="0" marL="0">
              <a:buNone/>
            </a:pPr>
            <a:r>
              <a:rPr lang="en-US" sz="1350" b="1" dirty="0">
                <a:solidFill>
                  <a:srgbClr val="1A1A18"/>
                </a:solidFill>
              </a:rPr>
              <a:t>Waste valorisation at source</a:t>
            </a:r>
            <a:endParaRPr lang="en-US" sz="1350" dirty="0"/>
          </a:p>
        </p:txBody>
      </p:sp>
      <p:sp>
        <p:nvSpPr>
          <p:cNvPr id="4" name="Text 2"/>
          <p:cNvSpPr txBox="1"/>
          <p:nvPr/>
        </p:nvSpPr>
        <p:spPr>
          <a:xfrm>
            <a:off x="731520" y="1792224"/>
            <a:ext cx="5120640" cy="777240"/>
          </a:xfrm>
          <a:prstGeom prst="rect">
            <a:avLst/>
          </a:prstGeom>
          <a:noFill/>
          <a:ln/>
        </p:spPr>
        <p:txBody>
          <a:bodyPr wrap="square" lIns="0" tIns="0" rIns="0" bIns="0" rtlCol="0" anchor="ctr"/>
          <a:lstStyle/>
          <a:p>
            <a:pPr indent="0" marL="0">
              <a:lnSpc>
                <a:spcPts val="1600"/>
              </a:lnSpc>
              <a:buNone/>
            </a:pPr>
            <a:r>
              <a:rPr lang="en-US" sz="1150" dirty="0">
                <a:solidFill>
                  <a:srgbClr val="77736B"/>
                </a:solidFill>
              </a:rPr>
              <a:t>A local food-waste stream becomes a surface material with no intermediate industry.</a:t>
            </a:r>
            <a:endParaRPr lang="en-US" sz="1150" dirty="0"/>
          </a:p>
        </p:txBody>
      </p:sp>
      <p:sp>
        <p:nvSpPr>
          <p:cNvPr id="5" name="Text 3"/>
          <p:cNvSpPr txBox="1"/>
          <p:nvPr/>
        </p:nvSpPr>
        <p:spPr>
          <a:xfrm>
            <a:off x="6355080" y="1463040"/>
            <a:ext cx="5120640" cy="292608"/>
          </a:xfrm>
          <a:prstGeom prst="rect">
            <a:avLst/>
          </a:prstGeom>
          <a:noFill/>
          <a:ln/>
        </p:spPr>
        <p:txBody>
          <a:bodyPr wrap="square" lIns="0" tIns="0" rIns="0" bIns="0" rtlCol="0" anchor="ctr"/>
          <a:lstStyle/>
          <a:p>
            <a:pPr indent="0" marL="0">
              <a:buNone/>
            </a:pPr>
            <a:r>
              <a:rPr lang="en-US" sz="1350" b="1" dirty="0">
                <a:solidFill>
                  <a:srgbClr val="1A1A18"/>
                </a:solidFill>
              </a:rPr>
              <a:t>Low-energy production</a:t>
            </a:r>
            <a:endParaRPr lang="en-US" sz="1350" dirty="0"/>
          </a:p>
        </p:txBody>
      </p:sp>
      <p:sp>
        <p:nvSpPr>
          <p:cNvPr id="6" name="Text 4"/>
          <p:cNvSpPr txBox="1"/>
          <p:nvPr/>
        </p:nvSpPr>
        <p:spPr>
          <a:xfrm>
            <a:off x="6355080" y="1792224"/>
            <a:ext cx="5120640" cy="777240"/>
          </a:xfrm>
          <a:prstGeom prst="rect">
            <a:avLst/>
          </a:prstGeom>
          <a:noFill/>
          <a:ln/>
        </p:spPr>
        <p:txBody>
          <a:bodyPr wrap="square" lIns="0" tIns="0" rIns="0" bIns="0" rtlCol="0" anchor="ctr"/>
          <a:lstStyle/>
          <a:p>
            <a:pPr indent="0" marL="0">
              <a:lnSpc>
                <a:spcPts val="1600"/>
              </a:lnSpc>
              <a:buNone/>
            </a:pPr>
            <a:r>
              <a:rPr lang="en-US" sz="1150" dirty="0">
                <a:solidFill>
                  <a:srgbClr val="77736B"/>
                </a:solidFill>
              </a:rPr>
              <a:t>No oven, no autoclave, no extrusion. One 55-minute cook, then ambient drying.</a:t>
            </a:r>
            <a:endParaRPr lang="en-US" sz="1150" dirty="0"/>
          </a:p>
        </p:txBody>
      </p:sp>
      <p:sp>
        <p:nvSpPr>
          <p:cNvPr id="7" name="Text 5"/>
          <p:cNvSpPr txBox="1"/>
          <p:nvPr/>
        </p:nvSpPr>
        <p:spPr>
          <a:xfrm>
            <a:off x="731520" y="2834640"/>
            <a:ext cx="5120640" cy="292608"/>
          </a:xfrm>
          <a:prstGeom prst="rect">
            <a:avLst/>
          </a:prstGeom>
          <a:noFill/>
          <a:ln/>
        </p:spPr>
        <p:txBody>
          <a:bodyPr wrap="square" lIns="0" tIns="0" rIns="0" bIns="0" rtlCol="0" anchor="ctr"/>
          <a:lstStyle/>
          <a:p>
            <a:pPr indent="0" marL="0">
              <a:buNone/>
            </a:pPr>
            <a:r>
              <a:rPr lang="en-US" sz="1350" b="1" dirty="0">
                <a:solidFill>
                  <a:srgbClr val="1A1A18"/>
                </a:solidFill>
              </a:rPr>
              <a:t>End-of-life by design</a:t>
            </a:r>
            <a:endParaRPr lang="en-US" sz="1350" dirty="0"/>
          </a:p>
        </p:txBody>
      </p:sp>
      <p:sp>
        <p:nvSpPr>
          <p:cNvPr id="8" name="Text 6"/>
          <p:cNvSpPr txBox="1"/>
          <p:nvPr/>
        </p:nvSpPr>
        <p:spPr>
          <a:xfrm>
            <a:off x="731520" y="3163824"/>
            <a:ext cx="5120640" cy="777240"/>
          </a:xfrm>
          <a:prstGeom prst="rect">
            <a:avLst/>
          </a:prstGeom>
          <a:noFill/>
          <a:ln/>
        </p:spPr>
        <p:txBody>
          <a:bodyPr wrap="square" lIns="0" tIns="0" rIns="0" bIns="0" rtlCol="0" anchor="ctr"/>
          <a:lstStyle/>
          <a:p>
            <a:pPr indent="0" marL="0">
              <a:lnSpc>
                <a:spcPts val="1600"/>
              </a:lnSpc>
              <a:buNone/>
            </a:pPr>
            <a:r>
              <a:rPr lang="en-US" sz="1150" dirty="0">
                <a:solidFill>
                  <a:srgbClr val="77736B"/>
                </a:solidFill>
              </a:rPr>
              <a:t>Every constituent biodegrades, including the shellac finish.</a:t>
            </a:r>
            <a:endParaRPr lang="en-US" sz="1150" dirty="0"/>
          </a:p>
        </p:txBody>
      </p:sp>
      <p:sp>
        <p:nvSpPr>
          <p:cNvPr id="9" name="Text 7"/>
          <p:cNvSpPr txBox="1"/>
          <p:nvPr/>
        </p:nvSpPr>
        <p:spPr>
          <a:xfrm>
            <a:off x="6355080" y="2834640"/>
            <a:ext cx="5120640" cy="292608"/>
          </a:xfrm>
          <a:prstGeom prst="rect">
            <a:avLst/>
          </a:prstGeom>
          <a:noFill/>
          <a:ln/>
        </p:spPr>
        <p:txBody>
          <a:bodyPr wrap="square" lIns="0" tIns="0" rIns="0" bIns="0" rtlCol="0" anchor="ctr"/>
          <a:lstStyle/>
          <a:p>
            <a:pPr indent="0" marL="0">
              <a:buNone/>
            </a:pPr>
            <a:r>
              <a:rPr lang="en-US" sz="1350" b="1" dirty="0">
                <a:solidFill>
                  <a:srgbClr val="1A1A18"/>
                </a:solidFill>
              </a:rPr>
              <a:t>Reversible assembly</a:t>
            </a:r>
            <a:endParaRPr lang="en-US" sz="1350" dirty="0"/>
          </a:p>
        </p:txBody>
      </p:sp>
      <p:sp>
        <p:nvSpPr>
          <p:cNvPr id="10" name="Text 8"/>
          <p:cNvSpPr txBox="1"/>
          <p:nvPr/>
        </p:nvSpPr>
        <p:spPr>
          <a:xfrm>
            <a:off x="6355080" y="3163824"/>
            <a:ext cx="5120640" cy="777240"/>
          </a:xfrm>
          <a:prstGeom prst="rect">
            <a:avLst/>
          </a:prstGeom>
          <a:noFill/>
          <a:ln/>
        </p:spPr>
        <p:txBody>
          <a:bodyPr wrap="square" lIns="0" tIns="0" rIns="0" bIns="0" rtlCol="0" anchor="ctr"/>
          <a:lstStyle/>
          <a:p>
            <a:pPr indent="0" marL="0">
              <a:lnSpc>
                <a:spcPts val="1600"/>
              </a:lnSpc>
              <a:buNone/>
            </a:pPr>
            <a:r>
              <a:rPr lang="en-US" sz="1150" dirty="0">
                <a:solidFill>
                  <a:srgbClr val="77736B"/>
                </a:solidFill>
              </a:rPr>
              <a:t>Adhesive-free modular assembly means reuse precedes recycling.</a:t>
            </a:r>
            <a:endParaRPr lang="en-US" sz="1150" dirty="0"/>
          </a:p>
        </p:txBody>
      </p:sp>
      <p:sp>
        <p:nvSpPr>
          <p:cNvPr id="11" name="Text 9"/>
          <p:cNvSpPr txBox="1"/>
          <p:nvPr/>
        </p:nvSpPr>
        <p:spPr>
          <a:xfrm>
            <a:off x="731520" y="4206240"/>
            <a:ext cx="5120640" cy="292608"/>
          </a:xfrm>
          <a:prstGeom prst="rect">
            <a:avLst/>
          </a:prstGeom>
          <a:noFill/>
          <a:ln/>
        </p:spPr>
        <p:txBody>
          <a:bodyPr wrap="square" lIns="0" tIns="0" rIns="0" bIns="0" rtlCol="0" anchor="ctr"/>
          <a:lstStyle/>
          <a:p>
            <a:pPr indent="0" marL="0">
              <a:buNone/>
            </a:pPr>
            <a:r>
              <a:rPr lang="en-US" sz="1350" b="1" dirty="0">
                <a:solidFill>
                  <a:srgbClr val="1A1A18"/>
                </a:solidFill>
              </a:rPr>
              <a:t>Displacing a mineral extraction</a:t>
            </a:r>
            <a:endParaRPr lang="en-US" sz="1350" dirty="0"/>
          </a:p>
        </p:txBody>
      </p:sp>
      <p:sp>
        <p:nvSpPr>
          <p:cNvPr id="12" name="Text 10"/>
          <p:cNvSpPr txBox="1"/>
          <p:nvPr/>
        </p:nvSpPr>
        <p:spPr>
          <a:xfrm>
            <a:off x="731520" y="4535424"/>
            <a:ext cx="5120640" cy="777240"/>
          </a:xfrm>
          <a:prstGeom prst="rect">
            <a:avLst/>
          </a:prstGeom>
          <a:noFill/>
          <a:ln/>
        </p:spPr>
        <p:txBody>
          <a:bodyPr wrap="square" lIns="0" tIns="0" rIns="0" bIns="0" rtlCol="0" anchor="ctr"/>
          <a:lstStyle/>
          <a:p>
            <a:pPr indent="0" marL="0">
              <a:lnSpc>
                <a:spcPts val="1600"/>
              </a:lnSpc>
              <a:buNone/>
            </a:pPr>
            <a:r>
              <a:rPr lang="en-US" sz="1150" dirty="0">
                <a:solidFill>
                  <a:srgbClr val="77736B"/>
                </a:solidFill>
              </a:rPr>
              <a:t>Substitutes quarried limestone in a surface application, not a downcycled use.</a:t>
            </a:r>
            <a:endParaRPr lang="en-US" sz="1150" dirty="0"/>
          </a:p>
        </p:txBody>
      </p:sp>
      <p:sp>
        <p:nvSpPr>
          <p:cNvPr id="13" name="Text 11"/>
          <p:cNvSpPr txBox="1"/>
          <p:nvPr/>
        </p:nvSpPr>
        <p:spPr>
          <a:xfrm>
            <a:off x="6355080" y="4206240"/>
            <a:ext cx="5120640" cy="292608"/>
          </a:xfrm>
          <a:prstGeom prst="rect">
            <a:avLst/>
          </a:prstGeom>
          <a:noFill/>
          <a:ln/>
        </p:spPr>
        <p:txBody>
          <a:bodyPr wrap="square" lIns="0" tIns="0" rIns="0" bIns="0" rtlCol="0" anchor="ctr"/>
          <a:lstStyle/>
          <a:p>
            <a:pPr indent="0" marL="0">
              <a:buNone/>
            </a:pPr>
            <a:r>
              <a:rPr lang="en-US" sz="1350" b="1" dirty="0">
                <a:solidFill>
                  <a:srgbClr val="1A1A18"/>
                </a:solidFill>
              </a:rPr>
              <a:t>Low-barrier manufacture</a:t>
            </a:r>
            <a:endParaRPr lang="en-US" sz="1350" dirty="0"/>
          </a:p>
        </p:txBody>
      </p:sp>
      <p:sp>
        <p:nvSpPr>
          <p:cNvPr id="14" name="Text 12"/>
          <p:cNvSpPr txBox="1"/>
          <p:nvPr/>
        </p:nvSpPr>
        <p:spPr>
          <a:xfrm>
            <a:off x="6355080" y="4535424"/>
            <a:ext cx="5120640" cy="777240"/>
          </a:xfrm>
          <a:prstGeom prst="rect">
            <a:avLst/>
          </a:prstGeom>
          <a:noFill/>
          <a:ln/>
        </p:spPr>
        <p:txBody>
          <a:bodyPr wrap="square" lIns="0" tIns="0" rIns="0" bIns="0" rtlCol="0" anchor="ctr"/>
          <a:lstStyle/>
          <a:p>
            <a:pPr indent="0" marL="0">
              <a:lnSpc>
                <a:spcPts val="1600"/>
              </a:lnSpc>
              <a:buNone/>
            </a:pPr>
            <a:r>
              <a:rPr lang="en-US" sz="1150" dirty="0">
                <a:solidFill>
                  <a:srgbClr val="77736B"/>
                </a:solidFill>
              </a:rPr>
              <a:t>A grinder, a sieve, a hotplate and silicone moulds. Production can be distributed.</a:t>
            </a:r>
            <a:endParaRPr lang="en-US" sz="1150" dirty="0"/>
          </a:p>
        </p:txBody>
      </p:sp>
      <p:sp>
        <p:nvSpPr>
          <p:cNvPr id="15" name="Text 13"/>
          <p:cNvSpPr txBox="1"/>
          <p:nvPr/>
        </p:nvSpPr>
        <p:spPr>
          <a:xfrm>
            <a:off x="731520" y="5715000"/>
            <a:ext cx="10698480" cy="365760"/>
          </a:xfrm>
          <a:prstGeom prst="rect">
            <a:avLst/>
          </a:prstGeom>
          <a:noFill/>
          <a:ln/>
        </p:spPr>
        <p:txBody>
          <a:bodyPr wrap="square" lIns="0" tIns="0" rIns="0" bIns="0" rtlCol="0" anchor="ctr"/>
          <a:lstStyle/>
          <a:p>
            <a:pPr indent="0" marL="0">
              <a:buNone/>
            </a:pPr>
            <a:r>
              <a:rPr lang="en-US" sz="1200" b="1" dirty="0">
                <a:solidFill>
                  <a:srgbClr val="C9622F"/>
                </a:solidFill>
              </a:rPr>
              <a:t>No life-cycle assessment was carried out. These are qualitative potentials grounded in the protocol, not quantified environmental claims.</a:t>
            </a:r>
            <a:endParaRPr lang="en-US" sz="1200" dirty="0"/>
          </a:p>
        </p:txBody>
      </p:sp>
      <p:sp>
        <p:nvSpPr>
          <p:cNvPr id="17"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Limitations</a:t>
            </a:r>
            <a:endParaRPr lang="en-US" sz="2600" dirty="0"/>
          </a:p>
        </p:txBody>
      </p:sp>
      <p:sp>
        <p:nvSpPr>
          <p:cNvPr id="3" name="Text 1"/>
          <p:cNvSpPr txBox="1"/>
          <p:nvPr/>
        </p:nvSpPr>
        <p:spPr>
          <a:xfrm>
            <a:off x="731520" y="1417320"/>
            <a:ext cx="5120640" cy="274320"/>
          </a:xfrm>
          <a:prstGeom prst="rect">
            <a:avLst/>
          </a:prstGeom>
          <a:noFill/>
          <a:ln/>
        </p:spPr>
        <p:txBody>
          <a:bodyPr wrap="square" lIns="0" tIns="0" rIns="0" bIns="0" rtlCol="0" anchor="ctr"/>
          <a:lstStyle/>
          <a:p>
            <a:pPr indent="0" marL="0">
              <a:buNone/>
            </a:pPr>
            <a:r>
              <a:rPr lang="en-US" sz="1250" b="1" dirty="0">
                <a:solidFill>
                  <a:srgbClr val="1A1A18"/>
                </a:solidFill>
              </a:rPr>
              <a:t>Dispersion not reported</a:t>
            </a:r>
            <a:endParaRPr lang="en-US" sz="1250" dirty="0"/>
          </a:p>
        </p:txBody>
      </p:sp>
      <p:sp>
        <p:nvSpPr>
          <p:cNvPr id="4" name="Text 2"/>
          <p:cNvSpPr txBox="1"/>
          <p:nvPr/>
        </p:nvSpPr>
        <p:spPr>
          <a:xfrm>
            <a:off x="731520" y="1719072"/>
            <a:ext cx="5120640" cy="658368"/>
          </a:xfrm>
          <a:prstGeom prst="rect">
            <a:avLst/>
          </a:prstGeom>
          <a:noFill/>
          <a:ln/>
        </p:spPr>
        <p:txBody>
          <a:bodyPr wrap="square" lIns="0" tIns="0" rIns="0" bIns="0" rtlCol="0" anchor="ctr"/>
          <a:lstStyle/>
          <a:p>
            <a:pPr indent="0" marL="0">
              <a:lnSpc>
                <a:spcPts val="1500"/>
              </a:lnSpc>
              <a:buNone/>
            </a:pPr>
            <a:r>
              <a:rPr lang="en-US" sz="1100" dirty="0">
                <a:solidFill>
                  <a:srgbClr val="77736B"/>
                </a:solidFill>
              </a:rPr>
              <a:t>Means of three specimens; individual values not retained, so no standard deviations.</a:t>
            </a:r>
            <a:endParaRPr lang="en-US" sz="1100" dirty="0"/>
          </a:p>
        </p:txBody>
      </p:sp>
      <p:sp>
        <p:nvSpPr>
          <p:cNvPr id="5" name="Text 3"/>
          <p:cNvSpPr txBox="1"/>
          <p:nvPr/>
        </p:nvSpPr>
        <p:spPr>
          <a:xfrm>
            <a:off x="6355080" y="1417320"/>
            <a:ext cx="5120640" cy="274320"/>
          </a:xfrm>
          <a:prstGeom prst="rect">
            <a:avLst/>
          </a:prstGeom>
          <a:noFill/>
          <a:ln/>
        </p:spPr>
        <p:txBody>
          <a:bodyPr wrap="square" lIns="0" tIns="0" rIns="0" bIns="0" rtlCol="0" anchor="ctr"/>
          <a:lstStyle/>
          <a:p>
            <a:pPr indent="0" marL="0">
              <a:buNone/>
            </a:pPr>
            <a:r>
              <a:rPr lang="en-US" sz="1250" b="1" dirty="0">
                <a:solidFill>
                  <a:srgbClr val="1A1A18"/>
                </a:solidFill>
              </a:rPr>
              <a:t>Formulation confound in flexure</a:t>
            </a:r>
            <a:endParaRPr lang="en-US" sz="1250" dirty="0"/>
          </a:p>
        </p:txBody>
      </p:sp>
      <p:sp>
        <p:nvSpPr>
          <p:cNvPr id="6" name="Text 4"/>
          <p:cNvSpPr txBox="1"/>
          <p:nvPr/>
        </p:nvSpPr>
        <p:spPr>
          <a:xfrm>
            <a:off x="6355080" y="1719072"/>
            <a:ext cx="5120640" cy="658368"/>
          </a:xfrm>
          <a:prstGeom prst="rect">
            <a:avLst/>
          </a:prstGeom>
          <a:noFill/>
          <a:ln/>
        </p:spPr>
        <p:txBody>
          <a:bodyPr wrap="square" lIns="0" tIns="0" rIns="0" bIns="0" rtlCol="0" anchor="ctr"/>
          <a:lstStyle/>
          <a:p>
            <a:pPr indent="0" marL="0">
              <a:lnSpc>
                <a:spcPts val="1500"/>
              </a:lnSpc>
              <a:buNone/>
            </a:pPr>
            <a:r>
              <a:rPr lang="en-US" sz="1100" dirty="0">
                <a:solidFill>
                  <a:srgbClr val="77736B"/>
                </a:solidFill>
              </a:rPr>
              <a:t>Glycerol, solids concentration and shell : binder moved together between F1 and F2.</a:t>
            </a:r>
            <a:endParaRPr lang="en-US" sz="1100" dirty="0"/>
          </a:p>
        </p:txBody>
      </p:sp>
      <p:sp>
        <p:nvSpPr>
          <p:cNvPr id="7" name="Text 5"/>
          <p:cNvSpPr txBox="1"/>
          <p:nvPr/>
        </p:nvSpPr>
        <p:spPr>
          <a:xfrm>
            <a:off x="731520" y="2514600"/>
            <a:ext cx="5120640" cy="274320"/>
          </a:xfrm>
          <a:prstGeom prst="rect">
            <a:avLst/>
          </a:prstGeom>
          <a:noFill/>
          <a:ln/>
        </p:spPr>
        <p:txBody>
          <a:bodyPr wrap="square" lIns="0" tIns="0" rIns="0" bIns="0" rtlCol="0" anchor="ctr"/>
          <a:lstStyle/>
          <a:p>
            <a:pPr indent="0" marL="0">
              <a:buNone/>
            </a:pPr>
            <a:r>
              <a:rPr lang="en-US" sz="1250" b="1" dirty="0">
                <a:solidFill>
                  <a:srgbClr val="1A1A18"/>
                </a:solidFill>
              </a:rPr>
              <a:t>Section geometry in flexure</a:t>
            </a:r>
            <a:endParaRPr lang="en-US" sz="1250" dirty="0"/>
          </a:p>
        </p:txBody>
      </p:sp>
      <p:sp>
        <p:nvSpPr>
          <p:cNvPr id="8" name="Text 6"/>
          <p:cNvSpPr txBox="1"/>
          <p:nvPr/>
        </p:nvSpPr>
        <p:spPr>
          <a:xfrm>
            <a:off x="731520" y="2816352"/>
            <a:ext cx="5120640" cy="658368"/>
          </a:xfrm>
          <a:prstGeom prst="rect">
            <a:avLst/>
          </a:prstGeom>
          <a:noFill/>
          <a:ln/>
        </p:spPr>
        <p:txBody>
          <a:bodyPr wrap="square" lIns="0" tIns="0" rIns="0" bIns="0" rtlCol="0" anchor="ctr"/>
          <a:lstStyle/>
          <a:p>
            <a:pPr indent="0" marL="0">
              <a:lnSpc>
                <a:spcPts val="1500"/>
              </a:lnSpc>
              <a:buNone/>
            </a:pPr>
            <a:r>
              <a:rPr lang="en-US" sz="1100" dirty="0">
                <a:solidFill>
                  <a:srgbClr val="77736B"/>
                </a:solidFill>
              </a:rPr>
              <a:t>A kerfed specimen treated as a solid rectangle. The modulus is a lower bound.</a:t>
            </a:r>
            <a:endParaRPr lang="en-US" sz="1100" dirty="0"/>
          </a:p>
        </p:txBody>
      </p:sp>
      <p:sp>
        <p:nvSpPr>
          <p:cNvPr id="9" name="Text 7"/>
          <p:cNvSpPr txBox="1"/>
          <p:nvPr/>
        </p:nvSpPr>
        <p:spPr>
          <a:xfrm>
            <a:off x="6355080" y="2514600"/>
            <a:ext cx="5120640" cy="274320"/>
          </a:xfrm>
          <a:prstGeom prst="rect">
            <a:avLst/>
          </a:prstGeom>
          <a:noFill/>
          <a:ln/>
        </p:spPr>
        <p:txBody>
          <a:bodyPr wrap="square" lIns="0" tIns="0" rIns="0" bIns="0" rtlCol="0" anchor="ctr"/>
          <a:lstStyle/>
          <a:p>
            <a:pPr indent="0" marL="0">
              <a:buNone/>
            </a:pPr>
            <a:r>
              <a:rPr lang="en-US" sz="1250" b="1" dirty="0">
                <a:solidFill>
                  <a:srgbClr val="1A1A18"/>
                </a:solidFill>
              </a:rPr>
              <a:t>Strain not instrumented</a:t>
            </a:r>
            <a:endParaRPr lang="en-US" sz="1250" dirty="0"/>
          </a:p>
        </p:txBody>
      </p:sp>
      <p:sp>
        <p:nvSpPr>
          <p:cNvPr id="10" name="Text 8"/>
          <p:cNvSpPr txBox="1"/>
          <p:nvPr/>
        </p:nvSpPr>
        <p:spPr>
          <a:xfrm>
            <a:off x="6355080" y="2816352"/>
            <a:ext cx="5120640" cy="658368"/>
          </a:xfrm>
          <a:prstGeom prst="rect">
            <a:avLst/>
          </a:prstGeom>
          <a:noFill/>
          <a:ln/>
        </p:spPr>
        <p:txBody>
          <a:bodyPr wrap="square" lIns="0" tIns="0" rIns="0" bIns="0" rtlCol="0" anchor="ctr"/>
          <a:lstStyle/>
          <a:p>
            <a:pPr indent="0" marL="0">
              <a:lnSpc>
                <a:spcPts val="1500"/>
              </a:lnSpc>
              <a:buNone/>
            </a:pPr>
            <a:r>
              <a:rPr lang="en-US" sz="1100" dirty="0">
                <a:solidFill>
                  <a:srgbClr val="77736B"/>
                </a:solidFill>
              </a:rPr>
              <a:t>Compressive strain derived from an assumed 10% maximum deformation.</a:t>
            </a:r>
            <a:endParaRPr lang="en-US" sz="1100" dirty="0"/>
          </a:p>
        </p:txBody>
      </p:sp>
      <p:sp>
        <p:nvSpPr>
          <p:cNvPr id="11" name="Text 9"/>
          <p:cNvSpPr txBox="1"/>
          <p:nvPr/>
        </p:nvSpPr>
        <p:spPr>
          <a:xfrm>
            <a:off x="731520" y="3611880"/>
            <a:ext cx="5120640" cy="274320"/>
          </a:xfrm>
          <a:prstGeom prst="rect">
            <a:avLst/>
          </a:prstGeom>
          <a:noFill/>
          <a:ln/>
        </p:spPr>
        <p:txBody>
          <a:bodyPr wrap="square" lIns="0" tIns="0" rIns="0" bIns="0" rtlCol="0" anchor="ctr"/>
          <a:lstStyle/>
          <a:p>
            <a:pPr indent="0" marL="0">
              <a:buNone/>
            </a:pPr>
            <a:r>
              <a:rPr lang="en-US" sz="1250" b="1" dirty="0">
                <a:solidFill>
                  <a:srgbClr val="1A1A18"/>
                </a:solidFill>
              </a:rPr>
              <a:t>Shrinkage unquantified</a:t>
            </a:r>
            <a:endParaRPr lang="en-US" sz="1250" dirty="0"/>
          </a:p>
        </p:txBody>
      </p:sp>
      <p:sp>
        <p:nvSpPr>
          <p:cNvPr id="12" name="Text 10"/>
          <p:cNvSpPr txBox="1"/>
          <p:nvPr/>
        </p:nvSpPr>
        <p:spPr>
          <a:xfrm>
            <a:off x="731520" y="3913632"/>
            <a:ext cx="5120640" cy="658368"/>
          </a:xfrm>
          <a:prstGeom prst="rect">
            <a:avLst/>
          </a:prstGeom>
          <a:noFill/>
          <a:ln/>
        </p:spPr>
        <p:txBody>
          <a:bodyPr wrap="square" lIns="0" tIns="0" rIns="0" bIns="0" rtlCol="0" anchor="ctr"/>
          <a:lstStyle/>
          <a:p>
            <a:pPr indent="0" marL="0">
              <a:lnSpc>
                <a:spcPts val="1500"/>
              </a:lnSpc>
              <a:buNone/>
            </a:pPr>
            <a:r>
              <a:rPr lang="en-US" sz="1100" dirty="0">
                <a:solidFill>
                  <a:srgbClr val="77736B"/>
                </a:solidFill>
              </a:rPr>
              <a:t>Post-drying dimensions not logged; density is a lower bound.</a:t>
            </a:r>
            <a:endParaRPr lang="en-US" sz="1100" dirty="0"/>
          </a:p>
        </p:txBody>
      </p:sp>
      <p:sp>
        <p:nvSpPr>
          <p:cNvPr id="13" name="Text 11"/>
          <p:cNvSpPr txBox="1"/>
          <p:nvPr/>
        </p:nvSpPr>
        <p:spPr>
          <a:xfrm>
            <a:off x="6355080" y="3611880"/>
            <a:ext cx="5120640" cy="274320"/>
          </a:xfrm>
          <a:prstGeom prst="rect">
            <a:avLst/>
          </a:prstGeom>
          <a:noFill/>
          <a:ln/>
        </p:spPr>
        <p:txBody>
          <a:bodyPr wrap="square" lIns="0" tIns="0" rIns="0" bIns="0" rtlCol="0" anchor="ctr"/>
          <a:lstStyle/>
          <a:p>
            <a:pPr indent="0" marL="0">
              <a:buNone/>
            </a:pPr>
            <a:r>
              <a:rPr lang="en-US" sz="1250" b="1" dirty="0">
                <a:solidFill>
                  <a:srgbClr val="1A1A18"/>
                </a:solidFill>
              </a:rPr>
              <a:t>Process not instrumented</a:t>
            </a:r>
            <a:endParaRPr lang="en-US" sz="1250" dirty="0"/>
          </a:p>
        </p:txBody>
      </p:sp>
      <p:sp>
        <p:nvSpPr>
          <p:cNvPr id="14" name="Text 12"/>
          <p:cNvSpPr txBox="1"/>
          <p:nvPr/>
        </p:nvSpPr>
        <p:spPr>
          <a:xfrm>
            <a:off x="6355080" y="3913632"/>
            <a:ext cx="5120640" cy="658368"/>
          </a:xfrm>
          <a:prstGeom prst="rect">
            <a:avLst/>
          </a:prstGeom>
          <a:noFill/>
          <a:ln/>
        </p:spPr>
        <p:txBody>
          <a:bodyPr wrap="square" lIns="0" tIns="0" rIns="0" bIns="0" rtlCol="0" anchor="ctr"/>
          <a:lstStyle/>
          <a:p>
            <a:pPr indent="0" marL="0">
              <a:lnSpc>
                <a:spcPts val="1500"/>
              </a:lnSpc>
              <a:buNone/>
            </a:pPr>
            <a:r>
              <a:rPr lang="en-US" sz="1100" dirty="0">
                <a:solidFill>
                  <a:srgbClr val="77736B"/>
                </a:solidFill>
              </a:rPr>
              <a:t>Manual stirring; single laboratory, single operator, no inter-laboratory reproduction.</a:t>
            </a:r>
            <a:endParaRPr lang="en-US" sz="1100" dirty="0"/>
          </a:p>
        </p:txBody>
      </p:sp>
      <p:sp>
        <p:nvSpPr>
          <p:cNvPr id="15" name="Text 13"/>
          <p:cNvSpPr txBox="1"/>
          <p:nvPr/>
        </p:nvSpPr>
        <p:spPr>
          <a:xfrm>
            <a:off x="731520" y="4709160"/>
            <a:ext cx="5120640" cy="274320"/>
          </a:xfrm>
          <a:prstGeom prst="rect">
            <a:avLst/>
          </a:prstGeom>
          <a:noFill/>
          <a:ln/>
        </p:spPr>
        <p:txBody>
          <a:bodyPr wrap="square" lIns="0" tIns="0" rIns="0" bIns="0" rtlCol="0" anchor="ctr"/>
          <a:lstStyle/>
          <a:p>
            <a:pPr indent="0" marL="0">
              <a:buNone/>
            </a:pPr>
            <a:r>
              <a:rPr lang="en-US" sz="1250" b="1" dirty="0">
                <a:solidFill>
                  <a:srgbClr val="1A1A18"/>
                </a:solidFill>
              </a:rPr>
              <a:t>No durability data</a:t>
            </a:r>
            <a:endParaRPr lang="en-US" sz="1250" dirty="0"/>
          </a:p>
        </p:txBody>
      </p:sp>
      <p:sp>
        <p:nvSpPr>
          <p:cNvPr id="16" name="Text 14"/>
          <p:cNvSpPr txBox="1"/>
          <p:nvPr/>
        </p:nvSpPr>
        <p:spPr>
          <a:xfrm>
            <a:off x="731520" y="5010912"/>
            <a:ext cx="5120640" cy="658368"/>
          </a:xfrm>
          <a:prstGeom prst="rect">
            <a:avLst/>
          </a:prstGeom>
          <a:noFill/>
          <a:ln/>
        </p:spPr>
        <p:txBody>
          <a:bodyPr wrap="square" lIns="0" tIns="0" rIns="0" bIns="0" rtlCol="0" anchor="ctr"/>
          <a:lstStyle/>
          <a:p>
            <a:pPr indent="0" marL="0">
              <a:lnSpc>
                <a:spcPts val="1500"/>
              </a:lnSpc>
              <a:buNone/>
            </a:pPr>
            <a:r>
              <a:rPr lang="en-US" sz="1100" dirty="0">
                <a:solidFill>
                  <a:srgbClr val="77736B"/>
                </a:solidFill>
              </a:rPr>
              <a:t>No humidity or thermal cycling, UV exposure, microbial resistance or accelerated ageing.</a:t>
            </a:r>
            <a:endParaRPr lang="en-US" sz="1100" dirty="0"/>
          </a:p>
        </p:txBody>
      </p:sp>
      <p:sp>
        <p:nvSpPr>
          <p:cNvPr id="17" name="Text 15"/>
          <p:cNvSpPr txBox="1"/>
          <p:nvPr/>
        </p:nvSpPr>
        <p:spPr>
          <a:xfrm>
            <a:off x="6355080" y="4709160"/>
            <a:ext cx="5120640" cy="274320"/>
          </a:xfrm>
          <a:prstGeom prst="rect">
            <a:avLst/>
          </a:prstGeom>
          <a:noFill/>
          <a:ln/>
        </p:spPr>
        <p:txBody>
          <a:bodyPr wrap="square" lIns="0" tIns="0" rIns="0" bIns="0" rtlCol="0" anchor="ctr"/>
          <a:lstStyle/>
          <a:p>
            <a:pPr indent="0" marL="0">
              <a:buNone/>
            </a:pPr>
            <a:r>
              <a:rPr lang="en-US" sz="1250" b="1" dirty="0">
                <a:solidFill>
                  <a:srgbClr val="1A1A18"/>
                </a:solidFill>
              </a:rPr>
              <a:t>No fire classification or LCA</a:t>
            </a:r>
            <a:endParaRPr lang="en-US" sz="1250" dirty="0"/>
          </a:p>
        </p:txBody>
      </p:sp>
      <p:sp>
        <p:nvSpPr>
          <p:cNvPr id="18" name="Text 16"/>
          <p:cNvSpPr txBox="1"/>
          <p:nvPr/>
        </p:nvSpPr>
        <p:spPr>
          <a:xfrm>
            <a:off x="6355080" y="5010912"/>
            <a:ext cx="5120640" cy="658368"/>
          </a:xfrm>
          <a:prstGeom prst="rect">
            <a:avLst/>
          </a:prstGeom>
          <a:noFill/>
          <a:ln/>
        </p:spPr>
        <p:txBody>
          <a:bodyPr wrap="square" lIns="0" tIns="0" rIns="0" bIns="0" rtlCol="0" anchor="ctr"/>
          <a:lstStyle/>
          <a:p>
            <a:pPr indent="0" marL="0">
              <a:lnSpc>
                <a:spcPts val="1500"/>
              </a:lnSpc>
              <a:buNone/>
            </a:pPr>
            <a:r>
              <a:rPr lang="en-US" sz="1100" dirty="0">
                <a:solidFill>
                  <a:srgbClr val="77736B"/>
                </a:solidFill>
              </a:rPr>
              <a:t>Ignitability only; no Euroclass determination and no life-cycle assessment.</a:t>
            </a:r>
            <a:endParaRPr lang="en-US" sz="1100" dirty="0"/>
          </a:p>
        </p:txBody>
      </p:sp>
      <p:sp>
        <p:nvSpPr>
          <p:cNvPr id="19" name="Text 17"/>
          <p:cNvSpPr txBox="1"/>
          <p:nvPr/>
        </p:nvSpPr>
        <p:spPr>
          <a:xfrm>
            <a:off x="731520" y="5852160"/>
            <a:ext cx="10698480" cy="320040"/>
          </a:xfrm>
          <a:prstGeom prst="rect">
            <a:avLst/>
          </a:prstGeom>
          <a:noFill/>
          <a:ln/>
        </p:spPr>
        <p:txBody>
          <a:bodyPr wrap="square" lIns="0" tIns="0" rIns="0" bIns="0" rtlCol="0" anchor="ctr"/>
          <a:lstStyle/>
          <a:p>
            <a:pPr indent="0" marL="0">
              <a:buNone/>
            </a:pPr>
            <a:r>
              <a:rPr lang="en-US" sz="1250" b="1" dirty="0">
                <a:solidFill>
                  <a:srgbClr val="C9622F"/>
                </a:solidFill>
              </a:rPr>
              <a:t>Each defines a specific next experiment rather than a general caveat.</a:t>
            </a:r>
            <a:endParaRPr lang="en-US" sz="1250" dirty="0"/>
          </a:p>
        </p:txBody>
      </p:sp>
      <p:sp>
        <p:nvSpPr>
          <p:cNvPr id="21"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FFFFFF"/>
                </a:solidFill>
              </a:rPr>
              <a:t>Conclusions</a:t>
            </a:r>
            <a:endParaRPr lang="en-US" sz="2600" dirty="0"/>
          </a:p>
        </p:txBody>
      </p:sp>
      <p:sp>
        <p:nvSpPr>
          <p:cNvPr id="3" name="Text 1"/>
          <p:cNvSpPr txBox="1"/>
          <p:nvPr/>
        </p:nvSpPr>
        <p:spPr>
          <a:xfrm>
            <a:off x="731520" y="1371600"/>
            <a:ext cx="548640" cy="320040"/>
          </a:xfrm>
          <a:prstGeom prst="rect">
            <a:avLst/>
          </a:prstGeom>
          <a:noFill/>
          <a:ln/>
        </p:spPr>
        <p:txBody>
          <a:bodyPr wrap="square" lIns="0" tIns="0" rIns="0" bIns="0" rtlCol="0" anchor="ctr"/>
          <a:lstStyle/>
          <a:p>
            <a:pPr indent="0" marL="0">
              <a:buNone/>
            </a:pPr>
            <a:r>
              <a:rPr lang="en-US" sz="1500" b="1" dirty="0">
                <a:solidFill>
                  <a:srgbClr val="F0C9A8"/>
                </a:solidFill>
                <a:latin typeface="Cambria" pitchFamily="34" charset="0"/>
                <a:ea typeface="Cambria" pitchFamily="34" charset="-122"/>
                <a:cs typeface="Cambria" pitchFamily="34" charset="-120"/>
              </a:rPr>
              <a:t>01</a:t>
            </a:r>
            <a:endParaRPr lang="en-US" sz="1500" dirty="0"/>
          </a:p>
        </p:txBody>
      </p:sp>
      <p:sp>
        <p:nvSpPr>
          <p:cNvPr id="4" name="Text 2"/>
          <p:cNvSpPr txBox="1"/>
          <p:nvPr/>
        </p:nvSpPr>
        <p:spPr>
          <a:xfrm>
            <a:off x="1371600" y="1371600"/>
            <a:ext cx="3474720" cy="640080"/>
          </a:xfrm>
          <a:prstGeom prst="rect">
            <a:avLst/>
          </a:prstGeom>
          <a:noFill/>
          <a:ln/>
        </p:spPr>
        <p:txBody>
          <a:bodyPr wrap="square" lIns="0" tIns="0" rIns="0" bIns="0" rtlCol="0" anchor="ctr"/>
          <a:lstStyle/>
          <a:p>
            <a:pPr indent="0" marL="0">
              <a:lnSpc>
                <a:spcPts val="1700"/>
              </a:lnSpc>
              <a:buNone/>
            </a:pPr>
            <a:r>
              <a:rPr lang="en-US" sz="1300" b="1" dirty="0">
                <a:solidFill>
                  <a:srgbClr val="FFFFFF"/>
                </a:solidFill>
              </a:rPr>
              <a:t>A reproducible protocol</a:t>
            </a:r>
            <a:endParaRPr lang="en-US" sz="1300" dirty="0"/>
          </a:p>
        </p:txBody>
      </p:sp>
      <p:sp>
        <p:nvSpPr>
          <p:cNvPr id="5" name="Text 3"/>
          <p:cNvSpPr txBox="1"/>
          <p:nvPr/>
        </p:nvSpPr>
        <p:spPr>
          <a:xfrm>
            <a:off x="5029200" y="1371600"/>
            <a:ext cx="6400800" cy="777240"/>
          </a:xfrm>
          <a:prstGeom prst="rect">
            <a:avLst/>
          </a:prstGeom>
          <a:noFill/>
          <a:ln/>
        </p:spPr>
        <p:txBody>
          <a:bodyPr wrap="square" lIns="0" tIns="0" rIns="0" bIns="0" rtlCol="0" anchor="ctr"/>
          <a:lstStyle/>
          <a:p>
            <a:pPr indent="0" marL="0">
              <a:lnSpc>
                <a:spcPts val="1600"/>
              </a:lnSpc>
              <a:buNone/>
            </a:pPr>
            <a:r>
              <a:rPr lang="en-US" sz="1150" dirty="0">
                <a:solidFill>
                  <a:srgbClr val="A9BFB1"/>
                </a:solidFill>
              </a:rPr>
              <a:t>120 °C shell treatment, 150 µm fraction, 95 °C dissolution, 80 °C cook, 55 min, silicone casting, 11 days ambient.</a:t>
            </a:r>
            <a:endParaRPr lang="en-US" sz="1150" dirty="0"/>
          </a:p>
        </p:txBody>
      </p:sp>
      <p:sp>
        <p:nvSpPr>
          <p:cNvPr id="6" name="Text 4"/>
          <p:cNvSpPr txBox="1"/>
          <p:nvPr/>
        </p:nvSpPr>
        <p:spPr>
          <a:xfrm>
            <a:off x="731520" y="2240280"/>
            <a:ext cx="548640" cy="320040"/>
          </a:xfrm>
          <a:prstGeom prst="rect">
            <a:avLst/>
          </a:prstGeom>
          <a:noFill/>
          <a:ln/>
        </p:spPr>
        <p:txBody>
          <a:bodyPr wrap="square" lIns="0" tIns="0" rIns="0" bIns="0" rtlCol="0" anchor="ctr"/>
          <a:lstStyle/>
          <a:p>
            <a:pPr indent="0" marL="0">
              <a:buNone/>
            </a:pPr>
            <a:r>
              <a:rPr lang="en-US" sz="1500" b="1" dirty="0">
                <a:solidFill>
                  <a:srgbClr val="F0C9A8"/>
                </a:solidFill>
                <a:latin typeface="Cambria" pitchFamily="34" charset="0"/>
                <a:ea typeface="Cambria" pitchFamily="34" charset="-122"/>
                <a:cs typeface="Cambria" pitchFamily="34" charset="-120"/>
              </a:rPr>
              <a:t>02</a:t>
            </a:r>
            <a:endParaRPr lang="en-US" sz="1500" dirty="0"/>
          </a:p>
        </p:txBody>
      </p:sp>
      <p:sp>
        <p:nvSpPr>
          <p:cNvPr id="7" name="Text 5"/>
          <p:cNvSpPr txBox="1"/>
          <p:nvPr/>
        </p:nvSpPr>
        <p:spPr>
          <a:xfrm>
            <a:off x="1371600" y="2240280"/>
            <a:ext cx="3474720" cy="640080"/>
          </a:xfrm>
          <a:prstGeom prst="rect">
            <a:avLst/>
          </a:prstGeom>
          <a:noFill/>
          <a:ln/>
        </p:spPr>
        <p:txBody>
          <a:bodyPr wrap="square" lIns="0" tIns="0" rIns="0" bIns="0" rtlCol="0" anchor="ctr"/>
          <a:lstStyle/>
          <a:p>
            <a:pPr indent="0" marL="0">
              <a:lnSpc>
                <a:spcPts val="1700"/>
              </a:lnSpc>
              <a:buNone/>
            </a:pPr>
            <a:r>
              <a:rPr lang="en-US" sz="1300" b="1" dirty="0">
                <a:solidFill>
                  <a:srgbClr val="FFFFFF"/>
                </a:solidFill>
              </a:rPr>
              <a:t>Solids concentration governs strength</a:t>
            </a:r>
            <a:endParaRPr lang="en-US" sz="1300" dirty="0"/>
          </a:p>
        </p:txBody>
      </p:sp>
      <p:sp>
        <p:nvSpPr>
          <p:cNvPr id="8" name="Text 6"/>
          <p:cNvSpPr txBox="1"/>
          <p:nvPr/>
        </p:nvSpPr>
        <p:spPr>
          <a:xfrm>
            <a:off x="5029200" y="2240280"/>
            <a:ext cx="6400800" cy="777240"/>
          </a:xfrm>
          <a:prstGeom prst="rect">
            <a:avLst/>
          </a:prstGeom>
          <a:noFill/>
          <a:ln/>
        </p:spPr>
        <p:txBody>
          <a:bodyPr wrap="square" lIns="0" tIns="0" rIns="0" bIns="0" rtlCol="0" anchor="ctr"/>
          <a:lstStyle/>
          <a:p>
            <a:pPr indent="0" marL="0">
              <a:lnSpc>
                <a:spcPts val="1600"/>
              </a:lnSpc>
              <a:buNone/>
            </a:pPr>
            <a:r>
              <a:rPr lang="en-US" sz="1150" dirty="0">
                <a:solidFill>
                  <a:srgbClr val="A9BFB1"/>
                </a:solidFill>
              </a:rPr>
              <a:t>With shell : binder fixed at 2.00, compressive stress is linear in solids concentration across 0.37–0.59.</a:t>
            </a:r>
            <a:endParaRPr lang="en-US" sz="1150" dirty="0"/>
          </a:p>
        </p:txBody>
      </p:sp>
      <p:sp>
        <p:nvSpPr>
          <p:cNvPr id="9" name="Text 7"/>
          <p:cNvSpPr txBox="1"/>
          <p:nvPr/>
        </p:nvSpPr>
        <p:spPr>
          <a:xfrm>
            <a:off x="731520" y="3108960"/>
            <a:ext cx="548640" cy="320040"/>
          </a:xfrm>
          <a:prstGeom prst="rect">
            <a:avLst/>
          </a:prstGeom>
          <a:noFill/>
          <a:ln/>
        </p:spPr>
        <p:txBody>
          <a:bodyPr wrap="square" lIns="0" tIns="0" rIns="0" bIns="0" rtlCol="0" anchor="ctr"/>
          <a:lstStyle/>
          <a:p>
            <a:pPr indent="0" marL="0">
              <a:buNone/>
            </a:pPr>
            <a:r>
              <a:rPr lang="en-US" sz="1500" b="1" dirty="0">
                <a:solidFill>
                  <a:srgbClr val="F0C9A8"/>
                </a:solidFill>
                <a:latin typeface="Cambria" pitchFamily="34" charset="0"/>
                <a:ea typeface="Cambria" pitchFamily="34" charset="-122"/>
                <a:cs typeface="Cambria" pitchFamily="34" charset="-120"/>
              </a:rPr>
              <a:t>03</a:t>
            </a:r>
            <a:endParaRPr lang="en-US" sz="1500" dirty="0"/>
          </a:p>
        </p:txBody>
      </p:sp>
      <p:sp>
        <p:nvSpPr>
          <p:cNvPr id="10" name="Text 8"/>
          <p:cNvSpPr txBox="1"/>
          <p:nvPr/>
        </p:nvSpPr>
        <p:spPr>
          <a:xfrm>
            <a:off x="1371600" y="3108960"/>
            <a:ext cx="3474720" cy="640080"/>
          </a:xfrm>
          <a:prstGeom prst="rect">
            <a:avLst/>
          </a:prstGeom>
          <a:noFill/>
          <a:ln/>
        </p:spPr>
        <p:txBody>
          <a:bodyPr wrap="square" lIns="0" tIns="0" rIns="0" bIns="0" rtlCol="0" anchor="ctr"/>
          <a:lstStyle/>
          <a:p>
            <a:pPr indent="0" marL="0">
              <a:lnSpc>
                <a:spcPts val="1700"/>
              </a:lnSpc>
              <a:buNone/>
            </a:pPr>
            <a:r>
              <a:rPr lang="en-US" sz="1300" b="1" dirty="0">
                <a:solidFill>
                  <a:srgbClr val="FFFFFF"/>
                </a:solidFill>
              </a:rPr>
              <a:t>Plasticiser sets the brittle–ductile transition</a:t>
            </a:r>
            <a:endParaRPr lang="en-US" sz="1300" dirty="0"/>
          </a:p>
        </p:txBody>
      </p:sp>
      <p:sp>
        <p:nvSpPr>
          <p:cNvPr id="11" name="Text 9"/>
          <p:cNvSpPr txBox="1"/>
          <p:nvPr/>
        </p:nvSpPr>
        <p:spPr>
          <a:xfrm>
            <a:off x="5029200" y="3108960"/>
            <a:ext cx="6400800" cy="777240"/>
          </a:xfrm>
          <a:prstGeom prst="rect">
            <a:avLst/>
          </a:prstGeom>
          <a:noFill/>
          <a:ln/>
        </p:spPr>
        <p:txBody>
          <a:bodyPr wrap="square" lIns="0" tIns="0" rIns="0" bIns="0" rtlCol="0" anchor="ctr"/>
          <a:lstStyle/>
          <a:p>
            <a:pPr indent="0" marL="0">
              <a:lnSpc>
                <a:spcPts val="1600"/>
              </a:lnSpc>
              <a:buNone/>
            </a:pPr>
            <a:r>
              <a:rPr lang="en-US" sz="1150" dirty="0">
                <a:solidFill>
                  <a:srgbClr val="A9BFB1"/>
                </a:solidFill>
              </a:rPr>
              <a:t>Between 18.8% and 10.3% glycerol, from unmeasurable compliance to 2.33 MPa at 192 MPa.</a:t>
            </a:r>
            <a:endParaRPr lang="en-US" sz="1150" dirty="0"/>
          </a:p>
        </p:txBody>
      </p:sp>
      <p:sp>
        <p:nvSpPr>
          <p:cNvPr id="12" name="Text 10"/>
          <p:cNvSpPr txBox="1"/>
          <p:nvPr/>
        </p:nvSpPr>
        <p:spPr>
          <a:xfrm>
            <a:off x="731520" y="3977640"/>
            <a:ext cx="548640" cy="320040"/>
          </a:xfrm>
          <a:prstGeom prst="rect">
            <a:avLst/>
          </a:prstGeom>
          <a:noFill/>
          <a:ln/>
        </p:spPr>
        <p:txBody>
          <a:bodyPr wrap="square" lIns="0" tIns="0" rIns="0" bIns="0" rtlCol="0" anchor="ctr"/>
          <a:lstStyle/>
          <a:p>
            <a:pPr indent="0" marL="0">
              <a:buNone/>
            </a:pPr>
            <a:r>
              <a:rPr lang="en-US" sz="1500" b="1" dirty="0">
                <a:solidFill>
                  <a:srgbClr val="F0C9A8"/>
                </a:solidFill>
                <a:latin typeface="Cambria" pitchFamily="34" charset="0"/>
                <a:ea typeface="Cambria" pitchFamily="34" charset="-122"/>
                <a:cs typeface="Cambria" pitchFamily="34" charset="-120"/>
              </a:rPr>
              <a:t>04</a:t>
            </a:r>
            <a:endParaRPr lang="en-US" sz="1500" dirty="0"/>
          </a:p>
        </p:txBody>
      </p:sp>
      <p:sp>
        <p:nvSpPr>
          <p:cNvPr id="13" name="Text 11"/>
          <p:cNvSpPr txBox="1"/>
          <p:nvPr/>
        </p:nvSpPr>
        <p:spPr>
          <a:xfrm>
            <a:off x="1371600" y="3977640"/>
            <a:ext cx="3474720" cy="640080"/>
          </a:xfrm>
          <a:prstGeom prst="rect">
            <a:avLst/>
          </a:prstGeom>
          <a:noFill/>
          <a:ln/>
        </p:spPr>
        <p:txBody>
          <a:bodyPr wrap="square" lIns="0" tIns="0" rIns="0" bIns="0" rtlCol="0" anchor="ctr"/>
          <a:lstStyle/>
          <a:p>
            <a:pPr indent="0" marL="0">
              <a:lnSpc>
                <a:spcPts val="1700"/>
              </a:lnSpc>
              <a:buNone/>
            </a:pPr>
            <a:r>
              <a:rPr lang="en-US" sz="1300" b="1" dirty="0">
                <a:solidFill>
                  <a:srgbClr val="FFFFFF"/>
                </a:solidFill>
              </a:rPr>
              <a:t>Bio-polymer stiffness, oven-free</a:t>
            </a:r>
            <a:endParaRPr lang="en-US" sz="1300" dirty="0"/>
          </a:p>
        </p:txBody>
      </p:sp>
      <p:sp>
        <p:nvSpPr>
          <p:cNvPr id="14" name="Text 12"/>
          <p:cNvSpPr txBox="1"/>
          <p:nvPr/>
        </p:nvSpPr>
        <p:spPr>
          <a:xfrm>
            <a:off x="5029200" y="3977640"/>
            <a:ext cx="6400800" cy="777240"/>
          </a:xfrm>
          <a:prstGeom prst="rect">
            <a:avLst/>
          </a:prstGeom>
          <a:noFill/>
          <a:ln/>
        </p:spPr>
        <p:txBody>
          <a:bodyPr wrap="square" lIns="0" tIns="0" rIns="0" bIns="0" rtlCol="0" anchor="ctr"/>
          <a:lstStyle/>
          <a:p>
            <a:pPr indent="0" marL="0">
              <a:lnSpc>
                <a:spcPts val="1600"/>
              </a:lnSpc>
              <a:buNone/>
            </a:pPr>
            <a:r>
              <a:rPr lang="en-US" sz="1150" dirty="0">
                <a:solidFill>
                  <a:srgbClr val="A9BFB1"/>
                </a:solidFill>
              </a:rPr>
              <a:t>192 MPa places a water-cast, ambient-dried material inside the melt-processed bio-polymer band.</a:t>
            </a:r>
            <a:endParaRPr lang="en-US" sz="1150" dirty="0"/>
          </a:p>
        </p:txBody>
      </p:sp>
      <p:sp>
        <p:nvSpPr>
          <p:cNvPr id="15" name="Text 13"/>
          <p:cNvSpPr txBox="1"/>
          <p:nvPr/>
        </p:nvSpPr>
        <p:spPr>
          <a:xfrm>
            <a:off x="731520" y="4846320"/>
            <a:ext cx="548640" cy="320040"/>
          </a:xfrm>
          <a:prstGeom prst="rect">
            <a:avLst/>
          </a:prstGeom>
          <a:noFill/>
          <a:ln/>
        </p:spPr>
        <p:txBody>
          <a:bodyPr wrap="square" lIns="0" tIns="0" rIns="0" bIns="0" rtlCol="0" anchor="ctr"/>
          <a:lstStyle/>
          <a:p>
            <a:pPr indent="0" marL="0">
              <a:buNone/>
            </a:pPr>
            <a:r>
              <a:rPr lang="en-US" sz="1500" b="1" dirty="0">
                <a:solidFill>
                  <a:srgbClr val="F0C9A8"/>
                </a:solidFill>
                <a:latin typeface="Cambria" pitchFamily="34" charset="0"/>
                <a:ea typeface="Cambria" pitchFamily="34" charset="-122"/>
                <a:cs typeface="Cambria" pitchFamily="34" charset="-120"/>
              </a:rPr>
              <a:t>05</a:t>
            </a:r>
            <a:endParaRPr lang="en-US" sz="1500" dirty="0"/>
          </a:p>
        </p:txBody>
      </p:sp>
      <p:sp>
        <p:nvSpPr>
          <p:cNvPr id="16" name="Text 14"/>
          <p:cNvSpPr txBox="1"/>
          <p:nvPr/>
        </p:nvSpPr>
        <p:spPr>
          <a:xfrm>
            <a:off x="1371600" y="4846320"/>
            <a:ext cx="3474720" cy="640080"/>
          </a:xfrm>
          <a:prstGeom prst="rect">
            <a:avLst/>
          </a:prstGeom>
          <a:noFill/>
          <a:ln/>
        </p:spPr>
        <p:txBody>
          <a:bodyPr wrap="square" lIns="0" tIns="0" rIns="0" bIns="0" rtlCol="0" anchor="ctr"/>
          <a:lstStyle/>
          <a:p>
            <a:pPr indent="0" marL="0">
              <a:lnSpc>
                <a:spcPts val="1700"/>
              </a:lnSpc>
              <a:buNone/>
            </a:pPr>
            <a:r>
              <a:rPr lang="en-US" sz="1300" b="1" dirty="0">
                <a:solidFill>
                  <a:srgbClr val="FFFFFF"/>
                </a:solidFill>
              </a:rPr>
              <a:t>Strength is the wrong sole criterion</a:t>
            </a:r>
            <a:endParaRPr lang="en-US" sz="1300" dirty="0"/>
          </a:p>
        </p:txBody>
      </p:sp>
      <p:sp>
        <p:nvSpPr>
          <p:cNvPr id="17" name="Text 15"/>
          <p:cNvSpPr txBox="1"/>
          <p:nvPr/>
        </p:nvSpPr>
        <p:spPr>
          <a:xfrm>
            <a:off x="5029200" y="4846320"/>
            <a:ext cx="6400800" cy="777240"/>
          </a:xfrm>
          <a:prstGeom prst="rect">
            <a:avLst/>
          </a:prstGeom>
          <a:noFill/>
          <a:ln/>
        </p:spPr>
        <p:txBody>
          <a:bodyPr wrap="square" lIns="0" tIns="0" rIns="0" bIns="0" rtlCol="0" anchor="ctr"/>
          <a:lstStyle/>
          <a:p>
            <a:pPr indent="0" marL="0">
              <a:lnSpc>
                <a:spcPts val="1600"/>
              </a:lnSpc>
              <a:buNone/>
            </a:pPr>
            <a:r>
              <a:rPr lang="en-US" sz="1150" dirty="0">
                <a:solidFill>
                  <a:srgbClr val="A9BFB1"/>
                </a:solidFill>
              </a:rPr>
              <a:t>Deformation capacity governs service behaviour. σ and E should be reported together.</a:t>
            </a:r>
            <a:endParaRPr lang="en-US" sz="1150" dirty="0"/>
          </a:p>
        </p:txBody>
      </p:sp>
      <p:sp>
        <p:nvSpPr>
          <p:cNvPr id="18" name="Text 16"/>
          <p:cNvSpPr txBox="1"/>
          <p:nvPr/>
        </p:nvSpPr>
        <p:spPr>
          <a:xfrm>
            <a:off x="731520" y="5760720"/>
            <a:ext cx="10698480" cy="274320"/>
          </a:xfrm>
          <a:prstGeom prst="rect">
            <a:avLst/>
          </a:prstGeom>
          <a:noFill/>
          <a:ln/>
        </p:spPr>
        <p:txBody>
          <a:bodyPr wrap="square" lIns="0" tIns="0" rIns="0" bIns="0" rtlCol="0" anchor="ctr"/>
          <a:lstStyle/>
          <a:p>
            <a:pPr indent="0" marL="0">
              <a:buNone/>
            </a:pPr>
            <a:r>
              <a:rPr lang="en-US" sz="1250" b="1" dirty="0">
                <a:solidFill>
                  <a:srgbClr val="FFFFFF"/>
                </a:solidFill>
              </a:rPr>
              <a:t>Betül Ünal  ·  Cappadocia University  ·  b.unal91@gmail.com</a:t>
            </a:r>
            <a:endParaRPr lang="en-US" sz="1250" dirty="0"/>
          </a:p>
        </p:txBody>
      </p:sp>
      <p:sp>
        <p:nvSpPr>
          <p:cNvPr id="19" name="Text 17"/>
          <p:cNvSpPr txBox="1"/>
          <p:nvPr/>
        </p:nvSpPr>
        <p:spPr>
          <a:xfrm>
            <a:off x="731520" y="6053328"/>
            <a:ext cx="1069848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Testing: Advanced Construction Materials Research Laboratory, Hacettepe University, with thanks to Dr Hüseyin İlcan. Derived from the author's doctoral dissertation, Hacettepe University, 2025.</a:t>
            </a:r>
            <a:endParaRPr lang="en-US" sz="1000" dirty="0"/>
          </a:p>
        </p:txBody>
      </p:sp>
      <p:sp>
        <p:nvSpPr>
          <p:cNvPr id="21"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731520" y="475488"/>
            <a:ext cx="10698480" cy="658368"/>
          </a:xfrm>
          <a:prstGeom prst="rect">
            <a:avLst/>
          </a:prstGeom>
          <a:noFill/>
          <a:ln/>
        </p:spPr>
        <p:txBody>
          <a:bodyPr wrap="square" rtlCol="0" anchor="ctr"/>
          <a:lstStyle/>
          <a:p>
            <a:pPr algn="l" indent="0" marL="0">
              <a:buNone/>
            </a:pPr>
            <a:r>
              <a:rPr lang="en-US" sz="2600" b="1" dirty="0">
                <a:solidFill>
                  <a:srgbClr val="1A1A18"/>
                </a:solidFill>
              </a:rPr>
              <a:t>Selected references</a:t>
            </a:r>
            <a:endParaRPr lang="en-US" sz="2600" dirty="0"/>
          </a:p>
        </p:txBody>
      </p:sp>
      <p:sp>
        <p:nvSpPr>
          <p:cNvPr id="3" name="Text 1"/>
          <p:cNvSpPr txBox="1"/>
          <p:nvPr/>
        </p:nvSpPr>
        <p:spPr>
          <a:xfrm>
            <a:off x="731520" y="1417320"/>
            <a:ext cx="10698480" cy="237744"/>
          </a:xfrm>
          <a:prstGeom prst="rect">
            <a:avLst/>
          </a:prstGeom>
          <a:noFill/>
          <a:ln/>
        </p:spPr>
        <p:txBody>
          <a:bodyPr wrap="square" lIns="0" tIns="0" rIns="0" bIns="0" rtlCol="0" anchor="ctr"/>
          <a:lstStyle/>
          <a:p>
            <a:pPr indent="0" marL="0">
              <a:buNone/>
            </a:pPr>
            <a:r>
              <a:rPr lang="en-US" sz="950" b="1" spc="120" kern="0" dirty="0">
                <a:solidFill>
                  <a:srgbClr val="A8A49B"/>
                </a:solidFill>
              </a:rPr>
              <a:t>REVIEWS AND STATE OF THE ART</a:t>
            </a:r>
            <a:endParaRPr lang="en-US" sz="950" dirty="0"/>
          </a:p>
        </p:txBody>
      </p:sp>
      <p:sp>
        <p:nvSpPr>
          <p:cNvPr id="4" name="Text 2"/>
          <p:cNvSpPr txBox="1"/>
          <p:nvPr/>
        </p:nvSpPr>
        <p:spPr>
          <a:xfrm>
            <a:off x="731520" y="1709928"/>
            <a:ext cx="10698480" cy="1051560"/>
          </a:xfrm>
          <a:prstGeom prst="rect">
            <a:avLst/>
          </a:prstGeom>
          <a:noFill/>
          <a:ln/>
        </p:spPr>
        <p:txBody>
          <a:bodyPr wrap="square" lIns="0" tIns="0" rIns="0" bIns="0" rtlCol="0" anchor="ctr"/>
          <a:lstStyle/>
          <a:p>
            <a:pPr marL="342900" indent="-342900">
              <a:lnSpc>
                <a:spcPts val="1400"/>
              </a:lnSpc>
              <a:spcAft>
                <a:spcPts val="300"/>
              </a:spcAft>
              <a:buSzPct val="100000"/>
              <a:buChar char="•"/>
            </a:pPr>
            <a:r>
              <a:rPr lang="en-US" sz="1050" dirty="0">
                <a:solidFill>
                  <a:srgbClr val="77736B"/>
                </a:solidFill>
              </a:rPr>
              <a:t>Ngayakamo, B. &amp; Onwualu, A.P. (2022). Valorisation of eggshell waste for sustainable construction materials. Heliyon.</a:t>
            </a:r>
            <a:endParaRPr lang="en-US" sz="1050" dirty="0"/>
          </a:p>
          <a:p>
            <a:pPr marL="342900" indent="-342900">
              <a:lnSpc>
                <a:spcPts val="1400"/>
              </a:lnSpc>
              <a:spcAft>
                <a:spcPts val="300"/>
              </a:spcAft>
              <a:buSzPct val="100000"/>
              <a:buChar char="•"/>
            </a:pPr>
            <a:r>
              <a:rPr lang="en-US" sz="1050" dirty="0">
                <a:solidFill>
                  <a:srgbClr val="77736B"/>
                </a:solidFill>
              </a:rPr>
              <a:t>Owuamanam, S. &amp; Cree, D. (2020). Progress of bio-calcium carbonate waste eggshell and seashell fillers in polymer composites. J. Composites Science, 4(2), 70.</a:t>
            </a:r>
            <a:endParaRPr lang="en-US" sz="1050" dirty="0"/>
          </a:p>
          <a:p>
            <a:pPr marL="342900" indent="-342900">
              <a:lnSpc>
                <a:spcPts val="1400"/>
              </a:lnSpc>
              <a:spcAft>
                <a:spcPts val="300"/>
              </a:spcAft>
              <a:buSzPct val="100000"/>
              <a:buChar char="•"/>
            </a:pPr>
            <a:r>
              <a:rPr lang="en-US" sz="1050" dirty="0">
                <a:solidFill>
                  <a:srgbClr val="77736B"/>
                </a:solidFill>
              </a:rPr>
              <a:t>Biogenic calcium carbonate from waste shells for advanced material applications (2022). Frontiers in Materials, 9, 1024977.</a:t>
            </a:r>
            <a:endParaRPr lang="en-US" sz="1050" dirty="0"/>
          </a:p>
        </p:txBody>
      </p:sp>
      <p:sp>
        <p:nvSpPr>
          <p:cNvPr id="5" name="Text 3"/>
          <p:cNvSpPr txBox="1"/>
          <p:nvPr/>
        </p:nvSpPr>
        <p:spPr>
          <a:xfrm>
            <a:off x="731520" y="2926080"/>
            <a:ext cx="10698480" cy="237744"/>
          </a:xfrm>
          <a:prstGeom prst="rect">
            <a:avLst/>
          </a:prstGeom>
          <a:noFill/>
          <a:ln/>
        </p:spPr>
        <p:txBody>
          <a:bodyPr wrap="square" lIns="0" tIns="0" rIns="0" bIns="0" rtlCol="0" anchor="ctr"/>
          <a:lstStyle/>
          <a:p>
            <a:pPr indent="0" marL="0">
              <a:buNone/>
            </a:pPr>
            <a:r>
              <a:rPr lang="en-US" sz="950" b="1" spc="120" kern="0" dirty="0">
                <a:solidFill>
                  <a:srgbClr val="A8A49B"/>
                </a:solidFill>
              </a:rPr>
              <a:t>AGAR AND BIO-POLYMER SYSTEMS</a:t>
            </a:r>
            <a:endParaRPr lang="en-US" sz="950" dirty="0"/>
          </a:p>
        </p:txBody>
      </p:sp>
      <p:sp>
        <p:nvSpPr>
          <p:cNvPr id="6" name="Text 4"/>
          <p:cNvSpPr txBox="1"/>
          <p:nvPr/>
        </p:nvSpPr>
        <p:spPr>
          <a:xfrm>
            <a:off x="731520" y="3218688"/>
            <a:ext cx="10698480" cy="1051560"/>
          </a:xfrm>
          <a:prstGeom prst="rect">
            <a:avLst/>
          </a:prstGeom>
          <a:noFill/>
          <a:ln/>
        </p:spPr>
        <p:txBody>
          <a:bodyPr wrap="square" lIns="0" tIns="0" rIns="0" bIns="0" rtlCol="0" anchor="ctr"/>
          <a:lstStyle/>
          <a:p>
            <a:pPr marL="342900" indent="-342900">
              <a:lnSpc>
                <a:spcPts val="1400"/>
              </a:lnSpc>
              <a:spcAft>
                <a:spcPts val="300"/>
              </a:spcAft>
              <a:buSzPct val="100000"/>
              <a:buChar char="•"/>
            </a:pPr>
            <a:r>
              <a:rPr lang="en-US" sz="1050" dirty="0">
                <a:solidFill>
                  <a:srgbClr val="77736B"/>
                </a:solidFill>
              </a:rPr>
              <a:t>Hernández, V. et al. (2022). Agar biopolymer films for biodegradable packaging: a reference dataset. Materials, 15(11), 3954.</a:t>
            </a:r>
            <a:endParaRPr lang="en-US" sz="1050" dirty="0"/>
          </a:p>
          <a:p>
            <a:pPr marL="342900" indent="-342900">
              <a:lnSpc>
                <a:spcPts val="1400"/>
              </a:lnSpc>
              <a:spcAft>
                <a:spcPts val="300"/>
              </a:spcAft>
              <a:buSzPct val="100000"/>
              <a:buChar char="•"/>
            </a:pPr>
            <a:r>
              <a:rPr lang="en-US" sz="1050" dirty="0">
                <a:solidFill>
                  <a:srgbClr val="77736B"/>
                </a:solidFill>
              </a:rPr>
              <a:t>Materiom (2026). Open biomaterial recipe commons and property database. materiom.org/data.</a:t>
            </a:r>
            <a:endParaRPr lang="en-US" sz="1050" dirty="0"/>
          </a:p>
          <a:p>
            <a:pPr marL="342900" indent="-342900">
              <a:lnSpc>
                <a:spcPts val="1400"/>
              </a:lnSpc>
              <a:spcAft>
                <a:spcPts val="300"/>
              </a:spcAft>
              <a:buSzPct val="100000"/>
              <a:buChar char="•"/>
            </a:pPr>
            <a:r>
              <a:rPr lang="en-US" sz="1050" dirty="0">
                <a:solidFill>
                  <a:srgbClr val="77736B"/>
                </a:solidFill>
              </a:rPr>
              <a:t>Mansour et al. (2021); Dweib et al. (2004); Faruk et al. (2012); Zhao et al. (2022) — bio-polymer elastic moduli.</a:t>
            </a:r>
            <a:endParaRPr lang="en-US" sz="1050" dirty="0"/>
          </a:p>
        </p:txBody>
      </p:sp>
      <p:sp>
        <p:nvSpPr>
          <p:cNvPr id="7" name="Text 5"/>
          <p:cNvSpPr txBox="1"/>
          <p:nvPr/>
        </p:nvSpPr>
        <p:spPr>
          <a:xfrm>
            <a:off x="731520" y="4434840"/>
            <a:ext cx="10698480" cy="237744"/>
          </a:xfrm>
          <a:prstGeom prst="rect">
            <a:avLst/>
          </a:prstGeom>
          <a:noFill/>
          <a:ln/>
        </p:spPr>
        <p:txBody>
          <a:bodyPr wrap="square" lIns="0" tIns="0" rIns="0" bIns="0" rtlCol="0" anchor="ctr"/>
          <a:lstStyle/>
          <a:p>
            <a:pPr indent="0" marL="0">
              <a:buNone/>
            </a:pPr>
            <a:r>
              <a:rPr lang="en-US" sz="950" b="1" spc="120" kern="0" dirty="0">
                <a:solidFill>
                  <a:srgbClr val="A8A49B"/>
                </a:solidFill>
              </a:rPr>
              <a:t>COMPARATIVE MATERIAL DATA</a:t>
            </a:r>
            <a:endParaRPr lang="en-US" sz="950" dirty="0"/>
          </a:p>
        </p:txBody>
      </p:sp>
      <p:sp>
        <p:nvSpPr>
          <p:cNvPr id="8" name="Text 6"/>
          <p:cNvSpPr txBox="1"/>
          <p:nvPr/>
        </p:nvSpPr>
        <p:spPr>
          <a:xfrm>
            <a:off x="731520" y="4727448"/>
            <a:ext cx="10698480" cy="1051560"/>
          </a:xfrm>
          <a:prstGeom prst="rect">
            <a:avLst/>
          </a:prstGeom>
          <a:noFill/>
          <a:ln/>
        </p:spPr>
        <p:txBody>
          <a:bodyPr wrap="square" lIns="0" tIns="0" rIns="0" bIns="0" rtlCol="0" anchor="ctr"/>
          <a:lstStyle/>
          <a:p>
            <a:pPr marL="342900" indent="-342900">
              <a:lnSpc>
                <a:spcPts val="1400"/>
              </a:lnSpc>
              <a:spcAft>
                <a:spcPts val="300"/>
              </a:spcAft>
              <a:buSzPct val="100000"/>
              <a:buChar char="•"/>
            </a:pPr>
            <a:r>
              <a:rPr lang="en-US" sz="1050" dirty="0">
                <a:solidFill>
                  <a:srgbClr val="77736B"/>
                </a:solidFill>
              </a:rPr>
              <a:t>Jones, M. et al. (2020); Islam et al. (2018) — mycelium composites. Arnaud &amp; Gourlay (2012) — hempcrete.</a:t>
            </a:r>
            <a:endParaRPr lang="en-US" sz="1050" dirty="0"/>
          </a:p>
          <a:p>
            <a:pPr marL="342900" indent="-342900">
              <a:lnSpc>
                <a:spcPts val="1400"/>
              </a:lnSpc>
              <a:spcAft>
                <a:spcPts val="300"/>
              </a:spcAft>
              <a:buSzPct val="100000"/>
              <a:buChar char="•"/>
            </a:pPr>
            <a:r>
              <a:rPr lang="en-US" sz="1050" dirty="0">
                <a:solidFill>
                  <a:srgbClr val="77736B"/>
                </a:solidFill>
              </a:rPr>
              <a:t>Kim &amp; Pal (2010) — eggshell-filled PLA. Shah et al. (2016) — mineral-filled biocomposites.</a:t>
            </a:r>
            <a:endParaRPr lang="en-US" sz="1050" dirty="0"/>
          </a:p>
          <a:p>
            <a:pPr marL="342900" indent="-342900">
              <a:lnSpc>
                <a:spcPts val="1400"/>
              </a:lnSpc>
              <a:spcAft>
                <a:spcPts val="300"/>
              </a:spcAft>
              <a:buSzPct val="100000"/>
              <a:buChar char="•"/>
            </a:pPr>
            <a:r>
              <a:rPr lang="en-US" sz="1050" dirty="0">
                <a:solidFill>
                  <a:srgbClr val="77736B"/>
                </a:solidFill>
              </a:rPr>
              <a:t>Nemli &amp; Aydın (2007) — MDF. Altun (2006) — travertine. Klyosov (2007) — WPC. Velasco &amp; Gaona (2011) — mushroom panel.</a:t>
            </a:r>
            <a:endParaRPr lang="en-US" sz="1050" dirty="0"/>
          </a:p>
        </p:txBody>
      </p:sp>
      <p:sp>
        <p:nvSpPr>
          <p:cNvPr id="9" name="Text 7"/>
          <p:cNvSpPr txBox="1"/>
          <p:nvPr/>
        </p:nvSpPr>
        <p:spPr>
          <a:xfrm>
            <a:off x="731520" y="5943600"/>
            <a:ext cx="10698480" cy="502920"/>
          </a:xfrm>
          <a:prstGeom prst="rect">
            <a:avLst/>
          </a:prstGeom>
          <a:noFill/>
          <a:ln/>
        </p:spPr>
        <p:txBody>
          <a:bodyPr wrap="square" lIns="0" tIns="0" rIns="0" bIns="0" rtlCol="0" anchor="t"/>
          <a:lstStyle/>
          <a:p>
            <a:pPr indent="0" marL="0">
              <a:lnSpc>
                <a:spcPts val="1400"/>
              </a:lnSpc>
              <a:buNone/>
            </a:pPr>
            <a:r>
              <a:rPr lang="en-US" sz="1000" i="1" dirty="0">
                <a:solidFill>
                  <a:srgbClr val="A8A49B"/>
                </a:solidFill>
              </a:rPr>
              <a:t>Standards: ASTM D790-17 · ISO 11925-2:2020 · ASTM D570-98(2018).</a:t>
            </a:r>
            <a:endParaRPr lang="en-US" sz="1000" dirty="0"/>
          </a:p>
        </p:txBody>
      </p:sp>
      <p:sp>
        <p:nvSpPr>
          <p:cNvPr id="11" name="Text 0"/>
          <p:cNvSpPr/>
          <p:nvPr>
            <p:ph idx="101" hasCustomPrompt="1"/>
          </p:nvPr>
        </p:nvSpPr>
        <p:spPr>
          <a:xfrm>
            <a:off x="11155680" y="6263640"/>
            <a:ext cx="457200" cy="274320"/>
          </a:xfrm>
          <a:prstGeom prst="rect">
            <a:avLst/>
          </a:prstGeom>
          <a:noFill/>
          <a:ln/>
        </p:spPr>
        <p:txBody>
          <a:bodyPr wrap="square" rtlCol="0"/>
          <a:lstStyle/>
          <a:p>
            <a:pPr algn="r" indent="0" marL="0">
              <a:buNone/>
            </a:pPr>
            <a:endParaRPr lang="en-US" sz="900" dirty="0"/>
          </a:p>
        </p:txBody>
      </p:sp>
    </p:spTree>
  </p:cSld>
  <p:clrMapOvr>
    <a:masterClrMapping/>
  </p:clrMapOvr>
</p:sld>
</file>

<file path=ppt/theme/theme1.xml><?xml version="1.0" encoding="utf-8"?>
<a:theme xmlns:a="http://schemas.openxmlformats.org/drawingml/2006/main" name="Eggshell Biocomposite Minimal">
  <a:themeElements>
    <a:clrScheme name="Eggshell Biocomposite Minimal">
      <a:dk1>
        <a:srgbClr val="1A1A18"/>
      </a:dk1>
      <a:lt1>
        <a:srgbClr val="FFFFFF"/>
      </a:lt1>
      <a:dk2>
        <a:srgbClr val="1B3B2F"/>
      </a:dk2>
      <a:lt2>
        <a:srgbClr val="F7F5F0"/>
      </a:lt2>
      <a:accent1>
        <a:srgbClr val="C9622F"/>
      </a:accent1>
      <a:accent2>
        <a:srgbClr val="5E8C6A"/>
      </a:accent2>
      <a:accent3>
        <a:srgbClr val="77736B"/>
      </a:accent3>
      <a:accent4>
        <a:srgbClr val="1B3B2F"/>
      </a:accent4>
      <a:accent5>
        <a:srgbClr val="E4E0D8"/>
      </a:accent5>
      <a:accent6>
        <a:srgbClr val="77736B"/>
      </a:accent6>
      <a:hlink>
        <a:srgbClr val="C9622F"/>
      </a:hlink>
      <a:folHlink>
        <a:srgbClr val="77736B"/>
      </a:folHlink>
    </a:clrScheme>
    <a:fontScheme name="Eggshell Biocomposite Minim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Eggshell-Agar Biocomposites for Sustainable Interior Applications</dc:title>
  <dc:subject>PptxGenJS Presentation</dc:subject>
  <dc:creator>Betul Unal</dc:creator>
  <cp:lastModifiedBy>Betul Unal</cp:lastModifiedBy>
  <cp:revision>1</cp:revision>
  <dcterms:created xsi:type="dcterms:W3CDTF">2026-10-21T20:55:45Z</dcterms:created>
  <dcterms:modified xsi:type="dcterms:W3CDTF">2026-10-21T20:55:45Z</dcterms:modified>
</cp:coreProperties>
</file>