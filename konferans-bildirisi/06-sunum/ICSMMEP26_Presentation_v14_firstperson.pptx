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cb7be42-574a-41e6-2489-3d8976eae78d}">
          <p14:sldIdLst>
            <p14:sldId id="256"/>
          </p14:sldIdLst>
        </p14:section>
        <p14:section name="Introduction" id="{3b4a9a4a-3bc0-2d6a-0969-a3a58ed69c1f}">
          <p14:sldIdLst>
            <p14:sldId id="257"/>
            <p14:sldId id="258"/>
            <p14:sldId id="259"/>
          </p14:sldIdLst>
        </p14:section>
        <p14:section name="Framework" id="{73eef4b4-8968-5ea6-1695-72a7aee9c38d}">
          <p14:sldIdLst>
            <p14:sldId id="260"/>
            <p14:sldId id="261"/>
            <p14:sldId id="262"/>
            <p14:sldId id="263"/>
            <p14:sldId id="264"/>
          </p14:sldIdLst>
        </p14:section>
        <p14:section name="Protocol" id="{a11a7e4b-df17-c634-3e77-946e762c35ab}">
          <p14:sldIdLst>
            <p14:sldId id="265"/>
            <p14:sldId id="266"/>
            <p14:sldId id="267"/>
            <p14:sldId id="268"/>
          </p14:sldIdLst>
        </p14:section>
        <p14:section name="Results" id="{4221b996-676d-17b8-f2d8-5087c6c0cc81}">
          <p14:sldIdLst>
            <p14:sldId id="269"/>
            <p14:sldId id="270"/>
            <p14:sldId id="271"/>
            <p14:sldId id="272"/>
            <p14:sldId id="273"/>
            <p14:sldId id="274"/>
          </p14:sldIdLst>
        </p14:section>
        <p14:section name="Benchmark" id="{a6f3b86a-a6a7-3a0e-8d88-c5d455037dd0}">
          <p14:sldIdLst>
            <p14:sldId id="275"/>
            <p14:sldId id="276"/>
            <p14:sldId id="277"/>
          </p14:sldIdLst>
        </p14:section>
        <p14:section name="Application" id="{232fec8e-2609-dc28-9bcf-31d90ee285bc}">
          <p14:sldIdLst>
            <p14:sldId id="278"/>
          </p14:sldIdLst>
        </p14:section>
        <p14:section name="Closing" id="{572432be-297f-275d-fa52-de9c5cc62436}">
          <p14:sldIdLst>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σ</c:v>
                </c:pt>
              </c:strCache>
            </c:strRef>
          </c:tx>
          <c:spPr>
            <a:solidFill>
              <a:srgbClr val="141414"/>
            </a:solidFill>
            <a:effectLst/>
          </c:spPr>
          <c:invertIfNegative val="0"/>
          <c:dLbls>
            <c:numFmt formatCode="0.00" sourceLinked="0"/>
            <c:txPr>
              <a:bodyPr/>
              <a:lstStyle/>
              <a:p>
                <a:pPr>
                  <a:defRPr b="0" i="0" strike="noStrike" sz="1200" u="none">
                    <a:solidFill>
                      <a:srgbClr val="141414"/>
                    </a:solidFill>
                    <a:latin typeface="+mn-lt"/>
                  </a:defRPr>
                </a:pPr>
              </a:p>
            </c:txPr>
            <c:showLegendKey val="0"/>
            <c:showVal val="1"/>
            <c:showCatName val="0"/>
            <c:showSerName val="0"/>
            <c:showPercent val="0"/>
            <c:showBubbleSize val="0"/>
            <c:showLeaderLines val="0"/>
          </c:dLbls>
          <c:cat>
            <c:multiLvlStrRef>
              <c:f>Sheet1!$A$2:$A$4</c:f>
              <c:multiLvlStrCache>
                <c:ptCount val="3"/>
                <c:lvl>
                  <c:pt idx="0">
                    <c:v>C1  0.37</c:v>
                  </c:pt>
                  <c:pt idx="1">
                    <c:v>C2  0.44</c:v>
                  </c:pt>
                  <c:pt idx="2">
                    <c:v>C3  0.59</c:v>
                  </c:pt>
                </c:lvl>
              </c:multiLvlStrCache>
            </c:multiLvlStrRef>
          </c:cat>
          <c:val>
            <c:numRef>
              <c:f>Sheet1!$B$2:$B$4</c:f>
              <c:numCache>
                <c:formatCode>General</c:formatCode>
                <c:ptCount val="3"/>
                <c:pt idx="0">
                  <c:v>2.55</c:v>
                </c:pt>
                <c:pt idx="1">
                  <c:v>3.12</c:v>
                </c:pt>
                <c:pt idx="2">
                  <c:v>4.1</c:v>
                </c:pt>
              </c:numCache>
            </c:numRef>
          </c:val>
        </c:ser>
        <c:dLbls>
          <c:numFmt formatCode="0.00" sourceLinked="0"/>
          <c:txPr>
            <a:bodyPr/>
            <a:lstStyle/>
            <a:p>
              <a:pPr>
                <a:defRPr b="0" i="0" strike="noStrike" sz="1200" u="none">
                  <a:solidFill>
                    <a:srgbClr val="14141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C8C8C"/>
                </a:solidFill>
                <a:latin typeface="+mn-lt"/>
              </a:defRPr>
            </a:pPr>
            <a:endParaRPr lang="en-US"/>
          </a:p>
        </c:txPr>
        <c:crossAx val="2094734552"/>
        <c:crosses val="autoZero"/>
        <c:auto val="1"/>
        <c:lblAlgn val="ctr"/>
        <c:noMultiLvlLbl val="1"/>
      </c:catAx>
      <c:valAx>
        <c:axId val="2094734552"/>
        <c:scaling>
          <c:orientation val="minMax"/>
          <c:max val="5"/>
        </c:scaling>
        <c:delete val="0"/>
        <c:axPos val="l"/>
        <c:majorGridlines>
          <c:spPr>
            <a:ln w="12700" cap="flat">
              <a:solidFill>
                <a:srgbClr val="E4E4E4"/>
              </a:solidFill>
              <a:prstDash val="solid"/>
              <a:round/>
            </a:ln>
          </c:spPr>
        </c:majorGridlines>
        <c:title>
          <c:tx>
            <c:rich>
              <a:bodyPr/>
              <a:lstStyle/>
              <a:p>
                <a:pPr>
                  <a:defRPr sz="1050" b="0" i="0" u="none" strike="noStrike">
                    <a:solidFill>
                      <a:srgbClr val="8C8C8C"/>
                    </a:solidFill>
                    <a:latin typeface="+mn-lt"/>
                  </a:defRPr>
                </a:pPr>
                <a:r>
                  <a:rPr sz="1050" b="0" i="0" u="none" strike="noStrike">
                    <a:solidFill>
                      <a:srgbClr val="8C8C8C"/>
                    </a:solidFill>
                    <a:latin typeface="+mn-lt"/>
                  </a:rPr>
                  <a:t>Compressive stress (MPa)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Compressive</c:v>
                </c:pt>
              </c:strCache>
            </c:strRef>
          </c:tx>
          <c:spPr>
            <a:solidFill>
              <a:srgbClr val="141414"/>
            </a:solidFill>
            <a:effectLst/>
          </c:spPr>
          <c:invertIfNegative val="0"/>
          <c:dLbls>
            <c:numFmt formatCode="0.0" sourceLinked="0"/>
            <c:txPr>
              <a:bodyPr/>
              <a:lstStyle/>
              <a:p>
                <a:pPr>
                  <a:defRPr b="0" i="0" strike="noStrike" sz="1000" u="none">
                    <a:solidFill>
                      <a:srgbClr val="3C3C3C"/>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Compressed
mushroom panel</c:v>
                  </c:pt>
                  <c:pt idx="1">
                    <c:v>This study
(C3)</c:v>
                  </c:pt>
                  <c:pt idx="2">
                    <c:v>WPC</c:v>
                  </c:pt>
                  <c:pt idx="3">
                    <c:v>MDF</c:v>
                  </c:pt>
                  <c:pt idx="4">
                    <c:v>Travertine</c:v>
                  </c:pt>
                </c:lvl>
              </c:multiLvlStrCache>
            </c:multiLvlStrRef>
          </c:cat>
          <c:val>
            <c:numRef>
              <c:f>Sheet1!$B$2:$B$6</c:f>
              <c:numCache>
                <c:formatCode>General</c:formatCode>
                <c:ptCount val="5"/>
                <c:pt idx="0">
                  <c:v>1.2</c:v>
                </c:pt>
                <c:pt idx="1">
                  <c:v>4.1</c:v>
                </c:pt>
                <c:pt idx="2">
                  <c:v>7.2</c:v>
                </c:pt>
                <c:pt idx="3">
                  <c:v>24</c:v>
                </c:pt>
                <c:pt idx="4">
                  <c:v>80</c:v>
                </c:pt>
              </c:numCache>
            </c:numRef>
          </c:val>
        </c:ser>
        <c:ser>
          <c:idx val="1"/>
          <c:order val="1"/>
          <c:tx>
            <c:strRef>
              <c:f>Sheet1!$C$1</c:f>
              <c:strCache>
                <c:ptCount val="1"/>
                <c:pt idx="0">
                  <c:v>Flexural</c:v>
                </c:pt>
              </c:strCache>
            </c:strRef>
          </c:tx>
          <c:spPr>
            <a:solidFill>
              <a:srgbClr val="BDBDBD"/>
            </a:solidFill>
            <a:effectLst/>
          </c:spPr>
          <c:invertIfNegative val="0"/>
          <c:dLbls>
            <c:numFmt formatCode="0.0" sourceLinked="0"/>
            <c:txPr>
              <a:bodyPr/>
              <a:lstStyle/>
              <a:p>
                <a:pPr>
                  <a:defRPr b="0" i="0" strike="noStrike" sz="1000" u="none">
                    <a:solidFill>
                      <a:srgbClr val="3C3C3C"/>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Compressed
mushroom panel</c:v>
                  </c:pt>
                  <c:pt idx="1">
                    <c:v>This study
(C3)</c:v>
                  </c:pt>
                  <c:pt idx="2">
                    <c:v>WPC</c:v>
                  </c:pt>
                  <c:pt idx="3">
                    <c:v>MDF</c:v>
                  </c:pt>
                  <c:pt idx="4">
                    <c:v>Travertine</c:v>
                  </c:pt>
                </c:lvl>
              </c:multiLvlStrCache>
            </c:multiLvlStrRef>
          </c:cat>
          <c:val>
            <c:numRef>
              <c:f>Sheet1!$C$2:$C$6</c:f>
              <c:numCache>
                <c:formatCode>General</c:formatCode>
                <c:ptCount val="5"/>
                <c:pt idx="0">
                  <c:v>1</c:v>
                </c:pt>
                <c:pt idx="1">
                  <c:v>2.3</c:v>
                </c:pt>
                <c:pt idx="2">
                  <c:v>12</c:v>
                </c:pt>
                <c:pt idx="3">
                  <c:v>35</c:v>
                </c:pt>
                <c:pt idx="4">
                  <c:v>11</c:v>
                </c:pt>
              </c:numCache>
            </c:numRef>
          </c:val>
        </c:ser>
        <c:dLbls>
          <c:numFmt formatCode="0.0" sourceLinked="0"/>
          <c:txPr>
            <a:bodyPr/>
            <a:lstStyle/>
            <a:p>
              <a:pPr>
                <a:defRPr b="0" i="0" strike="noStrike" sz="1000" u="none">
                  <a:solidFill>
                    <a:srgbClr val="3C3C3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4E4"/>
              </a:solidFill>
              <a:prstDash val="solid"/>
              <a:round/>
            </a:ln>
          </c:spPr>
        </c:majorGridlines>
        <c:title>
          <c:tx>
            <c:rich>
              <a:bodyPr/>
              <a:lstStyle/>
              <a:p>
                <a:pPr>
                  <a:defRPr sz="1050" b="0" i="0" u="none" strike="noStrike">
                    <a:solidFill>
                      <a:srgbClr val="8C8C8C"/>
                    </a:solidFill>
                    <a:latin typeface="+mn-lt"/>
                  </a:defRPr>
                </a:pPr>
                <a:r>
                  <a:rPr sz="1050" b="0" i="0" u="none" strike="noStrike">
                    <a:solidFill>
                      <a:srgbClr val="8C8C8C"/>
                    </a:solidFill>
                    <a:latin typeface="+mn-lt"/>
                  </a:rPr>
                  <a:t>Strength (MPa)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50">
              <a:solidFill>
                <a:srgbClr val="8C8C8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Betul Unal, Department of Interior Architecture, Cappadocia University. The panel in the photograph is the subject of this paper: a composite of waste eggshell bound in agar, cast at 300 by 300 millimetres. Over the next fifteen minutes I will set out the production protocol, the characterisation results, and an argument about how materials of this class should be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departure. Eggshell arises continuously as a food-processing by-product and is predominantly landfilled. Chemically it is almost pure calcium carbonate, between ninety-four and ninety-seven percent by mass, held in a porous protein-bound crystalline structure, and its specific gravity sits below that of most mineral fillers used in construction. That composition and that uninterrupted supply are why a substantial literature already incorporates it into construction and polymer materials. All shell used in this study came from a single bakery, collected over more than a year. I want to be clear at the outset: the case for eggshell as a mineral phase is settled, and this paper does not re-make it. The paper is concerned with the phase that binds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literature the study departs from, and reading down the middle column is the whole argument. Eggshell has been used as a partial cement replacement in concrete, as a stabiliser in compressed laterite brick and in clay, as a filler in hot-mix asphalt, in eco-ceramic wall tile, as a particulate filler in PVC and in flexible polyurethane foam, in ceramic-metal composites, in bone scaffolds, and even in wallpaper. The valorisation is real and it is well evidenced. But in every one of those cases the mineral is recovered from waste while the binding phase remains cementitious, ceramic or petrochemical. The environmental burden of the material is carried by the binder, and the binder is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gaps follow directly from those two slides. First, the binding phase is never biological. Across the whole eggshell literature the mineral is recovered from waste while the matrix stays Portland clinker, bitumen, lime, a ceramic body or a thermoplastic - no study reports an eggshell composite in which both phases are biological and fully biodegradable. Second, agar is characterised only as an unfilled film in tension for packaging, not as the binder of a highly mineral-filled cast solid in bending. Third, property sets are reported in fragments: compressive, flexural, fire and hygric behaviour appear in separate studies on separate formulations, and no single study gives all four for one formulation family. I want to state the contribution precisely, because overclaiming here would be easy. It is not a novel constituent. It is a documented protocol and a single coherent property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stated narrowly on purpose: document a reproducible production protocol for a fully bio-based eggshell-agar composite, and characterise its mechanical, reaction-to-fire and hygric behaviour against published test standards. Four objectives follow. One, document the protocol in full, every parameter, in a form another laboratory can repeat. Two, characterise against published standards rather than ad hoc procedures. Three, position the results against two material families using published property data. Four, derive an evaluation criterion appropriate to this material class - and that fourth objective is the one I will spend most time 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set out explicitly so that nothing I say today is read beyond it. Within scope: five formulations, three specimens per formulation for the mechanical work, five properties, three published standards, ambient cure in a single laboratory by a single operator, and an application envelope of non-loadbearing interior surfaces. Outside scope: structural use, durability and accelerated ageing, reaction-to-fire classification, and life-cycle assessment. None of those four was generated in this work. What follows is characterisation data, not a performance specification, and I will return to each exclusion at the end as a defined next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and the order is the method. Produce, recording every production parameter. Measure against published standards. Position against two material families, conventional interior materials and bio-based composites. And propose an evaluation criterion derived from the observed behaviour. This is a material-driven sequence in the sense of Karana and colleagues: the properties are measured first and the application envelope is derived from them, rather than the material being selected to satisfy a form decided in advance. The design proposal I show near the end follows from the measurements and not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research questions. The first two are formulation questions - which variable governs compressive strength, and what plasticiser content does to flexural behaviour. The next two are benchmarking questions against the two material families. The fifth asks whether compressive strength is an adequate evaluation criterion for this class of material at all, and it is the question I care most about. Questions one to four are answered by measurement. Question five is answered by argument from those measurements, which is a different kind of claim and I will flag it as such when I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hypothesis, in two clauses, because the two are tested by different parts of the paper. First clause: a fully bio-based eggshell-agar composite can be produced repeatably under ambient conditions. That is tested by the protocol and the formulation series - a defined procedure, a fixed shell-to-binder ratio, five formulations, and a cure that requires no thermal input after mixing. Second clause: its performance as an interior surface material is governed by deformation capacity rather than by compressive strength. That is tested by the mechanical results and the two benchmarks. On provenance, and I would rather say this than have it asked: the dissertation this derives from states a broader hypothesis framed on spatial resilience in interior design. What you see here is the materials-engineering component of that, restated within the scope of the tests actually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the mineral phase. Whole shell from a single bakery, cleaned of membrane and residue by hand, heat-treated at 120 degrees for twenty minutes, milled in a laboratory grinder to a homogeneous powder, and sieved through a 150 micrometre mesh with only the passing fraction retained. The circles contract across the diagram to show what the stage actually does, which is progressive size reduction. Two points of precision. The 150 micrometre figure was selected to match the particle size used in the eggshell polymer-composite literature, so that the mineral phase here is comparable with that work. And I report the 120 degree step as decontamination and drying rather than sterilisation, because dry-heat sterilisation requires around 160 to 170 degrees for one to two hours and sterility was not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binder preparation, drawn as a temperature-time profile because that is what the stage is. Water and glycerol are pre-mixed first, before any solids are present. Agar is then added incrementally under continuous stirring - bulk addition forms agglomerates that do not redisperse. The mixture is taken to 95 degrees and held until the agar is fully in solution, because if viscosity builds before complete dissolution the gel network is patchy. The temperature is then reduced to 80 and held while viscosity develops, and the shell fraction is introduced incrementally near the end; introduced earlier, it sediments. Fifty-five minutes in total. This is a schematic: the two set points and the total time are recorded, the intermediate ramp rates are not, and stirring was manual so shear rate is not a controlled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three, casting and cure, drawn as a timeline. Day zero, cast into silicone moulds - silicone because it flexes enough to release without a parting agent and without damaging a specimen that has not fully consolidated. Four days in mould for setting and initial drying, demoulded on day four, then seven further days at around 23 degrees shielded from direct sun and forced air movement. Day eleven, finished specimen, with three shellac coats where water resistance is required. Note that there is no thermal input at all after the fifty-five minute preparation: the entire cure proceeds at room temperature, which matters for the embodied-energy argument later. The limitation, which I will repeat because it affects every number that follows: the composite shrinks appreciably as water evaporates, cross-sections were measured at test time but post-drying dimensions were not logged, so every dimension I quote is a mould dimension.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formulation matrix with the derived ratios, and there are two things to read in it. In the compressive series shell-to-binder is exactly two point zero zero in all three mixes. That was not planned as a control, but the consequence is that solids concentration is the only variable in the series, which makes the compression result interpretable. In the flexural series I declare a confound: glycerol was halved but batch mass was held at 770 grams, so water rose to compensate and the other ratios shifted with it. The plasticiser effect is therefore not cleanly isolated, and I will say so again when I present the flexural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programme. I want the reporting convention on the record before any numbers appear. Mechanical values are means of three specimens; individual values were not retained, so I cannot give standard deviations. The ignitability, absorption and density figures rest on single determinations and are indicative rather than characteristic values. Compression was run as cube compression rather than to a named standard, and I flag that as a deviation.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compression result, and this answers research question one. Because shell-to-binder is fixed at two point zero zero across the series, solids concentration is the only variable - and compressive stress rises linearly with it, R-squared of 0.99 over the range 0.37 to 0.59. Three points will fit almost any line, so I am calling this a hypothesis rather than a law. But it has a clear physical reading: strength here is governed by packing density, not by mineral content as such. If that is right, the route to a stronger composite is to remove water rather than to add shell. The fitted relation is sigma equals 6.93 times the solids-to-water ratio plus 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failure mode, and it is what I would ask about from where you are sitting. The curve is linear to about one megapascal, then stiffness falls away progressively as the agar network yields and the mineral redistributes. Peak arrives near ten percent strain with no abrupt load drop, and beyond peak the specimen continues to deform while holding together. The photograph shows the consequence: the cube has barrelled, it is shorter and wider, and it is still a single body. Energy is absorbed rather than released. One honesty point on the axis: the strain scale derives from an assumed ten percent maximum deformation based on observation, not from instrumented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Flexure, to ASTM D790. The decisive variable is plasticiser content. At 18.8 percent glycerol the composite deformed without developing measurable resistance - the instrument registered nothing usable at all. Halving it gives 2.325 megapascals at a modulus of 192. The transition is sharp and it lies between those two values, which is itself a useful thing to know and a target for the next formulation series. Two limitations. The glycerol effect is confounded with solids concentration, as I flagged on the formulation slide. And the specimen is kerfed on its tension face while the standard assumes a solid rectangle, so the modulus I am quoting is a lower bound on the bulk material rather than a material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show this than ask you to take it on the numbers. On the left, the three-point rig at high deflection: the beam is deflected well past the failure point of a comparable ceramic and it has not parted. In the middle, a close-up of the tension face, where the transverse kerfs are visible. Below, the same panel arched by hand. The kerfs are why it arches, and they are also why I report the modulus as a lower bound rather than a material constant. The common result across both test programmes is substantial deformation with retained integrity, and that is the observation the final argument rests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 water and density together. On ignitability: ignition at around ten seconds under direct flame, self-extinguishing four seconds after the flame is removed, with charring confined locally, no lateral spread, and no melting or dripping - which matters for a polymer-adjacent material. The probable mechanism is endothermic decomposition of the carbonate fraction releasing carbon dioxide and diluting the flame front, and I state that as a probable mechanism because it was not verified calorimetrically. To be precise: this is an ignitability test. There is no Euroclass classification, no cone calorimetry, no smoke or toxicity data. On water: 0.7 percent mass gain over twenty-four hours of full immersion with three shellac coats, with local dissolution where the coating was thin, so coating integrity is the limiting factor. On density: 1.38, above the fungal and cellulosic bio-materials and below fired clay, on a mould-volume basis and therefore a lower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benchmark, against the materials this would sit alongside in an interior. Let me be direct. One sixth the compressive strength of MDF and one twentieth that of travertine - and travertine is the relevant aesthetic comparison, because the material resembles it. It does exceed compressed mushroom panel, the only other fully bio-based board in the set, by a factor of three in compression. But on strength alone the composite is not competitive with engineered wood or stone, and I am not going to claim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benchmark, and this is the one that matters. Against the bio-based family the position changes completely. In compression, an order of magnitude above mycelium composites and hempcrete, and within the range reported for eggshell-filled PLA. In stiffness, 192 megapascals - between soy bioplastic at 124 and flax-fibre PLA at 198, inside the LDPE range. Note what that means in process terms. This is water-cast and dried at room temperature, with no oven, no autoclave and no extruder, and it reaches the stiffness of melt-processed bio-polymers. One caution: the cited values come from studies with differing specimen geometry and test method, so this is a position statement rather than a controlled comparison. And wood remains two orders of magnitude above in modulus.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me to research question five, and the diagram is the argument. The shaded area under the elastic region is the energy a material absorbs per unit volume before it takes permanent damage. Because that area is one half sigma epsilon, and epsilon is sigma over E, the area reduces to sigma squared over two E. Notice where the elastic modulus sits: in the denominator. So the low modulus that counted against the material on the previous slide is the same property that raises this quantity. For this formulation it comes to about 14 kilojoules per cubic metre, computed from this study's own two measurements. Both test programmes gave the same qualitative result, substantial deformation with retained integrity. Strength records the load at which a material ceases to perform. It does not record whether it then fails gracefully or catastrophically, and for a demountable non-loadbearing component that is what governs service life. The limitation, stated plainly: I cannot give you a comparative table, because the literature reports strength and modulus in separate studies on separate formulations. This is a data point and a proposed reporting convention, not a ranking, and the value inherits the lower-bound modulus.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envelope follows from the measurements rather than being imposed on them, and each condition traces to a specific result. Non-loadbearing surfaces, carrying self-weight and handling loads only, because 4.1 megapascals supports nothing more. Dry interiors, not wet rooms and not facades, because water performance depends on coating integrity. Away from ignition sources: it self-extinguishes, but it carries no classification. And modular rather than sheet, which matters because damage is then replaced one unit at a time rather than refinishing a surface. On end of life: every constituent including the shellac is biodegradable, and reversible fixing allows the module to be recovered intact. What is displaced is quarried limestone, in a surface application rather than a downcycled one. The caveat: no life-cycle assessment was carried out, so these are qualitative potentials grounded in the protocol and not quantified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limitations, each next to the experiment that resolves it, because that pairing is the point. No dispersion data, because individual specimen values were not retained - repeat the series and retain them. Compressive strain assumed from observation - instrument it. Shrinkage unquantified, so density is a lower bound - record the post-drying geometry. The kerfed section was calculated as a solid rectangle - test an un-kerfed one. The flexural series is confounded - vary glycerol at constant solids concentration. And durability, fire classification and life-cycle assessment are simply untested and outside this paper. Every value I reported today is a lower bound. I would rather set these out than have them found, and none of them is unknown to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A protocol that can be repeated, reported parameter by parameter. Packing density, not mineral content, governs compressive strength. Plasticiser content sets a brittle or a ductile response, and the transition is sharp. A water-cast, ambient-dried material reaches bio-polymer stiffness without thermal processing. And strength alone is an insufficient criterion for this class: deformation capacity governs service behaviour, so strength and modulus should be reported together.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left up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ULL">
    <p:bg>
      <p:bgPr>
        <a:solidFill>
          <a:srgbClr val="14141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GE">
    <p:bg>
      <p:bgPr>
        <a:solidFill>
          <a:srgbClr val="FFFFFF"/>
        </a:solidFill>
      </p:bgPr>
    </p:bg>
    <p:spTree>
      <p:nvGrpSpPr>
        <p:cNvPr id="1" name=""/>
        <p:cNvGrpSpPr/>
        <p:nvPr/>
      </p:nvGrpSpPr>
      <p:grpSpPr>
        <a:xfrm>
          <a:off x="0" y="0"/>
          <a:ext cx="0" cy="0"/>
          <a:chOff x="0" y="0"/>
          <a:chExt cx="0" cy="0"/>
        </a:xfrm>
      </p:grpSpPr>
      <p:sp>
        <p:nvSpPr>
          <p:cNvPr id="2" name="Text 0"/>
          <p:cNvSpPr/>
          <p:nvPr>
            <p:ph idx="100" hasCustomPrompt="1"/>
          </p:nvPr>
        </p:nvSpPr>
        <p:spPr>
          <a:xfrm>
            <a:off x="11292840" y="6355080"/>
            <a:ext cx="365760" cy="237744"/>
          </a:xfrm>
          <a:prstGeom prst="rect">
            <a:avLst/>
          </a:prstGeom>
          <a:noFill/>
          <a:ln/>
        </p:spPr>
        <p:txBody>
          <a:bodyPr wrap="square" rtlCol="0"/>
          <a:lstStyle>
            <a:lvl1pPr algn="r" indent="0" marL="0">
              <a:buNone/>
              <a:defRPr lang="en-US" sz="850" dirty="0">
                <a:solidFill>
                  <a:srgbClr val="BDBDBD"/>
                </a:solidFill>
                <a:latin typeface="Calibri" pitchFamily="34" charset="0"/>
                <a:ea typeface="Calibri" pitchFamily="34" charset="-122"/>
                <a:cs typeface="Calibri" pitchFamily="34" charset="-120"/>
              </a:defRPr>
            </a:lvl1pPr>
          </a:lstStyle>
          <a:p>
            <a:pPr algn="r" indent="0" marL="0">
              <a:buNone/>
            </a:pPr>
            <a:endParaRPr lang="en-US" sz="8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1414"/>
        </a:solidFill>
      </p:bgPr>
    </p:bg>
    <p:spTree>
      <p:nvGrpSpPr>
        <p:cNvPr id="1" name=""/>
        <p:cNvGrpSpPr/>
        <p:nvPr/>
      </p:nvGrpSpPr>
      <p:grpSpPr>
        <a:xfrm>
          <a:off x="0" y="0"/>
          <a:ext cx="0" cy="0"/>
          <a:chOff x="0" y="0"/>
          <a:chExt cx="0" cy="0"/>
        </a:xfrm>
      </p:grpSpPr>
      <p:sp>
        <p:nvSpPr>
          <p:cNvPr id="2" name="Text 0"/>
          <p:cNvSpPr/>
          <p:nvPr>
            <p:ph idx="100" hasCustomPrompt="1"/>
          </p:nvPr>
        </p:nvSpPr>
        <p:spPr>
          <a:xfrm>
            <a:off x="11292840" y="6355080"/>
            <a:ext cx="365760" cy="237744"/>
          </a:xfrm>
          <a:prstGeom prst="rect">
            <a:avLst/>
          </a:prstGeom>
          <a:noFill/>
          <a:ln/>
        </p:spPr>
        <p:txBody>
          <a:bodyPr wrap="square" rtlCol="0"/>
          <a:lstStyle>
            <a:lvl1pPr algn="r" indent="0" marL="0">
              <a:buNone/>
              <a:defRPr lang="en-US" sz="850" dirty="0">
                <a:solidFill>
                  <a:srgbClr val="5A5A5A"/>
                </a:solidFill>
                <a:latin typeface="Calibri" pitchFamily="34" charset="0"/>
                <a:ea typeface="Calibri" pitchFamily="34" charset="-122"/>
                <a:cs typeface="Calibri" pitchFamily="34" charset="-120"/>
              </a:defRPr>
            </a:lvl1pPr>
          </a:lstStyle>
          <a:p>
            <a:pPr algn="r" indent="0" marL="0">
              <a:buNone/>
            </a:pPr>
            <a:endParaRPr lang="en-US" sz="8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eg"/><Relationship Id="rId3" Type="http://schemas.openxmlformats.org/officeDocument/2006/relationships/image" Target="../media/image-18-3.jp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 descr="/home/user/sanat-ve-mekan/konferans-bildirisi/03-gorseller/02-panel-elde.png">    </p:cNvPr>
          <p:cNvPicPr>
            <a:picLocks noChangeAspect="1"/>
          </p:cNvPicPr>
          <p:nvPr/>
        </p:nvPicPr>
        <p:blipFill>
          <a:blip r:embed="rId1"/>
          <a:stretch>
            <a:fillRect/>
          </a:stretch>
        </p:blipFill>
        <p:spPr>
          <a:xfrm>
            <a:off x="5138928" y="0"/>
            <a:ext cx="7050024" cy="6858000"/>
          </a:xfrm>
          <a:prstGeom prst="rect">
            <a:avLst/>
          </a:prstGeom>
        </p:spPr>
      </p:pic>
      <p:sp>
        <p:nvSpPr>
          <p:cNvPr id="3" name="panel"/>
          <p:cNvSpPr/>
          <p:nvPr/>
        </p:nvSpPr>
        <p:spPr>
          <a:xfrm>
            <a:off x="0" y="0"/>
            <a:ext cx="5394960" cy="6858000"/>
          </a:xfrm>
          <a:prstGeom prst="rect">
            <a:avLst/>
          </a:prstGeom>
          <a:solidFill>
            <a:srgbClr val="141414"/>
          </a:solidFill>
          <a:ln w="12700">
            <a:solidFill>
              <a:srgbClr val="141414">
                <a:alpha val="0"/>
              </a:srgbClr>
            </a:solidFill>
            <a:prstDash val="solid"/>
          </a:ln>
        </p:spPr>
      </p:sp>
      <p:sp>
        <p:nvSpPr>
          <p:cNvPr id="4" name="Text 1"/>
          <p:cNvSpPr txBox="1"/>
          <p:nvPr/>
        </p:nvSpPr>
        <p:spPr>
          <a:xfrm>
            <a:off x="777240" y="2011680"/>
            <a:ext cx="4206240" cy="1463040"/>
          </a:xfrm>
          <a:prstGeom prst="rect">
            <a:avLst/>
          </a:prstGeom>
          <a:noFill/>
          <a:ln/>
        </p:spPr>
        <p:txBody>
          <a:bodyPr wrap="square" lIns="0" tIns="0" rIns="0" bIns="0" rtlCol="0" anchor="b"/>
          <a:lstStyle/>
          <a:p>
            <a:pPr indent="0" marL="0">
              <a:lnSpc>
                <a:spcPts val="4200"/>
              </a:lnSpc>
              <a:buNone/>
            </a:pPr>
            <a:r>
              <a:rPr lang="en-US" sz="3200" b="1" dirty="0">
                <a:solidFill>
                  <a:srgbClr val="FFFFFF"/>
                </a:solidFill>
                <a:latin typeface="Calibri" pitchFamily="34" charset="0"/>
                <a:ea typeface="Calibri" pitchFamily="34" charset="-122"/>
                <a:cs typeface="Calibri" pitchFamily="34" charset="-120"/>
              </a:rPr>
              <a:t>Eggshell–Agar</a:t>
            </a:r>
            <a:endParaRPr lang="en-US" sz="3200" dirty="0"/>
          </a:p>
          <a:p>
            <a:pPr indent="0" marL="0">
              <a:lnSpc>
                <a:spcPts val="4200"/>
              </a:lnSpc>
              <a:buNone/>
            </a:pPr>
            <a:r>
              <a:rPr lang="en-US" sz="3200" b="1" dirty="0">
                <a:solidFill>
                  <a:srgbClr val="FFFFFF"/>
                </a:solidFill>
                <a:latin typeface="Calibri" pitchFamily="34" charset="0"/>
                <a:ea typeface="Calibri" pitchFamily="34" charset="-122"/>
                <a:cs typeface="Calibri" pitchFamily="34" charset="-120"/>
              </a:rPr>
              <a:t>Biocomposites</a:t>
            </a:r>
            <a:endParaRPr lang="en-US" sz="3200" dirty="0"/>
          </a:p>
        </p:txBody>
      </p:sp>
      <p:sp>
        <p:nvSpPr>
          <p:cNvPr id="5" name="Text 2"/>
          <p:cNvSpPr txBox="1"/>
          <p:nvPr/>
        </p:nvSpPr>
        <p:spPr>
          <a:xfrm>
            <a:off x="777240" y="3611880"/>
            <a:ext cx="4023360" cy="640080"/>
          </a:xfrm>
          <a:prstGeom prst="rect">
            <a:avLst/>
          </a:prstGeom>
          <a:noFill/>
          <a:ln/>
        </p:spPr>
        <p:txBody>
          <a:bodyPr wrap="square" lIns="0" tIns="0" rIns="0" bIns="0" rtlCol="0" anchor="ctr"/>
          <a:lstStyle/>
          <a:p>
            <a:pPr indent="0" marL="0">
              <a:lnSpc>
                <a:spcPts val="1900"/>
              </a:lnSpc>
              <a:buNone/>
            </a:pPr>
            <a:r>
              <a:rPr lang="en-US" sz="1300" dirty="0">
                <a:solidFill>
                  <a:srgbClr val="C8C8C8"/>
                </a:solidFill>
                <a:latin typeface="Calibri" pitchFamily="34" charset="0"/>
                <a:ea typeface="Calibri" pitchFamily="34" charset="-122"/>
                <a:cs typeface="Calibri" pitchFamily="34" charset="-120"/>
              </a:rPr>
              <a:t>Development and characterisation for sustainable interior applications</a:t>
            </a:r>
            <a:endParaRPr lang="en-US" sz="1300" dirty="0"/>
          </a:p>
        </p:txBody>
      </p:sp>
      <p:sp>
        <p:nvSpPr>
          <p:cNvPr id="6" name="ru0.854.95"/>
          <p:cNvSpPr/>
          <p:nvPr/>
        </p:nvSpPr>
        <p:spPr>
          <a:xfrm>
            <a:off x="777240" y="4526280"/>
            <a:ext cx="2194560" cy="9144"/>
          </a:xfrm>
          <a:prstGeom prst="rect">
            <a:avLst/>
          </a:prstGeom>
          <a:solidFill>
            <a:srgbClr val="5A5A5A"/>
          </a:solidFill>
          <a:ln w="12700">
            <a:solidFill>
              <a:srgbClr val="5A5A5A">
                <a:alpha val="0"/>
              </a:srgbClr>
            </a:solidFill>
            <a:prstDash val="solid"/>
          </a:ln>
        </p:spPr>
      </p:sp>
      <p:sp>
        <p:nvSpPr>
          <p:cNvPr id="7" name="Text 4"/>
          <p:cNvSpPr txBox="1"/>
          <p:nvPr/>
        </p:nvSpPr>
        <p:spPr>
          <a:xfrm>
            <a:off x="777240" y="4754880"/>
            <a:ext cx="4023360" cy="9144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Betül Ünal</a:t>
            </a:r>
            <a:endParaRPr lang="en-US" sz="1300" dirty="0"/>
          </a:p>
          <a:p>
            <a:pPr indent="0" marL="0">
              <a:buNone/>
            </a:pPr>
            <a:r>
              <a:rPr lang="en-US" sz="1100" dirty="0">
                <a:solidFill>
                  <a:srgbClr val="9E9E9E"/>
                </a:solidFill>
                <a:latin typeface="Calibri" pitchFamily="34" charset="0"/>
                <a:ea typeface="Calibri" pitchFamily="34" charset="-122"/>
                <a:cs typeface="Calibri" pitchFamily="34" charset="-120"/>
              </a:rPr>
              <a:t>Department of Interior Architecture</a:t>
            </a:r>
            <a:endParaRPr lang="en-US" sz="1300" dirty="0"/>
          </a:p>
          <a:p>
            <a:pPr indent="0" marL="0">
              <a:buNone/>
            </a:pPr>
            <a:r>
              <a:rPr lang="en-US" sz="1100" dirty="0">
                <a:solidFill>
                  <a:srgbClr val="9E9E9E"/>
                </a:solidFill>
                <a:latin typeface="Calibri" pitchFamily="34" charset="0"/>
                <a:ea typeface="Calibri" pitchFamily="34" charset="-122"/>
                <a:cs typeface="Calibri" pitchFamily="34" charset="-120"/>
              </a:rPr>
              <a:t>Cappadocia University</a:t>
            </a:r>
            <a:endParaRPr lang="en-US" sz="1300" dirty="0"/>
          </a:p>
        </p:txBody>
      </p:sp>
      <p:sp>
        <p:nvSpPr>
          <p:cNvPr id="8" name="Text 5"/>
          <p:cNvSpPr txBox="1"/>
          <p:nvPr/>
        </p:nvSpPr>
        <p:spPr>
          <a:xfrm>
            <a:off x="777240" y="5943600"/>
            <a:ext cx="4206240" cy="274320"/>
          </a:xfrm>
          <a:prstGeom prst="rect">
            <a:avLst/>
          </a:prstGeom>
          <a:noFill/>
          <a:ln/>
        </p:spPr>
        <p:txBody>
          <a:bodyPr wrap="square" lIns="0" tIns="0" rIns="0" bIns="0" rtlCol="0" anchor="ctr"/>
          <a:lstStyle/>
          <a:p>
            <a:pPr indent="0" marL="0">
              <a:buNone/>
            </a:pPr>
            <a:r>
              <a:rPr lang="en-US" sz="900" b="1" spc="140" kern="0" dirty="0">
                <a:solidFill>
                  <a:srgbClr val="5A5A5A"/>
                </a:solidFill>
                <a:latin typeface="Calibri" pitchFamily="34" charset="0"/>
                <a:ea typeface="Calibri" pitchFamily="34" charset="-122"/>
                <a:cs typeface="Calibri" pitchFamily="34" charset="-120"/>
              </a:rPr>
              <a:t>ICSMMEP-26   ·   MECCA   ·   3–4 NOVEMBER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Background</a:t>
            </a:r>
            <a:endParaRPr lang="en-US" sz="2000" dirty="0"/>
          </a:p>
        </p:txBody>
      </p:sp>
      <p:sp>
        <p:nvSpPr>
          <p:cNvPr id="3" name="Text 1"/>
          <p:cNvSpPr txBox="1"/>
          <p:nvPr/>
        </p:nvSpPr>
        <p:spPr>
          <a:xfrm>
            <a:off x="731520" y="1371600"/>
            <a:ext cx="42062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Material basis</a:t>
            </a:r>
            <a:endParaRPr lang="en-US" sz="1300" dirty="0"/>
          </a:p>
        </p:txBody>
      </p:sp>
      <p:sp>
        <p:nvSpPr>
          <p:cNvPr id="4" name="Text 2"/>
          <p:cNvSpPr txBox="1"/>
          <p:nvPr/>
        </p:nvSpPr>
        <p:spPr>
          <a:xfrm>
            <a:off x="731520" y="1920240"/>
            <a:ext cx="420624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94–97%</a:t>
            </a:r>
            <a:endParaRPr lang="en-US" sz="3200" dirty="0"/>
          </a:p>
        </p:txBody>
      </p:sp>
      <p:sp>
        <p:nvSpPr>
          <p:cNvPr id="5" name="Text 3"/>
          <p:cNvSpPr txBox="1"/>
          <p:nvPr/>
        </p:nvSpPr>
        <p:spPr>
          <a:xfrm>
            <a:off x="731520" y="2566416"/>
            <a:ext cx="420624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calcium carbonate by mass</a:t>
            </a:r>
            <a:endParaRPr lang="en-US" sz="950" dirty="0"/>
          </a:p>
        </p:txBody>
      </p:sp>
      <p:sp>
        <p:nvSpPr>
          <p:cNvPr id="6" name="Text 4"/>
          <p:cNvSpPr txBox="1"/>
          <p:nvPr/>
        </p:nvSpPr>
        <p:spPr>
          <a:xfrm>
            <a:off x="731520" y="3291840"/>
            <a:ext cx="420624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0.85–2.66</a:t>
            </a:r>
            <a:endParaRPr lang="en-US" sz="3200" dirty="0"/>
          </a:p>
        </p:txBody>
      </p:sp>
      <p:sp>
        <p:nvSpPr>
          <p:cNvPr id="7" name="Text 5"/>
          <p:cNvSpPr txBox="1"/>
          <p:nvPr/>
        </p:nvSpPr>
        <p:spPr>
          <a:xfrm>
            <a:off x="731520" y="3938016"/>
            <a:ext cx="420624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specific gravity, below most mineral fillers</a:t>
            </a:r>
            <a:endParaRPr lang="en-US" sz="950" dirty="0"/>
          </a:p>
        </p:txBody>
      </p:sp>
      <p:sp>
        <p:nvSpPr>
          <p:cNvPr id="8" name="Text 6"/>
          <p:cNvSpPr txBox="1"/>
          <p:nvPr/>
        </p:nvSpPr>
        <p:spPr>
          <a:xfrm>
            <a:off x="731520" y="4754880"/>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William &amp; Owen (1995) · Torres et al. (2010) · Owuamanam &amp; Cree (2020)</a:t>
            </a:r>
            <a:endParaRPr lang="en-US" sz="900" dirty="0"/>
          </a:p>
        </p:txBody>
      </p:sp>
      <p:sp>
        <p:nvSpPr>
          <p:cNvPr id="9" name="vr6.31.5"/>
          <p:cNvSpPr/>
          <p:nvPr/>
        </p:nvSpPr>
        <p:spPr>
          <a:xfrm>
            <a:off x="5760720" y="1371600"/>
            <a:ext cx="13716" cy="3840480"/>
          </a:xfrm>
          <a:prstGeom prst="rect">
            <a:avLst/>
          </a:prstGeom>
          <a:solidFill>
            <a:srgbClr val="E4E4E4"/>
          </a:solidFill>
          <a:ln w="12700">
            <a:solidFill>
              <a:srgbClr val="E4E4E4">
                <a:alpha val="0"/>
              </a:srgbClr>
            </a:solidFill>
            <a:prstDash val="solid"/>
          </a:ln>
        </p:spPr>
      </p:sp>
      <p:sp>
        <p:nvSpPr>
          <p:cNvPr id="10" name="Text 8"/>
          <p:cNvSpPr txBox="1"/>
          <p:nvPr/>
        </p:nvSpPr>
        <p:spPr>
          <a:xfrm>
            <a:off x="6309360" y="1371600"/>
            <a:ext cx="51206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Two routes</a:t>
            </a:r>
            <a:endParaRPr lang="en-US" sz="1300" dirty="0"/>
          </a:p>
        </p:txBody>
      </p:sp>
      <p:sp>
        <p:nvSpPr>
          <p:cNvPr id="11" name="nd6.92.3"/>
          <p:cNvSpPr/>
          <p:nvPr/>
        </p:nvSpPr>
        <p:spPr>
          <a:xfrm>
            <a:off x="6309360" y="2103120"/>
            <a:ext cx="5120640" cy="457200"/>
          </a:xfrm>
          <a:prstGeom prst="rect">
            <a:avLst/>
          </a:prstGeom>
          <a:solidFill>
            <a:srgbClr val="F7F6F4"/>
          </a:solidFill>
          <a:ln w="12700">
            <a:solidFill>
              <a:srgbClr val="F7F6F4"/>
            </a:solidFill>
            <a:prstDash val="solid"/>
          </a:ln>
        </p:spPr>
      </p:sp>
      <p:sp>
        <p:nvSpPr>
          <p:cNvPr id="12" name="Text 10"/>
          <p:cNvSpPr txBox="1"/>
          <p:nvPr/>
        </p:nvSpPr>
        <p:spPr>
          <a:xfrm>
            <a:off x="6419088" y="2103120"/>
            <a:ext cx="4901184" cy="457200"/>
          </a:xfrm>
          <a:prstGeom prst="rect">
            <a:avLst/>
          </a:prstGeom>
          <a:noFill/>
          <a:ln/>
        </p:spPr>
        <p:txBody>
          <a:bodyPr wrap="square" lIns="0" tIns="0" rIns="0" bIns="0" rtlCol="0" anchor="ctr"/>
          <a:lstStyle/>
          <a:p>
            <a:pPr algn="ctr" indent="0" marL="0">
              <a:lnSpc>
                <a:spcPts val="1400"/>
              </a:lnSpc>
              <a:buNone/>
            </a:pPr>
            <a:r>
              <a:rPr lang="en-US" sz="1100" b="1" dirty="0">
                <a:solidFill>
                  <a:srgbClr val="141414"/>
                </a:solidFill>
                <a:latin typeface="Calibri" pitchFamily="34" charset="0"/>
                <a:ea typeface="Calibri" pitchFamily="34" charset="-122"/>
                <a:cs typeface="Calibri" pitchFamily="34" charset="-120"/>
              </a:rPr>
              <a:t>Food processing</a:t>
            </a:r>
            <a:endParaRPr lang="en-US" sz="1100" dirty="0"/>
          </a:p>
        </p:txBody>
      </p:sp>
      <p:sp>
        <p:nvSpPr>
          <p:cNvPr id="13" name="d1"/>
          <p:cNvSpPr/>
          <p:nvPr/>
        </p:nvSpPr>
        <p:spPr>
          <a:xfrm>
            <a:off x="8778240" y="2670048"/>
            <a:ext cx="164592" cy="237744"/>
          </a:xfrm>
          <a:prstGeom prst="downArrow">
            <a:avLst/>
          </a:prstGeom>
          <a:solidFill>
            <a:srgbClr val="BDBDBD"/>
          </a:solidFill>
          <a:ln w="12700">
            <a:solidFill>
              <a:srgbClr val="BDBDBD">
                <a:alpha val="0"/>
              </a:srgbClr>
            </a:solidFill>
            <a:prstDash val="solid"/>
          </a:ln>
        </p:spPr>
      </p:sp>
      <p:sp>
        <p:nvSpPr>
          <p:cNvPr id="14" name="nd6.93.3"/>
          <p:cNvSpPr/>
          <p:nvPr/>
        </p:nvSpPr>
        <p:spPr>
          <a:xfrm>
            <a:off x="6309360" y="3017520"/>
            <a:ext cx="5120640" cy="457200"/>
          </a:xfrm>
          <a:prstGeom prst="rect">
            <a:avLst/>
          </a:prstGeom>
          <a:solidFill>
            <a:srgbClr val="F7F6F4"/>
          </a:solidFill>
          <a:ln w="12700">
            <a:solidFill>
              <a:srgbClr val="F7F6F4"/>
            </a:solidFill>
            <a:prstDash val="solid"/>
          </a:ln>
        </p:spPr>
      </p:sp>
      <p:sp>
        <p:nvSpPr>
          <p:cNvPr id="15" name="Text 13"/>
          <p:cNvSpPr txBox="1"/>
          <p:nvPr/>
        </p:nvSpPr>
        <p:spPr>
          <a:xfrm>
            <a:off x="6419088" y="3017520"/>
            <a:ext cx="4901184" cy="457200"/>
          </a:xfrm>
          <a:prstGeom prst="rect">
            <a:avLst/>
          </a:prstGeom>
          <a:noFill/>
          <a:ln/>
        </p:spPr>
        <p:txBody>
          <a:bodyPr wrap="square" lIns="0" tIns="0" rIns="0" bIns="0" rtlCol="0" anchor="ctr"/>
          <a:lstStyle/>
          <a:p>
            <a:pPr algn="ctr" indent="0" marL="0">
              <a:lnSpc>
                <a:spcPts val="1400"/>
              </a:lnSpc>
              <a:buNone/>
            </a:pPr>
            <a:r>
              <a:rPr lang="en-US" sz="1100" b="1" dirty="0">
                <a:solidFill>
                  <a:srgbClr val="141414"/>
                </a:solidFill>
                <a:latin typeface="Calibri" pitchFamily="34" charset="0"/>
                <a:ea typeface="Calibri" pitchFamily="34" charset="-122"/>
                <a:cs typeface="Calibri" pitchFamily="34" charset="-120"/>
              </a:rPr>
              <a:t>Waste eggshell</a:t>
            </a:r>
            <a:endParaRPr lang="en-US" sz="1100" dirty="0"/>
          </a:p>
        </p:txBody>
      </p:sp>
      <p:sp>
        <p:nvSpPr>
          <p:cNvPr id="16" name="d2"/>
          <p:cNvSpPr/>
          <p:nvPr/>
        </p:nvSpPr>
        <p:spPr>
          <a:xfrm>
            <a:off x="7406640" y="3584448"/>
            <a:ext cx="164592" cy="237744"/>
          </a:xfrm>
          <a:prstGeom prst="downArrow">
            <a:avLst/>
          </a:prstGeom>
          <a:solidFill>
            <a:srgbClr val="BDBDBD"/>
          </a:solidFill>
          <a:ln w="12700">
            <a:solidFill>
              <a:srgbClr val="BDBDBD">
                <a:alpha val="0"/>
              </a:srgbClr>
            </a:solidFill>
            <a:prstDash val="solid"/>
          </a:ln>
        </p:spPr>
      </p:sp>
      <p:sp>
        <p:nvSpPr>
          <p:cNvPr id="17" name="d3"/>
          <p:cNvSpPr/>
          <p:nvPr/>
        </p:nvSpPr>
        <p:spPr>
          <a:xfrm>
            <a:off x="10149840" y="3584448"/>
            <a:ext cx="164592" cy="237744"/>
          </a:xfrm>
          <a:prstGeom prst="downArrow">
            <a:avLst/>
          </a:prstGeom>
          <a:solidFill>
            <a:srgbClr val="B4513A"/>
          </a:solidFill>
          <a:ln w="12700">
            <a:solidFill>
              <a:srgbClr val="B4513A">
                <a:alpha val="0"/>
              </a:srgbClr>
            </a:solidFill>
            <a:prstDash val="solid"/>
          </a:ln>
        </p:spPr>
      </p:sp>
      <p:sp>
        <p:nvSpPr>
          <p:cNvPr id="18" name="nd6.94.3"/>
          <p:cNvSpPr/>
          <p:nvPr/>
        </p:nvSpPr>
        <p:spPr>
          <a:xfrm>
            <a:off x="6309360" y="3931920"/>
            <a:ext cx="2377440" cy="457200"/>
          </a:xfrm>
          <a:prstGeom prst="rect">
            <a:avLst/>
          </a:prstGeom>
          <a:solidFill>
            <a:srgbClr val="FFFFFF"/>
          </a:solidFill>
          <a:ln w="12700">
            <a:solidFill>
              <a:srgbClr val="BDBDBD"/>
            </a:solidFill>
            <a:prstDash val="solid"/>
          </a:ln>
        </p:spPr>
      </p:sp>
      <p:sp>
        <p:nvSpPr>
          <p:cNvPr id="19" name="Text 17"/>
          <p:cNvSpPr txBox="1"/>
          <p:nvPr/>
        </p:nvSpPr>
        <p:spPr>
          <a:xfrm>
            <a:off x="6419088" y="3931920"/>
            <a:ext cx="2157984" cy="457200"/>
          </a:xfrm>
          <a:prstGeom prst="rect">
            <a:avLst/>
          </a:prstGeom>
          <a:noFill/>
          <a:ln/>
        </p:spPr>
        <p:txBody>
          <a:bodyPr wrap="square" lIns="0" tIns="0" rIns="0" bIns="0" rtlCol="0" anchor="ctr"/>
          <a:lstStyle/>
          <a:p>
            <a:pPr algn="ctr" indent="0" marL="0">
              <a:lnSpc>
                <a:spcPts val="1400"/>
              </a:lnSpc>
              <a:buNone/>
            </a:pPr>
            <a:r>
              <a:rPr lang="en-US" sz="1100" b="1" dirty="0">
                <a:solidFill>
                  <a:srgbClr val="8C8C8C"/>
                </a:solidFill>
                <a:latin typeface="Calibri" pitchFamily="34" charset="0"/>
                <a:ea typeface="Calibri" pitchFamily="34" charset="-122"/>
                <a:cs typeface="Calibri" pitchFamily="34" charset="-120"/>
              </a:rPr>
              <a:t>Landfill</a:t>
            </a:r>
            <a:endParaRPr lang="en-US" sz="1100" dirty="0"/>
          </a:p>
        </p:txBody>
      </p:sp>
      <p:sp>
        <p:nvSpPr>
          <p:cNvPr id="20" name="nd9.94.3"/>
          <p:cNvSpPr/>
          <p:nvPr/>
        </p:nvSpPr>
        <p:spPr>
          <a:xfrm>
            <a:off x="9052560" y="3931920"/>
            <a:ext cx="2377440" cy="457200"/>
          </a:xfrm>
          <a:prstGeom prst="rect">
            <a:avLst/>
          </a:prstGeom>
          <a:solidFill>
            <a:srgbClr val="B4513A"/>
          </a:solidFill>
          <a:ln w="12700">
            <a:solidFill>
              <a:srgbClr val="B4513A"/>
            </a:solidFill>
            <a:prstDash val="solid"/>
          </a:ln>
        </p:spPr>
      </p:sp>
      <p:sp>
        <p:nvSpPr>
          <p:cNvPr id="21" name="Text 19"/>
          <p:cNvSpPr txBox="1"/>
          <p:nvPr/>
        </p:nvSpPr>
        <p:spPr>
          <a:xfrm>
            <a:off x="9162288" y="3931920"/>
            <a:ext cx="2157984" cy="457200"/>
          </a:xfrm>
          <a:prstGeom prst="rect">
            <a:avLst/>
          </a:prstGeom>
          <a:noFill/>
          <a:ln/>
        </p:spPr>
        <p:txBody>
          <a:bodyPr wrap="square" lIns="0" tIns="0" rIns="0" bIns="0" rtlCol="0" anchor="ctr"/>
          <a:lstStyle/>
          <a:p>
            <a:pPr algn="ctr" indent="0" marL="0">
              <a:lnSpc>
                <a:spcPts val="1400"/>
              </a:lnSpc>
              <a:buNone/>
            </a:pPr>
            <a:r>
              <a:rPr lang="en-US" sz="1100" b="1" dirty="0">
                <a:solidFill>
                  <a:srgbClr val="FFFFFF"/>
                </a:solidFill>
                <a:latin typeface="Calibri" pitchFamily="34" charset="0"/>
                <a:ea typeface="Calibri" pitchFamily="34" charset="-122"/>
                <a:cs typeface="Calibri" pitchFamily="34" charset="-120"/>
              </a:rPr>
              <a:t>Mineral resource</a:t>
            </a:r>
            <a:endParaRPr lang="en-US" sz="1100" dirty="0"/>
          </a:p>
        </p:txBody>
      </p:sp>
      <p:sp>
        <p:nvSpPr>
          <p:cNvPr id="22" name="Text 20"/>
          <p:cNvSpPr txBox="1"/>
          <p:nvPr/>
        </p:nvSpPr>
        <p:spPr>
          <a:xfrm>
            <a:off x="6309360" y="4846320"/>
            <a:ext cx="5120640" cy="109728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The case for eggshell as a mineral phase is settled. This paper is about the phase that binds it.</a:t>
            </a:r>
            <a:endParaRPr lang="en-US" sz="1200" dirty="0"/>
          </a:p>
        </p:txBody>
      </p:sp>
      <p:sp>
        <p:nvSpPr>
          <p:cNvPr id="2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Prior applications</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Established uses of eggshell waste in engineered materials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698480" cy="914400"/>
        </p:xfrm>
        <a:graphic>
          <a:graphicData uri="http://schemas.openxmlformats.org/drawingml/2006/table">
            <a:tbl>
              <a:tblPr/>
              <a:tblGrid>
                <a:gridCol w="4297680"/>
                <a:gridCol w="2834640"/>
                <a:gridCol w="3566160"/>
              </a:tblGrid>
              <a:tr h="310896">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Application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Binding phase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Partial cement replacement in concrete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Portland clinker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Teara et al. (2019); Bhartiya &amp; Dubey (2018)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Compressed laterite brick</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Soil – lime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Adogla et al. (2016)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Hot-mix asphalt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Bitumen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Razzaq &amp; Yousif (2017)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Clay stabilisation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Clay mineral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Soundara &amp; Vilasini (2015)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Eco-ceramic wall tile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Ceramic body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Vilarinho et al. (2022)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Particulate filler in PVC</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Poly(vinyl chloride)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Skórczewska et al. (2020)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Filler in flexible polyurethane foam</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Polyurethane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Victor et al. (2019)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Ceramic–metal 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Metal matrix</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Bilici et al. (2023); Yönetken et al. (2016)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Bone tissue scaffold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Calcium phosphate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Shafiei et al. (2019)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Wallpaper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Cellulosic furnish</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Tutuş et al. (2018)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5.72"/>
          <p:cNvSpPr/>
          <p:nvPr/>
        </p:nvSpPr>
        <p:spPr>
          <a:xfrm>
            <a:off x="731520" y="5230368"/>
            <a:ext cx="1069848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5376672"/>
            <a:ext cx="10241280" cy="365760"/>
          </a:xfrm>
          <a:prstGeom prst="rect">
            <a:avLst/>
          </a:prstGeom>
          <a:noFill/>
          <a:ln/>
        </p:spPr>
        <p:txBody>
          <a:bodyPr wrap="square" lIns="0" tIns="0" rIns="0" bIns="0" rtlCol="0" anchor="t"/>
          <a:lstStyle/>
          <a:p>
            <a:pPr indent="0" marL="0">
              <a:lnSpc>
                <a:spcPts val="1800"/>
              </a:lnSpc>
              <a:buNone/>
            </a:pPr>
            <a:r>
              <a:rPr lang="en-US" sz="1200" b="1" dirty="0">
                <a:solidFill>
                  <a:srgbClr val="141414"/>
                </a:solidFill>
                <a:latin typeface="Calibri" pitchFamily="34" charset="0"/>
                <a:ea typeface="Calibri" pitchFamily="34" charset="-122"/>
                <a:cs typeface="Calibri" pitchFamily="34" charset="-120"/>
              </a:rPr>
              <a:t>The burden is carried by the binder, and the binder is left untouched.</a:t>
            </a:r>
            <a:endParaRPr lang="en-US" sz="1200" dirty="0"/>
          </a:p>
        </p:txBody>
      </p:sp>
      <p:sp>
        <p:nvSpPr>
          <p:cNvPr id="7" name="ph1"/>
          <p:cNvSpPr/>
          <p:nvPr/>
        </p:nvSpPr>
        <p:spPr>
          <a:xfrm>
            <a:off x="731520" y="5623560"/>
            <a:ext cx="10698480" cy="347472"/>
          </a:xfrm>
          <a:prstGeom prst="rect">
            <a:avLst/>
          </a:prstGeom>
          <a:solidFill>
            <a:srgbClr val="B4513A"/>
          </a:solidFill>
          <a:ln w="12700">
            <a:solidFill>
              <a:srgbClr val="B4513A">
                <a:alpha val="0"/>
              </a:srgbClr>
            </a:solidFill>
            <a:prstDash val="solid"/>
          </a:ln>
        </p:spPr>
      </p:sp>
      <p:sp>
        <p:nvSpPr>
          <p:cNvPr id="8" name="Text 5"/>
          <p:cNvSpPr txBox="1"/>
          <p:nvPr/>
        </p:nvSpPr>
        <p:spPr>
          <a:xfrm>
            <a:off x="914400" y="5623560"/>
            <a:ext cx="10332720" cy="347472"/>
          </a:xfrm>
          <a:prstGeom prst="rect">
            <a:avLst/>
          </a:prstGeom>
          <a:noFill/>
          <a:ln/>
        </p:spPr>
        <p:txBody>
          <a:bodyPr wrap="square" lIns="0" tIns="0" rIns="0" bIns="0" rtlCol="0" anchor="ctr"/>
          <a:lstStyle/>
          <a:p>
            <a:pPr indent="0" marL="0">
              <a:buNone/>
            </a:pPr>
            <a:r>
              <a:rPr lang="en-US" sz="1100" b="1" spc="40" kern="0" dirty="0">
                <a:solidFill>
                  <a:srgbClr val="FFFFFF"/>
                </a:solidFill>
                <a:latin typeface="Calibri" pitchFamily="34" charset="0"/>
                <a:ea typeface="Calibri" pitchFamily="34" charset="-122"/>
                <a:cs typeface="Calibri" pitchFamily="34" charset="-120"/>
              </a:rPr>
              <a:t>MINERAL PHASE   ·   recovered from waste</a:t>
            </a:r>
            <a:endParaRPr lang="en-US" sz="1100" dirty="0"/>
          </a:p>
        </p:txBody>
      </p:sp>
      <p:sp>
        <p:nvSpPr>
          <p:cNvPr id="9" name="ph2"/>
          <p:cNvSpPr/>
          <p:nvPr/>
        </p:nvSpPr>
        <p:spPr>
          <a:xfrm>
            <a:off x="731520" y="5971032"/>
            <a:ext cx="10698480" cy="347472"/>
          </a:xfrm>
          <a:prstGeom prst="rect">
            <a:avLst/>
          </a:prstGeom>
          <a:solidFill>
            <a:srgbClr val="141414"/>
          </a:solidFill>
          <a:ln w="12700">
            <a:solidFill>
              <a:srgbClr val="141414">
                <a:alpha val="0"/>
              </a:srgbClr>
            </a:solidFill>
            <a:prstDash val="solid"/>
          </a:ln>
        </p:spPr>
      </p:sp>
      <p:sp>
        <p:nvSpPr>
          <p:cNvPr id="10" name="Text 7"/>
          <p:cNvSpPr txBox="1"/>
          <p:nvPr/>
        </p:nvSpPr>
        <p:spPr>
          <a:xfrm>
            <a:off x="914400" y="5971032"/>
            <a:ext cx="10332720" cy="347472"/>
          </a:xfrm>
          <a:prstGeom prst="rect">
            <a:avLst/>
          </a:prstGeom>
          <a:noFill/>
          <a:ln/>
        </p:spPr>
        <p:txBody>
          <a:bodyPr wrap="square" lIns="0" tIns="0" rIns="0" bIns="0" rtlCol="0" anchor="ctr"/>
          <a:lstStyle/>
          <a:p>
            <a:pPr indent="0" marL="0">
              <a:buNone/>
            </a:pPr>
            <a:r>
              <a:rPr lang="en-US" sz="1100" b="1" spc="40" kern="0" dirty="0">
                <a:solidFill>
                  <a:srgbClr val="FFFFFF"/>
                </a:solidFill>
                <a:latin typeface="Calibri" pitchFamily="34" charset="0"/>
                <a:ea typeface="Calibri" pitchFamily="34" charset="-122"/>
                <a:cs typeface="Calibri" pitchFamily="34" charset="-120"/>
              </a:rPr>
              <a:t>BINDING PHASE   ·   cementitious, ceramic or petrochemical</a:t>
            </a:r>
            <a:endParaRPr lang="en-US" sz="1100" dirty="0"/>
          </a:p>
        </p:txBody>
      </p:sp>
      <p:sp>
        <p:nvSpPr>
          <p:cNvPr id="12"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Research gap</a:t>
            </a:r>
            <a:endParaRPr lang="en-US" sz="2000" dirty="0"/>
          </a:p>
        </p:txBody>
      </p:sp>
      <p:sp>
        <p:nvSpPr>
          <p:cNvPr id="3" name="Text 1"/>
          <p:cNvSpPr txBox="1"/>
          <p:nvPr/>
        </p:nvSpPr>
        <p:spPr>
          <a:xfrm>
            <a:off x="731520" y="1325880"/>
            <a:ext cx="10698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Three gaps follow from the preceding two slides</a:t>
            </a:r>
            <a:endParaRPr lang="en-US" sz="1300" dirty="0"/>
          </a:p>
        </p:txBody>
      </p:sp>
      <p:sp>
        <p:nvSpPr>
          <p:cNvPr id="4" name="ru0.81.9"/>
          <p:cNvSpPr/>
          <p:nvPr/>
        </p:nvSpPr>
        <p:spPr>
          <a:xfrm>
            <a:off x="731520" y="1737360"/>
            <a:ext cx="10698480" cy="9144"/>
          </a:xfrm>
          <a:prstGeom prst="rect">
            <a:avLst/>
          </a:prstGeom>
          <a:solidFill>
            <a:srgbClr val="5A5A5A"/>
          </a:solidFill>
          <a:ln w="12700">
            <a:solidFill>
              <a:srgbClr val="5A5A5A">
                <a:alpha val="0"/>
              </a:srgbClr>
            </a:solidFill>
            <a:prstDash val="solid"/>
          </a:ln>
        </p:spPr>
      </p:sp>
      <p:sp>
        <p:nvSpPr>
          <p:cNvPr id="5" name="Text 3"/>
          <p:cNvSpPr txBox="1"/>
          <p:nvPr/>
        </p:nvSpPr>
        <p:spPr>
          <a:xfrm>
            <a:off x="731520" y="214884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1417320" y="2103120"/>
            <a:ext cx="4572000" cy="566928"/>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The binding phase is never biological</a:t>
            </a:r>
            <a:endParaRPr lang="en-US" sz="1300" dirty="0"/>
          </a:p>
        </p:txBody>
      </p:sp>
      <p:sp>
        <p:nvSpPr>
          <p:cNvPr id="7" name="Text 5"/>
          <p:cNvSpPr txBox="1"/>
          <p:nvPr/>
        </p:nvSpPr>
        <p:spPr>
          <a:xfrm>
            <a:off x="6309360" y="2121408"/>
            <a:ext cx="5120640" cy="731520"/>
          </a:xfrm>
          <a:prstGeom prst="rect">
            <a:avLst/>
          </a:prstGeom>
          <a:noFill/>
          <a:ln/>
        </p:spPr>
        <p:txBody>
          <a:bodyPr wrap="square" lIns="0" tIns="0" rIns="0" bIns="0" rtlCol="0" anchor="ctr"/>
          <a:lstStyle/>
          <a:p>
            <a:pPr indent="0" marL="0">
              <a:lnSpc>
                <a:spcPts val="1700"/>
              </a:lnSpc>
              <a:buNone/>
            </a:pPr>
            <a:r>
              <a:rPr lang="en-US" sz="1200" dirty="0">
                <a:solidFill>
                  <a:srgbClr val="9E9E9E"/>
                </a:solidFill>
                <a:latin typeface="Calibri" pitchFamily="34" charset="0"/>
                <a:ea typeface="Calibri" pitchFamily="34" charset="-122"/>
                <a:cs typeface="Calibri" pitchFamily="34" charset="-120"/>
              </a:rPr>
              <a:t>No study reports an eggshell composite in which both phases are of biological origin.</a:t>
            </a:r>
            <a:endParaRPr lang="en-US" sz="1200" dirty="0"/>
          </a:p>
        </p:txBody>
      </p:sp>
      <p:sp>
        <p:nvSpPr>
          <p:cNvPr id="8" name="ru0.83.4499999999999997"/>
          <p:cNvSpPr/>
          <p:nvPr/>
        </p:nvSpPr>
        <p:spPr>
          <a:xfrm>
            <a:off x="731520" y="3154680"/>
            <a:ext cx="10698480" cy="9144"/>
          </a:xfrm>
          <a:prstGeom prst="rect">
            <a:avLst/>
          </a:prstGeom>
          <a:solidFill>
            <a:srgbClr val="5A5A5A"/>
          </a:solidFill>
          <a:ln w="12700">
            <a:solidFill>
              <a:srgbClr val="5A5A5A">
                <a:alpha val="0"/>
              </a:srgbClr>
            </a:solidFill>
            <a:prstDash val="solid"/>
          </a:ln>
        </p:spPr>
      </p:sp>
      <p:sp>
        <p:nvSpPr>
          <p:cNvPr id="9" name="Text 7"/>
          <p:cNvSpPr txBox="1"/>
          <p:nvPr/>
        </p:nvSpPr>
        <p:spPr>
          <a:xfrm>
            <a:off x="731520" y="347472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10" name="Text 8"/>
          <p:cNvSpPr txBox="1"/>
          <p:nvPr/>
        </p:nvSpPr>
        <p:spPr>
          <a:xfrm>
            <a:off x="1417320" y="3429000"/>
            <a:ext cx="4572000" cy="566928"/>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Agar is characterised only as an unfilled film</a:t>
            </a:r>
            <a:endParaRPr lang="en-US" sz="1300" dirty="0"/>
          </a:p>
        </p:txBody>
      </p:sp>
      <p:sp>
        <p:nvSpPr>
          <p:cNvPr id="11" name="Text 9"/>
          <p:cNvSpPr txBox="1"/>
          <p:nvPr/>
        </p:nvSpPr>
        <p:spPr>
          <a:xfrm>
            <a:off x="6309360" y="3447288"/>
            <a:ext cx="5120640" cy="731520"/>
          </a:xfrm>
          <a:prstGeom prst="rect">
            <a:avLst/>
          </a:prstGeom>
          <a:noFill/>
          <a:ln/>
        </p:spPr>
        <p:txBody>
          <a:bodyPr wrap="square" lIns="0" tIns="0" rIns="0" bIns="0" rtlCol="0" anchor="ctr"/>
          <a:lstStyle/>
          <a:p>
            <a:pPr indent="0" marL="0">
              <a:lnSpc>
                <a:spcPts val="1700"/>
              </a:lnSpc>
              <a:buNone/>
            </a:pPr>
            <a:r>
              <a:rPr lang="en-US" sz="1200" dirty="0">
                <a:solidFill>
                  <a:srgbClr val="9E9E9E"/>
                </a:solidFill>
                <a:latin typeface="Calibri" pitchFamily="34" charset="0"/>
                <a:ea typeface="Calibri" pitchFamily="34" charset="-122"/>
                <a:cs typeface="Calibri" pitchFamily="34" charset="-120"/>
              </a:rPr>
              <a:t>Never as the binder of a mineral-filled solid in bending.</a:t>
            </a:r>
            <a:endParaRPr lang="en-US" sz="1200" dirty="0"/>
          </a:p>
        </p:txBody>
      </p:sp>
      <p:sp>
        <p:nvSpPr>
          <p:cNvPr id="12" name="ru0.84.9"/>
          <p:cNvSpPr/>
          <p:nvPr/>
        </p:nvSpPr>
        <p:spPr>
          <a:xfrm>
            <a:off x="731520" y="4480560"/>
            <a:ext cx="10698480" cy="9144"/>
          </a:xfrm>
          <a:prstGeom prst="rect">
            <a:avLst/>
          </a:prstGeom>
          <a:solidFill>
            <a:srgbClr val="5A5A5A"/>
          </a:solidFill>
          <a:ln w="12700">
            <a:solidFill>
              <a:srgbClr val="5A5A5A">
                <a:alpha val="0"/>
              </a:srgbClr>
            </a:solidFill>
            <a:prstDash val="solid"/>
          </a:ln>
        </p:spPr>
      </p:sp>
      <p:sp>
        <p:nvSpPr>
          <p:cNvPr id="13" name="Text 11"/>
          <p:cNvSpPr txBox="1"/>
          <p:nvPr/>
        </p:nvSpPr>
        <p:spPr>
          <a:xfrm>
            <a:off x="731520" y="480060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1417320" y="4754880"/>
            <a:ext cx="4572000" cy="566928"/>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Property sets are reported in fragments</a:t>
            </a:r>
            <a:endParaRPr lang="en-US" sz="1300" dirty="0"/>
          </a:p>
        </p:txBody>
      </p:sp>
      <p:sp>
        <p:nvSpPr>
          <p:cNvPr id="15" name="Text 13"/>
          <p:cNvSpPr txBox="1"/>
          <p:nvPr/>
        </p:nvSpPr>
        <p:spPr>
          <a:xfrm>
            <a:off x="6309360" y="4773168"/>
            <a:ext cx="5120640" cy="731520"/>
          </a:xfrm>
          <a:prstGeom prst="rect">
            <a:avLst/>
          </a:prstGeom>
          <a:noFill/>
          <a:ln/>
        </p:spPr>
        <p:txBody>
          <a:bodyPr wrap="square" lIns="0" tIns="0" rIns="0" bIns="0" rtlCol="0" anchor="ctr"/>
          <a:lstStyle/>
          <a:p>
            <a:pPr indent="0" marL="0">
              <a:lnSpc>
                <a:spcPts val="1700"/>
              </a:lnSpc>
              <a:buNone/>
            </a:pPr>
            <a:r>
              <a:rPr lang="en-US" sz="1200" dirty="0">
                <a:solidFill>
                  <a:srgbClr val="9E9E9E"/>
                </a:solidFill>
                <a:latin typeface="Calibri" pitchFamily="34" charset="0"/>
                <a:ea typeface="Calibri" pitchFamily="34" charset="-122"/>
                <a:cs typeface="Calibri" pitchFamily="34" charset="-120"/>
              </a:rPr>
              <a:t>Property data is scattered across separate studies on separate formulations.</a:t>
            </a:r>
            <a:endParaRPr lang="en-US" sz="1200" dirty="0"/>
          </a:p>
        </p:txBody>
      </p:sp>
      <p:sp>
        <p:nvSpPr>
          <p:cNvPr id="16" name="Text 14"/>
          <p:cNvSpPr txBox="1"/>
          <p:nvPr/>
        </p:nvSpPr>
        <p:spPr>
          <a:xfrm>
            <a:off x="731520" y="6080760"/>
            <a:ext cx="10241280" cy="457200"/>
          </a:xfrm>
          <a:prstGeom prst="rect">
            <a:avLst/>
          </a:prstGeom>
          <a:noFill/>
          <a:ln/>
        </p:spPr>
        <p:txBody>
          <a:bodyPr wrap="square" lIns="0" tIns="0" rIns="0" bIns="0" rtlCol="0" anchor="t"/>
          <a:lstStyle/>
          <a:p>
            <a:pPr indent="0" marL="0">
              <a:lnSpc>
                <a:spcPts val="1800"/>
              </a:lnSpc>
              <a:buNone/>
            </a:pPr>
            <a:r>
              <a:rPr lang="en-US" sz="1200" b="1" i="1" dirty="0">
                <a:solidFill>
                  <a:srgbClr val="FFFFFF"/>
                </a:solidFill>
                <a:latin typeface="Calibri" pitchFamily="34" charset="0"/>
                <a:ea typeface="Calibri" pitchFamily="34" charset="-122"/>
                <a:cs typeface="Calibri" pitchFamily="34" charset="-120"/>
              </a:rPr>
              <a:t>This is not a novel constituent. It is a documented protocol and a single coherent property set.</a:t>
            </a:r>
            <a:endParaRPr lang="en-US" sz="1200" dirty="0"/>
          </a:p>
        </p:txBody>
      </p:sp>
      <p:sp>
        <p:nvSpPr>
          <p:cNvPr id="18"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Aim</a:t>
            </a:r>
            <a:endParaRPr lang="en-US" sz="2000" dirty="0"/>
          </a:p>
        </p:txBody>
      </p:sp>
      <p:sp>
        <p:nvSpPr>
          <p:cNvPr id="3" name="aimp"/>
          <p:cNvSpPr/>
          <p:nvPr/>
        </p:nvSpPr>
        <p:spPr>
          <a:xfrm>
            <a:off x="731520" y="1325880"/>
            <a:ext cx="10698480" cy="1051560"/>
          </a:xfrm>
          <a:prstGeom prst="rect">
            <a:avLst/>
          </a:prstGeom>
          <a:solidFill>
            <a:srgbClr val="F7F6F4"/>
          </a:solidFill>
          <a:ln w="12700">
            <a:solidFill>
              <a:srgbClr val="F7F6F4">
                <a:alpha val="0"/>
              </a:srgbClr>
            </a:solidFill>
            <a:prstDash val="solid"/>
          </a:ln>
        </p:spPr>
      </p:sp>
      <p:sp>
        <p:nvSpPr>
          <p:cNvPr id="4" name="Text 2"/>
          <p:cNvSpPr txBox="1"/>
          <p:nvPr/>
        </p:nvSpPr>
        <p:spPr>
          <a:xfrm>
            <a:off x="1051560" y="1572768"/>
            <a:ext cx="10058400" cy="64008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To document a reproducible production protocol for a fully bio-based eggshell–agar composite, and to characterise it against published test standards.</a:t>
            </a:r>
            <a:endParaRPr lang="en-US" sz="1300" dirty="0"/>
          </a:p>
        </p:txBody>
      </p:sp>
      <p:sp>
        <p:nvSpPr>
          <p:cNvPr id="5" name="Text 3"/>
          <p:cNvSpPr txBox="1"/>
          <p:nvPr/>
        </p:nvSpPr>
        <p:spPr>
          <a:xfrm>
            <a:off x="731520" y="2926080"/>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Objectives</a:t>
            </a:r>
            <a:endParaRPr lang="en-US" sz="1300" dirty="0"/>
          </a:p>
        </p:txBody>
      </p:sp>
      <p:sp>
        <p:nvSpPr>
          <p:cNvPr id="6" name="ru0.83.6"/>
          <p:cNvSpPr/>
          <p:nvPr/>
        </p:nvSpPr>
        <p:spPr>
          <a:xfrm>
            <a:off x="731520" y="3291840"/>
            <a:ext cx="10698480" cy="9144"/>
          </a:xfrm>
          <a:prstGeom prst="rect">
            <a:avLst/>
          </a:prstGeom>
          <a:solidFill>
            <a:srgbClr val="E4E4E4"/>
          </a:solidFill>
          <a:ln w="12700">
            <a:solidFill>
              <a:srgbClr val="E4E4E4">
                <a:alpha val="0"/>
              </a:srgbClr>
            </a:solidFill>
            <a:prstDash val="solid"/>
          </a:ln>
        </p:spPr>
      </p:sp>
      <p:sp>
        <p:nvSpPr>
          <p:cNvPr id="7" name="Text 5"/>
          <p:cNvSpPr txBox="1"/>
          <p:nvPr/>
        </p:nvSpPr>
        <p:spPr>
          <a:xfrm>
            <a:off x="731520" y="3520440"/>
            <a:ext cx="246888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731520" y="3840480"/>
            <a:ext cx="2377440" cy="731520"/>
          </a:xfrm>
          <a:prstGeom prst="rect">
            <a:avLst/>
          </a:prstGeom>
          <a:noFill/>
          <a:ln/>
        </p:spPr>
        <p:txBody>
          <a:bodyPr wrap="square" lIns="0" tIns="0" rIns="0" bIns="0" rtlCol="0" anchor="ctr"/>
          <a:lstStyle/>
          <a:p>
            <a:pPr indent="0" marL="0">
              <a:lnSpc>
                <a:spcPts val="2100"/>
              </a:lnSpc>
              <a:buNone/>
            </a:pPr>
            <a:r>
              <a:rPr lang="en-US" sz="1300" b="1" dirty="0">
                <a:solidFill>
                  <a:srgbClr val="141414"/>
                </a:solidFill>
                <a:latin typeface="Calibri" pitchFamily="34" charset="0"/>
                <a:ea typeface="Calibri" pitchFamily="34" charset="-122"/>
                <a:cs typeface="Calibri" pitchFamily="34" charset="-120"/>
              </a:rPr>
              <a:t>Document the protocol</a:t>
            </a:r>
            <a:endParaRPr lang="en-US" sz="1300" dirty="0"/>
          </a:p>
        </p:txBody>
      </p:sp>
      <p:sp>
        <p:nvSpPr>
          <p:cNvPr id="9" name="Text 7"/>
          <p:cNvSpPr txBox="1"/>
          <p:nvPr/>
        </p:nvSpPr>
        <p:spPr>
          <a:xfrm>
            <a:off x="3429000" y="3520440"/>
            <a:ext cx="246888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10" name="Text 8"/>
          <p:cNvSpPr txBox="1"/>
          <p:nvPr/>
        </p:nvSpPr>
        <p:spPr>
          <a:xfrm>
            <a:off x="3429000" y="3840480"/>
            <a:ext cx="2377440" cy="731520"/>
          </a:xfrm>
          <a:prstGeom prst="rect">
            <a:avLst/>
          </a:prstGeom>
          <a:noFill/>
          <a:ln/>
        </p:spPr>
        <p:txBody>
          <a:bodyPr wrap="square" lIns="0" tIns="0" rIns="0" bIns="0" rtlCol="0" anchor="ctr"/>
          <a:lstStyle/>
          <a:p>
            <a:pPr indent="0" marL="0">
              <a:lnSpc>
                <a:spcPts val="2100"/>
              </a:lnSpc>
              <a:buNone/>
            </a:pPr>
            <a:r>
              <a:rPr lang="en-US" sz="1300" b="1" dirty="0">
                <a:solidFill>
                  <a:srgbClr val="141414"/>
                </a:solidFill>
                <a:latin typeface="Calibri" pitchFamily="34" charset="0"/>
                <a:ea typeface="Calibri" pitchFamily="34" charset="-122"/>
                <a:cs typeface="Calibri" pitchFamily="34" charset="-120"/>
              </a:rPr>
              <a:t>Characterise to standards</a:t>
            </a:r>
            <a:endParaRPr lang="en-US" sz="1300" dirty="0"/>
          </a:p>
        </p:txBody>
      </p:sp>
      <p:sp>
        <p:nvSpPr>
          <p:cNvPr id="11" name="Text 9"/>
          <p:cNvSpPr txBox="1"/>
          <p:nvPr/>
        </p:nvSpPr>
        <p:spPr>
          <a:xfrm>
            <a:off x="6126480" y="3520440"/>
            <a:ext cx="246888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2" name="Text 10"/>
          <p:cNvSpPr txBox="1"/>
          <p:nvPr/>
        </p:nvSpPr>
        <p:spPr>
          <a:xfrm>
            <a:off x="6126480" y="3840480"/>
            <a:ext cx="2377440" cy="731520"/>
          </a:xfrm>
          <a:prstGeom prst="rect">
            <a:avLst/>
          </a:prstGeom>
          <a:noFill/>
          <a:ln/>
        </p:spPr>
        <p:txBody>
          <a:bodyPr wrap="square" lIns="0" tIns="0" rIns="0" bIns="0" rtlCol="0" anchor="ctr"/>
          <a:lstStyle/>
          <a:p>
            <a:pPr indent="0" marL="0">
              <a:lnSpc>
                <a:spcPts val="2100"/>
              </a:lnSpc>
              <a:buNone/>
            </a:pPr>
            <a:r>
              <a:rPr lang="en-US" sz="1300" b="1" dirty="0">
                <a:solidFill>
                  <a:srgbClr val="141414"/>
                </a:solidFill>
                <a:latin typeface="Calibri" pitchFamily="34" charset="0"/>
                <a:ea typeface="Calibri" pitchFamily="34" charset="-122"/>
                <a:cs typeface="Calibri" pitchFamily="34" charset="-120"/>
              </a:rPr>
              <a:t>Position against two families</a:t>
            </a:r>
            <a:endParaRPr lang="en-US" sz="1300" dirty="0"/>
          </a:p>
        </p:txBody>
      </p:sp>
      <p:sp>
        <p:nvSpPr>
          <p:cNvPr id="13" name="Text 11"/>
          <p:cNvSpPr txBox="1"/>
          <p:nvPr/>
        </p:nvSpPr>
        <p:spPr>
          <a:xfrm>
            <a:off x="8823960" y="3520440"/>
            <a:ext cx="246888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14" name="Text 12"/>
          <p:cNvSpPr txBox="1"/>
          <p:nvPr/>
        </p:nvSpPr>
        <p:spPr>
          <a:xfrm>
            <a:off x="8823960" y="3840480"/>
            <a:ext cx="2377440" cy="731520"/>
          </a:xfrm>
          <a:prstGeom prst="rect">
            <a:avLst/>
          </a:prstGeom>
          <a:noFill/>
          <a:ln/>
        </p:spPr>
        <p:txBody>
          <a:bodyPr wrap="square" lIns="0" tIns="0" rIns="0" bIns="0" rtlCol="0" anchor="ctr"/>
          <a:lstStyle/>
          <a:p>
            <a:pPr indent="0" marL="0">
              <a:lnSpc>
                <a:spcPts val="2100"/>
              </a:lnSpc>
              <a:buNone/>
            </a:pPr>
            <a:r>
              <a:rPr lang="en-US" sz="1300" b="1" dirty="0">
                <a:solidFill>
                  <a:srgbClr val="B4513A"/>
                </a:solidFill>
                <a:latin typeface="Calibri" pitchFamily="34" charset="0"/>
                <a:ea typeface="Calibri" pitchFamily="34" charset="-122"/>
                <a:cs typeface="Calibri" pitchFamily="34" charset="-120"/>
              </a:rPr>
              <a:t>Derive an evaluation criterion</a:t>
            </a:r>
            <a:endParaRPr lang="en-US" sz="1300" dirty="0"/>
          </a:p>
        </p:txBody>
      </p:sp>
      <p:sp>
        <p:nvSpPr>
          <p:cNvPr id="15" name="Text 13"/>
          <p:cNvSpPr txBox="1"/>
          <p:nvPr/>
        </p:nvSpPr>
        <p:spPr>
          <a:xfrm>
            <a:off x="731520" y="4800600"/>
            <a:ext cx="10241280" cy="45720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The fourth, deriving an evaluation criterion for this material class, is where I will spend most of my time.</a:t>
            </a:r>
            <a:endParaRPr lang="en-US" sz="1200" dirty="0"/>
          </a:p>
        </p:txBody>
      </p:sp>
      <p:sp>
        <p:nvSpPr>
          <p:cNvPr id="16" name="Text 14"/>
          <p:cNvSpPr txBox="1"/>
          <p:nvPr/>
        </p:nvSpPr>
        <p:spPr>
          <a:xfrm>
            <a:off x="731520" y="548640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Standards applied: ASTM D790-17 · ISO 11925-2:2020 · ASTM D570-98(2018).</a:t>
            </a:r>
            <a:endParaRPr lang="en-US" sz="900" dirty="0"/>
          </a:p>
        </p:txBody>
      </p:sp>
      <p:sp>
        <p:nvSpPr>
          <p:cNvPr id="18"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Scope</a:t>
            </a:r>
            <a:endParaRPr lang="en-US" sz="2000" dirty="0"/>
          </a:p>
        </p:txBody>
      </p:sp>
      <p:sp>
        <p:nvSpPr>
          <p:cNvPr id="3" name="Text 1"/>
          <p:cNvSpPr txBox="1"/>
          <p:nvPr/>
        </p:nvSpPr>
        <p:spPr>
          <a:xfrm>
            <a:off x="731520" y="1325880"/>
            <a:ext cx="64008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Within scope</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6400800" cy="914400"/>
        </p:xfrm>
        <a:graphic>
          <a:graphicData uri="http://schemas.openxmlformats.org/drawingml/2006/table">
            <a:tbl>
              <a:tblPr/>
              <a:tblGrid>
                <a:gridCol w="1737360"/>
                <a:gridCol w="4663440"/>
              </a:tblGrid>
              <a:tr h="457200">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Dimension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This study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Formulations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Five — three compressive, two flexural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Specimens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Three per formulation for mechanical testing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Properties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 flexure, ignitability, water absorption, bulk density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Standards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ASTM D790-17 · ISO 11925-2:2020 · ASTM D570-98(2018)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Conditions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Ambient cure, single laboratory, single operator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5720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Application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Non-loadbearing interior surfaces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vr8.41.45"/>
          <p:cNvSpPr/>
          <p:nvPr/>
        </p:nvSpPr>
        <p:spPr>
          <a:xfrm>
            <a:off x="7680960" y="1325880"/>
            <a:ext cx="13716" cy="3566160"/>
          </a:xfrm>
          <a:prstGeom prst="rect">
            <a:avLst/>
          </a:prstGeom>
          <a:solidFill>
            <a:srgbClr val="E4E4E4"/>
          </a:solidFill>
          <a:ln w="12700">
            <a:solidFill>
              <a:srgbClr val="E4E4E4">
                <a:alpha val="0"/>
              </a:srgbClr>
            </a:solidFill>
            <a:prstDash val="solid"/>
          </a:ln>
        </p:spPr>
      </p:sp>
      <p:sp>
        <p:nvSpPr>
          <p:cNvPr id="6" name="Text 3"/>
          <p:cNvSpPr txBox="1"/>
          <p:nvPr/>
        </p:nvSpPr>
        <p:spPr>
          <a:xfrm>
            <a:off x="8138160" y="1325880"/>
            <a:ext cx="32918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Outside scope</a:t>
            </a:r>
            <a:endParaRPr lang="en-US" sz="1300" dirty="0"/>
          </a:p>
        </p:txBody>
      </p:sp>
      <p:sp>
        <p:nvSpPr>
          <p:cNvPr id="7" name="Text 4"/>
          <p:cNvSpPr txBox="1"/>
          <p:nvPr/>
        </p:nvSpPr>
        <p:spPr>
          <a:xfrm>
            <a:off x="8138160" y="1737360"/>
            <a:ext cx="3291840" cy="2011680"/>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Durability and ageing</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Fire classification</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Life-cycle assessment</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Structural use</a:t>
            </a:r>
            <a:endParaRPr lang="en-US" sz="1200" dirty="0"/>
          </a:p>
        </p:txBody>
      </p:sp>
      <p:sp>
        <p:nvSpPr>
          <p:cNvPr id="8" name="ru0.85.6"/>
          <p:cNvSpPr/>
          <p:nvPr/>
        </p:nvSpPr>
        <p:spPr>
          <a:xfrm>
            <a:off x="731520" y="5120640"/>
            <a:ext cx="10698480" cy="9144"/>
          </a:xfrm>
          <a:prstGeom prst="rect">
            <a:avLst/>
          </a:prstGeom>
          <a:solidFill>
            <a:srgbClr val="E4E4E4"/>
          </a:solidFill>
          <a:ln w="12700">
            <a:solidFill>
              <a:srgbClr val="E4E4E4">
                <a:alpha val="0"/>
              </a:srgbClr>
            </a:solidFill>
            <a:prstDash val="solid"/>
          </a:ln>
        </p:spPr>
      </p:sp>
      <p:sp>
        <p:nvSpPr>
          <p:cNvPr id="9" name="Text 6"/>
          <p:cNvSpPr txBox="1"/>
          <p:nvPr/>
        </p:nvSpPr>
        <p:spPr>
          <a:xfrm>
            <a:off x="731520" y="5285232"/>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Property coverage</a:t>
            </a:r>
            <a:endParaRPr lang="en-US" sz="1300" dirty="0"/>
          </a:p>
        </p:txBody>
      </p:sp>
      <p:sp>
        <p:nvSpPr>
          <p:cNvPr id="10" name="ch0"/>
          <p:cNvSpPr/>
          <p:nvPr/>
        </p:nvSpPr>
        <p:spPr>
          <a:xfrm>
            <a:off x="731520" y="5669280"/>
            <a:ext cx="1097280" cy="475488"/>
          </a:xfrm>
          <a:prstGeom prst="rect">
            <a:avLst/>
          </a:prstGeom>
          <a:solidFill>
            <a:srgbClr val="141414"/>
          </a:solidFill>
          <a:ln w="12700">
            <a:solidFill>
              <a:srgbClr val="141414"/>
            </a:solidFill>
            <a:prstDash val="solid"/>
          </a:ln>
        </p:spPr>
      </p:sp>
      <p:sp>
        <p:nvSpPr>
          <p:cNvPr id="11" name="Text 8"/>
          <p:cNvSpPr txBox="1"/>
          <p:nvPr/>
        </p:nvSpPr>
        <p:spPr>
          <a:xfrm>
            <a:off x="786384"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FFFFFF"/>
                </a:solidFill>
                <a:latin typeface="Calibri" pitchFamily="34" charset="0"/>
                <a:ea typeface="Calibri" pitchFamily="34" charset="-122"/>
                <a:cs typeface="Calibri" pitchFamily="34" charset="-120"/>
              </a:rPr>
              <a:t>Compression</a:t>
            </a:r>
            <a:endParaRPr lang="en-US" sz="950" dirty="0"/>
          </a:p>
        </p:txBody>
      </p:sp>
      <p:sp>
        <p:nvSpPr>
          <p:cNvPr id="12" name="ch1"/>
          <p:cNvSpPr/>
          <p:nvPr/>
        </p:nvSpPr>
        <p:spPr>
          <a:xfrm>
            <a:off x="1929384" y="5669280"/>
            <a:ext cx="1097280" cy="475488"/>
          </a:xfrm>
          <a:prstGeom prst="rect">
            <a:avLst/>
          </a:prstGeom>
          <a:solidFill>
            <a:srgbClr val="141414"/>
          </a:solidFill>
          <a:ln w="12700">
            <a:solidFill>
              <a:srgbClr val="141414"/>
            </a:solidFill>
            <a:prstDash val="solid"/>
          </a:ln>
        </p:spPr>
      </p:sp>
      <p:sp>
        <p:nvSpPr>
          <p:cNvPr id="13" name="Text 10"/>
          <p:cNvSpPr txBox="1"/>
          <p:nvPr/>
        </p:nvSpPr>
        <p:spPr>
          <a:xfrm>
            <a:off x="1984248"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FFFFFF"/>
                </a:solidFill>
                <a:latin typeface="Calibri" pitchFamily="34" charset="0"/>
                <a:ea typeface="Calibri" pitchFamily="34" charset="-122"/>
                <a:cs typeface="Calibri" pitchFamily="34" charset="-120"/>
              </a:rPr>
              <a:t>Flexure</a:t>
            </a:r>
            <a:endParaRPr lang="en-US" sz="950" dirty="0"/>
          </a:p>
        </p:txBody>
      </p:sp>
      <p:sp>
        <p:nvSpPr>
          <p:cNvPr id="14" name="ch2"/>
          <p:cNvSpPr/>
          <p:nvPr/>
        </p:nvSpPr>
        <p:spPr>
          <a:xfrm>
            <a:off x="3127248" y="5669280"/>
            <a:ext cx="1097280" cy="475488"/>
          </a:xfrm>
          <a:prstGeom prst="rect">
            <a:avLst/>
          </a:prstGeom>
          <a:solidFill>
            <a:srgbClr val="141414"/>
          </a:solidFill>
          <a:ln w="12700">
            <a:solidFill>
              <a:srgbClr val="141414"/>
            </a:solidFill>
            <a:prstDash val="solid"/>
          </a:ln>
        </p:spPr>
      </p:sp>
      <p:sp>
        <p:nvSpPr>
          <p:cNvPr id="15" name="Text 12"/>
          <p:cNvSpPr txBox="1"/>
          <p:nvPr/>
        </p:nvSpPr>
        <p:spPr>
          <a:xfrm>
            <a:off x="3182112"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FFFFFF"/>
                </a:solidFill>
                <a:latin typeface="Calibri" pitchFamily="34" charset="0"/>
                <a:ea typeface="Calibri" pitchFamily="34" charset="-122"/>
                <a:cs typeface="Calibri" pitchFamily="34" charset="-120"/>
              </a:rPr>
              <a:t>Ignitability</a:t>
            </a:r>
            <a:endParaRPr lang="en-US" sz="950" dirty="0"/>
          </a:p>
        </p:txBody>
      </p:sp>
      <p:sp>
        <p:nvSpPr>
          <p:cNvPr id="16" name="ch3"/>
          <p:cNvSpPr/>
          <p:nvPr/>
        </p:nvSpPr>
        <p:spPr>
          <a:xfrm>
            <a:off x="4325112" y="5669280"/>
            <a:ext cx="1097280" cy="475488"/>
          </a:xfrm>
          <a:prstGeom prst="rect">
            <a:avLst/>
          </a:prstGeom>
          <a:solidFill>
            <a:srgbClr val="141414"/>
          </a:solidFill>
          <a:ln w="12700">
            <a:solidFill>
              <a:srgbClr val="141414"/>
            </a:solidFill>
            <a:prstDash val="solid"/>
          </a:ln>
        </p:spPr>
      </p:sp>
      <p:sp>
        <p:nvSpPr>
          <p:cNvPr id="17" name="Text 14"/>
          <p:cNvSpPr txBox="1"/>
          <p:nvPr/>
        </p:nvSpPr>
        <p:spPr>
          <a:xfrm>
            <a:off x="4379976"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FFFFFF"/>
                </a:solidFill>
                <a:latin typeface="Calibri" pitchFamily="34" charset="0"/>
                <a:ea typeface="Calibri" pitchFamily="34" charset="-122"/>
                <a:cs typeface="Calibri" pitchFamily="34" charset="-120"/>
              </a:rPr>
              <a:t>Water absorption</a:t>
            </a:r>
            <a:endParaRPr lang="en-US" sz="950" dirty="0"/>
          </a:p>
        </p:txBody>
      </p:sp>
      <p:sp>
        <p:nvSpPr>
          <p:cNvPr id="18" name="ch4"/>
          <p:cNvSpPr/>
          <p:nvPr/>
        </p:nvSpPr>
        <p:spPr>
          <a:xfrm>
            <a:off x="5522976" y="5669280"/>
            <a:ext cx="1097280" cy="475488"/>
          </a:xfrm>
          <a:prstGeom prst="rect">
            <a:avLst/>
          </a:prstGeom>
          <a:solidFill>
            <a:srgbClr val="141414"/>
          </a:solidFill>
          <a:ln w="12700">
            <a:solidFill>
              <a:srgbClr val="141414"/>
            </a:solidFill>
            <a:prstDash val="solid"/>
          </a:ln>
        </p:spPr>
      </p:sp>
      <p:sp>
        <p:nvSpPr>
          <p:cNvPr id="19" name="Text 16"/>
          <p:cNvSpPr txBox="1"/>
          <p:nvPr/>
        </p:nvSpPr>
        <p:spPr>
          <a:xfrm>
            <a:off x="5577840"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FFFFFF"/>
                </a:solidFill>
                <a:latin typeface="Calibri" pitchFamily="34" charset="0"/>
                <a:ea typeface="Calibri" pitchFamily="34" charset="-122"/>
                <a:cs typeface="Calibri" pitchFamily="34" charset="-120"/>
              </a:rPr>
              <a:t>Bulk density</a:t>
            </a:r>
            <a:endParaRPr lang="en-US" sz="950" dirty="0"/>
          </a:p>
        </p:txBody>
      </p:sp>
      <p:sp>
        <p:nvSpPr>
          <p:cNvPr id="20" name="ch5"/>
          <p:cNvSpPr/>
          <p:nvPr/>
        </p:nvSpPr>
        <p:spPr>
          <a:xfrm>
            <a:off x="6720840" y="5669280"/>
            <a:ext cx="1097280" cy="475488"/>
          </a:xfrm>
          <a:prstGeom prst="rect">
            <a:avLst/>
          </a:prstGeom>
          <a:solidFill>
            <a:srgbClr val="FFFFFF"/>
          </a:solidFill>
          <a:ln w="12700">
            <a:solidFill>
              <a:srgbClr val="BDBDBD"/>
            </a:solidFill>
            <a:prstDash val="solid"/>
          </a:ln>
        </p:spPr>
      </p:sp>
      <p:sp>
        <p:nvSpPr>
          <p:cNvPr id="21" name="Text 18"/>
          <p:cNvSpPr txBox="1"/>
          <p:nvPr/>
        </p:nvSpPr>
        <p:spPr>
          <a:xfrm>
            <a:off x="6775704"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BDBDBD"/>
                </a:solidFill>
                <a:latin typeface="Calibri" pitchFamily="34" charset="0"/>
                <a:ea typeface="Calibri" pitchFamily="34" charset="-122"/>
                <a:cs typeface="Calibri" pitchFamily="34" charset="-120"/>
              </a:rPr>
              <a:t>Durability</a:t>
            </a:r>
            <a:endParaRPr lang="en-US" sz="950" dirty="0"/>
          </a:p>
        </p:txBody>
      </p:sp>
      <p:sp>
        <p:nvSpPr>
          <p:cNvPr id="22" name="ch6"/>
          <p:cNvSpPr/>
          <p:nvPr/>
        </p:nvSpPr>
        <p:spPr>
          <a:xfrm>
            <a:off x="7918704" y="5669280"/>
            <a:ext cx="1097280" cy="475488"/>
          </a:xfrm>
          <a:prstGeom prst="rect">
            <a:avLst/>
          </a:prstGeom>
          <a:solidFill>
            <a:srgbClr val="FFFFFF"/>
          </a:solidFill>
          <a:ln w="12700">
            <a:solidFill>
              <a:srgbClr val="BDBDBD"/>
            </a:solidFill>
            <a:prstDash val="solid"/>
          </a:ln>
        </p:spPr>
      </p:sp>
      <p:sp>
        <p:nvSpPr>
          <p:cNvPr id="23" name="Text 20"/>
          <p:cNvSpPr txBox="1"/>
          <p:nvPr/>
        </p:nvSpPr>
        <p:spPr>
          <a:xfrm>
            <a:off x="7973568"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BDBDBD"/>
                </a:solidFill>
                <a:latin typeface="Calibri" pitchFamily="34" charset="0"/>
                <a:ea typeface="Calibri" pitchFamily="34" charset="-122"/>
                <a:cs typeface="Calibri" pitchFamily="34" charset="-120"/>
              </a:rPr>
              <a:t>Fire classification</a:t>
            </a:r>
            <a:endParaRPr lang="en-US" sz="950" dirty="0"/>
          </a:p>
        </p:txBody>
      </p:sp>
      <p:sp>
        <p:nvSpPr>
          <p:cNvPr id="24" name="ch7"/>
          <p:cNvSpPr/>
          <p:nvPr/>
        </p:nvSpPr>
        <p:spPr>
          <a:xfrm>
            <a:off x="9116568" y="5669280"/>
            <a:ext cx="1097280" cy="475488"/>
          </a:xfrm>
          <a:prstGeom prst="rect">
            <a:avLst/>
          </a:prstGeom>
          <a:solidFill>
            <a:srgbClr val="FFFFFF"/>
          </a:solidFill>
          <a:ln w="12700">
            <a:solidFill>
              <a:srgbClr val="BDBDBD"/>
            </a:solidFill>
            <a:prstDash val="solid"/>
          </a:ln>
        </p:spPr>
      </p:sp>
      <p:sp>
        <p:nvSpPr>
          <p:cNvPr id="25" name="Text 22"/>
          <p:cNvSpPr txBox="1"/>
          <p:nvPr/>
        </p:nvSpPr>
        <p:spPr>
          <a:xfrm>
            <a:off x="9171432"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BDBDBD"/>
                </a:solidFill>
                <a:latin typeface="Calibri" pitchFamily="34" charset="0"/>
                <a:ea typeface="Calibri" pitchFamily="34" charset="-122"/>
                <a:cs typeface="Calibri" pitchFamily="34" charset="-120"/>
              </a:rPr>
              <a:t>Life-cycle</a:t>
            </a:r>
            <a:endParaRPr lang="en-US" sz="950" dirty="0"/>
          </a:p>
        </p:txBody>
      </p:sp>
      <p:sp>
        <p:nvSpPr>
          <p:cNvPr id="26" name="ch8"/>
          <p:cNvSpPr/>
          <p:nvPr/>
        </p:nvSpPr>
        <p:spPr>
          <a:xfrm>
            <a:off x="10314432" y="5669280"/>
            <a:ext cx="1097280" cy="475488"/>
          </a:xfrm>
          <a:prstGeom prst="rect">
            <a:avLst/>
          </a:prstGeom>
          <a:solidFill>
            <a:srgbClr val="FFFFFF"/>
          </a:solidFill>
          <a:ln w="12700">
            <a:solidFill>
              <a:srgbClr val="BDBDBD"/>
            </a:solidFill>
            <a:prstDash val="solid"/>
          </a:ln>
        </p:spPr>
      </p:sp>
      <p:sp>
        <p:nvSpPr>
          <p:cNvPr id="27" name="Text 24"/>
          <p:cNvSpPr txBox="1"/>
          <p:nvPr/>
        </p:nvSpPr>
        <p:spPr>
          <a:xfrm>
            <a:off x="10369296" y="5669280"/>
            <a:ext cx="987552" cy="475488"/>
          </a:xfrm>
          <a:prstGeom prst="rect">
            <a:avLst/>
          </a:prstGeom>
          <a:noFill/>
          <a:ln/>
        </p:spPr>
        <p:txBody>
          <a:bodyPr wrap="square" lIns="0" tIns="0" rIns="0" bIns="0" rtlCol="0" anchor="ctr"/>
          <a:lstStyle/>
          <a:p>
            <a:pPr algn="ctr" indent="0" marL="0">
              <a:lnSpc>
                <a:spcPts val="1150"/>
              </a:lnSpc>
              <a:buNone/>
            </a:pPr>
            <a:r>
              <a:rPr lang="en-US" sz="950" b="1" dirty="0">
                <a:solidFill>
                  <a:srgbClr val="BDBDBD"/>
                </a:solidFill>
                <a:latin typeface="Calibri" pitchFamily="34" charset="0"/>
                <a:ea typeface="Calibri" pitchFamily="34" charset="-122"/>
                <a:cs typeface="Calibri" pitchFamily="34" charset="-120"/>
              </a:rPr>
              <a:t>Structural use</a:t>
            </a:r>
            <a:endParaRPr lang="en-US" sz="950" dirty="0"/>
          </a:p>
        </p:txBody>
      </p:sp>
      <p:sp>
        <p:nvSpPr>
          <p:cNvPr id="28" name="Text 25"/>
          <p:cNvSpPr txBox="1"/>
          <p:nvPr/>
        </p:nvSpPr>
        <p:spPr>
          <a:xfrm>
            <a:off x="731520" y="6263640"/>
            <a:ext cx="10241280" cy="365760"/>
          </a:xfrm>
          <a:prstGeom prst="rect">
            <a:avLst/>
          </a:prstGeom>
          <a:noFill/>
          <a:ln/>
        </p:spPr>
        <p:txBody>
          <a:bodyPr wrap="square" lIns="0" tIns="0" rIns="0" bIns="0" rtlCol="0" anchor="t"/>
          <a:lstStyle/>
          <a:p>
            <a:pPr indent="0" marL="0">
              <a:lnSpc>
                <a:spcPts val="1800"/>
              </a:lnSpc>
              <a:buNone/>
            </a:pPr>
            <a:r>
              <a:rPr lang="en-US" sz="1200" b="1" dirty="0">
                <a:solidFill>
                  <a:srgbClr val="141414"/>
                </a:solidFill>
                <a:latin typeface="Calibri" pitchFamily="34" charset="0"/>
                <a:ea typeface="Calibri" pitchFamily="34" charset="-122"/>
                <a:cs typeface="Calibri" pitchFamily="34" charset="-120"/>
              </a:rPr>
              <a:t>The filled boxes are the properties I determined. The outlined boxes are the ones I did not.</a:t>
            </a:r>
            <a:endParaRPr lang="en-US" sz="1200" dirty="0"/>
          </a:p>
        </p:txBody>
      </p:sp>
      <p:sp>
        <p:nvSpPr>
          <p:cNvPr id="30"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Method</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A material-driven sequence in four stages</a:t>
            </a:r>
            <a:endParaRPr lang="en-US" sz="1300" dirty="0"/>
          </a:p>
        </p:txBody>
      </p:sp>
      <p:sp>
        <p:nvSpPr>
          <p:cNvPr id="4" name="mo0"/>
          <p:cNvSpPr/>
          <p:nvPr/>
        </p:nvSpPr>
        <p:spPr>
          <a:xfrm>
            <a:off x="731520" y="1783080"/>
            <a:ext cx="420624" cy="420624"/>
          </a:xfrm>
          <a:prstGeom prst="ellipse">
            <a:avLst/>
          </a:prstGeom>
          <a:solidFill>
            <a:srgbClr val="FFFFFF"/>
          </a:solidFill>
          <a:ln w="15875">
            <a:solidFill>
              <a:srgbClr val="141414"/>
            </a:solidFill>
            <a:prstDash val="solid"/>
          </a:ln>
        </p:spPr>
      </p:sp>
      <p:sp>
        <p:nvSpPr>
          <p:cNvPr id="5" name="Text 3"/>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200" b="1" dirty="0">
                <a:solidFill>
                  <a:srgbClr val="141414"/>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731520" y="2423160"/>
            <a:ext cx="2542032" cy="292608"/>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Produce</a:t>
            </a:r>
            <a:endParaRPr lang="en-US" sz="1300" dirty="0"/>
          </a:p>
        </p:txBody>
      </p:sp>
      <p:sp>
        <p:nvSpPr>
          <p:cNvPr id="7" name="Text 5"/>
          <p:cNvSpPr txBox="1"/>
          <p:nvPr/>
        </p:nvSpPr>
        <p:spPr>
          <a:xfrm>
            <a:off x="731520" y="2788920"/>
            <a:ext cx="2359152" cy="91440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every parameter recorded</a:t>
            </a:r>
            <a:endParaRPr lang="en-US" sz="1200" dirty="0"/>
          </a:p>
        </p:txBody>
      </p:sp>
      <p:sp>
        <p:nvSpPr>
          <p:cNvPr id="8" name="ma0"/>
          <p:cNvSpPr/>
          <p:nvPr/>
        </p:nvSpPr>
        <p:spPr>
          <a:xfrm>
            <a:off x="3310128" y="1901952"/>
            <a:ext cx="219456" cy="164592"/>
          </a:xfrm>
          <a:prstGeom prst="rightArrow">
            <a:avLst/>
          </a:prstGeom>
          <a:solidFill>
            <a:srgbClr val="BDBDBD"/>
          </a:solidFill>
          <a:ln w="12700">
            <a:solidFill>
              <a:srgbClr val="BDBDBD">
                <a:alpha val="0"/>
              </a:srgbClr>
            </a:solidFill>
            <a:prstDash val="solid"/>
          </a:ln>
        </p:spPr>
      </p:sp>
      <p:sp>
        <p:nvSpPr>
          <p:cNvPr id="9" name="mo1"/>
          <p:cNvSpPr/>
          <p:nvPr/>
        </p:nvSpPr>
        <p:spPr>
          <a:xfrm>
            <a:off x="3575304" y="1783080"/>
            <a:ext cx="420624" cy="420624"/>
          </a:xfrm>
          <a:prstGeom prst="ellipse">
            <a:avLst/>
          </a:prstGeom>
          <a:solidFill>
            <a:srgbClr val="FFFFFF"/>
          </a:solidFill>
          <a:ln w="15875">
            <a:solidFill>
              <a:srgbClr val="141414"/>
            </a:solidFill>
            <a:prstDash val="solid"/>
          </a:ln>
        </p:spPr>
      </p:sp>
      <p:sp>
        <p:nvSpPr>
          <p:cNvPr id="10" name="Text 8"/>
          <p:cNvSpPr txBox="1"/>
          <p:nvPr/>
        </p:nvSpPr>
        <p:spPr>
          <a:xfrm>
            <a:off x="3575304" y="1783080"/>
            <a:ext cx="420624" cy="420624"/>
          </a:xfrm>
          <a:prstGeom prst="rect">
            <a:avLst/>
          </a:prstGeom>
          <a:noFill/>
          <a:ln/>
        </p:spPr>
        <p:txBody>
          <a:bodyPr wrap="square" lIns="0" tIns="0" rIns="0" bIns="0" rtlCol="0" anchor="ctr"/>
          <a:lstStyle/>
          <a:p>
            <a:pPr algn="ctr" indent="0" marL="0">
              <a:buNone/>
            </a:pPr>
            <a:r>
              <a:rPr lang="en-US" sz="1200" b="1" dirty="0">
                <a:solidFill>
                  <a:srgbClr val="141414"/>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3575304" y="2423160"/>
            <a:ext cx="2542032" cy="292608"/>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Measure</a:t>
            </a:r>
            <a:endParaRPr lang="en-US" sz="1300" dirty="0"/>
          </a:p>
        </p:txBody>
      </p:sp>
      <p:sp>
        <p:nvSpPr>
          <p:cNvPr id="12" name="Text 10"/>
          <p:cNvSpPr txBox="1"/>
          <p:nvPr/>
        </p:nvSpPr>
        <p:spPr>
          <a:xfrm>
            <a:off x="3575304" y="2788920"/>
            <a:ext cx="2359152" cy="91440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against published standards</a:t>
            </a:r>
            <a:endParaRPr lang="en-US" sz="1200" dirty="0"/>
          </a:p>
        </p:txBody>
      </p:sp>
      <p:sp>
        <p:nvSpPr>
          <p:cNvPr id="13" name="ma1"/>
          <p:cNvSpPr/>
          <p:nvPr/>
        </p:nvSpPr>
        <p:spPr>
          <a:xfrm>
            <a:off x="6153912" y="1901952"/>
            <a:ext cx="219456" cy="164592"/>
          </a:xfrm>
          <a:prstGeom prst="rightArrow">
            <a:avLst/>
          </a:prstGeom>
          <a:solidFill>
            <a:srgbClr val="BDBDBD"/>
          </a:solidFill>
          <a:ln w="12700">
            <a:solidFill>
              <a:srgbClr val="BDBDBD">
                <a:alpha val="0"/>
              </a:srgbClr>
            </a:solidFill>
            <a:prstDash val="solid"/>
          </a:ln>
        </p:spPr>
      </p:sp>
      <p:sp>
        <p:nvSpPr>
          <p:cNvPr id="14" name="mo2"/>
          <p:cNvSpPr/>
          <p:nvPr/>
        </p:nvSpPr>
        <p:spPr>
          <a:xfrm>
            <a:off x="6419088" y="1783080"/>
            <a:ext cx="420624" cy="420624"/>
          </a:xfrm>
          <a:prstGeom prst="ellipse">
            <a:avLst/>
          </a:prstGeom>
          <a:solidFill>
            <a:srgbClr val="FFFFFF"/>
          </a:solidFill>
          <a:ln w="15875">
            <a:solidFill>
              <a:srgbClr val="141414"/>
            </a:solidFill>
            <a:prstDash val="solid"/>
          </a:ln>
        </p:spPr>
      </p:sp>
      <p:sp>
        <p:nvSpPr>
          <p:cNvPr id="15" name="Text 13"/>
          <p:cNvSpPr txBox="1"/>
          <p:nvPr/>
        </p:nvSpPr>
        <p:spPr>
          <a:xfrm>
            <a:off x="6419088" y="1783080"/>
            <a:ext cx="420624" cy="420624"/>
          </a:xfrm>
          <a:prstGeom prst="rect">
            <a:avLst/>
          </a:prstGeom>
          <a:noFill/>
          <a:ln/>
        </p:spPr>
        <p:txBody>
          <a:bodyPr wrap="square" lIns="0" tIns="0" rIns="0" bIns="0" rtlCol="0" anchor="ctr"/>
          <a:lstStyle/>
          <a:p>
            <a:pPr algn="ctr" indent="0" marL="0">
              <a:buNone/>
            </a:pPr>
            <a:r>
              <a:rPr lang="en-US" sz="1200" b="1" dirty="0">
                <a:solidFill>
                  <a:srgbClr val="141414"/>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6419088" y="2423160"/>
            <a:ext cx="2542032" cy="292608"/>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Position</a:t>
            </a:r>
            <a:endParaRPr lang="en-US" sz="1300" dirty="0"/>
          </a:p>
        </p:txBody>
      </p:sp>
      <p:sp>
        <p:nvSpPr>
          <p:cNvPr id="17" name="Text 15"/>
          <p:cNvSpPr txBox="1"/>
          <p:nvPr/>
        </p:nvSpPr>
        <p:spPr>
          <a:xfrm>
            <a:off x="6419088" y="2788920"/>
            <a:ext cx="2359152" cy="91440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against two material families</a:t>
            </a:r>
            <a:endParaRPr lang="en-US" sz="1200" dirty="0"/>
          </a:p>
        </p:txBody>
      </p:sp>
      <p:sp>
        <p:nvSpPr>
          <p:cNvPr id="18" name="ma2"/>
          <p:cNvSpPr/>
          <p:nvPr/>
        </p:nvSpPr>
        <p:spPr>
          <a:xfrm>
            <a:off x="8997696" y="1901952"/>
            <a:ext cx="219456" cy="164592"/>
          </a:xfrm>
          <a:prstGeom prst="rightArrow">
            <a:avLst/>
          </a:prstGeom>
          <a:solidFill>
            <a:srgbClr val="BDBDBD"/>
          </a:solidFill>
          <a:ln w="12700">
            <a:solidFill>
              <a:srgbClr val="BDBDBD">
                <a:alpha val="0"/>
              </a:srgbClr>
            </a:solidFill>
            <a:prstDash val="solid"/>
          </a:ln>
        </p:spPr>
      </p:sp>
      <p:sp>
        <p:nvSpPr>
          <p:cNvPr id="19" name="mo3"/>
          <p:cNvSpPr/>
          <p:nvPr/>
        </p:nvSpPr>
        <p:spPr>
          <a:xfrm>
            <a:off x="9262872" y="1783080"/>
            <a:ext cx="420624" cy="420624"/>
          </a:xfrm>
          <a:prstGeom prst="ellipse">
            <a:avLst/>
          </a:prstGeom>
          <a:solidFill>
            <a:srgbClr val="B4513A"/>
          </a:solidFill>
          <a:ln w="15875">
            <a:solidFill>
              <a:srgbClr val="B4513A"/>
            </a:solidFill>
            <a:prstDash val="solid"/>
          </a:ln>
        </p:spPr>
      </p:sp>
      <p:sp>
        <p:nvSpPr>
          <p:cNvPr id="20" name="Text 18"/>
          <p:cNvSpPr txBox="1"/>
          <p:nvPr/>
        </p:nvSpPr>
        <p:spPr>
          <a:xfrm>
            <a:off x="9262872" y="178308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9262872" y="2423160"/>
            <a:ext cx="2542032" cy="292608"/>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Propose</a:t>
            </a:r>
            <a:endParaRPr lang="en-US" sz="1300" dirty="0"/>
          </a:p>
        </p:txBody>
      </p:sp>
      <p:sp>
        <p:nvSpPr>
          <p:cNvPr id="22" name="Text 20"/>
          <p:cNvSpPr txBox="1"/>
          <p:nvPr/>
        </p:nvSpPr>
        <p:spPr>
          <a:xfrm>
            <a:off x="9262872" y="2788920"/>
            <a:ext cx="2359152" cy="91440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from the observed behaviour</a:t>
            </a:r>
            <a:endParaRPr lang="en-US" sz="1200" dirty="0"/>
          </a:p>
        </p:txBody>
      </p:sp>
      <p:sp>
        <p:nvSpPr>
          <p:cNvPr id="23" name="ru0.84.5"/>
          <p:cNvSpPr/>
          <p:nvPr/>
        </p:nvSpPr>
        <p:spPr>
          <a:xfrm>
            <a:off x="731520" y="4114800"/>
            <a:ext cx="10698480" cy="9144"/>
          </a:xfrm>
          <a:prstGeom prst="rect">
            <a:avLst/>
          </a:prstGeom>
          <a:solidFill>
            <a:srgbClr val="E4E4E4"/>
          </a:solidFill>
          <a:ln w="12700">
            <a:solidFill>
              <a:srgbClr val="E4E4E4">
                <a:alpha val="0"/>
              </a:srgbClr>
            </a:solidFill>
            <a:prstDash val="solid"/>
          </a:ln>
        </p:spPr>
      </p:sp>
      <p:sp>
        <p:nvSpPr>
          <p:cNvPr id="24" name="Text 22"/>
          <p:cNvSpPr txBox="1"/>
          <p:nvPr/>
        </p:nvSpPr>
        <p:spPr>
          <a:xfrm>
            <a:off x="731520" y="4297680"/>
            <a:ext cx="10241280" cy="457200"/>
          </a:xfrm>
          <a:prstGeom prst="rect">
            <a:avLst/>
          </a:prstGeom>
          <a:noFill/>
          <a:ln/>
        </p:spPr>
        <p:txBody>
          <a:bodyPr wrap="square" lIns="0" tIns="0" rIns="0" bIns="0" rtlCol="0" anchor="t"/>
          <a:lstStyle/>
          <a:p>
            <a:pPr indent="0" marL="0">
              <a:lnSpc>
                <a:spcPts val="1800"/>
              </a:lnSpc>
              <a:buNone/>
            </a:pPr>
            <a:r>
              <a:rPr lang="en-US" sz="1200" b="1" dirty="0">
                <a:solidFill>
                  <a:srgbClr val="141414"/>
                </a:solidFill>
                <a:latin typeface="Calibri" pitchFamily="34" charset="0"/>
                <a:ea typeface="Calibri" pitchFamily="34" charset="-122"/>
                <a:cs typeface="Calibri" pitchFamily="34" charset="-120"/>
              </a:rPr>
              <a:t>The properties came first, and the application envelope was derived from them.</a:t>
            </a:r>
            <a:endParaRPr lang="en-US" sz="1200" dirty="0"/>
          </a:p>
        </p:txBody>
      </p:sp>
      <p:sp>
        <p:nvSpPr>
          <p:cNvPr id="25" name="Text 23"/>
          <p:cNvSpPr txBox="1"/>
          <p:nvPr/>
        </p:nvSpPr>
        <p:spPr>
          <a:xfrm>
            <a:off x="731520" y="493776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Material-driven design after Karana et al. (2015)</a:t>
            </a:r>
            <a:endParaRPr lang="en-US" sz="900" dirty="0"/>
          </a:p>
        </p:txBody>
      </p:sp>
      <p:sp>
        <p:nvSpPr>
          <p:cNvPr id="27"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Research questions</a:t>
            </a:r>
            <a:endParaRPr lang="en-US" sz="2000" dirty="0"/>
          </a:p>
        </p:txBody>
      </p:sp>
      <p:sp>
        <p:nvSpPr>
          <p:cNvPr id="3" name="ru0.81.5"/>
          <p:cNvSpPr/>
          <p:nvPr/>
        </p:nvSpPr>
        <p:spPr>
          <a:xfrm>
            <a:off x="731520" y="1371600"/>
            <a:ext cx="10698480" cy="9144"/>
          </a:xfrm>
          <a:prstGeom prst="rect">
            <a:avLst/>
          </a:prstGeom>
          <a:solidFill>
            <a:srgbClr val="E4E4E4"/>
          </a:solidFill>
          <a:ln w="12700">
            <a:solidFill>
              <a:srgbClr val="E4E4E4">
                <a:alpha val="0"/>
              </a:srgbClr>
            </a:solidFill>
            <a:prstDash val="solid"/>
          </a:ln>
        </p:spPr>
      </p:sp>
      <p:sp>
        <p:nvSpPr>
          <p:cNvPr id="4" name="Text 2"/>
          <p:cNvSpPr txBox="1"/>
          <p:nvPr/>
        </p:nvSpPr>
        <p:spPr>
          <a:xfrm>
            <a:off x="731520" y="167335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5" name="Text 3"/>
          <p:cNvSpPr txBox="1"/>
          <p:nvPr/>
        </p:nvSpPr>
        <p:spPr>
          <a:xfrm>
            <a:off x="1417320" y="160020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Which formulation variable governs compressive strength?</a:t>
            </a:r>
            <a:endParaRPr lang="en-US" sz="1300" dirty="0"/>
          </a:p>
        </p:txBody>
      </p:sp>
      <p:sp>
        <p:nvSpPr>
          <p:cNvPr id="6" name="Text 4"/>
          <p:cNvSpPr txBox="1"/>
          <p:nvPr/>
        </p:nvSpPr>
        <p:spPr>
          <a:xfrm>
            <a:off x="9509760" y="163677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Formulation</a:t>
            </a:r>
            <a:endParaRPr lang="en-US" sz="1050" dirty="0"/>
          </a:p>
        </p:txBody>
      </p:sp>
      <p:sp>
        <p:nvSpPr>
          <p:cNvPr id="7" name="ru0.82.4699999999999998"/>
          <p:cNvSpPr/>
          <p:nvPr/>
        </p:nvSpPr>
        <p:spPr>
          <a:xfrm>
            <a:off x="731520" y="2258568"/>
            <a:ext cx="10698480" cy="9144"/>
          </a:xfrm>
          <a:prstGeom prst="rect">
            <a:avLst/>
          </a:prstGeom>
          <a:solidFill>
            <a:srgbClr val="E4E4E4"/>
          </a:solidFill>
          <a:ln w="12700">
            <a:solidFill>
              <a:srgbClr val="E4E4E4">
                <a:alpha val="0"/>
              </a:srgbClr>
            </a:solidFill>
            <a:prstDash val="solid"/>
          </a:ln>
        </p:spPr>
      </p:sp>
      <p:sp>
        <p:nvSpPr>
          <p:cNvPr id="8" name="Text 6"/>
          <p:cNvSpPr txBox="1"/>
          <p:nvPr/>
        </p:nvSpPr>
        <p:spPr>
          <a:xfrm>
            <a:off x="731520" y="254203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9" name="Text 7"/>
          <p:cNvSpPr txBox="1"/>
          <p:nvPr/>
        </p:nvSpPr>
        <p:spPr>
          <a:xfrm>
            <a:off x="1417320" y="246888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How does plasticiser content affect flexural behaviour?</a:t>
            </a:r>
            <a:endParaRPr lang="en-US" sz="1300" dirty="0"/>
          </a:p>
        </p:txBody>
      </p:sp>
      <p:sp>
        <p:nvSpPr>
          <p:cNvPr id="10" name="Text 8"/>
          <p:cNvSpPr txBox="1"/>
          <p:nvPr/>
        </p:nvSpPr>
        <p:spPr>
          <a:xfrm>
            <a:off x="9509760" y="250545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Formulation</a:t>
            </a:r>
            <a:endParaRPr lang="en-US" sz="1050" dirty="0"/>
          </a:p>
        </p:txBody>
      </p:sp>
      <p:sp>
        <p:nvSpPr>
          <p:cNvPr id="11" name="ru0.83.42"/>
          <p:cNvSpPr/>
          <p:nvPr/>
        </p:nvSpPr>
        <p:spPr>
          <a:xfrm>
            <a:off x="731520" y="3127248"/>
            <a:ext cx="10698480" cy="9144"/>
          </a:xfrm>
          <a:prstGeom prst="rect">
            <a:avLst/>
          </a:prstGeom>
          <a:solidFill>
            <a:srgbClr val="E4E4E4"/>
          </a:solidFill>
          <a:ln w="12700">
            <a:solidFill>
              <a:srgbClr val="E4E4E4">
                <a:alpha val="0"/>
              </a:srgbClr>
            </a:solidFill>
            <a:prstDash val="solid"/>
          </a:ln>
        </p:spPr>
      </p:sp>
      <p:sp>
        <p:nvSpPr>
          <p:cNvPr id="12" name="Text 10"/>
          <p:cNvSpPr txBox="1"/>
          <p:nvPr/>
        </p:nvSpPr>
        <p:spPr>
          <a:xfrm>
            <a:off x="731520" y="341071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3" name="Text 11"/>
          <p:cNvSpPr txBox="1"/>
          <p:nvPr/>
        </p:nvSpPr>
        <p:spPr>
          <a:xfrm>
            <a:off x="1417320" y="333756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How does the composite compare with conventional interior materials?</a:t>
            </a:r>
            <a:endParaRPr lang="en-US" sz="1300" dirty="0"/>
          </a:p>
        </p:txBody>
      </p:sp>
      <p:sp>
        <p:nvSpPr>
          <p:cNvPr id="14" name="Text 12"/>
          <p:cNvSpPr txBox="1"/>
          <p:nvPr/>
        </p:nvSpPr>
        <p:spPr>
          <a:xfrm>
            <a:off x="9509760" y="337413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Benchmark</a:t>
            </a:r>
            <a:endParaRPr lang="en-US" sz="1050" dirty="0"/>
          </a:p>
        </p:txBody>
      </p:sp>
      <p:sp>
        <p:nvSpPr>
          <p:cNvPr id="15" name="ru0.84.37"/>
          <p:cNvSpPr/>
          <p:nvPr/>
        </p:nvSpPr>
        <p:spPr>
          <a:xfrm>
            <a:off x="731520" y="3995928"/>
            <a:ext cx="10698480" cy="9144"/>
          </a:xfrm>
          <a:prstGeom prst="rect">
            <a:avLst/>
          </a:prstGeom>
          <a:solidFill>
            <a:srgbClr val="E4E4E4"/>
          </a:solidFill>
          <a:ln w="12700">
            <a:solidFill>
              <a:srgbClr val="E4E4E4">
                <a:alpha val="0"/>
              </a:srgbClr>
            </a:solidFill>
            <a:prstDash val="solid"/>
          </a:ln>
        </p:spPr>
      </p:sp>
      <p:sp>
        <p:nvSpPr>
          <p:cNvPr id="16" name="Text 14"/>
          <p:cNvSpPr txBox="1"/>
          <p:nvPr/>
        </p:nvSpPr>
        <p:spPr>
          <a:xfrm>
            <a:off x="731520" y="427939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17" name="Text 15"/>
          <p:cNvSpPr txBox="1"/>
          <p:nvPr/>
        </p:nvSpPr>
        <p:spPr>
          <a:xfrm>
            <a:off x="1417320" y="420624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How does it compare with other bio-based composites?</a:t>
            </a:r>
            <a:endParaRPr lang="en-US" sz="1300" dirty="0"/>
          </a:p>
        </p:txBody>
      </p:sp>
      <p:sp>
        <p:nvSpPr>
          <p:cNvPr id="18" name="Text 16"/>
          <p:cNvSpPr txBox="1"/>
          <p:nvPr/>
        </p:nvSpPr>
        <p:spPr>
          <a:xfrm>
            <a:off x="9509760" y="424281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Benchmark</a:t>
            </a:r>
            <a:endParaRPr lang="en-US" sz="1050" dirty="0"/>
          </a:p>
        </p:txBody>
      </p:sp>
      <p:sp>
        <p:nvSpPr>
          <p:cNvPr id="19" name="ru0.85.319999999999999"/>
          <p:cNvSpPr/>
          <p:nvPr/>
        </p:nvSpPr>
        <p:spPr>
          <a:xfrm>
            <a:off x="731520" y="4864608"/>
            <a:ext cx="10698480" cy="9144"/>
          </a:xfrm>
          <a:prstGeom prst="rect">
            <a:avLst/>
          </a:prstGeom>
          <a:solidFill>
            <a:srgbClr val="E4E4E4"/>
          </a:solidFill>
          <a:ln w="12700">
            <a:solidFill>
              <a:srgbClr val="E4E4E4">
                <a:alpha val="0"/>
              </a:srgbClr>
            </a:solidFill>
            <a:prstDash val="solid"/>
          </a:ln>
        </p:spPr>
      </p:sp>
      <p:sp>
        <p:nvSpPr>
          <p:cNvPr id="20" name="Text 18"/>
          <p:cNvSpPr txBox="1"/>
          <p:nvPr/>
        </p:nvSpPr>
        <p:spPr>
          <a:xfrm>
            <a:off x="731520" y="514807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05</a:t>
            </a:r>
            <a:endParaRPr lang="en-US" sz="1200" dirty="0"/>
          </a:p>
        </p:txBody>
      </p:sp>
      <p:sp>
        <p:nvSpPr>
          <p:cNvPr id="21" name="Text 19"/>
          <p:cNvSpPr txBox="1"/>
          <p:nvPr/>
        </p:nvSpPr>
        <p:spPr>
          <a:xfrm>
            <a:off x="1417320" y="507492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Is compressive strength an adequate evaluation criterion for this class?</a:t>
            </a:r>
            <a:endParaRPr lang="en-US" sz="1300" dirty="0"/>
          </a:p>
        </p:txBody>
      </p:sp>
      <p:sp>
        <p:nvSpPr>
          <p:cNvPr id="22" name="Text 20"/>
          <p:cNvSpPr txBox="1"/>
          <p:nvPr/>
        </p:nvSpPr>
        <p:spPr>
          <a:xfrm>
            <a:off x="9509760" y="511149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Criterion</a:t>
            </a:r>
            <a:endParaRPr lang="en-US" sz="1050" dirty="0"/>
          </a:p>
        </p:txBody>
      </p:sp>
      <p:sp>
        <p:nvSpPr>
          <p:cNvPr id="23" name="ru0.86.27"/>
          <p:cNvSpPr/>
          <p:nvPr/>
        </p:nvSpPr>
        <p:spPr>
          <a:xfrm>
            <a:off x="731520" y="5733288"/>
            <a:ext cx="10698480" cy="9144"/>
          </a:xfrm>
          <a:prstGeom prst="rect">
            <a:avLst/>
          </a:prstGeom>
          <a:solidFill>
            <a:srgbClr val="E4E4E4"/>
          </a:solidFill>
          <a:ln w="12700">
            <a:solidFill>
              <a:srgbClr val="E4E4E4">
                <a:alpha val="0"/>
              </a:srgbClr>
            </a:solidFill>
            <a:prstDash val="solid"/>
          </a:ln>
        </p:spPr>
      </p:sp>
      <p:sp>
        <p:nvSpPr>
          <p:cNvPr id="24" name="Text 22"/>
          <p:cNvSpPr txBox="1"/>
          <p:nvPr/>
        </p:nvSpPr>
        <p:spPr>
          <a:xfrm>
            <a:off x="731520" y="6126480"/>
            <a:ext cx="10241280" cy="36576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The first four I can answer by measurement. The fifth I can only answer by argument.</a:t>
            </a:r>
            <a:endParaRPr lang="en-US" sz="1200" dirty="0"/>
          </a:p>
        </p:txBody>
      </p:sp>
      <p:sp>
        <p:nvSpPr>
          <p:cNvPr id="26"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Hypothesis</a:t>
            </a:r>
            <a:endParaRPr lang="en-US" sz="2000" dirty="0"/>
          </a:p>
        </p:txBody>
      </p:sp>
      <p:sp>
        <p:nvSpPr>
          <p:cNvPr id="3" name="hyp"/>
          <p:cNvSpPr/>
          <p:nvPr/>
        </p:nvSpPr>
        <p:spPr>
          <a:xfrm>
            <a:off x="731520" y="1325880"/>
            <a:ext cx="10698480" cy="1188720"/>
          </a:xfrm>
          <a:prstGeom prst="rect">
            <a:avLst/>
          </a:prstGeom>
          <a:solidFill>
            <a:srgbClr val="F7F6F4"/>
          </a:solidFill>
          <a:ln w="12700">
            <a:solidFill>
              <a:srgbClr val="F7F6F4">
                <a:alpha val="0"/>
              </a:srgbClr>
            </a:solidFill>
            <a:prstDash val="solid"/>
          </a:ln>
        </p:spPr>
      </p:sp>
      <p:sp>
        <p:nvSpPr>
          <p:cNvPr id="4" name="Text 2"/>
          <p:cNvSpPr txBox="1"/>
          <p:nvPr/>
        </p:nvSpPr>
        <p:spPr>
          <a:xfrm>
            <a:off x="1051560" y="1627632"/>
            <a:ext cx="10058400" cy="731520"/>
          </a:xfrm>
          <a:prstGeom prst="rect">
            <a:avLst/>
          </a:prstGeom>
          <a:noFill/>
          <a:ln/>
        </p:spPr>
        <p:txBody>
          <a:bodyPr wrap="square" lIns="0" tIns="0" rIns="0" bIns="0" rtlCol="0" anchor="ctr"/>
          <a:lstStyle/>
          <a:p>
            <a:pPr indent="0" marL="0">
              <a:lnSpc>
                <a:spcPts val="2000"/>
              </a:lnSpc>
              <a:buNone/>
            </a:pPr>
            <a:r>
              <a:rPr lang="en-US" sz="1300" b="1" dirty="0">
                <a:solidFill>
                  <a:srgbClr val="141414"/>
                </a:solidFill>
                <a:latin typeface="Calibri" pitchFamily="34" charset="0"/>
                <a:ea typeface="Calibri" pitchFamily="34" charset="-122"/>
                <a:cs typeface="Calibri" pitchFamily="34" charset="-120"/>
              </a:rPr>
              <a:t>A fully bio-based eggshell–agar composite can be produced repeatably under ambient conditions, and its performance as an interior surface material is governed by deformation capacity rather than by compressive strength.</a:t>
            </a:r>
            <a:endParaRPr lang="en-US" sz="1300" dirty="0"/>
          </a:p>
        </p:txBody>
      </p:sp>
      <p:sp>
        <p:nvSpPr>
          <p:cNvPr id="5" name="Text 3"/>
          <p:cNvSpPr txBox="1"/>
          <p:nvPr/>
        </p:nvSpPr>
        <p:spPr>
          <a:xfrm>
            <a:off x="731520" y="2834640"/>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Two clauses, tested separately</a:t>
            </a:r>
            <a:endParaRPr lang="en-US" sz="1300" dirty="0"/>
          </a:p>
        </p:txBody>
      </p:sp>
      <p:sp>
        <p:nvSpPr>
          <p:cNvPr id="6" name="ru0.83.5"/>
          <p:cNvSpPr/>
          <p:nvPr/>
        </p:nvSpPr>
        <p:spPr>
          <a:xfrm>
            <a:off x="731520" y="3200400"/>
            <a:ext cx="10698480" cy="9144"/>
          </a:xfrm>
          <a:prstGeom prst="rect">
            <a:avLst/>
          </a:prstGeom>
          <a:solidFill>
            <a:srgbClr val="E4E4E4"/>
          </a:solidFill>
          <a:ln w="12700">
            <a:solidFill>
              <a:srgbClr val="E4E4E4">
                <a:alpha val="0"/>
              </a:srgbClr>
            </a:solidFill>
            <a:prstDash val="solid"/>
          </a:ln>
        </p:spPr>
      </p:sp>
      <p:sp>
        <p:nvSpPr>
          <p:cNvPr id="7" name="Text 5"/>
          <p:cNvSpPr txBox="1"/>
          <p:nvPr/>
        </p:nvSpPr>
        <p:spPr>
          <a:xfrm>
            <a:off x="731520" y="3456432"/>
            <a:ext cx="10058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Clause 1</a:t>
            </a:r>
            <a:endParaRPr lang="en-US" sz="1200" dirty="0"/>
          </a:p>
        </p:txBody>
      </p:sp>
      <p:sp>
        <p:nvSpPr>
          <p:cNvPr id="8" name="Text 6"/>
          <p:cNvSpPr txBox="1"/>
          <p:nvPr/>
        </p:nvSpPr>
        <p:spPr>
          <a:xfrm>
            <a:off x="1920240" y="3429000"/>
            <a:ext cx="393192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Producible repeatably under ambient conditions</a:t>
            </a:r>
            <a:endParaRPr lang="en-US" sz="1300" dirty="0"/>
          </a:p>
        </p:txBody>
      </p:sp>
      <p:sp>
        <p:nvSpPr>
          <p:cNvPr id="9" name="aw8.13.92"/>
          <p:cNvSpPr/>
          <p:nvPr/>
        </p:nvSpPr>
        <p:spPr>
          <a:xfrm>
            <a:off x="7406640" y="3584448"/>
            <a:ext cx="201168" cy="137160"/>
          </a:xfrm>
          <a:prstGeom prst="rightArrow">
            <a:avLst/>
          </a:prstGeom>
          <a:solidFill>
            <a:srgbClr val="BDBDBD"/>
          </a:solidFill>
          <a:ln w="12700">
            <a:solidFill>
              <a:srgbClr val="BDBDBD">
                <a:alpha val="0"/>
              </a:srgbClr>
            </a:solidFill>
            <a:prstDash val="solid"/>
          </a:ln>
        </p:spPr>
      </p:sp>
      <p:sp>
        <p:nvSpPr>
          <p:cNvPr id="10" name="Text 8"/>
          <p:cNvSpPr txBox="1"/>
          <p:nvPr/>
        </p:nvSpPr>
        <p:spPr>
          <a:xfrm>
            <a:off x="7772400" y="3447288"/>
            <a:ext cx="3657600" cy="36576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tested on slides 10–13</a:t>
            </a:r>
            <a:endParaRPr lang="en-US" sz="1200" dirty="0"/>
          </a:p>
        </p:txBody>
      </p:sp>
      <p:sp>
        <p:nvSpPr>
          <p:cNvPr id="11" name="ru0.84.75"/>
          <p:cNvSpPr/>
          <p:nvPr/>
        </p:nvSpPr>
        <p:spPr>
          <a:xfrm>
            <a:off x="731520" y="4343400"/>
            <a:ext cx="10698480" cy="9144"/>
          </a:xfrm>
          <a:prstGeom prst="rect">
            <a:avLst/>
          </a:prstGeom>
          <a:solidFill>
            <a:srgbClr val="E4E4E4"/>
          </a:solidFill>
          <a:ln w="12700">
            <a:solidFill>
              <a:srgbClr val="E4E4E4">
                <a:alpha val="0"/>
              </a:srgbClr>
            </a:solidFill>
            <a:prstDash val="solid"/>
          </a:ln>
        </p:spPr>
      </p:sp>
      <p:sp>
        <p:nvSpPr>
          <p:cNvPr id="12" name="Text 10"/>
          <p:cNvSpPr txBox="1"/>
          <p:nvPr/>
        </p:nvSpPr>
        <p:spPr>
          <a:xfrm>
            <a:off x="731520" y="4553712"/>
            <a:ext cx="10058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Clause 2</a:t>
            </a:r>
            <a:endParaRPr lang="en-US" sz="1200" dirty="0"/>
          </a:p>
        </p:txBody>
      </p:sp>
      <p:sp>
        <p:nvSpPr>
          <p:cNvPr id="13" name="Text 11"/>
          <p:cNvSpPr txBox="1"/>
          <p:nvPr/>
        </p:nvSpPr>
        <p:spPr>
          <a:xfrm>
            <a:off x="1920240" y="4526280"/>
            <a:ext cx="393192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Governed by deformation capacity rather than strength</a:t>
            </a:r>
            <a:endParaRPr lang="en-US" sz="1300" dirty="0"/>
          </a:p>
        </p:txBody>
      </p:sp>
      <p:sp>
        <p:nvSpPr>
          <p:cNvPr id="14" name="aw8.15.12"/>
          <p:cNvSpPr/>
          <p:nvPr/>
        </p:nvSpPr>
        <p:spPr>
          <a:xfrm>
            <a:off x="7406640" y="4681728"/>
            <a:ext cx="201168" cy="137160"/>
          </a:xfrm>
          <a:prstGeom prst="rightArrow">
            <a:avLst/>
          </a:prstGeom>
          <a:solidFill>
            <a:srgbClr val="BDBDBD"/>
          </a:solidFill>
          <a:ln w="12700">
            <a:solidFill>
              <a:srgbClr val="BDBDBD">
                <a:alpha val="0"/>
              </a:srgbClr>
            </a:solidFill>
            <a:prstDash val="solid"/>
          </a:ln>
        </p:spPr>
      </p:sp>
      <p:sp>
        <p:nvSpPr>
          <p:cNvPr id="15" name="Text 13"/>
          <p:cNvSpPr txBox="1"/>
          <p:nvPr/>
        </p:nvSpPr>
        <p:spPr>
          <a:xfrm>
            <a:off x="7772400" y="4544568"/>
            <a:ext cx="3657600" cy="36576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tested on slides 15–22</a:t>
            </a:r>
            <a:endParaRPr lang="en-US" sz="1200" dirty="0"/>
          </a:p>
        </p:txBody>
      </p:sp>
      <p:sp>
        <p:nvSpPr>
          <p:cNvPr id="16" name="ru0.86.15"/>
          <p:cNvSpPr/>
          <p:nvPr/>
        </p:nvSpPr>
        <p:spPr>
          <a:xfrm>
            <a:off x="731520" y="5623560"/>
            <a:ext cx="10698480" cy="9144"/>
          </a:xfrm>
          <a:prstGeom prst="rect">
            <a:avLst/>
          </a:prstGeom>
          <a:solidFill>
            <a:srgbClr val="E4E4E4"/>
          </a:solidFill>
          <a:ln w="12700">
            <a:solidFill>
              <a:srgbClr val="E4E4E4">
                <a:alpha val="0"/>
              </a:srgbClr>
            </a:solidFill>
            <a:prstDash val="solid"/>
          </a:ln>
        </p:spPr>
      </p:sp>
      <p:sp>
        <p:nvSpPr>
          <p:cNvPr id="17" name="Text 15"/>
          <p:cNvSpPr txBox="1"/>
          <p:nvPr/>
        </p:nvSpPr>
        <p:spPr>
          <a:xfrm>
            <a:off x="731520" y="5806440"/>
            <a:ext cx="10241280" cy="45720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The dissertation behind this paper frames a broader hypothesis around spatial resilience, and what you see here is its materials-engineering component.</a:t>
            </a:r>
            <a:endParaRPr lang="en-US" sz="1150" dirty="0"/>
          </a:p>
        </p:txBody>
      </p:sp>
      <p:sp>
        <p:nvSpPr>
          <p:cNvPr id="19"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Stage 1 · Mineral phase</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Progressive size reduction of the shell to a sieved powder</a:t>
            </a:r>
            <a:endParaRPr lang="en-US" sz="1300" dirty="0"/>
          </a:p>
        </p:txBody>
      </p:sp>
      <p:sp>
        <p:nvSpPr>
          <p:cNvPr id="4" name="pc0"/>
          <p:cNvSpPr/>
          <p:nvPr/>
        </p:nvSpPr>
        <p:spPr>
          <a:xfrm>
            <a:off x="1303020" y="1737360"/>
            <a:ext cx="822960" cy="822960"/>
          </a:xfrm>
          <a:prstGeom prst="ellipse">
            <a:avLst/>
          </a:prstGeom>
          <a:solidFill>
            <a:srgbClr val="F7F6F4"/>
          </a:solidFill>
          <a:ln w="12700">
            <a:solidFill>
              <a:srgbClr val="E4E4E4"/>
            </a:solidFill>
            <a:prstDash val="solid"/>
          </a:ln>
        </p:spPr>
      </p:sp>
      <p:sp>
        <p:nvSpPr>
          <p:cNvPr id="5" name="Text 3"/>
          <p:cNvSpPr txBox="1"/>
          <p:nvPr/>
        </p:nvSpPr>
        <p:spPr>
          <a:xfrm>
            <a:off x="731520"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Whole shell</a:t>
            </a:r>
            <a:endParaRPr lang="en-US" sz="1300" dirty="0"/>
          </a:p>
        </p:txBody>
      </p:sp>
      <p:sp>
        <p:nvSpPr>
          <p:cNvPr id="6" name="Text 4"/>
          <p:cNvSpPr txBox="1"/>
          <p:nvPr/>
        </p:nvSpPr>
        <p:spPr>
          <a:xfrm>
            <a:off x="731520"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collected from a single bakery</a:t>
            </a:r>
            <a:endParaRPr lang="en-US" sz="1050" dirty="0"/>
          </a:p>
        </p:txBody>
      </p:sp>
      <p:sp>
        <p:nvSpPr>
          <p:cNvPr id="7" name="Text 5"/>
          <p:cNvSpPr txBox="1"/>
          <p:nvPr/>
        </p:nvSpPr>
        <p:spPr>
          <a:xfrm>
            <a:off x="731520" y="3749040"/>
            <a:ext cx="1965960" cy="274320"/>
          </a:xfrm>
          <a:prstGeom prst="rect">
            <a:avLst/>
          </a:prstGeom>
          <a:noFill/>
          <a:ln/>
        </p:spPr>
        <p:txBody>
          <a:bodyPr wrap="square" lIns="0" tIns="0" rIns="0" bIns="0" rtlCol="0" anchor="ctr"/>
          <a:lstStyle/>
          <a:p>
            <a:pPr algn="ctr" indent="0" marL="0">
              <a:buNone/>
            </a:pPr>
            <a:r>
              <a:rPr lang="en-US" sz="1100" b="1" dirty="0">
                <a:solidFill>
                  <a:srgbClr val="BDBDBD"/>
                </a:solidFill>
                <a:latin typeface="Calibri" pitchFamily="34" charset="0"/>
                <a:ea typeface="Calibri" pitchFamily="34" charset="-122"/>
                <a:cs typeface="Calibri" pitchFamily="34" charset="-120"/>
              </a:rPr>
              <a:t>—</a:t>
            </a:r>
            <a:endParaRPr lang="en-US" sz="1100" dirty="0"/>
          </a:p>
        </p:txBody>
      </p:sp>
      <p:sp>
        <p:nvSpPr>
          <p:cNvPr id="8" name="pa0"/>
          <p:cNvSpPr/>
          <p:nvPr/>
        </p:nvSpPr>
        <p:spPr>
          <a:xfrm>
            <a:off x="2715768" y="2084832"/>
            <a:ext cx="182880" cy="137160"/>
          </a:xfrm>
          <a:prstGeom prst="rightArrow">
            <a:avLst/>
          </a:prstGeom>
          <a:solidFill>
            <a:srgbClr val="BDBDBD"/>
          </a:solidFill>
          <a:ln w="12700">
            <a:solidFill>
              <a:srgbClr val="BDBDBD">
                <a:alpha val="0"/>
              </a:srgbClr>
            </a:solidFill>
            <a:prstDash val="solid"/>
          </a:ln>
        </p:spPr>
      </p:sp>
      <p:sp>
        <p:nvSpPr>
          <p:cNvPr id="9" name="pc1"/>
          <p:cNvSpPr/>
          <p:nvPr/>
        </p:nvSpPr>
        <p:spPr>
          <a:xfrm>
            <a:off x="3552444" y="1801368"/>
            <a:ext cx="694944" cy="694944"/>
          </a:xfrm>
          <a:prstGeom prst="ellipse">
            <a:avLst/>
          </a:prstGeom>
          <a:solidFill>
            <a:srgbClr val="F7F6F4"/>
          </a:solidFill>
          <a:ln w="12700">
            <a:solidFill>
              <a:srgbClr val="E4E4E4"/>
            </a:solidFill>
            <a:prstDash val="solid"/>
          </a:ln>
        </p:spPr>
      </p:sp>
      <p:sp>
        <p:nvSpPr>
          <p:cNvPr id="10" name="Text 8"/>
          <p:cNvSpPr txBox="1"/>
          <p:nvPr/>
        </p:nvSpPr>
        <p:spPr>
          <a:xfrm>
            <a:off x="2916936"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Cleaned</a:t>
            </a:r>
            <a:endParaRPr lang="en-US" sz="1300" dirty="0"/>
          </a:p>
        </p:txBody>
      </p:sp>
      <p:sp>
        <p:nvSpPr>
          <p:cNvPr id="11" name="Text 9"/>
          <p:cNvSpPr txBox="1"/>
          <p:nvPr/>
        </p:nvSpPr>
        <p:spPr>
          <a:xfrm>
            <a:off x="2916936"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membrane and residue removed manually</a:t>
            </a:r>
            <a:endParaRPr lang="en-US" sz="1050" dirty="0"/>
          </a:p>
        </p:txBody>
      </p:sp>
      <p:sp>
        <p:nvSpPr>
          <p:cNvPr id="12" name="Text 10"/>
          <p:cNvSpPr txBox="1"/>
          <p:nvPr/>
        </p:nvSpPr>
        <p:spPr>
          <a:xfrm>
            <a:off x="2916936" y="3749040"/>
            <a:ext cx="1965960" cy="274320"/>
          </a:xfrm>
          <a:prstGeom prst="rect">
            <a:avLst/>
          </a:prstGeom>
          <a:noFill/>
          <a:ln/>
        </p:spPr>
        <p:txBody>
          <a:bodyPr wrap="square" lIns="0" tIns="0" rIns="0" bIns="0" rtlCol="0" anchor="ctr"/>
          <a:lstStyle/>
          <a:p>
            <a:pPr algn="ctr" indent="0" marL="0">
              <a:buNone/>
            </a:pPr>
            <a:r>
              <a:rPr lang="en-US" sz="1100" b="1" dirty="0">
                <a:solidFill>
                  <a:srgbClr val="BDBDBD"/>
                </a:solidFill>
                <a:latin typeface="Calibri" pitchFamily="34" charset="0"/>
                <a:ea typeface="Calibri" pitchFamily="34" charset="-122"/>
                <a:cs typeface="Calibri" pitchFamily="34" charset="-120"/>
              </a:rPr>
              <a:t>—</a:t>
            </a:r>
            <a:endParaRPr lang="en-US" sz="1100" dirty="0"/>
          </a:p>
        </p:txBody>
      </p:sp>
      <p:sp>
        <p:nvSpPr>
          <p:cNvPr id="13" name="pa1"/>
          <p:cNvSpPr/>
          <p:nvPr/>
        </p:nvSpPr>
        <p:spPr>
          <a:xfrm>
            <a:off x="4901184" y="2084832"/>
            <a:ext cx="182880" cy="137160"/>
          </a:xfrm>
          <a:prstGeom prst="rightArrow">
            <a:avLst/>
          </a:prstGeom>
          <a:solidFill>
            <a:srgbClr val="BDBDBD"/>
          </a:solidFill>
          <a:ln w="12700">
            <a:solidFill>
              <a:srgbClr val="BDBDBD">
                <a:alpha val="0"/>
              </a:srgbClr>
            </a:solidFill>
            <a:prstDash val="solid"/>
          </a:ln>
        </p:spPr>
      </p:sp>
      <p:sp>
        <p:nvSpPr>
          <p:cNvPr id="14" name="pc2"/>
          <p:cNvSpPr/>
          <p:nvPr/>
        </p:nvSpPr>
        <p:spPr>
          <a:xfrm>
            <a:off x="5801868" y="1865376"/>
            <a:ext cx="566928" cy="566928"/>
          </a:xfrm>
          <a:prstGeom prst="ellipse">
            <a:avLst/>
          </a:prstGeom>
          <a:solidFill>
            <a:srgbClr val="F7F6F4"/>
          </a:solidFill>
          <a:ln w="12700">
            <a:solidFill>
              <a:srgbClr val="E4E4E4"/>
            </a:solidFill>
            <a:prstDash val="solid"/>
          </a:ln>
        </p:spPr>
      </p:sp>
      <p:sp>
        <p:nvSpPr>
          <p:cNvPr id="15" name="Text 13"/>
          <p:cNvSpPr txBox="1"/>
          <p:nvPr/>
        </p:nvSpPr>
        <p:spPr>
          <a:xfrm>
            <a:off x="5102352"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Heat-treated</a:t>
            </a:r>
            <a:endParaRPr lang="en-US" sz="1300" dirty="0"/>
          </a:p>
        </p:txBody>
      </p:sp>
      <p:sp>
        <p:nvSpPr>
          <p:cNvPr id="16" name="Text 14"/>
          <p:cNvSpPr txBox="1"/>
          <p:nvPr/>
        </p:nvSpPr>
        <p:spPr>
          <a:xfrm>
            <a:off x="5102352"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decontamination and drying</a:t>
            </a:r>
            <a:endParaRPr lang="en-US" sz="1050" dirty="0"/>
          </a:p>
        </p:txBody>
      </p:sp>
      <p:sp>
        <p:nvSpPr>
          <p:cNvPr id="17" name="Text 15"/>
          <p:cNvSpPr txBox="1"/>
          <p:nvPr/>
        </p:nvSpPr>
        <p:spPr>
          <a:xfrm>
            <a:off x="5102352" y="3749040"/>
            <a:ext cx="1965960" cy="274320"/>
          </a:xfrm>
          <a:prstGeom prst="rect">
            <a:avLst/>
          </a:prstGeom>
          <a:noFill/>
          <a:ln/>
        </p:spPr>
        <p:txBody>
          <a:bodyPr wrap="square" lIns="0" tIns="0" rIns="0" bIns="0" rtlCol="0" anchor="ctr"/>
          <a:lstStyle/>
          <a:p>
            <a:pPr algn="ctr" indent="0" marL="0">
              <a:buNone/>
            </a:pPr>
            <a:r>
              <a:rPr lang="en-US" sz="1100" b="1" dirty="0">
                <a:solidFill>
                  <a:srgbClr val="B4513A"/>
                </a:solidFill>
                <a:latin typeface="Calibri" pitchFamily="34" charset="0"/>
                <a:ea typeface="Calibri" pitchFamily="34" charset="-122"/>
                <a:cs typeface="Calibri" pitchFamily="34" charset="-120"/>
              </a:rPr>
              <a:t>120 °C, 20 min</a:t>
            </a:r>
            <a:endParaRPr lang="en-US" sz="1100" dirty="0"/>
          </a:p>
        </p:txBody>
      </p:sp>
      <p:sp>
        <p:nvSpPr>
          <p:cNvPr id="18" name="pa2"/>
          <p:cNvSpPr/>
          <p:nvPr/>
        </p:nvSpPr>
        <p:spPr>
          <a:xfrm>
            <a:off x="7086600" y="2084832"/>
            <a:ext cx="182880" cy="137160"/>
          </a:xfrm>
          <a:prstGeom prst="rightArrow">
            <a:avLst/>
          </a:prstGeom>
          <a:solidFill>
            <a:srgbClr val="BDBDBD"/>
          </a:solidFill>
          <a:ln w="12700">
            <a:solidFill>
              <a:srgbClr val="BDBDBD">
                <a:alpha val="0"/>
              </a:srgbClr>
            </a:solidFill>
            <a:prstDash val="solid"/>
          </a:ln>
        </p:spPr>
      </p:sp>
      <p:sp>
        <p:nvSpPr>
          <p:cNvPr id="19" name="pc3"/>
          <p:cNvSpPr/>
          <p:nvPr/>
        </p:nvSpPr>
        <p:spPr>
          <a:xfrm>
            <a:off x="8051292" y="1929384"/>
            <a:ext cx="438912" cy="438912"/>
          </a:xfrm>
          <a:prstGeom prst="ellipse">
            <a:avLst/>
          </a:prstGeom>
          <a:solidFill>
            <a:srgbClr val="F7F6F4"/>
          </a:solidFill>
          <a:ln w="12700">
            <a:solidFill>
              <a:srgbClr val="E4E4E4"/>
            </a:solidFill>
            <a:prstDash val="solid"/>
          </a:ln>
        </p:spPr>
      </p:sp>
      <p:sp>
        <p:nvSpPr>
          <p:cNvPr id="20" name="Text 18"/>
          <p:cNvSpPr txBox="1"/>
          <p:nvPr/>
        </p:nvSpPr>
        <p:spPr>
          <a:xfrm>
            <a:off x="7287768"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Milled</a:t>
            </a:r>
            <a:endParaRPr lang="en-US" sz="1300" dirty="0"/>
          </a:p>
        </p:txBody>
      </p:sp>
      <p:sp>
        <p:nvSpPr>
          <p:cNvPr id="21" name="Text 19"/>
          <p:cNvSpPr txBox="1"/>
          <p:nvPr/>
        </p:nvSpPr>
        <p:spPr>
          <a:xfrm>
            <a:off x="7287768"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laboratory mechanical grinder</a:t>
            </a:r>
            <a:endParaRPr lang="en-US" sz="1050" dirty="0"/>
          </a:p>
        </p:txBody>
      </p:sp>
      <p:sp>
        <p:nvSpPr>
          <p:cNvPr id="22" name="Text 20"/>
          <p:cNvSpPr txBox="1"/>
          <p:nvPr/>
        </p:nvSpPr>
        <p:spPr>
          <a:xfrm>
            <a:off x="7287768" y="3749040"/>
            <a:ext cx="1965960" cy="274320"/>
          </a:xfrm>
          <a:prstGeom prst="rect">
            <a:avLst/>
          </a:prstGeom>
          <a:noFill/>
          <a:ln/>
        </p:spPr>
        <p:txBody>
          <a:bodyPr wrap="square" lIns="0" tIns="0" rIns="0" bIns="0" rtlCol="0" anchor="ctr"/>
          <a:lstStyle/>
          <a:p>
            <a:pPr algn="ctr" indent="0" marL="0">
              <a:buNone/>
            </a:pPr>
            <a:r>
              <a:rPr lang="en-US" sz="1100" b="1" dirty="0">
                <a:solidFill>
                  <a:srgbClr val="B4513A"/>
                </a:solidFill>
                <a:latin typeface="Calibri" pitchFamily="34" charset="0"/>
                <a:ea typeface="Calibri" pitchFamily="34" charset="-122"/>
                <a:cs typeface="Calibri" pitchFamily="34" charset="-120"/>
              </a:rPr>
              <a:t>to homogeneous powder</a:t>
            </a:r>
            <a:endParaRPr lang="en-US" sz="1100" dirty="0"/>
          </a:p>
        </p:txBody>
      </p:sp>
      <p:sp>
        <p:nvSpPr>
          <p:cNvPr id="23" name="pa3"/>
          <p:cNvSpPr/>
          <p:nvPr/>
        </p:nvSpPr>
        <p:spPr>
          <a:xfrm>
            <a:off x="9272016" y="2084832"/>
            <a:ext cx="182880" cy="137160"/>
          </a:xfrm>
          <a:prstGeom prst="rightArrow">
            <a:avLst/>
          </a:prstGeom>
          <a:solidFill>
            <a:srgbClr val="BDBDBD"/>
          </a:solidFill>
          <a:ln w="12700">
            <a:solidFill>
              <a:srgbClr val="BDBDBD">
                <a:alpha val="0"/>
              </a:srgbClr>
            </a:solidFill>
            <a:prstDash val="solid"/>
          </a:ln>
        </p:spPr>
      </p:sp>
      <p:sp>
        <p:nvSpPr>
          <p:cNvPr id="24" name="pc4"/>
          <p:cNvSpPr/>
          <p:nvPr/>
        </p:nvSpPr>
        <p:spPr>
          <a:xfrm>
            <a:off x="10300716" y="1993392"/>
            <a:ext cx="310896" cy="310896"/>
          </a:xfrm>
          <a:prstGeom prst="ellipse">
            <a:avLst/>
          </a:prstGeom>
          <a:solidFill>
            <a:srgbClr val="B4513A"/>
          </a:solidFill>
          <a:ln w="12700">
            <a:solidFill>
              <a:srgbClr val="B4513A"/>
            </a:solidFill>
            <a:prstDash val="solid"/>
          </a:ln>
        </p:spPr>
      </p:sp>
      <p:sp>
        <p:nvSpPr>
          <p:cNvPr id="25" name="Text 23"/>
          <p:cNvSpPr txBox="1"/>
          <p:nvPr/>
        </p:nvSpPr>
        <p:spPr>
          <a:xfrm>
            <a:off x="9473184"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Sieved</a:t>
            </a:r>
            <a:endParaRPr lang="en-US" sz="1300" dirty="0"/>
          </a:p>
        </p:txBody>
      </p:sp>
      <p:sp>
        <p:nvSpPr>
          <p:cNvPr id="26" name="Text 24"/>
          <p:cNvSpPr txBox="1"/>
          <p:nvPr/>
        </p:nvSpPr>
        <p:spPr>
          <a:xfrm>
            <a:off x="9473184"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passing fraction retained</a:t>
            </a:r>
            <a:endParaRPr lang="en-US" sz="1050" dirty="0"/>
          </a:p>
        </p:txBody>
      </p:sp>
      <p:sp>
        <p:nvSpPr>
          <p:cNvPr id="27" name="Text 25"/>
          <p:cNvSpPr txBox="1"/>
          <p:nvPr/>
        </p:nvSpPr>
        <p:spPr>
          <a:xfrm>
            <a:off x="9473184" y="3749040"/>
            <a:ext cx="1965960" cy="274320"/>
          </a:xfrm>
          <a:prstGeom prst="rect">
            <a:avLst/>
          </a:prstGeom>
          <a:noFill/>
          <a:ln/>
        </p:spPr>
        <p:txBody>
          <a:bodyPr wrap="square" lIns="0" tIns="0" rIns="0" bIns="0" rtlCol="0" anchor="ctr"/>
          <a:lstStyle/>
          <a:p>
            <a:pPr algn="ctr" indent="0" marL="0">
              <a:buNone/>
            </a:pPr>
            <a:r>
              <a:rPr lang="en-US" sz="1100" b="1" dirty="0">
                <a:solidFill>
                  <a:srgbClr val="B4513A"/>
                </a:solidFill>
                <a:latin typeface="Calibri" pitchFamily="34" charset="0"/>
                <a:ea typeface="Calibri" pitchFamily="34" charset="-122"/>
                <a:cs typeface="Calibri" pitchFamily="34" charset="-120"/>
              </a:rPr>
              <a:t>150 µm mesh</a:t>
            </a:r>
            <a:endParaRPr lang="en-US" sz="1100" dirty="0"/>
          </a:p>
        </p:txBody>
      </p:sp>
      <p:sp>
        <p:nvSpPr>
          <p:cNvPr id="28" name="ru0.84.75"/>
          <p:cNvSpPr/>
          <p:nvPr/>
        </p:nvSpPr>
        <p:spPr>
          <a:xfrm>
            <a:off x="731520" y="4343400"/>
            <a:ext cx="10698480" cy="9144"/>
          </a:xfrm>
          <a:prstGeom prst="rect">
            <a:avLst/>
          </a:prstGeom>
          <a:solidFill>
            <a:srgbClr val="E4E4E4"/>
          </a:solidFill>
          <a:ln w="12700">
            <a:solidFill>
              <a:srgbClr val="E4E4E4">
                <a:alpha val="0"/>
              </a:srgbClr>
            </a:solidFill>
            <a:prstDash val="solid"/>
          </a:ln>
        </p:spPr>
      </p:sp>
      <p:sp>
        <p:nvSpPr>
          <p:cNvPr id="29" name="Text 27"/>
          <p:cNvSpPr txBox="1"/>
          <p:nvPr/>
        </p:nvSpPr>
        <p:spPr>
          <a:xfrm>
            <a:off x="731520" y="4526280"/>
            <a:ext cx="10241280" cy="5486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I chose 150 µm so that the mineral phase here would be comparable with the eggshell polymer-composite literature.</a:t>
            </a:r>
            <a:endParaRPr lang="en-US" sz="1200" dirty="0"/>
          </a:p>
        </p:txBody>
      </p:sp>
      <p:sp>
        <p:nvSpPr>
          <p:cNvPr id="30" name="Text 28"/>
          <p:cNvSpPr txBox="1"/>
          <p:nvPr/>
        </p:nvSpPr>
        <p:spPr>
          <a:xfrm>
            <a:off x="731520" y="5166360"/>
            <a:ext cx="10241280" cy="5486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heat step is decontamination and drying rather than sterilisation, because sterility was never verified.</a:t>
            </a:r>
            <a:endParaRPr lang="en-US" sz="1200" dirty="0"/>
          </a:p>
        </p:txBody>
      </p:sp>
      <p:sp>
        <p:nvSpPr>
          <p:cNvPr id="32"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Stage 2 · Binder preparation</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Temperature–time profile of the 55-minute preparation</a:t>
            </a:r>
            <a:endParaRPr lang="en-US" sz="1300" dirty="0"/>
          </a:p>
        </p:txBody>
      </p:sp>
      <p:sp>
        <p:nvSpPr>
          <p:cNvPr id="4" name="tv"/>
          <p:cNvSpPr/>
          <p:nvPr/>
        </p:nvSpPr>
        <p:spPr>
          <a:xfrm>
            <a:off x="1463040" y="1874520"/>
            <a:ext cx="18288" cy="2468880"/>
          </a:xfrm>
          <a:prstGeom prst="rect">
            <a:avLst/>
          </a:prstGeom>
          <a:solidFill>
            <a:srgbClr val="E4E4E4"/>
          </a:solidFill>
          <a:ln w="12700">
            <a:solidFill>
              <a:srgbClr val="E4E4E4">
                <a:alpha val="0"/>
              </a:srgbClr>
            </a:solidFill>
            <a:prstDash val="solid"/>
          </a:ln>
        </p:spPr>
      </p:sp>
      <p:sp>
        <p:nvSpPr>
          <p:cNvPr id="5" name="th"/>
          <p:cNvSpPr/>
          <p:nvPr/>
        </p:nvSpPr>
        <p:spPr>
          <a:xfrm>
            <a:off x="1463040" y="4343400"/>
            <a:ext cx="8778240" cy="18288"/>
          </a:xfrm>
          <a:prstGeom prst="rect">
            <a:avLst/>
          </a:prstGeom>
          <a:solidFill>
            <a:srgbClr val="E4E4E4"/>
          </a:solidFill>
          <a:ln w="12700">
            <a:solidFill>
              <a:srgbClr val="E4E4E4">
                <a:alpha val="0"/>
              </a:srgbClr>
            </a:solidFill>
            <a:prstDash val="solid"/>
          </a:ln>
        </p:spPr>
      </p:sp>
      <p:sp>
        <p:nvSpPr>
          <p:cNvPr id="6" name="ramp"/>
          <p:cNvSpPr/>
          <p:nvPr/>
        </p:nvSpPr>
        <p:spPr>
          <a:xfrm flipV="1">
            <a:off x="1463040" y="2194560"/>
            <a:ext cx="1737360" cy="2148840"/>
          </a:xfrm>
          <a:prstGeom prst="line">
            <a:avLst/>
          </a:prstGeom>
          <a:noFill/>
          <a:ln w="28575">
            <a:solidFill>
              <a:srgbClr val="141414"/>
            </a:solidFill>
            <a:prstDash val="solid"/>
          </a:ln>
        </p:spPr>
      </p:sp>
      <p:sp>
        <p:nvSpPr>
          <p:cNvPr id="7" name="pl95"/>
          <p:cNvSpPr/>
          <p:nvPr/>
        </p:nvSpPr>
        <p:spPr>
          <a:xfrm>
            <a:off x="3200400" y="2194560"/>
            <a:ext cx="2011680" cy="27432"/>
          </a:xfrm>
          <a:prstGeom prst="rect">
            <a:avLst/>
          </a:prstGeom>
          <a:solidFill>
            <a:srgbClr val="141414"/>
          </a:solidFill>
          <a:ln w="12700">
            <a:solidFill>
              <a:srgbClr val="141414">
                <a:alpha val="0"/>
              </a:srgbClr>
            </a:solidFill>
            <a:prstDash val="solid"/>
          </a:ln>
        </p:spPr>
      </p:sp>
      <p:sp>
        <p:nvSpPr>
          <p:cNvPr id="8" name="drop"/>
          <p:cNvSpPr/>
          <p:nvPr/>
        </p:nvSpPr>
        <p:spPr>
          <a:xfrm>
            <a:off x="5212080" y="2194560"/>
            <a:ext cx="685800" cy="594360"/>
          </a:xfrm>
          <a:prstGeom prst="line">
            <a:avLst/>
          </a:prstGeom>
          <a:noFill/>
          <a:ln w="28575">
            <a:solidFill>
              <a:srgbClr val="141414"/>
            </a:solidFill>
            <a:prstDash val="solid"/>
          </a:ln>
        </p:spPr>
      </p:sp>
      <p:sp>
        <p:nvSpPr>
          <p:cNvPr id="9" name="pl80"/>
          <p:cNvSpPr/>
          <p:nvPr/>
        </p:nvSpPr>
        <p:spPr>
          <a:xfrm>
            <a:off x="5897880" y="2788920"/>
            <a:ext cx="4206240" cy="27432"/>
          </a:xfrm>
          <a:prstGeom prst="rect">
            <a:avLst/>
          </a:prstGeom>
          <a:solidFill>
            <a:srgbClr val="141414"/>
          </a:solidFill>
          <a:ln w="12700">
            <a:solidFill>
              <a:srgbClr val="141414">
                <a:alpha val="0"/>
              </a:srgbClr>
            </a:solidFill>
            <a:prstDash val="solid"/>
          </a:ln>
        </p:spPr>
      </p:sp>
      <p:sp>
        <p:nvSpPr>
          <p:cNvPr id="10" name="Text 8"/>
          <p:cNvSpPr txBox="1"/>
          <p:nvPr/>
        </p:nvSpPr>
        <p:spPr>
          <a:xfrm>
            <a:off x="548640" y="2048256"/>
            <a:ext cx="822960" cy="274320"/>
          </a:xfrm>
          <a:prstGeom prst="rect">
            <a:avLst/>
          </a:prstGeom>
          <a:noFill/>
          <a:ln/>
        </p:spPr>
        <p:txBody>
          <a:bodyPr wrap="square" lIns="0" tIns="0" rIns="0" bIns="0" rtlCol="0" anchor="ctr"/>
          <a:lstStyle/>
          <a:p>
            <a:pPr algn="r" indent="0" marL="0">
              <a:buNone/>
            </a:pPr>
            <a:r>
              <a:rPr lang="en-US" sz="1200" b="1" dirty="0">
                <a:solidFill>
                  <a:srgbClr val="B4513A"/>
                </a:solidFill>
                <a:latin typeface="Calibri" pitchFamily="34" charset="0"/>
                <a:ea typeface="Calibri" pitchFamily="34" charset="-122"/>
                <a:cs typeface="Calibri" pitchFamily="34" charset="-120"/>
              </a:rPr>
              <a:t>95 °C</a:t>
            </a:r>
            <a:endParaRPr lang="en-US" sz="1200" dirty="0"/>
          </a:p>
        </p:txBody>
      </p:sp>
      <p:sp>
        <p:nvSpPr>
          <p:cNvPr id="11" name="Text 9"/>
          <p:cNvSpPr txBox="1"/>
          <p:nvPr/>
        </p:nvSpPr>
        <p:spPr>
          <a:xfrm>
            <a:off x="548640" y="2642616"/>
            <a:ext cx="822960" cy="274320"/>
          </a:xfrm>
          <a:prstGeom prst="rect">
            <a:avLst/>
          </a:prstGeom>
          <a:noFill/>
          <a:ln/>
        </p:spPr>
        <p:txBody>
          <a:bodyPr wrap="square" lIns="0" tIns="0" rIns="0" bIns="0" rtlCol="0" anchor="ctr"/>
          <a:lstStyle/>
          <a:p>
            <a:pPr algn="r" indent="0" marL="0">
              <a:buNone/>
            </a:pPr>
            <a:r>
              <a:rPr lang="en-US" sz="1200" b="1" dirty="0">
                <a:solidFill>
                  <a:srgbClr val="B4513A"/>
                </a:solidFill>
                <a:latin typeface="Calibri" pitchFamily="34" charset="0"/>
                <a:ea typeface="Calibri" pitchFamily="34" charset="-122"/>
                <a:cs typeface="Calibri" pitchFamily="34" charset="-120"/>
              </a:rPr>
              <a:t>80 °C</a:t>
            </a:r>
            <a:endParaRPr lang="en-US" sz="1200" dirty="0"/>
          </a:p>
        </p:txBody>
      </p:sp>
      <p:sp>
        <p:nvSpPr>
          <p:cNvPr id="12" name="Text 10"/>
          <p:cNvSpPr txBox="1"/>
          <p:nvPr/>
        </p:nvSpPr>
        <p:spPr>
          <a:xfrm>
            <a:off x="548640" y="4197096"/>
            <a:ext cx="822960" cy="274320"/>
          </a:xfrm>
          <a:prstGeom prst="rect">
            <a:avLst/>
          </a:prstGeom>
          <a:noFill/>
          <a:ln/>
        </p:spPr>
        <p:txBody>
          <a:bodyPr wrap="square" lIns="0" tIns="0" rIns="0" bIns="0" rtlCol="0" anchor="t"/>
          <a:lstStyle/>
          <a:p>
            <a:pPr indent="0" marL="0">
              <a:lnSpc>
                <a:spcPts val="1500"/>
              </a:lnSpc>
              <a:buNone/>
            </a:pPr>
            <a:r>
              <a:rPr lang="en-US" sz="1000" dirty="0">
                <a:solidFill>
                  <a:srgbClr val="8C8C8C"/>
                </a:solidFill>
                <a:latin typeface="Calibri" pitchFamily="34" charset="0"/>
                <a:ea typeface="Calibri" pitchFamily="34" charset="-122"/>
                <a:cs typeface="Calibri" pitchFamily="34" charset="-120"/>
              </a:rPr>
              <a:t>ambient</a:t>
            </a:r>
            <a:endParaRPr lang="en-US" sz="1000" dirty="0"/>
          </a:p>
        </p:txBody>
      </p:sp>
      <p:sp>
        <p:nvSpPr>
          <p:cNvPr id="13" name="Text 11"/>
          <p:cNvSpPr txBox="1"/>
          <p:nvPr/>
        </p:nvSpPr>
        <p:spPr>
          <a:xfrm>
            <a:off x="8229600" y="3959352"/>
            <a:ext cx="2011680" cy="274320"/>
          </a:xfrm>
          <a:prstGeom prst="rect">
            <a:avLst/>
          </a:prstGeom>
          <a:noFill/>
          <a:ln/>
        </p:spPr>
        <p:txBody>
          <a:bodyPr wrap="square" lIns="0" tIns="0" rIns="0" bIns="0" rtlCol="0" anchor="ctr"/>
          <a:lstStyle/>
          <a:p>
            <a:pPr algn="r" indent="0" marL="0">
              <a:buNone/>
            </a:pPr>
            <a:r>
              <a:rPr lang="en-US" sz="1200" b="1" dirty="0">
                <a:solidFill>
                  <a:srgbClr val="141414"/>
                </a:solidFill>
                <a:latin typeface="Calibri" pitchFamily="34" charset="0"/>
                <a:ea typeface="Calibri" pitchFamily="34" charset="-122"/>
                <a:cs typeface="Calibri" pitchFamily="34" charset="-120"/>
              </a:rPr>
              <a:t>55 min total</a:t>
            </a:r>
            <a:endParaRPr lang="en-US" sz="1200" dirty="0"/>
          </a:p>
        </p:txBody>
      </p:sp>
      <p:sp>
        <p:nvSpPr>
          <p:cNvPr id="14" name="mk0"/>
          <p:cNvSpPr/>
          <p:nvPr/>
        </p:nvSpPr>
        <p:spPr>
          <a:xfrm>
            <a:off x="2057400" y="4279392"/>
            <a:ext cx="128016" cy="128016"/>
          </a:xfrm>
          <a:prstGeom prst="ellipse">
            <a:avLst/>
          </a:prstGeom>
          <a:solidFill>
            <a:srgbClr val="B4513A"/>
          </a:solidFill>
          <a:ln w="12700">
            <a:solidFill>
              <a:srgbClr val="B4513A">
                <a:alpha val="0"/>
              </a:srgbClr>
            </a:solidFill>
            <a:prstDash val="solid"/>
          </a:ln>
        </p:spPr>
      </p:sp>
      <p:sp>
        <p:nvSpPr>
          <p:cNvPr id="15" name="Text 13"/>
          <p:cNvSpPr txBox="1"/>
          <p:nvPr/>
        </p:nvSpPr>
        <p:spPr>
          <a:xfrm>
            <a:off x="1600200" y="4617720"/>
            <a:ext cx="2103120" cy="274320"/>
          </a:xfrm>
          <a:prstGeom prst="rect">
            <a:avLst/>
          </a:prstGeom>
          <a:noFill/>
          <a:ln/>
        </p:spPr>
        <p:txBody>
          <a:bodyPr wrap="square" lIns="0" tIns="0" rIns="0" bIns="0"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Water and glycerol</a:t>
            </a:r>
            <a:endParaRPr lang="en-US" sz="1200" dirty="0"/>
          </a:p>
        </p:txBody>
      </p:sp>
      <p:sp>
        <p:nvSpPr>
          <p:cNvPr id="16" name="Text 14"/>
          <p:cNvSpPr txBox="1"/>
          <p:nvPr/>
        </p:nvSpPr>
        <p:spPr>
          <a:xfrm>
            <a:off x="1600200" y="4910328"/>
            <a:ext cx="2103120" cy="457200"/>
          </a:xfrm>
          <a:prstGeom prst="rect">
            <a:avLst/>
          </a:prstGeom>
          <a:noFill/>
          <a:ln/>
        </p:spPr>
        <p:txBody>
          <a:bodyPr wrap="square" lIns="0" tIns="0" rIns="0" bIns="0" rtlCol="0" anchor="ctr"/>
          <a:lstStyle/>
          <a:p>
            <a:pPr indent="0" marL="0">
              <a:lnSpc>
                <a:spcPts val="1300"/>
              </a:lnSpc>
              <a:buNone/>
            </a:pPr>
            <a:r>
              <a:rPr lang="en-US" sz="1000" dirty="0">
                <a:solidFill>
                  <a:srgbClr val="8C8C8C"/>
                </a:solidFill>
                <a:latin typeface="Calibri" pitchFamily="34" charset="0"/>
                <a:ea typeface="Calibri" pitchFamily="34" charset="-122"/>
                <a:cs typeface="Calibri" pitchFamily="34" charset="-120"/>
              </a:rPr>
              <a:t>pre-mixed, no solids present</a:t>
            </a:r>
            <a:endParaRPr lang="en-US" sz="1000" dirty="0"/>
          </a:p>
        </p:txBody>
      </p:sp>
      <p:sp>
        <p:nvSpPr>
          <p:cNvPr id="17" name="dl0"/>
          <p:cNvSpPr/>
          <p:nvPr/>
        </p:nvSpPr>
        <p:spPr>
          <a:xfrm>
            <a:off x="2121408" y="4343400"/>
            <a:ext cx="10973" cy="228600"/>
          </a:xfrm>
          <a:prstGeom prst="rect">
            <a:avLst/>
          </a:prstGeom>
          <a:solidFill>
            <a:srgbClr val="BDBDBD"/>
          </a:solidFill>
          <a:ln w="12700">
            <a:solidFill>
              <a:srgbClr val="BDBDBD">
                <a:alpha val="0"/>
              </a:srgbClr>
            </a:solidFill>
            <a:prstDash val="solid"/>
          </a:ln>
        </p:spPr>
      </p:sp>
      <p:sp>
        <p:nvSpPr>
          <p:cNvPr id="18" name="mk1"/>
          <p:cNvSpPr/>
          <p:nvPr/>
        </p:nvSpPr>
        <p:spPr>
          <a:xfrm>
            <a:off x="3840480" y="2130552"/>
            <a:ext cx="128016" cy="128016"/>
          </a:xfrm>
          <a:prstGeom prst="ellipse">
            <a:avLst/>
          </a:prstGeom>
          <a:solidFill>
            <a:srgbClr val="B4513A"/>
          </a:solidFill>
          <a:ln w="12700">
            <a:solidFill>
              <a:srgbClr val="B4513A">
                <a:alpha val="0"/>
              </a:srgbClr>
            </a:solidFill>
            <a:prstDash val="solid"/>
          </a:ln>
        </p:spPr>
      </p:sp>
      <p:sp>
        <p:nvSpPr>
          <p:cNvPr id="19" name="Text 17"/>
          <p:cNvSpPr txBox="1"/>
          <p:nvPr/>
        </p:nvSpPr>
        <p:spPr>
          <a:xfrm>
            <a:off x="3383280" y="4617720"/>
            <a:ext cx="2103120" cy="274320"/>
          </a:xfrm>
          <a:prstGeom prst="rect">
            <a:avLst/>
          </a:prstGeom>
          <a:noFill/>
          <a:ln/>
        </p:spPr>
        <p:txBody>
          <a:bodyPr wrap="square" lIns="0" tIns="0" rIns="0" bIns="0"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Agar dissolution</a:t>
            </a:r>
            <a:endParaRPr lang="en-US" sz="1200" dirty="0"/>
          </a:p>
        </p:txBody>
      </p:sp>
      <p:sp>
        <p:nvSpPr>
          <p:cNvPr id="20" name="Text 18"/>
          <p:cNvSpPr txBox="1"/>
          <p:nvPr/>
        </p:nvSpPr>
        <p:spPr>
          <a:xfrm>
            <a:off x="3383280" y="4910328"/>
            <a:ext cx="2103120" cy="457200"/>
          </a:xfrm>
          <a:prstGeom prst="rect">
            <a:avLst/>
          </a:prstGeom>
          <a:noFill/>
          <a:ln/>
        </p:spPr>
        <p:txBody>
          <a:bodyPr wrap="square" lIns="0" tIns="0" rIns="0" bIns="0" rtlCol="0" anchor="ctr"/>
          <a:lstStyle/>
          <a:p>
            <a:pPr indent="0" marL="0">
              <a:lnSpc>
                <a:spcPts val="1300"/>
              </a:lnSpc>
              <a:buNone/>
            </a:pPr>
            <a:r>
              <a:rPr lang="en-US" sz="1000" dirty="0">
                <a:solidFill>
                  <a:srgbClr val="8C8C8C"/>
                </a:solidFill>
                <a:latin typeface="Calibri" pitchFamily="34" charset="0"/>
                <a:ea typeface="Calibri" pitchFamily="34" charset="-122"/>
                <a:cs typeface="Calibri" pitchFamily="34" charset="-120"/>
              </a:rPr>
              <a:t>added incrementally, stirred</a:t>
            </a:r>
            <a:endParaRPr lang="en-US" sz="1000" dirty="0"/>
          </a:p>
        </p:txBody>
      </p:sp>
      <p:sp>
        <p:nvSpPr>
          <p:cNvPr id="21" name="dl1"/>
          <p:cNvSpPr/>
          <p:nvPr/>
        </p:nvSpPr>
        <p:spPr>
          <a:xfrm>
            <a:off x="3904488" y="2194560"/>
            <a:ext cx="10973" cy="2377440"/>
          </a:xfrm>
          <a:prstGeom prst="rect">
            <a:avLst/>
          </a:prstGeom>
          <a:solidFill>
            <a:srgbClr val="BDBDBD"/>
          </a:solidFill>
          <a:ln w="12700">
            <a:solidFill>
              <a:srgbClr val="BDBDBD">
                <a:alpha val="0"/>
              </a:srgbClr>
            </a:solidFill>
            <a:prstDash val="solid"/>
          </a:ln>
        </p:spPr>
      </p:sp>
      <p:sp>
        <p:nvSpPr>
          <p:cNvPr id="22" name="mk2"/>
          <p:cNvSpPr/>
          <p:nvPr/>
        </p:nvSpPr>
        <p:spPr>
          <a:xfrm>
            <a:off x="6583680" y="2724912"/>
            <a:ext cx="128016" cy="128016"/>
          </a:xfrm>
          <a:prstGeom prst="ellipse">
            <a:avLst/>
          </a:prstGeom>
          <a:solidFill>
            <a:srgbClr val="B4513A"/>
          </a:solidFill>
          <a:ln w="12700">
            <a:solidFill>
              <a:srgbClr val="B4513A">
                <a:alpha val="0"/>
              </a:srgbClr>
            </a:solidFill>
            <a:prstDash val="solid"/>
          </a:ln>
        </p:spPr>
      </p:sp>
      <p:sp>
        <p:nvSpPr>
          <p:cNvPr id="23" name="Text 21"/>
          <p:cNvSpPr txBox="1"/>
          <p:nvPr/>
        </p:nvSpPr>
        <p:spPr>
          <a:xfrm>
            <a:off x="6126480" y="4617720"/>
            <a:ext cx="2103120" cy="274320"/>
          </a:xfrm>
          <a:prstGeom prst="rect">
            <a:avLst/>
          </a:prstGeom>
          <a:noFill/>
          <a:ln/>
        </p:spPr>
        <p:txBody>
          <a:bodyPr wrap="square" lIns="0" tIns="0" rIns="0" bIns="0"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Viscosity development</a:t>
            </a:r>
            <a:endParaRPr lang="en-US" sz="1200" dirty="0"/>
          </a:p>
        </p:txBody>
      </p:sp>
      <p:sp>
        <p:nvSpPr>
          <p:cNvPr id="24" name="Text 22"/>
          <p:cNvSpPr txBox="1"/>
          <p:nvPr/>
        </p:nvSpPr>
        <p:spPr>
          <a:xfrm>
            <a:off x="6126480" y="4910328"/>
            <a:ext cx="2103120" cy="457200"/>
          </a:xfrm>
          <a:prstGeom prst="rect">
            <a:avLst/>
          </a:prstGeom>
          <a:noFill/>
          <a:ln/>
        </p:spPr>
        <p:txBody>
          <a:bodyPr wrap="square" lIns="0" tIns="0" rIns="0" bIns="0" rtlCol="0" anchor="ctr"/>
          <a:lstStyle/>
          <a:p>
            <a:pPr indent="0" marL="0">
              <a:lnSpc>
                <a:spcPts val="1300"/>
              </a:lnSpc>
              <a:buNone/>
            </a:pPr>
            <a:r>
              <a:rPr lang="en-US" sz="1000" dirty="0">
                <a:solidFill>
                  <a:srgbClr val="8C8C8C"/>
                </a:solidFill>
                <a:latin typeface="Calibri" pitchFamily="34" charset="0"/>
                <a:ea typeface="Calibri" pitchFamily="34" charset="-122"/>
                <a:cs typeface="Calibri" pitchFamily="34" charset="-120"/>
              </a:rPr>
              <a:t>continuous stirring</a:t>
            </a:r>
            <a:endParaRPr lang="en-US" sz="1000" dirty="0"/>
          </a:p>
        </p:txBody>
      </p:sp>
      <p:sp>
        <p:nvSpPr>
          <p:cNvPr id="25" name="dl2"/>
          <p:cNvSpPr/>
          <p:nvPr/>
        </p:nvSpPr>
        <p:spPr>
          <a:xfrm>
            <a:off x="6647688" y="2788920"/>
            <a:ext cx="10973" cy="1783080"/>
          </a:xfrm>
          <a:prstGeom prst="rect">
            <a:avLst/>
          </a:prstGeom>
          <a:solidFill>
            <a:srgbClr val="BDBDBD"/>
          </a:solidFill>
          <a:ln w="12700">
            <a:solidFill>
              <a:srgbClr val="BDBDBD">
                <a:alpha val="0"/>
              </a:srgbClr>
            </a:solidFill>
            <a:prstDash val="solid"/>
          </a:ln>
        </p:spPr>
      </p:sp>
      <p:sp>
        <p:nvSpPr>
          <p:cNvPr id="26" name="mk3"/>
          <p:cNvSpPr/>
          <p:nvPr/>
        </p:nvSpPr>
        <p:spPr>
          <a:xfrm>
            <a:off x="9235440" y="2724912"/>
            <a:ext cx="128016" cy="128016"/>
          </a:xfrm>
          <a:prstGeom prst="ellipse">
            <a:avLst/>
          </a:prstGeom>
          <a:solidFill>
            <a:srgbClr val="B4513A"/>
          </a:solidFill>
          <a:ln w="12700">
            <a:solidFill>
              <a:srgbClr val="B4513A">
                <a:alpha val="0"/>
              </a:srgbClr>
            </a:solidFill>
            <a:prstDash val="solid"/>
          </a:ln>
        </p:spPr>
      </p:sp>
      <p:sp>
        <p:nvSpPr>
          <p:cNvPr id="27" name="Text 25"/>
          <p:cNvSpPr txBox="1"/>
          <p:nvPr/>
        </p:nvSpPr>
        <p:spPr>
          <a:xfrm>
            <a:off x="8778240" y="4617720"/>
            <a:ext cx="2103120" cy="274320"/>
          </a:xfrm>
          <a:prstGeom prst="rect">
            <a:avLst/>
          </a:prstGeom>
          <a:noFill/>
          <a:ln/>
        </p:spPr>
        <p:txBody>
          <a:bodyPr wrap="square" lIns="0" tIns="0" rIns="0" bIns="0"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Shell addition</a:t>
            </a:r>
            <a:endParaRPr lang="en-US" sz="1200" dirty="0"/>
          </a:p>
        </p:txBody>
      </p:sp>
      <p:sp>
        <p:nvSpPr>
          <p:cNvPr id="28" name="Text 26"/>
          <p:cNvSpPr txBox="1"/>
          <p:nvPr/>
        </p:nvSpPr>
        <p:spPr>
          <a:xfrm>
            <a:off x="8778240" y="4910328"/>
            <a:ext cx="2103120" cy="457200"/>
          </a:xfrm>
          <a:prstGeom prst="rect">
            <a:avLst/>
          </a:prstGeom>
          <a:noFill/>
          <a:ln/>
        </p:spPr>
        <p:txBody>
          <a:bodyPr wrap="square" lIns="0" tIns="0" rIns="0" bIns="0" rtlCol="0" anchor="ctr"/>
          <a:lstStyle/>
          <a:p>
            <a:pPr indent="0" marL="0">
              <a:lnSpc>
                <a:spcPts val="1300"/>
              </a:lnSpc>
              <a:buNone/>
            </a:pPr>
            <a:r>
              <a:rPr lang="en-US" sz="1000" dirty="0">
                <a:solidFill>
                  <a:srgbClr val="8C8C8C"/>
                </a:solidFill>
                <a:latin typeface="Calibri" pitchFamily="34" charset="0"/>
                <a:ea typeface="Calibri" pitchFamily="34" charset="-122"/>
                <a:cs typeface="Calibri" pitchFamily="34" charset="-120"/>
              </a:rPr>
              <a:t>incremental, near the end</a:t>
            </a:r>
            <a:endParaRPr lang="en-US" sz="1000" dirty="0"/>
          </a:p>
        </p:txBody>
      </p:sp>
      <p:sp>
        <p:nvSpPr>
          <p:cNvPr id="29" name="dl3"/>
          <p:cNvSpPr/>
          <p:nvPr/>
        </p:nvSpPr>
        <p:spPr>
          <a:xfrm>
            <a:off x="9299448" y="2788920"/>
            <a:ext cx="10973" cy="1783080"/>
          </a:xfrm>
          <a:prstGeom prst="rect">
            <a:avLst/>
          </a:prstGeom>
          <a:solidFill>
            <a:srgbClr val="BDBDBD"/>
          </a:solidFill>
          <a:ln w="12700">
            <a:solidFill>
              <a:srgbClr val="BDBDBD">
                <a:alpha val="0"/>
              </a:srgbClr>
            </a:solidFill>
            <a:prstDash val="solid"/>
          </a:ln>
        </p:spPr>
      </p:sp>
      <p:sp>
        <p:nvSpPr>
          <p:cNvPr id="30" name="Text 28"/>
          <p:cNvSpPr txBox="1"/>
          <p:nvPr/>
        </p:nvSpPr>
        <p:spPr>
          <a:xfrm>
            <a:off x="731520" y="5486400"/>
            <a:ext cx="10241280" cy="50292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Agar is thermoreversible: it melts when you heat it and sets again as it cools, so no hardener and no cure temperature are needed.</a:t>
            </a:r>
            <a:endParaRPr lang="en-US" sz="1200" dirty="0"/>
          </a:p>
        </p:txBody>
      </p:sp>
      <p:sp>
        <p:nvSpPr>
          <p:cNvPr id="31" name="Text 29"/>
          <p:cNvSpPr txBox="1"/>
          <p:nvPr/>
        </p:nvSpPr>
        <p:spPr>
          <a:xfrm>
            <a:off x="731520" y="6035040"/>
            <a:ext cx="10241280" cy="50292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agar is added a little at a time under constant stirring, because added all at once it forms agglomerates that never redisperse.</a:t>
            </a:r>
            <a:endParaRPr lang="en-US" sz="1200" dirty="0"/>
          </a:p>
        </p:txBody>
      </p:sp>
      <p:sp>
        <p:nvSpPr>
          <p:cNvPr id="32" name="Text 30"/>
          <p:cNvSpPr txBox="1"/>
          <p:nvPr/>
        </p:nvSpPr>
        <p:spPr>
          <a:xfrm>
            <a:off x="731520" y="658368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Schematic. The set points and the total time are recorded; the ramp rates are not, and stirring was manual.</a:t>
            </a:r>
            <a:endParaRPr lang="en-US" sz="900" dirty="0"/>
          </a:p>
        </p:txBody>
      </p:sp>
      <p:sp>
        <p:nvSpPr>
          <p:cNvPr id="3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Stage 3 · Casting and cure</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Eleven days from casting to finished specimen, without thermal input</a:t>
            </a:r>
            <a:endParaRPr lang="en-US" sz="1300" dirty="0"/>
          </a:p>
        </p:txBody>
      </p:sp>
      <p:sp>
        <p:nvSpPr>
          <p:cNvPr id="4" name="c1"/>
          <p:cNvSpPr/>
          <p:nvPr/>
        </p:nvSpPr>
        <p:spPr>
          <a:xfrm>
            <a:off x="731520" y="2606040"/>
            <a:ext cx="3851453" cy="713232"/>
          </a:xfrm>
          <a:prstGeom prst="rect">
            <a:avLst/>
          </a:prstGeom>
          <a:solidFill>
            <a:srgbClr val="F7F6F4"/>
          </a:solidFill>
          <a:ln w="12700">
            <a:solidFill>
              <a:srgbClr val="E4E4E4"/>
            </a:solidFill>
            <a:prstDash val="solid"/>
          </a:ln>
        </p:spPr>
      </p:sp>
      <p:sp>
        <p:nvSpPr>
          <p:cNvPr id="5" name="c2"/>
          <p:cNvSpPr/>
          <p:nvPr/>
        </p:nvSpPr>
        <p:spPr>
          <a:xfrm>
            <a:off x="4582973" y="2606040"/>
            <a:ext cx="6847027" cy="713232"/>
          </a:xfrm>
          <a:prstGeom prst="rect">
            <a:avLst/>
          </a:prstGeom>
          <a:solidFill>
            <a:srgbClr val="FFFFFF"/>
          </a:solidFill>
          <a:ln w="12700">
            <a:solidFill>
              <a:srgbClr val="141414"/>
            </a:solidFill>
            <a:prstDash val="solid"/>
          </a:ln>
        </p:spPr>
      </p:sp>
      <p:sp>
        <p:nvSpPr>
          <p:cNvPr id="6" name="Text 4"/>
          <p:cNvSpPr txBox="1"/>
          <p:nvPr/>
        </p:nvSpPr>
        <p:spPr>
          <a:xfrm>
            <a:off x="1005840" y="2734056"/>
            <a:ext cx="2743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In mould</a:t>
            </a:r>
            <a:endParaRPr lang="en-US" sz="1300" dirty="0"/>
          </a:p>
        </p:txBody>
      </p:sp>
      <p:sp>
        <p:nvSpPr>
          <p:cNvPr id="7" name="Text 5"/>
          <p:cNvSpPr txBox="1"/>
          <p:nvPr/>
        </p:nvSpPr>
        <p:spPr>
          <a:xfrm>
            <a:off x="1005840" y="3008376"/>
            <a:ext cx="3108960" cy="27432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setting and initial drying</a:t>
            </a:r>
            <a:endParaRPr lang="en-US" sz="1050" dirty="0"/>
          </a:p>
        </p:txBody>
      </p:sp>
      <p:sp>
        <p:nvSpPr>
          <p:cNvPr id="8" name="Text 6"/>
          <p:cNvSpPr txBox="1"/>
          <p:nvPr/>
        </p:nvSpPr>
        <p:spPr>
          <a:xfrm>
            <a:off x="4857293" y="2734056"/>
            <a:ext cx="36576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Ambient consolidation</a:t>
            </a:r>
            <a:endParaRPr lang="en-US" sz="1300" dirty="0"/>
          </a:p>
        </p:txBody>
      </p:sp>
      <p:sp>
        <p:nvSpPr>
          <p:cNvPr id="9" name="Text 7"/>
          <p:cNvSpPr txBox="1"/>
          <p:nvPr/>
        </p:nvSpPr>
        <p:spPr>
          <a:xfrm>
            <a:off x="4857293" y="3008376"/>
            <a:ext cx="4572000" cy="27432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 23 °C, shielded from direct sun and air movement</a:t>
            </a:r>
            <a:endParaRPr lang="en-US" sz="1050" dirty="0"/>
          </a:p>
        </p:txBody>
      </p:sp>
      <p:sp>
        <p:nvSpPr>
          <p:cNvPr id="10" name="tk0"/>
          <p:cNvSpPr/>
          <p:nvPr/>
        </p:nvSpPr>
        <p:spPr>
          <a:xfrm>
            <a:off x="731520" y="2148840"/>
            <a:ext cx="18288" cy="384048"/>
          </a:xfrm>
          <a:prstGeom prst="rect">
            <a:avLst/>
          </a:prstGeom>
          <a:solidFill>
            <a:srgbClr val="141414"/>
          </a:solidFill>
          <a:ln w="12700">
            <a:solidFill>
              <a:srgbClr val="141414">
                <a:alpha val="0"/>
              </a:srgbClr>
            </a:solidFill>
            <a:prstDash val="solid"/>
          </a:ln>
        </p:spPr>
      </p:sp>
      <p:sp>
        <p:nvSpPr>
          <p:cNvPr id="11" name="Text 9"/>
          <p:cNvSpPr txBox="1"/>
          <p:nvPr/>
        </p:nvSpPr>
        <p:spPr>
          <a:xfrm>
            <a:off x="822960" y="1764792"/>
            <a:ext cx="1371600" cy="274320"/>
          </a:xfrm>
          <a:prstGeom prst="rect">
            <a:avLst/>
          </a:prstGeom>
          <a:noFill/>
          <a:ln/>
        </p:spPr>
        <p:txBody>
          <a:bodyPr wrap="square" lIns="0" tIns="0" rIns="0" bIns="0" rtlCol="0" anchor="ctr"/>
          <a:lstStyle/>
          <a:p>
            <a:pPr algn="l" indent="0" marL="0">
              <a:buNone/>
            </a:pPr>
            <a:r>
              <a:rPr lang="en-US" sz="1300" b="1" dirty="0">
                <a:solidFill>
                  <a:srgbClr val="B4513A"/>
                </a:solidFill>
                <a:latin typeface="Calibri" pitchFamily="34" charset="0"/>
                <a:ea typeface="Calibri" pitchFamily="34" charset="-122"/>
                <a:cs typeface="Calibri" pitchFamily="34" charset="-120"/>
              </a:rPr>
              <a:t>Day 0</a:t>
            </a:r>
            <a:endParaRPr lang="en-US" sz="1300" dirty="0"/>
          </a:p>
        </p:txBody>
      </p:sp>
      <p:sp>
        <p:nvSpPr>
          <p:cNvPr id="12" name="Text 10"/>
          <p:cNvSpPr txBox="1"/>
          <p:nvPr/>
        </p:nvSpPr>
        <p:spPr>
          <a:xfrm>
            <a:off x="822960" y="3465576"/>
            <a:ext cx="2834640" cy="274320"/>
          </a:xfrm>
          <a:prstGeom prst="rect">
            <a:avLst/>
          </a:prstGeom>
          <a:noFill/>
          <a:ln/>
        </p:spPr>
        <p:txBody>
          <a:bodyPr wrap="square" lIns="0" tIns="0" rIns="0" bIns="0" rtlCol="0" anchor="ctr"/>
          <a:lstStyle/>
          <a:p>
            <a:pPr algn="l" indent="0" marL="0">
              <a:buNone/>
            </a:pPr>
            <a:r>
              <a:rPr lang="en-US" sz="1050" dirty="0">
                <a:solidFill>
                  <a:srgbClr val="8C8C8C"/>
                </a:solidFill>
                <a:latin typeface="Calibri" pitchFamily="34" charset="0"/>
                <a:ea typeface="Calibri" pitchFamily="34" charset="-122"/>
                <a:cs typeface="Calibri" pitchFamily="34" charset="-120"/>
              </a:rPr>
              <a:t>cast into silicone moulds</a:t>
            </a:r>
            <a:endParaRPr lang="en-US" sz="1050" dirty="0"/>
          </a:p>
        </p:txBody>
      </p:sp>
      <p:sp>
        <p:nvSpPr>
          <p:cNvPr id="13" name="tk1"/>
          <p:cNvSpPr/>
          <p:nvPr/>
        </p:nvSpPr>
        <p:spPr>
          <a:xfrm>
            <a:off x="4582973" y="2148840"/>
            <a:ext cx="18288" cy="384048"/>
          </a:xfrm>
          <a:prstGeom prst="rect">
            <a:avLst/>
          </a:prstGeom>
          <a:solidFill>
            <a:srgbClr val="141414"/>
          </a:solidFill>
          <a:ln w="12700">
            <a:solidFill>
              <a:srgbClr val="141414">
                <a:alpha val="0"/>
              </a:srgbClr>
            </a:solidFill>
            <a:prstDash val="solid"/>
          </a:ln>
        </p:spPr>
      </p:sp>
      <p:sp>
        <p:nvSpPr>
          <p:cNvPr id="14" name="Text 12"/>
          <p:cNvSpPr txBox="1"/>
          <p:nvPr/>
        </p:nvSpPr>
        <p:spPr>
          <a:xfrm>
            <a:off x="4674413" y="1764792"/>
            <a:ext cx="1371600" cy="274320"/>
          </a:xfrm>
          <a:prstGeom prst="rect">
            <a:avLst/>
          </a:prstGeom>
          <a:noFill/>
          <a:ln/>
        </p:spPr>
        <p:txBody>
          <a:bodyPr wrap="square" lIns="0" tIns="0" rIns="0" bIns="0" rtlCol="0" anchor="ctr"/>
          <a:lstStyle/>
          <a:p>
            <a:pPr algn="l" indent="0" marL="0">
              <a:buNone/>
            </a:pPr>
            <a:r>
              <a:rPr lang="en-US" sz="1300" b="1" dirty="0">
                <a:solidFill>
                  <a:srgbClr val="B4513A"/>
                </a:solidFill>
                <a:latin typeface="Calibri" pitchFamily="34" charset="0"/>
                <a:ea typeface="Calibri" pitchFamily="34" charset="-122"/>
                <a:cs typeface="Calibri" pitchFamily="34" charset="-120"/>
              </a:rPr>
              <a:t>Day 4</a:t>
            </a:r>
            <a:endParaRPr lang="en-US" sz="1300" dirty="0"/>
          </a:p>
        </p:txBody>
      </p:sp>
      <p:sp>
        <p:nvSpPr>
          <p:cNvPr id="15" name="Text 13"/>
          <p:cNvSpPr txBox="1"/>
          <p:nvPr/>
        </p:nvSpPr>
        <p:spPr>
          <a:xfrm>
            <a:off x="4674413" y="3465576"/>
            <a:ext cx="2834640" cy="274320"/>
          </a:xfrm>
          <a:prstGeom prst="rect">
            <a:avLst/>
          </a:prstGeom>
          <a:noFill/>
          <a:ln/>
        </p:spPr>
        <p:txBody>
          <a:bodyPr wrap="square" lIns="0" tIns="0" rIns="0" bIns="0" rtlCol="0" anchor="ctr"/>
          <a:lstStyle/>
          <a:p>
            <a:pPr algn="l" indent="0" marL="0">
              <a:buNone/>
            </a:pPr>
            <a:r>
              <a:rPr lang="en-US" sz="1050" dirty="0">
                <a:solidFill>
                  <a:srgbClr val="8C8C8C"/>
                </a:solidFill>
                <a:latin typeface="Calibri" pitchFamily="34" charset="0"/>
                <a:ea typeface="Calibri" pitchFamily="34" charset="-122"/>
                <a:cs typeface="Calibri" pitchFamily="34" charset="-120"/>
              </a:rPr>
              <a:t>demoulded</a:t>
            </a:r>
            <a:endParaRPr lang="en-US" sz="1050" dirty="0"/>
          </a:p>
        </p:txBody>
      </p:sp>
      <p:sp>
        <p:nvSpPr>
          <p:cNvPr id="16" name="tk2"/>
          <p:cNvSpPr/>
          <p:nvPr/>
        </p:nvSpPr>
        <p:spPr>
          <a:xfrm>
            <a:off x="11420856" y="2148840"/>
            <a:ext cx="18288" cy="384048"/>
          </a:xfrm>
          <a:prstGeom prst="rect">
            <a:avLst/>
          </a:prstGeom>
          <a:solidFill>
            <a:srgbClr val="141414"/>
          </a:solidFill>
          <a:ln w="12700">
            <a:solidFill>
              <a:srgbClr val="141414">
                <a:alpha val="0"/>
              </a:srgbClr>
            </a:solidFill>
            <a:prstDash val="solid"/>
          </a:ln>
        </p:spPr>
      </p:sp>
      <p:sp>
        <p:nvSpPr>
          <p:cNvPr id="17" name="Text 15"/>
          <p:cNvSpPr txBox="1"/>
          <p:nvPr/>
        </p:nvSpPr>
        <p:spPr>
          <a:xfrm>
            <a:off x="10058400" y="1764792"/>
            <a:ext cx="1371600" cy="274320"/>
          </a:xfrm>
          <a:prstGeom prst="rect">
            <a:avLst/>
          </a:prstGeom>
          <a:noFill/>
          <a:ln/>
        </p:spPr>
        <p:txBody>
          <a:bodyPr wrap="square" lIns="0" tIns="0" rIns="0" bIns="0" rtlCol="0" anchor="ctr"/>
          <a:lstStyle/>
          <a:p>
            <a:pPr algn="r" indent="0" marL="0">
              <a:buNone/>
            </a:pPr>
            <a:r>
              <a:rPr lang="en-US" sz="1300" b="1" dirty="0">
                <a:solidFill>
                  <a:srgbClr val="B4513A"/>
                </a:solidFill>
                <a:latin typeface="Calibri" pitchFamily="34" charset="0"/>
                <a:ea typeface="Calibri" pitchFamily="34" charset="-122"/>
                <a:cs typeface="Calibri" pitchFamily="34" charset="-120"/>
              </a:rPr>
              <a:t>Day 11</a:t>
            </a:r>
            <a:endParaRPr lang="en-US" sz="1300" dirty="0"/>
          </a:p>
        </p:txBody>
      </p:sp>
      <p:sp>
        <p:nvSpPr>
          <p:cNvPr id="18" name="Text 16"/>
          <p:cNvSpPr txBox="1"/>
          <p:nvPr/>
        </p:nvSpPr>
        <p:spPr>
          <a:xfrm>
            <a:off x="8686800" y="3465576"/>
            <a:ext cx="28346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finished specimen, three shellac coats</a:t>
            </a:r>
            <a:endParaRPr lang="en-US" sz="1050" dirty="0"/>
          </a:p>
        </p:txBody>
      </p:sp>
      <p:sp>
        <p:nvSpPr>
          <p:cNvPr id="19" name="ru0.84.45"/>
          <p:cNvSpPr/>
          <p:nvPr/>
        </p:nvSpPr>
        <p:spPr>
          <a:xfrm>
            <a:off x="731520" y="4069080"/>
            <a:ext cx="10698480" cy="9144"/>
          </a:xfrm>
          <a:prstGeom prst="rect">
            <a:avLst/>
          </a:prstGeom>
          <a:solidFill>
            <a:srgbClr val="E4E4E4"/>
          </a:solidFill>
          <a:ln w="12700">
            <a:solidFill>
              <a:srgbClr val="E4E4E4">
                <a:alpha val="0"/>
              </a:srgbClr>
            </a:solidFill>
            <a:prstDash val="solid"/>
          </a:ln>
        </p:spPr>
      </p:sp>
      <p:sp>
        <p:nvSpPr>
          <p:cNvPr id="20" name="Text 18"/>
          <p:cNvSpPr txBox="1"/>
          <p:nvPr/>
        </p:nvSpPr>
        <p:spPr>
          <a:xfrm>
            <a:off x="731520" y="4251960"/>
            <a:ext cx="10241280" cy="45720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After the 55-minute preparation the material receives no further heat, so the entire cure happens at room temperature.</a:t>
            </a:r>
            <a:endParaRPr lang="en-US" sz="1200" dirty="0"/>
          </a:p>
        </p:txBody>
      </p:sp>
      <p:sp>
        <p:nvSpPr>
          <p:cNvPr id="21" name="Text 19"/>
          <p:cNvSpPr txBox="1"/>
          <p:nvPr/>
        </p:nvSpPr>
        <p:spPr>
          <a:xfrm>
            <a:off x="731520" y="480060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Silicone moulds · 50 mm cube moulds for compression, flat moulds otherwise.</a:t>
            </a:r>
            <a:endParaRPr lang="en-US" sz="900" dirty="0"/>
          </a:p>
        </p:txBody>
      </p:sp>
      <p:sp>
        <p:nvSpPr>
          <p:cNvPr id="22" name="disc"/>
          <p:cNvSpPr/>
          <p:nvPr/>
        </p:nvSpPr>
        <p:spPr>
          <a:xfrm>
            <a:off x="731520" y="5349240"/>
            <a:ext cx="10698480" cy="777240"/>
          </a:xfrm>
          <a:prstGeom prst="rect">
            <a:avLst/>
          </a:prstGeom>
          <a:solidFill>
            <a:srgbClr val="F7F6F4"/>
          </a:solidFill>
          <a:ln w="12700">
            <a:solidFill>
              <a:srgbClr val="F7F6F4">
                <a:alpha val="0"/>
              </a:srgbClr>
            </a:solidFill>
            <a:prstDash val="solid"/>
          </a:ln>
        </p:spPr>
      </p:sp>
      <p:sp>
        <p:nvSpPr>
          <p:cNvPr id="23" name="Text 21"/>
          <p:cNvSpPr txBox="1"/>
          <p:nvPr/>
        </p:nvSpPr>
        <p:spPr>
          <a:xfrm>
            <a:off x="1051560" y="5486400"/>
            <a:ext cx="10058400" cy="502920"/>
          </a:xfrm>
          <a:prstGeom prst="rect">
            <a:avLst/>
          </a:prstGeom>
          <a:noFill/>
          <a:ln/>
        </p:spPr>
        <p:txBody>
          <a:bodyPr wrap="square" lIns="0" tIns="0" rIns="0" bIns="0" rtlCol="0" anchor="ctr"/>
          <a:lstStyle/>
          <a:p>
            <a:pPr indent="0" marL="0">
              <a:lnSpc>
                <a:spcPts val="1700"/>
              </a:lnSpc>
              <a:buNone/>
            </a:pPr>
            <a:r>
              <a:rPr lang="en-US" sz="1200" b="1" dirty="0">
                <a:solidFill>
                  <a:srgbClr val="B4513A"/>
                </a:solidFill>
                <a:latin typeface="Calibri" pitchFamily="34" charset="0"/>
                <a:ea typeface="Calibri" pitchFamily="34" charset="-122"/>
                <a:cs typeface="Calibri" pitchFamily="34" charset="-120"/>
              </a:rPr>
              <a:t>Limitation   </a:t>
            </a:r>
            <a:pPr indent="0" marL="0">
              <a:lnSpc>
                <a:spcPts val="1700"/>
              </a:lnSpc>
              <a:buNone/>
            </a:pPr>
            <a:r>
              <a:rPr lang="en-US" sz="1200" dirty="0">
                <a:solidFill>
                  <a:srgbClr val="141414"/>
                </a:solidFill>
                <a:latin typeface="Calibri" pitchFamily="34" charset="0"/>
                <a:ea typeface="Calibri" pitchFamily="34" charset="-122"/>
                <a:cs typeface="Calibri" pitchFamily="34" charset="-120"/>
              </a:rPr>
              <a:t>the composite shrinks as the water evaporates, and I did not log the dried dimensions, so every dimension I quote today is a mould dimension.</a:t>
            </a:r>
            <a:endParaRPr lang="en-US" sz="1200" dirty="0"/>
          </a:p>
        </p:txBody>
      </p:sp>
      <p:sp>
        <p:nvSpPr>
          <p:cNvPr id="25"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Formulations</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Five mixes, with the derived ratios that govern the results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698480" cy="914400"/>
        </p:xfrm>
        <a:graphic>
          <a:graphicData uri="http://schemas.openxmlformats.org/drawingml/2006/table">
            <a:tbl>
              <a:tblPr/>
              <a:tblGrid>
                <a:gridCol w="731520"/>
                <a:gridCol w="1828800"/>
                <a:gridCol w="1280160"/>
                <a:gridCol w="1188720"/>
                <a:gridCol w="1143000"/>
                <a:gridCol w="1508760"/>
                <a:gridCol w="1554480"/>
                <a:gridCol w="146304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Test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Water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Shell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Agar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Glycerol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Shell : binder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Solids : water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325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450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1.46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0.71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0.60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4.45"/>
          <p:cNvSpPr/>
          <p:nvPr/>
        </p:nvSpPr>
        <p:spPr>
          <a:xfrm>
            <a:off x="731520" y="4069080"/>
            <a:ext cx="1069848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4224528"/>
            <a:ext cx="54864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Batch composition by mass</a:t>
            </a:r>
            <a:endParaRPr lang="en-US" sz="1300" dirty="0"/>
          </a:p>
        </p:txBody>
      </p:sp>
      <p:sp>
        <p:nvSpPr>
          <p:cNvPr id="7" name="sw0.85.02"/>
          <p:cNvSpPr/>
          <p:nvPr/>
        </p:nvSpPr>
        <p:spPr>
          <a:xfrm>
            <a:off x="731520" y="4626864"/>
            <a:ext cx="164592" cy="109728"/>
          </a:xfrm>
          <a:prstGeom prst="rect">
            <a:avLst/>
          </a:prstGeom>
          <a:solidFill>
            <a:srgbClr val="BDBDBD"/>
          </a:solidFill>
          <a:ln w="12700">
            <a:solidFill>
              <a:srgbClr val="BDBDBD">
                <a:alpha val="0"/>
              </a:srgbClr>
            </a:solidFill>
            <a:prstDash val="solid"/>
          </a:ln>
        </p:spPr>
      </p:sp>
      <p:sp>
        <p:nvSpPr>
          <p:cNvPr id="8" name="Text 5"/>
          <p:cNvSpPr txBox="1"/>
          <p:nvPr/>
        </p:nvSpPr>
        <p:spPr>
          <a:xfrm>
            <a:off x="969264" y="4590288"/>
            <a:ext cx="1188720" cy="182880"/>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water</a:t>
            </a:r>
            <a:endParaRPr lang="en-US" sz="950" dirty="0"/>
          </a:p>
        </p:txBody>
      </p:sp>
      <p:sp>
        <p:nvSpPr>
          <p:cNvPr id="9" name="sw25.02"/>
          <p:cNvSpPr/>
          <p:nvPr/>
        </p:nvSpPr>
        <p:spPr>
          <a:xfrm>
            <a:off x="1828800" y="4626864"/>
            <a:ext cx="164592" cy="109728"/>
          </a:xfrm>
          <a:prstGeom prst="rect">
            <a:avLst/>
          </a:prstGeom>
          <a:solidFill>
            <a:srgbClr val="B4513A"/>
          </a:solidFill>
          <a:ln w="12700">
            <a:solidFill>
              <a:srgbClr val="B4513A">
                <a:alpha val="0"/>
              </a:srgbClr>
            </a:solidFill>
            <a:prstDash val="solid"/>
          </a:ln>
        </p:spPr>
      </p:sp>
      <p:sp>
        <p:nvSpPr>
          <p:cNvPr id="10" name="Text 7"/>
          <p:cNvSpPr txBox="1"/>
          <p:nvPr/>
        </p:nvSpPr>
        <p:spPr>
          <a:xfrm>
            <a:off x="2066544" y="4590288"/>
            <a:ext cx="1188720" cy="182880"/>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shell</a:t>
            </a:r>
            <a:endParaRPr lang="en-US" sz="950" dirty="0"/>
          </a:p>
        </p:txBody>
      </p:sp>
      <p:sp>
        <p:nvSpPr>
          <p:cNvPr id="11" name="sw3.25.02"/>
          <p:cNvSpPr/>
          <p:nvPr/>
        </p:nvSpPr>
        <p:spPr>
          <a:xfrm>
            <a:off x="2926080" y="4626864"/>
            <a:ext cx="164592" cy="109728"/>
          </a:xfrm>
          <a:prstGeom prst="rect">
            <a:avLst/>
          </a:prstGeom>
          <a:solidFill>
            <a:srgbClr val="141414"/>
          </a:solidFill>
          <a:ln w="12700">
            <a:solidFill>
              <a:srgbClr val="141414">
                <a:alpha val="0"/>
              </a:srgbClr>
            </a:solidFill>
            <a:prstDash val="solid"/>
          </a:ln>
        </p:spPr>
      </p:sp>
      <p:sp>
        <p:nvSpPr>
          <p:cNvPr id="12" name="Text 9"/>
          <p:cNvSpPr txBox="1"/>
          <p:nvPr/>
        </p:nvSpPr>
        <p:spPr>
          <a:xfrm>
            <a:off x="3163824" y="4590288"/>
            <a:ext cx="1188720" cy="182880"/>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agar</a:t>
            </a:r>
            <a:endParaRPr lang="en-US" sz="950" dirty="0"/>
          </a:p>
        </p:txBody>
      </p:sp>
      <p:sp>
        <p:nvSpPr>
          <p:cNvPr id="13" name="sw4.45.02"/>
          <p:cNvSpPr/>
          <p:nvPr/>
        </p:nvSpPr>
        <p:spPr>
          <a:xfrm>
            <a:off x="4023360" y="4626864"/>
            <a:ext cx="164592" cy="109728"/>
          </a:xfrm>
          <a:prstGeom prst="rect">
            <a:avLst/>
          </a:prstGeom>
          <a:solidFill>
            <a:srgbClr val="8C8C8C"/>
          </a:solidFill>
          <a:ln w="12700">
            <a:solidFill>
              <a:srgbClr val="8C8C8C">
                <a:alpha val="0"/>
              </a:srgbClr>
            </a:solidFill>
            <a:prstDash val="solid"/>
          </a:ln>
        </p:spPr>
      </p:sp>
      <p:sp>
        <p:nvSpPr>
          <p:cNvPr id="14" name="Text 11"/>
          <p:cNvSpPr txBox="1"/>
          <p:nvPr/>
        </p:nvSpPr>
        <p:spPr>
          <a:xfrm>
            <a:off x="4261104" y="4590288"/>
            <a:ext cx="1188720" cy="182880"/>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glycerol</a:t>
            </a:r>
            <a:endParaRPr lang="en-US" sz="950" dirty="0"/>
          </a:p>
        </p:txBody>
      </p:sp>
      <p:sp>
        <p:nvSpPr>
          <p:cNvPr id="15" name="Text 12"/>
          <p:cNvSpPr txBox="1"/>
          <p:nvPr/>
        </p:nvSpPr>
        <p:spPr>
          <a:xfrm>
            <a:off x="731520" y="4919472"/>
            <a:ext cx="457200" cy="201168"/>
          </a:xfrm>
          <a:prstGeom prst="rect">
            <a:avLst/>
          </a:prstGeom>
          <a:noFill/>
          <a:ln/>
        </p:spPr>
        <p:txBody>
          <a:bodyPr wrap="square" lIns="0" tIns="0" rIns="0" bIns="0" rtlCol="0" anchor="ctr"/>
          <a:lstStyle/>
          <a:p>
            <a:pPr indent="0" marL="0">
              <a:buNone/>
            </a:pPr>
            <a:r>
              <a:rPr lang="en-US" sz="1050" b="1" dirty="0">
                <a:solidFill>
                  <a:srgbClr val="141414"/>
                </a:solidFill>
                <a:latin typeface="Calibri" pitchFamily="34" charset="0"/>
                <a:ea typeface="Calibri" pitchFamily="34" charset="-122"/>
                <a:cs typeface="Calibri" pitchFamily="34" charset="-120"/>
              </a:rPr>
              <a:t>C1</a:t>
            </a:r>
            <a:endParaRPr lang="en-US" sz="1050" dirty="0"/>
          </a:p>
        </p:txBody>
      </p:sp>
      <p:sp>
        <p:nvSpPr>
          <p:cNvPr id="16" name="sb1.355.380"/>
          <p:cNvSpPr/>
          <p:nvPr/>
        </p:nvSpPr>
        <p:spPr>
          <a:xfrm>
            <a:off x="1234440" y="4919472"/>
            <a:ext cx="3405883" cy="201168"/>
          </a:xfrm>
          <a:prstGeom prst="rect">
            <a:avLst/>
          </a:prstGeom>
          <a:solidFill>
            <a:srgbClr val="BDBDBD"/>
          </a:solidFill>
          <a:ln w="9525">
            <a:solidFill>
              <a:srgbClr val="FFFFFF"/>
            </a:solidFill>
            <a:prstDash val="solid"/>
          </a:ln>
        </p:spPr>
      </p:sp>
      <p:sp>
        <p:nvSpPr>
          <p:cNvPr id="17" name="sb1.355.381"/>
          <p:cNvSpPr/>
          <p:nvPr/>
        </p:nvSpPr>
        <p:spPr>
          <a:xfrm>
            <a:off x="4640323" y="4919472"/>
            <a:ext cx="838371" cy="201168"/>
          </a:xfrm>
          <a:prstGeom prst="rect">
            <a:avLst/>
          </a:prstGeom>
          <a:solidFill>
            <a:srgbClr val="B4513A"/>
          </a:solidFill>
          <a:ln w="9525">
            <a:solidFill>
              <a:srgbClr val="FFFFFF"/>
            </a:solidFill>
            <a:prstDash val="solid"/>
          </a:ln>
        </p:spPr>
      </p:sp>
      <p:sp>
        <p:nvSpPr>
          <p:cNvPr id="18" name="sb1.355.382"/>
          <p:cNvSpPr/>
          <p:nvPr/>
        </p:nvSpPr>
        <p:spPr>
          <a:xfrm>
            <a:off x="5478694" y="4919472"/>
            <a:ext cx="366787" cy="201168"/>
          </a:xfrm>
          <a:prstGeom prst="rect">
            <a:avLst/>
          </a:prstGeom>
          <a:solidFill>
            <a:srgbClr val="141414"/>
          </a:solidFill>
          <a:ln w="9525">
            <a:solidFill>
              <a:srgbClr val="FFFFFF"/>
            </a:solidFill>
            <a:prstDash val="solid"/>
          </a:ln>
        </p:spPr>
      </p:sp>
      <p:sp>
        <p:nvSpPr>
          <p:cNvPr id="19" name="sb1.355.383"/>
          <p:cNvSpPr/>
          <p:nvPr/>
        </p:nvSpPr>
        <p:spPr>
          <a:xfrm>
            <a:off x="5845482" y="4919472"/>
            <a:ext cx="52398" cy="201168"/>
          </a:xfrm>
          <a:prstGeom prst="rect">
            <a:avLst/>
          </a:prstGeom>
          <a:solidFill>
            <a:srgbClr val="8C8C8C"/>
          </a:solidFill>
          <a:ln w="9525">
            <a:solidFill>
              <a:srgbClr val="FFFFFF"/>
            </a:solidFill>
            <a:prstDash val="solid"/>
          </a:ln>
        </p:spPr>
      </p:sp>
      <p:sp>
        <p:nvSpPr>
          <p:cNvPr id="20" name="Text 17"/>
          <p:cNvSpPr txBox="1"/>
          <p:nvPr/>
        </p:nvSpPr>
        <p:spPr>
          <a:xfrm>
            <a:off x="5961888" y="4919472"/>
            <a:ext cx="1005840" cy="201168"/>
          </a:xfrm>
          <a:prstGeom prst="rect">
            <a:avLst/>
          </a:prstGeom>
          <a:noFill/>
          <a:ln/>
        </p:spPr>
        <p:txBody>
          <a:bodyPr wrap="square" lIns="0" tIns="0" rIns="0" bIns="0" rtlCol="0" anchor="ctr"/>
          <a:lstStyle/>
          <a:p>
            <a:pPr indent="0" marL="0">
              <a:buNone/>
            </a:pPr>
            <a:r>
              <a:rPr lang="en-US" sz="950" b="1" dirty="0">
                <a:solidFill>
                  <a:srgbClr val="B4513A"/>
                </a:solidFill>
                <a:latin typeface="Calibri" pitchFamily="34" charset="0"/>
                <a:ea typeface="Calibri" pitchFamily="34" charset="-122"/>
                <a:cs typeface="Calibri" pitchFamily="34" charset="-120"/>
              </a:rPr>
              <a:t>73% water</a:t>
            </a:r>
            <a:endParaRPr lang="en-US" sz="950" dirty="0"/>
          </a:p>
        </p:txBody>
      </p:sp>
      <p:sp>
        <p:nvSpPr>
          <p:cNvPr id="21" name="Text 18"/>
          <p:cNvSpPr txBox="1"/>
          <p:nvPr/>
        </p:nvSpPr>
        <p:spPr>
          <a:xfrm>
            <a:off x="731520" y="5193792"/>
            <a:ext cx="457200" cy="201168"/>
          </a:xfrm>
          <a:prstGeom prst="rect">
            <a:avLst/>
          </a:prstGeom>
          <a:noFill/>
          <a:ln/>
        </p:spPr>
        <p:txBody>
          <a:bodyPr wrap="square" lIns="0" tIns="0" rIns="0" bIns="0" rtlCol="0" anchor="ctr"/>
          <a:lstStyle/>
          <a:p>
            <a:pPr indent="0" marL="0">
              <a:buNone/>
            </a:pPr>
            <a:r>
              <a:rPr lang="en-US" sz="1050" b="1" dirty="0">
                <a:solidFill>
                  <a:srgbClr val="141414"/>
                </a:solidFill>
                <a:latin typeface="Calibri" pitchFamily="34" charset="0"/>
                <a:ea typeface="Calibri" pitchFamily="34" charset="-122"/>
                <a:cs typeface="Calibri" pitchFamily="34" charset="-120"/>
              </a:rPr>
              <a:t>C2</a:t>
            </a:r>
            <a:endParaRPr lang="en-US" sz="1050" dirty="0"/>
          </a:p>
        </p:txBody>
      </p:sp>
      <p:sp>
        <p:nvSpPr>
          <p:cNvPr id="22" name="sb1.355.680"/>
          <p:cNvSpPr/>
          <p:nvPr/>
        </p:nvSpPr>
        <p:spPr>
          <a:xfrm>
            <a:off x="1234440" y="5193792"/>
            <a:ext cx="3248689" cy="201168"/>
          </a:xfrm>
          <a:prstGeom prst="rect">
            <a:avLst/>
          </a:prstGeom>
          <a:solidFill>
            <a:srgbClr val="BDBDBD"/>
          </a:solidFill>
          <a:ln w="9525">
            <a:solidFill>
              <a:srgbClr val="FFFFFF"/>
            </a:solidFill>
            <a:prstDash val="solid"/>
          </a:ln>
        </p:spPr>
      </p:sp>
      <p:sp>
        <p:nvSpPr>
          <p:cNvPr id="23" name="sb1.355.681"/>
          <p:cNvSpPr/>
          <p:nvPr/>
        </p:nvSpPr>
        <p:spPr>
          <a:xfrm>
            <a:off x="4483129" y="5193792"/>
            <a:ext cx="943168" cy="201168"/>
          </a:xfrm>
          <a:prstGeom prst="rect">
            <a:avLst/>
          </a:prstGeom>
          <a:solidFill>
            <a:srgbClr val="B4513A"/>
          </a:solidFill>
          <a:ln w="9525">
            <a:solidFill>
              <a:srgbClr val="FFFFFF"/>
            </a:solidFill>
            <a:prstDash val="solid"/>
          </a:ln>
        </p:spPr>
      </p:sp>
      <p:sp>
        <p:nvSpPr>
          <p:cNvPr id="24" name="sb1.355.682"/>
          <p:cNvSpPr/>
          <p:nvPr/>
        </p:nvSpPr>
        <p:spPr>
          <a:xfrm>
            <a:off x="5426296" y="5193792"/>
            <a:ext cx="419186" cy="201168"/>
          </a:xfrm>
          <a:prstGeom prst="rect">
            <a:avLst/>
          </a:prstGeom>
          <a:solidFill>
            <a:srgbClr val="141414"/>
          </a:solidFill>
          <a:ln w="9525">
            <a:solidFill>
              <a:srgbClr val="FFFFFF"/>
            </a:solidFill>
            <a:prstDash val="solid"/>
          </a:ln>
        </p:spPr>
      </p:sp>
      <p:sp>
        <p:nvSpPr>
          <p:cNvPr id="25" name="sb1.355.683"/>
          <p:cNvSpPr/>
          <p:nvPr/>
        </p:nvSpPr>
        <p:spPr>
          <a:xfrm>
            <a:off x="5845482" y="5193792"/>
            <a:ext cx="52398" cy="201168"/>
          </a:xfrm>
          <a:prstGeom prst="rect">
            <a:avLst/>
          </a:prstGeom>
          <a:solidFill>
            <a:srgbClr val="8C8C8C"/>
          </a:solidFill>
          <a:ln w="9525">
            <a:solidFill>
              <a:srgbClr val="FFFFFF"/>
            </a:solidFill>
            <a:prstDash val="solid"/>
          </a:ln>
        </p:spPr>
      </p:sp>
      <p:sp>
        <p:nvSpPr>
          <p:cNvPr id="26" name="Text 23"/>
          <p:cNvSpPr txBox="1"/>
          <p:nvPr/>
        </p:nvSpPr>
        <p:spPr>
          <a:xfrm>
            <a:off x="5961888" y="5193792"/>
            <a:ext cx="1005840" cy="201168"/>
          </a:xfrm>
          <a:prstGeom prst="rect">
            <a:avLst/>
          </a:prstGeom>
          <a:noFill/>
          <a:ln/>
        </p:spPr>
        <p:txBody>
          <a:bodyPr wrap="square" lIns="0" tIns="0" rIns="0" bIns="0" rtlCol="0" anchor="ctr"/>
          <a:lstStyle/>
          <a:p>
            <a:pPr indent="0" marL="0">
              <a:buNone/>
            </a:pPr>
            <a:r>
              <a:rPr lang="en-US" sz="950" b="1" dirty="0">
                <a:solidFill>
                  <a:srgbClr val="B4513A"/>
                </a:solidFill>
                <a:latin typeface="Calibri" pitchFamily="34" charset="0"/>
                <a:ea typeface="Calibri" pitchFamily="34" charset="-122"/>
                <a:cs typeface="Calibri" pitchFamily="34" charset="-120"/>
              </a:rPr>
              <a:t>70% water</a:t>
            </a:r>
            <a:endParaRPr lang="en-US" sz="950" dirty="0"/>
          </a:p>
        </p:txBody>
      </p:sp>
      <p:sp>
        <p:nvSpPr>
          <p:cNvPr id="27" name="Text 24"/>
          <p:cNvSpPr txBox="1"/>
          <p:nvPr/>
        </p:nvSpPr>
        <p:spPr>
          <a:xfrm>
            <a:off x="731520" y="5468112"/>
            <a:ext cx="457200" cy="201168"/>
          </a:xfrm>
          <a:prstGeom prst="rect">
            <a:avLst/>
          </a:prstGeom>
          <a:noFill/>
          <a:ln/>
        </p:spPr>
        <p:txBody>
          <a:bodyPr wrap="square" lIns="0" tIns="0" rIns="0" bIns="0" rtlCol="0" anchor="ctr"/>
          <a:lstStyle/>
          <a:p>
            <a:pPr indent="0" marL="0">
              <a:buNone/>
            </a:pPr>
            <a:r>
              <a:rPr lang="en-US" sz="1050" b="1" dirty="0">
                <a:solidFill>
                  <a:srgbClr val="141414"/>
                </a:solidFill>
                <a:latin typeface="Calibri" pitchFamily="34" charset="0"/>
                <a:ea typeface="Calibri" pitchFamily="34" charset="-122"/>
                <a:cs typeface="Calibri" pitchFamily="34" charset="-120"/>
              </a:rPr>
              <a:t>C3</a:t>
            </a:r>
            <a:endParaRPr lang="en-US" sz="1050" dirty="0"/>
          </a:p>
        </p:txBody>
      </p:sp>
      <p:sp>
        <p:nvSpPr>
          <p:cNvPr id="28" name="sb1.355.97999999999999950"/>
          <p:cNvSpPr/>
          <p:nvPr/>
        </p:nvSpPr>
        <p:spPr>
          <a:xfrm>
            <a:off x="1234440" y="5468112"/>
            <a:ext cx="2934299" cy="201168"/>
          </a:xfrm>
          <a:prstGeom prst="rect">
            <a:avLst/>
          </a:prstGeom>
          <a:solidFill>
            <a:srgbClr val="BDBDBD"/>
          </a:solidFill>
          <a:ln w="9525">
            <a:solidFill>
              <a:srgbClr val="FFFFFF"/>
            </a:solidFill>
            <a:prstDash val="solid"/>
          </a:ln>
        </p:spPr>
      </p:sp>
      <p:sp>
        <p:nvSpPr>
          <p:cNvPr id="29" name="sb1.355.97999999999999951"/>
          <p:cNvSpPr/>
          <p:nvPr/>
        </p:nvSpPr>
        <p:spPr>
          <a:xfrm>
            <a:off x="4168739" y="5468112"/>
            <a:ext cx="1152760" cy="201168"/>
          </a:xfrm>
          <a:prstGeom prst="rect">
            <a:avLst/>
          </a:prstGeom>
          <a:solidFill>
            <a:srgbClr val="B4513A"/>
          </a:solidFill>
          <a:ln w="9525">
            <a:solidFill>
              <a:srgbClr val="FFFFFF"/>
            </a:solidFill>
            <a:prstDash val="solid"/>
          </a:ln>
        </p:spPr>
      </p:sp>
      <p:sp>
        <p:nvSpPr>
          <p:cNvPr id="30" name="sb1.355.97999999999999952"/>
          <p:cNvSpPr/>
          <p:nvPr/>
        </p:nvSpPr>
        <p:spPr>
          <a:xfrm>
            <a:off x="5321500" y="5468112"/>
            <a:ext cx="471584" cy="201168"/>
          </a:xfrm>
          <a:prstGeom prst="rect">
            <a:avLst/>
          </a:prstGeom>
          <a:solidFill>
            <a:srgbClr val="141414"/>
          </a:solidFill>
          <a:ln w="9525">
            <a:solidFill>
              <a:srgbClr val="FFFFFF"/>
            </a:solidFill>
            <a:prstDash val="solid"/>
          </a:ln>
        </p:spPr>
      </p:sp>
      <p:sp>
        <p:nvSpPr>
          <p:cNvPr id="31" name="sb1.355.97999999999999953"/>
          <p:cNvSpPr/>
          <p:nvPr/>
        </p:nvSpPr>
        <p:spPr>
          <a:xfrm>
            <a:off x="5793084" y="5468112"/>
            <a:ext cx="104796" cy="201168"/>
          </a:xfrm>
          <a:prstGeom prst="rect">
            <a:avLst/>
          </a:prstGeom>
          <a:solidFill>
            <a:srgbClr val="8C8C8C"/>
          </a:solidFill>
          <a:ln w="9525">
            <a:solidFill>
              <a:srgbClr val="FFFFFF"/>
            </a:solidFill>
            <a:prstDash val="solid"/>
          </a:ln>
        </p:spPr>
      </p:sp>
      <p:sp>
        <p:nvSpPr>
          <p:cNvPr id="32" name="Text 29"/>
          <p:cNvSpPr txBox="1"/>
          <p:nvPr/>
        </p:nvSpPr>
        <p:spPr>
          <a:xfrm>
            <a:off x="5961888" y="5468112"/>
            <a:ext cx="1005840" cy="201168"/>
          </a:xfrm>
          <a:prstGeom prst="rect">
            <a:avLst/>
          </a:prstGeom>
          <a:noFill/>
          <a:ln/>
        </p:spPr>
        <p:txBody>
          <a:bodyPr wrap="square" lIns="0" tIns="0" rIns="0" bIns="0" rtlCol="0" anchor="ctr"/>
          <a:lstStyle/>
          <a:p>
            <a:pPr indent="0" marL="0">
              <a:buNone/>
            </a:pPr>
            <a:r>
              <a:rPr lang="en-US" sz="950" b="1" dirty="0">
                <a:solidFill>
                  <a:srgbClr val="B4513A"/>
                </a:solidFill>
                <a:latin typeface="Calibri" pitchFamily="34" charset="0"/>
                <a:ea typeface="Calibri" pitchFamily="34" charset="-122"/>
                <a:cs typeface="Calibri" pitchFamily="34" charset="-120"/>
              </a:rPr>
              <a:t>63% water</a:t>
            </a:r>
            <a:endParaRPr lang="en-US" sz="950" dirty="0"/>
          </a:p>
        </p:txBody>
      </p:sp>
      <p:sp>
        <p:nvSpPr>
          <p:cNvPr id="33" name="Text 30"/>
          <p:cNvSpPr txBox="1"/>
          <p:nvPr/>
        </p:nvSpPr>
        <p:spPr>
          <a:xfrm>
            <a:off x="731520" y="5742432"/>
            <a:ext cx="457200" cy="201168"/>
          </a:xfrm>
          <a:prstGeom prst="rect">
            <a:avLst/>
          </a:prstGeom>
          <a:noFill/>
          <a:ln/>
        </p:spPr>
        <p:txBody>
          <a:bodyPr wrap="square" lIns="0" tIns="0" rIns="0" bIns="0" rtlCol="0" anchor="ctr"/>
          <a:lstStyle/>
          <a:p>
            <a:pPr indent="0" marL="0">
              <a:buNone/>
            </a:pPr>
            <a:r>
              <a:rPr lang="en-US" sz="1050" b="1" dirty="0">
                <a:solidFill>
                  <a:srgbClr val="141414"/>
                </a:solidFill>
                <a:latin typeface="Calibri" pitchFamily="34" charset="0"/>
                <a:ea typeface="Calibri" pitchFamily="34" charset="-122"/>
                <a:cs typeface="Calibri" pitchFamily="34" charset="-120"/>
              </a:rPr>
              <a:t>F1</a:t>
            </a:r>
            <a:endParaRPr lang="en-US" sz="1050" dirty="0"/>
          </a:p>
        </p:txBody>
      </p:sp>
      <p:sp>
        <p:nvSpPr>
          <p:cNvPr id="34" name="sb1.356.2799999999999990"/>
          <p:cNvSpPr/>
          <p:nvPr/>
        </p:nvSpPr>
        <p:spPr>
          <a:xfrm>
            <a:off x="1234440" y="5742432"/>
            <a:ext cx="2725387" cy="201168"/>
          </a:xfrm>
          <a:prstGeom prst="rect">
            <a:avLst/>
          </a:prstGeom>
          <a:solidFill>
            <a:srgbClr val="BDBDBD"/>
          </a:solidFill>
          <a:ln w="9525">
            <a:solidFill>
              <a:srgbClr val="FFFFFF"/>
            </a:solidFill>
            <a:prstDash val="solid"/>
          </a:ln>
        </p:spPr>
      </p:sp>
      <p:sp>
        <p:nvSpPr>
          <p:cNvPr id="35" name="sb1.356.2799999999999991"/>
          <p:cNvSpPr/>
          <p:nvPr/>
        </p:nvSpPr>
        <p:spPr>
          <a:xfrm>
            <a:off x="3959827" y="5742432"/>
            <a:ext cx="1150719" cy="201168"/>
          </a:xfrm>
          <a:prstGeom prst="rect">
            <a:avLst/>
          </a:prstGeom>
          <a:solidFill>
            <a:srgbClr val="B4513A"/>
          </a:solidFill>
          <a:ln w="9525">
            <a:solidFill>
              <a:srgbClr val="FFFFFF"/>
            </a:solidFill>
            <a:prstDash val="solid"/>
          </a:ln>
        </p:spPr>
      </p:sp>
      <p:sp>
        <p:nvSpPr>
          <p:cNvPr id="36" name="sb1.356.2799999999999992"/>
          <p:cNvSpPr/>
          <p:nvPr/>
        </p:nvSpPr>
        <p:spPr>
          <a:xfrm>
            <a:off x="5110546" y="5742432"/>
            <a:ext cx="423949" cy="201168"/>
          </a:xfrm>
          <a:prstGeom prst="rect">
            <a:avLst/>
          </a:prstGeom>
          <a:solidFill>
            <a:srgbClr val="141414"/>
          </a:solidFill>
          <a:ln w="9525">
            <a:solidFill>
              <a:srgbClr val="FFFFFF"/>
            </a:solidFill>
            <a:prstDash val="solid"/>
          </a:ln>
        </p:spPr>
      </p:sp>
      <p:sp>
        <p:nvSpPr>
          <p:cNvPr id="37" name="sb1.356.2799999999999993"/>
          <p:cNvSpPr/>
          <p:nvPr/>
        </p:nvSpPr>
        <p:spPr>
          <a:xfrm>
            <a:off x="5534495" y="5742432"/>
            <a:ext cx="363385" cy="201168"/>
          </a:xfrm>
          <a:prstGeom prst="rect">
            <a:avLst/>
          </a:prstGeom>
          <a:solidFill>
            <a:srgbClr val="8C8C8C"/>
          </a:solidFill>
          <a:ln w="9525">
            <a:solidFill>
              <a:srgbClr val="FFFFFF"/>
            </a:solidFill>
            <a:prstDash val="solid"/>
          </a:ln>
        </p:spPr>
      </p:sp>
      <p:sp>
        <p:nvSpPr>
          <p:cNvPr id="38" name="Text 35"/>
          <p:cNvSpPr txBox="1"/>
          <p:nvPr/>
        </p:nvSpPr>
        <p:spPr>
          <a:xfrm>
            <a:off x="5961888" y="5742432"/>
            <a:ext cx="1005840" cy="201168"/>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58% water</a:t>
            </a:r>
            <a:endParaRPr lang="en-US" sz="950" dirty="0"/>
          </a:p>
        </p:txBody>
      </p:sp>
      <p:sp>
        <p:nvSpPr>
          <p:cNvPr id="39" name="Text 36"/>
          <p:cNvSpPr txBox="1"/>
          <p:nvPr/>
        </p:nvSpPr>
        <p:spPr>
          <a:xfrm>
            <a:off x="731520" y="6016752"/>
            <a:ext cx="457200" cy="201168"/>
          </a:xfrm>
          <a:prstGeom prst="rect">
            <a:avLst/>
          </a:prstGeom>
          <a:noFill/>
          <a:ln/>
        </p:spPr>
        <p:txBody>
          <a:bodyPr wrap="square" lIns="0" tIns="0" rIns="0" bIns="0" rtlCol="0" anchor="ctr"/>
          <a:lstStyle/>
          <a:p>
            <a:pPr indent="0" marL="0">
              <a:buNone/>
            </a:pPr>
            <a:r>
              <a:rPr lang="en-US" sz="1050" b="1" dirty="0">
                <a:solidFill>
                  <a:srgbClr val="141414"/>
                </a:solidFill>
                <a:latin typeface="Calibri" pitchFamily="34" charset="0"/>
                <a:ea typeface="Calibri" pitchFamily="34" charset="-122"/>
                <a:cs typeface="Calibri" pitchFamily="34" charset="-120"/>
              </a:rPr>
              <a:t>F2</a:t>
            </a:r>
            <a:endParaRPr lang="en-US" sz="1050" dirty="0"/>
          </a:p>
        </p:txBody>
      </p:sp>
      <p:sp>
        <p:nvSpPr>
          <p:cNvPr id="40" name="sb1.356.580"/>
          <p:cNvSpPr/>
          <p:nvPr/>
        </p:nvSpPr>
        <p:spPr>
          <a:xfrm>
            <a:off x="1234440" y="6016752"/>
            <a:ext cx="2907079" cy="201168"/>
          </a:xfrm>
          <a:prstGeom prst="rect">
            <a:avLst/>
          </a:prstGeom>
          <a:solidFill>
            <a:srgbClr val="BDBDBD"/>
          </a:solidFill>
          <a:ln w="9525">
            <a:solidFill>
              <a:srgbClr val="FFFFFF"/>
            </a:solidFill>
            <a:prstDash val="solid"/>
          </a:ln>
        </p:spPr>
      </p:sp>
      <p:sp>
        <p:nvSpPr>
          <p:cNvPr id="41" name="sb1.356.581"/>
          <p:cNvSpPr/>
          <p:nvPr/>
        </p:nvSpPr>
        <p:spPr>
          <a:xfrm>
            <a:off x="4141519" y="6016752"/>
            <a:ext cx="1150719" cy="201168"/>
          </a:xfrm>
          <a:prstGeom prst="rect">
            <a:avLst/>
          </a:prstGeom>
          <a:solidFill>
            <a:srgbClr val="B4513A"/>
          </a:solidFill>
          <a:ln w="9525">
            <a:solidFill>
              <a:srgbClr val="FFFFFF"/>
            </a:solidFill>
            <a:prstDash val="solid"/>
          </a:ln>
        </p:spPr>
      </p:sp>
      <p:sp>
        <p:nvSpPr>
          <p:cNvPr id="42" name="sb1.356.582"/>
          <p:cNvSpPr/>
          <p:nvPr/>
        </p:nvSpPr>
        <p:spPr>
          <a:xfrm>
            <a:off x="5292238" y="6016752"/>
            <a:ext cx="423949" cy="201168"/>
          </a:xfrm>
          <a:prstGeom prst="rect">
            <a:avLst/>
          </a:prstGeom>
          <a:solidFill>
            <a:srgbClr val="141414"/>
          </a:solidFill>
          <a:ln w="9525">
            <a:solidFill>
              <a:srgbClr val="FFFFFF"/>
            </a:solidFill>
            <a:prstDash val="solid"/>
          </a:ln>
        </p:spPr>
      </p:sp>
      <p:sp>
        <p:nvSpPr>
          <p:cNvPr id="43" name="sb1.356.583"/>
          <p:cNvSpPr/>
          <p:nvPr/>
        </p:nvSpPr>
        <p:spPr>
          <a:xfrm>
            <a:off x="5716188" y="6016752"/>
            <a:ext cx="181692" cy="201168"/>
          </a:xfrm>
          <a:prstGeom prst="rect">
            <a:avLst/>
          </a:prstGeom>
          <a:solidFill>
            <a:srgbClr val="8C8C8C"/>
          </a:solidFill>
          <a:ln w="9525">
            <a:solidFill>
              <a:srgbClr val="FFFFFF"/>
            </a:solidFill>
            <a:prstDash val="solid"/>
          </a:ln>
        </p:spPr>
      </p:sp>
      <p:sp>
        <p:nvSpPr>
          <p:cNvPr id="44" name="Text 41"/>
          <p:cNvSpPr txBox="1"/>
          <p:nvPr/>
        </p:nvSpPr>
        <p:spPr>
          <a:xfrm>
            <a:off x="5961888" y="6016752"/>
            <a:ext cx="1005840" cy="201168"/>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62% water</a:t>
            </a:r>
            <a:endParaRPr lang="en-US" sz="950" dirty="0"/>
          </a:p>
        </p:txBody>
      </p:sp>
      <p:sp>
        <p:nvSpPr>
          <p:cNvPr id="45" name="vr84.45"/>
          <p:cNvSpPr/>
          <p:nvPr/>
        </p:nvSpPr>
        <p:spPr>
          <a:xfrm>
            <a:off x="7315200" y="4069080"/>
            <a:ext cx="13716" cy="2194560"/>
          </a:xfrm>
          <a:prstGeom prst="rect">
            <a:avLst/>
          </a:prstGeom>
          <a:solidFill>
            <a:srgbClr val="E4E4E4"/>
          </a:solidFill>
          <a:ln w="12700">
            <a:solidFill>
              <a:srgbClr val="E4E4E4">
                <a:alpha val="0"/>
              </a:srgbClr>
            </a:solidFill>
            <a:prstDash val="solid"/>
          </a:ln>
        </p:spPr>
      </p:sp>
      <p:sp>
        <p:nvSpPr>
          <p:cNvPr id="46" name="Text 43"/>
          <p:cNvSpPr txBox="1"/>
          <p:nvPr/>
        </p:nvSpPr>
        <p:spPr>
          <a:xfrm>
            <a:off x="7680960" y="4343400"/>
            <a:ext cx="3749040" cy="146304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Solids concentration is the only variable, and you can see it in the bars: the water band gets shorter from C1 to C3.</a:t>
            </a:r>
            <a:endParaRPr lang="en-US" sz="1200" dirty="0"/>
          </a:p>
        </p:txBody>
      </p:sp>
      <p:sp>
        <p:nvSpPr>
          <p:cNvPr id="47" name="Text 44"/>
          <p:cNvSpPr txBox="1"/>
          <p:nvPr/>
        </p:nvSpPr>
        <p:spPr>
          <a:xfrm>
            <a:off x="7680960" y="5760720"/>
            <a:ext cx="3749040" cy="73152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The glycerol was halved while the batch mass stayed the same, so the water rose to compensate.</a:t>
            </a:r>
            <a:endParaRPr lang="en-US" sz="1150" dirty="0"/>
          </a:p>
        </p:txBody>
      </p:sp>
      <p:sp>
        <p:nvSpPr>
          <p:cNvPr id="49"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Test programme</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Four specimen geometries</a:t>
            </a:r>
            <a:endParaRPr lang="en-US" sz="1300" dirty="0"/>
          </a:p>
        </p:txBody>
      </p:sp>
      <p:sp>
        <p:nvSpPr>
          <p:cNvPr id="4" name="ru0.81.85"/>
          <p:cNvSpPr/>
          <p:nvPr/>
        </p:nvSpPr>
        <p:spPr>
          <a:xfrm>
            <a:off x="731520" y="1691640"/>
            <a:ext cx="10698480" cy="9144"/>
          </a:xfrm>
          <a:prstGeom prst="rect">
            <a:avLst/>
          </a:prstGeom>
          <a:solidFill>
            <a:srgbClr val="E4E4E4"/>
          </a:solidFill>
          <a:ln w="12700">
            <a:solidFill>
              <a:srgbClr val="E4E4E4">
                <a:alpha val="0"/>
              </a:srgbClr>
            </a:solidFill>
            <a:prstDash val="solid"/>
          </a:ln>
        </p:spPr>
      </p:sp>
      <p:sp>
        <p:nvSpPr>
          <p:cNvPr id="5" name="Text 3"/>
          <p:cNvSpPr txBox="1"/>
          <p:nvPr/>
        </p:nvSpPr>
        <p:spPr>
          <a:xfrm>
            <a:off x="731520" y="3886200"/>
            <a:ext cx="2606040" cy="256032"/>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Cube compression</a:t>
            </a:r>
            <a:endParaRPr lang="en-US" sz="1300" dirty="0"/>
          </a:p>
        </p:txBody>
      </p:sp>
      <p:sp>
        <p:nvSpPr>
          <p:cNvPr id="6" name="Text 4"/>
          <p:cNvSpPr txBox="1"/>
          <p:nvPr/>
        </p:nvSpPr>
        <p:spPr>
          <a:xfrm>
            <a:off x="731520" y="4187952"/>
            <a:ext cx="2606040" cy="274320"/>
          </a:xfrm>
          <a:prstGeom prst="rect">
            <a:avLst/>
          </a:prstGeom>
          <a:noFill/>
          <a:ln/>
        </p:spPr>
        <p:txBody>
          <a:bodyPr wrap="square" lIns="0" tIns="0" rIns="0" bIns="0" rtlCol="0" anchor="ctr"/>
          <a:lstStyle/>
          <a:p>
            <a:pPr algn="ctr" indent="0" marL="0">
              <a:lnSpc>
                <a:spcPts val="1300"/>
              </a:lnSpc>
              <a:buNone/>
            </a:pPr>
            <a:r>
              <a:rPr lang="en-US" sz="1050" dirty="0">
                <a:solidFill>
                  <a:srgbClr val="8C8C8C"/>
                </a:solidFill>
                <a:latin typeface="Calibri" pitchFamily="34" charset="0"/>
                <a:ea typeface="Calibri" pitchFamily="34" charset="-122"/>
                <a:cs typeface="Calibri" pitchFamily="34" charset="-120"/>
              </a:rPr>
              <a:t>50 mm cube, platen-loaded</a:t>
            </a:r>
            <a:endParaRPr lang="en-US" sz="1050" dirty="0"/>
          </a:p>
        </p:txBody>
      </p:sp>
      <p:sp>
        <p:nvSpPr>
          <p:cNvPr id="7" name="Text 5"/>
          <p:cNvSpPr txBox="1"/>
          <p:nvPr/>
        </p:nvSpPr>
        <p:spPr>
          <a:xfrm>
            <a:off x="731520" y="4498848"/>
            <a:ext cx="2606040" cy="274320"/>
          </a:xfrm>
          <a:prstGeom prst="rect">
            <a:avLst/>
          </a:prstGeom>
          <a:noFill/>
          <a:ln/>
        </p:spPr>
        <p:txBody>
          <a:bodyPr wrap="square" lIns="0" tIns="0" rIns="0" bIns="0" rtlCol="0" anchor="ctr"/>
          <a:lstStyle/>
          <a:p>
            <a:pPr algn="ctr" indent="0" marL="0">
              <a:buNone/>
            </a:pPr>
            <a:r>
              <a:rPr lang="en-US" sz="1000" b="1" dirty="0">
                <a:solidFill>
                  <a:srgbClr val="B4513A"/>
                </a:solidFill>
                <a:latin typeface="Calibri" pitchFamily="34" charset="0"/>
                <a:ea typeface="Calibri" pitchFamily="34" charset="-122"/>
                <a:cs typeface="Calibri" pitchFamily="34" charset="-120"/>
              </a:rPr>
              <a:t>n = 3 per mix</a:t>
            </a:r>
            <a:endParaRPr lang="en-US" sz="1000" dirty="0"/>
          </a:p>
        </p:txBody>
      </p:sp>
      <p:sp>
        <p:nvSpPr>
          <p:cNvPr id="8" name="sp0"/>
          <p:cNvSpPr/>
          <p:nvPr/>
        </p:nvSpPr>
        <p:spPr>
          <a:xfrm>
            <a:off x="3364992" y="1920240"/>
            <a:ext cx="13716" cy="2926080"/>
          </a:xfrm>
          <a:prstGeom prst="rect">
            <a:avLst/>
          </a:prstGeom>
          <a:solidFill>
            <a:srgbClr val="E4E4E4"/>
          </a:solidFill>
          <a:ln w="12700">
            <a:solidFill>
              <a:srgbClr val="E4E4E4">
                <a:alpha val="0"/>
              </a:srgbClr>
            </a:solidFill>
            <a:prstDash val="solid"/>
          </a:ln>
        </p:spPr>
      </p:sp>
      <p:sp>
        <p:nvSpPr>
          <p:cNvPr id="9" name="Text 7"/>
          <p:cNvSpPr txBox="1"/>
          <p:nvPr/>
        </p:nvSpPr>
        <p:spPr>
          <a:xfrm>
            <a:off x="3429000" y="3886200"/>
            <a:ext cx="2606040" cy="256032"/>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Three-point flexure</a:t>
            </a:r>
            <a:endParaRPr lang="en-US" sz="1300" dirty="0"/>
          </a:p>
        </p:txBody>
      </p:sp>
      <p:sp>
        <p:nvSpPr>
          <p:cNvPr id="10" name="Text 8"/>
          <p:cNvSpPr txBox="1"/>
          <p:nvPr/>
        </p:nvSpPr>
        <p:spPr>
          <a:xfrm>
            <a:off x="3429000" y="4187952"/>
            <a:ext cx="2606040" cy="274320"/>
          </a:xfrm>
          <a:prstGeom prst="rect">
            <a:avLst/>
          </a:prstGeom>
          <a:noFill/>
          <a:ln/>
        </p:spPr>
        <p:txBody>
          <a:bodyPr wrap="square" lIns="0" tIns="0" rIns="0" bIns="0" rtlCol="0" anchor="ctr"/>
          <a:lstStyle/>
          <a:p>
            <a:pPr algn="ctr" indent="0" marL="0">
              <a:lnSpc>
                <a:spcPts val="1300"/>
              </a:lnSpc>
              <a:buNone/>
            </a:pPr>
            <a:r>
              <a:rPr lang="en-US" sz="1050" dirty="0">
                <a:solidFill>
                  <a:srgbClr val="8C8C8C"/>
                </a:solidFill>
                <a:latin typeface="Calibri" pitchFamily="34" charset="0"/>
                <a:ea typeface="Calibri" pitchFamily="34" charset="-122"/>
                <a:cs typeface="Calibri" pitchFamily="34" charset="-120"/>
              </a:rPr>
              <a:t>180 × 60 × 20 mm, 120 mm span</a:t>
            </a:r>
            <a:endParaRPr lang="en-US" sz="1050" dirty="0"/>
          </a:p>
        </p:txBody>
      </p:sp>
      <p:sp>
        <p:nvSpPr>
          <p:cNvPr id="11" name="Text 9"/>
          <p:cNvSpPr txBox="1"/>
          <p:nvPr/>
        </p:nvSpPr>
        <p:spPr>
          <a:xfrm>
            <a:off x="3429000" y="4498848"/>
            <a:ext cx="2606040" cy="274320"/>
          </a:xfrm>
          <a:prstGeom prst="rect">
            <a:avLst/>
          </a:prstGeom>
          <a:noFill/>
          <a:ln/>
        </p:spPr>
        <p:txBody>
          <a:bodyPr wrap="square" lIns="0" tIns="0" rIns="0" bIns="0" rtlCol="0" anchor="ctr"/>
          <a:lstStyle/>
          <a:p>
            <a:pPr algn="ctr" indent="0" marL="0">
              <a:buNone/>
            </a:pPr>
            <a:r>
              <a:rPr lang="en-US" sz="1000" b="1" dirty="0">
                <a:solidFill>
                  <a:srgbClr val="B4513A"/>
                </a:solidFill>
                <a:latin typeface="Calibri" pitchFamily="34" charset="0"/>
                <a:ea typeface="Calibri" pitchFamily="34" charset="-122"/>
                <a:cs typeface="Calibri" pitchFamily="34" charset="-120"/>
              </a:rPr>
              <a:t>ASTM D790-17 · n = 3 per mix</a:t>
            </a:r>
            <a:endParaRPr lang="en-US" sz="1000" dirty="0"/>
          </a:p>
        </p:txBody>
      </p:sp>
      <p:sp>
        <p:nvSpPr>
          <p:cNvPr id="12" name="sp1"/>
          <p:cNvSpPr/>
          <p:nvPr/>
        </p:nvSpPr>
        <p:spPr>
          <a:xfrm>
            <a:off x="6062472" y="1920240"/>
            <a:ext cx="13716" cy="2926080"/>
          </a:xfrm>
          <a:prstGeom prst="rect">
            <a:avLst/>
          </a:prstGeom>
          <a:solidFill>
            <a:srgbClr val="E4E4E4"/>
          </a:solidFill>
          <a:ln w="12700">
            <a:solidFill>
              <a:srgbClr val="E4E4E4">
                <a:alpha val="0"/>
              </a:srgbClr>
            </a:solidFill>
            <a:prstDash val="solid"/>
          </a:ln>
        </p:spPr>
      </p:sp>
      <p:sp>
        <p:nvSpPr>
          <p:cNvPr id="13" name="Text 11"/>
          <p:cNvSpPr txBox="1"/>
          <p:nvPr/>
        </p:nvSpPr>
        <p:spPr>
          <a:xfrm>
            <a:off x="6126480" y="3886200"/>
            <a:ext cx="2606040" cy="256032"/>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Edge ignition</a:t>
            </a:r>
            <a:endParaRPr lang="en-US" sz="1300" dirty="0"/>
          </a:p>
        </p:txBody>
      </p:sp>
      <p:sp>
        <p:nvSpPr>
          <p:cNvPr id="14" name="Text 12"/>
          <p:cNvSpPr txBox="1"/>
          <p:nvPr/>
        </p:nvSpPr>
        <p:spPr>
          <a:xfrm>
            <a:off x="6126480" y="4187952"/>
            <a:ext cx="2606040" cy="274320"/>
          </a:xfrm>
          <a:prstGeom prst="rect">
            <a:avLst/>
          </a:prstGeom>
          <a:noFill/>
          <a:ln/>
        </p:spPr>
        <p:txBody>
          <a:bodyPr wrap="square" lIns="0" tIns="0" rIns="0" bIns="0" rtlCol="0" anchor="ctr"/>
          <a:lstStyle/>
          <a:p>
            <a:pPr algn="ctr" indent="0" marL="0">
              <a:lnSpc>
                <a:spcPts val="1300"/>
              </a:lnSpc>
              <a:buNone/>
            </a:pPr>
            <a:r>
              <a:rPr lang="en-US" sz="1050" dirty="0">
                <a:solidFill>
                  <a:srgbClr val="8C8C8C"/>
                </a:solidFill>
                <a:latin typeface="Calibri" pitchFamily="34" charset="0"/>
                <a:ea typeface="Calibri" pitchFamily="34" charset="-122"/>
                <a:cs typeface="Calibri" pitchFamily="34" charset="-120"/>
              </a:rPr>
              <a:t>40 × 50 mm at 45°, 15 s flame</a:t>
            </a:r>
            <a:endParaRPr lang="en-US" sz="1050" dirty="0"/>
          </a:p>
        </p:txBody>
      </p:sp>
      <p:sp>
        <p:nvSpPr>
          <p:cNvPr id="15" name="Text 13"/>
          <p:cNvSpPr txBox="1"/>
          <p:nvPr/>
        </p:nvSpPr>
        <p:spPr>
          <a:xfrm>
            <a:off x="6126480" y="4498848"/>
            <a:ext cx="2606040" cy="274320"/>
          </a:xfrm>
          <a:prstGeom prst="rect">
            <a:avLst/>
          </a:prstGeom>
          <a:noFill/>
          <a:ln/>
        </p:spPr>
        <p:txBody>
          <a:bodyPr wrap="square" lIns="0" tIns="0" rIns="0" bIns="0" rtlCol="0" anchor="ctr"/>
          <a:lstStyle/>
          <a:p>
            <a:pPr algn="ctr" indent="0" marL="0">
              <a:buNone/>
            </a:pPr>
            <a:r>
              <a:rPr lang="en-US" sz="1000" b="1" dirty="0">
                <a:solidFill>
                  <a:srgbClr val="B4513A"/>
                </a:solidFill>
                <a:latin typeface="Calibri" pitchFamily="34" charset="0"/>
                <a:ea typeface="Calibri" pitchFamily="34" charset="-122"/>
                <a:cs typeface="Calibri" pitchFamily="34" charset="-120"/>
              </a:rPr>
              <a:t>ISO 11925-2:2020 · n = 2</a:t>
            </a:r>
            <a:endParaRPr lang="en-US" sz="1000" dirty="0"/>
          </a:p>
        </p:txBody>
      </p:sp>
      <p:sp>
        <p:nvSpPr>
          <p:cNvPr id="16" name="sp2"/>
          <p:cNvSpPr/>
          <p:nvPr/>
        </p:nvSpPr>
        <p:spPr>
          <a:xfrm>
            <a:off x="8759952" y="1920240"/>
            <a:ext cx="13716" cy="2926080"/>
          </a:xfrm>
          <a:prstGeom prst="rect">
            <a:avLst/>
          </a:prstGeom>
          <a:solidFill>
            <a:srgbClr val="E4E4E4"/>
          </a:solidFill>
          <a:ln w="12700">
            <a:solidFill>
              <a:srgbClr val="E4E4E4">
                <a:alpha val="0"/>
              </a:srgbClr>
            </a:solidFill>
            <a:prstDash val="solid"/>
          </a:ln>
        </p:spPr>
      </p:sp>
      <p:sp>
        <p:nvSpPr>
          <p:cNvPr id="17" name="Text 15"/>
          <p:cNvSpPr txBox="1"/>
          <p:nvPr/>
        </p:nvSpPr>
        <p:spPr>
          <a:xfrm>
            <a:off x="8823960" y="3886200"/>
            <a:ext cx="2606040" cy="256032"/>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Immersion</a:t>
            </a:r>
            <a:endParaRPr lang="en-US" sz="1300" dirty="0"/>
          </a:p>
        </p:txBody>
      </p:sp>
      <p:sp>
        <p:nvSpPr>
          <p:cNvPr id="18" name="Text 16"/>
          <p:cNvSpPr txBox="1"/>
          <p:nvPr/>
        </p:nvSpPr>
        <p:spPr>
          <a:xfrm>
            <a:off x="8823960" y="4187952"/>
            <a:ext cx="2606040" cy="274320"/>
          </a:xfrm>
          <a:prstGeom prst="rect">
            <a:avLst/>
          </a:prstGeom>
          <a:noFill/>
          <a:ln/>
        </p:spPr>
        <p:txBody>
          <a:bodyPr wrap="square" lIns="0" tIns="0" rIns="0" bIns="0" rtlCol="0" anchor="ctr"/>
          <a:lstStyle/>
          <a:p>
            <a:pPr algn="ctr" indent="0" marL="0">
              <a:lnSpc>
                <a:spcPts val="1300"/>
              </a:lnSpc>
              <a:buNone/>
            </a:pPr>
            <a:r>
              <a:rPr lang="en-US" sz="1050" dirty="0">
                <a:solidFill>
                  <a:srgbClr val="8C8C8C"/>
                </a:solidFill>
                <a:latin typeface="Calibri" pitchFamily="34" charset="0"/>
                <a:ea typeface="Calibri" pitchFamily="34" charset="-122"/>
                <a:cs typeface="Calibri" pitchFamily="34" charset="-120"/>
              </a:rPr>
              <a:t>40 × 50 mm, shellac-coated, 24 h</a:t>
            </a:r>
            <a:endParaRPr lang="en-US" sz="1050" dirty="0"/>
          </a:p>
        </p:txBody>
      </p:sp>
      <p:sp>
        <p:nvSpPr>
          <p:cNvPr id="19" name="Text 17"/>
          <p:cNvSpPr txBox="1"/>
          <p:nvPr/>
        </p:nvSpPr>
        <p:spPr>
          <a:xfrm>
            <a:off x="8823960" y="4498848"/>
            <a:ext cx="2606040" cy="274320"/>
          </a:xfrm>
          <a:prstGeom prst="rect">
            <a:avLst/>
          </a:prstGeom>
          <a:noFill/>
          <a:ln/>
        </p:spPr>
        <p:txBody>
          <a:bodyPr wrap="square" lIns="0" tIns="0" rIns="0" bIns="0" rtlCol="0" anchor="ctr"/>
          <a:lstStyle/>
          <a:p>
            <a:pPr algn="ctr" indent="0" marL="0">
              <a:buNone/>
            </a:pPr>
            <a:r>
              <a:rPr lang="en-US" sz="1000" b="1" dirty="0">
                <a:solidFill>
                  <a:srgbClr val="B4513A"/>
                </a:solidFill>
                <a:latin typeface="Calibri" pitchFamily="34" charset="0"/>
                <a:ea typeface="Calibri" pitchFamily="34" charset="-122"/>
                <a:cs typeface="Calibri" pitchFamily="34" charset="-120"/>
              </a:rPr>
              <a:t>ASTM D570-98 · n = 1</a:t>
            </a:r>
            <a:endParaRPr lang="en-US" sz="1000" dirty="0"/>
          </a:p>
        </p:txBody>
      </p:sp>
      <p:sp>
        <p:nvSpPr>
          <p:cNvPr id="20" name="ru0.85.7"/>
          <p:cNvSpPr/>
          <p:nvPr/>
        </p:nvSpPr>
        <p:spPr>
          <a:xfrm>
            <a:off x="731520" y="5212080"/>
            <a:ext cx="10698480" cy="9144"/>
          </a:xfrm>
          <a:prstGeom prst="rect">
            <a:avLst/>
          </a:prstGeom>
          <a:solidFill>
            <a:srgbClr val="E4E4E4"/>
          </a:solidFill>
          <a:ln w="12700">
            <a:solidFill>
              <a:srgbClr val="E4E4E4">
                <a:alpha val="0"/>
              </a:srgbClr>
            </a:solidFill>
            <a:prstDash val="solid"/>
          </a:ln>
        </p:spPr>
      </p:sp>
      <p:sp>
        <p:nvSpPr>
          <p:cNvPr id="21" name="Text 19"/>
          <p:cNvSpPr txBox="1"/>
          <p:nvPr/>
        </p:nvSpPr>
        <p:spPr>
          <a:xfrm>
            <a:off x="731520" y="5394960"/>
            <a:ext cx="10241280" cy="457200"/>
          </a:xfrm>
          <a:prstGeom prst="rect">
            <a:avLst/>
          </a:prstGeom>
          <a:noFill/>
          <a:ln/>
        </p:spPr>
        <p:txBody>
          <a:bodyPr wrap="square" lIns="0" tIns="0" rIns="0" bIns="0" rtlCol="0" anchor="t"/>
          <a:lstStyle/>
          <a:p>
            <a:pPr indent="0" marL="0">
              <a:lnSpc>
                <a:spcPts val="1800"/>
              </a:lnSpc>
              <a:buNone/>
            </a:pPr>
            <a:r>
              <a:rPr lang="en-US" sz="1200" b="1" dirty="0">
                <a:solidFill>
                  <a:srgbClr val="141414"/>
                </a:solidFill>
                <a:latin typeface="Calibri" pitchFamily="34" charset="0"/>
                <a:ea typeface="Calibri" pitchFamily="34" charset="-122"/>
                <a:cs typeface="Calibri" pitchFamily="34" charset="-120"/>
              </a:rPr>
              <a:t>The mechanical values are means of three specimens, and because I did not retain the individual values, I cannot give you standard deviations.</a:t>
            </a:r>
            <a:endParaRPr lang="en-US" sz="1200" dirty="0"/>
          </a:p>
        </p:txBody>
      </p:sp>
      <p:sp>
        <p:nvSpPr>
          <p:cNvPr id="22" name="cl1"/>
          <p:cNvSpPr/>
          <p:nvPr/>
        </p:nvSpPr>
        <p:spPr>
          <a:xfrm>
            <a:off x="1947672" y="2377440"/>
            <a:ext cx="128016" cy="219456"/>
          </a:xfrm>
          <a:prstGeom prst="downArrow">
            <a:avLst/>
          </a:prstGeom>
          <a:solidFill>
            <a:srgbClr val="B4513A"/>
          </a:solidFill>
          <a:ln w="12700">
            <a:solidFill>
              <a:srgbClr val="B4513A">
                <a:alpha val="0"/>
              </a:srgbClr>
            </a:solidFill>
            <a:prstDash val="solid"/>
          </a:ln>
        </p:spPr>
      </p:sp>
      <p:sp>
        <p:nvSpPr>
          <p:cNvPr id="23" name="pt1"/>
          <p:cNvSpPr/>
          <p:nvPr/>
        </p:nvSpPr>
        <p:spPr>
          <a:xfrm>
            <a:off x="1508760" y="2642616"/>
            <a:ext cx="1005840" cy="64008"/>
          </a:xfrm>
          <a:prstGeom prst="rect">
            <a:avLst/>
          </a:prstGeom>
          <a:solidFill>
            <a:srgbClr val="141414"/>
          </a:solidFill>
          <a:ln w="12700">
            <a:solidFill>
              <a:srgbClr val="141414">
                <a:alpha val="0"/>
              </a:srgbClr>
            </a:solidFill>
            <a:prstDash val="solid"/>
          </a:ln>
        </p:spPr>
      </p:sp>
      <p:sp>
        <p:nvSpPr>
          <p:cNvPr id="24" name="cb1"/>
          <p:cNvSpPr/>
          <p:nvPr/>
        </p:nvSpPr>
        <p:spPr>
          <a:xfrm>
            <a:off x="1600200" y="2734056"/>
            <a:ext cx="822960" cy="512064"/>
          </a:xfrm>
          <a:prstGeom prst="rect">
            <a:avLst/>
          </a:prstGeom>
          <a:solidFill>
            <a:srgbClr val="F7F6F4"/>
          </a:solidFill>
          <a:ln w="15875">
            <a:solidFill>
              <a:srgbClr val="141414"/>
            </a:solidFill>
            <a:prstDash val="solid"/>
          </a:ln>
        </p:spPr>
      </p:sp>
      <p:sp>
        <p:nvSpPr>
          <p:cNvPr id="25" name="pt2"/>
          <p:cNvSpPr/>
          <p:nvPr/>
        </p:nvSpPr>
        <p:spPr>
          <a:xfrm>
            <a:off x="1508760" y="3273552"/>
            <a:ext cx="1005840" cy="64008"/>
          </a:xfrm>
          <a:prstGeom prst="rect">
            <a:avLst/>
          </a:prstGeom>
          <a:solidFill>
            <a:srgbClr val="141414"/>
          </a:solidFill>
          <a:ln w="12700">
            <a:solidFill>
              <a:srgbClr val="141414">
                <a:alpha val="0"/>
              </a:srgbClr>
            </a:solidFill>
            <a:prstDash val="solid"/>
          </a:ln>
        </p:spPr>
      </p:sp>
      <p:sp>
        <p:nvSpPr>
          <p:cNvPr id="26" name="cl2"/>
          <p:cNvSpPr/>
          <p:nvPr/>
        </p:nvSpPr>
        <p:spPr>
          <a:xfrm>
            <a:off x="4672584" y="2514600"/>
            <a:ext cx="128016" cy="237744"/>
          </a:xfrm>
          <a:prstGeom prst="downArrow">
            <a:avLst/>
          </a:prstGeom>
          <a:solidFill>
            <a:srgbClr val="B4513A"/>
          </a:solidFill>
          <a:ln w="12700">
            <a:solidFill>
              <a:srgbClr val="B4513A">
                <a:alpha val="0"/>
              </a:srgbClr>
            </a:solidFill>
            <a:prstDash val="solid"/>
          </a:ln>
        </p:spPr>
      </p:sp>
      <p:sp>
        <p:nvSpPr>
          <p:cNvPr id="27" name="bm"/>
          <p:cNvSpPr/>
          <p:nvPr/>
        </p:nvSpPr>
        <p:spPr>
          <a:xfrm>
            <a:off x="3611880" y="2807208"/>
            <a:ext cx="2240280" cy="182880"/>
          </a:xfrm>
          <a:prstGeom prst="rect">
            <a:avLst/>
          </a:prstGeom>
          <a:solidFill>
            <a:srgbClr val="F7F6F4"/>
          </a:solidFill>
          <a:ln w="15875">
            <a:solidFill>
              <a:srgbClr val="141414"/>
            </a:solidFill>
            <a:prstDash val="solid"/>
          </a:ln>
        </p:spPr>
      </p:sp>
      <p:sp>
        <p:nvSpPr>
          <p:cNvPr id="28" name="su1"/>
          <p:cNvSpPr/>
          <p:nvPr/>
        </p:nvSpPr>
        <p:spPr>
          <a:xfrm>
            <a:off x="3813048" y="3008376"/>
            <a:ext cx="219456" cy="182880"/>
          </a:xfrm>
          <a:prstGeom prst="triangle">
            <a:avLst/>
          </a:prstGeom>
          <a:solidFill>
            <a:srgbClr val="141414"/>
          </a:solidFill>
          <a:ln w="12700">
            <a:solidFill>
              <a:srgbClr val="141414">
                <a:alpha val="0"/>
              </a:srgbClr>
            </a:solidFill>
            <a:prstDash val="solid"/>
          </a:ln>
        </p:spPr>
      </p:sp>
      <p:sp>
        <p:nvSpPr>
          <p:cNvPr id="29" name="su2"/>
          <p:cNvSpPr/>
          <p:nvPr/>
        </p:nvSpPr>
        <p:spPr>
          <a:xfrm>
            <a:off x="5431536" y="3008376"/>
            <a:ext cx="219456" cy="182880"/>
          </a:xfrm>
          <a:prstGeom prst="triangle">
            <a:avLst/>
          </a:prstGeom>
          <a:solidFill>
            <a:srgbClr val="141414"/>
          </a:solidFill>
          <a:ln w="12700">
            <a:solidFill>
              <a:srgbClr val="141414">
                <a:alpha val="0"/>
              </a:srgbClr>
            </a:solidFill>
            <a:prstDash val="solid"/>
          </a:ln>
        </p:spPr>
      </p:sp>
      <p:sp>
        <p:nvSpPr>
          <p:cNvPr id="30" name="spn"/>
          <p:cNvSpPr/>
          <p:nvPr/>
        </p:nvSpPr>
        <p:spPr>
          <a:xfrm>
            <a:off x="3922776" y="3300984"/>
            <a:ext cx="1618488" cy="13716"/>
          </a:xfrm>
          <a:prstGeom prst="rect">
            <a:avLst/>
          </a:prstGeom>
          <a:solidFill>
            <a:srgbClr val="BDBDBD"/>
          </a:solidFill>
          <a:ln w="12700">
            <a:solidFill>
              <a:srgbClr val="BDBDBD">
                <a:alpha val="0"/>
              </a:srgbClr>
            </a:solidFill>
            <a:prstDash val="solid"/>
          </a:ln>
        </p:spPr>
      </p:sp>
      <p:sp>
        <p:nvSpPr>
          <p:cNvPr id="31" name="Text 29"/>
          <p:cNvSpPr txBox="1"/>
          <p:nvPr/>
        </p:nvSpPr>
        <p:spPr>
          <a:xfrm>
            <a:off x="4114800" y="3319272"/>
            <a:ext cx="1234440" cy="201168"/>
          </a:xfrm>
          <a:prstGeom prst="rect">
            <a:avLst/>
          </a:prstGeom>
          <a:noFill/>
          <a:ln/>
        </p:spPr>
        <p:txBody>
          <a:bodyPr wrap="square" lIns="0" tIns="0" rIns="0" bIns="0" rtlCol="0" anchor="ctr"/>
          <a:lstStyle/>
          <a:p>
            <a:pPr algn="ctr" indent="0" marL="0">
              <a:buNone/>
            </a:pPr>
            <a:r>
              <a:rPr lang="en-US" sz="900" dirty="0">
                <a:solidFill>
                  <a:srgbClr val="8C8C8C"/>
                </a:solidFill>
                <a:latin typeface="Calibri" pitchFamily="34" charset="0"/>
                <a:ea typeface="Calibri" pitchFamily="34" charset="-122"/>
                <a:cs typeface="Calibri" pitchFamily="34" charset="-120"/>
              </a:rPr>
              <a:t>120 mm</a:t>
            </a:r>
            <a:endParaRPr lang="en-US" sz="900" dirty="0"/>
          </a:p>
        </p:txBody>
      </p:sp>
      <p:sp>
        <p:nvSpPr>
          <p:cNvPr id="32" name="fs"/>
          <p:cNvSpPr/>
          <p:nvPr/>
        </p:nvSpPr>
        <p:spPr>
          <a:xfrm rot="2700000">
            <a:off x="6903720" y="2606040"/>
            <a:ext cx="603504" cy="603504"/>
          </a:xfrm>
          <a:prstGeom prst="rect">
            <a:avLst/>
          </a:prstGeom>
          <a:solidFill>
            <a:srgbClr val="F7F6F4"/>
          </a:solidFill>
          <a:ln w="15875">
            <a:solidFill>
              <a:srgbClr val="141414"/>
            </a:solidFill>
            <a:prstDash val="solid"/>
          </a:ln>
        </p:spPr>
      </p:sp>
      <p:sp>
        <p:nvSpPr>
          <p:cNvPr id="33" name="fm"/>
          <p:cNvSpPr/>
          <p:nvPr/>
        </p:nvSpPr>
        <p:spPr>
          <a:xfrm>
            <a:off x="7114032" y="3300984"/>
            <a:ext cx="182880" cy="219456"/>
          </a:xfrm>
          <a:prstGeom prst="triangle">
            <a:avLst/>
          </a:prstGeom>
          <a:solidFill>
            <a:srgbClr val="B4513A"/>
          </a:solidFill>
          <a:ln w="12700">
            <a:solidFill>
              <a:srgbClr val="B4513A">
                <a:alpha val="0"/>
              </a:srgbClr>
            </a:solidFill>
            <a:prstDash val="solid"/>
          </a:ln>
        </p:spPr>
      </p:sp>
      <p:sp>
        <p:nvSpPr>
          <p:cNvPr id="34" name="Text 32"/>
          <p:cNvSpPr txBox="1"/>
          <p:nvPr/>
        </p:nvSpPr>
        <p:spPr>
          <a:xfrm>
            <a:off x="7653528" y="2843784"/>
            <a:ext cx="457200" cy="201168"/>
          </a:xfrm>
          <a:prstGeom prst="rect">
            <a:avLst/>
          </a:prstGeom>
          <a:noFill/>
          <a:ln/>
        </p:spPr>
        <p:txBody>
          <a:bodyPr wrap="square" lIns="0" tIns="0" rIns="0" bIns="0" rtlCol="0" anchor="ctr"/>
          <a:lstStyle/>
          <a:p>
            <a:pPr indent="0" marL="0">
              <a:buNone/>
            </a:pPr>
            <a:r>
              <a:rPr lang="en-US" sz="900" dirty="0">
                <a:solidFill>
                  <a:srgbClr val="8C8C8C"/>
                </a:solidFill>
                <a:latin typeface="Calibri" pitchFamily="34" charset="0"/>
                <a:ea typeface="Calibri" pitchFamily="34" charset="-122"/>
                <a:cs typeface="Calibri" pitchFamily="34" charset="-120"/>
              </a:rPr>
              <a:t>45°</a:t>
            </a:r>
            <a:endParaRPr lang="en-US" sz="900" dirty="0"/>
          </a:p>
        </p:txBody>
      </p:sp>
      <p:sp>
        <p:nvSpPr>
          <p:cNvPr id="35" name="vs"/>
          <p:cNvSpPr/>
          <p:nvPr/>
        </p:nvSpPr>
        <p:spPr>
          <a:xfrm>
            <a:off x="9281160" y="2679192"/>
            <a:ext cx="1691640" cy="777240"/>
          </a:xfrm>
          <a:prstGeom prst="rect">
            <a:avLst/>
          </a:prstGeom>
          <a:solidFill>
            <a:srgbClr val="FFFFFF"/>
          </a:solidFill>
          <a:ln w="15875">
            <a:solidFill>
              <a:srgbClr val="141414"/>
            </a:solidFill>
            <a:prstDash val="solid"/>
          </a:ln>
        </p:spPr>
      </p:sp>
      <p:sp>
        <p:nvSpPr>
          <p:cNvPr id="36" name="wt"/>
          <p:cNvSpPr/>
          <p:nvPr/>
        </p:nvSpPr>
        <p:spPr>
          <a:xfrm>
            <a:off x="9299448" y="2889504"/>
            <a:ext cx="1655064" cy="548640"/>
          </a:xfrm>
          <a:prstGeom prst="rect">
            <a:avLst/>
          </a:prstGeom>
          <a:solidFill>
            <a:srgbClr val="B4513A">
              <a:alpha val="28000"/>
            </a:srgbClr>
          </a:solidFill>
          <a:ln w="12700">
            <a:solidFill>
              <a:srgbClr val="B4513A">
                <a:alpha val="0"/>
              </a:srgbClr>
            </a:solidFill>
            <a:prstDash val="solid"/>
          </a:ln>
        </p:spPr>
      </p:sp>
      <p:sp>
        <p:nvSpPr>
          <p:cNvPr id="37" name="cp"/>
          <p:cNvSpPr/>
          <p:nvPr/>
        </p:nvSpPr>
        <p:spPr>
          <a:xfrm>
            <a:off x="9829800" y="3017520"/>
            <a:ext cx="594360" cy="310896"/>
          </a:xfrm>
          <a:prstGeom prst="rect">
            <a:avLst/>
          </a:prstGeom>
          <a:solidFill>
            <a:srgbClr val="F7F6F4"/>
          </a:solidFill>
          <a:ln w="12700">
            <a:solidFill>
              <a:srgbClr val="141414"/>
            </a:solidFill>
            <a:prstDash val="solid"/>
          </a:ln>
        </p:spPr>
      </p:sp>
      <p:sp>
        <p:nvSpPr>
          <p:cNvPr id="38" name="Text 36"/>
          <p:cNvSpPr txBox="1"/>
          <p:nvPr/>
        </p:nvSpPr>
        <p:spPr>
          <a:xfrm>
            <a:off x="731520" y="5897880"/>
            <a:ext cx="10241280" cy="45720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The fire, absorption and density figures are single determinations.</a:t>
            </a:r>
            <a:endParaRPr lang="en-US" sz="1150" dirty="0"/>
          </a:p>
        </p:txBody>
      </p:sp>
      <p:sp>
        <p:nvSpPr>
          <p:cNvPr id="39" name="Text 37"/>
          <p:cNvSpPr txBox="1"/>
          <p:nvPr/>
        </p:nvSpPr>
        <p:spPr>
          <a:xfrm>
            <a:off x="731520" y="640080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All testing: Advanced Construction Materials Research Laboratory, Hacettepe University.  ·  Schematic, not to scale.</a:t>
            </a:r>
            <a:endParaRPr lang="en-US" sz="900" dirty="0"/>
          </a:p>
        </p:txBody>
      </p:sp>
      <p:sp>
        <p:nvSpPr>
          <p:cNvPr id="4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Compression</a:t>
            </a:r>
            <a:endParaRPr lang="en-US" sz="2000" dirty="0"/>
          </a:p>
        </p:txBody>
      </p:sp>
      <p:sp>
        <p:nvSpPr>
          <p:cNvPr id="3" name="Text 1"/>
          <p:cNvSpPr txBox="1"/>
          <p:nvPr/>
        </p:nvSpPr>
        <p:spPr>
          <a:xfrm>
            <a:off x="731520" y="1325880"/>
            <a:ext cx="42062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Measured values</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4206240" cy="914400"/>
        </p:xfrm>
        <a:graphic>
          <a:graphicData uri="http://schemas.openxmlformats.org/drawingml/2006/table">
            <a:tbl>
              <a:tblPr/>
              <a:tblGrid>
                <a:gridCol w="640080"/>
                <a:gridCol w="1463040"/>
                <a:gridCol w="1051560"/>
                <a:gridCol w="105156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Solids : water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Fₘₐₓ kN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σᴄ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3.89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2.55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4.30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3.12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6.80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4.10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3.7"/>
          <p:cNvSpPr/>
          <p:nvPr/>
        </p:nvSpPr>
        <p:spPr>
          <a:xfrm>
            <a:off x="731520" y="3383280"/>
            <a:ext cx="420624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3520440"/>
            <a:ext cx="4206240" cy="822960"/>
          </a:xfrm>
          <a:prstGeom prst="rect">
            <a:avLst/>
          </a:prstGeom>
          <a:noFill/>
          <a:ln/>
        </p:spPr>
        <p:txBody>
          <a:bodyPr wrap="square" lIns="0" tIns="0" rIns="0" bIns="0" rtlCol="0" anchor="t"/>
          <a:lstStyle/>
          <a:p>
            <a:pPr indent="0" marL="0">
              <a:lnSpc>
                <a:spcPts val="1800"/>
              </a:lnSpc>
              <a:buNone/>
            </a:pPr>
            <a:r>
              <a:rPr lang="en-US" sz="1200" b="1" dirty="0">
                <a:solidFill>
                  <a:srgbClr val="141414"/>
                </a:solidFill>
                <a:latin typeface="Calibri" pitchFamily="34" charset="0"/>
                <a:ea typeface="Calibri" pitchFamily="34" charset="-122"/>
                <a:cs typeface="Calibri" pitchFamily="34" charset="-120"/>
              </a:rPr>
              <a:t>Strength here is governed by packing density, not by mineral content.</a:t>
            </a:r>
            <a:endParaRPr lang="en-US" sz="1200" dirty="0"/>
          </a:p>
        </p:txBody>
      </p:sp>
      <p:sp>
        <p:nvSpPr>
          <p:cNvPr id="7" name="Text 4"/>
          <p:cNvSpPr txBox="1"/>
          <p:nvPr/>
        </p:nvSpPr>
        <p:spPr>
          <a:xfrm>
            <a:off x="731520" y="4434840"/>
            <a:ext cx="4206240" cy="82296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way to a stronger composite is to take water out, not to put more shell in.</a:t>
            </a:r>
            <a:endParaRPr lang="en-US" sz="1200" dirty="0"/>
          </a:p>
        </p:txBody>
      </p:sp>
      <p:sp>
        <p:nvSpPr>
          <p:cNvPr id="8" name="Text 5"/>
          <p:cNvSpPr txBox="1"/>
          <p:nvPr/>
        </p:nvSpPr>
        <p:spPr>
          <a:xfrm>
            <a:off x="731520" y="5257800"/>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Linear over the range tested, R² = 0.99 — three formulations, therefore a hypothesis rather than a law.  ·  Fitted relation: σᴄ = 6.93 (solids : water) + 0.04</a:t>
            </a:r>
            <a:endParaRPr lang="en-US" sz="900" dirty="0"/>
          </a:p>
        </p:txBody>
      </p:sp>
      <p:graphicFrame>
        <p:nvGraphicFramePr>
          <p:cNvPr id="9" name="cc" descr=""/>
          <p:cNvGraphicFramePr/>
          <p:nvPr/>
        </p:nvGraphicFramePr>
        <p:xfrm>
          <a:off x="5394960" y="1463040"/>
          <a:ext cx="6035040" cy="438912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394960" y="5989320"/>
            <a:ext cx="60350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Solids : water ratio shown beneath each formulation identifier.</a:t>
            </a:r>
            <a:endParaRPr lang="en-US" sz="900" dirty="0"/>
          </a:p>
        </p:txBody>
      </p:sp>
      <p:sp>
        <p:nvSpPr>
          <p:cNvPr id="12"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Compressive failure</a:t>
            </a:r>
            <a:endParaRPr lang="en-US" sz="2000" dirty="0"/>
          </a:p>
        </p:txBody>
      </p:sp>
      <p:pic>
        <p:nvPicPr>
          <p:cNvPr id="3" name="cube" descr="/home/user/sanat-ve-mekan/konferans-bildirisi/03-gorseller/04-basma-ficilasmis-kup.jpeg">    </p:cNvPr>
          <p:cNvPicPr>
            <a:picLocks noChangeAspect="1"/>
          </p:cNvPicPr>
          <p:nvPr/>
        </p:nvPicPr>
        <p:blipFill>
          <a:blip r:embed="rId1"/>
          <a:stretch>
            <a:fillRect/>
          </a:stretch>
        </p:blipFill>
        <p:spPr>
          <a:xfrm>
            <a:off x="731520" y="1371600"/>
            <a:ext cx="2286000" cy="4946904"/>
          </a:xfrm>
          <a:prstGeom prst="rect">
            <a:avLst/>
          </a:prstGeom>
        </p:spPr>
      </p:pic>
      <p:sp>
        <p:nvSpPr>
          <p:cNvPr id="4" name="Text 1"/>
          <p:cNvSpPr txBox="1"/>
          <p:nvPr/>
        </p:nvSpPr>
        <p:spPr>
          <a:xfrm>
            <a:off x="3566160" y="1371600"/>
            <a:ext cx="47548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Compressive stress (MPa) – strain, C3</a:t>
            </a:r>
            <a:endParaRPr lang="en-US" sz="1300" dirty="0"/>
          </a:p>
        </p:txBody>
      </p:sp>
      <p:pic>
        <p:nvPicPr>
          <p:cNvPr id="5" name="curve" descr="/home/user/sanat-ve-mekan/konferans-bildirisi/03-gorseller/05b-basma-egrisi.png">    </p:cNvPr>
          <p:cNvPicPr>
            <a:picLocks noChangeAspect="1"/>
          </p:cNvPicPr>
          <p:nvPr/>
        </p:nvPicPr>
        <p:blipFill>
          <a:blip r:embed="rId2"/>
          <a:stretch>
            <a:fillRect/>
          </a:stretch>
        </p:blipFill>
        <p:spPr>
          <a:xfrm>
            <a:off x="3566160" y="1783080"/>
            <a:ext cx="4754880" cy="2660904"/>
          </a:xfrm>
          <a:prstGeom prst="rect">
            <a:avLst/>
          </a:prstGeom>
        </p:spPr>
      </p:pic>
      <p:sp>
        <p:nvSpPr>
          <p:cNvPr id="6" name="Text 2"/>
          <p:cNvSpPr txBox="1"/>
          <p:nvPr/>
        </p:nvSpPr>
        <p:spPr>
          <a:xfrm>
            <a:off x="3566160" y="4663440"/>
            <a:ext cx="47548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Observed response</a:t>
            </a:r>
            <a:endParaRPr lang="en-US" sz="1300" dirty="0"/>
          </a:p>
        </p:txBody>
      </p:sp>
      <p:sp>
        <p:nvSpPr>
          <p:cNvPr id="7" name="Text 3"/>
          <p:cNvSpPr txBox="1"/>
          <p:nvPr/>
        </p:nvSpPr>
        <p:spPr>
          <a:xfrm>
            <a:off x="3566160" y="5029200"/>
            <a:ext cx="4754880" cy="1280160"/>
          </a:xfrm>
          <a:prstGeom prst="rect">
            <a:avLst/>
          </a:prstGeom>
          <a:noFill/>
          <a:ln/>
        </p:spPr>
        <p:txBody>
          <a:bodyPr wrap="square" lIns="0" tIns="0" rIns="0" bIns="0" rtlCol="0" anchor="t"/>
          <a:lstStyle/>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Linear to approximately 1 MPa, then progressive loss of stiffness</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Peak stress near 10% strain, with no abrupt load drop</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Continued deformation beyond peak with retained integrity</a:t>
            </a:r>
            <a:endParaRPr lang="en-US" sz="1150" dirty="0"/>
          </a:p>
        </p:txBody>
      </p:sp>
      <p:sp>
        <p:nvSpPr>
          <p:cNvPr id="8" name="vr9.51.5"/>
          <p:cNvSpPr/>
          <p:nvPr/>
        </p:nvSpPr>
        <p:spPr>
          <a:xfrm>
            <a:off x="8686800" y="1371600"/>
            <a:ext cx="13716" cy="4572000"/>
          </a:xfrm>
          <a:prstGeom prst="rect">
            <a:avLst/>
          </a:prstGeom>
          <a:solidFill>
            <a:srgbClr val="E4E4E4"/>
          </a:solidFill>
          <a:ln w="12700">
            <a:solidFill>
              <a:srgbClr val="E4E4E4">
                <a:alpha val="0"/>
              </a:srgbClr>
            </a:solidFill>
            <a:prstDash val="solid"/>
          </a:ln>
        </p:spPr>
      </p:sp>
      <p:sp>
        <p:nvSpPr>
          <p:cNvPr id="9" name="Text 5"/>
          <p:cNvSpPr txBox="1"/>
          <p:nvPr/>
        </p:nvSpPr>
        <p:spPr>
          <a:xfrm>
            <a:off x="9144000" y="1371600"/>
            <a:ext cx="2286000" cy="164592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Failure proceeds by progressive crushing rather than by fracture.</a:t>
            </a:r>
            <a:endParaRPr lang="en-US" sz="1200" dirty="0"/>
          </a:p>
        </p:txBody>
      </p:sp>
      <p:sp>
        <p:nvSpPr>
          <p:cNvPr id="10" name="ru103.3"/>
          <p:cNvSpPr/>
          <p:nvPr/>
        </p:nvSpPr>
        <p:spPr>
          <a:xfrm>
            <a:off x="9144000" y="3017520"/>
            <a:ext cx="2286000" cy="9144"/>
          </a:xfrm>
          <a:prstGeom prst="rect">
            <a:avLst/>
          </a:prstGeom>
          <a:solidFill>
            <a:srgbClr val="E4E4E4"/>
          </a:solidFill>
          <a:ln w="12700">
            <a:solidFill>
              <a:srgbClr val="E4E4E4">
                <a:alpha val="0"/>
              </a:srgbClr>
            </a:solidFill>
            <a:prstDash val="solid"/>
          </a:ln>
        </p:spPr>
      </p:sp>
      <p:sp>
        <p:nvSpPr>
          <p:cNvPr id="11" name="Text 7"/>
          <p:cNvSpPr txBox="1"/>
          <p:nvPr/>
        </p:nvSpPr>
        <p:spPr>
          <a:xfrm>
            <a:off x="9144000" y="3200400"/>
            <a:ext cx="2286000" cy="173736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It has barrelled, it is shorter and wider, and it is still a single body.</a:t>
            </a:r>
            <a:endParaRPr lang="en-US" sz="1200" dirty="0"/>
          </a:p>
        </p:txBody>
      </p:sp>
      <p:sp>
        <p:nvSpPr>
          <p:cNvPr id="12" name="Text 8"/>
          <p:cNvSpPr txBox="1"/>
          <p:nvPr/>
        </p:nvSpPr>
        <p:spPr>
          <a:xfrm>
            <a:off x="731520" y="640080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The strain scale assumes ten per cent deformation from observation, not instrumented measurement.  ·  Bulk density 1.38 g/cm³, mould-volume basis.</a:t>
            </a:r>
            <a:endParaRPr lang="en-US" sz="900" dirty="0"/>
          </a:p>
        </p:txBody>
      </p:sp>
      <p:sp>
        <p:nvSpPr>
          <p:cNvPr id="1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Flexure</a:t>
            </a:r>
            <a:endParaRPr lang="en-US" sz="2000" dirty="0"/>
          </a:p>
        </p:txBody>
      </p:sp>
      <p:sp>
        <p:nvSpPr>
          <p:cNvPr id="3" name="Text 1"/>
          <p:cNvSpPr txBox="1"/>
          <p:nvPr/>
        </p:nvSpPr>
        <p:spPr>
          <a:xfrm>
            <a:off x="731520" y="1325880"/>
            <a:ext cx="667512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Measured values — ASTM D790-17, three-point</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6675120" cy="914400"/>
        </p:xfrm>
        <a:graphic>
          <a:graphicData uri="http://schemas.openxmlformats.org/drawingml/2006/table">
            <a:tbl>
              <a:tblPr/>
              <a:tblGrid>
                <a:gridCol w="685800"/>
                <a:gridCol w="1600200"/>
                <a:gridCol w="1005840"/>
                <a:gridCol w="1600200"/>
                <a:gridCol w="914400"/>
                <a:gridCol w="86868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Glycerol % solids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Fₘₐₓ 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σꜰ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Eꜰ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ε peak</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18.8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i="1" dirty="0">
                          <a:solidFill>
                            <a:srgbClr val="3C3C3C"/>
                          </a:solidFill>
                          <a:latin typeface="Calibri" pitchFamily="34" charset="0"/>
                          <a:ea typeface="Calibri" pitchFamily="34" charset="-122"/>
                          <a:cs typeface="Calibri" pitchFamily="34" charset="-120"/>
                        </a:rPr>
                        <a:t>not measurable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10.3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2.325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192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0.0121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3.35"/>
          <p:cNvSpPr/>
          <p:nvPr/>
        </p:nvSpPr>
        <p:spPr>
          <a:xfrm>
            <a:off x="731520" y="3063240"/>
            <a:ext cx="667512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3246120"/>
            <a:ext cx="42062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Flexural stress (MPa) – strain, F2</a:t>
            </a:r>
            <a:endParaRPr lang="en-US" sz="1300" dirty="0"/>
          </a:p>
        </p:txBody>
      </p:sp>
      <p:pic>
        <p:nvPicPr>
          <p:cNvPr id="7" name="fc" descr="/home/user/sanat-ve-mekan/konferans-bildirisi/03-gorseller/09b-egilme-egrisi.png">    </p:cNvPr>
          <p:cNvPicPr>
            <a:picLocks noChangeAspect="1"/>
          </p:cNvPicPr>
          <p:nvPr/>
        </p:nvPicPr>
        <p:blipFill>
          <a:blip r:embed="rId1"/>
          <a:stretch>
            <a:fillRect/>
          </a:stretch>
        </p:blipFill>
        <p:spPr>
          <a:xfrm>
            <a:off x="731520" y="3611880"/>
            <a:ext cx="4206240" cy="2377440"/>
          </a:xfrm>
          <a:prstGeom prst="rect">
            <a:avLst/>
          </a:prstGeom>
        </p:spPr>
      </p:pic>
      <p:sp>
        <p:nvSpPr>
          <p:cNvPr id="8" name="Text 4"/>
          <p:cNvSpPr txBox="1"/>
          <p:nvPr/>
        </p:nvSpPr>
        <p:spPr>
          <a:xfrm>
            <a:off x="5303520" y="3611880"/>
            <a:ext cx="2286000" cy="146304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The transition is sharp, and it lies between those two compositions.</a:t>
            </a:r>
            <a:endParaRPr lang="en-US" sz="1200" dirty="0"/>
          </a:p>
        </p:txBody>
      </p:sp>
      <p:sp>
        <p:nvSpPr>
          <p:cNvPr id="9" name="vr8.61.45"/>
          <p:cNvSpPr/>
          <p:nvPr/>
        </p:nvSpPr>
        <p:spPr>
          <a:xfrm>
            <a:off x="7863840" y="1325880"/>
            <a:ext cx="13716" cy="4846320"/>
          </a:xfrm>
          <a:prstGeom prst="rect">
            <a:avLst/>
          </a:prstGeom>
          <a:solidFill>
            <a:srgbClr val="E4E4E4"/>
          </a:solidFill>
          <a:ln w="12700">
            <a:solidFill>
              <a:srgbClr val="E4E4E4">
                <a:alpha val="0"/>
              </a:srgbClr>
            </a:solidFill>
            <a:prstDash val="solid"/>
          </a:ln>
        </p:spPr>
      </p:sp>
      <p:sp>
        <p:nvSpPr>
          <p:cNvPr id="10" name="Text 6"/>
          <p:cNvSpPr txBox="1"/>
          <p:nvPr/>
        </p:nvSpPr>
        <p:spPr>
          <a:xfrm>
            <a:off x="8321040" y="1325880"/>
            <a:ext cx="31089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Limitation</a:t>
            </a:r>
            <a:endParaRPr lang="en-US" sz="1300" dirty="0"/>
          </a:p>
        </p:txBody>
      </p:sp>
      <p:sp>
        <p:nvSpPr>
          <p:cNvPr id="11" name="Text 7"/>
          <p:cNvSpPr txBox="1"/>
          <p:nvPr/>
        </p:nvSpPr>
        <p:spPr>
          <a:xfrm>
            <a:off x="8321040" y="1691640"/>
            <a:ext cx="3108960" cy="219456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specimen is kerfed on its tension face while the standard assumes a solid rectangle, so the modulus I am quoting is a lower bound.</a:t>
            </a:r>
            <a:endParaRPr lang="en-US" sz="1200" dirty="0"/>
          </a:p>
        </p:txBody>
      </p:sp>
      <p:sp>
        <p:nvSpPr>
          <p:cNvPr id="12" name="Text 8"/>
          <p:cNvSpPr txBox="1"/>
          <p:nvPr/>
        </p:nvSpPr>
        <p:spPr>
          <a:xfrm>
            <a:off x="8321040" y="5212080"/>
            <a:ext cx="28346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Confounded with solids concentration: batch mass was held constant, so water rose as glycerol fell.</a:t>
            </a:r>
            <a:endParaRPr lang="en-US" sz="900" dirty="0"/>
          </a:p>
        </p:txBody>
      </p:sp>
      <p:sp>
        <p:nvSpPr>
          <p:cNvPr id="13" name="Text 9"/>
          <p:cNvSpPr txBox="1"/>
          <p:nvPr/>
        </p:nvSpPr>
        <p:spPr>
          <a:xfrm>
            <a:off x="731520" y="6126480"/>
            <a:ext cx="66751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Flexural strength computed as σꜰ = 3FL / 2bd² on the full rectangular section.</a:t>
            </a:r>
            <a:endParaRPr lang="en-US" sz="900" dirty="0"/>
          </a:p>
        </p:txBody>
      </p:sp>
      <p:sp>
        <p:nvSpPr>
          <p:cNvPr id="15"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b1" descr="/home/user/sanat-ve-mekan/konferans-bildirisi/03-gorseller/06-egilme-buyuk-sehim.jpg">    </p:cNvPr>
          <p:cNvPicPr>
            <a:picLocks noChangeAspect="1"/>
          </p:cNvPicPr>
          <p:nvPr/>
        </p:nvPicPr>
        <p:blipFill>
          <a:blip r:embed="rId1"/>
          <a:stretch>
            <a:fillRect/>
          </a:stretch>
        </p:blipFill>
        <p:spPr>
          <a:xfrm>
            <a:off x="0" y="0"/>
            <a:ext cx="3090672" cy="6858000"/>
          </a:xfrm>
          <a:prstGeom prst="rect">
            <a:avLst/>
          </a:prstGeom>
        </p:spPr>
      </p:pic>
      <p:pic>
        <p:nvPicPr>
          <p:cNvPr id="3" name="b2" descr="/home/user/sanat-ve-mekan/konferans-bildirisi/03-gorseller/07-egilme-yakin-yiv.jpeg">    </p:cNvPr>
          <p:cNvPicPr>
            <a:picLocks noChangeAspect="1"/>
          </p:cNvPicPr>
          <p:nvPr/>
        </p:nvPicPr>
        <p:blipFill>
          <a:blip r:embed="rId2"/>
          <a:stretch>
            <a:fillRect/>
          </a:stretch>
        </p:blipFill>
        <p:spPr>
          <a:xfrm>
            <a:off x="3182112" y="0"/>
            <a:ext cx="4096512" cy="3072384"/>
          </a:xfrm>
          <a:prstGeom prst="rect">
            <a:avLst/>
          </a:prstGeom>
        </p:spPr>
      </p:pic>
      <p:pic>
        <p:nvPicPr>
          <p:cNvPr id="4" name="b3" descr="/home/user/sanat-ve-mekan/konferans-bildirisi/03-gorseller/08c-kemer.jpg">    </p:cNvPr>
          <p:cNvPicPr>
            <a:picLocks noChangeAspect="1"/>
          </p:cNvPicPr>
          <p:nvPr/>
        </p:nvPicPr>
        <p:blipFill>
          <a:blip r:embed="rId3"/>
          <a:stretch>
            <a:fillRect/>
          </a:stretch>
        </p:blipFill>
        <p:spPr>
          <a:xfrm>
            <a:off x="3182112" y="3520440"/>
            <a:ext cx="4096512" cy="3337560"/>
          </a:xfrm>
          <a:prstGeom prst="rect">
            <a:avLst/>
          </a:prstGeom>
        </p:spPr>
      </p:pic>
      <p:sp>
        <p:nvSpPr>
          <p:cNvPr id="5" name="pane"/>
          <p:cNvSpPr/>
          <p:nvPr/>
        </p:nvSpPr>
        <p:spPr>
          <a:xfrm>
            <a:off x="7278624" y="0"/>
            <a:ext cx="4910328" cy="6858000"/>
          </a:xfrm>
          <a:prstGeom prst="rect">
            <a:avLst/>
          </a:prstGeom>
          <a:solidFill>
            <a:srgbClr val="141414"/>
          </a:solidFill>
          <a:ln w="12700">
            <a:solidFill>
              <a:srgbClr val="141414">
                <a:alpha val="0"/>
              </a:srgbClr>
            </a:solidFill>
            <a:prstDash val="solid"/>
          </a:ln>
        </p:spPr>
      </p:sp>
      <p:sp>
        <p:nvSpPr>
          <p:cNvPr id="6" name="Text 1"/>
          <p:cNvSpPr txBox="1"/>
          <p:nvPr/>
        </p:nvSpPr>
        <p:spPr>
          <a:xfrm>
            <a:off x="7726680" y="1280160"/>
            <a:ext cx="3840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Flexural deformation</a:t>
            </a:r>
            <a:endParaRPr lang="en-US" sz="2000" dirty="0"/>
          </a:p>
        </p:txBody>
      </p:sp>
      <p:sp>
        <p:nvSpPr>
          <p:cNvPr id="7" name="Text 2"/>
          <p:cNvSpPr txBox="1"/>
          <p:nvPr/>
        </p:nvSpPr>
        <p:spPr>
          <a:xfrm>
            <a:off x="7726680" y="1920240"/>
            <a:ext cx="3840480" cy="1463040"/>
          </a:xfrm>
          <a:prstGeom prst="rect">
            <a:avLst/>
          </a:prstGeom>
          <a:noFill/>
          <a:ln/>
        </p:spPr>
        <p:txBody>
          <a:bodyPr wrap="square" lIns="0" tIns="0" rIns="0" bIns="0" rtlCol="0" anchor="t"/>
          <a:lstStyle/>
          <a:p>
            <a:pPr indent="0" marL="0">
              <a:lnSpc>
                <a:spcPts val="1800"/>
              </a:lnSpc>
              <a:buNone/>
            </a:pPr>
            <a:r>
              <a:rPr lang="en-US" sz="1200" b="1" i="1" dirty="0">
                <a:solidFill>
                  <a:srgbClr val="FFFFFF"/>
                </a:solidFill>
                <a:latin typeface="Calibri" pitchFamily="34" charset="0"/>
                <a:ea typeface="Calibri" pitchFamily="34" charset="-122"/>
                <a:cs typeface="Calibri" pitchFamily="34" charset="-120"/>
              </a:rPr>
              <a:t>Both test programmes gave me the same result: substantial deformation with the integrity retained.</a:t>
            </a:r>
            <a:endParaRPr lang="en-US" sz="1200" dirty="0"/>
          </a:p>
        </p:txBody>
      </p:sp>
      <p:sp>
        <p:nvSpPr>
          <p:cNvPr id="8" name="Text 3"/>
          <p:cNvSpPr txBox="1"/>
          <p:nvPr/>
        </p:nvSpPr>
        <p:spPr>
          <a:xfrm>
            <a:off x="7726680" y="3657600"/>
            <a:ext cx="3840480" cy="1463040"/>
          </a:xfrm>
          <a:prstGeom prst="rect">
            <a:avLst/>
          </a:prstGeom>
          <a:noFill/>
          <a:ln/>
        </p:spPr>
        <p:txBody>
          <a:bodyPr wrap="square" lIns="0" tIns="0" rIns="0" bIns="0" rtlCol="0" anchor="t"/>
          <a:lstStyle/>
          <a:p>
            <a:pPr indent="0" marL="0">
              <a:lnSpc>
                <a:spcPts val="1800"/>
              </a:lnSpc>
              <a:buNone/>
            </a:pPr>
            <a:r>
              <a:rPr lang="en-US" sz="1200" dirty="0">
                <a:solidFill>
                  <a:srgbClr val="FFFFFF"/>
                </a:solidFill>
                <a:latin typeface="Calibri" pitchFamily="34" charset="0"/>
                <a:ea typeface="Calibri" pitchFamily="34" charset="-122"/>
                <a:cs typeface="Calibri" pitchFamily="34" charset="-120"/>
              </a:rPr>
              <a:t>The beam is deflected well past the point where a comparable ceramic would have parted, and it is still intact.</a:t>
            </a:r>
            <a:endParaRPr lang="en-US" sz="1200" dirty="0"/>
          </a:p>
        </p:txBody>
      </p:sp>
      <p:sp>
        <p:nvSpPr>
          <p:cNvPr id="9" name="Text 4"/>
          <p:cNvSpPr txBox="1"/>
          <p:nvPr/>
        </p:nvSpPr>
        <p:spPr>
          <a:xfrm>
            <a:off x="7726680" y="5486400"/>
            <a:ext cx="384048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Three-point rig at high deflection · kerfed tension face · panel arched by hand</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Fire, water, density</a:t>
            </a:r>
            <a:endParaRPr lang="en-US" sz="2000" dirty="0"/>
          </a:p>
        </p:txBody>
      </p:sp>
      <p:pic>
        <p:nvPicPr>
          <p:cNvPr id="3" name="fl" descr="/home/user/sanat-ve-mekan/konferans-bildirisi/03-gorseller/10-alev-testi.png">    </p:cNvPr>
          <p:cNvPicPr>
            <a:picLocks noChangeAspect="1"/>
          </p:cNvPicPr>
          <p:nvPr/>
        </p:nvPicPr>
        <p:blipFill>
          <a:blip r:embed="rId1"/>
          <a:stretch>
            <a:fillRect/>
          </a:stretch>
        </p:blipFill>
        <p:spPr>
          <a:xfrm>
            <a:off x="731520" y="1371600"/>
            <a:ext cx="2011680" cy="4361688"/>
          </a:xfrm>
          <a:prstGeom prst="rect">
            <a:avLst/>
          </a:prstGeom>
        </p:spPr>
      </p:pic>
      <p:sp>
        <p:nvSpPr>
          <p:cNvPr id="4" name="Text 1"/>
          <p:cNvSpPr txBox="1"/>
          <p:nvPr/>
        </p:nvSpPr>
        <p:spPr>
          <a:xfrm>
            <a:off x="3200400" y="1325880"/>
            <a:ext cx="301752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Ignitability</a:t>
            </a:r>
            <a:endParaRPr lang="en-US" sz="1300" dirty="0"/>
          </a:p>
        </p:txBody>
      </p:sp>
      <p:sp>
        <p:nvSpPr>
          <p:cNvPr id="5" name="Text 2"/>
          <p:cNvSpPr txBox="1"/>
          <p:nvPr/>
        </p:nvSpPr>
        <p:spPr>
          <a:xfrm>
            <a:off x="3200400" y="1737360"/>
            <a:ext cx="301752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 10 s</a:t>
            </a:r>
            <a:endParaRPr lang="en-US" sz="3200" dirty="0"/>
          </a:p>
        </p:txBody>
      </p:sp>
      <p:sp>
        <p:nvSpPr>
          <p:cNvPr id="6" name="Text 3"/>
          <p:cNvSpPr txBox="1"/>
          <p:nvPr/>
        </p:nvSpPr>
        <p:spPr>
          <a:xfrm>
            <a:off x="3200400" y="2383536"/>
            <a:ext cx="301752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to ignition under direct flame</a:t>
            </a:r>
            <a:endParaRPr lang="en-US" sz="950" dirty="0"/>
          </a:p>
        </p:txBody>
      </p:sp>
      <p:sp>
        <p:nvSpPr>
          <p:cNvPr id="7" name="Text 4"/>
          <p:cNvSpPr txBox="1"/>
          <p:nvPr/>
        </p:nvSpPr>
        <p:spPr>
          <a:xfrm>
            <a:off x="3200400" y="2834640"/>
            <a:ext cx="301752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4 s</a:t>
            </a:r>
            <a:endParaRPr lang="en-US" sz="3200" dirty="0"/>
          </a:p>
        </p:txBody>
      </p:sp>
      <p:sp>
        <p:nvSpPr>
          <p:cNvPr id="8" name="Text 5"/>
          <p:cNvSpPr txBox="1"/>
          <p:nvPr/>
        </p:nvSpPr>
        <p:spPr>
          <a:xfrm>
            <a:off x="3200400" y="3480816"/>
            <a:ext cx="301752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to self-extinguish after flame removal</a:t>
            </a:r>
            <a:endParaRPr lang="en-US" sz="950" dirty="0"/>
          </a:p>
        </p:txBody>
      </p:sp>
      <p:sp>
        <p:nvSpPr>
          <p:cNvPr id="9" name="Text 6"/>
          <p:cNvSpPr txBox="1"/>
          <p:nvPr/>
        </p:nvSpPr>
        <p:spPr>
          <a:xfrm>
            <a:off x="3200400" y="3931920"/>
            <a:ext cx="3017520" cy="1188720"/>
          </a:xfrm>
          <a:prstGeom prst="rect">
            <a:avLst/>
          </a:prstGeom>
          <a:noFill/>
          <a:ln/>
        </p:spPr>
        <p:txBody>
          <a:bodyPr wrap="square" lIns="0" tIns="0" rIns="0" bIns="0" rtlCol="0" anchor="t"/>
          <a:lstStyle/>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Charring remains local</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No lateral flame spread</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No melting and no dripping</a:t>
            </a:r>
            <a:endParaRPr lang="en-US" sz="1150" dirty="0"/>
          </a:p>
        </p:txBody>
      </p:sp>
      <p:sp>
        <p:nvSpPr>
          <p:cNvPr id="10" name="Text 7"/>
          <p:cNvSpPr txBox="1"/>
          <p:nvPr/>
        </p:nvSpPr>
        <p:spPr>
          <a:xfrm>
            <a:off x="3200400" y="5257800"/>
            <a:ext cx="3017520" cy="82296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It is an ignitability test, and there is no Euroclass classification behind it.</a:t>
            </a:r>
            <a:endParaRPr lang="en-US" sz="1200" dirty="0"/>
          </a:p>
        </p:txBody>
      </p:sp>
      <p:sp>
        <p:nvSpPr>
          <p:cNvPr id="11" name="Text 8"/>
          <p:cNvSpPr txBox="1"/>
          <p:nvPr/>
        </p:nvSpPr>
        <p:spPr>
          <a:xfrm>
            <a:off x="3200400" y="6080760"/>
            <a:ext cx="30175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ISO 11925-2:2020. No cone calorimetry, smoke or toxicity data.</a:t>
            </a:r>
            <a:endParaRPr lang="en-US" sz="900" dirty="0"/>
          </a:p>
        </p:txBody>
      </p:sp>
      <p:sp>
        <p:nvSpPr>
          <p:cNvPr id="12" name="vr7.31.45"/>
          <p:cNvSpPr/>
          <p:nvPr/>
        </p:nvSpPr>
        <p:spPr>
          <a:xfrm>
            <a:off x="6675120" y="1325880"/>
            <a:ext cx="13716" cy="4480560"/>
          </a:xfrm>
          <a:prstGeom prst="rect">
            <a:avLst/>
          </a:prstGeom>
          <a:solidFill>
            <a:srgbClr val="E4E4E4"/>
          </a:solidFill>
          <a:ln w="12700">
            <a:solidFill>
              <a:srgbClr val="E4E4E4">
                <a:alpha val="0"/>
              </a:srgbClr>
            </a:solidFill>
            <a:prstDash val="solid"/>
          </a:ln>
        </p:spPr>
      </p:sp>
      <p:sp>
        <p:nvSpPr>
          <p:cNvPr id="13" name="Text 10"/>
          <p:cNvSpPr txBox="1"/>
          <p:nvPr/>
        </p:nvSpPr>
        <p:spPr>
          <a:xfrm>
            <a:off x="7132320" y="1325880"/>
            <a:ext cx="42976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Water absorption, 24 h immersion</a:t>
            </a:r>
            <a:endParaRPr lang="en-US" sz="1300" dirty="0"/>
          </a:p>
        </p:txBody>
      </p:sp>
      <p:sp>
        <p:nvSpPr>
          <p:cNvPr id="14" name="Text 11"/>
          <p:cNvSpPr txBox="1"/>
          <p:nvPr/>
        </p:nvSpPr>
        <p:spPr>
          <a:xfrm>
            <a:off x="7132320" y="1691640"/>
            <a:ext cx="1645920" cy="54864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0.7%</a:t>
            </a:r>
            <a:endParaRPr lang="en-US" sz="3200" dirty="0"/>
          </a:p>
        </p:txBody>
      </p:sp>
      <p:sp>
        <p:nvSpPr>
          <p:cNvPr id="15" name="Text 12"/>
          <p:cNvSpPr txBox="1"/>
          <p:nvPr/>
        </p:nvSpPr>
        <p:spPr>
          <a:xfrm>
            <a:off x="8869680" y="1783080"/>
            <a:ext cx="2560320" cy="118872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mass gain. It is the coating that limits humid service rather than the composite itself.</a:t>
            </a:r>
            <a:endParaRPr lang="en-US" sz="1150" dirty="0"/>
          </a:p>
        </p:txBody>
      </p:sp>
      <p:sp>
        <p:nvSpPr>
          <p:cNvPr id="16" name="ru7.83.2"/>
          <p:cNvSpPr/>
          <p:nvPr/>
        </p:nvSpPr>
        <p:spPr>
          <a:xfrm>
            <a:off x="7132320" y="2926080"/>
            <a:ext cx="4297680" cy="9144"/>
          </a:xfrm>
          <a:prstGeom prst="rect">
            <a:avLst/>
          </a:prstGeom>
          <a:solidFill>
            <a:srgbClr val="E4E4E4"/>
          </a:solidFill>
          <a:ln w="12700">
            <a:solidFill>
              <a:srgbClr val="E4E4E4">
                <a:alpha val="0"/>
              </a:srgbClr>
            </a:solidFill>
            <a:prstDash val="solid"/>
          </a:ln>
        </p:spPr>
      </p:sp>
      <p:sp>
        <p:nvSpPr>
          <p:cNvPr id="17" name="Text 14"/>
          <p:cNvSpPr txBox="1"/>
          <p:nvPr/>
        </p:nvSpPr>
        <p:spPr>
          <a:xfrm>
            <a:off x="7132320" y="3108960"/>
            <a:ext cx="42976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Bulk density</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132320" y="3474720"/>
          <a:ext cx="4297680" cy="914400"/>
        </p:xfrm>
        <a:graphic>
          <a:graphicData uri="http://schemas.openxmlformats.org/drawingml/2006/table">
            <a:tbl>
              <a:tblPr/>
              <a:tblGrid>
                <a:gridCol w="1783080"/>
                <a:gridCol w="914400"/>
                <a:gridCol w="160020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Material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g/cm³</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This study (C3)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1.38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Mycelium, cellulose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 – 0.8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Jones et al. (2020)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Fired clay brick</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1.6 – 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William &amp; Owen (1995)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19" name="Text 15"/>
          <p:cNvSpPr txBox="1"/>
          <p:nvPr/>
        </p:nvSpPr>
        <p:spPr>
          <a:xfrm>
            <a:off x="7132320" y="5440680"/>
            <a:ext cx="42976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Mould-volume basis, therefore a lower bound.</a:t>
            </a:r>
            <a:endParaRPr lang="en-US" sz="900" dirty="0"/>
          </a:p>
        </p:txBody>
      </p:sp>
      <p:sp>
        <p:nvSpPr>
          <p:cNvPr id="2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Conventional materials</a:t>
            </a:r>
            <a:endParaRPr lang="en-US" sz="2000" dirty="0"/>
          </a:p>
        </p:txBody>
      </p:sp>
      <p:sp>
        <p:nvSpPr>
          <p:cNvPr id="3" name="Text 1"/>
          <p:cNvSpPr txBox="1"/>
          <p:nvPr/>
        </p:nvSpPr>
        <p:spPr>
          <a:xfrm>
            <a:off x="731520" y="1298448"/>
            <a:ext cx="758952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Compressive and flexural strength against interior surface materials</a:t>
            </a:r>
            <a:endParaRPr lang="en-US" sz="1300" dirty="0"/>
          </a:p>
        </p:txBody>
      </p:sp>
      <p:graphicFrame>
        <p:nvGraphicFramePr>
          <p:cNvPr id="4" name="bc1" descr=""/>
          <p:cNvGraphicFramePr/>
          <p:nvPr/>
        </p:nvGraphicFramePr>
        <p:xfrm>
          <a:off x="731520" y="1645920"/>
          <a:ext cx="758952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31520" y="5943600"/>
            <a:ext cx="75895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Velasco &amp; Gaona (2011) · Klyosov (2007) · Nemli &amp; Aydın (2007) · Altun (2006)</a:t>
            </a:r>
            <a:endParaRPr lang="en-US" sz="900" dirty="0"/>
          </a:p>
        </p:txBody>
      </p:sp>
      <p:sp>
        <p:nvSpPr>
          <p:cNvPr id="6" name="vr9.51.45"/>
          <p:cNvSpPr/>
          <p:nvPr/>
        </p:nvSpPr>
        <p:spPr>
          <a:xfrm>
            <a:off x="8686800" y="1325880"/>
            <a:ext cx="13716" cy="4572000"/>
          </a:xfrm>
          <a:prstGeom prst="rect">
            <a:avLst/>
          </a:prstGeom>
          <a:solidFill>
            <a:srgbClr val="E4E4E4"/>
          </a:solidFill>
          <a:ln w="12700">
            <a:solidFill>
              <a:srgbClr val="E4E4E4">
                <a:alpha val="0"/>
              </a:srgbClr>
            </a:solidFill>
            <a:prstDash val="solid"/>
          </a:ln>
        </p:spPr>
      </p:sp>
      <p:sp>
        <p:nvSpPr>
          <p:cNvPr id="7" name="Text 4"/>
          <p:cNvSpPr txBox="1"/>
          <p:nvPr/>
        </p:nvSpPr>
        <p:spPr>
          <a:xfrm>
            <a:off x="9144000" y="1371600"/>
            <a:ext cx="2286000" cy="182880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On strength alone this composite is not competitive with engineered wood or stone.</a:t>
            </a:r>
            <a:endParaRPr lang="en-US" sz="1200" dirty="0"/>
          </a:p>
        </p:txBody>
      </p:sp>
      <p:sp>
        <p:nvSpPr>
          <p:cNvPr id="8" name="ru103.6"/>
          <p:cNvSpPr/>
          <p:nvPr/>
        </p:nvSpPr>
        <p:spPr>
          <a:xfrm>
            <a:off x="9144000" y="3291840"/>
            <a:ext cx="2286000" cy="9144"/>
          </a:xfrm>
          <a:prstGeom prst="rect">
            <a:avLst/>
          </a:prstGeom>
          <a:solidFill>
            <a:srgbClr val="E4E4E4"/>
          </a:solidFill>
          <a:ln w="12700">
            <a:solidFill>
              <a:srgbClr val="E4E4E4">
                <a:alpha val="0"/>
              </a:srgbClr>
            </a:solidFill>
            <a:prstDash val="solid"/>
          </a:ln>
        </p:spPr>
      </p:sp>
      <p:sp>
        <p:nvSpPr>
          <p:cNvPr id="9" name="Text 6"/>
          <p:cNvSpPr txBox="1"/>
          <p:nvPr/>
        </p:nvSpPr>
        <p:spPr>
          <a:xfrm>
            <a:off x="9144000" y="3566160"/>
            <a:ext cx="2286000" cy="164592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It has one sixth the compressive strength of MDF and one twentieth that of travertine.</a:t>
            </a:r>
            <a:endParaRPr lang="en-US" sz="1200" dirty="0"/>
          </a:p>
        </p:txBody>
      </p:sp>
      <p:sp>
        <p:nvSpPr>
          <p:cNvPr id="1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Bio-based composites</a:t>
            </a:r>
            <a:endParaRPr lang="en-US" sz="2000" dirty="0"/>
          </a:p>
        </p:txBody>
      </p:sp>
      <p:sp>
        <p:nvSpPr>
          <p:cNvPr id="3" name="Text 1"/>
          <p:cNvSpPr txBox="1"/>
          <p:nvPr/>
        </p:nvSpPr>
        <p:spPr>
          <a:xfrm>
            <a:off x="731520" y="1298448"/>
            <a:ext cx="51206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Compressive strength</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5120640" cy="914400"/>
        </p:xfrm>
        <a:graphic>
          <a:graphicData uri="http://schemas.openxmlformats.org/drawingml/2006/table">
            <a:tbl>
              <a:tblPr/>
              <a:tblGrid>
                <a:gridCol w="2377440"/>
                <a:gridCol w="1371600"/>
                <a:gridCol w="137160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Material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σᴄ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This study (C3)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4.1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Mycelium 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0.145 – 0.452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Jones et al. (2020)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Hempcrete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 – 0.6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Arnaud &amp; Gourlay (2012)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Eggshell-filled PLA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 – 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Kim &amp; Pal (2010)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Mineral-filled biocomposite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2.1 – 39.6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Shah et al. (2016)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0" y="1298448"/>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Elastic modulus, MPa, logarithmic</a:t>
            </a:r>
            <a:endParaRPr lang="en-US" sz="1300" dirty="0"/>
          </a:p>
        </p:txBody>
      </p:sp>
      <p:sp>
        <p:nvSpPr>
          <p:cNvPr id="6" name="vr6.51.42"/>
          <p:cNvSpPr/>
          <p:nvPr/>
        </p:nvSpPr>
        <p:spPr>
          <a:xfrm>
            <a:off x="5943600" y="1298448"/>
            <a:ext cx="13716" cy="2286000"/>
          </a:xfrm>
          <a:prstGeom prst="rect">
            <a:avLst/>
          </a:prstGeom>
          <a:solidFill>
            <a:srgbClr val="E4E4E4"/>
          </a:solidFill>
          <a:ln w="12700">
            <a:solidFill>
              <a:srgbClr val="E4E4E4">
                <a:alpha val="0"/>
              </a:srgbClr>
            </a:solidFill>
            <a:prstDash val="solid"/>
          </a:ln>
        </p:spPr>
      </p:sp>
      <p:sp>
        <p:nvSpPr>
          <p:cNvPr id="7" name="lax"/>
          <p:cNvSpPr/>
          <p:nvPr/>
        </p:nvSpPr>
        <p:spPr>
          <a:xfrm>
            <a:off x="6675120" y="2743200"/>
            <a:ext cx="4462272" cy="18288"/>
          </a:xfrm>
          <a:prstGeom prst="rect">
            <a:avLst/>
          </a:prstGeom>
          <a:solidFill>
            <a:srgbClr val="141414"/>
          </a:solidFill>
          <a:ln w="12700">
            <a:solidFill>
              <a:srgbClr val="141414">
                <a:alpha val="0"/>
              </a:srgbClr>
            </a:solidFill>
            <a:prstDash val="solid"/>
          </a:ln>
        </p:spPr>
      </p:sp>
      <p:sp>
        <p:nvSpPr>
          <p:cNvPr id="8" name="lt1"/>
          <p:cNvSpPr/>
          <p:nvPr/>
        </p:nvSpPr>
        <p:spPr>
          <a:xfrm>
            <a:off x="6675120" y="2743200"/>
            <a:ext cx="13716" cy="128016"/>
          </a:xfrm>
          <a:prstGeom prst="rect">
            <a:avLst/>
          </a:prstGeom>
          <a:solidFill>
            <a:srgbClr val="BDBDBD"/>
          </a:solidFill>
          <a:ln w="12700">
            <a:solidFill>
              <a:srgbClr val="BDBDBD">
                <a:alpha val="0"/>
              </a:srgbClr>
            </a:solidFill>
            <a:prstDash val="solid"/>
          </a:ln>
        </p:spPr>
      </p:sp>
      <p:sp>
        <p:nvSpPr>
          <p:cNvPr id="9" name="Text 6"/>
          <p:cNvSpPr txBox="1"/>
          <p:nvPr/>
        </p:nvSpPr>
        <p:spPr>
          <a:xfrm>
            <a:off x="6263640" y="2889504"/>
            <a:ext cx="822960" cy="201168"/>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1</a:t>
            </a:r>
            <a:endParaRPr lang="en-US" sz="950" dirty="0"/>
          </a:p>
        </p:txBody>
      </p:sp>
      <p:sp>
        <p:nvSpPr>
          <p:cNvPr id="10" name="lt10"/>
          <p:cNvSpPr/>
          <p:nvPr/>
        </p:nvSpPr>
        <p:spPr>
          <a:xfrm>
            <a:off x="7790688" y="2743200"/>
            <a:ext cx="13716" cy="128016"/>
          </a:xfrm>
          <a:prstGeom prst="rect">
            <a:avLst/>
          </a:prstGeom>
          <a:solidFill>
            <a:srgbClr val="BDBDBD"/>
          </a:solidFill>
          <a:ln w="12700">
            <a:solidFill>
              <a:srgbClr val="BDBDBD">
                <a:alpha val="0"/>
              </a:srgbClr>
            </a:solidFill>
            <a:prstDash val="solid"/>
          </a:ln>
        </p:spPr>
      </p:sp>
      <p:sp>
        <p:nvSpPr>
          <p:cNvPr id="11" name="Text 8"/>
          <p:cNvSpPr txBox="1"/>
          <p:nvPr/>
        </p:nvSpPr>
        <p:spPr>
          <a:xfrm>
            <a:off x="7379208" y="2889504"/>
            <a:ext cx="822960" cy="201168"/>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10</a:t>
            </a:r>
            <a:endParaRPr lang="en-US" sz="950" dirty="0"/>
          </a:p>
        </p:txBody>
      </p:sp>
      <p:sp>
        <p:nvSpPr>
          <p:cNvPr id="12" name="lt100"/>
          <p:cNvSpPr/>
          <p:nvPr/>
        </p:nvSpPr>
        <p:spPr>
          <a:xfrm>
            <a:off x="8906256" y="2743200"/>
            <a:ext cx="13716" cy="128016"/>
          </a:xfrm>
          <a:prstGeom prst="rect">
            <a:avLst/>
          </a:prstGeom>
          <a:solidFill>
            <a:srgbClr val="BDBDBD"/>
          </a:solidFill>
          <a:ln w="12700">
            <a:solidFill>
              <a:srgbClr val="BDBDBD">
                <a:alpha val="0"/>
              </a:srgbClr>
            </a:solidFill>
            <a:prstDash val="solid"/>
          </a:ln>
        </p:spPr>
      </p:sp>
      <p:sp>
        <p:nvSpPr>
          <p:cNvPr id="13" name="Text 10"/>
          <p:cNvSpPr txBox="1"/>
          <p:nvPr/>
        </p:nvSpPr>
        <p:spPr>
          <a:xfrm>
            <a:off x="8494776" y="2889504"/>
            <a:ext cx="822960" cy="201168"/>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100</a:t>
            </a:r>
            <a:endParaRPr lang="en-US" sz="950" dirty="0"/>
          </a:p>
        </p:txBody>
      </p:sp>
      <p:sp>
        <p:nvSpPr>
          <p:cNvPr id="14" name="lt1000"/>
          <p:cNvSpPr/>
          <p:nvPr/>
        </p:nvSpPr>
        <p:spPr>
          <a:xfrm>
            <a:off x="10021824" y="2743200"/>
            <a:ext cx="13716" cy="128016"/>
          </a:xfrm>
          <a:prstGeom prst="rect">
            <a:avLst/>
          </a:prstGeom>
          <a:solidFill>
            <a:srgbClr val="BDBDBD"/>
          </a:solidFill>
          <a:ln w="12700">
            <a:solidFill>
              <a:srgbClr val="BDBDBD">
                <a:alpha val="0"/>
              </a:srgbClr>
            </a:solidFill>
            <a:prstDash val="solid"/>
          </a:ln>
        </p:spPr>
      </p:sp>
      <p:sp>
        <p:nvSpPr>
          <p:cNvPr id="15" name="Text 12"/>
          <p:cNvSpPr txBox="1"/>
          <p:nvPr/>
        </p:nvSpPr>
        <p:spPr>
          <a:xfrm>
            <a:off x="9610344" y="2889504"/>
            <a:ext cx="822960" cy="201168"/>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1,000</a:t>
            </a:r>
            <a:endParaRPr lang="en-US" sz="950" dirty="0"/>
          </a:p>
        </p:txBody>
      </p:sp>
      <p:sp>
        <p:nvSpPr>
          <p:cNvPr id="16" name="lt10000"/>
          <p:cNvSpPr/>
          <p:nvPr/>
        </p:nvSpPr>
        <p:spPr>
          <a:xfrm>
            <a:off x="11137392" y="2743200"/>
            <a:ext cx="13716" cy="128016"/>
          </a:xfrm>
          <a:prstGeom prst="rect">
            <a:avLst/>
          </a:prstGeom>
          <a:solidFill>
            <a:srgbClr val="BDBDBD"/>
          </a:solidFill>
          <a:ln w="12700">
            <a:solidFill>
              <a:srgbClr val="BDBDBD">
                <a:alpha val="0"/>
              </a:srgbClr>
            </a:solidFill>
            <a:prstDash val="solid"/>
          </a:ln>
        </p:spPr>
      </p:sp>
      <p:sp>
        <p:nvSpPr>
          <p:cNvPr id="17" name="Text 14"/>
          <p:cNvSpPr txBox="1"/>
          <p:nvPr/>
        </p:nvSpPr>
        <p:spPr>
          <a:xfrm>
            <a:off x="10725912" y="2889504"/>
            <a:ext cx="822960" cy="201168"/>
          </a:xfrm>
          <a:prstGeom prst="rect">
            <a:avLst/>
          </a:prstGeom>
          <a:noFill/>
          <a:ln/>
        </p:spPr>
        <p:txBody>
          <a:bodyPr wrap="square" lIns="0" tIns="0" rIns="0" bIns="0" rtlCol="0" anchor="ctr"/>
          <a:lstStyle/>
          <a:p>
            <a:pPr algn="ctr" indent="0" marL="0">
              <a:buNone/>
            </a:pPr>
            <a:r>
              <a:rPr lang="en-US" sz="950" dirty="0">
                <a:solidFill>
                  <a:srgbClr val="8C8C8C"/>
                </a:solidFill>
                <a:latin typeface="Calibri" pitchFamily="34" charset="0"/>
                <a:ea typeface="Calibri" pitchFamily="34" charset="-122"/>
                <a:cs typeface="Calibri" pitchFamily="34" charset="-120"/>
              </a:rPr>
              <a:t>10,000</a:t>
            </a:r>
            <a:endParaRPr lang="en-US" sz="950" dirty="0"/>
          </a:p>
        </p:txBody>
      </p:sp>
      <p:sp>
        <p:nvSpPr>
          <p:cNvPr id="18" name="lr0"/>
          <p:cNvSpPr/>
          <p:nvPr/>
        </p:nvSpPr>
        <p:spPr>
          <a:xfrm>
            <a:off x="6959894" y="2450592"/>
            <a:ext cx="494975" cy="91440"/>
          </a:xfrm>
          <a:prstGeom prst="rect">
            <a:avLst/>
          </a:prstGeom>
          <a:solidFill>
            <a:srgbClr val="8C8C8C">
              <a:alpha val="55000"/>
            </a:srgbClr>
          </a:solidFill>
          <a:ln w="12700">
            <a:solidFill>
              <a:srgbClr val="8C8C8C">
                <a:alpha val="0"/>
              </a:srgbClr>
            </a:solidFill>
            <a:prstDash val="solid"/>
          </a:ln>
        </p:spPr>
      </p:sp>
      <p:sp>
        <p:nvSpPr>
          <p:cNvPr id="19" name="Text 16"/>
          <p:cNvSpPr txBox="1"/>
          <p:nvPr/>
        </p:nvSpPr>
        <p:spPr>
          <a:xfrm>
            <a:off x="7546309" y="2386584"/>
            <a:ext cx="1188720" cy="219456"/>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Mycelium</a:t>
            </a:r>
            <a:endParaRPr lang="en-US" sz="950" dirty="0"/>
          </a:p>
        </p:txBody>
      </p:sp>
      <p:sp>
        <p:nvSpPr>
          <p:cNvPr id="20" name="lr1"/>
          <p:cNvSpPr/>
          <p:nvPr/>
        </p:nvSpPr>
        <p:spPr>
          <a:xfrm>
            <a:off x="8906256" y="2194560"/>
            <a:ext cx="532261" cy="91440"/>
          </a:xfrm>
          <a:prstGeom prst="rect">
            <a:avLst/>
          </a:prstGeom>
          <a:solidFill>
            <a:srgbClr val="8C8C8C">
              <a:alpha val="55000"/>
            </a:srgbClr>
          </a:solidFill>
          <a:ln w="12700">
            <a:solidFill>
              <a:srgbClr val="8C8C8C">
                <a:alpha val="0"/>
              </a:srgbClr>
            </a:solidFill>
            <a:prstDash val="solid"/>
          </a:ln>
        </p:spPr>
      </p:sp>
      <p:sp>
        <p:nvSpPr>
          <p:cNvPr id="21" name="Text 18"/>
          <p:cNvSpPr txBox="1"/>
          <p:nvPr/>
        </p:nvSpPr>
        <p:spPr>
          <a:xfrm>
            <a:off x="9529957" y="2130552"/>
            <a:ext cx="1188720" cy="219456"/>
          </a:xfrm>
          <a:prstGeom prst="rect">
            <a:avLst/>
          </a:prstGeom>
          <a:noFill/>
          <a:ln/>
        </p:spPr>
        <p:txBody>
          <a:bodyPr wrap="square" lIns="0" tIns="0" rIns="0" bIns="0" rtlCol="0" anchor="ctr"/>
          <a:lstStyle/>
          <a:p>
            <a:pPr indent="0" marL="0">
              <a:buNone/>
            </a:pPr>
            <a:r>
              <a:rPr lang="en-US" sz="950" dirty="0">
                <a:solidFill>
                  <a:srgbClr val="8C8C8C"/>
                </a:solidFill>
                <a:latin typeface="Calibri" pitchFamily="34" charset="0"/>
                <a:ea typeface="Calibri" pitchFamily="34" charset="-122"/>
                <a:cs typeface="Calibri" pitchFamily="34" charset="-120"/>
              </a:rPr>
              <a:t>LDPE</a:t>
            </a:r>
            <a:endParaRPr lang="en-US" sz="950" dirty="0"/>
          </a:p>
        </p:txBody>
      </p:sp>
      <p:sp>
        <p:nvSpPr>
          <p:cNvPr id="22" name="lp0"/>
          <p:cNvSpPr/>
          <p:nvPr/>
        </p:nvSpPr>
        <p:spPr>
          <a:xfrm>
            <a:off x="8960182" y="2692908"/>
            <a:ext cx="100584" cy="100584"/>
          </a:xfrm>
          <a:prstGeom prst="ellipse">
            <a:avLst/>
          </a:prstGeom>
          <a:solidFill>
            <a:srgbClr val="8C8C8C"/>
          </a:solidFill>
          <a:ln w="12700">
            <a:solidFill>
              <a:srgbClr val="8C8C8C">
                <a:alpha val="0"/>
              </a:srgbClr>
            </a:solidFill>
            <a:prstDash val="solid"/>
          </a:ln>
        </p:spPr>
      </p:sp>
      <p:sp>
        <p:nvSpPr>
          <p:cNvPr id="23" name="lp1"/>
          <p:cNvSpPr/>
          <p:nvPr/>
        </p:nvSpPr>
        <p:spPr>
          <a:xfrm>
            <a:off x="9186914" y="2692908"/>
            <a:ext cx="100584" cy="100584"/>
          </a:xfrm>
          <a:prstGeom prst="ellipse">
            <a:avLst/>
          </a:prstGeom>
          <a:solidFill>
            <a:srgbClr val="8C8C8C"/>
          </a:solidFill>
          <a:ln w="12700">
            <a:solidFill>
              <a:srgbClr val="8C8C8C">
                <a:alpha val="0"/>
              </a:srgbClr>
            </a:solidFill>
            <a:prstDash val="solid"/>
          </a:ln>
        </p:spPr>
      </p:sp>
      <p:sp>
        <p:nvSpPr>
          <p:cNvPr id="24" name="lp2"/>
          <p:cNvSpPr/>
          <p:nvPr/>
        </p:nvSpPr>
        <p:spPr>
          <a:xfrm>
            <a:off x="11133276" y="2692908"/>
            <a:ext cx="100584" cy="100584"/>
          </a:xfrm>
          <a:prstGeom prst="ellipse">
            <a:avLst/>
          </a:prstGeom>
          <a:solidFill>
            <a:srgbClr val="8C8C8C"/>
          </a:solidFill>
          <a:ln w="12700">
            <a:solidFill>
              <a:srgbClr val="8C8C8C">
                <a:alpha val="0"/>
              </a:srgbClr>
            </a:solidFill>
            <a:prstDash val="solid"/>
          </a:ln>
        </p:spPr>
      </p:sp>
      <p:sp>
        <p:nvSpPr>
          <p:cNvPr id="25" name="Text 22"/>
          <p:cNvSpPr txBox="1"/>
          <p:nvPr/>
        </p:nvSpPr>
        <p:spPr>
          <a:xfrm>
            <a:off x="9811968" y="3127248"/>
            <a:ext cx="1280160" cy="219456"/>
          </a:xfrm>
          <a:prstGeom prst="rect">
            <a:avLst/>
          </a:prstGeom>
          <a:noFill/>
          <a:ln/>
        </p:spPr>
        <p:txBody>
          <a:bodyPr wrap="square" lIns="0" tIns="0" rIns="0" bIns="0" rtlCol="0" anchor="ctr"/>
          <a:lstStyle/>
          <a:p>
            <a:pPr algn="r" indent="0" marL="0">
              <a:buNone/>
            </a:pPr>
            <a:r>
              <a:rPr lang="en-US" sz="950" dirty="0">
                <a:solidFill>
                  <a:srgbClr val="8C8C8C"/>
                </a:solidFill>
                <a:latin typeface="Calibri" pitchFamily="34" charset="0"/>
                <a:ea typeface="Calibri" pitchFamily="34" charset="-122"/>
                <a:cs typeface="Calibri" pitchFamily="34" charset="-120"/>
              </a:rPr>
              <a:t>Pine</a:t>
            </a:r>
            <a:endParaRPr lang="en-US" sz="950" dirty="0"/>
          </a:p>
        </p:txBody>
      </p:sp>
      <p:sp>
        <p:nvSpPr>
          <p:cNvPr id="26" name="lme"/>
          <p:cNvSpPr/>
          <p:nvPr/>
        </p:nvSpPr>
        <p:spPr>
          <a:xfrm>
            <a:off x="9140002" y="2660904"/>
            <a:ext cx="164592" cy="164592"/>
          </a:xfrm>
          <a:prstGeom prst="ellipse">
            <a:avLst/>
          </a:prstGeom>
          <a:solidFill>
            <a:srgbClr val="B4513A"/>
          </a:solidFill>
          <a:ln w="12700">
            <a:solidFill>
              <a:srgbClr val="B4513A">
                <a:alpha val="0"/>
              </a:srgbClr>
            </a:solidFill>
            <a:prstDash val="solid"/>
          </a:ln>
        </p:spPr>
      </p:sp>
      <p:sp>
        <p:nvSpPr>
          <p:cNvPr id="27" name="lml"/>
          <p:cNvSpPr/>
          <p:nvPr/>
        </p:nvSpPr>
        <p:spPr>
          <a:xfrm>
            <a:off x="9214983" y="2176272"/>
            <a:ext cx="14630" cy="484632"/>
          </a:xfrm>
          <a:prstGeom prst="rect">
            <a:avLst/>
          </a:prstGeom>
          <a:solidFill>
            <a:srgbClr val="B4513A"/>
          </a:solidFill>
          <a:ln w="12700">
            <a:solidFill>
              <a:srgbClr val="B4513A">
                <a:alpha val="0"/>
              </a:srgbClr>
            </a:solidFill>
            <a:prstDash val="solid"/>
          </a:ln>
        </p:spPr>
      </p:sp>
      <p:sp>
        <p:nvSpPr>
          <p:cNvPr id="28" name="Text 25"/>
          <p:cNvSpPr txBox="1"/>
          <p:nvPr/>
        </p:nvSpPr>
        <p:spPr>
          <a:xfrm>
            <a:off x="8262178" y="1920240"/>
            <a:ext cx="1920240" cy="237744"/>
          </a:xfrm>
          <a:prstGeom prst="rect">
            <a:avLst/>
          </a:prstGeom>
          <a:noFill/>
          <a:ln/>
        </p:spPr>
        <p:txBody>
          <a:bodyPr wrap="square" lIns="0" tIns="0" rIns="0" bIns="0" rtlCol="0" anchor="ctr"/>
          <a:lstStyle/>
          <a:p>
            <a:pPr algn="ctr" indent="0" marL="0">
              <a:buNone/>
            </a:pPr>
            <a:r>
              <a:rPr lang="en-US" sz="1100" b="1" dirty="0">
                <a:solidFill>
                  <a:srgbClr val="B4513A"/>
                </a:solidFill>
                <a:latin typeface="Calibri" pitchFamily="34" charset="0"/>
                <a:ea typeface="Calibri" pitchFamily="34" charset="-122"/>
                <a:cs typeface="Calibri" pitchFamily="34" charset="-120"/>
              </a:rPr>
              <a:t>This study  192</a:t>
            </a:r>
            <a:endParaRPr lang="en-US" sz="1100" dirty="0"/>
          </a:p>
        </p:txBody>
      </p:sp>
      <p:sp>
        <p:nvSpPr>
          <p:cNvPr id="29" name="Text 26"/>
          <p:cNvSpPr txBox="1"/>
          <p:nvPr/>
        </p:nvSpPr>
        <p:spPr>
          <a:xfrm>
            <a:off x="6400800" y="3657600"/>
            <a:ext cx="502920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Unlabelled points: soy-based bioplastic 124, flax-fibre PLA 198, pine 11 000.</a:t>
            </a:r>
            <a:endParaRPr lang="en-US" sz="900" dirty="0"/>
          </a:p>
        </p:txBody>
      </p:sp>
      <p:sp>
        <p:nvSpPr>
          <p:cNvPr id="30" name="ru0.84.6"/>
          <p:cNvSpPr/>
          <p:nvPr/>
        </p:nvSpPr>
        <p:spPr>
          <a:xfrm>
            <a:off x="731520" y="4206240"/>
            <a:ext cx="10698480" cy="9144"/>
          </a:xfrm>
          <a:prstGeom prst="rect">
            <a:avLst/>
          </a:prstGeom>
          <a:solidFill>
            <a:srgbClr val="E4E4E4"/>
          </a:solidFill>
          <a:ln w="12700">
            <a:solidFill>
              <a:srgbClr val="E4E4E4">
                <a:alpha val="0"/>
              </a:srgbClr>
            </a:solidFill>
            <a:prstDash val="solid"/>
          </a:ln>
        </p:spPr>
      </p:sp>
      <p:sp>
        <p:nvSpPr>
          <p:cNvPr id="31" name="Text 28"/>
          <p:cNvSpPr txBox="1"/>
          <p:nvPr/>
        </p:nvSpPr>
        <p:spPr>
          <a:xfrm>
            <a:off x="731520" y="4434840"/>
            <a:ext cx="10698480" cy="457200"/>
          </a:xfrm>
          <a:prstGeom prst="rect">
            <a:avLst/>
          </a:prstGeom>
          <a:noFill/>
          <a:ln/>
        </p:spPr>
        <p:txBody>
          <a:bodyPr wrap="square" lIns="0" tIns="0" rIns="0" bIns="0" rtlCol="0" anchor="t"/>
          <a:lstStyle/>
          <a:p>
            <a:pPr indent="0" marL="0">
              <a:lnSpc>
                <a:spcPts val="1800"/>
              </a:lnSpc>
              <a:buNone/>
            </a:pPr>
            <a:r>
              <a:rPr lang="en-US" sz="1200" b="1" dirty="0">
                <a:solidFill>
                  <a:srgbClr val="141414"/>
                </a:solidFill>
                <a:latin typeface="Calibri" pitchFamily="34" charset="0"/>
                <a:ea typeface="Calibri" pitchFamily="34" charset="-122"/>
                <a:cs typeface="Calibri" pitchFamily="34" charset="-120"/>
              </a:rPr>
              <a:t>It was cast from water and dried at room temperature, with no oven, no autoclave and no extruder, and it still reaches the stiffness of melt-processed bio-polymers.</a:t>
            </a:r>
            <a:endParaRPr lang="en-US" sz="1200" dirty="0"/>
          </a:p>
        </p:txBody>
      </p:sp>
      <p:sp>
        <p:nvSpPr>
          <p:cNvPr id="32" name="Text 29"/>
          <p:cNvSpPr txBox="1"/>
          <p:nvPr/>
        </p:nvSpPr>
        <p:spPr>
          <a:xfrm>
            <a:off x="731520" y="502920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An order of magnitude above the fungal and lime-binder family in compression; wood remains two orders of magnitude above.  ·  Values are reported as published; specimen geometry and test method differ between sources.</a:t>
            </a:r>
            <a:endParaRPr lang="en-US" sz="900" dirty="0"/>
          </a:p>
        </p:txBody>
      </p:sp>
      <p:sp>
        <p:nvSpPr>
          <p:cNvPr id="3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Modulus of resilience</a:t>
            </a:r>
            <a:endParaRPr lang="en-US" sz="2000" dirty="0"/>
          </a:p>
        </p:txBody>
      </p:sp>
      <p:sp>
        <p:nvSpPr>
          <p:cNvPr id="3" name="Text 1"/>
          <p:cNvSpPr txBox="1"/>
          <p:nvPr/>
        </p:nvSpPr>
        <p:spPr>
          <a:xfrm>
            <a:off x="822960" y="1298448"/>
            <a:ext cx="45720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Elastic energy absorbed per unit volume</a:t>
            </a:r>
            <a:endParaRPr lang="en-US" sz="1300" dirty="0"/>
          </a:p>
        </p:txBody>
      </p:sp>
      <p:sp>
        <p:nvSpPr>
          <p:cNvPr id="4" name="vx"/>
          <p:cNvSpPr/>
          <p:nvPr/>
        </p:nvSpPr>
        <p:spPr>
          <a:xfrm>
            <a:off x="822960" y="1920240"/>
            <a:ext cx="18288" cy="2743200"/>
          </a:xfrm>
          <a:prstGeom prst="rect">
            <a:avLst/>
          </a:prstGeom>
          <a:solidFill>
            <a:srgbClr val="5A5A5A"/>
          </a:solidFill>
          <a:ln w="12700">
            <a:solidFill>
              <a:srgbClr val="5A5A5A">
                <a:alpha val="0"/>
              </a:srgbClr>
            </a:solidFill>
            <a:prstDash val="solid"/>
          </a:ln>
        </p:spPr>
      </p:sp>
      <p:sp>
        <p:nvSpPr>
          <p:cNvPr id="5" name="hx"/>
          <p:cNvSpPr/>
          <p:nvPr/>
        </p:nvSpPr>
        <p:spPr>
          <a:xfrm>
            <a:off x="822960" y="4663440"/>
            <a:ext cx="4206240" cy="18288"/>
          </a:xfrm>
          <a:prstGeom prst="rect">
            <a:avLst/>
          </a:prstGeom>
          <a:solidFill>
            <a:srgbClr val="5A5A5A"/>
          </a:solidFill>
          <a:ln w="12700">
            <a:solidFill>
              <a:srgbClr val="5A5A5A">
                <a:alpha val="0"/>
              </a:srgbClr>
            </a:solidFill>
            <a:prstDash val="solid"/>
          </a:ln>
        </p:spPr>
      </p:sp>
      <p:sp>
        <p:nvSpPr>
          <p:cNvPr id="6" name="area"/>
          <p:cNvSpPr/>
          <p:nvPr/>
        </p:nvSpPr>
        <p:spPr>
          <a:xfrm flipH="1">
            <a:off x="841248" y="2697480"/>
            <a:ext cx="2560320" cy="1965960"/>
          </a:xfrm>
          <a:prstGeom prst="rtTriangle">
            <a:avLst/>
          </a:prstGeom>
          <a:solidFill>
            <a:srgbClr val="B4513A">
              <a:alpha val="72000"/>
            </a:srgbClr>
          </a:solidFill>
          <a:ln w="25400">
            <a:solidFill>
              <a:srgbClr val="B4513A"/>
            </a:solidFill>
            <a:prstDash val="solid"/>
          </a:ln>
        </p:spPr>
      </p:sp>
      <p:sp>
        <p:nvSpPr>
          <p:cNvPr id="7" name="Text 5"/>
          <p:cNvSpPr txBox="1"/>
          <p:nvPr/>
        </p:nvSpPr>
        <p:spPr>
          <a:xfrm>
            <a:off x="45720" y="2468880"/>
            <a:ext cx="731520" cy="274320"/>
          </a:xfrm>
          <a:prstGeom prst="rect">
            <a:avLst/>
          </a:prstGeom>
          <a:noFill/>
          <a:ln/>
        </p:spPr>
        <p:txBody>
          <a:bodyPr wrap="square" lIns="0" tIns="0" rIns="0" bIns="0" rtlCol="0" anchor="ctr"/>
          <a:lstStyle/>
          <a:p>
            <a:pPr algn="r" indent="0" marL="0">
              <a:buNone/>
            </a:pPr>
            <a:r>
              <a:rPr lang="en-US" sz="1100" dirty="0">
                <a:solidFill>
                  <a:srgbClr val="9E9E9E"/>
                </a:solidFill>
                <a:latin typeface="Calibri" pitchFamily="34" charset="0"/>
                <a:ea typeface="Calibri" pitchFamily="34" charset="-122"/>
                <a:cs typeface="Calibri" pitchFamily="34" charset="-120"/>
              </a:rPr>
              <a:t>stress</a:t>
            </a:r>
            <a:endParaRPr lang="en-US" sz="1100" dirty="0"/>
          </a:p>
        </p:txBody>
      </p:sp>
      <p:sp>
        <p:nvSpPr>
          <p:cNvPr id="8" name="Text 6"/>
          <p:cNvSpPr txBox="1"/>
          <p:nvPr/>
        </p:nvSpPr>
        <p:spPr>
          <a:xfrm>
            <a:off x="3154680" y="4754880"/>
            <a:ext cx="731520" cy="274320"/>
          </a:xfrm>
          <a:prstGeom prst="rect">
            <a:avLst/>
          </a:prstGeom>
          <a:noFill/>
          <a:ln/>
        </p:spPr>
        <p:txBody>
          <a:bodyPr wrap="square" lIns="0" tIns="0" rIns="0" bIns="0" rtlCol="0" anchor="ctr"/>
          <a:lstStyle/>
          <a:p>
            <a:pPr indent="0" marL="0">
              <a:buNone/>
            </a:pPr>
            <a:r>
              <a:rPr lang="en-US" sz="1100" dirty="0">
                <a:solidFill>
                  <a:srgbClr val="9E9E9E"/>
                </a:solidFill>
                <a:latin typeface="Calibri" pitchFamily="34" charset="0"/>
                <a:ea typeface="Calibri" pitchFamily="34" charset="-122"/>
                <a:cs typeface="Calibri" pitchFamily="34" charset="-120"/>
              </a:rPr>
              <a:t>strain</a:t>
            </a:r>
            <a:endParaRPr lang="en-US" sz="1100" dirty="0"/>
          </a:p>
        </p:txBody>
      </p:sp>
      <p:sp>
        <p:nvSpPr>
          <p:cNvPr id="9" name="Text 7"/>
          <p:cNvSpPr txBox="1"/>
          <p:nvPr/>
        </p:nvSpPr>
        <p:spPr>
          <a:xfrm>
            <a:off x="2057400" y="3886200"/>
            <a:ext cx="64008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Ur</a:t>
            </a:r>
            <a:endParaRPr lang="en-US" sz="1300" dirty="0"/>
          </a:p>
        </p:txBody>
      </p:sp>
      <p:sp>
        <p:nvSpPr>
          <p:cNvPr id="10" name="Text 8"/>
          <p:cNvSpPr txBox="1"/>
          <p:nvPr/>
        </p:nvSpPr>
        <p:spPr>
          <a:xfrm>
            <a:off x="822960" y="5120640"/>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The shaded area is the energy absorbed per unit volume before permanent damage: ½ σ ε, and with ε = σ / E it reduces to the expression at right.</a:t>
            </a:r>
            <a:endParaRPr lang="en-US" sz="900" dirty="0"/>
          </a:p>
        </p:txBody>
      </p:sp>
      <p:sp>
        <p:nvSpPr>
          <p:cNvPr id="11" name="vr6.31.42"/>
          <p:cNvSpPr/>
          <p:nvPr/>
        </p:nvSpPr>
        <p:spPr>
          <a:xfrm>
            <a:off x="5760720" y="1298448"/>
            <a:ext cx="13716" cy="4572000"/>
          </a:xfrm>
          <a:prstGeom prst="rect">
            <a:avLst/>
          </a:prstGeom>
          <a:solidFill>
            <a:srgbClr val="5A5A5A"/>
          </a:solidFill>
          <a:ln w="12700">
            <a:solidFill>
              <a:srgbClr val="5A5A5A">
                <a:alpha val="0"/>
              </a:srgbClr>
            </a:solidFill>
            <a:prstDash val="solid"/>
          </a:ln>
        </p:spPr>
      </p:sp>
      <p:sp>
        <p:nvSpPr>
          <p:cNvPr id="12" name="Text 10"/>
          <p:cNvSpPr txBox="1"/>
          <p:nvPr/>
        </p:nvSpPr>
        <p:spPr>
          <a:xfrm>
            <a:off x="6217920" y="1783080"/>
            <a:ext cx="29260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Ur  =  σ² / 2E</a:t>
            </a:r>
            <a:endParaRPr lang="en-US" sz="2200" dirty="0"/>
          </a:p>
        </p:txBody>
      </p:sp>
      <p:sp>
        <p:nvSpPr>
          <p:cNvPr id="13" name="Text 11"/>
          <p:cNvSpPr txBox="1"/>
          <p:nvPr/>
        </p:nvSpPr>
        <p:spPr>
          <a:xfrm>
            <a:off x="6217920" y="2377440"/>
            <a:ext cx="2926080" cy="502920"/>
          </a:xfrm>
          <a:prstGeom prst="rect">
            <a:avLst/>
          </a:prstGeom>
          <a:noFill/>
          <a:ln/>
        </p:spPr>
        <p:txBody>
          <a:bodyPr wrap="square" lIns="0" tIns="0" rIns="0" bIns="0" rtlCol="0" anchor="ctr"/>
          <a:lstStyle/>
          <a:p>
            <a:pPr indent="0" marL="0">
              <a:buNone/>
            </a:pPr>
            <a:r>
              <a:rPr lang="en-US" sz="2600" b="1" dirty="0">
                <a:solidFill>
                  <a:srgbClr val="B4513A"/>
                </a:solidFill>
                <a:latin typeface="Calibri" pitchFamily="34" charset="0"/>
                <a:ea typeface="Calibri" pitchFamily="34" charset="-122"/>
                <a:cs typeface="Calibri" pitchFamily="34" charset="-120"/>
              </a:rPr>
              <a:t>14.1 kJ/m³</a:t>
            </a:r>
            <a:endParaRPr lang="en-US" sz="2600" dirty="0"/>
          </a:p>
        </p:txBody>
      </p:sp>
      <p:sp>
        <p:nvSpPr>
          <p:cNvPr id="14" name="Text 12"/>
          <p:cNvSpPr txBox="1"/>
          <p:nvPr/>
        </p:nvSpPr>
        <p:spPr>
          <a:xfrm>
            <a:off x="6217920" y="2926080"/>
            <a:ext cx="292608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computed from this study's own σꜰ = 2.325 MPa and Eꜰ = 192 MPa</a:t>
            </a:r>
            <a:endParaRPr lang="en-US" sz="900" dirty="0"/>
          </a:p>
        </p:txBody>
      </p:sp>
      <p:sp>
        <p:nvSpPr>
          <p:cNvPr id="15" name="Text 13"/>
          <p:cNvSpPr txBox="1"/>
          <p:nvPr/>
        </p:nvSpPr>
        <p:spPr>
          <a:xfrm>
            <a:off x="6217920" y="3474720"/>
            <a:ext cx="2926080" cy="914400"/>
          </a:xfrm>
          <a:prstGeom prst="rect">
            <a:avLst/>
          </a:prstGeom>
          <a:noFill/>
          <a:ln/>
        </p:spPr>
        <p:txBody>
          <a:bodyPr wrap="square" lIns="0" tIns="0" rIns="0" bIns="0" rtlCol="0" anchor="t"/>
          <a:lstStyle/>
          <a:p>
            <a:pPr indent="0" marL="0">
              <a:lnSpc>
                <a:spcPts val="1800"/>
              </a:lnSpc>
              <a:buNone/>
            </a:pPr>
            <a:r>
              <a:rPr lang="en-US" sz="1200" b="1" dirty="0">
                <a:solidFill>
                  <a:srgbClr val="FFFFFF"/>
                </a:solidFill>
                <a:latin typeface="Calibri" pitchFamily="34" charset="0"/>
                <a:ea typeface="Calibri" pitchFamily="34" charset="-122"/>
                <a:cs typeface="Calibri" pitchFamily="34" charset="-120"/>
              </a:rPr>
              <a:t>Notice where the modulus sits in that expression: it is in the denominator.</a:t>
            </a:r>
            <a:endParaRPr lang="en-US" sz="1200" dirty="0"/>
          </a:p>
        </p:txBody>
      </p:sp>
      <p:sp>
        <p:nvSpPr>
          <p:cNvPr id="16" name="Text 14"/>
          <p:cNvSpPr txBox="1"/>
          <p:nvPr/>
        </p:nvSpPr>
        <p:spPr>
          <a:xfrm>
            <a:off x="6217920" y="4572000"/>
            <a:ext cx="2926080" cy="1737360"/>
          </a:xfrm>
          <a:prstGeom prst="rect">
            <a:avLst/>
          </a:prstGeom>
          <a:noFill/>
          <a:ln/>
        </p:spPr>
        <p:txBody>
          <a:bodyPr wrap="square" lIns="0" tIns="0" rIns="0" bIns="0" rtlCol="0" anchor="t"/>
          <a:lstStyle/>
          <a:p>
            <a:pPr indent="0" marL="0">
              <a:lnSpc>
                <a:spcPts val="1800"/>
              </a:lnSpc>
              <a:buNone/>
            </a:pPr>
            <a:r>
              <a:rPr lang="en-US" sz="1200" dirty="0">
                <a:solidFill>
                  <a:srgbClr val="FFFFFF"/>
                </a:solidFill>
                <a:latin typeface="Calibri" pitchFamily="34" charset="0"/>
                <a:ea typeface="Calibri" pitchFamily="34" charset="-122"/>
                <a:cs typeface="Calibri" pitchFamily="34" charset="-120"/>
              </a:rPr>
              <a:t>Strength tells you the load at which a material stops performing. It does not tell you whether it then fails gracefully or catastrophically.</a:t>
            </a:r>
            <a:endParaRPr lang="en-US" sz="1200" dirty="0"/>
          </a:p>
        </p:txBody>
      </p:sp>
      <p:sp>
        <p:nvSpPr>
          <p:cNvPr id="17" name="Text 15"/>
          <p:cNvSpPr txBox="1"/>
          <p:nvPr/>
        </p:nvSpPr>
        <p:spPr>
          <a:xfrm>
            <a:off x="9509760" y="1298448"/>
            <a:ext cx="19202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Limitation</a:t>
            </a:r>
            <a:endParaRPr lang="en-US" sz="1300" dirty="0"/>
          </a:p>
        </p:txBody>
      </p:sp>
      <p:sp>
        <p:nvSpPr>
          <p:cNvPr id="18" name="Text 16"/>
          <p:cNvSpPr txBox="1"/>
          <p:nvPr/>
        </p:nvSpPr>
        <p:spPr>
          <a:xfrm>
            <a:off x="9509760" y="1691640"/>
            <a:ext cx="1920240" cy="2377440"/>
          </a:xfrm>
          <a:prstGeom prst="rect">
            <a:avLst/>
          </a:prstGeom>
          <a:noFill/>
          <a:ln/>
        </p:spPr>
        <p:txBody>
          <a:bodyPr wrap="square" lIns="0" tIns="0" rIns="0" bIns="0" rtlCol="0" anchor="t"/>
          <a:lstStyle/>
          <a:p>
            <a:pPr indent="0" marL="0">
              <a:lnSpc>
                <a:spcPts val="1750"/>
              </a:lnSpc>
              <a:buNone/>
            </a:pPr>
            <a:r>
              <a:rPr lang="en-US" sz="1150" dirty="0">
                <a:solidFill>
                  <a:srgbClr val="FFFFFF"/>
                </a:solidFill>
                <a:latin typeface="Calibri" pitchFamily="34" charset="0"/>
                <a:ea typeface="Calibri" pitchFamily="34" charset="-122"/>
                <a:cs typeface="Calibri" pitchFamily="34" charset="-120"/>
              </a:rPr>
              <a:t>I cannot give you a comparative table, because the literature reports strength and modulus in separate studies.</a:t>
            </a:r>
            <a:endParaRPr lang="en-US" sz="1150" dirty="0"/>
          </a:p>
        </p:txBody>
      </p:sp>
      <p:sp>
        <p:nvSpPr>
          <p:cNvPr id="19" name="Text 17"/>
          <p:cNvSpPr txBox="1"/>
          <p:nvPr/>
        </p:nvSpPr>
        <p:spPr>
          <a:xfrm>
            <a:off x="822960" y="6263640"/>
            <a:ext cx="1014984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Resilience as a property of systems that absorb disturbance and retain function, after Holling (1973).</a:t>
            </a:r>
            <a:endParaRPr lang="en-US" sz="900" dirty="0"/>
          </a:p>
        </p:txBody>
      </p:sp>
      <p:sp>
        <p:nvSpPr>
          <p:cNvPr id="2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Application envelope</a:t>
            </a:r>
            <a:endParaRPr lang="en-US" sz="2000" dirty="0"/>
          </a:p>
        </p:txBody>
      </p:sp>
      <p:sp>
        <p:nvSpPr>
          <p:cNvPr id="3" name="Text 1"/>
          <p:cNvSpPr txBox="1"/>
          <p:nvPr/>
        </p:nvSpPr>
        <p:spPr>
          <a:xfrm>
            <a:off x="731520" y="1298448"/>
            <a:ext cx="40233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Modular proposal derived from the measurements</a:t>
            </a:r>
            <a:endParaRPr lang="en-US" sz="1300" dirty="0"/>
          </a:p>
        </p:txBody>
      </p:sp>
      <p:pic>
        <p:nvPicPr>
          <p:cNvPr id="4" name="ren" descr="/home/user/sanat-ve-mekan/konferans-bildirisi/03-gorseller/12-ic-mekan-render.jpeg">    </p:cNvPr>
          <p:cNvPicPr>
            <a:picLocks noChangeAspect="1"/>
          </p:cNvPicPr>
          <p:nvPr/>
        </p:nvPicPr>
        <p:blipFill>
          <a:blip r:embed="rId1"/>
          <a:stretch>
            <a:fillRect/>
          </a:stretch>
        </p:blipFill>
        <p:spPr>
          <a:xfrm>
            <a:off x="731520" y="1664208"/>
            <a:ext cx="4206240" cy="3447288"/>
          </a:xfrm>
          <a:prstGeom prst="rect">
            <a:avLst/>
          </a:prstGeom>
        </p:spPr>
      </p:pic>
      <p:sp>
        <p:nvSpPr>
          <p:cNvPr id="5" name="Text 2"/>
          <p:cNvSpPr txBox="1"/>
          <p:nvPr/>
        </p:nvSpPr>
        <p:spPr>
          <a:xfrm>
            <a:off x="731520" y="5230368"/>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Demountable modules on a reversible fixing, replaceable one unit at a time.</a:t>
            </a:r>
            <a:endParaRPr lang="en-US" sz="900" dirty="0"/>
          </a:p>
        </p:txBody>
      </p:sp>
      <p:sp>
        <p:nvSpPr>
          <p:cNvPr id="6" name="vr5.61.42"/>
          <p:cNvSpPr/>
          <p:nvPr/>
        </p:nvSpPr>
        <p:spPr>
          <a:xfrm>
            <a:off x="5120640" y="1298448"/>
            <a:ext cx="13716" cy="3657600"/>
          </a:xfrm>
          <a:prstGeom prst="rect">
            <a:avLst/>
          </a:prstGeom>
          <a:solidFill>
            <a:srgbClr val="E4E4E4"/>
          </a:solidFill>
          <a:ln w="12700">
            <a:solidFill>
              <a:srgbClr val="E4E4E4">
                <a:alpha val="0"/>
              </a:srgbClr>
            </a:solidFill>
            <a:prstDash val="solid"/>
          </a:ln>
        </p:spPr>
      </p:sp>
      <p:sp>
        <p:nvSpPr>
          <p:cNvPr id="7" name="Text 4"/>
          <p:cNvSpPr txBox="1"/>
          <p:nvPr/>
        </p:nvSpPr>
        <p:spPr>
          <a:xfrm>
            <a:off x="5577840" y="1298448"/>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Conditions of use, each traced to a measured result</a:t>
            </a:r>
            <a:endParaRPr lang="en-US" sz="1300" dirty="0"/>
          </a:p>
        </p:txBody>
      </p:sp>
      <p:sp>
        <p:nvSpPr>
          <p:cNvPr id="8" name="Text 5"/>
          <p:cNvSpPr txBox="1"/>
          <p:nvPr/>
        </p:nvSpPr>
        <p:spPr>
          <a:xfrm>
            <a:off x="5577840" y="1737360"/>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Non-loadbearing surfaces</a:t>
            </a:r>
            <a:endParaRPr lang="en-US" sz="1300" dirty="0"/>
          </a:p>
        </p:txBody>
      </p:sp>
      <p:sp>
        <p:nvSpPr>
          <p:cNvPr id="9" name="Text 6"/>
          <p:cNvSpPr txBox="1"/>
          <p:nvPr/>
        </p:nvSpPr>
        <p:spPr>
          <a:xfrm>
            <a:off x="5577840" y="2039112"/>
            <a:ext cx="5852160" cy="365760"/>
          </a:xfrm>
          <a:prstGeom prst="rect">
            <a:avLst/>
          </a:prstGeom>
          <a:noFill/>
          <a:ln/>
        </p:spPr>
        <p:txBody>
          <a:bodyPr wrap="square" lIns="0" tIns="0" rIns="0" bIns="0" rtlCol="0" anchor="ctr"/>
          <a:lstStyle/>
          <a:p>
            <a:pPr indent="0" marL="0">
              <a:buNone/>
            </a:pPr>
            <a:r>
              <a:rPr lang="en-US" sz="1150" dirty="0">
                <a:solidFill>
                  <a:srgbClr val="8C8C8C"/>
                </a:solidFill>
                <a:latin typeface="Calibri" pitchFamily="34" charset="0"/>
                <a:ea typeface="Calibri" pitchFamily="34" charset="-122"/>
                <a:cs typeface="Calibri" pitchFamily="34" charset="-120"/>
              </a:rPr>
              <a:t>self-weight and handling loads only; σᴄ = 4.1 MPa</a:t>
            </a:r>
            <a:endParaRPr lang="en-US" sz="1150" dirty="0"/>
          </a:p>
        </p:txBody>
      </p:sp>
      <p:sp>
        <p:nvSpPr>
          <p:cNvPr id="10" name="ru6.12.62"/>
          <p:cNvSpPr/>
          <p:nvPr/>
        </p:nvSpPr>
        <p:spPr>
          <a:xfrm>
            <a:off x="5577840" y="2395728"/>
            <a:ext cx="5852160" cy="9144"/>
          </a:xfrm>
          <a:prstGeom prst="rect">
            <a:avLst/>
          </a:prstGeom>
          <a:solidFill>
            <a:srgbClr val="E4E4E4"/>
          </a:solidFill>
          <a:ln w="12700">
            <a:solidFill>
              <a:srgbClr val="E4E4E4">
                <a:alpha val="0"/>
              </a:srgbClr>
            </a:solidFill>
            <a:prstDash val="solid"/>
          </a:ln>
        </p:spPr>
      </p:sp>
      <p:sp>
        <p:nvSpPr>
          <p:cNvPr id="11" name="Text 8"/>
          <p:cNvSpPr txBox="1"/>
          <p:nvPr/>
        </p:nvSpPr>
        <p:spPr>
          <a:xfrm>
            <a:off x="5577840" y="2542032"/>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Dry interiors</a:t>
            </a:r>
            <a:endParaRPr lang="en-US" sz="1300" dirty="0"/>
          </a:p>
        </p:txBody>
      </p:sp>
      <p:sp>
        <p:nvSpPr>
          <p:cNvPr id="12" name="Text 9"/>
          <p:cNvSpPr txBox="1"/>
          <p:nvPr/>
        </p:nvSpPr>
        <p:spPr>
          <a:xfrm>
            <a:off x="5577840" y="2843784"/>
            <a:ext cx="5852160" cy="365760"/>
          </a:xfrm>
          <a:prstGeom prst="rect">
            <a:avLst/>
          </a:prstGeom>
          <a:noFill/>
          <a:ln/>
        </p:spPr>
        <p:txBody>
          <a:bodyPr wrap="square" lIns="0" tIns="0" rIns="0" bIns="0" rtlCol="0" anchor="ctr"/>
          <a:lstStyle/>
          <a:p>
            <a:pPr indent="0" marL="0">
              <a:buNone/>
            </a:pPr>
            <a:r>
              <a:rPr lang="en-US" sz="1150" dirty="0">
                <a:solidFill>
                  <a:srgbClr val="8C8C8C"/>
                </a:solidFill>
                <a:latin typeface="Calibri" pitchFamily="34" charset="0"/>
                <a:ea typeface="Calibri" pitchFamily="34" charset="-122"/>
                <a:cs typeface="Calibri" pitchFamily="34" charset="-120"/>
              </a:rPr>
              <a:t>not wet rooms, not façades; absorption depends on coating integrity</a:t>
            </a:r>
            <a:endParaRPr lang="en-US" sz="1150" dirty="0"/>
          </a:p>
        </p:txBody>
      </p:sp>
      <p:sp>
        <p:nvSpPr>
          <p:cNvPr id="13" name="ru6.13.5"/>
          <p:cNvSpPr/>
          <p:nvPr/>
        </p:nvSpPr>
        <p:spPr>
          <a:xfrm>
            <a:off x="5577840" y="3200400"/>
            <a:ext cx="5852160" cy="9144"/>
          </a:xfrm>
          <a:prstGeom prst="rect">
            <a:avLst/>
          </a:prstGeom>
          <a:solidFill>
            <a:srgbClr val="E4E4E4"/>
          </a:solidFill>
          <a:ln w="12700">
            <a:solidFill>
              <a:srgbClr val="E4E4E4">
                <a:alpha val="0"/>
              </a:srgbClr>
            </a:solidFill>
            <a:prstDash val="solid"/>
          </a:ln>
        </p:spPr>
      </p:sp>
      <p:sp>
        <p:nvSpPr>
          <p:cNvPr id="14" name="Text 11"/>
          <p:cNvSpPr txBox="1"/>
          <p:nvPr/>
        </p:nvSpPr>
        <p:spPr>
          <a:xfrm>
            <a:off x="5577840" y="3346704"/>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Away from ignition sources</a:t>
            </a:r>
            <a:endParaRPr lang="en-US" sz="1300" dirty="0"/>
          </a:p>
        </p:txBody>
      </p:sp>
      <p:sp>
        <p:nvSpPr>
          <p:cNvPr id="15" name="Text 12"/>
          <p:cNvSpPr txBox="1"/>
          <p:nvPr/>
        </p:nvSpPr>
        <p:spPr>
          <a:xfrm>
            <a:off x="5577840" y="3648456"/>
            <a:ext cx="5852160" cy="365760"/>
          </a:xfrm>
          <a:prstGeom prst="rect">
            <a:avLst/>
          </a:prstGeom>
          <a:noFill/>
          <a:ln/>
        </p:spPr>
        <p:txBody>
          <a:bodyPr wrap="square" lIns="0" tIns="0" rIns="0" bIns="0" rtlCol="0" anchor="ctr"/>
          <a:lstStyle/>
          <a:p>
            <a:pPr indent="0" marL="0">
              <a:buNone/>
            </a:pPr>
            <a:r>
              <a:rPr lang="en-US" sz="1150" dirty="0">
                <a:solidFill>
                  <a:srgbClr val="8C8C8C"/>
                </a:solidFill>
                <a:latin typeface="Calibri" pitchFamily="34" charset="0"/>
                <a:ea typeface="Calibri" pitchFamily="34" charset="-122"/>
                <a:cs typeface="Calibri" pitchFamily="34" charset="-120"/>
              </a:rPr>
              <a:t>self-extinguishing, but unclassified for reaction to fire</a:t>
            </a:r>
            <a:endParaRPr lang="en-US" sz="1150" dirty="0"/>
          </a:p>
        </p:txBody>
      </p:sp>
      <p:sp>
        <p:nvSpPr>
          <p:cNvPr id="16" name="ru6.14.38"/>
          <p:cNvSpPr/>
          <p:nvPr/>
        </p:nvSpPr>
        <p:spPr>
          <a:xfrm>
            <a:off x="5577840" y="4005072"/>
            <a:ext cx="5852160" cy="9144"/>
          </a:xfrm>
          <a:prstGeom prst="rect">
            <a:avLst/>
          </a:prstGeom>
          <a:solidFill>
            <a:srgbClr val="E4E4E4"/>
          </a:solidFill>
          <a:ln w="12700">
            <a:solidFill>
              <a:srgbClr val="E4E4E4">
                <a:alpha val="0"/>
              </a:srgbClr>
            </a:solidFill>
            <a:prstDash val="solid"/>
          </a:ln>
        </p:spPr>
      </p:sp>
      <p:sp>
        <p:nvSpPr>
          <p:cNvPr id="17" name="Text 14"/>
          <p:cNvSpPr txBox="1"/>
          <p:nvPr/>
        </p:nvSpPr>
        <p:spPr>
          <a:xfrm>
            <a:off x="5577840" y="4151376"/>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Modular rather than sheet</a:t>
            </a:r>
            <a:endParaRPr lang="en-US" sz="1300" dirty="0"/>
          </a:p>
        </p:txBody>
      </p:sp>
      <p:sp>
        <p:nvSpPr>
          <p:cNvPr id="18" name="Text 15"/>
          <p:cNvSpPr txBox="1"/>
          <p:nvPr/>
        </p:nvSpPr>
        <p:spPr>
          <a:xfrm>
            <a:off x="5577840" y="4453128"/>
            <a:ext cx="5852160" cy="365760"/>
          </a:xfrm>
          <a:prstGeom prst="rect">
            <a:avLst/>
          </a:prstGeom>
          <a:noFill/>
          <a:ln/>
        </p:spPr>
        <p:txBody>
          <a:bodyPr wrap="square" lIns="0" tIns="0" rIns="0" bIns="0" rtlCol="0" anchor="ctr"/>
          <a:lstStyle/>
          <a:p>
            <a:pPr indent="0" marL="0">
              <a:buNone/>
            </a:pPr>
            <a:r>
              <a:rPr lang="en-US" sz="1150" dirty="0">
                <a:solidFill>
                  <a:srgbClr val="8C8C8C"/>
                </a:solidFill>
                <a:latin typeface="Calibri" pitchFamily="34" charset="0"/>
                <a:ea typeface="Calibri" pitchFamily="34" charset="-122"/>
                <a:cs typeface="Calibri" pitchFamily="34" charset="-120"/>
              </a:rPr>
              <a:t>damage is replaced one unit at a time</a:t>
            </a:r>
            <a:endParaRPr lang="en-US" sz="1150" dirty="0"/>
          </a:p>
        </p:txBody>
      </p:sp>
      <p:sp>
        <p:nvSpPr>
          <p:cNvPr id="19" name="ru6.15.5"/>
          <p:cNvSpPr/>
          <p:nvPr/>
        </p:nvSpPr>
        <p:spPr>
          <a:xfrm>
            <a:off x="5577840" y="5029200"/>
            <a:ext cx="5852160" cy="9144"/>
          </a:xfrm>
          <a:prstGeom prst="rect">
            <a:avLst/>
          </a:prstGeom>
          <a:solidFill>
            <a:srgbClr val="E4E4E4"/>
          </a:solidFill>
          <a:ln w="12700">
            <a:solidFill>
              <a:srgbClr val="E4E4E4">
                <a:alpha val="0"/>
              </a:srgbClr>
            </a:solidFill>
            <a:prstDash val="solid"/>
          </a:ln>
        </p:spPr>
      </p:sp>
      <p:sp>
        <p:nvSpPr>
          <p:cNvPr id="20" name="Text 17"/>
          <p:cNvSpPr txBox="1"/>
          <p:nvPr/>
        </p:nvSpPr>
        <p:spPr>
          <a:xfrm>
            <a:off x="5577840" y="5212080"/>
            <a:ext cx="585216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Every constituent, the shellac included, is biodegradable; reversible fixing recovers the module intact. What is displaced is quarried limestone.</a:t>
            </a:r>
            <a:endParaRPr lang="en-US" sz="900" dirty="0"/>
          </a:p>
        </p:txBody>
      </p:sp>
      <p:sp>
        <p:nvSpPr>
          <p:cNvPr id="21" name="Text 18"/>
          <p:cNvSpPr txBox="1"/>
          <p:nvPr/>
        </p:nvSpPr>
        <p:spPr>
          <a:xfrm>
            <a:off x="731520" y="5715000"/>
            <a:ext cx="4206240" cy="82296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I did not carry out a life-cycle assessment, so these are qualitative potentials rather than quantified claims.</a:t>
            </a:r>
            <a:endParaRPr lang="en-US" sz="1150" dirty="0"/>
          </a:p>
        </p:txBody>
      </p:sp>
      <p:sp>
        <p:nvSpPr>
          <p:cNvPr id="23"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Limitations and further work</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Each limitation, and the experiment that resolves it</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31520" y="1664208"/>
          <a:ext cx="10698480" cy="914400"/>
        </p:xfrm>
        <a:graphic>
          <a:graphicData uri="http://schemas.openxmlformats.org/drawingml/2006/table">
            <a:tbl>
              <a:tblPr/>
              <a:tblGrid>
                <a:gridCol w="5760720"/>
                <a:gridCol w="4937760"/>
              </a:tblGrid>
              <a:tr h="530352">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Limitation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Resolved by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No dispersion data — individual specimen values not retained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Repeat the series with individual values retained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Compressive strain assumed from observation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Instrument the strain; measure the curve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Shrinkage unquantified, so density is a lower bound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Record post-drying geometry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Kerfed section calculated as a solid rectangle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Test an un-kerfed section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Flexural series confounded — glycerol and solids moved together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Vary glycerol at constant solids concentration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Durability, fire classification and life-cycle assessment untested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8C8C8C"/>
                          </a:solidFill>
                          <a:latin typeface="Calibri" pitchFamily="34" charset="0"/>
                          <a:ea typeface="Calibri" pitchFamily="34" charset="-122"/>
                          <a:cs typeface="Calibri" pitchFamily="34" charset="-120"/>
                        </a:rPr>
                        <a:t>Outside this paper; named as further work</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6.1"/>
          <p:cNvSpPr/>
          <p:nvPr/>
        </p:nvSpPr>
        <p:spPr>
          <a:xfrm>
            <a:off x="731520" y="5577840"/>
            <a:ext cx="1069848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5760720"/>
            <a:ext cx="10241280" cy="45720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Every value I have given you today is a lower bound, and I would rather set that out myself than have you find it.</a:t>
            </a:r>
            <a:endParaRPr lang="en-US" sz="1200" dirty="0"/>
          </a:p>
        </p:txBody>
      </p:sp>
      <p:sp>
        <p:nvSpPr>
          <p:cNvPr id="8"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Conclusions</a:t>
            </a:r>
            <a:endParaRPr lang="en-US" sz="2000" dirty="0"/>
          </a:p>
        </p:txBody>
      </p:sp>
      <p:sp>
        <p:nvSpPr>
          <p:cNvPr id="3" name="Text 1"/>
          <p:cNvSpPr txBox="1"/>
          <p:nvPr/>
        </p:nvSpPr>
        <p:spPr>
          <a:xfrm>
            <a:off x="731520" y="1728216"/>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4" name="Text 2"/>
          <p:cNvSpPr txBox="1"/>
          <p:nvPr/>
        </p:nvSpPr>
        <p:spPr>
          <a:xfrm>
            <a:off x="1371600" y="1691640"/>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protocol that can be repeated</a:t>
            </a:r>
            <a:endParaRPr lang="en-US" sz="1300" dirty="0"/>
          </a:p>
        </p:txBody>
      </p:sp>
      <p:sp>
        <p:nvSpPr>
          <p:cNvPr id="5" name="Text 3"/>
          <p:cNvSpPr txBox="1"/>
          <p:nvPr/>
        </p:nvSpPr>
        <p:spPr>
          <a:xfrm>
            <a:off x="8229600" y="1709928"/>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every production parameter reported</a:t>
            </a:r>
            <a:endParaRPr lang="en-US" sz="1200" dirty="0"/>
          </a:p>
        </p:txBody>
      </p:sp>
      <p:sp>
        <p:nvSpPr>
          <p:cNvPr id="6" name="ru0.82.47"/>
          <p:cNvSpPr/>
          <p:nvPr/>
        </p:nvSpPr>
        <p:spPr>
          <a:xfrm>
            <a:off x="731520" y="2258568"/>
            <a:ext cx="10698480" cy="9144"/>
          </a:xfrm>
          <a:prstGeom prst="rect">
            <a:avLst/>
          </a:prstGeom>
          <a:solidFill>
            <a:srgbClr val="5A5A5A"/>
          </a:solidFill>
          <a:ln w="12700">
            <a:solidFill>
              <a:srgbClr val="5A5A5A">
                <a:alpha val="0"/>
              </a:srgbClr>
            </a:solidFill>
            <a:prstDash val="solid"/>
          </a:ln>
        </p:spPr>
      </p:sp>
      <p:sp>
        <p:nvSpPr>
          <p:cNvPr id="7" name="Text 5"/>
          <p:cNvSpPr txBox="1"/>
          <p:nvPr/>
        </p:nvSpPr>
        <p:spPr>
          <a:xfrm>
            <a:off x="731520" y="2569464"/>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8" name="Text 6"/>
          <p:cNvSpPr txBox="1"/>
          <p:nvPr/>
        </p:nvSpPr>
        <p:spPr>
          <a:xfrm>
            <a:off x="1371600" y="2532888"/>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Packing density governs compressive strength</a:t>
            </a:r>
            <a:endParaRPr lang="en-US" sz="1300" dirty="0"/>
          </a:p>
        </p:txBody>
      </p:sp>
      <p:sp>
        <p:nvSpPr>
          <p:cNvPr id="9" name="Text 7"/>
          <p:cNvSpPr txBox="1"/>
          <p:nvPr/>
        </p:nvSpPr>
        <p:spPr>
          <a:xfrm>
            <a:off x="8229600" y="2551176"/>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not mineral content</a:t>
            </a:r>
            <a:endParaRPr lang="en-US" sz="1200" dirty="0"/>
          </a:p>
        </p:txBody>
      </p:sp>
      <p:sp>
        <p:nvSpPr>
          <p:cNvPr id="10" name="ru0.83.39"/>
          <p:cNvSpPr/>
          <p:nvPr/>
        </p:nvSpPr>
        <p:spPr>
          <a:xfrm>
            <a:off x="731520" y="3099816"/>
            <a:ext cx="10698480" cy="9144"/>
          </a:xfrm>
          <a:prstGeom prst="rect">
            <a:avLst/>
          </a:prstGeom>
          <a:solidFill>
            <a:srgbClr val="5A5A5A"/>
          </a:solidFill>
          <a:ln w="12700">
            <a:solidFill>
              <a:srgbClr val="5A5A5A">
                <a:alpha val="0"/>
              </a:srgbClr>
            </a:solidFill>
            <a:prstDash val="solid"/>
          </a:ln>
        </p:spPr>
      </p:sp>
      <p:sp>
        <p:nvSpPr>
          <p:cNvPr id="11" name="Text 9"/>
          <p:cNvSpPr txBox="1"/>
          <p:nvPr/>
        </p:nvSpPr>
        <p:spPr>
          <a:xfrm>
            <a:off x="731520" y="3410712"/>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2" name="Text 10"/>
          <p:cNvSpPr txBox="1"/>
          <p:nvPr/>
        </p:nvSpPr>
        <p:spPr>
          <a:xfrm>
            <a:off x="1371600" y="3374136"/>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Plasticiser content sets brittle or ductile response</a:t>
            </a:r>
            <a:endParaRPr lang="en-US" sz="1300" dirty="0"/>
          </a:p>
        </p:txBody>
      </p:sp>
      <p:sp>
        <p:nvSpPr>
          <p:cNvPr id="13" name="Text 11"/>
          <p:cNvSpPr txBox="1"/>
          <p:nvPr/>
        </p:nvSpPr>
        <p:spPr>
          <a:xfrm>
            <a:off x="8229600" y="3392424"/>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the transition is sharp</a:t>
            </a:r>
            <a:endParaRPr lang="en-US" sz="1200" dirty="0"/>
          </a:p>
        </p:txBody>
      </p:sp>
      <p:sp>
        <p:nvSpPr>
          <p:cNvPr id="14" name="ru0.84.3100000000000005"/>
          <p:cNvSpPr/>
          <p:nvPr/>
        </p:nvSpPr>
        <p:spPr>
          <a:xfrm>
            <a:off x="731520" y="3941064"/>
            <a:ext cx="10698480" cy="9144"/>
          </a:xfrm>
          <a:prstGeom prst="rect">
            <a:avLst/>
          </a:prstGeom>
          <a:solidFill>
            <a:srgbClr val="5A5A5A"/>
          </a:solidFill>
          <a:ln w="12700">
            <a:solidFill>
              <a:srgbClr val="5A5A5A">
                <a:alpha val="0"/>
              </a:srgbClr>
            </a:solidFill>
            <a:prstDash val="solid"/>
          </a:ln>
        </p:spPr>
      </p:sp>
      <p:sp>
        <p:nvSpPr>
          <p:cNvPr id="15" name="Text 13"/>
          <p:cNvSpPr txBox="1"/>
          <p:nvPr/>
        </p:nvSpPr>
        <p:spPr>
          <a:xfrm>
            <a:off x="731520" y="4251960"/>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16" name="Text 14"/>
          <p:cNvSpPr txBox="1"/>
          <p:nvPr/>
        </p:nvSpPr>
        <p:spPr>
          <a:xfrm>
            <a:off x="1371600" y="4215384"/>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Bio-polymer stiffness without thermal processing</a:t>
            </a:r>
            <a:endParaRPr lang="en-US" sz="1300" dirty="0"/>
          </a:p>
        </p:txBody>
      </p:sp>
      <p:sp>
        <p:nvSpPr>
          <p:cNvPr id="17" name="Text 15"/>
          <p:cNvSpPr txBox="1"/>
          <p:nvPr/>
        </p:nvSpPr>
        <p:spPr>
          <a:xfrm>
            <a:off x="8229600" y="4233672"/>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water-cast, ambient-dried</a:t>
            </a:r>
            <a:endParaRPr lang="en-US" sz="1200" dirty="0"/>
          </a:p>
        </p:txBody>
      </p:sp>
      <p:sp>
        <p:nvSpPr>
          <p:cNvPr id="18" name="ru0.85.23"/>
          <p:cNvSpPr/>
          <p:nvPr/>
        </p:nvSpPr>
        <p:spPr>
          <a:xfrm>
            <a:off x="731520" y="4782312"/>
            <a:ext cx="10698480" cy="9144"/>
          </a:xfrm>
          <a:prstGeom prst="rect">
            <a:avLst/>
          </a:prstGeom>
          <a:solidFill>
            <a:srgbClr val="5A5A5A"/>
          </a:solidFill>
          <a:ln w="12700">
            <a:solidFill>
              <a:srgbClr val="5A5A5A">
                <a:alpha val="0"/>
              </a:srgbClr>
            </a:solidFill>
            <a:prstDash val="solid"/>
          </a:ln>
        </p:spPr>
      </p:sp>
      <p:sp>
        <p:nvSpPr>
          <p:cNvPr id="19" name="Text 17"/>
          <p:cNvSpPr txBox="1"/>
          <p:nvPr/>
        </p:nvSpPr>
        <p:spPr>
          <a:xfrm>
            <a:off x="731520" y="5093208"/>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05</a:t>
            </a:r>
            <a:endParaRPr lang="en-US" sz="1200" dirty="0"/>
          </a:p>
        </p:txBody>
      </p:sp>
      <p:sp>
        <p:nvSpPr>
          <p:cNvPr id="20" name="Text 18"/>
          <p:cNvSpPr txBox="1"/>
          <p:nvPr/>
        </p:nvSpPr>
        <p:spPr>
          <a:xfrm>
            <a:off x="1371600" y="5056632"/>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Strength on its own is not an adequate criterion</a:t>
            </a:r>
            <a:endParaRPr lang="en-US" sz="1300" dirty="0"/>
          </a:p>
        </p:txBody>
      </p:sp>
      <p:sp>
        <p:nvSpPr>
          <p:cNvPr id="21" name="Text 19"/>
          <p:cNvSpPr txBox="1"/>
          <p:nvPr/>
        </p:nvSpPr>
        <p:spPr>
          <a:xfrm>
            <a:off x="8229600" y="5074920"/>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report σ and E together</a:t>
            </a:r>
            <a:endParaRPr lang="en-US" sz="1200" dirty="0"/>
          </a:p>
        </p:txBody>
      </p:sp>
      <p:sp>
        <p:nvSpPr>
          <p:cNvPr id="22" name="ru0.86.15"/>
          <p:cNvSpPr/>
          <p:nvPr/>
        </p:nvSpPr>
        <p:spPr>
          <a:xfrm>
            <a:off x="731520" y="5623560"/>
            <a:ext cx="10698480" cy="9144"/>
          </a:xfrm>
          <a:prstGeom prst="rect">
            <a:avLst/>
          </a:prstGeom>
          <a:solidFill>
            <a:srgbClr val="5A5A5A"/>
          </a:solidFill>
          <a:ln w="12700">
            <a:solidFill>
              <a:srgbClr val="5A5A5A">
                <a:alpha val="0"/>
              </a:srgbClr>
            </a:solidFill>
            <a:prstDash val="solid"/>
          </a:ln>
        </p:spPr>
      </p:sp>
      <p:sp>
        <p:nvSpPr>
          <p:cNvPr id="23" name="Text 21"/>
          <p:cNvSpPr txBox="1"/>
          <p:nvPr/>
        </p:nvSpPr>
        <p:spPr>
          <a:xfrm>
            <a:off x="731520" y="5943600"/>
            <a:ext cx="10698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Betül Ünal   ·   b.unal91@gmail.com</a:t>
            </a:r>
            <a:endParaRPr lang="en-US" sz="1200" dirty="0"/>
          </a:p>
        </p:txBody>
      </p:sp>
      <p:sp>
        <p:nvSpPr>
          <p:cNvPr id="24" name="Text 22"/>
          <p:cNvSpPr txBox="1"/>
          <p:nvPr/>
        </p:nvSpPr>
        <p:spPr>
          <a:xfrm>
            <a:off x="731520" y="626364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Testing: Advanced Construction Materials Research Laboratory, Hacettepe University, with thanks to Dr Hüseyin İlcan. Derived from the author's doctoral dissertation, Hacettepe University, 2025.</a:t>
            </a:r>
            <a:endParaRPr lang="en-US" sz="900" dirty="0"/>
          </a:p>
        </p:txBody>
      </p:sp>
      <p:sp>
        <p:nvSpPr>
          <p:cNvPr id="26"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References</a:t>
            </a:r>
            <a:endParaRPr lang="en-US" sz="2000" dirty="0"/>
          </a:p>
        </p:txBody>
      </p:sp>
      <p:sp>
        <p:nvSpPr>
          <p:cNvPr id="3" name="Text 1"/>
          <p:cNvSpPr txBox="1"/>
          <p:nvPr/>
        </p:nvSpPr>
        <p:spPr>
          <a:xfrm>
            <a:off x="731520" y="1188720"/>
            <a:ext cx="5029200" cy="5349240"/>
          </a:xfrm>
          <a:prstGeom prst="rect">
            <a:avLst/>
          </a:prstGeom>
          <a:noFill/>
          <a:ln/>
        </p:spPr>
        <p:txBody>
          <a:bodyPr wrap="square" lIns="0" tIns="0" rIns="0" bIns="0" rtlCol="0" anchor="t"/>
          <a:lstStyle/>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Adogla, F., Yalley, P.P.K. &amp; Arkoh, M. (2016) Improving compressed laterite bricks using powdered eggshells. The International Journal of Engineering and Science, 5(4), 65–70.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Altun, İ.A. (2006) Mechanical properties of travertine. Afyon Kocatepe University.</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Arnaud, L. &amp; Gourlay, E. (2012) Experimental study of parameters influencing mechanical properties of hemp concretes. Construction and Building Materials, 28(1), 50–56.</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Ashby, M.F. (2011) Materials selection in mechanical design. 4th edn. Oxford: Butterworth-Heinemann.</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ASTM International (2017) ASTM D790-17: Flexural properties of unreinforced and reinforced plastics. West Conshohocken, PA.</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ASTM International (2018) ASTM D570-98: Water absorption of plastics. West Conshohocken, PA.</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Bhartiya, A. &amp; Dubey, M. (2018) Replacement of cement with coconut shell ash and egg shell powder. IRJET, 5(6).</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Bilici, V.O., Peşmen, G., Yönetken, A. &amp; Erol, A. (2023) Effect of egg-shell particulate reinforcement in ceramic-metal composites. Thermal Science, 27(4B), 3179–3188.</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Faruk, O., Bledzki, A.K., Fink, H.-P. &amp; Sain, M. (2012) Biocomposites reinforced with natural fibers. Progress in Polymer Science, 37(11), 1552–1596.</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Hernández, V. et al. (2022) Agar biopolymer films for biodegradable packaging: a reference dataset. Materials, 15(11), 3954.</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Hirschler, M.M. (2013) Flammability and fire testing. In: Handbook of environmental degradation of materials. Oxford: William Andrew, 197–230.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Holling, C.S. (1973) Resilience and stability of ecological systems. Annual Review of Ecology and Systematics, 4, 1–23.</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International Organization for Standardization (2020) ISO 11925-2: Ignitability of products subjected to direct impingement of flame — single-flame source test. Geneva.</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Islam, M.R., Tudryn, G., Bucinell, R., Schadler, L. &amp; Picu, R.C. (2018) Mechanical behavior of mycelium-based particulate composites. Journal of Materials Science, 53, 16371–16382.</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Jones, M., Mautner, A., Luenco, S., Bismarck, A. &amp; John, S. (2020) Engineered mycelium composite construction materials. Journal of Bionanoscience, 14(1), 1–10.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Karana, E., Barati, B., Rognoli, V. &amp; Zeeuw van der Laan, A. (2015) Material driven design (MDD). International Journal of Design, 9(2), 35–54.</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Kim, H.-S. &amp; Pal, K. (2010) Mechanical properties of eggshell-filled poly(lactic acid) composites. Macromolecular Research.</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Klyosov, A.A. (2007) Wood-plastic composites. Hoboken, NJ: Wiley-Interscience.</a:t>
            </a:r>
            <a:endParaRPr lang="en-US" sz="800" dirty="0"/>
          </a:p>
        </p:txBody>
      </p:sp>
      <p:sp>
        <p:nvSpPr>
          <p:cNvPr id="4" name="Text 2"/>
          <p:cNvSpPr txBox="1"/>
          <p:nvPr/>
        </p:nvSpPr>
        <p:spPr>
          <a:xfrm>
            <a:off x="6400800" y="1188720"/>
            <a:ext cx="5029200" cy="5349240"/>
          </a:xfrm>
          <a:prstGeom prst="rect">
            <a:avLst/>
          </a:prstGeom>
          <a:noFill/>
          <a:ln/>
        </p:spPr>
        <p:txBody>
          <a:bodyPr wrap="square" lIns="0" tIns="0" rIns="0" bIns="0" rtlCol="0" anchor="t"/>
          <a:lstStyle/>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Mansour, G., Zoumaki, M., Tsongas, K. &amp; Tzetzis, D. (2021) Microstructural and finite element analysis of soy protein isolate bioplastics. Materials, 14(19), 5479.</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Nemli, G. &amp; Aydın, A. (2007) Evaluation of the physical and mechanical properties of particleboard. Building and Environment, 42(3), 1210–1214.</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Owuamanam, S. &amp; Cree, D. (2020) Progress of bio-calcium carbonate waste eggshell and seashell fillers in polymer composites: a review. Journal of Composites Science, 4(2), 70.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Pope, D.G. &amp; Hudson, R.G. (1989) Mechanical properties of timber. Structural Engineer.</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Razzaq, A.K. &amp; Yousif, R.A. (2017) Sustainability of HMA by using of egg shell powder. International Conference on Sustainable Futures, Bahrain.</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Shafiei, S. et al. (2019) Egg shell-derived calcium phosphate/carbon dot nanofibrous scaffolds. Materials Science and Engineering: C, 100, 564–575.</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Shah, D.U., Vollrath, F., Stires, J. &amp; Deheyn, D.D. (2016) Housing fly larvae in silk: mechanical properties of mineral-filled biocomposites. Materials &amp; Design, 109, 723–731.</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Skórczewska, K., Kwiatkowski, W. &amp; Kwiatkowski, M. (2020) Poly(vinyl chloride) composites with waste eggshell as a natural filler. Polymer Composites, 41(9), 3580–3589.</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Soundara, B. &amp; Vilasini, P.P. (2015) Effect of egg shell powder on the properties of clay. 50th Indian Geotechnical Conference, Pune.</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Teara, A. et al. (2019) Durability of fly ash and eggshell powder to replace cement in concrete. IOP Conf. Series: Earth and Environmental Science, 244, 012025.</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Torres, F.G., Troncoso, O.P., Piaggio, F. &amp; Hijar, A. (2010) Structure–property relationships of a biopolymer network: the eggshell membrane. Acta Biomaterialia, 6(9), 3687–3693.</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Tutuş, A. et al. (2018) Evaluation of egg shells in wallpaper production. 1st International Technological Sciences and Design Symposium, Giresun.</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Velasco, P.M. &amp; Gaona, J.L. (2011) Mechanical characterisation of compressed agricultural-waste panels. Construction and Building Materials.</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Victor, E.I., Louis, I.C., Alfred, N.O. &amp; Ozioma, U.N. (2019) Use of chicken eggshells as fillers in flexible polyurethane foam. International Journal of Industrial Engineering, 3(1), 1–6.</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Vilarinho, I.S., Filippi, E. &amp; Seabra, M.P. (2022) Development of eco-ceramic wall tiles with bioCaCO₃ from eggshells waste. Open Ceramics, 9, 100220.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William, J.S. &amp; Owen, J.C. (1995) Egg science and technology. 4th edn. Boca Raton, FL: CRC Press.</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Yönetken, A., Erol, A., Yakar, A. &amp; Peşmen, G. (2016) Ceramic-metal composites produced by electroless Ni plating of AlN-Astaloy Cr-M. IJCMNMME, 10(3).</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Zhao, X. et al. (2022) Mechanical recycling of low-density polyethylene: property evolution. Resources, Conservation and Recycling.</a:t>
            </a:r>
            <a:endParaRPr lang="en-US" sz="800" dirty="0"/>
          </a:p>
        </p:txBody>
      </p:sp>
      <p:sp>
        <p:nvSpPr>
          <p:cNvPr id="5" name="vr6.61.35"/>
          <p:cNvSpPr/>
          <p:nvPr/>
        </p:nvSpPr>
        <p:spPr>
          <a:xfrm>
            <a:off x="6035040" y="1234440"/>
            <a:ext cx="13716" cy="5029200"/>
          </a:xfrm>
          <a:prstGeom prst="rect">
            <a:avLst/>
          </a:prstGeom>
          <a:solidFill>
            <a:srgbClr val="E4E4E4"/>
          </a:solidFill>
          <a:ln w="12700">
            <a:solidFill>
              <a:srgbClr val="E4E4E4">
                <a:alpha val="0"/>
              </a:srgbClr>
            </a:solidFill>
            <a:prstDash val="solid"/>
          </a:ln>
        </p:spPr>
      </p:sp>
      <p:sp>
        <p:nvSpPr>
          <p:cNvPr id="6" name="Text 4"/>
          <p:cNvSpPr txBox="1"/>
          <p:nvPr/>
        </p:nvSpPr>
        <p:spPr>
          <a:xfrm>
            <a:off x="731520" y="6583680"/>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Standards applied: ASTM D790-17 · ISO 11925-2:2020 · ASTM D570-98(2018).</a:t>
            </a:r>
            <a:endParaRPr lang="en-US" sz="900" dirty="0"/>
          </a:p>
        </p:txBody>
      </p:sp>
      <p:sp>
        <p:nvSpPr>
          <p:cNvPr id="8"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theme/theme1.xml><?xml version="1.0" encoding="utf-8"?>
<a:theme xmlns:a="http://schemas.openxmlformats.org/drawingml/2006/main" name="Eggshell Mono">
  <a:themeElements>
    <a:clrScheme name="Eggshell Mono">
      <a:dk1>
        <a:srgbClr val="141414"/>
      </a:dk1>
      <a:lt1>
        <a:srgbClr val="FFFFFF"/>
      </a:lt1>
      <a:dk2>
        <a:srgbClr val="141414"/>
      </a:dk2>
      <a:lt2>
        <a:srgbClr val="F7F6F4"/>
      </a:lt2>
      <a:accent1>
        <a:srgbClr val="B4513A"/>
      </a:accent1>
      <a:accent2>
        <a:srgbClr val="8C8C8C"/>
      </a:accent2>
      <a:accent3>
        <a:srgbClr val="3C3C3C"/>
      </a:accent3>
      <a:accent4>
        <a:srgbClr val="141414"/>
      </a:accent4>
      <a:accent5>
        <a:srgbClr val="E4E4E4"/>
      </a:accent5>
      <a:accent6>
        <a:srgbClr val="8C8C8C"/>
      </a:accent6>
      <a:hlink>
        <a:srgbClr val="B4513A"/>
      </a:hlink>
      <a:folHlink>
        <a:srgbClr val="8C8C8C"/>
      </a:folHlink>
    </a:clrScheme>
    <a:fontScheme name="Eggshell Mon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Eggshell-Agar Biocomposites for Sustainable Interior Applications</dc:title>
  <dc:subject>PptxGenJS Presentation</dc:subject>
  <dc:creator>Betul Unal</dc:creator>
  <cp:lastModifiedBy>Betul Unal</cp:lastModifiedBy>
  <cp:revision>1</cp:revision>
  <dcterms:created xsi:type="dcterms:W3CDTF">2026-10-28T10:50:57Z</dcterms:created>
  <dcterms:modified xsi:type="dcterms:W3CDTF">2026-10-28T10:50:57Z</dcterms:modified>
</cp:coreProperties>
</file>