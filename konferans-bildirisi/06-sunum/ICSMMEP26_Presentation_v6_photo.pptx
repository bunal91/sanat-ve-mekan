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2.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d3b7a7a-c0de-9aa2-8074-cc15c71a0b77}">
          <p14:sldIdLst>
            <p14:sldId id="256"/>
          </p14:sldIdLst>
        </p14:section>
        <p14:section name="Position" id="{357c88d6-6873-81f6-8971-bd0220eb237f}">
          <p14:sldIdLst>
            <p14:sldId id="257"/>
            <p14:sldId id="258"/>
            <p14:sldId id="259"/>
            <p14:sldId id="260"/>
            <p14:sldId id="261"/>
          </p14:sldIdLst>
        </p14:section>
        <p14:section name="Material" id="{dfc9313e-daa3-b341-8cc8-c5b12d7b518d}">
          <p14:sldIdLst>
            <p14:sldId id="262"/>
            <p14:sldId id="263"/>
          </p14:sldIdLst>
        </p14:section>
        <p14:section name="Protocol" id="{c68f34c6-9c9c-3415-dd34-2aec21c2378c}">
          <p14:sldIdLst>
            <p14:sldId id="264"/>
            <p14:sldId id="265"/>
          </p14:sldIdLst>
        </p14:section>
        <p14:section name="Results" id="{1d8bcc5a-0f88-b0ba-6fd0-3bea003817c5}">
          <p14:sldIdLst>
            <p14:sldId id="266"/>
            <p14:sldId id="267"/>
            <p14:sldId id="268"/>
            <p14:sldId id="269"/>
            <p14:sldId id="270"/>
            <p14:sldId id="271"/>
            <p14:sldId id="272"/>
          </p14:sldIdLst>
        </p14:section>
        <p14:section name="Benchmark" id="{44c4e899-90e3-d16b-7467-d4c8f12e83d4}">
          <p14:sldIdLst>
            <p14:sldId id="273"/>
            <p14:sldId id="274"/>
            <p14:sldId id="275"/>
          </p14:sldIdLst>
        </p14:section>
        <p14:section name="Application" id="{71a0c625-2994-d974-42ab-6f1bd310a659}">
          <p14:sldIdLst>
            <p14:sldId id="276"/>
            <p14:sldId id="277"/>
          </p14:sldIdLst>
        </p14:section>
        <p14:section name="Closing" id="{05e990b7-eece-b92c-f139-2427ff9329c6}">
          <p14:sldIdLst>
            <p14:sldId id="278"/>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σ</c:v>
                </c:pt>
              </c:strCache>
            </c:strRef>
          </c:tx>
          <c:spPr>
            <a:solidFill>
              <a:srgbClr val="141414"/>
            </a:solidFill>
            <a:effectLst/>
          </c:spPr>
          <c:invertIfNegative val="0"/>
          <c:dLbls>
            <c:numFmt formatCode="0.00" sourceLinked="0"/>
            <c:txPr>
              <a:bodyPr/>
              <a:lstStyle/>
              <a:p>
                <a:pPr>
                  <a:defRPr b="0" i="0" strike="noStrike" sz="1300" u="none">
                    <a:solidFill>
                      <a:srgbClr val="141414"/>
                    </a:solidFill>
                    <a:latin typeface="+mn-lt"/>
                  </a:defRPr>
                </a:pPr>
              </a:p>
            </c:txPr>
            <c:showLegendKey val="0"/>
            <c:showVal val="1"/>
            <c:showCatName val="0"/>
            <c:showSerName val="0"/>
            <c:showPercent val="0"/>
            <c:showBubbleSize val="0"/>
            <c:showLeaderLines val="0"/>
          </c:dLbls>
          <c:cat>
            <c:multiLvlStrRef>
              <c:f>Sheet1!$A$2:$A$4</c:f>
              <c:multiLvlStrCache>
                <c:ptCount val="3"/>
                <c:lvl>
                  <c:pt idx="0">
                    <c:v>C1  0.37</c:v>
                  </c:pt>
                  <c:pt idx="1">
                    <c:v>C2  0.44</c:v>
                  </c:pt>
                  <c:pt idx="2">
                    <c:v>C3  0.59</c:v>
                  </c:pt>
                </c:lvl>
              </c:multiLvlStrCache>
            </c:multiLvlStrRef>
          </c:cat>
          <c:val>
            <c:numRef>
              <c:f>Sheet1!$B$2:$B$4</c:f>
              <c:numCache>
                <c:formatCode>General</c:formatCode>
                <c:ptCount val="3"/>
                <c:pt idx="0">
                  <c:v>2.55</c:v>
                </c:pt>
                <c:pt idx="1">
                  <c:v>3.12</c:v>
                </c:pt>
                <c:pt idx="2">
                  <c:v>4.1</c:v>
                </c:pt>
              </c:numCache>
            </c:numRef>
          </c:val>
        </c:ser>
        <c:dLbls>
          <c:numFmt formatCode="0.00" sourceLinked="0"/>
          <c:txPr>
            <a:bodyPr/>
            <a:lstStyle/>
            <a:p>
              <a:pPr>
                <a:defRPr b="0" i="0" strike="noStrike" sz="1300" u="none">
                  <a:solidFill>
                    <a:srgbClr val="141414"/>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8C8C8C"/>
                </a:solidFill>
                <a:latin typeface="+mn-lt"/>
              </a:defRPr>
            </a:pPr>
            <a:endParaRPr lang="en-US"/>
          </a:p>
        </c:txPr>
        <c:crossAx val="2094734552"/>
        <c:crosses val="autoZero"/>
        <c:auto val="1"/>
        <c:lblAlgn val="ctr"/>
        <c:noMultiLvlLbl val="1"/>
      </c:catAx>
      <c:valAx>
        <c:axId val="2094734552"/>
        <c:scaling>
          <c:orientation val="minMax"/>
          <c:max val="5"/>
        </c:scaling>
        <c:delete val="0"/>
        <c:axPos val="l"/>
        <c:majorGridlines>
          <c:spPr>
            <a:ln w="12700" cap="flat">
              <a:solidFill>
                <a:srgbClr val="E4E4E4"/>
              </a:solidFill>
              <a:prstDash val="solid"/>
              <a:round/>
            </a:ln>
          </c:spPr>
        </c:majorGridlines>
        <c:title>
          <c:tx>
            <c:rich>
              <a:bodyPr/>
              <a:lstStyle/>
              <a:p>
                <a:pPr>
                  <a:defRPr sz="1050" b="0" i="0" u="none" strike="noStrike">
                    <a:solidFill>
                      <a:srgbClr val="8C8C8C"/>
                    </a:solidFill>
                    <a:latin typeface="+mn-lt"/>
                  </a:defRPr>
                </a:pPr>
                <a:r>
                  <a:rPr sz="1050" b="0" i="0" u="none" strike="noStrike">
                    <a:solidFill>
                      <a:srgbClr val="8C8C8C"/>
                    </a:solidFill>
                    <a:latin typeface="+mn-lt"/>
                  </a:rPr>
                  <a:t>Compressive stress (MPa)</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C8C8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Compressive</c:v>
                </c:pt>
              </c:strCache>
            </c:strRef>
          </c:tx>
          <c:spPr>
            <a:solidFill>
              <a:srgbClr val="141414"/>
            </a:solidFill>
            <a:effectLst/>
          </c:spPr>
          <c:invertIfNegative val="0"/>
          <c:dLbls>
            <c:numFmt formatCode="0.0" sourceLinked="0"/>
            <c:txPr>
              <a:bodyPr/>
              <a:lstStyle/>
              <a:p>
                <a:pPr>
                  <a:defRPr b="0" i="0" strike="noStrike" sz="1000" u="none">
                    <a:solidFill>
                      <a:srgbClr val="3C3C3C"/>
                    </a:solidFill>
                    <a:latin typeface="+mn-lt"/>
                  </a:defRPr>
                </a:pPr>
              </a:p>
            </c:txPr>
            <c:showLegendKey val="0"/>
            <c:showVal val="1"/>
            <c:showCatName val="0"/>
            <c:showSerName val="0"/>
            <c:showPercent val="0"/>
            <c:showBubbleSize val="0"/>
            <c:showLeaderLines val="0"/>
          </c:dLbls>
          <c:cat>
            <c:multiLvlStrRef>
              <c:f>Sheet1!$A$2:$A$6</c:f>
              <c:multiLvlStrCache>
                <c:ptCount val="5"/>
                <c:lvl>
                  <c:pt idx="0">
                    <c:v>Compressed
mushroom panel</c:v>
                  </c:pt>
                  <c:pt idx="1">
                    <c:v>This study
(C3)</c:v>
                  </c:pt>
                  <c:pt idx="2">
                    <c:v>WPC</c:v>
                  </c:pt>
                  <c:pt idx="3">
                    <c:v>MDF</c:v>
                  </c:pt>
                  <c:pt idx="4">
                    <c:v>Travertine</c:v>
                  </c:pt>
                </c:lvl>
              </c:multiLvlStrCache>
            </c:multiLvlStrRef>
          </c:cat>
          <c:val>
            <c:numRef>
              <c:f>Sheet1!$B$2:$B$6</c:f>
              <c:numCache>
                <c:formatCode>General</c:formatCode>
                <c:ptCount val="5"/>
                <c:pt idx="0">
                  <c:v>1.2</c:v>
                </c:pt>
                <c:pt idx="1">
                  <c:v>4.1</c:v>
                </c:pt>
                <c:pt idx="2">
                  <c:v>7.2</c:v>
                </c:pt>
                <c:pt idx="3">
                  <c:v>24</c:v>
                </c:pt>
                <c:pt idx="4">
                  <c:v>80</c:v>
                </c:pt>
              </c:numCache>
            </c:numRef>
          </c:val>
        </c:ser>
        <c:ser>
          <c:idx val="1"/>
          <c:order val="1"/>
          <c:tx>
            <c:strRef>
              <c:f>Sheet1!$C$1</c:f>
              <c:strCache>
                <c:ptCount val="1"/>
                <c:pt idx="0">
                  <c:v>Flexural</c:v>
                </c:pt>
              </c:strCache>
            </c:strRef>
          </c:tx>
          <c:spPr>
            <a:solidFill>
              <a:srgbClr val="BDBDBD"/>
            </a:solidFill>
            <a:effectLst/>
          </c:spPr>
          <c:invertIfNegative val="0"/>
          <c:dLbls>
            <c:numFmt formatCode="0.0" sourceLinked="0"/>
            <c:txPr>
              <a:bodyPr/>
              <a:lstStyle/>
              <a:p>
                <a:pPr>
                  <a:defRPr b="0" i="0" strike="noStrike" sz="1000" u="none">
                    <a:solidFill>
                      <a:srgbClr val="3C3C3C"/>
                    </a:solidFill>
                    <a:latin typeface="+mn-lt"/>
                  </a:defRPr>
                </a:pPr>
              </a:p>
            </c:txPr>
            <c:showLegendKey val="0"/>
            <c:showVal val="1"/>
            <c:showCatName val="0"/>
            <c:showSerName val="0"/>
            <c:showPercent val="0"/>
            <c:showBubbleSize val="0"/>
            <c:showLeaderLines val="0"/>
          </c:dLbls>
          <c:cat>
            <c:multiLvlStrRef>
              <c:f>Sheet1!$A$2:$A$6</c:f>
              <c:multiLvlStrCache>
                <c:ptCount val="5"/>
                <c:lvl>
                  <c:pt idx="0">
                    <c:v>Compressed
mushroom panel</c:v>
                  </c:pt>
                  <c:pt idx="1">
                    <c:v>This study
(C3)</c:v>
                  </c:pt>
                  <c:pt idx="2">
                    <c:v>WPC</c:v>
                  </c:pt>
                  <c:pt idx="3">
                    <c:v>MDF</c:v>
                  </c:pt>
                  <c:pt idx="4">
                    <c:v>Travertine</c:v>
                  </c:pt>
                </c:lvl>
              </c:multiLvlStrCache>
            </c:multiLvlStrRef>
          </c:cat>
          <c:val>
            <c:numRef>
              <c:f>Sheet1!$C$2:$C$6</c:f>
              <c:numCache>
                <c:formatCode>General</c:formatCode>
                <c:ptCount val="5"/>
                <c:pt idx="0">
                  <c:v>1</c:v>
                </c:pt>
                <c:pt idx="1">
                  <c:v>2.3</c:v>
                </c:pt>
                <c:pt idx="2">
                  <c:v>12</c:v>
                </c:pt>
                <c:pt idx="3">
                  <c:v>35</c:v>
                </c:pt>
                <c:pt idx="4">
                  <c:v>11</c:v>
                </c:pt>
              </c:numCache>
            </c:numRef>
          </c:val>
        </c:ser>
        <c:dLbls>
          <c:numFmt formatCode="0.0" sourceLinked="0"/>
          <c:txPr>
            <a:bodyPr/>
            <a:lstStyle/>
            <a:p>
              <a:pPr>
                <a:defRPr b="0" i="0" strike="noStrike" sz="1000" u="none">
                  <a:solidFill>
                    <a:srgbClr val="3C3C3C"/>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8C8C8C"/>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4E4E4"/>
              </a:solidFill>
              <a:prstDash val="solid"/>
              <a:round/>
            </a:ln>
          </c:spPr>
        </c:majorGridlines>
        <c:title>
          <c:tx>
            <c:rich>
              <a:bodyPr/>
              <a:lstStyle/>
              <a:p>
                <a:pPr>
                  <a:defRPr sz="1050" b="0" i="0" u="none" strike="noStrike">
                    <a:solidFill>
                      <a:srgbClr val="8C8C8C"/>
                    </a:solidFill>
                    <a:latin typeface="+mn-lt"/>
                  </a:defRPr>
                </a:pPr>
                <a:r>
                  <a:rPr sz="1050" b="0" i="0" u="none" strike="noStrike">
                    <a:solidFill>
                      <a:srgbClr val="8C8C8C"/>
                    </a:solidFill>
                    <a:latin typeface="+mn-lt"/>
                  </a:rPr>
                  <a:t>Strength (MPa)</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C8C8C"/>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050">
              <a:solidFill>
                <a:srgbClr val="8C8C8C"/>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Betul Unal, Department of Interior Architecture, Cappadocia University. What you are looking at is the material: a composite of waste eggshell bound in agar. Over the next fifteen minutes I will give you the production protocol, the characterisation, and an argument about how materials like this should be evaluated.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material starts. Eggshell is generated continuously as food waste and landfilled at scale. Chemically it is almost pure calcium carbonate, with a porous, protein-bound crystalline structure and a specific gravity lower than most mineral fillers. Every shell in this study came from one bakery, collected over more than a year. The material argument for eggshell is settled - that is not what this paper is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problem, and it is a problem about the binder rather than the filler. Eggshell valorisation is well established - cement replacement, brick stabilisation, asphalt binders, lime substitution, ceramic bodies, particulate filler in thermoplastics, with loadings from five to thirty percent. But look at the lower block in each stack. In every one of those cases the binding phase is petrochemical, clinker-based or ceramic. The waste is valorised; the matrix is not. This study replaces the binder too, so both phases are biological.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binder is agar - a thermoreversible polysaccharide from red seaweed, which melts on heating and sets on cooling without chemical crosslinking. Its behaviour with glycerol is reasonably well mapped: Hernandez and colleagues ran thirty-two agar, glycerin and water formulations by design of experiments in 2022 and released the dataset openly. But all of that is unfilled thin film, tested in tension, for packaging. Nobody has characterised agar as the binder of a mineral-filled cast solid in bending, which is the actual loading case for an interior surface. The compositional logic carries over. The form and the loading case do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Claiming a gap is cheap, so let me measure it. Materiom is an open commons for biomaterial recipes - CC-BY-SA licensed, each recipe archived as prior art, property data indexed with citable DOIs. The infrastructure exists. But property data exists for four recipes. Four. The nearest analogue to this work is the last one, a shell mineral in a biological binder. Nothing couples a shell mineral to agar, and nothing reports compressive, flexural, ignitability and hygric data for one formulation family. So the contribution is not originality of idea. It is a protocol and a property set entering a commons that is four recipes deep.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questions. The first two are formulation questions, the next two benchmarking, and the fifth is the one I actually care about and will come back to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material. Four constituents: waste eggshell powder as the mineral phase, agar as the binder, glycerol as the plasticiser, water as the carrier, and a shellac finish where water resistance matters. Everything you see here is one formulation family - the variation in colour and texture comes from natural pigments and mould geometry, not from different compositions. Beetroot gives the dark tones.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constituents and a clear division of labour. Eggshell carries load. Agar forms the continuous network. Glycerol decides whether the composite behaves brittle or ductile. Shellac is a surface finish only. And water is not in the final material at all - it is the process variable that sets how densely the solids pack. Hold that, because it turns out to be the controlling variable.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protocol, and it is the contribution. Read it left to right with the temperatures above. Shell preparation at 120 degrees for twenty minutes - decontamination and drying, not sterilisation, because dry-heat sterilisation needs far higher temperatures and we did not verify sterility. Then the binder: water and glycerol first, agar added incrementally because bulk addition forms agglomerates that never redisperse, dissolved at 95. Temperature drops to 80 and the mineral goes in late, because adding it earlier lets it settle out. Fifty-five minutes of heating in total. Then silicone moulds, four days in mould, seven days ambient, no oven at any point. Two disclosures, and I will be explicit: the material shrinks as water leaves and we did not log the dried dimensions, and stirring was manual so shear rate is uncontrolled.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formulation matrix with derived ratios. Two things to read. In the compression series shell-to-binder is exactly two point zero zero in all three mixes - that was not planned as a control, but it means the only thing that varies is solids concentration. In the flexural series I declare a confound: glycerol was halved but batch mass was fixed at 770 grams, so water rose to compensate and the other ratios shifted with it. The plasticiser effect is not cleanly isolated.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 programme. I want the reporting convention on the record before any numbers appear: mechanical values are means of three specimens, individual values were not retained so I cannot give standard deviations, and the fire, absorption and density figures are single determinations - indicative, not characteristic.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compression result. Because shell-to-binder is fixed at two point zero zero across the series, solids concentration is the only variable - and compressive stress rises linearly with it, R-squared of 0.99 over the range 0.37 to 0.59. Three points will fit almost any line, so I am calling this a hypothesis rather than a law. But it has a clear physical reading: strength here is governed by packing density, not by mineral content as such. If that is right, the route to a stronger composite is to remove water, not to add shell. The fitted relation is sigma equals 6.93 times the solids-to-water ratio plus 0.04, if anyone wants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failure mode, and it is what I would ask about if I were sitting where you are. The curve is linear to about one megapascal, then stiffness falls away progressively as the agar network yields and the mineral redistributes. Peak arrives near ten percent strain with no abrupt drop, and beyond peak the specimen keeps deforming while holding together. Look at the photograph: the cube has barrelled, it is shorter and wider, and it is still one object. Energy is absorbed rather than released. One honesty point: the strain axis derives from an assumed ten percent maximum deformation based on observation, not instrumented measurement.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Flexure, to ASTM D790. The decisive variable is plasticiser. At 18.8 percent glycerol the composite deformed without developing measurable resistance - the machine registered nothing usable at all. Halving it gives 2.325 megapascals at a modulus of 192. The transition is sharp and it lies between those two values, which is itself useful to know. Two disclosures: the glycerol effect is confounded with solids concentration, and the specimen is kerfed on its tension face while the standard assumes a solid rectangle, so the modulus I am quoting is a lower bound on the bulk material. The flexural strength formula is three F L over two b d squared, if anyone wants to check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you to see this rather than take my word for it. On the left, the three-point rig at high deflection - the beam is bent well past anything a ceramic would survive, and it has not fractured. In the middle, a close-up of the tension face: those are transverse kerfs. And below, the same panel arched by hand. The kerfs are why it arches, and they are also why I am calling the modulus a lower bound rather than a material constant. I would rather point at this than have someone find it in the photograph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Reaction to fire. Ignition at around ten seconds under direct flame; self-extinguishing four seconds after the flame is removed. Charring stayed local, no lateral spread in either ignition, and - importantly for a polymer-adjacent material - no melting and no dripping. The probable mechanism is the carbonate fraction decomposing endothermically and releasing carbon dioxide, which dilutes the flame front locally. I did not verify that calorimetrically. And to be clear about what this is not: 11925-2 is an ignitability test. There is no Euroclass classification here, no cone calorimetry, no smoke density, no toxicity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more properties. On water: with three coats of shellac - a natural, biodegradable, hydrophobic resin - the specimen gained 0.7 percent of its mass over twenty-four hours of full immersion. There was slight dimensional expansion, and where the coating was thin the surface dissolved locally. So coating integrity, not the composite, is the limiting factor for humid use. On density: 1.38, which places it between the fungal and cellulosic bio-materials below and fired clay above. That is on a mould-volume basis, so it is a lower bound.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benchmark, against the materials this would sit alongside. Let me be blunt. One sixth of MDF, one twentieth of travertine - and travertine is the relevant comparison aesthetically, because the material actually looks like it. It does beat compressed mushroom panel, the only other fully bio-based board in the set, by a factor of three. But on strength alone it does not compete with engineered wood or stone, and I am not going to claim that it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benchmark, and this is the one that matters. Against the bio-based family the position changes completely. In compression, an order of magnitude above mycelium composites and hempcrete. In stiffness, 192 megapascals - between soy bioplastic at 124 and flax-fibre PLA at 198, inside the LDPE range. Note what that means. This is water-cast, dried at room temperature, no oven, no autoclave, no extrusion, and it reaches the stiffness of melt-processed bio-polymers. Wood is still two orders of magnitude above, and I will not pretend otherwise.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brings me to the fifth question. The diagram is the argument. The shaded area under the elastic region is the energy a material absorbs per unit volume before it takes permanent damage - and because that area is one half sigma epsilon, and epsilon is sigma over E, the area is sigma squared over two E. Notice where stiffness sits: in the denominator. So the low modulus that counted against the material on the previous slide is exactly what raises this quantity. For this formulation it comes to about 14 kilojoules per cubic metre, from this study's own two measurements - 2.325 squared over twice 192. Both test programmes gave the same qualitative result: substantial deformation with retained integrity. Strength records the load at which a material stops performing. It does not record whether it then fails gracefully or catastrophically, and for a demountable non-loadbearing component that is what governs service life. The honest limit: I cannot give you a comparative table, because the literature reports strength and modulus in separate studies on different formulations. This is a data point and a measurement convention, not a ranking.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application envelope follows from the measurements rather than being imposed on them. Non-loadbearing surfaces, carrying self-weight and handling loads only. Dry interiors - not wet rooms and not facades, because water performance depends on the coating. Away from ignition sources: it self-extinguishes, but it is unclassified. And modular rather than sheet, which matters because failure is then replaced one unit at a time. The assembly is adhesive-free and therefore reversible, units interlock and share load, and a damaged unit can be exchanged without dismantling the whole.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matters, as a loop rather than a list. A local bakery stream becomes shell powder with a grinder and a sieve. One fifty-five minute cook - no oven, no autoclave, no extrusion. A cast module, dried at ambient. Assembled reversibly, so it can be recovered intact. And at end of life every constituent degrades, including the shellac finish, so the material returns to the biological stream it came from. What is displaced is quarried limestone, in a surface application rather than a downcycled one. And the equipment list is a grinder, a sieve, a hotplate and silicone moulds, so production can be distributed rather than centralised. One caveat that matters: no life-cycle assessment was carried out. These are qualitative potentials grounded in the protocol, not quantified environmental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would rather set these out than have them found. No dispersion data. A confounded flexural series. A kerfed section treated as solid. Strain assumed rather than instrumented. Shrinkage unquantified. The process not instrumented - manual stirring, one laboratory, one operator. No durability testing of any kind. No fire classification and no life-cycle assessment. Each of these defines a specific next experiment rather than a vague caveat, and that is the programme for the next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conclusions. A protocol others can repeat, reported parameter by parameter. Packing density, not mineral content, governs compressive strength. Plasticiser content sets brittle or ductile, and the transition lies between 18.8 and 10.3 percent glycerol. A water-cast, ambient-dried material reaches bio-polymer stiffness without an oven. And strength is not the only criterion: deformation capacity governs service behaviour for this class, so strength and modulus should be reported together. Thank you.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left up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ULL">
    <p:bg>
      <p:bgPr>
        <a:solidFill>
          <a:srgbClr val="141414"/>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AGE">
    <p:bg>
      <p:bgPr>
        <a:solidFill>
          <a:srgbClr val="FFFFFF"/>
        </a:solidFill>
      </p:bgPr>
    </p:bg>
    <p:spTree>
      <p:nvGrpSpPr>
        <p:cNvPr id="1" name=""/>
        <p:cNvGrpSpPr/>
        <p:nvPr/>
      </p:nvGrpSpPr>
      <p:grpSpPr>
        <a:xfrm>
          <a:off x="0" y="0"/>
          <a:ext cx="0" cy="0"/>
          <a:chOff x="0" y="0"/>
          <a:chExt cx="0" cy="0"/>
        </a:xfrm>
      </p:grpSpPr>
      <p:sp>
        <p:nvSpPr>
          <p:cNvPr id="2" name="Text 0"/>
          <p:cNvSpPr/>
          <p:nvPr>
            <p:ph idx="100" hasCustomPrompt="1"/>
          </p:nvPr>
        </p:nvSpPr>
        <p:spPr>
          <a:xfrm>
            <a:off x="11292840" y="6355080"/>
            <a:ext cx="365760" cy="237744"/>
          </a:xfrm>
          <a:prstGeom prst="rect">
            <a:avLst/>
          </a:prstGeom>
          <a:noFill/>
          <a:ln/>
        </p:spPr>
        <p:txBody>
          <a:bodyPr wrap="square" rtlCol="0"/>
          <a:lstStyle>
            <a:lvl1pPr algn="r" indent="0" marL="0">
              <a:buNone/>
              <a:defRPr lang="en-US" sz="850" dirty="0">
                <a:solidFill>
                  <a:srgbClr val="BDBDBD"/>
                </a:solidFill>
                <a:latin typeface="Calibri" pitchFamily="34" charset="0"/>
                <a:ea typeface="Calibri" pitchFamily="34" charset="-122"/>
                <a:cs typeface="Calibri" pitchFamily="34" charset="-120"/>
              </a:defRPr>
            </a:lvl1pPr>
          </a:lstStyle>
          <a:p>
            <a:pPr algn="r" indent="0" marL="0">
              <a:buNone/>
            </a:pPr>
            <a:endParaRPr lang="en-US" sz="8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141414"/>
        </a:solidFill>
      </p:bgPr>
    </p:bg>
    <p:spTree>
      <p:nvGrpSpPr>
        <p:cNvPr id="1" name=""/>
        <p:cNvGrpSpPr/>
        <p:nvPr/>
      </p:nvGrpSpPr>
      <p:grpSpPr>
        <a:xfrm>
          <a:off x="0" y="0"/>
          <a:ext cx="0" cy="0"/>
          <a:chOff x="0" y="0"/>
          <a:chExt cx="0" cy="0"/>
        </a:xfrm>
      </p:grpSpPr>
      <p:sp>
        <p:nvSpPr>
          <p:cNvPr id="2" name="Text 0"/>
          <p:cNvSpPr/>
          <p:nvPr>
            <p:ph idx="100" hasCustomPrompt="1"/>
          </p:nvPr>
        </p:nvSpPr>
        <p:spPr>
          <a:xfrm>
            <a:off x="11292840" y="6355080"/>
            <a:ext cx="365760" cy="237744"/>
          </a:xfrm>
          <a:prstGeom prst="rect">
            <a:avLst/>
          </a:prstGeom>
          <a:noFill/>
          <a:ln/>
        </p:spPr>
        <p:txBody>
          <a:bodyPr wrap="square" rtlCol="0"/>
          <a:lstStyle>
            <a:lvl1pPr algn="r" indent="0" marL="0">
              <a:buNone/>
              <a:defRPr lang="en-US" sz="850" dirty="0">
                <a:solidFill>
                  <a:srgbClr val="5A5A5A"/>
                </a:solidFill>
                <a:latin typeface="Calibri" pitchFamily="34" charset="0"/>
                <a:ea typeface="Calibri" pitchFamily="34" charset="-122"/>
                <a:cs typeface="Calibri" pitchFamily="34" charset="-120"/>
              </a:defRPr>
            </a:lvl1pPr>
          </a:lstStyle>
          <a:p>
            <a:pPr algn="r" indent="0" marL="0">
              <a:buNone/>
            </a:pPr>
            <a:endParaRPr lang="en-US" sz="85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jpeg"/><Relationship Id="rId3" Type="http://schemas.openxmlformats.org/officeDocument/2006/relationships/image" Target="../media/image-15-3.jpg"/><Relationship Id="rId4" Type="http://schemas.openxmlformats.org/officeDocument/2006/relationships/slideLayout" Target="../slideLayouts/slideLayout2.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eg"/><Relationship Id="rId2" Type="http://schemas.openxmlformats.org/officeDocument/2006/relationships/image" Target="../media/image-21-2.jpeg"/><Relationship Id="rId3" Type="http://schemas.openxmlformats.org/officeDocument/2006/relationships/slideLayout" Target="../slideLayouts/slideLayout3.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ov" descr="/home/user/sanat-ve-mekan/konferans-bildirisi/03-gorseller/01-prototip-cesitlemeleri.jpeg">    </p:cNvPr>
          <p:cNvPicPr>
            <a:picLocks noChangeAspect="1"/>
          </p:cNvPicPr>
          <p:nvPr/>
        </p:nvPicPr>
        <p:blipFill>
          <a:blip r:embed="rId1"/>
          <a:stretch>
            <a:fillRect/>
          </a:stretch>
        </p:blipFill>
        <p:spPr>
          <a:xfrm>
            <a:off x="0" y="0"/>
            <a:ext cx="12188952" cy="6858000"/>
          </a:xfrm>
          <a:prstGeom prst="rect">
            <a:avLst/>
          </a:prstGeom>
        </p:spPr>
      </p:pic>
      <p:sp>
        <p:nvSpPr>
          <p:cNvPr id="3" name="panel"/>
          <p:cNvSpPr/>
          <p:nvPr/>
        </p:nvSpPr>
        <p:spPr>
          <a:xfrm>
            <a:off x="0" y="0"/>
            <a:ext cx="5394960" cy="6858000"/>
          </a:xfrm>
          <a:prstGeom prst="rect">
            <a:avLst/>
          </a:prstGeom>
          <a:solidFill>
            <a:srgbClr val="141414"/>
          </a:solidFill>
          <a:ln w="12700">
            <a:solidFill>
              <a:srgbClr val="141414">
                <a:alpha val="0"/>
              </a:srgbClr>
            </a:solidFill>
            <a:prstDash val="solid"/>
          </a:ln>
        </p:spPr>
      </p:sp>
      <p:sp>
        <p:nvSpPr>
          <p:cNvPr id="4" name="Text 1"/>
          <p:cNvSpPr txBox="1"/>
          <p:nvPr/>
        </p:nvSpPr>
        <p:spPr>
          <a:xfrm>
            <a:off x="777240" y="2011680"/>
            <a:ext cx="4206240" cy="1463040"/>
          </a:xfrm>
          <a:prstGeom prst="rect">
            <a:avLst/>
          </a:prstGeom>
          <a:noFill/>
          <a:ln/>
        </p:spPr>
        <p:txBody>
          <a:bodyPr wrap="square" lIns="0" tIns="0" rIns="0" bIns="0" rtlCol="0" anchor="b"/>
          <a:lstStyle/>
          <a:p>
            <a:pPr indent="0" marL="0">
              <a:lnSpc>
                <a:spcPts val="4200"/>
              </a:lnSpc>
              <a:buNone/>
            </a:pPr>
            <a:r>
              <a:rPr lang="en-US" sz="3200" b="1" dirty="0">
                <a:solidFill>
                  <a:srgbClr val="FFFFFF"/>
                </a:solidFill>
                <a:latin typeface="Calibri" pitchFamily="34" charset="0"/>
                <a:ea typeface="Calibri" pitchFamily="34" charset="-122"/>
                <a:cs typeface="Calibri" pitchFamily="34" charset="-120"/>
              </a:rPr>
              <a:t>Eggshell–Agar</a:t>
            </a:r>
            <a:endParaRPr lang="en-US" sz="3200" dirty="0"/>
          </a:p>
          <a:p>
            <a:pPr indent="0" marL="0">
              <a:lnSpc>
                <a:spcPts val="4200"/>
              </a:lnSpc>
              <a:buNone/>
            </a:pPr>
            <a:r>
              <a:rPr lang="en-US" sz="3200" b="1" dirty="0">
                <a:solidFill>
                  <a:srgbClr val="FFFFFF"/>
                </a:solidFill>
                <a:latin typeface="Calibri" pitchFamily="34" charset="0"/>
                <a:ea typeface="Calibri" pitchFamily="34" charset="-122"/>
                <a:cs typeface="Calibri" pitchFamily="34" charset="-120"/>
              </a:rPr>
              <a:t>Biocomposites</a:t>
            </a:r>
            <a:endParaRPr lang="en-US" sz="3200" dirty="0"/>
          </a:p>
        </p:txBody>
      </p:sp>
      <p:sp>
        <p:nvSpPr>
          <p:cNvPr id="5" name="Text 2"/>
          <p:cNvSpPr txBox="1"/>
          <p:nvPr/>
        </p:nvSpPr>
        <p:spPr>
          <a:xfrm>
            <a:off x="777240" y="3611880"/>
            <a:ext cx="4023360" cy="640080"/>
          </a:xfrm>
          <a:prstGeom prst="rect">
            <a:avLst/>
          </a:prstGeom>
          <a:noFill/>
          <a:ln/>
        </p:spPr>
        <p:txBody>
          <a:bodyPr wrap="square" lIns="0" tIns="0" rIns="0" bIns="0" rtlCol="0" anchor="ctr"/>
          <a:lstStyle/>
          <a:p>
            <a:pPr indent="0" marL="0">
              <a:lnSpc>
                <a:spcPts val="1900"/>
              </a:lnSpc>
              <a:buNone/>
            </a:pPr>
            <a:r>
              <a:rPr lang="en-US" sz="1300" dirty="0">
                <a:solidFill>
                  <a:srgbClr val="C8C8C8"/>
                </a:solidFill>
                <a:latin typeface="Calibri" pitchFamily="34" charset="0"/>
                <a:ea typeface="Calibri" pitchFamily="34" charset="-122"/>
                <a:cs typeface="Calibri" pitchFamily="34" charset="-120"/>
              </a:rPr>
              <a:t>Development and characterisation for sustainable interior applications</a:t>
            </a:r>
            <a:endParaRPr lang="en-US" sz="1300" dirty="0"/>
          </a:p>
        </p:txBody>
      </p:sp>
      <p:sp>
        <p:nvSpPr>
          <p:cNvPr id="6" name="ru0.854.95"/>
          <p:cNvSpPr/>
          <p:nvPr/>
        </p:nvSpPr>
        <p:spPr>
          <a:xfrm>
            <a:off x="777240" y="4526280"/>
            <a:ext cx="2194560" cy="9144"/>
          </a:xfrm>
          <a:prstGeom prst="rect">
            <a:avLst/>
          </a:prstGeom>
          <a:solidFill>
            <a:srgbClr val="5A5A5A"/>
          </a:solidFill>
          <a:ln w="12700">
            <a:solidFill>
              <a:srgbClr val="5A5A5A">
                <a:alpha val="0"/>
              </a:srgbClr>
            </a:solidFill>
            <a:prstDash val="solid"/>
          </a:ln>
        </p:spPr>
      </p:sp>
      <p:sp>
        <p:nvSpPr>
          <p:cNvPr id="7" name="Text 4"/>
          <p:cNvSpPr txBox="1"/>
          <p:nvPr/>
        </p:nvSpPr>
        <p:spPr>
          <a:xfrm>
            <a:off x="777240" y="4754880"/>
            <a:ext cx="4023360" cy="9144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Betül Ünal</a:t>
            </a:r>
            <a:endParaRPr lang="en-US" sz="1300" dirty="0"/>
          </a:p>
          <a:p>
            <a:pPr indent="0" marL="0">
              <a:buNone/>
            </a:pPr>
            <a:r>
              <a:rPr lang="en-US" sz="1100" dirty="0">
                <a:solidFill>
                  <a:srgbClr val="9E9E9E"/>
                </a:solidFill>
                <a:latin typeface="Calibri" pitchFamily="34" charset="0"/>
                <a:ea typeface="Calibri" pitchFamily="34" charset="-122"/>
                <a:cs typeface="Calibri" pitchFamily="34" charset="-120"/>
              </a:rPr>
              <a:t>Department of Interior Architecture</a:t>
            </a:r>
            <a:endParaRPr lang="en-US" sz="1300" dirty="0"/>
          </a:p>
          <a:p>
            <a:pPr indent="0" marL="0">
              <a:buNone/>
            </a:pPr>
            <a:r>
              <a:rPr lang="en-US" sz="1100" dirty="0">
                <a:solidFill>
                  <a:srgbClr val="9E9E9E"/>
                </a:solidFill>
                <a:latin typeface="Calibri" pitchFamily="34" charset="0"/>
                <a:ea typeface="Calibri" pitchFamily="34" charset="-122"/>
                <a:cs typeface="Calibri" pitchFamily="34" charset="-120"/>
              </a:rPr>
              <a:t>Cappadocia University</a:t>
            </a:r>
            <a:endParaRPr lang="en-US" sz="1300" dirty="0"/>
          </a:p>
        </p:txBody>
      </p:sp>
      <p:sp>
        <p:nvSpPr>
          <p:cNvPr id="8" name="Text 5"/>
          <p:cNvSpPr txBox="1"/>
          <p:nvPr/>
        </p:nvSpPr>
        <p:spPr>
          <a:xfrm>
            <a:off x="777240" y="5943600"/>
            <a:ext cx="4206240" cy="274320"/>
          </a:xfrm>
          <a:prstGeom prst="rect">
            <a:avLst/>
          </a:prstGeom>
          <a:noFill/>
          <a:ln/>
        </p:spPr>
        <p:txBody>
          <a:bodyPr wrap="square" lIns="0" tIns="0" rIns="0" bIns="0" rtlCol="0" anchor="ctr"/>
          <a:lstStyle/>
          <a:p>
            <a:pPr indent="0" marL="0">
              <a:buNone/>
            </a:pPr>
            <a:r>
              <a:rPr lang="en-US" sz="850" b="1" spc="140" kern="0" dirty="0">
                <a:solidFill>
                  <a:srgbClr val="5A5A5A"/>
                </a:solidFill>
                <a:latin typeface="Calibri" pitchFamily="34" charset="0"/>
                <a:ea typeface="Calibri" pitchFamily="34" charset="-122"/>
                <a:cs typeface="Calibri" pitchFamily="34" charset="-120"/>
              </a:rPr>
              <a:t>ICSMMEP-26   ·   MECCA   ·   3–4 NOVEMBER 2026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The waste</a:t>
            </a:r>
            <a:endParaRPr lang="en-US" sz="2000" dirty="0"/>
          </a:p>
        </p:txBody>
      </p:sp>
      <p:pic>
        <p:nvPicPr>
          <p:cNvPr id="3" name="waste" descr="/home/user/sanat-ve-mekan/konferans-bildirisi/03-gorseller/03-uretim-sureci.jpeg">    </p:cNvPr>
          <p:cNvPicPr>
            <a:picLocks noChangeAspect="1"/>
          </p:cNvPicPr>
          <p:nvPr/>
        </p:nvPicPr>
        <p:blipFill>
          <a:blip r:embed="rId1"/>
          <a:stretch>
            <a:fillRect/>
          </a:stretch>
        </p:blipFill>
        <p:spPr>
          <a:xfrm>
            <a:off x="0" y="1234440"/>
            <a:ext cx="12188952" cy="3895344"/>
          </a:xfrm>
          <a:prstGeom prst="rect">
            <a:avLst/>
          </a:prstGeom>
        </p:spPr>
      </p:pic>
      <p:sp>
        <p:nvSpPr>
          <p:cNvPr id="4" name="Text 1"/>
          <p:cNvSpPr txBox="1"/>
          <p:nvPr/>
        </p:nvSpPr>
        <p:spPr>
          <a:xfrm>
            <a:off x="731520" y="5349240"/>
            <a:ext cx="2194560" cy="571500"/>
          </a:xfrm>
          <a:prstGeom prst="rect">
            <a:avLst/>
          </a:prstGeom>
          <a:noFill/>
          <a:ln/>
        </p:spPr>
        <p:txBody>
          <a:bodyPr wrap="square" lIns="0" tIns="0" rIns="0" bIns="0" rtlCol="0" anchor="b"/>
          <a:lstStyle/>
          <a:p>
            <a:pPr indent="0" marL="0">
              <a:buNone/>
            </a:pPr>
            <a:r>
              <a:rPr lang="en-US" sz="3000" b="1" dirty="0">
                <a:solidFill>
                  <a:srgbClr val="B4513A"/>
                </a:solidFill>
                <a:latin typeface="Calibri" pitchFamily="34" charset="0"/>
                <a:ea typeface="Calibri" pitchFamily="34" charset="-122"/>
                <a:cs typeface="Calibri" pitchFamily="34" charset="-120"/>
              </a:rPr>
              <a:t>94%</a:t>
            </a:r>
            <a:endParaRPr lang="en-US" sz="3000" dirty="0"/>
          </a:p>
        </p:txBody>
      </p:sp>
      <p:sp>
        <p:nvSpPr>
          <p:cNvPr id="5" name="Text 2"/>
          <p:cNvSpPr txBox="1"/>
          <p:nvPr/>
        </p:nvSpPr>
        <p:spPr>
          <a:xfrm>
            <a:off x="731520" y="5957316"/>
            <a:ext cx="2194560" cy="420624"/>
          </a:xfrm>
          <a:prstGeom prst="rect">
            <a:avLst/>
          </a:prstGeom>
          <a:noFill/>
          <a:ln/>
        </p:spPr>
        <p:txBody>
          <a:bodyPr wrap="square" lIns="0" tIns="0" rIns="0" bIns="0" rtlCol="0" anchor="t"/>
          <a:lstStyle/>
          <a:p>
            <a:pPr indent="0" marL="0">
              <a:lnSpc>
                <a:spcPts val="1250"/>
              </a:lnSpc>
              <a:buNone/>
            </a:pPr>
            <a:r>
              <a:rPr lang="en-US" sz="950" dirty="0">
                <a:solidFill>
                  <a:srgbClr val="8C8C8C"/>
                </a:solidFill>
                <a:latin typeface="Calibri" pitchFamily="34" charset="0"/>
                <a:ea typeface="Calibri" pitchFamily="34" charset="-122"/>
                <a:cs typeface="Calibri" pitchFamily="34" charset="-120"/>
              </a:rPr>
              <a:t>calcium carbonate</a:t>
            </a:r>
            <a:endParaRPr lang="en-US" sz="950" dirty="0"/>
          </a:p>
        </p:txBody>
      </p:sp>
      <p:sp>
        <p:nvSpPr>
          <p:cNvPr id="6" name="Text 3"/>
          <p:cNvSpPr txBox="1"/>
          <p:nvPr/>
        </p:nvSpPr>
        <p:spPr>
          <a:xfrm>
            <a:off x="3291840" y="5349240"/>
            <a:ext cx="2194560" cy="571500"/>
          </a:xfrm>
          <a:prstGeom prst="rect">
            <a:avLst/>
          </a:prstGeom>
          <a:noFill/>
          <a:ln/>
        </p:spPr>
        <p:txBody>
          <a:bodyPr wrap="square" lIns="0" tIns="0" rIns="0" bIns="0" rtlCol="0" anchor="b"/>
          <a:lstStyle/>
          <a:p>
            <a:pPr indent="0" marL="0">
              <a:buNone/>
            </a:pPr>
            <a:r>
              <a:rPr lang="en-US" sz="3000" b="1" dirty="0">
                <a:solidFill>
                  <a:srgbClr val="B4513A"/>
                </a:solidFill>
                <a:latin typeface="Calibri" pitchFamily="34" charset="0"/>
                <a:ea typeface="Calibri" pitchFamily="34" charset="-122"/>
                <a:cs typeface="Calibri" pitchFamily="34" charset="-120"/>
              </a:rPr>
              <a:t>&gt; 12</a:t>
            </a:r>
            <a:endParaRPr lang="en-US" sz="3000" dirty="0"/>
          </a:p>
        </p:txBody>
      </p:sp>
      <p:sp>
        <p:nvSpPr>
          <p:cNvPr id="7" name="Text 4"/>
          <p:cNvSpPr txBox="1"/>
          <p:nvPr/>
        </p:nvSpPr>
        <p:spPr>
          <a:xfrm>
            <a:off x="3291840" y="5957316"/>
            <a:ext cx="2194560" cy="420624"/>
          </a:xfrm>
          <a:prstGeom prst="rect">
            <a:avLst/>
          </a:prstGeom>
          <a:noFill/>
          <a:ln/>
        </p:spPr>
        <p:txBody>
          <a:bodyPr wrap="square" lIns="0" tIns="0" rIns="0" bIns="0" rtlCol="0" anchor="t"/>
          <a:lstStyle/>
          <a:p>
            <a:pPr indent="0" marL="0">
              <a:lnSpc>
                <a:spcPts val="1250"/>
              </a:lnSpc>
              <a:buNone/>
            </a:pPr>
            <a:r>
              <a:rPr lang="en-US" sz="950" dirty="0">
                <a:solidFill>
                  <a:srgbClr val="8C8C8C"/>
                </a:solidFill>
                <a:latin typeface="Calibri" pitchFamily="34" charset="0"/>
                <a:ea typeface="Calibri" pitchFamily="34" charset="-122"/>
                <a:cs typeface="Calibri" pitchFamily="34" charset="-120"/>
              </a:rPr>
              <a:t>months of collection</a:t>
            </a:r>
            <a:endParaRPr lang="en-US" sz="950" dirty="0"/>
          </a:p>
        </p:txBody>
      </p:sp>
      <p:sp>
        <p:nvSpPr>
          <p:cNvPr id="8" name="Text 5"/>
          <p:cNvSpPr txBox="1"/>
          <p:nvPr/>
        </p:nvSpPr>
        <p:spPr>
          <a:xfrm>
            <a:off x="5852160" y="5349240"/>
            <a:ext cx="2194560" cy="571500"/>
          </a:xfrm>
          <a:prstGeom prst="rect">
            <a:avLst/>
          </a:prstGeom>
          <a:noFill/>
          <a:ln/>
        </p:spPr>
        <p:txBody>
          <a:bodyPr wrap="square" lIns="0" tIns="0" rIns="0" bIns="0" rtlCol="0" anchor="b"/>
          <a:lstStyle/>
          <a:p>
            <a:pPr indent="0" marL="0">
              <a:buNone/>
            </a:pPr>
            <a:r>
              <a:rPr lang="en-US" sz="3000" b="1" dirty="0">
                <a:solidFill>
                  <a:srgbClr val="B4513A"/>
                </a:solidFill>
                <a:latin typeface="Calibri" pitchFamily="34" charset="0"/>
                <a:ea typeface="Calibri" pitchFamily="34" charset="-122"/>
                <a:cs typeface="Calibri" pitchFamily="34" charset="-120"/>
              </a:rPr>
              <a:t>1</a:t>
            </a:r>
            <a:endParaRPr lang="en-US" sz="3000" dirty="0"/>
          </a:p>
        </p:txBody>
      </p:sp>
      <p:sp>
        <p:nvSpPr>
          <p:cNvPr id="9" name="Text 6"/>
          <p:cNvSpPr txBox="1"/>
          <p:nvPr/>
        </p:nvSpPr>
        <p:spPr>
          <a:xfrm>
            <a:off x="5852160" y="5957316"/>
            <a:ext cx="2194560" cy="420624"/>
          </a:xfrm>
          <a:prstGeom prst="rect">
            <a:avLst/>
          </a:prstGeom>
          <a:noFill/>
          <a:ln/>
        </p:spPr>
        <p:txBody>
          <a:bodyPr wrap="square" lIns="0" tIns="0" rIns="0" bIns="0" rtlCol="0" anchor="t"/>
          <a:lstStyle/>
          <a:p>
            <a:pPr indent="0" marL="0">
              <a:lnSpc>
                <a:spcPts val="1250"/>
              </a:lnSpc>
              <a:buNone/>
            </a:pPr>
            <a:r>
              <a:rPr lang="en-US" sz="950" dirty="0">
                <a:solidFill>
                  <a:srgbClr val="8C8C8C"/>
                </a:solidFill>
                <a:latin typeface="Calibri" pitchFamily="34" charset="0"/>
                <a:ea typeface="Calibri" pitchFamily="34" charset="-122"/>
                <a:cs typeface="Calibri" pitchFamily="34" charset="-120"/>
              </a:rPr>
              <a:t>local bakery</a:t>
            </a:r>
            <a:endParaRPr lang="en-US" sz="950" dirty="0"/>
          </a:p>
        </p:txBody>
      </p:sp>
      <p:sp>
        <p:nvSpPr>
          <p:cNvPr id="10" name="Text 7"/>
          <p:cNvSpPr txBox="1"/>
          <p:nvPr/>
        </p:nvSpPr>
        <p:spPr>
          <a:xfrm>
            <a:off x="8503920" y="5440680"/>
            <a:ext cx="2926080" cy="914400"/>
          </a:xfrm>
          <a:prstGeom prst="rect">
            <a:avLst/>
          </a:prstGeom>
          <a:noFill/>
          <a:ln/>
        </p:spPr>
        <p:txBody>
          <a:bodyPr wrap="square" lIns="0" tIns="0" rIns="0" bIns="0" rtlCol="0" anchor="t"/>
          <a:lstStyle/>
          <a:p>
            <a:pPr indent="0" marL="0">
              <a:lnSpc>
                <a:spcPts val="1550"/>
              </a:lnSpc>
              <a:buNone/>
            </a:pPr>
            <a:r>
              <a:rPr lang="en-US" sz="1050" dirty="0">
                <a:solidFill>
                  <a:srgbClr val="8C8C8C"/>
                </a:solidFill>
                <a:latin typeface="Calibri" pitchFamily="34" charset="0"/>
                <a:ea typeface="Calibri" pitchFamily="34" charset="-122"/>
                <a:cs typeface="Calibri" pitchFamily="34" charset="-120"/>
              </a:rPr>
              <a:t>Porous, protein-bound crystalline structure. Specific gravity 0.85–2.66 — lighter than most mineral fillers.</a:t>
            </a:r>
            <a:endParaRPr lang="en-US" sz="1050" dirty="0"/>
          </a:p>
        </p:txBody>
      </p:sp>
      <p:sp>
        <p:nvSpPr>
          <p:cNvPr id="12"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The problem</a:t>
            </a:r>
            <a:endParaRPr lang="en-US" sz="2000" dirty="0"/>
          </a:p>
        </p:txBody>
      </p:sp>
      <p:sp>
        <p:nvSpPr>
          <p:cNvPr id="3" name="Text 1"/>
          <p:cNvSpPr txBox="1"/>
          <p:nvPr/>
        </p:nvSpPr>
        <p:spPr>
          <a:xfrm>
            <a:off x="731520" y="1371600"/>
            <a:ext cx="5029200" cy="219456"/>
          </a:xfrm>
          <a:prstGeom prst="rect">
            <a:avLst/>
          </a:prstGeom>
          <a:noFill/>
          <a:ln/>
        </p:spPr>
        <p:txBody>
          <a:bodyPr wrap="square" lIns="0" tIns="0" rIns="0" bIns="0" rtlCol="0" anchor="ctr"/>
          <a:lstStyle/>
          <a:p>
            <a:pPr indent="0" marL="0">
              <a:buNone/>
            </a:pPr>
            <a:r>
              <a:rPr lang="en-US" sz="850" b="1" spc="130" kern="0" dirty="0">
                <a:solidFill>
                  <a:srgbClr val="BDBDBD"/>
                </a:solidFill>
                <a:latin typeface="Calibri" pitchFamily="34" charset="0"/>
                <a:ea typeface="Calibri" pitchFamily="34" charset="-122"/>
                <a:cs typeface="Calibri" pitchFamily="34" charset="-120"/>
              </a:rPr>
              <a:t>ESTABLISHED PRACTICE</a:t>
            </a:r>
            <a:endParaRPr lang="en-US" sz="850" dirty="0"/>
          </a:p>
        </p:txBody>
      </p:sp>
      <p:sp>
        <p:nvSpPr>
          <p:cNvPr id="4" name="t0.8"/>
          <p:cNvSpPr/>
          <p:nvPr/>
        </p:nvSpPr>
        <p:spPr>
          <a:xfrm>
            <a:off x="731520" y="1645920"/>
            <a:ext cx="5029200" cy="1371600"/>
          </a:xfrm>
          <a:prstGeom prst="rect">
            <a:avLst/>
          </a:prstGeom>
          <a:solidFill>
            <a:srgbClr val="F7F6F4"/>
          </a:solidFill>
          <a:ln w="12700">
            <a:solidFill>
              <a:srgbClr val="E4E4E4"/>
            </a:solidFill>
            <a:prstDash val="solid"/>
          </a:ln>
        </p:spPr>
      </p:sp>
      <p:sp>
        <p:nvSpPr>
          <p:cNvPr id="5" name="b0.8"/>
          <p:cNvSpPr/>
          <p:nvPr/>
        </p:nvSpPr>
        <p:spPr>
          <a:xfrm>
            <a:off x="731520" y="3017520"/>
            <a:ext cx="5029200" cy="1920240"/>
          </a:xfrm>
          <a:prstGeom prst="rect">
            <a:avLst/>
          </a:prstGeom>
          <a:solidFill>
            <a:srgbClr val="FFFFFF"/>
          </a:solidFill>
          <a:ln w="12700">
            <a:solidFill>
              <a:srgbClr val="E4E4E4"/>
            </a:solidFill>
            <a:prstDash val="solid"/>
          </a:ln>
        </p:spPr>
      </p:sp>
      <p:sp>
        <p:nvSpPr>
          <p:cNvPr id="6" name="Text 4"/>
          <p:cNvSpPr txBox="1"/>
          <p:nvPr/>
        </p:nvSpPr>
        <p:spPr>
          <a:xfrm>
            <a:off x="1051560" y="2029968"/>
            <a:ext cx="4389120" cy="310896"/>
          </a:xfrm>
          <a:prstGeom prst="rect">
            <a:avLst/>
          </a:prstGeom>
          <a:noFill/>
          <a:ln/>
        </p:spPr>
        <p:txBody>
          <a:bodyPr wrap="square" lIns="0" tIns="0" rIns="0" bIns="0" rtlCol="0" anchor="ctr"/>
          <a:lstStyle/>
          <a:p>
            <a:pPr indent="0" marL="0">
              <a:buNone/>
            </a:pPr>
            <a:r>
              <a:rPr lang="en-US" sz="1400" b="1" dirty="0">
                <a:solidFill>
                  <a:srgbClr val="141414"/>
                </a:solidFill>
                <a:latin typeface="Calibri" pitchFamily="34" charset="0"/>
                <a:ea typeface="Calibri" pitchFamily="34" charset="-122"/>
                <a:cs typeface="Calibri" pitchFamily="34" charset="-120"/>
              </a:rPr>
              <a:t>Mineral phase</a:t>
            </a:r>
            <a:endParaRPr lang="en-US" sz="1400" dirty="0"/>
          </a:p>
        </p:txBody>
      </p:sp>
      <p:sp>
        <p:nvSpPr>
          <p:cNvPr id="7" name="Text 5"/>
          <p:cNvSpPr txBox="1"/>
          <p:nvPr/>
        </p:nvSpPr>
        <p:spPr>
          <a:xfrm>
            <a:off x="1051560" y="2377440"/>
            <a:ext cx="4389120" cy="365760"/>
          </a:xfrm>
          <a:prstGeom prst="rect">
            <a:avLst/>
          </a:prstGeom>
          <a:noFill/>
          <a:ln/>
        </p:spPr>
        <p:txBody>
          <a:bodyPr wrap="square" lIns="0" tIns="0" rIns="0" bIns="0" rtlCol="0" anchor="ctr"/>
          <a:lstStyle/>
          <a:p>
            <a:pPr indent="0" marL="0">
              <a:buNone/>
            </a:pPr>
            <a:r>
              <a:rPr lang="en-US" sz="1100" dirty="0">
                <a:solidFill>
                  <a:srgbClr val="8C8C8C"/>
                </a:solidFill>
                <a:latin typeface="Calibri" pitchFamily="34" charset="0"/>
                <a:ea typeface="Calibri" pitchFamily="34" charset="-122"/>
                <a:cs typeface="Calibri" pitchFamily="34" charset="-120"/>
              </a:rPr>
              <a:t>waste eggshell, 5–30% of matrix</a:t>
            </a:r>
            <a:endParaRPr lang="en-US" sz="1100" dirty="0"/>
          </a:p>
        </p:txBody>
      </p:sp>
      <p:sp>
        <p:nvSpPr>
          <p:cNvPr id="8" name="Text 6"/>
          <p:cNvSpPr txBox="1"/>
          <p:nvPr/>
        </p:nvSpPr>
        <p:spPr>
          <a:xfrm>
            <a:off x="1051560" y="3474720"/>
            <a:ext cx="4389120" cy="310896"/>
          </a:xfrm>
          <a:prstGeom prst="rect">
            <a:avLst/>
          </a:prstGeom>
          <a:noFill/>
          <a:ln/>
        </p:spPr>
        <p:txBody>
          <a:bodyPr wrap="square" lIns="0" tIns="0" rIns="0" bIns="0" rtlCol="0" anchor="ctr"/>
          <a:lstStyle/>
          <a:p>
            <a:pPr indent="0" marL="0">
              <a:buNone/>
            </a:pPr>
            <a:r>
              <a:rPr lang="en-US" sz="1400" b="1" dirty="0">
                <a:solidFill>
                  <a:srgbClr val="141414"/>
                </a:solidFill>
                <a:latin typeface="Calibri" pitchFamily="34" charset="0"/>
                <a:ea typeface="Calibri" pitchFamily="34" charset="-122"/>
                <a:cs typeface="Calibri" pitchFamily="34" charset="-120"/>
              </a:rPr>
              <a:t>Binding phase</a:t>
            </a:r>
            <a:endParaRPr lang="en-US" sz="1400" dirty="0"/>
          </a:p>
        </p:txBody>
      </p:sp>
      <p:sp>
        <p:nvSpPr>
          <p:cNvPr id="9" name="Text 7"/>
          <p:cNvSpPr txBox="1"/>
          <p:nvPr/>
        </p:nvSpPr>
        <p:spPr>
          <a:xfrm>
            <a:off x="1051560" y="3840480"/>
            <a:ext cx="4389120" cy="777240"/>
          </a:xfrm>
          <a:prstGeom prst="rect">
            <a:avLst/>
          </a:prstGeom>
          <a:noFill/>
          <a:ln/>
        </p:spPr>
        <p:txBody>
          <a:bodyPr wrap="square" lIns="0" tIns="0" rIns="0" bIns="0" rtlCol="0" anchor="ctr"/>
          <a:lstStyle/>
          <a:p>
            <a:pPr indent="0" marL="0">
              <a:lnSpc>
                <a:spcPts val="1500"/>
              </a:lnSpc>
              <a:buNone/>
            </a:pPr>
            <a:r>
              <a:rPr lang="en-US" sz="1100" dirty="0">
                <a:solidFill>
                  <a:srgbClr val="8C8C8C"/>
                </a:solidFill>
                <a:latin typeface="Calibri" pitchFamily="34" charset="0"/>
                <a:ea typeface="Calibri" pitchFamily="34" charset="-122"/>
                <a:cs typeface="Calibri" pitchFamily="34" charset="-120"/>
              </a:rPr>
              <a:t>Portland clinker · bitumen · lime · ceramic body · PLA, epoxy, PVC, PU</a:t>
            </a:r>
            <a:endParaRPr lang="en-US" sz="1100" dirty="0"/>
          </a:p>
        </p:txBody>
      </p:sp>
      <p:sp>
        <p:nvSpPr>
          <p:cNvPr id="10" name="Text 8"/>
          <p:cNvSpPr txBox="1"/>
          <p:nvPr/>
        </p:nvSpPr>
        <p:spPr>
          <a:xfrm>
            <a:off x="6400800" y="1371600"/>
            <a:ext cx="5029200" cy="219456"/>
          </a:xfrm>
          <a:prstGeom prst="rect">
            <a:avLst/>
          </a:prstGeom>
          <a:noFill/>
          <a:ln/>
        </p:spPr>
        <p:txBody>
          <a:bodyPr wrap="square" lIns="0" tIns="0" rIns="0" bIns="0" rtlCol="0" anchor="ctr"/>
          <a:lstStyle/>
          <a:p>
            <a:pPr indent="0" marL="0">
              <a:buNone/>
            </a:pPr>
            <a:r>
              <a:rPr lang="en-US" sz="850" b="1" spc="130" kern="0" dirty="0">
                <a:solidFill>
                  <a:srgbClr val="BDBDBD"/>
                </a:solidFill>
                <a:latin typeface="Calibri" pitchFamily="34" charset="0"/>
                <a:ea typeface="Calibri" pitchFamily="34" charset="-122"/>
                <a:cs typeface="Calibri" pitchFamily="34" charset="-120"/>
              </a:rPr>
              <a:t>THIS STUDY</a:t>
            </a:r>
            <a:endParaRPr lang="en-US" sz="850" dirty="0"/>
          </a:p>
        </p:txBody>
      </p:sp>
      <p:sp>
        <p:nvSpPr>
          <p:cNvPr id="11" name="t7"/>
          <p:cNvSpPr/>
          <p:nvPr/>
        </p:nvSpPr>
        <p:spPr>
          <a:xfrm>
            <a:off x="6400800" y="1645920"/>
            <a:ext cx="5029200" cy="1371600"/>
          </a:xfrm>
          <a:prstGeom prst="rect">
            <a:avLst/>
          </a:prstGeom>
          <a:solidFill>
            <a:srgbClr val="F7F6F4"/>
          </a:solidFill>
          <a:ln w="12700">
            <a:solidFill>
              <a:srgbClr val="E4E4E4"/>
            </a:solidFill>
            <a:prstDash val="solid"/>
          </a:ln>
        </p:spPr>
      </p:sp>
      <p:sp>
        <p:nvSpPr>
          <p:cNvPr id="12" name="b7"/>
          <p:cNvSpPr/>
          <p:nvPr/>
        </p:nvSpPr>
        <p:spPr>
          <a:xfrm>
            <a:off x="6400800" y="3017520"/>
            <a:ext cx="5029200" cy="1920240"/>
          </a:xfrm>
          <a:prstGeom prst="rect">
            <a:avLst/>
          </a:prstGeom>
          <a:solidFill>
            <a:srgbClr val="B4513A"/>
          </a:solidFill>
          <a:ln w="12700">
            <a:solidFill>
              <a:srgbClr val="B4513A"/>
            </a:solidFill>
            <a:prstDash val="solid"/>
          </a:ln>
        </p:spPr>
      </p:sp>
      <p:sp>
        <p:nvSpPr>
          <p:cNvPr id="13" name="Text 11"/>
          <p:cNvSpPr txBox="1"/>
          <p:nvPr/>
        </p:nvSpPr>
        <p:spPr>
          <a:xfrm>
            <a:off x="6720840" y="2029968"/>
            <a:ext cx="4389120" cy="310896"/>
          </a:xfrm>
          <a:prstGeom prst="rect">
            <a:avLst/>
          </a:prstGeom>
          <a:noFill/>
          <a:ln/>
        </p:spPr>
        <p:txBody>
          <a:bodyPr wrap="square" lIns="0" tIns="0" rIns="0" bIns="0" rtlCol="0" anchor="ctr"/>
          <a:lstStyle/>
          <a:p>
            <a:pPr indent="0" marL="0">
              <a:buNone/>
            </a:pPr>
            <a:r>
              <a:rPr lang="en-US" sz="1400" b="1" dirty="0">
                <a:solidFill>
                  <a:srgbClr val="141414"/>
                </a:solidFill>
                <a:latin typeface="Calibri" pitchFamily="34" charset="0"/>
                <a:ea typeface="Calibri" pitchFamily="34" charset="-122"/>
                <a:cs typeface="Calibri" pitchFamily="34" charset="-120"/>
              </a:rPr>
              <a:t>Mineral phase</a:t>
            </a:r>
            <a:endParaRPr lang="en-US" sz="1400" dirty="0"/>
          </a:p>
        </p:txBody>
      </p:sp>
      <p:sp>
        <p:nvSpPr>
          <p:cNvPr id="14" name="Text 12"/>
          <p:cNvSpPr txBox="1"/>
          <p:nvPr/>
        </p:nvSpPr>
        <p:spPr>
          <a:xfrm>
            <a:off x="6720840" y="2377440"/>
            <a:ext cx="4389120" cy="365760"/>
          </a:xfrm>
          <a:prstGeom prst="rect">
            <a:avLst/>
          </a:prstGeom>
          <a:noFill/>
          <a:ln/>
        </p:spPr>
        <p:txBody>
          <a:bodyPr wrap="square" lIns="0" tIns="0" rIns="0" bIns="0" rtlCol="0" anchor="ctr"/>
          <a:lstStyle/>
          <a:p>
            <a:pPr indent="0" marL="0">
              <a:buNone/>
            </a:pPr>
            <a:r>
              <a:rPr lang="en-US" sz="1100" dirty="0">
                <a:solidFill>
                  <a:srgbClr val="8C8C8C"/>
                </a:solidFill>
                <a:latin typeface="Calibri" pitchFamily="34" charset="0"/>
                <a:ea typeface="Calibri" pitchFamily="34" charset="-122"/>
                <a:cs typeface="Calibri" pitchFamily="34" charset="-120"/>
              </a:rPr>
              <a:t>waste eggshell, 66% of solids</a:t>
            </a:r>
            <a:endParaRPr lang="en-US" sz="1100" dirty="0"/>
          </a:p>
        </p:txBody>
      </p:sp>
      <p:sp>
        <p:nvSpPr>
          <p:cNvPr id="15" name="Text 13"/>
          <p:cNvSpPr txBox="1"/>
          <p:nvPr/>
        </p:nvSpPr>
        <p:spPr>
          <a:xfrm>
            <a:off x="6720840" y="3474720"/>
            <a:ext cx="4389120"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Binding phase</a:t>
            </a:r>
            <a:endParaRPr lang="en-US" sz="1400" dirty="0"/>
          </a:p>
        </p:txBody>
      </p:sp>
      <p:sp>
        <p:nvSpPr>
          <p:cNvPr id="16" name="Text 14"/>
          <p:cNvSpPr txBox="1"/>
          <p:nvPr/>
        </p:nvSpPr>
        <p:spPr>
          <a:xfrm>
            <a:off x="6720840" y="3840480"/>
            <a:ext cx="4389120" cy="777240"/>
          </a:xfrm>
          <a:prstGeom prst="rect">
            <a:avLst/>
          </a:prstGeom>
          <a:noFill/>
          <a:ln/>
        </p:spPr>
        <p:txBody>
          <a:bodyPr wrap="square" lIns="0" tIns="0" rIns="0" bIns="0" rtlCol="0" anchor="ctr"/>
          <a:lstStyle/>
          <a:p>
            <a:pPr indent="0" marL="0">
              <a:lnSpc>
                <a:spcPts val="1500"/>
              </a:lnSpc>
              <a:buNone/>
            </a:pPr>
            <a:r>
              <a:rPr lang="en-US" sz="1100" dirty="0">
                <a:solidFill>
                  <a:srgbClr val="F2E4DE"/>
                </a:solidFill>
                <a:latin typeface="Calibri" pitchFamily="34" charset="0"/>
                <a:ea typeface="Calibri" pitchFamily="34" charset="-122"/>
                <a:cs typeface="Calibri" pitchFamily="34" charset="-120"/>
              </a:rPr>
              <a:t>agar, plasticised with glycerol</a:t>
            </a:r>
            <a:endParaRPr lang="en-US" sz="1100" dirty="0"/>
          </a:p>
        </p:txBody>
      </p:sp>
      <p:sp>
        <p:nvSpPr>
          <p:cNvPr id="17" name="ar"/>
          <p:cNvSpPr/>
          <p:nvPr/>
        </p:nvSpPr>
        <p:spPr>
          <a:xfrm>
            <a:off x="5897880" y="3108960"/>
            <a:ext cx="411480" cy="292608"/>
          </a:xfrm>
          <a:prstGeom prst="rightArrow">
            <a:avLst/>
          </a:prstGeom>
          <a:solidFill>
            <a:srgbClr val="B4513A"/>
          </a:solidFill>
          <a:ln w="12700">
            <a:solidFill>
              <a:srgbClr val="B4513A">
                <a:alpha val="0"/>
              </a:srgbClr>
            </a:solidFill>
            <a:prstDash val="solid"/>
          </a:ln>
        </p:spPr>
      </p:sp>
      <p:sp>
        <p:nvSpPr>
          <p:cNvPr id="18" name="Text 16"/>
          <p:cNvSpPr txBox="1"/>
          <p:nvPr/>
        </p:nvSpPr>
        <p:spPr>
          <a:xfrm>
            <a:off x="731520" y="5166360"/>
            <a:ext cx="5029200" cy="731520"/>
          </a:xfrm>
          <a:prstGeom prst="rect">
            <a:avLst/>
          </a:prstGeom>
          <a:noFill/>
          <a:ln/>
        </p:spPr>
        <p:txBody>
          <a:bodyPr wrap="square" lIns="0" tIns="0" rIns="0" bIns="0" rtlCol="0" anchor="t"/>
          <a:lstStyle/>
          <a:p>
            <a:pPr indent="0" marL="0">
              <a:lnSpc>
                <a:spcPts val="1550"/>
              </a:lnSpc>
              <a:buNone/>
            </a:pPr>
            <a:r>
              <a:rPr lang="en-US" sz="1050" dirty="0">
                <a:solidFill>
                  <a:srgbClr val="8C8C8C"/>
                </a:solidFill>
                <a:latin typeface="Calibri" pitchFamily="34" charset="0"/>
                <a:ea typeface="Calibri" pitchFamily="34" charset="-122"/>
                <a:cs typeface="Calibri" pitchFamily="34" charset="-120"/>
              </a:rPr>
              <a:t>The waste is valorised. The matrix is not.</a:t>
            </a:r>
            <a:endParaRPr lang="en-US" sz="1050" dirty="0"/>
          </a:p>
        </p:txBody>
      </p:sp>
      <p:sp>
        <p:nvSpPr>
          <p:cNvPr id="19" name="Text 17"/>
          <p:cNvSpPr txBox="1"/>
          <p:nvPr/>
        </p:nvSpPr>
        <p:spPr>
          <a:xfrm>
            <a:off x="6400800" y="5166360"/>
            <a:ext cx="5029200" cy="731520"/>
          </a:xfrm>
          <a:prstGeom prst="rect">
            <a:avLst/>
          </a:prstGeom>
          <a:noFill/>
          <a:ln/>
        </p:spPr>
        <p:txBody>
          <a:bodyPr wrap="square" lIns="0" tIns="0" rIns="0" bIns="0" rtlCol="0" anchor="t"/>
          <a:lstStyle/>
          <a:p>
            <a:pPr indent="0" marL="0">
              <a:lnSpc>
                <a:spcPts val="1550"/>
              </a:lnSpc>
              <a:buNone/>
            </a:pPr>
            <a:r>
              <a:rPr lang="en-US" sz="1050" dirty="0">
                <a:solidFill>
                  <a:srgbClr val="8C8C8C"/>
                </a:solidFill>
                <a:latin typeface="Calibri" pitchFamily="34" charset="0"/>
                <a:ea typeface="Calibri" pitchFamily="34" charset="-122"/>
                <a:cs typeface="Calibri" pitchFamily="34" charset="-120"/>
              </a:rPr>
              <a:t>Both phases biological and biodegradable.</a:t>
            </a:r>
            <a:endParaRPr lang="en-US" sz="1050" dirty="0"/>
          </a:p>
        </p:txBody>
      </p:sp>
      <p:sp>
        <p:nvSpPr>
          <p:cNvPr id="20" name="Text 18"/>
          <p:cNvSpPr txBox="1"/>
          <p:nvPr/>
        </p:nvSpPr>
        <p:spPr>
          <a:xfrm>
            <a:off x="731520" y="5897880"/>
            <a:ext cx="1069848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Teara et al. 2019 · Adogla et al. 2016 · Razzaq &amp; Yousif 2017 · Soundara &amp; Vilasini 2015 · Vilarinho et al. 2022 · Owuamanam &amp; Cree 2020</a:t>
            </a:r>
            <a:endParaRPr lang="en-US" sz="900" dirty="0"/>
          </a:p>
        </p:txBody>
      </p:sp>
      <p:sp>
        <p:nvSpPr>
          <p:cNvPr id="22"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The binder</a:t>
            </a:r>
            <a:endParaRPr lang="en-US" sz="2000" dirty="0"/>
          </a:p>
        </p:txBody>
      </p:sp>
      <p:sp>
        <p:nvSpPr>
          <p:cNvPr id="3" name="Text 1"/>
          <p:cNvSpPr txBox="1"/>
          <p:nvPr/>
        </p:nvSpPr>
        <p:spPr>
          <a:xfrm>
            <a:off x="731520" y="1371600"/>
            <a:ext cx="5029200" cy="1280160"/>
          </a:xfrm>
          <a:prstGeom prst="rect">
            <a:avLst/>
          </a:prstGeom>
          <a:noFill/>
          <a:ln/>
        </p:spPr>
        <p:txBody>
          <a:bodyPr wrap="square" lIns="0" tIns="0" rIns="0" bIns="0" rtlCol="0" anchor="t"/>
          <a:lstStyle/>
          <a:p>
            <a:pPr indent="0" marL="0">
              <a:lnSpc>
                <a:spcPts val="1900"/>
              </a:lnSpc>
              <a:buNone/>
            </a:pPr>
            <a:r>
              <a:rPr lang="en-US" sz="1300" dirty="0">
                <a:solidFill>
                  <a:srgbClr val="3C3C3C"/>
                </a:solidFill>
                <a:latin typeface="Calibri" pitchFamily="34" charset="0"/>
                <a:ea typeface="Calibri" pitchFamily="34" charset="-122"/>
                <a:cs typeface="Calibri" pitchFamily="34" charset="-120"/>
              </a:rPr>
              <a:t>Agar is a thermoreversible polysaccharide from red seaweed. Its behaviour with glycerol has been mapped systematically — 32 formulations, released as an open dataset.</a:t>
            </a:r>
            <a:endParaRPr lang="en-US" sz="1300" dirty="0"/>
          </a:p>
        </p:txBody>
      </p:sp>
      <p:sp>
        <p:nvSpPr>
          <p:cNvPr id="4" name="Text 2"/>
          <p:cNvSpPr txBox="1"/>
          <p:nvPr/>
        </p:nvSpPr>
        <p:spPr>
          <a:xfrm>
            <a:off x="731520" y="2834640"/>
            <a:ext cx="502920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Hernández et al. (2022), Materials 15(11), 3954</a:t>
            </a:r>
            <a:endParaRPr lang="en-US" sz="900" dirty="0"/>
          </a:p>
        </p:txBody>
      </p:sp>
      <p:sp>
        <p:nvSpPr>
          <p:cNvPr id="5" name="Text 3"/>
          <p:cNvSpPr txBox="1"/>
          <p:nvPr/>
        </p:nvSpPr>
        <p:spPr>
          <a:xfrm>
            <a:off x="731520" y="3429000"/>
            <a:ext cx="5029200" cy="219456"/>
          </a:xfrm>
          <a:prstGeom prst="rect">
            <a:avLst/>
          </a:prstGeom>
          <a:noFill/>
          <a:ln/>
        </p:spPr>
        <p:txBody>
          <a:bodyPr wrap="square" lIns="0" tIns="0" rIns="0" bIns="0" rtlCol="0" anchor="ctr"/>
          <a:lstStyle/>
          <a:p>
            <a:pPr indent="0" marL="0">
              <a:buNone/>
            </a:pPr>
            <a:r>
              <a:rPr lang="en-US" sz="850" b="1" spc="130" kern="0" dirty="0">
                <a:solidFill>
                  <a:srgbClr val="BDBDBD"/>
                </a:solidFill>
                <a:latin typeface="Calibri" pitchFamily="34" charset="0"/>
                <a:ea typeface="Calibri" pitchFamily="34" charset="-122"/>
                <a:cs typeface="Calibri" pitchFamily="34" charset="-120"/>
              </a:rPr>
              <a:t>BUT ONLY AS A FILM</a:t>
            </a:r>
            <a:endParaRPr lang="en-US" sz="850" dirty="0"/>
          </a:p>
        </p:txBody>
      </p:sp>
      <p:sp>
        <p:nvSpPr>
          <p:cNvPr id="6" name="Text 4"/>
          <p:cNvSpPr txBox="1"/>
          <p:nvPr/>
        </p:nvSpPr>
        <p:spPr>
          <a:xfrm>
            <a:off x="731520" y="3703320"/>
            <a:ext cx="5029200" cy="1188720"/>
          </a:xfrm>
          <a:prstGeom prst="rect">
            <a:avLst/>
          </a:prstGeom>
          <a:noFill/>
          <a:ln/>
        </p:spPr>
        <p:txBody>
          <a:bodyPr wrap="square" lIns="0" tIns="0" rIns="0" bIns="0" rtlCol="0" anchor="t"/>
          <a:lstStyle/>
          <a:p>
            <a:pPr indent="0" marL="0">
              <a:lnSpc>
                <a:spcPts val="1900"/>
              </a:lnSpc>
              <a:buNone/>
            </a:pPr>
            <a:r>
              <a:rPr lang="en-US" sz="1300" dirty="0">
                <a:solidFill>
                  <a:srgbClr val="3C3C3C"/>
                </a:solidFill>
                <a:latin typeface="Calibri" pitchFamily="34" charset="0"/>
                <a:ea typeface="Calibri" pitchFamily="34" charset="-122"/>
                <a:cs typeface="Calibri" pitchFamily="34" charset="-120"/>
              </a:rPr>
              <a:t>Unfilled, thin, tested in uniaxial tension, for packaging. Never as the binder of a mineral-filled cast solid in bending.</a:t>
            </a:r>
            <a:endParaRPr lang="en-US" sz="1300" dirty="0"/>
          </a:p>
        </p:txBody>
      </p:sp>
      <p:sp>
        <p:nvSpPr>
          <p:cNvPr id="7" name="vr6.61.5"/>
          <p:cNvSpPr/>
          <p:nvPr/>
        </p:nvSpPr>
        <p:spPr>
          <a:xfrm>
            <a:off x="6035040" y="1371600"/>
            <a:ext cx="13716" cy="4206240"/>
          </a:xfrm>
          <a:prstGeom prst="rect">
            <a:avLst/>
          </a:prstGeom>
          <a:solidFill>
            <a:srgbClr val="E4E4E4"/>
          </a:solidFill>
          <a:ln w="12700">
            <a:solidFill>
              <a:srgbClr val="E4E4E4">
                <a:alpha val="0"/>
              </a:srgbClr>
            </a:solidFill>
            <a:prstDash val="solid"/>
          </a:ln>
        </p:spPr>
      </p:sp>
      <p:sp>
        <p:nvSpPr>
          <p:cNvPr id="8" name="Text 6"/>
          <p:cNvSpPr txBox="1"/>
          <p:nvPr/>
        </p:nvSpPr>
        <p:spPr>
          <a:xfrm>
            <a:off x="6492240" y="1371600"/>
            <a:ext cx="4937760" cy="219456"/>
          </a:xfrm>
          <a:prstGeom prst="rect">
            <a:avLst/>
          </a:prstGeom>
          <a:noFill/>
          <a:ln/>
        </p:spPr>
        <p:txBody>
          <a:bodyPr wrap="square" lIns="0" tIns="0" rIns="0" bIns="0" rtlCol="0" anchor="ctr"/>
          <a:lstStyle/>
          <a:p>
            <a:pPr indent="0" marL="0">
              <a:buNone/>
            </a:pPr>
            <a:r>
              <a:rPr lang="en-US" sz="850" b="1" spc="130" kern="0" dirty="0">
                <a:solidFill>
                  <a:srgbClr val="BDBDBD"/>
                </a:solidFill>
                <a:latin typeface="Calibri" pitchFamily="34" charset="0"/>
                <a:ea typeface="Calibri" pitchFamily="34" charset="-122"/>
                <a:cs typeface="Calibri" pitchFamily="34" charset="-120"/>
              </a:rPr>
              <a:t>THE SHIFT</a:t>
            </a:r>
            <a:endParaRPr lang="en-US" sz="8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92240" y="1645920"/>
          <a:ext cx="4937760" cy="914400"/>
        </p:xfrm>
        <a:graphic>
          <a:graphicData uri="http://schemas.openxmlformats.org/drawingml/2006/table">
            <a:tbl>
              <a:tblPr/>
              <a:tblGrid>
                <a:gridCol w="1188720"/>
                <a:gridCol w="1783080"/>
                <a:gridCol w="1965960"/>
              </a:tblGrid>
              <a:tr h="384048">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Film literature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This study</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r>
              <a:tr h="384048">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Form</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Thin cast film</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Cast solid, 20–50 mm</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84048">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Filler</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Unfilled</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Mineral, 66% of solids</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84048">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Loading</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Uniaxial tension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Compression, bending</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84048">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Use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Packaging</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Interior surfaces</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bl>
          </a:graphicData>
        </a:graphic>
      </p:graphicFrame>
      <p:sp>
        <p:nvSpPr>
          <p:cNvPr id="10" name="Text 7"/>
          <p:cNvSpPr txBox="1"/>
          <p:nvPr/>
        </p:nvSpPr>
        <p:spPr>
          <a:xfrm>
            <a:off x="6492240" y="3611880"/>
            <a:ext cx="4937760" cy="731520"/>
          </a:xfrm>
          <a:prstGeom prst="rect">
            <a:avLst/>
          </a:prstGeom>
          <a:noFill/>
          <a:ln/>
        </p:spPr>
        <p:txBody>
          <a:bodyPr wrap="square" lIns="0" tIns="0" rIns="0" bIns="0" rtlCol="0" anchor="t"/>
          <a:lstStyle/>
          <a:p>
            <a:pPr indent="0" marL="0">
              <a:lnSpc>
                <a:spcPts val="1550"/>
              </a:lnSpc>
              <a:buNone/>
            </a:pPr>
            <a:r>
              <a:rPr lang="en-US" sz="1050" dirty="0">
                <a:solidFill>
                  <a:srgbClr val="8C8C8C"/>
                </a:solidFill>
                <a:latin typeface="Calibri" pitchFamily="34" charset="0"/>
                <a:ea typeface="Calibri" pitchFamily="34" charset="-122"/>
                <a:cs typeface="Calibri" pitchFamily="34" charset="-120"/>
              </a:rPr>
              <a:t>The compositional logic carries over. The form and the loading case do not.</a:t>
            </a:r>
            <a:endParaRPr lang="en-US" sz="1050" dirty="0"/>
          </a:p>
        </p:txBody>
      </p:sp>
      <p:sp>
        <p:nvSpPr>
          <p:cNvPr id="12"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The gap</a:t>
            </a:r>
            <a:endParaRPr lang="en-US" sz="2000" dirty="0"/>
          </a:p>
        </p:txBody>
      </p:sp>
      <p:sp>
        <p:nvSpPr>
          <p:cNvPr id="3" name="Text 1"/>
          <p:cNvSpPr txBox="1"/>
          <p:nvPr/>
        </p:nvSpPr>
        <p:spPr>
          <a:xfrm>
            <a:off x="731520" y="1371600"/>
            <a:ext cx="4846320" cy="1371600"/>
          </a:xfrm>
          <a:prstGeom prst="rect">
            <a:avLst/>
          </a:prstGeom>
          <a:noFill/>
          <a:ln/>
        </p:spPr>
        <p:txBody>
          <a:bodyPr wrap="square" lIns="0" tIns="0" rIns="0" bIns="0" rtlCol="0" anchor="t"/>
          <a:lstStyle/>
          <a:p>
            <a:pPr indent="0" marL="0">
              <a:lnSpc>
                <a:spcPts val="1900"/>
              </a:lnSpc>
              <a:buNone/>
            </a:pPr>
            <a:r>
              <a:rPr lang="en-US" sz="1300" dirty="0">
                <a:solidFill>
                  <a:srgbClr val="FFFFFF"/>
                </a:solidFill>
                <a:latin typeface="Calibri" pitchFamily="34" charset="0"/>
                <a:ea typeface="Calibri" pitchFamily="34" charset="-122"/>
                <a:cs typeface="Calibri" pitchFamily="34" charset="-120"/>
              </a:rPr>
              <a:t>Materiom publishes biomaterial recipes under CC-BY-SA, archives each as prior art, and indexes property data with citable DOIs. The infrastructure for shared procedures is built.</a:t>
            </a:r>
            <a:endParaRPr lang="en-US" sz="1300" dirty="0"/>
          </a:p>
        </p:txBody>
      </p:sp>
      <p:sp>
        <p:nvSpPr>
          <p:cNvPr id="4" name="Text 2"/>
          <p:cNvSpPr txBox="1"/>
          <p:nvPr/>
        </p:nvSpPr>
        <p:spPr>
          <a:xfrm>
            <a:off x="731520" y="3108960"/>
            <a:ext cx="2011680" cy="1028700"/>
          </a:xfrm>
          <a:prstGeom prst="rect">
            <a:avLst/>
          </a:prstGeom>
          <a:noFill/>
          <a:ln/>
        </p:spPr>
        <p:txBody>
          <a:bodyPr wrap="square" lIns="0" tIns="0" rIns="0" bIns="0" rtlCol="0" anchor="b"/>
          <a:lstStyle/>
          <a:p>
            <a:pPr indent="0" marL="0">
              <a:buNone/>
            </a:pPr>
            <a:r>
              <a:rPr lang="en-US" sz="5400" b="1" dirty="0">
                <a:solidFill>
                  <a:srgbClr val="B4513A"/>
                </a:solidFill>
                <a:latin typeface="Calibri" pitchFamily="34" charset="0"/>
                <a:ea typeface="Calibri" pitchFamily="34" charset="-122"/>
                <a:cs typeface="Calibri" pitchFamily="34" charset="-120"/>
              </a:rPr>
              <a:t>4</a:t>
            </a:r>
            <a:endParaRPr lang="en-US" sz="5400" dirty="0"/>
          </a:p>
        </p:txBody>
      </p:sp>
      <p:sp>
        <p:nvSpPr>
          <p:cNvPr id="5" name="Text 3"/>
          <p:cNvSpPr txBox="1"/>
          <p:nvPr/>
        </p:nvSpPr>
        <p:spPr>
          <a:xfrm>
            <a:off x="731520" y="4174236"/>
            <a:ext cx="2011680" cy="420624"/>
          </a:xfrm>
          <a:prstGeom prst="rect">
            <a:avLst/>
          </a:prstGeom>
          <a:noFill/>
          <a:ln/>
        </p:spPr>
        <p:txBody>
          <a:bodyPr wrap="square" lIns="0" tIns="0" rIns="0" bIns="0" rtlCol="0" anchor="t"/>
          <a:lstStyle/>
          <a:p>
            <a:pPr indent="0" marL="0">
              <a:lnSpc>
                <a:spcPts val="1250"/>
              </a:lnSpc>
              <a:buNone/>
            </a:pPr>
            <a:r>
              <a:rPr lang="en-US" sz="950" dirty="0">
                <a:solidFill>
                  <a:srgbClr val="9E9E9E"/>
                </a:solidFill>
                <a:latin typeface="Calibri" pitchFamily="34" charset="0"/>
                <a:ea typeface="Calibri" pitchFamily="34" charset="-122"/>
                <a:cs typeface="Calibri" pitchFamily="34" charset="-120"/>
              </a:rPr>
              <a:t>recipes with published property data</a:t>
            </a:r>
            <a:endParaRPr lang="en-US" sz="950" dirty="0"/>
          </a:p>
        </p:txBody>
      </p:sp>
      <p:sp>
        <p:nvSpPr>
          <p:cNvPr id="6" name="Text 4"/>
          <p:cNvSpPr txBox="1"/>
          <p:nvPr/>
        </p:nvSpPr>
        <p:spPr>
          <a:xfrm>
            <a:off x="3200400" y="3200400"/>
            <a:ext cx="2377440" cy="219456"/>
          </a:xfrm>
          <a:prstGeom prst="rect">
            <a:avLst/>
          </a:prstGeom>
          <a:noFill/>
          <a:ln/>
        </p:spPr>
        <p:txBody>
          <a:bodyPr wrap="square" lIns="0" tIns="0" rIns="0" bIns="0" rtlCol="0" anchor="ctr"/>
          <a:lstStyle/>
          <a:p>
            <a:pPr indent="0" marL="0">
              <a:buNone/>
            </a:pPr>
            <a:r>
              <a:rPr lang="en-US" sz="850" b="1" spc="130" kern="0" dirty="0">
                <a:solidFill>
                  <a:srgbClr val="8A8A8A"/>
                </a:solidFill>
                <a:latin typeface="Calibri" pitchFamily="34" charset="0"/>
                <a:ea typeface="Calibri" pitchFamily="34" charset="-122"/>
                <a:cs typeface="Calibri" pitchFamily="34" charset="-120"/>
              </a:rPr>
              <a:t>WHICH ARE</a:t>
            </a:r>
            <a:endParaRPr lang="en-US" sz="850" dirty="0"/>
          </a:p>
        </p:txBody>
      </p:sp>
      <p:sp>
        <p:nvSpPr>
          <p:cNvPr id="7" name="Text 5"/>
          <p:cNvSpPr txBox="1"/>
          <p:nvPr/>
        </p:nvSpPr>
        <p:spPr>
          <a:xfrm>
            <a:off x="3200400" y="3474720"/>
            <a:ext cx="2377440" cy="1463040"/>
          </a:xfrm>
          <a:prstGeom prst="rect">
            <a:avLst/>
          </a:prstGeom>
          <a:noFill/>
          <a:ln/>
        </p:spPr>
        <p:txBody>
          <a:bodyPr wrap="square" lIns="0" tIns="0" rIns="0" bIns="0" rtlCol="0" anchor="t"/>
          <a:lstStyle/>
          <a:p>
            <a:pPr indent="0" marL="0">
              <a:lnSpc>
                <a:spcPts val="1600"/>
              </a:lnSpc>
              <a:buNone/>
            </a:pPr>
            <a:r>
              <a:rPr lang="en-US" sz="1100" dirty="0">
                <a:solidFill>
                  <a:srgbClr val="9E9E9E"/>
                </a:solidFill>
                <a:latin typeface="Calibri" pitchFamily="34" charset="0"/>
                <a:ea typeface="Calibri" pitchFamily="34" charset="-122"/>
                <a:cs typeface="Calibri" pitchFamily="34" charset="-120"/>
              </a:rPr>
              <a:t>agar bioplastic</a:t>
            </a:r>
            <a:endParaRPr lang="en-US" sz="1100" dirty="0"/>
          </a:p>
          <a:p>
            <a:pPr indent="0" marL="0">
              <a:lnSpc>
                <a:spcPts val="1600"/>
              </a:lnSpc>
              <a:buNone/>
            </a:pPr>
            <a:r>
              <a:rPr lang="en-US" sz="1100" dirty="0">
                <a:solidFill>
                  <a:srgbClr val="9E9E9E"/>
                </a:solidFill>
                <a:latin typeface="Calibri" pitchFamily="34" charset="0"/>
                <a:ea typeface="Calibri" pitchFamily="34" charset="-122"/>
                <a:cs typeface="Calibri" pitchFamily="34" charset="-120"/>
              </a:rPr>
              <a:t>gelatin bioplastic</a:t>
            </a:r>
            <a:endParaRPr lang="en-US" sz="1100" dirty="0"/>
          </a:p>
          <a:p>
            <a:pPr indent="0" marL="0">
              <a:lnSpc>
                <a:spcPts val="1600"/>
              </a:lnSpc>
              <a:buNone/>
            </a:pPr>
            <a:r>
              <a:rPr lang="en-US" sz="1100" dirty="0">
                <a:solidFill>
                  <a:srgbClr val="9E9E9E"/>
                </a:solidFill>
                <a:latin typeface="Calibri" pitchFamily="34" charset="0"/>
                <a:ea typeface="Calibri" pitchFamily="34" charset="-122"/>
                <a:cs typeface="Calibri" pitchFamily="34" charset="-120"/>
              </a:rPr>
              <a:t>mycelium–walnut shell</a:t>
            </a:r>
            <a:endParaRPr lang="en-US" sz="1100" dirty="0"/>
          </a:p>
          <a:p>
            <a:pPr indent="0" marL="0">
              <a:lnSpc>
                <a:spcPts val="1600"/>
              </a:lnSpc>
              <a:buNone/>
            </a:pPr>
            <a:r>
              <a:rPr lang="en-US" sz="1100" dirty="0">
                <a:solidFill>
                  <a:srgbClr val="9E9E9E"/>
                </a:solidFill>
                <a:latin typeface="Calibri" pitchFamily="34" charset="0"/>
                <a:ea typeface="Calibri" pitchFamily="34" charset="-122"/>
                <a:cs typeface="Calibri" pitchFamily="34" charset="-120"/>
              </a:rPr>
              <a:t>mussel shell–sucrose ceramic</a:t>
            </a:r>
            <a:endParaRPr lang="en-US" sz="1100" dirty="0"/>
          </a:p>
        </p:txBody>
      </p:sp>
      <p:sp>
        <p:nvSpPr>
          <p:cNvPr id="8" name="vr6.61.5"/>
          <p:cNvSpPr/>
          <p:nvPr/>
        </p:nvSpPr>
        <p:spPr>
          <a:xfrm>
            <a:off x="6035040" y="1371600"/>
            <a:ext cx="13716" cy="4023360"/>
          </a:xfrm>
          <a:prstGeom prst="rect">
            <a:avLst/>
          </a:prstGeom>
          <a:solidFill>
            <a:srgbClr val="5A5A5A"/>
          </a:solidFill>
          <a:ln w="12700">
            <a:solidFill>
              <a:srgbClr val="5A5A5A">
                <a:alpha val="0"/>
              </a:srgbClr>
            </a:solidFill>
            <a:prstDash val="solid"/>
          </a:ln>
        </p:spPr>
      </p:sp>
      <p:sp>
        <p:nvSpPr>
          <p:cNvPr id="9" name="Text 7"/>
          <p:cNvSpPr txBox="1"/>
          <p:nvPr/>
        </p:nvSpPr>
        <p:spPr>
          <a:xfrm>
            <a:off x="6492240" y="1371600"/>
            <a:ext cx="4937760" cy="219456"/>
          </a:xfrm>
          <a:prstGeom prst="rect">
            <a:avLst/>
          </a:prstGeom>
          <a:noFill/>
          <a:ln/>
        </p:spPr>
        <p:txBody>
          <a:bodyPr wrap="square" lIns="0" tIns="0" rIns="0" bIns="0" rtlCol="0" anchor="ctr"/>
          <a:lstStyle/>
          <a:p>
            <a:pPr indent="0" marL="0">
              <a:buNone/>
            </a:pPr>
            <a:r>
              <a:rPr lang="en-US" sz="850" b="1" spc="130" kern="0" dirty="0">
                <a:solidFill>
                  <a:srgbClr val="8A8A8A"/>
                </a:solidFill>
                <a:latin typeface="Calibri" pitchFamily="34" charset="0"/>
                <a:ea typeface="Calibri" pitchFamily="34" charset="-122"/>
                <a:cs typeface="Calibri" pitchFamily="34" charset="-120"/>
              </a:rPr>
              <a:t>WHAT THAT MEANS</a:t>
            </a:r>
            <a:endParaRPr lang="en-US" sz="850" dirty="0"/>
          </a:p>
        </p:txBody>
      </p:sp>
      <p:sp>
        <p:nvSpPr>
          <p:cNvPr id="10" name="Text 8"/>
          <p:cNvSpPr txBox="1"/>
          <p:nvPr/>
        </p:nvSpPr>
        <p:spPr>
          <a:xfrm>
            <a:off x="6492240" y="1645920"/>
            <a:ext cx="4937760" cy="1828800"/>
          </a:xfrm>
          <a:prstGeom prst="rect">
            <a:avLst/>
          </a:prstGeom>
          <a:noFill/>
          <a:ln/>
        </p:spPr>
        <p:txBody>
          <a:bodyPr wrap="square" lIns="0" tIns="0" rIns="0" bIns="0" rtlCol="0" anchor="t"/>
          <a:lstStyle/>
          <a:p>
            <a:pPr indent="0" marL="0">
              <a:lnSpc>
                <a:spcPts val="1900"/>
              </a:lnSpc>
              <a:buNone/>
            </a:pPr>
            <a:r>
              <a:rPr lang="en-US" sz="1300" dirty="0">
                <a:solidFill>
                  <a:srgbClr val="FFFFFF"/>
                </a:solidFill>
                <a:latin typeface="Calibri" pitchFamily="34" charset="0"/>
                <a:ea typeface="Calibri" pitchFamily="34" charset="-122"/>
                <a:cs typeface="Calibri" pitchFamily="34" charset="-120"/>
              </a:rPr>
              <a:t>The nearest analogue is the mussel shell–sucrose ceramic: a shell mineral in a biological binder. Nothing couples a shell mineral to agar. Nothing reports compressive, flexural, ignitability and hygric data for one formulation family.</a:t>
            </a:r>
            <a:endParaRPr lang="en-US" sz="1300" dirty="0"/>
          </a:p>
        </p:txBody>
      </p:sp>
      <p:sp>
        <p:nvSpPr>
          <p:cNvPr id="11" name="Text 9"/>
          <p:cNvSpPr txBox="1"/>
          <p:nvPr/>
        </p:nvSpPr>
        <p:spPr>
          <a:xfrm>
            <a:off x="6492240" y="3931920"/>
            <a:ext cx="4937760" cy="731520"/>
          </a:xfrm>
          <a:prstGeom prst="rect">
            <a:avLst/>
          </a:prstGeom>
          <a:noFill/>
          <a:ln/>
        </p:spPr>
        <p:txBody>
          <a:bodyPr wrap="square" lIns="0" tIns="0" rIns="0" bIns="0" rtlCol="0" anchor="ctr"/>
          <a:lstStyle/>
          <a:p>
            <a:pPr indent="0" marL="0">
              <a:lnSpc>
                <a:spcPts val="2100"/>
              </a:lnSpc>
              <a:buNone/>
            </a:pPr>
            <a:r>
              <a:rPr lang="en-US" sz="1500" b="1" dirty="0">
                <a:solidFill>
                  <a:srgbClr val="B4513A"/>
                </a:solidFill>
                <a:latin typeface="Calibri" pitchFamily="34" charset="0"/>
                <a:ea typeface="Calibri" pitchFamily="34" charset="-122"/>
                <a:cs typeface="Calibri" pitchFamily="34" charset="-120"/>
              </a:rPr>
              <a:t>A protocol and a property set entering that commons.</a:t>
            </a:r>
            <a:endParaRPr lang="en-US" sz="1500" dirty="0"/>
          </a:p>
        </p:txBody>
      </p:sp>
      <p:sp>
        <p:nvSpPr>
          <p:cNvPr id="12" name="Text 10"/>
          <p:cNvSpPr txBox="1"/>
          <p:nvPr/>
        </p:nvSpPr>
        <p:spPr>
          <a:xfrm>
            <a:off x="731520" y="5852160"/>
            <a:ext cx="5486400" cy="457200"/>
          </a:xfrm>
          <a:prstGeom prst="rect">
            <a:avLst/>
          </a:prstGeom>
          <a:noFill/>
          <a:ln/>
        </p:spPr>
        <p:txBody>
          <a:bodyPr wrap="square" lIns="0" tIns="0" rIns="0" bIns="0" rtlCol="0" anchor="t"/>
          <a:lstStyle/>
          <a:p>
            <a:pPr indent="0" marL="0">
              <a:lnSpc>
                <a:spcPts val="1250"/>
              </a:lnSpc>
              <a:buNone/>
            </a:pPr>
            <a:r>
              <a:rPr lang="en-US" sz="900" dirty="0">
                <a:solidFill>
                  <a:srgbClr val="8E8E8E"/>
                </a:solidFill>
                <a:latin typeface="Calibri" pitchFamily="34" charset="0"/>
                <a:ea typeface="Calibri" pitchFamily="34" charset="-122"/>
                <a:cs typeface="Calibri" pitchFamily="34" charset="-120"/>
              </a:rPr>
              <a:t>materiom.org/data, accessed October 2026</a:t>
            </a:r>
            <a:endParaRPr lang="en-US" sz="900" dirty="0"/>
          </a:p>
        </p:txBody>
      </p:sp>
      <p:sp>
        <p:nvSpPr>
          <p:cNvPr id="14"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Questions</a:t>
            </a:r>
            <a:endParaRPr lang="en-US" sz="2000" dirty="0"/>
          </a:p>
        </p:txBody>
      </p:sp>
      <p:sp>
        <p:nvSpPr>
          <p:cNvPr id="3" name="Text 1"/>
          <p:cNvSpPr txBox="1"/>
          <p:nvPr/>
        </p:nvSpPr>
        <p:spPr>
          <a:xfrm>
            <a:off x="731520" y="1691640"/>
            <a:ext cx="54864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01</a:t>
            </a:r>
            <a:endParaRPr lang="en-US" sz="1200" dirty="0"/>
          </a:p>
        </p:txBody>
      </p:sp>
      <p:sp>
        <p:nvSpPr>
          <p:cNvPr id="4" name="Text 2"/>
          <p:cNvSpPr txBox="1"/>
          <p:nvPr/>
        </p:nvSpPr>
        <p:spPr>
          <a:xfrm>
            <a:off x="1463040" y="1600200"/>
            <a:ext cx="9966960" cy="502920"/>
          </a:xfrm>
          <a:prstGeom prst="rect">
            <a:avLst/>
          </a:prstGeom>
          <a:noFill/>
          <a:ln/>
        </p:spPr>
        <p:txBody>
          <a:bodyPr wrap="square" lIns="0" tIns="0" rIns="0" bIns="0" rtlCol="0" anchor="ctr"/>
          <a:lstStyle/>
          <a:p>
            <a:pPr indent="0" marL="0">
              <a:buNone/>
            </a:pPr>
            <a:r>
              <a:rPr lang="en-US" sz="1600" dirty="0">
                <a:solidFill>
                  <a:srgbClr val="141414"/>
                </a:solidFill>
                <a:latin typeface="Calibri" pitchFamily="34" charset="0"/>
                <a:ea typeface="Calibri" pitchFamily="34" charset="-122"/>
                <a:cs typeface="Calibri" pitchFamily="34" charset="-120"/>
              </a:rPr>
              <a:t>Which formulation variable governs compressive strength?</a:t>
            </a:r>
            <a:endParaRPr lang="en-US" sz="1600" dirty="0"/>
          </a:p>
        </p:txBody>
      </p:sp>
      <p:sp>
        <p:nvSpPr>
          <p:cNvPr id="5" name="ru0.82.4699999999999998"/>
          <p:cNvSpPr/>
          <p:nvPr/>
        </p:nvSpPr>
        <p:spPr>
          <a:xfrm>
            <a:off x="731520" y="2258568"/>
            <a:ext cx="10698480" cy="9144"/>
          </a:xfrm>
          <a:prstGeom prst="rect">
            <a:avLst/>
          </a:prstGeom>
          <a:solidFill>
            <a:srgbClr val="E4E4E4"/>
          </a:solidFill>
          <a:ln w="12700">
            <a:solidFill>
              <a:srgbClr val="E4E4E4">
                <a:alpha val="0"/>
              </a:srgbClr>
            </a:solidFill>
            <a:prstDash val="solid"/>
          </a:ln>
        </p:spPr>
      </p:sp>
      <p:sp>
        <p:nvSpPr>
          <p:cNvPr id="6" name="Text 4"/>
          <p:cNvSpPr txBox="1"/>
          <p:nvPr/>
        </p:nvSpPr>
        <p:spPr>
          <a:xfrm>
            <a:off x="731520" y="2606040"/>
            <a:ext cx="54864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02</a:t>
            </a:r>
            <a:endParaRPr lang="en-US" sz="1200" dirty="0"/>
          </a:p>
        </p:txBody>
      </p:sp>
      <p:sp>
        <p:nvSpPr>
          <p:cNvPr id="7" name="Text 5"/>
          <p:cNvSpPr txBox="1"/>
          <p:nvPr/>
        </p:nvSpPr>
        <p:spPr>
          <a:xfrm>
            <a:off x="1463040" y="2514600"/>
            <a:ext cx="9966960" cy="502920"/>
          </a:xfrm>
          <a:prstGeom prst="rect">
            <a:avLst/>
          </a:prstGeom>
          <a:noFill/>
          <a:ln/>
        </p:spPr>
        <p:txBody>
          <a:bodyPr wrap="square" lIns="0" tIns="0" rIns="0" bIns="0" rtlCol="0" anchor="ctr"/>
          <a:lstStyle/>
          <a:p>
            <a:pPr indent="0" marL="0">
              <a:buNone/>
            </a:pPr>
            <a:r>
              <a:rPr lang="en-US" sz="1600" dirty="0">
                <a:solidFill>
                  <a:srgbClr val="141414"/>
                </a:solidFill>
                <a:latin typeface="Calibri" pitchFamily="34" charset="0"/>
                <a:ea typeface="Calibri" pitchFamily="34" charset="-122"/>
                <a:cs typeface="Calibri" pitchFamily="34" charset="-120"/>
              </a:rPr>
              <a:t>What does plasticiser content do to flexural behaviour?</a:t>
            </a:r>
            <a:endParaRPr lang="en-US" sz="1600" dirty="0"/>
          </a:p>
        </p:txBody>
      </p:sp>
      <p:sp>
        <p:nvSpPr>
          <p:cNvPr id="8" name="ru0.83.4699999999999998"/>
          <p:cNvSpPr/>
          <p:nvPr/>
        </p:nvSpPr>
        <p:spPr>
          <a:xfrm>
            <a:off x="731520" y="3172968"/>
            <a:ext cx="10698480" cy="9144"/>
          </a:xfrm>
          <a:prstGeom prst="rect">
            <a:avLst/>
          </a:prstGeom>
          <a:solidFill>
            <a:srgbClr val="E4E4E4"/>
          </a:solidFill>
          <a:ln w="12700">
            <a:solidFill>
              <a:srgbClr val="E4E4E4">
                <a:alpha val="0"/>
              </a:srgbClr>
            </a:solidFill>
            <a:prstDash val="solid"/>
          </a:ln>
        </p:spPr>
      </p:sp>
      <p:sp>
        <p:nvSpPr>
          <p:cNvPr id="9" name="Text 7"/>
          <p:cNvSpPr txBox="1"/>
          <p:nvPr/>
        </p:nvSpPr>
        <p:spPr>
          <a:xfrm>
            <a:off x="731520" y="3520440"/>
            <a:ext cx="54864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03</a:t>
            </a:r>
            <a:endParaRPr lang="en-US" sz="1200" dirty="0"/>
          </a:p>
        </p:txBody>
      </p:sp>
      <p:sp>
        <p:nvSpPr>
          <p:cNvPr id="10" name="Text 8"/>
          <p:cNvSpPr txBox="1"/>
          <p:nvPr/>
        </p:nvSpPr>
        <p:spPr>
          <a:xfrm>
            <a:off x="1463040" y="3429000"/>
            <a:ext cx="9966960" cy="502920"/>
          </a:xfrm>
          <a:prstGeom prst="rect">
            <a:avLst/>
          </a:prstGeom>
          <a:noFill/>
          <a:ln/>
        </p:spPr>
        <p:txBody>
          <a:bodyPr wrap="square" lIns="0" tIns="0" rIns="0" bIns="0" rtlCol="0" anchor="ctr"/>
          <a:lstStyle/>
          <a:p>
            <a:pPr indent="0" marL="0">
              <a:buNone/>
            </a:pPr>
            <a:r>
              <a:rPr lang="en-US" sz="1600" dirty="0">
                <a:solidFill>
                  <a:srgbClr val="141414"/>
                </a:solidFill>
                <a:latin typeface="Calibri" pitchFamily="34" charset="0"/>
                <a:ea typeface="Calibri" pitchFamily="34" charset="-122"/>
                <a:cs typeface="Calibri" pitchFamily="34" charset="-120"/>
              </a:rPr>
              <a:t>How does it compare with conventional interior materials?</a:t>
            </a:r>
            <a:endParaRPr lang="en-US" sz="1600" dirty="0"/>
          </a:p>
        </p:txBody>
      </p:sp>
      <p:sp>
        <p:nvSpPr>
          <p:cNvPr id="11" name="ru0.84.47"/>
          <p:cNvSpPr/>
          <p:nvPr/>
        </p:nvSpPr>
        <p:spPr>
          <a:xfrm>
            <a:off x="731520" y="4087368"/>
            <a:ext cx="10698480" cy="9144"/>
          </a:xfrm>
          <a:prstGeom prst="rect">
            <a:avLst/>
          </a:prstGeom>
          <a:solidFill>
            <a:srgbClr val="E4E4E4"/>
          </a:solidFill>
          <a:ln w="12700">
            <a:solidFill>
              <a:srgbClr val="E4E4E4">
                <a:alpha val="0"/>
              </a:srgbClr>
            </a:solidFill>
            <a:prstDash val="solid"/>
          </a:ln>
        </p:spPr>
      </p:sp>
      <p:sp>
        <p:nvSpPr>
          <p:cNvPr id="12" name="Text 10"/>
          <p:cNvSpPr txBox="1"/>
          <p:nvPr/>
        </p:nvSpPr>
        <p:spPr>
          <a:xfrm>
            <a:off x="731520" y="4434840"/>
            <a:ext cx="54864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04</a:t>
            </a:r>
            <a:endParaRPr lang="en-US" sz="1200" dirty="0"/>
          </a:p>
        </p:txBody>
      </p:sp>
      <p:sp>
        <p:nvSpPr>
          <p:cNvPr id="13" name="Text 11"/>
          <p:cNvSpPr txBox="1"/>
          <p:nvPr/>
        </p:nvSpPr>
        <p:spPr>
          <a:xfrm>
            <a:off x="1463040" y="4343400"/>
            <a:ext cx="9966960" cy="502920"/>
          </a:xfrm>
          <a:prstGeom prst="rect">
            <a:avLst/>
          </a:prstGeom>
          <a:noFill/>
          <a:ln/>
        </p:spPr>
        <p:txBody>
          <a:bodyPr wrap="square" lIns="0" tIns="0" rIns="0" bIns="0" rtlCol="0" anchor="ctr"/>
          <a:lstStyle/>
          <a:p>
            <a:pPr indent="0" marL="0">
              <a:buNone/>
            </a:pPr>
            <a:r>
              <a:rPr lang="en-US" sz="1600" dirty="0">
                <a:solidFill>
                  <a:srgbClr val="141414"/>
                </a:solidFill>
                <a:latin typeface="Calibri" pitchFamily="34" charset="0"/>
                <a:ea typeface="Calibri" pitchFamily="34" charset="-122"/>
                <a:cs typeface="Calibri" pitchFamily="34" charset="-120"/>
              </a:rPr>
              <a:t>How does it compare with other bio-based composites?</a:t>
            </a:r>
            <a:endParaRPr lang="en-US" sz="1600" dirty="0"/>
          </a:p>
        </p:txBody>
      </p:sp>
      <p:sp>
        <p:nvSpPr>
          <p:cNvPr id="14" name="ru0.85.47"/>
          <p:cNvSpPr/>
          <p:nvPr/>
        </p:nvSpPr>
        <p:spPr>
          <a:xfrm>
            <a:off x="731520" y="5001768"/>
            <a:ext cx="10698480" cy="9144"/>
          </a:xfrm>
          <a:prstGeom prst="rect">
            <a:avLst/>
          </a:prstGeom>
          <a:solidFill>
            <a:srgbClr val="E4E4E4"/>
          </a:solidFill>
          <a:ln w="12700">
            <a:solidFill>
              <a:srgbClr val="E4E4E4">
                <a:alpha val="0"/>
              </a:srgbClr>
            </a:solidFill>
            <a:prstDash val="solid"/>
          </a:ln>
        </p:spPr>
      </p:sp>
      <p:sp>
        <p:nvSpPr>
          <p:cNvPr id="15" name="Text 13"/>
          <p:cNvSpPr txBox="1"/>
          <p:nvPr/>
        </p:nvSpPr>
        <p:spPr>
          <a:xfrm>
            <a:off x="731520" y="5349240"/>
            <a:ext cx="54864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05</a:t>
            </a:r>
            <a:endParaRPr lang="en-US" sz="1200" dirty="0"/>
          </a:p>
        </p:txBody>
      </p:sp>
      <p:sp>
        <p:nvSpPr>
          <p:cNvPr id="16" name="Text 14"/>
          <p:cNvSpPr txBox="1"/>
          <p:nvPr/>
        </p:nvSpPr>
        <p:spPr>
          <a:xfrm>
            <a:off x="1463040" y="5257800"/>
            <a:ext cx="9966960" cy="502920"/>
          </a:xfrm>
          <a:prstGeom prst="rect">
            <a:avLst/>
          </a:prstGeom>
          <a:noFill/>
          <a:ln/>
        </p:spPr>
        <p:txBody>
          <a:bodyPr wrap="square" lIns="0" tIns="0" rIns="0" bIns="0" rtlCol="0" anchor="ctr"/>
          <a:lstStyle/>
          <a:p>
            <a:pPr indent="0" marL="0">
              <a:buNone/>
            </a:pPr>
            <a:r>
              <a:rPr lang="en-US" sz="1600" dirty="0">
                <a:solidFill>
                  <a:srgbClr val="141414"/>
                </a:solidFill>
                <a:latin typeface="Calibri" pitchFamily="34" charset="0"/>
                <a:ea typeface="Calibri" pitchFamily="34" charset="-122"/>
                <a:cs typeface="Calibri" pitchFamily="34" charset="-120"/>
              </a:rPr>
              <a:t>Is compressive strength the right criterion at all?</a:t>
            </a:r>
            <a:endParaRPr lang="en-US" sz="1600" dirty="0"/>
          </a:p>
        </p:txBody>
      </p:sp>
      <p:sp>
        <p:nvSpPr>
          <p:cNvPr id="18"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mat" descr="/home/user/sanat-ve-mekan/konferans-bildirisi/03-gorseller/01-prototip-cesitlemeleri.jpeg">    </p:cNvPr>
          <p:cNvPicPr>
            <a:picLocks noChangeAspect="1"/>
          </p:cNvPicPr>
          <p:nvPr/>
        </p:nvPicPr>
        <p:blipFill>
          <a:blip r:embed="rId1"/>
          <a:stretch>
            <a:fillRect/>
          </a:stretch>
        </p:blipFill>
        <p:spPr>
          <a:xfrm>
            <a:off x="0" y="0"/>
            <a:ext cx="12188952" cy="6858000"/>
          </a:xfrm>
          <a:prstGeom prst="rect">
            <a:avLst/>
          </a:prstGeom>
        </p:spPr>
      </p:pic>
      <p:sp>
        <p:nvSpPr>
          <p:cNvPr id="3" name="bd"/>
          <p:cNvSpPr/>
          <p:nvPr/>
        </p:nvSpPr>
        <p:spPr>
          <a:xfrm>
            <a:off x="0" y="5532120"/>
            <a:ext cx="12188952" cy="1325880"/>
          </a:xfrm>
          <a:prstGeom prst="rect">
            <a:avLst/>
          </a:prstGeom>
          <a:solidFill>
            <a:srgbClr val="141414">
              <a:alpha val="94000"/>
            </a:srgbClr>
          </a:solidFill>
          <a:ln w="12700">
            <a:solidFill>
              <a:srgbClr val="141414">
                <a:alpha val="0"/>
              </a:srgbClr>
            </a:solidFill>
            <a:prstDash val="solid"/>
          </a:ln>
        </p:spPr>
      </p:sp>
      <p:sp>
        <p:nvSpPr>
          <p:cNvPr id="4" name="Text 1"/>
          <p:cNvSpPr txBox="1"/>
          <p:nvPr/>
        </p:nvSpPr>
        <p:spPr>
          <a:xfrm>
            <a:off x="731520" y="5760720"/>
            <a:ext cx="7315200" cy="347472"/>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Four constituents, all biodegradable</a:t>
            </a:r>
            <a:endParaRPr lang="en-US" sz="1700" dirty="0"/>
          </a:p>
        </p:txBody>
      </p:sp>
      <p:sp>
        <p:nvSpPr>
          <p:cNvPr id="5" name="Text 2"/>
          <p:cNvSpPr txBox="1"/>
          <p:nvPr/>
        </p:nvSpPr>
        <p:spPr>
          <a:xfrm>
            <a:off x="731520" y="6144768"/>
            <a:ext cx="10698480" cy="274320"/>
          </a:xfrm>
          <a:prstGeom prst="rect">
            <a:avLst/>
          </a:prstGeom>
          <a:noFill/>
          <a:ln/>
        </p:spPr>
        <p:txBody>
          <a:bodyPr wrap="square" lIns="0" tIns="0" rIns="0" bIns="0" rtlCol="0" anchor="ctr"/>
          <a:lstStyle/>
          <a:p>
            <a:pPr indent="0" marL="0">
              <a:buNone/>
            </a:pPr>
            <a:r>
              <a:rPr lang="en-US" sz="1050" dirty="0">
                <a:solidFill>
                  <a:srgbClr val="CFCFCF"/>
                </a:solidFill>
                <a:latin typeface="Calibri" pitchFamily="34" charset="0"/>
                <a:ea typeface="Calibri" pitchFamily="34" charset="-122"/>
                <a:cs typeface="Calibri" pitchFamily="34" charset="-120"/>
              </a:rPr>
              <a:t>Waste eggshell powder · agar · glycerol · water, with a shellac finish. Colour and texture vary from natural pigments and mould geometry at constant composition.</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What each does</a:t>
            </a:r>
            <a:endParaRPr lang="en-US" sz="2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31520" y="1371600"/>
          <a:ext cx="10698480" cy="914400"/>
        </p:xfrm>
        <a:graphic>
          <a:graphicData uri="http://schemas.openxmlformats.org/drawingml/2006/table">
            <a:tbl>
              <a:tblPr/>
              <a:tblGrid>
                <a:gridCol w="1920240"/>
                <a:gridCol w="1554480"/>
                <a:gridCol w="3291840"/>
                <a:gridCol w="3931920"/>
              </a:tblGrid>
              <a:tr h="402336">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Constituent</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Origin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Function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Relevant property</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r>
              <a:tr h="402336">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Eggshell powder</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Food waste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Mineral filler; carries load</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94% CaCO₃; porous structure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402336">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Agar</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Red seaweed</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Continuous binding phase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Thermoreversible gel</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402336">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Glycerol</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Vegetable oil</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Plasticiser; sets ductility</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Humectant; low vapour pressure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402336">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Water</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Carrier; sets solids packing</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Fully evaporated on drying</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402336">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Shellac</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Kerria lacca</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Hydrophobic surface finish</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Biodegradable film-former</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731520" y="3840480"/>
            <a:ext cx="10698480" cy="365760"/>
          </a:xfrm>
          <a:prstGeom prst="rect">
            <a:avLst/>
          </a:prstGeom>
          <a:noFill/>
          <a:ln/>
        </p:spPr>
        <p:txBody>
          <a:bodyPr wrap="square" lIns="0" tIns="0" rIns="0" bIns="0" rtlCol="0" anchor="ctr"/>
          <a:lstStyle/>
          <a:p>
            <a:pPr indent="0" marL="0">
              <a:buNone/>
            </a:pPr>
            <a:r>
              <a:rPr lang="en-US" sz="1400" b="1" dirty="0">
                <a:solidFill>
                  <a:srgbClr val="B4513A"/>
                </a:solidFill>
                <a:latin typeface="Calibri" pitchFamily="34" charset="0"/>
                <a:ea typeface="Calibri" pitchFamily="34" charset="-122"/>
                <a:cs typeface="Calibri" pitchFamily="34" charset="-120"/>
              </a:rPr>
              <a:t>Water is not in the finished material. It is the process variable that sets how densely the solids pack.</a:t>
            </a:r>
            <a:endParaRPr lang="en-US" sz="1400" dirty="0"/>
          </a:p>
        </p:txBody>
      </p:sp>
      <p:sp>
        <p:nvSpPr>
          <p:cNvPr id="5" name="Text 2"/>
          <p:cNvSpPr txBox="1"/>
          <p:nvPr/>
        </p:nvSpPr>
        <p:spPr>
          <a:xfrm>
            <a:off x="731520" y="4434840"/>
            <a:ext cx="10698480" cy="457200"/>
          </a:xfrm>
          <a:prstGeom prst="rect">
            <a:avLst/>
          </a:prstGeom>
          <a:noFill/>
          <a:ln/>
        </p:spPr>
        <p:txBody>
          <a:bodyPr wrap="square" lIns="0" tIns="0" rIns="0" bIns="0" rtlCol="0" anchor="t"/>
          <a:lstStyle/>
          <a:p>
            <a:pPr indent="0" marL="0">
              <a:lnSpc>
                <a:spcPts val="1550"/>
              </a:lnSpc>
              <a:buNone/>
            </a:pPr>
            <a:r>
              <a:rPr lang="en-US" sz="1050" dirty="0">
                <a:solidFill>
                  <a:srgbClr val="8C8C8C"/>
                </a:solidFill>
                <a:latin typeface="Calibri" pitchFamily="34" charset="0"/>
                <a:ea typeface="Calibri" pitchFamily="34" charset="-122"/>
                <a:cs typeface="Calibri" pitchFamily="34" charset="-120"/>
              </a:rPr>
              <a:t>Gelatine, starch and vinegar were trialled during development and are not part of the reported formulations.</a:t>
            </a:r>
            <a:endParaRPr lang="en-US" sz="1050" dirty="0"/>
          </a:p>
        </p:txBody>
      </p:sp>
      <p:sp>
        <p:nvSpPr>
          <p:cNvPr id="7"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Protocol</a:t>
            </a:r>
            <a:endParaRPr lang="en-US" sz="2000" dirty="0"/>
          </a:p>
        </p:txBody>
      </p:sp>
      <p:sp>
        <p:nvSpPr>
          <p:cNvPr id="3" name="ru0.81.72"/>
          <p:cNvSpPr/>
          <p:nvPr/>
        </p:nvSpPr>
        <p:spPr>
          <a:xfrm>
            <a:off x="731520" y="1572768"/>
            <a:ext cx="10698480" cy="9144"/>
          </a:xfrm>
          <a:prstGeom prst="rect">
            <a:avLst/>
          </a:prstGeom>
          <a:solidFill>
            <a:srgbClr val="E4E4E4"/>
          </a:solidFill>
          <a:ln w="12700">
            <a:solidFill>
              <a:srgbClr val="E4E4E4">
                <a:alpha val="0"/>
              </a:srgbClr>
            </a:solidFill>
            <a:prstDash val="solid"/>
          </a:ln>
        </p:spPr>
      </p:sp>
      <p:sp>
        <p:nvSpPr>
          <p:cNvPr id="4" name="Text 2"/>
          <p:cNvSpPr txBox="1"/>
          <p:nvPr/>
        </p:nvSpPr>
        <p:spPr>
          <a:xfrm>
            <a:off x="731520" y="1737360"/>
            <a:ext cx="2468880" cy="457200"/>
          </a:xfrm>
          <a:prstGeom prst="rect">
            <a:avLst/>
          </a:prstGeom>
          <a:noFill/>
          <a:ln/>
        </p:spPr>
        <p:txBody>
          <a:bodyPr wrap="square" lIns="0" tIns="0" rIns="0" bIns="0" rtlCol="0" anchor="b"/>
          <a:lstStyle/>
          <a:p>
            <a:pPr indent="0" marL="0">
              <a:buNone/>
            </a:pPr>
            <a:r>
              <a:rPr lang="en-US" sz="2400" b="1" dirty="0">
                <a:solidFill>
                  <a:srgbClr val="B4513A"/>
                </a:solidFill>
                <a:latin typeface="Calibri" pitchFamily="34" charset="0"/>
                <a:ea typeface="Calibri" pitchFamily="34" charset="-122"/>
                <a:cs typeface="Calibri" pitchFamily="34" charset="-120"/>
              </a:rPr>
              <a:t>120 °C</a:t>
            </a:r>
            <a:endParaRPr lang="en-US" sz="2400" dirty="0"/>
          </a:p>
        </p:txBody>
      </p:sp>
      <p:sp>
        <p:nvSpPr>
          <p:cNvPr id="5" name="Text 3"/>
          <p:cNvSpPr txBox="1"/>
          <p:nvPr/>
        </p:nvSpPr>
        <p:spPr>
          <a:xfrm>
            <a:off x="731520" y="2212848"/>
            <a:ext cx="2468880" cy="237744"/>
          </a:xfrm>
          <a:prstGeom prst="rect">
            <a:avLst/>
          </a:prstGeom>
          <a:noFill/>
          <a:ln/>
        </p:spPr>
        <p:txBody>
          <a:bodyPr wrap="square" lIns="0" tIns="0" rIns="0" bIns="0" rtlCol="0" anchor="ctr"/>
          <a:lstStyle/>
          <a:p>
            <a:pPr indent="0" marL="0">
              <a:buNone/>
            </a:pPr>
            <a:r>
              <a:rPr lang="en-US" sz="1000" dirty="0">
                <a:solidFill>
                  <a:srgbClr val="8C8C8C"/>
                </a:solidFill>
                <a:latin typeface="Calibri" pitchFamily="34" charset="0"/>
                <a:ea typeface="Calibri" pitchFamily="34" charset="-122"/>
                <a:cs typeface="Calibri" pitchFamily="34" charset="-120"/>
              </a:rPr>
              <a:t>20 min</a:t>
            </a:r>
            <a:endParaRPr lang="en-US" sz="1000" dirty="0"/>
          </a:p>
        </p:txBody>
      </p:sp>
      <p:sp>
        <p:nvSpPr>
          <p:cNvPr id="6" name="bk0"/>
          <p:cNvSpPr/>
          <p:nvPr/>
        </p:nvSpPr>
        <p:spPr>
          <a:xfrm>
            <a:off x="731520" y="2606040"/>
            <a:ext cx="2468880" cy="640080"/>
          </a:xfrm>
          <a:prstGeom prst="rect">
            <a:avLst/>
          </a:prstGeom>
          <a:solidFill>
            <a:srgbClr val="F7F6F4"/>
          </a:solidFill>
          <a:ln w="12700">
            <a:solidFill>
              <a:srgbClr val="E4E4E4"/>
            </a:solidFill>
            <a:prstDash val="solid"/>
          </a:ln>
        </p:spPr>
      </p:sp>
      <p:sp>
        <p:nvSpPr>
          <p:cNvPr id="7" name="Text 5"/>
          <p:cNvSpPr txBox="1"/>
          <p:nvPr/>
        </p:nvSpPr>
        <p:spPr>
          <a:xfrm>
            <a:off x="914400" y="2715768"/>
            <a:ext cx="365760" cy="237744"/>
          </a:xfrm>
          <a:prstGeom prst="rect">
            <a:avLst/>
          </a:prstGeom>
          <a:noFill/>
          <a:ln/>
        </p:spPr>
        <p:txBody>
          <a:bodyPr wrap="square" lIns="0" tIns="0" rIns="0" bIns="0" rtlCol="0" anchor="ctr"/>
          <a:lstStyle/>
          <a:p>
            <a:pPr indent="0" marL="0">
              <a:buNone/>
            </a:pPr>
            <a:r>
              <a:rPr lang="en-US" sz="1000" b="1" dirty="0">
                <a:solidFill>
                  <a:srgbClr val="B4513A"/>
                </a:solidFill>
                <a:latin typeface="Calibri" pitchFamily="34" charset="0"/>
                <a:ea typeface="Calibri" pitchFamily="34" charset="-122"/>
                <a:cs typeface="Calibri" pitchFamily="34" charset="-120"/>
              </a:rPr>
              <a:t>01</a:t>
            </a:r>
            <a:endParaRPr lang="en-US" sz="1000" dirty="0"/>
          </a:p>
        </p:txBody>
      </p:sp>
      <p:sp>
        <p:nvSpPr>
          <p:cNvPr id="8" name="Text 6"/>
          <p:cNvSpPr txBox="1"/>
          <p:nvPr/>
        </p:nvSpPr>
        <p:spPr>
          <a:xfrm>
            <a:off x="914400" y="2926080"/>
            <a:ext cx="2103120" cy="256032"/>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Mineral fraction</a:t>
            </a:r>
            <a:endParaRPr lang="en-US" sz="1300" dirty="0"/>
          </a:p>
        </p:txBody>
      </p:sp>
      <p:sp>
        <p:nvSpPr>
          <p:cNvPr id="9" name="a0"/>
          <p:cNvSpPr/>
          <p:nvPr/>
        </p:nvSpPr>
        <p:spPr>
          <a:xfrm>
            <a:off x="3264408" y="2834640"/>
            <a:ext cx="274320" cy="182880"/>
          </a:xfrm>
          <a:prstGeom prst="rightArrow">
            <a:avLst/>
          </a:prstGeom>
          <a:solidFill>
            <a:srgbClr val="BDBDBD"/>
          </a:solidFill>
          <a:ln w="12700">
            <a:solidFill>
              <a:srgbClr val="BDBDBD">
                <a:alpha val="0"/>
              </a:srgbClr>
            </a:solidFill>
            <a:prstDash val="solid"/>
          </a:ln>
        </p:spPr>
      </p:sp>
      <p:sp>
        <p:nvSpPr>
          <p:cNvPr id="10" name="Text 8"/>
          <p:cNvSpPr txBox="1"/>
          <p:nvPr/>
        </p:nvSpPr>
        <p:spPr>
          <a:xfrm>
            <a:off x="731520" y="3474720"/>
            <a:ext cx="2468880" cy="1645920"/>
          </a:xfrm>
          <a:prstGeom prst="rect">
            <a:avLst/>
          </a:prstGeom>
          <a:noFill/>
          <a:ln/>
        </p:spPr>
        <p:txBody>
          <a:bodyPr wrap="square" lIns="0" tIns="0" rIns="0" bIns="0" rtlCol="0" anchor="ctr"/>
          <a:lstStyle/>
          <a:p>
            <a:pPr marL="342900" indent="-342900">
              <a:lnSpc>
                <a:spcPts val="1550"/>
              </a:lnSpc>
              <a:spcAft>
                <a:spcPts val="600"/>
              </a:spcAft>
              <a:buSzPct val="100000"/>
              <a:buChar char="–"/>
            </a:pPr>
            <a:r>
              <a:rPr lang="en-US" sz="1050" dirty="0">
                <a:solidFill>
                  <a:srgbClr val="3C3C3C"/>
                </a:solidFill>
                <a:latin typeface="Calibri" pitchFamily="34" charset="0"/>
                <a:ea typeface="Calibri" pitchFamily="34" charset="-122"/>
                <a:cs typeface="Calibri" pitchFamily="34" charset="-120"/>
              </a:rPr>
              <a:t>Clean of membrane</a:t>
            </a:r>
            <a:endParaRPr lang="en-US" sz="1050" dirty="0"/>
          </a:p>
          <a:p>
            <a:pPr marL="342900" indent="-342900">
              <a:lnSpc>
                <a:spcPts val="1550"/>
              </a:lnSpc>
              <a:spcAft>
                <a:spcPts val="600"/>
              </a:spcAft>
              <a:buSzPct val="100000"/>
              <a:buChar char="–"/>
            </a:pPr>
            <a:r>
              <a:rPr lang="en-US" sz="1050" dirty="0">
                <a:solidFill>
                  <a:srgbClr val="3C3C3C"/>
                </a:solidFill>
                <a:latin typeface="Calibri" pitchFamily="34" charset="0"/>
                <a:ea typeface="Calibri" pitchFamily="34" charset="-122"/>
                <a:cs typeface="Calibri" pitchFamily="34" charset="-120"/>
              </a:rPr>
              <a:t>Heat-treat, then dry</a:t>
            </a:r>
            <a:endParaRPr lang="en-US" sz="1050" dirty="0"/>
          </a:p>
          <a:p>
            <a:pPr marL="342900" indent="-342900">
              <a:lnSpc>
                <a:spcPts val="1550"/>
              </a:lnSpc>
              <a:spcAft>
                <a:spcPts val="600"/>
              </a:spcAft>
              <a:buSzPct val="100000"/>
              <a:buChar char="–"/>
            </a:pPr>
            <a:r>
              <a:rPr lang="en-US" sz="1050" dirty="0">
                <a:solidFill>
                  <a:srgbClr val="3C3C3C"/>
                </a:solidFill>
                <a:latin typeface="Calibri" pitchFamily="34" charset="0"/>
                <a:ea typeface="Calibri" pitchFamily="34" charset="-122"/>
                <a:cs typeface="Calibri" pitchFamily="34" charset="-120"/>
              </a:rPr>
              <a:t>Mill to fine powder</a:t>
            </a:r>
            <a:endParaRPr lang="en-US" sz="1050" dirty="0"/>
          </a:p>
          <a:p>
            <a:pPr marL="342900" indent="-342900">
              <a:lnSpc>
                <a:spcPts val="1550"/>
              </a:lnSpc>
              <a:spcAft>
                <a:spcPts val="600"/>
              </a:spcAft>
              <a:buSzPct val="100000"/>
              <a:buChar char="–"/>
            </a:pPr>
            <a:r>
              <a:rPr lang="en-US" sz="1050" dirty="0">
                <a:solidFill>
                  <a:srgbClr val="3C3C3C"/>
                </a:solidFill>
                <a:latin typeface="Calibri" pitchFamily="34" charset="0"/>
                <a:ea typeface="Calibri" pitchFamily="34" charset="-122"/>
                <a:cs typeface="Calibri" pitchFamily="34" charset="-120"/>
              </a:rPr>
              <a:t>Sieve, 150 µm passing</a:t>
            </a:r>
            <a:endParaRPr lang="en-US" sz="1050" dirty="0"/>
          </a:p>
        </p:txBody>
      </p:sp>
      <p:sp>
        <p:nvSpPr>
          <p:cNvPr id="11" name="Text 9"/>
          <p:cNvSpPr txBox="1"/>
          <p:nvPr/>
        </p:nvSpPr>
        <p:spPr>
          <a:xfrm>
            <a:off x="3611880" y="1737360"/>
            <a:ext cx="2468880" cy="457200"/>
          </a:xfrm>
          <a:prstGeom prst="rect">
            <a:avLst/>
          </a:prstGeom>
          <a:noFill/>
          <a:ln/>
        </p:spPr>
        <p:txBody>
          <a:bodyPr wrap="square" lIns="0" tIns="0" rIns="0" bIns="0" rtlCol="0" anchor="b"/>
          <a:lstStyle/>
          <a:p>
            <a:pPr indent="0" marL="0">
              <a:buNone/>
            </a:pPr>
            <a:r>
              <a:rPr lang="en-US" sz="2400" b="1" dirty="0">
                <a:solidFill>
                  <a:srgbClr val="B4513A"/>
                </a:solidFill>
                <a:latin typeface="Calibri" pitchFamily="34" charset="0"/>
                <a:ea typeface="Calibri" pitchFamily="34" charset="-122"/>
                <a:cs typeface="Calibri" pitchFamily="34" charset="-120"/>
              </a:rPr>
              <a:t>95 °C</a:t>
            </a:r>
            <a:endParaRPr lang="en-US" sz="2400" dirty="0"/>
          </a:p>
        </p:txBody>
      </p:sp>
      <p:sp>
        <p:nvSpPr>
          <p:cNvPr id="12" name="bk1"/>
          <p:cNvSpPr/>
          <p:nvPr/>
        </p:nvSpPr>
        <p:spPr>
          <a:xfrm>
            <a:off x="3611880" y="2606040"/>
            <a:ext cx="2468880" cy="640080"/>
          </a:xfrm>
          <a:prstGeom prst="rect">
            <a:avLst/>
          </a:prstGeom>
          <a:solidFill>
            <a:srgbClr val="F7F6F4"/>
          </a:solidFill>
          <a:ln w="12700">
            <a:solidFill>
              <a:srgbClr val="E4E4E4"/>
            </a:solidFill>
            <a:prstDash val="solid"/>
          </a:ln>
        </p:spPr>
      </p:sp>
      <p:sp>
        <p:nvSpPr>
          <p:cNvPr id="13" name="Text 11"/>
          <p:cNvSpPr txBox="1"/>
          <p:nvPr/>
        </p:nvSpPr>
        <p:spPr>
          <a:xfrm>
            <a:off x="3794760" y="2715768"/>
            <a:ext cx="365760" cy="237744"/>
          </a:xfrm>
          <a:prstGeom prst="rect">
            <a:avLst/>
          </a:prstGeom>
          <a:noFill/>
          <a:ln/>
        </p:spPr>
        <p:txBody>
          <a:bodyPr wrap="square" lIns="0" tIns="0" rIns="0" bIns="0" rtlCol="0" anchor="ctr"/>
          <a:lstStyle/>
          <a:p>
            <a:pPr indent="0" marL="0">
              <a:buNone/>
            </a:pPr>
            <a:r>
              <a:rPr lang="en-US" sz="1000" b="1" dirty="0">
                <a:solidFill>
                  <a:srgbClr val="B4513A"/>
                </a:solidFill>
                <a:latin typeface="Calibri" pitchFamily="34" charset="0"/>
                <a:ea typeface="Calibri" pitchFamily="34" charset="-122"/>
                <a:cs typeface="Calibri" pitchFamily="34" charset="-120"/>
              </a:rPr>
              <a:t>02</a:t>
            </a:r>
            <a:endParaRPr lang="en-US" sz="1000" dirty="0"/>
          </a:p>
        </p:txBody>
      </p:sp>
      <p:sp>
        <p:nvSpPr>
          <p:cNvPr id="14" name="Text 12"/>
          <p:cNvSpPr txBox="1"/>
          <p:nvPr/>
        </p:nvSpPr>
        <p:spPr>
          <a:xfrm>
            <a:off x="3794760" y="2926080"/>
            <a:ext cx="2103120" cy="256032"/>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Binder phase</a:t>
            </a:r>
            <a:endParaRPr lang="en-US" sz="1300" dirty="0"/>
          </a:p>
        </p:txBody>
      </p:sp>
      <p:sp>
        <p:nvSpPr>
          <p:cNvPr id="15" name="a1"/>
          <p:cNvSpPr/>
          <p:nvPr/>
        </p:nvSpPr>
        <p:spPr>
          <a:xfrm>
            <a:off x="6144768" y="2834640"/>
            <a:ext cx="274320" cy="182880"/>
          </a:xfrm>
          <a:prstGeom prst="rightArrow">
            <a:avLst/>
          </a:prstGeom>
          <a:solidFill>
            <a:srgbClr val="BDBDBD"/>
          </a:solidFill>
          <a:ln w="12700">
            <a:solidFill>
              <a:srgbClr val="BDBDBD">
                <a:alpha val="0"/>
              </a:srgbClr>
            </a:solidFill>
            <a:prstDash val="solid"/>
          </a:ln>
        </p:spPr>
      </p:sp>
      <p:sp>
        <p:nvSpPr>
          <p:cNvPr id="16" name="Text 14"/>
          <p:cNvSpPr txBox="1"/>
          <p:nvPr/>
        </p:nvSpPr>
        <p:spPr>
          <a:xfrm>
            <a:off x="3611880" y="3474720"/>
            <a:ext cx="2468880" cy="1645920"/>
          </a:xfrm>
          <a:prstGeom prst="rect">
            <a:avLst/>
          </a:prstGeom>
          <a:noFill/>
          <a:ln/>
        </p:spPr>
        <p:txBody>
          <a:bodyPr wrap="square" lIns="0" tIns="0" rIns="0" bIns="0" rtlCol="0" anchor="ctr"/>
          <a:lstStyle/>
          <a:p>
            <a:pPr marL="342900" indent="-342900">
              <a:lnSpc>
                <a:spcPts val="1550"/>
              </a:lnSpc>
              <a:spcAft>
                <a:spcPts val="600"/>
              </a:spcAft>
              <a:buSzPct val="100000"/>
              <a:buChar char="–"/>
            </a:pPr>
            <a:r>
              <a:rPr lang="en-US" sz="1050" dirty="0">
                <a:solidFill>
                  <a:srgbClr val="3C3C3C"/>
                </a:solidFill>
                <a:latin typeface="Calibri" pitchFamily="34" charset="0"/>
                <a:ea typeface="Calibri" pitchFamily="34" charset="-122"/>
                <a:cs typeface="Calibri" pitchFamily="34" charset="-120"/>
              </a:rPr>
              <a:t>Water and glycerol first</a:t>
            </a:r>
            <a:endParaRPr lang="en-US" sz="1050" dirty="0"/>
          </a:p>
          <a:p>
            <a:pPr marL="342900" indent="-342900">
              <a:lnSpc>
                <a:spcPts val="1550"/>
              </a:lnSpc>
              <a:spcAft>
                <a:spcPts val="600"/>
              </a:spcAft>
              <a:buSzPct val="100000"/>
              <a:buChar char="–"/>
            </a:pPr>
            <a:r>
              <a:rPr lang="en-US" sz="1050" dirty="0">
                <a:solidFill>
                  <a:srgbClr val="3C3C3C"/>
                </a:solidFill>
                <a:latin typeface="Calibri" pitchFamily="34" charset="0"/>
                <a:ea typeface="Calibri" pitchFamily="34" charset="-122"/>
                <a:cs typeface="Calibri" pitchFamily="34" charset="-120"/>
              </a:rPr>
              <a:t>Agar added incrementally</a:t>
            </a:r>
            <a:endParaRPr lang="en-US" sz="1050" dirty="0"/>
          </a:p>
          <a:p>
            <a:pPr marL="342900" indent="-342900">
              <a:lnSpc>
                <a:spcPts val="1550"/>
              </a:lnSpc>
              <a:spcAft>
                <a:spcPts val="600"/>
              </a:spcAft>
              <a:buSzPct val="100000"/>
              <a:buChar char="–"/>
            </a:pPr>
            <a:r>
              <a:rPr lang="en-US" sz="1050" dirty="0">
                <a:solidFill>
                  <a:srgbClr val="3C3C3C"/>
                </a:solidFill>
                <a:latin typeface="Calibri" pitchFamily="34" charset="0"/>
                <a:ea typeface="Calibri" pitchFamily="34" charset="-122"/>
                <a:cs typeface="Calibri" pitchFamily="34" charset="-120"/>
              </a:rPr>
              <a:t>Held until fully dissolved</a:t>
            </a:r>
            <a:endParaRPr lang="en-US" sz="1050" dirty="0"/>
          </a:p>
        </p:txBody>
      </p:sp>
      <p:sp>
        <p:nvSpPr>
          <p:cNvPr id="17" name="Text 15"/>
          <p:cNvSpPr txBox="1"/>
          <p:nvPr/>
        </p:nvSpPr>
        <p:spPr>
          <a:xfrm>
            <a:off x="6492240" y="1737360"/>
            <a:ext cx="2468880" cy="457200"/>
          </a:xfrm>
          <a:prstGeom prst="rect">
            <a:avLst/>
          </a:prstGeom>
          <a:noFill/>
          <a:ln/>
        </p:spPr>
        <p:txBody>
          <a:bodyPr wrap="square" lIns="0" tIns="0" rIns="0" bIns="0" rtlCol="0" anchor="b"/>
          <a:lstStyle/>
          <a:p>
            <a:pPr indent="0" marL="0">
              <a:buNone/>
            </a:pPr>
            <a:r>
              <a:rPr lang="en-US" sz="2400" b="1" dirty="0">
                <a:solidFill>
                  <a:srgbClr val="B4513A"/>
                </a:solidFill>
                <a:latin typeface="Calibri" pitchFamily="34" charset="0"/>
                <a:ea typeface="Calibri" pitchFamily="34" charset="-122"/>
                <a:cs typeface="Calibri" pitchFamily="34" charset="-120"/>
              </a:rPr>
              <a:t>80 °C</a:t>
            </a:r>
            <a:endParaRPr lang="en-US" sz="2400" dirty="0"/>
          </a:p>
        </p:txBody>
      </p:sp>
      <p:sp>
        <p:nvSpPr>
          <p:cNvPr id="18" name="Text 16"/>
          <p:cNvSpPr txBox="1"/>
          <p:nvPr/>
        </p:nvSpPr>
        <p:spPr>
          <a:xfrm>
            <a:off x="6492240" y="2212848"/>
            <a:ext cx="2468880" cy="237744"/>
          </a:xfrm>
          <a:prstGeom prst="rect">
            <a:avLst/>
          </a:prstGeom>
          <a:noFill/>
          <a:ln/>
        </p:spPr>
        <p:txBody>
          <a:bodyPr wrap="square" lIns="0" tIns="0" rIns="0" bIns="0" rtlCol="0" anchor="ctr"/>
          <a:lstStyle/>
          <a:p>
            <a:pPr indent="0" marL="0">
              <a:buNone/>
            </a:pPr>
            <a:r>
              <a:rPr lang="en-US" sz="1000" dirty="0">
                <a:solidFill>
                  <a:srgbClr val="8C8C8C"/>
                </a:solidFill>
                <a:latin typeface="Calibri" pitchFamily="34" charset="0"/>
                <a:ea typeface="Calibri" pitchFamily="34" charset="-122"/>
                <a:cs typeface="Calibri" pitchFamily="34" charset="-120"/>
              </a:rPr>
              <a:t>55 min total</a:t>
            </a:r>
            <a:endParaRPr lang="en-US" sz="1000" dirty="0"/>
          </a:p>
        </p:txBody>
      </p:sp>
      <p:sp>
        <p:nvSpPr>
          <p:cNvPr id="19" name="bk2"/>
          <p:cNvSpPr/>
          <p:nvPr/>
        </p:nvSpPr>
        <p:spPr>
          <a:xfrm>
            <a:off x="6492240" y="2606040"/>
            <a:ext cx="2468880" cy="640080"/>
          </a:xfrm>
          <a:prstGeom prst="rect">
            <a:avLst/>
          </a:prstGeom>
          <a:solidFill>
            <a:srgbClr val="F7F6F4"/>
          </a:solidFill>
          <a:ln w="12700">
            <a:solidFill>
              <a:srgbClr val="E4E4E4"/>
            </a:solidFill>
            <a:prstDash val="solid"/>
          </a:ln>
        </p:spPr>
      </p:sp>
      <p:sp>
        <p:nvSpPr>
          <p:cNvPr id="20" name="Text 18"/>
          <p:cNvSpPr txBox="1"/>
          <p:nvPr/>
        </p:nvSpPr>
        <p:spPr>
          <a:xfrm>
            <a:off x="6675120" y="2715768"/>
            <a:ext cx="365760" cy="237744"/>
          </a:xfrm>
          <a:prstGeom prst="rect">
            <a:avLst/>
          </a:prstGeom>
          <a:noFill/>
          <a:ln/>
        </p:spPr>
        <p:txBody>
          <a:bodyPr wrap="square" lIns="0" tIns="0" rIns="0" bIns="0" rtlCol="0" anchor="ctr"/>
          <a:lstStyle/>
          <a:p>
            <a:pPr indent="0" marL="0">
              <a:buNone/>
            </a:pPr>
            <a:r>
              <a:rPr lang="en-US" sz="1000" b="1" dirty="0">
                <a:solidFill>
                  <a:srgbClr val="B4513A"/>
                </a:solidFill>
                <a:latin typeface="Calibri" pitchFamily="34" charset="0"/>
                <a:ea typeface="Calibri" pitchFamily="34" charset="-122"/>
                <a:cs typeface="Calibri" pitchFamily="34" charset="-120"/>
              </a:rPr>
              <a:t>03</a:t>
            </a:r>
            <a:endParaRPr lang="en-US" sz="1000" dirty="0"/>
          </a:p>
        </p:txBody>
      </p:sp>
      <p:sp>
        <p:nvSpPr>
          <p:cNvPr id="21" name="Text 19"/>
          <p:cNvSpPr txBox="1"/>
          <p:nvPr/>
        </p:nvSpPr>
        <p:spPr>
          <a:xfrm>
            <a:off x="6675120" y="2926080"/>
            <a:ext cx="2103120" cy="256032"/>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Compositing</a:t>
            </a:r>
            <a:endParaRPr lang="en-US" sz="1300" dirty="0"/>
          </a:p>
        </p:txBody>
      </p:sp>
      <p:sp>
        <p:nvSpPr>
          <p:cNvPr id="22" name="a2"/>
          <p:cNvSpPr/>
          <p:nvPr/>
        </p:nvSpPr>
        <p:spPr>
          <a:xfrm>
            <a:off x="9025128" y="2834640"/>
            <a:ext cx="274320" cy="182880"/>
          </a:xfrm>
          <a:prstGeom prst="rightArrow">
            <a:avLst/>
          </a:prstGeom>
          <a:solidFill>
            <a:srgbClr val="BDBDBD"/>
          </a:solidFill>
          <a:ln w="12700">
            <a:solidFill>
              <a:srgbClr val="BDBDBD">
                <a:alpha val="0"/>
              </a:srgbClr>
            </a:solidFill>
            <a:prstDash val="solid"/>
          </a:ln>
        </p:spPr>
      </p:sp>
      <p:sp>
        <p:nvSpPr>
          <p:cNvPr id="23" name="Text 21"/>
          <p:cNvSpPr txBox="1"/>
          <p:nvPr/>
        </p:nvSpPr>
        <p:spPr>
          <a:xfrm>
            <a:off x="6492240" y="3474720"/>
            <a:ext cx="2468880" cy="1645920"/>
          </a:xfrm>
          <a:prstGeom prst="rect">
            <a:avLst/>
          </a:prstGeom>
          <a:noFill/>
          <a:ln/>
        </p:spPr>
        <p:txBody>
          <a:bodyPr wrap="square" lIns="0" tIns="0" rIns="0" bIns="0" rtlCol="0" anchor="ctr"/>
          <a:lstStyle/>
          <a:p>
            <a:pPr marL="342900" indent="-342900">
              <a:lnSpc>
                <a:spcPts val="1550"/>
              </a:lnSpc>
              <a:spcAft>
                <a:spcPts val="600"/>
              </a:spcAft>
              <a:buSzPct val="100000"/>
              <a:buChar char="–"/>
            </a:pPr>
            <a:r>
              <a:rPr lang="en-US" sz="1050" dirty="0">
                <a:solidFill>
                  <a:srgbClr val="3C3C3C"/>
                </a:solidFill>
                <a:latin typeface="Calibri" pitchFamily="34" charset="0"/>
                <a:ea typeface="Calibri" pitchFamily="34" charset="-122"/>
                <a:cs typeface="Calibri" pitchFamily="34" charset="-120"/>
              </a:rPr>
              <a:t>Temperature reduced</a:t>
            </a:r>
            <a:endParaRPr lang="en-US" sz="1050" dirty="0"/>
          </a:p>
          <a:p>
            <a:pPr marL="342900" indent="-342900">
              <a:lnSpc>
                <a:spcPts val="1550"/>
              </a:lnSpc>
              <a:spcAft>
                <a:spcPts val="600"/>
              </a:spcAft>
              <a:buSzPct val="100000"/>
              <a:buChar char="–"/>
            </a:pPr>
            <a:r>
              <a:rPr lang="en-US" sz="1050" dirty="0">
                <a:solidFill>
                  <a:srgbClr val="3C3C3C"/>
                </a:solidFill>
                <a:latin typeface="Calibri" pitchFamily="34" charset="0"/>
                <a:ea typeface="Calibri" pitchFamily="34" charset="-122"/>
                <a:cs typeface="Calibri" pitchFamily="34" charset="-120"/>
              </a:rPr>
              <a:t>Viscosity develops</a:t>
            </a:r>
            <a:endParaRPr lang="en-US" sz="1050" dirty="0"/>
          </a:p>
          <a:p>
            <a:pPr marL="342900" indent="-342900">
              <a:lnSpc>
                <a:spcPts val="1550"/>
              </a:lnSpc>
              <a:spcAft>
                <a:spcPts val="600"/>
              </a:spcAft>
              <a:buSzPct val="100000"/>
              <a:buChar char="–"/>
            </a:pPr>
            <a:r>
              <a:rPr lang="en-US" sz="1050" dirty="0">
                <a:solidFill>
                  <a:srgbClr val="3C3C3C"/>
                </a:solidFill>
                <a:latin typeface="Calibri" pitchFamily="34" charset="0"/>
                <a:ea typeface="Calibri" pitchFamily="34" charset="-122"/>
                <a:cs typeface="Calibri" pitchFamily="34" charset="-120"/>
              </a:rPr>
              <a:t>Shell added incrementally</a:t>
            </a:r>
            <a:endParaRPr lang="en-US" sz="1050" dirty="0"/>
          </a:p>
        </p:txBody>
      </p:sp>
      <p:sp>
        <p:nvSpPr>
          <p:cNvPr id="24" name="Text 22"/>
          <p:cNvSpPr txBox="1"/>
          <p:nvPr/>
        </p:nvSpPr>
        <p:spPr>
          <a:xfrm>
            <a:off x="9372600" y="1737360"/>
            <a:ext cx="2468880" cy="457200"/>
          </a:xfrm>
          <a:prstGeom prst="rect">
            <a:avLst/>
          </a:prstGeom>
          <a:noFill/>
          <a:ln/>
        </p:spPr>
        <p:txBody>
          <a:bodyPr wrap="square" lIns="0" tIns="0" rIns="0" bIns="0" rtlCol="0" anchor="b"/>
          <a:lstStyle/>
          <a:p>
            <a:pPr indent="0" marL="0">
              <a:buNone/>
            </a:pPr>
            <a:r>
              <a:rPr lang="en-US" sz="2400" b="1" dirty="0">
                <a:solidFill>
                  <a:srgbClr val="B4513A"/>
                </a:solidFill>
                <a:latin typeface="Calibri" pitchFamily="34" charset="0"/>
                <a:ea typeface="Calibri" pitchFamily="34" charset="-122"/>
                <a:cs typeface="Calibri" pitchFamily="34" charset="-120"/>
              </a:rPr>
              <a:t>23 °C</a:t>
            </a:r>
            <a:endParaRPr lang="en-US" sz="2400" dirty="0"/>
          </a:p>
        </p:txBody>
      </p:sp>
      <p:sp>
        <p:nvSpPr>
          <p:cNvPr id="25" name="Text 23"/>
          <p:cNvSpPr txBox="1"/>
          <p:nvPr/>
        </p:nvSpPr>
        <p:spPr>
          <a:xfrm>
            <a:off x="9372600" y="2212848"/>
            <a:ext cx="2468880" cy="237744"/>
          </a:xfrm>
          <a:prstGeom prst="rect">
            <a:avLst/>
          </a:prstGeom>
          <a:noFill/>
          <a:ln/>
        </p:spPr>
        <p:txBody>
          <a:bodyPr wrap="square" lIns="0" tIns="0" rIns="0" bIns="0" rtlCol="0" anchor="ctr"/>
          <a:lstStyle/>
          <a:p>
            <a:pPr indent="0" marL="0">
              <a:buNone/>
            </a:pPr>
            <a:r>
              <a:rPr lang="en-US" sz="1000" dirty="0">
                <a:solidFill>
                  <a:srgbClr val="8C8C8C"/>
                </a:solidFill>
                <a:latin typeface="Calibri" pitchFamily="34" charset="0"/>
                <a:ea typeface="Calibri" pitchFamily="34" charset="-122"/>
                <a:cs typeface="Calibri" pitchFamily="34" charset="-120"/>
              </a:rPr>
              <a:t>11 days</a:t>
            </a:r>
            <a:endParaRPr lang="en-US" sz="1000" dirty="0"/>
          </a:p>
        </p:txBody>
      </p:sp>
      <p:sp>
        <p:nvSpPr>
          <p:cNvPr id="26" name="bk3"/>
          <p:cNvSpPr/>
          <p:nvPr/>
        </p:nvSpPr>
        <p:spPr>
          <a:xfrm>
            <a:off x="9372600" y="2606040"/>
            <a:ext cx="2468880" cy="640080"/>
          </a:xfrm>
          <a:prstGeom prst="rect">
            <a:avLst/>
          </a:prstGeom>
          <a:solidFill>
            <a:srgbClr val="FFFFFF"/>
          </a:solidFill>
          <a:ln w="12700">
            <a:solidFill>
              <a:srgbClr val="141414"/>
            </a:solidFill>
            <a:prstDash val="solid"/>
          </a:ln>
        </p:spPr>
      </p:sp>
      <p:sp>
        <p:nvSpPr>
          <p:cNvPr id="27" name="Text 25"/>
          <p:cNvSpPr txBox="1"/>
          <p:nvPr/>
        </p:nvSpPr>
        <p:spPr>
          <a:xfrm>
            <a:off x="9555480" y="2715768"/>
            <a:ext cx="365760" cy="237744"/>
          </a:xfrm>
          <a:prstGeom prst="rect">
            <a:avLst/>
          </a:prstGeom>
          <a:noFill/>
          <a:ln/>
        </p:spPr>
        <p:txBody>
          <a:bodyPr wrap="square" lIns="0" tIns="0" rIns="0" bIns="0" rtlCol="0" anchor="ctr"/>
          <a:lstStyle/>
          <a:p>
            <a:pPr indent="0" marL="0">
              <a:buNone/>
            </a:pPr>
            <a:r>
              <a:rPr lang="en-US" sz="1000" b="1" dirty="0">
                <a:solidFill>
                  <a:srgbClr val="B4513A"/>
                </a:solidFill>
                <a:latin typeface="Calibri" pitchFamily="34" charset="0"/>
                <a:ea typeface="Calibri" pitchFamily="34" charset="-122"/>
                <a:cs typeface="Calibri" pitchFamily="34" charset="-120"/>
              </a:rPr>
              <a:t>04</a:t>
            </a:r>
            <a:endParaRPr lang="en-US" sz="1000" dirty="0"/>
          </a:p>
        </p:txBody>
      </p:sp>
      <p:sp>
        <p:nvSpPr>
          <p:cNvPr id="28" name="Text 26"/>
          <p:cNvSpPr txBox="1"/>
          <p:nvPr/>
        </p:nvSpPr>
        <p:spPr>
          <a:xfrm>
            <a:off x="9555480" y="2926080"/>
            <a:ext cx="2103120" cy="256032"/>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Casting and cure</a:t>
            </a:r>
            <a:endParaRPr lang="en-US" sz="1300" dirty="0"/>
          </a:p>
        </p:txBody>
      </p:sp>
      <p:sp>
        <p:nvSpPr>
          <p:cNvPr id="29" name="Text 27"/>
          <p:cNvSpPr txBox="1"/>
          <p:nvPr/>
        </p:nvSpPr>
        <p:spPr>
          <a:xfrm>
            <a:off x="9372600" y="3474720"/>
            <a:ext cx="2468880" cy="1645920"/>
          </a:xfrm>
          <a:prstGeom prst="rect">
            <a:avLst/>
          </a:prstGeom>
          <a:noFill/>
          <a:ln/>
        </p:spPr>
        <p:txBody>
          <a:bodyPr wrap="square" lIns="0" tIns="0" rIns="0" bIns="0" rtlCol="0" anchor="ctr"/>
          <a:lstStyle/>
          <a:p>
            <a:pPr marL="342900" indent="-342900">
              <a:lnSpc>
                <a:spcPts val="1550"/>
              </a:lnSpc>
              <a:spcAft>
                <a:spcPts val="600"/>
              </a:spcAft>
              <a:buSzPct val="100000"/>
              <a:buChar char="–"/>
            </a:pPr>
            <a:r>
              <a:rPr lang="en-US" sz="1050" dirty="0">
                <a:solidFill>
                  <a:srgbClr val="3C3C3C"/>
                </a:solidFill>
                <a:latin typeface="Calibri" pitchFamily="34" charset="0"/>
                <a:ea typeface="Calibri" pitchFamily="34" charset="-122"/>
                <a:cs typeface="Calibri" pitchFamily="34" charset="-120"/>
              </a:rPr>
              <a:t>Silicone moulds</a:t>
            </a:r>
            <a:endParaRPr lang="en-US" sz="1050" dirty="0"/>
          </a:p>
          <a:p>
            <a:pPr marL="342900" indent="-342900">
              <a:lnSpc>
                <a:spcPts val="1550"/>
              </a:lnSpc>
              <a:spcAft>
                <a:spcPts val="600"/>
              </a:spcAft>
              <a:buSzPct val="100000"/>
              <a:buChar char="–"/>
            </a:pPr>
            <a:r>
              <a:rPr lang="en-US" sz="1050" dirty="0">
                <a:solidFill>
                  <a:srgbClr val="3C3C3C"/>
                </a:solidFill>
                <a:latin typeface="Calibri" pitchFamily="34" charset="0"/>
                <a:ea typeface="Calibri" pitchFamily="34" charset="-122"/>
                <a:cs typeface="Calibri" pitchFamily="34" charset="-120"/>
              </a:rPr>
              <a:t>Four days in mould</a:t>
            </a:r>
            <a:endParaRPr lang="en-US" sz="1050" dirty="0"/>
          </a:p>
          <a:p>
            <a:pPr marL="342900" indent="-342900">
              <a:lnSpc>
                <a:spcPts val="1550"/>
              </a:lnSpc>
              <a:spcAft>
                <a:spcPts val="600"/>
              </a:spcAft>
              <a:buSzPct val="100000"/>
              <a:buChar char="–"/>
            </a:pPr>
            <a:r>
              <a:rPr lang="en-US" sz="1050" dirty="0">
                <a:solidFill>
                  <a:srgbClr val="3C3C3C"/>
                </a:solidFill>
                <a:latin typeface="Calibri" pitchFamily="34" charset="0"/>
                <a:ea typeface="Calibri" pitchFamily="34" charset="-122"/>
                <a:cs typeface="Calibri" pitchFamily="34" charset="-120"/>
              </a:rPr>
              <a:t>Seven days ambient</a:t>
            </a:r>
            <a:endParaRPr lang="en-US" sz="1050" dirty="0"/>
          </a:p>
          <a:p>
            <a:pPr marL="342900" indent="-342900">
              <a:lnSpc>
                <a:spcPts val="1550"/>
              </a:lnSpc>
              <a:spcAft>
                <a:spcPts val="600"/>
              </a:spcAft>
              <a:buSzPct val="100000"/>
              <a:buChar char="–"/>
            </a:pPr>
            <a:r>
              <a:rPr lang="en-US" sz="1050" dirty="0">
                <a:solidFill>
                  <a:srgbClr val="3C3C3C"/>
                </a:solidFill>
                <a:latin typeface="Calibri" pitchFamily="34" charset="0"/>
                <a:ea typeface="Calibri" pitchFamily="34" charset="-122"/>
                <a:cs typeface="Calibri" pitchFamily="34" charset="-120"/>
              </a:rPr>
              <a:t>No oven at any stage</a:t>
            </a:r>
            <a:endParaRPr lang="en-US" sz="1050" dirty="0"/>
          </a:p>
        </p:txBody>
      </p:sp>
      <p:sp>
        <p:nvSpPr>
          <p:cNvPr id="30" name="ru0.85.85"/>
          <p:cNvSpPr/>
          <p:nvPr/>
        </p:nvSpPr>
        <p:spPr>
          <a:xfrm>
            <a:off x="731520" y="5349240"/>
            <a:ext cx="10698480" cy="9144"/>
          </a:xfrm>
          <a:prstGeom prst="rect">
            <a:avLst/>
          </a:prstGeom>
          <a:solidFill>
            <a:srgbClr val="E4E4E4"/>
          </a:solidFill>
          <a:ln w="12700">
            <a:solidFill>
              <a:srgbClr val="E4E4E4">
                <a:alpha val="0"/>
              </a:srgbClr>
            </a:solidFill>
            <a:prstDash val="solid"/>
          </a:ln>
        </p:spPr>
      </p:sp>
      <p:sp>
        <p:nvSpPr>
          <p:cNvPr id="31" name="Text 29"/>
          <p:cNvSpPr txBox="1"/>
          <p:nvPr/>
        </p:nvSpPr>
        <p:spPr>
          <a:xfrm>
            <a:off x="731520" y="5532120"/>
            <a:ext cx="10698480" cy="822960"/>
          </a:xfrm>
          <a:prstGeom prst="rect">
            <a:avLst/>
          </a:prstGeom>
          <a:noFill/>
          <a:ln/>
        </p:spPr>
        <p:txBody>
          <a:bodyPr wrap="square" lIns="0" tIns="0" rIns="0" bIns="0" rtlCol="0" anchor="t"/>
          <a:lstStyle/>
          <a:p>
            <a:pPr indent="0" marL="0">
              <a:lnSpc>
                <a:spcPts val="1550"/>
              </a:lnSpc>
              <a:buNone/>
            </a:pPr>
            <a:r>
              <a:rPr lang="en-US" sz="1050" dirty="0">
                <a:solidFill>
                  <a:srgbClr val="8C8C8C"/>
                </a:solidFill>
                <a:latin typeface="Calibri" pitchFamily="34" charset="0"/>
                <a:ea typeface="Calibri" pitchFamily="34" charset="-122"/>
                <a:cs typeface="Calibri" pitchFamily="34" charset="-120"/>
              </a:rPr>
              <a:t>Disclosure — the composite shrinks appreciably as water evaporates; post-drying dimensions were not logged, so dimensions quoted are mould dimensions. Stirring was manual: shear rate is not a controlled quantity.</a:t>
            </a:r>
            <a:endParaRPr lang="en-US" sz="1050" dirty="0"/>
          </a:p>
        </p:txBody>
      </p:sp>
      <p:sp>
        <p:nvSpPr>
          <p:cNvPr id="33"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Formulations</a:t>
            </a:r>
            <a:endParaRPr lang="en-US" sz="2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31520" y="1371600"/>
          <a:ext cx="10698480" cy="914400"/>
        </p:xfrm>
        <a:graphic>
          <a:graphicData uri="http://schemas.openxmlformats.org/drawingml/2006/table">
            <a:tbl>
              <a:tblPr/>
              <a:tblGrid>
                <a:gridCol w="640080"/>
                <a:gridCol w="1645920"/>
                <a:gridCol w="868680"/>
                <a:gridCol w="822960"/>
                <a:gridCol w="777240"/>
                <a:gridCol w="1097280"/>
                <a:gridCol w="868680"/>
                <a:gridCol w="1371600"/>
                <a:gridCol w="1371600"/>
                <a:gridCol w="1234440"/>
              </a:tblGrid>
              <a:tr h="365760">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ID</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Test</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Water g</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Shell g</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Agar g</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Glycerol g</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Solids g</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Shell : binder</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Solids : water</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Glycerol % solids</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r>
              <a:tr h="365760">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C1</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Compression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325</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80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35</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120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3C3C3C"/>
                          </a:solidFill>
                          <a:latin typeface="Calibri" pitchFamily="34" charset="0"/>
                          <a:ea typeface="Calibri" pitchFamily="34" charset="-122"/>
                          <a:cs typeface="Calibri" pitchFamily="34" charset="-120"/>
                        </a:rPr>
                        <a:t>2.00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0.37</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4.2</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65760">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C2</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Compression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310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90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40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135</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3C3C3C"/>
                          </a:solidFill>
                          <a:latin typeface="Calibri" pitchFamily="34" charset="0"/>
                          <a:ea typeface="Calibri" pitchFamily="34" charset="-122"/>
                          <a:cs typeface="Calibri" pitchFamily="34" charset="-120"/>
                        </a:rPr>
                        <a:t>2.00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0.44</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3.7</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65760">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C3</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Compression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280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110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45</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165</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3C3C3C"/>
                          </a:solidFill>
                          <a:latin typeface="Calibri" pitchFamily="34" charset="0"/>
                          <a:ea typeface="Calibri" pitchFamily="34" charset="-122"/>
                          <a:cs typeface="Calibri" pitchFamily="34" charset="-120"/>
                        </a:rPr>
                        <a:t>2.00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0.59</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6.1</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65760">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F1</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Flexure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450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190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70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60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320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1.46</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0.71</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18.8</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65760">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F2</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Flexure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480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190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70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30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290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1.90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0.60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10.3</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731520" y="3840480"/>
            <a:ext cx="5029200" cy="219456"/>
          </a:xfrm>
          <a:prstGeom prst="rect">
            <a:avLst/>
          </a:prstGeom>
          <a:noFill/>
          <a:ln/>
        </p:spPr>
        <p:txBody>
          <a:bodyPr wrap="square" lIns="0" tIns="0" rIns="0" bIns="0" rtlCol="0" anchor="ctr"/>
          <a:lstStyle/>
          <a:p>
            <a:pPr indent="0" marL="0">
              <a:buNone/>
            </a:pPr>
            <a:r>
              <a:rPr lang="en-US" sz="850" b="1" spc="130" kern="0" dirty="0">
                <a:solidFill>
                  <a:srgbClr val="BDBDBD"/>
                </a:solidFill>
                <a:latin typeface="Calibri" pitchFamily="34" charset="0"/>
                <a:ea typeface="Calibri" pitchFamily="34" charset="-122"/>
                <a:cs typeface="Calibri" pitchFamily="34" charset="-120"/>
              </a:rPr>
              <a:t>COMPRESSION SERIES</a:t>
            </a:r>
            <a:endParaRPr lang="en-US" sz="850" dirty="0"/>
          </a:p>
        </p:txBody>
      </p:sp>
      <p:sp>
        <p:nvSpPr>
          <p:cNvPr id="5" name="Text 2"/>
          <p:cNvSpPr txBox="1"/>
          <p:nvPr/>
        </p:nvSpPr>
        <p:spPr>
          <a:xfrm>
            <a:off x="731520" y="4114800"/>
            <a:ext cx="5029200" cy="822960"/>
          </a:xfrm>
          <a:prstGeom prst="rect">
            <a:avLst/>
          </a:prstGeom>
          <a:noFill/>
          <a:ln/>
        </p:spPr>
        <p:txBody>
          <a:bodyPr wrap="square" lIns="0" tIns="0" rIns="0" bIns="0" rtlCol="0" anchor="t"/>
          <a:lstStyle/>
          <a:p>
            <a:pPr indent="0" marL="0">
              <a:lnSpc>
                <a:spcPts val="1900"/>
              </a:lnSpc>
              <a:buNone/>
            </a:pPr>
            <a:r>
              <a:rPr lang="en-US" sz="1300" dirty="0">
                <a:solidFill>
                  <a:srgbClr val="3C3C3C"/>
                </a:solidFill>
                <a:latin typeface="Calibri" pitchFamily="34" charset="0"/>
                <a:ea typeface="Calibri" pitchFamily="34" charset="-122"/>
                <a:cs typeface="Calibri" pitchFamily="34" charset="-120"/>
              </a:rPr>
              <a:t>Shell : binder is held at exactly 2.00. The only variable is solids concentration.</a:t>
            </a:r>
            <a:endParaRPr lang="en-US" sz="1300" dirty="0"/>
          </a:p>
        </p:txBody>
      </p:sp>
      <p:sp>
        <p:nvSpPr>
          <p:cNvPr id="6" name="Text 3"/>
          <p:cNvSpPr txBox="1"/>
          <p:nvPr/>
        </p:nvSpPr>
        <p:spPr>
          <a:xfrm>
            <a:off x="6400800" y="3840480"/>
            <a:ext cx="5029200" cy="219456"/>
          </a:xfrm>
          <a:prstGeom prst="rect">
            <a:avLst/>
          </a:prstGeom>
          <a:noFill/>
          <a:ln/>
        </p:spPr>
        <p:txBody>
          <a:bodyPr wrap="square" lIns="0" tIns="0" rIns="0" bIns="0" rtlCol="0" anchor="ctr"/>
          <a:lstStyle/>
          <a:p>
            <a:pPr indent="0" marL="0">
              <a:buNone/>
            </a:pPr>
            <a:r>
              <a:rPr lang="en-US" sz="850" b="1" spc="130" kern="0" dirty="0">
                <a:solidFill>
                  <a:srgbClr val="BDBDBD"/>
                </a:solidFill>
                <a:latin typeface="Calibri" pitchFamily="34" charset="0"/>
                <a:ea typeface="Calibri" pitchFamily="34" charset="-122"/>
                <a:cs typeface="Calibri" pitchFamily="34" charset="-120"/>
              </a:rPr>
              <a:t>FLEXURAL SERIES — CONFOUND</a:t>
            </a:r>
            <a:endParaRPr lang="en-US" sz="850" dirty="0"/>
          </a:p>
        </p:txBody>
      </p:sp>
      <p:sp>
        <p:nvSpPr>
          <p:cNvPr id="7" name="Text 4"/>
          <p:cNvSpPr txBox="1"/>
          <p:nvPr/>
        </p:nvSpPr>
        <p:spPr>
          <a:xfrm>
            <a:off x="6400800" y="4114800"/>
            <a:ext cx="5029200" cy="914400"/>
          </a:xfrm>
          <a:prstGeom prst="rect">
            <a:avLst/>
          </a:prstGeom>
          <a:noFill/>
          <a:ln/>
        </p:spPr>
        <p:txBody>
          <a:bodyPr wrap="square" lIns="0" tIns="0" rIns="0" bIns="0" rtlCol="0" anchor="t"/>
          <a:lstStyle/>
          <a:p>
            <a:pPr indent="0" marL="0">
              <a:lnSpc>
                <a:spcPts val="1900"/>
              </a:lnSpc>
              <a:buNone/>
            </a:pPr>
            <a:r>
              <a:rPr lang="en-US" sz="1300" dirty="0">
                <a:solidFill>
                  <a:srgbClr val="3C3C3C"/>
                </a:solidFill>
                <a:latin typeface="Calibri" pitchFamily="34" charset="0"/>
                <a:ea typeface="Calibri" pitchFamily="34" charset="-122"/>
                <a:cs typeface="Calibri" pitchFamily="34" charset="-120"/>
              </a:rPr>
              <a:t>Glycerol was halved at fixed batch mass, so water rose with it. The plasticiser effect is not isolated.</a:t>
            </a:r>
            <a:endParaRPr lang="en-US" sz="1300" dirty="0"/>
          </a:p>
        </p:txBody>
      </p:sp>
      <p:sp>
        <p:nvSpPr>
          <p:cNvPr id="8" name="Text 5"/>
          <p:cNvSpPr txBox="1"/>
          <p:nvPr/>
        </p:nvSpPr>
        <p:spPr>
          <a:xfrm>
            <a:off x="731520" y="5394960"/>
            <a:ext cx="1069848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Three specimens per formulation. Values are means; individual specimen values were not retained, so standard deviations are not available.</a:t>
            </a:r>
            <a:endParaRPr lang="en-US" sz="900" dirty="0"/>
          </a:p>
        </p:txBody>
      </p:sp>
      <p:sp>
        <p:nvSpPr>
          <p:cNvPr id="10"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Tests</a:t>
            </a:r>
            <a:endParaRPr lang="en-US" sz="2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31520" y="1371600"/>
          <a:ext cx="10698480" cy="914400"/>
        </p:xfrm>
        <a:graphic>
          <a:graphicData uri="http://schemas.openxmlformats.org/drawingml/2006/table">
            <a:tbl>
              <a:tblPr/>
              <a:tblGrid>
                <a:gridCol w="2286000"/>
                <a:gridCol w="2103120"/>
                <a:gridCol w="3200400"/>
                <a:gridCol w="1005840"/>
                <a:gridCol w="2103120"/>
              </a:tblGrid>
              <a:tr h="420624">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Property</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Standard</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Specimen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Measured</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r>
              <a:tr h="420624">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Compressive behaviour</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Cube compression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50 mm cube moulds</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3 per mix</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Max load; compressive stress</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420624">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Flexural behaviour</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ASTM D790-17</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180 × 60 × 20 mm, 120 mm span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3 per mix</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Flexural strength; modulus</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420624">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Reaction to fire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ISO 11925-2:2020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40 × 50 mm, 45°, 15 s edge flame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Time to ignition; to extinguish</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420624">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Water absorption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ASTM D570-98</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40 × 50 mm, shellac-coated</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Mass gain, 24 h immersion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420624">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Bulk density</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Gravimetric</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50 mm cube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Mass / mould volume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bl>
          </a:graphicData>
        </a:graphic>
      </p:graphicFrame>
      <p:sp>
        <p:nvSpPr>
          <p:cNvPr id="4" name="ru0.84.5"/>
          <p:cNvSpPr/>
          <p:nvPr/>
        </p:nvSpPr>
        <p:spPr>
          <a:xfrm>
            <a:off x="731520" y="4114800"/>
            <a:ext cx="10698480" cy="9144"/>
          </a:xfrm>
          <a:prstGeom prst="rect">
            <a:avLst/>
          </a:prstGeom>
          <a:solidFill>
            <a:srgbClr val="E4E4E4"/>
          </a:solidFill>
          <a:ln w="12700">
            <a:solidFill>
              <a:srgbClr val="E4E4E4">
                <a:alpha val="0"/>
              </a:srgbClr>
            </a:solidFill>
            <a:prstDash val="solid"/>
          </a:ln>
        </p:spPr>
      </p:sp>
      <p:sp>
        <p:nvSpPr>
          <p:cNvPr id="5" name="Text 2"/>
          <p:cNvSpPr txBox="1"/>
          <p:nvPr/>
        </p:nvSpPr>
        <p:spPr>
          <a:xfrm>
            <a:off x="731520" y="4297680"/>
            <a:ext cx="10698480" cy="822960"/>
          </a:xfrm>
          <a:prstGeom prst="rect">
            <a:avLst/>
          </a:prstGeom>
          <a:noFill/>
          <a:ln/>
        </p:spPr>
        <p:txBody>
          <a:bodyPr wrap="square" lIns="0" tIns="0" rIns="0" bIns="0" rtlCol="0" anchor="t"/>
          <a:lstStyle/>
          <a:p>
            <a:pPr indent="0" marL="0">
              <a:lnSpc>
                <a:spcPts val="1850"/>
              </a:lnSpc>
              <a:buNone/>
            </a:pPr>
            <a:r>
              <a:rPr lang="en-US" sz="1250" dirty="0">
                <a:solidFill>
                  <a:srgbClr val="3C3C3C"/>
                </a:solidFill>
                <a:latin typeface="Calibri" pitchFamily="34" charset="0"/>
                <a:ea typeface="Calibri" pitchFamily="34" charset="-122"/>
                <a:cs typeface="Calibri" pitchFamily="34" charset="-120"/>
              </a:rPr>
              <a:t>Mechanical values are means of three specimens; individual values were not retained, so standard deviations cannot be reported. Fire, absorption and density rest on single determinations and are indicative, not characteristic.</a:t>
            </a:r>
            <a:endParaRPr lang="en-US" sz="1250" dirty="0"/>
          </a:p>
        </p:txBody>
      </p:sp>
      <p:sp>
        <p:nvSpPr>
          <p:cNvPr id="6" name="Text 3"/>
          <p:cNvSpPr txBox="1"/>
          <p:nvPr/>
        </p:nvSpPr>
        <p:spPr>
          <a:xfrm>
            <a:off x="731520" y="5349240"/>
            <a:ext cx="1069848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All testing: Advanced Construction Materials Research Laboratory, Hacettepe University.</a:t>
            </a:r>
            <a:endParaRPr lang="en-US" sz="900" dirty="0"/>
          </a:p>
        </p:txBody>
      </p:sp>
      <p:sp>
        <p:nvSpPr>
          <p:cNvPr id="8"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Compression</a:t>
            </a:r>
            <a:endParaRPr lang="en-US" sz="2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731520" y="1463040"/>
          <a:ext cx="4206240" cy="914400"/>
        </p:xfrm>
        <a:graphic>
          <a:graphicData uri="http://schemas.openxmlformats.org/drawingml/2006/table">
            <a:tbl>
              <a:tblPr/>
              <a:tblGrid>
                <a:gridCol w="640080"/>
                <a:gridCol w="1463040"/>
                <a:gridCol w="1051560"/>
                <a:gridCol w="1051560"/>
              </a:tblGrid>
              <a:tr h="384048">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ID</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Solids : water</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Fₘₐₓ kN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σᴄ MPa</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r>
              <a:tr h="384048">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C1</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0.37</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3.89</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2.55</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84048">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C2</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0.44</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4.30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3.12</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84048">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C3</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0.59</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B4513A"/>
                          </a:solidFill>
                          <a:latin typeface="Calibri" pitchFamily="34" charset="0"/>
                          <a:ea typeface="Calibri" pitchFamily="34" charset="-122"/>
                          <a:cs typeface="Calibri" pitchFamily="34" charset="-120"/>
                        </a:rPr>
                        <a:t>6.80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B4513A"/>
                          </a:solidFill>
                          <a:latin typeface="Calibri" pitchFamily="34" charset="0"/>
                          <a:ea typeface="Calibri" pitchFamily="34" charset="-122"/>
                          <a:cs typeface="Calibri" pitchFamily="34" charset="-120"/>
                        </a:rPr>
                        <a:t>4.10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bl>
          </a:graphicData>
        </a:graphic>
      </p:graphicFrame>
      <p:sp>
        <p:nvSpPr>
          <p:cNvPr id="4" name="ru0.83.4"/>
          <p:cNvSpPr/>
          <p:nvPr/>
        </p:nvSpPr>
        <p:spPr>
          <a:xfrm>
            <a:off x="731520" y="3108960"/>
            <a:ext cx="4206240" cy="9144"/>
          </a:xfrm>
          <a:prstGeom prst="rect">
            <a:avLst/>
          </a:prstGeom>
          <a:solidFill>
            <a:srgbClr val="E4E4E4"/>
          </a:solidFill>
          <a:ln w="12700">
            <a:solidFill>
              <a:srgbClr val="E4E4E4">
                <a:alpha val="0"/>
              </a:srgbClr>
            </a:solidFill>
            <a:prstDash val="solid"/>
          </a:ln>
        </p:spPr>
      </p:sp>
      <p:sp>
        <p:nvSpPr>
          <p:cNvPr id="5" name="Text 2"/>
          <p:cNvSpPr txBox="1"/>
          <p:nvPr/>
        </p:nvSpPr>
        <p:spPr>
          <a:xfrm>
            <a:off x="731520" y="3337560"/>
            <a:ext cx="4206240" cy="731520"/>
          </a:xfrm>
          <a:prstGeom prst="rect">
            <a:avLst/>
          </a:prstGeom>
          <a:noFill/>
          <a:ln/>
        </p:spPr>
        <p:txBody>
          <a:bodyPr wrap="square" lIns="0" tIns="0" rIns="0" bIns="0" rtlCol="0" anchor="ctr"/>
          <a:lstStyle/>
          <a:p>
            <a:pPr indent="0" marL="0">
              <a:lnSpc>
                <a:spcPts val="2100"/>
              </a:lnSpc>
              <a:buNone/>
            </a:pPr>
            <a:r>
              <a:rPr lang="en-US" sz="1500" b="1" dirty="0">
                <a:solidFill>
                  <a:srgbClr val="141414"/>
                </a:solidFill>
                <a:latin typeface="Calibri" pitchFamily="34" charset="0"/>
                <a:ea typeface="Calibri" pitchFamily="34" charset="-122"/>
                <a:cs typeface="Calibri" pitchFamily="34" charset="-120"/>
              </a:rPr>
              <a:t>Strength rises with solids concentration, not with mineral content.</a:t>
            </a:r>
            <a:endParaRPr lang="en-US" sz="1500" dirty="0"/>
          </a:p>
        </p:txBody>
      </p:sp>
      <p:sp>
        <p:nvSpPr>
          <p:cNvPr id="6" name="Text 3"/>
          <p:cNvSpPr txBox="1"/>
          <p:nvPr/>
        </p:nvSpPr>
        <p:spPr>
          <a:xfrm>
            <a:off x="731520" y="4206240"/>
            <a:ext cx="4206240" cy="1371600"/>
          </a:xfrm>
          <a:prstGeom prst="rect">
            <a:avLst/>
          </a:prstGeom>
          <a:noFill/>
          <a:ln/>
        </p:spPr>
        <p:txBody>
          <a:bodyPr wrap="square" lIns="0" tIns="0" rIns="0" bIns="0" rtlCol="0" anchor="t"/>
          <a:lstStyle/>
          <a:p>
            <a:pPr indent="0" marL="0">
              <a:lnSpc>
                <a:spcPts val="1550"/>
              </a:lnSpc>
              <a:buNone/>
            </a:pPr>
            <a:r>
              <a:rPr lang="en-US" sz="1050" dirty="0">
                <a:solidFill>
                  <a:srgbClr val="8C8C8C"/>
                </a:solidFill>
                <a:latin typeface="Calibri" pitchFamily="34" charset="0"/>
                <a:ea typeface="Calibri" pitchFamily="34" charset="-122"/>
                <a:cs typeface="Calibri" pitchFamily="34" charset="-120"/>
              </a:rPr>
              <a:t>Shell : binder is fixed at 2.00 across the series, so packing density is the only variable. Linear across the range tested, R² = 0.99 — three formulations, so a hypothesis, not a law.</a:t>
            </a:r>
            <a:endParaRPr lang="en-US" sz="1050" dirty="0"/>
          </a:p>
        </p:txBody>
      </p:sp>
      <p:graphicFrame>
        <p:nvGraphicFramePr>
          <p:cNvPr id="7" name="cc" descr=""/>
          <p:cNvGraphicFramePr/>
          <p:nvPr/>
        </p:nvGraphicFramePr>
        <p:xfrm>
          <a:off x="5394960" y="1463040"/>
          <a:ext cx="6035040" cy="4206240"/>
        </p:xfrm>
        <a:graphic xmlns:a="http://schemas.openxmlformats.org/drawingml/2006/main">
          <a:graphicData uri="http://schemas.openxmlformats.org/drawingml/2006/chart">
            <c:chart xmlns:c="http://schemas.openxmlformats.org/drawingml/2006/chart" r:id="rId1"/>
          </a:graphicData>
        </a:graphic>
      </p:graphicFrame>
      <p:sp>
        <p:nvSpPr>
          <p:cNvPr id="9"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Crushing</a:t>
            </a:r>
            <a:endParaRPr lang="en-US" sz="2000" dirty="0"/>
          </a:p>
        </p:txBody>
      </p:sp>
      <p:pic>
        <p:nvPicPr>
          <p:cNvPr id="3" name="cube" descr="/home/user/sanat-ve-mekan/konferans-bildirisi/03-gorseller/04-basma-ficilasmis-kup.jpeg">    </p:cNvPr>
          <p:cNvPicPr>
            <a:picLocks noChangeAspect="1"/>
          </p:cNvPicPr>
          <p:nvPr/>
        </p:nvPicPr>
        <p:blipFill>
          <a:blip r:embed="rId1"/>
          <a:stretch>
            <a:fillRect/>
          </a:stretch>
        </p:blipFill>
        <p:spPr>
          <a:xfrm>
            <a:off x="731520" y="1371600"/>
            <a:ext cx="2286000" cy="4946904"/>
          </a:xfrm>
          <a:prstGeom prst="rect">
            <a:avLst/>
          </a:prstGeom>
        </p:spPr>
      </p:pic>
      <p:pic>
        <p:nvPicPr>
          <p:cNvPr id="4" name="curve" descr="/home/user/sanat-ve-mekan/konferans-bildirisi/03-gorseller/05b-basma-egrisi.png">    </p:cNvPr>
          <p:cNvPicPr>
            <a:picLocks noChangeAspect="1"/>
          </p:cNvPicPr>
          <p:nvPr/>
        </p:nvPicPr>
        <p:blipFill>
          <a:blip r:embed="rId2"/>
          <a:stretch>
            <a:fillRect/>
          </a:stretch>
        </p:blipFill>
        <p:spPr>
          <a:xfrm>
            <a:off x="3566160" y="2103120"/>
            <a:ext cx="4754880" cy="2660904"/>
          </a:xfrm>
          <a:prstGeom prst="rect">
            <a:avLst/>
          </a:prstGeom>
        </p:spPr>
      </p:pic>
      <p:sp>
        <p:nvSpPr>
          <p:cNvPr id="5" name="Text 1"/>
          <p:cNvSpPr txBox="1"/>
          <p:nvPr/>
        </p:nvSpPr>
        <p:spPr>
          <a:xfrm>
            <a:off x="3566160" y="1783080"/>
            <a:ext cx="4754880" cy="219456"/>
          </a:xfrm>
          <a:prstGeom prst="rect">
            <a:avLst/>
          </a:prstGeom>
          <a:noFill/>
          <a:ln/>
        </p:spPr>
        <p:txBody>
          <a:bodyPr wrap="square" lIns="0" tIns="0" rIns="0" bIns="0" rtlCol="0" anchor="ctr"/>
          <a:lstStyle/>
          <a:p>
            <a:pPr indent="0" marL="0">
              <a:buNone/>
            </a:pPr>
            <a:r>
              <a:rPr lang="en-US" sz="850" b="1" spc="130" kern="0" dirty="0">
                <a:solidFill>
                  <a:srgbClr val="BDBDBD"/>
                </a:solidFill>
                <a:latin typeface="Calibri" pitchFamily="34" charset="0"/>
                <a:ea typeface="Calibri" pitchFamily="34" charset="-122"/>
                <a:cs typeface="Calibri" pitchFamily="34" charset="-120"/>
              </a:rPr>
              <a:t>COMPRESSIVE STRESS – STRAIN, C3</a:t>
            </a:r>
            <a:endParaRPr lang="en-US" sz="850" dirty="0"/>
          </a:p>
        </p:txBody>
      </p:sp>
      <p:sp>
        <p:nvSpPr>
          <p:cNvPr id="6" name="vr9.61.5"/>
          <p:cNvSpPr/>
          <p:nvPr/>
        </p:nvSpPr>
        <p:spPr>
          <a:xfrm>
            <a:off x="8778240" y="1371600"/>
            <a:ext cx="13716" cy="4572000"/>
          </a:xfrm>
          <a:prstGeom prst="rect">
            <a:avLst/>
          </a:prstGeom>
          <a:solidFill>
            <a:srgbClr val="E4E4E4"/>
          </a:solidFill>
          <a:ln w="12700">
            <a:solidFill>
              <a:srgbClr val="E4E4E4">
                <a:alpha val="0"/>
              </a:srgbClr>
            </a:solidFill>
            <a:prstDash val="solid"/>
          </a:ln>
        </p:spPr>
      </p:sp>
      <p:sp>
        <p:nvSpPr>
          <p:cNvPr id="7" name="Text 3"/>
          <p:cNvSpPr txBox="1"/>
          <p:nvPr/>
        </p:nvSpPr>
        <p:spPr>
          <a:xfrm>
            <a:off x="9235440" y="1371600"/>
            <a:ext cx="2194560" cy="219456"/>
          </a:xfrm>
          <a:prstGeom prst="rect">
            <a:avLst/>
          </a:prstGeom>
          <a:noFill/>
          <a:ln/>
        </p:spPr>
        <p:txBody>
          <a:bodyPr wrap="square" lIns="0" tIns="0" rIns="0" bIns="0" rtlCol="0" anchor="ctr"/>
          <a:lstStyle/>
          <a:p>
            <a:pPr indent="0" marL="0">
              <a:buNone/>
            </a:pPr>
            <a:r>
              <a:rPr lang="en-US" sz="850" b="1" spc="130" kern="0" dirty="0">
                <a:solidFill>
                  <a:srgbClr val="BDBDBD"/>
                </a:solidFill>
                <a:latin typeface="Calibri" pitchFamily="34" charset="0"/>
                <a:ea typeface="Calibri" pitchFamily="34" charset="-122"/>
                <a:cs typeface="Calibri" pitchFamily="34" charset="-120"/>
              </a:rPr>
              <a:t>THE CURVE</a:t>
            </a:r>
            <a:endParaRPr lang="en-US" sz="850" dirty="0"/>
          </a:p>
        </p:txBody>
      </p:sp>
      <p:sp>
        <p:nvSpPr>
          <p:cNvPr id="8" name="Text 4"/>
          <p:cNvSpPr txBox="1"/>
          <p:nvPr/>
        </p:nvSpPr>
        <p:spPr>
          <a:xfrm>
            <a:off x="9235440" y="1691640"/>
            <a:ext cx="2194560" cy="2926080"/>
          </a:xfrm>
          <a:prstGeom prst="rect">
            <a:avLst/>
          </a:prstGeom>
          <a:noFill/>
          <a:ln/>
        </p:spPr>
        <p:txBody>
          <a:bodyPr wrap="square" lIns="0" tIns="0" rIns="0" bIns="0" rtlCol="0" anchor="ctr"/>
          <a:lstStyle/>
          <a:p>
            <a:pPr marL="342900" indent="-342900">
              <a:lnSpc>
                <a:spcPts val="1650"/>
              </a:lnSpc>
              <a:spcAft>
                <a:spcPts val="600"/>
              </a:spcAft>
              <a:buSzPct val="100000"/>
              <a:buChar char="–"/>
            </a:pPr>
            <a:r>
              <a:rPr lang="en-US" sz="1150" dirty="0">
                <a:solidFill>
                  <a:srgbClr val="3C3C3C"/>
                </a:solidFill>
                <a:latin typeface="Calibri" pitchFamily="34" charset="0"/>
                <a:ea typeface="Calibri" pitchFamily="34" charset="-122"/>
                <a:cs typeface="Calibri" pitchFamily="34" charset="-120"/>
              </a:rPr>
              <a:t>Linear to about 1 MPa</a:t>
            </a:r>
            <a:endParaRPr lang="en-US" sz="1150" dirty="0"/>
          </a:p>
          <a:p>
            <a:pPr marL="342900" indent="-342900">
              <a:lnSpc>
                <a:spcPts val="1650"/>
              </a:lnSpc>
              <a:spcAft>
                <a:spcPts val="600"/>
              </a:spcAft>
              <a:buSzPct val="100000"/>
              <a:buChar char="–"/>
            </a:pPr>
            <a:r>
              <a:rPr lang="en-US" sz="1150" dirty="0">
                <a:solidFill>
                  <a:srgbClr val="3C3C3C"/>
                </a:solidFill>
                <a:latin typeface="Calibri" pitchFamily="34" charset="0"/>
                <a:ea typeface="Calibri" pitchFamily="34" charset="-122"/>
                <a:cs typeface="Calibri" pitchFamily="34" charset="-120"/>
              </a:rPr>
              <a:t>Progressive stiffness loss</a:t>
            </a:r>
            <a:endParaRPr lang="en-US" sz="1150" dirty="0"/>
          </a:p>
          <a:p>
            <a:pPr marL="342900" indent="-342900">
              <a:lnSpc>
                <a:spcPts val="1650"/>
              </a:lnSpc>
              <a:spcAft>
                <a:spcPts val="600"/>
              </a:spcAft>
              <a:buSzPct val="100000"/>
              <a:buChar char="–"/>
            </a:pPr>
            <a:r>
              <a:rPr lang="en-US" sz="1150" dirty="0">
                <a:solidFill>
                  <a:srgbClr val="3C3C3C"/>
                </a:solidFill>
                <a:latin typeface="Calibri" pitchFamily="34" charset="0"/>
                <a:ea typeface="Calibri" pitchFamily="34" charset="-122"/>
                <a:cs typeface="Calibri" pitchFamily="34" charset="-120"/>
              </a:rPr>
              <a:t>Peak near 10% strain</a:t>
            </a:r>
            <a:endParaRPr lang="en-US" sz="1150" dirty="0"/>
          </a:p>
          <a:p>
            <a:pPr marL="342900" indent="-342900">
              <a:lnSpc>
                <a:spcPts val="1650"/>
              </a:lnSpc>
              <a:spcAft>
                <a:spcPts val="600"/>
              </a:spcAft>
              <a:buSzPct val="100000"/>
              <a:buChar char="–"/>
            </a:pPr>
            <a:r>
              <a:rPr lang="en-US" sz="1150" dirty="0">
                <a:solidFill>
                  <a:srgbClr val="3C3C3C"/>
                </a:solidFill>
                <a:latin typeface="Calibri" pitchFamily="34" charset="0"/>
                <a:ea typeface="Calibri" pitchFamily="34" charset="-122"/>
                <a:cs typeface="Calibri" pitchFamily="34" charset="-120"/>
              </a:rPr>
              <a:t>No abrupt load drop</a:t>
            </a:r>
            <a:endParaRPr lang="en-US" sz="1150" dirty="0"/>
          </a:p>
          <a:p>
            <a:pPr marL="342900" indent="-342900">
              <a:lnSpc>
                <a:spcPts val="1650"/>
              </a:lnSpc>
              <a:spcAft>
                <a:spcPts val="600"/>
              </a:spcAft>
              <a:buSzPct val="100000"/>
              <a:buChar char="–"/>
            </a:pPr>
            <a:r>
              <a:rPr lang="en-US" sz="1150" dirty="0">
                <a:solidFill>
                  <a:srgbClr val="3C3C3C"/>
                </a:solidFill>
                <a:latin typeface="Calibri" pitchFamily="34" charset="0"/>
                <a:ea typeface="Calibri" pitchFamily="34" charset="-122"/>
                <a:cs typeface="Calibri" pitchFamily="34" charset="-120"/>
              </a:rPr>
              <a:t>Deformation with retained integrity</a:t>
            </a:r>
            <a:endParaRPr lang="en-US" sz="1150" dirty="0"/>
          </a:p>
        </p:txBody>
      </p:sp>
      <p:sp>
        <p:nvSpPr>
          <p:cNvPr id="9" name="Text 5"/>
          <p:cNvSpPr txBox="1"/>
          <p:nvPr/>
        </p:nvSpPr>
        <p:spPr>
          <a:xfrm>
            <a:off x="9235440" y="4754880"/>
            <a:ext cx="2194560" cy="822960"/>
          </a:xfrm>
          <a:prstGeom prst="rect">
            <a:avLst/>
          </a:prstGeom>
          <a:noFill/>
          <a:ln/>
        </p:spPr>
        <p:txBody>
          <a:bodyPr wrap="square" lIns="0" tIns="0" rIns="0" bIns="0" rtlCol="0" anchor="ctr"/>
          <a:lstStyle/>
          <a:p>
            <a:pPr indent="0" marL="0">
              <a:lnSpc>
                <a:spcPts val="2100"/>
              </a:lnSpc>
              <a:buNone/>
            </a:pPr>
            <a:r>
              <a:rPr lang="en-US" sz="1500" b="1" dirty="0">
                <a:solidFill>
                  <a:srgbClr val="B4513A"/>
                </a:solidFill>
                <a:latin typeface="Calibri" pitchFamily="34" charset="0"/>
                <a:ea typeface="Calibri" pitchFamily="34" charset="-122"/>
                <a:cs typeface="Calibri" pitchFamily="34" charset="-120"/>
              </a:rPr>
              <a:t>It crushes.</a:t>
            </a:r>
            <a:endParaRPr lang="en-US" sz="1500" dirty="0"/>
          </a:p>
          <a:p>
            <a:pPr indent="0" marL="0">
              <a:lnSpc>
                <a:spcPts val="2100"/>
              </a:lnSpc>
              <a:buNone/>
            </a:pPr>
            <a:r>
              <a:rPr lang="en-US" sz="1500" b="1" dirty="0">
                <a:solidFill>
                  <a:srgbClr val="B4513A"/>
                </a:solidFill>
                <a:latin typeface="Calibri" pitchFamily="34" charset="0"/>
                <a:ea typeface="Calibri" pitchFamily="34" charset="-122"/>
                <a:cs typeface="Calibri" pitchFamily="34" charset="-120"/>
              </a:rPr>
              <a:t>It does not fracture.</a:t>
            </a:r>
            <a:endParaRPr lang="en-US" sz="1500" dirty="0"/>
          </a:p>
        </p:txBody>
      </p:sp>
      <p:sp>
        <p:nvSpPr>
          <p:cNvPr id="10" name="Text 6"/>
          <p:cNvSpPr txBox="1"/>
          <p:nvPr/>
        </p:nvSpPr>
        <p:spPr>
          <a:xfrm>
            <a:off x="731520" y="5989320"/>
            <a:ext cx="1069848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Strain derived from an assumed 10% maximum deformation based on observation, not instrumented measurement.  ·  Bulk density 1.38 g/cm³, mould-volume basis.</a:t>
            </a:r>
            <a:endParaRPr lang="en-US" sz="900" dirty="0"/>
          </a:p>
        </p:txBody>
      </p:sp>
      <p:sp>
        <p:nvSpPr>
          <p:cNvPr id="12"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Flexure</a:t>
            </a:r>
            <a:endParaRPr lang="en-US" sz="2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731520" y="1463040"/>
          <a:ext cx="6675120" cy="914400"/>
        </p:xfrm>
        <a:graphic>
          <a:graphicData uri="http://schemas.openxmlformats.org/drawingml/2006/table">
            <a:tbl>
              <a:tblPr/>
              <a:tblGrid>
                <a:gridCol w="685800"/>
                <a:gridCol w="1600200"/>
                <a:gridCol w="1005840"/>
                <a:gridCol w="1600200"/>
                <a:gridCol w="914400"/>
                <a:gridCol w="868680"/>
              </a:tblGrid>
              <a:tr h="384048">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ID</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Glycerol % solids</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Fₘₐₓ 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σꜰ MPa</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Eꜰ MPa</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ε peak</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r>
              <a:tr h="384048">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F1</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18.8</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i="1" dirty="0">
                          <a:solidFill>
                            <a:srgbClr val="3C3C3C"/>
                          </a:solidFill>
                          <a:latin typeface="Calibri" pitchFamily="34" charset="0"/>
                          <a:ea typeface="Calibri" pitchFamily="34" charset="-122"/>
                          <a:cs typeface="Calibri" pitchFamily="34" charset="-120"/>
                        </a:rPr>
                        <a:t>not measurable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84048">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F2</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10.3</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310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B4513A"/>
                          </a:solidFill>
                          <a:latin typeface="Calibri" pitchFamily="34" charset="0"/>
                          <a:ea typeface="Calibri" pitchFamily="34" charset="-122"/>
                          <a:cs typeface="Calibri" pitchFamily="34" charset="-120"/>
                        </a:rPr>
                        <a:t>2.325</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B4513A"/>
                          </a:solidFill>
                          <a:latin typeface="Calibri" pitchFamily="34" charset="0"/>
                          <a:ea typeface="Calibri" pitchFamily="34" charset="-122"/>
                          <a:cs typeface="Calibri" pitchFamily="34" charset="-120"/>
                        </a:rPr>
                        <a:t>192</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0.0121</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bl>
          </a:graphicData>
        </a:graphic>
      </p:graphicFrame>
      <p:pic>
        <p:nvPicPr>
          <p:cNvPr id="4" name="fc" descr="/home/user/sanat-ve-mekan/konferans-bildirisi/03-gorseller/09b-egilme-egrisi.png">    </p:cNvPr>
          <p:cNvPicPr>
            <a:picLocks noChangeAspect="1"/>
          </p:cNvPicPr>
          <p:nvPr/>
        </p:nvPicPr>
        <p:blipFill>
          <a:blip r:embed="rId1"/>
          <a:stretch>
            <a:fillRect/>
          </a:stretch>
        </p:blipFill>
        <p:spPr>
          <a:xfrm>
            <a:off x="731520" y="3108960"/>
            <a:ext cx="4206240" cy="2377440"/>
          </a:xfrm>
          <a:prstGeom prst="rect">
            <a:avLst/>
          </a:prstGeom>
        </p:spPr>
      </p:pic>
      <p:sp>
        <p:nvSpPr>
          <p:cNvPr id="5" name="Text 1"/>
          <p:cNvSpPr txBox="1"/>
          <p:nvPr/>
        </p:nvSpPr>
        <p:spPr>
          <a:xfrm>
            <a:off x="731520" y="2834640"/>
            <a:ext cx="4206240" cy="219456"/>
          </a:xfrm>
          <a:prstGeom prst="rect">
            <a:avLst/>
          </a:prstGeom>
          <a:noFill/>
          <a:ln/>
        </p:spPr>
        <p:txBody>
          <a:bodyPr wrap="square" lIns="0" tIns="0" rIns="0" bIns="0" rtlCol="0" anchor="ctr"/>
          <a:lstStyle/>
          <a:p>
            <a:pPr indent="0" marL="0">
              <a:buNone/>
            </a:pPr>
            <a:r>
              <a:rPr lang="en-US" sz="850" b="1" spc="130" kern="0" dirty="0">
                <a:solidFill>
                  <a:srgbClr val="BDBDBD"/>
                </a:solidFill>
                <a:latin typeface="Calibri" pitchFamily="34" charset="0"/>
                <a:ea typeface="Calibri" pitchFamily="34" charset="-122"/>
                <a:cs typeface="Calibri" pitchFamily="34" charset="-120"/>
              </a:rPr>
              <a:t>FLEXURAL STRESS – STRAIN, F2</a:t>
            </a:r>
            <a:endParaRPr lang="en-US" sz="850" dirty="0"/>
          </a:p>
        </p:txBody>
      </p:sp>
      <p:sp>
        <p:nvSpPr>
          <p:cNvPr id="6" name="vr8.61.6"/>
          <p:cNvSpPr/>
          <p:nvPr/>
        </p:nvSpPr>
        <p:spPr>
          <a:xfrm>
            <a:off x="7863840" y="1463040"/>
            <a:ext cx="13716" cy="4480560"/>
          </a:xfrm>
          <a:prstGeom prst="rect">
            <a:avLst/>
          </a:prstGeom>
          <a:solidFill>
            <a:srgbClr val="E4E4E4"/>
          </a:solidFill>
          <a:ln w="12700">
            <a:solidFill>
              <a:srgbClr val="E4E4E4">
                <a:alpha val="0"/>
              </a:srgbClr>
            </a:solidFill>
            <a:prstDash val="solid"/>
          </a:ln>
        </p:spPr>
      </p:sp>
      <p:sp>
        <p:nvSpPr>
          <p:cNvPr id="7" name="Text 3"/>
          <p:cNvSpPr txBox="1"/>
          <p:nvPr/>
        </p:nvSpPr>
        <p:spPr>
          <a:xfrm>
            <a:off x="8321040" y="1463040"/>
            <a:ext cx="3108960" cy="219456"/>
          </a:xfrm>
          <a:prstGeom prst="rect">
            <a:avLst/>
          </a:prstGeom>
          <a:noFill/>
          <a:ln/>
        </p:spPr>
        <p:txBody>
          <a:bodyPr wrap="square" lIns="0" tIns="0" rIns="0" bIns="0" rtlCol="0" anchor="ctr"/>
          <a:lstStyle/>
          <a:p>
            <a:pPr indent="0" marL="0">
              <a:buNone/>
            </a:pPr>
            <a:r>
              <a:rPr lang="en-US" sz="850" b="1" spc="130" kern="0" dirty="0">
                <a:solidFill>
                  <a:srgbClr val="BDBDBD"/>
                </a:solidFill>
                <a:latin typeface="Calibri" pitchFamily="34" charset="0"/>
                <a:ea typeface="Calibri" pitchFamily="34" charset="-122"/>
                <a:cs typeface="Calibri" pitchFamily="34" charset="-120"/>
              </a:rPr>
              <a:t>DISCLOSURE</a:t>
            </a:r>
            <a:endParaRPr lang="en-US" sz="850" dirty="0"/>
          </a:p>
        </p:txBody>
      </p:sp>
      <p:sp>
        <p:nvSpPr>
          <p:cNvPr id="8" name="Text 4"/>
          <p:cNvSpPr txBox="1"/>
          <p:nvPr/>
        </p:nvSpPr>
        <p:spPr>
          <a:xfrm>
            <a:off x="8321040" y="1737360"/>
            <a:ext cx="3108960" cy="1920240"/>
          </a:xfrm>
          <a:prstGeom prst="rect">
            <a:avLst/>
          </a:prstGeom>
          <a:noFill/>
          <a:ln/>
        </p:spPr>
        <p:txBody>
          <a:bodyPr wrap="square" lIns="0" tIns="0" rIns="0" bIns="0" rtlCol="0" anchor="t"/>
          <a:lstStyle/>
          <a:p>
            <a:pPr indent="0" marL="0">
              <a:lnSpc>
                <a:spcPts val="1750"/>
              </a:lnSpc>
              <a:buNone/>
            </a:pPr>
            <a:r>
              <a:rPr lang="en-US" sz="1150" dirty="0">
                <a:solidFill>
                  <a:srgbClr val="3C3C3C"/>
                </a:solidFill>
                <a:latin typeface="Calibri" pitchFamily="34" charset="0"/>
                <a:ea typeface="Calibri" pitchFamily="34" charset="-122"/>
                <a:cs typeface="Calibri" pitchFamily="34" charset="-120"/>
              </a:rPr>
              <a:t>The specimen is kerfed on its tension face. The standard assumes a solid rectangle, and the calculation uses the full section. Part of the compliance is geometric: the modulus is a lower bound.</a:t>
            </a:r>
            <a:endParaRPr lang="en-US" sz="1150" dirty="0"/>
          </a:p>
        </p:txBody>
      </p:sp>
      <p:sp>
        <p:nvSpPr>
          <p:cNvPr id="9" name="ru9.14.2"/>
          <p:cNvSpPr/>
          <p:nvPr/>
        </p:nvSpPr>
        <p:spPr>
          <a:xfrm>
            <a:off x="8321040" y="3840480"/>
            <a:ext cx="3108960" cy="9144"/>
          </a:xfrm>
          <a:prstGeom prst="rect">
            <a:avLst/>
          </a:prstGeom>
          <a:solidFill>
            <a:srgbClr val="E4E4E4"/>
          </a:solidFill>
          <a:ln w="12700">
            <a:solidFill>
              <a:srgbClr val="E4E4E4">
                <a:alpha val="0"/>
              </a:srgbClr>
            </a:solidFill>
            <a:prstDash val="solid"/>
          </a:ln>
        </p:spPr>
      </p:sp>
      <p:sp>
        <p:nvSpPr>
          <p:cNvPr id="10" name="Text 6"/>
          <p:cNvSpPr txBox="1"/>
          <p:nvPr/>
        </p:nvSpPr>
        <p:spPr>
          <a:xfrm>
            <a:off x="8321040" y="4069080"/>
            <a:ext cx="3108960" cy="822960"/>
          </a:xfrm>
          <a:prstGeom prst="rect">
            <a:avLst/>
          </a:prstGeom>
          <a:noFill/>
          <a:ln/>
        </p:spPr>
        <p:txBody>
          <a:bodyPr wrap="square" lIns="0" tIns="0" rIns="0" bIns="0" rtlCol="0" anchor="ctr"/>
          <a:lstStyle/>
          <a:p>
            <a:pPr indent="0" marL="0">
              <a:lnSpc>
                <a:spcPts val="2100"/>
              </a:lnSpc>
              <a:buNone/>
            </a:pPr>
            <a:r>
              <a:rPr lang="en-US" sz="1500" b="1" dirty="0">
                <a:solidFill>
                  <a:srgbClr val="B4513A"/>
                </a:solidFill>
                <a:latin typeface="Calibri" pitchFamily="34" charset="0"/>
                <a:ea typeface="Calibri" pitchFamily="34" charset="-122"/>
                <a:cs typeface="Calibri" pitchFamily="34" charset="-120"/>
              </a:rPr>
              <a:t>Plasticiser decides whether it resists at all.</a:t>
            </a:r>
            <a:endParaRPr lang="en-US" sz="1500" dirty="0"/>
          </a:p>
        </p:txBody>
      </p:sp>
      <p:sp>
        <p:nvSpPr>
          <p:cNvPr id="11" name="Text 7"/>
          <p:cNvSpPr txBox="1"/>
          <p:nvPr/>
        </p:nvSpPr>
        <p:spPr>
          <a:xfrm>
            <a:off x="8321040" y="5029200"/>
            <a:ext cx="3108960" cy="914400"/>
          </a:xfrm>
          <a:prstGeom prst="rect">
            <a:avLst/>
          </a:prstGeom>
          <a:noFill/>
          <a:ln/>
        </p:spPr>
        <p:txBody>
          <a:bodyPr wrap="square" lIns="0" tIns="0" rIns="0" bIns="0" rtlCol="0" anchor="t"/>
          <a:lstStyle/>
          <a:p>
            <a:pPr indent="0" marL="0">
              <a:lnSpc>
                <a:spcPts val="1550"/>
              </a:lnSpc>
              <a:buNone/>
            </a:pPr>
            <a:r>
              <a:rPr lang="en-US" sz="1050" dirty="0">
                <a:solidFill>
                  <a:srgbClr val="8C8C8C"/>
                </a:solidFill>
                <a:latin typeface="Calibri" pitchFamily="34" charset="0"/>
                <a:ea typeface="Calibri" pitchFamily="34" charset="-122"/>
                <a:cs typeface="Calibri" pitchFamily="34" charset="-120"/>
              </a:rPr>
              <a:t>At 18.8% glycerol the machine registered nothing usable. Halving it gave a section that resists while still flexing.</a:t>
            </a:r>
            <a:endParaRPr lang="en-US" sz="1050" dirty="0"/>
          </a:p>
        </p:txBody>
      </p:sp>
      <p:sp>
        <p:nvSpPr>
          <p:cNvPr id="12" name="Text 8"/>
          <p:cNvSpPr txBox="1"/>
          <p:nvPr/>
        </p:nvSpPr>
        <p:spPr>
          <a:xfrm>
            <a:off x="5303520" y="3108960"/>
            <a:ext cx="2286000" cy="2194560"/>
          </a:xfrm>
          <a:prstGeom prst="rect">
            <a:avLst/>
          </a:prstGeom>
          <a:noFill/>
          <a:ln/>
        </p:spPr>
        <p:txBody>
          <a:bodyPr wrap="square" lIns="0" tIns="0" rIns="0" bIns="0" rtlCol="0" anchor="t"/>
          <a:lstStyle/>
          <a:p>
            <a:pPr indent="0" marL="0">
              <a:lnSpc>
                <a:spcPts val="1550"/>
              </a:lnSpc>
              <a:buNone/>
            </a:pPr>
            <a:r>
              <a:rPr lang="en-US" sz="1050" dirty="0">
                <a:solidFill>
                  <a:srgbClr val="8C8C8C"/>
                </a:solidFill>
                <a:latin typeface="Calibri" pitchFamily="34" charset="0"/>
                <a:ea typeface="Calibri" pitchFamily="34" charset="-122"/>
                <a:cs typeface="Calibri" pitchFamily="34" charset="-120"/>
              </a:rPr>
              <a:t>Three specimens per formulation. The two formulations differ in glycerol, but batch mass was fixed, so solids concentration moved as well.</a:t>
            </a:r>
            <a:endParaRPr lang="en-US" sz="1050" dirty="0"/>
          </a:p>
        </p:txBody>
      </p:sp>
      <p:sp>
        <p:nvSpPr>
          <p:cNvPr id="14"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b1" descr="/home/user/sanat-ve-mekan/konferans-bildirisi/03-gorseller/06-egilme-buyuk-sehim.jpg">    </p:cNvPr>
          <p:cNvPicPr>
            <a:picLocks noChangeAspect="1"/>
          </p:cNvPicPr>
          <p:nvPr/>
        </p:nvPicPr>
        <p:blipFill>
          <a:blip r:embed="rId1"/>
          <a:stretch>
            <a:fillRect/>
          </a:stretch>
        </p:blipFill>
        <p:spPr>
          <a:xfrm>
            <a:off x="0" y="0"/>
            <a:ext cx="3090672" cy="6858000"/>
          </a:xfrm>
          <a:prstGeom prst="rect">
            <a:avLst/>
          </a:prstGeom>
        </p:spPr>
      </p:pic>
      <p:pic>
        <p:nvPicPr>
          <p:cNvPr id="3" name="b2" descr="/home/user/sanat-ve-mekan/konferans-bildirisi/03-gorseller/07-egilme-yakin-yiv.jpeg">    </p:cNvPr>
          <p:cNvPicPr>
            <a:picLocks noChangeAspect="1"/>
          </p:cNvPicPr>
          <p:nvPr/>
        </p:nvPicPr>
        <p:blipFill>
          <a:blip r:embed="rId2"/>
          <a:stretch>
            <a:fillRect/>
          </a:stretch>
        </p:blipFill>
        <p:spPr>
          <a:xfrm>
            <a:off x="3182112" y="0"/>
            <a:ext cx="4572000" cy="3429000"/>
          </a:xfrm>
          <a:prstGeom prst="rect">
            <a:avLst/>
          </a:prstGeom>
        </p:spPr>
      </p:pic>
      <p:pic>
        <p:nvPicPr>
          <p:cNvPr id="4" name="b3" descr="/home/user/sanat-ve-mekan/konferans-bildirisi/03-gorseller/08b-yivli-panel-kemer.jpg">    </p:cNvPr>
          <p:cNvPicPr>
            <a:picLocks noChangeAspect="1"/>
          </p:cNvPicPr>
          <p:nvPr/>
        </p:nvPicPr>
        <p:blipFill>
          <a:blip r:embed="rId3"/>
          <a:stretch>
            <a:fillRect/>
          </a:stretch>
        </p:blipFill>
        <p:spPr>
          <a:xfrm>
            <a:off x="3182112" y="3520440"/>
            <a:ext cx="4572000" cy="3337560"/>
          </a:xfrm>
          <a:prstGeom prst="rect">
            <a:avLst/>
          </a:prstGeom>
        </p:spPr>
      </p:pic>
      <p:sp>
        <p:nvSpPr>
          <p:cNvPr id="5" name="pane"/>
          <p:cNvSpPr/>
          <p:nvPr/>
        </p:nvSpPr>
        <p:spPr>
          <a:xfrm>
            <a:off x="7845552" y="0"/>
            <a:ext cx="4343400" cy="6858000"/>
          </a:xfrm>
          <a:prstGeom prst="rect">
            <a:avLst/>
          </a:prstGeom>
          <a:solidFill>
            <a:srgbClr val="141414"/>
          </a:solidFill>
          <a:ln w="12700">
            <a:solidFill>
              <a:srgbClr val="141414">
                <a:alpha val="0"/>
              </a:srgbClr>
            </a:solidFill>
            <a:prstDash val="solid"/>
          </a:ln>
        </p:spPr>
      </p:sp>
      <p:sp>
        <p:nvSpPr>
          <p:cNvPr id="6" name="Text 1"/>
          <p:cNvSpPr txBox="1"/>
          <p:nvPr/>
        </p:nvSpPr>
        <p:spPr>
          <a:xfrm>
            <a:off x="8321040" y="1371600"/>
            <a:ext cx="3383280" cy="219456"/>
          </a:xfrm>
          <a:prstGeom prst="rect">
            <a:avLst/>
          </a:prstGeom>
          <a:noFill/>
          <a:ln/>
        </p:spPr>
        <p:txBody>
          <a:bodyPr wrap="square" lIns="0" tIns="0" rIns="0" bIns="0" rtlCol="0" anchor="ctr"/>
          <a:lstStyle/>
          <a:p>
            <a:pPr indent="0" marL="0">
              <a:buNone/>
            </a:pPr>
            <a:r>
              <a:rPr lang="en-US" sz="850" b="1" spc="130" kern="0" dirty="0">
                <a:solidFill>
                  <a:srgbClr val="8A8A8A"/>
                </a:solidFill>
                <a:latin typeface="Calibri" pitchFamily="34" charset="0"/>
                <a:ea typeface="Calibri" pitchFamily="34" charset="-122"/>
                <a:cs typeface="Calibri" pitchFamily="34" charset="-120"/>
              </a:rPr>
              <a:t>BENDING</a:t>
            </a:r>
            <a:endParaRPr lang="en-US" sz="850" dirty="0"/>
          </a:p>
        </p:txBody>
      </p:sp>
      <p:sp>
        <p:nvSpPr>
          <p:cNvPr id="7" name="Text 2"/>
          <p:cNvSpPr txBox="1"/>
          <p:nvPr/>
        </p:nvSpPr>
        <p:spPr>
          <a:xfrm>
            <a:off x="8321040" y="1691640"/>
            <a:ext cx="3383280" cy="914400"/>
          </a:xfrm>
          <a:prstGeom prst="rect">
            <a:avLst/>
          </a:prstGeom>
          <a:noFill/>
          <a:ln/>
        </p:spPr>
        <p:txBody>
          <a:bodyPr wrap="square" lIns="0" tIns="0" rIns="0" bIns="0" rtlCol="0" anchor="ctr"/>
          <a:lstStyle/>
          <a:p>
            <a:pPr indent="0" marL="0">
              <a:lnSpc>
                <a:spcPts val="2500"/>
              </a:lnSpc>
              <a:buNone/>
            </a:pPr>
            <a:r>
              <a:rPr lang="en-US" sz="1800" b="1" dirty="0">
                <a:solidFill>
                  <a:srgbClr val="FFFFFF"/>
                </a:solidFill>
                <a:latin typeface="Calibri" pitchFamily="34" charset="0"/>
                <a:ea typeface="Calibri" pitchFamily="34" charset="-122"/>
                <a:cs typeface="Calibri" pitchFamily="34" charset="-120"/>
              </a:rPr>
              <a:t>The kerfs are visible, and so is the consequence.</a:t>
            </a:r>
            <a:endParaRPr lang="en-US" sz="1800" dirty="0"/>
          </a:p>
        </p:txBody>
      </p:sp>
      <p:sp>
        <p:nvSpPr>
          <p:cNvPr id="8" name="Text 3"/>
          <p:cNvSpPr txBox="1"/>
          <p:nvPr/>
        </p:nvSpPr>
        <p:spPr>
          <a:xfrm>
            <a:off x="8321040" y="2834640"/>
            <a:ext cx="3383280" cy="2011680"/>
          </a:xfrm>
          <a:prstGeom prst="rect">
            <a:avLst/>
          </a:prstGeom>
          <a:noFill/>
          <a:ln/>
        </p:spPr>
        <p:txBody>
          <a:bodyPr wrap="square" lIns="0" tIns="0" rIns="0" bIns="0" rtlCol="0" anchor="t"/>
          <a:lstStyle/>
          <a:p>
            <a:pPr indent="0" marL="0">
              <a:lnSpc>
                <a:spcPts val="1800"/>
              </a:lnSpc>
              <a:buNone/>
            </a:pPr>
            <a:r>
              <a:rPr lang="en-US" sz="1200" dirty="0">
                <a:solidFill>
                  <a:srgbClr val="FFFFFF"/>
                </a:solidFill>
                <a:latin typeface="Calibri" pitchFamily="34" charset="0"/>
                <a:ea typeface="Calibri" pitchFamily="34" charset="-122"/>
                <a:cs typeface="Calibri" pitchFamily="34" charset="-120"/>
              </a:rPr>
              <a:t>Transverse kerfs on the tension face let the panel arch by hand. They also mean the measured compliance is partly geometric, which is why the reported modulus is a lower bound rather than a material constant.</a:t>
            </a:r>
            <a:endParaRPr lang="en-US" sz="1200" dirty="0"/>
          </a:p>
        </p:txBody>
      </p:sp>
      <p:sp>
        <p:nvSpPr>
          <p:cNvPr id="9" name="Text 4"/>
          <p:cNvSpPr txBox="1"/>
          <p:nvPr/>
        </p:nvSpPr>
        <p:spPr>
          <a:xfrm>
            <a:off x="8321040" y="5120640"/>
            <a:ext cx="3383280" cy="457200"/>
          </a:xfrm>
          <a:prstGeom prst="rect">
            <a:avLst/>
          </a:prstGeom>
          <a:noFill/>
          <a:ln/>
        </p:spPr>
        <p:txBody>
          <a:bodyPr wrap="square" lIns="0" tIns="0" rIns="0" bIns="0" rtlCol="0" anchor="t"/>
          <a:lstStyle/>
          <a:p>
            <a:pPr indent="0" marL="0">
              <a:lnSpc>
                <a:spcPts val="1250"/>
              </a:lnSpc>
              <a:buNone/>
            </a:pPr>
            <a:r>
              <a:rPr lang="en-US" sz="900" dirty="0">
                <a:solidFill>
                  <a:srgbClr val="8E8E8E"/>
                </a:solidFill>
                <a:latin typeface="Calibri" pitchFamily="34" charset="0"/>
                <a:ea typeface="Calibri" pitchFamily="34" charset="-122"/>
                <a:cs typeface="Calibri" pitchFamily="34" charset="-120"/>
              </a:rPr>
              <a:t>Three-point rig at high deflection · close-up of the kerfed tension face · panel arched by hand</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Fire</a:t>
            </a:r>
            <a:endParaRPr lang="en-US" sz="2000" dirty="0"/>
          </a:p>
        </p:txBody>
      </p:sp>
      <p:pic>
        <p:nvPicPr>
          <p:cNvPr id="3" name="fl" descr="/home/user/sanat-ve-mekan/konferans-bildirisi/03-gorseller/10-alev-testi.png">    </p:cNvPr>
          <p:cNvPicPr>
            <a:picLocks noChangeAspect="1"/>
          </p:cNvPicPr>
          <p:nvPr/>
        </p:nvPicPr>
        <p:blipFill>
          <a:blip r:embed="rId1"/>
          <a:stretch>
            <a:fillRect/>
          </a:stretch>
        </p:blipFill>
        <p:spPr>
          <a:xfrm>
            <a:off x="731520" y="1371600"/>
            <a:ext cx="2286000" cy="4956048"/>
          </a:xfrm>
          <a:prstGeom prst="rect">
            <a:avLst/>
          </a:prstGeom>
        </p:spPr>
      </p:pic>
      <p:sp>
        <p:nvSpPr>
          <p:cNvPr id="4" name="Text 1"/>
          <p:cNvSpPr txBox="1"/>
          <p:nvPr/>
        </p:nvSpPr>
        <p:spPr>
          <a:xfrm>
            <a:off x="3566160" y="1463040"/>
            <a:ext cx="2377440" cy="762000"/>
          </a:xfrm>
          <a:prstGeom prst="rect">
            <a:avLst/>
          </a:prstGeom>
          <a:noFill/>
          <a:ln/>
        </p:spPr>
        <p:txBody>
          <a:bodyPr wrap="square" lIns="0" tIns="0" rIns="0" bIns="0" rtlCol="0" anchor="b"/>
          <a:lstStyle/>
          <a:p>
            <a:pPr indent="0" marL="0">
              <a:buNone/>
            </a:pPr>
            <a:r>
              <a:rPr lang="en-US" sz="4000" b="1" dirty="0">
                <a:solidFill>
                  <a:srgbClr val="B4513A"/>
                </a:solidFill>
                <a:latin typeface="Calibri" pitchFamily="34" charset="0"/>
                <a:ea typeface="Calibri" pitchFamily="34" charset="-122"/>
                <a:cs typeface="Calibri" pitchFamily="34" charset="-120"/>
              </a:rPr>
              <a:t>~10 s</a:t>
            </a:r>
            <a:endParaRPr lang="en-US" sz="4000" dirty="0"/>
          </a:p>
        </p:txBody>
      </p:sp>
      <p:sp>
        <p:nvSpPr>
          <p:cNvPr id="5" name="Text 2"/>
          <p:cNvSpPr txBox="1"/>
          <p:nvPr/>
        </p:nvSpPr>
        <p:spPr>
          <a:xfrm>
            <a:off x="3566160" y="2261616"/>
            <a:ext cx="2377440" cy="420624"/>
          </a:xfrm>
          <a:prstGeom prst="rect">
            <a:avLst/>
          </a:prstGeom>
          <a:noFill/>
          <a:ln/>
        </p:spPr>
        <p:txBody>
          <a:bodyPr wrap="square" lIns="0" tIns="0" rIns="0" bIns="0" rtlCol="0" anchor="t"/>
          <a:lstStyle/>
          <a:p>
            <a:pPr indent="0" marL="0">
              <a:lnSpc>
                <a:spcPts val="1250"/>
              </a:lnSpc>
              <a:buNone/>
            </a:pPr>
            <a:r>
              <a:rPr lang="en-US" sz="950" dirty="0">
                <a:solidFill>
                  <a:srgbClr val="8C8C8C"/>
                </a:solidFill>
                <a:latin typeface="Calibri" pitchFamily="34" charset="0"/>
                <a:ea typeface="Calibri" pitchFamily="34" charset="-122"/>
                <a:cs typeface="Calibri" pitchFamily="34" charset="-120"/>
              </a:rPr>
              <a:t>to ignition under direct flame</a:t>
            </a:r>
            <a:endParaRPr lang="en-US" sz="950" dirty="0"/>
          </a:p>
        </p:txBody>
      </p:sp>
      <p:sp>
        <p:nvSpPr>
          <p:cNvPr id="6" name="Text 3"/>
          <p:cNvSpPr txBox="1"/>
          <p:nvPr/>
        </p:nvSpPr>
        <p:spPr>
          <a:xfrm>
            <a:off x="3566160" y="2834640"/>
            <a:ext cx="2377440" cy="762000"/>
          </a:xfrm>
          <a:prstGeom prst="rect">
            <a:avLst/>
          </a:prstGeom>
          <a:noFill/>
          <a:ln/>
        </p:spPr>
        <p:txBody>
          <a:bodyPr wrap="square" lIns="0" tIns="0" rIns="0" bIns="0" rtlCol="0" anchor="b"/>
          <a:lstStyle/>
          <a:p>
            <a:pPr indent="0" marL="0">
              <a:buNone/>
            </a:pPr>
            <a:r>
              <a:rPr lang="en-US" sz="4000" b="1" dirty="0">
                <a:solidFill>
                  <a:srgbClr val="B4513A"/>
                </a:solidFill>
                <a:latin typeface="Calibri" pitchFamily="34" charset="0"/>
                <a:ea typeface="Calibri" pitchFamily="34" charset="-122"/>
                <a:cs typeface="Calibri" pitchFamily="34" charset="-120"/>
              </a:rPr>
              <a:t>4 s</a:t>
            </a:r>
            <a:endParaRPr lang="en-US" sz="4000" dirty="0"/>
          </a:p>
        </p:txBody>
      </p:sp>
      <p:sp>
        <p:nvSpPr>
          <p:cNvPr id="7" name="Text 4"/>
          <p:cNvSpPr txBox="1"/>
          <p:nvPr/>
        </p:nvSpPr>
        <p:spPr>
          <a:xfrm>
            <a:off x="3566160" y="3633216"/>
            <a:ext cx="2377440" cy="420624"/>
          </a:xfrm>
          <a:prstGeom prst="rect">
            <a:avLst/>
          </a:prstGeom>
          <a:noFill/>
          <a:ln/>
        </p:spPr>
        <p:txBody>
          <a:bodyPr wrap="square" lIns="0" tIns="0" rIns="0" bIns="0" rtlCol="0" anchor="t"/>
          <a:lstStyle/>
          <a:p>
            <a:pPr indent="0" marL="0">
              <a:lnSpc>
                <a:spcPts val="1250"/>
              </a:lnSpc>
              <a:buNone/>
            </a:pPr>
            <a:r>
              <a:rPr lang="en-US" sz="950" dirty="0">
                <a:solidFill>
                  <a:srgbClr val="8C8C8C"/>
                </a:solidFill>
                <a:latin typeface="Calibri" pitchFamily="34" charset="0"/>
                <a:ea typeface="Calibri" pitchFamily="34" charset="-122"/>
                <a:cs typeface="Calibri" pitchFamily="34" charset="-120"/>
              </a:rPr>
              <a:t>to self-extinguish after the flame is removed</a:t>
            </a:r>
            <a:endParaRPr lang="en-US" sz="950" dirty="0"/>
          </a:p>
        </p:txBody>
      </p:sp>
      <p:sp>
        <p:nvSpPr>
          <p:cNvPr id="8" name="Text 5"/>
          <p:cNvSpPr txBox="1"/>
          <p:nvPr/>
        </p:nvSpPr>
        <p:spPr>
          <a:xfrm>
            <a:off x="3566160" y="4297680"/>
            <a:ext cx="2377440" cy="1463040"/>
          </a:xfrm>
          <a:prstGeom prst="rect">
            <a:avLst/>
          </a:prstGeom>
          <a:noFill/>
          <a:ln/>
        </p:spPr>
        <p:txBody>
          <a:bodyPr wrap="square" lIns="0" tIns="0" rIns="0" bIns="0" rtlCol="0" anchor="ctr"/>
          <a:lstStyle/>
          <a:p>
            <a:pPr marL="342900" indent="-342900">
              <a:lnSpc>
                <a:spcPts val="1650"/>
              </a:lnSpc>
              <a:spcAft>
                <a:spcPts val="600"/>
              </a:spcAft>
              <a:buSzPct val="100000"/>
              <a:buChar char="–"/>
            </a:pPr>
            <a:r>
              <a:rPr lang="en-US" sz="1150" dirty="0">
                <a:solidFill>
                  <a:srgbClr val="3C3C3C"/>
                </a:solidFill>
                <a:latin typeface="Calibri" pitchFamily="34" charset="0"/>
                <a:ea typeface="Calibri" pitchFamily="34" charset="-122"/>
                <a:cs typeface="Calibri" pitchFamily="34" charset="-120"/>
              </a:rPr>
              <a:t>Charring stays local</a:t>
            </a:r>
            <a:endParaRPr lang="en-US" sz="1150" dirty="0"/>
          </a:p>
          <a:p>
            <a:pPr marL="342900" indent="-342900">
              <a:lnSpc>
                <a:spcPts val="1650"/>
              </a:lnSpc>
              <a:spcAft>
                <a:spcPts val="600"/>
              </a:spcAft>
              <a:buSzPct val="100000"/>
              <a:buChar char="–"/>
            </a:pPr>
            <a:r>
              <a:rPr lang="en-US" sz="1150" dirty="0">
                <a:solidFill>
                  <a:srgbClr val="3C3C3C"/>
                </a:solidFill>
                <a:latin typeface="Calibri" pitchFamily="34" charset="0"/>
                <a:ea typeface="Calibri" pitchFamily="34" charset="-122"/>
                <a:cs typeface="Calibri" pitchFamily="34" charset="-120"/>
              </a:rPr>
              <a:t>No lateral spread</a:t>
            </a:r>
            <a:endParaRPr lang="en-US" sz="1150" dirty="0"/>
          </a:p>
          <a:p>
            <a:pPr marL="342900" indent="-342900">
              <a:lnSpc>
                <a:spcPts val="1650"/>
              </a:lnSpc>
              <a:spcAft>
                <a:spcPts val="600"/>
              </a:spcAft>
              <a:buSzPct val="100000"/>
              <a:buChar char="–"/>
            </a:pPr>
            <a:r>
              <a:rPr lang="en-US" sz="1150" dirty="0">
                <a:solidFill>
                  <a:srgbClr val="3C3C3C"/>
                </a:solidFill>
                <a:latin typeface="Calibri" pitchFamily="34" charset="0"/>
                <a:ea typeface="Calibri" pitchFamily="34" charset="-122"/>
                <a:cs typeface="Calibri" pitchFamily="34" charset="-120"/>
              </a:rPr>
              <a:t>No melting, no dripping</a:t>
            </a:r>
            <a:endParaRPr lang="en-US" sz="1150" dirty="0"/>
          </a:p>
        </p:txBody>
      </p:sp>
      <p:sp>
        <p:nvSpPr>
          <p:cNvPr id="9" name="vr7.11.5"/>
          <p:cNvSpPr/>
          <p:nvPr/>
        </p:nvSpPr>
        <p:spPr>
          <a:xfrm>
            <a:off x="6492240" y="1371600"/>
            <a:ext cx="13716" cy="4572000"/>
          </a:xfrm>
          <a:prstGeom prst="rect">
            <a:avLst/>
          </a:prstGeom>
          <a:solidFill>
            <a:srgbClr val="E4E4E4"/>
          </a:solidFill>
          <a:ln w="12700">
            <a:solidFill>
              <a:srgbClr val="E4E4E4">
                <a:alpha val="0"/>
              </a:srgbClr>
            </a:solidFill>
            <a:prstDash val="solid"/>
          </a:ln>
        </p:spPr>
      </p:sp>
      <p:sp>
        <p:nvSpPr>
          <p:cNvPr id="10" name="Text 7"/>
          <p:cNvSpPr txBox="1"/>
          <p:nvPr/>
        </p:nvSpPr>
        <p:spPr>
          <a:xfrm>
            <a:off x="6949440" y="1371600"/>
            <a:ext cx="4480560" cy="219456"/>
          </a:xfrm>
          <a:prstGeom prst="rect">
            <a:avLst/>
          </a:prstGeom>
          <a:noFill/>
          <a:ln/>
        </p:spPr>
        <p:txBody>
          <a:bodyPr wrap="square" lIns="0" tIns="0" rIns="0" bIns="0" rtlCol="0" anchor="ctr"/>
          <a:lstStyle/>
          <a:p>
            <a:pPr indent="0" marL="0">
              <a:buNone/>
            </a:pPr>
            <a:r>
              <a:rPr lang="en-US" sz="850" b="1" spc="130" kern="0" dirty="0">
                <a:solidFill>
                  <a:srgbClr val="BDBDBD"/>
                </a:solidFill>
                <a:latin typeface="Calibri" pitchFamily="34" charset="0"/>
                <a:ea typeface="Calibri" pitchFamily="34" charset="-122"/>
                <a:cs typeface="Calibri" pitchFamily="34" charset="-120"/>
              </a:rPr>
              <a:t>MECHANISM</a:t>
            </a:r>
            <a:endParaRPr lang="en-US" sz="850" dirty="0"/>
          </a:p>
        </p:txBody>
      </p:sp>
      <p:sp>
        <p:nvSpPr>
          <p:cNvPr id="11" name="Text 8"/>
          <p:cNvSpPr txBox="1"/>
          <p:nvPr/>
        </p:nvSpPr>
        <p:spPr>
          <a:xfrm>
            <a:off x="6949440" y="1645920"/>
            <a:ext cx="4480560" cy="1371600"/>
          </a:xfrm>
          <a:prstGeom prst="rect">
            <a:avLst/>
          </a:prstGeom>
          <a:noFill/>
          <a:ln/>
        </p:spPr>
        <p:txBody>
          <a:bodyPr wrap="square" lIns="0" tIns="0" rIns="0" bIns="0" rtlCol="0" anchor="t"/>
          <a:lstStyle/>
          <a:p>
            <a:pPr indent="0" marL="0">
              <a:lnSpc>
                <a:spcPts val="1850"/>
              </a:lnSpc>
              <a:buNone/>
            </a:pPr>
            <a:r>
              <a:rPr lang="en-US" sz="1250" dirty="0">
                <a:solidFill>
                  <a:srgbClr val="3C3C3C"/>
                </a:solidFill>
                <a:latin typeface="Calibri" pitchFamily="34" charset="0"/>
                <a:ea typeface="Calibri" pitchFamily="34" charset="-122"/>
                <a:cs typeface="Calibri" pitchFamily="34" charset="-120"/>
              </a:rPr>
              <a:t>The carbonate fraction decomposes endothermically and releases CO₂, diluting the flame front locally. Consistent with the absence of spread, but not verified calorimetrically.</a:t>
            </a:r>
            <a:endParaRPr lang="en-US" sz="1250" dirty="0"/>
          </a:p>
        </p:txBody>
      </p:sp>
      <p:sp>
        <p:nvSpPr>
          <p:cNvPr id="12" name="ru7.63.6"/>
          <p:cNvSpPr/>
          <p:nvPr/>
        </p:nvSpPr>
        <p:spPr>
          <a:xfrm>
            <a:off x="6949440" y="3291840"/>
            <a:ext cx="4480560" cy="9144"/>
          </a:xfrm>
          <a:prstGeom prst="rect">
            <a:avLst/>
          </a:prstGeom>
          <a:solidFill>
            <a:srgbClr val="E4E4E4"/>
          </a:solidFill>
          <a:ln w="12700">
            <a:solidFill>
              <a:srgbClr val="E4E4E4">
                <a:alpha val="0"/>
              </a:srgbClr>
            </a:solidFill>
            <a:prstDash val="solid"/>
          </a:ln>
        </p:spPr>
      </p:sp>
      <p:sp>
        <p:nvSpPr>
          <p:cNvPr id="13" name="Text 10"/>
          <p:cNvSpPr txBox="1"/>
          <p:nvPr/>
        </p:nvSpPr>
        <p:spPr>
          <a:xfrm>
            <a:off x="6949440" y="3520440"/>
            <a:ext cx="4480560" cy="219456"/>
          </a:xfrm>
          <a:prstGeom prst="rect">
            <a:avLst/>
          </a:prstGeom>
          <a:noFill/>
          <a:ln/>
        </p:spPr>
        <p:txBody>
          <a:bodyPr wrap="square" lIns="0" tIns="0" rIns="0" bIns="0" rtlCol="0" anchor="ctr"/>
          <a:lstStyle/>
          <a:p>
            <a:pPr indent="0" marL="0">
              <a:buNone/>
            </a:pPr>
            <a:r>
              <a:rPr lang="en-US" sz="850" b="1" spc="130" kern="0" dirty="0">
                <a:solidFill>
                  <a:srgbClr val="BDBDBD"/>
                </a:solidFill>
                <a:latin typeface="Calibri" pitchFamily="34" charset="0"/>
                <a:ea typeface="Calibri" pitchFamily="34" charset="-122"/>
                <a:cs typeface="Calibri" pitchFamily="34" charset="-120"/>
              </a:rPr>
              <a:t>WHAT THIS IS NOT</a:t>
            </a:r>
            <a:endParaRPr lang="en-US" sz="850" dirty="0"/>
          </a:p>
        </p:txBody>
      </p:sp>
      <p:sp>
        <p:nvSpPr>
          <p:cNvPr id="14" name="Text 11"/>
          <p:cNvSpPr txBox="1"/>
          <p:nvPr/>
        </p:nvSpPr>
        <p:spPr>
          <a:xfrm>
            <a:off x="6949440" y="3794760"/>
            <a:ext cx="4480560" cy="1371600"/>
          </a:xfrm>
          <a:prstGeom prst="rect">
            <a:avLst/>
          </a:prstGeom>
          <a:noFill/>
          <a:ln/>
        </p:spPr>
        <p:txBody>
          <a:bodyPr wrap="square" lIns="0" tIns="0" rIns="0" bIns="0" rtlCol="0" anchor="t"/>
          <a:lstStyle/>
          <a:p>
            <a:pPr indent="0" marL="0">
              <a:lnSpc>
                <a:spcPts val="1850"/>
              </a:lnSpc>
              <a:buNone/>
            </a:pPr>
            <a:r>
              <a:rPr lang="en-US" sz="1250" dirty="0">
                <a:solidFill>
                  <a:srgbClr val="3C3C3C"/>
                </a:solidFill>
                <a:latin typeface="Calibri" pitchFamily="34" charset="0"/>
                <a:ea typeface="Calibri" pitchFamily="34" charset="-122"/>
                <a:cs typeface="Calibri" pitchFamily="34" charset="-120"/>
              </a:rPr>
              <a:t>ISO 11925-2 is an ignitability test. No Euroclass classification was determined. No cone calorimetry, smoke density or toxicity data were obtained.</a:t>
            </a:r>
            <a:endParaRPr lang="en-US" sz="1250" dirty="0"/>
          </a:p>
        </p:txBody>
      </p:sp>
      <p:sp>
        <p:nvSpPr>
          <p:cNvPr id="16"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Water and weight</a:t>
            </a:r>
            <a:endParaRPr lang="en-US" sz="2000" dirty="0"/>
          </a:p>
        </p:txBody>
      </p:sp>
      <p:sp>
        <p:nvSpPr>
          <p:cNvPr id="3" name="Text 1"/>
          <p:cNvSpPr txBox="1"/>
          <p:nvPr/>
        </p:nvSpPr>
        <p:spPr>
          <a:xfrm>
            <a:off x="731520" y="1463040"/>
            <a:ext cx="5029200" cy="219456"/>
          </a:xfrm>
          <a:prstGeom prst="rect">
            <a:avLst/>
          </a:prstGeom>
          <a:noFill/>
          <a:ln/>
        </p:spPr>
        <p:txBody>
          <a:bodyPr wrap="square" lIns="0" tIns="0" rIns="0" bIns="0" rtlCol="0" anchor="ctr"/>
          <a:lstStyle/>
          <a:p>
            <a:pPr indent="0" marL="0">
              <a:buNone/>
            </a:pPr>
            <a:r>
              <a:rPr lang="en-US" sz="850" b="1" spc="130" kern="0" dirty="0">
                <a:solidFill>
                  <a:srgbClr val="BDBDBD"/>
                </a:solidFill>
                <a:latin typeface="Calibri" pitchFamily="34" charset="0"/>
                <a:ea typeface="Calibri" pitchFamily="34" charset="-122"/>
                <a:cs typeface="Calibri" pitchFamily="34" charset="-120"/>
              </a:rPr>
              <a:t>ABSORPTION — 24 H FULL IMMERSION</a:t>
            </a:r>
            <a:endParaRPr lang="en-US" sz="850" dirty="0"/>
          </a:p>
        </p:txBody>
      </p:sp>
      <p:sp>
        <p:nvSpPr>
          <p:cNvPr id="4" name="Text 2"/>
          <p:cNvSpPr txBox="1"/>
          <p:nvPr/>
        </p:nvSpPr>
        <p:spPr>
          <a:xfrm>
            <a:off x="731520" y="1783080"/>
            <a:ext cx="2194560" cy="876300"/>
          </a:xfrm>
          <a:prstGeom prst="rect">
            <a:avLst/>
          </a:prstGeom>
          <a:noFill/>
          <a:ln/>
        </p:spPr>
        <p:txBody>
          <a:bodyPr wrap="square" lIns="0" tIns="0" rIns="0" bIns="0" rtlCol="0" anchor="b"/>
          <a:lstStyle/>
          <a:p>
            <a:pPr indent="0" marL="0">
              <a:buNone/>
            </a:pPr>
            <a:r>
              <a:rPr lang="en-US" sz="4600" b="1" dirty="0">
                <a:solidFill>
                  <a:srgbClr val="B4513A"/>
                </a:solidFill>
                <a:latin typeface="Calibri" pitchFamily="34" charset="0"/>
                <a:ea typeface="Calibri" pitchFamily="34" charset="-122"/>
                <a:cs typeface="Calibri" pitchFamily="34" charset="-120"/>
              </a:rPr>
              <a:t>0.7%</a:t>
            </a:r>
            <a:endParaRPr lang="en-US" sz="4600" dirty="0"/>
          </a:p>
        </p:txBody>
      </p:sp>
      <p:sp>
        <p:nvSpPr>
          <p:cNvPr id="5" name="Text 3"/>
          <p:cNvSpPr txBox="1"/>
          <p:nvPr/>
        </p:nvSpPr>
        <p:spPr>
          <a:xfrm>
            <a:off x="731520" y="2695956"/>
            <a:ext cx="2194560" cy="420624"/>
          </a:xfrm>
          <a:prstGeom prst="rect">
            <a:avLst/>
          </a:prstGeom>
          <a:noFill/>
          <a:ln/>
        </p:spPr>
        <p:txBody>
          <a:bodyPr wrap="square" lIns="0" tIns="0" rIns="0" bIns="0" rtlCol="0" anchor="t"/>
          <a:lstStyle/>
          <a:p>
            <a:pPr indent="0" marL="0">
              <a:lnSpc>
                <a:spcPts val="1250"/>
              </a:lnSpc>
              <a:buNone/>
            </a:pPr>
            <a:r>
              <a:rPr lang="en-US" sz="950" dirty="0">
                <a:solidFill>
                  <a:srgbClr val="8C8C8C"/>
                </a:solidFill>
                <a:latin typeface="Calibri" pitchFamily="34" charset="0"/>
                <a:ea typeface="Calibri" pitchFamily="34" charset="-122"/>
                <a:cs typeface="Calibri" pitchFamily="34" charset="-120"/>
              </a:rPr>
              <a:t>mass gain, shellac-coated</a:t>
            </a:r>
            <a:endParaRPr lang="en-US" sz="950" dirty="0"/>
          </a:p>
        </p:txBody>
      </p:sp>
      <p:sp>
        <p:nvSpPr>
          <p:cNvPr id="6" name="Text 4"/>
          <p:cNvSpPr txBox="1"/>
          <p:nvPr/>
        </p:nvSpPr>
        <p:spPr>
          <a:xfrm>
            <a:off x="3200400" y="1874520"/>
            <a:ext cx="2560320" cy="1645920"/>
          </a:xfrm>
          <a:prstGeom prst="rect">
            <a:avLst/>
          </a:prstGeom>
          <a:noFill/>
          <a:ln/>
        </p:spPr>
        <p:txBody>
          <a:bodyPr wrap="square" lIns="0" tIns="0" rIns="0" bIns="0" rtlCol="0" anchor="t"/>
          <a:lstStyle/>
          <a:p>
            <a:pPr indent="0" marL="0">
              <a:lnSpc>
                <a:spcPts val="1800"/>
              </a:lnSpc>
              <a:buNone/>
            </a:pPr>
            <a:r>
              <a:rPr lang="en-US" sz="1200" dirty="0">
                <a:solidFill>
                  <a:srgbClr val="3C3C3C"/>
                </a:solidFill>
                <a:latin typeface="Calibri" pitchFamily="34" charset="0"/>
                <a:ea typeface="Calibri" pitchFamily="34" charset="-122"/>
                <a:cs typeface="Calibri" pitchFamily="34" charset="-120"/>
              </a:rPr>
              <a:t>Local dissolution where the coating was thin. Coating integrity, not the composite, is the limiting factor for humid use.</a:t>
            </a:r>
            <a:endParaRPr lang="en-US" sz="1200" dirty="0"/>
          </a:p>
        </p:txBody>
      </p:sp>
      <p:sp>
        <p:nvSpPr>
          <p:cNvPr id="7" name="ru0.84"/>
          <p:cNvSpPr/>
          <p:nvPr/>
        </p:nvSpPr>
        <p:spPr>
          <a:xfrm>
            <a:off x="731520" y="3657600"/>
            <a:ext cx="5029200" cy="9144"/>
          </a:xfrm>
          <a:prstGeom prst="rect">
            <a:avLst/>
          </a:prstGeom>
          <a:solidFill>
            <a:srgbClr val="E4E4E4"/>
          </a:solidFill>
          <a:ln w="12700">
            <a:solidFill>
              <a:srgbClr val="E4E4E4">
                <a:alpha val="0"/>
              </a:srgbClr>
            </a:solidFill>
            <a:prstDash val="solid"/>
          </a:ln>
        </p:spPr>
      </p:sp>
      <p:sp>
        <p:nvSpPr>
          <p:cNvPr id="8" name="Text 6"/>
          <p:cNvSpPr txBox="1"/>
          <p:nvPr/>
        </p:nvSpPr>
        <p:spPr>
          <a:xfrm>
            <a:off x="731520" y="3886200"/>
            <a:ext cx="5029200" cy="914400"/>
          </a:xfrm>
          <a:prstGeom prst="rect">
            <a:avLst/>
          </a:prstGeom>
          <a:noFill/>
          <a:ln/>
        </p:spPr>
        <p:txBody>
          <a:bodyPr wrap="square" lIns="0" tIns="0" rIns="0" bIns="0" rtlCol="0" anchor="t"/>
          <a:lstStyle/>
          <a:p>
            <a:pPr indent="0" marL="0">
              <a:lnSpc>
                <a:spcPts val="1550"/>
              </a:lnSpc>
              <a:buNone/>
            </a:pPr>
            <a:r>
              <a:rPr lang="en-US" sz="1050" dirty="0">
                <a:solidFill>
                  <a:srgbClr val="8C8C8C"/>
                </a:solidFill>
                <a:latin typeface="Calibri" pitchFamily="34" charset="0"/>
                <a:ea typeface="Calibri" pitchFamily="34" charset="-122"/>
                <a:cs typeface="Calibri" pitchFamily="34" charset="-120"/>
              </a:rPr>
              <a:t>Three coats of shellac — a natural, biodegradable, hydrophobic resin. Slight dimensional expansion was observed.</a:t>
            </a:r>
            <a:endParaRPr lang="en-US" sz="1050" dirty="0"/>
          </a:p>
        </p:txBody>
      </p:sp>
      <p:sp>
        <p:nvSpPr>
          <p:cNvPr id="9" name="vr6.61.6"/>
          <p:cNvSpPr/>
          <p:nvPr/>
        </p:nvSpPr>
        <p:spPr>
          <a:xfrm>
            <a:off x="6035040" y="1463040"/>
            <a:ext cx="13716" cy="4023360"/>
          </a:xfrm>
          <a:prstGeom prst="rect">
            <a:avLst/>
          </a:prstGeom>
          <a:solidFill>
            <a:srgbClr val="E4E4E4"/>
          </a:solidFill>
          <a:ln w="12700">
            <a:solidFill>
              <a:srgbClr val="E4E4E4">
                <a:alpha val="0"/>
              </a:srgbClr>
            </a:solidFill>
            <a:prstDash val="solid"/>
          </a:ln>
        </p:spPr>
      </p:sp>
      <p:sp>
        <p:nvSpPr>
          <p:cNvPr id="10" name="Text 8"/>
          <p:cNvSpPr txBox="1"/>
          <p:nvPr/>
        </p:nvSpPr>
        <p:spPr>
          <a:xfrm>
            <a:off x="6492240" y="1463040"/>
            <a:ext cx="4937760" cy="219456"/>
          </a:xfrm>
          <a:prstGeom prst="rect">
            <a:avLst/>
          </a:prstGeom>
          <a:noFill/>
          <a:ln/>
        </p:spPr>
        <p:txBody>
          <a:bodyPr wrap="square" lIns="0" tIns="0" rIns="0" bIns="0" rtlCol="0" anchor="ctr"/>
          <a:lstStyle/>
          <a:p>
            <a:pPr indent="0" marL="0">
              <a:buNone/>
            </a:pPr>
            <a:r>
              <a:rPr lang="en-US" sz="850" b="1" spc="130" kern="0" dirty="0">
                <a:solidFill>
                  <a:srgbClr val="BDBDBD"/>
                </a:solidFill>
                <a:latin typeface="Calibri" pitchFamily="34" charset="0"/>
                <a:ea typeface="Calibri" pitchFamily="34" charset="-122"/>
                <a:cs typeface="Calibri" pitchFamily="34" charset="-120"/>
              </a:rPr>
              <a:t>BULK DENSITY</a:t>
            </a:r>
            <a:endParaRPr lang="en-US" sz="8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492240" y="1737360"/>
          <a:ext cx="4937760" cy="914400"/>
        </p:xfrm>
        <a:graphic>
          <a:graphicData uri="http://schemas.openxmlformats.org/drawingml/2006/table">
            <a:tbl>
              <a:tblPr/>
              <a:tblGrid>
                <a:gridCol w="2011680"/>
                <a:gridCol w="1097280"/>
                <a:gridCol w="1828800"/>
              </a:tblGrid>
              <a:tr h="365760">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Material</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g/cm³</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Reference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r>
              <a:tr h="365760">
                <a:tc>
                  <a:txBody>
                    <a:bodyPr/>
                    <a:lstStyle/>
                    <a:p>
                      <a:pPr algn="l" indent="0" marL="0">
                        <a:buNone/>
                      </a:pPr>
                      <a:r>
                        <a:rPr lang="en-US" sz="1050" b="1" dirty="0">
                          <a:solidFill>
                            <a:srgbClr val="B4513A"/>
                          </a:solidFill>
                          <a:latin typeface="Calibri" pitchFamily="34" charset="0"/>
                          <a:ea typeface="Calibri" pitchFamily="34" charset="-122"/>
                          <a:cs typeface="Calibri" pitchFamily="34" charset="-120"/>
                        </a:rPr>
                        <a:t>This study (C3)</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B4513A"/>
                          </a:solidFill>
                          <a:latin typeface="Calibri" pitchFamily="34" charset="0"/>
                          <a:ea typeface="Calibri" pitchFamily="34" charset="-122"/>
                          <a:cs typeface="Calibri" pitchFamily="34" charset="-120"/>
                        </a:rPr>
                        <a:t>1.38</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65760">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Mycelium, cellulose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0.3 – 0.8</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Jones et al. 2020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65760">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Fired clay brick</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1.6 – 2.0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William &amp; Owen 1995</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65760">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Normal-weight concrete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2.4</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William &amp; Owen 1995</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bl>
          </a:graphicData>
        </a:graphic>
      </p:graphicFrame>
      <p:sp>
        <p:nvSpPr>
          <p:cNvPr id="12" name="Text 9"/>
          <p:cNvSpPr txBox="1"/>
          <p:nvPr/>
        </p:nvSpPr>
        <p:spPr>
          <a:xfrm>
            <a:off x="6492240" y="3703320"/>
            <a:ext cx="4937760" cy="1097280"/>
          </a:xfrm>
          <a:prstGeom prst="rect">
            <a:avLst/>
          </a:prstGeom>
          <a:noFill/>
          <a:ln/>
        </p:spPr>
        <p:txBody>
          <a:bodyPr wrap="square" lIns="0" tIns="0" rIns="0" bIns="0" rtlCol="0" anchor="t"/>
          <a:lstStyle/>
          <a:p>
            <a:pPr indent="0" marL="0">
              <a:lnSpc>
                <a:spcPts val="1550"/>
              </a:lnSpc>
              <a:buNone/>
            </a:pPr>
            <a:r>
              <a:rPr lang="en-US" sz="1050" dirty="0">
                <a:solidFill>
                  <a:srgbClr val="8C8C8C"/>
                </a:solidFill>
                <a:latin typeface="Calibri" pitchFamily="34" charset="0"/>
                <a:ea typeface="Calibri" pitchFamily="34" charset="-122"/>
                <a:cs typeface="Calibri" pitchFamily="34" charset="-120"/>
              </a:rPr>
              <a:t>Denser than the fungal and cellulosic family, lighter than fired clay and concrete. Quoted on a mould-volume basis and therefore a lower bound.</a:t>
            </a:r>
            <a:endParaRPr lang="en-US" sz="1050" dirty="0"/>
          </a:p>
        </p:txBody>
      </p:sp>
      <p:sp>
        <p:nvSpPr>
          <p:cNvPr id="14"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Versus stone and board</a:t>
            </a:r>
            <a:endParaRPr lang="en-US" sz="2000" dirty="0"/>
          </a:p>
        </p:txBody>
      </p:sp>
      <p:graphicFrame>
        <p:nvGraphicFramePr>
          <p:cNvPr id="3" name="b1" descr=""/>
          <p:cNvGraphicFramePr/>
          <p:nvPr/>
        </p:nvGraphicFramePr>
        <p:xfrm>
          <a:off x="731520" y="1371600"/>
          <a:ext cx="7589520" cy="43891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31520" y="5852160"/>
            <a:ext cx="758952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Velasco &amp; Gaona 2011 · Klyosov 2007 · Nemli &amp; Aydın 2007 · Altun 2006</a:t>
            </a:r>
            <a:endParaRPr lang="en-US" sz="900" dirty="0"/>
          </a:p>
        </p:txBody>
      </p:sp>
      <p:sp>
        <p:nvSpPr>
          <p:cNvPr id="5" name="vr9.51.5"/>
          <p:cNvSpPr/>
          <p:nvPr/>
        </p:nvSpPr>
        <p:spPr>
          <a:xfrm>
            <a:off x="8686800" y="1371600"/>
            <a:ext cx="13716" cy="4389120"/>
          </a:xfrm>
          <a:prstGeom prst="rect">
            <a:avLst/>
          </a:prstGeom>
          <a:solidFill>
            <a:srgbClr val="E4E4E4"/>
          </a:solidFill>
          <a:ln w="12700">
            <a:solidFill>
              <a:srgbClr val="E4E4E4">
                <a:alpha val="0"/>
              </a:srgbClr>
            </a:solidFill>
            <a:prstDash val="solid"/>
          </a:ln>
        </p:spPr>
      </p:sp>
      <p:sp>
        <p:nvSpPr>
          <p:cNvPr id="6" name="Text 3"/>
          <p:cNvSpPr txBox="1"/>
          <p:nvPr/>
        </p:nvSpPr>
        <p:spPr>
          <a:xfrm>
            <a:off x="9144000" y="1463040"/>
            <a:ext cx="2286000" cy="1005840"/>
          </a:xfrm>
          <a:prstGeom prst="rect">
            <a:avLst/>
          </a:prstGeom>
          <a:noFill/>
          <a:ln/>
        </p:spPr>
        <p:txBody>
          <a:bodyPr wrap="square" lIns="0" tIns="0" rIns="0" bIns="0" rtlCol="0" anchor="ctr"/>
          <a:lstStyle/>
          <a:p>
            <a:pPr indent="0" marL="0">
              <a:lnSpc>
                <a:spcPts val="2300"/>
              </a:lnSpc>
              <a:buNone/>
            </a:pPr>
            <a:r>
              <a:rPr lang="en-US" sz="1700" b="1" dirty="0">
                <a:solidFill>
                  <a:srgbClr val="141414"/>
                </a:solidFill>
                <a:latin typeface="Calibri" pitchFamily="34" charset="0"/>
                <a:ea typeface="Calibri" pitchFamily="34" charset="-122"/>
                <a:cs typeface="Calibri" pitchFamily="34" charset="-120"/>
              </a:rPr>
              <a:t>On strength alone it does not compete.</a:t>
            </a:r>
            <a:endParaRPr lang="en-US" sz="1700" dirty="0"/>
          </a:p>
        </p:txBody>
      </p:sp>
      <p:sp>
        <p:nvSpPr>
          <p:cNvPr id="7" name="Text 4"/>
          <p:cNvSpPr txBox="1"/>
          <p:nvPr/>
        </p:nvSpPr>
        <p:spPr>
          <a:xfrm>
            <a:off x="9144000" y="2697480"/>
            <a:ext cx="2286000" cy="2194560"/>
          </a:xfrm>
          <a:prstGeom prst="rect">
            <a:avLst/>
          </a:prstGeom>
          <a:noFill/>
          <a:ln/>
        </p:spPr>
        <p:txBody>
          <a:bodyPr wrap="square" lIns="0" tIns="0" rIns="0" bIns="0" rtlCol="0" anchor="t"/>
          <a:lstStyle/>
          <a:p>
            <a:pPr indent="0" marL="0">
              <a:lnSpc>
                <a:spcPts val="1550"/>
              </a:lnSpc>
              <a:buNone/>
            </a:pPr>
            <a:r>
              <a:rPr lang="en-US" sz="1050" dirty="0">
                <a:solidFill>
                  <a:srgbClr val="8C8C8C"/>
                </a:solidFill>
                <a:latin typeface="Calibri" pitchFamily="34" charset="0"/>
                <a:ea typeface="Calibri" pitchFamily="34" charset="-122"/>
                <a:cs typeface="Calibri" pitchFamily="34" charset="-120"/>
              </a:rPr>
              <a:t>One sixth the compressive strength of MDF. One twentieth that of travertine — a stone it visually resembles. Three times compressed mushroom panel, the only other fully bio-based board here.</a:t>
            </a:r>
            <a:endParaRPr lang="en-US" sz="1050" dirty="0"/>
          </a:p>
        </p:txBody>
      </p:sp>
      <p:sp>
        <p:nvSpPr>
          <p:cNvPr id="9"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Versus bio-based</a:t>
            </a:r>
            <a:endParaRPr lang="en-US" sz="2000" dirty="0"/>
          </a:p>
        </p:txBody>
      </p:sp>
      <p:sp>
        <p:nvSpPr>
          <p:cNvPr id="3" name="Text 1"/>
          <p:cNvSpPr txBox="1"/>
          <p:nvPr/>
        </p:nvSpPr>
        <p:spPr>
          <a:xfrm>
            <a:off x="731520" y="1371600"/>
            <a:ext cx="5120640" cy="219456"/>
          </a:xfrm>
          <a:prstGeom prst="rect">
            <a:avLst/>
          </a:prstGeom>
          <a:noFill/>
          <a:ln/>
        </p:spPr>
        <p:txBody>
          <a:bodyPr wrap="square" lIns="0" tIns="0" rIns="0" bIns="0" rtlCol="0" anchor="ctr"/>
          <a:lstStyle/>
          <a:p>
            <a:pPr indent="0" marL="0">
              <a:buNone/>
            </a:pPr>
            <a:r>
              <a:rPr lang="en-US" sz="850" b="1" spc="130" kern="0" dirty="0">
                <a:solidFill>
                  <a:srgbClr val="BDBDBD"/>
                </a:solidFill>
                <a:latin typeface="Calibri" pitchFamily="34" charset="0"/>
                <a:ea typeface="Calibri" pitchFamily="34" charset="-122"/>
                <a:cs typeface="Calibri" pitchFamily="34" charset="-120"/>
              </a:rPr>
              <a:t>COMPRESSIVE STRENGTH</a:t>
            </a:r>
            <a:endParaRPr lang="en-US" sz="8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731520" y="1645920"/>
          <a:ext cx="5120640" cy="914400"/>
        </p:xfrm>
        <a:graphic>
          <a:graphicData uri="http://schemas.openxmlformats.org/drawingml/2006/table">
            <a:tbl>
              <a:tblPr/>
              <a:tblGrid>
                <a:gridCol w="2377440"/>
                <a:gridCol w="1371600"/>
                <a:gridCol w="1371600"/>
              </a:tblGrid>
              <a:tr h="347472">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Material</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σᴄ MPa</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Reference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r>
              <a:tr h="347472">
                <a:tc>
                  <a:txBody>
                    <a:bodyPr/>
                    <a:lstStyle/>
                    <a:p>
                      <a:pPr algn="l" indent="0" marL="0">
                        <a:buNone/>
                      </a:pPr>
                      <a:r>
                        <a:rPr lang="en-US" sz="1050" b="1" dirty="0">
                          <a:solidFill>
                            <a:srgbClr val="B4513A"/>
                          </a:solidFill>
                          <a:latin typeface="Calibri" pitchFamily="34" charset="0"/>
                          <a:ea typeface="Calibri" pitchFamily="34" charset="-122"/>
                          <a:cs typeface="Calibri" pitchFamily="34" charset="-120"/>
                        </a:rPr>
                        <a:t>This study (C3)</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B4513A"/>
                          </a:solidFill>
                          <a:latin typeface="Calibri" pitchFamily="34" charset="0"/>
                          <a:ea typeface="Calibri" pitchFamily="34" charset="-122"/>
                          <a:cs typeface="Calibri" pitchFamily="34" charset="-120"/>
                        </a:rPr>
                        <a:t>4.1</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47472">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Mycelium composite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0.145 – 0.452</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Jones et al. 2020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47472">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Hempcrete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0.3 – 0.6</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Arnaud &amp; Gourlay 2012</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47472">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Eggshell-filled PLA</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2 – 5</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Kim &amp; Pal 2010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47472">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Mineral-filled biocomposite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2.1 – 39.6</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Shah et al. 2016</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6400800" y="1371600"/>
            <a:ext cx="5029200" cy="219456"/>
          </a:xfrm>
          <a:prstGeom prst="rect">
            <a:avLst/>
          </a:prstGeom>
          <a:noFill/>
          <a:ln/>
        </p:spPr>
        <p:txBody>
          <a:bodyPr wrap="square" lIns="0" tIns="0" rIns="0" bIns="0" rtlCol="0" anchor="ctr"/>
          <a:lstStyle/>
          <a:p>
            <a:pPr indent="0" marL="0">
              <a:buNone/>
            </a:pPr>
            <a:r>
              <a:rPr lang="en-US" sz="850" b="1" spc="130" kern="0" dirty="0">
                <a:solidFill>
                  <a:srgbClr val="BDBDBD"/>
                </a:solidFill>
                <a:latin typeface="Calibri" pitchFamily="34" charset="0"/>
                <a:ea typeface="Calibri" pitchFamily="34" charset="-122"/>
                <a:cs typeface="Calibri" pitchFamily="34" charset="-120"/>
              </a:rPr>
              <a:t>ELASTIC MODULUS</a:t>
            </a:r>
            <a:endParaRPr lang="en-US" sz="850" dirty="0"/>
          </a:p>
        </p:txBody>
      </p:sp>
      <p:graphicFrame>
        <p:nvGraphicFramePr>
          <p:cNvPr id="39" name="Table 1"/>
          <p:cNvGraphicFramePr>
            <a:graphicFrameLocks noGrp="1"/>
          </p:cNvGraphicFramePr>
          <p:nvPr>
            <p:extLst>
              <p:ext uri="{D42A27DB-BD31-4B8C-83A1-F6EECF244321}">
                <p14:modId xmlns:p14="http://schemas.microsoft.com/office/powerpoint/2010/main" val="1579011935"/>
              </p:ext>
            </p:extLst>
          </p:nvPr>
        </p:nvGraphicFramePr>
        <p:xfrm>
          <a:off x="6400800" y="1645920"/>
          <a:ext cx="5029200" cy="914400"/>
        </p:xfrm>
        <a:graphic>
          <a:graphicData uri="http://schemas.openxmlformats.org/drawingml/2006/table">
            <a:tbl>
              <a:tblPr/>
              <a:tblGrid>
                <a:gridCol w="2240280"/>
                <a:gridCol w="1234440"/>
                <a:gridCol w="1554480"/>
              </a:tblGrid>
              <a:tr h="347472">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Material</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E MPa</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Reference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r>
              <a:tr h="347472">
                <a:tc>
                  <a:txBody>
                    <a:bodyPr/>
                    <a:lstStyle/>
                    <a:p>
                      <a:pPr algn="l" indent="0" marL="0">
                        <a:buNone/>
                      </a:pPr>
                      <a:r>
                        <a:rPr lang="en-US" sz="1050" b="1" dirty="0">
                          <a:solidFill>
                            <a:srgbClr val="B4513A"/>
                          </a:solidFill>
                          <a:latin typeface="Calibri" pitchFamily="34" charset="0"/>
                          <a:ea typeface="Calibri" pitchFamily="34" charset="-122"/>
                          <a:cs typeface="Calibri" pitchFamily="34" charset="-120"/>
                        </a:rPr>
                        <a:t>This study (F2)</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B4513A"/>
                          </a:solidFill>
                          <a:latin typeface="Calibri" pitchFamily="34" charset="0"/>
                          <a:ea typeface="Calibri" pitchFamily="34" charset="-122"/>
                          <a:cs typeface="Calibri" pitchFamily="34" charset="-120"/>
                        </a:rPr>
                        <a:t>192</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47472">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Mycelium composite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1.8 – 5</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Islam et al. 2018</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47472">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Soy-based bioplastic</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124</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Mansour et al. 2021</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47472">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Flax-fibre PLA</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198</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Faruk et al. 2012</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47472">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LDPE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100 – 300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Zhao et al. 2022</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47472">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Wood (pine)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11 000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Pope &amp; Hudson 1989</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bl>
          </a:graphicData>
        </a:graphic>
      </p:graphicFrame>
      <p:sp>
        <p:nvSpPr>
          <p:cNvPr id="7" name="ru0.84.45"/>
          <p:cNvSpPr/>
          <p:nvPr/>
        </p:nvSpPr>
        <p:spPr>
          <a:xfrm>
            <a:off x="731520" y="4069080"/>
            <a:ext cx="10698480" cy="9144"/>
          </a:xfrm>
          <a:prstGeom prst="rect">
            <a:avLst/>
          </a:prstGeom>
          <a:solidFill>
            <a:srgbClr val="E4E4E4"/>
          </a:solidFill>
          <a:ln w="12700">
            <a:solidFill>
              <a:srgbClr val="E4E4E4">
                <a:alpha val="0"/>
              </a:srgbClr>
            </a:solidFill>
            <a:prstDash val="solid"/>
          </a:ln>
        </p:spPr>
      </p:sp>
      <p:sp>
        <p:nvSpPr>
          <p:cNvPr id="8" name="Text 4"/>
          <p:cNvSpPr txBox="1"/>
          <p:nvPr/>
        </p:nvSpPr>
        <p:spPr>
          <a:xfrm>
            <a:off x="731520" y="4297680"/>
            <a:ext cx="10698480" cy="411480"/>
          </a:xfrm>
          <a:prstGeom prst="rect">
            <a:avLst/>
          </a:prstGeom>
          <a:noFill/>
          <a:ln/>
        </p:spPr>
        <p:txBody>
          <a:bodyPr wrap="square" lIns="0" tIns="0" rIns="0" bIns="0" rtlCol="0" anchor="ctr"/>
          <a:lstStyle/>
          <a:p>
            <a:pPr indent="0" marL="0">
              <a:buNone/>
            </a:pPr>
            <a:r>
              <a:rPr lang="en-US" sz="1900" b="1" dirty="0">
                <a:solidFill>
                  <a:srgbClr val="B4513A"/>
                </a:solidFill>
                <a:latin typeface="Calibri" pitchFamily="34" charset="0"/>
                <a:ea typeface="Calibri" pitchFamily="34" charset="-122"/>
                <a:cs typeface="Calibri" pitchFamily="34" charset="-120"/>
              </a:rPr>
              <a:t>Water-cast and ambient-dried, at melt-processed stiffness.</a:t>
            </a:r>
            <a:endParaRPr lang="en-US" sz="1900" dirty="0"/>
          </a:p>
        </p:txBody>
      </p:sp>
      <p:sp>
        <p:nvSpPr>
          <p:cNvPr id="9" name="Text 5"/>
          <p:cNvSpPr txBox="1"/>
          <p:nvPr/>
        </p:nvSpPr>
        <p:spPr>
          <a:xfrm>
            <a:off x="731520" y="4846320"/>
            <a:ext cx="10698480" cy="914400"/>
          </a:xfrm>
          <a:prstGeom prst="rect">
            <a:avLst/>
          </a:prstGeom>
          <a:noFill/>
          <a:ln/>
        </p:spPr>
        <p:txBody>
          <a:bodyPr wrap="square" lIns="0" tIns="0" rIns="0" bIns="0" rtlCol="0" anchor="t"/>
          <a:lstStyle/>
          <a:p>
            <a:pPr indent="0" marL="0">
              <a:lnSpc>
                <a:spcPts val="1550"/>
              </a:lnSpc>
              <a:buNone/>
            </a:pPr>
            <a:r>
              <a:rPr lang="en-US" sz="1050" dirty="0">
                <a:solidFill>
                  <a:srgbClr val="8C8C8C"/>
                </a:solidFill>
                <a:latin typeface="Calibri" pitchFamily="34" charset="0"/>
                <a:ea typeface="Calibri" pitchFamily="34" charset="-122"/>
                <a:cs typeface="Calibri" pitchFamily="34" charset="-120"/>
              </a:rPr>
              <a:t>An order of magnitude above the fungal and lime-binder family in compression, and inside the bio-polymer band in stiffness — between soy bioplastic and flax-fibre PLA, within the LDPE range. No oven, no autoclave, no extrusion. Wood remains two orders of magnitude above.</a:t>
            </a:r>
            <a:endParaRPr lang="en-US" sz="1050" dirty="0"/>
          </a:p>
        </p:txBody>
      </p:sp>
      <p:sp>
        <p:nvSpPr>
          <p:cNvPr id="11"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Resilience</a:t>
            </a:r>
            <a:endParaRPr lang="en-US" sz="2000" dirty="0"/>
          </a:p>
        </p:txBody>
      </p:sp>
      <p:sp>
        <p:nvSpPr>
          <p:cNvPr id="3" name="vx"/>
          <p:cNvSpPr/>
          <p:nvPr/>
        </p:nvSpPr>
        <p:spPr>
          <a:xfrm>
            <a:off x="822960" y="1828800"/>
            <a:ext cx="18288" cy="2834640"/>
          </a:xfrm>
          <a:prstGeom prst="rect">
            <a:avLst/>
          </a:prstGeom>
          <a:solidFill>
            <a:srgbClr val="5A5A5A"/>
          </a:solidFill>
          <a:ln w="12700">
            <a:solidFill>
              <a:srgbClr val="5A5A5A">
                <a:alpha val="0"/>
              </a:srgbClr>
            </a:solidFill>
            <a:prstDash val="solid"/>
          </a:ln>
        </p:spPr>
      </p:sp>
      <p:sp>
        <p:nvSpPr>
          <p:cNvPr id="4" name="hx"/>
          <p:cNvSpPr/>
          <p:nvPr/>
        </p:nvSpPr>
        <p:spPr>
          <a:xfrm>
            <a:off x="822960" y="4663440"/>
            <a:ext cx="4206240" cy="18288"/>
          </a:xfrm>
          <a:prstGeom prst="rect">
            <a:avLst/>
          </a:prstGeom>
          <a:solidFill>
            <a:srgbClr val="5A5A5A"/>
          </a:solidFill>
          <a:ln w="12700">
            <a:solidFill>
              <a:srgbClr val="5A5A5A">
                <a:alpha val="0"/>
              </a:srgbClr>
            </a:solidFill>
            <a:prstDash val="solid"/>
          </a:ln>
        </p:spPr>
      </p:sp>
      <p:sp>
        <p:nvSpPr>
          <p:cNvPr id="5" name="area"/>
          <p:cNvSpPr/>
          <p:nvPr/>
        </p:nvSpPr>
        <p:spPr>
          <a:xfrm flipH="1">
            <a:off x="841248" y="2606040"/>
            <a:ext cx="2560320" cy="2057400"/>
          </a:xfrm>
          <a:prstGeom prst="rtTriangle">
            <a:avLst/>
          </a:prstGeom>
          <a:solidFill>
            <a:srgbClr val="B4513A">
              <a:alpha val="72000"/>
            </a:srgbClr>
          </a:solidFill>
          <a:ln w="25400">
            <a:solidFill>
              <a:srgbClr val="B4513A"/>
            </a:solidFill>
            <a:prstDash val="solid"/>
          </a:ln>
        </p:spPr>
      </p:sp>
      <p:sp>
        <p:nvSpPr>
          <p:cNvPr id="6" name="Text 4"/>
          <p:cNvSpPr txBox="1"/>
          <p:nvPr/>
        </p:nvSpPr>
        <p:spPr>
          <a:xfrm>
            <a:off x="45720" y="2377440"/>
            <a:ext cx="731520" cy="274320"/>
          </a:xfrm>
          <a:prstGeom prst="rect">
            <a:avLst/>
          </a:prstGeom>
          <a:noFill/>
          <a:ln/>
        </p:spPr>
        <p:txBody>
          <a:bodyPr wrap="square" lIns="0" tIns="0" rIns="0" bIns="0" rtlCol="0" anchor="ctr"/>
          <a:lstStyle/>
          <a:p>
            <a:pPr algn="r" indent="0" marL="0">
              <a:buNone/>
            </a:pPr>
            <a:r>
              <a:rPr lang="en-US" sz="1100" dirty="0">
                <a:solidFill>
                  <a:srgbClr val="9E9E9E"/>
                </a:solidFill>
                <a:latin typeface="Calibri" pitchFamily="34" charset="0"/>
                <a:ea typeface="Calibri" pitchFamily="34" charset="-122"/>
                <a:cs typeface="Calibri" pitchFamily="34" charset="-120"/>
              </a:rPr>
              <a:t>stress</a:t>
            </a:r>
            <a:endParaRPr lang="en-US" sz="1100" dirty="0"/>
          </a:p>
        </p:txBody>
      </p:sp>
      <p:sp>
        <p:nvSpPr>
          <p:cNvPr id="7" name="Text 5"/>
          <p:cNvSpPr txBox="1"/>
          <p:nvPr/>
        </p:nvSpPr>
        <p:spPr>
          <a:xfrm>
            <a:off x="3154680" y="4754880"/>
            <a:ext cx="731520" cy="274320"/>
          </a:xfrm>
          <a:prstGeom prst="rect">
            <a:avLst/>
          </a:prstGeom>
          <a:noFill/>
          <a:ln/>
        </p:spPr>
        <p:txBody>
          <a:bodyPr wrap="square" lIns="0" tIns="0" rIns="0" bIns="0" rtlCol="0" anchor="ctr"/>
          <a:lstStyle/>
          <a:p>
            <a:pPr indent="0" marL="0">
              <a:buNone/>
            </a:pPr>
            <a:r>
              <a:rPr lang="en-US" sz="1100" dirty="0">
                <a:solidFill>
                  <a:srgbClr val="9E9E9E"/>
                </a:solidFill>
                <a:latin typeface="Calibri" pitchFamily="34" charset="0"/>
                <a:ea typeface="Calibri" pitchFamily="34" charset="-122"/>
                <a:cs typeface="Calibri" pitchFamily="34" charset="-120"/>
              </a:rPr>
              <a:t>strain</a:t>
            </a:r>
            <a:endParaRPr lang="en-US" sz="1100" dirty="0"/>
          </a:p>
        </p:txBody>
      </p:sp>
      <p:sp>
        <p:nvSpPr>
          <p:cNvPr id="8" name="Text 6"/>
          <p:cNvSpPr txBox="1"/>
          <p:nvPr/>
        </p:nvSpPr>
        <p:spPr>
          <a:xfrm>
            <a:off x="2057400" y="3886200"/>
            <a:ext cx="640080"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Ur</a:t>
            </a:r>
            <a:endParaRPr lang="en-US" sz="1500" dirty="0"/>
          </a:p>
        </p:txBody>
      </p:sp>
      <p:sp>
        <p:nvSpPr>
          <p:cNvPr id="9" name="Text 7"/>
          <p:cNvSpPr txBox="1"/>
          <p:nvPr/>
        </p:nvSpPr>
        <p:spPr>
          <a:xfrm>
            <a:off x="822960" y="5120640"/>
            <a:ext cx="4206240" cy="457200"/>
          </a:xfrm>
          <a:prstGeom prst="rect">
            <a:avLst/>
          </a:prstGeom>
          <a:noFill/>
          <a:ln/>
        </p:spPr>
        <p:txBody>
          <a:bodyPr wrap="square" lIns="0" tIns="0" rIns="0" bIns="0" rtlCol="0" anchor="t"/>
          <a:lstStyle/>
          <a:p>
            <a:pPr indent="0" marL="0">
              <a:lnSpc>
                <a:spcPts val="1250"/>
              </a:lnSpc>
              <a:buNone/>
            </a:pPr>
            <a:r>
              <a:rPr lang="en-US" sz="900" dirty="0">
                <a:solidFill>
                  <a:srgbClr val="8E8E8E"/>
                </a:solidFill>
                <a:latin typeface="Calibri" pitchFamily="34" charset="0"/>
                <a:ea typeface="Calibri" pitchFamily="34" charset="-122"/>
                <a:cs typeface="Calibri" pitchFamily="34" charset="-120"/>
              </a:rPr>
              <a:t>The shaded area is the elastic energy absorbed per unit volume before permanent damage.</a:t>
            </a:r>
            <a:endParaRPr lang="en-US" sz="900" dirty="0"/>
          </a:p>
        </p:txBody>
      </p:sp>
      <p:sp>
        <p:nvSpPr>
          <p:cNvPr id="10" name="vr6.31.5"/>
          <p:cNvSpPr/>
          <p:nvPr/>
        </p:nvSpPr>
        <p:spPr>
          <a:xfrm>
            <a:off x="5760720" y="1371600"/>
            <a:ext cx="13716" cy="4389120"/>
          </a:xfrm>
          <a:prstGeom prst="rect">
            <a:avLst/>
          </a:prstGeom>
          <a:solidFill>
            <a:srgbClr val="5A5A5A"/>
          </a:solidFill>
          <a:ln w="12700">
            <a:solidFill>
              <a:srgbClr val="5A5A5A">
                <a:alpha val="0"/>
              </a:srgbClr>
            </a:solidFill>
            <a:prstDash val="solid"/>
          </a:ln>
        </p:spPr>
      </p:sp>
      <p:sp>
        <p:nvSpPr>
          <p:cNvPr id="11" name="Text 9"/>
          <p:cNvSpPr txBox="1"/>
          <p:nvPr/>
        </p:nvSpPr>
        <p:spPr>
          <a:xfrm>
            <a:off x="6217920" y="1783080"/>
            <a:ext cx="274320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Ur  =  σ² / 2E</a:t>
            </a:r>
            <a:endParaRPr lang="en-US" sz="2200" dirty="0"/>
          </a:p>
        </p:txBody>
      </p:sp>
      <p:sp>
        <p:nvSpPr>
          <p:cNvPr id="12" name="Text 10"/>
          <p:cNvSpPr txBox="1"/>
          <p:nvPr/>
        </p:nvSpPr>
        <p:spPr>
          <a:xfrm>
            <a:off x="6217920" y="2377440"/>
            <a:ext cx="2743200" cy="502920"/>
          </a:xfrm>
          <a:prstGeom prst="rect">
            <a:avLst/>
          </a:prstGeom>
          <a:noFill/>
          <a:ln/>
        </p:spPr>
        <p:txBody>
          <a:bodyPr wrap="square" lIns="0" tIns="0" rIns="0" bIns="0" rtlCol="0" anchor="ctr"/>
          <a:lstStyle/>
          <a:p>
            <a:pPr indent="0" marL="0">
              <a:buNone/>
            </a:pPr>
            <a:r>
              <a:rPr lang="en-US" sz="2600" b="1" dirty="0">
                <a:solidFill>
                  <a:srgbClr val="B4513A"/>
                </a:solidFill>
                <a:latin typeface="Calibri" pitchFamily="34" charset="0"/>
                <a:ea typeface="Calibri" pitchFamily="34" charset="-122"/>
                <a:cs typeface="Calibri" pitchFamily="34" charset="-120"/>
              </a:rPr>
              <a:t>14.1 kJ/m³</a:t>
            </a:r>
            <a:endParaRPr lang="en-US" sz="2600" dirty="0"/>
          </a:p>
        </p:txBody>
      </p:sp>
      <p:sp>
        <p:nvSpPr>
          <p:cNvPr id="13" name="Text 11"/>
          <p:cNvSpPr txBox="1"/>
          <p:nvPr/>
        </p:nvSpPr>
        <p:spPr>
          <a:xfrm>
            <a:off x="6217920" y="2926080"/>
            <a:ext cx="2743200" cy="457200"/>
          </a:xfrm>
          <a:prstGeom prst="rect">
            <a:avLst/>
          </a:prstGeom>
          <a:noFill/>
          <a:ln/>
        </p:spPr>
        <p:txBody>
          <a:bodyPr wrap="square" lIns="0" tIns="0" rIns="0" bIns="0" rtlCol="0" anchor="t"/>
          <a:lstStyle/>
          <a:p>
            <a:pPr indent="0" marL="0">
              <a:lnSpc>
                <a:spcPts val="1250"/>
              </a:lnSpc>
              <a:buNone/>
            </a:pPr>
            <a:r>
              <a:rPr lang="en-US" sz="900" dirty="0">
                <a:solidFill>
                  <a:srgbClr val="8E8E8E"/>
                </a:solidFill>
                <a:latin typeface="Calibri" pitchFamily="34" charset="0"/>
                <a:ea typeface="Calibri" pitchFamily="34" charset="-122"/>
                <a:cs typeface="Calibri" pitchFamily="34" charset="-120"/>
              </a:rPr>
              <a:t>for the formulation measured here</a:t>
            </a:r>
            <a:endParaRPr lang="en-US" sz="900" dirty="0"/>
          </a:p>
        </p:txBody>
      </p:sp>
      <p:sp>
        <p:nvSpPr>
          <p:cNvPr id="14" name="Text 12"/>
          <p:cNvSpPr txBox="1"/>
          <p:nvPr/>
        </p:nvSpPr>
        <p:spPr>
          <a:xfrm>
            <a:off x="6217920" y="3611880"/>
            <a:ext cx="2743200" cy="822960"/>
          </a:xfrm>
          <a:prstGeom prst="rect">
            <a:avLst/>
          </a:prstGeom>
          <a:noFill/>
          <a:ln/>
        </p:spPr>
        <p:txBody>
          <a:bodyPr wrap="square" lIns="0" tIns="0" rIns="0" bIns="0" rtlCol="0" anchor="ctr"/>
          <a:lstStyle/>
          <a:p>
            <a:pPr indent="0" marL="0">
              <a:lnSpc>
                <a:spcPts val="2200"/>
              </a:lnSpc>
              <a:buNone/>
            </a:pPr>
            <a:r>
              <a:rPr lang="en-US" sz="1600" b="1" dirty="0">
                <a:solidFill>
                  <a:srgbClr val="FFFFFF"/>
                </a:solidFill>
                <a:latin typeface="Calibri" pitchFamily="34" charset="0"/>
                <a:ea typeface="Calibri" pitchFamily="34" charset="-122"/>
                <a:cs typeface="Calibri" pitchFamily="34" charset="-120"/>
              </a:rPr>
              <a:t>Stiffness sits in the denominator.</a:t>
            </a:r>
            <a:endParaRPr lang="en-US" sz="1600" dirty="0"/>
          </a:p>
        </p:txBody>
      </p:sp>
      <p:sp>
        <p:nvSpPr>
          <p:cNvPr id="15" name="Text 13"/>
          <p:cNvSpPr txBox="1"/>
          <p:nvPr/>
        </p:nvSpPr>
        <p:spPr>
          <a:xfrm>
            <a:off x="6217920" y="4572000"/>
            <a:ext cx="2743200" cy="1097280"/>
          </a:xfrm>
          <a:prstGeom prst="rect">
            <a:avLst/>
          </a:prstGeom>
          <a:noFill/>
          <a:ln/>
        </p:spPr>
        <p:txBody>
          <a:bodyPr wrap="square" lIns="0" tIns="0" rIns="0" bIns="0" rtlCol="0" anchor="t"/>
          <a:lstStyle/>
          <a:p>
            <a:pPr indent="0" marL="0">
              <a:lnSpc>
                <a:spcPts val="1650"/>
              </a:lnSpc>
              <a:buNone/>
            </a:pPr>
            <a:r>
              <a:rPr lang="en-US" sz="1150" dirty="0">
                <a:solidFill>
                  <a:srgbClr val="9E9E9E"/>
                </a:solidFill>
                <a:latin typeface="Calibri" pitchFamily="34" charset="0"/>
                <a:ea typeface="Calibri" pitchFamily="34" charset="-122"/>
                <a:cs typeface="Calibri" pitchFamily="34" charset="-120"/>
              </a:rPr>
              <a:t>The low modulus that counted against the material on the previous slide is exactly what raises this quantity.</a:t>
            </a:r>
            <a:endParaRPr lang="en-US" sz="1150" dirty="0"/>
          </a:p>
        </p:txBody>
      </p:sp>
      <p:sp>
        <p:nvSpPr>
          <p:cNvPr id="16" name="Text 14"/>
          <p:cNvSpPr txBox="1"/>
          <p:nvPr/>
        </p:nvSpPr>
        <p:spPr>
          <a:xfrm>
            <a:off x="9418320" y="1371600"/>
            <a:ext cx="2011680" cy="219456"/>
          </a:xfrm>
          <a:prstGeom prst="rect">
            <a:avLst/>
          </a:prstGeom>
          <a:noFill/>
          <a:ln/>
        </p:spPr>
        <p:txBody>
          <a:bodyPr wrap="square" lIns="0" tIns="0" rIns="0" bIns="0" rtlCol="0" anchor="ctr"/>
          <a:lstStyle/>
          <a:p>
            <a:pPr indent="0" marL="0">
              <a:buNone/>
            </a:pPr>
            <a:r>
              <a:rPr lang="en-US" sz="850" b="1" spc="130" kern="0" dirty="0">
                <a:solidFill>
                  <a:srgbClr val="8A8A8A"/>
                </a:solidFill>
                <a:latin typeface="Calibri" pitchFamily="34" charset="0"/>
                <a:ea typeface="Calibri" pitchFamily="34" charset="-122"/>
                <a:cs typeface="Calibri" pitchFamily="34" charset="-120"/>
              </a:rPr>
              <a:t>THE LIMIT</a:t>
            </a:r>
            <a:endParaRPr lang="en-US" sz="850" dirty="0"/>
          </a:p>
        </p:txBody>
      </p:sp>
      <p:sp>
        <p:nvSpPr>
          <p:cNvPr id="17" name="Text 15"/>
          <p:cNvSpPr txBox="1"/>
          <p:nvPr/>
        </p:nvSpPr>
        <p:spPr>
          <a:xfrm>
            <a:off x="9418320" y="1691640"/>
            <a:ext cx="2011680" cy="457200"/>
          </a:xfrm>
          <a:prstGeom prst="rect">
            <a:avLst/>
          </a:prstGeom>
          <a:noFill/>
          <a:ln/>
        </p:spPr>
        <p:txBody>
          <a:bodyPr wrap="square" lIns="0" tIns="0" rIns="0" bIns="0" rtlCol="0" anchor="t"/>
          <a:lstStyle/>
          <a:p>
            <a:pPr indent="0" marL="0">
              <a:lnSpc>
                <a:spcPts val="1250"/>
              </a:lnSpc>
              <a:buNone/>
            </a:pPr>
            <a:r>
              <a:rPr lang="en-US" sz="900" dirty="0">
                <a:solidFill>
                  <a:srgbClr val="8E8E8E"/>
                </a:solidFill>
                <a:latin typeface="Calibri" pitchFamily="34" charset="0"/>
                <a:ea typeface="Calibri" pitchFamily="34" charset="-122"/>
                <a:cs typeface="Calibri" pitchFamily="34" charset="-120"/>
              </a:rPr>
              <a:t>A comparative table cannot yet be assembled: the literature reports strength and modulus in separate studies on different formulations. This is a data point and a measurement convention, not a ranking.</a:t>
            </a:r>
            <a:endParaRPr lang="en-US" sz="900" dirty="0"/>
          </a:p>
        </p:txBody>
      </p:sp>
      <p:sp>
        <p:nvSpPr>
          <p:cNvPr id="19"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Where it fits</a:t>
            </a:r>
            <a:endParaRPr lang="en-US" sz="2000" dirty="0"/>
          </a:p>
        </p:txBody>
      </p:sp>
      <p:pic>
        <p:nvPicPr>
          <p:cNvPr id="3" name="ren" descr="/home/user/sanat-ve-mekan/konferans-bildirisi/03-gorseller/12-ic-mekan-render.jpeg">    </p:cNvPr>
          <p:cNvPicPr>
            <a:picLocks noChangeAspect="1"/>
          </p:cNvPicPr>
          <p:nvPr/>
        </p:nvPicPr>
        <p:blipFill>
          <a:blip r:embed="rId1"/>
          <a:stretch>
            <a:fillRect/>
          </a:stretch>
        </p:blipFill>
        <p:spPr>
          <a:xfrm>
            <a:off x="731520" y="1371600"/>
            <a:ext cx="4846320" cy="3977640"/>
          </a:xfrm>
          <a:prstGeom prst="rect">
            <a:avLst/>
          </a:prstGeom>
        </p:spPr>
      </p:pic>
      <p:pic>
        <p:nvPicPr>
          <p:cNvPr id="4" name="mod" descr="/home/user/sanat-ve-mekan/konferans-bildirisi/03-gorseller/11-moduler-sistem.jpeg">    </p:cNvPr>
          <p:cNvPicPr>
            <a:picLocks noChangeAspect="1"/>
          </p:cNvPicPr>
          <p:nvPr/>
        </p:nvPicPr>
        <p:blipFill>
          <a:blip r:embed="rId2"/>
          <a:stretch>
            <a:fillRect/>
          </a:stretch>
        </p:blipFill>
        <p:spPr>
          <a:xfrm>
            <a:off x="5852160" y="1371600"/>
            <a:ext cx="2377440" cy="1956816"/>
          </a:xfrm>
          <a:prstGeom prst="rect">
            <a:avLst/>
          </a:prstGeom>
        </p:spPr>
      </p:pic>
      <p:sp>
        <p:nvSpPr>
          <p:cNvPr id="5" name="Text 1"/>
          <p:cNvSpPr txBox="1"/>
          <p:nvPr/>
        </p:nvSpPr>
        <p:spPr>
          <a:xfrm>
            <a:off x="731520" y="5440680"/>
            <a:ext cx="484632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Modular interior proposal developed from the measured properties</a:t>
            </a:r>
            <a:endParaRPr lang="en-US" sz="900" dirty="0"/>
          </a:p>
        </p:txBody>
      </p:sp>
      <p:sp>
        <p:nvSpPr>
          <p:cNvPr id="6" name="vr9.41.5"/>
          <p:cNvSpPr/>
          <p:nvPr/>
        </p:nvSpPr>
        <p:spPr>
          <a:xfrm>
            <a:off x="8595360" y="1371600"/>
            <a:ext cx="13716" cy="4206240"/>
          </a:xfrm>
          <a:prstGeom prst="rect">
            <a:avLst/>
          </a:prstGeom>
          <a:solidFill>
            <a:srgbClr val="E4E4E4"/>
          </a:solidFill>
          <a:ln w="12700">
            <a:solidFill>
              <a:srgbClr val="E4E4E4">
                <a:alpha val="0"/>
              </a:srgbClr>
            </a:solidFill>
            <a:prstDash val="solid"/>
          </a:ln>
        </p:spPr>
      </p:sp>
      <p:sp>
        <p:nvSpPr>
          <p:cNvPr id="7" name="Text 3"/>
          <p:cNvSpPr txBox="1"/>
          <p:nvPr/>
        </p:nvSpPr>
        <p:spPr>
          <a:xfrm>
            <a:off x="9052560" y="1417320"/>
            <a:ext cx="237744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Non-loadbearing surfaces</a:t>
            </a:r>
            <a:endParaRPr lang="en-US" sz="1300" dirty="0"/>
          </a:p>
        </p:txBody>
      </p:sp>
      <p:sp>
        <p:nvSpPr>
          <p:cNvPr id="8" name="Text 4"/>
          <p:cNvSpPr txBox="1"/>
          <p:nvPr/>
        </p:nvSpPr>
        <p:spPr>
          <a:xfrm>
            <a:off x="9052560" y="1709928"/>
            <a:ext cx="2377440" cy="548640"/>
          </a:xfrm>
          <a:prstGeom prst="rect">
            <a:avLst/>
          </a:prstGeom>
          <a:noFill/>
          <a:ln/>
        </p:spPr>
        <p:txBody>
          <a:bodyPr wrap="square" lIns="0" tIns="0" rIns="0" bIns="0" rtlCol="0" anchor="ctr"/>
          <a:lstStyle/>
          <a:p>
            <a:pPr indent="0" marL="0">
              <a:lnSpc>
                <a:spcPts val="1400"/>
              </a:lnSpc>
              <a:buNone/>
            </a:pPr>
            <a:r>
              <a:rPr lang="en-US" sz="1050" dirty="0">
                <a:solidFill>
                  <a:srgbClr val="8C8C8C"/>
                </a:solidFill>
                <a:latin typeface="Calibri" pitchFamily="34" charset="0"/>
                <a:ea typeface="Calibri" pitchFamily="34" charset="-122"/>
                <a:cs typeface="Calibri" pitchFamily="34" charset="-120"/>
              </a:rPr>
              <a:t>self-weight and handling loads only</a:t>
            </a:r>
            <a:endParaRPr lang="en-US" sz="1050" dirty="0"/>
          </a:p>
        </p:txBody>
      </p:sp>
      <p:sp>
        <p:nvSpPr>
          <p:cNvPr id="9" name="Text 5"/>
          <p:cNvSpPr txBox="1"/>
          <p:nvPr/>
        </p:nvSpPr>
        <p:spPr>
          <a:xfrm>
            <a:off x="9052560" y="2468880"/>
            <a:ext cx="237744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Dry interiors</a:t>
            </a:r>
            <a:endParaRPr lang="en-US" sz="1300" dirty="0"/>
          </a:p>
        </p:txBody>
      </p:sp>
      <p:sp>
        <p:nvSpPr>
          <p:cNvPr id="10" name="Text 6"/>
          <p:cNvSpPr txBox="1"/>
          <p:nvPr/>
        </p:nvSpPr>
        <p:spPr>
          <a:xfrm>
            <a:off x="9052560" y="2761488"/>
            <a:ext cx="2377440" cy="548640"/>
          </a:xfrm>
          <a:prstGeom prst="rect">
            <a:avLst/>
          </a:prstGeom>
          <a:noFill/>
          <a:ln/>
        </p:spPr>
        <p:txBody>
          <a:bodyPr wrap="square" lIns="0" tIns="0" rIns="0" bIns="0" rtlCol="0" anchor="ctr"/>
          <a:lstStyle/>
          <a:p>
            <a:pPr indent="0" marL="0">
              <a:lnSpc>
                <a:spcPts val="1400"/>
              </a:lnSpc>
              <a:buNone/>
            </a:pPr>
            <a:r>
              <a:rPr lang="en-US" sz="1050" dirty="0">
                <a:solidFill>
                  <a:srgbClr val="8C8C8C"/>
                </a:solidFill>
                <a:latin typeface="Calibri" pitchFamily="34" charset="0"/>
                <a:ea typeface="Calibri" pitchFamily="34" charset="-122"/>
                <a:cs typeface="Calibri" pitchFamily="34" charset="-120"/>
              </a:rPr>
              <a:t>not wet rooms, not facades</a:t>
            </a:r>
            <a:endParaRPr lang="en-US" sz="1050" dirty="0"/>
          </a:p>
        </p:txBody>
      </p:sp>
      <p:sp>
        <p:nvSpPr>
          <p:cNvPr id="11" name="Text 7"/>
          <p:cNvSpPr txBox="1"/>
          <p:nvPr/>
        </p:nvSpPr>
        <p:spPr>
          <a:xfrm>
            <a:off x="9052560" y="3520440"/>
            <a:ext cx="237744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Away from ignition sources</a:t>
            </a:r>
            <a:endParaRPr lang="en-US" sz="1300" dirty="0"/>
          </a:p>
        </p:txBody>
      </p:sp>
      <p:sp>
        <p:nvSpPr>
          <p:cNvPr id="12" name="Text 8"/>
          <p:cNvSpPr txBox="1"/>
          <p:nvPr/>
        </p:nvSpPr>
        <p:spPr>
          <a:xfrm>
            <a:off x="9052560" y="3813048"/>
            <a:ext cx="2377440" cy="548640"/>
          </a:xfrm>
          <a:prstGeom prst="rect">
            <a:avLst/>
          </a:prstGeom>
          <a:noFill/>
          <a:ln/>
        </p:spPr>
        <p:txBody>
          <a:bodyPr wrap="square" lIns="0" tIns="0" rIns="0" bIns="0" rtlCol="0" anchor="ctr"/>
          <a:lstStyle/>
          <a:p>
            <a:pPr indent="0" marL="0">
              <a:lnSpc>
                <a:spcPts val="1400"/>
              </a:lnSpc>
              <a:buNone/>
            </a:pPr>
            <a:r>
              <a:rPr lang="en-US" sz="1050" dirty="0">
                <a:solidFill>
                  <a:srgbClr val="8C8C8C"/>
                </a:solidFill>
                <a:latin typeface="Calibri" pitchFamily="34" charset="0"/>
                <a:ea typeface="Calibri" pitchFamily="34" charset="-122"/>
                <a:cs typeface="Calibri" pitchFamily="34" charset="-120"/>
              </a:rPr>
              <a:t>self-extinguishing, but unclassified</a:t>
            </a:r>
            <a:endParaRPr lang="en-US" sz="1050" dirty="0"/>
          </a:p>
        </p:txBody>
      </p:sp>
      <p:sp>
        <p:nvSpPr>
          <p:cNvPr id="13" name="Text 9"/>
          <p:cNvSpPr txBox="1"/>
          <p:nvPr/>
        </p:nvSpPr>
        <p:spPr>
          <a:xfrm>
            <a:off x="9052560" y="4572000"/>
            <a:ext cx="237744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Modular, not sheet</a:t>
            </a:r>
            <a:endParaRPr lang="en-US" sz="1300" dirty="0"/>
          </a:p>
        </p:txBody>
      </p:sp>
      <p:sp>
        <p:nvSpPr>
          <p:cNvPr id="14" name="Text 10"/>
          <p:cNvSpPr txBox="1"/>
          <p:nvPr/>
        </p:nvSpPr>
        <p:spPr>
          <a:xfrm>
            <a:off x="9052560" y="4864608"/>
            <a:ext cx="2377440" cy="548640"/>
          </a:xfrm>
          <a:prstGeom prst="rect">
            <a:avLst/>
          </a:prstGeom>
          <a:noFill/>
          <a:ln/>
        </p:spPr>
        <p:txBody>
          <a:bodyPr wrap="square" lIns="0" tIns="0" rIns="0" bIns="0" rtlCol="0" anchor="ctr"/>
          <a:lstStyle/>
          <a:p>
            <a:pPr indent="0" marL="0">
              <a:lnSpc>
                <a:spcPts val="1400"/>
              </a:lnSpc>
              <a:buNone/>
            </a:pPr>
            <a:r>
              <a:rPr lang="en-US" sz="1050" dirty="0">
                <a:solidFill>
                  <a:srgbClr val="8C8C8C"/>
                </a:solidFill>
                <a:latin typeface="Calibri" pitchFamily="34" charset="0"/>
                <a:ea typeface="Calibri" pitchFamily="34" charset="-122"/>
                <a:cs typeface="Calibri" pitchFamily="34" charset="-120"/>
              </a:rPr>
              <a:t>failure replaced one unit at a time</a:t>
            </a:r>
            <a:endParaRPr lang="en-US" sz="1050" dirty="0"/>
          </a:p>
        </p:txBody>
      </p:sp>
      <p:sp>
        <p:nvSpPr>
          <p:cNvPr id="15" name="Text 11"/>
          <p:cNvSpPr txBox="1"/>
          <p:nvPr/>
        </p:nvSpPr>
        <p:spPr>
          <a:xfrm>
            <a:off x="5852160" y="3611880"/>
            <a:ext cx="2377440" cy="1737360"/>
          </a:xfrm>
          <a:prstGeom prst="rect">
            <a:avLst/>
          </a:prstGeom>
          <a:noFill/>
          <a:ln/>
        </p:spPr>
        <p:txBody>
          <a:bodyPr wrap="square" lIns="0" tIns="0" rIns="0" bIns="0" rtlCol="0" anchor="t"/>
          <a:lstStyle/>
          <a:p>
            <a:pPr indent="0" marL="0">
              <a:lnSpc>
                <a:spcPts val="1550"/>
              </a:lnSpc>
              <a:buNone/>
            </a:pPr>
            <a:r>
              <a:rPr lang="en-US" sz="1050" dirty="0">
                <a:solidFill>
                  <a:srgbClr val="8C8C8C"/>
                </a:solidFill>
                <a:latin typeface="Calibri" pitchFamily="34" charset="0"/>
                <a:ea typeface="Calibri" pitchFamily="34" charset="-122"/>
                <a:cs typeface="Calibri" pitchFamily="34" charset="-120"/>
              </a:rPr>
              <a:t>Assembled without adhesive, so components can be recovered intact. Units interlock and share load. A damaged unit is exchanged without dismantling.</a:t>
            </a:r>
            <a:endParaRPr lang="en-US" sz="1050" dirty="0"/>
          </a:p>
        </p:txBody>
      </p:sp>
      <p:sp>
        <p:nvSpPr>
          <p:cNvPr id="17"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Why it matters</a:t>
            </a:r>
            <a:endParaRPr lang="en-US" sz="2000" dirty="0"/>
          </a:p>
        </p:txBody>
      </p:sp>
      <p:sp>
        <p:nvSpPr>
          <p:cNvPr id="3" name="lp0"/>
          <p:cNvSpPr/>
          <p:nvPr/>
        </p:nvSpPr>
        <p:spPr>
          <a:xfrm>
            <a:off x="731520" y="1920240"/>
            <a:ext cx="1627632" cy="1371600"/>
          </a:xfrm>
          <a:prstGeom prst="rect">
            <a:avLst/>
          </a:prstGeom>
          <a:solidFill>
            <a:srgbClr val="F7F6F4"/>
          </a:solidFill>
          <a:ln w="12700">
            <a:solidFill>
              <a:srgbClr val="E4E4E4"/>
            </a:solidFill>
            <a:prstDash val="solid"/>
          </a:ln>
        </p:spPr>
      </p:sp>
      <p:sp>
        <p:nvSpPr>
          <p:cNvPr id="4" name="Text 2"/>
          <p:cNvSpPr txBox="1"/>
          <p:nvPr/>
        </p:nvSpPr>
        <p:spPr>
          <a:xfrm>
            <a:off x="877824" y="2048256"/>
            <a:ext cx="365760" cy="219456"/>
          </a:xfrm>
          <a:prstGeom prst="rect">
            <a:avLst/>
          </a:prstGeom>
          <a:noFill/>
          <a:ln/>
        </p:spPr>
        <p:txBody>
          <a:bodyPr wrap="square" lIns="0" tIns="0" rIns="0" bIns="0" rtlCol="0" anchor="ctr"/>
          <a:lstStyle/>
          <a:p>
            <a:pPr indent="0" marL="0">
              <a:buNone/>
            </a:pPr>
            <a:r>
              <a:rPr lang="en-US" sz="950" b="1" dirty="0">
                <a:solidFill>
                  <a:srgbClr val="B4513A"/>
                </a:solidFill>
                <a:latin typeface="Calibri" pitchFamily="34" charset="0"/>
                <a:ea typeface="Calibri" pitchFamily="34" charset="-122"/>
                <a:cs typeface="Calibri" pitchFamily="34" charset="-120"/>
              </a:rPr>
              <a:t>01</a:t>
            </a:r>
            <a:endParaRPr lang="en-US" sz="950" dirty="0"/>
          </a:p>
        </p:txBody>
      </p:sp>
      <p:sp>
        <p:nvSpPr>
          <p:cNvPr id="5" name="Text 3"/>
          <p:cNvSpPr txBox="1"/>
          <p:nvPr/>
        </p:nvSpPr>
        <p:spPr>
          <a:xfrm>
            <a:off x="877824" y="2304288"/>
            <a:ext cx="1335024" cy="475488"/>
          </a:xfrm>
          <a:prstGeom prst="rect">
            <a:avLst/>
          </a:prstGeom>
          <a:noFill/>
          <a:ln/>
        </p:spPr>
        <p:txBody>
          <a:bodyPr wrap="square" lIns="0" tIns="0" rIns="0" bIns="0" rtlCol="0" anchor="ctr"/>
          <a:lstStyle/>
          <a:p>
            <a:pPr indent="0" marL="0">
              <a:lnSpc>
                <a:spcPts val="1400"/>
              </a:lnSpc>
              <a:buNone/>
            </a:pPr>
            <a:r>
              <a:rPr lang="en-US" sz="1150" b="1" dirty="0">
                <a:solidFill>
                  <a:srgbClr val="141414"/>
                </a:solidFill>
                <a:latin typeface="Calibri" pitchFamily="34" charset="0"/>
                <a:ea typeface="Calibri" pitchFamily="34" charset="-122"/>
                <a:cs typeface="Calibri" pitchFamily="34" charset="-120"/>
              </a:rPr>
              <a:t>Bakery waste</a:t>
            </a:r>
            <a:endParaRPr lang="en-US" sz="1150" dirty="0"/>
          </a:p>
        </p:txBody>
      </p:sp>
      <p:sp>
        <p:nvSpPr>
          <p:cNvPr id="6" name="Text 4"/>
          <p:cNvSpPr txBox="1"/>
          <p:nvPr/>
        </p:nvSpPr>
        <p:spPr>
          <a:xfrm>
            <a:off x="877824" y="2798064"/>
            <a:ext cx="1335024" cy="384048"/>
          </a:xfrm>
          <a:prstGeom prst="rect">
            <a:avLst/>
          </a:prstGeom>
          <a:noFill/>
          <a:ln/>
        </p:spPr>
        <p:txBody>
          <a:bodyPr wrap="square" lIns="0" tIns="0" rIns="0" bIns="0" rtlCol="0" anchor="ctr"/>
          <a:lstStyle/>
          <a:p>
            <a:pPr indent="0" marL="0">
              <a:lnSpc>
                <a:spcPts val="1200"/>
              </a:lnSpc>
              <a:buNone/>
            </a:pPr>
            <a:r>
              <a:rPr lang="en-US" sz="950" dirty="0">
                <a:solidFill>
                  <a:srgbClr val="8C8C8C"/>
                </a:solidFill>
                <a:latin typeface="Calibri" pitchFamily="34" charset="0"/>
                <a:ea typeface="Calibri" pitchFamily="34" charset="-122"/>
                <a:cs typeface="Calibri" pitchFamily="34" charset="-120"/>
              </a:rPr>
              <a:t>one local stream</a:t>
            </a:r>
            <a:endParaRPr lang="en-US" sz="950" dirty="0"/>
          </a:p>
        </p:txBody>
      </p:sp>
      <p:sp>
        <p:nvSpPr>
          <p:cNvPr id="7" name="la0"/>
          <p:cNvSpPr/>
          <p:nvPr/>
        </p:nvSpPr>
        <p:spPr>
          <a:xfrm>
            <a:off x="2372868" y="2542032"/>
            <a:ext cx="164592" cy="128016"/>
          </a:xfrm>
          <a:prstGeom prst="rightArrow">
            <a:avLst/>
          </a:prstGeom>
          <a:solidFill>
            <a:srgbClr val="BDBDBD"/>
          </a:solidFill>
          <a:ln w="12700">
            <a:solidFill>
              <a:srgbClr val="BDBDBD">
                <a:alpha val="0"/>
              </a:srgbClr>
            </a:solidFill>
            <a:prstDash val="solid"/>
          </a:ln>
        </p:spPr>
      </p:sp>
      <p:sp>
        <p:nvSpPr>
          <p:cNvPr id="8" name="lp1"/>
          <p:cNvSpPr/>
          <p:nvPr/>
        </p:nvSpPr>
        <p:spPr>
          <a:xfrm>
            <a:off x="2551176" y="1920240"/>
            <a:ext cx="1627632" cy="1371600"/>
          </a:xfrm>
          <a:prstGeom prst="rect">
            <a:avLst/>
          </a:prstGeom>
          <a:solidFill>
            <a:srgbClr val="F7F6F4"/>
          </a:solidFill>
          <a:ln w="12700">
            <a:solidFill>
              <a:srgbClr val="E4E4E4"/>
            </a:solidFill>
            <a:prstDash val="solid"/>
          </a:ln>
        </p:spPr>
      </p:sp>
      <p:sp>
        <p:nvSpPr>
          <p:cNvPr id="9" name="Text 7"/>
          <p:cNvSpPr txBox="1"/>
          <p:nvPr/>
        </p:nvSpPr>
        <p:spPr>
          <a:xfrm>
            <a:off x="2697480" y="2048256"/>
            <a:ext cx="365760" cy="219456"/>
          </a:xfrm>
          <a:prstGeom prst="rect">
            <a:avLst/>
          </a:prstGeom>
          <a:noFill/>
          <a:ln/>
        </p:spPr>
        <p:txBody>
          <a:bodyPr wrap="square" lIns="0" tIns="0" rIns="0" bIns="0" rtlCol="0" anchor="ctr"/>
          <a:lstStyle/>
          <a:p>
            <a:pPr indent="0" marL="0">
              <a:buNone/>
            </a:pPr>
            <a:r>
              <a:rPr lang="en-US" sz="950" b="1" dirty="0">
                <a:solidFill>
                  <a:srgbClr val="B4513A"/>
                </a:solidFill>
                <a:latin typeface="Calibri" pitchFamily="34" charset="0"/>
                <a:ea typeface="Calibri" pitchFamily="34" charset="-122"/>
                <a:cs typeface="Calibri" pitchFamily="34" charset="-120"/>
              </a:rPr>
              <a:t>02</a:t>
            </a:r>
            <a:endParaRPr lang="en-US" sz="950" dirty="0"/>
          </a:p>
        </p:txBody>
      </p:sp>
      <p:sp>
        <p:nvSpPr>
          <p:cNvPr id="10" name="Text 8"/>
          <p:cNvSpPr txBox="1"/>
          <p:nvPr/>
        </p:nvSpPr>
        <p:spPr>
          <a:xfrm>
            <a:off x="2697480" y="2304288"/>
            <a:ext cx="1335024" cy="475488"/>
          </a:xfrm>
          <a:prstGeom prst="rect">
            <a:avLst/>
          </a:prstGeom>
          <a:noFill/>
          <a:ln/>
        </p:spPr>
        <p:txBody>
          <a:bodyPr wrap="square" lIns="0" tIns="0" rIns="0" bIns="0" rtlCol="0" anchor="ctr"/>
          <a:lstStyle/>
          <a:p>
            <a:pPr indent="0" marL="0">
              <a:lnSpc>
                <a:spcPts val="1400"/>
              </a:lnSpc>
              <a:buNone/>
            </a:pPr>
            <a:r>
              <a:rPr lang="en-US" sz="1150" b="1" dirty="0">
                <a:solidFill>
                  <a:srgbClr val="141414"/>
                </a:solidFill>
                <a:latin typeface="Calibri" pitchFamily="34" charset="0"/>
                <a:ea typeface="Calibri" pitchFamily="34" charset="-122"/>
                <a:cs typeface="Calibri" pitchFamily="34" charset="-120"/>
              </a:rPr>
              <a:t>Shell powder</a:t>
            </a:r>
            <a:endParaRPr lang="en-US" sz="1150" dirty="0"/>
          </a:p>
        </p:txBody>
      </p:sp>
      <p:sp>
        <p:nvSpPr>
          <p:cNvPr id="11" name="Text 9"/>
          <p:cNvSpPr txBox="1"/>
          <p:nvPr/>
        </p:nvSpPr>
        <p:spPr>
          <a:xfrm>
            <a:off x="2697480" y="2798064"/>
            <a:ext cx="1335024" cy="384048"/>
          </a:xfrm>
          <a:prstGeom prst="rect">
            <a:avLst/>
          </a:prstGeom>
          <a:noFill/>
          <a:ln/>
        </p:spPr>
        <p:txBody>
          <a:bodyPr wrap="square" lIns="0" tIns="0" rIns="0" bIns="0" rtlCol="0" anchor="ctr"/>
          <a:lstStyle/>
          <a:p>
            <a:pPr indent="0" marL="0">
              <a:lnSpc>
                <a:spcPts val="1200"/>
              </a:lnSpc>
              <a:buNone/>
            </a:pPr>
            <a:r>
              <a:rPr lang="en-US" sz="950" dirty="0">
                <a:solidFill>
                  <a:srgbClr val="8C8C8C"/>
                </a:solidFill>
                <a:latin typeface="Calibri" pitchFamily="34" charset="0"/>
                <a:ea typeface="Calibri" pitchFamily="34" charset="-122"/>
                <a:cs typeface="Calibri" pitchFamily="34" charset="-120"/>
              </a:rPr>
              <a:t>grind, sieve</a:t>
            </a:r>
            <a:endParaRPr lang="en-US" sz="950" dirty="0"/>
          </a:p>
        </p:txBody>
      </p:sp>
      <p:sp>
        <p:nvSpPr>
          <p:cNvPr id="12" name="la1"/>
          <p:cNvSpPr/>
          <p:nvPr/>
        </p:nvSpPr>
        <p:spPr>
          <a:xfrm>
            <a:off x="4192524" y="2542032"/>
            <a:ext cx="164592" cy="128016"/>
          </a:xfrm>
          <a:prstGeom prst="rightArrow">
            <a:avLst/>
          </a:prstGeom>
          <a:solidFill>
            <a:srgbClr val="BDBDBD"/>
          </a:solidFill>
          <a:ln w="12700">
            <a:solidFill>
              <a:srgbClr val="BDBDBD">
                <a:alpha val="0"/>
              </a:srgbClr>
            </a:solidFill>
            <a:prstDash val="solid"/>
          </a:ln>
        </p:spPr>
      </p:sp>
      <p:sp>
        <p:nvSpPr>
          <p:cNvPr id="13" name="lp2"/>
          <p:cNvSpPr/>
          <p:nvPr/>
        </p:nvSpPr>
        <p:spPr>
          <a:xfrm>
            <a:off x="4370832" y="1920240"/>
            <a:ext cx="1627632" cy="1371600"/>
          </a:xfrm>
          <a:prstGeom prst="rect">
            <a:avLst/>
          </a:prstGeom>
          <a:solidFill>
            <a:srgbClr val="F7F6F4"/>
          </a:solidFill>
          <a:ln w="12700">
            <a:solidFill>
              <a:srgbClr val="E4E4E4"/>
            </a:solidFill>
            <a:prstDash val="solid"/>
          </a:ln>
        </p:spPr>
      </p:sp>
      <p:sp>
        <p:nvSpPr>
          <p:cNvPr id="14" name="Text 12"/>
          <p:cNvSpPr txBox="1"/>
          <p:nvPr/>
        </p:nvSpPr>
        <p:spPr>
          <a:xfrm>
            <a:off x="4517136" y="2048256"/>
            <a:ext cx="365760" cy="219456"/>
          </a:xfrm>
          <a:prstGeom prst="rect">
            <a:avLst/>
          </a:prstGeom>
          <a:noFill/>
          <a:ln/>
        </p:spPr>
        <p:txBody>
          <a:bodyPr wrap="square" lIns="0" tIns="0" rIns="0" bIns="0" rtlCol="0" anchor="ctr"/>
          <a:lstStyle/>
          <a:p>
            <a:pPr indent="0" marL="0">
              <a:buNone/>
            </a:pPr>
            <a:r>
              <a:rPr lang="en-US" sz="950" b="1" dirty="0">
                <a:solidFill>
                  <a:srgbClr val="B4513A"/>
                </a:solidFill>
                <a:latin typeface="Calibri" pitchFamily="34" charset="0"/>
                <a:ea typeface="Calibri" pitchFamily="34" charset="-122"/>
                <a:cs typeface="Calibri" pitchFamily="34" charset="-120"/>
              </a:rPr>
              <a:t>03</a:t>
            </a:r>
            <a:endParaRPr lang="en-US" sz="950" dirty="0"/>
          </a:p>
        </p:txBody>
      </p:sp>
      <p:sp>
        <p:nvSpPr>
          <p:cNvPr id="15" name="Text 13"/>
          <p:cNvSpPr txBox="1"/>
          <p:nvPr/>
        </p:nvSpPr>
        <p:spPr>
          <a:xfrm>
            <a:off x="4517136" y="2304288"/>
            <a:ext cx="1335024" cy="475488"/>
          </a:xfrm>
          <a:prstGeom prst="rect">
            <a:avLst/>
          </a:prstGeom>
          <a:noFill/>
          <a:ln/>
        </p:spPr>
        <p:txBody>
          <a:bodyPr wrap="square" lIns="0" tIns="0" rIns="0" bIns="0" rtlCol="0" anchor="ctr"/>
          <a:lstStyle/>
          <a:p>
            <a:pPr indent="0" marL="0">
              <a:lnSpc>
                <a:spcPts val="1400"/>
              </a:lnSpc>
              <a:buNone/>
            </a:pPr>
            <a:r>
              <a:rPr lang="en-US" sz="1150" b="1" dirty="0">
                <a:solidFill>
                  <a:srgbClr val="141414"/>
                </a:solidFill>
                <a:latin typeface="Calibri" pitchFamily="34" charset="0"/>
                <a:ea typeface="Calibri" pitchFamily="34" charset="-122"/>
                <a:cs typeface="Calibri" pitchFamily="34" charset="-120"/>
              </a:rPr>
              <a:t>One 55-min cook</a:t>
            </a:r>
            <a:endParaRPr lang="en-US" sz="1150" dirty="0"/>
          </a:p>
        </p:txBody>
      </p:sp>
      <p:sp>
        <p:nvSpPr>
          <p:cNvPr id="16" name="Text 14"/>
          <p:cNvSpPr txBox="1"/>
          <p:nvPr/>
        </p:nvSpPr>
        <p:spPr>
          <a:xfrm>
            <a:off x="4517136" y="2798064"/>
            <a:ext cx="1335024" cy="384048"/>
          </a:xfrm>
          <a:prstGeom prst="rect">
            <a:avLst/>
          </a:prstGeom>
          <a:noFill/>
          <a:ln/>
        </p:spPr>
        <p:txBody>
          <a:bodyPr wrap="square" lIns="0" tIns="0" rIns="0" bIns="0" rtlCol="0" anchor="ctr"/>
          <a:lstStyle/>
          <a:p>
            <a:pPr indent="0" marL="0">
              <a:lnSpc>
                <a:spcPts val="1200"/>
              </a:lnSpc>
              <a:buNone/>
            </a:pPr>
            <a:r>
              <a:rPr lang="en-US" sz="950" dirty="0">
                <a:solidFill>
                  <a:srgbClr val="8C8C8C"/>
                </a:solidFill>
                <a:latin typeface="Calibri" pitchFamily="34" charset="0"/>
                <a:ea typeface="Calibri" pitchFamily="34" charset="-122"/>
                <a:cs typeface="Calibri" pitchFamily="34" charset="-120"/>
              </a:rPr>
              <a:t>no oven, no extrusion</a:t>
            </a:r>
            <a:endParaRPr lang="en-US" sz="950" dirty="0"/>
          </a:p>
        </p:txBody>
      </p:sp>
      <p:sp>
        <p:nvSpPr>
          <p:cNvPr id="17" name="la2"/>
          <p:cNvSpPr/>
          <p:nvPr/>
        </p:nvSpPr>
        <p:spPr>
          <a:xfrm>
            <a:off x="6012180" y="2542032"/>
            <a:ext cx="164592" cy="128016"/>
          </a:xfrm>
          <a:prstGeom prst="rightArrow">
            <a:avLst/>
          </a:prstGeom>
          <a:solidFill>
            <a:srgbClr val="BDBDBD"/>
          </a:solidFill>
          <a:ln w="12700">
            <a:solidFill>
              <a:srgbClr val="BDBDBD">
                <a:alpha val="0"/>
              </a:srgbClr>
            </a:solidFill>
            <a:prstDash val="solid"/>
          </a:ln>
        </p:spPr>
      </p:sp>
      <p:sp>
        <p:nvSpPr>
          <p:cNvPr id="18" name="lp3"/>
          <p:cNvSpPr/>
          <p:nvPr/>
        </p:nvSpPr>
        <p:spPr>
          <a:xfrm>
            <a:off x="6190488" y="1920240"/>
            <a:ext cx="1627632" cy="1371600"/>
          </a:xfrm>
          <a:prstGeom prst="rect">
            <a:avLst/>
          </a:prstGeom>
          <a:solidFill>
            <a:srgbClr val="F7F6F4"/>
          </a:solidFill>
          <a:ln w="12700">
            <a:solidFill>
              <a:srgbClr val="E4E4E4"/>
            </a:solidFill>
            <a:prstDash val="solid"/>
          </a:ln>
        </p:spPr>
      </p:sp>
      <p:sp>
        <p:nvSpPr>
          <p:cNvPr id="19" name="Text 17"/>
          <p:cNvSpPr txBox="1"/>
          <p:nvPr/>
        </p:nvSpPr>
        <p:spPr>
          <a:xfrm>
            <a:off x="6336792" y="2048256"/>
            <a:ext cx="365760" cy="219456"/>
          </a:xfrm>
          <a:prstGeom prst="rect">
            <a:avLst/>
          </a:prstGeom>
          <a:noFill/>
          <a:ln/>
        </p:spPr>
        <p:txBody>
          <a:bodyPr wrap="square" lIns="0" tIns="0" rIns="0" bIns="0" rtlCol="0" anchor="ctr"/>
          <a:lstStyle/>
          <a:p>
            <a:pPr indent="0" marL="0">
              <a:buNone/>
            </a:pPr>
            <a:r>
              <a:rPr lang="en-US" sz="950" b="1" dirty="0">
                <a:solidFill>
                  <a:srgbClr val="B4513A"/>
                </a:solidFill>
                <a:latin typeface="Calibri" pitchFamily="34" charset="0"/>
                <a:ea typeface="Calibri" pitchFamily="34" charset="-122"/>
                <a:cs typeface="Calibri" pitchFamily="34" charset="-120"/>
              </a:rPr>
              <a:t>04</a:t>
            </a:r>
            <a:endParaRPr lang="en-US" sz="950" dirty="0"/>
          </a:p>
        </p:txBody>
      </p:sp>
      <p:sp>
        <p:nvSpPr>
          <p:cNvPr id="20" name="Text 18"/>
          <p:cNvSpPr txBox="1"/>
          <p:nvPr/>
        </p:nvSpPr>
        <p:spPr>
          <a:xfrm>
            <a:off x="6336792" y="2304288"/>
            <a:ext cx="1335024" cy="475488"/>
          </a:xfrm>
          <a:prstGeom prst="rect">
            <a:avLst/>
          </a:prstGeom>
          <a:noFill/>
          <a:ln/>
        </p:spPr>
        <p:txBody>
          <a:bodyPr wrap="square" lIns="0" tIns="0" rIns="0" bIns="0" rtlCol="0" anchor="ctr"/>
          <a:lstStyle/>
          <a:p>
            <a:pPr indent="0" marL="0">
              <a:lnSpc>
                <a:spcPts val="1400"/>
              </a:lnSpc>
              <a:buNone/>
            </a:pPr>
            <a:r>
              <a:rPr lang="en-US" sz="1150" b="1" dirty="0">
                <a:solidFill>
                  <a:srgbClr val="141414"/>
                </a:solidFill>
                <a:latin typeface="Calibri" pitchFamily="34" charset="0"/>
                <a:ea typeface="Calibri" pitchFamily="34" charset="-122"/>
                <a:cs typeface="Calibri" pitchFamily="34" charset="-120"/>
              </a:rPr>
              <a:t>Cast module</a:t>
            </a:r>
            <a:endParaRPr lang="en-US" sz="1150" dirty="0"/>
          </a:p>
        </p:txBody>
      </p:sp>
      <p:sp>
        <p:nvSpPr>
          <p:cNvPr id="21" name="Text 19"/>
          <p:cNvSpPr txBox="1"/>
          <p:nvPr/>
        </p:nvSpPr>
        <p:spPr>
          <a:xfrm>
            <a:off x="6336792" y="2798064"/>
            <a:ext cx="1335024" cy="384048"/>
          </a:xfrm>
          <a:prstGeom prst="rect">
            <a:avLst/>
          </a:prstGeom>
          <a:noFill/>
          <a:ln/>
        </p:spPr>
        <p:txBody>
          <a:bodyPr wrap="square" lIns="0" tIns="0" rIns="0" bIns="0" rtlCol="0" anchor="ctr"/>
          <a:lstStyle/>
          <a:p>
            <a:pPr indent="0" marL="0">
              <a:lnSpc>
                <a:spcPts val="1200"/>
              </a:lnSpc>
              <a:buNone/>
            </a:pPr>
            <a:r>
              <a:rPr lang="en-US" sz="950" dirty="0">
                <a:solidFill>
                  <a:srgbClr val="8C8C8C"/>
                </a:solidFill>
                <a:latin typeface="Calibri" pitchFamily="34" charset="0"/>
                <a:ea typeface="Calibri" pitchFamily="34" charset="-122"/>
                <a:cs typeface="Calibri" pitchFamily="34" charset="-120"/>
              </a:rPr>
              <a:t>ambient dried</a:t>
            </a:r>
            <a:endParaRPr lang="en-US" sz="950" dirty="0"/>
          </a:p>
        </p:txBody>
      </p:sp>
      <p:sp>
        <p:nvSpPr>
          <p:cNvPr id="22" name="la3"/>
          <p:cNvSpPr/>
          <p:nvPr/>
        </p:nvSpPr>
        <p:spPr>
          <a:xfrm>
            <a:off x="7831836" y="2542032"/>
            <a:ext cx="164592" cy="128016"/>
          </a:xfrm>
          <a:prstGeom prst="rightArrow">
            <a:avLst/>
          </a:prstGeom>
          <a:solidFill>
            <a:srgbClr val="BDBDBD"/>
          </a:solidFill>
          <a:ln w="12700">
            <a:solidFill>
              <a:srgbClr val="BDBDBD">
                <a:alpha val="0"/>
              </a:srgbClr>
            </a:solidFill>
            <a:prstDash val="solid"/>
          </a:ln>
        </p:spPr>
      </p:sp>
      <p:sp>
        <p:nvSpPr>
          <p:cNvPr id="23" name="lp4"/>
          <p:cNvSpPr/>
          <p:nvPr/>
        </p:nvSpPr>
        <p:spPr>
          <a:xfrm>
            <a:off x="8010144" y="1920240"/>
            <a:ext cx="1627632" cy="1371600"/>
          </a:xfrm>
          <a:prstGeom prst="rect">
            <a:avLst/>
          </a:prstGeom>
          <a:solidFill>
            <a:srgbClr val="F7F6F4"/>
          </a:solidFill>
          <a:ln w="12700">
            <a:solidFill>
              <a:srgbClr val="E4E4E4"/>
            </a:solidFill>
            <a:prstDash val="solid"/>
          </a:ln>
        </p:spPr>
      </p:sp>
      <p:sp>
        <p:nvSpPr>
          <p:cNvPr id="24" name="Text 22"/>
          <p:cNvSpPr txBox="1"/>
          <p:nvPr/>
        </p:nvSpPr>
        <p:spPr>
          <a:xfrm>
            <a:off x="8156448" y="2048256"/>
            <a:ext cx="365760" cy="219456"/>
          </a:xfrm>
          <a:prstGeom prst="rect">
            <a:avLst/>
          </a:prstGeom>
          <a:noFill/>
          <a:ln/>
        </p:spPr>
        <p:txBody>
          <a:bodyPr wrap="square" lIns="0" tIns="0" rIns="0" bIns="0" rtlCol="0" anchor="ctr"/>
          <a:lstStyle/>
          <a:p>
            <a:pPr indent="0" marL="0">
              <a:buNone/>
            </a:pPr>
            <a:r>
              <a:rPr lang="en-US" sz="950" b="1" dirty="0">
                <a:solidFill>
                  <a:srgbClr val="B4513A"/>
                </a:solidFill>
                <a:latin typeface="Calibri" pitchFamily="34" charset="0"/>
                <a:ea typeface="Calibri" pitchFamily="34" charset="-122"/>
                <a:cs typeface="Calibri" pitchFamily="34" charset="-120"/>
              </a:rPr>
              <a:t>05</a:t>
            </a:r>
            <a:endParaRPr lang="en-US" sz="950" dirty="0"/>
          </a:p>
        </p:txBody>
      </p:sp>
      <p:sp>
        <p:nvSpPr>
          <p:cNvPr id="25" name="Text 23"/>
          <p:cNvSpPr txBox="1"/>
          <p:nvPr/>
        </p:nvSpPr>
        <p:spPr>
          <a:xfrm>
            <a:off x="8156448" y="2304288"/>
            <a:ext cx="1335024" cy="475488"/>
          </a:xfrm>
          <a:prstGeom prst="rect">
            <a:avLst/>
          </a:prstGeom>
          <a:noFill/>
          <a:ln/>
        </p:spPr>
        <p:txBody>
          <a:bodyPr wrap="square" lIns="0" tIns="0" rIns="0" bIns="0" rtlCol="0" anchor="ctr"/>
          <a:lstStyle/>
          <a:p>
            <a:pPr indent="0" marL="0">
              <a:lnSpc>
                <a:spcPts val="1400"/>
              </a:lnSpc>
              <a:buNone/>
            </a:pPr>
            <a:r>
              <a:rPr lang="en-US" sz="1150" b="1" dirty="0">
                <a:solidFill>
                  <a:srgbClr val="141414"/>
                </a:solidFill>
                <a:latin typeface="Calibri" pitchFamily="34" charset="0"/>
                <a:ea typeface="Calibri" pitchFamily="34" charset="-122"/>
                <a:cs typeface="Calibri" pitchFamily="34" charset="-120"/>
              </a:rPr>
              <a:t>Reversible assembly</a:t>
            </a:r>
            <a:endParaRPr lang="en-US" sz="1150" dirty="0"/>
          </a:p>
        </p:txBody>
      </p:sp>
      <p:sp>
        <p:nvSpPr>
          <p:cNvPr id="26" name="Text 24"/>
          <p:cNvSpPr txBox="1"/>
          <p:nvPr/>
        </p:nvSpPr>
        <p:spPr>
          <a:xfrm>
            <a:off x="8156448" y="2798064"/>
            <a:ext cx="1335024" cy="384048"/>
          </a:xfrm>
          <a:prstGeom prst="rect">
            <a:avLst/>
          </a:prstGeom>
          <a:noFill/>
          <a:ln/>
        </p:spPr>
        <p:txBody>
          <a:bodyPr wrap="square" lIns="0" tIns="0" rIns="0" bIns="0" rtlCol="0" anchor="ctr"/>
          <a:lstStyle/>
          <a:p>
            <a:pPr indent="0" marL="0">
              <a:lnSpc>
                <a:spcPts val="1200"/>
              </a:lnSpc>
              <a:buNone/>
            </a:pPr>
            <a:r>
              <a:rPr lang="en-US" sz="950" dirty="0">
                <a:solidFill>
                  <a:srgbClr val="8C8C8C"/>
                </a:solidFill>
                <a:latin typeface="Calibri" pitchFamily="34" charset="0"/>
                <a:ea typeface="Calibri" pitchFamily="34" charset="-122"/>
                <a:cs typeface="Calibri" pitchFamily="34" charset="-120"/>
              </a:rPr>
              <a:t>recovered intact</a:t>
            </a:r>
            <a:endParaRPr lang="en-US" sz="950" dirty="0"/>
          </a:p>
        </p:txBody>
      </p:sp>
      <p:sp>
        <p:nvSpPr>
          <p:cNvPr id="27" name="la4"/>
          <p:cNvSpPr/>
          <p:nvPr/>
        </p:nvSpPr>
        <p:spPr>
          <a:xfrm>
            <a:off x="9651492" y="2542032"/>
            <a:ext cx="164592" cy="128016"/>
          </a:xfrm>
          <a:prstGeom prst="rightArrow">
            <a:avLst/>
          </a:prstGeom>
          <a:solidFill>
            <a:srgbClr val="BDBDBD"/>
          </a:solidFill>
          <a:ln w="12700">
            <a:solidFill>
              <a:srgbClr val="BDBDBD">
                <a:alpha val="0"/>
              </a:srgbClr>
            </a:solidFill>
            <a:prstDash val="solid"/>
          </a:ln>
        </p:spPr>
      </p:sp>
      <p:sp>
        <p:nvSpPr>
          <p:cNvPr id="28" name="lp5"/>
          <p:cNvSpPr/>
          <p:nvPr/>
        </p:nvSpPr>
        <p:spPr>
          <a:xfrm>
            <a:off x="9829800" y="1920240"/>
            <a:ext cx="1627632" cy="1371600"/>
          </a:xfrm>
          <a:prstGeom prst="rect">
            <a:avLst/>
          </a:prstGeom>
          <a:solidFill>
            <a:srgbClr val="B4513A"/>
          </a:solidFill>
          <a:ln w="12700">
            <a:solidFill>
              <a:srgbClr val="B4513A"/>
            </a:solidFill>
            <a:prstDash val="solid"/>
          </a:ln>
        </p:spPr>
      </p:sp>
      <p:sp>
        <p:nvSpPr>
          <p:cNvPr id="29" name="Text 27"/>
          <p:cNvSpPr txBox="1"/>
          <p:nvPr/>
        </p:nvSpPr>
        <p:spPr>
          <a:xfrm>
            <a:off x="9976104" y="2048256"/>
            <a:ext cx="365760" cy="219456"/>
          </a:xfrm>
          <a:prstGeom prst="rect">
            <a:avLst/>
          </a:prstGeom>
          <a:noFill/>
          <a:ln/>
        </p:spPr>
        <p:txBody>
          <a:bodyPr wrap="square" lIns="0" tIns="0" rIns="0" bIns="0" rtlCol="0" anchor="ctr"/>
          <a:lstStyle/>
          <a:p>
            <a:pPr indent="0" marL="0">
              <a:buNone/>
            </a:pPr>
            <a:r>
              <a:rPr lang="en-US" sz="950" b="1" dirty="0">
                <a:solidFill>
                  <a:srgbClr val="F2E4DE"/>
                </a:solidFill>
                <a:latin typeface="Calibri" pitchFamily="34" charset="0"/>
                <a:ea typeface="Calibri" pitchFamily="34" charset="-122"/>
                <a:cs typeface="Calibri" pitchFamily="34" charset="-120"/>
              </a:rPr>
              <a:t>06</a:t>
            </a:r>
            <a:endParaRPr lang="en-US" sz="950" dirty="0"/>
          </a:p>
        </p:txBody>
      </p:sp>
      <p:sp>
        <p:nvSpPr>
          <p:cNvPr id="30" name="Text 28"/>
          <p:cNvSpPr txBox="1"/>
          <p:nvPr/>
        </p:nvSpPr>
        <p:spPr>
          <a:xfrm>
            <a:off x="9976104" y="2304288"/>
            <a:ext cx="1335024" cy="475488"/>
          </a:xfrm>
          <a:prstGeom prst="rect">
            <a:avLst/>
          </a:prstGeom>
          <a:noFill/>
          <a:ln/>
        </p:spPr>
        <p:txBody>
          <a:bodyPr wrap="square" lIns="0" tIns="0" rIns="0" bIns="0" rtlCol="0" anchor="ctr"/>
          <a:lstStyle/>
          <a:p>
            <a:pPr indent="0" marL="0">
              <a:lnSpc>
                <a:spcPts val="1400"/>
              </a:lnSpc>
              <a:buNone/>
            </a:pPr>
            <a:r>
              <a:rPr lang="en-US" sz="1150" b="1" dirty="0">
                <a:solidFill>
                  <a:srgbClr val="FFFFFF"/>
                </a:solidFill>
                <a:latin typeface="Calibri" pitchFamily="34" charset="0"/>
                <a:ea typeface="Calibri" pitchFamily="34" charset="-122"/>
                <a:cs typeface="Calibri" pitchFamily="34" charset="-120"/>
              </a:rPr>
              <a:t>Biological cycle</a:t>
            </a:r>
            <a:endParaRPr lang="en-US" sz="1150" dirty="0"/>
          </a:p>
        </p:txBody>
      </p:sp>
      <p:sp>
        <p:nvSpPr>
          <p:cNvPr id="31" name="Text 29"/>
          <p:cNvSpPr txBox="1"/>
          <p:nvPr/>
        </p:nvSpPr>
        <p:spPr>
          <a:xfrm>
            <a:off x="9976104" y="2798064"/>
            <a:ext cx="1335024" cy="384048"/>
          </a:xfrm>
          <a:prstGeom prst="rect">
            <a:avLst/>
          </a:prstGeom>
          <a:noFill/>
          <a:ln/>
        </p:spPr>
        <p:txBody>
          <a:bodyPr wrap="square" lIns="0" tIns="0" rIns="0" bIns="0" rtlCol="0" anchor="ctr"/>
          <a:lstStyle/>
          <a:p>
            <a:pPr indent="0" marL="0">
              <a:lnSpc>
                <a:spcPts val="1200"/>
              </a:lnSpc>
              <a:buNone/>
            </a:pPr>
            <a:r>
              <a:rPr lang="en-US" sz="950" dirty="0">
                <a:solidFill>
                  <a:srgbClr val="F2E4DE"/>
                </a:solidFill>
                <a:latin typeface="Calibri" pitchFamily="34" charset="0"/>
                <a:ea typeface="Calibri" pitchFamily="34" charset="-122"/>
                <a:cs typeface="Calibri" pitchFamily="34" charset="-120"/>
              </a:rPr>
              <a:t>all constituents degrade</a:t>
            </a:r>
            <a:endParaRPr lang="en-US" sz="950" dirty="0"/>
          </a:p>
        </p:txBody>
      </p:sp>
      <p:sp>
        <p:nvSpPr>
          <p:cNvPr id="32" name="back"/>
          <p:cNvSpPr/>
          <p:nvPr/>
        </p:nvSpPr>
        <p:spPr>
          <a:xfrm>
            <a:off x="5669280" y="3749040"/>
            <a:ext cx="457200" cy="274320"/>
          </a:xfrm>
          <a:prstGeom prst="leftArrow">
            <a:avLst/>
          </a:prstGeom>
          <a:solidFill>
            <a:srgbClr val="B4513A"/>
          </a:solidFill>
          <a:ln w="12700">
            <a:solidFill>
              <a:srgbClr val="B4513A">
                <a:alpha val="0"/>
              </a:srgbClr>
            </a:solidFill>
            <a:prstDash val="solid"/>
          </a:ln>
        </p:spPr>
      </p:sp>
      <p:sp>
        <p:nvSpPr>
          <p:cNvPr id="33" name="Text 31"/>
          <p:cNvSpPr txBox="1"/>
          <p:nvPr/>
        </p:nvSpPr>
        <p:spPr>
          <a:xfrm>
            <a:off x="6309360" y="3767328"/>
            <a:ext cx="5120640" cy="457200"/>
          </a:xfrm>
          <a:prstGeom prst="rect">
            <a:avLst/>
          </a:prstGeom>
          <a:noFill/>
          <a:ln/>
        </p:spPr>
        <p:txBody>
          <a:bodyPr wrap="square" lIns="0" tIns="0" rIns="0" bIns="0" rtlCol="0" anchor="t"/>
          <a:lstStyle/>
          <a:p>
            <a:pPr indent="0" marL="0">
              <a:lnSpc>
                <a:spcPts val="1550"/>
              </a:lnSpc>
              <a:buNone/>
            </a:pPr>
            <a:r>
              <a:rPr lang="en-US" sz="1050" dirty="0">
                <a:solidFill>
                  <a:srgbClr val="8C8C8C"/>
                </a:solidFill>
                <a:latin typeface="Calibri" pitchFamily="34" charset="0"/>
                <a:ea typeface="Calibri" pitchFamily="34" charset="-122"/>
                <a:cs typeface="Calibri" pitchFamily="34" charset="-120"/>
              </a:rPr>
              <a:t>The loop closes: the material returns to the stream it came from.</a:t>
            </a:r>
            <a:endParaRPr lang="en-US" sz="1050" dirty="0"/>
          </a:p>
        </p:txBody>
      </p:sp>
      <p:sp>
        <p:nvSpPr>
          <p:cNvPr id="34" name="ru0.84.9"/>
          <p:cNvSpPr/>
          <p:nvPr/>
        </p:nvSpPr>
        <p:spPr>
          <a:xfrm>
            <a:off x="731520" y="4480560"/>
            <a:ext cx="10698480" cy="9144"/>
          </a:xfrm>
          <a:prstGeom prst="rect">
            <a:avLst/>
          </a:prstGeom>
          <a:solidFill>
            <a:srgbClr val="E4E4E4"/>
          </a:solidFill>
          <a:ln w="12700">
            <a:solidFill>
              <a:srgbClr val="E4E4E4">
                <a:alpha val="0"/>
              </a:srgbClr>
            </a:solidFill>
            <a:prstDash val="solid"/>
          </a:ln>
        </p:spPr>
      </p:sp>
      <p:sp>
        <p:nvSpPr>
          <p:cNvPr id="35" name="Text 33"/>
          <p:cNvSpPr txBox="1"/>
          <p:nvPr/>
        </p:nvSpPr>
        <p:spPr>
          <a:xfrm>
            <a:off x="731520" y="4663440"/>
            <a:ext cx="10698480" cy="219456"/>
          </a:xfrm>
          <a:prstGeom prst="rect">
            <a:avLst/>
          </a:prstGeom>
          <a:noFill/>
          <a:ln/>
        </p:spPr>
        <p:txBody>
          <a:bodyPr wrap="square" lIns="0" tIns="0" rIns="0" bIns="0" rtlCol="0" anchor="ctr"/>
          <a:lstStyle/>
          <a:p>
            <a:pPr indent="0" marL="0">
              <a:buNone/>
            </a:pPr>
            <a:r>
              <a:rPr lang="en-US" sz="850" b="1" spc="130" kern="0" dirty="0">
                <a:solidFill>
                  <a:srgbClr val="BDBDBD"/>
                </a:solidFill>
                <a:latin typeface="Calibri" pitchFamily="34" charset="0"/>
                <a:ea typeface="Calibri" pitchFamily="34" charset="-122"/>
                <a:cs typeface="Calibri" pitchFamily="34" charset="-120"/>
              </a:rPr>
              <a:t>WHAT IS DISPLACED</a:t>
            </a:r>
            <a:endParaRPr lang="en-US" sz="850" dirty="0"/>
          </a:p>
        </p:txBody>
      </p:sp>
      <p:sp>
        <p:nvSpPr>
          <p:cNvPr id="36" name="Text 34"/>
          <p:cNvSpPr txBox="1"/>
          <p:nvPr/>
        </p:nvSpPr>
        <p:spPr>
          <a:xfrm>
            <a:off x="731520" y="4937760"/>
            <a:ext cx="10698480" cy="731520"/>
          </a:xfrm>
          <a:prstGeom prst="rect">
            <a:avLst/>
          </a:prstGeom>
          <a:noFill/>
          <a:ln/>
        </p:spPr>
        <p:txBody>
          <a:bodyPr wrap="square" lIns="0" tIns="0" rIns="0" bIns="0" rtlCol="0" anchor="t"/>
          <a:lstStyle/>
          <a:p>
            <a:pPr indent="0" marL="0">
              <a:lnSpc>
                <a:spcPts val="1850"/>
              </a:lnSpc>
              <a:buNone/>
            </a:pPr>
            <a:r>
              <a:rPr lang="en-US" sz="1250" dirty="0">
                <a:solidFill>
                  <a:srgbClr val="3C3C3C"/>
                </a:solidFill>
                <a:latin typeface="Calibri" pitchFamily="34" charset="0"/>
                <a:ea typeface="Calibri" pitchFamily="34" charset="-122"/>
                <a:cs typeface="Calibri" pitchFamily="34" charset="-120"/>
              </a:rPr>
              <a:t>Quarried limestone, in a surface application rather than a downcycled one. A grinder, a sieve, a hotplate and silicone moulds: production can be distributed rather than centralised.</a:t>
            </a:r>
            <a:endParaRPr lang="en-US" sz="1250" dirty="0"/>
          </a:p>
        </p:txBody>
      </p:sp>
      <p:sp>
        <p:nvSpPr>
          <p:cNvPr id="37" name="Text 35"/>
          <p:cNvSpPr txBox="1"/>
          <p:nvPr/>
        </p:nvSpPr>
        <p:spPr>
          <a:xfrm>
            <a:off x="731520" y="5943600"/>
            <a:ext cx="1069848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No life-cycle assessment was carried out. These are qualitative potentials grounded in the protocol, not quantified environmental claims.</a:t>
            </a:r>
            <a:endParaRPr lang="en-US" sz="900" dirty="0"/>
          </a:p>
        </p:txBody>
      </p:sp>
      <p:sp>
        <p:nvSpPr>
          <p:cNvPr id="39"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Limits</a:t>
            </a:r>
            <a:endParaRPr lang="en-US" sz="2000" dirty="0"/>
          </a:p>
        </p:txBody>
      </p:sp>
      <p:sp>
        <p:nvSpPr>
          <p:cNvPr id="3" name="Text 1"/>
          <p:cNvSpPr txBox="1"/>
          <p:nvPr/>
        </p:nvSpPr>
        <p:spPr>
          <a:xfrm>
            <a:off x="731520" y="1463040"/>
            <a:ext cx="512064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No dispersion data</a:t>
            </a:r>
            <a:endParaRPr lang="en-US" sz="1300" dirty="0"/>
          </a:p>
        </p:txBody>
      </p:sp>
      <p:sp>
        <p:nvSpPr>
          <p:cNvPr id="4" name="Text 2"/>
          <p:cNvSpPr txBox="1"/>
          <p:nvPr/>
        </p:nvSpPr>
        <p:spPr>
          <a:xfrm>
            <a:off x="731520" y="1764792"/>
            <a:ext cx="5120640" cy="548640"/>
          </a:xfrm>
          <a:prstGeom prst="rect">
            <a:avLst/>
          </a:prstGeom>
          <a:noFill/>
          <a:ln/>
        </p:spPr>
        <p:txBody>
          <a:bodyPr wrap="square" lIns="0" tIns="0" rIns="0" bIns="0" rtlCol="0" anchor="ctr"/>
          <a:lstStyle/>
          <a:p>
            <a:pPr indent="0" marL="0">
              <a:lnSpc>
                <a:spcPts val="1400"/>
              </a:lnSpc>
              <a:buNone/>
            </a:pPr>
            <a:r>
              <a:rPr lang="en-US" sz="1100" dirty="0">
                <a:solidFill>
                  <a:srgbClr val="8C8C8C"/>
                </a:solidFill>
                <a:latin typeface="Calibri" pitchFamily="34" charset="0"/>
                <a:ea typeface="Calibri" pitchFamily="34" charset="-122"/>
                <a:cs typeface="Calibri" pitchFamily="34" charset="-120"/>
              </a:rPr>
              <a:t>Means of three specimens; individual values not retained.</a:t>
            </a:r>
            <a:endParaRPr lang="en-US" sz="1100" dirty="0"/>
          </a:p>
        </p:txBody>
      </p:sp>
      <p:sp>
        <p:nvSpPr>
          <p:cNvPr id="5" name="ru0.82.66"/>
          <p:cNvSpPr/>
          <p:nvPr/>
        </p:nvSpPr>
        <p:spPr>
          <a:xfrm>
            <a:off x="731520" y="2432304"/>
            <a:ext cx="5120640" cy="9144"/>
          </a:xfrm>
          <a:prstGeom prst="rect">
            <a:avLst/>
          </a:prstGeom>
          <a:solidFill>
            <a:srgbClr val="E4E4E4"/>
          </a:solidFill>
          <a:ln w="12700">
            <a:solidFill>
              <a:srgbClr val="E4E4E4">
                <a:alpha val="0"/>
              </a:srgbClr>
            </a:solidFill>
            <a:prstDash val="solid"/>
          </a:ln>
        </p:spPr>
      </p:sp>
      <p:sp>
        <p:nvSpPr>
          <p:cNvPr id="6" name="Text 4"/>
          <p:cNvSpPr txBox="1"/>
          <p:nvPr/>
        </p:nvSpPr>
        <p:spPr>
          <a:xfrm>
            <a:off x="6355080" y="1463040"/>
            <a:ext cx="512064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Confounded flexural series</a:t>
            </a:r>
            <a:endParaRPr lang="en-US" sz="1300" dirty="0"/>
          </a:p>
        </p:txBody>
      </p:sp>
      <p:sp>
        <p:nvSpPr>
          <p:cNvPr id="7" name="Text 5"/>
          <p:cNvSpPr txBox="1"/>
          <p:nvPr/>
        </p:nvSpPr>
        <p:spPr>
          <a:xfrm>
            <a:off x="6355080" y="1764792"/>
            <a:ext cx="5120640" cy="548640"/>
          </a:xfrm>
          <a:prstGeom prst="rect">
            <a:avLst/>
          </a:prstGeom>
          <a:noFill/>
          <a:ln/>
        </p:spPr>
        <p:txBody>
          <a:bodyPr wrap="square" lIns="0" tIns="0" rIns="0" bIns="0" rtlCol="0" anchor="ctr"/>
          <a:lstStyle/>
          <a:p>
            <a:pPr indent="0" marL="0">
              <a:lnSpc>
                <a:spcPts val="1400"/>
              </a:lnSpc>
              <a:buNone/>
            </a:pPr>
            <a:r>
              <a:rPr lang="en-US" sz="1100" dirty="0">
                <a:solidFill>
                  <a:srgbClr val="8C8C8C"/>
                </a:solidFill>
                <a:latin typeface="Calibri" pitchFamily="34" charset="0"/>
                <a:ea typeface="Calibri" pitchFamily="34" charset="-122"/>
                <a:cs typeface="Calibri" pitchFamily="34" charset="-120"/>
              </a:rPr>
              <a:t>Glycerol, solids concentration and shell : binder moved together.</a:t>
            </a:r>
            <a:endParaRPr lang="en-US" sz="1100" dirty="0"/>
          </a:p>
        </p:txBody>
      </p:sp>
      <p:sp>
        <p:nvSpPr>
          <p:cNvPr id="8" name="ru6.952.66"/>
          <p:cNvSpPr/>
          <p:nvPr/>
        </p:nvSpPr>
        <p:spPr>
          <a:xfrm>
            <a:off x="6355080" y="2432304"/>
            <a:ext cx="5120640" cy="9144"/>
          </a:xfrm>
          <a:prstGeom prst="rect">
            <a:avLst/>
          </a:prstGeom>
          <a:solidFill>
            <a:srgbClr val="E4E4E4"/>
          </a:solidFill>
          <a:ln w="12700">
            <a:solidFill>
              <a:srgbClr val="E4E4E4">
                <a:alpha val="0"/>
              </a:srgbClr>
            </a:solidFill>
            <a:prstDash val="solid"/>
          </a:ln>
        </p:spPr>
      </p:sp>
      <p:sp>
        <p:nvSpPr>
          <p:cNvPr id="9" name="Text 7"/>
          <p:cNvSpPr txBox="1"/>
          <p:nvPr/>
        </p:nvSpPr>
        <p:spPr>
          <a:xfrm>
            <a:off x="731520" y="2633472"/>
            <a:ext cx="512064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Kerfed section, solid assumption</a:t>
            </a:r>
            <a:endParaRPr lang="en-US" sz="1300" dirty="0"/>
          </a:p>
        </p:txBody>
      </p:sp>
      <p:sp>
        <p:nvSpPr>
          <p:cNvPr id="10" name="Text 8"/>
          <p:cNvSpPr txBox="1"/>
          <p:nvPr/>
        </p:nvSpPr>
        <p:spPr>
          <a:xfrm>
            <a:off x="731520" y="2935224"/>
            <a:ext cx="5120640" cy="548640"/>
          </a:xfrm>
          <a:prstGeom prst="rect">
            <a:avLst/>
          </a:prstGeom>
          <a:noFill/>
          <a:ln/>
        </p:spPr>
        <p:txBody>
          <a:bodyPr wrap="square" lIns="0" tIns="0" rIns="0" bIns="0" rtlCol="0" anchor="ctr"/>
          <a:lstStyle/>
          <a:p>
            <a:pPr indent="0" marL="0">
              <a:lnSpc>
                <a:spcPts val="1400"/>
              </a:lnSpc>
              <a:buNone/>
            </a:pPr>
            <a:r>
              <a:rPr lang="en-US" sz="1100" dirty="0">
                <a:solidFill>
                  <a:srgbClr val="8C8C8C"/>
                </a:solidFill>
                <a:latin typeface="Calibri" pitchFamily="34" charset="0"/>
                <a:ea typeface="Calibri" pitchFamily="34" charset="-122"/>
                <a:cs typeface="Calibri" pitchFamily="34" charset="-120"/>
              </a:rPr>
              <a:t>The modulus is a lower bound, not a material constant.</a:t>
            </a:r>
            <a:endParaRPr lang="en-US" sz="1100" dirty="0"/>
          </a:p>
        </p:txBody>
      </p:sp>
      <p:sp>
        <p:nvSpPr>
          <p:cNvPr id="11" name="ru0.83.94"/>
          <p:cNvSpPr/>
          <p:nvPr/>
        </p:nvSpPr>
        <p:spPr>
          <a:xfrm>
            <a:off x="731520" y="3602736"/>
            <a:ext cx="5120640" cy="9144"/>
          </a:xfrm>
          <a:prstGeom prst="rect">
            <a:avLst/>
          </a:prstGeom>
          <a:solidFill>
            <a:srgbClr val="E4E4E4"/>
          </a:solidFill>
          <a:ln w="12700">
            <a:solidFill>
              <a:srgbClr val="E4E4E4">
                <a:alpha val="0"/>
              </a:srgbClr>
            </a:solidFill>
            <a:prstDash val="solid"/>
          </a:ln>
        </p:spPr>
      </p:sp>
      <p:sp>
        <p:nvSpPr>
          <p:cNvPr id="12" name="Text 10"/>
          <p:cNvSpPr txBox="1"/>
          <p:nvPr/>
        </p:nvSpPr>
        <p:spPr>
          <a:xfrm>
            <a:off x="6355080" y="2633472"/>
            <a:ext cx="512064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Strain not instrumented</a:t>
            </a:r>
            <a:endParaRPr lang="en-US" sz="1300" dirty="0"/>
          </a:p>
        </p:txBody>
      </p:sp>
      <p:sp>
        <p:nvSpPr>
          <p:cNvPr id="13" name="Text 11"/>
          <p:cNvSpPr txBox="1"/>
          <p:nvPr/>
        </p:nvSpPr>
        <p:spPr>
          <a:xfrm>
            <a:off x="6355080" y="2935224"/>
            <a:ext cx="5120640" cy="548640"/>
          </a:xfrm>
          <a:prstGeom prst="rect">
            <a:avLst/>
          </a:prstGeom>
          <a:noFill/>
          <a:ln/>
        </p:spPr>
        <p:txBody>
          <a:bodyPr wrap="square" lIns="0" tIns="0" rIns="0" bIns="0" rtlCol="0" anchor="ctr"/>
          <a:lstStyle/>
          <a:p>
            <a:pPr indent="0" marL="0">
              <a:lnSpc>
                <a:spcPts val="1400"/>
              </a:lnSpc>
              <a:buNone/>
            </a:pPr>
            <a:r>
              <a:rPr lang="en-US" sz="1100" dirty="0">
                <a:solidFill>
                  <a:srgbClr val="8C8C8C"/>
                </a:solidFill>
                <a:latin typeface="Calibri" pitchFamily="34" charset="0"/>
                <a:ea typeface="Calibri" pitchFamily="34" charset="-122"/>
                <a:cs typeface="Calibri" pitchFamily="34" charset="-120"/>
              </a:rPr>
              <a:t>Compressive strain assumed from observation.</a:t>
            </a:r>
            <a:endParaRPr lang="en-US" sz="1100" dirty="0"/>
          </a:p>
        </p:txBody>
      </p:sp>
      <p:sp>
        <p:nvSpPr>
          <p:cNvPr id="14" name="ru6.953.94"/>
          <p:cNvSpPr/>
          <p:nvPr/>
        </p:nvSpPr>
        <p:spPr>
          <a:xfrm>
            <a:off x="6355080" y="3602736"/>
            <a:ext cx="5120640" cy="9144"/>
          </a:xfrm>
          <a:prstGeom prst="rect">
            <a:avLst/>
          </a:prstGeom>
          <a:solidFill>
            <a:srgbClr val="E4E4E4"/>
          </a:solidFill>
          <a:ln w="12700">
            <a:solidFill>
              <a:srgbClr val="E4E4E4">
                <a:alpha val="0"/>
              </a:srgbClr>
            </a:solidFill>
            <a:prstDash val="solid"/>
          </a:ln>
        </p:spPr>
      </p:sp>
      <p:sp>
        <p:nvSpPr>
          <p:cNvPr id="15" name="Text 13"/>
          <p:cNvSpPr txBox="1"/>
          <p:nvPr/>
        </p:nvSpPr>
        <p:spPr>
          <a:xfrm>
            <a:off x="731520" y="3803904"/>
            <a:ext cx="512064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Shrinkage unquantified</a:t>
            </a:r>
            <a:endParaRPr lang="en-US" sz="1300" dirty="0"/>
          </a:p>
        </p:txBody>
      </p:sp>
      <p:sp>
        <p:nvSpPr>
          <p:cNvPr id="16" name="Text 14"/>
          <p:cNvSpPr txBox="1"/>
          <p:nvPr/>
        </p:nvSpPr>
        <p:spPr>
          <a:xfrm>
            <a:off x="731520" y="4105656"/>
            <a:ext cx="5120640" cy="548640"/>
          </a:xfrm>
          <a:prstGeom prst="rect">
            <a:avLst/>
          </a:prstGeom>
          <a:noFill/>
          <a:ln/>
        </p:spPr>
        <p:txBody>
          <a:bodyPr wrap="square" lIns="0" tIns="0" rIns="0" bIns="0" rtlCol="0" anchor="ctr"/>
          <a:lstStyle/>
          <a:p>
            <a:pPr indent="0" marL="0">
              <a:lnSpc>
                <a:spcPts val="1400"/>
              </a:lnSpc>
              <a:buNone/>
            </a:pPr>
            <a:r>
              <a:rPr lang="en-US" sz="1100" dirty="0">
                <a:solidFill>
                  <a:srgbClr val="8C8C8C"/>
                </a:solidFill>
                <a:latin typeface="Calibri" pitchFamily="34" charset="0"/>
                <a:ea typeface="Calibri" pitchFamily="34" charset="-122"/>
                <a:cs typeface="Calibri" pitchFamily="34" charset="-120"/>
              </a:rPr>
              <a:t>Density is a lower bound on a mould-volume basis.</a:t>
            </a:r>
            <a:endParaRPr lang="en-US" sz="1100" dirty="0"/>
          </a:p>
        </p:txBody>
      </p:sp>
      <p:sp>
        <p:nvSpPr>
          <p:cNvPr id="17" name="ru0.85.220000000000001"/>
          <p:cNvSpPr/>
          <p:nvPr/>
        </p:nvSpPr>
        <p:spPr>
          <a:xfrm>
            <a:off x="731520" y="4773168"/>
            <a:ext cx="5120640" cy="9144"/>
          </a:xfrm>
          <a:prstGeom prst="rect">
            <a:avLst/>
          </a:prstGeom>
          <a:solidFill>
            <a:srgbClr val="E4E4E4"/>
          </a:solidFill>
          <a:ln w="12700">
            <a:solidFill>
              <a:srgbClr val="E4E4E4">
                <a:alpha val="0"/>
              </a:srgbClr>
            </a:solidFill>
            <a:prstDash val="solid"/>
          </a:ln>
        </p:spPr>
      </p:sp>
      <p:sp>
        <p:nvSpPr>
          <p:cNvPr id="18" name="Text 16"/>
          <p:cNvSpPr txBox="1"/>
          <p:nvPr/>
        </p:nvSpPr>
        <p:spPr>
          <a:xfrm>
            <a:off x="6355080" y="3803904"/>
            <a:ext cx="512064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Process not instrumented</a:t>
            </a:r>
            <a:endParaRPr lang="en-US" sz="1300" dirty="0"/>
          </a:p>
        </p:txBody>
      </p:sp>
      <p:sp>
        <p:nvSpPr>
          <p:cNvPr id="19" name="Text 17"/>
          <p:cNvSpPr txBox="1"/>
          <p:nvPr/>
        </p:nvSpPr>
        <p:spPr>
          <a:xfrm>
            <a:off x="6355080" y="4105656"/>
            <a:ext cx="5120640" cy="548640"/>
          </a:xfrm>
          <a:prstGeom prst="rect">
            <a:avLst/>
          </a:prstGeom>
          <a:noFill/>
          <a:ln/>
        </p:spPr>
        <p:txBody>
          <a:bodyPr wrap="square" lIns="0" tIns="0" rIns="0" bIns="0" rtlCol="0" anchor="ctr"/>
          <a:lstStyle/>
          <a:p>
            <a:pPr indent="0" marL="0">
              <a:lnSpc>
                <a:spcPts val="1400"/>
              </a:lnSpc>
              <a:buNone/>
            </a:pPr>
            <a:r>
              <a:rPr lang="en-US" sz="1100" dirty="0">
                <a:solidFill>
                  <a:srgbClr val="8C8C8C"/>
                </a:solidFill>
                <a:latin typeface="Calibri" pitchFamily="34" charset="0"/>
                <a:ea typeface="Calibri" pitchFamily="34" charset="-122"/>
                <a:cs typeface="Calibri" pitchFamily="34" charset="-120"/>
              </a:rPr>
              <a:t>Manual stirring; one laboratory, one operator.</a:t>
            </a:r>
            <a:endParaRPr lang="en-US" sz="1100" dirty="0"/>
          </a:p>
        </p:txBody>
      </p:sp>
      <p:sp>
        <p:nvSpPr>
          <p:cNvPr id="20" name="ru6.955.220000000000001"/>
          <p:cNvSpPr/>
          <p:nvPr/>
        </p:nvSpPr>
        <p:spPr>
          <a:xfrm>
            <a:off x="6355080" y="4773168"/>
            <a:ext cx="5120640" cy="9144"/>
          </a:xfrm>
          <a:prstGeom prst="rect">
            <a:avLst/>
          </a:prstGeom>
          <a:solidFill>
            <a:srgbClr val="E4E4E4"/>
          </a:solidFill>
          <a:ln w="12700">
            <a:solidFill>
              <a:srgbClr val="E4E4E4">
                <a:alpha val="0"/>
              </a:srgbClr>
            </a:solidFill>
            <a:prstDash val="solid"/>
          </a:ln>
        </p:spPr>
      </p:sp>
      <p:sp>
        <p:nvSpPr>
          <p:cNvPr id="21" name="Text 19"/>
          <p:cNvSpPr txBox="1"/>
          <p:nvPr/>
        </p:nvSpPr>
        <p:spPr>
          <a:xfrm>
            <a:off x="731520" y="4974336"/>
            <a:ext cx="512064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No durability testing</a:t>
            </a:r>
            <a:endParaRPr lang="en-US" sz="1300" dirty="0"/>
          </a:p>
        </p:txBody>
      </p:sp>
      <p:sp>
        <p:nvSpPr>
          <p:cNvPr id="22" name="Text 20"/>
          <p:cNvSpPr txBox="1"/>
          <p:nvPr/>
        </p:nvSpPr>
        <p:spPr>
          <a:xfrm>
            <a:off x="731520" y="5276088"/>
            <a:ext cx="5120640" cy="548640"/>
          </a:xfrm>
          <a:prstGeom prst="rect">
            <a:avLst/>
          </a:prstGeom>
          <a:noFill/>
          <a:ln/>
        </p:spPr>
        <p:txBody>
          <a:bodyPr wrap="square" lIns="0" tIns="0" rIns="0" bIns="0" rtlCol="0" anchor="ctr"/>
          <a:lstStyle/>
          <a:p>
            <a:pPr indent="0" marL="0">
              <a:lnSpc>
                <a:spcPts val="1400"/>
              </a:lnSpc>
              <a:buNone/>
            </a:pPr>
            <a:r>
              <a:rPr lang="en-US" sz="1100" dirty="0">
                <a:solidFill>
                  <a:srgbClr val="8C8C8C"/>
                </a:solidFill>
                <a:latin typeface="Calibri" pitchFamily="34" charset="0"/>
                <a:ea typeface="Calibri" pitchFamily="34" charset="-122"/>
                <a:cs typeface="Calibri" pitchFamily="34" charset="-120"/>
              </a:rPr>
              <a:t>No humidity or thermal cycling, UV, microbial or ageing.</a:t>
            </a:r>
            <a:endParaRPr lang="en-US" sz="1100" dirty="0"/>
          </a:p>
        </p:txBody>
      </p:sp>
      <p:sp>
        <p:nvSpPr>
          <p:cNvPr id="23" name="ru0.86.5"/>
          <p:cNvSpPr/>
          <p:nvPr/>
        </p:nvSpPr>
        <p:spPr>
          <a:xfrm>
            <a:off x="731520" y="5943600"/>
            <a:ext cx="5120640" cy="9144"/>
          </a:xfrm>
          <a:prstGeom prst="rect">
            <a:avLst/>
          </a:prstGeom>
          <a:solidFill>
            <a:srgbClr val="E4E4E4"/>
          </a:solidFill>
          <a:ln w="12700">
            <a:solidFill>
              <a:srgbClr val="E4E4E4">
                <a:alpha val="0"/>
              </a:srgbClr>
            </a:solidFill>
            <a:prstDash val="solid"/>
          </a:ln>
        </p:spPr>
      </p:sp>
      <p:sp>
        <p:nvSpPr>
          <p:cNvPr id="24" name="Text 22"/>
          <p:cNvSpPr txBox="1"/>
          <p:nvPr/>
        </p:nvSpPr>
        <p:spPr>
          <a:xfrm>
            <a:off x="6355080" y="4974336"/>
            <a:ext cx="512064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No fire class, no LCA</a:t>
            </a:r>
            <a:endParaRPr lang="en-US" sz="1300" dirty="0"/>
          </a:p>
        </p:txBody>
      </p:sp>
      <p:sp>
        <p:nvSpPr>
          <p:cNvPr id="25" name="Text 23"/>
          <p:cNvSpPr txBox="1"/>
          <p:nvPr/>
        </p:nvSpPr>
        <p:spPr>
          <a:xfrm>
            <a:off x="6355080" y="5276088"/>
            <a:ext cx="5120640" cy="548640"/>
          </a:xfrm>
          <a:prstGeom prst="rect">
            <a:avLst/>
          </a:prstGeom>
          <a:noFill/>
          <a:ln/>
        </p:spPr>
        <p:txBody>
          <a:bodyPr wrap="square" lIns="0" tIns="0" rIns="0" bIns="0" rtlCol="0" anchor="ctr"/>
          <a:lstStyle/>
          <a:p>
            <a:pPr indent="0" marL="0">
              <a:lnSpc>
                <a:spcPts val="1400"/>
              </a:lnSpc>
              <a:buNone/>
            </a:pPr>
            <a:r>
              <a:rPr lang="en-US" sz="1100" dirty="0">
                <a:solidFill>
                  <a:srgbClr val="8C8C8C"/>
                </a:solidFill>
                <a:latin typeface="Calibri" pitchFamily="34" charset="0"/>
                <a:ea typeface="Calibri" pitchFamily="34" charset="-122"/>
                <a:cs typeface="Calibri" pitchFamily="34" charset="-120"/>
              </a:rPr>
              <a:t>Ignitability only; no quantified environmental assessment.</a:t>
            </a:r>
            <a:endParaRPr lang="en-US" sz="1100" dirty="0"/>
          </a:p>
        </p:txBody>
      </p:sp>
      <p:sp>
        <p:nvSpPr>
          <p:cNvPr id="26" name="ru6.956.5"/>
          <p:cNvSpPr/>
          <p:nvPr/>
        </p:nvSpPr>
        <p:spPr>
          <a:xfrm>
            <a:off x="6355080" y="5943600"/>
            <a:ext cx="5120640" cy="9144"/>
          </a:xfrm>
          <a:prstGeom prst="rect">
            <a:avLst/>
          </a:prstGeom>
          <a:solidFill>
            <a:srgbClr val="E4E4E4"/>
          </a:solidFill>
          <a:ln w="12700">
            <a:solidFill>
              <a:srgbClr val="E4E4E4">
                <a:alpha val="0"/>
              </a:srgbClr>
            </a:solidFill>
            <a:prstDash val="solid"/>
          </a:ln>
        </p:spPr>
      </p:sp>
      <p:sp>
        <p:nvSpPr>
          <p:cNvPr id="27" name="Text 25"/>
          <p:cNvSpPr txBox="1"/>
          <p:nvPr/>
        </p:nvSpPr>
        <p:spPr>
          <a:xfrm>
            <a:off x="731520" y="5943600"/>
            <a:ext cx="10698480" cy="292608"/>
          </a:xfrm>
          <a:prstGeom prst="rect">
            <a:avLst/>
          </a:prstGeom>
          <a:noFill/>
          <a:ln/>
        </p:spPr>
        <p:txBody>
          <a:bodyPr wrap="square" lIns="0" tIns="0" rIns="0" bIns="0" rtlCol="0" anchor="ctr"/>
          <a:lstStyle/>
          <a:p>
            <a:pPr indent="0" marL="0">
              <a:buNone/>
            </a:pPr>
            <a:r>
              <a:rPr lang="en-US" sz="1300" b="1" dirty="0">
                <a:solidFill>
                  <a:srgbClr val="B4513A"/>
                </a:solidFill>
                <a:latin typeface="Calibri" pitchFamily="34" charset="0"/>
                <a:ea typeface="Calibri" pitchFamily="34" charset="-122"/>
                <a:cs typeface="Calibri" pitchFamily="34" charset="-120"/>
              </a:rPr>
              <a:t>Each defines a specific next experiment.</a:t>
            </a:r>
            <a:endParaRPr lang="en-US" sz="1300" dirty="0"/>
          </a:p>
        </p:txBody>
      </p:sp>
      <p:sp>
        <p:nvSpPr>
          <p:cNvPr id="29"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Conclusions</a:t>
            </a:r>
            <a:endParaRPr lang="en-US" sz="2000" dirty="0"/>
          </a:p>
        </p:txBody>
      </p:sp>
      <p:sp>
        <p:nvSpPr>
          <p:cNvPr id="3" name="Text 1"/>
          <p:cNvSpPr txBox="1"/>
          <p:nvPr/>
        </p:nvSpPr>
        <p:spPr>
          <a:xfrm>
            <a:off x="731520" y="1325880"/>
            <a:ext cx="50292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01</a:t>
            </a:r>
            <a:endParaRPr lang="en-US" sz="1200" dirty="0"/>
          </a:p>
        </p:txBody>
      </p:sp>
      <p:sp>
        <p:nvSpPr>
          <p:cNvPr id="4" name="Text 2"/>
          <p:cNvSpPr txBox="1"/>
          <p:nvPr/>
        </p:nvSpPr>
        <p:spPr>
          <a:xfrm>
            <a:off x="1325880" y="1325880"/>
            <a:ext cx="3931920" cy="640080"/>
          </a:xfrm>
          <a:prstGeom prst="rect">
            <a:avLst/>
          </a:prstGeom>
          <a:noFill/>
          <a:ln/>
        </p:spPr>
        <p:txBody>
          <a:bodyPr wrap="square" lIns="0" tIns="0" rIns="0" bIns="0" rtlCol="0" anchor="ctr"/>
          <a:lstStyle/>
          <a:p>
            <a:pPr indent="0" marL="0">
              <a:lnSpc>
                <a:spcPts val="1800"/>
              </a:lnSpc>
              <a:buNone/>
            </a:pPr>
            <a:r>
              <a:rPr lang="en-US" sz="1400" b="1" dirty="0">
                <a:solidFill>
                  <a:srgbClr val="FFFFFF"/>
                </a:solidFill>
                <a:latin typeface="Calibri" pitchFamily="34" charset="0"/>
                <a:ea typeface="Calibri" pitchFamily="34" charset="-122"/>
                <a:cs typeface="Calibri" pitchFamily="34" charset="-120"/>
              </a:rPr>
              <a:t>A protocol others can repeat</a:t>
            </a:r>
            <a:endParaRPr lang="en-US" sz="1400" dirty="0"/>
          </a:p>
        </p:txBody>
      </p:sp>
      <p:sp>
        <p:nvSpPr>
          <p:cNvPr id="5" name="Text 3"/>
          <p:cNvSpPr txBox="1"/>
          <p:nvPr/>
        </p:nvSpPr>
        <p:spPr>
          <a:xfrm>
            <a:off x="5486400" y="1325880"/>
            <a:ext cx="5943600" cy="731520"/>
          </a:xfrm>
          <a:prstGeom prst="rect">
            <a:avLst/>
          </a:prstGeom>
          <a:noFill/>
          <a:ln/>
        </p:spPr>
        <p:txBody>
          <a:bodyPr wrap="square" lIns="0" tIns="0" rIns="0" bIns="0" rtlCol="0" anchor="ctr"/>
          <a:lstStyle/>
          <a:p>
            <a:pPr indent="0" marL="0">
              <a:lnSpc>
                <a:spcPts val="1500"/>
              </a:lnSpc>
              <a:buNone/>
            </a:pPr>
            <a:r>
              <a:rPr lang="en-US" sz="1100" dirty="0">
                <a:solidFill>
                  <a:srgbClr val="9E9E9E"/>
                </a:solidFill>
                <a:latin typeface="Calibri" pitchFamily="34" charset="0"/>
                <a:ea typeface="Calibri" pitchFamily="34" charset="-122"/>
                <a:cs typeface="Calibri" pitchFamily="34" charset="-120"/>
              </a:rPr>
              <a:t>Every parameter reported: 120 °C · 150 µm · 95 °C · 80 °C · 55 min · silicone · 11 days ambient</a:t>
            </a:r>
            <a:endParaRPr lang="en-US" sz="1100" dirty="0"/>
          </a:p>
        </p:txBody>
      </p:sp>
      <p:sp>
        <p:nvSpPr>
          <p:cNvPr id="6" name="ru0.82.33"/>
          <p:cNvSpPr/>
          <p:nvPr/>
        </p:nvSpPr>
        <p:spPr>
          <a:xfrm>
            <a:off x="731520" y="2130552"/>
            <a:ext cx="10698480" cy="9144"/>
          </a:xfrm>
          <a:prstGeom prst="rect">
            <a:avLst/>
          </a:prstGeom>
          <a:solidFill>
            <a:srgbClr val="5A5A5A"/>
          </a:solidFill>
          <a:ln w="12700">
            <a:solidFill>
              <a:srgbClr val="5A5A5A">
                <a:alpha val="0"/>
              </a:srgbClr>
            </a:solidFill>
            <a:prstDash val="solid"/>
          </a:ln>
        </p:spPr>
      </p:sp>
      <p:sp>
        <p:nvSpPr>
          <p:cNvPr id="7" name="Text 5"/>
          <p:cNvSpPr txBox="1"/>
          <p:nvPr/>
        </p:nvSpPr>
        <p:spPr>
          <a:xfrm>
            <a:off x="731520" y="2258568"/>
            <a:ext cx="50292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02</a:t>
            </a:r>
            <a:endParaRPr lang="en-US" sz="1200" dirty="0"/>
          </a:p>
        </p:txBody>
      </p:sp>
      <p:sp>
        <p:nvSpPr>
          <p:cNvPr id="8" name="Text 6"/>
          <p:cNvSpPr txBox="1"/>
          <p:nvPr/>
        </p:nvSpPr>
        <p:spPr>
          <a:xfrm>
            <a:off x="1325880" y="2258568"/>
            <a:ext cx="3931920" cy="640080"/>
          </a:xfrm>
          <a:prstGeom prst="rect">
            <a:avLst/>
          </a:prstGeom>
          <a:noFill/>
          <a:ln/>
        </p:spPr>
        <p:txBody>
          <a:bodyPr wrap="square" lIns="0" tIns="0" rIns="0" bIns="0" rtlCol="0" anchor="ctr"/>
          <a:lstStyle/>
          <a:p>
            <a:pPr indent="0" marL="0">
              <a:lnSpc>
                <a:spcPts val="1800"/>
              </a:lnSpc>
              <a:buNone/>
            </a:pPr>
            <a:r>
              <a:rPr lang="en-US" sz="1400" b="1" dirty="0">
                <a:solidFill>
                  <a:srgbClr val="FFFFFF"/>
                </a:solidFill>
                <a:latin typeface="Calibri" pitchFamily="34" charset="0"/>
                <a:ea typeface="Calibri" pitchFamily="34" charset="-122"/>
                <a:cs typeface="Calibri" pitchFamily="34" charset="-120"/>
              </a:rPr>
              <a:t>Packing density governs strength</a:t>
            </a:r>
            <a:endParaRPr lang="en-US" sz="1400" dirty="0"/>
          </a:p>
        </p:txBody>
      </p:sp>
      <p:sp>
        <p:nvSpPr>
          <p:cNvPr id="9" name="Text 7"/>
          <p:cNvSpPr txBox="1"/>
          <p:nvPr/>
        </p:nvSpPr>
        <p:spPr>
          <a:xfrm>
            <a:off x="5486400" y="2258568"/>
            <a:ext cx="5943600" cy="731520"/>
          </a:xfrm>
          <a:prstGeom prst="rect">
            <a:avLst/>
          </a:prstGeom>
          <a:noFill/>
          <a:ln/>
        </p:spPr>
        <p:txBody>
          <a:bodyPr wrap="square" lIns="0" tIns="0" rIns="0" bIns="0" rtlCol="0" anchor="ctr"/>
          <a:lstStyle/>
          <a:p>
            <a:pPr indent="0" marL="0">
              <a:lnSpc>
                <a:spcPts val="1500"/>
              </a:lnSpc>
              <a:buNone/>
            </a:pPr>
            <a:r>
              <a:rPr lang="en-US" sz="1100" dirty="0">
                <a:solidFill>
                  <a:srgbClr val="9E9E9E"/>
                </a:solidFill>
                <a:latin typeface="Calibri" pitchFamily="34" charset="0"/>
                <a:ea typeface="Calibri" pitchFamily="34" charset="-122"/>
                <a:cs typeface="Calibri" pitchFamily="34" charset="-120"/>
              </a:rPr>
              <a:t>With shell : binder fixed, compressive stress rises linearly with solids concentration</a:t>
            </a:r>
            <a:endParaRPr lang="en-US" sz="1100" dirty="0"/>
          </a:p>
        </p:txBody>
      </p:sp>
      <p:sp>
        <p:nvSpPr>
          <p:cNvPr id="10" name="ru0.83.3499999999999996"/>
          <p:cNvSpPr/>
          <p:nvPr/>
        </p:nvSpPr>
        <p:spPr>
          <a:xfrm>
            <a:off x="731520" y="3063240"/>
            <a:ext cx="10698480" cy="9144"/>
          </a:xfrm>
          <a:prstGeom prst="rect">
            <a:avLst/>
          </a:prstGeom>
          <a:solidFill>
            <a:srgbClr val="5A5A5A"/>
          </a:solidFill>
          <a:ln w="12700">
            <a:solidFill>
              <a:srgbClr val="5A5A5A">
                <a:alpha val="0"/>
              </a:srgbClr>
            </a:solidFill>
            <a:prstDash val="solid"/>
          </a:ln>
        </p:spPr>
      </p:sp>
      <p:sp>
        <p:nvSpPr>
          <p:cNvPr id="11" name="Text 9"/>
          <p:cNvSpPr txBox="1"/>
          <p:nvPr/>
        </p:nvSpPr>
        <p:spPr>
          <a:xfrm>
            <a:off x="731520" y="3191256"/>
            <a:ext cx="50292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03</a:t>
            </a:r>
            <a:endParaRPr lang="en-US" sz="1200" dirty="0"/>
          </a:p>
        </p:txBody>
      </p:sp>
      <p:sp>
        <p:nvSpPr>
          <p:cNvPr id="12" name="Text 10"/>
          <p:cNvSpPr txBox="1"/>
          <p:nvPr/>
        </p:nvSpPr>
        <p:spPr>
          <a:xfrm>
            <a:off x="1325880" y="3191256"/>
            <a:ext cx="3931920" cy="640080"/>
          </a:xfrm>
          <a:prstGeom prst="rect">
            <a:avLst/>
          </a:prstGeom>
          <a:noFill/>
          <a:ln/>
        </p:spPr>
        <p:txBody>
          <a:bodyPr wrap="square" lIns="0" tIns="0" rIns="0" bIns="0" rtlCol="0" anchor="ctr"/>
          <a:lstStyle/>
          <a:p>
            <a:pPr indent="0" marL="0">
              <a:lnSpc>
                <a:spcPts val="1800"/>
              </a:lnSpc>
              <a:buNone/>
            </a:pPr>
            <a:r>
              <a:rPr lang="en-US" sz="1400" b="1" dirty="0">
                <a:solidFill>
                  <a:srgbClr val="FFFFFF"/>
                </a:solidFill>
                <a:latin typeface="Calibri" pitchFamily="34" charset="0"/>
                <a:ea typeface="Calibri" pitchFamily="34" charset="-122"/>
                <a:cs typeface="Calibri" pitchFamily="34" charset="-120"/>
              </a:rPr>
              <a:t>Plasticiser sets brittle or ductile</a:t>
            </a:r>
            <a:endParaRPr lang="en-US" sz="1400" dirty="0"/>
          </a:p>
        </p:txBody>
      </p:sp>
      <p:sp>
        <p:nvSpPr>
          <p:cNvPr id="13" name="Text 11"/>
          <p:cNvSpPr txBox="1"/>
          <p:nvPr/>
        </p:nvSpPr>
        <p:spPr>
          <a:xfrm>
            <a:off x="5486400" y="3191256"/>
            <a:ext cx="5943600" cy="731520"/>
          </a:xfrm>
          <a:prstGeom prst="rect">
            <a:avLst/>
          </a:prstGeom>
          <a:noFill/>
          <a:ln/>
        </p:spPr>
        <p:txBody>
          <a:bodyPr wrap="square" lIns="0" tIns="0" rIns="0" bIns="0" rtlCol="0" anchor="ctr"/>
          <a:lstStyle/>
          <a:p>
            <a:pPr indent="0" marL="0">
              <a:lnSpc>
                <a:spcPts val="1500"/>
              </a:lnSpc>
              <a:buNone/>
            </a:pPr>
            <a:r>
              <a:rPr lang="en-US" sz="1100" dirty="0">
                <a:solidFill>
                  <a:srgbClr val="9E9E9E"/>
                </a:solidFill>
                <a:latin typeface="Calibri" pitchFamily="34" charset="0"/>
                <a:ea typeface="Calibri" pitchFamily="34" charset="-122"/>
                <a:cs typeface="Calibri" pitchFamily="34" charset="-120"/>
              </a:rPr>
              <a:t>Between 18.8% and 10.3% glycerol, from unmeasurable to 2.33 MPa at 192 MPa</a:t>
            </a:r>
            <a:endParaRPr lang="en-US" sz="1100" dirty="0"/>
          </a:p>
        </p:txBody>
      </p:sp>
      <p:sp>
        <p:nvSpPr>
          <p:cNvPr id="14" name="ru0.84.37"/>
          <p:cNvSpPr/>
          <p:nvPr/>
        </p:nvSpPr>
        <p:spPr>
          <a:xfrm>
            <a:off x="731520" y="3995928"/>
            <a:ext cx="10698480" cy="9144"/>
          </a:xfrm>
          <a:prstGeom prst="rect">
            <a:avLst/>
          </a:prstGeom>
          <a:solidFill>
            <a:srgbClr val="5A5A5A"/>
          </a:solidFill>
          <a:ln w="12700">
            <a:solidFill>
              <a:srgbClr val="5A5A5A">
                <a:alpha val="0"/>
              </a:srgbClr>
            </a:solidFill>
            <a:prstDash val="solid"/>
          </a:ln>
        </p:spPr>
      </p:sp>
      <p:sp>
        <p:nvSpPr>
          <p:cNvPr id="15" name="Text 13"/>
          <p:cNvSpPr txBox="1"/>
          <p:nvPr/>
        </p:nvSpPr>
        <p:spPr>
          <a:xfrm>
            <a:off x="731520" y="4123944"/>
            <a:ext cx="50292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04</a:t>
            </a:r>
            <a:endParaRPr lang="en-US" sz="1200" dirty="0"/>
          </a:p>
        </p:txBody>
      </p:sp>
      <p:sp>
        <p:nvSpPr>
          <p:cNvPr id="16" name="Text 14"/>
          <p:cNvSpPr txBox="1"/>
          <p:nvPr/>
        </p:nvSpPr>
        <p:spPr>
          <a:xfrm>
            <a:off x="1325880" y="4123944"/>
            <a:ext cx="3931920" cy="640080"/>
          </a:xfrm>
          <a:prstGeom prst="rect">
            <a:avLst/>
          </a:prstGeom>
          <a:noFill/>
          <a:ln/>
        </p:spPr>
        <p:txBody>
          <a:bodyPr wrap="square" lIns="0" tIns="0" rIns="0" bIns="0" rtlCol="0" anchor="ctr"/>
          <a:lstStyle/>
          <a:p>
            <a:pPr indent="0" marL="0">
              <a:lnSpc>
                <a:spcPts val="1800"/>
              </a:lnSpc>
              <a:buNone/>
            </a:pPr>
            <a:r>
              <a:rPr lang="en-US" sz="1400" b="1" dirty="0">
                <a:solidFill>
                  <a:srgbClr val="FFFFFF"/>
                </a:solidFill>
                <a:latin typeface="Calibri" pitchFamily="34" charset="0"/>
                <a:ea typeface="Calibri" pitchFamily="34" charset="-122"/>
                <a:cs typeface="Calibri" pitchFamily="34" charset="-120"/>
              </a:rPr>
              <a:t>Bio-polymer stiffness, oven-free</a:t>
            </a:r>
            <a:endParaRPr lang="en-US" sz="1400" dirty="0"/>
          </a:p>
        </p:txBody>
      </p:sp>
      <p:sp>
        <p:nvSpPr>
          <p:cNvPr id="17" name="Text 15"/>
          <p:cNvSpPr txBox="1"/>
          <p:nvPr/>
        </p:nvSpPr>
        <p:spPr>
          <a:xfrm>
            <a:off x="5486400" y="4123944"/>
            <a:ext cx="5943600" cy="731520"/>
          </a:xfrm>
          <a:prstGeom prst="rect">
            <a:avLst/>
          </a:prstGeom>
          <a:noFill/>
          <a:ln/>
        </p:spPr>
        <p:txBody>
          <a:bodyPr wrap="square" lIns="0" tIns="0" rIns="0" bIns="0" rtlCol="0" anchor="ctr"/>
          <a:lstStyle/>
          <a:p>
            <a:pPr indent="0" marL="0">
              <a:lnSpc>
                <a:spcPts val="1500"/>
              </a:lnSpc>
              <a:buNone/>
            </a:pPr>
            <a:r>
              <a:rPr lang="en-US" sz="1100" dirty="0">
                <a:solidFill>
                  <a:srgbClr val="9E9E9E"/>
                </a:solidFill>
                <a:latin typeface="Calibri" pitchFamily="34" charset="0"/>
                <a:ea typeface="Calibri" pitchFamily="34" charset="-122"/>
                <a:cs typeface="Calibri" pitchFamily="34" charset="-120"/>
              </a:rPr>
              <a:t>Water-cast and ambient-dried, inside the melt-processed bio-polymer band</a:t>
            </a:r>
            <a:endParaRPr lang="en-US" sz="1100" dirty="0"/>
          </a:p>
        </p:txBody>
      </p:sp>
      <p:sp>
        <p:nvSpPr>
          <p:cNvPr id="18" name="ru0.85.39"/>
          <p:cNvSpPr/>
          <p:nvPr/>
        </p:nvSpPr>
        <p:spPr>
          <a:xfrm>
            <a:off x="731520" y="4928616"/>
            <a:ext cx="10698480" cy="9144"/>
          </a:xfrm>
          <a:prstGeom prst="rect">
            <a:avLst/>
          </a:prstGeom>
          <a:solidFill>
            <a:srgbClr val="5A5A5A"/>
          </a:solidFill>
          <a:ln w="12700">
            <a:solidFill>
              <a:srgbClr val="5A5A5A">
                <a:alpha val="0"/>
              </a:srgbClr>
            </a:solidFill>
            <a:prstDash val="solid"/>
          </a:ln>
        </p:spPr>
      </p:sp>
      <p:sp>
        <p:nvSpPr>
          <p:cNvPr id="19" name="Text 17"/>
          <p:cNvSpPr txBox="1"/>
          <p:nvPr/>
        </p:nvSpPr>
        <p:spPr>
          <a:xfrm>
            <a:off x="731520" y="5056632"/>
            <a:ext cx="50292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05</a:t>
            </a:r>
            <a:endParaRPr lang="en-US" sz="1200" dirty="0"/>
          </a:p>
        </p:txBody>
      </p:sp>
      <p:sp>
        <p:nvSpPr>
          <p:cNvPr id="20" name="Text 18"/>
          <p:cNvSpPr txBox="1"/>
          <p:nvPr/>
        </p:nvSpPr>
        <p:spPr>
          <a:xfrm>
            <a:off x="1325880" y="5056632"/>
            <a:ext cx="3931920" cy="640080"/>
          </a:xfrm>
          <a:prstGeom prst="rect">
            <a:avLst/>
          </a:prstGeom>
          <a:noFill/>
          <a:ln/>
        </p:spPr>
        <p:txBody>
          <a:bodyPr wrap="square" lIns="0" tIns="0" rIns="0" bIns="0" rtlCol="0" anchor="ctr"/>
          <a:lstStyle/>
          <a:p>
            <a:pPr indent="0" marL="0">
              <a:lnSpc>
                <a:spcPts val="1800"/>
              </a:lnSpc>
              <a:buNone/>
            </a:pPr>
            <a:r>
              <a:rPr lang="en-US" sz="1400" b="1" dirty="0">
                <a:solidFill>
                  <a:srgbClr val="FFFFFF"/>
                </a:solidFill>
                <a:latin typeface="Calibri" pitchFamily="34" charset="0"/>
                <a:ea typeface="Calibri" pitchFamily="34" charset="-122"/>
                <a:cs typeface="Calibri" pitchFamily="34" charset="-120"/>
              </a:rPr>
              <a:t>Strength is not the only criterion</a:t>
            </a:r>
            <a:endParaRPr lang="en-US" sz="1400" dirty="0"/>
          </a:p>
        </p:txBody>
      </p:sp>
      <p:sp>
        <p:nvSpPr>
          <p:cNvPr id="21" name="Text 19"/>
          <p:cNvSpPr txBox="1"/>
          <p:nvPr/>
        </p:nvSpPr>
        <p:spPr>
          <a:xfrm>
            <a:off x="5486400" y="5056632"/>
            <a:ext cx="5943600" cy="731520"/>
          </a:xfrm>
          <a:prstGeom prst="rect">
            <a:avLst/>
          </a:prstGeom>
          <a:noFill/>
          <a:ln/>
        </p:spPr>
        <p:txBody>
          <a:bodyPr wrap="square" lIns="0" tIns="0" rIns="0" bIns="0" rtlCol="0" anchor="ctr"/>
          <a:lstStyle/>
          <a:p>
            <a:pPr indent="0" marL="0">
              <a:lnSpc>
                <a:spcPts val="1500"/>
              </a:lnSpc>
              <a:buNone/>
            </a:pPr>
            <a:r>
              <a:rPr lang="en-US" sz="1100" dirty="0">
                <a:solidFill>
                  <a:srgbClr val="9E9E9E"/>
                </a:solidFill>
                <a:latin typeface="Calibri" pitchFamily="34" charset="0"/>
                <a:ea typeface="Calibri" pitchFamily="34" charset="-122"/>
                <a:cs typeface="Calibri" pitchFamily="34" charset="-120"/>
              </a:rPr>
              <a:t>Deformation capacity governs service behaviour; report σ and E together</a:t>
            </a:r>
            <a:endParaRPr lang="en-US" sz="1100" dirty="0"/>
          </a:p>
        </p:txBody>
      </p:sp>
      <p:sp>
        <p:nvSpPr>
          <p:cNvPr id="22" name="Text 20"/>
          <p:cNvSpPr txBox="1"/>
          <p:nvPr/>
        </p:nvSpPr>
        <p:spPr>
          <a:xfrm>
            <a:off x="731520" y="5897880"/>
            <a:ext cx="1069848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Betül Ünal   ·   b.unal91@gmail.com</a:t>
            </a:r>
            <a:endParaRPr lang="en-US" sz="1200" dirty="0"/>
          </a:p>
        </p:txBody>
      </p:sp>
      <p:sp>
        <p:nvSpPr>
          <p:cNvPr id="23" name="Text 21"/>
          <p:cNvSpPr txBox="1"/>
          <p:nvPr/>
        </p:nvSpPr>
        <p:spPr>
          <a:xfrm>
            <a:off x="731520" y="6199632"/>
            <a:ext cx="10698480" cy="457200"/>
          </a:xfrm>
          <a:prstGeom prst="rect">
            <a:avLst/>
          </a:prstGeom>
          <a:noFill/>
          <a:ln/>
        </p:spPr>
        <p:txBody>
          <a:bodyPr wrap="square" lIns="0" tIns="0" rIns="0" bIns="0" rtlCol="0" anchor="t"/>
          <a:lstStyle/>
          <a:p>
            <a:pPr indent="0" marL="0">
              <a:lnSpc>
                <a:spcPts val="1250"/>
              </a:lnSpc>
              <a:buNone/>
            </a:pPr>
            <a:r>
              <a:rPr lang="en-US" sz="900" dirty="0">
                <a:solidFill>
                  <a:srgbClr val="8E8E8E"/>
                </a:solidFill>
                <a:latin typeface="Calibri" pitchFamily="34" charset="0"/>
                <a:ea typeface="Calibri" pitchFamily="34" charset="-122"/>
                <a:cs typeface="Calibri" pitchFamily="34" charset="-120"/>
              </a:rPr>
              <a:t>Testing: Advanced Construction Materials Research Laboratory, Hacettepe University, with thanks to Dr Hüseyin İlcan. Derived from the author's doctoral dissertation, Hacettepe University, 2025.</a:t>
            </a:r>
            <a:endParaRPr lang="en-US" sz="900" dirty="0"/>
          </a:p>
        </p:txBody>
      </p:sp>
      <p:sp>
        <p:nvSpPr>
          <p:cNvPr id="25"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References</a:t>
            </a:r>
            <a:endParaRPr lang="en-US" sz="2000" dirty="0"/>
          </a:p>
        </p:txBody>
      </p:sp>
      <p:sp>
        <p:nvSpPr>
          <p:cNvPr id="3" name="Text 1"/>
          <p:cNvSpPr txBox="1"/>
          <p:nvPr/>
        </p:nvSpPr>
        <p:spPr>
          <a:xfrm>
            <a:off x="731520" y="1417320"/>
            <a:ext cx="10698480" cy="219456"/>
          </a:xfrm>
          <a:prstGeom prst="rect">
            <a:avLst/>
          </a:prstGeom>
          <a:noFill/>
          <a:ln/>
        </p:spPr>
        <p:txBody>
          <a:bodyPr wrap="square" lIns="0" tIns="0" rIns="0" bIns="0" rtlCol="0" anchor="ctr"/>
          <a:lstStyle/>
          <a:p>
            <a:pPr indent="0" marL="0">
              <a:buNone/>
            </a:pPr>
            <a:r>
              <a:rPr lang="en-US" sz="850" b="1" spc="130" kern="0" dirty="0">
                <a:solidFill>
                  <a:srgbClr val="BDBDBD"/>
                </a:solidFill>
                <a:latin typeface="Calibri" pitchFamily="34" charset="0"/>
                <a:ea typeface="Calibri" pitchFamily="34" charset="-122"/>
                <a:cs typeface="Calibri" pitchFamily="34" charset="-120"/>
              </a:rPr>
              <a:t>REVIEWS AND STATE OF THE ART</a:t>
            </a:r>
            <a:endParaRPr lang="en-US" sz="850" dirty="0"/>
          </a:p>
        </p:txBody>
      </p:sp>
      <p:sp>
        <p:nvSpPr>
          <p:cNvPr id="4" name="Text 2"/>
          <p:cNvSpPr txBox="1"/>
          <p:nvPr/>
        </p:nvSpPr>
        <p:spPr>
          <a:xfrm>
            <a:off x="731520" y="1691640"/>
            <a:ext cx="10698480" cy="1097280"/>
          </a:xfrm>
          <a:prstGeom prst="rect">
            <a:avLst/>
          </a:prstGeom>
          <a:noFill/>
          <a:ln/>
        </p:spPr>
        <p:txBody>
          <a:bodyPr wrap="square" lIns="0" tIns="0" rIns="0" bIns="0" rtlCol="0" anchor="ctr"/>
          <a:lstStyle/>
          <a:p>
            <a:pPr marL="342900" indent="-342900">
              <a:lnSpc>
                <a:spcPts val="1400"/>
              </a:lnSpc>
              <a:spcAft>
                <a:spcPts val="300"/>
              </a:spcAft>
              <a:buSzPct val="100000"/>
              <a:buChar char="–"/>
            </a:pPr>
            <a:r>
              <a:rPr lang="en-US" sz="1000" dirty="0">
                <a:solidFill>
                  <a:srgbClr val="8C8C8C"/>
                </a:solidFill>
                <a:latin typeface="Calibri" pitchFamily="34" charset="0"/>
                <a:ea typeface="Calibri" pitchFamily="34" charset="-122"/>
                <a:cs typeface="Calibri" pitchFamily="34" charset="-120"/>
              </a:rPr>
              <a:t>Ngayakamo, B. &amp; Onwualu, A.P. (2022). Valorisation of eggshell waste for sustainable construction materials. Heliyon.</a:t>
            </a:r>
            <a:endParaRPr lang="en-US" sz="1000" dirty="0"/>
          </a:p>
          <a:p>
            <a:pPr marL="342900" indent="-342900">
              <a:lnSpc>
                <a:spcPts val="1400"/>
              </a:lnSpc>
              <a:spcAft>
                <a:spcPts val="300"/>
              </a:spcAft>
              <a:buSzPct val="100000"/>
              <a:buChar char="–"/>
            </a:pPr>
            <a:r>
              <a:rPr lang="en-US" sz="1000" dirty="0">
                <a:solidFill>
                  <a:srgbClr val="8C8C8C"/>
                </a:solidFill>
                <a:latin typeface="Calibri" pitchFamily="34" charset="0"/>
                <a:ea typeface="Calibri" pitchFamily="34" charset="-122"/>
                <a:cs typeface="Calibri" pitchFamily="34" charset="-120"/>
              </a:rPr>
              <a:t>Owuamanam, S. &amp; Cree, D. (2020). Progress of bio-calcium carbonate waste eggshell and seashell fillers in polymer composites. Journal of Composites Science, 4(2), 70.</a:t>
            </a:r>
            <a:endParaRPr lang="en-US" sz="1000" dirty="0"/>
          </a:p>
          <a:p>
            <a:pPr marL="342900" indent="-342900">
              <a:lnSpc>
                <a:spcPts val="1400"/>
              </a:lnSpc>
              <a:spcAft>
                <a:spcPts val="300"/>
              </a:spcAft>
              <a:buSzPct val="100000"/>
              <a:buChar char="–"/>
            </a:pPr>
            <a:r>
              <a:rPr lang="en-US" sz="1000" dirty="0">
                <a:solidFill>
                  <a:srgbClr val="8C8C8C"/>
                </a:solidFill>
                <a:latin typeface="Calibri" pitchFamily="34" charset="0"/>
                <a:ea typeface="Calibri" pitchFamily="34" charset="-122"/>
                <a:cs typeface="Calibri" pitchFamily="34" charset="-120"/>
              </a:rPr>
              <a:t>Biogenic calcium carbonate from waste shells for advanced material applications (2022). Frontiers in Materials, 9, 1024977.</a:t>
            </a:r>
            <a:endParaRPr lang="en-US" sz="1000" dirty="0"/>
          </a:p>
        </p:txBody>
      </p:sp>
      <p:sp>
        <p:nvSpPr>
          <p:cNvPr id="5" name="ru0.83.0700000000000003"/>
          <p:cNvSpPr/>
          <p:nvPr/>
        </p:nvSpPr>
        <p:spPr>
          <a:xfrm>
            <a:off x="731520" y="2807208"/>
            <a:ext cx="10698480" cy="9144"/>
          </a:xfrm>
          <a:prstGeom prst="rect">
            <a:avLst/>
          </a:prstGeom>
          <a:solidFill>
            <a:srgbClr val="E4E4E4"/>
          </a:solidFill>
          <a:ln w="12700">
            <a:solidFill>
              <a:srgbClr val="E4E4E4">
                <a:alpha val="0"/>
              </a:srgbClr>
            </a:solidFill>
            <a:prstDash val="solid"/>
          </a:ln>
        </p:spPr>
      </p:sp>
      <p:sp>
        <p:nvSpPr>
          <p:cNvPr id="6" name="Text 4"/>
          <p:cNvSpPr txBox="1"/>
          <p:nvPr/>
        </p:nvSpPr>
        <p:spPr>
          <a:xfrm>
            <a:off x="731520" y="2971800"/>
            <a:ext cx="10698480" cy="219456"/>
          </a:xfrm>
          <a:prstGeom prst="rect">
            <a:avLst/>
          </a:prstGeom>
          <a:noFill/>
          <a:ln/>
        </p:spPr>
        <p:txBody>
          <a:bodyPr wrap="square" lIns="0" tIns="0" rIns="0" bIns="0" rtlCol="0" anchor="ctr"/>
          <a:lstStyle/>
          <a:p>
            <a:pPr indent="0" marL="0">
              <a:buNone/>
            </a:pPr>
            <a:r>
              <a:rPr lang="en-US" sz="850" b="1" spc="130" kern="0" dirty="0">
                <a:solidFill>
                  <a:srgbClr val="BDBDBD"/>
                </a:solidFill>
                <a:latin typeface="Calibri" pitchFamily="34" charset="0"/>
                <a:ea typeface="Calibri" pitchFamily="34" charset="-122"/>
                <a:cs typeface="Calibri" pitchFamily="34" charset="-120"/>
              </a:rPr>
              <a:t>AGAR AND BIO-POLYMER SYSTEMS</a:t>
            </a:r>
            <a:endParaRPr lang="en-US" sz="850" dirty="0"/>
          </a:p>
        </p:txBody>
      </p:sp>
      <p:sp>
        <p:nvSpPr>
          <p:cNvPr id="7" name="Text 5"/>
          <p:cNvSpPr txBox="1"/>
          <p:nvPr/>
        </p:nvSpPr>
        <p:spPr>
          <a:xfrm>
            <a:off x="731520" y="3246120"/>
            <a:ext cx="10698480" cy="1097280"/>
          </a:xfrm>
          <a:prstGeom prst="rect">
            <a:avLst/>
          </a:prstGeom>
          <a:noFill/>
          <a:ln/>
        </p:spPr>
        <p:txBody>
          <a:bodyPr wrap="square" lIns="0" tIns="0" rIns="0" bIns="0" rtlCol="0" anchor="ctr"/>
          <a:lstStyle/>
          <a:p>
            <a:pPr marL="342900" indent="-342900">
              <a:lnSpc>
                <a:spcPts val="1400"/>
              </a:lnSpc>
              <a:spcAft>
                <a:spcPts val="300"/>
              </a:spcAft>
              <a:buSzPct val="100000"/>
              <a:buChar char="–"/>
            </a:pPr>
            <a:r>
              <a:rPr lang="en-US" sz="1000" dirty="0">
                <a:solidFill>
                  <a:srgbClr val="8C8C8C"/>
                </a:solidFill>
                <a:latin typeface="Calibri" pitchFamily="34" charset="0"/>
                <a:ea typeface="Calibri" pitchFamily="34" charset="-122"/>
                <a:cs typeface="Calibri" pitchFamily="34" charset="-120"/>
              </a:rPr>
              <a:t>Hernández, V. et al. (2022). Agar biopolymer films for biodegradable packaging: a reference dataset. Materials, 15(11), 3954.</a:t>
            </a:r>
            <a:endParaRPr lang="en-US" sz="1000" dirty="0"/>
          </a:p>
          <a:p>
            <a:pPr marL="342900" indent="-342900">
              <a:lnSpc>
                <a:spcPts val="1400"/>
              </a:lnSpc>
              <a:spcAft>
                <a:spcPts val="300"/>
              </a:spcAft>
              <a:buSzPct val="100000"/>
              <a:buChar char="–"/>
            </a:pPr>
            <a:r>
              <a:rPr lang="en-US" sz="1000" dirty="0">
                <a:solidFill>
                  <a:srgbClr val="8C8C8C"/>
                </a:solidFill>
                <a:latin typeface="Calibri" pitchFamily="34" charset="0"/>
                <a:ea typeface="Calibri" pitchFamily="34" charset="-122"/>
                <a:cs typeface="Calibri" pitchFamily="34" charset="-120"/>
              </a:rPr>
              <a:t>Materiom (2026). Open biomaterial recipe commons and property database. materiom.org/data.</a:t>
            </a:r>
            <a:endParaRPr lang="en-US" sz="1000" dirty="0"/>
          </a:p>
          <a:p>
            <a:pPr marL="342900" indent="-342900">
              <a:lnSpc>
                <a:spcPts val="1400"/>
              </a:lnSpc>
              <a:spcAft>
                <a:spcPts val="300"/>
              </a:spcAft>
              <a:buSzPct val="100000"/>
              <a:buChar char="–"/>
            </a:pPr>
            <a:r>
              <a:rPr lang="en-US" sz="1000" dirty="0">
                <a:solidFill>
                  <a:srgbClr val="8C8C8C"/>
                </a:solidFill>
                <a:latin typeface="Calibri" pitchFamily="34" charset="0"/>
                <a:ea typeface="Calibri" pitchFamily="34" charset="-122"/>
                <a:cs typeface="Calibri" pitchFamily="34" charset="-120"/>
              </a:rPr>
              <a:t>Mansour et al. (2021) · Faruk et al. (2012) · Zhao et al. (2022) — bio-polymer elastic moduli.</a:t>
            </a:r>
            <a:endParaRPr lang="en-US" sz="1000" dirty="0"/>
          </a:p>
        </p:txBody>
      </p:sp>
      <p:sp>
        <p:nvSpPr>
          <p:cNvPr id="8" name="ru0.84.77"/>
          <p:cNvSpPr/>
          <p:nvPr/>
        </p:nvSpPr>
        <p:spPr>
          <a:xfrm>
            <a:off x="731520" y="4361688"/>
            <a:ext cx="10698480" cy="9144"/>
          </a:xfrm>
          <a:prstGeom prst="rect">
            <a:avLst/>
          </a:prstGeom>
          <a:solidFill>
            <a:srgbClr val="E4E4E4"/>
          </a:solidFill>
          <a:ln w="12700">
            <a:solidFill>
              <a:srgbClr val="E4E4E4">
                <a:alpha val="0"/>
              </a:srgbClr>
            </a:solidFill>
            <a:prstDash val="solid"/>
          </a:ln>
        </p:spPr>
      </p:sp>
      <p:sp>
        <p:nvSpPr>
          <p:cNvPr id="9" name="Text 7"/>
          <p:cNvSpPr txBox="1"/>
          <p:nvPr/>
        </p:nvSpPr>
        <p:spPr>
          <a:xfrm>
            <a:off x="731520" y="4526280"/>
            <a:ext cx="10698480" cy="219456"/>
          </a:xfrm>
          <a:prstGeom prst="rect">
            <a:avLst/>
          </a:prstGeom>
          <a:noFill/>
          <a:ln/>
        </p:spPr>
        <p:txBody>
          <a:bodyPr wrap="square" lIns="0" tIns="0" rIns="0" bIns="0" rtlCol="0" anchor="ctr"/>
          <a:lstStyle/>
          <a:p>
            <a:pPr indent="0" marL="0">
              <a:buNone/>
            </a:pPr>
            <a:r>
              <a:rPr lang="en-US" sz="850" b="1" spc="130" kern="0" dirty="0">
                <a:solidFill>
                  <a:srgbClr val="BDBDBD"/>
                </a:solidFill>
                <a:latin typeface="Calibri" pitchFamily="34" charset="0"/>
                <a:ea typeface="Calibri" pitchFamily="34" charset="-122"/>
                <a:cs typeface="Calibri" pitchFamily="34" charset="-120"/>
              </a:rPr>
              <a:t>COMPARATIVE MATERIAL DATA</a:t>
            </a:r>
            <a:endParaRPr lang="en-US" sz="850" dirty="0"/>
          </a:p>
        </p:txBody>
      </p:sp>
      <p:sp>
        <p:nvSpPr>
          <p:cNvPr id="10" name="Text 8"/>
          <p:cNvSpPr txBox="1"/>
          <p:nvPr/>
        </p:nvSpPr>
        <p:spPr>
          <a:xfrm>
            <a:off x="731520" y="4800600"/>
            <a:ext cx="10698480" cy="1097280"/>
          </a:xfrm>
          <a:prstGeom prst="rect">
            <a:avLst/>
          </a:prstGeom>
          <a:noFill/>
          <a:ln/>
        </p:spPr>
        <p:txBody>
          <a:bodyPr wrap="square" lIns="0" tIns="0" rIns="0" bIns="0" rtlCol="0" anchor="ctr"/>
          <a:lstStyle/>
          <a:p>
            <a:pPr marL="342900" indent="-342900">
              <a:lnSpc>
                <a:spcPts val="1400"/>
              </a:lnSpc>
              <a:spcAft>
                <a:spcPts val="300"/>
              </a:spcAft>
              <a:buSzPct val="100000"/>
              <a:buChar char="–"/>
            </a:pPr>
            <a:r>
              <a:rPr lang="en-US" sz="1000" dirty="0">
                <a:solidFill>
                  <a:srgbClr val="8C8C8C"/>
                </a:solidFill>
                <a:latin typeface="Calibri" pitchFamily="34" charset="0"/>
                <a:ea typeface="Calibri" pitchFamily="34" charset="-122"/>
                <a:cs typeface="Calibri" pitchFamily="34" charset="-120"/>
              </a:rPr>
              <a:t>Jones, M. et al. (2020) · Islam et al. (2018) — mycelium composites. Arnaud &amp; Gourlay (2012) — hempcrete.</a:t>
            </a:r>
            <a:endParaRPr lang="en-US" sz="1000" dirty="0"/>
          </a:p>
          <a:p>
            <a:pPr marL="342900" indent="-342900">
              <a:lnSpc>
                <a:spcPts val="1400"/>
              </a:lnSpc>
              <a:spcAft>
                <a:spcPts val="300"/>
              </a:spcAft>
              <a:buSzPct val="100000"/>
              <a:buChar char="–"/>
            </a:pPr>
            <a:r>
              <a:rPr lang="en-US" sz="1000" dirty="0">
                <a:solidFill>
                  <a:srgbClr val="8C8C8C"/>
                </a:solidFill>
                <a:latin typeface="Calibri" pitchFamily="34" charset="0"/>
                <a:ea typeface="Calibri" pitchFamily="34" charset="-122"/>
                <a:cs typeface="Calibri" pitchFamily="34" charset="-120"/>
              </a:rPr>
              <a:t>Kim &amp; Pal (2010) — eggshell-filled PLA. Shah et al. (2016) — mineral-filled biocomposites.</a:t>
            </a:r>
            <a:endParaRPr lang="en-US" sz="1000" dirty="0"/>
          </a:p>
          <a:p>
            <a:pPr marL="342900" indent="-342900">
              <a:lnSpc>
                <a:spcPts val="1400"/>
              </a:lnSpc>
              <a:spcAft>
                <a:spcPts val="300"/>
              </a:spcAft>
              <a:buSzPct val="100000"/>
              <a:buChar char="–"/>
            </a:pPr>
            <a:r>
              <a:rPr lang="en-US" sz="1000" dirty="0">
                <a:solidFill>
                  <a:srgbClr val="8C8C8C"/>
                </a:solidFill>
                <a:latin typeface="Calibri" pitchFamily="34" charset="0"/>
                <a:ea typeface="Calibri" pitchFamily="34" charset="-122"/>
                <a:cs typeface="Calibri" pitchFamily="34" charset="-120"/>
              </a:rPr>
              <a:t>Nemli &amp; Aydın (2007) — MDF. Altun (2006) — travertine. Klyosov (2007) — WPC. Velasco &amp; Gaona (2011) — mushroom panel.</a:t>
            </a:r>
            <a:endParaRPr lang="en-US" sz="1000" dirty="0"/>
          </a:p>
        </p:txBody>
      </p:sp>
      <p:sp>
        <p:nvSpPr>
          <p:cNvPr id="11" name="ru0.86.470000000000001"/>
          <p:cNvSpPr/>
          <p:nvPr/>
        </p:nvSpPr>
        <p:spPr>
          <a:xfrm>
            <a:off x="731520" y="5916168"/>
            <a:ext cx="10698480" cy="9144"/>
          </a:xfrm>
          <a:prstGeom prst="rect">
            <a:avLst/>
          </a:prstGeom>
          <a:solidFill>
            <a:srgbClr val="E4E4E4"/>
          </a:solidFill>
          <a:ln w="12700">
            <a:solidFill>
              <a:srgbClr val="E4E4E4">
                <a:alpha val="0"/>
              </a:srgbClr>
            </a:solidFill>
            <a:prstDash val="solid"/>
          </a:ln>
        </p:spPr>
      </p:sp>
      <p:sp>
        <p:nvSpPr>
          <p:cNvPr id="12" name="Text 10"/>
          <p:cNvSpPr txBox="1"/>
          <p:nvPr/>
        </p:nvSpPr>
        <p:spPr>
          <a:xfrm>
            <a:off x="731520" y="6080760"/>
            <a:ext cx="1069848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Standards: ASTM D790-17 · ISO 11925-2:2020 · ASTM D570-98(2018).</a:t>
            </a:r>
            <a:endParaRPr lang="en-US" sz="900" dirty="0"/>
          </a:p>
        </p:txBody>
      </p:sp>
      <p:sp>
        <p:nvSpPr>
          <p:cNvPr id="14"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theme/theme1.xml><?xml version="1.0" encoding="utf-8"?>
<a:theme xmlns:a="http://schemas.openxmlformats.org/drawingml/2006/main" name="Eggshell Mono">
  <a:themeElements>
    <a:clrScheme name="Eggshell Mono">
      <a:dk1>
        <a:srgbClr val="141414"/>
      </a:dk1>
      <a:lt1>
        <a:srgbClr val="FFFFFF"/>
      </a:lt1>
      <a:dk2>
        <a:srgbClr val="141414"/>
      </a:dk2>
      <a:lt2>
        <a:srgbClr val="F7F6F4"/>
      </a:lt2>
      <a:accent1>
        <a:srgbClr val="B4513A"/>
      </a:accent1>
      <a:accent2>
        <a:srgbClr val="8C8C8C"/>
      </a:accent2>
      <a:accent3>
        <a:srgbClr val="3C3C3C"/>
      </a:accent3>
      <a:accent4>
        <a:srgbClr val="141414"/>
      </a:accent4>
      <a:accent5>
        <a:srgbClr val="E4E4E4"/>
      </a:accent5>
      <a:accent6>
        <a:srgbClr val="8C8C8C"/>
      </a:accent6>
      <a:hlink>
        <a:srgbClr val="B4513A"/>
      </a:hlink>
      <a:folHlink>
        <a:srgbClr val="8C8C8C"/>
      </a:folHlink>
    </a:clrScheme>
    <a:fontScheme name="Eggshell Mono">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Eggshell-Agar Biocomposites for Sustainable Interior Applications</dc:title>
  <dc:subject>PptxGenJS Presentation</dc:subject>
  <dc:creator>Betul Unal</dc:creator>
  <cp:lastModifiedBy>Betul Unal</cp:lastModifiedBy>
  <cp:revision>1</cp:revision>
  <dcterms:created xsi:type="dcterms:W3CDTF">2026-10-25T07:03:58Z</dcterms:created>
  <dcterms:modified xsi:type="dcterms:W3CDTF">2026-10-25T07:03:58Z</dcterms:modified>
</cp:coreProperties>
</file>