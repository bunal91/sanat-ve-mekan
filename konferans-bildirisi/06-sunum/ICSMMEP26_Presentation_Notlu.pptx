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5.jpg" ContentType="image/jpg"/>
  <Override PartName="/ppt/media/image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3E3B2C3-779C-41BB-F9C8-625E07B71D16}">
          <p14:sldIdLst>
            <p14:sldId id="256"/>
          </p14:sldIdLst>
        </p14:section>
        <p14:section name="Introduction" id="{3299AA7F-E63E-26A5-0D66-53E0EEEA235D}">
          <p14:sldIdLst>
            <p14:sldId id="257"/>
            <p14:sldId id="258"/>
            <p14:sldId id="259"/>
          </p14:sldIdLst>
        </p14:section>
        <p14:section name="Framework" id="{A8621A09-BD2C-8CE0-392C-55607839CBF7}">
          <p14:sldIdLst>
            <p14:sldId id="260"/>
            <p14:sldId id="261"/>
            <p14:sldId id="262"/>
            <p14:sldId id="263"/>
            <p14:sldId id="264"/>
          </p14:sldIdLst>
        </p14:section>
        <p14:section name="Protocol" id="{18847EC7-A132-8810-B865-F68FA0A05008}">
          <p14:sldIdLst>
            <p14:sldId id="265"/>
            <p14:sldId id="266"/>
            <p14:sldId id="267"/>
            <p14:sldId id="268"/>
          </p14:sldIdLst>
        </p14:section>
        <p14:section name="Results" id="{9E69A1A5-5F58-5588-7D48-7A66DC7E49C6}">
          <p14:sldIdLst>
            <p14:sldId id="269"/>
            <p14:sldId id="270"/>
            <p14:sldId id="271"/>
            <p14:sldId id="272"/>
            <p14:sldId id="273"/>
            <p14:sldId id="274"/>
          </p14:sldIdLst>
        </p14:section>
        <p14:section name="Benchmark" id="{7612A3FF-9D15-D7AB-8EDD-07A924D9AF31}">
          <p14:sldIdLst>
            <p14:sldId id="275"/>
            <p14:sldId id="276"/>
            <p14:sldId id="277"/>
          </p14:sldIdLst>
        </p14:section>
        <p14:section name="Application" id="{6C2C4233-59D3-52DD-7013-4544B88D143A}">
          <p14:sldIdLst>
            <p14:sldId id="278"/>
          </p14:sldIdLst>
        </p14:section>
        <p14:section name="Closing" id="{6FB1CFA8-10B0-3246-1877-FFD9FC52C2C7}">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7"/>
    <p:restoredTop sz="94610"/>
  </p:normalViewPr>
  <p:slideViewPr>
    <p:cSldViewPr snapToGrid="0" snapToObjects="1">
      <p:cViewPr varScale="1">
        <p:scale>
          <a:sx n="107" d="100"/>
          <a:sy n="107" d="100"/>
        </p:scale>
        <p:origin x="52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al__ma_Sayfas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al__ma_Sayfas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c:style val="2"/>
  <c:chart>
    <c:autoTitleDeleted val="1"/>
    <c:plotArea>
      <c:layout/>
      <c:barChart>
        <c:barDir val="col"/>
        <c:grouping val="clustered"/>
        <c:varyColors val="0"/>
        <c:ser>
          <c:idx val="0"/>
          <c:order val="0"/>
          <c:tx>
            <c:strRef>
              <c:f>Sheet1!$B$1</c:f>
              <c:strCache>
                <c:ptCount val="1"/>
                <c:pt idx="0">
                  <c:v>σ</c:v>
                </c:pt>
              </c:strCache>
            </c:strRef>
          </c:tx>
          <c:spPr>
            <a:solidFill>
              <a:srgbClr val="141414"/>
            </a:solidFill>
            <a:effectLst/>
          </c:spPr>
          <c:invertIfNegative val="0"/>
          <c:dLbls>
            <c:numFmt formatCode="0.00" sourceLinked="0"/>
            <c:spPr>
              <a:noFill/>
              <a:ln>
                <a:noFill/>
              </a:ln>
              <a:effectLst/>
            </c:spPr>
            <c:txPr>
              <a:bodyPr/>
              <a:lstStyle/>
              <a:p>
                <a:pPr>
                  <a:defRPr sz="1200" b="0" i="0" u="none" strike="noStrike">
                    <a:solidFill>
                      <a:srgbClr val="141414"/>
                    </a:solidFill>
                    <a:latin typeface="+mn-lt"/>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C1  0.37</c:v>
                </c:pt>
                <c:pt idx="1">
                  <c:v>C2  0.44</c:v>
                </c:pt>
                <c:pt idx="2">
                  <c:v>C3  0.59</c:v>
                </c:pt>
              </c:strCache>
            </c:strRef>
          </c:cat>
          <c:val>
            <c:numRef>
              <c:f>Sheet1!$B$2:$B$4</c:f>
              <c:numCache>
                <c:formatCode>General</c:formatCode>
                <c:ptCount val="3"/>
                <c:pt idx="0">
                  <c:v>2.5499999999999998</c:v>
                </c:pt>
                <c:pt idx="1">
                  <c:v>3.12</c:v>
                </c:pt>
                <c:pt idx="2">
                  <c:v>4.0999999999999996</c:v>
                </c:pt>
              </c:numCache>
            </c:numRef>
          </c:val>
          <c:extLst>
            <c:ext xmlns:c16="http://schemas.microsoft.com/office/drawing/2014/chart" uri="{C3380CC4-5D6E-409C-BE32-E72D297353CC}">
              <c16:uniqueId val="{00000000-BB57-5F43-9BEB-567FA2719B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C8C8C"/>
                </a:solidFill>
                <a:latin typeface="+mn-lt"/>
              </a:defRPr>
            </a:pPr>
            <a:endParaRPr lang="en-US"/>
          </a:p>
        </c:txPr>
        <c:crossAx val="2094734552"/>
        <c:crosses val="autoZero"/>
        <c:auto val="1"/>
        <c:lblAlgn val="ctr"/>
        <c:lblOffset val="100"/>
        <c:noMultiLvlLbl val="1"/>
      </c:catAx>
      <c:valAx>
        <c:axId val="2094734552"/>
        <c:scaling>
          <c:orientation val="minMax"/>
          <c:max val="5"/>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lang="tr-TR" sz="1050" b="0" i="0" u="none" strike="noStrike">
                    <a:solidFill>
                      <a:srgbClr val="8C8C8C"/>
                    </a:solidFill>
                    <a:latin typeface="+mn-lt"/>
                  </a:rPr>
                  <a:t>Compressive stress (MPa)</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c:style val="2"/>
  <c:chart>
    <c:autoTitleDeleted val="1"/>
    <c:plotArea>
      <c:layout/>
      <c:barChart>
        <c:barDir val="col"/>
        <c:grouping val="clustered"/>
        <c:varyColors val="0"/>
        <c:ser>
          <c:idx val="0"/>
          <c:order val="0"/>
          <c:tx>
            <c:strRef>
              <c:f>Sheet1!$B$1</c:f>
              <c:strCache>
                <c:ptCount val="1"/>
                <c:pt idx="0">
                  <c:v>Compressive</c:v>
                </c:pt>
              </c:strCache>
            </c:strRef>
          </c:tx>
          <c:spPr>
            <a:solidFill>
              <a:srgbClr val="141414"/>
            </a:solidFill>
            <a:effectLst/>
          </c:spPr>
          <c:invertIfNegative val="0"/>
          <c:dLbls>
            <c:numFmt formatCode="0.0" sourceLinked="0"/>
            <c:spPr>
              <a:noFill/>
              <a:ln>
                <a:noFill/>
              </a:ln>
              <a:effectLst/>
            </c:spPr>
            <c:txPr>
              <a:bodyPr/>
              <a:lstStyle/>
              <a:p>
                <a:pPr>
                  <a:defRPr sz="1000" b="0" i="0" u="none" strike="noStrike">
                    <a:solidFill>
                      <a:srgbClr val="3C3C3C"/>
                    </a:solidFill>
                    <a:latin typeface="+mn-lt"/>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Compressed
mushroom panel</c:v>
                </c:pt>
                <c:pt idx="1">
                  <c:v>This study
(C3)</c:v>
                </c:pt>
                <c:pt idx="2">
                  <c:v>WPC</c:v>
                </c:pt>
                <c:pt idx="3">
                  <c:v>MDF</c:v>
                </c:pt>
                <c:pt idx="4">
                  <c:v>Travertine</c:v>
                </c:pt>
              </c:strCache>
            </c:strRef>
          </c:cat>
          <c:val>
            <c:numRef>
              <c:f>Sheet1!$B$2:$B$6</c:f>
              <c:numCache>
                <c:formatCode>General</c:formatCode>
                <c:ptCount val="5"/>
                <c:pt idx="0">
                  <c:v>1.2</c:v>
                </c:pt>
                <c:pt idx="1">
                  <c:v>4.0999999999999996</c:v>
                </c:pt>
                <c:pt idx="2">
                  <c:v>7.2</c:v>
                </c:pt>
                <c:pt idx="3">
                  <c:v>24</c:v>
                </c:pt>
                <c:pt idx="4">
                  <c:v>80</c:v>
                </c:pt>
              </c:numCache>
            </c:numRef>
          </c:val>
          <c:extLst>
            <c:ext xmlns:c16="http://schemas.microsoft.com/office/drawing/2014/chart" uri="{C3380CC4-5D6E-409C-BE32-E72D297353CC}">
              <c16:uniqueId val="{00000000-8A2A-A548-A9E3-A53A6E590789}"/>
            </c:ext>
          </c:extLst>
        </c:ser>
        <c:ser>
          <c:idx val="1"/>
          <c:order val="1"/>
          <c:tx>
            <c:strRef>
              <c:f>Sheet1!$C$1</c:f>
              <c:strCache>
                <c:ptCount val="1"/>
                <c:pt idx="0">
                  <c:v>Flexural</c:v>
                </c:pt>
              </c:strCache>
            </c:strRef>
          </c:tx>
          <c:spPr>
            <a:solidFill>
              <a:srgbClr val="BDBDBD"/>
            </a:solidFill>
            <a:effectLst/>
          </c:spPr>
          <c:invertIfNegative val="0"/>
          <c:dLbls>
            <c:numFmt formatCode="0.0" sourceLinked="0"/>
            <c:spPr>
              <a:noFill/>
              <a:ln>
                <a:noFill/>
              </a:ln>
              <a:effectLst/>
            </c:spPr>
            <c:txPr>
              <a:bodyPr/>
              <a:lstStyle/>
              <a:p>
                <a:pPr>
                  <a:defRPr sz="1000" b="0" i="0" u="none" strike="noStrike">
                    <a:solidFill>
                      <a:srgbClr val="3C3C3C"/>
                    </a:solidFill>
                    <a:latin typeface="+mn-lt"/>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Compressed
mushroom panel</c:v>
                </c:pt>
                <c:pt idx="1">
                  <c:v>This study
(C3)</c:v>
                </c:pt>
                <c:pt idx="2">
                  <c:v>WPC</c:v>
                </c:pt>
                <c:pt idx="3">
                  <c:v>MDF</c:v>
                </c:pt>
                <c:pt idx="4">
                  <c:v>Travertine</c:v>
                </c:pt>
              </c:strCache>
            </c:strRef>
          </c:cat>
          <c:val>
            <c:numRef>
              <c:f>Sheet1!$C$2:$C$6</c:f>
              <c:numCache>
                <c:formatCode>General</c:formatCode>
                <c:ptCount val="5"/>
                <c:pt idx="0">
                  <c:v>1</c:v>
                </c:pt>
                <c:pt idx="1">
                  <c:v>2.2999999999999998</c:v>
                </c:pt>
                <c:pt idx="2">
                  <c:v>12</c:v>
                </c:pt>
                <c:pt idx="3">
                  <c:v>35</c:v>
                </c:pt>
                <c:pt idx="4">
                  <c:v>11</c:v>
                </c:pt>
              </c:numCache>
            </c:numRef>
          </c:val>
          <c:extLst>
            <c:ext xmlns:c16="http://schemas.microsoft.com/office/drawing/2014/chart" uri="{C3380CC4-5D6E-409C-BE32-E72D297353CC}">
              <c16:uniqueId val="{00000001-8A2A-A548-A9E3-A53A6E5907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lang="tr-TR" sz="1050" b="0" i="0" u="none" strike="noStrike">
                    <a:solidFill>
                      <a:srgbClr val="8C8C8C"/>
                    </a:solidFill>
                    <a:latin typeface="+mn-lt"/>
                  </a:rPr>
                  <a:t>Strength (MPa)</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8C8C8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37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 · COVER — 0:15</a:t>
            </a:r>
          </a:p>
          <a:p>
            <a:pPr>
              <a:spcAft>
                <a:spcPts val="900"/>
              </a:spcAft>
            </a:pPr>
            <a:r>
              <a:rPr b="0" i="0" sz="1600">
                <a:latin typeface="Calibri"/>
              </a:rPr>
              <a:t>Good morning. I am Betül Ünal, from Department of Interior Architecture, Cappadocia University. The panel in the photograph is the subject of this paper: a composite of waste eggshell bound in agar.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 · BACKGROUND — 0:30</a:t>
            </a:r>
          </a:p>
          <a:p>
            <a:pPr>
              <a:spcAft>
                <a:spcPts val="900"/>
              </a:spcAft>
            </a:pPr>
            <a:r>
              <a:rPr b="0" i="0" sz="1600">
                <a:latin typeface="Calibri"/>
              </a:rPr>
              <a:t>Eggshell is produced continuously as a by-product of food processing, and almost all of it goes to landfill. Chemically it is very close to pure calcium carbonate, and its specific gravity is lower than that of most mineral fillers used in construction.</a:t>
            </a:r>
          </a:p>
          <a:p>
            <a:pPr>
              <a:spcAft>
                <a:spcPts val="900"/>
              </a:spcAft>
            </a:pPr>
            <a:r>
              <a:rPr b="0" i="1" sz="1600">
                <a:latin typeface="Calibri"/>
              </a:rPr>
              <a:t>[Sağdaki şemaya işaret et]</a:t>
            </a:r>
          </a:p>
          <a:p>
            <a:pPr>
              <a:spcAft>
                <a:spcPts val="900"/>
              </a:spcAft>
            </a:pPr>
            <a:r>
              <a:rPr b="0" i="0" sz="1600">
                <a:latin typeface="Calibri"/>
              </a:rPr>
              <a:t>It therefore has two possible routes: landfill, or use as a secondary mineral resource. </a:t>
            </a:r>
            <a:r>
              <a:rPr b="1" i="0" sz="1600">
                <a:latin typeface="Calibri"/>
              </a:rPr>
              <a:t>The case for eggshell as a mineral phase is settled.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3 · PRIOR APPLICATIONS — 0:30</a:t>
            </a:r>
          </a:p>
          <a:p>
            <a:pPr>
              <a:spcAft>
                <a:spcPts val="900"/>
              </a:spcAft>
            </a:pPr>
            <a:r>
              <a:rPr b="0" i="0" sz="1600">
                <a:latin typeface="Calibri"/>
              </a:rPr>
              <a:t>This table is the literature the study departs from. Eggshell has already been used in concrete, in brick and clay stabilisation, in asphalt, in ceramic tile, in PVC and polyurethane foam, and even in bone scaffolds.</a:t>
            </a:r>
          </a:p>
          <a:p>
            <a:pPr>
              <a:spcAft>
                <a:spcPts val="900"/>
              </a:spcAft>
            </a:pPr>
            <a:r>
              <a:rPr b="0" i="1" sz="1600">
                <a:latin typeface="Calibri"/>
              </a:rPr>
              <a:t>[Elini orta sütuna götür, aşağı indir]</a:t>
            </a:r>
          </a:p>
          <a:p>
            <a:pPr>
              <a:spcAft>
                <a:spcPts val="900"/>
              </a:spcAft>
            </a:pPr>
            <a:r>
              <a:rPr b="0" i="0" sz="1600">
                <a:latin typeface="Calibri"/>
              </a:rPr>
              <a:t>Reading down the middle column, the pattern is consistent. In every case the mineral is recovered from waste, but the binding phase remains cementitious, ceramic or petrochemical. </a:t>
            </a:r>
            <a:r>
              <a:rPr b="1" i="0" sz="1600">
                <a:latin typeface="Calibri"/>
              </a:rPr>
              <a:t>The burden is carried by the binder, and the binder is left untouched.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4 · RESEARCH GAP — 0:35</a:t>
            </a:r>
          </a:p>
          <a:p>
            <a:pPr>
              <a:spcAft>
                <a:spcPts val="900"/>
              </a:spcAft>
            </a:pPr>
            <a:r>
              <a:rPr b="0" i="0" sz="1600">
                <a:latin typeface="Calibri"/>
              </a:rPr>
              <a:t>Three gaps follow. The first is that the binding phase is never biological. The second concerns agar, which has been characterised only as an unfilled film in tension, and </a:t>
            </a:r>
            <a:r>
              <a:rPr b="1" i="0" sz="1600">
                <a:latin typeface="Calibri"/>
              </a:rPr>
              <a:t>never as the binder of a mineral-filled solid in bending.</a:t>
            </a:r>
            <a:r>
              <a:rPr b="0" i="0" sz="1600">
                <a:latin typeface="Calibri"/>
              </a:rPr>
              <a:t> The third is that </a:t>
            </a:r>
            <a:r>
              <a:rPr b="1" i="0" sz="1600">
                <a:latin typeface="Calibri"/>
              </a:rPr>
              <a:t>property data is scattered across separate studies on separate formulations.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5 · AIM — 0:20</a:t>
            </a:r>
          </a:p>
          <a:p>
            <a:pPr>
              <a:spcAft>
                <a:spcPts val="900"/>
              </a:spcAft>
            </a:pPr>
            <a:r>
              <a:rPr b="0" i="0" sz="1600">
                <a:latin typeface="Calibri"/>
              </a:rPr>
              <a:t>The aim is </a:t>
            </a:r>
            <a:r>
              <a:rPr b="1" i="0" sz="1600">
                <a:latin typeface="Calibri"/>
              </a:rPr>
              <a:t>to document a reproducible production protocol for a fully bio-based eggshell–agar composite, and to characterise it against published test standards.</a:t>
            </a:r>
            <a:r>
              <a:rPr b="0" i="0" sz="1600">
                <a:latin typeface="Calibri"/>
              </a:rPr>
              <a:t> Four objectives follow, and </a:t>
            </a:r>
            <a:r>
              <a:rPr b="1" i="0" sz="1600">
                <a:latin typeface="Calibri"/>
              </a:rPr>
              <a:t>the fourth objective is the one the paper will discuss.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6 · SCOPE — 0:15</a:t>
            </a:r>
          </a:p>
          <a:p>
            <a:pPr>
              <a:spcAft>
                <a:spcPts val="900"/>
              </a:spcAft>
            </a:pPr>
            <a:r>
              <a:rPr b="0" i="0" sz="1600">
                <a:latin typeface="Calibri"/>
              </a:rPr>
              <a:t>Five formulations were produced, with three specimens each for the mechanical tests, and three published standards were applied. The whole series was cured at ambient conditions in a single laboratory, and the application envelope throughout is non-loadbearing interior surfaces.</a:t>
            </a:r>
          </a:p>
          <a:p>
            <a:pPr>
              <a:spcAft>
                <a:spcPts val="900"/>
              </a:spcAft>
            </a:pPr>
            <a:r>
              <a:rPr b="0" i="1" sz="1600">
                <a:latin typeface="Calibri"/>
              </a:rPr>
              <a:t>[Alttaki şeride işaret et]</a:t>
            </a:r>
          </a:p>
          <a:p>
            <a:pPr>
              <a:spcAft>
                <a:spcPts val="900"/>
              </a:spcAft>
            </a:pPr>
            <a:r>
              <a:rPr b="1" i="0" sz="1600">
                <a:latin typeface="Calibri"/>
              </a:rPr>
              <a:t>The filled boxes were determined in this study. The outlined boxes were not determined.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7 · METHOD — 0:20</a:t>
            </a:r>
          </a:p>
          <a:p>
            <a:pPr>
              <a:spcAft>
                <a:spcPts val="900"/>
              </a:spcAft>
            </a:pPr>
            <a:r>
              <a:rPr b="0" i="0" sz="1600">
                <a:latin typeface="Calibri"/>
              </a:rPr>
              <a:t>The method has four stages. The material was produced with every parameter recorded, measured against published standards, positioned against two material families, and only then was a criterion for evaluating it proposed. </a:t>
            </a:r>
            <a:r>
              <a:rPr b="1" i="0" sz="1600">
                <a:latin typeface="Calibri"/>
              </a:rPr>
              <a:t>The properties came first, and the application envelope was derived from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8 · RESEARCH QUESTIONS — 0:15</a:t>
            </a:r>
          </a:p>
          <a:p>
            <a:pPr>
              <a:spcAft>
                <a:spcPts val="900"/>
              </a:spcAft>
            </a:pPr>
            <a:r>
              <a:rPr b="0" i="0" sz="1600">
                <a:latin typeface="Calibri"/>
              </a:rPr>
              <a:t>There are five questions. The first four concern formulation and benchmarking; the fifth asks whether compressive strength is an adequate criterion for this class of material at all. </a:t>
            </a:r>
            <a:r>
              <a:rPr b="1" i="0" sz="1600">
                <a:latin typeface="Calibri"/>
              </a:rPr>
              <a:t>The first four are answered by measurement. The fifth is answered by argument.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9 · HYPOTHESIS — 0:25</a:t>
            </a:r>
          </a:p>
          <a:p>
            <a:pPr>
              <a:spcAft>
                <a:spcPts val="900"/>
              </a:spcAft>
            </a:pPr>
            <a:r>
              <a:rPr b="0" i="0" sz="1600">
                <a:latin typeface="Calibri"/>
              </a:rPr>
              <a:t>The hypothesis is </a:t>
            </a:r>
            <a:r>
              <a:rPr b="1" i="0" sz="1600">
                <a:latin typeface="Calibri"/>
              </a:rPr>
              <a:t>a fully bio-based eggshell–agar composite can be produced repeatably under ambient conditions, and its performance as an interior surface material is governed by deformation capacity rather than by compressive strength.</a:t>
            </a:r>
            <a:r>
              <a:rPr b="0" i="0" sz="1600">
                <a:latin typeface="Calibri"/>
              </a:rPr>
              <a:t> Those are two separate claims, tested by different parts of the paper.</a:t>
            </a:r>
          </a:p>
          <a:p>
            <a:pPr>
              <a:spcAft>
                <a:spcPts val="900"/>
              </a:spcAft>
            </a:pPr>
            <a:r>
              <a:rPr b="1" i="0" sz="1600">
                <a:latin typeface="Calibri"/>
              </a:rPr>
              <a:t>The dissertation behind this paper frames a broader hypothesis around spatial resilience; this is its materials-engineering component.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10 · STAGE 1 · MINERAL PHASE — 0:25</a:t>
            </a:r>
          </a:p>
          <a:p>
            <a:pPr>
              <a:spcAft>
                <a:spcPts val="900"/>
              </a:spcAft>
            </a:pPr>
            <a:r>
              <a:rPr b="0" i="0" sz="1600">
                <a:latin typeface="Calibri"/>
              </a:rPr>
              <a:t>The first stage prepares the mineral. The shell comes from a single bakery, and it is cleaned by hand, heat-treated at one hundred and twenty degrees for twenty minutes, milled, and sieved. </a:t>
            </a:r>
            <a:r>
              <a:rPr b="1" i="0" sz="1600">
                <a:latin typeface="Calibri"/>
              </a:rPr>
              <a:t>The 150 micrometre fraction was selected so that the mineral phase would be comparable with the eggshell polymer-composite literature.</a:t>
            </a:r>
            <a:r>
              <a:rPr b="0" i="0" sz="1600">
                <a:latin typeface="Calibri"/>
              </a:rPr>
              <a:t> </a:t>
            </a:r>
            <a:r>
              <a:rPr b="1" i="0" sz="1600">
                <a:latin typeface="Calibri"/>
              </a:rPr>
              <a:t>The heat step is decontamination and drying rather than sterilisation, because sterility was never verified.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11 · STAGE 2 · BINDER PREPARATION — 0:35</a:t>
            </a:r>
          </a:p>
          <a:p>
            <a:pPr>
              <a:spcAft>
                <a:spcPts val="900"/>
              </a:spcAft>
            </a:pPr>
            <a:r>
              <a:rPr b="0" i="0" sz="1600">
                <a:latin typeface="Calibri"/>
              </a:rPr>
              <a:t>The second stage prepares the binder. </a:t>
            </a:r>
            <a:r>
              <a:rPr b="1" i="0" sz="1600">
                <a:latin typeface="Calibri"/>
              </a:rPr>
              <a:t>Agar is thermoreversible: it melts on heating and sets again on cooling, so no hardener and no cure temperature are needed.</a:t>
            </a:r>
            <a:r>
              <a:rPr b="0" i="0" sz="1600">
                <a:latin typeface="Calibri"/>
              </a:rPr>
              <a:t> </a:t>
            </a:r>
            <a:r>
              <a:rPr b="1" i="0" sz="1600">
                <a:latin typeface="Calibri"/>
              </a:rPr>
              <a:t>The agar is added a little at a time under constant stirring, because added all at once it forms agglomerates that never redisperse.</a:t>
            </a:r>
            <a:r>
              <a:rPr b="0" i="0" sz="1600">
                <a:latin typeface="Calibri"/>
              </a:rPr>
              <a:t> The mixture is held at ninety-five degrees until fully dissolved, brought down to eighty while the viscosity builds, and the shell goes in near the end. The whole preparation takes fifty-five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12 · STAGE 3 · CASTING AND CURE — 0:25</a:t>
            </a:r>
          </a:p>
          <a:p>
            <a:pPr>
              <a:spcAft>
                <a:spcPts val="900"/>
              </a:spcAft>
            </a:pPr>
            <a:r>
              <a:rPr b="0" i="0" sz="1600">
                <a:latin typeface="Calibri"/>
              </a:rPr>
              <a:t>The third stage is casting and curing. The mixture is cast into silicone moulds, demoulded on the fourth day, and left for a further seven days at around twenty-three degrees. </a:t>
            </a:r>
            <a:r>
              <a:rPr b="1" i="0" sz="1600">
                <a:latin typeface="Calibri"/>
              </a:rPr>
              <a:t>After the 55-minute preparation the material receives no further heat, so the entire cure happens at room temperature.</a:t>
            </a:r>
          </a:p>
          <a:p>
            <a:pPr>
              <a:spcAft>
                <a:spcPts val="900"/>
              </a:spcAft>
            </a:pPr>
            <a:r>
              <a:rPr b="0" i="1" sz="1600">
                <a:latin typeface="Calibri"/>
              </a:rPr>
              <a:t>[Panele işaret et]</a:t>
            </a:r>
          </a:p>
          <a:p>
            <a:pPr>
              <a:spcAft>
                <a:spcPts val="900"/>
              </a:spcAft>
            </a:pPr>
            <a:r>
              <a:rPr b="1" i="0" sz="1600">
                <a:latin typeface="Calibri"/>
              </a:rPr>
              <a:t>The composite shrinks as the water evaporates, and the dried dimensions were not logged, so every dimension reported here is a mould dimension.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13 · FORMULATIONS — 0:30</a:t>
            </a:r>
          </a:p>
          <a:p>
            <a:pPr>
              <a:spcAft>
                <a:spcPts val="900"/>
              </a:spcAft>
            </a:pPr>
            <a:r>
              <a:rPr b="0" i="0" sz="1600">
                <a:latin typeface="Calibri"/>
              </a:rPr>
              <a:t>There are two things to notice in this matrix. In the compression series the shell-to-binder ratio is exactly two in all three mixes, which means that </a:t>
            </a:r>
            <a:r>
              <a:rPr b="1" i="0" sz="1600">
                <a:latin typeface="Calibri"/>
              </a:rPr>
              <a:t>solids concentration is the only variable, and the bars show it: the water band gets shorter from C1 to C3.</a:t>
            </a:r>
          </a:p>
          <a:p>
            <a:pPr>
              <a:spcAft>
                <a:spcPts val="900"/>
              </a:spcAft>
            </a:pPr>
            <a:r>
              <a:rPr b="0" i="0" sz="1600">
                <a:latin typeface="Calibri"/>
              </a:rPr>
              <a:t>In the flexural series a confound has to be declared. </a:t>
            </a:r>
            <a:r>
              <a:rPr b="1" i="0" sz="1600">
                <a:latin typeface="Calibri"/>
              </a:rPr>
              <a:t>The glycerol was halved while the batch mass stayed the same, so the water rose to compensate.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14 · TEST PROGRAMME — 0:20</a:t>
            </a:r>
          </a:p>
          <a:p>
            <a:pPr>
              <a:spcAft>
                <a:spcPts val="900"/>
              </a:spcAft>
            </a:pPr>
            <a:r>
              <a:rPr b="0" i="0" sz="1600">
                <a:latin typeface="Calibri"/>
              </a:rPr>
              <a:t>There are four specimen geometries, with the standard and the number of specimens beneath each. The reporting convention belongs on the record before any numbers appear. </a:t>
            </a:r>
            <a:r>
              <a:rPr b="1" i="0" sz="1600">
                <a:latin typeface="Calibri"/>
              </a:rPr>
              <a:t>The mechanical values are means of three specimens, and since the individual values were not retained, standard deviations cannot be reported. The fire, absorption and density figures are single determinations.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15 · COMPRESSION — 0:30</a:t>
            </a:r>
          </a:p>
          <a:p>
            <a:pPr>
              <a:spcAft>
                <a:spcPts val="900"/>
              </a:spcAft>
            </a:pPr>
            <a:r>
              <a:rPr b="0" i="0" sz="1600">
                <a:latin typeface="Calibri"/>
              </a:rPr>
              <a:t>Compressive stress rises linearly with solids concentration, from two and a half to four megapascals. Three points will fit almost any line, so this is offered as a hypothesis. </a:t>
            </a:r>
            <a:r>
              <a:rPr b="1" i="0" sz="1600">
                <a:latin typeface="Calibri"/>
              </a:rPr>
              <a:t>Strength here is governed by packing density, not by mineral content. The way to a stronger composite is to take water out, not to put more shell 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16 · COMPRESSIVE FAILURE — 0:30</a:t>
            </a:r>
          </a:p>
          <a:p>
            <a:pPr>
              <a:spcAft>
                <a:spcPts val="900"/>
              </a:spcAft>
            </a:pPr>
            <a:r>
              <a:rPr b="0" i="0" sz="1600">
                <a:latin typeface="Calibri"/>
              </a:rPr>
              <a:t>The curve is linear to about one megapascal, and then the stiffness falls away as the agar network yields and the mineral redistributes. The peak arrives at around ten per cent strain, with no sudden drop in load.</a:t>
            </a:r>
          </a:p>
          <a:p>
            <a:pPr>
              <a:spcAft>
                <a:spcPts val="900"/>
              </a:spcAft>
            </a:pPr>
            <a:r>
              <a:rPr b="0" i="1" sz="1600">
                <a:latin typeface="Calibri"/>
              </a:rPr>
              <a:t>[Fotoğrafı göster]</a:t>
            </a:r>
          </a:p>
          <a:p>
            <a:pPr>
              <a:spcAft>
                <a:spcPts val="900"/>
              </a:spcAft>
            </a:pPr>
            <a:r>
              <a:rPr b="1" i="0" sz="1600">
                <a:latin typeface="Calibri"/>
              </a:rPr>
              <a:t>The cube has barrelled: shorter, wider, and still a single body. Failure proceeds by progressive crushing rather than by fracture.</a:t>
            </a:r>
            <a:r>
              <a:rPr b="0" i="0" sz="1600">
                <a:latin typeface="Calibri"/>
              </a:rPr>
              <a:t> </a:t>
            </a:r>
            <a:r>
              <a:rPr b="1" i="0" sz="1600">
                <a:latin typeface="Calibri"/>
              </a:rPr>
              <a:t>The strain scale assumes ten per cent deformation from observation, not instrumented measurement.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17 · FLEXURE — 0:30</a:t>
            </a:r>
          </a:p>
          <a:p>
            <a:pPr>
              <a:spcAft>
                <a:spcPts val="900"/>
              </a:spcAft>
            </a:pPr>
            <a:r>
              <a:rPr b="0" i="0" sz="1600">
                <a:latin typeface="Calibri"/>
              </a:rPr>
              <a:t>In bending the decisive variable is the plasticiser. At eighteen point eight per cent glycerol the specimen deformed without developing any measurable resistance; halving the glycerol gave two point three megapascals at a modulus of one hundred and ninety-two. </a:t>
            </a:r>
            <a:r>
              <a:rPr b="1" i="0" sz="1600">
                <a:latin typeface="Calibri"/>
              </a:rPr>
              <a:t>The transition is sharp, and it lies between those two compositions.</a:t>
            </a:r>
          </a:p>
          <a:p>
            <a:pPr>
              <a:spcAft>
                <a:spcPts val="900"/>
              </a:spcAft>
            </a:pPr>
            <a:r>
              <a:rPr b="1" i="0" sz="1600">
                <a:latin typeface="Calibri"/>
              </a:rPr>
              <a:t>The specimen is kerfed on its tension face while the standard assumes a solid rectangle, so the modulus reported here is a lower bound.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18 · FLEXURAL DEFORMATION — 0:15</a:t>
            </a:r>
          </a:p>
          <a:p>
            <a:pPr>
              <a:spcAft>
                <a:spcPts val="900"/>
              </a:spcAft>
            </a:pPr>
            <a:r>
              <a:rPr b="1" i="0" sz="1600">
                <a:latin typeface="Calibri"/>
              </a:rPr>
              <a:t>The beam is deflected well past the point where a comparable ceramic would have parted, and it is still intact. Both test programmes gave the same result: substantial deformation with the integrity retained.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19 · FIRE, WATER, DENSITY — 0:30</a:t>
            </a:r>
          </a:p>
          <a:p>
            <a:pPr>
              <a:spcAft>
                <a:spcPts val="900"/>
              </a:spcAft>
            </a:pPr>
            <a:r>
              <a:rPr b="0" i="0" sz="1600">
                <a:latin typeface="Calibri"/>
              </a:rPr>
              <a:t>The material ignites at around ten seconds under a direct flame and extinguishes itself four seconds after the flame is removed, with no lateral spread and no dripping. </a:t>
            </a:r>
            <a:r>
              <a:rPr b="1" i="0" sz="1600">
                <a:latin typeface="Calibri"/>
              </a:rPr>
              <a:t>It is an ignitability test, and there is no classification behind it.</a:t>
            </a:r>
          </a:p>
          <a:p>
            <a:pPr>
              <a:spcAft>
                <a:spcPts val="900"/>
              </a:spcAft>
            </a:pPr>
            <a:r>
              <a:rPr b="0" i="0" sz="1600">
                <a:latin typeface="Calibri"/>
              </a:rPr>
              <a:t>The mass gain over twenty-four hours of immersion was zero point seven per cent, so </a:t>
            </a:r>
            <a:r>
              <a:rPr b="1" i="0" sz="1600">
                <a:latin typeface="Calibri"/>
              </a:rPr>
              <a:t>it is the coating that limits humid service rather than the composite itself.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20 · CONVENTIONAL MATERIALS — 0:20</a:t>
            </a:r>
          </a:p>
          <a:p>
            <a:pPr>
              <a:spcAft>
                <a:spcPts val="900"/>
              </a:spcAft>
            </a:pPr>
            <a:r>
              <a:rPr b="0" i="0" sz="1600">
                <a:latin typeface="Calibri"/>
              </a:rPr>
              <a:t>The first benchmark is against the materials this would sit beside in an interior. </a:t>
            </a:r>
            <a:r>
              <a:rPr b="1" i="0" sz="1600">
                <a:latin typeface="Calibri"/>
              </a:rPr>
              <a:t>It has one sixth the compressive strength of MDF and one twentieth that of travertine. On strength alone this composite is not competitive with engineered wood or stone.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21 · BIO-BASED COMPOSITES — 0:30</a:t>
            </a:r>
          </a:p>
          <a:p>
            <a:pPr>
              <a:spcAft>
                <a:spcPts val="900"/>
              </a:spcAft>
            </a:pPr>
            <a:r>
              <a:rPr b="0" i="0" sz="1600">
                <a:latin typeface="Calibri"/>
              </a:rPr>
              <a:t>The second benchmark is the one that matters. In compression the composite stands an order of magnitude above mycelium and hempcrete, and in stiffness, at one hundred and ninety-two megapascals, it sits inside the LDPE band.</a:t>
            </a:r>
          </a:p>
          <a:p>
            <a:pPr>
              <a:spcAft>
                <a:spcPts val="900"/>
              </a:spcAft>
            </a:pPr>
            <a:r>
              <a:rPr b="0" i="1" sz="1600">
                <a:latin typeface="Calibri"/>
              </a:rPr>
              <a:t>[Logaritmik eksene işaret et]</a:t>
            </a:r>
          </a:p>
          <a:p>
            <a:pPr>
              <a:spcAft>
                <a:spcPts val="900"/>
              </a:spcAft>
            </a:pPr>
            <a:r>
              <a:rPr b="1" i="0" sz="1600">
                <a:latin typeface="Calibri"/>
              </a:rPr>
              <a:t>It was cast from water and dried at room temperature, with no oven, no autoclave and no extruder, and it still reaches the stiffness of melt-processed bio-polymers.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22 · MODULUS OF RESILIENCE — 0:50</a:t>
            </a:r>
          </a:p>
          <a:p>
            <a:pPr>
              <a:spcAft>
                <a:spcPts val="900"/>
              </a:spcAft>
            </a:pPr>
            <a:r>
              <a:rPr b="0" i="0" sz="1600">
                <a:latin typeface="Calibri"/>
              </a:rPr>
              <a:t>This brings the talk to the fifth question, and the diagram is the argument.</a:t>
            </a:r>
          </a:p>
          <a:p>
            <a:pPr>
              <a:spcAft>
                <a:spcPts val="900"/>
              </a:spcAft>
            </a:pPr>
            <a:r>
              <a:rPr b="0" i="0" sz="1600">
                <a:latin typeface="Calibri"/>
              </a:rPr>
              <a:t>The shaded area is the energy a material absorbs per unit volume before permanent damage. So the low stiffness that counted against the material a moment ago is exactly what raises this quantity: about fourteen kilojoules per cubic metre.</a:t>
            </a:r>
          </a:p>
          <a:p>
            <a:pPr>
              <a:spcAft>
                <a:spcPts val="900"/>
              </a:spcAft>
            </a:pPr>
            <a:r>
              <a:rPr b="1" i="0" sz="1600">
                <a:latin typeface="Calibri"/>
              </a:rPr>
              <a:t>Strength records the load at which a material stops performing. It does not record whether failure is then graceful or catastrophic</a:t>
            </a:r>
            <a:r>
              <a:rPr b="0" i="0" sz="1600">
                <a:latin typeface="Calibri"/>
              </a:rPr>
              <a:t> — and for a demountable component, that is what decides service life.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23 · APPLICATION ENVELOPE — 0:20</a:t>
            </a:r>
          </a:p>
          <a:p>
            <a:pPr>
              <a:spcAft>
                <a:spcPts val="900"/>
              </a:spcAft>
            </a:pPr>
            <a:r>
              <a:rPr b="0" i="0" sz="1600">
                <a:latin typeface="Calibri"/>
              </a:rPr>
              <a:t>The application envelope follows from the measurements: non-loadbearing surfaces, dry interiors, away from ignition sources, and modular, so that damage can be replaced one unit at a time. </a:t>
            </a:r>
            <a:r>
              <a:rPr b="1" i="0" sz="1600">
                <a:latin typeface="Calibri"/>
              </a:rPr>
              <a:t>No life-cycle assessment was carried out, so these are qualitative potentials rather than quantified claims.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24 · LIMITATIONS AND FURTHER WORK — 0:25</a:t>
            </a:r>
          </a:p>
          <a:p>
            <a:pPr>
              <a:spcAft>
                <a:spcPts val="900"/>
              </a:spcAft>
            </a:pPr>
            <a:r>
              <a:rPr b="0" i="0" sz="1600">
                <a:latin typeface="Calibri"/>
              </a:rPr>
              <a:t>Each limitation is placed beside the experiment that resolves it, because that pairing is the point. There is no dispersion data, the strain was assumed rather than instrumented, and the shrinkage was never quantified. </a:t>
            </a:r>
            <a:r>
              <a:rPr b="1" i="0" sz="1600">
                <a:latin typeface="Calibri"/>
              </a:rPr>
              <a:t>Every value reported here is a lower bound.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25 · CONCLUSIONS — 0:25</a:t>
            </a:r>
          </a:p>
          <a:p>
            <a:pPr>
              <a:spcAft>
                <a:spcPts val="900"/>
              </a:spcAft>
            </a:pPr>
            <a:r>
              <a:rPr b="0" i="0" sz="1600">
                <a:latin typeface="Calibri"/>
              </a:rPr>
              <a:t>There are five conclusions. The protocol can be repeated. Packing density, not mineral content, governs compressive strength. Plasticiser content decides whether the material is brittle or ductile. A water-cast, ambient-dried material can reach bio-polymer stiffness. </a:t>
            </a:r>
            <a:r>
              <a:rPr b="1" i="0" sz="1600">
                <a:latin typeface="Calibri"/>
              </a:rPr>
              <a:t>And strength on its own is not an adequate criterion for this research: strength and modulus should be reported together.</a:t>
            </a:r>
          </a:p>
          <a:p>
            <a:pPr>
              <a:spcAft>
                <a:spcPts val="900"/>
              </a:spcAft>
            </a:pPr>
            <a:r>
              <a:rPr b="0" i="0" sz="1600">
                <a:latin typeface="Calibri"/>
              </a:rPr>
              <a:t>Thank you.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b="1" sz="1700">
                <a:latin typeface="Calibri"/>
              </a:rPr>
              <a:t>26 · REFERENCES — 0:00</a:t>
            </a:r>
          </a:p>
          <a:p>
            <a:pPr>
              <a:spcAft>
                <a:spcPts val="900"/>
              </a:spcAft>
            </a:pPr>
            <a:r>
              <a:rPr b="0" i="1" sz="1600">
                <a:latin typeface="Calibri"/>
              </a:rPr>
              <a:t>[Slaytı açık bırak, bir şey söyleme. Soru gelirse kaynağı buradan göster.]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Aft>
                <a:spcPts val="1000"/>
              </a:spcAft>
            </a:pPr>
            <a:r>
              <a:rPr b="1" sz="1700">
                <a:latin typeface="Calibri"/>
              </a:rPr>
              <a:t>SORU – CEVAP</a:t>
            </a:r>
          </a:p>
          <a:p>
            <a:pPr>
              <a:spcAft>
                <a:spcPts val="900"/>
              </a:spcAft>
            </a:pPr>
            <a:r>
              <a:rPr b="1" i="0" sz="1600">
                <a:latin typeface="Calibri"/>
              </a:rPr>
              <a:t>Thank you.</a:t>
            </a:r>
          </a:p>
          <a:p>
            <a:pPr>
              <a:spcAft>
                <a:spcPts val="900"/>
              </a:spcAft>
            </a:pPr>
            <a:r>
              <a:rPr b="0" i="0" sz="1600">
                <a:latin typeface="Calibri"/>
              </a:rPr>
              <a:t>Burada birinci tekil şahıs doğal; soru sana sorulmuş oluyor. Kısa tut: sınırlılığı kabul et, sonraki deneyi söyle, sus.</a:t>
            </a:r>
          </a:p>
          <a:p>
            <a:pPr>
              <a:spcAft>
                <a:spcPts val="900"/>
              </a:spcAft>
            </a:pPr>
            <a:r>
              <a:rPr b="1" i="0" sz="1600">
                <a:latin typeface="Calibri"/>
              </a:rPr>
              <a:t>"Standart sapma yok, nasıl güveneceğiz?"</a:t>
            </a:r>
            <a:r>
              <a:rPr b="0" i="0" sz="1600">
                <a:latin typeface="Calibri"/>
              </a:rPr>
              <a:t> That is correct, and it was stated before any numbers were shown. There were three specimens per formulation and the individual values were not retained. Repeating the series with dispersion reported is the first row of the limitations table.</a:t>
            </a:r>
          </a:p>
          <a:p>
            <a:pPr>
              <a:spcAft>
                <a:spcPts val="900"/>
              </a:spcAft>
            </a:pPr>
            <a:r>
              <a:rPr b="1" i="0" sz="1600">
                <a:latin typeface="Calibri"/>
              </a:rPr>
              <a:t>"Basma testi hangi standarda göre?"</a:t>
            </a:r>
            <a:r>
              <a:rPr b="0" i="0" sz="1600">
                <a:latin typeface="Calibri"/>
              </a:rPr>
              <a:t> Cube compression rather than a named standard, and that is flagged as a deviation. The flexural work follows ASTM D790-17, the ignitability test ISO 11925-2, and the absorption test ASTM D570.</a:t>
            </a:r>
          </a:p>
          <a:p>
            <a:pPr>
              <a:spcAft>
                <a:spcPts val="900"/>
              </a:spcAft>
            </a:pPr>
            <a:r>
              <a:rPr b="1" i="0" sz="1600">
                <a:latin typeface="Calibri"/>
              </a:rPr>
              <a:t>"Ölçüler kalıp ölçüsü, gerçek gerilme değil."</a:t>
            </a:r>
            <a:r>
              <a:rPr b="0" i="0" sz="1600">
                <a:latin typeface="Calibri"/>
              </a:rPr>
              <a:t> Correct. The composite shrinks as the water evaporates and the dried dimensions were not logged, so every value reported is a lower bound. Recording the dried geometry is in the limitations table.</a:t>
            </a:r>
          </a:p>
          <a:p>
            <a:pPr>
              <a:spcAft>
                <a:spcPts val="900"/>
              </a:spcAft>
            </a:pPr>
            <a:r>
              <a:rPr b="1" i="0" sz="1600">
                <a:latin typeface="Calibri"/>
              </a:rPr>
              <a:t>"Yivli numuneden modül hesaplanmaz."</a:t>
            </a:r>
            <a:r>
              <a:rPr b="0" i="0" sz="1600">
                <a:latin typeface="Calibri"/>
              </a:rPr>
              <a:t> Agreed, which is why it was reported as a lower bound rather than a material constant. Testing an un-kerfed section is in the table.</a:t>
            </a:r>
          </a:p>
          <a:p>
            <a:pPr>
              <a:spcAft>
                <a:spcPts val="900"/>
              </a:spcAft>
            </a:pPr>
            <a:r>
              <a:rPr b="1" i="0" sz="1600">
                <a:latin typeface="Calibri"/>
              </a:rPr>
              <a:t>"R² = 0.99 ama üç nokta var."</a:t>
            </a:r>
            <a:r>
              <a:rPr b="0" i="0" sz="1600">
                <a:latin typeface="Calibri"/>
              </a:rPr>
              <a:t> Which is exactly why it was offered as a hypothesis rather than a law. The claim is the physical reading: packing density, not mineral content, governs strength.</a:t>
            </a:r>
          </a:p>
          <a:p>
            <a:pPr>
              <a:spcAft>
                <a:spcPts val="900"/>
              </a:spcAft>
            </a:pPr>
            <a:r>
              <a:rPr b="1" i="0" sz="1600">
                <a:latin typeface="Calibri"/>
              </a:rPr>
              <a:t>"Neden agar? Nişasta ya da jelatin olmaz mıydı?"</a:t>
            </a:r>
            <a:r>
              <a:rPr b="0" i="0" sz="1600">
                <a:latin typeface="Calibri"/>
              </a:rPr>
              <a:t> Agar sets thermoreversibly without a hardener, and it carried sixty-six per cent mineral loading without a coupling agent. Comparing binders would be a separate study, and a fair one to ask for.</a:t>
            </a:r>
          </a:p>
          <a:p>
            <a:pPr>
              <a:spcAft>
                <a:spcPts val="900"/>
              </a:spcAft>
            </a:pPr>
            <a:r>
              <a:rPr b="1" i="0" sz="1600">
                <a:latin typeface="Calibri"/>
              </a:rPr>
              <a:t>"Yangın mekanizması nedir?"</a:t>
            </a:r>
            <a:r>
              <a:rPr b="0" i="0" sz="1600">
                <a:latin typeface="Calibri"/>
              </a:rPr>
              <a:t> The probable mechanism is endothermic decomposition of the carbonate fraction, which dilutes the flame front. Probable, because it was not verified calorimetrically.</a:t>
            </a:r>
          </a:p>
          <a:p>
            <a:pPr>
              <a:spcAft>
                <a:spcPts val="900"/>
              </a:spcAft>
            </a:pPr>
            <a:r>
              <a:rPr b="1" i="0" sz="1600">
                <a:latin typeface="Calibri"/>
              </a:rPr>
              <a:t>"Nem, küf, yaşlanma?"</a:t>
            </a:r>
            <a:r>
              <a:rPr b="0" i="0" sz="1600">
                <a:latin typeface="Calibri"/>
              </a:rPr>
              <a:t> All untested, and named as such on the limitations slide. Durability of any kind is outside the scope of this paper.</a:t>
            </a:r>
          </a:p>
          <a:p>
            <a:pPr>
              <a:spcAft>
                <a:spcPts val="900"/>
              </a:spcAft>
            </a:pPr>
            <a:r>
              <a:rPr b="1" i="0" sz="1600">
                <a:latin typeface="Calibri"/>
              </a:rPr>
              <a:t>"Ölçeklenebilir mi?"</a:t>
            </a:r>
            <a:r>
              <a:rPr b="0" i="0" sz="1600">
                <a:latin typeface="Calibri"/>
              </a:rPr>
              <a:t> There is no data on that. What can be said is that the protocol needs a hotplate, a mould and ambient drying, and nothing else.</a:t>
            </a:r>
          </a:p>
          <a:p>
            <a:pPr>
              <a:spcAft>
                <a:spcPts val="900"/>
              </a:spcAft>
            </a:pPr>
            <a:r>
              <a:rPr b="1" i="0" sz="1600">
                <a:latin typeface="Calibri"/>
              </a:rPr>
              <a:t>"Yangın sınıflandırması olmadan iç mekanda nasıl kullanılacak?"</a:t>
            </a:r>
            <a:r>
              <a:rPr b="0" i="0" sz="1600">
                <a:latin typeface="Calibri"/>
              </a:rPr>
              <a:t> It cannot be specified without one, and the application slide says so. What is reported is ignitability behaviour, which is the precondition for seeking a classification rather than a substitute for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bg>
      <p:bgPr>
        <a:solidFill>
          <a:srgbClr val="141414"/>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image" Target="../media/image6.jpeg"/><Relationship Id="rId5"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hart" Target="../charts/char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6E6E6E"/>
                </a:solidFill>
                <a:latin typeface="Calibri" pitchFamily="34" charset="0"/>
                <a:ea typeface="Calibri" pitchFamily="34" charset="-122"/>
                <a:cs typeface="Calibri" pitchFamily="34" charset="-120"/>
              </a:rPr>
              <a:t>1</a:t>
            </a:r>
            <a:endParaRPr lang="en-US" sz="1300" dirty="0"/>
          </a:p>
        </p:txBody>
      </p:sp>
      <p:pic>
        <p:nvPicPr>
          <p:cNvPr id="3" name="cov" descr="/home/user/sanat-ve-mekan/konferans-bildirisi/03-gorseller/02-panel-elde.png"/>
          <p:cNvPicPr>
            <a:picLocks noChangeAspect="1"/>
          </p:cNvPicPr>
          <p:nvPr/>
        </p:nvPicPr>
        <p:blipFill>
          <a:blip r:embed="rId3"/>
          <a:srcRect t="7921" r="9256"/>
          <a:stretch>
            <a:fillRect/>
          </a:stretch>
        </p:blipFill>
        <p:spPr>
          <a:xfrm>
            <a:off x="5249327" y="5082"/>
            <a:ext cx="6942673" cy="6852918"/>
          </a:xfrm>
          <a:prstGeom prst="rect">
            <a:avLst/>
          </a:prstGeom>
        </p:spPr>
      </p:pic>
      <p:sp>
        <p:nvSpPr>
          <p:cNvPr id="4" name="panel"/>
          <p:cNvSpPr/>
          <p:nvPr/>
        </p:nvSpPr>
        <p:spPr>
          <a:xfrm>
            <a:off x="0" y="0"/>
            <a:ext cx="5394960" cy="6858000"/>
          </a:xfrm>
          <a:prstGeom prst="rect">
            <a:avLst/>
          </a:prstGeom>
          <a:solidFill>
            <a:srgbClr val="141414"/>
          </a:solidFill>
          <a:ln w="12700">
            <a:solidFill>
              <a:srgbClr val="141414">
                <a:alpha val="0"/>
              </a:srgbClr>
            </a:solidFill>
            <a:prstDash val="solid"/>
          </a:ln>
        </p:spPr>
        <p:txBody>
          <a:bodyPr/>
          <a:lstStyle/>
          <a:p>
            <a:endParaRPr lang="tr-TR"/>
          </a:p>
        </p:txBody>
      </p:sp>
      <p:sp>
        <p:nvSpPr>
          <p:cNvPr id="5" name="Text 2"/>
          <p:cNvSpPr txBox="1"/>
          <p:nvPr/>
        </p:nvSpPr>
        <p:spPr>
          <a:xfrm>
            <a:off x="777240" y="2011680"/>
            <a:ext cx="4206240" cy="1463040"/>
          </a:xfrm>
          <a:prstGeom prst="rect">
            <a:avLst/>
          </a:prstGeom>
          <a:noFill/>
          <a:ln/>
        </p:spPr>
        <p:txBody>
          <a:bodyPr wrap="square" lIns="0" tIns="0" rIns="0" bIns="0" rtlCol="0" anchor="b"/>
          <a:lstStyle/>
          <a:p>
            <a:pPr marL="0" indent="0">
              <a:lnSpc>
                <a:spcPts val="4200"/>
              </a:lnSpc>
              <a:buNone/>
            </a:pPr>
            <a:r>
              <a:rPr lang="en-US" sz="3200" b="1" dirty="0">
                <a:solidFill>
                  <a:srgbClr val="FFFFFF"/>
                </a:solidFill>
                <a:latin typeface="Calibri" pitchFamily="34" charset="0"/>
                <a:ea typeface="Calibri" pitchFamily="34" charset="-122"/>
                <a:cs typeface="Calibri" pitchFamily="34" charset="-120"/>
              </a:rPr>
              <a:t>Eggshell–Agar</a:t>
            </a:r>
            <a:endParaRPr lang="en-US" sz="3200" dirty="0"/>
          </a:p>
          <a:p>
            <a:pPr marL="0" indent="0">
              <a:lnSpc>
                <a:spcPts val="4200"/>
              </a:lnSpc>
              <a:buNone/>
            </a:pPr>
            <a:r>
              <a:rPr lang="en-US" sz="3200" b="1" dirty="0">
                <a:solidFill>
                  <a:srgbClr val="FFFFFF"/>
                </a:solidFill>
                <a:latin typeface="Calibri" pitchFamily="34" charset="0"/>
                <a:ea typeface="Calibri" pitchFamily="34" charset="-122"/>
                <a:cs typeface="Calibri" pitchFamily="34" charset="-120"/>
              </a:rPr>
              <a:t>Biocomposites</a:t>
            </a:r>
            <a:endParaRPr lang="en-US" sz="3200" dirty="0"/>
          </a:p>
        </p:txBody>
      </p:sp>
      <p:sp>
        <p:nvSpPr>
          <p:cNvPr id="6" name="Text 3"/>
          <p:cNvSpPr txBox="1"/>
          <p:nvPr/>
        </p:nvSpPr>
        <p:spPr>
          <a:xfrm>
            <a:off x="777240" y="3611880"/>
            <a:ext cx="4023360" cy="640080"/>
          </a:xfrm>
          <a:prstGeom prst="rect">
            <a:avLst/>
          </a:prstGeom>
          <a:noFill/>
          <a:ln/>
        </p:spPr>
        <p:txBody>
          <a:bodyPr wrap="square" lIns="0" tIns="0" rIns="0" bIns="0" rtlCol="0" anchor="ctr"/>
          <a:lstStyle/>
          <a:p>
            <a:pPr marL="0" indent="0">
              <a:lnSpc>
                <a:spcPts val="1900"/>
              </a:lnSpc>
              <a:buNone/>
            </a:pPr>
            <a:r>
              <a:rPr lang="en-US" sz="1300" dirty="0">
                <a:solidFill>
                  <a:srgbClr val="C8C8C8"/>
                </a:solidFill>
                <a:latin typeface="Calibri" pitchFamily="34" charset="0"/>
                <a:ea typeface="Calibri" pitchFamily="34" charset="-122"/>
                <a:cs typeface="Calibri" pitchFamily="34" charset="-120"/>
              </a:rPr>
              <a:t>Development and characterisation for sustainable interior applications</a:t>
            </a:r>
            <a:endParaRPr lang="en-US" sz="1300" dirty="0"/>
          </a:p>
        </p:txBody>
      </p:sp>
      <p:sp>
        <p:nvSpPr>
          <p:cNvPr id="7" name="ru0.854.95"/>
          <p:cNvSpPr/>
          <p:nvPr/>
        </p:nvSpPr>
        <p:spPr>
          <a:xfrm>
            <a:off x="777240" y="4526280"/>
            <a:ext cx="219456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8" name="Text 5"/>
          <p:cNvSpPr txBox="1"/>
          <p:nvPr/>
        </p:nvSpPr>
        <p:spPr>
          <a:xfrm>
            <a:off x="777240" y="4754880"/>
            <a:ext cx="4023360" cy="9144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Betül Ünal</a:t>
            </a:r>
            <a:endParaRPr lang="en-US" sz="1300" dirty="0"/>
          </a:p>
          <a:p>
            <a:pPr marL="0" indent="0">
              <a:buNone/>
            </a:pPr>
            <a:r>
              <a:rPr lang="en-US" sz="1100" dirty="0">
                <a:solidFill>
                  <a:srgbClr val="9E9E9E"/>
                </a:solidFill>
                <a:latin typeface="Calibri" pitchFamily="34" charset="0"/>
                <a:ea typeface="Calibri" pitchFamily="34" charset="-122"/>
                <a:cs typeface="Calibri" pitchFamily="34" charset="-120"/>
              </a:rPr>
              <a:t>Department of Interior Architecture</a:t>
            </a:r>
            <a:endParaRPr lang="en-US" sz="1300" dirty="0"/>
          </a:p>
          <a:p>
            <a:pPr marL="0" indent="0">
              <a:buNone/>
            </a:pPr>
            <a:r>
              <a:rPr lang="en-US" sz="1100" dirty="0">
                <a:solidFill>
                  <a:srgbClr val="9E9E9E"/>
                </a:solidFill>
                <a:latin typeface="Calibri" pitchFamily="34" charset="0"/>
                <a:ea typeface="Calibri" pitchFamily="34" charset="-122"/>
                <a:cs typeface="Calibri" pitchFamily="34" charset="-120"/>
              </a:rPr>
              <a:t>Cappadocia University</a:t>
            </a:r>
            <a:endParaRPr lang="en-US" sz="1300" dirty="0"/>
          </a:p>
        </p:txBody>
      </p:sp>
      <p:sp>
        <p:nvSpPr>
          <p:cNvPr id="9" name="Text 6"/>
          <p:cNvSpPr txBox="1"/>
          <p:nvPr/>
        </p:nvSpPr>
        <p:spPr>
          <a:xfrm>
            <a:off x="777240" y="5943600"/>
            <a:ext cx="4206240" cy="274320"/>
          </a:xfrm>
          <a:prstGeom prst="rect">
            <a:avLst/>
          </a:prstGeom>
          <a:noFill/>
          <a:ln/>
        </p:spPr>
        <p:txBody>
          <a:bodyPr wrap="square" lIns="0" tIns="0" rIns="0" bIns="0" rtlCol="0" anchor="ctr"/>
          <a:lstStyle/>
          <a:p>
            <a:pPr marL="0" indent="0">
              <a:buNone/>
            </a:pPr>
            <a:r>
              <a:rPr lang="en-US" sz="900" b="1" kern="0" spc="140" dirty="0">
                <a:solidFill>
                  <a:srgbClr val="5A5A5A"/>
                </a:solidFill>
                <a:latin typeface="Calibri" pitchFamily="34" charset="0"/>
                <a:ea typeface="Calibri" pitchFamily="34" charset="-122"/>
                <a:cs typeface="Calibri" pitchFamily="34" charset="-120"/>
              </a:rPr>
              <a:t>ICSMMEP-26   ·   MECCA   ·   3–4 NOVEMBER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2</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Background</a:t>
            </a:r>
            <a:endParaRPr lang="en-US" sz="2000" dirty="0"/>
          </a:p>
        </p:txBody>
      </p:sp>
      <p:sp>
        <p:nvSpPr>
          <p:cNvPr id="4" name="Text 2"/>
          <p:cNvSpPr txBox="1"/>
          <p:nvPr/>
        </p:nvSpPr>
        <p:spPr>
          <a:xfrm>
            <a:off x="731520" y="1371600"/>
            <a:ext cx="42062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Material basis</a:t>
            </a:r>
            <a:endParaRPr lang="en-US" sz="1300" dirty="0"/>
          </a:p>
        </p:txBody>
      </p:sp>
      <p:sp>
        <p:nvSpPr>
          <p:cNvPr id="5" name="Text 3"/>
          <p:cNvSpPr txBox="1"/>
          <p:nvPr/>
        </p:nvSpPr>
        <p:spPr>
          <a:xfrm>
            <a:off x="731520" y="1920240"/>
            <a:ext cx="4206240" cy="609600"/>
          </a:xfrm>
          <a:prstGeom prst="rect">
            <a:avLst/>
          </a:prstGeom>
          <a:noFill/>
          <a:ln/>
        </p:spPr>
        <p:txBody>
          <a:bodyPr wrap="square" lIns="0" tIns="0" rIns="0" bIns="0" rtlCol="0" anchor="b"/>
          <a:lstStyle/>
          <a:p>
            <a:pPr marL="0" indent="0">
              <a:buNone/>
            </a:pPr>
            <a:r>
              <a:rPr lang="en-US" sz="3200" b="1" dirty="0">
                <a:solidFill>
                  <a:srgbClr val="B4513A"/>
                </a:solidFill>
                <a:latin typeface="Calibri" pitchFamily="34" charset="0"/>
                <a:ea typeface="Calibri" pitchFamily="34" charset="-122"/>
                <a:cs typeface="Calibri" pitchFamily="34" charset="-120"/>
              </a:rPr>
              <a:t>94–97%</a:t>
            </a:r>
            <a:endParaRPr lang="en-US" sz="3200" dirty="0"/>
          </a:p>
        </p:txBody>
      </p:sp>
      <p:sp>
        <p:nvSpPr>
          <p:cNvPr id="6" name="Text 4"/>
          <p:cNvSpPr txBox="1"/>
          <p:nvPr/>
        </p:nvSpPr>
        <p:spPr>
          <a:xfrm>
            <a:off x="731520" y="2566416"/>
            <a:ext cx="4206240" cy="420624"/>
          </a:xfrm>
          <a:prstGeom prst="rect">
            <a:avLst/>
          </a:prstGeom>
          <a:noFill/>
          <a:ln/>
        </p:spPr>
        <p:txBody>
          <a:bodyPr wrap="square" lIns="0" tIns="0" rIns="0" bIns="0" rtlCol="0" anchor="t"/>
          <a:lstStyle/>
          <a:p>
            <a:pPr marL="0" indent="0">
              <a:lnSpc>
                <a:spcPts val="1250"/>
              </a:lnSpc>
              <a:buNone/>
            </a:pPr>
            <a:r>
              <a:rPr lang="en-US" sz="950" dirty="0">
                <a:solidFill>
                  <a:srgbClr val="8C8C8C"/>
                </a:solidFill>
                <a:latin typeface="Calibri" pitchFamily="34" charset="0"/>
                <a:ea typeface="Calibri" pitchFamily="34" charset="-122"/>
                <a:cs typeface="Calibri" pitchFamily="34" charset="-120"/>
              </a:rPr>
              <a:t>calcium carbonate by mass</a:t>
            </a:r>
            <a:endParaRPr lang="en-US" sz="950" dirty="0"/>
          </a:p>
        </p:txBody>
      </p:sp>
      <p:sp>
        <p:nvSpPr>
          <p:cNvPr id="7" name="Text 5"/>
          <p:cNvSpPr txBox="1"/>
          <p:nvPr/>
        </p:nvSpPr>
        <p:spPr>
          <a:xfrm>
            <a:off x="731520" y="3291840"/>
            <a:ext cx="4206240" cy="609600"/>
          </a:xfrm>
          <a:prstGeom prst="rect">
            <a:avLst/>
          </a:prstGeom>
          <a:noFill/>
          <a:ln/>
        </p:spPr>
        <p:txBody>
          <a:bodyPr wrap="square" lIns="0" tIns="0" rIns="0" bIns="0" rtlCol="0" anchor="b"/>
          <a:lstStyle/>
          <a:p>
            <a:pPr marL="0" indent="0">
              <a:buNone/>
            </a:pPr>
            <a:r>
              <a:rPr lang="en-US" sz="3200" b="1" dirty="0">
                <a:solidFill>
                  <a:srgbClr val="B4513A"/>
                </a:solidFill>
                <a:latin typeface="Calibri" pitchFamily="34" charset="0"/>
                <a:ea typeface="Calibri" pitchFamily="34" charset="-122"/>
                <a:cs typeface="Calibri" pitchFamily="34" charset="-120"/>
              </a:rPr>
              <a:t>0.85–2.66</a:t>
            </a:r>
            <a:endParaRPr lang="en-US" sz="3200" dirty="0"/>
          </a:p>
        </p:txBody>
      </p:sp>
      <p:sp>
        <p:nvSpPr>
          <p:cNvPr id="8" name="Text 6"/>
          <p:cNvSpPr txBox="1"/>
          <p:nvPr/>
        </p:nvSpPr>
        <p:spPr>
          <a:xfrm>
            <a:off x="731520" y="3938016"/>
            <a:ext cx="4206240" cy="420624"/>
          </a:xfrm>
          <a:prstGeom prst="rect">
            <a:avLst/>
          </a:prstGeom>
          <a:noFill/>
          <a:ln/>
        </p:spPr>
        <p:txBody>
          <a:bodyPr wrap="square" lIns="0" tIns="0" rIns="0" bIns="0" rtlCol="0" anchor="t"/>
          <a:lstStyle/>
          <a:p>
            <a:pPr marL="0" indent="0">
              <a:lnSpc>
                <a:spcPts val="1250"/>
              </a:lnSpc>
              <a:buNone/>
            </a:pPr>
            <a:r>
              <a:rPr lang="en-US" sz="950" dirty="0">
                <a:solidFill>
                  <a:srgbClr val="8C8C8C"/>
                </a:solidFill>
                <a:latin typeface="Calibri" pitchFamily="34" charset="0"/>
                <a:ea typeface="Calibri" pitchFamily="34" charset="-122"/>
                <a:cs typeface="Calibri" pitchFamily="34" charset="-120"/>
              </a:rPr>
              <a:t>specific gravity, below most mineral fillers</a:t>
            </a:r>
            <a:endParaRPr lang="en-US" sz="950" dirty="0"/>
          </a:p>
        </p:txBody>
      </p:sp>
      <p:sp>
        <p:nvSpPr>
          <p:cNvPr id="9" name="Text 7"/>
          <p:cNvSpPr txBox="1"/>
          <p:nvPr/>
        </p:nvSpPr>
        <p:spPr>
          <a:xfrm>
            <a:off x="731520" y="4754880"/>
            <a:ext cx="420624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William &amp; Owen (1995) · Torres et al. (2010) · Owuamanam &amp; Cree (2020)</a:t>
            </a:r>
            <a:endParaRPr lang="en-US" sz="900" dirty="0"/>
          </a:p>
        </p:txBody>
      </p:sp>
      <p:sp>
        <p:nvSpPr>
          <p:cNvPr id="10" name="vr6.31.5"/>
          <p:cNvSpPr/>
          <p:nvPr/>
        </p:nvSpPr>
        <p:spPr>
          <a:xfrm>
            <a:off x="5760720" y="1371600"/>
            <a:ext cx="13716" cy="3840480"/>
          </a:xfrm>
          <a:prstGeom prst="rect">
            <a:avLst/>
          </a:prstGeom>
          <a:solidFill>
            <a:srgbClr val="E4E4E4"/>
          </a:solidFill>
          <a:ln w="12700">
            <a:solidFill>
              <a:srgbClr val="E4E4E4">
                <a:alpha val="0"/>
              </a:srgbClr>
            </a:solidFill>
            <a:prstDash val="solid"/>
          </a:ln>
        </p:spPr>
        <p:txBody>
          <a:bodyPr/>
          <a:lstStyle/>
          <a:p>
            <a:endParaRPr lang="tr-TR"/>
          </a:p>
        </p:txBody>
      </p:sp>
      <p:sp>
        <p:nvSpPr>
          <p:cNvPr id="11" name="Text 9"/>
          <p:cNvSpPr txBox="1"/>
          <p:nvPr/>
        </p:nvSpPr>
        <p:spPr>
          <a:xfrm>
            <a:off x="6309360" y="1371600"/>
            <a:ext cx="51206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Two routes</a:t>
            </a:r>
            <a:endParaRPr lang="en-US" sz="1300" dirty="0"/>
          </a:p>
        </p:txBody>
      </p:sp>
      <p:sp>
        <p:nvSpPr>
          <p:cNvPr id="12" name="nd6.92.3"/>
          <p:cNvSpPr/>
          <p:nvPr/>
        </p:nvSpPr>
        <p:spPr>
          <a:xfrm>
            <a:off x="6309360" y="2103120"/>
            <a:ext cx="5120640" cy="457200"/>
          </a:xfrm>
          <a:prstGeom prst="rect">
            <a:avLst/>
          </a:prstGeom>
          <a:solidFill>
            <a:srgbClr val="F7F6F4"/>
          </a:solidFill>
          <a:ln w="12700">
            <a:solidFill>
              <a:srgbClr val="F7F6F4"/>
            </a:solidFill>
            <a:prstDash val="solid"/>
          </a:ln>
        </p:spPr>
        <p:txBody>
          <a:bodyPr/>
          <a:lstStyle/>
          <a:p>
            <a:endParaRPr lang="tr-TR"/>
          </a:p>
        </p:txBody>
      </p:sp>
      <p:sp>
        <p:nvSpPr>
          <p:cNvPr id="13" name="Text 11"/>
          <p:cNvSpPr txBox="1"/>
          <p:nvPr/>
        </p:nvSpPr>
        <p:spPr>
          <a:xfrm>
            <a:off x="6419088" y="2103120"/>
            <a:ext cx="4901184" cy="457200"/>
          </a:xfrm>
          <a:prstGeom prst="rect">
            <a:avLst/>
          </a:prstGeom>
          <a:noFill/>
          <a:ln/>
        </p:spPr>
        <p:txBody>
          <a:bodyPr wrap="square" lIns="0" tIns="0" rIns="0" bIns="0" rtlCol="0" anchor="ctr"/>
          <a:lstStyle/>
          <a:p>
            <a:pPr marL="0" indent="0" algn="ctr">
              <a:lnSpc>
                <a:spcPts val="1400"/>
              </a:lnSpc>
              <a:buNone/>
            </a:pPr>
            <a:r>
              <a:rPr lang="en-US" sz="1100" b="1" dirty="0">
                <a:solidFill>
                  <a:srgbClr val="141414"/>
                </a:solidFill>
                <a:latin typeface="Calibri" pitchFamily="34" charset="0"/>
                <a:ea typeface="Calibri" pitchFamily="34" charset="-122"/>
                <a:cs typeface="Calibri" pitchFamily="34" charset="-120"/>
              </a:rPr>
              <a:t>Food processing</a:t>
            </a:r>
            <a:endParaRPr lang="en-US" sz="1100" dirty="0"/>
          </a:p>
        </p:txBody>
      </p:sp>
      <p:sp>
        <p:nvSpPr>
          <p:cNvPr id="14" name="d1"/>
          <p:cNvSpPr/>
          <p:nvPr/>
        </p:nvSpPr>
        <p:spPr>
          <a:xfrm>
            <a:off x="8778240" y="2670048"/>
            <a:ext cx="164592" cy="237744"/>
          </a:xfrm>
          <a:prstGeom prst="downArrow">
            <a:avLst/>
          </a:prstGeom>
          <a:solidFill>
            <a:srgbClr val="BDBDBD"/>
          </a:solidFill>
          <a:ln w="12700">
            <a:solidFill>
              <a:srgbClr val="BDBDBD">
                <a:alpha val="0"/>
              </a:srgbClr>
            </a:solidFill>
            <a:prstDash val="solid"/>
          </a:ln>
        </p:spPr>
        <p:txBody>
          <a:bodyPr/>
          <a:lstStyle/>
          <a:p>
            <a:endParaRPr lang="tr-TR"/>
          </a:p>
        </p:txBody>
      </p:sp>
      <p:sp>
        <p:nvSpPr>
          <p:cNvPr id="15" name="nd6.93.3"/>
          <p:cNvSpPr/>
          <p:nvPr/>
        </p:nvSpPr>
        <p:spPr>
          <a:xfrm>
            <a:off x="6309360" y="3017520"/>
            <a:ext cx="5120640" cy="457200"/>
          </a:xfrm>
          <a:prstGeom prst="rect">
            <a:avLst/>
          </a:prstGeom>
          <a:solidFill>
            <a:srgbClr val="F7F6F4"/>
          </a:solidFill>
          <a:ln w="12700">
            <a:solidFill>
              <a:srgbClr val="F7F6F4"/>
            </a:solidFill>
            <a:prstDash val="solid"/>
          </a:ln>
        </p:spPr>
        <p:txBody>
          <a:bodyPr/>
          <a:lstStyle/>
          <a:p>
            <a:endParaRPr lang="tr-TR"/>
          </a:p>
        </p:txBody>
      </p:sp>
      <p:sp>
        <p:nvSpPr>
          <p:cNvPr id="16" name="Text 14"/>
          <p:cNvSpPr txBox="1"/>
          <p:nvPr/>
        </p:nvSpPr>
        <p:spPr>
          <a:xfrm>
            <a:off x="6419088" y="3017520"/>
            <a:ext cx="4901184" cy="457200"/>
          </a:xfrm>
          <a:prstGeom prst="rect">
            <a:avLst/>
          </a:prstGeom>
          <a:noFill/>
          <a:ln/>
        </p:spPr>
        <p:txBody>
          <a:bodyPr wrap="square" lIns="0" tIns="0" rIns="0" bIns="0" rtlCol="0" anchor="ctr"/>
          <a:lstStyle/>
          <a:p>
            <a:pPr marL="0" indent="0" algn="ctr">
              <a:lnSpc>
                <a:spcPts val="1400"/>
              </a:lnSpc>
              <a:buNone/>
            </a:pPr>
            <a:r>
              <a:rPr lang="en-US" sz="1100" b="1" dirty="0">
                <a:solidFill>
                  <a:srgbClr val="141414"/>
                </a:solidFill>
                <a:latin typeface="Calibri" pitchFamily="34" charset="0"/>
                <a:ea typeface="Calibri" pitchFamily="34" charset="-122"/>
                <a:cs typeface="Calibri" pitchFamily="34" charset="-120"/>
              </a:rPr>
              <a:t>Waste eggshell</a:t>
            </a:r>
            <a:endParaRPr lang="en-US" sz="1100" dirty="0"/>
          </a:p>
        </p:txBody>
      </p:sp>
      <p:sp>
        <p:nvSpPr>
          <p:cNvPr id="17" name="d2"/>
          <p:cNvSpPr/>
          <p:nvPr/>
        </p:nvSpPr>
        <p:spPr>
          <a:xfrm>
            <a:off x="7406640" y="3584448"/>
            <a:ext cx="164592" cy="237744"/>
          </a:xfrm>
          <a:prstGeom prst="downArrow">
            <a:avLst/>
          </a:prstGeom>
          <a:solidFill>
            <a:srgbClr val="BDBDBD"/>
          </a:solidFill>
          <a:ln w="12700">
            <a:solidFill>
              <a:srgbClr val="BDBDBD">
                <a:alpha val="0"/>
              </a:srgbClr>
            </a:solidFill>
            <a:prstDash val="solid"/>
          </a:ln>
        </p:spPr>
        <p:txBody>
          <a:bodyPr/>
          <a:lstStyle/>
          <a:p>
            <a:endParaRPr lang="tr-TR"/>
          </a:p>
        </p:txBody>
      </p:sp>
      <p:sp>
        <p:nvSpPr>
          <p:cNvPr id="18" name="d3"/>
          <p:cNvSpPr/>
          <p:nvPr/>
        </p:nvSpPr>
        <p:spPr>
          <a:xfrm>
            <a:off x="10149840" y="3584448"/>
            <a:ext cx="164592" cy="237744"/>
          </a:xfrm>
          <a:prstGeom prst="downArrow">
            <a:avLst/>
          </a:prstGeom>
          <a:solidFill>
            <a:srgbClr val="B4513A"/>
          </a:solidFill>
          <a:ln w="12700">
            <a:solidFill>
              <a:srgbClr val="B4513A">
                <a:alpha val="0"/>
              </a:srgbClr>
            </a:solidFill>
            <a:prstDash val="solid"/>
          </a:ln>
        </p:spPr>
        <p:txBody>
          <a:bodyPr/>
          <a:lstStyle/>
          <a:p>
            <a:endParaRPr lang="tr-TR"/>
          </a:p>
        </p:txBody>
      </p:sp>
      <p:sp>
        <p:nvSpPr>
          <p:cNvPr id="19" name="nd6.94.3"/>
          <p:cNvSpPr/>
          <p:nvPr/>
        </p:nvSpPr>
        <p:spPr>
          <a:xfrm>
            <a:off x="6309360" y="3931920"/>
            <a:ext cx="2377440" cy="457200"/>
          </a:xfrm>
          <a:prstGeom prst="rect">
            <a:avLst/>
          </a:prstGeom>
          <a:solidFill>
            <a:srgbClr val="FFFFFF"/>
          </a:solidFill>
          <a:ln w="12700">
            <a:solidFill>
              <a:srgbClr val="BDBDBD"/>
            </a:solidFill>
            <a:prstDash val="solid"/>
          </a:ln>
        </p:spPr>
        <p:txBody>
          <a:bodyPr/>
          <a:lstStyle/>
          <a:p>
            <a:endParaRPr lang="tr-TR"/>
          </a:p>
        </p:txBody>
      </p:sp>
      <p:sp>
        <p:nvSpPr>
          <p:cNvPr id="20" name="Text 18"/>
          <p:cNvSpPr txBox="1"/>
          <p:nvPr/>
        </p:nvSpPr>
        <p:spPr>
          <a:xfrm>
            <a:off x="6419088" y="3931920"/>
            <a:ext cx="2157984" cy="457200"/>
          </a:xfrm>
          <a:prstGeom prst="rect">
            <a:avLst/>
          </a:prstGeom>
          <a:noFill/>
          <a:ln/>
        </p:spPr>
        <p:txBody>
          <a:bodyPr wrap="square" lIns="0" tIns="0" rIns="0" bIns="0" rtlCol="0" anchor="ctr"/>
          <a:lstStyle/>
          <a:p>
            <a:pPr marL="0" indent="0" algn="ctr">
              <a:lnSpc>
                <a:spcPts val="1400"/>
              </a:lnSpc>
              <a:buNone/>
            </a:pPr>
            <a:r>
              <a:rPr lang="en-US" sz="1100" b="1" dirty="0">
                <a:solidFill>
                  <a:srgbClr val="8C8C8C"/>
                </a:solidFill>
                <a:latin typeface="Calibri" pitchFamily="34" charset="0"/>
                <a:ea typeface="Calibri" pitchFamily="34" charset="-122"/>
                <a:cs typeface="Calibri" pitchFamily="34" charset="-120"/>
              </a:rPr>
              <a:t>Landfill</a:t>
            </a:r>
            <a:endParaRPr lang="en-US" sz="1100" dirty="0"/>
          </a:p>
        </p:txBody>
      </p:sp>
      <p:sp>
        <p:nvSpPr>
          <p:cNvPr id="21" name="nd9.94.3"/>
          <p:cNvSpPr/>
          <p:nvPr/>
        </p:nvSpPr>
        <p:spPr>
          <a:xfrm>
            <a:off x="9052560" y="3931920"/>
            <a:ext cx="2377440" cy="457200"/>
          </a:xfrm>
          <a:prstGeom prst="rect">
            <a:avLst/>
          </a:prstGeom>
          <a:solidFill>
            <a:srgbClr val="B4513A"/>
          </a:solidFill>
          <a:ln w="12700">
            <a:solidFill>
              <a:srgbClr val="B4513A"/>
            </a:solidFill>
            <a:prstDash val="solid"/>
          </a:ln>
        </p:spPr>
        <p:txBody>
          <a:bodyPr/>
          <a:lstStyle/>
          <a:p>
            <a:endParaRPr lang="tr-TR"/>
          </a:p>
        </p:txBody>
      </p:sp>
      <p:sp>
        <p:nvSpPr>
          <p:cNvPr id="22" name="Text 20"/>
          <p:cNvSpPr txBox="1"/>
          <p:nvPr/>
        </p:nvSpPr>
        <p:spPr>
          <a:xfrm>
            <a:off x="9162288" y="3931920"/>
            <a:ext cx="2157984" cy="457200"/>
          </a:xfrm>
          <a:prstGeom prst="rect">
            <a:avLst/>
          </a:prstGeom>
          <a:noFill/>
          <a:ln/>
        </p:spPr>
        <p:txBody>
          <a:bodyPr wrap="square" lIns="0" tIns="0" rIns="0" bIns="0" rtlCol="0" anchor="ctr"/>
          <a:lstStyle/>
          <a:p>
            <a:pPr marL="0" indent="0" algn="ctr">
              <a:lnSpc>
                <a:spcPts val="1400"/>
              </a:lnSpc>
              <a:buNone/>
            </a:pPr>
            <a:r>
              <a:rPr lang="en-US" sz="1100" b="1" dirty="0">
                <a:solidFill>
                  <a:srgbClr val="FFFFFF"/>
                </a:solidFill>
                <a:latin typeface="Calibri" pitchFamily="34" charset="0"/>
                <a:ea typeface="Calibri" pitchFamily="34" charset="-122"/>
                <a:cs typeface="Calibri" pitchFamily="34" charset="-120"/>
              </a:rPr>
              <a:t>Mineral resource</a:t>
            </a:r>
            <a:endParaRPr lang="en-US" sz="1100" dirty="0"/>
          </a:p>
        </p:txBody>
      </p:sp>
      <p:sp>
        <p:nvSpPr>
          <p:cNvPr id="23" name="Text 21"/>
          <p:cNvSpPr txBox="1"/>
          <p:nvPr/>
        </p:nvSpPr>
        <p:spPr>
          <a:xfrm>
            <a:off x="6309360" y="4846320"/>
            <a:ext cx="5120640" cy="109728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The case for eggshell as a mineral phase is settled. This paper is about the phase that binds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3</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Prior applications</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Established uses of eggshell waste in engineered materials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3419856"/>
        </p:xfrm>
        <a:graphic>
          <a:graphicData uri="http://schemas.openxmlformats.org/drawingml/2006/table">
            <a:tbl>
              <a:tblPr/>
              <a:tblGrid>
                <a:gridCol w="4297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10896">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Binding phase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Partial cement replacement in concrete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Portland clinker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Teara et al. (2019); Bhartiya &amp; Dubey (2018)</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Compressed laterite brick</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Soil – lime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Adogla et al. (2016)</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Hot-mix asphalt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Bitumen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Razzaq &amp; Yousif (2017)</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Clay stabilisation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Clay mineral</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Soundara &amp; Vilasini (2015)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Eco-ceramic wall tile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Ceramic body</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Vilarinho et al. (2022)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Particulate filler in PVC</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Poly(vinyl chloride)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Skórczewska et al. (2020)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Filler in flexible polyurethane foam</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Polyurethane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Victor et al. (2019)</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Ceramic–metal composite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Metal matrix</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Bilici et al. (2023); Yönetken et al. (2016)</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Bone tissue scaffold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Calcium phosphate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Shafiei et al. (2019)</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Wallpaper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Cellulosic furnish</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Tutuş et al. (2018)</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ru0.85.72"/>
          <p:cNvSpPr/>
          <p:nvPr/>
        </p:nvSpPr>
        <p:spPr>
          <a:xfrm>
            <a:off x="731520" y="5230368"/>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7" name="Text 4"/>
          <p:cNvSpPr txBox="1"/>
          <p:nvPr/>
        </p:nvSpPr>
        <p:spPr>
          <a:xfrm>
            <a:off x="731520" y="5376672"/>
            <a:ext cx="10241280" cy="365760"/>
          </a:xfrm>
          <a:prstGeom prst="rect">
            <a:avLst/>
          </a:prstGeom>
          <a:noFill/>
          <a:ln/>
        </p:spPr>
        <p:txBody>
          <a:bodyPr wrap="square" lIns="0" tIns="0" rIns="0" bIns="0" rtlCol="0" anchor="t"/>
          <a:lstStyle/>
          <a:p>
            <a:pPr marL="0" indent="0">
              <a:lnSpc>
                <a:spcPts val="1800"/>
              </a:lnSpc>
              <a:buNone/>
            </a:pPr>
            <a:r>
              <a:rPr lang="en-US" sz="1200" b="1" dirty="0">
                <a:solidFill>
                  <a:srgbClr val="141414"/>
                </a:solidFill>
                <a:latin typeface="Calibri" pitchFamily="34" charset="0"/>
                <a:ea typeface="Calibri" pitchFamily="34" charset="-122"/>
                <a:cs typeface="Calibri" pitchFamily="34" charset="-120"/>
              </a:rPr>
              <a:t>The burden is carried by the binder, and the binder is left untouched.</a:t>
            </a:r>
            <a:endParaRPr lang="en-US" sz="1200" dirty="0"/>
          </a:p>
        </p:txBody>
      </p:sp>
      <p:sp>
        <p:nvSpPr>
          <p:cNvPr id="8" name="ph1"/>
          <p:cNvSpPr/>
          <p:nvPr/>
        </p:nvSpPr>
        <p:spPr>
          <a:xfrm>
            <a:off x="731520" y="5623560"/>
            <a:ext cx="10698480" cy="347472"/>
          </a:xfrm>
          <a:prstGeom prst="rect">
            <a:avLst/>
          </a:prstGeom>
          <a:solidFill>
            <a:srgbClr val="B4513A"/>
          </a:solidFill>
          <a:ln w="12700">
            <a:solidFill>
              <a:srgbClr val="B4513A">
                <a:alpha val="0"/>
              </a:srgbClr>
            </a:solidFill>
            <a:prstDash val="solid"/>
          </a:ln>
        </p:spPr>
        <p:txBody>
          <a:bodyPr/>
          <a:lstStyle/>
          <a:p>
            <a:endParaRPr lang="tr-TR"/>
          </a:p>
        </p:txBody>
      </p:sp>
      <p:sp>
        <p:nvSpPr>
          <p:cNvPr id="9" name="Text 6"/>
          <p:cNvSpPr txBox="1"/>
          <p:nvPr/>
        </p:nvSpPr>
        <p:spPr>
          <a:xfrm>
            <a:off x="914400" y="5623560"/>
            <a:ext cx="10332720" cy="347472"/>
          </a:xfrm>
          <a:prstGeom prst="rect">
            <a:avLst/>
          </a:prstGeom>
          <a:noFill/>
          <a:ln/>
        </p:spPr>
        <p:txBody>
          <a:bodyPr wrap="square" lIns="0" tIns="0" rIns="0" bIns="0" rtlCol="0" anchor="ctr"/>
          <a:lstStyle/>
          <a:p>
            <a:pPr marL="0" indent="0">
              <a:buNone/>
            </a:pPr>
            <a:r>
              <a:rPr lang="en-US" sz="1100" b="1" kern="0" spc="40" dirty="0">
                <a:solidFill>
                  <a:srgbClr val="FFFFFF"/>
                </a:solidFill>
                <a:latin typeface="Calibri" pitchFamily="34" charset="0"/>
                <a:ea typeface="Calibri" pitchFamily="34" charset="-122"/>
                <a:cs typeface="Calibri" pitchFamily="34" charset="-120"/>
              </a:rPr>
              <a:t>MINERAL PHASE   ·   recovered from waste</a:t>
            </a:r>
            <a:endParaRPr lang="en-US" sz="1100" dirty="0"/>
          </a:p>
        </p:txBody>
      </p:sp>
      <p:sp>
        <p:nvSpPr>
          <p:cNvPr id="10" name="ph2"/>
          <p:cNvSpPr/>
          <p:nvPr/>
        </p:nvSpPr>
        <p:spPr>
          <a:xfrm>
            <a:off x="731520" y="5971032"/>
            <a:ext cx="10698480" cy="347472"/>
          </a:xfrm>
          <a:prstGeom prst="rect">
            <a:avLst/>
          </a:prstGeom>
          <a:solidFill>
            <a:srgbClr val="141414"/>
          </a:solidFill>
          <a:ln w="12700">
            <a:solidFill>
              <a:srgbClr val="141414">
                <a:alpha val="0"/>
              </a:srgbClr>
            </a:solidFill>
            <a:prstDash val="solid"/>
          </a:ln>
        </p:spPr>
        <p:txBody>
          <a:bodyPr/>
          <a:lstStyle/>
          <a:p>
            <a:endParaRPr lang="tr-TR"/>
          </a:p>
        </p:txBody>
      </p:sp>
      <p:sp>
        <p:nvSpPr>
          <p:cNvPr id="11" name="Text 8"/>
          <p:cNvSpPr txBox="1"/>
          <p:nvPr/>
        </p:nvSpPr>
        <p:spPr>
          <a:xfrm>
            <a:off x="914400" y="5971032"/>
            <a:ext cx="10332720" cy="347472"/>
          </a:xfrm>
          <a:prstGeom prst="rect">
            <a:avLst/>
          </a:prstGeom>
          <a:noFill/>
          <a:ln/>
        </p:spPr>
        <p:txBody>
          <a:bodyPr wrap="square" lIns="0" tIns="0" rIns="0" bIns="0" rtlCol="0" anchor="ctr"/>
          <a:lstStyle/>
          <a:p>
            <a:pPr marL="0" indent="0">
              <a:buNone/>
            </a:pPr>
            <a:r>
              <a:rPr lang="en-US" sz="1100" b="1" kern="0" spc="40" dirty="0">
                <a:solidFill>
                  <a:srgbClr val="FFFFFF"/>
                </a:solidFill>
                <a:latin typeface="Calibri" pitchFamily="34" charset="0"/>
                <a:ea typeface="Calibri" pitchFamily="34" charset="-122"/>
                <a:cs typeface="Calibri" pitchFamily="34" charset="-120"/>
              </a:rPr>
              <a:t>BINDING PHASE   ·   cementitious, ceramic or petrochemical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9E9E9E"/>
                </a:solidFill>
                <a:latin typeface="Calibri" pitchFamily="34" charset="0"/>
                <a:ea typeface="Calibri" pitchFamily="34" charset="-122"/>
                <a:cs typeface="Calibri" pitchFamily="34" charset="-120"/>
              </a:rPr>
              <a:t>4</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Research gap</a:t>
            </a:r>
            <a:endParaRPr lang="en-US" sz="2000" dirty="0"/>
          </a:p>
        </p:txBody>
      </p:sp>
      <p:sp>
        <p:nvSpPr>
          <p:cNvPr id="4" name="Text 2"/>
          <p:cNvSpPr txBox="1"/>
          <p:nvPr/>
        </p:nvSpPr>
        <p:spPr>
          <a:xfrm>
            <a:off x="731520" y="1325880"/>
            <a:ext cx="106984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Three gaps follow from the preceding two slides</a:t>
            </a:r>
            <a:endParaRPr lang="en-US" sz="1300" dirty="0"/>
          </a:p>
        </p:txBody>
      </p:sp>
      <p:sp>
        <p:nvSpPr>
          <p:cNvPr id="5" name="ru0.81.9"/>
          <p:cNvSpPr/>
          <p:nvPr/>
        </p:nvSpPr>
        <p:spPr>
          <a:xfrm>
            <a:off x="731520" y="1737360"/>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6" name="Text 4"/>
          <p:cNvSpPr txBox="1"/>
          <p:nvPr/>
        </p:nvSpPr>
        <p:spPr>
          <a:xfrm>
            <a:off x="731520" y="2148840"/>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417320" y="2103120"/>
            <a:ext cx="4572000" cy="566928"/>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The binding phase is never biological</a:t>
            </a:r>
            <a:endParaRPr lang="en-US" sz="1300" dirty="0"/>
          </a:p>
        </p:txBody>
      </p:sp>
      <p:sp>
        <p:nvSpPr>
          <p:cNvPr id="8" name="Text 6"/>
          <p:cNvSpPr txBox="1"/>
          <p:nvPr/>
        </p:nvSpPr>
        <p:spPr>
          <a:xfrm>
            <a:off x="6309360" y="2121408"/>
            <a:ext cx="5120640" cy="731520"/>
          </a:xfrm>
          <a:prstGeom prst="rect">
            <a:avLst/>
          </a:prstGeom>
          <a:noFill/>
          <a:ln/>
        </p:spPr>
        <p:txBody>
          <a:bodyPr wrap="square" lIns="0" tIns="0" rIns="0" bIns="0" rtlCol="0" anchor="ctr"/>
          <a:lstStyle/>
          <a:p>
            <a:pPr marL="0" indent="0">
              <a:lnSpc>
                <a:spcPts val="1700"/>
              </a:lnSpc>
              <a:buNone/>
            </a:pPr>
            <a:r>
              <a:rPr lang="en-US" sz="1200" dirty="0">
                <a:solidFill>
                  <a:srgbClr val="9E9E9E"/>
                </a:solidFill>
                <a:latin typeface="Calibri" pitchFamily="34" charset="0"/>
                <a:ea typeface="Calibri" pitchFamily="34" charset="-122"/>
                <a:cs typeface="Calibri" pitchFamily="34" charset="-120"/>
              </a:rPr>
              <a:t>No study reports an eggshell composite in which both phases are of biological origin.</a:t>
            </a:r>
            <a:endParaRPr lang="en-US" sz="1200" dirty="0"/>
          </a:p>
        </p:txBody>
      </p:sp>
      <p:sp>
        <p:nvSpPr>
          <p:cNvPr id="9" name="ru0.83.4499999999999997"/>
          <p:cNvSpPr/>
          <p:nvPr/>
        </p:nvSpPr>
        <p:spPr>
          <a:xfrm>
            <a:off x="731520" y="3154680"/>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10" name="Text 8"/>
          <p:cNvSpPr txBox="1"/>
          <p:nvPr/>
        </p:nvSpPr>
        <p:spPr>
          <a:xfrm>
            <a:off x="731520" y="3474720"/>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17320" y="3429000"/>
            <a:ext cx="4572000" cy="566928"/>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Agar is characterised only as an unfilled film</a:t>
            </a:r>
            <a:endParaRPr lang="en-US" sz="1300" dirty="0"/>
          </a:p>
        </p:txBody>
      </p:sp>
      <p:sp>
        <p:nvSpPr>
          <p:cNvPr id="12" name="Text 10"/>
          <p:cNvSpPr txBox="1"/>
          <p:nvPr/>
        </p:nvSpPr>
        <p:spPr>
          <a:xfrm>
            <a:off x="6309360" y="3447288"/>
            <a:ext cx="5120640" cy="731520"/>
          </a:xfrm>
          <a:prstGeom prst="rect">
            <a:avLst/>
          </a:prstGeom>
          <a:noFill/>
          <a:ln/>
        </p:spPr>
        <p:txBody>
          <a:bodyPr wrap="square" lIns="0" tIns="0" rIns="0" bIns="0" rtlCol="0" anchor="ctr"/>
          <a:lstStyle/>
          <a:p>
            <a:pPr marL="0" indent="0">
              <a:lnSpc>
                <a:spcPts val="1700"/>
              </a:lnSpc>
              <a:buNone/>
            </a:pPr>
            <a:r>
              <a:rPr lang="en-US" sz="1200" dirty="0">
                <a:solidFill>
                  <a:srgbClr val="9E9E9E"/>
                </a:solidFill>
                <a:latin typeface="Calibri" pitchFamily="34" charset="0"/>
                <a:ea typeface="Calibri" pitchFamily="34" charset="-122"/>
                <a:cs typeface="Calibri" pitchFamily="34" charset="-120"/>
              </a:rPr>
              <a:t>Never as the binder of a mineral-filled solid in bending.</a:t>
            </a:r>
            <a:endParaRPr lang="en-US" sz="1200" dirty="0"/>
          </a:p>
        </p:txBody>
      </p:sp>
      <p:sp>
        <p:nvSpPr>
          <p:cNvPr id="13" name="ru0.84.9"/>
          <p:cNvSpPr/>
          <p:nvPr/>
        </p:nvSpPr>
        <p:spPr>
          <a:xfrm>
            <a:off x="731520" y="4480560"/>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14" name="Text 12"/>
          <p:cNvSpPr txBox="1"/>
          <p:nvPr/>
        </p:nvSpPr>
        <p:spPr>
          <a:xfrm>
            <a:off x="731520" y="4800600"/>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5" name="Text 13"/>
          <p:cNvSpPr txBox="1"/>
          <p:nvPr/>
        </p:nvSpPr>
        <p:spPr>
          <a:xfrm>
            <a:off x="1417320" y="4754880"/>
            <a:ext cx="4572000" cy="566928"/>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Property sets are reported in fragments</a:t>
            </a:r>
            <a:endParaRPr lang="en-US" sz="1300" dirty="0"/>
          </a:p>
        </p:txBody>
      </p:sp>
      <p:sp>
        <p:nvSpPr>
          <p:cNvPr id="16" name="Text 14"/>
          <p:cNvSpPr txBox="1"/>
          <p:nvPr/>
        </p:nvSpPr>
        <p:spPr>
          <a:xfrm>
            <a:off x="6309360" y="4773168"/>
            <a:ext cx="5120640" cy="731520"/>
          </a:xfrm>
          <a:prstGeom prst="rect">
            <a:avLst/>
          </a:prstGeom>
          <a:noFill/>
          <a:ln/>
        </p:spPr>
        <p:txBody>
          <a:bodyPr wrap="square" lIns="0" tIns="0" rIns="0" bIns="0" rtlCol="0" anchor="ctr"/>
          <a:lstStyle/>
          <a:p>
            <a:pPr marL="0" indent="0">
              <a:lnSpc>
                <a:spcPts val="1700"/>
              </a:lnSpc>
              <a:buNone/>
            </a:pPr>
            <a:r>
              <a:rPr lang="en-US" sz="1200" dirty="0">
                <a:solidFill>
                  <a:srgbClr val="9E9E9E"/>
                </a:solidFill>
                <a:latin typeface="Calibri" pitchFamily="34" charset="0"/>
                <a:ea typeface="Calibri" pitchFamily="34" charset="-122"/>
                <a:cs typeface="Calibri" pitchFamily="34" charset="-120"/>
              </a:rPr>
              <a:t>Property data is scattered across separate studies on separate formulations.</a:t>
            </a:r>
            <a:endParaRPr lang="en-US" sz="1200" dirty="0"/>
          </a:p>
        </p:txBody>
      </p:sp>
      <p:sp>
        <p:nvSpPr>
          <p:cNvPr id="17" name="Text 15"/>
          <p:cNvSpPr txBox="1"/>
          <p:nvPr/>
        </p:nvSpPr>
        <p:spPr>
          <a:xfrm>
            <a:off x="731520" y="6080760"/>
            <a:ext cx="10241280" cy="457200"/>
          </a:xfrm>
          <a:prstGeom prst="rect">
            <a:avLst/>
          </a:prstGeom>
          <a:noFill/>
          <a:ln/>
        </p:spPr>
        <p:txBody>
          <a:bodyPr wrap="square" lIns="0" tIns="0" rIns="0" bIns="0" rtlCol="0" anchor="t"/>
          <a:lstStyle/>
          <a:p>
            <a:pPr marL="0" indent="0">
              <a:lnSpc>
                <a:spcPts val="1800"/>
              </a:lnSpc>
              <a:buNone/>
            </a:pPr>
            <a:r>
              <a:rPr lang="en-US" sz="1200" b="1" i="1" dirty="0">
                <a:solidFill>
                  <a:srgbClr val="FFFFFF"/>
                </a:solidFill>
                <a:latin typeface="Calibri" pitchFamily="34" charset="0"/>
                <a:ea typeface="Calibri" pitchFamily="34" charset="-122"/>
                <a:cs typeface="Calibri" pitchFamily="34" charset="-120"/>
              </a:rPr>
              <a:t>This is not a novel constituent. It is a documented protocol and a single coherent property set.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5</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Aim</a:t>
            </a:r>
            <a:endParaRPr lang="en-US" sz="2000" dirty="0"/>
          </a:p>
        </p:txBody>
      </p:sp>
      <p:sp>
        <p:nvSpPr>
          <p:cNvPr id="4" name="aimp"/>
          <p:cNvSpPr/>
          <p:nvPr/>
        </p:nvSpPr>
        <p:spPr>
          <a:xfrm>
            <a:off x="731520" y="1325880"/>
            <a:ext cx="10698480" cy="1051560"/>
          </a:xfrm>
          <a:prstGeom prst="rect">
            <a:avLst/>
          </a:prstGeom>
          <a:solidFill>
            <a:srgbClr val="F7F6F4"/>
          </a:solidFill>
          <a:ln w="12700">
            <a:solidFill>
              <a:srgbClr val="F7F6F4">
                <a:alpha val="0"/>
              </a:srgbClr>
            </a:solidFill>
            <a:prstDash val="solid"/>
          </a:ln>
        </p:spPr>
        <p:txBody>
          <a:bodyPr/>
          <a:lstStyle/>
          <a:p>
            <a:endParaRPr lang="tr-TR"/>
          </a:p>
        </p:txBody>
      </p:sp>
      <p:sp>
        <p:nvSpPr>
          <p:cNvPr id="5" name="Text 3"/>
          <p:cNvSpPr txBox="1"/>
          <p:nvPr/>
        </p:nvSpPr>
        <p:spPr>
          <a:xfrm>
            <a:off x="1051560" y="1572768"/>
            <a:ext cx="10058400" cy="640080"/>
          </a:xfrm>
          <a:prstGeom prst="rect">
            <a:avLst/>
          </a:prstGeom>
          <a:noFill/>
          <a:ln/>
        </p:spPr>
        <p:txBody>
          <a:bodyPr wrap="square" lIns="0" tIns="0" rIns="0" bIns="0" rtlCol="0" anchor="ctr"/>
          <a:lstStyle/>
          <a:p>
            <a:pPr marL="0" indent="0">
              <a:lnSpc>
                <a:spcPts val="1900"/>
              </a:lnSpc>
              <a:buNone/>
            </a:pPr>
            <a:r>
              <a:rPr lang="en-US" sz="1300" b="1" dirty="0">
                <a:solidFill>
                  <a:srgbClr val="141414"/>
                </a:solidFill>
                <a:latin typeface="Calibri" pitchFamily="34" charset="0"/>
                <a:ea typeface="Calibri" pitchFamily="34" charset="-122"/>
                <a:cs typeface="Calibri" pitchFamily="34" charset="-120"/>
              </a:rPr>
              <a:t>To document a reproducible production protocol for a fully bio-based eggshell–agar composite, and to characterise it against published test standards.</a:t>
            </a:r>
            <a:endParaRPr lang="en-US" sz="1300" dirty="0"/>
          </a:p>
        </p:txBody>
      </p:sp>
      <p:sp>
        <p:nvSpPr>
          <p:cNvPr id="6" name="Text 4"/>
          <p:cNvSpPr txBox="1"/>
          <p:nvPr/>
        </p:nvSpPr>
        <p:spPr>
          <a:xfrm>
            <a:off x="731520" y="2926080"/>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Objectives</a:t>
            </a:r>
            <a:endParaRPr lang="en-US" sz="1300" dirty="0"/>
          </a:p>
        </p:txBody>
      </p:sp>
      <p:sp>
        <p:nvSpPr>
          <p:cNvPr id="7" name="ru0.83.6"/>
          <p:cNvSpPr/>
          <p:nvPr/>
        </p:nvSpPr>
        <p:spPr>
          <a:xfrm>
            <a:off x="731520" y="329184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8" name="Text 6"/>
          <p:cNvSpPr txBox="1"/>
          <p:nvPr/>
        </p:nvSpPr>
        <p:spPr>
          <a:xfrm>
            <a:off x="731520" y="3520440"/>
            <a:ext cx="246888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9" name="Text 7"/>
          <p:cNvSpPr txBox="1"/>
          <p:nvPr/>
        </p:nvSpPr>
        <p:spPr>
          <a:xfrm>
            <a:off x="731520" y="3840480"/>
            <a:ext cx="2377440" cy="731520"/>
          </a:xfrm>
          <a:prstGeom prst="rect">
            <a:avLst/>
          </a:prstGeom>
          <a:noFill/>
          <a:ln/>
        </p:spPr>
        <p:txBody>
          <a:bodyPr wrap="square" lIns="0" tIns="0" rIns="0" bIns="0" rtlCol="0" anchor="ctr"/>
          <a:lstStyle/>
          <a:p>
            <a:pPr marL="0" indent="0">
              <a:lnSpc>
                <a:spcPts val="2100"/>
              </a:lnSpc>
              <a:buNone/>
            </a:pPr>
            <a:r>
              <a:rPr lang="en-US" sz="1300" b="1" dirty="0">
                <a:solidFill>
                  <a:srgbClr val="141414"/>
                </a:solidFill>
                <a:latin typeface="Calibri" pitchFamily="34" charset="0"/>
                <a:ea typeface="Calibri" pitchFamily="34" charset="-122"/>
                <a:cs typeface="Calibri" pitchFamily="34" charset="-120"/>
              </a:rPr>
              <a:t>Document the protocol</a:t>
            </a:r>
            <a:endParaRPr lang="en-US" sz="1300" dirty="0"/>
          </a:p>
        </p:txBody>
      </p:sp>
      <p:sp>
        <p:nvSpPr>
          <p:cNvPr id="10" name="Text 8"/>
          <p:cNvSpPr txBox="1"/>
          <p:nvPr/>
        </p:nvSpPr>
        <p:spPr>
          <a:xfrm>
            <a:off x="3429000" y="3520440"/>
            <a:ext cx="246888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3429000" y="3840480"/>
            <a:ext cx="2377440" cy="731520"/>
          </a:xfrm>
          <a:prstGeom prst="rect">
            <a:avLst/>
          </a:prstGeom>
          <a:noFill/>
          <a:ln/>
        </p:spPr>
        <p:txBody>
          <a:bodyPr wrap="square" lIns="0" tIns="0" rIns="0" bIns="0" rtlCol="0" anchor="ctr"/>
          <a:lstStyle/>
          <a:p>
            <a:pPr marL="0" indent="0">
              <a:lnSpc>
                <a:spcPts val="2100"/>
              </a:lnSpc>
              <a:buNone/>
            </a:pPr>
            <a:r>
              <a:rPr lang="en-US" sz="1300" b="1" dirty="0">
                <a:solidFill>
                  <a:srgbClr val="141414"/>
                </a:solidFill>
                <a:latin typeface="Calibri" pitchFamily="34" charset="0"/>
                <a:ea typeface="Calibri" pitchFamily="34" charset="-122"/>
                <a:cs typeface="Calibri" pitchFamily="34" charset="-120"/>
              </a:rPr>
              <a:t>Characterise to standards</a:t>
            </a:r>
            <a:endParaRPr lang="en-US" sz="1300" dirty="0"/>
          </a:p>
        </p:txBody>
      </p:sp>
      <p:sp>
        <p:nvSpPr>
          <p:cNvPr id="12" name="Text 10"/>
          <p:cNvSpPr txBox="1"/>
          <p:nvPr/>
        </p:nvSpPr>
        <p:spPr>
          <a:xfrm>
            <a:off x="6126480" y="3520440"/>
            <a:ext cx="246888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6126480" y="3840480"/>
            <a:ext cx="2377440" cy="731520"/>
          </a:xfrm>
          <a:prstGeom prst="rect">
            <a:avLst/>
          </a:prstGeom>
          <a:noFill/>
          <a:ln/>
        </p:spPr>
        <p:txBody>
          <a:bodyPr wrap="square" lIns="0" tIns="0" rIns="0" bIns="0" rtlCol="0" anchor="ctr"/>
          <a:lstStyle/>
          <a:p>
            <a:pPr marL="0" indent="0">
              <a:lnSpc>
                <a:spcPts val="2100"/>
              </a:lnSpc>
              <a:buNone/>
            </a:pPr>
            <a:r>
              <a:rPr lang="en-US" sz="1300" b="1" dirty="0">
                <a:solidFill>
                  <a:srgbClr val="141414"/>
                </a:solidFill>
                <a:latin typeface="Calibri" pitchFamily="34" charset="0"/>
                <a:ea typeface="Calibri" pitchFamily="34" charset="-122"/>
                <a:cs typeface="Calibri" pitchFamily="34" charset="-120"/>
              </a:rPr>
              <a:t>Position against two families</a:t>
            </a:r>
            <a:endParaRPr lang="en-US" sz="1300" dirty="0"/>
          </a:p>
        </p:txBody>
      </p:sp>
      <p:sp>
        <p:nvSpPr>
          <p:cNvPr id="14" name="Text 12"/>
          <p:cNvSpPr txBox="1"/>
          <p:nvPr/>
        </p:nvSpPr>
        <p:spPr>
          <a:xfrm>
            <a:off x="8823960" y="3520440"/>
            <a:ext cx="246888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5" name="Text 13"/>
          <p:cNvSpPr txBox="1"/>
          <p:nvPr/>
        </p:nvSpPr>
        <p:spPr>
          <a:xfrm>
            <a:off x="8823960" y="3840480"/>
            <a:ext cx="2377440" cy="731520"/>
          </a:xfrm>
          <a:prstGeom prst="rect">
            <a:avLst/>
          </a:prstGeom>
          <a:noFill/>
          <a:ln/>
        </p:spPr>
        <p:txBody>
          <a:bodyPr wrap="square" lIns="0" tIns="0" rIns="0" bIns="0" rtlCol="0" anchor="ctr"/>
          <a:lstStyle/>
          <a:p>
            <a:pPr marL="0" indent="0">
              <a:lnSpc>
                <a:spcPts val="2100"/>
              </a:lnSpc>
              <a:buNone/>
            </a:pPr>
            <a:r>
              <a:rPr lang="en-US" sz="1300" b="1" dirty="0">
                <a:solidFill>
                  <a:srgbClr val="B4513A"/>
                </a:solidFill>
                <a:latin typeface="Calibri" pitchFamily="34" charset="0"/>
                <a:ea typeface="Calibri" pitchFamily="34" charset="-122"/>
                <a:cs typeface="Calibri" pitchFamily="34" charset="-120"/>
              </a:rPr>
              <a:t>Derive an evaluation criterion</a:t>
            </a:r>
            <a:endParaRPr lang="en-US" sz="1300" dirty="0"/>
          </a:p>
        </p:txBody>
      </p:sp>
      <p:sp>
        <p:nvSpPr>
          <p:cNvPr id="17" name="Text 15"/>
          <p:cNvSpPr txBox="1"/>
          <p:nvPr/>
        </p:nvSpPr>
        <p:spPr>
          <a:xfrm>
            <a:off x="731520" y="5486400"/>
            <a:ext cx="10241280" cy="457200"/>
          </a:xfrm>
          <a:prstGeom prst="rect">
            <a:avLst/>
          </a:prstGeom>
          <a:noFill/>
          <a:ln/>
        </p:spPr>
        <p:txBody>
          <a:bodyPr wrap="square" lIns="0" tIns="0" rIns="0" bIns="0" rtlCol="0" anchor="t"/>
          <a:lstStyle/>
          <a:p>
            <a:pPr marL="0" indent="0">
              <a:lnSpc>
                <a:spcPts val="1250"/>
              </a:lnSpc>
              <a:buNone/>
            </a:pPr>
            <a:r>
              <a:rPr lang="en-US" sz="1200" dirty="0">
                <a:latin typeface="Calibri" pitchFamily="34" charset="0"/>
                <a:ea typeface="Calibri" pitchFamily="34" charset="-122"/>
                <a:cs typeface="Calibri" pitchFamily="34" charset="-120"/>
              </a:rPr>
              <a:t>Standards applied: ASTM D790-17 · ISO 11925-2:2020 · ASTM D570-98(2018).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6</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Scope</a:t>
            </a:r>
            <a:endParaRPr lang="en-US" sz="2000" dirty="0"/>
          </a:p>
        </p:txBody>
      </p:sp>
      <p:sp>
        <p:nvSpPr>
          <p:cNvPr id="4" name="Text 2"/>
          <p:cNvSpPr txBox="1"/>
          <p:nvPr/>
        </p:nvSpPr>
        <p:spPr>
          <a:xfrm>
            <a:off x="731520" y="1325880"/>
            <a:ext cx="640080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Within scope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400800" cy="3200400"/>
        </p:xfrm>
        <a:graphic>
          <a:graphicData uri="http://schemas.openxmlformats.org/drawingml/2006/table">
            <a:tbl>
              <a:tblPr/>
              <a:tblGrid>
                <a:gridCol w="17373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457200">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457200">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Formulations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Five — three compressive, two flexural</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Specimens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Three per formulation for mechanical testing</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Properties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Compression, flexure, ignitability, water absorption, bulk density</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Standards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ASTM D790-17 · ISO 11925-2:2020 · ASTM D570-98(2018)</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Conditions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Ambient cure, single laboratory, single operator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Non-loadbearing interior surfaces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vr8.41.45"/>
          <p:cNvSpPr/>
          <p:nvPr/>
        </p:nvSpPr>
        <p:spPr>
          <a:xfrm>
            <a:off x="7680960" y="1325880"/>
            <a:ext cx="13716" cy="3566160"/>
          </a:xfrm>
          <a:prstGeom prst="rect">
            <a:avLst/>
          </a:prstGeom>
          <a:solidFill>
            <a:srgbClr val="E4E4E4"/>
          </a:solidFill>
          <a:ln w="12700">
            <a:solidFill>
              <a:srgbClr val="E4E4E4">
                <a:alpha val="0"/>
              </a:srgbClr>
            </a:solidFill>
            <a:prstDash val="solid"/>
          </a:ln>
        </p:spPr>
        <p:txBody>
          <a:bodyPr/>
          <a:lstStyle/>
          <a:p>
            <a:endParaRPr lang="tr-TR"/>
          </a:p>
        </p:txBody>
      </p:sp>
      <p:sp>
        <p:nvSpPr>
          <p:cNvPr id="5" name="Text 4"/>
          <p:cNvSpPr txBox="1"/>
          <p:nvPr/>
        </p:nvSpPr>
        <p:spPr>
          <a:xfrm>
            <a:off x="8138160" y="1325880"/>
            <a:ext cx="32918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Outside scope</a:t>
            </a:r>
            <a:endParaRPr lang="en-US" sz="1300" dirty="0"/>
          </a:p>
        </p:txBody>
      </p:sp>
      <p:sp>
        <p:nvSpPr>
          <p:cNvPr id="8" name="Text 5"/>
          <p:cNvSpPr txBox="1"/>
          <p:nvPr/>
        </p:nvSpPr>
        <p:spPr>
          <a:xfrm>
            <a:off x="8138160" y="1737360"/>
            <a:ext cx="3291840" cy="201168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Durability and ageing</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Fire classification</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Life-cycle assessment</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Structural use</a:t>
            </a:r>
            <a:endParaRPr lang="en-US" sz="1200" dirty="0"/>
          </a:p>
        </p:txBody>
      </p:sp>
      <p:sp>
        <p:nvSpPr>
          <p:cNvPr id="9" name="ru0.85.6"/>
          <p:cNvSpPr/>
          <p:nvPr/>
        </p:nvSpPr>
        <p:spPr>
          <a:xfrm>
            <a:off x="731520" y="512064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0" name="Text 7"/>
          <p:cNvSpPr txBox="1"/>
          <p:nvPr/>
        </p:nvSpPr>
        <p:spPr>
          <a:xfrm>
            <a:off x="731520" y="5285232"/>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Property coverage</a:t>
            </a:r>
            <a:endParaRPr lang="en-US" sz="1300" dirty="0"/>
          </a:p>
        </p:txBody>
      </p:sp>
      <p:sp>
        <p:nvSpPr>
          <p:cNvPr id="11" name="ch0"/>
          <p:cNvSpPr/>
          <p:nvPr/>
        </p:nvSpPr>
        <p:spPr>
          <a:xfrm>
            <a:off x="731520" y="5669280"/>
            <a:ext cx="1097280" cy="475488"/>
          </a:xfrm>
          <a:prstGeom prst="rect">
            <a:avLst/>
          </a:prstGeom>
          <a:solidFill>
            <a:srgbClr val="141414"/>
          </a:solidFill>
          <a:ln w="12700">
            <a:solidFill>
              <a:srgbClr val="141414"/>
            </a:solidFill>
            <a:prstDash val="solid"/>
          </a:ln>
        </p:spPr>
        <p:txBody>
          <a:bodyPr/>
          <a:lstStyle/>
          <a:p>
            <a:endParaRPr lang="tr-TR"/>
          </a:p>
        </p:txBody>
      </p:sp>
      <p:sp>
        <p:nvSpPr>
          <p:cNvPr id="12" name="Text 9"/>
          <p:cNvSpPr txBox="1"/>
          <p:nvPr/>
        </p:nvSpPr>
        <p:spPr>
          <a:xfrm>
            <a:off x="786384"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FFFFFF"/>
                </a:solidFill>
                <a:latin typeface="Calibri" pitchFamily="34" charset="0"/>
                <a:ea typeface="Calibri" pitchFamily="34" charset="-122"/>
                <a:cs typeface="Calibri" pitchFamily="34" charset="-120"/>
              </a:rPr>
              <a:t>Compression</a:t>
            </a:r>
            <a:endParaRPr lang="en-US" sz="950" dirty="0"/>
          </a:p>
        </p:txBody>
      </p:sp>
      <p:sp>
        <p:nvSpPr>
          <p:cNvPr id="13" name="ch1"/>
          <p:cNvSpPr/>
          <p:nvPr/>
        </p:nvSpPr>
        <p:spPr>
          <a:xfrm>
            <a:off x="1929384" y="5669280"/>
            <a:ext cx="1097280" cy="475488"/>
          </a:xfrm>
          <a:prstGeom prst="rect">
            <a:avLst/>
          </a:prstGeom>
          <a:solidFill>
            <a:srgbClr val="141414"/>
          </a:solidFill>
          <a:ln w="12700">
            <a:solidFill>
              <a:srgbClr val="141414"/>
            </a:solidFill>
            <a:prstDash val="solid"/>
          </a:ln>
        </p:spPr>
        <p:txBody>
          <a:bodyPr/>
          <a:lstStyle/>
          <a:p>
            <a:endParaRPr lang="tr-TR"/>
          </a:p>
        </p:txBody>
      </p:sp>
      <p:sp>
        <p:nvSpPr>
          <p:cNvPr id="14" name="Text 11"/>
          <p:cNvSpPr txBox="1"/>
          <p:nvPr/>
        </p:nvSpPr>
        <p:spPr>
          <a:xfrm>
            <a:off x="1984248"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FFFFFF"/>
                </a:solidFill>
                <a:latin typeface="Calibri" pitchFamily="34" charset="0"/>
                <a:ea typeface="Calibri" pitchFamily="34" charset="-122"/>
                <a:cs typeface="Calibri" pitchFamily="34" charset="-120"/>
              </a:rPr>
              <a:t>Flexure</a:t>
            </a:r>
            <a:endParaRPr lang="en-US" sz="950" dirty="0"/>
          </a:p>
        </p:txBody>
      </p:sp>
      <p:sp>
        <p:nvSpPr>
          <p:cNvPr id="15" name="ch2"/>
          <p:cNvSpPr/>
          <p:nvPr/>
        </p:nvSpPr>
        <p:spPr>
          <a:xfrm>
            <a:off x="3127248" y="5669280"/>
            <a:ext cx="1097280" cy="475488"/>
          </a:xfrm>
          <a:prstGeom prst="rect">
            <a:avLst/>
          </a:prstGeom>
          <a:solidFill>
            <a:srgbClr val="141414"/>
          </a:solidFill>
          <a:ln w="12700">
            <a:solidFill>
              <a:srgbClr val="141414"/>
            </a:solidFill>
            <a:prstDash val="solid"/>
          </a:ln>
        </p:spPr>
        <p:txBody>
          <a:bodyPr/>
          <a:lstStyle/>
          <a:p>
            <a:endParaRPr lang="tr-TR"/>
          </a:p>
        </p:txBody>
      </p:sp>
      <p:sp>
        <p:nvSpPr>
          <p:cNvPr id="16" name="Text 13"/>
          <p:cNvSpPr txBox="1"/>
          <p:nvPr/>
        </p:nvSpPr>
        <p:spPr>
          <a:xfrm>
            <a:off x="3182112"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FFFFFF"/>
                </a:solidFill>
                <a:latin typeface="Calibri" pitchFamily="34" charset="0"/>
                <a:ea typeface="Calibri" pitchFamily="34" charset="-122"/>
                <a:cs typeface="Calibri" pitchFamily="34" charset="-120"/>
              </a:rPr>
              <a:t>Ignitability</a:t>
            </a:r>
            <a:endParaRPr lang="en-US" sz="950" dirty="0"/>
          </a:p>
        </p:txBody>
      </p:sp>
      <p:sp>
        <p:nvSpPr>
          <p:cNvPr id="17" name="ch3"/>
          <p:cNvSpPr/>
          <p:nvPr/>
        </p:nvSpPr>
        <p:spPr>
          <a:xfrm>
            <a:off x="4325112" y="5669280"/>
            <a:ext cx="1097280" cy="475488"/>
          </a:xfrm>
          <a:prstGeom prst="rect">
            <a:avLst/>
          </a:prstGeom>
          <a:solidFill>
            <a:srgbClr val="141414"/>
          </a:solidFill>
          <a:ln w="12700">
            <a:solidFill>
              <a:srgbClr val="141414"/>
            </a:solidFill>
            <a:prstDash val="solid"/>
          </a:ln>
        </p:spPr>
        <p:txBody>
          <a:bodyPr/>
          <a:lstStyle/>
          <a:p>
            <a:endParaRPr lang="tr-TR"/>
          </a:p>
        </p:txBody>
      </p:sp>
      <p:sp>
        <p:nvSpPr>
          <p:cNvPr id="18" name="Text 15"/>
          <p:cNvSpPr txBox="1"/>
          <p:nvPr/>
        </p:nvSpPr>
        <p:spPr>
          <a:xfrm>
            <a:off x="4379976"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FFFFFF"/>
                </a:solidFill>
                <a:latin typeface="Calibri" pitchFamily="34" charset="0"/>
                <a:ea typeface="Calibri" pitchFamily="34" charset="-122"/>
                <a:cs typeface="Calibri" pitchFamily="34" charset="-120"/>
              </a:rPr>
              <a:t>Water absorption</a:t>
            </a:r>
            <a:endParaRPr lang="en-US" sz="950" dirty="0"/>
          </a:p>
        </p:txBody>
      </p:sp>
      <p:sp>
        <p:nvSpPr>
          <p:cNvPr id="19" name="ch4"/>
          <p:cNvSpPr/>
          <p:nvPr/>
        </p:nvSpPr>
        <p:spPr>
          <a:xfrm>
            <a:off x="5522976" y="5669280"/>
            <a:ext cx="1097280" cy="475488"/>
          </a:xfrm>
          <a:prstGeom prst="rect">
            <a:avLst/>
          </a:prstGeom>
          <a:solidFill>
            <a:srgbClr val="141414"/>
          </a:solidFill>
          <a:ln w="12700">
            <a:solidFill>
              <a:srgbClr val="141414"/>
            </a:solidFill>
            <a:prstDash val="solid"/>
          </a:ln>
        </p:spPr>
        <p:txBody>
          <a:bodyPr/>
          <a:lstStyle/>
          <a:p>
            <a:endParaRPr lang="tr-TR"/>
          </a:p>
        </p:txBody>
      </p:sp>
      <p:sp>
        <p:nvSpPr>
          <p:cNvPr id="20" name="Text 17"/>
          <p:cNvSpPr txBox="1"/>
          <p:nvPr/>
        </p:nvSpPr>
        <p:spPr>
          <a:xfrm>
            <a:off x="5577840"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FFFFFF"/>
                </a:solidFill>
                <a:latin typeface="Calibri" pitchFamily="34" charset="0"/>
                <a:ea typeface="Calibri" pitchFamily="34" charset="-122"/>
                <a:cs typeface="Calibri" pitchFamily="34" charset="-120"/>
              </a:rPr>
              <a:t>Bulk density</a:t>
            </a:r>
            <a:endParaRPr lang="en-US" sz="950" dirty="0"/>
          </a:p>
        </p:txBody>
      </p:sp>
      <p:sp>
        <p:nvSpPr>
          <p:cNvPr id="21" name="ch5"/>
          <p:cNvSpPr/>
          <p:nvPr/>
        </p:nvSpPr>
        <p:spPr>
          <a:xfrm>
            <a:off x="6720840" y="5669280"/>
            <a:ext cx="1097280" cy="475488"/>
          </a:xfrm>
          <a:prstGeom prst="rect">
            <a:avLst/>
          </a:prstGeom>
          <a:solidFill>
            <a:srgbClr val="FFFFFF"/>
          </a:solidFill>
          <a:ln w="12700">
            <a:solidFill>
              <a:srgbClr val="BDBDBD"/>
            </a:solidFill>
            <a:prstDash val="solid"/>
          </a:ln>
        </p:spPr>
        <p:txBody>
          <a:bodyPr/>
          <a:lstStyle/>
          <a:p>
            <a:endParaRPr lang="tr-TR"/>
          </a:p>
        </p:txBody>
      </p:sp>
      <p:sp>
        <p:nvSpPr>
          <p:cNvPr id="22" name="Text 19"/>
          <p:cNvSpPr txBox="1"/>
          <p:nvPr/>
        </p:nvSpPr>
        <p:spPr>
          <a:xfrm>
            <a:off x="6775704"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BDBDBD"/>
                </a:solidFill>
                <a:latin typeface="Calibri" pitchFamily="34" charset="0"/>
                <a:ea typeface="Calibri" pitchFamily="34" charset="-122"/>
                <a:cs typeface="Calibri" pitchFamily="34" charset="-120"/>
              </a:rPr>
              <a:t>Durability</a:t>
            </a:r>
            <a:endParaRPr lang="en-US" sz="950" dirty="0"/>
          </a:p>
        </p:txBody>
      </p:sp>
      <p:sp>
        <p:nvSpPr>
          <p:cNvPr id="23" name="ch6"/>
          <p:cNvSpPr/>
          <p:nvPr/>
        </p:nvSpPr>
        <p:spPr>
          <a:xfrm>
            <a:off x="7918704" y="5669280"/>
            <a:ext cx="1097280" cy="475488"/>
          </a:xfrm>
          <a:prstGeom prst="rect">
            <a:avLst/>
          </a:prstGeom>
          <a:solidFill>
            <a:srgbClr val="FFFFFF"/>
          </a:solidFill>
          <a:ln w="12700">
            <a:solidFill>
              <a:srgbClr val="BDBDBD"/>
            </a:solidFill>
            <a:prstDash val="solid"/>
          </a:ln>
        </p:spPr>
        <p:txBody>
          <a:bodyPr/>
          <a:lstStyle/>
          <a:p>
            <a:endParaRPr lang="tr-TR"/>
          </a:p>
        </p:txBody>
      </p:sp>
      <p:sp>
        <p:nvSpPr>
          <p:cNvPr id="24" name="Text 21"/>
          <p:cNvSpPr txBox="1"/>
          <p:nvPr/>
        </p:nvSpPr>
        <p:spPr>
          <a:xfrm>
            <a:off x="7973568"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BDBDBD"/>
                </a:solidFill>
                <a:latin typeface="Calibri" pitchFamily="34" charset="0"/>
                <a:ea typeface="Calibri" pitchFamily="34" charset="-122"/>
                <a:cs typeface="Calibri" pitchFamily="34" charset="-120"/>
              </a:rPr>
              <a:t>Fire classification</a:t>
            </a:r>
            <a:endParaRPr lang="en-US" sz="950" dirty="0"/>
          </a:p>
        </p:txBody>
      </p:sp>
      <p:sp>
        <p:nvSpPr>
          <p:cNvPr id="25" name="ch7"/>
          <p:cNvSpPr/>
          <p:nvPr/>
        </p:nvSpPr>
        <p:spPr>
          <a:xfrm>
            <a:off x="9116568" y="5669280"/>
            <a:ext cx="1097280" cy="475488"/>
          </a:xfrm>
          <a:prstGeom prst="rect">
            <a:avLst/>
          </a:prstGeom>
          <a:solidFill>
            <a:srgbClr val="FFFFFF"/>
          </a:solidFill>
          <a:ln w="12700">
            <a:solidFill>
              <a:srgbClr val="BDBDBD"/>
            </a:solidFill>
            <a:prstDash val="solid"/>
          </a:ln>
        </p:spPr>
        <p:txBody>
          <a:bodyPr/>
          <a:lstStyle/>
          <a:p>
            <a:endParaRPr lang="tr-TR"/>
          </a:p>
        </p:txBody>
      </p:sp>
      <p:sp>
        <p:nvSpPr>
          <p:cNvPr id="26" name="Text 23"/>
          <p:cNvSpPr txBox="1"/>
          <p:nvPr/>
        </p:nvSpPr>
        <p:spPr>
          <a:xfrm>
            <a:off x="9171432"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BDBDBD"/>
                </a:solidFill>
                <a:latin typeface="Calibri" pitchFamily="34" charset="0"/>
                <a:ea typeface="Calibri" pitchFamily="34" charset="-122"/>
                <a:cs typeface="Calibri" pitchFamily="34" charset="-120"/>
              </a:rPr>
              <a:t>Life-cycle</a:t>
            </a:r>
            <a:endParaRPr lang="en-US" sz="950" dirty="0"/>
          </a:p>
        </p:txBody>
      </p:sp>
      <p:sp>
        <p:nvSpPr>
          <p:cNvPr id="27" name="ch8"/>
          <p:cNvSpPr/>
          <p:nvPr/>
        </p:nvSpPr>
        <p:spPr>
          <a:xfrm>
            <a:off x="10314432" y="5669280"/>
            <a:ext cx="1097280" cy="475488"/>
          </a:xfrm>
          <a:prstGeom prst="rect">
            <a:avLst/>
          </a:prstGeom>
          <a:solidFill>
            <a:srgbClr val="FFFFFF"/>
          </a:solidFill>
          <a:ln w="12700">
            <a:solidFill>
              <a:srgbClr val="BDBDBD"/>
            </a:solidFill>
            <a:prstDash val="solid"/>
          </a:ln>
        </p:spPr>
        <p:txBody>
          <a:bodyPr/>
          <a:lstStyle/>
          <a:p>
            <a:endParaRPr lang="tr-TR"/>
          </a:p>
        </p:txBody>
      </p:sp>
      <p:sp>
        <p:nvSpPr>
          <p:cNvPr id="28" name="Text 25"/>
          <p:cNvSpPr txBox="1"/>
          <p:nvPr/>
        </p:nvSpPr>
        <p:spPr>
          <a:xfrm>
            <a:off x="10369296" y="5669280"/>
            <a:ext cx="987552" cy="475488"/>
          </a:xfrm>
          <a:prstGeom prst="rect">
            <a:avLst/>
          </a:prstGeom>
          <a:noFill/>
          <a:ln/>
        </p:spPr>
        <p:txBody>
          <a:bodyPr wrap="square" lIns="0" tIns="0" rIns="0" bIns="0" rtlCol="0" anchor="ctr"/>
          <a:lstStyle/>
          <a:p>
            <a:pPr marL="0" indent="0" algn="ctr">
              <a:lnSpc>
                <a:spcPts val="1150"/>
              </a:lnSpc>
              <a:buNone/>
            </a:pPr>
            <a:r>
              <a:rPr lang="en-US" sz="950" b="1" dirty="0">
                <a:solidFill>
                  <a:srgbClr val="BDBDBD"/>
                </a:solidFill>
                <a:latin typeface="Calibri" pitchFamily="34" charset="0"/>
                <a:ea typeface="Calibri" pitchFamily="34" charset="-122"/>
                <a:cs typeface="Calibri" pitchFamily="34" charset="-120"/>
              </a:rPr>
              <a:t>Structural use</a:t>
            </a:r>
            <a:endParaRPr lang="en-US" sz="950" dirty="0"/>
          </a:p>
        </p:txBody>
      </p:sp>
      <p:sp>
        <p:nvSpPr>
          <p:cNvPr id="29" name="Text 26"/>
          <p:cNvSpPr txBox="1"/>
          <p:nvPr/>
        </p:nvSpPr>
        <p:spPr>
          <a:xfrm>
            <a:off x="731520" y="6263640"/>
            <a:ext cx="10241280" cy="365760"/>
          </a:xfrm>
          <a:prstGeom prst="rect">
            <a:avLst/>
          </a:prstGeom>
          <a:noFill/>
          <a:ln/>
        </p:spPr>
        <p:txBody>
          <a:bodyPr wrap="square" lIns="0" tIns="0" rIns="0" bIns="0" rtlCol="0" anchor="t"/>
          <a:lstStyle/>
          <a:p>
            <a:pPr marL="0" indent="0">
              <a:lnSpc>
                <a:spcPts val="1800"/>
              </a:lnSpc>
              <a:buNone/>
            </a:pPr>
            <a:r>
              <a:rPr lang="en-US" sz="1200" b="1" dirty="0">
                <a:solidFill>
                  <a:srgbClr val="141414"/>
                </a:solidFill>
                <a:latin typeface="Calibri" pitchFamily="34" charset="0"/>
                <a:ea typeface="Calibri" pitchFamily="34" charset="-122"/>
                <a:cs typeface="Calibri" pitchFamily="34" charset="-120"/>
              </a:rPr>
              <a:t>The filled boxes were determined in this study. The outlined boxes were not.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7</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Method</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A material-driven sequence in four stages</a:t>
            </a:r>
            <a:endParaRPr lang="en-US" sz="1300" dirty="0"/>
          </a:p>
        </p:txBody>
      </p:sp>
      <p:sp>
        <p:nvSpPr>
          <p:cNvPr id="5" name="mo0"/>
          <p:cNvSpPr/>
          <p:nvPr/>
        </p:nvSpPr>
        <p:spPr>
          <a:xfrm>
            <a:off x="731520" y="1783080"/>
            <a:ext cx="420624" cy="420624"/>
          </a:xfrm>
          <a:prstGeom prst="ellipse">
            <a:avLst/>
          </a:prstGeom>
          <a:solidFill>
            <a:srgbClr val="FFFFFF"/>
          </a:solidFill>
          <a:ln w="15875">
            <a:solidFill>
              <a:srgbClr val="141414"/>
            </a:solidFill>
            <a:prstDash val="solid"/>
          </a:ln>
        </p:spPr>
        <p:txBody>
          <a:bodyPr/>
          <a:lstStyle/>
          <a:p>
            <a:endParaRPr lang="tr-TR"/>
          </a:p>
        </p:txBody>
      </p:sp>
      <p:sp>
        <p:nvSpPr>
          <p:cNvPr id="6" name="Text 4"/>
          <p:cNvSpPr txBox="1"/>
          <p:nvPr/>
        </p:nvSpPr>
        <p:spPr>
          <a:xfrm>
            <a:off x="731520" y="1783080"/>
            <a:ext cx="420624" cy="420624"/>
          </a:xfrm>
          <a:prstGeom prst="rect">
            <a:avLst/>
          </a:prstGeom>
          <a:noFill/>
          <a:ln/>
        </p:spPr>
        <p:txBody>
          <a:bodyPr wrap="square" lIns="0" tIns="0" rIns="0" bIns="0" rtlCol="0" anchor="ctr"/>
          <a:lstStyle/>
          <a:p>
            <a:pPr marL="0" indent="0" algn="ctr">
              <a:buNone/>
            </a:pPr>
            <a:r>
              <a:rPr lang="en-US" sz="1200" b="1" dirty="0">
                <a:solidFill>
                  <a:srgbClr val="141414"/>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31520" y="2423160"/>
            <a:ext cx="2542032" cy="292608"/>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Produce</a:t>
            </a:r>
            <a:endParaRPr lang="en-US" sz="1300" dirty="0"/>
          </a:p>
        </p:txBody>
      </p:sp>
      <p:sp>
        <p:nvSpPr>
          <p:cNvPr id="8" name="Text 6"/>
          <p:cNvSpPr txBox="1"/>
          <p:nvPr/>
        </p:nvSpPr>
        <p:spPr>
          <a:xfrm>
            <a:off x="731520" y="2788920"/>
            <a:ext cx="2359152" cy="914400"/>
          </a:xfrm>
          <a:prstGeom prst="rect">
            <a:avLst/>
          </a:prstGeom>
          <a:noFill/>
          <a:ln/>
        </p:spPr>
        <p:txBody>
          <a:bodyPr wrap="square" lIns="0" tIns="0" rIns="0" bIns="0" rtlCol="0" anchor="ctr"/>
          <a:lstStyle/>
          <a:p>
            <a:pPr marL="0" indent="0">
              <a:lnSpc>
                <a:spcPts val="1700"/>
              </a:lnSpc>
              <a:buNone/>
            </a:pPr>
            <a:r>
              <a:rPr lang="en-US" sz="1200" dirty="0">
                <a:solidFill>
                  <a:srgbClr val="3C3C3C"/>
                </a:solidFill>
                <a:latin typeface="Calibri" pitchFamily="34" charset="0"/>
                <a:ea typeface="Calibri" pitchFamily="34" charset="-122"/>
                <a:cs typeface="Calibri" pitchFamily="34" charset="-120"/>
              </a:rPr>
              <a:t>every parameter recorded</a:t>
            </a:r>
            <a:endParaRPr lang="en-US" sz="1200" dirty="0"/>
          </a:p>
        </p:txBody>
      </p:sp>
      <p:sp>
        <p:nvSpPr>
          <p:cNvPr id="9" name="ma0"/>
          <p:cNvSpPr/>
          <p:nvPr/>
        </p:nvSpPr>
        <p:spPr>
          <a:xfrm>
            <a:off x="3310128" y="1901952"/>
            <a:ext cx="219456" cy="164592"/>
          </a:xfrm>
          <a:prstGeom prst="rightArrow">
            <a:avLst/>
          </a:prstGeom>
          <a:solidFill>
            <a:srgbClr val="BDBDBD"/>
          </a:solidFill>
          <a:ln w="12700">
            <a:solidFill>
              <a:srgbClr val="BDBDBD">
                <a:alpha val="0"/>
              </a:srgbClr>
            </a:solidFill>
            <a:prstDash val="solid"/>
          </a:ln>
        </p:spPr>
        <p:txBody>
          <a:bodyPr/>
          <a:lstStyle/>
          <a:p>
            <a:endParaRPr lang="tr-TR"/>
          </a:p>
        </p:txBody>
      </p:sp>
      <p:sp>
        <p:nvSpPr>
          <p:cNvPr id="10" name="mo1"/>
          <p:cNvSpPr/>
          <p:nvPr/>
        </p:nvSpPr>
        <p:spPr>
          <a:xfrm>
            <a:off x="3575304" y="1783080"/>
            <a:ext cx="420624" cy="420624"/>
          </a:xfrm>
          <a:prstGeom prst="ellipse">
            <a:avLst/>
          </a:prstGeom>
          <a:solidFill>
            <a:srgbClr val="FFFFFF"/>
          </a:solidFill>
          <a:ln w="15875">
            <a:solidFill>
              <a:srgbClr val="141414"/>
            </a:solidFill>
            <a:prstDash val="solid"/>
          </a:ln>
        </p:spPr>
        <p:txBody>
          <a:bodyPr/>
          <a:lstStyle/>
          <a:p>
            <a:endParaRPr lang="tr-TR"/>
          </a:p>
        </p:txBody>
      </p:sp>
      <p:sp>
        <p:nvSpPr>
          <p:cNvPr id="11" name="Text 9"/>
          <p:cNvSpPr txBox="1"/>
          <p:nvPr/>
        </p:nvSpPr>
        <p:spPr>
          <a:xfrm>
            <a:off x="3575304" y="1783080"/>
            <a:ext cx="420624" cy="420624"/>
          </a:xfrm>
          <a:prstGeom prst="rect">
            <a:avLst/>
          </a:prstGeom>
          <a:noFill/>
          <a:ln/>
        </p:spPr>
        <p:txBody>
          <a:bodyPr wrap="square" lIns="0" tIns="0" rIns="0" bIns="0" rtlCol="0" anchor="ctr"/>
          <a:lstStyle/>
          <a:p>
            <a:pPr marL="0" indent="0" algn="ctr">
              <a:buNone/>
            </a:pPr>
            <a:r>
              <a:rPr lang="en-US" sz="1200" b="1" dirty="0">
                <a:solidFill>
                  <a:srgbClr val="141414"/>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575304" y="2423160"/>
            <a:ext cx="2542032" cy="292608"/>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Measure</a:t>
            </a:r>
            <a:endParaRPr lang="en-US" sz="1300" dirty="0"/>
          </a:p>
        </p:txBody>
      </p:sp>
      <p:sp>
        <p:nvSpPr>
          <p:cNvPr id="13" name="Text 11"/>
          <p:cNvSpPr txBox="1"/>
          <p:nvPr/>
        </p:nvSpPr>
        <p:spPr>
          <a:xfrm>
            <a:off x="3575304" y="2788920"/>
            <a:ext cx="2359152" cy="914400"/>
          </a:xfrm>
          <a:prstGeom prst="rect">
            <a:avLst/>
          </a:prstGeom>
          <a:noFill/>
          <a:ln/>
        </p:spPr>
        <p:txBody>
          <a:bodyPr wrap="square" lIns="0" tIns="0" rIns="0" bIns="0" rtlCol="0" anchor="ctr"/>
          <a:lstStyle/>
          <a:p>
            <a:pPr marL="0" indent="0">
              <a:lnSpc>
                <a:spcPts val="1700"/>
              </a:lnSpc>
              <a:buNone/>
            </a:pPr>
            <a:r>
              <a:rPr lang="en-US" sz="1200" dirty="0">
                <a:solidFill>
                  <a:srgbClr val="3C3C3C"/>
                </a:solidFill>
                <a:latin typeface="Calibri" pitchFamily="34" charset="0"/>
                <a:ea typeface="Calibri" pitchFamily="34" charset="-122"/>
                <a:cs typeface="Calibri" pitchFamily="34" charset="-120"/>
              </a:rPr>
              <a:t>against published standards</a:t>
            </a:r>
            <a:endParaRPr lang="en-US" sz="1200" dirty="0"/>
          </a:p>
        </p:txBody>
      </p:sp>
      <p:sp>
        <p:nvSpPr>
          <p:cNvPr id="14" name="ma1"/>
          <p:cNvSpPr/>
          <p:nvPr/>
        </p:nvSpPr>
        <p:spPr>
          <a:xfrm>
            <a:off x="6153912" y="1901952"/>
            <a:ext cx="219456" cy="164592"/>
          </a:xfrm>
          <a:prstGeom prst="rightArrow">
            <a:avLst/>
          </a:prstGeom>
          <a:solidFill>
            <a:srgbClr val="BDBDBD"/>
          </a:solidFill>
          <a:ln w="12700">
            <a:solidFill>
              <a:srgbClr val="BDBDBD">
                <a:alpha val="0"/>
              </a:srgbClr>
            </a:solidFill>
            <a:prstDash val="solid"/>
          </a:ln>
        </p:spPr>
        <p:txBody>
          <a:bodyPr/>
          <a:lstStyle/>
          <a:p>
            <a:endParaRPr lang="tr-TR"/>
          </a:p>
        </p:txBody>
      </p:sp>
      <p:sp>
        <p:nvSpPr>
          <p:cNvPr id="15" name="mo2"/>
          <p:cNvSpPr/>
          <p:nvPr/>
        </p:nvSpPr>
        <p:spPr>
          <a:xfrm>
            <a:off x="6419088" y="1783080"/>
            <a:ext cx="420624" cy="420624"/>
          </a:xfrm>
          <a:prstGeom prst="ellipse">
            <a:avLst/>
          </a:prstGeom>
          <a:solidFill>
            <a:srgbClr val="FFFFFF"/>
          </a:solidFill>
          <a:ln w="15875">
            <a:solidFill>
              <a:srgbClr val="141414"/>
            </a:solidFill>
            <a:prstDash val="solid"/>
          </a:ln>
        </p:spPr>
        <p:txBody>
          <a:bodyPr/>
          <a:lstStyle/>
          <a:p>
            <a:endParaRPr lang="tr-TR"/>
          </a:p>
        </p:txBody>
      </p:sp>
      <p:sp>
        <p:nvSpPr>
          <p:cNvPr id="16" name="Text 14"/>
          <p:cNvSpPr txBox="1"/>
          <p:nvPr/>
        </p:nvSpPr>
        <p:spPr>
          <a:xfrm>
            <a:off x="6419088" y="1783080"/>
            <a:ext cx="420624" cy="420624"/>
          </a:xfrm>
          <a:prstGeom prst="rect">
            <a:avLst/>
          </a:prstGeom>
          <a:noFill/>
          <a:ln/>
        </p:spPr>
        <p:txBody>
          <a:bodyPr wrap="square" lIns="0" tIns="0" rIns="0" bIns="0" rtlCol="0" anchor="ctr"/>
          <a:lstStyle/>
          <a:p>
            <a:pPr marL="0" indent="0" algn="ctr">
              <a:buNone/>
            </a:pPr>
            <a:r>
              <a:rPr lang="en-US" sz="1200" b="1" dirty="0">
                <a:solidFill>
                  <a:srgbClr val="141414"/>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19088" y="2423160"/>
            <a:ext cx="2542032" cy="292608"/>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18" name="Text 16"/>
          <p:cNvSpPr txBox="1"/>
          <p:nvPr/>
        </p:nvSpPr>
        <p:spPr>
          <a:xfrm>
            <a:off x="6419088" y="2788920"/>
            <a:ext cx="2359152" cy="914400"/>
          </a:xfrm>
          <a:prstGeom prst="rect">
            <a:avLst/>
          </a:prstGeom>
          <a:noFill/>
          <a:ln/>
        </p:spPr>
        <p:txBody>
          <a:bodyPr wrap="square" lIns="0" tIns="0" rIns="0" bIns="0" rtlCol="0" anchor="ctr"/>
          <a:lstStyle/>
          <a:p>
            <a:pPr marL="0" indent="0">
              <a:lnSpc>
                <a:spcPts val="1700"/>
              </a:lnSpc>
              <a:buNone/>
            </a:pPr>
            <a:r>
              <a:rPr lang="en-US" sz="1200" dirty="0">
                <a:solidFill>
                  <a:srgbClr val="3C3C3C"/>
                </a:solidFill>
                <a:latin typeface="Calibri" pitchFamily="34" charset="0"/>
                <a:ea typeface="Calibri" pitchFamily="34" charset="-122"/>
                <a:cs typeface="Calibri" pitchFamily="34" charset="-120"/>
              </a:rPr>
              <a:t>against two material families</a:t>
            </a:r>
            <a:endParaRPr lang="en-US" sz="1200" dirty="0"/>
          </a:p>
        </p:txBody>
      </p:sp>
      <p:sp>
        <p:nvSpPr>
          <p:cNvPr id="19" name="ma2"/>
          <p:cNvSpPr/>
          <p:nvPr/>
        </p:nvSpPr>
        <p:spPr>
          <a:xfrm>
            <a:off x="8997696" y="1901952"/>
            <a:ext cx="219456" cy="164592"/>
          </a:xfrm>
          <a:prstGeom prst="rightArrow">
            <a:avLst/>
          </a:prstGeom>
          <a:solidFill>
            <a:srgbClr val="BDBDBD"/>
          </a:solidFill>
          <a:ln w="12700">
            <a:solidFill>
              <a:srgbClr val="BDBDBD">
                <a:alpha val="0"/>
              </a:srgbClr>
            </a:solidFill>
            <a:prstDash val="solid"/>
          </a:ln>
        </p:spPr>
        <p:txBody>
          <a:bodyPr/>
          <a:lstStyle/>
          <a:p>
            <a:endParaRPr lang="tr-TR"/>
          </a:p>
        </p:txBody>
      </p:sp>
      <p:sp>
        <p:nvSpPr>
          <p:cNvPr id="20" name="mo3"/>
          <p:cNvSpPr/>
          <p:nvPr/>
        </p:nvSpPr>
        <p:spPr>
          <a:xfrm>
            <a:off x="9262872" y="1783080"/>
            <a:ext cx="420624" cy="420624"/>
          </a:xfrm>
          <a:prstGeom prst="ellipse">
            <a:avLst/>
          </a:prstGeom>
          <a:solidFill>
            <a:srgbClr val="B4513A"/>
          </a:solidFill>
          <a:ln w="15875">
            <a:solidFill>
              <a:srgbClr val="B4513A"/>
            </a:solidFill>
            <a:prstDash val="solid"/>
          </a:ln>
        </p:spPr>
        <p:txBody>
          <a:bodyPr/>
          <a:lstStyle/>
          <a:p>
            <a:endParaRPr lang="tr-TR"/>
          </a:p>
        </p:txBody>
      </p:sp>
      <p:sp>
        <p:nvSpPr>
          <p:cNvPr id="21" name="Text 19"/>
          <p:cNvSpPr txBox="1"/>
          <p:nvPr/>
        </p:nvSpPr>
        <p:spPr>
          <a:xfrm>
            <a:off x="9262872" y="178308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62872" y="2423160"/>
            <a:ext cx="2542032" cy="292608"/>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Propose</a:t>
            </a:r>
            <a:endParaRPr lang="en-US" sz="1300" dirty="0"/>
          </a:p>
        </p:txBody>
      </p:sp>
      <p:sp>
        <p:nvSpPr>
          <p:cNvPr id="23" name="Text 21"/>
          <p:cNvSpPr txBox="1"/>
          <p:nvPr/>
        </p:nvSpPr>
        <p:spPr>
          <a:xfrm>
            <a:off x="9262872" y="2788920"/>
            <a:ext cx="2359152" cy="914400"/>
          </a:xfrm>
          <a:prstGeom prst="rect">
            <a:avLst/>
          </a:prstGeom>
          <a:noFill/>
          <a:ln/>
        </p:spPr>
        <p:txBody>
          <a:bodyPr wrap="square" lIns="0" tIns="0" rIns="0" bIns="0" rtlCol="0" anchor="ctr"/>
          <a:lstStyle/>
          <a:p>
            <a:pPr marL="0" indent="0">
              <a:lnSpc>
                <a:spcPts val="1700"/>
              </a:lnSpc>
              <a:buNone/>
            </a:pPr>
            <a:r>
              <a:rPr lang="en-US" sz="1200" dirty="0">
                <a:solidFill>
                  <a:srgbClr val="3C3C3C"/>
                </a:solidFill>
                <a:latin typeface="Calibri" pitchFamily="34" charset="0"/>
                <a:ea typeface="Calibri" pitchFamily="34" charset="-122"/>
                <a:cs typeface="Calibri" pitchFamily="34" charset="-120"/>
              </a:rPr>
              <a:t>from the observed behaviour</a:t>
            </a:r>
            <a:endParaRPr lang="en-US" sz="1200" dirty="0"/>
          </a:p>
        </p:txBody>
      </p:sp>
      <p:sp>
        <p:nvSpPr>
          <p:cNvPr id="24" name="ru0.84.5"/>
          <p:cNvSpPr/>
          <p:nvPr/>
        </p:nvSpPr>
        <p:spPr>
          <a:xfrm>
            <a:off x="731520" y="411480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25" name="Text 23"/>
          <p:cNvSpPr txBox="1"/>
          <p:nvPr/>
        </p:nvSpPr>
        <p:spPr>
          <a:xfrm>
            <a:off x="731520" y="4297680"/>
            <a:ext cx="10241280" cy="457200"/>
          </a:xfrm>
          <a:prstGeom prst="rect">
            <a:avLst/>
          </a:prstGeom>
          <a:noFill/>
          <a:ln/>
        </p:spPr>
        <p:txBody>
          <a:bodyPr wrap="square" lIns="0" tIns="0" rIns="0" bIns="0" rtlCol="0" anchor="t"/>
          <a:lstStyle/>
          <a:p>
            <a:pPr marL="0" indent="0">
              <a:lnSpc>
                <a:spcPts val="1800"/>
              </a:lnSpc>
              <a:buNone/>
            </a:pPr>
            <a:r>
              <a:rPr lang="en-US" sz="1200" b="1" dirty="0">
                <a:solidFill>
                  <a:srgbClr val="141414"/>
                </a:solidFill>
                <a:latin typeface="Calibri" pitchFamily="34" charset="0"/>
                <a:ea typeface="Calibri" pitchFamily="34" charset="-122"/>
                <a:cs typeface="Calibri" pitchFamily="34" charset="-120"/>
              </a:rPr>
              <a:t>The properties came first, and the application envelope was derived from them.</a:t>
            </a:r>
            <a:endParaRPr lang="en-US" sz="1200" dirty="0"/>
          </a:p>
        </p:txBody>
      </p:sp>
      <p:sp>
        <p:nvSpPr>
          <p:cNvPr id="26" name="Text 24"/>
          <p:cNvSpPr txBox="1"/>
          <p:nvPr/>
        </p:nvSpPr>
        <p:spPr>
          <a:xfrm>
            <a:off x="731520" y="4937760"/>
            <a:ext cx="10241280" cy="457200"/>
          </a:xfrm>
          <a:prstGeom prst="rect">
            <a:avLst/>
          </a:prstGeom>
          <a:noFill/>
          <a:ln/>
        </p:spPr>
        <p:txBody>
          <a:bodyPr wrap="square" lIns="0" tIns="0" rIns="0" bIns="0" rtlCol="0" anchor="t"/>
          <a:lstStyle/>
          <a:p>
            <a:pPr marL="0" indent="0">
              <a:lnSpc>
                <a:spcPts val="1250"/>
              </a:lnSpc>
              <a:buNone/>
            </a:pPr>
            <a:r>
              <a:rPr lang="en-US" sz="1100" dirty="0">
                <a:latin typeface="Calibri" pitchFamily="34" charset="0"/>
                <a:ea typeface="Calibri" pitchFamily="34" charset="-122"/>
                <a:cs typeface="Calibri" pitchFamily="34" charset="-120"/>
              </a:rPr>
              <a:t>Material-driven design after Karana et al. (2015)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8</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Research questions</a:t>
            </a:r>
            <a:endParaRPr lang="en-US" sz="2000" dirty="0"/>
          </a:p>
        </p:txBody>
      </p:sp>
      <p:sp>
        <p:nvSpPr>
          <p:cNvPr id="4" name="ru0.81.5"/>
          <p:cNvSpPr/>
          <p:nvPr/>
        </p:nvSpPr>
        <p:spPr>
          <a:xfrm>
            <a:off x="731520" y="137160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5" name="Text 3"/>
          <p:cNvSpPr txBox="1"/>
          <p:nvPr/>
        </p:nvSpPr>
        <p:spPr>
          <a:xfrm>
            <a:off x="731520" y="1673352"/>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600200"/>
            <a:ext cx="7863840" cy="548640"/>
          </a:xfrm>
          <a:prstGeom prst="rect">
            <a:avLst/>
          </a:prstGeom>
          <a:noFill/>
          <a:ln/>
        </p:spPr>
        <p:txBody>
          <a:bodyPr wrap="square" lIns="0" tIns="0" rIns="0" bIns="0" rtlCol="0" anchor="ctr"/>
          <a:lstStyle/>
          <a:p>
            <a:pPr marL="0" indent="0">
              <a:lnSpc>
                <a:spcPts val="1900"/>
              </a:lnSpc>
              <a:buNone/>
            </a:pPr>
            <a:r>
              <a:rPr lang="en-US" sz="1300" b="1" dirty="0">
                <a:solidFill>
                  <a:srgbClr val="141414"/>
                </a:solidFill>
                <a:latin typeface="Calibri" pitchFamily="34" charset="0"/>
                <a:ea typeface="Calibri" pitchFamily="34" charset="-122"/>
                <a:cs typeface="Calibri" pitchFamily="34" charset="-120"/>
              </a:rPr>
              <a:t>Which formulation variable governs compressive strength?</a:t>
            </a:r>
            <a:endParaRPr lang="en-US" sz="1300" dirty="0"/>
          </a:p>
        </p:txBody>
      </p:sp>
      <p:sp>
        <p:nvSpPr>
          <p:cNvPr id="7" name="Text 5"/>
          <p:cNvSpPr txBox="1"/>
          <p:nvPr/>
        </p:nvSpPr>
        <p:spPr>
          <a:xfrm>
            <a:off x="9509760" y="1636776"/>
            <a:ext cx="1920240" cy="274320"/>
          </a:xfrm>
          <a:prstGeom prst="rect">
            <a:avLst/>
          </a:prstGeom>
          <a:noFill/>
          <a:ln/>
        </p:spPr>
        <p:txBody>
          <a:bodyPr wrap="square" lIns="0" tIns="0" rIns="0" bIns="0" rtlCol="0" anchor="ctr"/>
          <a:lstStyle/>
          <a:p>
            <a:pPr marL="0" indent="0" algn="r">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8" name="ru0.82.4699999999999998"/>
          <p:cNvSpPr/>
          <p:nvPr/>
        </p:nvSpPr>
        <p:spPr>
          <a:xfrm>
            <a:off x="731520" y="2258568"/>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9" name="Text 7"/>
          <p:cNvSpPr txBox="1"/>
          <p:nvPr/>
        </p:nvSpPr>
        <p:spPr>
          <a:xfrm>
            <a:off x="731520" y="2542032"/>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2468880"/>
            <a:ext cx="7863840" cy="548640"/>
          </a:xfrm>
          <a:prstGeom prst="rect">
            <a:avLst/>
          </a:prstGeom>
          <a:noFill/>
          <a:ln/>
        </p:spPr>
        <p:txBody>
          <a:bodyPr wrap="square" lIns="0" tIns="0" rIns="0" bIns="0" rtlCol="0" anchor="ctr"/>
          <a:lstStyle/>
          <a:p>
            <a:pPr marL="0" indent="0">
              <a:lnSpc>
                <a:spcPts val="1900"/>
              </a:lnSpc>
              <a:buNone/>
            </a:pPr>
            <a:r>
              <a:rPr lang="en-US" sz="1300" b="1" dirty="0">
                <a:solidFill>
                  <a:srgbClr val="141414"/>
                </a:solidFill>
                <a:latin typeface="Calibri" pitchFamily="34" charset="0"/>
                <a:ea typeface="Calibri" pitchFamily="34" charset="-122"/>
                <a:cs typeface="Calibri" pitchFamily="34" charset="-120"/>
              </a:rPr>
              <a:t>How does plasticiser content affect flexural behaviour?</a:t>
            </a:r>
            <a:endParaRPr lang="en-US" sz="1300" dirty="0"/>
          </a:p>
        </p:txBody>
      </p:sp>
      <p:sp>
        <p:nvSpPr>
          <p:cNvPr id="11" name="Text 9"/>
          <p:cNvSpPr txBox="1"/>
          <p:nvPr/>
        </p:nvSpPr>
        <p:spPr>
          <a:xfrm>
            <a:off x="9509760" y="2505456"/>
            <a:ext cx="1920240" cy="274320"/>
          </a:xfrm>
          <a:prstGeom prst="rect">
            <a:avLst/>
          </a:prstGeom>
          <a:noFill/>
          <a:ln/>
        </p:spPr>
        <p:txBody>
          <a:bodyPr wrap="square" lIns="0" tIns="0" rIns="0" bIns="0" rtlCol="0" anchor="ctr"/>
          <a:lstStyle/>
          <a:p>
            <a:pPr marL="0" indent="0" algn="r">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12" name="ru0.83.42"/>
          <p:cNvSpPr/>
          <p:nvPr/>
        </p:nvSpPr>
        <p:spPr>
          <a:xfrm>
            <a:off x="731520" y="3127248"/>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3" name="Text 11"/>
          <p:cNvSpPr txBox="1"/>
          <p:nvPr/>
        </p:nvSpPr>
        <p:spPr>
          <a:xfrm>
            <a:off x="731520" y="3410712"/>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3337560"/>
            <a:ext cx="7863840" cy="548640"/>
          </a:xfrm>
          <a:prstGeom prst="rect">
            <a:avLst/>
          </a:prstGeom>
          <a:noFill/>
          <a:ln/>
        </p:spPr>
        <p:txBody>
          <a:bodyPr wrap="square" lIns="0" tIns="0" rIns="0" bIns="0" rtlCol="0" anchor="ctr"/>
          <a:lstStyle/>
          <a:p>
            <a:pPr marL="0" indent="0">
              <a:lnSpc>
                <a:spcPts val="1900"/>
              </a:lnSpc>
              <a:buNone/>
            </a:pPr>
            <a:r>
              <a:rPr lang="en-US" sz="1300" b="1" dirty="0">
                <a:solidFill>
                  <a:srgbClr val="141414"/>
                </a:solidFill>
                <a:latin typeface="Calibri" pitchFamily="34" charset="0"/>
                <a:ea typeface="Calibri" pitchFamily="34" charset="-122"/>
                <a:cs typeface="Calibri" pitchFamily="34" charset="-120"/>
              </a:rPr>
              <a:t>How does the composite compare with conventional interior materials?</a:t>
            </a:r>
            <a:endParaRPr lang="en-US" sz="1300" dirty="0"/>
          </a:p>
        </p:txBody>
      </p:sp>
      <p:sp>
        <p:nvSpPr>
          <p:cNvPr id="15" name="Text 13"/>
          <p:cNvSpPr txBox="1"/>
          <p:nvPr/>
        </p:nvSpPr>
        <p:spPr>
          <a:xfrm>
            <a:off x="9509760" y="3374136"/>
            <a:ext cx="1920240" cy="274320"/>
          </a:xfrm>
          <a:prstGeom prst="rect">
            <a:avLst/>
          </a:prstGeom>
          <a:noFill/>
          <a:ln/>
        </p:spPr>
        <p:txBody>
          <a:bodyPr wrap="square" lIns="0" tIns="0" rIns="0" bIns="0" rtlCol="0" anchor="ctr"/>
          <a:lstStyle/>
          <a:p>
            <a:pPr marL="0" indent="0" algn="r">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6" name="ru0.84.37"/>
          <p:cNvSpPr/>
          <p:nvPr/>
        </p:nvSpPr>
        <p:spPr>
          <a:xfrm>
            <a:off x="731520" y="3995928"/>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7" name="Text 15"/>
          <p:cNvSpPr txBox="1"/>
          <p:nvPr/>
        </p:nvSpPr>
        <p:spPr>
          <a:xfrm>
            <a:off x="731520" y="4279392"/>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8" name="Text 16"/>
          <p:cNvSpPr txBox="1"/>
          <p:nvPr/>
        </p:nvSpPr>
        <p:spPr>
          <a:xfrm>
            <a:off x="1417320" y="4206240"/>
            <a:ext cx="7863840" cy="548640"/>
          </a:xfrm>
          <a:prstGeom prst="rect">
            <a:avLst/>
          </a:prstGeom>
          <a:noFill/>
          <a:ln/>
        </p:spPr>
        <p:txBody>
          <a:bodyPr wrap="square" lIns="0" tIns="0" rIns="0" bIns="0" rtlCol="0" anchor="ctr"/>
          <a:lstStyle/>
          <a:p>
            <a:pPr marL="0" indent="0">
              <a:lnSpc>
                <a:spcPts val="1900"/>
              </a:lnSpc>
              <a:buNone/>
            </a:pPr>
            <a:r>
              <a:rPr lang="en-US" sz="1300" b="1" dirty="0">
                <a:solidFill>
                  <a:srgbClr val="141414"/>
                </a:solidFill>
                <a:latin typeface="Calibri" pitchFamily="34" charset="0"/>
                <a:ea typeface="Calibri" pitchFamily="34" charset="-122"/>
                <a:cs typeface="Calibri" pitchFamily="34" charset="-120"/>
              </a:rPr>
              <a:t>How does it compare with other bio-based composites?</a:t>
            </a:r>
            <a:endParaRPr lang="en-US" sz="1300" dirty="0"/>
          </a:p>
        </p:txBody>
      </p:sp>
      <p:sp>
        <p:nvSpPr>
          <p:cNvPr id="19" name="Text 17"/>
          <p:cNvSpPr txBox="1"/>
          <p:nvPr/>
        </p:nvSpPr>
        <p:spPr>
          <a:xfrm>
            <a:off x="9509760" y="4242816"/>
            <a:ext cx="1920240" cy="274320"/>
          </a:xfrm>
          <a:prstGeom prst="rect">
            <a:avLst/>
          </a:prstGeom>
          <a:noFill/>
          <a:ln/>
        </p:spPr>
        <p:txBody>
          <a:bodyPr wrap="square" lIns="0" tIns="0" rIns="0" bIns="0" rtlCol="0" anchor="ctr"/>
          <a:lstStyle/>
          <a:p>
            <a:pPr marL="0" indent="0" algn="r">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20" name="ru0.85.319999999999999"/>
          <p:cNvSpPr/>
          <p:nvPr/>
        </p:nvSpPr>
        <p:spPr>
          <a:xfrm>
            <a:off x="731520" y="4864608"/>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21" name="Text 19"/>
          <p:cNvSpPr txBox="1"/>
          <p:nvPr/>
        </p:nvSpPr>
        <p:spPr>
          <a:xfrm>
            <a:off x="731520" y="5148072"/>
            <a:ext cx="5486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2" name="Text 20"/>
          <p:cNvSpPr txBox="1"/>
          <p:nvPr/>
        </p:nvSpPr>
        <p:spPr>
          <a:xfrm>
            <a:off x="1417320" y="5074920"/>
            <a:ext cx="7863840" cy="548640"/>
          </a:xfrm>
          <a:prstGeom prst="rect">
            <a:avLst/>
          </a:prstGeom>
          <a:noFill/>
          <a:ln/>
        </p:spPr>
        <p:txBody>
          <a:bodyPr wrap="square" lIns="0" tIns="0" rIns="0" bIns="0" rtlCol="0" anchor="ctr"/>
          <a:lstStyle/>
          <a:p>
            <a:pPr marL="0" indent="0">
              <a:lnSpc>
                <a:spcPts val="1900"/>
              </a:lnSpc>
              <a:buNone/>
            </a:pPr>
            <a:r>
              <a:rPr lang="en-US" sz="1300" b="1" dirty="0">
                <a:solidFill>
                  <a:srgbClr val="141414"/>
                </a:solidFill>
                <a:latin typeface="Calibri" pitchFamily="34" charset="0"/>
                <a:ea typeface="Calibri" pitchFamily="34" charset="-122"/>
                <a:cs typeface="Calibri" pitchFamily="34" charset="-120"/>
              </a:rPr>
              <a:t>Is compressive strength an adequate evaluation criterion for this class?</a:t>
            </a:r>
            <a:endParaRPr lang="en-US" sz="1300" dirty="0"/>
          </a:p>
        </p:txBody>
      </p:sp>
      <p:sp>
        <p:nvSpPr>
          <p:cNvPr id="23" name="Text 21"/>
          <p:cNvSpPr txBox="1"/>
          <p:nvPr/>
        </p:nvSpPr>
        <p:spPr>
          <a:xfrm>
            <a:off x="9509760" y="5111496"/>
            <a:ext cx="1920240" cy="274320"/>
          </a:xfrm>
          <a:prstGeom prst="rect">
            <a:avLst/>
          </a:prstGeom>
          <a:noFill/>
          <a:ln/>
        </p:spPr>
        <p:txBody>
          <a:bodyPr wrap="square" lIns="0" tIns="0" rIns="0" bIns="0" rtlCol="0" anchor="ctr"/>
          <a:lstStyle/>
          <a:p>
            <a:pPr marL="0" indent="0" algn="r">
              <a:buNone/>
            </a:pPr>
            <a:r>
              <a:rPr lang="en-US" sz="1050" dirty="0">
                <a:solidFill>
                  <a:srgbClr val="8C8C8C"/>
                </a:solidFill>
                <a:latin typeface="Calibri" pitchFamily="34" charset="0"/>
                <a:ea typeface="Calibri" pitchFamily="34" charset="-122"/>
                <a:cs typeface="Calibri" pitchFamily="34" charset="-120"/>
              </a:rPr>
              <a:t>Criterion</a:t>
            </a:r>
            <a:endParaRPr lang="en-US" sz="1050" dirty="0"/>
          </a:p>
        </p:txBody>
      </p:sp>
      <p:sp>
        <p:nvSpPr>
          <p:cNvPr id="24" name="ru0.86.27"/>
          <p:cNvSpPr/>
          <p:nvPr/>
        </p:nvSpPr>
        <p:spPr>
          <a:xfrm>
            <a:off x="731520" y="5733288"/>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25" name="Text 23"/>
          <p:cNvSpPr txBox="1"/>
          <p:nvPr/>
        </p:nvSpPr>
        <p:spPr>
          <a:xfrm>
            <a:off x="731520" y="6126480"/>
            <a:ext cx="10241280" cy="36576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The first four are answered by measurement. The fifth is answered by argument.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9</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Hypothesis</a:t>
            </a:r>
            <a:endParaRPr lang="en-US" sz="2000" dirty="0"/>
          </a:p>
        </p:txBody>
      </p:sp>
      <p:sp>
        <p:nvSpPr>
          <p:cNvPr id="4" name="hyp"/>
          <p:cNvSpPr/>
          <p:nvPr/>
        </p:nvSpPr>
        <p:spPr>
          <a:xfrm>
            <a:off x="731520" y="1325880"/>
            <a:ext cx="10698480" cy="1188720"/>
          </a:xfrm>
          <a:prstGeom prst="rect">
            <a:avLst/>
          </a:prstGeom>
          <a:solidFill>
            <a:srgbClr val="F7F6F4"/>
          </a:solidFill>
          <a:ln w="12700">
            <a:solidFill>
              <a:srgbClr val="F7F6F4">
                <a:alpha val="0"/>
              </a:srgbClr>
            </a:solidFill>
            <a:prstDash val="solid"/>
          </a:ln>
        </p:spPr>
        <p:txBody>
          <a:bodyPr/>
          <a:lstStyle/>
          <a:p>
            <a:endParaRPr lang="tr-TR"/>
          </a:p>
        </p:txBody>
      </p:sp>
      <p:sp>
        <p:nvSpPr>
          <p:cNvPr id="5" name="Text 3"/>
          <p:cNvSpPr txBox="1"/>
          <p:nvPr/>
        </p:nvSpPr>
        <p:spPr>
          <a:xfrm>
            <a:off x="1051560" y="1627632"/>
            <a:ext cx="10058400" cy="731520"/>
          </a:xfrm>
          <a:prstGeom prst="rect">
            <a:avLst/>
          </a:prstGeom>
          <a:noFill/>
          <a:ln/>
        </p:spPr>
        <p:txBody>
          <a:bodyPr wrap="square" lIns="0" tIns="0" rIns="0" bIns="0" rtlCol="0" anchor="ctr"/>
          <a:lstStyle/>
          <a:p>
            <a:pPr marL="0" indent="0">
              <a:lnSpc>
                <a:spcPts val="2000"/>
              </a:lnSpc>
              <a:buNone/>
            </a:pPr>
            <a:r>
              <a:rPr lang="en-US" sz="1300" b="1" dirty="0">
                <a:solidFill>
                  <a:srgbClr val="141414"/>
                </a:solidFill>
                <a:latin typeface="Calibri" pitchFamily="34" charset="0"/>
                <a:ea typeface="Calibri" pitchFamily="34" charset="-122"/>
                <a:cs typeface="Calibri" pitchFamily="34" charset="-120"/>
              </a:rPr>
              <a:t>A fully bio-based eggshell–agar composite can be produced repeatably under ambient conditions, and its performance as an interior surface material is governed by deformation capacity rather than by compressive strength.</a:t>
            </a:r>
            <a:endParaRPr lang="en-US" sz="1300" dirty="0"/>
          </a:p>
        </p:txBody>
      </p:sp>
      <p:sp>
        <p:nvSpPr>
          <p:cNvPr id="6" name="Text 4"/>
          <p:cNvSpPr txBox="1"/>
          <p:nvPr/>
        </p:nvSpPr>
        <p:spPr>
          <a:xfrm>
            <a:off x="731520" y="2834640"/>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Two clauses, tested separately</a:t>
            </a:r>
            <a:endParaRPr lang="en-US" sz="1300" dirty="0"/>
          </a:p>
        </p:txBody>
      </p:sp>
      <p:sp>
        <p:nvSpPr>
          <p:cNvPr id="7" name="ru0.83.5"/>
          <p:cNvSpPr/>
          <p:nvPr/>
        </p:nvSpPr>
        <p:spPr>
          <a:xfrm>
            <a:off x="731520" y="320040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8" name="Text 6"/>
          <p:cNvSpPr txBox="1"/>
          <p:nvPr/>
        </p:nvSpPr>
        <p:spPr>
          <a:xfrm>
            <a:off x="731520" y="3456432"/>
            <a:ext cx="10058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Clause 1</a:t>
            </a:r>
            <a:endParaRPr lang="en-US" sz="1200" dirty="0"/>
          </a:p>
        </p:txBody>
      </p:sp>
      <p:sp>
        <p:nvSpPr>
          <p:cNvPr id="9" name="Text 7"/>
          <p:cNvSpPr txBox="1"/>
          <p:nvPr/>
        </p:nvSpPr>
        <p:spPr>
          <a:xfrm>
            <a:off x="1920240" y="3429000"/>
            <a:ext cx="3931920" cy="566928"/>
          </a:xfrm>
          <a:prstGeom prst="rect">
            <a:avLst/>
          </a:prstGeom>
          <a:noFill/>
          <a:ln/>
        </p:spPr>
        <p:txBody>
          <a:bodyPr wrap="square" lIns="0" tIns="0" rIns="0" bIns="0" rtlCol="0" anchor="ctr"/>
          <a:lstStyle/>
          <a:p>
            <a:pPr marL="0" indent="0">
              <a:lnSpc>
                <a:spcPts val="1800"/>
              </a:lnSpc>
              <a:buNone/>
            </a:pPr>
            <a:r>
              <a:rPr lang="en-US" sz="1300" b="1" dirty="0">
                <a:solidFill>
                  <a:srgbClr val="141414"/>
                </a:solidFill>
                <a:latin typeface="Calibri" pitchFamily="34" charset="0"/>
                <a:ea typeface="Calibri" pitchFamily="34" charset="-122"/>
                <a:cs typeface="Calibri" pitchFamily="34" charset="-120"/>
              </a:rPr>
              <a:t>Producible repeatably under ambient conditions</a:t>
            </a:r>
            <a:endParaRPr lang="en-US" sz="1300" dirty="0"/>
          </a:p>
        </p:txBody>
      </p:sp>
      <p:sp>
        <p:nvSpPr>
          <p:cNvPr id="10" name="aw8.13.92"/>
          <p:cNvSpPr/>
          <p:nvPr/>
        </p:nvSpPr>
        <p:spPr>
          <a:xfrm>
            <a:off x="7406640" y="3584448"/>
            <a:ext cx="201168" cy="137160"/>
          </a:xfrm>
          <a:prstGeom prst="rightArrow">
            <a:avLst/>
          </a:prstGeom>
          <a:solidFill>
            <a:srgbClr val="BDBDBD"/>
          </a:solidFill>
          <a:ln w="12700">
            <a:solidFill>
              <a:srgbClr val="BDBDBD">
                <a:alpha val="0"/>
              </a:srgbClr>
            </a:solidFill>
            <a:prstDash val="solid"/>
          </a:ln>
        </p:spPr>
        <p:txBody>
          <a:bodyPr/>
          <a:lstStyle/>
          <a:p>
            <a:endParaRPr lang="tr-TR"/>
          </a:p>
        </p:txBody>
      </p:sp>
      <p:sp>
        <p:nvSpPr>
          <p:cNvPr id="11" name="Text 9"/>
          <p:cNvSpPr txBox="1"/>
          <p:nvPr/>
        </p:nvSpPr>
        <p:spPr>
          <a:xfrm>
            <a:off x="7772400" y="3447288"/>
            <a:ext cx="3657600" cy="36576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tested on slides 10–13</a:t>
            </a:r>
            <a:endParaRPr lang="en-US" sz="1200" dirty="0"/>
          </a:p>
        </p:txBody>
      </p:sp>
      <p:sp>
        <p:nvSpPr>
          <p:cNvPr id="12" name="ru0.84.75"/>
          <p:cNvSpPr/>
          <p:nvPr/>
        </p:nvSpPr>
        <p:spPr>
          <a:xfrm>
            <a:off x="731520" y="434340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3" name="Text 11"/>
          <p:cNvSpPr txBox="1"/>
          <p:nvPr/>
        </p:nvSpPr>
        <p:spPr>
          <a:xfrm>
            <a:off x="731520" y="4553712"/>
            <a:ext cx="100584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Clause 2</a:t>
            </a:r>
            <a:endParaRPr lang="en-US" sz="1200" dirty="0"/>
          </a:p>
        </p:txBody>
      </p:sp>
      <p:sp>
        <p:nvSpPr>
          <p:cNvPr id="14" name="Text 12"/>
          <p:cNvSpPr txBox="1"/>
          <p:nvPr/>
        </p:nvSpPr>
        <p:spPr>
          <a:xfrm>
            <a:off x="1920240" y="4526280"/>
            <a:ext cx="3931920" cy="566928"/>
          </a:xfrm>
          <a:prstGeom prst="rect">
            <a:avLst/>
          </a:prstGeom>
          <a:noFill/>
          <a:ln/>
        </p:spPr>
        <p:txBody>
          <a:bodyPr wrap="square" lIns="0" tIns="0" rIns="0" bIns="0" rtlCol="0" anchor="ctr"/>
          <a:lstStyle/>
          <a:p>
            <a:pPr marL="0" indent="0">
              <a:lnSpc>
                <a:spcPts val="1800"/>
              </a:lnSpc>
              <a:buNone/>
            </a:pPr>
            <a:r>
              <a:rPr lang="en-US" sz="1300" b="1" dirty="0">
                <a:solidFill>
                  <a:srgbClr val="141414"/>
                </a:solidFill>
                <a:latin typeface="Calibri" pitchFamily="34" charset="0"/>
                <a:ea typeface="Calibri" pitchFamily="34" charset="-122"/>
                <a:cs typeface="Calibri" pitchFamily="34" charset="-120"/>
              </a:rPr>
              <a:t>Governed by deformation capacity rather than strength</a:t>
            </a:r>
            <a:endParaRPr lang="en-US" sz="1300" dirty="0"/>
          </a:p>
        </p:txBody>
      </p:sp>
      <p:sp>
        <p:nvSpPr>
          <p:cNvPr id="15" name="aw8.15.12"/>
          <p:cNvSpPr/>
          <p:nvPr/>
        </p:nvSpPr>
        <p:spPr>
          <a:xfrm>
            <a:off x="7406640" y="4681728"/>
            <a:ext cx="201168" cy="137160"/>
          </a:xfrm>
          <a:prstGeom prst="rightArrow">
            <a:avLst/>
          </a:prstGeom>
          <a:solidFill>
            <a:srgbClr val="BDBDBD"/>
          </a:solidFill>
          <a:ln w="12700">
            <a:solidFill>
              <a:srgbClr val="BDBDBD">
                <a:alpha val="0"/>
              </a:srgbClr>
            </a:solidFill>
            <a:prstDash val="solid"/>
          </a:ln>
        </p:spPr>
        <p:txBody>
          <a:bodyPr/>
          <a:lstStyle/>
          <a:p>
            <a:endParaRPr lang="tr-TR"/>
          </a:p>
        </p:txBody>
      </p:sp>
      <p:sp>
        <p:nvSpPr>
          <p:cNvPr id="16" name="Text 14"/>
          <p:cNvSpPr txBox="1"/>
          <p:nvPr/>
        </p:nvSpPr>
        <p:spPr>
          <a:xfrm>
            <a:off x="7772400" y="4544568"/>
            <a:ext cx="3657600" cy="36576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tested on slides 15–22</a:t>
            </a:r>
            <a:endParaRPr lang="en-US" sz="1200" dirty="0"/>
          </a:p>
        </p:txBody>
      </p:sp>
      <p:sp>
        <p:nvSpPr>
          <p:cNvPr id="17" name="ru0.86.15"/>
          <p:cNvSpPr/>
          <p:nvPr/>
        </p:nvSpPr>
        <p:spPr>
          <a:xfrm>
            <a:off x="731520" y="562356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8" name="Text 16"/>
          <p:cNvSpPr txBox="1"/>
          <p:nvPr/>
        </p:nvSpPr>
        <p:spPr>
          <a:xfrm>
            <a:off x="731520" y="5806440"/>
            <a:ext cx="10241280" cy="457200"/>
          </a:xfrm>
          <a:prstGeom prst="rect">
            <a:avLst/>
          </a:prstGeom>
          <a:noFill/>
          <a:ln/>
        </p:spPr>
        <p:txBody>
          <a:bodyPr wrap="square" lIns="0" tIns="0" rIns="0" bIns="0" rtlCol="0" anchor="t"/>
          <a:lstStyle/>
          <a:p>
            <a:pPr marL="0" indent="0">
              <a:lnSpc>
                <a:spcPts val="1750"/>
              </a:lnSpc>
              <a:buNone/>
            </a:pPr>
            <a:r>
              <a:rPr lang="en-US" sz="1150" dirty="0">
                <a:solidFill>
                  <a:srgbClr val="3C3C3C"/>
                </a:solidFill>
                <a:latin typeface="Calibri" pitchFamily="34" charset="0"/>
                <a:ea typeface="Calibri" pitchFamily="34" charset="-122"/>
                <a:cs typeface="Calibri" pitchFamily="34" charset="-120"/>
              </a:rPr>
              <a:t>The dissertation behind this paper frames a broader hypothesis around spatial resilience; this is its materials-engineering component.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10</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Stage 1 · Mineral phase</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Progressive size reduction of the shell to a sieved powder</a:t>
            </a:r>
            <a:endParaRPr lang="en-US" sz="1300" dirty="0"/>
          </a:p>
        </p:txBody>
      </p:sp>
      <p:sp>
        <p:nvSpPr>
          <p:cNvPr id="5" name="pc0"/>
          <p:cNvSpPr/>
          <p:nvPr/>
        </p:nvSpPr>
        <p:spPr>
          <a:xfrm>
            <a:off x="1303020" y="1737360"/>
            <a:ext cx="822960" cy="822960"/>
          </a:xfrm>
          <a:prstGeom prst="ellipse">
            <a:avLst/>
          </a:prstGeom>
          <a:solidFill>
            <a:srgbClr val="F7F6F4"/>
          </a:solidFill>
          <a:ln w="12700">
            <a:solidFill>
              <a:srgbClr val="E4E4E4"/>
            </a:solidFill>
            <a:prstDash val="solid"/>
          </a:ln>
        </p:spPr>
        <p:txBody>
          <a:bodyPr/>
          <a:lstStyle/>
          <a:p>
            <a:endParaRPr lang="tr-TR"/>
          </a:p>
        </p:txBody>
      </p:sp>
      <p:sp>
        <p:nvSpPr>
          <p:cNvPr id="6" name="Text 4"/>
          <p:cNvSpPr txBox="1"/>
          <p:nvPr/>
        </p:nvSpPr>
        <p:spPr>
          <a:xfrm>
            <a:off x="731520" y="2743200"/>
            <a:ext cx="1965960" cy="274320"/>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Whole shell</a:t>
            </a:r>
            <a:endParaRPr lang="en-US" sz="1300" dirty="0"/>
          </a:p>
        </p:txBody>
      </p:sp>
      <p:sp>
        <p:nvSpPr>
          <p:cNvPr id="7" name="Text 5"/>
          <p:cNvSpPr txBox="1"/>
          <p:nvPr/>
        </p:nvSpPr>
        <p:spPr>
          <a:xfrm>
            <a:off x="731520" y="3063240"/>
            <a:ext cx="1965960" cy="594360"/>
          </a:xfrm>
          <a:prstGeom prst="rect">
            <a:avLst/>
          </a:prstGeom>
          <a:noFill/>
          <a:ln/>
        </p:spPr>
        <p:txBody>
          <a:bodyPr wrap="square" lIns="0" tIns="0" rIns="0" bIns="0" rtlCol="0" anchor="ctr"/>
          <a:lstStyle/>
          <a:p>
            <a:pPr marL="0" indent="0" algn="ctr">
              <a:lnSpc>
                <a:spcPts val="1400"/>
              </a:lnSpc>
              <a:buNone/>
            </a:pPr>
            <a:r>
              <a:rPr lang="en-US" sz="1050" dirty="0">
                <a:solidFill>
                  <a:srgbClr val="8C8C8C"/>
                </a:solidFill>
                <a:latin typeface="Calibri" pitchFamily="34" charset="0"/>
                <a:ea typeface="Calibri" pitchFamily="34" charset="-122"/>
                <a:cs typeface="Calibri" pitchFamily="34" charset="-120"/>
              </a:rPr>
              <a:t>collected from a single bakery</a:t>
            </a:r>
            <a:endParaRPr lang="en-US" sz="1050" dirty="0"/>
          </a:p>
        </p:txBody>
      </p:sp>
      <p:sp>
        <p:nvSpPr>
          <p:cNvPr id="8" name="Text 6"/>
          <p:cNvSpPr txBox="1"/>
          <p:nvPr/>
        </p:nvSpPr>
        <p:spPr>
          <a:xfrm>
            <a:off x="731520" y="3749040"/>
            <a:ext cx="1965960" cy="274320"/>
          </a:xfrm>
          <a:prstGeom prst="rect">
            <a:avLst/>
          </a:prstGeom>
          <a:noFill/>
          <a:ln/>
        </p:spPr>
        <p:txBody>
          <a:bodyPr wrap="square" lIns="0" tIns="0" rIns="0" bIns="0" rtlCol="0" anchor="ctr"/>
          <a:lstStyle/>
          <a:p>
            <a:pPr marL="0" indent="0" algn="ctr">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9" name="pa0"/>
          <p:cNvSpPr/>
          <p:nvPr/>
        </p:nvSpPr>
        <p:spPr>
          <a:xfrm>
            <a:off x="2715768" y="2084832"/>
            <a:ext cx="182880" cy="137160"/>
          </a:xfrm>
          <a:prstGeom prst="rightArrow">
            <a:avLst/>
          </a:prstGeom>
          <a:solidFill>
            <a:srgbClr val="BDBDBD"/>
          </a:solidFill>
          <a:ln w="12700">
            <a:solidFill>
              <a:srgbClr val="BDBDBD">
                <a:alpha val="0"/>
              </a:srgbClr>
            </a:solidFill>
            <a:prstDash val="solid"/>
          </a:ln>
        </p:spPr>
        <p:txBody>
          <a:bodyPr/>
          <a:lstStyle/>
          <a:p>
            <a:endParaRPr lang="tr-TR"/>
          </a:p>
        </p:txBody>
      </p:sp>
      <p:sp>
        <p:nvSpPr>
          <p:cNvPr id="10" name="pc1"/>
          <p:cNvSpPr/>
          <p:nvPr/>
        </p:nvSpPr>
        <p:spPr>
          <a:xfrm>
            <a:off x="3552444" y="1801368"/>
            <a:ext cx="694944" cy="694944"/>
          </a:xfrm>
          <a:prstGeom prst="ellipse">
            <a:avLst/>
          </a:prstGeom>
          <a:solidFill>
            <a:srgbClr val="F7F6F4"/>
          </a:solidFill>
          <a:ln w="12700">
            <a:solidFill>
              <a:srgbClr val="E4E4E4"/>
            </a:solidFill>
            <a:prstDash val="solid"/>
          </a:ln>
        </p:spPr>
        <p:txBody>
          <a:bodyPr/>
          <a:lstStyle/>
          <a:p>
            <a:endParaRPr lang="tr-TR"/>
          </a:p>
        </p:txBody>
      </p:sp>
      <p:sp>
        <p:nvSpPr>
          <p:cNvPr id="11" name="Text 9"/>
          <p:cNvSpPr txBox="1"/>
          <p:nvPr/>
        </p:nvSpPr>
        <p:spPr>
          <a:xfrm>
            <a:off x="2916936" y="2743200"/>
            <a:ext cx="1965960" cy="274320"/>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Cleaned</a:t>
            </a:r>
            <a:endParaRPr lang="en-US" sz="1300" dirty="0"/>
          </a:p>
        </p:txBody>
      </p:sp>
      <p:sp>
        <p:nvSpPr>
          <p:cNvPr id="12" name="Text 10"/>
          <p:cNvSpPr txBox="1"/>
          <p:nvPr/>
        </p:nvSpPr>
        <p:spPr>
          <a:xfrm>
            <a:off x="2916936" y="3063240"/>
            <a:ext cx="1965960" cy="594360"/>
          </a:xfrm>
          <a:prstGeom prst="rect">
            <a:avLst/>
          </a:prstGeom>
          <a:noFill/>
          <a:ln/>
        </p:spPr>
        <p:txBody>
          <a:bodyPr wrap="square" lIns="0" tIns="0" rIns="0" bIns="0" rtlCol="0" anchor="ctr"/>
          <a:lstStyle/>
          <a:p>
            <a:pPr marL="0" indent="0" algn="ctr">
              <a:lnSpc>
                <a:spcPts val="1400"/>
              </a:lnSpc>
              <a:buNone/>
            </a:pPr>
            <a:r>
              <a:rPr lang="en-US" sz="1050" dirty="0">
                <a:solidFill>
                  <a:srgbClr val="8C8C8C"/>
                </a:solidFill>
                <a:latin typeface="Calibri" pitchFamily="34" charset="0"/>
                <a:ea typeface="Calibri" pitchFamily="34" charset="-122"/>
                <a:cs typeface="Calibri" pitchFamily="34" charset="-120"/>
              </a:rPr>
              <a:t>membrane and residue removed manually</a:t>
            </a:r>
            <a:endParaRPr lang="en-US" sz="1050" dirty="0"/>
          </a:p>
        </p:txBody>
      </p:sp>
      <p:sp>
        <p:nvSpPr>
          <p:cNvPr id="13" name="Text 11"/>
          <p:cNvSpPr txBox="1"/>
          <p:nvPr/>
        </p:nvSpPr>
        <p:spPr>
          <a:xfrm>
            <a:off x="2916936" y="3749040"/>
            <a:ext cx="1965960" cy="274320"/>
          </a:xfrm>
          <a:prstGeom prst="rect">
            <a:avLst/>
          </a:prstGeom>
          <a:noFill/>
          <a:ln/>
        </p:spPr>
        <p:txBody>
          <a:bodyPr wrap="square" lIns="0" tIns="0" rIns="0" bIns="0" rtlCol="0" anchor="ctr"/>
          <a:lstStyle/>
          <a:p>
            <a:pPr marL="0" indent="0" algn="ctr">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14" name="pa1"/>
          <p:cNvSpPr/>
          <p:nvPr/>
        </p:nvSpPr>
        <p:spPr>
          <a:xfrm>
            <a:off x="4901184" y="2084832"/>
            <a:ext cx="182880" cy="137160"/>
          </a:xfrm>
          <a:prstGeom prst="rightArrow">
            <a:avLst/>
          </a:prstGeom>
          <a:solidFill>
            <a:srgbClr val="BDBDBD"/>
          </a:solidFill>
          <a:ln w="12700">
            <a:solidFill>
              <a:srgbClr val="BDBDBD">
                <a:alpha val="0"/>
              </a:srgbClr>
            </a:solidFill>
            <a:prstDash val="solid"/>
          </a:ln>
        </p:spPr>
        <p:txBody>
          <a:bodyPr/>
          <a:lstStyle/>
          <a:p>
            <a:endParaRPr lang="tr-TR"/>
          </a:p>
        </p:txBody>
      </p:sp>
      <p:sp>
        <p:nvSpPr>
          <p:cNvPr id="15" name="pc2"/>
          <p:cNvSpPr/>
          <p:nvPr/>
        </p:nvSpPr>
        <p:spPr>
          <a:xfrm>
            <a:off x="5801868" y="1865376"/>
            <a:ext cx="566928" cy="566928"/>
          </a:xfrm>
          <a:prstGeom prst="ellipse">
            <a:avLst/>
          </a:prstGeom>
          <a:solidFill>
            <a:srgbClr val="F7F6F4"/>
          </a:solidFill>
          <a:ln w="12700">
            <a:solidFill>
              <a:srgbClr val="E4E4E4"/>
            </a:solidFill>
            <a:prstDash val="solid"/>
          </a:ln>
        </p:spPr>
        <p:txBody>
          <a:bodyPr/>
          <a:lstStyle/>
          <a:p>
            <a:endParaRPr lang="tr-TR"/>
          </a:p>
        </p:txBody>
      </p:sp>
      <p:sp>
        <p:nvSpPr>
          <p:cNvPr id="16" name="Text 14"/>
          <p:cNvSpPr txBox="1"/>
          <p:nvPr/>
        </p:nvSpPr>
        <p:spPr>
          <a:xfrm>
            <a:off x="5102352" y="2743200"/>
            <a:ext cx="1965960" cy="274320"/>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Heat-treated</a:t>
            </a:r>
            <a:endParaRPr lang="en-US" sz="1300" dirty="0"/>
          </a:p>
        </p:txBody>
      </p:sp>
      <p:sp>
        <p:nvSpPr>
          <p:cNvPr id="17" name="Text 15"/>
          <p:cNvSpPr txBox="1"/>
          <p:nvPr/>
        </p:nvSpPr>
        <p:spPr>
          <a:xfrm>
            <a:off x="5102352" y="3063240"/>
            <a:ext cx="1965960" cy="594360"/>
          </a:xfrm>
          <a:prstGeom prst="rect">
            <a:avLst/>
          </a:prstGeom>
          <a:noFill/>
          <a:ln/>
        </p:spPr>
        <p:txBody>
          <a:bodyPr wrap="square" lIns="0" tIns="0" rIns="0" bIns="0" rtlCol="0" anchor="ctr"/>
          <a:lstStyle/>
          <a:p>
            <a:pPr marL="0" indent="0" algn="ctr">
              <a:lnSpc>
                <a:spcPts val="1400"/>
              </a:lnSpc>
              <a:buNone/>
            </a:pPr>
            <a:r>
              <a:rPr lang="en-US" sz="1050" dirty="0">
                <a:solidFill>
                  <a:srgbClr val="8C8C8C"/>
                </a:solidFill>
                <a:latin typeface="Calibri" pitchFamily="34" charset="0"/>
                <a:ea typeface="Calibri" pitchFamily="34" charset="-122"/>
                <a:cs typeface="Calibri" pitchFamily="34" charset="-120"/>
              </a:rPr>
              <a:t>decontamination and drying</a:t>
            </a:r>
            <a:endParaRPr lang="en-US" sz="1050" dirty="0"/>
          </a:p>
        </p:txBody>
      </p:sp>
      <p:sp>
        <p:nvSpPr>
          <p:cNvPr id="18" name="Text 16"/>
          <p:cNvSpPr txBox="1"/>
          <p:nvPr/>
        </p:nvSpPr>
        <p:spPr>
          <a:xfrm>
            <a:off x="5102352" y="3749040"/>
            <a:ext cx="1965960" cy="274320"/>
          </a:xfrm>
          <a:prstGeom prst="rect">
            <a:avLst/>
          </a:prstGeom>
          <a:noFill/>
          <a:ln/>
        </p:spPr>
        <p:txBody>
          <a:bodyPr wrap="square" lIns="0" tIns="0" rIns="0" bIns="0" rtlCol="0" anchor="ctr"/>
          <a:lstStyle/>
          <a:p>
            <a:pPr marL="0" indent="0" algn="ctr">
              <a:buNone/>
            </a:pPr>
            <a:r>
              <a:rPr lang="en-US" sz="1100" b="1" dirty="0">
                <a:solidFill>
                  <a:srgbClr val="B4513A"/>
                </a:solidFill>
                <a:latin typeface="Calibri" pitchFamily="34" charset="0"/>
                <a:ea typeface="Calibri" pitchFamily="34" charset="-122"/>
                <a:cs typeface="Calibri" pitchFamily="34" charset="-120"/>
              </a:rPr>
              <a:t>120 °C, 20 min</a:t>
            </a:r>
            <a:endParaRPr lang="en-US" sz="1100" dirty="0"/>
          </a:p>
        </p:txBody>
      </p:sp>
      <p:sp>
        <p:nvSpPr>
          <p:cNvPr id="19" name="pa2"/>
          <p:cNvSpPr/>
          <p:nvPr/>
        </p:nvSpPr>
        <p:spPr>
          <a:xfrm>
            <a:off x="7086600" y="2084832"/>
            <a:ext cx="182880" cy="137160"/>
          </a:xfrm>
          <a:prstGeom prst="rightArrow">
            <a:avLst/>
          </a:prstGeom>
          <a:solidFill>
            <a:srgbClr val="BDBDBD"/>
          </a:solidFill>
          <a:ln w="12700">
            <a:solidFill>
              <a:srgbClr val="BDBDBD">
                <a:alpha val="0"/>
              </a:srgbClr>
            </a:solidFill>
            <a:prstDash val="solid"/>
          </a:ln>
        </p:spPr>
        <p:txBody>
          <a:bodyPr/>
          <a:lstStyle/>
          <a:p>
            <a:endParaRPr lang="tr-TR"/>
          </a:p>
        </p:txBody>
      </p:sp>
      <p:sp>
        <p:nvSpPr>
          <p:cNvPr id="20" name="pc3"/>
          <p:cNvSpPr/>
          <p:nvPr/>
        </p:nvSpPr>
        <p:spPr>
          <a:xfrm>
            <a:off x="8051292" y="1929384"/>
            <a:ext cx="438912" cy="438912"/>
          </a:xfrm>
          <a:prstGeom prst="ellipse">
            <a:avLst/>
          </a:prstGeom>
          <a:solidFill>
            <a:srgbClr val="F7F6F4"/>
          </a:solidFill>
          <a:ln w="12700">
            <a:solidFill>
              <a:srgbClr val="E4E4E4"/>
            </a:solidFill>
            <a:prstDash val="solid"/>
          </a:ln>
        </p:spPr>
        <p:txBody>
          <a:bodyPr/>
          <a:lstStyle/>
          <a:p>
            <a:endParaRPr lang="tr-TR"/>
          </a:p>
        </p:txBody>
      </p:sp>
      <p:sp>
        <p:nvSpPr>
          <p:cNvPr id="21" name="Text 19"/>
          <p:cNvSpPr txBox="1"/>
          <p:nvPr/>
        </p:nvSpPr>
        <p:spPr>
          <a:xfrm>
            <a:off x="7287768" y="2743200"/>
            <a:ext cx="1965960" cy="274320"/>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Milled</a:t>
            </a:r>
            <a:endParaRPr lang="en-US" sz="1300" dirty="0"/>
          </a:p>
        </p:txBody>
      </p:sp>
      <p:sp>
        <p:nvSpPr>
          <p:cNvPr id="22" name="Text 20"/>
          <p:cNvSpPr txBox="1"/>
          <p:nvPr/>
        </p:nvSpPr>
        <p:spPr>
          <a:xfrm>
            <a:off x="7287768" y="3063240"/>
            <a:ext cx="1965960" cy="594360"/>
          </a:xfrm>
          <a:prstGeom prst="rect">
            <a:avLst/>
          </a:prstGeom>
          <a:noFill/>
          <a:ln/>
        </p:spPr>
        <p:txBody>
          <a:bodyPr wrap="square" lIns="0" tIns="0" rIns="0" bIns="0" rtlCol="0" anchor="ctr"/>
          <a:lstStyle/>
          <a:p>
            <a:pPr marL="0" indent="0" algn="ctr">
              <a:lnSpc>
                <a:spcPts val="1400"/>
              </a:lnSpc>
              <a:buNone/>
            </a:pPr>
            <a:r>
              <a:rPr lang="en-US" sz="1050" dirty="0">
                <a:solidFill>
                  <a:srgbClr val="8C8C8C"/>
                </a:solidFill>
                <a:latin typeface="Calibri" pitchFamily="34" charset="0"/>
                <a:ea typeface="Calibri" pitchFamily="34" charset="-122"/>
                <a:cs typeface="Calibri" pitchFamily="34" charset="-120"/>
              </a:rPr>
              <a:t>laboratory mechanical grinder</a:t>
            </a:r>
            <a:endParaRPr lang="en-US" sz="1050" dirty="0"/>
          </a:p>
        </p:txBody>
      </p:sp>
      <p:sp>
        <p:nvSpPr>
          <p:cNvPr id="23" name="Text 21"/>
          <p:cNvSpPr txBox="1"/>
          <p:nvPr/>
        </p:nvSpPr>
        <p:spPr>
          <a:xfrm>
            <a:off x="7287768" y="3749040"/>
            <a:ext cx="1965960" cy="274320"/>
          </a:xfrm>
          <a:prstGeom prst="rect">
            <a:avLst/>
          </a:prstGeom>
          <a:noFill/>
          <a:ln/>
        </p:spPr>
        <p:txBody>
          <a:bodyPr wrap="square" lIns="0" tIns="0" rIns="0" bIns="0" rtlCol="0" anchor="ctr"/>
          <a:lstStyle/>
          <a:p>
            <a:pPr marL="0" indent="0" algn="ctr">
              <a:buNone/>
            </a:pPr>
            <a:r>
              <a:rPr lang="en-US" sz="1100" b="1" dirty="0">
                <a:solidFill>
                  <a:srgbClr val="B4513A"/>
                </a:solidFill>
                <a:latin typeface="Calibri" pitchFamily="34" charset="0"/>
                <a:ea typeface="Calibri" pitchFamily="34" charset="-122"/>
                <a:cs typeface="Calibri" pitchFamily="34" charset="-120"/>
              </a:rPr>
              <a:t>to homogeneous powder</a:t>
            </a:r>
            <a:endParaRPr lang="en-US" sz="1100" dirty="0"/>
          </a:p>
        </p:txBody>
      </p:sp>
      <p:sp>
        <p:nvSpPr>
          <p:cNvPr id="24" name="pa3"/>
          <p:cNvSpPr/>
          <p:nvPr/>
        </p:nvSpPr>
        <p:spPr>
          <a:xfrm>
            <a:off x="9272016" y="2084832"/>
            <a:ext cx="182880" cy="137160"/>
          </a:xfrm>
          <a:prstGeom prst="rightArrow">
            <a:avLst/>
          </a:prstGeom>
          <a:solidFill>
            <a:srgbClr val="BDBDBD"/>
          </a:solidFill>
          <a:ln w="12700">
            <a:solidFill>
              <a:srgbClr val="BDBDBD">
                <a:alpha val="0"/>
              </a:srgbClr>
            </a:solidFill>
            <a:prstDash val="solid"/>
          </a:ln>
        </p:spPr>
        <p:txBody>
          <a:bodyPr/>
          <a:lstStyle/>
          <a:p>
            <a:endParaRPr lang="tr-TR"/>
          </a:p>
        </p:txBody>
      </p:sp>
      <p:sp>
        <p:nvSpPr>
          <p:cNvPr id="25" name="pc4"/>
          <p:cNvSpPr/>
          <p:nvPr/>
        </p:nvSpPr>
        <p:spPr>
          <a:xfrm>
            <a:off x="10300716" y="1993392"/>
            <a:ext cx="310896" cy="310896"/>
          </a:xfrm>
          <a:prstGeom prst="ellipse">
            <a:avLst/>
          </a:prstGeom>
          <a:solidFill>
            <a:srgbClr val="B4513A"/>
          </a:solidFill>
          <a:ln w="12700">
            <a:solidFill>
              <a:srgbClr val="B4513A"/>
            </a:solidFill>
            <a:prstDash val="solid"/>
          </a:ln>
        </p:spPr>
        <p:txBody>
          <a:bodyPr/>
          <a:lstStyle/>
          <a:p>
            <a:endParaRPr lang="tr-TR"/>
          </a:p>
        </p:txBody>
      </p:sp>
      <p:sp>
        <p:nvSpPr>
          <p:cNvPr id="26" name="Text 24"/>
          <p:cNvSpPr txBox="1"/>
          <p:nvPr/>
        </p:nvSpPr>
        <p:spPr>
          <a:xfrm>
            <a:off x="9473184" y="2743200"/>
            <a:ext cx="1965960" cy="274320"/>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Sieved</a:t>
            </a:r>
            <a:endParaRPr lang="en-US" sz="1300" dirty="0"/>
          </a:p>
        </p:txBody>
      </p:sp>
      <p:sp>
        <p:nvSpPr>
          <p:cNvPr id="27" name="Text 25"/>
          <p:cNvSpPr txBox="1"/>
          <p:nvPr/>
        </p:nvSpPr>
        <p:spPr>
          <a:xfrm>
            <a:off x="9473184" y="3063240"/>
            <a:ext cx="1965960" cy="594360"/>
          </a:xfrm>
          <a:prstGeom prst="rect">
            <a:avLst/>
          </a:prstGeom>
          <a:noFill/>
          <a:ln/>
        </p:spPr>
        <p:txBody>
          <a:bodyPr wrap="square" lIns="0" tIns="0" rIns="0" bIns="0" rtlCol="0" anchor="ctr"/>
          <a:lstStyle/>
          <a:p>
            <a:pPr marL="0" indent="0" algn="ctr">
              <a:lnSpc>
                <a:spcPts val="1400"/>
              </a:lnSpc>
              <a:buNone/>
            </a:pPr>
            <a:r>
              <a:rPr lang="en-US" sz="1050" dirty="0">
                <a:solidFill>
                  <a:srgbClr val="8C8C8C"/>
                </a:solidFill>
                <a:latin typeface="Calibri" pitchFamily="34" charset="0"/>
                <a:ea typeface="Calibri" pitchFamily="34" charset="-122"/>
                <a:cs typeface="Calibri" pitchFamily="34" charset="-120"/>
              </a:rPr>
              <a:t>passing fraction retained</a:t>
            </a:r>
            <a:endParaRPr lang="en-US" sz="1050" dirty="0"/>
          </a:p>
        </p:txBody>
      </p:sp>
      <p:sp>
        <p:nvSpPr>
          <p:cNvPr id="28" name="Text 26"/>
          <p:cNvSpPr txBox="1"/>
          <p:nvPr/>
        </p:nvSpPr>
        <p:spPr>
          <a:xfrm>
            <a:off x="9473184" y="3749040"/>
            <a:ext cx="1965960" cy="274320"/>
          </a:xfrm>
          <a:prstGeom prst="rect">
            <a:avLst/>
          </a:prstGeom>
          <a:noFill/>
          <a:ln/>
        </p:spPr>
        <p:txBody>
          <a:bodyPr wrap="square" lIns="0" tIns="0" rIns="0" bIns="0" rtlCol="0" anchor="ctr"/>
          <a:lstStyle/>
          <a:p>
            <a:pPr marL="0" indent="0" algn="ctr">
              <a:buNone/>
            </a:pPr>
            <a:r>
              <a:rPr lang="en-US" sz="1100" b="1" dirty="0">
                <a:solidFill>
                  <a:srgbClr val="B4513A"/>
                </a:solidFill>
                <a:latin typeface="Calibri" pitchFamily="34" charset="0"/>
                <a:ea typeface="Calibri" pitchFamily="34" charset="-122"/>
                <a:cs typeface="Calibri" pitchFamily="34" charset="-120"/>
              </a:rPr>
              <a:t>150 µm mesh</a:t>
            </a:r>
            <a:endParaRPr lang="en-US" sz="1100" dirty="0"/>
          </a:p>
        </p:txBody>
      </p:sp>
      <p:sp>
        <p:nvSpPr>
          <p:cNvPr id="29" name="ru0.84.75"/>
          <p:cNvSpPr/>
          <p:nvPr/>
        </p:nvSpPr>
        <p:spPr>
          <a:xfrm>
            <a:off x="731520" y="434340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30" name="Text 28"/>
          <p:cNvSpPr txBox="1"/>
          <p:nvPr/>
        </p:nvSpPr>
        <p:spPr>
          <a:xfrm>
            <a:off x="731520" y="4526280"/>
            <a:ext cx="10241280" cy="54864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The 150 µm fraction was selected so that the mineral phase would be comparable with the eggshell polymer-composite literature.</a:t>
            </a:r>
            <a:endParaRPr lang="en-US" sz="1200" dirty="0"/>
          </a:p>
        </p:txBody>
      </p:sp>
      <p:sp>
        <p:nvSpPr>
          <p:cNvPr id="31" name="Text 29"/>
          <p:cNvSpPr txBox="1"/>
          <p:nvPr/>
        </p:nvSpPr>
        <p:spPr>
          <a:xfrm>
            <a:off x="731520" y="5166360"/>
            <a:ext cx="10241280" cy="54864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The heat step is decontamination and drying rather than sterilisation, because sterility was never verified.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11</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Stage 2 · Binder preparation</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Temperature–time profile of the 55-minute preparation</a:t>
            </a:r>
            <a:endParaRPr lang="en-US" sz="1300" dirty="0"/>
          </a:p>
        </p:txBody>
      </p:sp>
      <p:sp>
        <p:nvSpPr>
          <p:cNvPr id="5" name="tv"/>
          <p:cNvSpPr/>
          <p:nvPr/>
        </p:nvSpPr>
        <p:spPr>
          <a:xfrm>
            <a:off x="1463040" y="1874520"/>
            <a:ext cx="18288" cy="2468880"/>
          </a:xfrm>
          <a:prstGeom prst="rect">
            <a:avLst/>
          </a:prstGeom>
          <a:solidFill>
            <a:srgbClr val="E4E4E4"/>
          </a:solidFill>
          <a:ln w="12700">
            <a:solidFill>
              <a:srgbClr val="E4E4E4">
                <a:alpha val="0"/>
              </a:srgbClr>
            </a:solidFill>
            <a:prstDash val="solid"/>
          </a:ln>
        </p:spPr>
        <p:txBody>
          <a:bodyPr/>
          <a:lstStyle/>
          <a:p>
            <a:endParaRPr lang="tr-TR"/>
          </a:p>
        </p:txBody>
      </p:sp>
      <p:sp>
        <p:nvSpPr>
          <p:cNvPr id="6" name="th"/>
          <p:cNvSpPr/>
          <p:nvPr/>
        </p:nvSpPr>
        <p:spPr>
          <a:xfrm>
            <a:off x="1463040" y="4343400"/>
            <a:ext cx="8778240" cy="18288"/>
          </a:xfrm>
          <a:prstGeom prst="rect">
            <a:avLst/>
          </a:prstGeom>
          <a:solidFill>
            <a:srgbClr val="E4E4E4"/>
          </a:solidFill>
          <a:ln w="12700">
            <a:solidFill>
              <a:srgbClr val="E4E4E4">
                <a:alpha val="0"/>
              </a:srgbClr>
            </a:solidFill>
            <a:prstDash val="solid"/>
          </a:ln>
        </p:spPr>
        <p:txBody>
          <a:bodyPr/>
          <a:lstStyle/>
          <a:p>
            <a:endParaRPr lang="tr-TR"/>
          </a:p>
        </p:txBody>
      </p:sp>
      <p:sp>
        <p:nvSpPr>
          <p:cNvPr id="7" name="ramp"/>
          <p:cNvSpPr/>
          <p:nvPr/>
        </p:nvSpPr>
        <p:spPr>
          <a:xfrm flipV="1">
            <a:off x="1463040" y="2194560"/>
            <a:ext cx="1737360" cy="2148840"/>
          </a:xfrm>
          <a:prstGeom prst="line">
            <a:avLst/>
          </a:prstGeom>
          <a:noFill/>
          <a:ln w="28575">
            <a:solidFill>
              <a:srgbClr val="141414"/>
            </a:solidFill>
            <a:prstDash val="solid"/>
          </a:ln>
        </p:spPr>
        <p:txBody>
          <a:bodyPr/>
          <a:lstStyle/>
          <a:p>
            <a:endParaRPr lang="tr-TR"/>
          </a:p>
        </p:txBody>
      </p:sp>
      <p:sp>
        <p:nvSpPr>
          <p:cNvPr id="8" name="pl95"/>
          <p:cNvSpPr/>
          <p:nvPr/>
        </p:nvSpPr>
        <p:spPr>
          <a:xfrm>
            <a:off x="3200400" y="2194560"/>
            <a:ext cx="2011680" cy="27432"/>
          </a:xfrm>
          <a:prstGeom prst="rect">
            <a:avLst/>
          </a:prstGeom>
          <a:solidFill>
            <a:srgbClr val="141414"/>
          </a:solidFill>
          <a:ln w="12700">
            <a:solidFill>
              <a:srgbClr val="141414">
                <a:alpha val="0"/>
              </a:srgbClr>
            </a:solidFill>
            <a:prstDash val="solid"/>
          </a:ln>
        </p:spPr>
        <p:txBody>
          <a:bodyPr/>
          <a:lstStyle/>
          <a:p>
            <a:endParaRPr lang="tr-TR"/>
          </a:p>
        </p:txBody>
      </p:sp>
      <p:sp>
        <p:nvSpPr>
          <p:cNvPr id="9" name="drop"/>
          <p:cNvSpPr/>
          <p:nvPr/>
        </p:nvSpPr>
        <p:spPr>
          <a:xfrm>
            <a:off x="5212080" y="2194560"/>
            <a:ext cx="685800" cy="594360"/>
          </a:xfrm>
          <a:prstGeom prst="line">
            <a:avLst/>
          </a:prstGeom>
          <a:noFill/>
          <a:ln w="28575">
            <a:solidFill>
              <a:srgbClr val="141414"/>
            </a:solidFill>
            <a:prstDash val="solid"/>
          </a:ln>
        </p:spPr>
        <p:txBody>
          <a:bodyPr/>
          <a:lstStyle/>
          <a:p>
            <a:endParaRPr lang="tr-TR"/>
          </a:p>
        </p:txBody>
      </p:sp>
      <p:sp>
        <p:nvSpPr>
          <p:cNvPr id="10" name="pl80"/>
          <p:cNvSpPr/>
          <p:nvPr/>
        </p:nvSpPr>
        <p:spPr>
          <a:xfrm>
            <a:off x="5897880" y="2788920"/>
            <a:ext cx="4206240" cy="27432"/>
          </a:xfrm>
          <a:prstGeom prst="rect">
            <a:avLst/>
          </a:prstGeom>
          <a:solidFill>
            <a:srgbClr val="141414"/>
          </a:solidFill>
          <a:ln w="12700">
            <a:solidFill>
              <a:srgbClr val="141414">
                <a:alpha val="0"/>
              </a:srgbClr>
            </a:solidFill>
            <a:prstDash val="solid"/>
          </a:ln>
        </p:spPr>
        <p:txBody>
          <a:bodyPr/>
          <a:lstStyle/>
          <a:p>
            <a:endParaRPr lang="tr-TR"/>
          </a:p>
        </p:txBody>
      </p:sp>
      <p:sp>
        <p:nvSpPr>
          <p:cNvPr id="11" name="Text 9"/>
          <p:cNvSpPr txBox="1"/>
          <p:nvPr/>
        </p:nvSpPr>
        <p:spPr>
          <a:xfrm>
            <a:off x="548640" y="2048256"/>
            <a:ext cx="822960" cy="274320"/>
          </a:xfrm>
          <a:prstGeom prst="rect">
            <a:avLst/>
          </a:prstGeom>
          <a:noFill/>
          <a:ln/>
        </p:spPr>
        <p:txBody>
          <a:bodyPr wrap="square" lIns="0" tIns="0" rIns="0" bIns="0" rtlCol="0" anchor="ctr"/>
          <a:lstStyle/>
          <a:p>
            <a:pPr marL="0" indent="0" algn="r">
              <a:buNone/>
            </a:pPr>
            <a:r>
              <a:rPr lang="en-US" sz="1200" b="1" dirty="0">
                <a:solidFill>
                  <a:srgbClr val="B4513A"/>
                </a:solidFill>
                <a:latin typeface="Calibri" pitchFamily="34" charset="0"/>
                <a:ea typeface="Calibri" pitchFamily="34" charset="-122"/>
                <a:cs typeface="Calibri" pitchFamily="34" charset="-120"/>
              </a:rPr>
              <a:t>95 °C</a:t>
            </a:r>
            <a:endParaRPr lang="en-US" sz="1200" dirty="0"/>
          </a:p>
        </p:txBody>
      </p:sp>
      <p:sp>
        <p:nvSpPr>
          <p:cNvPr id="12" name="Text 10"/>
          <p:cNvSpPr txBox="1"/>
          <p:nvPr/>
        </p:nvSpPr>
        <p:spPr>
          <a:xfrm>
            <a:off x="548640" y="2642616"/>
            <a:ext cx="822960" cy="274320"/>
          </a:xfrm>
          <a:prstGeom prst="rect">
            <a:avLst/>
          </a:prstGeom>
          <a:noFill/>
          <a:ln/>
        </p:spPr>
        <p:txBody>
          <a:bodyPr wrap="square" lIns="0" tIns="0" rIns="0" bIns="0" rtlCol="0" anchor="ctr"/>
          <a:lstStyle/>
          <a:p>
            <a:pPr marL="0" indent="0" algn="r">
              <a:buNone/>
            </a:pPr>
            <a:r>
              <a:rPr lang="en-US" sz="1200" b="1" dirty="0">
                <a:solidFill>
                  <a:srgbClr val="B4513A"/>
                </a:solidFill>
                <a:latin typeface="Calibri" pitchFamily="34" charset="0"/>
                <a:ea typeface="Calibri" pitchFamily="34" charset="-122"/>
                <a:cs typeface="Calibri" pitchFamily="34" charset="-120"/>
              </a:rPr>
              <a:t>80 °C</a:t>
            </a:r>
            <a:endParaRPr lang="en-US" sz="1200" dirty="0"/>
          </a:p>
        </p:txBody>
      </p:sp>
      <p:sp>
        <p:nvSpPr>
          <p:cNvPr id="13" name="Text 11"/>
          <p:cNvSpPr txBox="1"/>
          <p:nvPr/>
        </p:nvSpPr>
        <p:spPr>
          <a:xfrm>
            <a:off x="548640" y="4197096"/>
            <a:ext cx="822960" cy="274320"/>
          </a:xfrm>
          <a:prstGeom prst="rect">
            <a:avLst/>
          </a:prstGeom>
          <a:noFill/>
          <a:ln/>
        </p:spPr>
        <p:txBody>
          <a:bodyPr wrap="square" lIns="0" tIns="0" rIns="0" bIns="0" rtlCol="0" anchor="t"/>
          <a:lstStyle/>
          <a:p>
            <a:pPr marL="0" indent="0">
              <a:lnSpc>
                <a:spcPts val="1500"/>
              </a:lnSpc>
              <a:buNone/>
            </a:pPr>
            <a:r>
              <a:rPr lang="en-US" sz="1000" dirty="0">
                <a:solidFill>
                  <a:srgbClr val="8C8C8C"/>
                </a:solidFill>
                <a:latin typeface="Calibri" pitchFamily="34" charset="0"/>
                <a:ea typeface="Calibri" pitchFamily="34" charset="-122"/>
                <a:cs typeface="Calibri" pitchFamily="34" charset="-120"/>
              </a:rPr>
              <a:t>ambient</a:t>
            </a:r>
            <a:endParaRPr lang="en-US" sz="1000" dirty="0"/>
          </a:p>
        </p:txBody>
      </p:sp>
      <p:sp>
        <p:nvSpPr>
          <p:cNvPr id="14" name="Text 12"/>
          <p:cNvSpPr txBox="1"/>
          <p:nvPr/>
        </p:nvSpPr>
        <p:spPr>
          <a:xfrm>
            <a:off x="8229600" y="3959352"/>
            <a:ext cx="2011680" cy="274320"/>
          </a:xfrm>
          <a:prstGeom prst="rect">
            <a:avLst/>
          </a:prstGeom>
          <a:noFill/>
          <a:ln/>
        </p:spPr>
        <p:txBody>
          <a:bodyPr wrap="square" lIns="0" tIns="0" rIns="0" bIns="0" rtlCol="0" anchor="ctr"/>
          <a:lstStyle/>
          <a:p>
            <a:pPr marL="0" indent="0" algn="r">
              <a:buNone/>
            </a:pPr>
            <a:r>
              <a:rPr lang="en-US" sz="1200" b="1" dirty="0">
                <a:solidFill>
                  <a:srgbClr val="141414"/>
                </a:solidFill>
                <a:latin typeface="Calibri" pitchFamily="34" charset="0"/>
                <a:ea typeface="Calibri" pitchFamily="34" charset="-122"/>
                <a:cs typeface="Calibri" pitchFamily="34" charset="-120"/>
              </a:rPr>
              <a:t>55 min total</a:t>
            </a:r>
            <a:endParaRPr lang="en-US" sz="1200" dirty="0"/>
          </a:p>
        </p:txBody>
      </p:sp>
      <p:sp>
        <p:nvSpPr>
          <p:cNvPr id="15" name="mk0"/>
          <p:cNvSpPr/>
          <p:nvPr/>
        </p:nvSpPr>
        <p:spPr>
          <a:xfrm>
            <a:off x="2057400" y="4279392"/>
            <a:ext cx="128016" cy="128016"/>
          </a:xfrm>
          <a:prstGeom prst="ellipse">
            <a:avLst/>
          </a:prstGeom>
          <a:solidFill>
            <a:srgbClr val="B4513A"/>
          </a:solidFill>
          <a:ln w="12700">
            <a:solidFill>
              <a:srgbClr val="B4513A">
                <a:alpha val="0"/>
              </a:srgbClr>
            </a:solidFill>
            <a:prstDash val="solid"/>
          </a:ln>
        </p:spPr>
        <p:txBody>
          <a:bodyPr/>
          <a:lstStyle/>
          <a:p>
            <a:endParaRPr lang="tr-TR"/>
          </a:p>
        </p:txBody>
      </p:sp>
      <p:sp>
        <p:nvSpPr>
          <p:cNvPr id="16" name="Text 14"/>
          <p:cNvSpPr txBox="1"/>
          <p:nvPr/>
        </p:nvSpPr>
        <p:spPr>
          <a:xfrm>
            <a:off x="1600200" y="4617720"/>
            <a:ext cx="2103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Water and glycerol</a:t>
            </a:r>
            <a:endParaRPr lang="en-US" sz="1200" dirty="0"/>
          </a:p>
        </p:txBody>
      </p:sp>
      <p:sp>
        <p:nvSpPr>
          <p:cNvPr id="17" name="Text 15"/>
          <p:cNvSpPr txBox="1"/>
          <p:nvPr/>
        </p:nvSpPr>
        <p:spPr>
          <a:xfrm>
            <a:off x="1600200" y="4910328"/>
            <a:ext cx="2103120" cy="457200"/>
          </a:xfrm>
          <a:prstGeom prst="rect">
            <a:avLst/>
          </a:prstGeom>
          <a:noFill/>
          <a:ln/>
        </p:spPr>
        <p:txBody>
          <a:bodyPr wrap="square" lIns="0" tIns="0" rIns="0" bIns="0" rtlCol="0" anchor="ctr"/>
          <a:lstStyle/>
          <a:p>
            <a:pPr marL="0" indent="0">
              <a:lnSpc>
                <a:spcPts val="1300"/>
              </a:lnSpc>
              <a:buNone/>
            </a:pPr>
            <a:r>
              <a:rPr lang="en-US" sz="1000" dirty="0">
                <a:solidFill>
                  <a:srgbClr val="8C8C8C"/>
                </a:solidFill>
                <a:latin typeface="Calibri" pitchFamily="34" charset="0"/>
                <a:ea typeface="Calibri" pitchFamily="34" charset="-122"/>
                <a:cs typeface="Calibri" pitchFamily="34" charset="-120"/>
              </a:rPr>
              <a:t>pre-mixed, no solids present</a:t>
            </a:r>
            <a:endParaRPr lang="en-US" sz="1000" dirty="0"/>
          </a:p>
        </p:txBody>
      </p:sp>
      <p:sp>
        <p:nvSpPr>
          <p:cNvPr id="18" name="dl0"/>
          <p:cNvSpPr/>
          <p:nvPr/>
        </p:nvSpPr>
        <p:spPr>
          <a:xfrm>
            <a:off x="2121408" y="4343400"/>
            <a:ext cx="10973" cy="228600"/>
          </a:xfrm>
          <a:prstGeom prst="rect">
            <a:avLst/>
          </a:prstGeom>
          <a:solidFill>
            <a:srgbClr val="BDBDBD"/>
          </a:solidFill>
          <a:ln w="12700">
            <a:solidFill>
              <a:srgbClr val="BDBDBD">
                <a:alpha val="0"/>
              </a:srgbClr>
            </a:solidFill>
            <a:prstDash val="solid"/>
          </a:ln>
        </p:spPr>
        <p:txBody>
          <a:bodyPr/>
          <a:lstStyle/>
          <a:p>
            <a:endParaRPr lang="tr-TR"/>
          </a:p>
        </p:txBody>
      </p:sp>
      <p:sp>
        <p:nvSpPr>
          <p:cNvPr id="19" name="mk1"/>
          <p:cNvSpPr/>
          <p:nvPr/>
        </p:nvSpPr>
        <p:spPr>
          <a:xfrm>
            <a:off x="3840480" y="2130552"/>
            <a:ext cx="128016" cy="128016"/>
          </a:xfrm>
          <a:prstGeom prst="ellipse">
            <a:avLst/>
          </a:prstGeom>
          <a:solidFill>
            <a:srgbClr val="B4513A"/>
          </a:solidFill>
          <a:ln w="12700">
            <a:solidFill>
              <a:srgbClr val="B4513A">
                <a:alpha val="0"/>
              </a:srgbClr>
            </a:solidFill>
            <a:prstDash val="solid"/>
          </a:ln>
        </p:spPr>
        <p:txBody>
          <a:bodyPr/>
          <a:lstStyle/>
          <a:p>
            <a:endParaRPr lang="tr-TR"/>
          </a:p>
        </p:txBody>
      </p:sp>
      <p:sp>
        <p:nvSpPr>
          <p:cNvPr id="20" name="Text 18"/>
          <p:cNvSpPr txBox="1"/>
          <p:nvPr/>
        </p:nvSpPr>
        <p:spPr>
          <a:xfrm>
            <a:off x="3383280" y="4617720"/>
            <a:ext cx="2103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Agar dissolution</a:t>
            </a:r>
            <a:endParaRPr lang="en-US" sz="1200" dirty="0"/>
          </a:p>
        </p:txBody>
      </p:sp>
      <p:sp>
        <p:nvSpPr>
          <p:cNvPr id="21" name="Text 19"/>
          <p:cNvSpPr txBox="1"/>
          <p:nvPr/>
        </p:nvSpPr>
        <p:spPr>
          <a:xfrm>
            <a:off x="3383280" y="4910328"/>
            <a:ext cx="2103120" cy="457200"/>
          </a:xfrm>
          <a:prstGeom prst="rect">
            <a:avLst/>
          </a:prstGeom>
          <a:noFill/>
          <a:ln/>
        </p:spPr>
        <p:txBody>
          <a:bodyPr wrap="square" lIns="0" tIns="0" rIns="0" bIns="0" rtlCol="0" anchor="ctr"/>
          <a:lstStyle/>
          <a:p>
            <a:pPr marL="0" indent="0">
              <a:lnSpc>
                <a:spcPts val="1300"/>
              </a:lnSpc>
              <a:buNone/>
            </a:pPr>
            <a:r>
              <a:rPr lang="en-US" sz="1000" dirty="0">
                <a:solidFill>
                  <a:srgbClr val="8C8C8C"/>
                </a:solidFill>
                <a:latin typeface="Calibri" pitchFamily="34" charset="0"/>
                <a:ea typeface="Calibri" pitchFamily="34" charset="-122"/>
                <a:cs typeface="Calibri" pitchFamily="34" charset="-120"/>
              </a:rPr>
              <a:t>added incrementally, stirred</a:t>
            </a:r>
            <a:endParaRPr lang="en-US" sz="1000" dirty="0"/>
          </a:p>
        </p:txBody>
      </p:sp>
      <p:sp>
        <p:nvSpPr>
          <p:cNvPr id="22" name="dl1"/>
          <p:cNvSpPr/>
          <p:nvPr/>
        </p:nvSpPr>
        <p:spPr>
          <a:xfrm>
            <a:off x="3904488" y="2194560"/>
            <a:ext cx="10973" cy="2377440"/>
          </a:xfrm>
          <a:prstGeom prst="rect">
            <a:avLst/>
          </a:prstGeom>
          <a:solidFill>
            <a:srgbClr val="BDBDBD"/>
          </a:solidFill>
          <a:ln w="12700">
            <a:solidFill>
              <a:srgbClr val="BDBDBD">
                <a:alpha val="0"/>
              </a:srgbClr>
            </a:solidFill>
            <a:prstDash val="solid"/>
          </a:ln>
        </p:spPr>
        <p:txBody>
          <a:bodyPr/>
          <a:lstStyle/>
          <a:p>
            <a:endParaRPr lang="tr-TR"/>
          </a:p>
        </p:txBody>
      </p:sp>
      <p:sp>
        <p:nvSpPr>
          <p:cNvPr id="23" name="mk2"/>
          <p:cNvSpPr/>
          <p:nvPr/>
        </p:nvSpPr>
        <p:spPr>
          <a:xfrm>
            <a:off x="6583680" y="2724912"/>
            <a:ext cx="128016" cy="128016"/>
          </a:xfrm>
          <a:prstGeom prst="ellipse">
            <a:avLst/>
          </a:prstGeom>
          <a:solidFill>
            <a:srgbClr val="B4513A"/>
          </a:solidFill>
          <a:ln w="12700">
            <a:solidFill>
              <a:srgbClr val="B4513A">
                <a:alpha val="0"/>
              </a:srgbClr>
            </a:solidFill>
            <a:prstDash val="solid"/>
          </a:ln>
        </p:spPr>
        <p:txBody>
          <a:bodyPr/>
          <a:lstStyle/>
          <a:p>
            <a:endParaRPr lang="tr-TR"/>
          </a:p>
        </p:txBody>
      </p:sp>
      <p:sp>
        <p:nvSpPr>
          <p:cNvPr id="24" name="Text 22"/>
          <p:cNvSpPr txBox="1"/>
          <p:nvPr/>
        </p:nvSpPr>
        <p:spPr>
          <a:xfrm>
            <a:off x="6126480" y="4617720"/>
            <a:ext cx="2103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Viscosity development</a:t>
            </a:r>
            <a:endParaRPr lang="en-US" sz="1200" dirty="0"/>
          </a:p>
        </p:txBody>
      </p:sp>
      <p:sp>
        <p:nvSpPr>
          <p:cNvPr id="25" name="Text 23"/>
          <p:cNvSpPr txBox="1"/>
          <p:nvPr/>
        </p:nvSpPr>
        <p:spPr>
          <a:xfrm>
            <a:off x="6126480" y="4910328"/>
            <a:ext cx="2103120" cy="457200"/>
          </a:xfrm>
          <a:prstGeom prst="rect">
            <a:avLst/>
          </a:prstGeom>
          <a:noFill/>
          <a:ln/>
        </p:spPr>
        <p:txBody>
          <a:bodyPr wrap="square" lIns="0" tIns="0" rIns="0" bIns="0" rtlCol="0" anchor="ctr"/>
          <a:lstStyle/>
          <a:p>
            <a:pPr marL="0" indent="0">
              <a:lnSpc>
                <a:spcPts val="1300"/>
              </a:lnSpc>
              <a:buNone/>
            </a:pPr>
            <a:r>
              <a:rPr lang="en-US" sz="1000" dirty="0">
                <a:solidFill>
                  <a:srgbClr val="8C8C8C"/>
                </a:solidFill>
                <a:latin typeface="Calibri" pitchFamily="34" charset="0"/>
                <a:ea typeface="Calibri" pitchFamily="34" charset="-122"/>
                <a:cs typeface="Calibri" pitchFamily="34" charset="-120"/>
              </a:rPr>
              <a:t>continuous stirring</a:t>
            </a:r>
            <a:endParaRPr lang="en-US" sz="1000" dirty="0"/>
          </a:p>
        </p:txBody>
      </p:sp>
      <p:sp>
        <p:nvSpPr>
          <p:cNvPr id="26" name="dl2"/>
          <p:cNvSpPr/>
          <p:nvPr/>
        </p:nvSpPr>
        <p:spPr>
          <a:xfrm>
            <a:off x="6647688" y="2788920"/>
            <a:ext cx="10973" cy="1783080"/>
          </a:xfrm>
          <a:prstGeom prst="rect">
            <a:avLst/>
          </a:prstGeom>
          <a:solidFill>
            <a:srgbClr val="BDBDBD"/>
          </a:solidFill>
          <a:ln w="12700">
            <a:solidFill>
              <a:srgbClr val="BDBDBD">
                <a:alpha val="0"/>
              </a:srgbClr>
            </a:solidFill>
            <a:prstDash val="solid"/>
          </a:ln>
        </p:spPr>
        <p:txBody>
          <a:bodyPr/>
          <a:lstStyle/>
          <a:p>
            <a:endParaRPr lang="tr-TR"/>
          </a:p>
        </p:txBody>
      </p:sp>
      <p:sp>
        <p:nvSpPr>
          <p:cNvPr id="27" name="mk3"/>
          <p:cNvSpPr/>
          <p:nvPr/>
        </p:nvSpPr>
        <p:spPr>
          <a:xfrm>
            <a:off x="9235440" y="2724912"/>
            <a:ext cx="128016" cy="128016"/>
          </a:xfrm>
          <a:prstGeom prst="ellipse">
            <a:avLst/>
          </a:prstGeom>
          <a:solidFill>
            <a:srgbClr val="B4513A"/>
          </a:solidFill>
          <a:ln w="12700">
            <a:solidFill>
              <a:srgbClr val="B4513A">
                <a:alpha val="0"/>
              </a:srgbClr>
            </a:solidFill>
            <a:prstDash val="solid"/>
          </a:ln>
        </p:spPr>
        <p:txBody>
          <a:bodyPr/>
          <a:lstStyle/>
          <a:p>
            <a:endParaRPr lang="tr-TR"/>
          </a:p>
        </p:txBody>
      </p:sp>
      <p:sp>
        <p:nvSpPr>
          <p:cNvPr id="28" name="Text 26"/>
          <p:cNvSpPr txBox="1"/>
          <p:nvPr/>
        </p:nvSpPr>
        <p:spPr>
          <a:xfrm>
            <a:off x="8778240" y="4617720"/>
            <a:ext cx="2103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Shell addition</a:t>
            </a:r>
            <a:endParaRPr lang="en-US" sz="1200" dirty="0"/>
          </a:p>
        </p:txBody>
      </p:sp>
      <p:sp>
        <p:nvSpPr>
          <p:cNvPr id="29" name="Text 27"/>
          <p:cNvSpPr txBox="1"/>
          <p:nvPr/>
        </p:nvSpPr>
        <p:spPr>
          <a:xfrm>
            <a:off x="8778240" y="4910328"/>
            <a:ext cx="2103120" cy="457200"/>
          </a:xfrm>
          <a:prstGeom prst="rect">
            <a:avLst/>
          </a:prstGeom>
          <a:noFill/>
          <a:ln/>
        </p:spPr>
        <p:txBody>
          <a:bodyPr wrap="square" lIns="0" tIns="0" rIns="0" bIns="0" rtlCol="0" anchor="ctr"/>
          <a:lstStyle/>
          <a:p>
            <a:pPr marL="0" indent="0">
              <a:lnSpc>
                <a:spcPts val="1300"/>
              </a:lnSpc>
              <a:buNone/>
            </a:pPr>
            <a:r>
              <a:rPr lang="en-US" sz="1000" dirty="0">
                <a:solidFill>
                  <a:srgbClr val="8C8C8C"/>
                </a:solidFill>
                <a:latin typeface="Calibri" pitchFamily="34" charset="0"/>
                <a:ea typeface="Calibri" pitchFamily="34" charset="-122"/>
                <a:cs typeface="Calibri" pitchFamily="34" charset="-120"/>
              </a:rPr>
              <a:t>incremental, near the end</a:t>
            </a:r>
            <a:endParaRPr lang="en-US" sz="1000" dirty="0"/>
          </a:p>
        </p:txBody>
      </p:sp>
      <p:sp>
        <p:nvSpPr>
          <p:cNvPr id="30" name="dl3"/>
          <p:cNvSpPr/>
          <p:nvPr/>
        </p:nvSpPr>
        <p:spPr>
          <a:xfrm>
            <a:off x="9299448" y="2788920"/>
            <a:ext cx="10973" cy="1783080"/>
          </a:xfrm>
          <a:prstGeom prst="rect">
            <a:avLst/>
          </a:prstGeom>
          <a:solidFill>
            <a:srgbClr val="BDBDBD"/>
          </a:solidFill>
          <a:ln w="12700">
            <a:solidFill>
              <a:srgbClr val="BDBDBD">
                <a:alpha val="0"/>
              </a:srgbClr>
            </a:solidFill>
            <a:prstDash val="solid"/>
          </a:ln>
        </p:spPr>
        <p:txBody>
          <a:bodyPr/>
          <a:lstStyle/>
          <a:p>
            <a:endParaRPr lang="tr-TR"/>
          </a:p>
        </p:txBody>
      </p:sp>
      <p:sp>
        <p:nvSpPr>
          <p:cNvPr id="31" name="Text 29"/>
          <p:cNvSpPr txBox="1"/>
          <p:nvPr/>
        </p:nvSpPr>
        <p:spPr>
          <a:xfrm>
            <a:off x="731520" y="5486400"/>
            <a:ext cx="10241280" cy="50292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Agar is thermoreversible: it melts on heating and sets again on cooling, so no hardener and no cure temperature are needed.</a:t>
            </a:r>
            <a:endParaRPr lang="en-US" sz="1200" dirty="0"/>
          </a:p>
        </p:txBody>
      </p:sp>
      <p:sp>
        <p:nvSpPr>
          <p:cNvPr id="32" name="Text 30"/>
          <p:cNvSpPr txBox="1"/>
          <p:nvPr/>
        </p:nvSpPr>
        <p:spPr>
          <a:xfrm>
            <a:off x="731520" y="6035040"/>
            <a:ext cx="10241280" cy="50292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The agar is added a little at a time under constant stirring, because added all at once it forms agglomerates that never redisperse.</a:t>
            </a:r>
            <a:endParaRPr lang="en-US" sz="1200" dirty="0"/>
          </a:p>
        </p:txBody>
      </p:sp>
      <p:sp>
        <p:nvSpPr>
          <p:cNvPr id="33" name="Text 31"/>
          <p:cNvSpPr txBox="1"/>
          <p:nvPr/>
        </p:nvSpPr>
        <p:spPr>
          <a:xfrm>
            <a:off x="731520" y="6583680"/>
            <a:ext cx="1005840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Schematic. The set points and the total time are recorded; the ramp rates are not, and stirring was manual.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12</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Stage 3 · Casting and cure</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Eleven days from casting to finished specimen, without thermal input</a:t>
            </a:r>
            <a:endParaRPr lang="en-US" sz="1300" dirty="0"/>
          </a:p>
        </p:txBody>
      </p:sp>
      <p:sp>
        <p:nvSpPr>
          <p:cNvPr id="5" name="c1"/>
          <p:cNvSpPr/>
          <p:nvPr/>
        </p:nvSpPr>
        <p:spPr>
          <a:xfrm>
            <a:off x="731520" y="2606040"/>
            <a:ext cx="3851453" cy="713232"/>
          </a:xfrm>
          <a:prstGeom prst="rect">
            <a:avLst/>
          </a:prstGeom>
          <a:solidFill>
            <a:srgbClr val="F7F6F4"/>
          </a:solidFill>
          <a:ln w="12700">
            <a:solidFill>
              <a:srgbClr val="E4E4E4"/>
            </a:solidFill>
            <a:prstDash val="solid"/>
          </a:ln>
        </p:spPr>
        <p:txBody>
          <a:bodyPr/>
          <a:lstStyle/>
          <a:p>
            <a:endParaRPr lang="tr-TR"/>
          </a:p>
        </p:txBody>
      </p:sp>
      <p:sp>
        <p:nvSpPr>
          <p:cNvPr id="6" name="c2"/>
          <p:cNvSpPr/>
          <p:nvPr/>
        </p:nvSpPr>
        <p:spPr>
          <a:xfrm>
            <a:off x="4582973" y="2606040"/>
            <a:ext cx="6847027" cy="713232"/>
          </a:xfrm>
          <a:prstGeom prst="rect">
            <a:avLst/>
          </a:prstGeom>
          <a:solidFill>
            <a:srgbClr val="FFFFFF"/>
          </a:solidFill>
          <a:ln w="12700">
            <a:solidFill>
              <a:srgbClr val="141414"/>
            </a:solidFill>
            <a:prstDash val="solid"/>
          </a:ln>
        </p:spPr>
        <p:txBody>
          <a:bodyPr/>
          <a:lstStyle/>
          <a:p>
            <a:endParaRPr lang="tr-TR"/>
          </a:p>
        </p:txBody>
      </p:sp>
      <p:sp>
        <p:nvSpPr>
          <p:cNvPr id="7" name="Text 5"/>
          <p:cNvSpPr txBox="1"/>
          <p:nvPr/>
        </p:nvSpPr>
        <p:spPr>
          <a:xfrm>
            <a:off x="1005840" y="2734056"/>
            <a:ext cx="274320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In mould</a:t>
            </a:r>
            <a:endParaRPr lang="en-US" sz="1300" dirty="0"/>
          </a:p>
        </p:txBody>
      </p:sp>
      <p:sp>
        <p:nvSpPr>
          <p:cNvPr id="8" name="Text 6"/>
          <p:cNvSpPr txBox="1"/>
          <p:nvPr/>
        </p:nvSpPr>
        <p:spPr>
          <a:xfrm>
            <a:off x="1005840" y="3008376"/>
            <a:ext cx="3108960" cy="274320"/>
          </a:xfrm>
          <a:prstGeom prst="rect">
            <a:avLst/>
          </a:prstGeom>
          <a:noFill/>
          <a:ln/>
        </p:spPr>
        <p:txBody>
          <a:bodyPr wrap="square" lIns="0" tIns="0" rIns="0" bIns="0" rtlCol="0" anchor="t"/>
          <a:lstStyle/>
          <a:p>
            <a:pPr marL="0" indent="0">
              <a:lnSpc>
                <a:spcPts val="1550"/>
              </a:lnSpc>
              <a:buNone/>
            </a:pPr>
            <a:r>
              <a:rPr lang="en-US" sz="1050" dirty="0">
                <a:solidFill>
                  <a:srgbClr val="8C8C8C"/>
                </a:solidFill>
                <a:latin typeface="Calibri" pitchFamily="34" charset="0"/>
                <a:ea typeface="Calibri" pitchFamily="34" charset="-122"/>
                <a:cs typeface="Calibri" pitchFamily="34" charset="-120"/>
              </a:rPr>
              <a:t>setting and initial drying</a:t>
            </a:r>
            <a:endParaRPr lang="en-US" sz="1050" dirty="0"/>
          </a:p>
        </p:txBody>
      </p:sp>
      <p:sp>
        <p:nvSpPr>
          <p:cNvPr id="9" name="Text 7"/>
          <p:cNvSpPr txBox="1"/>
          <p:nvPr/>
        </p:nvSpPr>
        <p:spPr>
          <a:xfrm>
            <a:off x="4857293" y="2734056"/>
            <a:ext cx="365760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Ambient consolidation</a:t>
            </a:r>
            <a:endParaRPr lang="en-US" sz="1300" dirty="0"/>
          </a:p>
        </p:txBody>
      </p:sp>
      <p:sp>
        <p:nvSpPr>
          <p:cNvPr id="10" name="Text 8"/>
          <p:cNvSpPr txBox="1"/>
          <p:nvPr/>
        </p:nvSpPr>
        <p:spPr>
          <a:xfrm>
            <a:off x="4857293" y="3008376"/>
            <a:ext cx="4572000" cy="274320"/>
          </a:xfrm>
          <a:prstGeom prst="rect">
            <a:avLst/>
          </a:prstGeom>
          <a:noFill/>
          <a:ln/>
        </p:spPr>
        <p:txBody>
          <a:bodyPr wrap="square" lIns="0" tIns="0" rIns="0" bIns="0" rtlCol="0" anchor="t"/>
          <a:lstStyle/>
          <a:p>
            <a:pPr marL="0" indent="0">
              <a:lnSpc>
                <a:spcPts val="1550"/>
              </a:lnSpc>
              <a:buNone/>
            </a:pPr>
            <a:r>
              <a:rPr lang="en-US" sz="1050" dirty="0">
                <a:solidFill>
                  <a:srgbClr val="8C8C8C"/>
                </a:solidFill>
                <a:latin typeface="Calibri" pitchFamily="34" charset="0"/>
                <a:ea typeface="Calibri" pitchFamily="34" charset="-122"/>
                <a:cs typeface="Calibri" pitchFamily="34" charset="-120"/>
              </a:rPr>
              <a:t>≈ 23 °C, shielded from direct sun and air movement</a:t>
            </a:r>
            <a:endParaRPr lang="en-US" sz="1050" dirty="0"/>
          </a:p>
        </p:txBody>
      </p:sp>
      <p:sp>
        <p:nvSpPr>
          <p:cNvPr id="11" name="tk0"/>
          <p:cNvSpPr/>
          <p:nvPr/>
        </p:nvSpPr>
        <p:spPr>
          <a:xfrm>
            <a:off x="731520" y="2148840"/>
            <a:ext cx="18288" cy="384048"/>
          </a:xfrm>
          <a:prstGeom prst="rect">
            <a:avLst/>
          </a:prstGeom>
          <a:solidFill>
            <a:srgbClr val="141414"/>
          </a:solidFill>
          <a:ln w="12700">
            <a:solidFill>
              <a:srgbClr val="141414">
                <a:alpha val="0"/>
              </a:srgbClr>
            </a:solidFill>
            <a:prstDash val="solid"/>
          </a:ln>
        </p:spPr>
        <p:txBody>
          <a:bodyPr/>
          <a:lstStyle/>
          <a:p>
            <a:endParaRPr lang="tr-TR"/>
          </a:p>
        </p:txBody>
      </p:sp>
      <p:sp>
        <p:nvSpPr>
          <p:cNvPr id="12" name="Text 10"/>
          <p:cNvSpPr txBox="1"/>
          <p:nvPr/>
        </p:nvSpPr>
        <p:spPr>
          <a:xfrm>
            <a:off x="822960" y="1764792"/>
            <a:ext cx="1371600" cy="274320"/>
          </a:xfrm>
          <a:prstGeom prst="rect">
            <a:avLst/>
          </a:prstGeom>
          <a:noFill/>
          <a:ln/>
        </p:spPr>
        <p:txBody>
          <a:bodyPr wrap="square" lIns="0" tIns="0" rIns="0" bIns="0" rtlCol="0" anchor="ctr"/>
          <a:lstStyle/>
          <a:p>
            <a:pPr marL="0" indent="0" algn="l">
              <a:buNone/>
            </a:pPr>
            <a:r>
              <a:rPr lang="en-US" sz="1300" b="1" dirty="0">
                <a:solidFill>
                  <a:srgbClr val="B4513A"/>
                </a:solidFill>
                <a:latin typeface="Calibri" pitchFamily="34" charset="0"/>
                <a:ea typeface="Calibri" pitchFamily="34" charset="-122"/>
                <a:cs typeface="Calibri" pitchFamily="34" charset="-120"/>
              </a:rPr>
              <a:t>Day 0</a:t>
            </a:r>
            <a:endParaRPr lang="en-US" sz="1300" dirty="0"/>
          </a:p>
        </p:txBody>
      </p:sp>
      <p:sp>
        <p:nvSpPr>
          <p:cNvPr id="13" name="Text 11"/>
          <p:cNvSpPr txBox="1"/>
          <p:nvPr/>
        </p:nvSpPr>
        <p:spPr>
          <a:xfrm>
            <a:off x="822960" y="3465576"/>
            <a:ext cx="2834640" cy="274320"/>
          </a:xfrm>
          <a:prstGeom prst="rect">
            <a:avLst/>
          </a:prstGeom>
          <a:noFill/>
          <a:ln/>
        </p:spPr>
        <p:txBody>
          <a:bodyPr wrap="square" lIns="0" tIns="0" rIns="0" bIns="0" rtlCol="0" anchor="ctr"/>
          <a:lstStyle/>
          <a:p>
            <a:pPr marL="0" indent="0" algn="l">
              <a:buNone/>
            </a:pPr>
            <a:r>
              <a:rPr lang="en-US" sz="1050" dirty="0">
                <a:solidFill>
                  <a:srgbClr val="8C8C8C"/>
                </a:solidFill>
                <a:latin typeface="Calibri" pitchFamily="34" charset="0"/>
                <a:ea typeface="Calibri" pitchFamily="34" charset="-122"/>
                <a:cs typeface="Calibri" pitchFamily="34" charset="-120"/>
              </a:rPr>
              <a:t>cast into silicone moulds</a:t>
            </a:r>
            <a:endParaRPr lang="en-US" sz="1050" dirty="0"/>
          </a:p>
        </p:txBody>
      </p:sp>
      <p:sp>
        <p:nvSpPr>
          <p:cNvPr id="14" name="tk1"/>
          <p:cNvSpPr/>
          <p:nvPr/>
        </p:nvSpPr>
        <p:spPr>
          <a:xfrm>
            <a:off x="4582973" y="2148840"/>
            <a:ext cx="18288" cy="384048"/>
          </a:xfrm>
          <a:prstGeom prst="rect">
            <a:avLst/>
          </a:prstGeom>
          <a:solidFill>
            <a:srgbClr val="141414"/>
          </a:solidFill>
          <a:ln w="12700">
            <a:solidFill>
              <a:srgbClr val="141414">
                <a:alpha val="0"/>
              </a:srgbClr>
            </a:solidFill>
            <a:prstDash val="solid"/>
          </a:ln>
        </p:spPr>
        <p:txBody>
          <a:bodyPr/>
          <a:lstStyle/>
          <a:p>
            <a:endParaRPr lang="tr-TR"/>
          </a:p>
        </p:txBody>
      </p:sp>
      <p:sp>
        <p:nvSpPr>
          <p:cNvPr id="15" name="Text 13"/>
          <p:cNvSpPr txBox="1"/>
          <p:nvPr/>
        </p:nvSpPr>
        <p:spPr>
          <a:xfrm>
            <a:off x="4674413" y="1764792"/>
            <a:ext cx="1371600" cy="274320"/>
          </a:xfrm>
          <a:prstGeom prst="rect">
            <a:avLst/>
          </a:prstGeom>
          <a:noFill/>
          <a:ln/>
        </p:spPr>
        <p:txBody>
          <a:bodyPr wrap="square" lIns="0" tIns="0" rIns="0" bIns="0" rtlCol="0" anchor="ctr"/>
          <a:lstStyle/>
          <a:p>
            <a:pPr marL="0" indent="0" algn="l">
              <a:buNone/>
            </a:pPr>
            <a:r>
              <a:rPr lang="en-US" sz="1300" b="1" dirty="0">
                <a:solidFill>
                  <a:srgbClr val="B4513A"/>
                </a:solidFill>
                <a:latin typeface="Calibri" pitchFamily="34" charset="0"/>
                <a:ea typeface="Calibri" pitchFamily="34" charset="-122"/>
                <a:cs typeface="Calibri" pitchFamily="34" charset="-120"/>
              </a:rPr>
              <a:t>Day 4</a:t>
            </a:r>
            <a:endParaRPr lang="en-US" sz="1300" dirty="0"/>
          </a:p>
        </p:txBody>
      </p:sp>
      <p:sp>
        <p:nvSpPr>
          <p:cNvPr id="16" name="Text 14"/>
          <p:cNvSpPr txBox="1"/>
          <p:nvPr/>
        </p:nvSpPr>
        <p:spPr>
          <a:xfrm>
            <a:off x="4674413" y="3465576"/>
            <a:ext cx="2834640" cy="274320"/>
          </a:xfrm>
          <a:prstGeom prst="rect">
            <a:avLst/>
          </a:prstGeom>
          <a:noFill/>
          <a:ln/>
        </p:spPr>
        <p:txBody>
          <a:bodyPr wrap="square" lIns="0" tIns="0" rIns="0" bIns="0" rtlCol="0" anchor="ctr"/>
          <a:lstStyle/>
          <a:p>
            <a:pPr marL="0" indent="0" algn="l">
              <a:buNone/>
            </a:pPr>
            <a:r>
              <a:rPr lang="en-US" sz="1050" dirty="0">
                <a:solidFill>
                  <a:srgbClr val="8C8C8C"/>
                </a:solidFill>
                <a:latin typeface="Calibri" pitchFamily="34" charset="0"/>
                <a:ea typeface="Calibri" pitchFamily="34" charset="-122"/>
                <a:cs typeface="Calibri" pitchFamily="34" charset="-120"/>
              </a:rPr>
              <a:t>demoulded</a:t>
            </a:r>
            <a:endParaRPr lang="en-US" sz="1050" dirty="0"/>
          </a:p>
        </p:txBody>
      </p:sp>
      <p:sp>
        <p:nvSpPr>
          <p:cNvPr id="17" name="tk2"/>
          <p:cNvSpPr/>
          <p:nvPr/>
        </p:nvSpPr>
        <p:spPr>
          <a:xfrm>
            <a:off x="11420856" y="2148840"/>
            <a:ext cx="18288" cy="384048"/>
          </a:xfrm>
          <a:prstGeom prst="rect">
            <a:avLst/>
          </a:prstGeom>
          <a:solidFill>
            <a:srgbClr val="141414"/>
          </a:solidFill>
          <a:ln w="12700">
            <a:solidFill>
              <a:srgbClr val="141414">
                <a:alpha val="0"/>
              </a:srgbClr>
            </a:solidFill>
            <a:prstDash val="solid"/>
          </a:ln>
        </p:spPr>
        <p:txBody>
          <a:bodyPr/>
          <a:lstStyle/>
          <a:p>
            <a:endParaRPr lang="tr-TR"/>
          </a:p>
        </p:txBody>
      </p:sp>
      <p:sp>
        <p:nvSpPr>
          <p:cNvPr id="18" name="Text 16"/>
          <p:cNvSpPr txBox="1"/>
          <p:nvPr/>
        </p:nvSpPr>
        <p:spPr>
          <a:xfrm>
            <a:off x="10058400" y="1764792"/>
            <a:ext cx="1371600" cy="274320"/>
          </a:xfrm>
          <a:prstGeom prst="rect">
            <a:avLst/>
          </a:prstGeom>
          <a:noFill/>
          <a:ln/>
        </p:spPr>
        <p:txBody>
          <a:bodyPr wrap="square" lIns="0" tIns="0" rIns="0" bIns="0" rtlCol="0" anchor="ctr"/>
          <a:lstStyle/>
          <a:p>
            <a:pPr marL="0" indent="0" algn="r">
              <a:buNone/>
            </a:pPr>
            <a:r>
              <a:rPr lang="en-US" sz="1300" b="1" dirty="0">
                <a:solidFill>
                  <a:srgbClr val="B4513A"/>
                </a:solidFill>
                <a:latin typeface="Calibri" pitchFamily="34" charset="0"/>
                <a:ea typeface="Calibri" pitchFamily="34" charset="-122"/>
                <a:cs typeface="Calibri" pitchFamily="34" charset="-120"/>
              </a:rPr>
              <a:t>Day 11</a:t>
            </a:r>
            <a:endParaRPr lang="en-US" sz="1300" dirty="0"/>
          </a:p>
        </p:txBody>
      </p:sp>
      <p:sp>
        <p:nvSpPr>
          <p:cNvPr id="19" name="Text 17"/>
          <p:cNvSpPr txBox="1"/>
          <p:nvPr/>
        </p:nvSpPr>
        <p:spPr>
          <a:xfrm>
            <a:off x="8686800" y="3465576"/>
            <a:ext cx="2834640" cy="274320"/>
          </a:xfrm>
          <a:prstGeom prst="rect">
            <a:avLst/>
          </a:prstGeom>
          <a:noFill/>
          <a:ln/>
        </p:spPr>
        <p:txBody>
          <a:bodyPr wrap="square" lIns="0" tIns="0" rIns="0" bIns="0" rtlCol="0" anchor="ctr"/>
          <a:lstStyle/>
          <a:p>
            <a:pPr marL="0" indent="0" algn="r">
              <a:buNone/>
            </a:pPr>
            <a:r>
              <a:rPr lang="en-US" sz="1050" dirty="0">
                <a:solidFill>
                  <a:srgbClr val="8C8C8C"/>
                </a:solidFill>
                <a:latin typeface="Calibri" pitchFamily="34" charset="0"/>
                <a:ea typeface="Calibri" pitchFamily="34" charset="-122"/>
                <a:cs typeface="Calibri" pitchFamily="34" charset="-120"/>
              </a:rPr>
              <a:t>finished specimen, three shellac coats</a:t>
            </a:r>
            <a:endParaRPr lang="en-US" sz="1050" dirty="0"/>
          </a:p>
        </p:txBody>
      </p:sp>
      <p:sp>
        <p:nvSpPr>
          <p:cNvPr id="20" name="ru0.84.45"/>
          <p:cNvSpPr/>
          <p:nvPr/>
        </p:nvSpPr>
        <p:spPr>
          <a:xfrm>
            <a:off x="731520" y="406908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21" name="Text 19"/>
          <p:cNvSpPr txBox="1"/>
          <p:nvPr/>
        </p:nvSpPr>
        <p:spPr>
          <a:xfrm>
            <a:off x="731520" y="4251960"/>
            <a:ext cx="10241280" cy="45720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After the 55-minute preparation the material receives no further heat, so the entire cure happens at room temperature.</a:t>
            </a:r>
            <a:endParaRPr lang="en-US" sz="1200" dirty="0"/>
          </a:p>
        </p:txBody>
      </p:sp>
      <p:sp>
        <p:nvSpPr>
          <p:cNvPr id="22" name="Text 20"/>
          <p:cNvSpPr txBox="1"/>
          <p:nvPr/>
        </p:nvSpPr>
        <p:spPr>
          <a:xfrm>
            <a:off x="731520" y="4800600"/>
            <a:ext cx="1024128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Silicone moulds · 50 mm cube moulds for compression, flat moulds otherwise.</a:t>
            </a:r>
            <a:endParaRPr lang="en-US" sz="900" dirty="0"/>
          </a:p>
        </p:txBody>
      </p:sp>
      <p:sp>
        <p:nvSpPr>
          <p:cNvPr id="23" name="disc"/>
          <p:cNvSpPr/>
          <p:nvPr/>
        </p:nvSpPr>
        <p:spPr>
          <a:xfrm>
            <a:off x="731520" y="5349240"/>
            <a:ext cx="10698480" cy="777240"/>
          </a:xfrm>
          <a:prstGeom prst="rect">
            <a:avLst/>
          </a:prstGeom>
          <a:solidFill>
            <a:srgbClr val="F7F6F4"/>
          </a:solidFill>
          <a:ln w="12700">
            <a:solidFill>
              <a:srgbClr val="F7F6F4">
                <a:alpha val="0"/>
              </a:srgbClr>
            </a:solidFill>
            <a:prstDash val="solid"/>
          </a:ln>
        </p:spPr>
        <p:txBody>
          <a:bodyPr/>
          <a:lstStyle/>
          <a:p>
            <a:endParaRPr lang="tr-TR"/>
          </a:p>
        </p:txBody>
      </p:sp>
      <p:sp>
        <p:nvSpPr>
          <p:cNvPr id="24" name="Text 22"/>
          <p:cNvSpPr txBox="1"/>
          <p:nvPr/>
        </p:nvSpPr>
        <p:spPr>
          <a:xfrm>
            <a:off x="1051560" y="5486400"/>
            <a:ext cx="10058400" cy="502920"/>
          </a:xfrm>
          <a:prstGeom prst="rect">
            <a:avLst/>
          </a:prstGeom>
          <a:noFill/>
          <a:ln/>
        </p:spPr>
        <p:txBody>
          <a:bodyPr wrap="square" lIns="0" tIns="0" rIns="0" bIns="0" rtlCol="0" anchor="ctr"/>
          <a:lstStyle/>
          <a:p>
            <a:pPr marL="0" indent="0">
              <a:lnSpc>
                <a:spcPts val="1700"/>
              </a:lnSpc>
              <a:buNone/>
            </a:pPr>
            <a:r>
              <a:rPr lang="en-US" sz="1200" b="1" dirty="0">
                <a:solidFill>
                  <a:srgbClr val="B4513A"/>
                </a:solidFill>
                <a:latin typeface="Calibri" pitchFamily="34" charset="0"/>
                <a:ea typeface="Calibri" pitchFamily="34" charset="-122"/>
                <a:cs typeface="Calibri" pitchFamily="34" charset="-120"/>
              </a:rPr>
              <a:t>Limitation   </a:t>
            </a:r>
            <a:r>
              <a:rPr lang="en-US" sz="1200" dirty="0">
                <a:solidFill>
                  <a:srgbClr val="141414"/>
                </a:solidFill>
                <a:latin typeface="Calibri" pitchFamily="34" charset="0"/>
                <a:ea typeface="Calibri" pitchFamily="34" charset="-122"/>
                <a:cs typeface="Calibri" pitchFamily="34" charset="-120"/>
              </a:rPr>
              <a:t>the composite shrinks as the water evaporates, and the dried dimensions were not logged, so every dimension reported here is a mould dimension.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13</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Formulations</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Five mixes, with the derived ratios that govern the results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2304288"/>
        </p:xfrm>
        <a:graphic>
          <a:graphicData uri="http://schemas.openxmlformats.org/drawingml/2006/table">
            <a:tbl>
              <a:tblPr/>
              <a:tblGrid>
                <a:gridCol w="7315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gridCol w="1463040">
                  <a:extLst>
                    <a:ext uri="{9D8B030D-6E8A-4147-A177-3AD203B41FA5}">
                      <a16:colId xmlns:a16="http://schemas.microsoft.com/office/drawing/2014/main" val="20007"/>
                    </a:ext>
                  </a:extLst>
                </a:gridCol>
              </a:tblGrid>
              <a:tr h="384048">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Water g</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Shell g</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Agar g</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Glycerol g</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Shell : binder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480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0.84.45"/>
          <p:cNvSpPr/>
          <p:nvPr/>
        </p:nvSpPr>
        <p:spPr>
          <a:xfrm>
            <a:off x="731520" y="406908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7" name="Text 4"/>
          <p:cNvSpPr txBox="1"/>
          <p:nvPr/>
        </p:nvSpPr>
        <p:spPr>
          <a:xfrm>
            <a:off x="731520" y="4224528"/>
            <a:ext cx="548640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Batch composition by mass</a:t>
            </a:r>
            <a:endParaRPr lang="en-US" sz="1300" dirty="0"/>
          </a:p>
        </p:txBody>
      </p:sp>
      <p:sp>
        <p:nvSpPr>
          <p:cNvPr id="8" name="sw0.85.02"/>
          <p:cNvSpPr/>
          <p:nvPr/>
        </p:nvSpPr>
        <p:spPr>
          <a:xfrm>
            <a:off x="731520" y="4626864"/>
            <a:ext cx="164592" cy="109728"/>
          </a:xfrm>
          <a:prstGeom prst="rect">
            <a:avLst/>
          </a:prstGeom>
          <a:solidFill>
            <a:srgbClr val="BDBDBD"/>
          </a:solidFill>
          <a:ln w="12700">
            <a:solidFill>
              <a:srgbClr val="BDBDBD">
                <a:alpha val="0"/>
              </a:srgbClr>
            </a:solidFill>
            <a:prstDash val="solid"/>
          </a:ln>
        </p:spPr>
        <p:txBody>
          <a:bodyPr/>
          <a:lstStyle/>
          <a:p>
            <a:endParaRPr lang="tr-TR"/>
          </a:p>
        </p:txBody>
      </p:sp>
      <p:sp>
        <p:nvSpPr>
          <p:cNvPr id="9" name="Text 6"/>
          <p:cNvSpPr txBox="1"/>
          <p:nvPr/>
        </p:nvSpPr>
        <p:spPr>
          <a:xfrm>
            <a:off x="969264" y="4590288"/>
            <a:ext cx="1188720" cy="182880"/>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water</a:t>
            </a:r>
            <a:endParaRPr lang="en-US" sz="950" dirty="0"/>
          </a:p>
        </p:txBody>
      </p:sp>
      <p:sp>
        <p:nvSpPr>
          <p:cNvPr id="10" name="sw25.02"/>
          <p:cNvSpPr/>
          <p:nvPr/>
        </p:nvSpPr>
        <p:spPr>
          <a:xfrm>
            <a:off x="1828800" y="4626864"/>
            <a:ext cx="164592" cy="109728"/>
          </a:xfrm>
          <a:prstGeom prst="rect">
            <a:avLst/>
          </a:prstGeom>
          <a:solidFill>
            <a:srgbClr val="B4513A"/>
          </a:solidFill>
          <a:ln w="12700">
            <a:solidFill>
              <a:srgbClr val="B4513A">
                <a:alpha val="0"/>
              </a:srgbClr>
            </a:solidFill>
            <a:prstDash val="solid"/>
          </a:ln>
        </p:spPr>
        <p:txBody>
          <a:bodyPr/>
          <a:lstStyle/>
          <a:p>
            <a:endParaRPr lang="tr-TR"/>
          </a:p>
        </p:txBody>
      </p:sp>
      <p:sp>
        <p:nvSpPr>
          <p:cNvPr id="11" name="Text 8"/>
          <p:cNvSpPr txBox="1"/>
          <p:nvPr/>
        </p:nvSpPr>
        <p:spPr>
          <a:xfrm>
            <a:off x="2066544" y="4590288"/>
            <a:ext cx="1188720" cy="182880"/>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shell</a:t>
            </a:r>
            <a:endParaRPr lang="en-US" sz="950" dirty="0"/>
          </a:p>
        </p:txBody>
      </p:sp>
      <p:sp>
        <p:nvSpPr>
          <p:cNvPr id="12" name="sw3.25.02"/>
          <p:cNvSpPr/>
          <p:nvPr/>
        </p:nvSpPr>
        <p:spPr>
          <a:xfrm>
            <a:off x="2926080" y="4626864"/>
            <a:ext cx="164592" cy="109728"/>
          </a:xfrm>
          <a:prstGeom prst="rect">
            <a:avLst/>
          </a:prstGeom>
          <a:solidFill>
            <a:srgbClr val="141414"/>
          </a:solidFill>
          <a:ln w="12700">
            <a:solidFill>
              <a:srgbClr val="141414">
                <a:alpha val="0"/>
              </a:srgbClr>
            </a:solidFill>
            <a:prstDash val="solid"/>
          </a:ln>
        </p:spPr>
        <p:txBody>
          <a:bodyPr/>
          <a:lstStyle/>
          <a:p>
            <a:endParaRPr lang="tr-TR"/>
          </a:p>
        </p:txBody>
      </p:sp>
      <p:sp>
        <p:nvSpPr>
          <p:cNvPr id="13" name="Text 10"/>
          <p:cNvSpPr txBox="1"/>
          <p:nvPr/>
        </p:nvSpPr>
        <p:spPr>
          <a:xfrm>
            <a:off x="3163824" y="4590288"/>
            <a:ext cx="1188720" cy="182880"/>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agar</a:t>
            </a:r>
            <a:endParaRPr lang="en-US" sz="950" dirty="0"/>
          </a:p>
        </p:txBody>
      </p:sp>
      <p:sp>
        <p:nvSpPr>
          <p:cNvPr id="5" name="sw4.45.02"/>
          <p:cNvSpPr/>
          <p:nvPr/>
        </p:nvSpPr>
        <p:spPr>
          <a:xfrm>
            <a:off x="4023360" y="4626864"/>
            <a:ext cx="164592" cy="109728"/>
          </a:xfrm>
          <a:prstGeom prst="rect">
            <a:avLst/>
          </a:prstGeom>
          <a:solidFill>
            <a:srgbClr val="8C8C8C"/>
          </a:solidFill>
          <a:ln w="12700">
            <a:solidFill>
              <a:srgbClr val="8C8C8C">
                <a:alpha val="0"/>
              </a:srgbClr>
            </a:solidFill>
            <a:prstDash val="solid"/>
          </a:ln>
        </p:spPr>
        <p:txBody>
          <a:bodyPr/>
          <a:lstStyle/>
          <a:p>
            <a:endParaRPr lang="tr-TR"/>
          </a:p>
        </p:txBody>
      </p:sp>
      <p:sp>
        <p:nvSpPr>
          <p:cNvPr id="15" name="Text 12"/>
          <p:cNvSpPr txBox="1"/>
          <p:nvPr/>
        </p:nvSpPr>
        <p:spPr>
          <a:xfrm>
            <a:off x="4261104" y="4590288"/>
            <a:ext cx="1188720" cy="182880"/>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glycerol</a:t>
            </a:r>
            <a:endParaRPr lang="en-US" sz="950" dirty="0"/>
          </a:p>
        </p:txBody>
      </p:sp>
      <p:sp>
        <p:nvSpPr>
          <p:cNvPr id="16" name="Text 13"/>
          <p:cNvSpPr txBox="1"/>
          <p:nvPr/>
        </p:nvSpPr>
        <p:spPr>
          <a:xfrm>
            <a:off x="731520" y="4919472"/>
            <a:ext cx="457200" cy="201168"/>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C1</a:t>
            </a:r>
            <a:endParaRPr lang="en-US" sz="1050" dirty="0"/>
          </a:p>
        </p:txBody>
      </p:sp>
      <p:sp>
        <p:nvSpPr>
          <p:cNvPr id="17" name="sb1.355.380"/>
          <p:cNvSpPr/>
          <p:nvPr/>
        </p:nvSpPr>
        <p:spPr>
          <a:xfrm>
            <a:off x="1234440" y="4919472"/>
            <a:ext cx="3405883" cy="201168"/>
          </a:xfrm>
          <a:prstGeom prst="rect">
            <a:avLst/>
          </a:prstGeom>
          <a:solidFill>
            <a:srgbClr val="BDBDBD"/>
          </a:solidFill>
          <a:ln w="9525">
            <a:solidFill>
              <a:srgbClr val="FFFFFF"/>
            </a:solidFill>
            <a:prstDash val="solid"/>
          </a:ln>
        </p:spPr>
        <p:txBody>
          <a:bodyPr/>
          <a:lstStyle/>
          <a:p>
            <a:endParaRPr lang="tr-TR"/>
          </a:p>
        </p:txBody>
      </p:sp>
      <p:sp>
        <p:nvSpPr>
          <p:cNvPr id="18" name="sb1.355.381"/>
          <p:cNvSpPr/>
          <p:nvPr/>
        </p:nvSpPr>
        <p:spPr>
          <a:xfrm>
            <a:off x="4640323" y="4919472"/>
            <a:ext cx="838371" cy="201168"/>
          </a:xfrm>
          <a:prstGeom prst="rect">
            <a:avLst/>
          </a:prstGeom>
          <a:solidFill>
            <a:srgbClr val="B4513A"/>
          </a:solidFill>
          <a:ln w="9525">
            <a:solidFill>
              <a:srgbClr val="FFFFFF"/>
            </a:solidFill>
            <a:prstDash val="solid"/>
          </a:ln>
        </p:spPr>
        <p:txBody>
          <a:bodyPr/>
          <a:lstStyle/>
          <a:p>
            <a:endParaRPr lang="tr-TR"/>
          </a:p>
        </p:txBody>
      </p:sp>
      <p:sp>
        <p:nvSpPr>
          <p:cNvPr id="19" name="sb1.355.382"/>
          <p:cNvSpPr/>
          <p:nvPr/>
        </p:nvSpPr>
        <p:spPr>
          <a:xfrm>
            <a:off x="5478694" y="4919472"/>
            <a:ext cx="366787" cy="201168"/>
          </a:xfrm>
          <a:prstGeom prst="rect">
            <a:avLst/>
          </a:prstGeom>
          <a:solidFill>
            <a:srgbClr val="141414"/>
          </a:solidFill>
          <a:ln w="9525">
            <a:solidFill>
              <a:srgbClr val="FFFFFF"/>
            </a:solidFill>
            <a:prstDash val="solid"/>
          </a:ln>
        </p:spPr>
        <p:txBody>
          <a:bodyPr/>
          <a:lstStyle/>
          <a:p>
            <a:endParaRPr lang="tr-TR"/>
          </a:p>
        </p:txBody>
      </p:sp>
      <p:sp>
        <p:nvSpPr>
          <p:cNvPr id="20" name="sb1.355.383"/>
          <p:cNvSpPr/>
          <p:nvPr/>
        </p:nvSpPr>
        <p:spPr>
          <a:xfrm>
            <a:off x="5845482" y="4919472"/>
            <a:ext cx="52398" cy="201168"/>
          </a:xfrm>
          <a:prstGeom prst="rect">
            <a:avLst/>
          </a:prstGeom>
          <a:solidFill>
            <a:srgbClr val="8C8C8C"/>
          </a:solidFill>
          <a:ln w="9525">
            <a:solidFill>
              <a:srgbClr val="FFFFFF"/>
            </a:solidFill>
            <a:prstDash val="solid"/>
          </a:ln>
        </p:spPr>
        <p:txBody>
          <a:bodyPr/>
          <a:lstStyle/>
          <a:p>
            <a:endParaRPr lang="tr-TR"/>
          </a:p>
        </p:txBody>
      </p:sp>
      <p:sp>
        <p:nvSpPr>
          <p:cNvPr id="21" name="Text 18"/>
          <p:cNvSpPr txBox="1"/>
          <p:nvPr/>
        </p:nvSpPr>
        <p:spPr>
          <a:xfrm>
            <a:off x="5961888" y="4919472"/>
            <a:ext cx="1005840" cy="201168"/>
          </a:xfrm>
          <a:prstGeom prst="rect">
            <a:avLst/>
          </a:prstGeom>
          <a:noFill/>
          <a:ln/>
        </p:spPr>
        <p:txBody>
          <a:bodyPr wrap="square" lIns="0" tIns="0" rIns="0" bIns="0" rtlCol="0" anchor="ctr"/>
          <a:lstStyle/>
          <a:p>
            <a:pPr marL="0" indent="0">
              <a:buNone/>
            </a:pPr>
            <a:r>
              <a:rPr lang="en-US" sz="950" b="1" dirty="0">
                <a:solidFill>
                  <a:srgbClr val="B4513A"/>
                </a:solidFill>
                <a:latin typeface="Calibri" pitchFamily="34" charset="0"/>
                <a:ea typeface="Calibri" pitchFamily="34" charset="-122"/>
                <a:cs typeface="Calibri" pitchFamily="34" charset="-120"/>
              </a:rPr>
              <a:t>73% water</a:t>
            </a:r>
            <a:endParaRPr lang="en-US" sz="950" dirty="0"/>
          </a:p>
        </p:txBody>
      </p:sp>
      <p:sp>
        <p:nvSpPr>
          <p:cNvPr id="22" name="Text 19"/>
          <p:cNvSpPr txBox="1"/>
          <p:nvPr/>
        </p:nvSpPr>
        <p:spPr>
          <a:xfrm>
            <a:off x="731520" y="5193792"/>
            <a:ext cx="457200" cy="201168"/>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C2</a:t>
            </a:r>
            <a:endParaRPr lang="en-US" sz="1050" dirty="0"/>
          </a:p>
        </p:txBody>
      </p:sp>
      <p:sp>
        <p:nvSpPr>
          <p:cNvPr id="23" name="sb1.355.680"/>
          <p:cNvSpPr/>
          <p:nvPr/>
        </p:nvSpPr>
        <p:spPr>
          <a:xfrm>
            <a:off x="1234440" y="5193792"/>
            <a:ext cx="3248689" cy="201168"/>
          </a:xfrm>
          <a:prstGeom prst="rect">
            <a:avLst/>
          </a:prstGeom>
          <a:solidFill>
            <a:srgbClr val="BDBDBD"/>
          </a:solidFill>
          <a:ln w="9525">
            <a:solidFill>
              <a:srgbClr val="FFFFFF"/>
            </a:solidFill>
            <a:prstDash val="solid"/>
          </a:ln>
        </p:spPr>
        <p:txBody>
          <a:bodyPr/>
          <a:lstStyle/>
          <a:p>
            <a:endParaRPr lang="tr-TR"/>
          </a:p>
        </p:txBody>
      </p:sp>
      <p:sp>
        <p:nvSpPr>
          <p:cNvPr id="24" name="sb1.355.681"/>
          <p:cNvSpPr/>
          <p:nvPr/>
        </p:nvSpPr>
        <p:spPr>
          <a:xfrm>
            <a:off x="4483129" y="5193792"/>
            <a:ext cx="943168" cy="201168"/>
          </a:xfrm>
          <a:prstGeom prst="rect">
            <a:avLst/>
          </a:prstGeom>
          <a:solidFill>
            <a:srgbClr val="B4513A"/>
          </a:solidFill>
          <a:ln w="9525">
            <a:solidFill>
              <a:srgbClr val="FFFFFF"/>
            </a:solidFill>
            <a:prstDash val="solid"/>
          </a:ln>
        </p:spPr>
        <p:txBody>
          <a:bodyPr/>
          <a:lstStyle/>
          <a:p>
            <a:endParaRPr lang="tr-TR"/>
          </a:p>
        </p:txBody>
      </p:sp>
      <p:sp>
        <p:nvSpPr>
          <p:cNvPr id="25" name="sb1.355.682"/>
          <p:cNvSpPr/>
          <p:nvPr/>
        </p:nvSpPr>
        <p:spPr>
          <a:xfrm>
            <a:off x="5426296" y="5193792"/>
            <a:ext cx="419186" cy="201168"/>
          </a:xfrm>
          <a:prstGeom prst="rect">
            <a:avLst/>
          </a:prstGeom>
          <a:solidFill>
            <a:srgbClr val="141414"/>
          </a:solidFill>
          <a:ln w="9525">
            <a:solidFill>
              <a:srgbClr val="FFFFFF"/>
            </a:solidFill>
            <a:prstDash val="solid"/>
          </a:ln>
        </p:spPr>
        <p:txBody>
          <a:bodyPr/>
          <a:lstStyle/>
          <a:p>
            <a:endParaRPr lang="tr-TR"/>
          </a:p>
        </p:txBody>
      </p:sp>
      <p:sp>
        <p:nvSpPr>
          <p:cNvPr id="26" name="sb1.355.683"/>
          <p:cNvSpPr/>
          <p:nvPr/>
        </p:nvSpPr>
        <p:spPr>
          <a:xfrm>
            <a:off x="5845482" y="5193792"/>
            <a:ext cx="52398" cy="201168"/>
          </a:xfrm>
          <a:prstGeom prst="rect">
            <a:avLst/>
          </a:prstGeom>
          <a:solidFill>
            <a:srgbClr val="8C8C8C"/>
          </a:solidFill>
          <a:ln w="9525">
            <a:solidFill>
              <a:srgbClr val="FFFFFF"/>
            </a:solidFill>
            <a:prstDash val="solid"/>
          </a:ln>
        </p:spPr>
        <p:txBody>
          <a:bodyPr/>
          <a:lstStyle/>
          <a:p>
            <a:endParaRPr lang="tr-TR"/>
          </a:p>
        </p:txBody>
      </p:sp>
      <p:sp>
        <p:nvSpPr>
          <p:cNvPr id="27" name="Text 24"/>
          <p:cNvSpPr txBox="1"/>
          <p:nvPr/>
        </p:nvSpPr>
        <p:spPr>
          <a:xfrm>
            <a:off x="5961888" y="5193792"/>
            <a:ext cx="1005840" cy="201168"/>
          </a:xfrm>
          <a:prstGeom prst="rect">
            <a:avLst/>
          </a:prstGeom>
          <a:noFill/>
          <a:ln/>
        </p:spPr>
        <p:txBody>
          <a:bodyPr wrap="square" lIns="0" tIns="0" rIns="0" bIns="0" rtlCol="0" anchor="ctr"/>
          <a:lstStyle/>
          <a:p>
            <a:pPr marL="0" indent="0">
              <a:buNone/>
            </a:pPr>
            <a:r>
              <a:rPr lang="en-US" sz="950" b="1" dirty="0">
                <a:solidFill>
                  <a:srgbClr val="B4513A"/>
                </a:solidFill>
                <a:latin typeface="Calibri" pitchFamily="34" charset="0"/>
                <a:ea typeface="Calibri" pitchFamily="34" charset="-122"/>
                <a:cs typeface="Calibri" pitchFamily="34" charset="-120"/>
              </a:rPr>
              <a:t>70% water</a:t>
            </a:r>
            <a:endParaRPr lang="en-US" sz="950" dirty="0"/>
          </a:p>
        </p:txBody>
      </p:sp>
      <p:sp>
        <p:nvSpPr>
          <p:cNvPr id="28" name="Text 25"/>
          <p:cNvSpPr txBox="1"/>
          <p:nvPr/>
        </p:nvSpPr>
        <p:spPr>
          <a:xfrm>
            <a:off x="731520" y="5468112"/>
            <a:ext cx="457200" cy="201168"/>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C3</a:t>
            </a:r>
            <a:endParaRPr lang="en-US" sz="1050" dirty="0"/>
          </a:p>
        </p:txBody>
      </p:sp>
      <p:sp>
        <p:nvSpPr>
          <p:cNvPr id="29" name="sb1.355.97999999999999950"/>
          <p:cNvSpPr/>
          <p:nvPr/>
        </p:nvSpPr>
        <p:spPr>
          <a:xfrm>
            <a:off x="1234440" y="5468112"/>
            <a:ext cx="2934299" cy="201168"/>
          </a:xfrm>
          <a:prstGeom prst="rect">
            <a:avLst/>
          </a:prstGeom>
          <a:solidFill>
            <a:srgbClr val="BDBDBD"/>
          </a:solidFill>
          <a:ln w="9525">
            <a:solidFill>
              <a:srgbClr val="FFFFFF"/>
            </a:solidFill>
            <a:prstDash val="solid"/>
          </a:ln>
        </p:spPr>
        <p:txBody>
          <a:bodyPr/>
          <a:lstStyle/>
          <a:p>
            <a:endParaRPr lang="tr-TR"/>
          </a:p>
        </p:txBody>
      </p:sp>
      <p:sp>
        <p:nvSpPr>
          <p:cNvPr id="30" name="sb1.355.97999999999999951"/>
          <p:cNvSpPr/>
          <p:nvPr/>
        </p:nvSpPr>
        <p:spPr>
          <a:xfrm>
            <a:off x="4168739" y="5468112"/>
            <a:ext cx="1152760" cy="201168"/>
          </a:xfrm>
          <a:prstGeom prst="rect">
            <a:avLst/>
          </a:prstGeom>
          <a:solidFill>
            <a:srgbClr val="B4513A"/>
          </a:solidFill>
          <a:ln w="9525">
            <a:solidFill>
              <a:srgbClr val="FFFFFF"/>
            </a:solidFill>
            <a:prstDash val="solid"/>
          </a:ln>
        </p:spPr>
        <p:txBody>
          <a:bodyPr/>
          <a:lstStyle/>
          <a:p>
            <a:endParaRPr lang="tr-TR"/>
          </a:p>
        </p:txBody>
      </p:sp>
      <p:sp>
        <p:nvSpPr>
          <p:cNvPr id="31" name="sb1.355.97999999999999952"/>
          <p:cNvSpPr/>
          <p:nvPr/>
        </p:nvSpPr>
        <p:spPr>
          <a:xfrm>
            <a:off x="5321500" y="5468112"/>
            <a:ext cx="471584" cy="201168"/>
          </a:xfrm>
          <a:prstGeom prst="rect">
            <a:avLst/>
          </a:prstGeom>
          <a:solidFill>
            <a:srgbClr val="141414"/>
          </a:solidFill>
          <a:ln w="9525">
            <a:solidFill>
              <a:srgbClr val="FFFFFF"/>
            </a:solidFill>
            <a:prstDash val="solid"/>
          </a:ln>
        </p:spPr>
        <p:txBody>
          <a:bodyPr/>
          <a:lstStyle/>
          <a:p>
            <a:endParaRPr lang="tr-TR"/>
          </a:p>
        </p:txBody>
      </p:sp>
      <p:sp>
        <p:nvSpPr>
          <p:cNvPr id="32" name="sb1.355.97999999999999953"/>
          <p:cNvSpPr/>
          <p:nvPr/>
        </p:nvSpPr>
        <p:spPr>
          <a:xfrm>
            <a:off x="5793084" y="5468112"/>
            <a:ext cx="104796" cy="201168"/>
          </a:xfrm>
          <a:prstGeom prst="rect">
            <a:avLst/>
          </a:prstGeom>
          <a:solidFill>
            <a:srgbClr val="8C8C8C"/>
          </a:solidFill>
          <a:ln w="9525">
            <a:solidFill>
              <a:srgbClr val="FFFFFF"/>
            </a:solidFill>
            <a:prstDash val="solid"/>
          </a:ln>
        </p:spPr>
        <p:txBody>
          <a:bodyPr/>
          <a:lstStyle/>
          <a:p>
            <a:endParaRPr lang="tr-TR"/>
          </a:p>
        </p:txBody>
      </p:sp>
      <p:sp>
        <p:nvSpPr>
          <p:cNvPr id="33" name="Text 30"/>
          <p:cNvSpPr txBox="1"/>
          <p:nvPr/>
        </p:nvSpPr>
        <p:spPr>
          <a:xfrm>
            <a:off x="5961888" y="5468112"/>
            <a:ext cx="1005840" cy="201168"/>
          </a:xfrm>
          <a:prstGeom prst="rect">
            <a:avLst/>
          </a:prstGeom>
          <a:noFill/>
          <a:ln/>
        </p:spPr>
        <p:txBody>
          <a:bodyPr wrap="square" lIns="0" tIns="0" rIns="0" bIns="0" rtlCol="0" anchor="ctr"/>
          <a:lstStyle/>
          <a:p>
            <a:pPr marL="0" indent="0">
              <a:buNone/>
            </a:pPr>
            <a:r>
              <a:rPr lang="en-US" sz="950" b="1" dirty="0">
                <a:solidFill>
                  <a:srgbClr val="B4513A"/>
                </a:solidFill>
                <a:latin typeface="Calibri" pitchFamily="34" charset="0"/>
                <a:ea typeface="Calibri" pitchFamily="34" charset="-122"/>
                <a:cs typeface="Calibri" pitchFamily="34" charset="-120"/>
              </a:rPr>
              <a:t>63% water</a:t>
            </a:r>
            <a:endParaRPr lang="en-US" sz="950" dirty="0"/>
          </a:p>
        </p:txBody>
      </p:sp>
      <p:sp>
        <p:nvSpPr>
          <p:cNvPr id="34" name="Text 31"/>
          <p:cNvSpPr txBox="1"/>
          <p:nvPr/>
        </p:nvSpPr>
        <p:spPr>
          <a:xfrm>
            <a:off x="731520" y="5742432"/>
            <a:ext cx="457200" cy="201168"/>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F1</a:t>
            </a:r>
            <a:endParaRPr lang="en-US" sz="1050" dirty="0"/>
          </a:p>
        </p:txBody>
      </p:sp>
      <p:sp>
        <p:nvSpPr>
          <p:cNvPr id="35" name="sb1.356.2799999999999990"/>
          <p:cNvSpPr/>
          <p:nvPr/>
        </p:nvSpPr>
        <p:spPr>
          <a:xfrm>
            <a:off x="1234440" y="5742432"/>
            <a:ext cx="2725387" cy="201168"/>
          </a:xfrm>
          <a:prstGeom prst="rect">
            <a:avLst/>
          </a:prstGeom>
          <a:solidFill>
            <a:srgbClr val="BDBDBD"/>
          </a:solidFill>
          <a:ln w="9525">
            <a:solidFill>
              <a:srgbClr val="FFFFFF"/>
            </a:solidFill>
            <a:prstDash val="solid"/>
          </a:ln>
        </p:spPr>
        <p:txBody>
          <a:bodyPr/>
          <a:lstStyle/>
          <a:p>
            <a:endParaRPr lang="tr-TR"/>
          </a:p>
        </p:txBody>
      </p:sp>
      <p:sp>
        <p:nvSpPr>
          <p:cNvPr id="36" name="sb1.356.2799999999999991"/>
          <p:cNvSpPr/>
          <p:nvPr/>
        </p:nvSpPr>
        <p:spPr>
          <a:xfrm>
            <a:off x="3959827" y="5742432"/>
            <a:ext cx="1150719" cy="201168"/>
          </a:xfrm>
          <a:prstGeom prst="rect">
            <a:avLst/>
          </a:prstGeom>
          <a:solidFill>
            <a:srgbClr val="B4513A"/>
          </a:solidFill>
          <a:ln w="9525">
            <a:solidFill>
              <a:srgbClr val="FFFFFF"/>
            </a:solidFill>
            <a:prstDash val="solid"/>
          </a:ln>
        </p:spPr>
        <p:txBody>
          <a:bodyPr/>
          <a:lstStyle/>
          <a:p>
            <a:endParaRPr lang="tr-TR"/>
          </a:p>
        </p:txBody>
      </p:sp>
      <p:sp>
        <p:nvSpPr>
          <p:cNvPr id="37" name="sb1.356.2799999999999992"/>
          <p:cNvSpPr/>
          <p:nvPr/>
        </p:nvSpPr>
        <p:spPr>
          <a:xfrm>
            <a:off x="5110546" y="5742432"/>
            <a:ext cx="423949" cy="201168"/>
          </a:xfrm>
          <a:prstGeom prst="rect">
            <a:avLst/>
          </a:prstGeom>
          <a:solidFill>
            <a:srgbClr val="141414"/>
          </a:solidFill>
          <a:ln w="9525">
            <a:solidFill>
              <a:srgbClr val="FFFFFF"/>
            </a:solidFill>
            <a:prstDash val="solid"/>
          </a:ln>
        </p:spPr>
        <p:txBody>
          <a:bodyPr/>
          <a:lstStyle/>
          <a:p>
            <a:endParaRPr lang="tr-TR"/>
          </a:p>
        </p:txBody>
      </p:sp>
      <p:sp>
        <p:nvSpPr>
          <p:cNvPr id="38" name="sb1.356.2799999999999993"/>
          <p:cNvSpPr/>
          <p:nvPr/>
        </p:nvSpPr>
        <p:spPr>
          <a:xfrm>
            <a:off x="5534495" y="5742432"/>
            <a:ext cx="363385" cy="201168"/>
          </a:xfrm>
          <a:prstGeom prst="rect">
            <a:avLst/>
          </a:prstGeom>
          <a:solidFill>
            <a:srgbClr val="8C8C8C"/>
          </a:solidFill>
          <a:ln w="9525">
            <a:solidFill>
              <a:srgbClr val="FFFFFF"/>
            </a:solidFill>
            <a:prstDash val="solid"/>
          </a:ln>
        </p:spPr>
        <p:txBody>
          <a:bodyPr/>
          <a:lstStyle/>
          <a:p>
            <a:endParaRPr lang="tr-TR"/>
          </a:p>
        </p:txBody>
      </p:sp>
      <p:sp>
        <p:nvSpPr>
          <p:cNvPr id="39" name="Text 36"/>
          <p:cNvSpPr txBox="1"/>
          <p:nvPr/>
        </p:nvSpPr>
        <p:spPr>
          <a:xfrm>
            <a:off x="5961888" y="5742432"/>
            <a:ext cx="1005840" cy="201168"/>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58% water</a:t>
            </a:r>
            <a:endParaRPr lang="en-US" sz="950" dirty="0"/>
          </a:p>
        </p:txBody>
      </p:sp>
      <p:sp>
        <p:nvSpPr>
          <p:cNvPr id="40" name="Text 37"/>
          <p:cNvSpPr txBox="1"/>
          <p:nvPr/>
        </p:nvSpPr>
        <p:spPr>
          <a:xfrm>
            <a:off x="731520" y="6016752"/>
            <a:ext cx="457200" cy="201168"/>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F2</a:t>
            </a:r>
            <a:endParaRPr lang="en-US" sz="1050" dirty="0"/>
          </a:p>
        </p:txBody>
      </p:sp>
      <p:sp>
        <p:nvSpPr>
          <p:cNvPr id="41" name="sb1.356.580"/>
          <p:cNvSpPr/>
          <p:nvPr/>
        </p:nvSpPr>
        <p:spPr>
          <a:xfrm>
            <a:off x="1234440" y="6016752"/>
            <a:ext cx="2907079" cy="201168"/>
          </a:xfrm>
          <a:prstGeom prst="rect">
            <a:avLst/>
          </a:prstGeom>
          <a:solidFill>
            <a:srgbClr val="BDBDBD"/>
          </a:solidFill>
          <a:ln w="9525">
            <a:solidFill>
              <a:srgbClr val="FFFFFF"/>
            </a:solidFill>
            <a:prstDash val="solid"/>
          </a:ln>
        </p:spPr>
        <p:txBody>
          <a:bodyPr/>
          <a:lstStyle/>
          <a:p>
            <a:endParaRPr lang="tr-TR"/>
          </a:p>
        </p:txBody>
      </p:sp>
      <p:sp>
        <p:nvSpPr>
          <p:cNvPr id="42" name="sb1.356.581"/>
          <p:cNvSpPr/>
          <p:nvPr/>
        </p:nvSpPr>
        <p:spPr>
          <a:xfrm>
            <a:off x="4141519" y="6016752"/>
            <a:ext cx="1150719" cy="201168"/>
          </a:xfrm>
          <a:prstGeom prst="rect">
            <a:avLst/>
          </a:prstGeom>
          <a:solidFill>
            <a:srgbClr val="B4513A"/>
          </a:solidFill>
          <a:ln w="9525">
            <a:solidFill>
              <a:srgbClr val="FFFFFF"/>
            </a:solidFill>
            <a:prstDash val="solid"/>
          </a:ln>
        </p:spPr>
        <p:txBody>
          <a:bodyPr/>
          <a:lstStyle/>
          <a:p>
            <a:endParaRPr lang="tr-TR"/>
          </a:p>
        </p:txBody>
      </p:sp>
      <p:sp>
        <p:nvSpPr>
          <p:cNvPr id="43" name="sb1.356.582"/>
          <p:cNvSpPr/>
          <p:nvPr/>
        </p:nvSpPr>
        <p:spPr>
          <a:xfrm>
            <a:off x="5292238" y="6016752"/>
            <a:ext cx="423949" cy="201168"/>
          </a:xfrm>
          <a:prstGeom prst="rect">
            <a:avLst/>
          </a:prstGeom>
          <a:solidFill>
            <a:srgbClr val="141414"/>
          </a:solidFill>
          <a:ln w="9525">
            <a:solidFill>
              <a:srgbClr val="FFFFFF"/>
            </a:solidFill>
            <a:prstDash val="solid"/>
          </a:ln>
        </p:spPr>
        <p:txBody>
          <a:bodyPr/>
          <a:lstStyle/>
          <a:p>
            <a:endParaRPr lang="tr-TR"/>
          </a:p>
        </p:txBody>
      </p:sp>
      <p:sp>
        <p:nvSpPr>
          <p:cNvPr id="44" name="sb1.356.583"/>
          <p:cNvSpPr/>
          <p:nvPr/>
        </p:nvSpPr>
        <p:spPr>
          <a:xfrm>
            <a:off x="5716188" y="6016752"/>
            <a:ext cx="181692" cy="201168"/>
          </a:xfrm>
          <a:prstGeom prst="rect">
            <a:avLst/>
          </a:prstGeom>
          <a:solidFill>
            <a:srgbClr val="8C8C8C"/>
          </a:solidFill>
          <a:ln w="9525">
            <a:solidFill>
              <a:srgbClr val="FFFFFF"/>
            </a:solidFill>
            <a:prstDash val="solid"/>
          </a:ln>
        </p:spPr>
        <p:txBody>
          <a:bodyPr/>
          <a:lstStyle/>
          <a:p>
            <a:endParaRPr lang="tr-TR"/>
          </a:p>
        </p:txBody>
      </p:sp>
      <p:sp>
        <p:nvSpPr>
          <p:cNvPr id="45" name="Text 42"/>
          <p:cNvSpPr txBox="1"/>
          <p:nvPr/>
        </p:nvSpPr>
        <p:spPr>
          <a:xfrm>
            <a:off x="5961888" y="6016752"/>
            <a:ext cx="1005840" cy="201168"/>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62% water</a:t>
            </a:r>
            <a:endParaRPr lang="en-US" sz="950" dirty="0"/>
          </a:p>
        </p:txBody>
      </p:sp>
      <p:sp>
        <p:nvSpPr>
          <p:cNvPr id="46" name="vr84.45"/>
          <p:cNvSpPr/>
          <p:nvPr/>
        </p:nvSpPr>
        <p:spPr>
          <a:xfrm>
            <a:off x="7315200" y="4069080"/>
            <a:ext cx="13716" cy="2194560"/>
          </a:xfrm>
          <a:prstGeom prst="rect">
            <a:avLst/>
          </a:prstGeom>
          <a:solidFill>
            <a:srgbClr val="E4E4E4"/>
          </a:solidFill>
          <a:ln w="12700">
            <a:solidFill>
              <a:srgbClr val="E4E4E4">
                <a:alpha val="0"/>
              </a:srgbClr>
            </a:solidFill>
            <a:prstDash val="solid"/>
          </a:ln>
        </p:spPr>
        <p:txBody>
          <a:bodyPr/>
          <a:lstStyle/>
          <a:p>
            <a:endParaRPr lang="tr-TR"/>
          </a:p>
        </p:txBody>
      </p:sp>
      <p:sp>
        <p:nvSpPr>
          <p:cNvPr id="47" name="Text 44"/>
          <p:cNvSpPr txBox="1"/>
          <p:nvPr/>
        </p:nvSpPr>
        <p:spPr>
          <a:xfrm>
            <a:off x="7680960" y="4343400"/>
            <a:ext cx="3749040" cy="146304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Solids concentration is the only variable, and the bars show it: the water band gets shorter from C1 to C3.</a:t>
            </a:r>
            <a:endParaRPr lang="en-US" sz="1200" dirty="0"/>
          </a:p>
        </p:txBody>
      </p:sp>
      <p:sp>
        <p:nvSpPr>
          <p:cNvPr id="48" name="Text 45"/>
          <p:cNvSpPr txBox="1"/>
          <p:nvPr/>
        </p:nvSpPr>
        <p:spPr>
          <a:xfrm>
            <a:off x="7680960" y="5760720"/>
            <a:ext cx="3749040" cy="731520"/>
          </a:xfrm>
          <a:prstGeom prst="rect">
            <a:avLst/>
          </a:prstGeom>
          <a:noFill/>
          <a:ln/>
        </p:spPr>
        <p:txBody>
          <a:bodyPr wrap="square" lIns="0" tIns="0" rIns="0" bIns="0" rtlCol="0" anchor="t"/>
          <a:lstStyle/>
          <a:p>
            <a:pPr marL="0" indent="0">
              <a:lnSpc>
                <a:spcPts val="1750"/>
              </a:lnSpc>
              <a:buNone/>
            </a:pPr>
            <a:r>
              <a:rPr lang="en-US" sz="1150" dirty="0">
                <a:solidFill>
                  <a:srgbClr val="3C3C3C"/>
                </a:solidFill>
                <a:latin typeface="Calibri" pitchFamily="34" charset="0"/>
                <a:ea typeface="Calibri" pitchFamily="34" charset="-122"/>
                <a:cs typeface="Calibri" pitchFamily="34" charset="-120"/>
              </a:rPr>
              <a:t>The glycerol was halved while the batch mass stayed the same, so the water rose to compensate.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14</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Test programme</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Four specimen geometries</a:t>
            </a:r>
            <a:endParaRPr lang="en-US" sz="1300" dirty="0"/>
          </a:p>
        </p:txBody>
      </p:sp>
      <p:sp>
        <p:nvSpPr>
          <p:cNvPr id="5" name="ru0.81.85"/>
          <p:cNvSpPr/>
          <p:nvPr/>
        </p:nvSpPr>
        <p:spPr>
          <a:xfrm>
            <a:off x="731520" y="169164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6" name="Text 4"/>
          <p:cNvSpPr txBox="1"/>
          <p:nvPr/>
        </p:nvSpPr>
        <p:spPr>
          <a:xfrm>
            <a:off x="731520" y="3886200"/>
            <a:ext cx="2606040" cy="256032"/>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Cube compression</a:t>
            </a:r>
            <a:endParaRPr lang="en-US" sz="1300" dirty="0"/>
          </a:p>
        </p:txBody>
      </p:sp>
      <p:sp>
        <p:nvSpPr>
          <p:cNvPr id="7" name="Text 5"/>
          <p:cNvSpPr txBox="1"/>
          <p:nvPr/>
        </p:nvSpPr>
        <p:spPr>
          <a:xfrm>
            <a:off x="731520" y="4187952"/>
            <a:ext cx="2606040" cy="274320"/>
          </a:xfrm>
          <a:prstGeom prst="rect">
            <a:avLst/>
          </a:prstGeom>
          <a:noFill/>
          <a:ln/>
        </p:spPr>
        <p:txBody>
          <a:bodyPr wrap="square" lIns="0" tIns="0" rIns="0" bIns="0" rtlCol="0" anchor="ctr"/>
          <a:lstStyle/>
          <a:p>
            <a:pPr marL="0" indent="0" algn="ctr">
              <a:lnSpc>
                <a:spcPts val="1300"/>
              </a:lnSpc>
              <a:buNone/>
            </a:pPr>
            <a:r>
              <a:rPr lang="en-US" sz="1050" dirty="0">
                <a:solidFill>
                  <a:srgbClr val="8C8C8C"/>
                </a:solidFill>
                <a:latin typeface="Calibri" pitchFamily="34" charset="0"/>
                <a:ea typeface="Calibri" pitchFamily="34" charset="-122"/>
                <a:cs typeface="Calibri" pitchFamily="34" charset="-120"/>
              </a:rPr>
              <a:t>50 mm cube, platen-loaded</a:t>
            </a:r>
            <a:endParaRPr lang="en-US" sz="1050" dirty="0"/>
          </a:p>
        </p:txBody>
      </p:sp>
      <p:sp>
        <p:nvSpPr>
          <p:cNvPr id="8" name="Text 6"/>
          <p:cNvSpPr txBox="1"/>
          <p:nvPr/>
        </p:nvSpPr>
        <p:spPr>
          <a:xfrm>
            <a:off x="731520" y="4498848"/>
            <a:ext cx="2606040" cy="274320"/>
          </a:xfrm>
          <a:prstGeom prst="rect">
            <a:avLst/>
          </a:prstGeom>
          <a:noFill/>
          <a:ln/>
        </p:spPr>
        <p:txBody>
          <a:bodyPr wrap="square" lIns="0" tIns="0" rIns="0" bIns="0" rtlCol="0" anchor="ctr"/>
          <a:lstStyle/>
          <a:p>
            <a:pPr marL="0" indent="0" algn="ctr">
              <a:buNone/>
            </a:pPr>
            <a:r>
              <a:rPr lang="en-US" sz="1000" b="1" dirty="0">
                <a:solidFill>
                  <a:srgbClr val="B4513A"/>
                </a:solidFill>
                <a:latin typeface="Calibri" pitchFamily="34" charset="0"/>
                <a:ea typeface="Calibri" pitchFamily="34" charset="-122"/>
                <a:cs typeface="Calibri" pitchFamily="34" charset="-120"/>
              </a:rPr>
              <a:t>n = 3 per mix</a:t>
            </a:r>
            <a:endParaRPr lang="en-US" sz="1000" dirty="0"/>
          </a:p>
        </p:txBody>
      </p:sp>
      <p:sp>
        <p:nvSpPr>
          <p:cNvPr id="9" name="sp0"/>
          <p:cNvSpPr/>
          <p:nvPr/>
        </p:nvSpPr>
        <p:spPr>
          <a:xfrm>
            <a:off x="3364992" y="1920240"/>
            <a:ext cx="13716" cy="2926080"/>
          </a:xfrm>
          <a:prstGeom prst="rect">
            <a:avLst/>
          </a:prstGeom>
          <a:solidFill>
            <a:srgbClr val="E4E4E4"/>
          </a:solidFill>
          <a:ln w="12700">
            <a:solidFill>
              <a:srgbClr val="E4E4E4">
                <a:alpha val="0"/>
              </a:srgbClr>
            </a:solidFill>
            <a:prstDash val="solid"/>
          </a:ln>
        </p:spPr>
        <p:txBody>
          <a:bodyPr/>
          <a:lstStyle/>
          <a:p>
            <a:endParaRPr lang="tr-TR"/>
          </a:p>
        </p:txBody>
      </p:sp>
      <p:sp>
        <p:nvSpPr>
          <p:cNvPr id="10" name="Text 8"/>
          <p:cNvSpPr txBox="1"/>
          <p:nvPr/>
        </p:nvSpPr>
        <p:spPr>
          <a:xfrm>
            <a:off x="3429000" y="3886200"/>
            <a:ext cx="2606040" cy="256032"/>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Three-point flexure</a:t>
            </a:r>
            <a:endParaRPr lang="en-US" sz="1300" dirty="0"/>
          </a:p>
        </p:txBody>
      </p:sp>
      <p:sp>
        <p:nvSpPr>
          <p:cNvPr id="11" name="Text 9"/>
          <p:cNvSpPr txBox="1"/>
          <p:nvPr/>
        </p:nvSpPr>
        <p:spPr>
          <a:xfrm>
            <a:off x="3429000" y="4187952"/>
            <a:ext cx="2606040" cy="274320"/>
          </a:xfrm>
          <a:prstGeom prst="rect">
            <a:avLst/>
          </a:prstGeom>
          <a:noFill/>
          <a:ln/>
        </p:spPr>
        <p:txBody>
          <a:bodyPr wrap="square" lIns="0" tIns="0" rIns="0" bIns="0" rtlCol="0" anchor="ctr"/>
          <a:lstStyle/>
          <a:p>
            <a:pPr marL="0" indent="0" algn="ctr">
              <a:lnSpc>
                <a:spcPts val="1300"/>
              </a:lnSpc>
              <a:buNone/>
            </a:pPr>
            <a:r>
              <a:rPr lang="en-US" sz="1050" dirty="0">
                <a:solidFill>
                  <a:srgbClr val="8C8C8C"/>
                </a:solidFill>
                <a:latin typeface="Calibri" pitchFamily="34" charset="0"/>
                <a:ea typeface="Calibri" pitchFamily="34" charset="-122"/>
                <a:cs typeface="Calibri" pitchFamily="34" charset="-120"/>
              </a:rPr>
              <a:t>180 × 60 × 20 mm, 120 mm span</a:t>
            </a:r>
            <a:endParaRPr lang="en-US" sz="1050" dirty="0"/>
          </a:p>
        </p:txBody>
      </p:sp>
      <p:sp>
        <p:nvSpPr>
          <p:cNvPr id="12" name="Text 10"/>
          <p:cNvSpPr txBox="1"/>
          <p:nvPr/>
        </p:nvSpPr>
        <p:spPr>
          <a:xfrm>
            <a:off x="3429000" y="4498848"/>
            <a:ext cx="2606040" cy="274320"/>
          </a:xfrm>
          <a:prstGeom prst="rect">
            <a:avLst/>
          </a:prstGeom>
          <a:noFill/>
          <a:ln/>
        </p:spPr>
        <p:txBody>
          <a:bodyPr wrap="square" lIns="0" tIns="0" rIns="0" bIns="0" rtlCol="0" anchor="ctr"/>
          <a:lstStyle/>
          <a:p>
            <a:pPr marL="0" indent="0" algn="ctr">
              <a:buNone/>
            </a:pPr>
            <a:r>
              <a:rPr lang="en-US" sz="1000" b="1" dirty="0">
                <a:solidFill>
                  <a:srgbClr val="B4513A"/>
                </a:solidFill>
                <a:latin typeface="Calibri" pitchFamily="34" charset="0"/>
                <a:ea typeface="Calibri" pitchFamily="34" charset="-122"/>
                <a:cs typeface="Calibri" pitchFamily="34" charset="-120"/>
              </a:rPr>
              <a:t>ASTM D790-17 · n = 3 per mix</a:t>
            </a:r>
            <a:endParaRPr lang="en-US" sz="1000" dirty="0"/>
          </a:p>
        </p:txBody>
      </p:sp>
      <p:sp>
        <p:nvSpPr>
          <p:cNvPr id="13" name="sp1"/>
          <p:cNvSpPr/>
          <p:nvPr/>
        </p:nvSpPr>
        <p:spPr>
          <a:xfrm>
            <a:off x="6062472" y="1920240"/>
            <a:ext cx="13716" cy="2926080"/>
          </a:xfrm>
          <a:prstGeom prst="rect">
            <a:avLst/>
          </a:prstGeom>
          <a:solidFill>
            <a:srgbClr val="E4E4E4"/>
          </a:solidFill>
          <a:ln w="12700">
            <a:solidFill>
              <a:srgbClr val="E4E4E4">
                <a:alpha val="0"/>
              </a:srgbClr>
            </a:solidFill>
            <a:prstDash val="solid"/>
          </a:ln>
        </p:spPr>
        <p:txBody>
          <a:bodyPr/>
          <a:lstStyle/>
          <a:p>
            <a:endParaRPr lang="tr-TR"/>
          </a:p>
        </p:txBody>
      </p:sp>
      <p:sp>
        <p:nvSpPr>
          <p:cNvPr id="14" name="Text 12"/>
          <p:cNvSpPr txBox="1"/>
          <p:nvPr/>
        </p:nvSpPr>
        <p:spPr>
          <a:xfrm>
            <a:off x="6126480" y="3886200"/>
            <a:ext cx="2606040" cy="256032"/>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Edge ignition</a:t>
            </a:r>
            <a:endParaRPr lang="en-US" sz="1300" dirty="0"/>
          </a:p>
        </p:txBody>
      </p:sp>
      <p:sp>
        <p:nvSpPr>
          <p:cNvPr id="15" name="Text 13"/>
          <p:cNvSpPr txBox="1"/>
          <p:nvPr/>
        </p:nvSpPr>
        <p:spPr>
          <a:xfrm>
            <a:off x="6126480" y="4187952"/>
            <a:ext cx="2606040" cy="274320"/>
          </a:xfrm>
          <a:prstGeom prst="rect">
            <a:avLst/>
          </a:prstGeom>
          <a:noFill/>
          <a:ln/>
        </p:spPr>
        <p:txBody>
          <a:bodyPr wrap="square" lIns="0" tIns="0" rIns="0" bIns="0" rtlCol="0" anchor="ctr"/>
          <a:lstStyle/>
          <a:p>
            <a:pPr marL="0" indent="0" algn="ctr">
              <a:lnSpc>
                <a:spcPts val="1300"/>
              </a:lnSpc>
              <a:buNone/>
            </a:pPr>
            <a:r>
              <a:rPr lang="en-US" sz="1050" dirty="0">
                <a:solidFill>
                  <a:srgbClr val="8C8C8C"/>
                </a:solidFill>
                <a:latin typeface="Calibri" pitchFamily="34" charset="0"/>
                <a:ea typeface="Calibri" pitchFamily="34" charset="-122"/>
                <a:cs typeface="Calibri" pitchFamily="34" charset="-120"/>
              </a:rPr>
              <a:t>40 × 50 mm at 45°, 15 s flame</a:t>
            </a:r>
            <a:endParaRPr lang="en-US" sz="1050" dirty="0"/>
          </a:p>
        </p:txBody>
      </p:sp>
      <p:sp>
        <p:nvSpPr>
          <p:cNvPr id="16" name="Text 14"/>
          <p:cNvSpPr txBox="1"/>
          <p:nvPr/>
        </p:nvSpPr>
        <p:spPr>
          <a:xfrm>
            <a:off x="6126480" y="4498848"/>
            <a:ext cx="2606040" cy="274320"/>
          </a:xfrm>
          <a:prstGeom prst="rect">
            <a:avLst/>
          </a:prstGeom>
          <a:noFill/>
          <a:ln/>
        </p:spPr>
        <p:txBody>
          <a:bodyPr wrap="square" lIns="0" tIns="0" rIns="0" bIns="0" rtlCol="0" anchor="ctr"/>
          <a:lstStyle/>
          <a:p>
            <a:pPr marL="0" indent="0" algn="ctr">
              <a:buNone/>
            </a:pPr>
            <a:r>
              <a:rPr lang="en-US" sz="1000" b="1" dirty="0">
                <a:solidFill>
                  <a:srgbClr val="B4513A"/>
                </a:solidFill>
                <a:latin typeface="Calibri" pitchFamily="34" charset="0"/>
                <a:ea typeface="Calibri" pitchFamily="34" charset="-122"/>
                <a:cs typeface="Calibri" pitchFamily="34" charset="-120"/>
              </a:rPr>
              <a:t>ISO 11925-2:2020 · n = 2</a:t>
            </a:r>
            <a:endParaRPr lang="en-US" sz="1000" dirty="0"/>
          </a:p>
        </p:txBody>
      </p:sp>
      <p:sp>
        <p:nvSpPr>
          <p:cNvPr id="17" name="sp2"/>
          <p:cNvSpPr/>
          <p:nvPr/>
        </p:nvSpPr>
        <p:spPr>
          <a:xfrm>
            <a:off x="8759952" y="1920240"/>
            <a:ext cx="13716" cy="2926080"/>
          </a:xfrm>
          <a:prstGeom prst="rect">
            <a:avLst/>
          </a:prstGeom>
          <a:solidFill>
            <a:srgbClr val="E4E4E4"/>
          </a:solidFill>
          <a:ln w="12700">
            <a:solidFill>
              <a:srgbClr val="E4E4E4">
                <a:alpha val="0"/>
              </a:srgbClr>
            </a:solidFill>
            <a:prstDash val="solid"/>
          </a:ln>
        </p:spPr>
        <p:txBody>
          <a:bodyPr/>
          <a:lstStyle/>
          <a:p>
            <a:endParaRPr lang="tr-TR"/>
          </a:p>
        </p:txBody>
      </p:sp>
      <p:sp>
        <p:nvSpPr>
          <p:cNvPr id="18" name="Text 16"/>
          <p:cNvSpPr txBox="1"/>
          <p:nvPr/>
        </p:nvSpPr>
        <p:spPr>
          <a:xfrm>
            <a:off x="8823960" y="3886200"/>
            <a:ext cx="2606040" cy="256032"/>
          </a:xfrm>
          <a:prstGeom prst="rect">
            <a:avLst/>
          </a:prstGeom>
          <a:noFill/>
          <a:ln/>
        </p:spPr>
        <p:txBody>
          <a:bodyPr wrap="square" lIns="0" tIns="0" rIns="0" bIns="0" rtlCol="0" anchor="ctr"/>
          <a:lstStyle/>
          <a:p>
            <a:pPr marL="0" indent="0" algn="ctr">
              <a:buNone/>
            </a:pPr>
            <a:r>
              <a:rPr lang="en-US" sz="1300" b="1" dirty="0">
                <a:solidFill>
                  <a:srgbClr val="141414"/>
                </a:solidFill>
                <a:latin typeface="Calibri" pitchFamily="34" charset="0"/>
                <a:ea typeface="Calibri" pitchFamily="34" charset="-122"/>
                <a:cs typeface="Calibri" pitchFamily="34" charset="-120"/>
              </a:rPr>
              <a:t>Immersion</a:t>
            </a:r>
            <a:endParaRPr lang="en-US" sz="1300" dirty="0"/>
          </a:p>
        </p:txBody>
      </p:sp>
      <p:sp>
        <p:nvSpPr>
          <p:cNvPr id="19" name="Text 17"/>
          <p:cNvSpPr txBox="1"/>
          <p:nvPr/>
        </p:nvSpPr>
        <p:spPr>
          <a:xfrm>
            <a:off x="8823960" y="4187952"/>
            <a:ext cx="2606040" cy="274320"/>
          </a:xfrm>
          <a:prstGeom prst="rect">
            <a:avLst/>
          </a:prstGeom>
          <a:noFill/>
          <a:ln/>
        </p:spPr>
        <p:txBody>
          <a:bodyPr wrap="square" lIns="0" tIns="0" rIns="0" bIns="0" rtlCol="0" anchor="ctr"/>
          <a:lstStyle/>
          <a:p>
            <a:pPr marL="0" indent="0" algn="ctr">
              <a:lnSpc>
                <a:spcPts val="1300"/>
              </a:lnSpc>
              <a:buNone/>
            </a:pPr>
            <a:r>
              <a:rPr lang="en-US" sz="1050" dirty="0">
                <a:solidFill>
                  <a:srgbClr val="8C8C8C"/>
                </a:solidFill>
                <a:latin typeface="Calibri" pitchFamily="34" charset="0"/>
                <a:ea typeface="Calibri" pitchFamily="34" charset="-122"/>
                <a:cs typeface="Calibri" pitchFamily="34" charset="-120"/>
              </a:rPr>
              <a:t>40 × 50 mm, shellac-coated, 24 h</a:t>
            </a:r>
            <a:endParaRPr lang="en-US" sz="1050" dirty="0"/>
          </a:p>
        </p:txBody>
      </p:sp>
      <p:sp>
        <p:nvSpPr>
          <p:cNvPr id="20" name="Text 18"/>
          <p:cNvSpPr txBox="1"/>
          <p:nvPr/>
        </p:nvSpPr>
        <p:spPr>
          <a:xfrm>
            <a:off x="8823960" y="4498848"/>
            <a:ext cx="2606040" cy="274320"/>
          </a:xfrm>
          <a:prstGeom prst="rect">
            <a:avLst/>
          </a:prstGeom>
          <a:noFill/>
          <a:ln/>
        </p:spPr>
        <p:txBody>
          <a:bodyPr wrap="square" lIns="0" tIns="0" rIns="0" bIns="0" rtlCol="0" anchor="ctr"/>
          <a:lstStyle/>
          <a:p>
            <a:pPr marL="0" indent="0" algn="ctr">
              <a:buNone/>
            </a:pPr>
            <a:r>
              <a:rPr lang="en-US" sz="1000" b="1" dirty="0">
                <a:solidFill>
                  <a:srgbClr val="B4513A"/>
                </a:solidFill>
                <a:latin typeface="Calibri" pitchFamily="34" charset="0"/>
                <a:ea typeface="Calibri" pitchFamily="34" charset="-122"/>
                <a:cs typeface="Calibri" pitchFamily="34" charset="-120"/>
              </a:rPr>
              <a:t>ASTM D570-98 · n = 1</a:t>
            </a:r>
            <a:endParaRPr lang="en-US" sz="1000" dirty="0"/>
          </a:p>
        </p:txBody>
      </p:sp>
      <p:sp>
        <p:nvSpPr>
          <p:cNvPr id="21" name="ru0.85.7"/>
          <p:cNvSpPr/>
          <p:nvPr/>
        </p:nvSpPr>
        <p:spPr>
          <a:xfrm>
            <a:off x="731520" y="521208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22" name="Text 20"/>
          <p:cNvSpPr txBox="1"/>
          <p:nvPr/>
        </p:nvSpPr>
        <p:spPr>
          <a:xfrm>
            <a:off x="731520" y="5394960"/>
            <a:ext cx="10241280" cy="457200"/>
          </a:xfrm>
          <a:prstGeom prst="rect">
            <a:avLst/>
          </a:prstGeom>
          <a:noFill/>
          <a:ln/>
        </p:spPr>
        <p:txBody>
          <a:bodyPr wrap="square" lIns="0" tIns="0" rIns="0" bIns="0" rtlCol="0" anchor="t"/>
          <a:lstStyle/>
          <a:p>
            <a:pPr marL="0" indent="0">
              <a:lnSpc>
                <a:spcPts val="1800"/>
              </a:lnSpc>
              <a:buNone/>
            </a:pPr>
            <a:r>
              <a:rPr lang="en-US" sz="1200" b="1" dirty="0">
                <a:solidFill>
                  <a:srgbClr val="141414"/>
                </a:solidFill>
                <a:latin typeface="Calibri" pitchFamily="34" charset="0"/>
                <a:ea typeface="Calibri" pitchFamily="34" charset="-122"/>
                <a:cs typeface="Calibri" pitchFamily="34" charset="-120"/>
              </a:rPr>
              <a:t>The mechanical values are means of three specimens, and since the individual values were not retained, standard deviations cannot be reported.</a:t>
            </a:r>
            <a:endParaRPr lang="en-US" sz="1200" dirty="0"/>
          </a:p>
        </p:txBody>
      </p:sp>
      <p:sp>
        <p:nvSpPr>
          <p:cNvPr id="23" name="cl1"/>
          <p:cNvSpPr/>
          <p:nvPr/>
        </p:nvSpPr>
        <p:spPr>
          <a:xfrm>
            <a:off x="1947672" y="2377440"/>
            <a:ext cx="128016" cy="219456"/>
          </a:xfrm>
          <a:prstGeom prst="downArrow">
            <a:avLst/>
          </a:prstGeom>
          <a:solidFill>
            <a:srgbClr val="B4513A"/>
          </a:solidFill>
          <a:ln w="12700">
            <a:solidFill>
              <a:srgbClr val="B4513A">
                <a:alpha val="0"/>
              </a:srgbClr>
            </a:solidFill>
            <a:prstDash val="solid"/>
          </a:ln>
        </p:spPr>
        <p:txBody>
          <a:bodyPr/>
          <a:lstStyle/>
          <a:p>
            <a:endParaRPr lang="tr-TR"/>
          </a:p>
        </p:txBody>
      </p:sp>
      <p:sp>
        <p:nvSpPr>
          <p:cNvPr id="24" name="pt1"/>
          <p:cNvSpPr/>
          <p:nvPr/>
        </p:nvSpPr>
        <p:spPr>
          <a:xfrm>
            <a:off x="1508760" y="2642616"/>
            <a:ext cx="1005840" cy="64008"/>
          </a:xfrm>
          <a:prstGeom prst="rect">
            <a:avLst/>
          </a:prstGeom>
          <a:solidFill>
            <a:srgbClr val="141414"/>
          </a:solidFill>
          <a:ln w="12700">
            <a:solidFill>
              <a:srgbClr val="141414">
                <a:alpha val="0"/>
              </a:srgbClr>
            </a:solidFill>
            <a:prstDash val="solid"/>
          </a:ln>
        </p:spPr>
        <p:txBody>
          <a:bodyPr/>
          <a:lstStyle/>
          <a:p>
            <a:endParaRPr lang="tr-TR"/>
          </a:p>
        </p:txBody>
      </p:sp>
      <p:sp>
        <p:nvSpPr>
          <p:cNvPr id="25" name="cb1"/>
          <p:cNvSpPr/>
          <p:nvPr/>
        </p:nvSpPr>
        <p:spPr>
          <a:xfrm>
            <a:off x="1600200" y="2734056"/>
            <a:ext cx="822960" cy="512064"/>
          </a:xfrm>
          <a:prstGeom prst="rect">
            <a:avLst/>
          </a:prstGeom>
          <a:solidFill>
            <a:srgbClr val="F7F6F4"/>
          </a:solidFill>
          <a:ln w="15875">
            <a:solidFill>
              <a:srgbClr val="141414"/>
            </a:solidFill>
            <a:prstDash val="solid"/>
          </a:ln>
        </p:spPr>
        <p:txBody>
          <a:bodyPr/>
          <a:lstStyle/>
          <a:p>
            <a:endParaRPr lang="tr-TR"/>
          </a:p>
        </p:txBody>
      </p:sp>
      <p:sp>
        <p:nvSpPr>
          <p:cNvPr id="26" name="pt2"/>
          <p:cNvSpPr/>
          <p:nvPr/>
        </p:nvSpPr>
        <p:spPr>
          <a:xfrm>
            <a:off x="1508760" y="3273552"/>
            <a:ext cx="1005840" cy="64008"/>
          </a:xfrm>
          <a:prstGeom prst="rect">
            <a:avLst/>
          </a:prstGeom>
          <a:solidFill>
            <a:srgbClr val="141414"/>
          </a:solidFill>
          <a:ln w="12700">
            <a:solidFill>
              <a:srgbClr val="141414">
                <a:alpha val="0"/>
              </a:srgbClr>
            </a:solidFill>
            <a:prstDash val="solid"/>
          </a:ln>
        </p:spPr>
        <p:txBody>
          <a:bodyPr/>
          <a:lstStyle/>
          <a:p>
            <a:endParaRPr lang="tr-TR"/>
          </a:p>
        </p:txBody>
      </p:sp>
      <p:sp>
        <p:nvSpPr>
          <p:cNvPr id="27" name="cl2"/>
          <p:cNvSpPr/>
          <p:nvPr/>
        </p:nvSpPr>
        <p:spPr>
          <a:xfrm>
            <a:off x="4672584" y="2514600"/>
            <a:ext cx="128016" cy="237744"/>
          </a:xfrm>
          <a:prstGeom prst="downArrow">
            <a:avLst/>
          </a:prstGeom>
          <a:solidFill>
            <a:srgbClr val="B4513A"/>
          </a:solidFill>
          <a:ln w="12700">
            <a:solidFill>
              <a:srgbClr val="B4513A">
                <a:alpha val="0"/>
              </a:srgbClr>
            </a:solidFill>
            <a:prstDash val="solid"/>
          </a:ln>
        </p:spPr>
        <p:txBody>
          <a:bodyPr/>
          <a:lstStyle/>
          <a:p>
            <a:endParaRPr lang="tr-TR"/>
          </a:p>
        </p:txBody>
      </p:sp>
      <p:sp>
        <p:nvSpPr>
          <p:cNvPr id="28" name="bm"/>
          <p:cNvSpPr/>
          <p:nvPr/>
        </p:nvSpPr>
        <p:spPr>
          <a:xfrm>
            <a:off x="3611880" y="2807208"/>
            <a:ext cx="2240280" cy="182880"/>
          </a:xfrm>
          <a:prstGeom prst="rect">
            <a:avLst/>
          </a:prstGeom>
          <a:solidFill>
            <a:srgbClr val="F7F6F4"/>
          </a:solidFill>
          <a:ln w="15875">
            <a:solidFill>
              <a:srgbClr val="141414"/>
            </a:solidFill>
            <a:prstDash val="solid"/>
          </a:ln>
        </p:spPr>
        <p:txBody>
          <a:bodyPr/>
          <a:lstStyle/>
          <a:p>
            <a:endParaRPr lang="tr-TR"/>
          </a:p>
        </p:txBody>
      </p:sp>
      <p:sp>
        <p:nvSpPr>
          <p:cNvPr id="29" name="su1"/>
          <p:cNvSpPr/>
          <p:nvPr/>
        </p:nvSpPr>
        <p:spPr>
          <a:xfrm>
            <a:off x="3813048" y="3008376"/>
            <a:ext cx="219456" cy="182880"/>
          </a:xfrm>
          <a:prstGeom prst="triangle">
            <a:avLst/>
          </a:prstGeom>
          <a:solidFill>
            <a:srgbClr val="141414"/>
          </a:solidFill>
          <a:ln w="12700">
            <a:solidFill>
              <a:srgbClr val="141414">
                <a:alpha val="0"/>
              </a:srgbClr>
            </a:solidFill>
            <a:prstDash val="solid"/>
          </a:ln>
        </p:spPr>
        <p:txBody>
          <a:bodyPr/>
          <a:lstStyle/>
          <a:p>
            <a:endParaRPr lang="tr-TR"/>
          </a:p>
        </p:txBody>
      </p:sp>
      <p:sp>
        <p:nvSpPr>
          <p:cNvPr id="30" name="su2"/>
          <p:cNvSpPr/>
          <p:nvPr/>
        </p:nvSpPr>
        <p:spPr>
          <a:xfrm>
            <a:off x="5431536" y="3008376"/>
            <a:ext cx="219456" cy="182880"/>
          </a:xfrm>
          <a:prstGeom prst="triangle">
            <a:avLst/>
          </a:prstGeom>
          <a:solidFill>
            <a:srgbClr val="141414"/>
          </a:solidFill>
          <a:ln w="12700">
            <a:solidFill>
              <a:srgbClr val="141414">
                <a:alpha val="0"/>
              </a:srgbClr>
            </a:solidFill>
            <a:prstDash val="solid"/>
          </a:ln>
        </p:spPr>
        <p:txBody>
          <a:bodyPr/>
          <a:lstStyle/>
          <a:p>
            <a:endParaRPr lang="tr-TR"/>
          </a:p>
        </p:txBody>
      </p:sp>
      <p:sp>
        <p:nvSpPr>
          <p:cNvPr id="31" name="spn"/>
          <p:cNvSpPr/>
          <p:nvPr/>
        </p:nvSpPr>
        <p:spPr>
          <a:xfrm>
            <a:off x="3922776" y="3300984"/>
            <a:ext cx="1618488" cy="13716"/>
          </a:xfrm>
          <a:prstGeom prst="rect">
            <a:avLst/>
          </a:prstGeom>
          <a:solidFill>
            <a:srgbClr val="BDBDBD"/>
          </a:solidFill>
          <a:ln w="12700">
            <a:solidFill>
              <a:srgbClr val="BDBDBD">
                <a:alpha val="0"/>
              </a:srgbClr>
            </a:solidFill>
            <a:prstDash val="solid"/>
          </a:ln>
        </p:spPr>
        <p:txBody>
          <a:bodyPr/>
          <a:lstStyle/>
          <a:p>
            <a:endParaRPr lang="tr-TR"/>
          </a:p>
        </p:txBody>
      </p:sp>
      <p:sp>
        <p:nvSpPr>
          <p:cNvPr id="32" name="Text 30"/>
          <p:cNvSpPr txBox="1"/>
          <p:nvPr/>
        </p:nvSpPr>
        <p:spPr>
          <a:xfrm>
            <a:off x="4114800" y="3319272"/>
            <a:ext cx="1234440" cy="201168"/>
          </a:xfrm>
          <a:prstGeom prst="rect">
            <a:avLst/>
          </a:prstGeom>
          <a:noFill/>
          <a:ln/>
        </p:spPr>
        <p:txBody>
          <a:bodyPr wrap="square" lIns="0" tIns="0" rIns="0" bIns="0" rtlCol="0" anchor="ctr"/>
          <a:lstStyle/>
          <a:p>
            <a:pPr marL="0" indent="0" algn="ctr">
              <a:buNone/>
            </a:pPr>
            <a:r>
              <a:rPr lang="en-US" sz="900" dirty="0">
                <a:solidFill>
                  <a:srgbClr val="8C8C8C"/>
                </a:solidFill>
                <a:latin typeface="Calibri" pitchFamily="34" charset="0"/>
                <a:ea typeface="Calibri" pitchFamily="34" charset="-122"/>
                <a:cs typeface="Calibri" pitchFamily="34" charset="-120"/>
              </a:rPr>
              <a:t>120 mm</a:t>
            </a:r>
            <a:endParaRPr lang="en-US" sz="900" dirty="0"/>
          </a:p>
        </p:txBody>
      </p:sp>
      <p:sp>
        <p:nvSpPr>
          <p:cNvPr id="33" name="fs"/>
          <p:cNvSpPr/>
          <p:nvPr/>
        </p:nvSpPr>
        <p:spPr>
          <a:xfrm rot="2700000">
            <a:off x="6903720" y="2606040"/>
            <a:ext cx="603504" cy="603504"/>
          </a:xfrm>
          <a:prstGeom prst="rect">
            <a:avLst/>
          </a:prstGeom>
          <a:solidFill>
            <a:srgbClr val="F7F6F4"/>
          </a:solidFill>
          <a:ln w="15875">
            <a:solidFill>
              <a:srgbClr val="141414"/>
            </a:solidFill>
            <a:prstDash val="solid"/>
          </a:ln>
        </p:spPr>
        <p:txBody>
          <a:bodyPr/>
          <a:lstStyle/>
          <a:p>
            <a:endParaRPr lang="tr-TR"/>
          </a:p>
        </p:txBody>
      </p:sp>
      <p:sp>
        <p:nvSpPr>
          <p:cNvPr id="34" name="fm"/>
          <p:cNvSpPr/>
          <p:nvPr/>
        </p:nvSpPr>
        <p:spPr>
          <a:xfrm>
            <a:off x="7114032" y="3300984"/>
            <a:ext cx="182880" cy="219456"/>
          </a:xfrm>
          <a:prstGeom prst="triangle">
            <a:avLst/>
          </a:prstGeom>
          <a:solidFill>
            <a:srgbClr val="B4513A"/>
          </a:solidFill>
          <a:ln w="12700">
            <a:solidFill>
              <a:srgbClr val="B4513A">
                <a:alpha val="0"/>
              </a:srgbClr>
            </a:solidFill>
            <a:prstDash val="solid"/>
          </a:ln>
        </p:spPr>
        <p:txBody>
          <a:bodyPr/>
          <a:lstStyle/>
          <a:p>
            <a:endParaRPr lang="tr-TR"/>
          </a:p>
        </p:txBody>
      </p:sp>
      <p:sp>
        <p:nvSpPr>
          <p:cNvPr id="35" name="Text 33"/>
          <p:cNvSpPr txBox="1"/>
          <p:nvPr/>
        </p:nvSpPr>
        <p:spPr>
          <a:xfrm>
            <a:off x="7653528" y="2843784"/>
            <a:ext cx="457200" cy="201168"/>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45°</a:t>
            </a:r>
            <a:endParaRPr lang="en-US" sz="900" dirty="0"/>
          </a:p>
        </p:txBody>
      </p:sp>
      <p:sp>
        <p:nvSpPr>
          <p:cNvPr id="36" name="vs"/>
          <p:cNvSpPr/>
          <p:nvPr/>
        </p:nvSpPr>
        <p:spPr>
          <a:xfrm>
            <a:off x="9281160" y="2679192"/>
            <a:ext cx="1691640" cy="777240"/>
          </a:xfrm>
          <a:prstGeom prst="rect">
            <a:avLst/>
          </a:prstGeom>
          <a:solidFill>
            <a:srgbClr val="FFFFFF"/>
          </a:solidFill>
          <a:ln w="15875">
            <a:solidFill>
              <a:srgbClr val="141414"/>
            </a:solidFill>
            <a:prstDash val="solid"/>
          </a:ln>
        </p:spPr>
        <p:txBody>
          <a:bodyPr/>
          <a:lstStyle/>
          <a:p>
            <a:endParaRPr lang="tr-TR"/>
          </a:p>
        </p:txBody>
      </p:sp>
      <p:sp>
        <p:nvSpPr>
          <p:cNvPr id="37" name="wt"/>
          <p:cNvSpPr/>
          <p:nvPr/>
        </p:nvSpPr>
        <p:spPr>
          <a:xfrm>
            <a:off x="9299448" y="2889504"/>
            <a:ext cx="1655064" cy="548640"/>
          </a:xfrm>
          <a:prstGeom prst="rect">
            <a:avLst/>
          </a:prstGeom>
          <a:solidFill>
            <a:srgbClr val="B4513A">
              <a:alpha val="28000"/>
            </a:srgbClr>
          </a:solidFill>
          <a:ln w="12700">
            <a:solidFill>
              <a:srgbClr val="B4513A">
                <a:alpha val="0"/>
              </a:srgbClr>
            </a:solidFill>
            <a:prstDash val="solid"/>
          </a:ln>
        </p:spPr>
        <p:txBody>
          <a:bodyPr/>
          <a:lstStyle/>
          <a:p>
            <a:endParaRPr lang="tr-TR"/>
          </a:p>
        </p:txBody>
      </p:sp>
      <p:sp>
        <p:nvSpPr>
          <p:cNvPr id="38" name="cp"/>
          <p:cNvSpPr/>
          <p:nvPr/>
        </p:nvSpPr>
        <p:spPr>
          <a:xfrm>
            <a:off x="9829800" y="3017520"/>
            <a:ext cx="594360" cy="310896"/>
          </a:xfrm>
          <a:prstGeom prst="rect">
            <a:avLst/>
          </a:prstGeom>
          <a:solidFill>
            <a:srgbClr val="F7F6F4"/>
          </a:solidFill>
          <a:ln w="12700">
            <a:solidFill>
              <a:srgbClr val="141414"/>
            </a:solidFill>
            <a:prstDash val="solid"/>
          </a:ln>
        </p:spPr>
        <p:txBody>
          <a:bodyPr/>
          <a:lstStyle/>
          <a:p>
            <a:endParaRPr lang="tr-TR"/>
          </a:p>
        </p:txBody>
      </p:sp>
      <p:sp>
        <p:nvSpPr>
          <p:cNvPr id="39" name="Text 37"/>
          <p:cNvSpPr txBox="1"/>
          <p:nvPr/>
        </p:nvSpPr>
        <p:spPr>
          <a:xfrm>
            <a:off x="731520" y="5897880"/>
            <a:ext cx="10241280" cy="457200"/>
          </a:xfrm>
          <a:prstGeom prst="rect">
            <a:avLst/>
          </a:prstGeom>
          <a:noFill/>
          <a:ln/>
        </p:spPr>
        <p:txBody>
          <a:bodyPr wrap="square" lIns="0" tIns="0" rIns="0" bIns="0" rtlCol="0" anchor="t"/>
          <a:lstStyle/>
          <a:p>
            <a:pPr marL="0" indent="0">
              <a:lnSpc>
                <a:spcPts val="1750"/>
              </a:lnSpc>
              <a:buNone/>
            </a:pPr>
            <a:r>
              <a:rPr lang="en-US" sz="1150" dirty="0">
                <a:solidFill>
                  <a:srgbClr val="3C3C3C"/>
                </a:solidFill>
                <a:latin typeface="Calibri" pitchFamily="34" charset="0"/>
                <a:ea typeface="Calibri" pitchFamily="34" charset="-122"/>
                <a:cs typeface="Calibri" pitchFamily="34" charset="-120"/>
              </a:rPr>
              <a:t>The fire, absorption and density figures are single determinations.</a:t>
            </a:r>
            <a:endParaRPr lang="en-US" sz="1150" dirty="0"/>
          </a:p>
        </p:txBody>
      </p:sp>
      <p:sp>
        <p:nvSpPr>
          <p:cNvPr id="40" name="Text 38"/>
          <p:cNvSpPr txBox="1"/>
          <p:nvPr/>
        </p:nvSpPr>
        <p:spPr>
          <a:xfrm>
            <a:off x="731520" y="6400800"/>
            <a:ext cx="1005840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All testing: Advanced Construction Materials Research Laboratory, Hacettepe University.  ·  Schematic, not to scale.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15</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Compression</a:t>
            </a:r>
            <a:endParaRPr lang="en-US" sz="2000" dirty="0"/>
          </a:p>
        </p:txBody>
      </p:sp>
      <p:sp>
        <p:nvSpPr>
          <p:cNvPr id="4" name="Text 2"/>
          <p:cNvSpPr txBox="1"/>
          <p:nvPr/>
        </p:nvSpPr>
        <p:spPr>
          <a:xfrm>
            <a:off x="731520" y="1325880"/>
            <a:ext cx="42062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Measured values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4206240" cy="1536192"/>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84048">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Fₘₐₓ kN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3.89</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4513A"/>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4513A"/>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u0.83.7"/>
          <p:cNvSpPr/>
          <p:nvPr/>
        </p:nvSpPr>
        <p:spPr>
          <a:xfrm>
            <a:off x="731520" y="3383280"/>
            <a:ext cx="420624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7" name="Text 4"/>
          <p:cNvSpPr txBox="1"/>
          <p:nvPr/>
        </p:nvSpPr>
        <p:spPr>
          <a:xfrm>
            <a:off x="731520" y="3520440"/>
            <a:ext cx="4206240" cy="822960"/>
          </a:xfrm>
          <a:prstGeom prst="rect">
            <a:avLst/>
          </a:prstGeom>
          <a:noFill/>
          <a:ln/>
        </p:spPr>
        <p:txBody>
          <a:bodyPr wrap="square" lIns="0" tIns="0" rIns="0" bIns="0" rtlCol="0" anchor="t"/>
          <a:lstStyle/>
          <a:p>
            <a:pPr marL="0" indent="0">
              <a:lnSpc>
                <a:spcPts val="1800"/>
              </a:lnSpc>
              <a:buNone/>
            </a:pPr>
            <a:r>
              <a:rPr lang="en-US" sz="1200" b="1" dirty="0">
                <a:solidFill>
                  <a:srgbClr val="141414"/>
                </a:solidFill>
                <a:latin typeface="Calibri" pitchFamily="34" charset="0"/>
                <a:ea typeface="Calibri" pitchFamily="34" charset="-122"/>
                <a:cs typeface="Calibri" pitchFamily="34" charset="-120"/>
              </a:rPr>
              <a:t>Strength here is governed by packing density, not by mineral content.</a:t>
            </a:r>
            <a:endParaRPr lang="en-US" sz="1200" dirty="0"/>
          </a:p>
        </p:txBody>
      </p:sp>
      <p:sp>
        <p:nvSpPr>
          <p:cNvPr id="8" name="Text 5"/>
          <p:cNvSpPr txBox="1"/>
          <p:nvPr/>
        </p:nvSpPr>
        <p:spPr>
          <a:xfrm>
            <a:off x="731520" y="4434840"/>
            <a:ext cx="4206240" cy="82296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The way to a stronger composite is to take water out, not to put more shell in.</a:t>
            </a:r>
            <a:endParaRPr lang="en-US" sz="1200" dirty="0"/>
          </a:p>
        </p:txBody>
      </p:sp>
      <p:sp>
        <p:nvSpPr>
          <p:cNvPr id="9" name="Text 6"/>
          <p:cNvSpPr txBox="1"/>
          <p:nvPr/>
        </p:nvSpPr>
        <p:spPr>
          <a:xfrm>
            <a:off x="731520" y="5257800"/>
            <a:ext cx="420624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Linear over the range tested, R² = 0.99 — three formulations, therefore a hypothesis rather than a law.  ·  Fitted relation: σᴄ = 6.93 (solids : water) + 0.04</a:t>
            </a:r>
            <a:endParaRPr lang="en-US" sz="900" dirty="0"/>
          </a:p>
        </p:txBody>
      </p:sp>
      <p:graphicFrame>
        <p:nvGraphicFramePr>
          <p:cNvPr id="10" name="cc"/>
          <p:cNvGraphicFramePr/>
          <p:nvPr/>
        </p:nvGraphicFramePr>
        <p:xfrm>
          <a:off x="5394960" y="1463040"/>
          <a:ext cx="60350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txBox="1"/>
          <p:nvPr/>
        </p:nvSpPr>
        <p:spPr>
          <a:xfrm>
            <a:off x="5394960" y="5989320"/>
            <a:ext cx="603504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Solids : water ratio shown beneath each formulation identifier.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16</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Compressive failure</a:t>
            </a:r>
            <a:endParaRPr lang="en-US" sz="2000" dirty="0"/>
          </a:p>
        </p:txBody>
      </p:sp>
      <p:pic>
        <p:nvPicPr>
          <p:cNvPr id="4" name="cube" descr="/home/user/sanat-ve-mekan/konferans-bildirisi/03-gorseller/04-basma-ficilasmis-kup.jpeg"/>
          <p:cNvPicPr>
            <a:picLocks noChangeAspect="1"/>
          </p:cNvPicPr>
          <p:nvPr/>
        </p:nvPicPr>
        <p:blipFill>
          <a:blip r:embed="rId3"/>
          <a:srcRect t="8318" b="12199"/>
          <a:stretch>
            <a:fillRect/>
          </a:stretch>
        </p:blipFill>
        <p:spPr>
          <a:xfrm>
            <a:off x="731520" y="1766147"/>
            <a:ext cx="2286000" cy="3931920"/>
          </a:xfrm>
          <a:prstGeom prst="rect">
            <a:avLst/>
          </a:prstGeom>
        </p:spPr>
      </p:pic>
      <p:sp>
        <p:nvSpPr>
          <p:cNvPr id="5" name="Text 2"/>
          <p:cNvSpPr txBox="1"/>
          <p:nvPr/>
        </p:nvSpPr>
        <p:spPr>
          <a:xfrm>
            <a:off x="3566160" y="1371600"/>
            <a:ext cx="47548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Compressive stress (MPa) – strain, C3</a:t>
            </a:r>
            <a:endParaRPr lang="en-US" sz="1300" dirty="0"/>
          </a:p>
        </p:txBody>
      </p:sp>
      <p:pic>
        <p:nvPicPr>
          <p:cNvPr id="6" name="curve" descr="/home/user/sanat-ve-mekan/konferans-bildirisi/03-gorseller/05b-basma-egrisi.png"/>
          <p:cNvPicPr>
            <a:picLocks noChangeAspect="1"/>
          </p:cNvPicPr>
          <p:nvPr/>
        </p:nvPicPr>
        <p:blipFill>
          <a:blip r:embed="rId4"/>
          <a:stretch>
            <a:fillRect/>
          </a:stretch>
        </p:blipFill>
        <p:spPr>
          <a:xfrm>
            <a:off x="3566160" y="1783080"/>
            <a:ext cx="4754880" cy="2660904"/>
          </a:xfrm>
          <a:prstGeom prst="rect">
            <a:avLst/>
          </a:prstGeom>
        </p:spPr>
      </p:pic>
      <p:sp>
        <p:nvSpPr>
          <p:cNvPr id="7" name="Text 3"/>
          <p:cNvSpPr txBox="1"/>
          <p:nvPr/>
        </p:nvSpPr>
        <p:spPr>
          <a:xfrm>
            <a:off x="3566160" y="4663440"/>
            <a:ext cx="47548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Observed response</a:t>
            </a:r>
            <a:endParaRPr lang="en-US" sz="1300" dirty="0"/>
          </a:p>
        </p:txBody>
      </p:sp>
      <p:sp>
        <p:nvSpPr>
          <p:cNvPr id="8" name="Text 4"/>
          <p:cNvSpPr txBox="1"/>
          <p:nvPr/>
        </p:nvSpPr>
        <p:spPr>
          <a:xfrm>
            <a:off x="3566160" y="5029200"/>
            <a:ext cx="4754880" cy="128016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Linear to approximately 1 MPa, then progressive loss of stiffness</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Peak stress near 10% strain, with no abrupt load drop</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Continued deformation beyond peak with retained integrity</a:t>
            </a:r>
            <a:endParaRPr lang="en-US" sz="1150" dirty="0"/>
          </a:p>
        </p:txBody>
      </p:sp>
      <p:sp>
        <p:nvSpPr>
          <p:cNvPr id="9" name="vr9.51.5"/>
          <p:cNvSpPr/>
          <p:nvPr/>
        </p:nvSpPr>
        <p:spPr>
          <a:xfrm>
            <a:off x="8686800" y="1371600"/>
            <a:ext cx="13716" cy="4572000"/>
          </a:xfrm>
          <a:prstGeom prst="rect">
            <a:avLst/>
          </a:prstGeom>
          <a:solidFill>
            <a:srgbClr val="E4E4E4"/>
          </a:solidFill>
          <a:ln w="12700">
            <a:solidFill>
              <a:srgbClr val="E4E4E4">
                <a:alpha val="0"/>
              </a:srgbClr>
            </a:solidFill>
            <a:prstDash val="solid"/>
          </a:ln>
        </p:spPr>
        <p:txBody>
          <a:bodyPr/>
          <a:lstStyle/>
          <a:p>
            <a:endParaRPr lang="tr-TR"/>
          </a:p>
        </p:txBody>
      </p:sp>
      <p:sp>
        <p:nvSpPr>
          <p:cNvPr id="10" name="Text 6"/>
          <p:cNvSpPr txBox="1"/>
          <p:nvPr/>
        </p:nvSpPr>
        <p:spPr>
          <a:xfrm>
            <a:off x="9144000" y="1371600"/>
            <a:ext cx="2286000" cy="164592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Failure proceeds by progressive crushing rather than by fracture.</a:t>
            </a:r>
            <a:endParaRPr lang="en-US" sz="1200" dirty="0"/>
          </a:p>
        </p:txBody>
      </p:sp>
      <p:sp>
        <p:nvSpPr>
          <p:cNvPr id="11" name="ru103.3"/>
          <p:cNvSpPr/>
          <p:nvPr/>
        </p:nvSpPr>
        <p:spPr>
          <a:xfrm>
            <a:off x="9144000" y="3017520"/>
            <a:ext cx="228600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2" name="Text 8"/>
          <p:cNvSpPr txBox="1"/>
          <p:nvPr/>
        </p:nvSpPr>
        <p:spPr>
          <a:xfrm>
            <a:off x="9144000" y="3200400"/>
            <a:ext cx="2286000" cy="173736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The cube has barrelled: shorter, wider, and still a single body.</a:t>
            </a:r>
            <a:endParaRPr lang="en-US" sz="1200" dirty="0"/>
          </a:p>
        </p:txBody>
      </p:sp>
      <p:sp>
        <p:nvSpPr>
          <p:cNvPr id="13" name="Text 9"/>
          <p:cNvSpPr txBox="1"/>
          <p:nvPr/>
        </p:nvSpPr>
        <p:spPr>
          <a:xfrm>
            <a:off x="731520" y="6400800"/>
            <a:ext cx="1005840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The strain scale assumes ten per cent deformation from observation, not instrumented measurement.  ·  Bulk density 1.38 g/cm³, mould-volume basis.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17</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Flexure</a:t>
            </a:r>
            <a:endParaRPr lang="en-US" sz="2000" dirty="0"/>
          </a:p>
        </p:txBody>
      </p:sp>
      <p:sp>
        <p:nvSpPr>
          <p:cNvPr id="4" name="Text 2"/>
          <p:cNvSpPr txBox="1"/>
          <p:nvPr/>
        </p:nvSpPr>
        <p:spPr>
          <a:xfrm>
            <a:off x="731520" y="1325880"/>
            <a:ext cx="667512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Measured values — ASTM D790-17, three-point</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675120" cy="1152144"/>
        </p:xfrm>
        <a:graphic>
          <a:graphicData uri="http://schemas.openxmlformats.org/drawingml/2006/table">
            <a:tbl>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384048">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Fₘₐₓ 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σꜰ MPa</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Eꜰ MPa</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ε peak</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3C3C3C"/>
                          </a:solidFill>
                          <a:latin typeface="Calibri" pitchFamily="34" charset="0"/>
                          <a:ea typeface="Calibri" pitchFamily="34" charset="-122"/>
                          <a:cs typeface="Calibri" pitchFamily="34" charset="-120"/>
                        </a:rPr>
                        <a:t>not measurable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4513A"/>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0.0121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ru0.83.35"/>
          <p:cNvSpPr/>
          <p:nvPr/>
        </p:nvSpPr>
        <p:spPr>
          <a:xfrm>
            <a:off x="731520" y="3063240"/>
            <a:ext cx="667512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7" name="Text 4"/>
          <p:cNvSpPr txBox="1"/>
          <p:nvPr/>
        </p:nvSpPr>
        <p:spPr>
          <a:xfrm>
            <a:off x="731520" y="3246120"/>
            <a:ext cx="42062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Flexural stress (MPa) – strain, F2</a:t>
            </a:r>
            <a:endParaRPr lang="en-US" sz="1300" dirty="0"/>
          </a:p>
        </p:txBody>
      </p:sp>
      <p:pic>
        <p:nvPicPr>
          <p:cNvPr id="8" name="fc" descr="/home/user/sanat-ve-mekan/konferans-bildirisi/03-gorseller/09b-egilme-egrisi.png"/>
          <p:cNvPicPr>
            <a:picLocks noChangeAspect="1"/>
          </p:cNvPicPr>
          <p:nvPr/>
        </p:nvPicPr>
        <p:blipFill>
          <a:blip r:embed="rId3"/>
          <a:stretch>
            <a:fillRect/>
          </a:stretch>
        </p:blipFill>
        <p:spPr>
          <a:xfrm>
            <a:off x="731520" y="3611880"/>
            <a:ext cx="4206240" cy="2377440"/>
          </a:xfrm>
          <a:prstGeom prst="rect">
            <a:avLst/>
          </a:prstGeom>
        </p:spPr>
      </p:pic>
      <p:sp>
        <p:nvSpPr>
          <p:cNvPr id="9" name="Text 5"/>
          <p:cNvSpPr txBox="1"/>
          <p:nvPr/>
        </p:nvSpPr>
        <p:spPr>
          <a:xfrm>
            <a:off x="5303520" y="3611880"/>
            <a:ext cx="2286000" cy="146304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The transition is sharp, and it lies between those two compositions.</a:t>
            </a:r>
            <a:endParaRPr lang="en-US" sz="1200" dirty="0"/>
          </a:p>
        </p:txBody>
      </p:sp>
      <p:sp>
        <p:nvSpPr>
          <p:cNvPr id="10" name="vr8.61.45"/>
          <p:cNvSpPr/>
          <p:nvPr/>
        </p:nvSpPr>
        <p:spPr>
          <a:xfrm>
            <a:off x="7863840" y="1325880"/>
            <a:ext cx="13716" cy="4846320"/>
          </a:xfrm>
          <a:prstGeom prst="rect">
            <a:avLst/>
          </a:prstGeom>
          <a:solidFill>
            <a:srgbClr val="E4E4E4"/>
          </a:solidFill>
          <a:ln w="12700">
            <a:solidFill>
              <a:srgbClr val="E4E4E4">
                <a:alpha val="0"/>
              </a:srgbClr>
            </a:solidFill>
            <a:prstDash val="solid"/>
          </a:ln>
        </p:spPr>
        <p:txBody>
          <a:bodyPr/>
          <a:lstStyle/>
          <a:p>
            <a:endParaRPr lang="tr-TR"/>
          </a:p>
        </p:txBody>
      </p:sp>
      <p:sp>
        <p:nvSpPr>
          <p:cNvPr id="11" name="Text 7"/>
          <p:cNvSpPr txBox="1"/>
          <p:nvPr/>
        </p:nvSpPr>
        <p:spPr>
          <a:xfrm>
            <a:off x="8321040" y="1325880"/>
            <a:ext cx="31089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Limitation</a:t>
            </a:r>
            <a:endParaRPr lang="en-US" sz="1300" dirty="0"/>
          </a:p>
        </p:txBody>
      </p:sp>
      <p:sp>
        <p:nvSpPr>
          <p:cNvPr id="12" name="Text 8"/>
          <p:cNvSpPr txBox="1"/>
          <p:nvPr/>
        </p:nvSpPr>
        <p:spPr>
          <a:xfrm>
            <a:off x="8321040" y="1691640"/>
            <a:ext cx="3108960" cy="219456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The specimen is kerfed on its tension face while the standard assumes a solid rectangle, so the modulus reported here is a lower bound.</a:t>
            </a:r>
            <a:endParaRPr lang="en-US" sz="1200" dirty="0"/>
          </a:p>
        </p:txBody>
      </p:sp>
      <p:sp>
        <p:nvSpPr>
          <p:cNvPr id="13" name="Text 9"/>
          <p:cNvSpPr txBox="1"/>
          <p:nvPr/>
        </p:nvSpPr>
        <p:spPr>
          <a:xfrm>
            <a:off x="8321040" y="5212080"/>
            <a:ext cx="283464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Confounded with solids concentration: batch mass was held constant, so water rose as glycerol fell.</a:t>
            </a:r>
            <a:endParaRPr lang="en-US" sz="900" dirty="0"/>
          </a:p>
        </p:txBody>
      </p:sp>
      <p:sp>
        <p:nvSpPr>
          <p:cNvPr id="14" name="Text 10"/>
          <p:cNvSpPr txBox="1"/>
          <p:nvPr/>
        </p:nvSpPr>
        <p:spPr>
          <a:xfrm>
            <a:off x="731520" y="6126480"/>
            <a:ext cx="667512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Flexural strength computed as σꜰ = 3FL / 2bd² on the full rectangular section.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9E9E9E"/>
                </a:solidFill>
                <a:latin typeface="Calibri" pitchFamily="34" charset="0"/>
                <a:ea typeface="Calibri" pitchFamily="34" charset="-122"/>
                <a:cs typeface="Calibri" pitchFamily="34" charset="-120"/>
              </a:rPr>
              <a:t>18</a:t>
            </a:r>
            <a:endParaRPr lang="en-US" sz="1300" dirty="0"/>
          </a:p>
        </p:txBody>
      </p:sp>
      <p:pic>
        <p:nvPicPr>
          <p:cNvPr id="3" name="b1" descr="/home/user/sanat-ve-mekan/konferans-bildirisi/03-gorseller/06-egilme-buyuk-sehim.jpg"/>
          <p:cNvPicPr>
            <a:picLocks noChangeAspect="1"/>
          </p:cNvPicPr>
          <p:nvPr/>
        </p:nvPicPr>
        <p:blipFill>
          <a:blip r:embed="rId3"/>
          <a:stretch>
            <a:fillRect/>
          </a:stretch>
        </p:blipFill>
        <p:spPr>
          <a:xfrm>
            <a:off x="0" y="0"/>
            <a:ext cx="3090672" cy="6858000"/>
          </a:xfrm>
          <a:prstGeom prst="rect">
            <a:avLst/>
          </a:prstGeom>
        </p:spPr>
      </p:pic>
      <p:pic>
        <p:nvPicPr>
          <p:cNvPr id="4" name="b2" descr="/home/user/sanat-ve-mekan/konferans-bildirisi/03-gorseller/07-egilme-yakin-yiv.jpeg"/>
          <p:cNvPicPr>
            <a:picLocks noChangeAspect="1"/>
          </p:cNvPicPr>
          <p:nvPr/>
        </p:nvPicPr>
        <p:blipFill>
          <a:blip r:embed="rId4"/>
          <a:srcRect l="22594" r="1760"/>
          <a:stretch>
            <a:fillRect/>
          </a:stretch>
        </p:blipFill>
        <p:spPr>
          <a:xfrm rot="5400000">
            <a:off x="3164501" y="17610"/>
            <a:ext cx="4131733" cy="4096512"/>
          </a:xfrm>
          <a:prstGeom prst="rect">
            <a:avLst/>
          </a:prstGeom>
        </p:spPr>
      </p:pic>
      <p:pic>
        <p:nvPicPr>
          <p:cNvPr id="5" name="b3" descr="/home/user/sanat-ve-mekan/konferans-bildirisi/03-gorseller/08c-kemer.jpg"/>
          <p:cNvPicPr>
            <a:picLocks noChangeAspect="1"/>
          </p:cNvPicPr>
          <p:nvPr/>
        </p:nvPicPr>
        <p:blipFill>
          <a:blip r:embed="rId5"/>
          <a:stretch>
            <a:fillRect/>
          </a:stretch>
        </p:blipFill>
        <p:spPr>
          <a:xfrm>
            <a:off x="3182112" y="3520440"/>
            <a:ext cx="4096512" cy="3337560"/>
          </a:xfrm>
          <a:prstGeom prst="rect">
            <a:avLst/>
          </a:prstGeom>
        </p:spPr>
      </p:pic>
      <p:sp>
        <p:nvSpPr>
          <p:cNvPr id="6" name="pane"/>
          <p:cNvSpPr/>
          <p:nvPr/>
        </p:nvSpPr>
        <p:spPr>
          <a:xfrm>
            <a:off x="7278624" y="0"/>
            <a:ext cx="4910328" cy="6858000"/>
          </a:xfrm>
          <a:prstGeom prst="rect">
            <a:avLst/>
          </a:prstGeom>
          <a:solidFill>
            <a:srgbClr val="141414"/>
          </a:solidFill>
          <a:ln w="12700">
            <a:solidFill>
              <a:srgbClr val="141414">
                <a:alpha val="0"/>
              </a:srgbClr>
            </a:solidFill>
            <a:prstDash val="solid"/>
          </a:ln>
        </p:spPr>
        <p:txBody>
          <a:bodyPr/>
          <a:lstStyle/>
          <a:p>
            <a:endParaRPr lang="tr-TR"/>
          </a:p>
        </p:txBody>
      </p:sp>
      <p:sp>
        <p:nvSpPr>
          <p:cNvPr id="7" name="Text 2"/>
          <p:cNvSpPr txBox="1"/>
          <p:nvPr/>
        </p:nvSpPr>
        <p:spPr>
          <a:xfrm>
            <a:off x="7726680" y="1280160"/>
            <a:ext cx="38404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Flexural deformation</a:t>
            </a:r>
            <a:endParaRPr lang="en-US" sz="2000" dirty="0"/>
          </a:p>
        </p:txBody>
      </p:sp>
      <p:sp>
        <p:nvSpPr>
          <p:cNvPr id="8" name="Text 3"/>
          <p:cNvSpPr txBox="1"/>
          <p:nvPr/>
        </p:nvSpPr>
        <p:spPr>
          <a:xfrm>
            <a:off x="7726680" y="1920240"/>
            <a:ext cx="3840480" cy="1463040"/>
          </a:xfrm>
          <a:prstGeom prst="rect">
            <a:avLst/>
          </a:prstGeom>
          <a:noFill/>
          <a:ln/>
        </p:spPr>
        <p:txBody>
          <a:bodyPr wrap="square" lIns="0" tIns="0" rIns="0" bIns="0" rtlCol="0" anchor="t"/>
          <a:lstStyle/>
          <a:p>
            <a:pPr marL="0" indent="0">
              <a:lnSpc>
                <a:spcPts val="1800"/>
              </a:lnSpc>
              <a:buNone/>
            </a:pPr>
            <a:r>
              <a:rPr lang="en-US" sz="1200" b="1" i="1" dirty="0">
                <a:solidFill>
                  <a:srgbClr val="FFFFFF"/>
                </a:solidFill>
                <a:latin typeface="Calibri" pitchFamily="34" charset="0"/>
                <a:ea typeface="Calibri" pitchFamily="34" charset="-122"/>
                <a:cs typeface="Calibri" pitchFamily="34" charset="-120"/>
              </a:rPr>
              <a:t>Both test programmes gave the same result: substantial deformation with the integrity retained.</a:t>
            </a:r>
            <a:endParaRPr lang="en-US" sz="1200" dirty="0"/>
          </a:p>
        </p:txBody>
      </p:sp>
      <p:sp>
        <p:nvSpPr>
          <p:cNvPr id="9" name="Text 4"/>
          <p:cNvSpPr txBox="1"/>
          <p:nvPr/>
        </p:nvSpPr>
        <p:spPr>
          <a:xfrm>
            <a:off x="7726680" y="3657600"/>
            <a:ext cx="3840480" cy="1463040"/>
          </a:xfrm>
          <a:prstGeom prst="rect">
            <a:avLst/>
          </a:prstGeom>
          <a:noFill/>
          <a:ln/>
        </p:spPr>
        <p:txBody>
          <a:bodyPr wrap="square" lIns="0" tIns="0" rIns="0" bIns="0" rtlCol="0" anchor="t"/>
          <a:lstStyle/>
          <a:p>
            <a:pPr marL="0" indent="0">
              <a:lnSpc>
                <a:spcPts val="1800"/>
              </a:lnSpc>
              <a:buNone/>
            </a:pPr>
            <a:r>
              <a:rPr lang="en-US" sz="1200" dirty="0">
                <a:solidFill>
                  <a:srgbClr val="FFFFFF"/>
                </a:solidFill>
                <a:latin typeface="Calibri" pitchFamily="34" charset="0"/>
                <a:ea typeface="Calibri" pitchFamily="34" charset="-122"/>
                <a:cs typeface="Calibri" pitchFamily="34" charset="-120"/>
              </a:rPr>
              <a:t>The beam is deflected well past the point where a comparable ceramic would have parted, and it is still intact.</a:t>
            </a:r>
            <a:endParaRPr lang="en-US" sz="1200" dirty="0"/>
          </a:p>
        </p:txBody>
      </p:sp>
      <p:sp>
        <p:nvSpPr>
          <p:cNvPr id="10" name="Text 5"/>
          <p:cNvSpPr txBox="1"/>
          <p:nvPr/>
        </p:nvSpPr>
        <p:spPr>
          <a:xfrm>
            <a:off x="7726680" y="5486400"/>
            <a:ext cx="3840480" cy="457200"/>
          </a:xfrm>
          <a:prstGeom prst="rect">
            <a:avLst/>
          </a:prstGeom>
          <a:noFill/>
          <a:ln/>
        </p:spPr>
        <p:txBody>
          <a:bodyPr wrap="square" lIns="0" tIns="0" rIns="0" bIns="0" rtlCol="0" anchor="t"/>
          <a:lstStyle/>
          <a:p>
            <a:pPr marL="0" indent="0">
              <a:lnSpc>
                <a:spcPts val="1250"/>
              </a:lnSpc>
              <a:buNone/>
            </a:pPr>
            <a:r>
              <a:rPr lang="en-US" sz="900" dirty="0">
                <a:solidFill>
                  <a:srgbClr val="8E8E8E"/>
                </a:solidFill>
                <a:latin typeface="Calibri" pitchFamily="34" charset="0"/>
                <a:ea typeface="Calibri" pitchFamily="34" charset="-122"/>
                <a:cs typeface="Calibri" pitchFamily="34" charset="-120"/>
              </a:rPr>
              <a:t>Three-point rig at high deflection · kerfed tension face · panel arched by hand</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19</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Fire, water, density</a:t>
            </a:r>
            <a:endParaRPr lang="en-US" sz="2000" dirty="0"/>
          </a:p>
        </p:txBody>
      </p:sp>
      <p:sp>
        <p:nvSpPr>
          <p:cNvPr id="5" name="Text 2"/>
          <p:cNvSpPr txBox="1"/>
          <p:nvPr/>
        </p:nvSpPr>
        <p:spPr>
          <a:xfrm>
            <a:off x="762000" y="1165013"/>
            <a:ext cx="301752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Ignitability</a:t>
            </a:r>
            <a:endParaRPr lang="en-US" sz="1300" dirty="0"/>
          </a:p>
        </p:txBody>
      </p:sp>
      <p:sp>
        <p:nvSpPr>
          <p:cNvPr id="6" name="Text 3"/>
          <p:cNvSpPr txBox="1"/>
          <p:nvPr/>
        </p:nvSpPr>
        <p:spPr>
          <a:xfrm>
            <a:off x="762000" y="1576493"/>
            <a:ext cx="3017520" cy="609600"/>
          </a:xfrm>
          <a:prstGeom prst="rect">
            <a:avLst/>
          </a:prstGeom>
          <a:noFill/>
          <a:ln/>
        </p:spPr>
        <p:txBody>
          <a:bodyPr wrap="square" lIns="0" tIns="0" rIns="0" bIns="0" rtlCol="0" anchor="b"/>
          <a:lstStyle/>
          <a:p>
            <a:pPr marL="0" indent="0">
              <a:buNone/>
            </a:pPr>
            <a:r>
              <a:rPr lang="en-US" sz="3200" b="1" dirty="0">
                <a:solidFill>
                  <a:srgbClr val="B4513A"/>
                </a:solidFill>
                <a:latin typeface="Calibri" pitchFamily="34" charset="0"/>
                <a:ea typeface="Calibri" pitchFamily="34" charset="-122"/>
                <a:cs typeface="Calibri" pitchFamily="34" charset="-120"/>
              </a:rPr>
              <a:t>≈ 10 s</a:t>
            </a:r>
            <a:endParaRPr lang="en-US" sz="3200" dirty="0"/>
          </a:p>
        </p:txBody>
      </p:sp>
      <p:sp>
        <p:nvSpPr>
          <p:cNvPr id="7" name="Text 4"/>
          <p:cNvSpPr txBox="1"/>
          <p:nvPr/>
        </p:nvSpPr>
        <p:spPr>
          <a:xfrm>
            <a:off x="762000" y="2222669"/>
            <a:ext cx="3017520" cy="420624"/>
          </a:xfrm>
          <a:prstGeom prst="rect">
            <a:avLst/>
          </a:prstGeom>
          <a:noFill/>
          <a:ln/>
        </p:spPr>
        <p:txBody>
          <a:bodyPr wrap="square" lIns="0" tIns="0" rIns="0" bIns="0" rtlCol="0" anchor="t"/>
          <a:lstStyle/>
          <a:p>
            <a:pPr marL="0" indent="0">
              <a:lnSpc>
                <a:spcPts val="1250"/>
              </a:lnSpc>
              <a:buNone/>
            </a:pPr>
            <a:r>
              <a:rPr lang="en-US" sz="950" dirty="0">
                <a:solidFill>
                  <a:srgbClr val="8C8C8C"/>
                </a:solidFill>
                <a:latin typeface="Calibri" pitchFamily="34" charset="0"/>
                <a:ea typeface="Calibri" pitchFamily="34" charset="-122"/>
                <a:cs typeface="Calibri" pitchFamily="34" charset="-120"/>
              </a:rPr>
              <a:t>to ignition under direct flame</a:t>
            </a:r>
            <a:endParaRPr lang="en-US" sz="950" dirty="0"/>
          </a:p>
        </p:txBody>
      </p:sp>
      <p:sp>
        <p:nvSpPr>
          <p:cNvPr id="8" name="Text 5"/>
          <p:cNvSpPr txBox="1"/>
          <p:nvPr/>
        </p:nvSpPr>
        <p:spPr>
          <a:xfrm>
            <a:off x="762000" y="2673773"/>
            <a:ext cx="3017520" cy="609600"/>
          </a:xfrm>
          <a:prstGeom prst="rect">
            <a:avLst/>
          </a:prstGeom>
          <a:noFill/>
          <a:ln/>
        </p:spPr>
        <p:txBody>
          <a:bodyPr wrap="square" lIns="0" tIns="0" rIns="0" bIns="0" rtlCol="0" anchor="b"/>
          <a:lstStyle/>
          <a:p>
            <a:pPr marL="0" indent="0">
              <a:buNone/>
            </a:pPr>
            <a:r>
              <a:rPr lang="en-US" sz="3200" b="1" dirty="0">
                <a:solidFill>
                  <a:srgbClr val="B4513A"/>
                </a:solidFill>
                <a:latin typeface="Calibri" pitchFamily="34" charset="0"/>
                <a:ea typeface="Calibri" pitchFamily="34" charset="-122"/>
                <a:cs typeface="Calibri" pitchFamily="34" charset="-120"/>
              </a:rPr>
              <a:t>4 s</a:t>
            </a:r>
            <a:endParaRPr lang="en-US" sz="3200" dirty="0"/>
          </a:p>
        </p:txBody>
      </p:sp>
      <p:sp>
        <p:nvSpPr>
          <p:cNvPr id="9" name="Text 6"/>
          <p:cNvSpPr txBox="1"/>
          <p:nvPr/>
        </p:nvSpPr>
        <p:spPr>
          <a:xfrm>
            <a:off x="762000" y="3319949"/>
            <a:ext cx="3017520" cy="420624"/>
          </a:xfrm>
          <a:prstGeom prst="rect">
            <a:avLst/>
          </a:prstGeom>
          <a:noFill/>
          <a:ln/>
        </p:spPr>
        <p:txBody>
          <a:bodyPr wrap="square" lIns="0" tIns="0" rIns="0" bIns="0" rtlCol="0" anchor="t"/>
          <a:lstStyle/>
          <a:p>
            <a:pPr marL="0" indent="0">
              <a:lnSpc>
                <a:spcPts val="1250"/>
              </a:lnSpc>
              <a:buNone/>
            </a:pPr>
            <a:r>
              <a:rPr lang="en-US" sz="950" dirty="0">
                <a:solidFill>
                  <a:srgbClr val="8C8C8C"/>
                </a:solidFill>
                <a:latin typeface="Calibri" pitchFamily="34" charset="0"/>
                <a:ea typeface="Calibri" pitchFamily="34" charset="-122"/>
                <a:cs typeface="Calibri" pitchFamily="34" charset="-120"/>
              </a:rPr>
              <a:t>to self-extinguish after flame removal</a:t>
            </a:r>
            <a:endParaRPr lang="en-US" sz="950" dirty="0"/>
          </a:p>
        </p:txBody>
      </p:sp>
      <p:sp>
        <p:nvSpPr>
          <p:cNvPr id="10" name="Text 7"/>
          <p:cNvSpPr txBox="1"/>
          <p:nvPr/>
        </p:nvSpPr>
        <p:spPr>
          <a:xfrm>
            <a:off x="762000" y="3771053"/>
            <a:ext cx="3017520" cy="118872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Charring remains local</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lateral flame spread</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melting and no dripping</a:t>
            </a:r>
            <a:endParaRPr lang="en-US" sz="1150" dirty="0"/>
          </a:p>
        </p:txBody>
      </p:sp>
      <p:sp>
        <p:nvSpPr>
          <p:cNvPr id="11" name="Text 8"/>
          <p:cNvSpPr txBox="1"/>
          <p:nvPr/>
        </p:nvSpPr>
        <p:spPr>
          <a:xfrm>
            <a:off x="762000" y="5096933"/>
            <a:ext cx="3017520" cy="82296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It is an ignitability test, and there is no Euroclass classification behind it.</a:t>
            </a:r>
            <a:endParaRPr lang="en-US" sz="1200" dirty="0"/>
          </a:p>
        </p:txBody>
      </p:sp>
      <p:sp>
        <p:nvSpPr>
          <p:cNvPr id="12" name="Text 9"/>
          <p:cNvSpPr txBox="1"/>
          <p:nvPr/>
        </p:nvSpPr>
        <p:spPr>
          <a:xfrm>
            <a:off x="762000" y="5919893"/>
            <a:ext cx="301752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ISO 11925-2:2020. No cone calorimetry, smoke or toxicity data.</a:t>
            </a:r>
            <a:endParaRPr lang="en-US" sz="900" dirty="0"/>
          </a:p>
        </p:txBody>
      </p:sp>
      <p:sp>
        <p:nvSpPr>
          <p:cNvPr id="13" name="vr7.31.45"/>
          <p:cNvSpPr/>
          <p:nvPr/>
        </p:nvSpPr>
        <p:spPr>
          <a:xfrm>
            <a:off x="5638800" y="1325880"/>
            <a:ext cx="13716" cy="4480560"/>
          </a:xfrm>
          <a:prstGeom prst="rect">
            <a:avLst/>
          </a:prstGeom>
          <a:solidFill>
            <a:srgbClr val="E4E4E4"/>
          </a:solidFill>
          <a:ln w="12700">
            <a:solidFill>
              <a:srgbClr val="E4E4E4">
                <a:alpha val="0"/>
              </a:srgbClr>
            </a:solidFill>
            <a:prstDash val="solid"/>
          </a:ln>
        </p:spPr>
        <p:txBody>
          <a:bodyPr/>
          <a:lstStyle/>
          <a:p>
            <a:endParaRPr lang="tr-TR"/>
          </a:p>
        </p:txBody>
      </p:sp>
      <p:sp>
        <p:nvSpPr>
          <p:cNvPr id="14" name="Text 11"/>
          <p:cNvSpPr txBox="1"/>
          <p:nvPr/>
        </p:nvSpPr>
        <p:spPr>
          <a:xfrm>
            <a:off x="6096000" y="1325880"/>
            <a:ext cx="42976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Water absorption, 24 h immersion</a:t>
            </a:r>
            <a:endParaRPr lang="en-US" sz="1300" dirty="0"/>
          </a:p>
        </p:txBody>
      </p:sp>
      <p:sp>
        <p:nvSpPr>
          <p:cNvPr id="15" name="Text 12"/>
          <p:cNvSpPr txBox="1"/>
          <p:nvPr/>
        </p:nvSpPr>
        <p:spPr>
          <a:xfrm>
            <a:off x="6096000" y="1691640"/>
            <a:ext cx="1645920" cy="548640"/>
          </a:xfrm>
          <a:prstGeom prst="rect">
            <a:avLst/>
          </a:prstGeom>
          <a:noFill/>
          <a:ln/>
        </p:spPr>
        <p:txBody>
          <a:bodyPr wrap="square" lIns="0" tIns="0" rIns="0" bIns="0" rtlCol="0" anchor="b"/>
          <a:lstStyle/>
          <a:p>
            <a:pPr marL="0" indent="0">
              <a:buNone/>
            </a:pPr>
            <a:r>
              <a:rPr lang="en-US" sz="3200" b="1" dirty="0">
                <a:solidFill>
                  <a:srgbClr val="B4513A"/>
                </a:solidFill>
                <a:latin typeface="Calibri" pitchFamily="34" charset="0"/>
                <a:ea typeface="Calibri" pitchFamily="34" charset="-122"/>
                <a:cs typeface="Calibri" pitchFamily="34" charset="-120"/>
              </a:rPr>
              <a:t>0.7%</a:t>
            </a:r>
            <a:endParaRPr lang="en-US" sz="3200" dirty="0"/>
          </a:p>
        </p:txBody>
      </p:sp>
      <p:sp>
        <p:nvSpPr>
          <p:cNvPr id="16" name="Text 13"/>
          <p:cNvSpPr txBox="1"/>
          <p:nvPr/>
        </p:nvSpPr>
        <p:spPr>
          <a:xfrm>
            <a:off x="7833360" y="1783080"/>
            <a:ext cx="2560320" cy="1188720"/>
          </a:xfrm>
          <a:prstGeom prst="rect">
            <a:avLst/>
          </a:prstGeom>
          <a:noFill/>
          <a:ln/>
        </p:spPr>
        <p:txBody>
          <a:bodyPr wrap="square" lIns="0" tIns="0" rIns="0" bIns="0" rtlCol="0" anchor="t"/>
          <a:lstStyle/>
          <a:p>
            <a:pPr marL="0" indent="0">
              <a:lnSpc>
                <a:spcPts val="1750"/>
              </a:lnSpc>
              <a:buNone/>
            </a:pPr>
            <a:r>
              <a:rPr lang="en-US" sz="1150" dirty="0">
                <a:solidFill>
                  <a:srgbClr val="3C3C3C"/>
                </a:solidFill>
                <a:latin typeface="Calibri" pitchFamily="34" charset="0"/>
                <a:ea typeface="Calibri" pitchFamily="34" charset="-122"/>
                <a:cs typeface="Calibri" pitchFamily="34" charset="-120"/>
              </a:rPr>
              <a:t>mass gain. It is the coating that limits humid service rather than the composite itself.</a:t>
            </a:r>
            <a:endParaRPr lang="en-US" sz="1150" dirty="0"/>
          </a:p>
        </p:txBody>
      </p:sp>
      <p:sp>
        <p:nvSpPr>
          <p:cNvPr id="17" name="ru7.83.2"/>
          <p:cNvSpPr/>
          <p:nvPr/>
        </p:nvSpPr>
        <p:spPr>
          <a:xfrm>
            <a:off x="6096000" y="2926080"/>
            <a:ext cx="42976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8" name="Text 15"/>
          <p:cNvSpPr txBox="1"/>
          <p:nvPr/>
        </p:nvSpPr>
        <p:spPr>
          <a:xfrm>
            <a:off x="6096000" y="3108960"/>
            <a:ext cx="42976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Bulk density</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4188859508"/>
              </p:ext>
            </p:extLst>
          </p:nvPr>
        </p:nvGraphicFramePr>
        <p:xfrm>
          <a:off x="6096000" y="3474720"/>
          <a:ext cx="4297680" cy="1536192"/>
        </p:xfrm>
        <a:graphic>
          <a:graphicData uri="http://schemas.openxmlformats.org/drawingml/2006/table">
            <a:tbl>
              <a:tblPr/>
              <a:tblGrid>
                <a:gridCol w="1783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84048">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g/cm³</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4513A"/>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Mycelium, cellulose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0.3 – 0.8</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Fired clay brick</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1.6 – 2.0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9" name="Text 16"/>
          <p:cNvSpPr txBox="1"/>
          <p:nvPr/>
        </p:nvSpPr>
        <p:spPr>
          <a:xfrm>
            <a:off x="6096000" y="5440680"/>
            <a:ext cx="429768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Mould-volume basis, therefore a lower bound.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20</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Conventional materials</a:t>
            </a:r>
            <a:endParaRPr lang="en-US" sz="2000" dirty="0"/>
          </a:p>
        </p:txBody>
      </p:sp>
      <p:sp>
        <p:nvSpPr>
          <p:cNvPr id="4" name="Text 2"/>
          <p:cNvSpPr txBox="1"/>
          <p:nvPr/>
        </p:nvSpPr>
        <p:spPr>
          <a:xfrm>
            <a:off x="731520" y="1298448"/>
            <a:ext cx="758952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Compressive and flexural strength against interior surface materials</a:t>
            </a:r>
            <a:endParaRPr lang="en-US" sz="1300" dirty="0"/>
          </a:p>
        </p:txBody>
      </p:sp>
      <p:graphicFrame>
        <p:nvGraphicFramePr>
          <p:cNvPr id="5" name="bc1"/>
          <p:cNvGraphicFramePr/>
          <p:nvPr/>
        </p:nvGraphicFramePr>
        <p:xfrm>
          <a:off x="731520" y="1645920"/>
          <a:ext cx="75895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31520" y="5943600"/>
            <a:ext cx="758952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Velasco &amp; Gaona (2011) · Klyosov (2007) · Nemli &amp; Aydın (2007) · Altun (2006)</a:t>
            </a:r>
            <a:endParaRPr lang="en-US" sz="900" dirty="0"/>
          </a:p>
        </p:txBody>
      </p:sp>
      <p:sp>
        <p:nvSpPr>
          <p:cNvPr id="7" name="vr9.51.45"/>
          <p:cNvSpPr/>
          <p:nvPr/>
        </p:nvSpPr>
        <p:spPr>
          <a:xfrm>
            <a:off x="8686800" y="1325880"/>
            <a:ext cx="13716" cy="4572000"/>
          </a:xfrm>
          <a:prstGeom prst="rect">
            <a:avLst/>
          </a:prstGeom>
          <a:solidFill>
            <a:srgbClr val="E4E4E4"/>
          </a:solidFill>
          <a:ln w="12700">
            <a:solidFill>
              <a:srgbClr val="E4E4E4">
                <a:alpha val="0"/>
              </a:srgbClr>
            </a:solidFill>
            <a:prstDash val="solid"/>
          </a:ln>
        </p:spPr>
        <p:txBody>
          <a:bodyPr/>
          <a:lstStyle/>
          <a:p>
            <a:endParaRPr lang="tr-TR"/>
          </a:p>
        </p:txBody>
      </p:sp>
      <p:sp>
        <p:nvSpPr>
          <p:cNvPr id="8" name="Text 5"/>
          <p:cNvSpPr txBox="1"/>
          <p:nvPr/>
        </p:nvSpPr>
        <p:spPr>
          <a:xfrm>
            <a:off x="9144000" y="1371600"/>
            <a:ext cx="2286000" cy="182880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On strength alone this composite is not competitive with engineered wood or stone.</a:t>
            </a:r>
            <a:endParaRPr lang="en-US" sz="1200" dirty="0"/>
          </a:p>
        </p:txBody>
      </p:sp>
      <p:sp>
        <p:nvSpPr>
          <p:cNvPr id="9" name="ru103.6"/>
          <p:cNvSpPr/>
          <p:nvPr/>
        </p:nvSpPr>
        <p:spPr>
          <a:xfrm>
            <a:off x="9144000" y="3291840"/>
            <a:ext cx="228600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0" name="Text 7"/>
          <p:cNvSpPr txBox="1"/>
          <p:nvPr/>
        </p:nvSpPr>
        <p:spPr>
          <a:xfrm>
            <a:off x="9144000" y="3566160"/>
            <a:ext cx="2286000" cy="1645920"/>
          </a:xfrm>
          <a:prstGeom prst="rect">
            <a:avLst/>
          </a:prstGeom>
          <a:noFill/>
          <a:ln/>
        </p:spPr>
        <p:txBody>
          <a:bodyPr wrap="square" lIns="0" tIns="0" rIns="0" bIns="0" rtlCol="0" anchor="t"/>
          <a:lstStyle/>
          <a:p>
            <a:pPr marL="0" indent="0">
              <a:lnSpc>
                <a:spcPts val="1800"/>
              </a:lnSpc>
              <a:buNone/>
            </a:pPr>
            <a:r>
              <a:rPr lang="en-US" sz="1200" dirty="0">
                <a:solidFill>
                  <a:srgbClr val="3C3C3C"/>
                </a:solidFill>
                <a:latin typeface="Calibri" pitchFamily="34" charset="0"/>
                <a:ea typeface="Calibri" pitchFamily="34" charset="-122"/>
                <a:cs typeface="Calibri" pitchFamily="34" charset="-120"/>
              </a:rPr>
              <a:t>It has one sixth the compressive strength of MDF and one twentieth that of travertine.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21</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Bio-based composites</a:t>
            </a:r>
            <a:endParaRPr lang="en-US" sz="2000" dirty="0"/>
          </a:p>
        </p:txBody>
      </p:sp>
      <p:sp>
        <p:nvSpPr>
          <p:cNvPr id="4" name="Text 2"/>
          <p:cNvSpPr txBox="1"/>
          <p:nvPr/>
        </p:nvSpPr>
        <p:spPr>
          <a:xfrm>
            <a:off x="731520" y="1298448"/>
            <a:ext cx="51206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Compressive strength</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5120640" cy="233172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B451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0.145 – 0.452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Hempcrete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0.3 – 0.6</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Arnaud &amp; Gourlay (2012)</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Eggshell-filled PLA</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2 – 5</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Kim &amp; Pal (2010)</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Mineral-filled biocomposite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C3C3C"/>
                          </a:solidFill>
                          <a:latin typeface="Calibri" pitchFamily="34" charset="0"/>
                          <a:ea typeface="Calibri" pitchFamily="34" charset="-122"/>
                          <a:cs typeface="Calibri" pitchFamily="34" charset="-120"/>
                        </a:rPr>
                        <a:t>2.1 – 39.6</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Shah et al. (2016)</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6400800" y="1298448"/>
            <a:ext cx="502920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Elastic modulus, MPa, logarithmic</a:t>
            </a:r>
            <a:endParaRPr lang="en-US" sz="1300" dirty="0"/>
          </a:p>
        </p:txBody>
      </p:sp>
      <p:sp>
        <p:nvSpPr>
          <p:cNvPr id="7" name="vr6.51.42"/>
          <p:cNvSpPr/>
          <p:nvPr/>
        </p:nvSpPr>
        <p:spPr>
          <a:xfrm>
            <a:off x="5943600" y="1298448"/>
            <a:ext cx="13716" cy="2286000"/>
          </a:xfrm>
          <a:prstGeom prst="rect">
            <a:avLst/>
          </a:prstGeom>
          <a:solidFill>
            <a:srgbClr val="E4E4E4"/>
          </a:solidFill>
          <a:ln w="12700">
            <a:solidFill>
              <a:srgbClr val="E4E4E4">
                <a:alpha val="0"/>
              </a:srgbClr>
            </a:solidFill>
            <a:prstDash val="solid"/>
          </a:ln>
        </p:spPr>
        <p:txBody>
          <a:bodyPr/>
          <a:lstStyle/>
          <a:p>
            <a:endParaRPr lang="tr-TR"/>
          </a:p>
        </p:txBody>
      </p:sp>
      <p:sp>
        <p:nvSpPr>
          <p:cNvPr id="8" name="lax"/>
          <p:cNvSpPr/>
          <p:nvPr/>
        </p:nvSpPr>
        <p:spPr>
          <a:xfrm>
            <a:off x="6675120" y="2743200"/>
            <a:ext cx="4462272" cy="18288"/>
          </a:xfrm>
          <a:prstGeom prst="rect">
            <a:avLst/>
          </a:prstGeom>
          <a:solidFill>
            <a:srgbClr val="141414"/>
          </a:solidFill>
          <a:ln w="12700">
            <a:solidFill>
              <a:srgbClr val="141414">
                <a:alpha val="0"/>
              </a:srgbClr>
            </a:solidFill>
            <a:prstDash val="solid"/>
          </a:ln>
        </p:spPr>
        <p:txBody>
          <a:bodyPr/>
          <a:lstStyle/>
          <a:p>
            <a:endParaRPr lang="tr-TR"/>
          </a:p>
        </p:txBody>
      </p:sp>
      <p:sp>
        <p:nvSpPr>
          <p:cNvPr id="9" name="lt1"/>
          <p:cNvSpPr/>
          <p:nvPr/>
        </p:nvSpPr>
        <p:spPr>
          <a:xfrm>
            <a:off x="6675120" y="2743200"/>
            <a:ext cx="13716" cy="128016"/>
          </a:xfrm>
          <a:prstGeom prst="rect">
            <a:avLst/>
          </a:prstGeom>
          <a:solidFill>
            <a:srgbClr val="BDBDBD"/>
          </a:solidFill>
          <a:ln w="12700">
            <a:solidFill>
              <a:srgbClr val="BDBDBD">
                <a:alpha val="0"/>
              </a:srgbClr>
            </a:solidFill>
            <a:prstDash val="solid"/>
          </a:ln>
        </p:spPr>
        <p:txBody>
          <a:bodyPr/>
          <a:lstStyle/>
          <a:p>
            <a:endParaRPr lang="tr-TR"/>
          </a:p>
        </p:txBody>
      </p:sp>
      <p:sp>
        <p:nvSpPr>
          <p:cNvPr id="10" name="Text 7"/>
          <p:cNvSpPr txBox="1"/>
          <p:nvPr/>
        </p:nvSpPr>
        <p:spPr>
          <a:xfrm>
            <a:off x="6263640" y="2889504"/>
            <a:ext cx="822960" cy="201168"/>
          </a:xfrm>
          <a:prstGeom prst="rect">
            <a:avLst/>
          </a:prstGeom>
          <a:noFill/>
          <a:ln/>
        </p:spPr>
        <p:txBody>
          <a:bodyPr wrap="square" lIns="0" tIns="0" rIns="0" bIns="0" rtlCol="0" anchor="ctr"/>
          <a:lstStyle/>
          <a:p>
            <a:pPr marL="0" indent="0" algn="ctr">
              <a:buNone/>
            </a:pPr>
            <a:r>
              <a:rPr lang="en-US" sz="950" dirty="0">
                <a:solidFill>
                  <a:srgbClr val="8C8C8C"/>
                </a:solidFill>
                <a:latin typeface="Calibri" pitchFamily="34" charset="0"/>
                <a:ea typeface="Calibri" pitchFamily="34" charset="-122"/>
                <a:cs typeface="Calibri" pitchFamily="34" charset="-120"/>
              </a:rPr>
              <a:t>1</a:t>
            </a:r>
            <a:endParaRPr lang="en-US" sz="950" dirty="0"/>
          </a:p>
        </p:txBody>
      </p:sp>
      <p:sp>
        <p:nvSpPr>
          <p:cNvPr id="11" name="lt10"/>
          <p:cNvSpPr/>
          <p:nvPr/>
        </p:nvSpPr>
        <p:spPr>
          <a:xfrm>
            <a:off x="7790688" y="2743200"/>
            <a:ext cx="13716" cy="128016"/>
          </a:xfrm>
          <a:prstGeom prst="rect">
            <a:avLst/>
          </a:prstGeom>
          <a:solidFill>
            <a:srgbClr val="BDBDBD"/>
          </a:solidFill>
          <a:ln w="12700">
            <a:solidFill>
              <a:srgbClr val="BDBDBD">
                <a:alpha val="0"/>
              </a:srgbClr>
            </a:solidFill>
            <a:prstDash val="solid"/>
          </a:ln>
        </p:spPr>
        <p:txBody>
          <a:bodyPr/>
          <a:lstStyle/>
          <a:p>
            <a:endParaRPr lang="tr-TR"/>
          </a:p>
        </p:txBody>
      </p:sp>
      <p:sp>
        <p:nvSpPr>
          <p:cNvPr id="12" name="Text 9"/>
          <p:cNvSpPr txBox="1"/>
          <p:nvPr/>
        </p:nvSpPr>
        <p:spPr>
          <a:xfrm>
            <a:off x="7379208" y="2889504"/>
            <a:ext cx="822960" cy="201168"/>
          </a:xfrm>
          <a:prstGeom prst="rect">
            <a:avLst/>
          </a:prstGeom>
          <a:noFill/>
          <a:ln/>
        </p:spPr>
        <p:txBody>
          <a:bodyPr wrap="square" lIns="0" tIns="0" rIns="0" bIns="0" rtlCol="0" anchor="ctr"/>
          <a:lstStyle/>
          <a:p>
            <a:pPr marL="0" indent="0" algn="ctr">
              <a:buNone/>
            </a:pPr>
            <a:r>
              <a:rPr lang="en-US" sz="950" dirty="0">
                <a:solidFill>
                  <a:srgbClr val="8C8C8C"/>
                </a:solidFill>
                <a:latin typeface="Calibri" pitchFamily="34" charset="0"/>
                <a:ea typeface="Calibri" pitchFamily="34" charset="-122"/>
                <a:cs typeface="Calibri" pitchFamily="34" charset="-120"/>
              </a:rPr>
              <a:t>10</a:t>
            </a:r>
            <a:endParaRPr lang="en-US" sz="950" dirty="0"/>
          </a:p>
        </p:txBody>
      </p:sp>
      <p:sp>
        <p:nvSpPr>
          <p:cNvPr id="13" name="lt100"/>
          <p:cNvSpPr/>
          <p:nvPr/>
        </p:nvSpPr>
        <p:spPr>
          <a:xfrm>
            <a:off x="8906256" y="2743200"/>
            <a:ext cx="13716" cy="128016"/>
          </a:xfrm>
          <a:prstGeom prst="rect">
            <a:avLst/>
          </a:prstGeom>
          <a:solidFill>
            <a:srgbClr val="BDBDBD"/>
          </a:solidFill>
          <a:ln w="12700">
            <a:solidFill>
              <a:srgbClr val="BDBDBD">
                <a:alpha val="0"/>
              </a:srgbClr>
            </a:solidFill>
            <a:prstDash val="solid"/>
          </a:ln>
        </p:spPr>
        <p:txBody>
          <a:bodyPr/>
          <a:lstStyle/>
          <a:p>
            <a:endParaRPr lang="tr-TR"/>
          </a:p>
        </p:txBody>
      </p:sp>
      <p:sp>
        <p:nvSpPr>
          <p:cNvPr id="14" name="Text 11"/>
          <p:cNvSpPr txBox="1"/>
          <p:nvPr/>
        </p:nvSpPr>
        <p:spPr>
          <a:xfrm>
            <a:off x="8494776" y="2889504"/>
            <a:ext cx="822960" cy="201168"/>
          </a:xfrm>
          <a:prstGeom prst="rect">
            <a:avLst/>
          </a:prstGeom>
          <a:noFill/>
          <a:ln/>
        </p:spPr>
        <p:txBody>
          <a:bodyPr wrap="square" lIns="0" tIns="0" rIns="0" bIns="0" rtlCol="0" anchor="ctr"/>
          <a:lstStyle/>
          <a:p>
            <a:pPr marL="0" indent="0" algn="ctr">
              <a:buNone/>
            </a:pPr>
            <a:r>
              <a:rPr lang="en-US" sz="950" dirty="0">
                <a:solidFill>
                  <a:srgbClr val="8C8C8C"/>
                </a:solidFill>
                <a:latin typeface="Calibri" pitchFamily="34" charset="0"/>
                <a:ea typeface="Calibri" pitchFamily="34" charset="-122"/>
                <a:cs typeface="Calibri" pitchFamily="34" charset="-120"/>
              </a:rPr>
              <a:t>100</a:t>
            </a:r>
            <a:endParaRPr lang="en-US" sz="950" dirty="0"/>
          </a:p>
        </p:txBody>
      </p:sp>
      <p:sp>
        <p:nvSpPr>
          <p:cNvPr id="15" name="lt1000"/>
          <p:cNvSpPr/>
          <p:nvPr/>
        </p:nvSpPr>
        <p:spPr>
          <a:xfrm>
            <a:off x="10021824" y="2743200"/>
            <a:ext cx="13716" cy="128016"/>
          </a:xfrm>
          <a:prstGeom prst="rect">
            <a:avLst/>
          </a:prstGeom>
          <a:solidFill>
            <a:srgbClr val="BDBDBD"/>
          </a:solidFill>
          <a:ln w="12700">
            <a:solidFill>
              <a:srgbClr val="BDBDBD">
                <a:alpha val="0"/>
              </a:srgbClr>
            </a:solidFill>
            <a:prstDash val="solid"/>
          </a:ln>
        </p:spPr>
        <p:txBody>
          <a:bodyPr/>
          <a:lstStyle/>
          <a:p>
            <a:endParaRPr lang="tr-TR"/>
          </a:p>
        </p:txBody>
      </p:sp>
      <p:sp>
        <p:nvSpPr>
          <p:cNvPr id="16" name="Text 13"/>
          <p:cNvSpPr txBox="1"/>
          <p:nvPr/>
        </p:nvSpPr>
        <p:spPr>
          <a:xfrm>
            <a:off x="9610344" y="2889504"/>
            <a:ext cx="822960" cy="201168"/>
          </a:xfrm>
          <a:prstGeom prst="rect">
            <a:avLst/>
          </a:prstGeom>
          <a:noFill/>
          <a:ln/>
        </p:spPr>
        <p:txBody>
          <a:bodyPr wrap="square" lIns="0" tIns="0" rIns="0" bIns="0" rtlCol="0" anchor="ctr"/>
          <a:lstStyle/>
          <a:p>
            <a:pPr marL="0" indent="0" algn="ctr">
              <a:buNone/>
            </a:pPr>
            <a:r>
              <a:rPr lang="en-US" sz="950" dirty="0">
                <a:solidFill>
                  <a:srgbClr val="8C8C8C"/>
                </a:solidFill>
                <a:latin typeface="Calibri" pitchFamily="34" charset="0"/>
                <a:ea typeface="Calibri" pitchFamily="34" charset="-122"/>
                <a:cs typeface="Calibri" pitchFamily="34" charset="-120"/>
              </a:rPr>
              <a:t>1,000</a:t>
            </a:r>
            <a:endParaRPr lang="en-US" sz="950" dirty="0"/>
          </a:p>
        </p:txBody>
      </p:sp>
      <p:sp>
        <p:nvSpPr>
          <p:cNvPr id="17" name="lt10000"/>
          <p:cNvSpPr/>
          <p:nvPr/>
        </p:nvSpPr>
        <p:spPr>
          <a:xfrm>
            <a:off x="11137392" y="2743200"/>
            <a:ext cx="13716" cy="128016"/>
          </a:xfrm>
          <a:prstGeom prst="rect">
            <a:avLst/>
          </a:prstGeom>
          <a:solidFill>
            <a:srgbClr val="BDBDBD"/>
          </a:solidFill>
          <a:ln w="12700">
            <a:solidFill>
              <a:srgbClr val="BDBDBD">
                <a:alpha val="0"/>
              </a:srgbClr>
            </a:solidFill>
            <a:prstDash val="solid"/>
          </a:ln>
        </p:spPr>
        <p:txBody>
          <a:bodyPr/>
          <a:lstStyle/>
          <a:p>
            <a:endParaRPr lang="tr-TR"/>
          </a:p>
        </p:txBody>
      </p:sp>
      <p:sp>
        <p:nvSpPr>
          <p:cNvPr id="18" name="Text 15"/>
          <p:cNvSpPr txBox="1"/>
          <p:nvPr/>
        </p:nvSpPr>
        <p:spPr>
          <a:xfrm>
            <a:off x="10725912" y="2889504"/>
            <a:ext cx="822960" cy="201168"/>
          </a:xfrm>
          <a:prstGeom prst="rect">
            <a:avLst/>
          </a:prstGeom>
          <a:noFill/>
          <a:ln/>
        </p:spPr>
        <p:txBody>
          <a:bodyPr wrap="square" lIns="0" tIns="0" rIns="0" bIns="0" rtlCol="0" anchor="ctr"/>
          <a:lstStyle/>
          <a:p>
            <a:pPr marL="0" indent="0" algn="ctr">
              <a:buNone/>
            </a:pPr>
            <a:r>
              <a:rPr lang="en-US" sz="950" dirty="0">
                <a:solidFill>
                  <a:srgbClr val="8C8C8C"/>
                </a:solidFill>
                <a:latin typeface="Calibri" pitchFamily="34" charset="0"/>
                <a:ea typeface="Calibri" pitchFamily="34" charset="-122"/>
                <a:cs typeface="Calibri" pitchFamily="34" charset="-120"/>
              </a:rPr>
              <a:t>10,000</a:t>
            </a:r>
            <a:endParaRPr lang="en-US" sz="950" dirty="0"/>
          </a:p>
        </p:txBody>
      </p:sp>
      <p:sp>
        <p:nvSpPr>
          <p:cNvPr id="19" name="lr0"/>
          <p:cNvSpPr/>
          <p:nvPr/>
        </p:nvSpPr>
        <p:spPr>
          <a:xfrm>
            <a:off x="6959894" y="2450592"/>
            <a:ext cx="494975" cy="91440"/>
          </a:xfrm>
          <a:prstGeom prst="rect">
            <a:avLst/>
          </a:prstGeom>
          <a:solidFill>
            <a:srgbClr val="8C8C8C">
              <a:alpha val="55000"/>
            </a:srgbClr>
          </a:solidFill>
          <a:ln w="12700">
            <a:solidFill>
              <a:srgbClr val="8C8C8C">
                <a:alpha val="0"/>
              </a:srgbClr>
            </a:solidFill>
            <a:prstDash val="solid"/>
          </a:ln>
        </p:spPr>
        <p:txBody>
          <a:bodyPr/>
          <a:lstStyle/>
          <a:p>
            <a:endParaRPr lang="tr-TR"/>
          </a:p>
        </p:txBody>
      </p:sp>
      <p:sp>
        <p:nvSpPr>
          <p:cNvPr id="20" name="Text 17"/>
          <p:cNvSpPr txBox="1"/>
          <p:nvPr/>
        </p:nvSpPr>
        <p:spPr>
          <a:xfrm>
            <a:off x="7546309" y="2386584"/>
            <a:ext cx="1188720" cy="219456"/>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Mycelium</a:t>
            </a:r>
            <a:endParaRPr lang="en-US" sz="950" dirty="0"/>
          </a:p>
        </p:txBody>
      </p:sp>
      <p:sp>
        <p:nvSpPr>
          <p:cNvPr id="21" name="lr1"/>
          <p:cNvSpPr/>
          <p:nvPr/>
        </p:nvSpPr>
        <p:spPr>
          <a:xfrm>
            <a:off x="8906256" y="2194560"/>
            <a:ext cx="532261" cy="91440"/>
          </a:xfrm>
          <a:prstGeom prst="rect">
            <a:avLst/>
          </a:prstGeom>
          <a:solidFill>
            <a:srgbClr val="8C8C8C">
              <a:alpha val="55000"/>
            </a:srgbClr>
          </a:solidFill>
          <a:ln w="12700">
            <a:solidFill>
              <a:srgbClr val="8C8C8C">
                <a:alpha val="0"/>
              </a:srgbClr>
            </a:solidFill>
            <a:prstDash val="solid"/>
          </a:ln>
        </p:spPr>
        <p:txBody>
          <a:bodyPr/>
          <a:lstStyle/>
          <a:p>
            <a:endParaRPr lang="tr-TR"/>
          </a:p>
        </p:txBody>
      </p:sp>
      <p:sp>
        <p:nvSpPr>
          <p:cNvPr id="5" name="Text 19"/>
          <p:cNvSpPr txBox="1"/>
          <p:nvPr/>
        </p:nvSpPr>
        <p:spPr>
          <a:xfrm>
            <a:off x="9529957" y="2130552"/>
            <a:ext cx="1188720" cy="219456"/>
          </a:xfrm>
          <a:prstGeom prst="rect">
            <a:avLst/>
          </a:prstGeom>
          <a:noFill/>
          <a:ln/>
        </p:spPr>
        <p:txBody>
          <a:bodyPr wrap="square" lIns="0" tIns="0" rIns="0" bIns="0" rtlCol="0" anchor="ctr"/>
          <a:lstStyle/>
          <a:p>
            <a:pPr marL="0" indent="0">
              <a:buNone/>
            </a:pPr>
            <a:r>
              <a:rPr lang="en-US" sz="950" dirty="0">
                <a:solidFill>
                  <a:srgbClr val="8C8C8C"/>
                </a:solidFill>
                <a:latin typeface="Calibri" pitchFamily="34" charset="0"/>
                <a:ea typeface="Calibri" pitchFamily="34" charset="-122"/>
                <a:cs typeface="Calibri" pitchFamily="34" charset="-120"/>
              </a:rPr>
              <a:t>LDPE</a:t>
            </a:r>
            <a:endParaRPr lang="en-US" sz="950" dirty="0"/>
          </a:p>
        </p:txBody>
      </p:sp>
      <p:sp>
        <p:nvSpPr>
          <p:cNvPr id="23" name="lp0"/>
          <p:cNvSpPr/>
          <p:nvPr/>
        </p:nvSpPr>
        <p:spPr>
          <a:xfrm>
            <a:off x="8960182" y="2692908"/>
            <a:ext cx="100584" cy="100584"/>
          </a:xfrm>
          <a:prstGeom prst="ellipse">
            <a:avLst/>
          </a:prstGeom>
          <a:solidFill>
            <a:srgbClr val="8C8C8C"/>
          </a:solidFill>
          <a:ln w="12700">
            <a:solidFill>
              <a:srgbClr val="8C8C8C">
                <a:alpha val="0"/>
              </a:srgbClr>
            </a:solidFill>
            <a:prstDash val="solid"/>
          </a:ln>
        </p:spPr>
        <p:txBody>
          <a:bodyPr/>
          <a:lstStyle/>
          <a:p>
            <a:endParaRPr lang="tr-TR"/>
          </a:p>
        </p:txBody>
      </p:sp>
      <p:sp>
        <p:nvSpPr>
          <p:cNvPr id="24" name="lp1"/>
          <p:cNvSpPr/>
          <p:nvPr/>
        </p:nvSpPr>
        <p:spPr>
          <a:xfrm>
            <a:off x="9186914" y="2692908"/>
            <a:ext cx="100584" cy="100584"/>
          </a:xfrm>
          <a:prstGeom prst="ellipse">
            <a:avLst/>
          </a:prstGeom>
          <a:solidFill>
            <a:srgbClr val="8C8C8C"/>
          </a:solidFill>
          <a:ln w="12700">
            <a:solidFill>
              <a:srgbClr val="8C8C8C">
                <a:alpha val="0"/>
              </a:srgbClr>
            </a:solidFill>
            <a:prstDash val="solid"/>
          </a:ln>
        </p:spPr>
        <p:txBody>
          <a:bodyPr/>
          <a:lstStyle/>
          <a:p>
            <a:endParaRPr lang="tr-TR"/>
          </a:p>
        </p:txBody>
      </p:sp>
      <p:sp>
        <p:nvSpPr>
          <p:cNvPr id="25" name="lp2"/>
          <p:cNvSpPr/>
          <p:nvPr/>
        </p:nvSpPr>
        <p:spPr>
          <a:xfrm>
            <a:off x="11133276" y="2692908"/>
            <a:ext cx="100584" cy="100584"/>
          </a:xfrm>
          <a:prstGeom prst="ellipse">
            <a:avLst/>
          </a:prstGeom>
          <a:solidFill>
            <a:srgbClr val="8C8C8C"/>
          </a:solidFill>
          <a:ln w="12700">
            <a:solidFill>
              <a:srgbClr val="8C8C8C">
                <a:alpha val="0"/>
              </a:srgbClr>
            </a:solidFill>
            <a:prstDash val="solid"/>
          </a:ln>
        </p:spPr>
        <p:txBody>
          <a:bodyPr/>
          <a:lstStyle/>
          <a:p>
            <a:endParaRPr lang="tr-TR"/>
          </a:p>
        </p:txBody>
      </p:sp>
      <p:sp>
        <p:nvSpPr>
          <p:cNvPr id="26" name="Text 23"/>
          <p:cNvSpPr txBox="1"/>
          <p:nvPr/>
        </p:nvSpPr>
        <p:spPr>
          <a:xfrm>
            <a:off x="9811968" y="3127248"/>
            <a:ext cx="1280160" cy="219456"/>
          </a:xfrm>
          <a:prstGeom prst="rect">
            <a:avLst/>
          </a:prstGeom>
          <a:noFill/>
          <a:ln/>
        </p:spPr>
        <p:txBody>
          <a:bodyPr wrap="square" lIns="0" tIns="0" rIns="0" bIns="0" rtlCol="0" anchor="ctr"/>
          <a:lstStyle/>
          <a:p>
            <a:pPr marL="0" indent="0" algn="r">
              <a:buNone/>
            </a:pPr>
            <a:r>
              <a:rPr lang="en-US" sz="950" dirty="0">
                <a:solidFill>
                  <a:srgbClr val="8C8C8C"/>
                </a:solidFill>
                <a:latin typeface="Calibri" pitchFamily="34" charset="0"/>
                <a:ea typeface="Calibri" pitchFamily="34" charset="-122"/>
                <a:cs typeface="Calibri" pitchFamily="34" charset="-120"/>
              </a:rPr>
              <a:t>Pine</a:t>
            </a:r>
            <a:endParaRPr lang="en-US" sz="950" dirty="0"/>
          </a:p>
        </p:txBody>
      </p:sp>
      <p:sp>
        <p:nvSpPr>
          <p:cNvPr id="27" name="lme"/>
          <p:cNvSpPr/>
          <p:nvPr/>
        </p:nvSpPr>
        <p:spPr>
          <a:xfrm>
            <a:off x="9140002" y="2660904"/>
            <a:ext cx="164592" cy="164592"/>
          </a:xfrm>
          <a:prstGeom prst="ellipse">
            <a:avLst/>
          </a:prstGeom>
          <a:solidFill>
            <a:srgbClr val="B4513A"/>
          </a:solidFill>
          <a:ln w="12700">
            <a:solidFill>
              <a:srgbClr val="B4513A">
                <a:alpha val="0"/>
              </a:srgbClr>
            </a:solidFill>
            <a:prstDash val="solid"/>
          </a:ln>
        </p:spPr>
        <p:txBody>
          <a:bodyPr/>
          <a:lstStyle/>
          <a:p>
            <a:endParaRPr lang="tr-TR"/>
          </a:p>
        </p:txBody>
      </p:sp>
      <p:sp>
        <p:nvSpPr>
          <p:cNvPr id="28" name="lml"/>
          <p:cNvSpPr/>
          <p:nvPr/>
        </p:nvSpPr>
        <p:spPr>
          <a:xfrm>
            <a:off x="9214983" y="2176272"/>
            <a:ext cx="14630" cy="484632"/>
          </a:xfrm>
          <a:prstGeom prst="rect">
            <a:avLst/>
          </a:prstGeom>
          <a:solidFill>
            <a:srgbClr val="B4513A"/>
          </a:solidFill>
          <a:ln w="12700">
            <a:solidFill>
              <a:srgbClr val="B4513A">
                <a:alpha val="0"/>
              </a:srgbClr>
            </a:solidFill>
            <a:prstDash val="solid"/>
          </a:ln>
        </p:spPr>
        <p:txBody>
          <a:bodyPr/>
          <a:lstStyle/>
          <a:p>
            <a:endParaRPr lang="tr-TR"/>
          </a:p>
        </p:txBody>
      </p:sp>
      <p:sp>
        <p:nvSpPr>
          <p:cNvPr id="29" name="Text 26"/>
          <p:cNvSpPr txBox="1"/>
          <p:nvPr/>
        </p:nvSpPr>
        <p:spPr>
          <a:xfrm>
            <a:off x="8262178" y="1920240"/>
            <a:ext cx="1920240" cy="237744"/>
          </a:xfrm>
          <a:prstGeom prst="rect">
            <a:avLst/>
          </a:prstGeom>
          <a:noFill/>
          <a:ln/>
        </p:spPr>
        <p:txBody>
          <a:bodyPr wrap="square" lIns="0" tIns="0" rIns="0" bIns="0" rtlCol="0" anchor="ctr"/>
          <a:lstStyle/>
          <a:p>
            <a:pPr marL="0" indent="0" algn="ctr">
              <a:buNone/>
            </a:pPr>
            <a:r>
              <a:rPr lang="en-US" sz="1100" b="1" dirty="0">
                <a:solidFill>
                  <a:srgbClr val="B4513A"/>
                </a:solidFill>
                <a:latin typeface="Calibri" pitchFamily="34" charset="0"/>
                <a:ea typeface="Calibri" pitchFamily="34" charset="-122"/>
                <a:cs typeface="Calibri" pitchFamily="34" charset="-120"/>
              </a:rPr>
              <a:t>This study  192</a:t>
            </a:r>
            <a:endParaRPr lang="en-US" sz="1100" dirty="0"/>
          </a:p>
        </p:txBody>
      </p:sp>
      <p:sp>
        <p:nvSpPr>
          <p:cNvPr id="30" name="Text 27"/>
          <p:cNvSpPr txBox="1"/>
          <p:nvPr/>
        </p:nvSpPr>
        <p:spPr>
          <a:xfrm>
            <a:off x="6400800" y="3657600"/>
            <a:ext cx="502920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Unlabelled points: soy-based bioplastic 124, flax-fibre PLA 198, pine 11 000.</a:t>
            </a:r>
            <a:endParaRPr lang="en-US" sz="900" dirty="0"/>
          </a:p>
        </p:txBody>
      </p:sp>
      <p:sp>
        <p:nvSpPr>
          <p:cNvPr id="31" name="ru0.84.6"/>
          <p:cNvSpPr/>
          <p:nvPr/>
        </p:nvSpPr>
        <p:spPr>
          <a:xfrm>
            <a:off x="731520" y="420624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32" name="Text 29"/>
          <p:cNvSpPr txBox="1"/>
          <p:nvPr/>
        </p:nvSpPr>
        <p:spPr>
          <a:xfrm>
            <a:off x="731520" y="4434840"/>
            <a:ext cx="10698480" cy="457200"/>
          </a:xfrm>
          <a:prstGeom prst="rect">
            <a:avLst/>
          </a:prstGeom>
          <a:noFill/>
          <a:ln/>
        </p:spPr>
        <p:txBody>
          <a:bodyPr wrap="square" lIns="0" tIns="0" rIns="0" bIns="0" rtlCol="0" anchor="t"/>
          <a:lstStyle/>
          <a:p>
            <a:pPr marL="0" indent="0">
              <a:lnSpc>
                <a:spcPts val="1800"/>
              </a:lnSpc>
              <a:buNone/>
            </a:pPr>
            <a:r>
              <a:rPr lang="en-US" sz="1200" b="1" dirty="0">
                <a:solidFill>
                  <a:srgbClr val="141414"/>
                </a:solidFill>
                <a:latin typeface="Calibri" pitchFamily="34" charset="0"/>
                <a:ea typeface="Calibri" pitchFamily="34" charset="-122"/>
                <a:cs typeface="Calibri" pitchFamily="34" charset="-120"/>
              </a:rPr>
              <a:t>It was cast from water and dried at room temperature, with no oven, no autoclave and no extruder, and it still reaches the stiffness of melt-processed bio-polymers.</a:t>
            </a:r>
            <a:endParaRPr lang="en-US" sz="1200" dirty="0"/>
          </a:p>
        </p:txBody>
      </p:sp>
      <p:sp>
        <p:nvSpPr>
          <p:cNvPr id="33" name="Text 30"/>
          <p:cNvSpPr txBox="1"/>
          <p:nvPr/>
        </p:nvSpPr>
        <p:spPr>
          <a:xfrm>
            <a:off x="731520" y="5029200"/>
            <a:ext cx="1024128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An order of magnitude above the fungal and lime-binder family in compression; wood remains two orders of magnitude above.  ·  Values are reported as published; specimen geometry and test method differ between sources.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9E9E9E"/>
                </a:solidFill>
                <a:latin typeface="Calibri" pitchFamily="34" charset="0"/>
                <a:ea typeface="Calibri" pitchFamily="34" charset="-122"/>
                <a:cs typeface="Calibri" pitchFamily="34" charset="-120"/>
              </a:rPr>
              <a:t>22</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Modulus of resilience</a:t>
            </a:r>
            <a:endParaRPr lang="en-US" sz="2000" dirty="0"/>
          </a:p>
        </p:txBody>
      </p:sp>
      <p:sp>
        <p:nvSpPr>
          <p:cNvPr id="4" name="Text 2"/>
          <p:cNvSpPr txBox="1"/>
          <p:nvPr/>
        </p:nvSpPr>
        <p:spPr>
          <a:xfrm>
            <a:off x="822960" y="1298448"/>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Elastic energy absorbed per unit volume</a:t>
            </a:r>
            <a:endParaRPr lang="en-US" sz="1300" dirty="0"/>
          </a:p>
        </p:txBody>
      </p:sp>
      <p:sp>
        <p:nvSpPr>
          <p:cNvPr id="5" name="vx"/>
          <p:cNvSpPr/>
          <p:nvPr/>
        </p:nvSpPr>
        <p:spPr>
          <a:xfrm>
            <a:off x="822960" y="1920240"/>
            <a:ext cx="18288" cy="2743200"/>
          </a:xfrm>
          <a:prstGeom prst="rect">
            <a:avLst/>
          </a:prstGeom>
          <a:solidFill>
            <a:srgbClr val="5A5A5A"/>
          </a:solidFill>
          <a:ln w="12700">
            <a:solidFill>
              <a:srgbClr val="5A5A5A">
                <a:alpha val="0"/>
              </a:srgbClr>
            </a:solidFill>
            <a:prstDash val="solid"/>
          </a:ln>
        </p:spPr>
        <p:txBody>
          <a:bodyPr/>
          <a:lstStyle/>
          <a:p>
            <a:endParaRPr lang="tr-TR"/>
          </a:p>
        </p:txBody>
      </p:sp>
      <p:sp>
        <p:nvSpPr>
          <p:cNvPr id="6" name="hx"/>
          <p:cNvSpPr/>
          <p:nvPr/>
        </p:nvSpPr>
        <p:spPr>
          <a:xfrm>
            <a:off x="822960" y="4663440"/>
            <a:ext cx="4206240" cy="18288"/>
          </a:xfrm>
          <a:prstGeom prst="rect">
            <a:avLst/>
          </a:prstGeom>
          <a:solidFill>
            <a:srgbClr val="5A5A5A"/>
          </a:solidFill>
          <a:ln w="12700">
            <a:solidFill>
              <a:srgbClr val="5A5A5A">
                <a:alpha val="0"/>
              </a:srgbClr>
            </a:solidFill>
            <a:prstDash val="solid"/>
          </a:ln>
        </p:spPr>
        <p:txBody>
          <a:bodyPr/>
          <a:lstStyle/>
          <a:p>
            <a:endParaRPr lang="tr-TR"/>
          </a:p>
        </p:txBody>
      </p:sp>
      <p:sp>
        <p:nvSpPr>
          <p:cNvPr id="7" name="area"/>
          <p:cNvSpPr/>
          <p:nvPr/>
        </p:nvSpPr>
        <p:spPr>
          <a:xfrm flipH="1">
            <a:off x="841248" y="2697480"/>
            <a:ext cx="2560320" cy="1965960"/>
          </a:xfrm>
          <a:prstGeom prst="rtTriangle">
            <a:avLst/>
          </a:prstGeom>
          <a:solidFill>
            <a:srgbClr val="B4513A">
              <a:alpha val="72000"/>
            </a:srgbClr>
          </a:solidFill>
          <a:ln w="25400">
            <a:solidFill>
              <a:srgbClr val="B4513A"/>
            </a:solidFill>
            <a:prstDash val="solid"/>
          </a:ln>
        </p:spPr>
        <p:txBody>
          <a:bodyPr/>
          <a:lstStyle/>
          <a:p>
            <a:endParaRPr lang="tr-TR"/>
          </a:p>
        </p:txBody>
      </p:sp>
      <p:sp>
        <p:nvSpPr>
          <p:cNvPr id="8" name="Text 6"/>
          <p:cNvSpPr txBox="1"/>
          <p:nvPr/>
        </p:nvSpPr>
        <p:spPr>
          <a:xfrm>
            <a:off x="45720" y="2468880"/>
            <a:ext cx="731520" cy="274320"/>
          </a:xfrm>
          <a:prstGeom prst="rect">
            <a:avLst/>
          </a:prstGeom>
          <a:noFill/>
          <a:ln/>
        </p:spPr>
        <p:txBody>
          <a:bodyPr wrap="square" lIns="0" tIns="0" rIns="0" bIns="0" rtlCol="0" anchor="ctr"/>
          <a:lstStyle/>
          <a:p>
            <a:pPr marL="0" indent="0" algn="r">
              <a:buNone/>
            </a:pPr>
            <a:r>
              <a:rPr lang="en-US" sz="1100" dirty="0">
                <a:solidFill>
                  <a:srgbClr val="9E9E9E"/>
                </a:solidFill>
                <a:latin typeface="Calibri" pitchFamily="34" charset="0"/>
                <a:ea typeface="Calibri" pitchFamily="34" charset="-122"/>
                <a:cs typeface="Calibri" pitchFamily="34" charset="-120"/>
              </a:rPr>
              <a:t>stress</a:t>
            </a:r>
            <a:endParaRPr lang="en-US" sz="1100" dirty="0"/>
          </a:p>
        </p:txBody>
      </p:sp>
      <p:sp>
        <p:nvSpPr>
          <p:cNvPr id="9" name="Text 7"/>
          <p:cNvSpPr txBox="1"/>
          <p:nvPr/>
        </p:nvSpPr>
        <p:spPr>
          <a:xfrm>
            <a:off x="3154680" y="4754880"/>
            <a:ext cx="731520" cy="274320"/>
          </a:xfrm>
          <a:prstGeom prst="rect">
            <a:avLst/>
          </a:prstGeom>
          <a:noFill/>
          <a:ln/>
        </p:spPr>
        <p:txBody>
          <a:bodyPr wrap="square" lIns="0" tIns="0" rIns="0" bIns="0" rtlCol="0" anchor="ctr"/>
          <a:lstStyle/>
          <a:p>
            <a:pPr marL="0" indent="0">
              <a:buNone/>
            </a:pPr>
            <a:r>
              <a:rPr lang="en-US" sz="1100" dirty="0">
                <a:solidFill>
                  <a:srgbClr val="9E9E9E"/>
                </a:solidFill>
                <a:latin typeface="Calibri" pitchFamily="34" charset="0"/>
                <a:ea typeface="Calibri" pitchFamily="34" charset="-122"/>
                <a:cs typeface="Calibri" pitchFamily="34" charset="-120"/>
              </a:rPr>
              <a:t>strain</a:t>
            </a:r>
            <a:endParaRPr lang="en-US" sz="1100" dirty="0"/>
          </a:p>
        </p:txBody>
      </p:sp>
      <p:sp>
        <p:nvSpPr>
          <p:cNvPr id="10" name="Text 8"/>
          <p:cNvSpPr txBox="1"/>
          <p:nvPr/>
        </p:nvSpPr>
        <p:spPr>
          <a:xfrm>
            <a:off x="2057400" y="3886200"/>
            <a:ext cx="6400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Ur</a:t>
            </a:r>
            <a:endParaRPr lang="en-US" sz="1300" dirty="0"/>
          </a:p>
        </p:txBody>
      </p:sp>
      <p:sp>
        <p:nvSpPr>
          <p:cNvPr id="11" name="Text 9"/>
          <p:cNvSpPr txBox="1"/>
          <p:nvPr/>
        </p:nvSpPr>
        <p:spPr>
          <a:xfrm>
            <a:off x="822960" y="5120640"/>
            <a:ext cx="4206240" cy="457200"/>
          </a:xfrm>
          <a:prstGeom prst="rect">
            <a:avLst/>
          </a:prstGeom>
          <a:noFill/>
          <a:ln/>
        </p:spPr>
        <p:txBody>
          <a:bodyPr wrap="square" lIns="0" tIns="0" rIns="0" bIns="0" rtlCol="0" anchor="t"/>
          <a:lstStyle/>
          <a:p>
            <a:pPr marL="0" indent="0">
              <a:lnSpc>
                <a:spcPts val="1250"/>
              </a:lnSpc>
              <a:buNone/>
            </a:pPr>
            <a:r>
              <a:rPr lang="en-US" sz="900" dirty="0">
                <a:solidFill>
                  <a:srgbClr val="8E8E8E"/>
                </a:solidFill>
                <a:latin typeface="Calibri" pitchFamily="34" charset="0"/>
                <a:ea typeface="Calibri" pitchFamily="34" charset="-122"/>
                <a:cs typeface="Calibri" pitchFamily="34" charset="-120"/>
              </a:rPr>
              <a:t>The shaded area is the energy absorbed per unit volume before permanent damage: ½ σ ε, and with ε = σ / E it reduces to the expression at right.</a:t>
            </a:r>
            <a:endParaRPr lang="en-US" sz="900" dirty="0"/>
          </a:p>
        </p:txBody>
      </p:sp>
      <p:sp>
        <p:nvSpPr>
          <p:cNvPr id="12" name="vr6.31.42"/>
          <p:cNvSpPr/>
          <p:nvPr/>
        </p:nvSpPr>
        <p:spPr>
          <a:xfrm>
            <a:off x="5760720" y="1298448"/>
            <a:ext cx="13716" cy="4572000"/>
          </a:xfrm>
          <a:prstGeom prst="rect">
            <a:avLst/>
          </a:prstGeom>
          <a:solidFill>
            <a:srgbClr val="5A5A5A"/>
          </a:solidFill>
          <a:ln w="12700">
            <a:solidFill>
              <a:srgbClr val="5A5A5A">
                <a:alpha val="0"/>
              </a:srgbClr>
            </a:solidFill>
            <a:prstDash val="solid"/>
          </a:ln>
        </p:spPr>
        <p:txBody>
          <a:bodyPr/>
          <a:lstStyle/>
          <a:p>
            <a:endParaRPr lang="tr-TR"/>
          </a:p>
        </p:txBody>
      </p:sp>
      <p:sp>
        <p:nvSpPr>
          <p:cNvPr id="13" name="Text 11"/>
          <p:cNvSpPr txBox="1"/>
          <p:nvPr/>
        </p:nvSpPr>
        <p:spPr>
          <a:xfrm>
            <a:off x="6217920" y="1783080"/>
            <a:ext cx="29260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Ur  =  σ² / 2E</a:t>
            </a:r>
            <a:endParaRPr lang="en-US" sz="2200" dirty="0"/>
          </a:p>
        </p:txBody>
      </p:sp>
      <p:sp>
        <p:nvSpPr>
          <p:cNvPr id="14" name="Text 12"/>
          <p:cNvSpPr txBox="1"/>
          <p:nvPr/>
        </p:nvSpPr>
        <p:spPr>
          <a:xfrm>
            <a:off x="6217920" y="2377440"/>
            <a:ext cx="2926080" cy="502920"/>
          </a:xfrm>
          <a:prstGeom prst="rect">
            <a:avLst/>
          </a:prstGeom>
          <a:noFill/>
          <a:ln/>
        </p:spPr>
        <p:txBody>
          <a:bodyPr wrap="square" lIns="0" tIns="0" rIns="0" bIns="0" rtlCol="0" anchor="ctr"/>
          <a:lstStyle/>
          <a:p>
            <a:pPr marL="0" indent="0">
              <a:buNone/>
            </a:pPr>
            <a:r>
              <a:rPr lang="en-US" sz="2600" b="1" dirty="0">
                <a:solidFill>
                  <a:srgbClr val="B4513A"/>
                </a:solidFill>
                <a:latin typeface="Calibri" pitchFamily="34" charset="0"/>
                <a:ea typeface="Calibri" pitchFamily="34" charset="-122"/>
                <a:cs typeface="Calibri" pitchFamily="34" charset="-120"/>
              </a:rPr>
              <a:t>14.1 kJ/m³</a:t>
            </a:r>
            <a:endParaRPr lang="en-US" sz="2600" dirty="0"/>
          </a:p>
        </p:txBody>
      </p:sp>
      <p:sp>
        <p:nvSpPr>
          <p:cNvPr id="15" name="Text 13"/>
          <p:cNvSpPr txBox="1"/>
          <p:nvPr/>
        </p:nvSpPr>
        <p:spPr>
          <a:xfrm>
            <a:off x="6217920" y="2926080"/>
            <a:ext cx="2926080" cy="457200"/>
          </a:xfrm>
          <a:prstGeom prst="rect">
            <a:avLst/>
          </a:prstGeom>
          <a:noFill/>
          <a:ln/>
        </p:spPr>
        <p:txBody>
          <a:bodyPr wrap="square" lIns="0" tIns="0" rIns="0" bIns="0" rtlCol="0" anchor="t"/>
          <a:lstStyle/>
          <a:p>
            <a:pPr marL="0" indent="0">
              <a:lnSpc>
                <a:spcPts val="1250"/>
              </a:lnSpc>
              <a:buNone/>
            </a:pPr>
            <a:r>
              <a:rPr lang="en-US" sz="900" dirty="0">
                <a:solidFill>
                  <a:srgbClr val="8E8E8E"/>
                </a:solidFill>
                <a:latin typeface="Calibri" pitchFamily="34" charset="0"/>
                <a:ea typeface="Calibri" pitchFamily="34" charset="-122"/>
                <a:cs typeface="Calibri" pitchFamily="34" charset="-120"/>
              </a:rPr>
              <a:t>computed from this study's own σꜰ = 2.325 MPa and Eꜰ = 192 MPa</a:t>
            </a:r>
            <a:endParaRPr lang="en-US" sz="900" dirty="0"/>
          </a:p>
        </p:txBody>
      </p:sp>
      <p:sp>
        <p:nvSpPr>
          <p:cNvPr id="16" name="Text 14"/>
          <p:cNvSpPr txBox="1"/>
          <p:nvPr/>
        </p:nvSpPr>
        <p:spPr>
          <a:xfrm>
            <a:off x="6217920" y="3474720"/>
            <a:ext cx="2926080" cy="82296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Calibri" pitchFamily="34" charset="0"/>
                <a:ea typeface="Calibri" pitchFamily="34" charset="-122"/>
                <a:cs typeface="Calibri" pitchFamily="34" charset="-120"/>
              </a:rPr>
              <a:t>The modulus sits in the denominator.</a:t>
            </a:r>
            <a:endParaRPr lang="en-US" sz="1200" dirty="0"/>
          </a:p>
        </p:txBody>
      </p:sp>
      <p:sp>
        <p:nvSpPr>
          <p:cNvPr id="17" name="Text 15"/>
          <p:cNvSpPr txBox="1"/>
          <p:nvPr/>
        </p:nvSpPr>
        <p:spPr>
          <a:xfrm>
            <a:off x="6217920" y="4480560"/>
            <a:ext cx="2926080" cy="1737360"/>
          </a:xfrm>
          <a:prstGeom prst="rect">
            <a:avLst/>
          </a:prstGeom>
          <a:noFill/>
          <a:ln/>
        </p:spPr>
        <p:txBody>
          <a:bodyPr wrap="square" lIns="0" tIns="0" rIns="0" bIns="0" rtlCol="0" anchor="t"/>
          <a:lstStyle/>
          <a:p>
            <a:pPr marL="0" indent="0">
              <a:lnSpc>
                <a:spcPts val="1800"/>
              </a:lnSpc>
              <a:buNone/>
            </a:pPr>
            <a:r>
              <a:rPr lang="en-US" sz="1200" dirty="0">
                <a:solidFill>
                  <a:srgbClr val="FFFFFF"/>
                </a:solidFill>
                <a:latin typeface="Calibri" pitchFamily="34" charset="0"/>
                <a:ea typeface="Calibri" pitchFamily="34" charset="-122"/>
                <a:cs typeface="Calibri" pitchFamily="34" charset="-120"/>
              </a:rPr>
              <a:t>Strength records the load at which a material stops performing. It does not record whether failure is then graceful or catastrophic.</a:t>
            </a:r>
            <a:endParaRPr lang="en-US" sz="1200" dirty="0"/>
          </a:p>
        </p:txBody>
      </p:sp>
      <p:sp>
        <p:nvSpPr>
          <p:cNvPr id="18" name="Text 16"/>
          <p:cNvSpPr txBox="1"/>
          <p:nvPr/>
        </p:nvSpPr>
        <p:spPr>
          <a:xfrm>
            <a:off x="9509760" y="1298448"/>
            <a:ext cx="19202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p>
        </p:txBody>
      </p:sp>
      <p:sp>
        <p:nvSpPr>
          <p:cNvPr id="19" name="Text 17"/>
          <p:cNvSpPr txBox="1"/>
          <p:nvPr/>
        </p:nvSpPr>
        <p:spPr>
          <a:xfrm>
            <a:off x="9509760" y="1691640"/>
            <a:ext cx="1920240" cy="2377440"/>
          </a:xfrm>
          <a:prstGeom prst="rect">
            <a:avLst/>
          </a:prstGeom>
          <a:noFill/>
          <a:ln/>
        </p:spPr>
        <p:txBody>
          <a:bodyPr wrap="square" lIns="0" tIns="0" rIns="0" bIns="0" rtlCol="0" anchor="t"/>
          <a:lstStyle/>
          <a:p>
            <a:pPr marL="0" indent="0">
              <a:lnSpc>
                <a:spcPts val="1750"/>
              </a:lnSpc>
              <a:buNone/>
            </a:pPr>
            <a:r>
              <a:rPr lang="en-US" sz="1150" dirty="0">
                <a:solidFill>
                  <a:srgbClr val="FFFFFF"/>
                </a:solidFill>
                <a:latin typeface="Calibri" pitchFamily="34" charset="0"/>
                <a:ea typeface="Calibri" pitchFamily="34" charset="-122"/>
                <a:cs typeface="Calibri" pitchFamily="34" charset="-120"/>
              </a:rPr>
              <a:t>A comparative table cannot be assembled, because the literature reports strength and modulus in separate studies.</a:t>
            </a:r>
            <a:endParaRPr lang="en-US" sz="1150" dirty="0"/>
          </a:p>
        </p:txBody>
      </p:sp>
      <p:sp>
        <p:nvSpPr>
          <p:cNvPr id="20" name="Text 18"/>
          <p:cNvSpPr txBox="1"/>
          <p:nvPr/>
        </p:nvSpPr>
        <p:spPr>
          <a:xfrm>
            <a:off x="822960" y="6263640"/>
            <a:ext cx="10149840" cy="457200"/>
          </a:xfrm>
          <a:prstGeom prst="rect">
            <a:avLst/>
          </a:prstGeom>
          <a:noFill/>
          <a:ln/>
        </p:spPr>
        <p:txBody>
          <a:bodyPr wrap="square" lIns="0" tIns="0" rIns="0" bIns="0" rtlCol="0" anchor="t"/>
          <a:lstStyle/>
          <a:p>
            <a:pPr marL="0" indent="0">
              <a:lnSpc>
                <a:spcPts val="1250"/>
              </a:lnSpc>
              <a:buNone/>
            </a:pPr>
            <a:r>
              <a:rPr lang="en-US" sz="900" dirty="0">
                <a:solidFill>
                  <a:srgbClr val="8E8E8E"/>
                </a:solidFill>
                <a:latin typeface="Calibri" pitchFamily="34" charset="0"/>
                <a:ea typeface="Calibri" pitchFamily="34" charset="-122"/>
                <a:cs typeface="Calibri" pitchFamily="34" charset="-120"/>
              </a:rPr>
              <a:t>Resilience as a property of systems that absorb disturbance and retain function, after Holling (1973).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23</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Application envelope</a:t>
            </a:r>
            <a:endParaRPr lang="en-US" sz="2000" dirty="0"/>
          </a:p>
        </p:txBody>
      </p:sp>
      <p:sp>
        <p:nvSpPr>
          <p:cNvPr id="4" name="Text 2"/>
          <p:cNvSpPr txBox="1"/>
          <p:nvPr/>
        </p:nvSpPr>
        <p:spPr>
          <a:xfrm>
            <a:off x="731520" y="1298448"/>
            <a:ext cx="40233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Modular proposal derived from the measurements</a:t>
            </a:r>
            <a:endParaRPr lang="en-US" sz="1300" dirty="0"/>
          </a:p>
        </p:txBody>
      </p:sp>
      <p:pic>
        <p:nvPicPr>
          <p:cNvPr id="5" name="ren" descr="/home/user/sanat-ve-mekan/konferans-bildirisi/03-gorseller/12-ic-mekan-render.jpeg"/>
          <p:cNvPicPr>
            <a:picLocks noChangeAspect="1"/>
          </p:cNvPicPr>
          <p:nvPr/>
        </p:nvPicPr>
        <p:blipFill>
          <a:blip r:embed="rId3"/>
          <a:stretch>
            <a:fillRect/>
          </a:stretch>
        </p:blipFill>
        <p:spPr>
          <a:xfrm>
            <a:off x="731520" y="1664208"/>
            <a:ext cx="4206240" cy="3447288"/>
          </a:xfrm>
          <a:prstGeom prst="rect">
            <a:avLst/>
          </a:prstGeom>
        </p:spPr>
      </p:pic>
      <p:sp>
        <p:nvSpPr>
          <p:cNvPr id="6" name="Text 3"/>
          <p:cNvSpPr txBox="1"/>
          <p:nvPr/>
        </p:nvSpPr>
        <p:spPr>
          <a:xfrm>
            <a:off x="731520" y="5230368"/>
            <a:ext cx="420624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Demountable modules on a reversible fixing, replaceable one unit at a time.</a:t>
            </a:r>
            <a:endParaRPr lang="en-US" sz="900" dirty="0"/>
          </a:p>
        </p:txBody>
      </p:sp>
      <p:sp>
        <p:nvSpPr>
          <p:cNvPr id="7" name="vr5.61.42"/>
          <p:cNvSpPr/>
          <p:nvPr/>
        </p:nvSpPr>
        <p:spPr>
          <a:xfrm>
            <a:off x="5120640" y="1298448"/>
            <a:ext cx="13716" cy="3657600"/>
          </a:xfrm>
          <a:prstGeom prst="rect">
            <a:avLst/>
          </a:prstGeom>
          <a:solidFill>
            <a:srgbClr val="E4E4E4"/>
          </a:solidFill>
          <a:ln w="12700">
            <a:solidFill>
              <a:srgbClr val="E4E4E4">
                <a:alpha val="0"/>
              </a:srgbClr>
            </a:solidFill>
            <a:prstDash val="solid"/>
          </a:ln>
        </p:spPr>
        <p:txBody>
          <a:bodyPr/>
          <a:lstStyle/>
          <a:p>
            <a:endParaRPr lang="tr-TR"/>
          </a:p>
        </p:txBody>
      </p:sp>
      <p:sp>
        <p:nvSpPr>
          <p:cNvPr id="8" name="Text 5"/>
          <p:cNvSpPr txBox="1"/>
          <p:nvPr/>
        </p:nvSpPr>
        <p:spPr>
          <a:xfrm>
            <a:off x="5577840" y="1298448"/>
            <a:ext cx="58521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Conditions of use, each traced to a measured result</a:t>
            </a:r>
            <a:endParaRPr lang="en-US" sz="1300" dirty="0"/>
          </a:p>
        </p:txBody>
      </p:sp>
      <p:sp>
        <p:nvSpPr>
          <p:cNvPr id="9" name="Text 6"/>
          <p:cNvSpPr txBox="1"/>
          <p:nvPr/>
        </p:nvSpPr>
        <p:spPr>
          <a:xfrm>
            <a:off x="5577840" y="1737360"/>
            <a:ext cx="58521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Non-loadbearing surfaces</a:t>
            </a:r>
            <a:endParaRPr lang="en-US" sz="1300" dirty="0"/>
          </a:p>
        </p:txBody>
      </p:sp>
      <p:sp>
        <p:nvSpPr>
          <p:cNvPr id="10" name="Text 7"/>
          <p:cNvSpPr txBox="1"/>
          <p:nvPr/>
        </p:nvSpPr>
        <p:spPr>
          <a:xfrm>
            <a:off x="5577840" y="2039112"/>
            <a:ext cx="5852160" cy="365760"/>
          </a:xfrm>
          <a:prstGeom prst="rect">
            <a:avLst/>
          </a:prstGeom>
          <a:noFill/>
          <a:ln/>
        </p:spPr>
        <p:txBody>
          <a:bodyPr wrap="square" lIns="0" tIns="0" rIns="0" bIns="0" rtlCol="0" anchor="ctr"/>
          <a:lstStyle/>
          <a:p>
            <a:pPr marL="0" indent="0">
              <a:buNone/>
            </a:pPr>
            <a:r>
              <a:rPr lang="en-US" sz="1150" dirty="0">
                <a:solidFill>
                  <a:srgbClr val="8C8C8C"/>
                </a:solidFill>
                <a:latin typeface="Calibri" pitchFamily="34" charset="0"/>
                <a:ea typeface="Calibri" pitchFamily="34" charset="-122"/>
                <a:cs typeface="Calibri" pitchFamily="34" charset="-120"/>
              </a:rPr>
              <a:t>self-weight and handling loads only; σᴄ = 4.1 MPa</a:t>
            </a:r>
            <a:endParaRPr lang="en-US" sz="1150" dirty="0"/>
          </a:p>
        </p:txBody>
      </p:sp>
      <p:sp>
        <p:nvSpPr>
          <p:cNvPr id="11" name="ru6.12.62"/>
          <p:cNvSpPr/>
          <p:nvPr/>
        </p:nvSpPr>
        <p:spPr>
          <a:xfrm>
            <a:off x="5577840" y="2395728"/>
            <a:ext cx="585216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2" name="Text 9"/>
          <p:cNvSpPr txBox="1"/>
          <p:nvPr/>
        </p:nvSpPr>
        <p:spPr>
          <a:xfrm>
            <a:off x="5577840" y="2542032"/>
            <a:ext cx="58521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Dry interiors</a:t>
            </a:r>
            <a:endParaRPr lang="en-US" sz="1300" dirty="0"/>
          </a:p>
        </p:txBody>
      </p:sp>
      <p:sp>
        <p:nvSpPr>
          <p:cNvPr id="13" name="Text 10"/>
          <p:cNvSpPr txBox="1"/>
          <p:nvPr/>
        </p:nvSpPr>
        <p:spPr>
          <a:xfrm>
            <a:off x="5577840" y="2843784"/>
            <a:ext cx="5852160" cy="365760"/>
          </a:xfrm>
          <a:prstGeom prst="rect">
            <a:avLst/>
          </a:prstGeom>
          <a:noFill/>
          <a:ln/>
        </p:spPr>
        <p:txBody>
          <a:bodyPr wrap="square" lIns="0" tIns="0" rIns="0" bIns="0" rtlCol="0" anchor="ctr"/>
          <a:lstStyle/>
          <a:p>
            <a:pPr marL="0" indent="0">
              <a:buNone/>
            </a:pPr>
            <a:r>
              <a:rPr lang="en-US" sz="1150" dirty="0">
                <a:solidFill>
                  <a:srgbClr val="8C8C8C"/>
                </a:solidFill>
                <a:latin typeface="Calibri" pitchFamily="34" charset="0"/>
                <a:ea typeface="Calibri" pitchFamily="34" charset="-122"/>
                <a:cs typeface="Calibri" pitchFamily="34" charset="-120"/>
              </a:rPr>
              <a:t>not wet rooms, not façades; absorption depends on coating integrity</a:t>
            </a:r>
            <a:endParaRPr lang="en-US" sz="1150" dirty="0"/>
          </a:p>
        </p:txBody>
      </p:sp>
      <p:sp>
        <p:nvSpPr>
          <p:cNvPr id="14" name="ru6.13.5"/>
          <p:cNvSpPr/>
          <p:nvPr/>
        </p:nvSpPr>
        <p:spPr>
          <a:xfrm>
            <a:off x="5577840" y="3200400"/>
            <a:ext cx="585216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5" name="Text 12"/>
          <p:cNvSpPr txBox="1"/>
          <p:nvPr/>
        </p:nvSpPr>
        <p:spPr>
          <a:xfrm>
            <a:off x="5577840" y="3346704"/>
            <a:ext cx="58521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Away from ignition sources</a:t>
            </a:r>
            <a:endParaRPr lang="en-US" sz="1300" dirty="0"/>
          </a:p>
        </p:txBody>
      </p:sp>
      <p:sp>
        <p:nvSpPr>
          <p:cNvPr id="16" name="Text 13"/>
          <p:cNvSpPr txBox="1"/>
          <p:nvPr/>
        </p:nvSpPr>
        <p:spPr>
          <a:xfrm>
            <a:off x="5577840" y="3648456"/>
            <a:ext cx="5852160" cy="365760"/>
          </a:xfrm>
          <a:prstGeom prst="rect">
            <a:avLst/>
          </a:prstGeom>
          <a:noFill/>
          <a:ln/>
        </p:spPr>
        <p:txBody>
          <a:bodyPr wrap="square" lIns="0" tIns="0" rIns="0" bIns="0" rtlCol="0" anchor="ctr"/>
          <a:lstStyle/>
          <a:p>
            <a:pPr marL="0" indent="0">
              <a:buNone/>
            </a:pPr>
            <a:r>
              <a:rPr lang="en-US" sz="1150" dirty="0">
                <a:solidFill>
                  <a:srgbClr val="8C8C8C"/>
                </a:solidFill>
                <a:latin typeface="Calibri" pitchFamily="34" charset="0"/>
                <a:ea typeface="Calibri" pitchFamily="34" charset="-122"/>
                <a:cs typeface="Calibri" pitchFamily="34" charset="-120"/>
              </a:rPr>
              <a:t>self-extinguishing, but unclassified for reaction to fire</a:t>
            </a:r>
            <a:endParaRPr lang="en-US" sz="1150" dirty="0"/>
          </a:p>
        </p:txBody>
      </p:sp>
      <p:sp>
        <p:nvSpPr>
          <p:cNvPr id="17" name="ru6.14.38"/>
          <p:cNvSpPr/>
          <p:nvPr/>
        </p:nvSpPr>
        <p:spPr>
          <a:xfrm>
            <a:off x="5577840" y="4005072"/>
            <a:ext cx="585216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18" name="Text 15"/>
          <p:cNvSpPr txBox="1"/>
          <p:nvPr/>
        </p:nvSpPr>
        <p:spPr>
          <a:xfrm>
            <a:off x="5577840" y="4151376"/>
            <a:ext cx="585216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Modular rather than sheet</a:t>
            </a:r>
            <a:endParaRPr lang="en-US" sz="1300" dirty="0"/>
          </a:p>
        </p:txBody>
      </p:sp>
      <p:sp>
        <p:nvSpPr>
          <p:cNvPr id="19" name="Text 16"/>
          <p:cNvSpPr txBox="1"/>
          <p:nvPr/>
        </p:nvSpPr>
        <p:spPr>
          <a:xfrm>
            <a:off x="5577840" y="4453128"/>
            <a:ext cx="5852160" cy="365760"/>
          </a:xfrm>
          <a:prstGeom prst="rect">
            <a:avLst/>
          </a:prstGeom>
          <a:noFill/>
          <a:ln/>
        </p:spPr>
        <p:txBody>
          <a:bodyPr wrap="square" lIns="0" tIns="0" rIns="0" bIns="0" rtlCol="0" anchor="ctr"/>
          <a:lstStyle/>
          <a:p>
            <a:pPr marL="0" indent="0">
              <a:buNone/>
            </a:pPr>
            <a:r>
              <a:rPr lang="en-US" sz="1150" dirty="0">
                <a:solidFill>
                  <a:srgbClr val="8C8C8C"/>
                </a:solidFill>
                <a:latin typeface="Calibri" pitchFamily="34" charset="0"/>
                <a:ea typeface="Calibri" pitchFamily="34" charset="-122"/>
                <a:cs typeface="Calibri" pitchFamily="34" charset="-120"/>
              </a:rPr>
              <a:t>damage is replaced one unit at a time</a:t>
            </a:r>
            <a:endParaRPr lang="en-US" sz="1150" dirty="0"/>
          </a:p>
        </p:txBody>
      </p:sp>
      <p:sp>
        <p:nvSpPr>
          <p:cNvPr id="20" name="ru6.15.5"/>
          <p:cNvSpPr/>
          <p:nvPr/>
        </p:nvSpPr>
        <p:spPr>
          <a:xfrm>
            <a:off x="5577840" y="5029200"/>
            <a:ext cx="585216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21" name="Text 18"/>
          <p:cNvSpPr txBox="1"/>
          <p:nvPr/>
        </p:nvSpPr>
        <p:spPr>
          <a:xfrm>
            <a:off x="5577840" y="5212080"/>
            <a:ext cx="585216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Every constituent, the shellac included, is biodegradable; reversible fixing recovers the module intact. What is displaced is quarried limestone.</a:t>
            </a:r>
            <a:endParaRPr lang="en-US" sz="900" dirty="0"/>
          </a:p>
        </p:txBody>
      </p:sp>
      <p:sp>
        <p:nvSpPr>
          <p:cNvPr id="22" name="Text 19"/>
          <p:cNvSpPr txBox="1"/>
          <p:nvPr/>
        </p:nvSpPr>
        <p:spPr>
          <a:xfrm>
            <a:off x="731520" y="5715000"/>
            <a:ext cx="4206240" cy="822960"/>
          </a:xfrm>
          <a:prstGeom prst="rect">
            <a:avLst/>
          </a:prstGeom>
          <a:noFill/>
          <a:ln/>
        </p:spPr>
        <p:txBody>
          <a:bodyPr wrap="square" lIns="0" tIns="0" rIns="0" bIns="0" rtlCol="0" anchor="t"/>
          <a:lstStyle/>
          <a:p>
            <a:pPr marL="0" indent="0">
              <a:lnSpc>
                <a:spcPts val="1750"/>
              </a:lnSpc>
              <a:buNone/>
            </a:pPr>
            <a:r>
              <a:rPr lang="en-US" sz="1150" dirty="0">
                <a:solidFill>
                  <a:srgbClr val="3C3C3C"/>
                </a:solidFill>
                <a:latin typeface="Calibri" pitchFamily="34" charset="0"/>
                <a:ea typeface="Calibri" pitchFamily="34" charset="-122"/>
                <a:cs typeface="Calibri" pitchFamily="34" charset="-120"/>
              </a:rPr>
              <a:t>No life-cycle assessment was carried out, so these are qualitative potentials rather than quantified claims.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24</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Limitations and further work</a:t>
            </a:r>
            <a:endParaRPr lang="en-US" sz="2000" dirty="0"/>
          </a:p>
        </p:txBody>
      </p:sp>
      <p:sp>
        <p:nvSpPr>
          <p:cNvPr id="4" name="Text 2"/>
          <p:cNvSpPr txBox="1"/>
          <p:nvPr/>
        </p:nvSpPr>
        <p:spPr>
          <a:xfrm>
            <a:off x="731520" y="1298448"/>
            <a:ext cx="1069848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Each limitation, and the experiment that resolves it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664208"/>
          <a:ext cx="10698480" cy="3712464"/>
        </p:xfrm>
        <a:graphic>
          <a:graphicData uri="http://schemas.openxmlformats.org/drawingml/2006/table">
            <a:tbl>
              <a:tblPr/>
              <a:tblGrid>
                <a:gridCol w="57607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530352">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Limitation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marL="0" indent="0" algn="ctr">
                        <a:buNone/>
                      </a:pPr>
                      <a:r>
                        <a:rPr lang="en-US" sz="1050" b="1" dirty="0">
                          <a:solidFill>
                            <a:srgbClr val="141414"/>
                          </a:solidFill>
                          <a:latin typeface="Calibri" pitchFamily="34" charset="0"/>
                          <a:ea typeface="Calibri" pitchFamily="34" charset="-122"/>
                          <a:cs typeface="Calibri" pitchFamily="34" charset="-120"/>
                        </a:rPr>
                        <a:t>Resolved by</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extLst>
                  <a:ext uri="{0D108BD9-81ED-4DB2-BD59-A6C34878D82A}">
                    <a16:rowId xmlns:a16="http://schemas.microsoft.com/office/drawing/2014/main" val="10000"/>
                  </a:ext>
                </a:extLst>
              </a:tr>
              <a:tr h="530352">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No dispersion data — individual specimen values not retained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Repeat the series with individual values retained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Compressive strain assumed from observation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Instrument the strain; measure the curve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Shrinkage unquantified, so density is a lower bound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Record post-drying geometry</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Kerfed section calculated as a solid rectangle</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Test an un-kerfed section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Flexural series confounded — glycerol and solids moved together</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B4513A"/>
                          </a:solidFill>
                          <a:latin typeface="Calibri" pitchFamily="34" charset="0"/>
                          <a:ea typeface="Calibri" pitchFamily="34" charset="-122"/>
                          <a:cs typeface="Calibri" pitchFamily="34" charset="-120"/>
                        </a:rPr>
                        <a:t>Vary glycerol at constant solids concentration</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050" dirty="0">
                          <a:solidFill>
                            <a:srgbClr val="3C3C3C"/>
                          </a:solidFill>
                          <a:latin typeface="Calibri" pitchFamily="34" charset="0"/>
                          <a:ea typeface="Calibri" pitchFamily="34" charset="-122"/>
                          <a:cs typeface="Calibri" pitchFamily="34" charset="-120"/>
                        </a:rPr>
                        <a:t>Durability, fire classification and life-cycle assessment untested</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8C8C8C"/>
                          </a:solidFill>
                          <a:latin typeface="Calibri" pitchFamily="34" charset="0"/>
                          <a:ea typeface="Calibri" pitchFamily="34" charset="-122"/>
                          <a:cs typeface="Calibri" pitchFamily="34" charset="-120"/>
                        </a:rPr>
                        <a:t>Outside this paper; named as further work</a:t>
                      </a:r>
                      <a:endParaRPr lang="en-US" sz="1050" dirty="0">
                        <a:latin typeface="Calibri" charset="0"/>
                        <a:ea typeface="Calibri" charset="0"/>
                        <a:cs typeface="Calibri" charset="0"/>
                      </a:endParaRPr>
                    </a:p>
                  </a:txBody>
                  <a:tcPr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u0.86.1"/>
          <p:cNvSpPr/>
          <p:nvPr/>
        </p:nvSpPr>
        <p:spPr>
          <a:xfrm>
            <a:off x="731520" y="5577840"/>
            <a:ext cx="10698480" cy="9144"/>
          </a:xfrm>
          <a:prstGeom prst="rect">
            <a:avLst/>
          </a:prstGeom>
          <a:solidFill>
            <a:srgbClr val="E4E4E4"/>
          </a:solidFill>
          <a:ln w="12700">
            <a:solidFill>
              <a:srgbClr val="E4E4E4">
                <a:alpha val="0"/>
              </a:srgbClr>
            </a:solidFill>
            <a:prstDash val="solid"/>
          </a:ln>
        </p:spPr>
        <p:txBody>
          <a:bodyPr/>
          <a:lstStyle/>
          <a:p>
            <a:endParaRPr lang="tr-TR"/>
          </a:p>
        </p:txBody>
      </p:sp>
      <p:sp>
        <p:nvSpPr>
          <p:cNvPr id="7" name="Text 4"/>
          <p:cNvSpPr txBox="1"/>
          <p:nvPr/>
        </p:nvSpPr>
        <p:spPr>
          <a:xfrm>
            <a:off x="731520" y="5760720"/>
            <a:ext cx="10241280" cy="457200"/>
          </a:xfrm>
          <a:prstGeom prst="rect">
            <a:avLst/>
          </a:prstGeom>
          <a:noFill/>
          <a:ln/>
        </p:spPr>
        <p:txBody>
          <a:bodyPr wrap="square" lIns="0" tIns="0" rIns="0" bIns="0" rtlCol="0" anchor="t"/>
          <a:lstStyle/>
          <a:p>
            <a:pPr marL="0" indent="0">
              <a:lnSpc>
                <a:spcPts val="1800"/>
              </a:lnSpc>
              <a:buNone/>
            </a:pPr>
            <a:r>
              <a:rPr lang="en-US" sz="1200" b="1" i="1" dirty="0">
                <a:solidFill>
                  <a:srgbClr val="141414"/>
                </a:solidFill>
                <a:latin typeface="Calibri" pitchFamily="34" charset="0"/>
                <a:ea typeface="Calibri" pitchFamily="34" charset="-122"/>
                <a:cs typeface="Calibri" pitchFamily="34" charset="-120"/>
              </a:rPr>
              <a:t>Every value reported here is a lower bound.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9E9E9E"/>
                </a:solidFill>
                <a:latin typeface="Calibri" pitchFamily="34" charset="0"/>
                <a:ea typeface="Calibri" pitchFamily="34" charset="-122"/>
                <a:cs typeface="Calibri" pitchFamily="34" charset="-120"/>
              </a:rPr>
              <a:t>25</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Conclusions</a:t>
            </a:r>
            <a:endParaRPr lang="en-US" sz="2000" dirty="0"/>
          </a:p>
        </p:txBody>
      </p:sp>
      <p:sp>
        <p:nvSpPr>
          <p:cNvPr id="4" name="Text 2"/>
          <p:cNvSpPr txBox="1"/>
          <p:nvPr/>
        </p:nvSpPr>
        <p:spPr>
          <a:xfrm>
            <a:off x="731520" y="1728216"/>
            <a:ext cx="50292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1371600" y="1691640"/>
            <a:ext cx="66751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 protocol that can be repeated</a:t>
            </a:r>
            <a:endParaRPr lang="en-US" sz="1300" dirty="0"/>
          </a:p>
        </p:txBody>
      </p:sp>
      <p:sp>
        <p:nvSpPr>
          <p:cNvPr id="6" name="Text 4"/>
          <p:cNvSpPr txBox="1"/>
          <p:nvPr/>
        </p:nvSpPr>
        <p:spPr>
          <a:xfrm>
            <a:off x="8229600" y="1709928"/>
            <a:ext cx="3200400" cy="365760"/>
          </a:xfrm>
          <a:prstGeom prst="rect">
            <a:avLst/>
          </a:prstGeom>
          <a:noFill/>
          <a:ln/>
        </p:spPr>
        <p:txBody>
          <a:bodyPr wrap="square" lIns="0" tIns="0" rIns="0" bIns="0" rtlCol="0" anchor="ctr"/>
          <a:lstStyle/>
          <a:p>
            <a:pPr marL="0" indent="0">
              <a:buNone/>
            </a:pPr>
            <a:r>
              <a:rPr lang="en-US" sz="1200" dirty="0">
                <a:solidFill>
                  <a:srgbClr val="9E9E9E"/>
                </a:solidFill>
                <a:latin typeface="Calibri" pitchFamily="34" charset="0"/>
                <a:ea typeface="Calibri" pitchFamily="34" charset="-122"/>
                <a:cs typeface="Calibri" pitchFamily="34" charset="-120"/>
              </a:rPr>
              <a:t>every production parameter reported</a:t>
            </a:r>
            <a:endParaRPr lang="en-US" sz="1200" dirty="0"/>
          </a:p>
        </p:txBody>
      </p:sp>
      <p:sp>
        <p:nvSpPr>
          <p:cNvPr id="7" name="ru0.82.47"/>
          <p:cNvSpPr/>
          <p:nvPr/>
        </p:nvSpPr>
        <p:spPr>
          <a:xfrm>
            <a:off x="731520" y="2258568"/>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8" name="Text 6"/>
          <p:cNvSpPr txBox="1"/>
          <p:nvPr/>
        </p:nvSpPr>
        <p:spPr>
          <a:xfrm>
            <a:off x="731520" y="2569464"/>
            <a:ext cx="50292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371600" y="2532888"/>
            <a:ext cx="66751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Packing density governs compressive strength</a:t>
            </a:r>
            <a:endParaRPr lang="en-US" sz="1300" dirty="0"/>
          </a:p>
        </p:txBody>
      </p:sp>
      <p:sp>
        <p:nvSpPr>
          <p:cNvPr id="10" name="Text 8"/>
          <p:cNvSpPr txBox="1"/>
          <p:nvPr/>
        </p:nvSpPr>
        <p:spPr>
          <a:xfrm>
            <a:off x="8229600" y="2551176"/>
            <a:ext cx="3200400" cy="365760"/>
          </a:xfrm>
          <a:prstGeom prst="rect">
            <a:avLst/>
          </a:prstGeom>
          <a:noFill/>
          <a:ln/>
        </p:spPr>
        <p:txBody>
          <a:bodyPr wrap="square" lIns="0" tIns="0" rIns="0" bIns="0" rtlCol="0" anchor="ctr"/>
          <a:lstStyle/>
          <a:p>
            <a:pPr marL="0" indent="0">
              <a:buNone/>
            </a:pPr>
            <a:r>
              <a:rPr lang="en-US" sz="1200" dirty="0">
                <a:solidFill>
                  <a:srgbClr val="9E9E9E"/>
                </a:solidFill>
                <a:latin typeface="Calibri" pitchFamily="34" charset="0"/>
                <a:ea typeface="Calibri" pitchFamily="34" charset="-122"/>
                <a:cs typeface="Calibri" pitchFamily="34" charset="-120"/>
              </a:rPr>
              <a:t>not mineral content</a:t>
            </a:r>
            <a:endParaRPr lang="en-US" sz="1200" dirty="0"/>
          </a:p>
        </p:txBody>
      </p:sp>
      <p:sp>
        <p:nvSpPr>
          <p:cNvPr id="11" name="ru0.83.39"/>
          <p:cNvSpPr/>
          <p:nvPr/>
        </p:nvSpPr>
        <p:spPr>
          <a:xfrm>
            <a:off x="731520" y="3099816"/>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12" name="Text 10"/>
          <p:cNvSpPr txBox="1"/>
          <p:nvPr/>
        </p:nvSpPr>
        <p:spPr>
          <a:xfrm>
            <a:off x="731520" y="3410712"/>
            <a:ext cx="50292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371600" y="3374136"/>
            <a:ext cx="66751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Plasticiser content sets brittle or ductile response</a:t>
            </a:r>
            <a:endParaRPr lang="en-US" sz="1300" dirty="0"/>
          </a:p>
        </p:txBody>
      </p:sp>
      <p:sp>
        <p:nvSpPr>
          <p:cNvPr id="14" name="Text 12"/>
          <p:cNvSpPr txBox="1"/>
          <p:nvPr/>
        </p:nvSpPr>
        <p:spPr>
          <a:xfrm>
            <a:off x="8229600" y="3392424"/>
            <a:ext cx="3200400" cy="365760"/>
          </a:xfrm>
          <a:prstGeom prst="rect">
            <a:avLst/>
          </a:prstGeom>
          <a:noFill/>
          <a:ln/>
        </p:spPr>
        <p:txBody>
          <a:bodyPr wrap="square" lIns="0" tIns="0" rIns="0" bIns="0" rtlCol="0" anchor="ctr"/>
          <a:lstStyle/>
          <a:p>
            <a:pPr marL="0" indent="0">
              <a:buNone/>
            </a:pPr>
            <a:r>
              <a:rPr lang="en-US" sz="1200" dirty="0">
                <a:solidFill>
                  <a:srgbClr val="9E9E9E"/>
                </a:solidFill>
                <a:latin typeface="Calibri" pitchFamily="34" charset="0"/>
                <a:ea typeface="Calibri" pitchFamily="34" charset="-122"/>
                <a:cs typeface="Calibri" pitchFamily="34" charset="-120"/>
              </a:rPr>
              <a:t>the transition is sharp</a:t>
            </a:r>
            <a:endParaRPr lang="en-US" sz="1200" dirty="0"/>
          </a:p>
        </p:txBody>
      </p:sp>
      <p:sp>
        <p:nvSpPr>
          <p:cNvPr id="15" name="ru0.84.3100000000000005"/>
          <p:cNvSpPr/>
          <p:nvPr/>
        </p:nvSpPr>
        <p:spPr>
          <a:xfrm>
            <a:off x="731520" y="3941064"/>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16" name="Text 14"/>
          <p:cNvSpPr txBox="1"/>
          <p:nvPr/>
        </p:nvSpPr>
        <p:spPr>
          <a:xfrm>
            <a:off x="731520" y="4251960"/>
            <a:ext cx="50292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371600" y="4215384"/>
            <a:ext cx="66751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Bio-polymer stiffness without thermal processing</a:t>
            </a:r>
            <a:endParaRPr lang="en-US" sz="1300" dirty="0"/>
          </a:p>
        </p:txBody>
      </p:sp>
      <p:sp>
        <p:nvSpPr>
          <p:cNvPr id="18" name="Text 16"/>
          <p:cNvSpPr txBox="1"/>
          <p:nvPr/>
        </p:nvSpPr>
        <p:spPr>
          <a:xfrm>
            <a:off x="8229600" y="4233672"/>
            <a:ext cx="3200400" cy="365760"/>
          </a:xfrm>
          <a:prstGeom prst="rect">
            <a:avLst/>
          </a:prstGeom>
          <a:noFill/>
          <a:ln/>
        </p:spPr>
        <p:txBody>
          <a:bodyPr wrap="square" lIns="0" tIns="0" rIns="0" bIns="0" rtlCol="0" anchor="ctr"/>
          <a:lstStyle/>
          <a:p>
            <a:pPr marL="0" indent="0">
              <a:buNone/>
            </a:pPr>
            <a:r>
              <a:rPr lang="en-US" sz="1200" dirty="0">
                <a:solidFill>
                  <a:srgbClr val="9E9E9E"/>
                </a:solidFill>
                <a:latin typeface="Calibri" pitchFamily="34" charset="0"/>
                <a:ea typeface="Calibri" pitchFamily="34" charset="-122"/>
                <a:cs typeface="Calibri" pitchFamily="34" charset="-120"/>
              </a:rPr>
              <a:t>water-cast, ambient-dried</a:t>
            </a:r>
            <a:endParaRPr lang="en-US" sz="1200" dirty="0"/>
          </a:p>
        </p:txBody>
      </p:sp>
      <p:sp>
        <p:nvSpPr>
          <p:cNvPr id="19" name="ru0.85.23"/>
          <p:cNvSpPr/>
          <p:nvPr/>
        </p:nvSpPr>
        <p:spPr>
          <a:xfrm>
            <a:off x="731520" y="4782312"/>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20" name="Text 18"/>
          <p:cNvSpPr txBox="1"/>
          <p:nvPr/>
        </p:nvSpPr>
        <p:spPr>
          <a:xfrm>
            <a:off x="731520" y="5093208"/>
            <a:ext cx="502920" cy="274320"/>
          </a:xfrm>
          <a:prstGeom prst="rect">
            <a:avLst/>
          </a:prstGeom>
          <a:noFill/>
          <a:ln/>
        </p:spPr>
        <p:txBody>
          <a:bodyPr wrap="square" lIns="0" tIns="0" rIns="0" bIns="0" rtlCol="0" anchor="ctr"/>
          <a:lstStyle/>
          <a:p>
            <a:pPr marL="0" indent="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371600" y="5056632"/>
            <a:ext cx="66751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Strength on its own is not an adequate criterion</a:t>
            </a:r>
            <a:endParaRPr lang="en-US" sz="1300" dirty="0"/>
          </a:p>
        </p:txBody>
      </p:sp>
      <p:sp>
        <p:nvSpPr>
          <p:cNvPr id="22" name="Text 20"/>
          <p:cNvSpPr txBox="1"/>
          <p:nvPr/>
        </p:nvSpPr>
        <p:spPr>
          <a:xfrm>
            <a:off x="8229600" y="5074920"/>
            <a:ext cx="3200400" cy="365760"/>
          </a:xfrm>
          <a:prstGeom prst="rect">
            <a:avLst/>
          </a:prstGeom>
          <a:noFill/>
          <a:ln/>
        </p:spPr>
        <p:txBody>
          <a:bodyPr wrap="square" lIns="0" tIns="0" rIns="0" bIns="0" rtlCol="0" anchor="ctr"/>
          <a:lstStyle/>
          <a:p>
            <a:pPr marL="0" indent="0">
              <a:buNone/>
            </a:pPr>
            <a:r>
              <a:rPr lang="en-US" sz="1200" dirty="0">
                <a:solidFill>
                  <a:srgbClr val="9E9E9E"/>
                </a:solidFill>
                <a:latin typeface="Calibri" pitchFamily="34" charset="0"/>
                <a:ea typeface="Calibri" pitchFamily="34" charset="-122"/>
                <a:cs typeface="Calibri" pitchFamily="34" charset="-120"/>
              </a:rPr>
              <a:t>report σ and E together</a:t>
            </a:r>
            <a:endParaRPr lang="en-US" sz="1200" dirty="0"/>
          </a:p>
        </p:txBody>
      </p:sp>
      <p:sp>
        <p:nvSpPr>
          <p:cNvPr id="23" name="ru0.86.15"/>
          <p:cNvSpPr/>
          <p:nvPr/>
        </p:nvSpPr>
        <p:spPr>
          <a:xfrm>
            <a:off x="731520" y="5623560"/>
            <a:ext cx="10698480" cy="9144"/>
          </a:xfrm>
          <a:prstGeom prst="rect">
            <a:avLst/>
          </a:prstGeom>
          <a:solidFill>
            <a:srgbClr val="5A5A5A"/>
          </a:solidFill>
          <a:ln w="12700">
            <a:solidFill>
              <a:srgbClr val="5A5A5A">
                <a:alpha val="0"/>
              </a:srgbClr>
            </a:solidFill>
            <a:prstDash val="solid"/>
          </a:ln>
        </p:spPr>
        <p:txBody>
          <a:bodyPr/>
          <a:lstStyle/>
          <a:p>
            <a:endParaRPr lang="tr-TR"/>
          </a:p>
        </p:txBody>
      </p:sp>
      <p:sp>
        <p:nvSpPr>
          <p:cNvPr id="24" name="Text 22"/>
          <p:cNvSpPr txBox="1"/>
          <p:nvPr/>
        </p:nvSpPr>
        <p:spPr>
          <a:xfrm>
            <a:off x="731520" y="5943600"/>
            <a:ext cx="106984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Betül Ünal   ·   b.unal91@gmail.com</a:t>
            </a:r>
            <a:endParaRPr lang="en-US" sz="1200" dirty="0"/>
          </a:p>
        </p:txBody>
      </p:sp>
      <p:sp>
        <p:nvSpPr>
          <p:cNvPr id="25" name="Text 23"/>
          <p:cNvSpPr txBox="1"/>
          <p:nvPr/>
        </p:nvSpPr>
        <p:spPr>
          <a:xfrm>
            <a:off x="731520" y="6263640"/>
            <a:ext cx="10241280" cy="457200"/>
          </a:xfrm>
          <a:prstGeom prst="rect">
            <a:avLst/>
          </a:prstGeom>
          <a:noFill/>
          <a:ln/>
        </p:spPr>
        <p:txBody>
          <a:bodyPr wrap="square" lIns="0" tIns="0" rIns="0" bIns="0" rtlCol="0" anchor="t"/>
          <a:lstStyle/>
          <a:p>
            <a:pPr marL="0" indent="0">
              <a:lnSpc>
                <a:spcPts val="1250"/>
              </a:lnSpc>
              <a:buNone/>
            </a:pPr>
            <a:r>
              <a:rPr lang="en-US" sz="900" dirty="0">
                <a:solidFill>
                  <a:srgbClr val="8E8E8E"/>
                </a:solidFill>
                <a:latin typeface="Calibri" pitchFamily="34" charset="0"/>
                <a:ea typeface="Calibri" pitchFamily="34" charset="-122"/>
                <a:cs typeface="Calibri" pitchFamily="34" charset="-120"/>
              </a:rPr>
              <a:t>Testing: Advanced Construction Materials Research Laboratory, Hacettepe University, with thanks to Dr Hüseyin İlcan. Derived from the author's doctoral dissertation, Hacettepe University, 2025.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10972800" y="6217920"/>
            <a:ext cx="685800" cy="365760"/>
          </a:xfrm>
          <a:prstGeom prst="rect">
            <a:avLst/>
          </a:prstGeom>
          <a:noFill/>
          <a:ln/>
        </p:spPr>
        <p:txBody>
          <a:bodyPr wrap="square" lIns="0" tIns="0" rIns="0" bIns="0" rtlCol="0" anchor="ctr"/>
          <a:lstStyle/>
          <a:p>
            <a:pPr marL="0" indent="0" algn="r">
              <a:buNone/>
            </a:pPr>
            <a:r>
              <a:rPr lang="en-US" sz="1300" b="1" dirty="0">
                <a:solidFill>
                  <a:srgbClr val="8C8C8C"/>
                </a:solidFill>
                <a:latin typeface="Calibri" pitchFamily="34" charset="0"/>
                <a:ea typeface="Calibri" pitchFamily="34" charset="-122"/>
                <a:cs typeface="Calibri" pitchFamily="34" charset="-120"/>
              </a:rPr>
              <a:t>26</a:t>
            </a:r>
            <a:endParaRPr lang="en-US" sz="1300" dirty="0"/>
          </a:p>
        </p:txBody>
      </p:sp>
      <p:sp>
        <p:nvSpPr>
          <p:cNvPr id="3" name="Text 1"/>
          <p:cNvSpPr txBox="1"/>
          <p:nvPr/>
        </p:nvSpPr>
        <p:spPr>
          <a:xfrm>
            <a:off x="731520" y="502920"/>
            <a:ext cx="10698480" cy="457200"/>
          </a:xfrm>
          <a:prstGeom prst="rect">
            <a:avLst/>
          </a:prstGeom>
          <a:noFill/>
          <a:ln/>
        </p:spPr>
        <p:txBody>
          <a:bodyPr wrap="square" lIns="0" tIns="0" rIns="0" bIns="0" rtlCol="0" anchor="ctr"/>
          <a:lstStyle/>
          <a:p>
            <a:pPr marL="0" indent="0">
              <a:buNone/>
            </a:pPr>
            <a:r>
              <a:rPr lang="en-US" sz="2000" b="1" dirty="0">
                <a:solidFill>
                  <a:srgbClr val="141414"/>
                </a:solidFill>
                <a:latin typeface="Calibri" pitchFamily="34" charset="0"/>
                <a:ea typeface="Calibri" pitchFamily="34" charset="-122"/>
                <a:cs typeface="Calibri" pitchFamily="34" charset="-120"/>
              </a:rPr>
              <a:t>References</a:t>
            </a:r>
            <a:endParaRPr lang="en-US" sz="2000" dirty="0"/>
          </a:p>
        </p:txBody>
      </p:sp>
      <p:sp>
        <p:nvSpPr>
          <p:cNvPr id="4" name="Text 2"/>
          <p:cNvSpPr txBox="1"/>
          <p:nvPr/>
        </p:nvSpPr>
        <p:spPr>
          <a:xfrm>
            <a:off x="731520" y="1188720"/>
            <a:ext cx="5029200" cy="5349240"/>
          </a:xfrm>
          <a:prstGeom prst="rect">
            <a:avLst/>
          </a:prstGeom>
          <a:noFill/>
          <a:ln/>
        </p:spPr>
        <p:txBody>
          <a:bodyPr wrap="square" lIns="0" tIns="0" rIns="0" bIns="0" rtlCol="0" anchor="t"/>
          <a:lstStyle/>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Adogla, F., Yalley, P.P.K. &amp; Arkoh, M. (2016) Improving compressed laterite bricks using powdered eggshells. The International Journal of Engineering and Science, 5(4), 65–70.</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Altun, İ.A. (2006) Mechanical properties of travertine. Afyon Kocatepe University.</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Arnaud, L. &amp; Gourlay, E. (2012) Experimental study of parameters influencing mechanical properties of hemp concretes. Construction and Building Materials, 28(1), 50–56.</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Ashby, M.F. (2011) Materials selection in mechanical design. 4th edn. Oxford: Butterworth-Heinemann.</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(2017) ASTM D790-17: Flexural properties of unreinforced and reinforced plastics. West Conshohocken, PA.</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(2018) ASTM D570-98: Water absorption of plastics. West Conshohocken, PA.</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Bhartiya, A. &amp; Dubey, M. (2018) Replacement of cement with coconut shell ash and egg shell powder. IRJET, 5(6).</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Bilici, V.O., Peşmen, G., Yönetken, A. &amp; Erol, A. (2023) Effect of egg-shell particulate reinforcement in ceramic-metal composites. Thermal Science, 27(4B), 3179–3188.</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Faruk, O., Bledzki, A.K., Fink, H.-P. &amp; Sain, M. (2012) Biocomposites reinforced with natural fibers. Progress in Polymer Science, 37(11), 1552–1596.</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Hernández, V. et al. (2022) Agar biopolymer films for biodegradable packaging: a reference dataset. Materials, 15(11), 3954.</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Hirschler, M.M. (2013) Flammability and fire testing. In: Handbook of environmental degradation of materials. Oxford: William Andrew, 197–230.</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Holling, C.S. (1973) Resilience and stability of ecological systems. Annual Review of Ecology and Systematics, 4, 1–23.</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International Organization for Standardization (2020) ISO 11925-2: Ignitability of products subjected to direct impingement of flame — single-flame source test. Geneva.</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Islam, M.R., Tudryn, G., Bucinell, R., Schadler, L. &amp; Picu, R.C. (2018) Mechanical behavior of mycelium-based particulate composites. Journal of Materials Science, 53, 16371–16382.</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Jones, M., Mautner, A., Luenco, S., Bismarck, A. &amp; John, S. (2020) Engineered mycelium composite construction materials. Journal of Bionanoscience, 14(1), 1–10.</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Karana, E., Barati, B., Rognoli, V. &amp; Zeeuw van der Laan, A. (2015) Material driven design (MDD). International Journal of Design, 9(2), 35–54.</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Kim, H.-S. &amp; Pal, K. (2010) Mechanical properties of eggshell-filled poly(lactic acid) composites. Macromolecular Research.</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Klyosov, A.A. (2007) Wood-plastic composites. Hoboken, NJ: Wiley-Interscience.</a:t>
            </a:r>
            <a:endParaRPr lang="en-US" sz="800" dirty="0"/>
          </a:p>
        </p:txBody>
      </p:sp>
      <p:sp>
        <p:nvSpPr>
          <p:cNvPr id="5" name="Text 3"/>
          <p:cNvSpPr txBox="1"/>
          <p:nvPr/>
        </p:nvSpPr>
        <p:spPr>
          <a:xfrm>
            <a:off x="6400800" y="1188720"/>
            <a:ext cx="5029200" cy="5349240"/>
          </a:xfrm>
          <a:prstGeom prst="rect">
            <a:avLst/>
          </a:prstGeom>
          <a:noFill/>
          <a:ln/>
        </p:spPr>
        <p:txBody>
          <a:bodyPr wrap="square" lIns="0" tIns="0" rIns="0" bIns="0" rtlCol="0" anchor="t"/>
          <a:lstStyle/>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Mansour, G., Zoumaki, M., Tsongas, K. &amp; Tzetzis, D. (2021) Microstructural and finite element analysis of soy protein isolate bioplastics. Materials, 14(19), 5479.</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Nemli, G. &amp; Aydın, A. (2007) Evaluation of the physical and mechanical properties of particleboard. Building and Environment, 42(3), 1210–1214.</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Owuamanam, S. &amp; Cree, D. (2020) Progress of bio-calcium carbonate waste eggshell and seashell fillers in polymer composites: a review. Journal of Composites Science, 4(2), 70.</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Pope, D.G. &amp; Hudson, R.G. (1989) Mechanical properties of timber. Structural Engineer.</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Razzaq, A.K. &amp; Yousif, R.A. (2017) Sustainability of HMA by using of egg shell powder. International Conference on Sustainable Futures, Bahrain.</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Shafiei, S. et al. (2019) Egg shell-derived calcium phosphate/carbon dot nanofibrous scaffolds. Materials Science and Engineering: C, 100, 564–575.</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Shah, D.U., Vollrath, F., Stires, J. &amp; Deheyn, D.D. (2016) Housing fly larvae in silk: mechanical properties of mineral-filled biocomposites. Materials &amp; Design, 109, 723–731.</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Skórczewska, K., Kwiatkowski, W. &amp; Kwiatkowski, M. (2020) Poly(vinyl chloride) composites with waste eggshell as a natural filler. Polymer Composites, 41(9), 3580–3589.</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Soundara, B. &amp; Vilasini, P.P. (2015) Effect of egg shell powder on the properties of clay. 50th Indian Geotechnical Conference, Pune.</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Teara, A. et al. (2019) Durability of fly ash and eggshell powder to replace cement in concrete. IOP Conf. Series: Earth and Environmental Science, 244, 012025.</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Torres, F.G., Troncoso, O.P., Piaggio, F. &amp; Hijar, A. (2010) Structure–property relationships of a biopolymer network: the eggshell membrane. Acta Biomaterialia, 6(9), 3687–3693.</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Tutuş, A. et al. (2018) Evaluation of egg shells in wallpaper production. 1st International Technological Sciences and Design Symposium, Giresun.</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Velasco, P.M. &amp; Gaona, J.L. (2011) Mechanical characterisation of compressed agricultural-waste panels. Construction and Building Materials.</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Victor, E.I., Louis, I.C., Alfred, N.O. &amp; Ozioma, U.N. (2019) Use of chicken eggshells as fillers in flexible polyurethane foam. International Journal of Industrial Engineering, 3(1), 1–6.</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Vilarinho, I.S., Filippi, E. &amp; Seabra, M.P. (2022) Development of eco-ceramic wall tiles with bioCaCO₃ from eggshells waste. Open Ceramics, 9, 100220.</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William, J.S. &amp; Owen, J.C. (1995) Egg science and technology. 4th edn. Boca Raton, FL: CRC Press.</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Yönetken, A., Erol, A., Yakar, A. &amp; Peşmen, G. (2016) Ceramic-metal composites produced by electroless Ni plating of AlN-Astaloy Cr-M. IJCMNMME, 10(3).</a:t>
            </a:r>
            <a:endParaRPr lang="en-US" sz="800" dirty="0"/>
          </a:p>
          <a:p>
            <a:pPr marL="0" indent="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Zhao, X. et al. (2022) Mechanical recycling of low-density polyethylene: property evolution. Resources, Conservation and Recycling.</a:t>
            </a:r>
            <a:endParaRPr lang="en-US" sz="800" dirty="0"/>
          </a:p>
        </p:txBody>
      </p:sp>
      <p:sp>
        <p:nvSpPr>
          <p:cNvPr id="6" name="vr6.61.35"/>
          <p:cNvSpPr/>
          <p:nvPr/>
        </p:nvSpPr>
        <p:spPr>
          <a:xfrm>
            <a:off x="6035040" y="1234440"/>
            <a:ext cx="13716" cy="5029200"/>
          </a:xfrm>
          <a:prstGeom prst="rect">
            <a:avLst/>
          </a:prstGeom>
          <a:solidFill>
            <a:srgbClr val="E4E4E4"/>
          </a:solidFill>
          <a:ln w="12700">
            <a:solidFill>
              <a:srgbClr val="E4E4E4">
                <a:alpha val="0"/>
              </a:srgbClr>
            </a:solidFill>
            <a:prstDash val="solid"/>
          </a:ln>
        </p:spPr>
        <p:txBody>
          <a:bodyPr/>
          <a:lstStyle/>
          <a:p>
            <a:endParaRPr lang="tr-TR"/>
          </a:p>
        </p:txBody>
      </p:sp>
      <p:sp>
        <p:nvSpPr>
          <p:cNvPr id="7" name="Text 5"/>
          <p:cNvSpPr txBox="1"/>
          <p:nvPr/>
        </p:nvSpPr>
        <p:spPr>
          <a:xfrm>
            <a:off x="731520" y="6583680"/>
            <a:ext cx="10058400" cy="457200"/>
          </a:xfrm>
          <a:prstGeom prst="rect">
            <a:avLst/>
          </a:prstGeom>
          <a:noFill/>
          <a:ln/>
        </p:spPr>
        <p:txBody>
          <a:bodyPr wrap="square" lIns="0" tIns="0" rIns="0" bIns="0" rtlCol="0" anchor="t"/>
          <a:lstStyle/>
          <a:p>
            <a:pPr marL="0" indent="0">
              <a:lnSpc>
                <a:spcPts val="1250"/>
              </a:lnSpc>
              <a:buNone/>
            </a:pPr>
            <a:r>
              <a:rPr lang="en-US" sz="900" dirty="0">
                <a:solidFill>
                  <a:srgbClr val="BDBDBD"/>
                </a:solidFill>
                <a:latin typeface="Calibri" pitchFamily="34" charset="0"/>
                <a:ea typeface="Calibri" pitchFamily="34" charset="-122"/>
                <a:cs typeface="Calibri" pitchFamily="34" charset="-120"/>
              </a:rPr>
              <a:t>Standards applied: ASTM D790-17 · ISO 11925-2:2020 · ASTM D570-98(2018).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718A8576-3320-F16C-61A6-DFAE76D17694}"/>
              </a:ext>
            </a:extLst>
          </p:cNvPr>
          <p:cNvSpPr txBox="1"/>
          <p:nvPr/>
        </p:nvSpPr>
        <p:spPr>
          <a:xfrm>
            <a:off x="2758440" y="3223260"/>
            <a:ext cx="6675120" cy="411480"/>
          </a:xfrm>
          <a:prstGeom prst="rect">
            <a:avLst/>
          </a:prstGeom>
          <a:noFill/>
          <a:ln/>
        </p:spPr>
        <p:txBody>
          <a:bodyPr wrap="square" lIns="0" tIns="0" rIns="0" bIns="0" rtlCol="0" anchor="ctr"/>
          <a:lstStyle/>
          <a:p>
            <a:pPr marL="0" indent="0" algn="ctr">
              <a:buNone/>
            </a:pPr>
            <a:r>
              <a:rPr lang="en-US" sz="3200" b="1" dirty="0">
                <a:latin typeface="Calibri" pitchFamily="34" charset="0"/>
                <a:ea typeface="Calibri" pitchFamily="34" charset="-122"/>
                <a:cs typeface="Calibri" pitchFamily="34" charset="-120"/>
              </a:rPr>
              <a:t>thank you</a:t>
            </a:r>
          </a:p>
          <a:p>
            <a:pPr marL="0" indent="0" algn="ctr">
              <a:buNone/>
            </a:pPr>
            <a:r>
              <a:rPr lang="en-US" sz="1600" b="1" dirty="0">
                <a:latin typeface="Calibri" pitchFamily="34" charset="0"/>
                <a:cs typeface="Calibri" pitchFamily="34" charset="-120"/>
              </a:rPr>
              <a:t>for further questions: b.unal91@gmail.com</a:t>
            </a:r>
            <a:endParaRPr lang="en-US" sz="1600" dirty="0"/>
          </a:p>
        </p:txBody>
      </p:sp>
    </p:spTree>
    <p:extLst>
      <p:ext uri="{BB962C8B-B14F-4D97-AF65-F5344CB8AC3E}">
        <p14:creationId xmlns:p14="http://schemas.microsoft.com/office/powerpoint/2010/main" val="3963645582"/>
      </p:ext>
    </p:extLst>
  </p:cSld>
  <p:clrMapOvr>
    <a:masterClrMapping/>
  </p:clrMapOvr>
</p:sld>
</file>

<file path=ppt/theme/theme1.xml><?xml version="1.0" encoding="utf-8"?>
<a:theme xmlns:a="http://schemas.openxmlformats.org/drawingml/2006/main" name="Eggshell Mono">
  <a:themeElements>
    <a:clrScheme name="Eggshell Mono">
      <a:dk1>
        <a:srgbClr val="141414"/>
      </a:dk1>
      <a:lt1>
        <a:srgbClr val="FFFFFF"/>
      </a:lt1>
      <a:dk2>
        <a:srgbClr val="141414"/>
      </a:dk2>
      <a:lt2>
        <a:srgbClr val="F7F6F4"/>
      </a:lt2>
      <a:accent1>
        <a:srgbClr val="B4513A"/>
      </a:accent1>
      <a:accent2>
        <a:srgbClr val="8C8C8C"/>
      </a:accent2>
      <a:accent3>
        <a:srgbClr val="3C3C3C"/>
      </a:accent3>
      <a:accent4>
        <a:srgbClr val="141414"/>
      </a:accent4>
      <a:accent5>
        <a:srgbClr val="E4E4E4"/>
      </a:accent5>
      <a:accent6>
        <a:srgbClr val="8C8C8C"/>
      </a:accent6>
      <a:hlink>
        <a:srgbClr val="B4513A"/>
      </a:hlink>
      <a:folHlink>
        <a:srgbClr val="8C8C8C"/>
      </a:folHlink>
    </a:clrScheme>
    <a:fontScheme name="Eggshell Mon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7012</Words>
  <Application>Microsoft Macintosh PowerPoint</Application>
  <PresentationFormat>Geniş ekran</PresentationFormat>
  <Paragraphs>604</Paragraphs>
  <Slides>27</Slides>
  <Notes>26</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27</vt:i4>
      </vt:variant>
    </vt:vector>
  </HeadingPairs>
  <TitlesOfParts>
    <vt:vector size="30" baseType="lpstr">
      <vt:lpstr>Arial</vt:lpstr>
      <vt:lpstr>Calibri</vt:lpstr>
      <vt:lpstr>Eggshell Mono</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75683</cp:lastModifiedBy>
  <cp:revision>3</cp:revision>
  <dcterms:created xsi:type="dcterms:W3CDTF">2026-10-29T09:11:14Z</dcterms:created>
  <dcterms:modified xsi:type="dcterms:W3CDTF">2026-10-29T13:25:49Z</dcterms:modified>
</cp:coreProperties>
</file>