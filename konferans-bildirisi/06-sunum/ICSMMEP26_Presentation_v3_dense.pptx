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797173-b0c8-3356-6b60-5decabd07242}">
          <p14:sldIdLst>
            <p14:sldId id="256"/>
            <p14:sldId id="257"/>
            <p14:sldId id="258"/>
            <p14:sldId id="259"/>
            <p14:sldId id="260"/>
          </p14:sldIdLst>
        </p14:section>
        <p14:section name="Production" id="{0ae8fcf8-2b67-da35-a503-05a60d987fd4}">
          <p14:sldIdLst>
            <p14:sldId id="261"/>
            <p14:sldId id="262"/>
            <p14:sldId id="263"/>
            <p14:sldId id="264"/>
          </p14:sldIdLst>
        </p14:section>
        <p14:section name="Characterisation" id="{376a87e2-f52b-1f01-91d8-f03b37a52d32}">
          <p14:sldIdLst>
            <p14:sldId id="265"/>
            <p14:sldId id="266"/>
            <p14:sldId id="267"/>
            <p14:sldId id="268"/>
            <p14:sldId id="269"/>
            <p14:sldId id="270"/>
          </p14:sldIdLst>
        </p14:section>
        <p14:section name="Benchmarking" id="{1383be96-b2eb-5695-4add-8722f42ac09b}">
          <p14:sldIdLst>
            <p14:sldId id="271"/>
            <p14:sldId id="272"/>
            <p14:sldId id="273"/>
          </p14:sldIdLst>
        </p14:section>
        <p14:section name="Application" id="{b5957017-fef1-0b99-9f72-c90151351b58}">
          <p14:sldIdLst>
            <p14:sldId id="274"/>
            <p14:sldId id="275"/>
          </p14:sldIdLst>
        </p14:section>
        <p14:section name="Closing" id="{b5d71cec-079f-ee11-83f8-50aae2c7bb8c}">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 stress</c:v>
                </c:pt>
              </c:strCache>
            </c:strRef>
          </c:tx>
          <c:spPr>
            <a:solidFill>
              <a:srgbClr val="2E5F4A"/>
            </a:solidFill>
            <a:effectLst/>
          </c:spPr>
          <c:invertIfNegative val="0"/>
          <c:dLbls>
            <c:numFmt formatCode="0.00" sourceLinked="0"/>
            <c:txPr>
              <a:bodyPr/>
              <a:lstStyle/>
              <a:p>
                <a:pPr>
                  <a:defRPr b="0" i="0" strike="noStrike" sz="1200" u="none">
                    <a:solidFill>
                      <a:srgbClr val="1A1A18"/>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A1A1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E6B64"/>
                    </a:solidFill>
                    <a:latin typeface="+mn-lt"/>
                  </a:defRPr>
                </a:pPr>
                <a:r>
                  <a:rPr sz="1100" b="0" i="0" u="none" strike="noStrike">
                    <a:solidFill>
                      <a:srgbClr val="6E6B64"/>
                    </a:solidFill>
                    <a:latin typeface="+mn-lt"/>
                  </a:rPr>
                  <a:t>Formulation  (solids : water)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B64"/>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DEAE3"/>
              </a:solidFill>
              <a:prstDash val="solid"/>
              <a:round/>
            </a:ln>
          </c:spPr>
        </c:majorGridlines>
        <c:title>
          <c:tx>
            <c:rich>
              <a:bodyPr/>
              <a:lstStyle/>
              <a:p>
                <a:pPr>
                  <a:defRPr sz="1100" b="0" i="0" u="none" strike="noStrike">
                    <a:solidFill>
                      <a:srgbClr val="6E6B64"/>
                    </a:solidFill>
                    <a:latin typeface="+mn-lt"/>
                  </a:defRPr>
                </a:pPr>
                <a:r>
                  <a:rPr sz="1100" b="0" i="0" u="none" strike="noStrike">
                    <a:solidFill>
                      <a:srgbClr val="6E6B64"/>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 strength</c:v>
                </c:pt>
              </c:strCache>
            </c:strRef>
          </c:tx>
          <c:spPr>
            <a:solidFill>
              <a:srgbClr val="2E5F4A"/>
            </a:solidFill>
            <a:effectLst/>
          </c:spPr>
          <c:invertIfNegative val="0"/>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 strength</c:v>
                </c:pt>
              </c:strCache>
            </c:strRef>
          </c:tx>
          <c:spPr>
            <a:solidFill>
              <a:srgbClr val="8C7B5E"/>
            </a:solidFill>
            <a:effectLst/>
          </c:spPr>
          <c:invertIfNegative val="0"/>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AE3"/>
              </a:solidFill>
              <a:prstDash val="solid"/>
              <a:round/>
            </a:ln>
          </c:spPr>
        </c:majorGridlines>
        <c:title>
          <c:tx>
            <c:rich>
              <a:bodyPr/>
              <a:lstStyle/>
              <a:p>
                <a:pPr>
                  <a:defRPr sz="1100" b="0" i="0" u="none" strike="noStrike">
                    <a:solidFill>
                      <a:srgbClr val="6E6B64"/>
                    </a:solidFill>
                    <a:latin typeface="+mn-lt"/>
                  </a:defRPr>
                </a:pPr>
                <a:r>
                  <a:rPr sz="1100" b="0" i="0" u="none" strike="noStrike">
                    <a:solidFill>
                      <a:srgbClr val="6E6B64"/>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E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This paper reports the production protocol and mechanical characterisation of a fully bio-based composite made from waste eggshell bound in an agar-glycerol matrix, and proposes an evaluation criterion better suited to this class of material than compressive strength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where the field is, not where my work is. Eggshell valorisation is well established across construction and packaging - cement, bitumen, lime substitution, ceramic bodies, and as a particulate filler in thermoplastics. Reported loadings run from five to thirty percent. The reason the field keeps returning to it is clear: it is 94 percent calcium carbonate, chemically close to quarried limestone, with a useful porous microstructure and a lower specific gravity than most mineral fillers. So the material argument for eggshell is settled. What is not settled is what binds it - and that is where this study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what is known about the binder. Agar-glycerol systems are reasonably well characterised - Hernandez and colleagues mapped thirty-two agar, glycerin and water formulations by design of experiments in 2022 and released the dataset openly. The consistent finding across that literature is that glycerol raises elongation and lowers tensile strength, and that stiffness is governed by the agar fraction and the agar-glycerol interaction rather than glycerol alone. But all of that concerns unfilled thin films, tested in tension, for packaging. Agar has not been characterised as the binder of a mineral-filled cast solid in bending - which is the actual loading case for an interior surface component. That is the shift this study makes: the compositional logic carries over, the form and the loading case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here, because claiming a gap is cheap. So let me show you the gap rather than assert it. Materiom is an open commons for biomaterial recipes - CC-BY-SA licensed, petrochemical ingredients excluded, each recipe archived as prior art, property data indexed with citable DOIs. The infrastructure for shared procedures exists. But property data currently exists for four recipes: agar bioplastic, gelatin bioplastic, mycelium-walnut shell composite, and mussel shell-sucrose ceramic. The nearest analogue to this work is the last one - a shell mineral in a biological binder. Nothing in that set couples a shell mineral to an agar binder, and nothing reports compressive, flexural, ignitability and hygric data for one formulation family. So my contribution is not that nobody thought of this. It is a protocol and a property set entering a commons that is four recipes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The first two are formulation questions, the next two are benchmarking questions, and the fifth is the one I actually care about and will come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constituents. The division of labour matters: eggshell carries load, agar forms the continuous network, glycerol decides whether the composite behaves brittle or ductile, and water is not in the final material at all - it is the process variable that sets how densely the solids pack. Keep that last point in mind, because it turns out to be the controlling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preparation. Two points worth flagging. First, I call the 120 degree step decontamination and drying rather than sterilisation, because dry-heat sterilisation needs around 160 to 170 degrees for one to two hours and we did not verify sterility. Second, the 150 micrometre sieve was chosen to match the particle size used in the polymer-composite eggshell literature, so that the mineral phase here is comparable to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 two-stage thermal regime: dissolution at 95, then a controlled cooking hold at 80, 55 minutes in total. The reason for two stages is that agar must be fully in solution before viscosity is allowed to build, otherwise the gel network forms in patches. And I will say plainly: stirring was manual, so shear rate is not a controlled quantity. This protocol is reproducible in a studio. It is not yet tight enough for an instrumented laboratory, and that is a real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Compositing, casting and drying. The mineral goes in at 80 degrees, late, because adding it earlier lets it settle out. Silicone moulds release without a parting agent. Then four days in mould and seven days consolidating, all at ambient - no oven at any point, which matters for the energy argument. And the disclosure: the material shrinks as water leaves. Cross-sections were measured at test time, but the dried dimensions were not logged, so unless I say otherwise the dimensions here are mould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formulation matrix with the derived ratios added, and the two right-hand columns are the ones to read. In the compression series the shell-to-binder ratio is exactly two point zero zero in all three mixes - that was not planned as a control, but it means the only thing that actually varies is solids concentration. In the flexural series I have to declare a confound: glycerol was halved, but total batch mass was fixed at 770 grams, so water rose to compensate and the other two ratios shifted with it. The glycerol effect is therefore not cleanly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with the standards and specimen geometries. I want the reporting convention on the record before any numbers appear: mechanical values are means of three specimens, individual values were not retained so I cannot give you standard deviations, and the fire, absorption and density figures are single determinations - indicative, not characteristic. All testing was at the Advanced Construction Materials Research Laboratory at Hacettepe.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compression result, and it is tidier than I expected. Because shell-to-binder is fixed at two, solids concentration is the only variable - and compressive stress is linear in it, with an R-squared of 0.994 over the range 0.37 to 0.59. Now, three points will fit almost any line, so I am not claiming a law. What I am claiming is a testable hypothesis with a clear physical reading: strength here is governed by packing density, not by mineral content as such. If that is right, the way to a stronger composite is to remove water, not to add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is the part I would ask about if I were sitting where you are. The curve is initially linear to about one megapascal, then stiffness falls away progressively as the agar network yields and the mineral phase redistributes. Peak stress arrives at roughly ten percent strain with no abrupt drop, and beyond peak the specimen keeps deforming while holding together. Energy is absorbed rather than released. One honesty point: the strain axis is derived from an assumed ten percent maximum deformation based on observation, not from instrumented strain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At 18.8 percent glycerol the composite deformed without developing measurable resistance - the machine registered nothing usable. Halving it produced a section that resists while still flexing: 2.325 megapascals at a modulus of 192. The transition is sharp and it lies between those two values, which is itself useful to know. Two disclosures. First, as I showed earlier, the glycerol effect is confounded with solids concentration. Second, look at the tension face - it is kerfed. D790 assumes a solid rectangle and my calculation uses the full twenty millimetre depth, so some of this compliance is geometric. The modulus I am quoting is a lower bound on the bulk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environmental properties together. On fire: ignition at around ten seconds under direct flame, self-extinguishing four seconds after removal, charring local, no lateral spread, and no melting or dripping. The probable mechanism is endothermic carbonate decomposition releasing carbon dioxide, which dilutes the flame front - not verified calorimetrically. And to be explicit: 11925-2 is an ignitability test. No Euroclass, no cone calorimetry, no smoke or toxicity data. On water: 0.7 percent mass gain over twenty-four hours with three shellac coats, with local dissolution where the coating was thin - so coating integrity is the limiting factor, not the composite. On density: 1.38, between the fungal and cellulosic materials below and fired clay above, and quoted on a mould-volume basis so it is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conventional interior materials this would sit alongside. Let me be blunt. Compressive strength is one sixth of MDF and one twentieth of travertine - and travertine is the relevant comparison aesthetically, because the material looks like it. It does beat compressed mushroom panel, which is the only other fully bio-based board in the set, by a factor of three. But on strength alone it does not compete with engineered wood or stone, and I am not going to claim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the material is an order of magnitude above mycelium composites and hempcrete - the fungal and lime-binder family. In stiffness it sits squarely inside the bio-polymer band: 192 megapascals, between soy bioplastic at 124 and flax-fibre PLA at 198, inside the LDPE range. I want to underline what that means. This is a water-cast material, dried at room temperature, with no oven and no extrusion - and it reaches the stiffness of melt-processed bio-polymers. Wood is still two orders of magnitude above, and I am not going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the fifth research question. The modulus of resilience is the elastic strain energy absorbed per unit volume up to permanent deformation - the area under the curve to yield. Note where stiffness sits: in the denominator. So the low modulus that counted against the material in the first benchmark is exactly what raises this quantity. For F2 it works out at 14.1 kilojoules per cubic metre, from this study's own two measurements. Why does this fit the material class? Because both test programmes gave the same qualitative result - substantial deformation with retained integrity. Strength tells you the load at which a material stops performing. It does not tell you whether it then fails gracefully or catastrophically, and for a demountable non-loadbearing component that is the behaviour that governs service life. Now the honest limit: I cannot give you a comparative table, because the literature reports strength and modulus in separate studies on different formulations. So this is a data point and a measurement convention,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proposal follows from the measurements rather than being imposed on them. Low strength with high deformation capacity means the component carries its own weight and handling loads and nothing else. Self-extinguishing with no dripping means interior surfaces away from ignition sources. Coating-dependent water resistance means dry interiors, not wet rooms and not facades. And repeatable small-format casting means a module rather than a sheet - which matters, because it means failure is replaced one unit at a time. The system is assembled without adhesive, so it is reversible; units interlock so load distributes across neighbours; a damaged unit is replaceable; and colour and texture vary within a single formulation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potentials, and I want to be careful to call them potentials. Waste valorisation at source - a local food-waste stream becomes a surface material with no intermediate industry. Low-energy production - no oven, no autoclave, no extrusion; one 55-minute cook and then ambient drying. End-of-life by design - every constituent biodegrades, including the shellac. Reversible assembly, so reuse precedes recycling. A direct displacement of quarried limestone rather than a downcycled use. And low-barrier manufacture: a grinder, a sieve, a hotplate, silicone moulds. One caveat that matters: no life-cycle assessment was carried out, so these are qualitative potentials grounded in the protocol, not quantified environmental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set out the limitations precisely than have them found. Dispersion is not reported. The flexural comparison carries a formulation confound. The D790 calculation treats a kerfed section as solid. Compressive strain was assumed, not instrumented. Shrinkage is unquantified, so density is a lower bound. The process is not instrumented - manual stirring, one laboratory, one operator, no inter-laboratory reproduction. There is no durability data of any kind. And there is no fire classification and no LCA. A protocol offered for others to repeat has to say where it is thin, and each of these defines a specific next experiment rather than a vague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reproducible protocol, reported parameter by parameter. Solids concentration, not mineral content, governs compressive strength - linear across the range tested. Plasticiser content sets the brittle-ductile transition, and that transition lies between 18.8 and 10.3 percent glycerol. A water-cast, ambient-dried material reaches bio-polymer stiffness without an oven. And strength alone is the wrong criterion for this class: deformation capacity governs service behaviour, and strength and modulus should be reported together so that the modulus of resilience can be derived.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references, left up for questions. The standards used are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6675120" cy="2286000"/>
          </a:xfrm>
          <a:prstGeom prst="rect">
            <a:avLst/>
          </a:prstGeom>
          <a:noFill/>
          <a:ln/>
        </p:spPr>
        <p:txBody>
          <a:bodyPr wrap="square" rtlCol="0"/>
          <a:lstStyle>
            <a:lvl1pPr algn="l" indent="0" marL="0">
              <a:buNone/>
              <a:defRPr lang="en-US" sz="3300" b="1" dirty="0">
                <a:solidFill>
                  <a:schemeClr val="bg1"/>
                </a:solidFill>
              </a:defRPr>
            </a:lvl1pPr>
          </a:lstStyle>
          <a:p>
            <a:pPr algn="l" indent="0" marL="0">
              <a:buNone/>
            </a:pPr>
            <a:r>
              <a:rPr lang="en-US" sz="3300" b="1" dirty="0">
                <a:solidFill>
                  <a:schemeClr val="bg1"/>
                </a:solidFill>
              </a:rPr>
              <a:t> </a:t>
            </a:r>
            <a:endParaRPr lang="en-US" sz="3300" dirty="0"/>
          </a:p>
        </p:txBody>
      </p:sp>
      <p:sp>
        <p:nvSpPr>
          <p:cNvPr id="3" name="Text 0"/>
          <p:cNvSpPr/>
          <p:nvPr>
            <p:ph idx="101" type="body" hasCustomPrompt="1"/>
          </p:nvPr>
        </p:nvSpPr>
        <p:spPr>
          <a:xfrm>
            <a:off x="640080" y="3840480"/>
            <a:ext cx="6675120" cy="1828800"/>
          </a:xfrm>
          <a:prstGeom prst="rect">
            <a:avLst/>
          </a:prstGeom>
          <a:noFill/>
          <a:ln/>
        </p:spPr>
        <p:txBody>
          <a:bodyPr wrap="square" rtlCol="0"/>
          <a:lstStyle>
            <a:lvl1pPr algn="l" indent="0" marL="0">
              <a:buNone/>
              <a:defRPr lang="en-US" sz="1500" dirty="0">
                <a:solidFill>
                  <a:srgbClr val="D8E2DA"/>
                </a:solidFill>
              </a:defRPr>
            </a:lvl1pPr>
          </a:lstStyle>
          <a:p>
            <a:pPr algn="l" indent="0" marL="0">
              <a:buNone/>
            </a:pPr>
            <a:r>
              <a:rPr lang="en-US" sz="1500" dirty="0">
                <a:solidFill>
                  <a:srgbClr val="D8E2DA"/>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lstStyle>
            <a:lvl1pPr algn="l" indent="0" marL="0">
              <a:buNone/>
              <a:defRPr lang="en-US" sz="2900" b="1" dirty="0">
                <a:solidFill>
                  <a:schemeClr val="tx2"/>
                </a:solidFill>
              </a:defRPr>
            </a:lvl1pPr>
          </a:lstStyle>
          <a:p>
            <a:pPr algn="l" indent="0" marL="0">
              <a:buNone/>
            </a:pPr>
            <a:r>
              <a:rPr lang="en-US" sz="2900" b="1" dirty="0">
                <a:solidFill>
                  <a:schemeClr val="tx2"/>
                </a:solidFill>
              </a:rPr>
              <a:t> </a:t>
            </a:r>
            <a:endParaRPr lang="en-US" sz="2900" dirty="0"/>
          </a:p>
        </p:txBody>
      </p:sp>
      <p:sp>
        <p:nvSpPr>
          <p:cNvPr id="3" name="Text 0"/>
          <p:cNvSpPr txBox="1"/>
          <p:nvPr/>
        </p:nvSpPr>
        <p:spPr>
          <a:xfrm>
            <a:off x="502920" y="6355080"/>
            <a:ext cx="9692640" cy="256032"/>
          </a:xfrm>
          <a:prstGeom prst="rect">
            <a:avLst/>
          </a:prstGeom>
          <a:noFill/>
          <a:ln/>
        </p:spPr>
        <p:txBody>
          <a:bodyPr wrap="square" lIns="0" tIns="0" rIns="0" bIns="0" rtlCol="0" anchor="ctr"/>
          <a:lstStyle/>
          <a:p>
            <a:pPr indent="0" marL="0">
              <a:buNone/>
            </a:pPr>
            <a:r>
              <a:rPr lang="en-US" sz="900" dirty="0">
                <a:solidFill>
                  <a:srgbClr val="9A978F"/>
                </a:solidFill>
              </a:rPr>
              <a:t>ICSMMEP-26  |  Mecca, 3-4 November 2026  |  B. Unal, Cappadocia University</a:t>
            </a:r>
            <a:endParaRPr lang="en-US" sz="900" dirty="0"/>
          </a:p>
        </p:txBody>
      </p:sp>
      <p:sp>
        <p:nvSpPr>
          <p:cNvPr id="4" name="Text 1"/>
          <p:cNvSpPr/>
          <p:nvPr>
            <p:ph idx="102" hasCustomPrompt="1"/>
          </p:nvPr>
        </p:nvSpPr>
        <p:spPr>
          <a:xfrm>
            <a:off x="11292840" y="6355080"/>
            <a:ext cx="365760" cy="256032"/>
          </a:xfrm>
          <a:prstGeom prst="rect">
            <a:avLst/>
          </a:prstGeom>
          <a:noFill/>
          <a:ln/>
        </p:spPr>
        <p:txBody>
          <a:bodyPr wrap="square" rtlCol="0"/>
          <a:lstStyle>
            <a:lvl1pPr algn="r" indent="0" marL="0">
              <a:buNone/>
              <a:defRPr lang="en-US" sz="900" dirty="0">
                <a:solidFill>
                  <a:srgbClr val="9A978F"/>
                </a:solidFill>
              </a:defRPr>
            </a:lvl1pPr>
          </a:lstStyle>
          <a:p>
            <a:pPr algn="r" indent="0" marL="0">
              <a:buNone/>
            </a:pP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lstStyle>
            <a:lvl1pPr algn="l" indent="0" marL="0">
              <a:buNone/>
              <a:defRPr lang="en-US" sz="2900" b="1" dirty="0">
                <a:solidFill>
                  <a:schemeClr val="bg1"/>
                </a:solidFill>
              </a:defRPr>
            </a:lvl1pPr>
          </a:lstStyle>
          <a:p>
            <a:pPr algn="l" indent="0" marL="0">
              <a:buNone/>
            </a:pPr>
            <a:r>
              <a:rPr lang="en-US" sz="2900" b="1" dirty="0">
                <a:solidFill>
                  <a:schemeClr val="bg1"/>
                </a:solidFill>
              </a:rPr>
              <a:t> </a:t>
            </a:r>
            <a:endParaRPr lang="en-US" sz="2900" dirty="0"/>
          </a:p>
        </p:txBody>
      </p:sp>
      <p:sp>
        <p:nvSpPr>
          <p:cNvPr id="3" name="Text 0"/>
          <p:cNvSpPr txBox="1"/>
          <p:nvPr/>
        </p:nvSpPr>
        <p:spPr>
          <a:xfrm>
            <a:off x="502920" y="6355080"/>
            <a:ext cx="9692640" cy="256032"/>
          </a:xfrm>
          <a:prstGeom prst="rect">
            <a:avLst/>
          </a:prstGeom>
          <a:noFill/>
          <a:ln/>
        </p:spPr>
        <p:txBody>
          <a:bodyPr wrap="square" lIns="0" tIns="0" rIns="0" bIns="0" rtlCol="0" anchor="ctr"/>
          <a:lstStyle/>
          <a:p>
            <a:pPr indent="0" marL="0">
              <a:buNone/>
            </a:pPr>
            <a:r>
              <a:rPr lang="en-US" sz="900" dirty="0">
                <a:solidFill>
                  <a:srgbClr val="7E937F"/>
                </a:solidFill>
              </a:rPr>
              <a:t>ICSMMEP-26  |  Mecca, 3-4 November 2026  |  B. Unal, Cappadocia University</a:t>
            </a:r>
            <a:endParaRPr lang="en-US" sz="900" dirty="0"/>
          </a:p>
        </p:txBody>
      </p:sp>
      <p:sp>
        <p:nvSpPr>
          <p:cNvPr id="4" name="Text 1"/>
          <p:cNvSpPr/>
          <p:nvPr>
            <p:ph idx="102" hasCustomPrompt="1"/>
          </p:nvPr>
        </p:nvSpPr>
        <p:spPr>
          <a:xfrm>
            <a:off x="11292840" y="6355080"/>
            <a:ext cx="365760" cy="256032"/>
          </a:xfrm>
          <a:prstGeom prst="rect">
            <a:avLst/>
          </a:prstGeom>
          <a:noFill/>
          <a:ln/>
        </p:spPr>
        <p:txBody>
          <a:bodyPr wrap="square" rtlCol="0"/>
          <a:lstStyle>
            <a:lvl1pPr algn="r" indent="0" marL="0">
              <a:buNone/>
              <a:defRPr lang="en-US" sz="900" dirty="0">
                <a:solidFill>
                  <a:srgbClr val="7E937F"/>
                </a:solidFill>
              </a:defRPr>
            </a:lvl1pPr>
          </a:lstStyle>
          <a:p>
            <a:pPr algn="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home/user/sanat-ve-mekan/konferans-bildirisi/03-gorseller/01-prototip-cesitlemeleri.jpeg">    </p:cNvPr>
          <p:cNvPicPr>
            <a:picLocks noChangeAspect="1"/>
          </p:cNvPicPr>
          <p:nvPr/>
        </p:nvPicPr>
        <p:blipFill>
          <a:blip r:embed="rId1"/>
          <a:stretch>
            <a:fillRect/>
          </a:stretch>
        </p:blipFill>
        <p:spPr>
          <a:xfrm>
            <a:off x="7589520" y="1371600"/>
            <a:ext cx="4023360" cy="2258568"/>
          </a:xfrm>
          <a:prstGeom prst="rect">
            <a:avLst/>
          </a:prstGeom>
        </p:spPr>
      </p:pic>
      <p:sp>
        <p:nvSpPr>
          <p:cNvPr id="3" name="Text 0"/>
          <p:cNvSpPr/>
          <p:nvPr>
            <p:ph idx="100" type="title" hasCustomPrompt="1"/>
          </p:nvPr>
        </p:nvSpPr>
        <p:spPr>
          <a:xfrm>
            <a:off x="640080" y="1325880"/>
            <a:ext cx="6675120" cy="2286000"/>
          </a:xfrm>
          <a:prstGeom prst="rect">
            <a:avLst/>
          </a:prstGeom>
          <a:noFill/>
          <a:ln/>
        </p:spPr>
        <p:txBody>
          <a:bodyPr wrap="square" rtlCol="0" anchor="b"/>
          <a:lstStyle/>
          <a:p>
            <a:pPr algn="l" indent="0" marL="0">
              <a:buNone/>
            </a:pPr>
            <a:r>
              <a:rPr lang="en-US" sz="3300" b="1" dirty="0">
                <a:solidFill>
                  <a:schemeClr val="bg1"/>
                </a:solidFill>
              </a:rPr>
              <a:t>Development and Characterisation of Eggshell–Agar Biocomposites for Sustainable Interior Applications</a:t>
            </a:r>
            <a:endParaRPr lang="en-US" sz="3300" dirty="0"/>
          </a:p>
        </p:txBody>
      </p:sp>
      <p:sp>
        <p:nvSpPr>
          <p:cNvPr id="4" name="Text 0"/>
          <p:cNvSpPr/>
          <p:nvPr>
            <p:ph idx="101" type="body" hasCustomPrompt="1"/>
          </p:nvPr>
        </p:nvSpPr>
        <p:spPr>
          <a:xfrm>
            <a:off x="640080" y="3840480"/>
            <a:ext cx="6675120" cy="1828800"/>
          </a:xfrm>
          <a:prstGeom prst="rect">
            <a:avLst/>
          </a:prstGeom>
          <a:noFill/>
          <a:ln/>
        </p:spPr>
        <p:txBody>
          <a:bodyPr wrap="square" rtlCol="0" anchor="t"/>
          <a:lstStyle/>
          <a:p>
            <a:pPr algn="l" indent="0" marL="0">
              <a:buNone/>
            </a:pPr>
            <a:r>
              <a:rPr lang="en-US" sz="1700" b="1" dirty="0">
                <a:solidFill>
                  <a:srgbClr val="FFFFFF"/>
                </a:solidFill>
              </a:rPr>
              <a:t>Betül Ünal</a:t>
            </a:r>
            <a:endParaRPr lang="en-US" sz="1500" dirty="0"/>
          </a:p>
          <a:p>
            <a:pPr algn="l" indent="0" marL="0">
              <a:buNone/>
            </a:pPr>
            <a:r>
              <a:rPr lang="en-US" sz="1500" dirty="0">
                <a:solidFill>
                  <a:srgbClr val="D8E2DA"/>
                </a:solidFill>
              </a:rPr>
              <a:t>Department of Interior Architecture, Cappadocia University, Nevşehir, Türkiye</a:t>
            </a:r>
            <a:endParaRPr lang="en-US" sz="1500" dirty="0"/>
          </a:p>
          <a:p>
            <a:pPr algn="l" indent="0" marL="0">
              <a:buNone/>
            </a:pPr>
            <a:r>
              <a:rPr lang="en-US" sz="800" dirty="0">
                <a:solidFill>
                  <a:srgbClr val="D8E2DA"/>
                </a:solidFill>
              </a:rPr>
              <a:t> </a:t>
            </a:r>
            <a:endParaRPr lang="en-US" sz="1500" dirty="0"/>
          </a:p>
          <a:p>
            <a:pPr algn="l" indent="0" marL="0">
              <a:buNone/>
            </a:pPr>
            <a:r>
              <a:rPr lang="en-US" sz="1500" dirty="0">
                <a:solidFill>
                  <a:srgbClr val="AFC4B7"/>
                </a:solidFill>
              </a:rPr>
              <a:t>ICSMMEP-26  ·  Mecca, Saudi Arabia  ·  3–4 November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State of the art I — eggshell valorisation</a:t>
            </a:r>
            <a:endParaRPr lang="en-US" sz="2900" dirty="0"/>
          </a:p>
        </p:txBody>
      </p:sp>
      <p:sp>
        <p:nvSpPr>
          <p:cNvPr id="3" name="Text 1"/>
          <p:cNvSpPr txBox="1"/>
          <p:nvPr/>
        </p:nvSpPr>
        <p:spPr>
          <a:xfrm>
            <a:off x="502920" y="1097280"/>
            <a:ext cx="6675120" cy="274320"/>
          </a:xfrm>
          <a:prstGeom prst="rect">
            <a:avLst/>
          </a:prstGeom>
          <a:noFill/>
          <a:ln/>
        </p:spPr>
        <p:txBody>
          <a:bodyPr wrap="square" lIns="0" tIns="0" rIns="0" bIns="0" rtlCol="0" anchor="ctr"/>
          <a:lstStyle/>
          <a:p>
            <a:pPr indent="0" marL="0">
              <a:buNone/>
            </a:pPr>
            <a:r>
              <a:rPr lang="en-US" sz="1200" b="1" dirty="0">
                <a:solidFill>
                  <a:schemeClr val="accent1"/>
                </a:solidFill>
              </a:rPr>
              <a:t>WHERE EGGSHELL WASTE CURRENTLY GOES</a:t>
            </a:r>
            <a:endParaRPr lang="en-US" sz="1200" dirty="0"/>
          </a:p>
        </p:txBody>
      </p:sp>
      <p:graphicFrame>
        <p:nvGraphicFramePr>
          <p:cNvPr id="3" name="lit-table"/>
          <p:cNvGraphicFramePr>
            <a:graphicFrameLocks noGrp="1"/>
          </p:cNvGraphicFramePr>
          <p:nvPr>
            <p:extLst>
              <p:ext uri="{D42A27DB-BD31-4B8C-83A1-F6EECF244321}">
                <p14:modId xmlns:p14="http://schemas.microsoft.com/office/powerpoint/2010/main" val="1579011935"/>
              </p:ext>
            </p:extLst>
          </p:nvPr>
        </p:nvGraphicFramePr>
        <p:xfrm>
          <a:off x="502920" y="1408176"/>
          <a:ext cx="6675120" cy="914400"/>
        </p:xfrm>
        <a:graphic>
          <a:graphicData uri="http://schemas.openxmlformats.org/drawingml/2006/table">
            <a:tbl>
              <a:tblPr/>
              <a:tblGrid>
                <a:gridCol w="2834640"/>
                <a:gridCol w="1920240"/>
                <a:gridCol w="192024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Matrix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Cement and concrete replacement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Portland clinker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Teara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Laterite brick stabilisation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Cement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Adogla et al. 2016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Asphalt binder modification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Bitumen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Razzaq &amp; Yousif 2017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Soil stabilisation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Lime substitute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Soundara et al. 2015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Ceramic wall tile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Ceramic body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Vilarinho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Particulate filler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PLA, epoxy, PVC, PU</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Owuamanam &amp; Cree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Bio-packaging reinforcement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Starch, PLA films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Recent reviews, 2021–2025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3840480"/>
            <a:ext cx="6675120" cy="457200"/>
          </a:xfrm>
          <a:prstGeom prst="rect">
            <a:avLst/>
          </a:prstGeom>
          <a:noFill/>
          <a:ln/>
        </p:spPr>
        <p:txBody>
          <a:bodyPr wrap="square" lIns="0" tIns="0" rIns="0" bIns="0" rtlCol="0" anchor="ctr"/>
          <a:lstStyle/>
          <a:p>
            <a:pPr indent="0" marL="0">
              <a:lnSpc>
                <a:spcPts val="1400"/>
              </a:lnSpc>
              <a:buNone/>
            </a:pPr>
            <a:r>
              <a:rPr lang="en-US" sz="1050" i="1" dirty="0">
                <a:solidFill>
                  <a:schemeClr val="accent6"/>
                </a:solidFill>
              </a:rPr>
              <a:t>Reviews: Ngayakamo &amp; Onwualu, Heliyon 2022  ·  Owuamanam &amp; Cree, J. Compos. Sci. 4(2):70, 2020  ·  Frontiers in Materials 9:1024977, 2022</a:t>
            </a:r>
            <a:endParaRPr lang="en-US" sz="1050" dirty="0"/>
          </a:p>
        </p:txBody>
      </p:sp>
      <p:sp>
        <p:nvSpPr>
          <p:cNvPr id="6" name="pattern"/>
          <p:cNvSpPr/>
          <p:nvPr/>
        </p:nvSpPr>
        <p:spPr>
          <a:xfrm>
            <a:off x="502920" y="4389120"/>
            <a:ext cx="6675120" cy="1325880"/>
          </a:xfrm>
          <a:prstGeom prst="roundRect">
            <a:avLst>
              <a:gd name="adj" fmla="val 3448"/>
            </a:avLst>
          </a:prstGeom>
          <a:solidFill>
            <a:srgbClr val="F6E8DF"/>
          </a:solidFill>
          <a:ln w="12700">
            <a:solidFill>
              <a:srgbClr val="F6E8DF"/>
            </a:solidFill>
            <a:prstDash val="solid"/>
          </a:ln>
        </p:spPr>
      </p:sp>
      <p:sp>
        <p:nvSpPr>
          <p:cNvPr id="7" name="Text 4"/>
          <p:cNvSpPr txBox="1"/>
          <p:nvPr/>
        </p:nvSpPr>
        <p:spPr>
          <a:xfrm>
            <a:off x="822960" y="4572000"/>
            <a:ext cx="6035040" cy="274320"/>
          </a:xfrm>
          <a:prstGeom prst="rect">
            <a:avLst/>
          </a:prstGeom>
          <a:noFill/>
          <a:ln/>
        </p:spPr>
        <p:txBody>
          <a:bodyPr wrap="square" lIns="0" tIns="0" rIns="0" bIns="0" rtlCol="0" anchor="ctr"/>
          <a:lstStyle/>
          <a:p>
            <a:pPr indent="0" marL="0">
              <a:buNone/>
            </a:pPr>
            <a:r>
              <a:rPr lang="en-US" sz="1200" b="1" dirty="0">
                <a:solidFill>
                  <a:schemeClr val="accent1"/>
                </a:solidFill>
              </a:rPr>
              <a:t>THE PATTERN ACROSS THIS LITERATURE</a:t>
            </a:r>
            <a:endParaRPr lang="en-US" sz="1200" dirty="0"/>
          </a:p>
        </p:txBody>
      </p:sp>
      <p:sp>
        <p:nvSpPr>
          <p:cNvPr id="8" name="Text 5"/>
          <p:cNvSpPr txBox="1"/>
          <p:nvPr/>
        </p:nvSpPr>
        <p:spPr>
          <a:xfrm>
            <a:off x="822960" y="4892040"/>
            <a:ext cx="6035040" cy="777240"/>
          </a:xfrm>
          <a:prstGeom prst="rect">
            <a:avLst/>
          </a:prstGeom>
          <a:noFill/>
          <a:ln/>
        </p:spPr>
        <p:txBody>
          <a:bodyPr wrap="square" lIns="0" tIns="0" rIns="0" bIns="0" rtlCol="0" anchor="ctr"/>
          <a:lstStyle/>
          <a:p>
            <a:pPr indent="0" marL="0">
              <a:lnSpc>
                <a:spcPts val="1600"/>
              </a:lnSpc>
              <a:buNone/>
            </a:pPr>
            <a:r>
              <a:rPr lang="en-US" sz="1200" dirty="0">
                <a:solidFill>
                  <a:schemeClr val="tx1"/>
                </a:solidFill>
              </a:rPr>
              <a:t>Eggshell enters as a mineral filler. The binding phase it enters remains petrochemical, clinker-based or ceramic. Reported loadings sit between 5% and 30% of the matrix. The waste is valorised; the matrix is not.</a:t>
            </a:r>
            <a:endParaRPr lang="en-US" sz="1200" dirty="0"/>
          </a:p>
        </p:txBody>
      </p:sp>
      <p:sp>
        <p:nvSpPr>
          <p:cNvPr id="9" name="why-caco3"/>
          <p:cNvSpPr/>
          <p:nvPr/>
        </p:nvSpPr>
        <p:spPr>
          <a:xfrm>
            <a:off x="7452360" y="1097280"/>
            <a:ext cx="4206240" cy="4617720"/>
          </a:xfrm>
          <a:prstGeom prst="roundRect">
            <a:avLst>
              <a:gd name="adj" fmla="val 1087"/>
            </a:avLst>
          </a:prstGeom>
          <a:solidFill>
            <a:srgbClr val="2E5F4A"/>
          </a:solidFill>
          <a:ln w="12700">
            <a:solidFill>
              <a:srgbClr val="2E5F4A"/>
            </a:solidFill>
            <a:prstDash val="solid"/>
          </a:ln>
        </p:spPr>
      </p:sp>
      <p:sp>
        <p:nvSpPr>
          <p:cNvPr id="10" name="Text 7"/>
          <p:cNvSpPr txBox="1"/>
          <p:nvPr/>
        </p:nvSpPr>
        <p:spPr>
          <a:xfrm>
            <a:off x="7772400" y="1298448"/>
            <a:ext cx="3566160" cy="274320"/>
          </a:xfrm>
          <a:prstGeom prst="rect">
            <a:avLst/>
          </a:prstGeom>
          <a:noFill/>
          <a:ln/>
        </p:spPr>
        <p:txBody>
          <a:bodyPr wrap="square" lIns="0" tIns="0" rIns="0" bIns="0" rtlCol="0" anchor="ctr"/>
          <a:lstStyle/>
          <a:p>
            <a:pPr indent="0" marL="0">
              <a:buNone/>
            </a:pPr>
            <a:r>
              <a:rPr lang="en-US" sz="1200" b="1" dirty="0">
                <a:solidFill>
                  <a:srgbClr val="AFC4B7"/>
                </a:solidFill>
              </a:rPr>
              <a:t>WHY THE FIELD KEEPS RETURNING TO IT</a:t>
            </a:r>
            <a:endParaRPr lang="en-US" sz="1200" dirty="0"/>
          </a:p>
        </p:txBody>
      </p:sp>
      <p:sp>
        <p:nvSpPr>
          <p:cNvPr id="11" name="Text 8"/>
          <p:cNvSpPr txBox="1"/>
          <p:nvPr/>
        </p:nvSpPr>
        <p:spPr>
          <a:xfrm>
            <a:off x="7772400" y="1691640"/>
            <a:ext cx="3566160" cy="28346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FFFFFF"/>
                </a:solidFill>
              </a:rPr>
              <a:t>Approximately 94% calcium carbonate, chemically close to quarried limestone.</a:t>
            </a:r>
            <a:endParaRPr lang="en-US" sz="1200" dirty="0"/>
          </a:p>
          <a:p>
            <a:pPr marL="342900" indent="-342900">
              <a:lnSpc>
                <a:spcPts val="1600"/>
              </a:lnSpc>
              <a:spcAft>
                <a:spcPts val="800"/>
              </a:spcAft>
              <a:buSzPct val="100000"/>
              <a:buChar char="•"/>
            </a:pPr>
            <a:r>
              <a:rPr lang="en-US" sz="1200" dirty="0">
                <a:solidFill>
                  <a:srgbClr val="FFFFFF"/>
                </a:solidFill>
              </a:rPr>
              <a:t>A porous, layered shell microstructure with a protein-bound crystalline matrix.</a:t>
            </a:r>
            <a:endParaRPr lang="en-US" sz="1200" dirty="0"/>
          </a:p>
          <a:p>
            <a:pPr marL="342900" indent="-342900">
              <a:lnSpc>
                <a:spcPts val="1600"/>
              </a:lnSpc>
              <a:spcAft>
                <a:spcPts val="800"/>
              </a:spcAft>
              <a:buSzPct val="100000"/>
              <a:buChar char="•"/>
            </a:pPr>
            <a:r>
              <a:rPr lang="en-US" sz="1200" dirty="0">
                <a:solidFill>
                  <a:srgbClr val="FFFFFF"/>
                </a:solidFill>
              </a:rPr>
              <a:t>Specific gravity of 0.85–2.66, lighter than most mineral fillers.</a:t>
            </a:r>
            <a:endParaRPr lang="en-US" sz="1200" dirty="0"/>
          </a:p>
          <a:p>
            <a:pPr marL="342900" indent="-342900">
              <a:lnSpc>
                <a:spcPts val="1600"/>
              </a:lnSpc>
              <a:spcAft>
                <a:spcPts val="800"/>
              </a:spcAft>
              <a:buSzPct val="100000"/>
              <a:buChar char="•"/>
            </a:pPr>
            <a:r>
              <a:rPr lang="en-US" sz="1200" dirty="0">
                <a:solidFill>
                  <a:srgbClr val="FFFFFF"/>
                </a:solidFill>
              </a:rPr>
              <a:t>Continuously generated, geographically distributed, and currently landfilled at scale.</a:t>
            </a:r>
            <a:endParaRPr lang="en-US" sz="1200" dirty="0"/>
          </a:p>
        </p:txBody>
      </p:sp>
      <p:sp>
        <p:nvSpPr>
          <p:cNvPr id="12" name="Text 9"/>
          <p:cNvSpPr txBox="1"/>
          <p:nvPr/>
        </p:nvSpPr>
        <p:spPr>
          <a:xfrm>
            <a:off x="7772400" y="4846320"/>
            <a:ext cx="3566160" cy="685800"/>
          </a:xfrm>
          <a:prstGeom prst="rect">
            <a:avLst/>
          </a:prstGeom>
          <a:noFill/>
          <a:ln/>
        </p:spPr>
        <p:txBody>
          <a:bodyPr wrap="square" lIns="0" tIns="0" rIns="0" bIns="0" rtlCol="0" anchor="ctr"/>
          <a:lstStyle/>
          <a:p>
            <a:pPr indent="0" marL="0">
              <a:lnSpc>
                <a:spcPts val="1600"/>
              </a:lnSpc>
              <a:buNone/>
            </a:pPr>
            <a:r>
              <a:rPr lang="en-US" sz="1200" b="1" i="1" dirty="0">
                <a:solidFill>
                  <a:srgbClr val="F0C9A8"/>
                </a:solidFill>
              </a:rPr>
              <a:t>The material argument for eggshell is settled. The open question is what binds it.</a:t>
            </a:r>
            <a:endParaRPr lang="en-US" sz="1200" dirty="0"/>
          </a:p>
        </p:txBody>
      </p:sp>
      <p:sp>
        <p:nvSpPr>
          <p:cNvPr id="14"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State of the art II — agar as a structural binder</a:t>
            </a:r>
            <a:endParaRPr lang="en-US" sz="2900" dirty="0"/>
          </a:p>
        </p:txBody>
      </p:sp>
      <p:sp>
        <p:nvSpPr>
          <p:cNvPr id="3" name="agar-lit"/>
          <p:cNvSpPr/>
          <p:nvPr/>
        </p:nvSpPr>
        <p:spPr>
          <a:xfrm>
            <a:off x="502920" y="1097280"/>
            <a:ext cx="5486400" cy="2514600"/>
          </a:xfrm>
          <a:prstGeom prst="roundRect">
            <a:avLst>
              <a:gd name="adj" fmla="val 1818"/>
            </a:avLst>
          </a:prstGeom>
          <a:solidFill>
            <a:schemeClr val="bg2"/>
          </a:solidFill>
          <a:ln w="12700">
            <a:solidFill>
              <a:schemeClr val="bg2"/>
            </a:solidFill>
            <a:prstDash val="solid"/>
          </a:ln>
        </p:spPr>
      </p:sp>
      <p:sp>
        <p:nvSpPr>
          <p:cNvPr id="4" name="Text 2"/>
          <p:cNvSpPr txBox="1"/>
          <p:nvPr/>
        </p:nvSpPr>
        <p:spPr>
          <a:xfrm>
            <a:off x="822960" y="1298448"/>
            <a:ext cx="4846320" cy="274320"/>
          </a:xfrm>
          <a:prstGeom prst="rect">
            <a:avLst/>
          </a:prstGeom>
          <a:noFill/>
          <a:ln/>
        </p:spPr>
        <p:txBody>
          <a:bodyPr wrap="square" lIns="0" tIns="0" rIns="0" bIns="0" rtlCol="0" anchor="ctr"/>
          <a:lstStyle/>
          <a:p>
            <a:pPr indent="0" marL="0">
              <a:buNone/>
            </a:pPr>
            <a:r>
              <a:rPr lang="en-US" sz="1200" b="1" dirty="0">
                <a:solidFill>
                  <a:schemeClr val="accent1"/>
                </a:solidFill>
              </a:rPr>
              <a:t>WHAT IS KNOWN ABOUT AGAR–GLYCEROL SYSTEMS</a:t>
            </a:r>
            <a:endParaRPr lang="en-US" sz="1200" dirty="0"/>
          </a:p>
        </p:txBody>
      </p:sp>
      <p:sp>
        <p:nvSpPr>
          <p:cNvPr id="5" name="Text 3"/>
          <p:cNvSpPr txBox="1"/>
          <p:nvPr/>
        </p:nvSpPr>
        <p:spPr>
          <a:xfrm>
            <a:off x="822960" y="1645920"/>
            <a:ext cx="4846320" cy="1828800"/>
          </a:xfrm>
          <a:prstGeom prst="rect">
            <a:avLst/>
          </a:prstGeom>
          <a:noFill/>
          <a:ln/>
        </p:spPr>
        <p:txBody>
          <a:bodyPr wrap="square" lIns="0" tIns="0" rIns="0" bIns="0" rtlCol="0" anchor="ctr"/>
          <a:lstStyle/>
          <a:p>
            <a:pPr indent="0" marL="0">
              <a:lnSpc>
                <a:spcPts val="1600"/>
              </a:lnSpc>
              <a:buNone/>
            </a:pPr>
            <a:r>
              <a:rPr lang="en-US" sz="1200" dirty="0">
                <a:solidFill>
                  <a:schemeClr val="tx1"/>
                </a:solidFill>
              </a:rPr>
              <a:t>Hernández et al. (Materials 15:3954, 2022) mapped 32 agar–glycerin–water formulations by design of experiments, trained a regression model on the result, and released the dataset openly.</a:t>
            </a:r>
            <a:endParaRPr lang="en-US" sz="1200" dirty="0"/>
          </a:p>
          <a:p>
            <a:pPr indent="0" marL="0">
              <a:lnSpc>
                <a:spcPts val="1600"/>
              </a:lnSpc>
              <a:buNone/>
            </a:pPr>
            <a:r>
              <a:rPr lang="en-US" sz="800" dirty="0">
                <a:solidFill>
                  <a:schemeClr val="tx1"/>
                </a:solidFill>
              </a:rPr>
              <a:t> </a:t>
            </a:r>
            <a:endParaRPr lang="en-US" sz="1200" dirty="0"/>
          </a:p>
          <a:p>
            <a:pPr indent="0" marL="0">
              <a:lnSpc>
                <a:spcPts val="1600"/>
              </a:lnSpc>
              <a:buNone/>
            </a:pPr>
            <a:r>
              <a:rPr lang="en-US" sz="1200" dirty="0">
                <a:solidFill>
                  <a:schemeClr val="tx1"/>
                </a:solidFill>
              </a:rPr>
              <a:t>Across the agar film literature the direction is consistent: glycerol raises elongation and lowers tensile strength. Agar fraction and the agar–glycerol interaction, not glycerol alone, govern stiffness.</a:t>
            </a:r>
            <a:endParaRPr lang="en-US" sz="1200" dirty="0"/>
          </a:p>
        </p:txBody>
      </p:sp>
      <p:sp>
        <p:nvSpPr>
          <p:cNvPr id="6" name="agar-limit"/>
          <p:cNvSpPr/>
          <p:nvPr/>
        </p:nvSpPr>
        <p:spPr>
          <a:xfrm>
            <a:off x="502920" y="3794760"/>
            <a:ext cx="5486400" cy="1920240"/>
          </a:xfrm>
          <a:prstGeom prst="roundRect">
            <a:avLst>
              <a:gd name="adj" fmla="val 2381"/>
            </a:avLst>
          </a:prstGeom>
          <a:solidFill>
            <a:srgbClr val="F6E8DF"/>
          </a:solidFill>
          <a:ln w="12700">
            <a:solidFill>
              <a:srgbClr val="F6E8DF"/>
            </a:solidFill>
            <a:prstDash val="solid"/>
          </a:ln>
        </p:spPr>
      </p:sp>
      <p:sp>
        <p:nvSpPr>
          <p:cNvPr id="7" name="Text 5"/>
          <p:cNvSpPr txBox="1"/>
          <p:nvPr/>
        </p:nvSpPr>
        <p:spPr>
          <a:xfrm>
            <a:off x="822960" y="3995928"/>
            <a:ext cx="4846320" cy="274320"/>
          </a:xfrm>
          <a:prstGeom prst="rect">
            <a:avLst/>
          </a:prstGeom>
          <a:noFill/>
          <a:ln/>
        </p:spPr>
        <p:txBody>
          <a:bodyPr wrap="square" lIns="0" tIns="0" rIns="0" bIns="0" rtlCol="0" anchor="ctr"/>
          <a:lstStyle/>
          <a:p>
            <a:pPr indent="0" marL="0">
              <a:buNone/>
            </a:pPr>
            <a:r>
              <a:rPr lang="en-US" sz="1200" b="1" dirty="0">
                <a:solidFill>
                  <a:schemeClr val="accent1"/>
                </a:solidFill>
              </a:rPr>
              <a:t>AND WHAT IS NOT</a:t>
            </a:r>
            <a:endParaRPr lang="en-US" sz="1200" dirty="0"/>
          </a:p>
        </p:txBody>
      </p:sp>
      <p:sp>
        <p:nvSpPr>
          <p:cNvPr id="8" name="Text 6"/>
          <p:cNvSpPr txBox="1"/>
          <p:nvPr/>
        </p:nvSpPr>
        <p:spPr>
          <a:xfrm>
            <a:off x="822960" y="4343400"/>
            <a:ext cx="4846320" cy="1234440"/>
          </a:xfrm>
          <a:prstGeom prst="rect">
            <a:avLst/>
          </a:prstGeom>
          <a:noFill/>
          <a:ln/>
        </p:spPr>
        <p:txBody>
          <a:bodyPr wrap="square" lIns="0" tIns="0" rIns="0" bIns="0" rtlCol="0" anchor="ctr"/>
          <a:lstStyle/>
          <a:p>
            <a:pPr indent="0" marL="0">
              <a:lnSpc>
                <a:spcPts val="1600"/>
              </a:lnSpc>
              <a:buNone/>
            </a:pPr>
            <a:r>
              <a:rPr lang="en-US" sz="1200" dirty="0">
                <a:solidFill>
                  <a:schemeClr val="tx1"/>
                </a:solidFill>
              </a:rPr>
              <a:t>That body of work concerns unfilled thin films, tested in tension, for packaging. Agar has not been characterised as the binder of a mineral-filled cast solid in bending, which is the loading case for an interior surface component.</a:t>
            </a:r>
            <a:endParaRPr lang="en-US" sz="1200" dirty="0"/>
          </a:p>
        </p:txBody>
      </p:sp>
      <p:sp>
        <p:nvSpPr>
          <p:cNvPr id="9" name="shift"/>
          <p:cNvSpPr/>
          <p:nvPr/>
        </p:nvSpPr>
        <p:spPr>
          <a:xfrm>
            <a:off x="6263640" y="1097280"/>
            <a:ext cx="5394960" cy="4617720"/>
          </a:xfrm>
          <a:prstGeom prst="roundRect">
            <a:avLst>
              <a:gd name="adj" fmla="val 990"/>
            </a:avLst>
          </a:prstGeom>
          <a:solidFill>
            <a:srgbClr val="2E5F4A"/>
          </a:solidFill>
          <a:ln w="12700">
            <a:solidFill>
              <a:srgbClr val="2E5F4A"/>
            </a:solidFill>
            <a:prstDash val="solid"/>
          </a:ln>
        </p:spPr>
      </p:sp>
      <p:sp>
        <p:nvSpPr>
          <p:cNvPr id="10" name="Text 8"/>
          <p:cNvSpPr txBox="1"/>
          <p:nvPr/>
        </p:nvSpPr>
        <p:spPr>
          <a:xfrm>
            <a:off x="6583680" y="1298448"/>
            <a:ext cx="4754880" cy="274320"/>
          </a:xfrm>
          <a:prstGeom prst="rect">
            <a:avLst/>
          </a:prstGeom>
          <a:noFill/>
          <a:ln/>
        </p:spPr>
        <p:txBody>
          <a:bodyPr wrap="square" lIns="0" tIns="0" rIns="0" bIns="0" rtlCol="0" anchor="ctr"/>
          <a:lstStyle/>
          <a:p>
            <a:pPr indent="0" marL="0">
              <a:buNone/>
            </a:pPr>
            <a:r>
              <a:rPr lang="en-US" sz="1200" b="1" dirty="0">
                <a:solidFill>
                  <a:srgbClr val="AFC4B7"/>
                </a:solidFill>
              </a:rPr>
              <a:t>THE SHIFT THIS STUDY MAKES</a:t>
            </a:r>
            <a:endParaRPr lang="en-US" sz="1200" dirty="0"/>
          </a:p>
        </p:txBody>
      </p:sp>
      <p:graphicFrame>
        <p:nvGraphicFramePr>
          <p:cNvPr id="4" name="shift-table"/>
          <p:cNvGraphicFramePr>
            <a:graphicFrameLocks noGrp="1"/>
          </p:cNvGraphicFramePr>
          <p:nvPr>
            <p:extLst>
              <p:ext uri="{D42A27DB-BD31-4B8C-83A1-F6EECF244321}">
                <p14:modId xmlns:p14="http://schemas.microsoft.com/office/powerpoint/2010/main" val="1579011935"/>
              </p:ext>
            </p:extLst>
          </p:nvPr>
        </p:nvGraphicFramePr>
        <p:xfrm>
          <a:off x="6583680" y="1645920"/>
          <a:ext cx="4754880" cy="914400"/>
        </p:xfrm>
        <a:graphic>
          <a:graphicData uri="http://schemas.openxmlformats.org/drawingml/2006/table">
            <a:tbl>
              <a:tblPr/>
              <a:tblGrid>
                <a:gridCol w="1371600"/>
                <a:gridCol w="1737360"/>
                <a:gridCol w="1645920"/>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Agar film literature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This study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02336">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Form</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Thin cast film</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Cast solid, 20–50 mm</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Filler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Unfilled or organic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Mineral, 66% of solids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Loading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Uniaxial tension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 and bending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Packaging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Interior surfaces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Property set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Tensile, barrier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Strength, fire, hygric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583680" y="4251960"/>
            <a:ext cx="4754880" cy="914400"/>
          </a:xfrm>
          <a:prstGeom prst="rect">
            <a:avLst/>
          </a:prstGeom>
          <a:noFill/>
          <a:ln/>
        </p:spPr>
        <p:txBody>
          <a:bodyPr wrap="square" lIns="0" tIns="0" rIns="0" bIns="0" rtlCol="0" anchor="ctr"/>
          <a:lstStyle/>
          <a:p>
            <a:pPr indent="0" marL="0">
              <a:lnSpc>
                <a:spcPts val="1700"/>
              </a:lnSpc>
              <a:buNone/>
            </a:pPr>
            <a:r>
              <a:rPr lang="en-US" sz="1250" b="1" dirty="0">
                <a:solidFill>
                  <a:srgbClr val="F0C9A8"/>
                </a:solidFill>
              </a:rPr>
              <a:t>The compositional logic is carried over from the film literature. The form, the filler, the loading case and the property set are not.</a:t>
            </a:r>
            <a:endParaRPr lang="en-US" sz="1250" dirty="0"/>
          </a:p>
        </p:txBody>
      </p:sp>
      <p:sp>
        <p:nvSpPr>
          <p:cNvPr id="14"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bg1"/>
                </a:solidFill>
              </a:rPr>
              <a:t>The gap is not rhetorical — it is documented</a:t>
            </a:r>
            <a:endParaRPr lang="en-US" sz="2900" dirty="0"/>
          </a:p>
        </p:txBody>
      </p:sp>
      <p:sp>
        <p:nvSpPr>
          <p:cNvPr id="3" name="materiom"/>
          <p:cNvSpPr/>
          <p:nvPr/>
        </p:nvSpPr>
        <p:spPr>
          <a:xfrm>
            <a:off x="502920" y="1097280"/>
            <a:ext cx="5486400" cy="2194560"/>
          </a:xfrm>
          <a:prstGeom prst="roundRect">
            <a:avLst>
              <a:gd name="adj" fmla="val 2083"/>
            </a:avLst>
          </a:prstGeom>
          <a:solidFill>
            <a:srgbClr val="15302A"/>
          </a:solidFill>
          <a:ln w="12700">
            <a:solidFill>
              <a:srgbClr val="15302A"/>
            </a:solidFill>
            <a:prstDash val="solid"/>
          </a:ln>
        </p:spPr>
      </p:sp>
      <p:sp>
        <p:nvSpPr>
          <p:cNvPr id="4" name="Text 2"/>
          <p:cNvSpPr txBox="1"/>
          <p:nvPr/>
        </p:nvSpPr>
        <p:spPr>
          <a:xfrm>
            <a:off x="822960" y="1298448"/>
            <a:ext cx="4846320" cy="274320"/>
          </a:xfrm>
          <a:prstGeom prst="rect">
            <a:avLst/>
          </a:prstGeom>
          <a:noFill/>
          <a:ln/>
        </p:spPr>
        <p:txBody>
          <a:bodyPr wrap="square" lIns="0" tIns="0" rIns="0" bIns="0" rtlCol="0" anchor="ctr"/>
          <a:lstStyle/>
          <a:p>
            <a:pPr indent="0" marL="0">
              <a:buNone/>
            </a:pPr>
            <a:r>
              <a:rPr lang="en-US" sz="1200" b="1" dirty="0">
                <a:solidFill>
                  <a:srgbClr val="AFC4B7"/>
                </a:solidFill>
              </a:rPr>
              <a:t>AN OPEN COMMONS ALREADY EXISTS</a:t>
            </a:r>
            <a:endParaRPr lang="en-US" sz="1200" dirty="0"/>
          </a:p>
        </p:txBody>
      </p:sp>
      <p:sp>
        <p:nvSpPr>
          <p:cNvPr id="5" name="Text 3"/>
          <p:cNvSpPr txBox="1"/>
          <p:nvPr/>
        </p:nvSpPr>
        <p:spPr>
          <a:xfrm>
            <a:off x="822960" y="1645920"/>
            <a:ext cx="4846320" cy="146304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Materiom publishes biomaterial recipes under CC-BY-SA, excludes petrochemical ingredients, archives each recipe as prior art, and indexes property data on the Materials Data Facility with citable DOIs. The infrastructure for shared procedures is built.</a:t>
            </a:r>
            <a:endParaRPr lang="en-US" sz="1200" dirty="0"/>
          </a:p>
        </p:txBody>
      </p:sp>
      <p:sp>
        <p:nvSpPr>
          <p:cNvPr id="6" name="four"/>
          <p:cNvSpPr/>
          <p:nvPr/>
        </p:nvSpPr>
        <p:spPr>
          <a:xfrm>
            <a:off x="502920" y="3474720"/>
            <a:ext cx="5486400" cy="2240280"/>
          </a:xfrm>
          <a:prstGeom prst="roundRect">
            <a:avLst>
              <a:gd name="adj" fmla="val 2041"/>
            </a:avLst>
          </a:prstGeom>
          <a:solidFill>
            <a:srgbClr val="15302A"/>
          </a:solidFill>
          <a:ln w="12700">
            <a:solidFill>
              <a:srgbClr val="15302A"/>
            </a:solidFill>
            <a:prstDash val="solid"/>
          </a:ln>
        </p:spPr>
      </p:sp>
      <p:sp>
        <p:nvSpPr>
          <p:cNvPr id="7" name="Text 5"/>
          <p:cNvSpPr txBox="1"/>
          <p:nvPr/>
        </p:nvSpPr>
        <p:spPr>
          <a:xfrm>
            <a:off x="822960" y="3675888"/>
            <a:ext cx="4846320" cy="274320"/>
          </a:xfrm>
          <a:prstGeom prst="rect">
            <a:avLst/>
          </a:prstGeom>
          <a:noFill/>
          <a:ln/>
        </p:spPr>
        <p:txBody>
          <a:bodyPr wrap="square" lIns="0" tIns="0" rIns="0" bIns="0" rtlCol="0" anchor="ctr"/>
          <a:lstStyle/>
          <a:p>
            <a:pPr indent="0" marL="0">
              <a:buNone/>
            </a:pPr>
            <a:r>
              <a:rPr lang="en-US" sz="1200" b="1" dirty="0">
                <a:solidFill>
                  <a:srgbClr val="AFC4B7"/>
                </a:solidFill>
              </a:rPr>
              <a:t>BUT THE PROPERTY DATA IS THIN</a:t>
            </a:r>
            <a:endParaRPr lang="en-US" sz="1200" dirty="0"/>
          </a:p>
        </p:txBody>
      </p:sp>
      <p:sp>
        <p:nvSpPr>
          <p:cNvPr id="8" name="Text 6"/>
          <p:cNvSpPr txBox="1"/>
          <p:nvPr/>
        </p:nvSpPr>
        <p:spPr>
          <a:xfrm>
            <a:off x="822960" y="4005072"/>
            <a:ext cx="4846320" cy="274320"/>
          </a:xfrm>
          <a:prstGeom prst="rect">
            <a:avLst/>
          </a:prstGeom>
          <a:noFill/>
          <a:ln/>
        </p:spPr>
        <p:txBody>
          <a:bodyPr wrap="square" lIns="0" tIns="0" rIns="0" bIns="0" rtlCol="0" anchor="ctr"/>
          <a:lstStyle/>
          <a:p>
            <a:pPr indent="0" marL="0">
              <a:buNone/>
            </a:pPr>
            <a:r>
              <a:rPr lang="en-US" sz="1200" dirty="0">
                <a:solidFill>
                  <a:srgbClr val="C7D4C9"/>
                </a:solidFill>
              </a:rPr>
              <a:t>Property data currently exists for four recipes:</a:t>
            </a:r>
            <a:endParaRPr lang="en-US" sz="1200" dirty="0"/>
          </a:p>
        </p:txBody>
      </p:sp>
      <p:sp>
        <p:nvSpPr>
          <p:cNvPr id="9" name="Text 7"/>
          <p:cNvSpPr txBox="1"/>
          <p:nvPr/>
        </p:nvSpPr>
        <p:spPr>
          <a:xfrm>
            <a:off x="822960" y="4315968"/>
            <a:ext cx="48463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200" dirty="0">
                <a:solidFill>
                  <a:srgbClr val="FFFFFF"/>
                </a:solidFill>
              </a:rPr>
              <a:t>agar bioplastic</a:t>
            </a:r>
            <a:endParaRPr lang="en-US" sz="1200" dirty="0"/>
          </a:p>
          <a:p>
            <a:pPr marL="342900" indent="-342900">
              <a:lnSpc>
                <a:spcPts val="1500"/>
              </a:lnSpc>
              <a:spcAft>
                <a:spcPts val="400"/>
              </a:spcAft>
              <a:buSzPct val="100000"/>
              <a:buChar char="•"/>
            </a:pPr>
            <a:r>
              <a:rPr lang="en-US" sz="1200" dirty="0">
                <a:solidFill>
                  <a:srgbClr val="FFFFFF"/>
                </a:solidFill>
              </a:rPr>
              <a:t>gelatin bioplastic</a:t>
            </a:r>
            <a:endParaRPr lang="en-US" sz="1200" dirty="0"/>
          </a:p>
          <a:p>
            <a:pPr marL="342900" indent="-342900">
              <a:lnSpc>
                <a:spcPts val="1500"/>
              </a:lnSpc>
              <a:spcAft>
                <a:spcPts val="400"/>
              </a:spcAft>
              <a:buSzPct val="100000"/>
              <a:buChar char="•"/>
            </a:pPr>
            <a:r>
              <a:rPr lang="en-US" sz="1200" dirty="0">
                <a:solidFill>
                  <a:srgbClr val="FFFFFF"/>
                </a:solidFill>
              </a:rPr>
              <a:t>mycelium–walnut shell composite</a:t>
            </a:r>
            <a:endParaRPr lang="en-US" sz="1200" dirty="0"/>
          </a:p>
          <a:p>
            <a:pPr marL="342900" indent="-342900">
              <a:lnSpc>
                <a:spcPts val="1500"/>
              </a:lnSpc>
              <a:spcAft>
                <a:spcPts val="400"/>
              </a:spcAft>
              <a:buSzPct val="100000"/>
              <a:buChar char="•"/>
            </a:pPr>
            <a:r>
              <a:rPr lang="en-US" sz="1200" dirty="0">
                <a:solidFill>
                  <a:srgbClr val="FFFFFF"/>
                </a:solidFill>
              </a:rPr>
              <a:t>mussel shell–sucrose ceramic</a:t>
            </a:r>
            <a:endParaRPr lang="en-US" sz="1200" dirty="0"/>
          </a:p>
        </p:txBody>
      </p:sp>
      <p:sp>
        <p:nvSpPr>
          <p:cNvPr id="10" name="Text 8"/>
          <p:cNvSpPr txBox="1"/>
          <p:nvPr/>
        </p:nvSpPr>
        <p:spPr>
          <a:xfrm>
            <a:off x="502920" y="5779008"/>
            <a:ext cx="5486400" cy="274320"/>
          </a:xfrm>
          <a:prstGeom prst="rect">
            <a:avLst/>
          </a:prstGeom>
          <a:noFill/>
          <a:ln/>
        </p:spPr>
        <p:txBody>
          <a:bodyPr wrap="square" lIns="0" tIns="0" rIns="0" bIns="0" rtlCol="0" anchor="ctr"/>
          <a:lstStyle/>
          <a:p>
            <a:pPr indent="0" marL="0">
              <a:buNone/>
            </a:pPr>
            <a:r>
              <a:rPr lang="en-US" sz="1000" i="1" dirty="0">
                <a:solidFill>
                  <a:srgbClr val="AFC4B7"/>
                </a:solidFill>
              </a:rPr>
              <a:t>materiom.org/data, accessed October 2026</a:t>
            </a:r>
            <a:endParaRPr lang="en-US" sz="1000" dirty="0"/>
          </a:p>
        </p:txBody>
      </p:sp>
      <p:sp>
        <p:nvSpPr>
          <p:cNvPr id="11" name="Text 9"/>
          <p:cNvSpPr txBox="1"/>
          <p:nvPr/>
        </p:nvSpPr>
        <p:spPr>
          <a:xfrm>
            <a:off x="6355080" y="1188720"/>
            <a:ext cx="246888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2" name="Text 10"/>
          <p:cNvSpPr txBox="1"/>
          <p:nvPr/>
        </p:nvSpPr>
        <p:spPr>
          <a:xfrm>
            <a:off x="6355080" y="1792224"/>
            <a:ext cx="246888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recipes with published property data</a:t>
            </a:r>
            <a:endParaRPr lang="en-US" sz="1100" dirty="0"/>
          </a:p>
        </p:txBody>
      </p:sp>
      <p:sp>
        <p:nvSpPr>
          <p:cNvPr id="13" name="Text 11"/>
          <p:cNvSpPr txBox="1"/>
          <p:nvPr/>
        </p:nvSpPr>
        <p:spPr>
          <a:xfrm>
            <a:off x="9098280" y="1188720"/>
            <a:ext cx="256032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&gt; 50 000</a:t>
            </a:r>
            <a:endParaRPr lang="en-US" sz="3000" dirty="0"/>
          </a:p>
        </p:txBody>
      </p:sp>
      <p:sp>
        <p:nvSpPr>
          <p:cNvPr id="14" name="Text 12"/>
          <p:cNvSpPr txBox="1"/>
          <p:nvPr/>
        </p:nvSpPr>
        <p:spPr>
          <a:xfrm>
            <a:off x="9098280" y="1792224"/>
            <a:ext cx="256032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articles queued for automated recipe extraction</a:t>
            </a:r>
            <a:endParaRPr lang="en-US" sz="1100" dirty="0"/>
          </a:p>
        </p:txBody>
      </p:sp>
      <p:sp>
        <p:nvSpPr>
          <p:cNvPr id="15" name="gap-read"/>
          <p:cNvSpPr/>
          <p:nvPr/>
        </p:nvSpPr>
        <p:spPr>
          <a:xfrm>
            <a:off x="6355080" y="2743200"/>
            <a:ext cx="5303520" cy="2971800"/>
          </a:xfrm>
          <a:prstGeom prst="roundRect">
            <a:avLst>
              <a:gd name="adj" fmla="val 1538"/>
            </a:avLst>
          </a:prstGeom>
          <a:solidFill>
            <a:srgbClr val="15302A"/>
          </a:solidFill>
          <a:ln w="12700">
            <a:solidFill>
              <a:srgbClr val="15302A"/>
            </a:solidFill>
            <a:prstDash val="solid"/>
          </a:ln>
        </p:spPr>
      </p:sp>
      <p:sp>
        <p:nvSpPr>
          <p:cNvPr id="16" name="Text 14"/>
          <p:cNvSpPr txBox="1"/>
          <p:nvPr/>
        </p:nvSpPr>
        <p:spPr>
          <a:xfrm>
            <a:off x="6675120" y="2944368"/>
            <a:ext cx="4663440" cy="274320"/>
          </a:xfrm>
          <a:prstGeom prst="rect">
            <a:avLst/>
          </a:prstGeom>
          <a:noFill/>
          <a:ln/>
        </p:spPr>
        <p:txBody>
          <a:bodyPr wrap="square" lIns="0" tIns="0" rIns="0" bIns="0" rtlCol="0" anchor="ctr"/>
          <a:lstStyle/>
          <a:p>
            <a:pPr indent="0" marL="0">
              <a:buNone/>
            </a:pPr>
            <a:r>
              <a:rPr lang="en-US" sz="1200" b="1" dirty="0">
                <a:solidFill>
                  <a:srgbClr val="AFC4B7"/>
                </a:solidFill>
              </a:rPr>
              <a:t>WHAT THIS MEANS FOR THE PRESENT WORK</a:t>
            </a:r>
            <a:endParaRPr lang="en-US" sz="1200" dirty="0"/>
          </a:p>
        </p:txBody>
      </p:sp>
      <p:sp>
        <p:nvSpPr>
          <p:cNvPr id="17" name="Text 15"/>
          <p:cNvSpPr txBox="1"/>
          <p:nvPr/>
        </p:nvSpPr>
        <p:spPr>
          <a:xfrm>
            <a:off x="6675120" y="3291840"/>
            <a:ext cx="4663440" cy="22860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The nearest analogue in that set is the mussel shell–sucrose ceramic: a shell mineral in a biological binder. Nothing in it couples a shell mineral to an agar binder, and nothing reports compressive, flexural, ignitability and hygric data for the same formulation family.</a:t>
            </a:r>
            <a:endParaRPr lang="en-US" sz="1200" dirty="0"/>
          </a:p>
          <a:p>
            <a:pPr indent="0" marL="0">
              <a:lnSpc>
                <a:spcPts val="1600"/>
              </a:lnSpc>
              <a:buNone/>
            </a:pPr>
            <a:r>
              <a:rPr lang="en-US" sz="1000" dirty="0">
                <a:solidFill>
                  <a:srgbClr val="000000"/>
                </a:solidFill>
              </a:rPr>
              <a:t> </a:t>
            </a:r>
            <a:endParaRPr lang="en-US" sz="1200" dirty="0"/>
          </a:p>
          <a:p>
            <a:pPr indent="0" marL="0">
              <a:lnSpc>
                <a:spcPts val="1600"/>
              </a:lnSpc>
              <a:buNone/>
            </a:pPr>
            <a:r>
              <a:rPr lang="en-US" sz="1200" b="1" dirty="0">
                <a:solidFill>
                  <a:srgbClr val="F0C9A8"/>
                </a:solidFill>
              </a:rPr>
              <a:t>So the contribution is not a claim that nobody has thought of this. It is a protocol and a property set entering a commons that is currently four recipes deep.</a:t>
            </a:r>
            <a:endParaRPr lang="en-US" sz="1200" dirty="0"/>
          </a:p>
        </p:txBody>
      </p:sp>
      <p:sp>
        <p:nvSpPr>
          <p:cNvPr id="1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Aim, scope and research questions</a:t>
            </a:r>
            <a:endParaRPr lang="en-US" sz="2900" dirty="0"/>
          </a:p>
        </p:txBody>
      </p:sp>
      <p:sp>
        <p:nvSpPr>
          <p:cNvPr id="3" name="aim"/>
          <p:cNvSpPr/>
          <p:nvPr/>
        </p:nvSpPr>
        <p:spPr>
          <a:xfrm>
            <a:off x="502920" y="1143000"/>
            <a:ext cx="5394960" cy="1920240"/>
          </a:xfrm>
          <a:prstGeom prst="roundRect">
            <a:avLst>
              <a:gd name="adj" fmla="val 2381"/>
            </a:avLst>
          </a:prstGeom>
          <a:solidFill>
            <a:schemeClr val="bg2"/>
          </a:solidFill>
          <a:ln w="12700">
            <a:solidFill>
              <a:schemeClr val="bg2"/>
            </a:solidFill>
            <a:prstDash val="solid"/>
          </a:ln>
        </p:spPr>
      </p:sp>
      <p:sp>
        <p:nvSpPr>
          <p:cNvPr id="4" name="Text 2"/>
          <p:cNvSpPr txBox="1"/>
          <p:nvPr/>
        </p:nvSpPr>
        <p:spPr>
          <a:xfrm>
            <a:off x="822960" y="1353312"/>
            <a:ext cx="4754880" cy="274320"/>
          </a:xfrm>
          <a:prstGeom prst="rect">
            <a:avLst/>
          </a:prstGeom>
          <a:noFill/>
          <a:ln/>
        </p:spPr>
        <p:txBody>
          <a:bodyPr wrap="square" lIns="0" tIns="0" rIns="0" bIns="0" rtlCol="0" anchor="ctr"/>
          <a:lstStyle/>
          <a:p>
            <a:pPr indent="0" marL="0">
              <a:buNone/>
            </a:pPr>
            <a:r>
              <a:rPr lang="en-US" sz="1200" b="1" dirty="0">
                <a:solidFill>
                  <a:schemeClr val="accent1"/>
                </a:solidFill>
              </a:rPr>
              <a:t>AIM</a:t>
            </a:r>
            <a:endParaRPr lang="en-US" sz="1200" dirty="0"/>
          </a:p>
        </p:txBody>
      </p:sp>
      <p:sp>
        <p:nvSpPr>
          <p:cNvPr id="5" name="Text 3"/>
          <p:cNvSpPr txBox="1"/>
          <p:nvPr/>
        </p:nvSpPr>
        <p:spPr>
          <a:xfrm>
            <a:off x="822960" y="1691640"/>
            <a:ext cx="4754880" cy="1188720"/>
          </a:xfrm>
          <a:prstGeom prst="rect">
            <a:avLst/>
          </a:prstGeom>
          <a:noFill/>
          <a:ln/>
        </p:spPr>
        <p:txBody>
          <a:bodyPr wrap="square" lIns="0" tIns="0" rIns="0" bIns="0" rtlCol="0" anchor="ctr"/>
          <a:lstStyle/>
          <a:p>
            <a:pPr indent="0" marL="0">
              <a:lnSpc>
                <a:spcPts val="1800"/>
              </a:lnSpc>
              <a:buNone/>
            </a:pPr>
            <a:r>
              <a:rPr lang="en-US" sz="1300" dirty="0">
                <a:solidFill>
                  <a:schemeClr val="tx1"/>
                </a:solidFill>
              </a:rPr>
              <a:t>To document a reproducible production protocol for a fully bio-based eggshell composite, and to characterise its mechanical, thermal and hygric response against both conventional and bio-based interior materials.</a:t>
            </a:r>
            <a:endParaRPr lang="en-US" sz="1300" dirty="0"/>
          </a:p>
        </p:txBody>
      </p:sp>
      <p:sp>
        <p:nvSpPr>
          <p:cNvPr id="6" name="scope"/>
          <p:cNvSpPr/>
          <p:nvPr/>
        </p:nvSpPr>
        <p:spPr>
          <a:xfrm>
            <a:off x="502920" y="3246120"/>
            <a:ext cx="5394960" cy="2377440"/>
          </a:xfrm>
          <a:prstGeom prst="roundRect">
            <a:avLst>
              <a:gd name="adj" fmla="val 1923"/>
            </a:avLst>
          </a:prstGeom>
          <a:solidFill>
            <a:schemeClr val="bg2"/>
          </a:solidFill>
          <a:ln w="12700">
            <a:solidFill>
              <a:schemeClr val="bg2"/>
            </a:solidFill>
            <a:prstDash val="solid"/>
          </a:ln>
        </p:spPr>
      </p:sp>
      <p:sp>
        <p:nvSpPr>
          <p:cNvPr id="7" name="Text 5"/>
          <p:cNvSpPr txBox="1"/>
          <p:nvPr/>
        </p:nvSpPr>
        <p:spPr>
          <a:xfrm>
            <a:off x="822960" y="3456432"/>
            <a:ext cx="4754880" cy="274320"/>
          </a:xfrm>
          <a:prstGeom prst="rect">
            <a:avLst/>
          </a:prstGeom>
          <a:noFill/>
          <a:ln/>
        </p:spPr>
        <p:txBody>
          <a:bodyPr wrap="square" lIns="0" tIns="0" rIns="0" bIns="0" rtlCol="0" anchor="ctr"/>
          <a:lstStyle/>
          <a:p>
            <a:pPr indent="0" marL="0">
              <a:buNone/>
            </a:pPr>
            <a:r>
              <a:rPr lang="en-US" sz="1200" b="1" dirty="0">
                <a:solidFill>
                  <a:schemeClr val="accent1"/>
                </a:solidFill>
              </a:rPr>
              <a:t>SCOPE</a:t>
            </a:r>
            <a:endParaRPr lang="en-US" sz="1200" dirty="0"/>
          </a:p>
        </p:txBody>
      </p:sp>
      <p:sp>
        <p:nvSpPr>
          <p:cNvPr id="8" name="Text 6"/>
          <p:cNvSpPr txBox="1"/>
          <p:nvPr/>
        </p:nvSpPr>
        <p:spPr>
          <a:xfrm>
            <a:off x="822960" y="3794760"/>
            <a:ext cx="4754880" cy="16916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chemeClr val="accent6"/>
                </a:solidFill>
              </a:rPr>
              <a:t>Five formulations, two mechanical test programmes</a:t>
            </a:r>
            <a:endParaRPr lang="en-US" sz="1250" dirty="0"/>
          </a:p>
          <a:p>
            <a:pPr marL="342900" indent="-342900">
              <a:spcAft>
                <a:spcPts val="600"/>
              </a:spcAft>
              <a:buSzPct val="100000"/>
              <a:buChar char="•"/>
            </a:pPr>
            <a:r>
              <a:rPr lang="en-US" sz="1250" dirty="0">
                <a:solidFill>
                  <a:schemeClr val="accent6"/>
                </a:solidFill>
              </a:rPr>
              <a:t>Three specimens per formulation</a:t>
            </a:r>
            <a:endParaRPr lang="en-US" sz="1250" dirty="0"/>
          </a:p>
          <a:p>
            <a:pPr marL="342900" indent="-342900">
              <a:spcAft>
                <a:spcPts val="600"/>
              </a:spcAft>
              <a:buSzPct val="100000"/>
              <a:buChar char="•"/>
            </a:pPr>
            <a:r>
              <a:rPr lang="en-US" sz="1250" dirty="0">
                <a:solidFill>
                  <a:schemeClr val="accent6"/>
                </a:solidFill>
              </a:rPr>
              <a:t>Standardised tests: ASTM D790, ISO 11925-2, ASTM D570</a:t>
            </a:r>
            <a:endParaRPr lang="en-US" sz="1250" dirty="0"/>
          </a:p>
          <a:p>
            <a:pPr marL="342900" indent="-342900">
              <a:spcAft>
                <a:spcPts val="600"/>
              </a:spcAft>
              <a:buSzPct val="100000"/>
              <a:buChar char="•"/>
            </a:pPr>
            <a:r>
              <a:rPr lang="en-US" sz="1250" dirty="0">
                <a:solidFill>
                  <a:schemeClr val="accent6"/>
                </a:solidFill>
              </a:rPr>
              <a:t>Single laboratory, ambient curing, no accelerated ageing</a:t>
            </a:r>
            <a:endParaRPr lang="en-US" sz="1250" dirty="0"/>
          </a:p>
        </p:txBody>
      </p:sp>
      <p:sp>
        <p:nvSpPr>
          <p:cNvPr id="9" name="rq"/>
          <p:cNvSpPr/>
          <p:nvPr/>
        </p:nvSpPr>
        <p:spPr>
          <a:xfrm>
            <a:off x="6263640" y="1143000"/>
            <a:ext cx="5394960" cy="4480560"/>
          </a:xfrm>
          <a:prstGeom prst="roundRect">
            <a:avLst>
              <a:gd name="adj" fmla="val 1020"/>
            </a:avLst>
          </a:prstGeom>
          <a:solidFill>
            <a:srgbClr val="2E5F4A"/>
          </a:solidFill>
          <a:ln w="12700">
            <a:solidFill>
              <a:srgbClr val="2E5F4A"/>
            </a:solidFill>
            <a:prstDash val="solid"/>
          </a:ln>
        </p:spPr>
      </p:sp>
      <p:sp>
        <p:nvSpPr>
          <p:cNvPr id="10" name="Text 8"/>
          <p:cNvSpPr txBox="1"/>
          <p:nvPr/>
        </p:nvSpPr>
        <p:spPr>
          <a:xfrm>
            <a:off x="6583680" y="1353312"/>
            <a:ext cx="4754880" cy="274320"/>
          </a:xfrm>
          <a:prstGeom prst="rect">
            <a:avLst/>
          </a:prstGeom>
          <a:noFill/>
          <a:ln/>
        </p:spPr>
        <p:txBody>
          <a:bodyPr wrap="square" lIns="0" tIns="0" rIns="0" bIns="0" rtlCol="0" anchor="ctr"/>
          <a:lstStyle/>
          <a:p>
            <a:pPr indent="0" marL="0">
              <a:buNone/>
            </a:pPr>
            <a:r>
              <a:rPr lang="en-US" sz="1200" b="1" dirty="0">
                <a:solidFill>
                  <a:srgbClr val="AFC4B7"/>
                </a:solidFill>
              </a:rPr>
              <a:t>RESEARCH QUESTIONS</a:t>
            </a:r>
            <a:endParaRPr lang="en-US" sz="1200" dirty="0"/>
          </a:p>
        </p:txBody>
      </p:sp>
      <p:sp>
        <p:nvSpPr>
          <p:cNvPr id="11" name="Text 9"/>
          <p:cNvSpPr txBox="1"/>
          <p:nvPr/>
        </p:nvSpPr>
        <p:spPr>
          <a:xfrm>
            <a:off x="6583680" y="1737360"/>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Q1</a:t>
            </a:r>
            <a:endParaRPr lang="en-US" sz="1400" dirty="0"/>
          </a:p>
        </p:txBody>
      </p:sp>
      <p:sp>
        <p:nvSpPr>
          <p:cNvPr id="12" name="Text 10"/>
          <p:cNvSpPr txBox="1"/>
          <p:nvPr/>
        </p:nvSpPr>
        <p:spPr>
          <a:xfrm>
            <a:off x="7132320" y="1737360"/>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Which formulation variable governs compressive strength, and over what range?</a:t>
            </a:r>
            <a:endParaRPr lang="en-US" sz="1250" dirty="0"/>
          </a:p>
        </p:txBody>
      </p:sp>
      <p:sp>
        <p:nvSpPr>
          <p:cNvPr id="13" name="Text 11"/>
          <p:cNvSpPr txBox="1"/>
          <p:nvPr/>
        </p:nvSpPr>
        <p:spPr>
          <a:xfrm>
            <a:off x="6583680" y="2487168"/>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Q2</a:t>
            </a:r>
            <a:endParaRPr lang="en-US" sz="1400" dirty="0"/>
          </a:p>
        </p:txBody>
      </p:sp>
      <p:sp>
        <p:nvSpPr>
          <p:cNvPr id="14" name="Text 12"/>
          <p:cNvSpPr txBox="1"/>
          <p:nvPr/>
        </p:nvSpPr>
        <p:spPr>
          <a:xfrm>
            <a:off x="7132320" y="2487168"/>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What is the effect of plasticiser content on flexural behaviour?</a:t>
            </a:r>
            <a:endParaRPr lang="en-US" sz="1250" dirty="0"/>
          </a:p>
        </p:txBody>
      </p:sp>
      <p:sp>
        <p:nvSpPr>
          <p:cNvPr id="15" name="Text 13"/>
          <p:cNvSpPr txBox="1"/>
          <p:nvPr/>
        </p:nvSpPr>
        <p:spPr>
          <a:xfrm>
            <a:off x="6583680" y="3236976"/>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Q3</a:t>
            </a:r>
            <a:endParaRPr lang="en-US" sz="1400" dirty="0"/>
          </a:p>
        </p:txBody>
      </p:sp>
      <p:sp>
        <p:nvSpPr>
          <p:cNvPr id="16" name="Text 14"/>
          <p:cNvSpPr txBox="1"/>
          <p:nvPr/>
        </p:nvSpPr>
        <p:spPr>
          <a:xfrm>
            <a:off x="7132320" y="3236976"/>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How does the material compare with conventional interior surface materials?</a:t>
            </a:r>
            <a:endParaRPr lang="en-US" sz="1250" dirty="0"/>
          </a:p>
        </p:txBody>
      </p:sp>
      <p:sp>
        <p:nvSpPr>
          <p:cNvPr id="17" name="Text 15"/>
          <p:cNvSpPr txBox="1"/>
          <p:nvPr/>
        </p:nvSpPr>
        <p:spPr>
          <a:xfrm>
            <a:off x="6583680" y="3986784"/>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Q4</a:t>
            </a:r>
            <a:endParaRPr lang="en-US" sz="1400" dirty="0"/>
          </a:p>
        </p:txBody>
      </p:sp>
      <p:sp>
        <p:nvSpPr>
          <p:cNvPr id="18" name="Text 16"/>
          <p:cNvSpPr txBox="1"/>
          <p:nvPr/>
        </p:nvSpPr>
        <p:spPr>
          <a:xfrm>
            <a:off x="7132320" y="3986784"/>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How does it compare with other bio-based composites?</a:t>
            </a:r>
            <a:endParaRPr lang="en-US" sz="1250" dirty="0"/>
          </a:p>
        </p:txBody>
      </p:sp>
      <p:sp>
        <p:nvSpPr>
          <p:cNvPr id="19" name="Text 17"/>
          <p:cNvSpPr txBox="1"/>
          <p:nvPr/>
        </p:nvSpPr>
        <p:spPr>
          <a:xfrm>
            <a:off x="6583680" y="4736592"/>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Q5</a:t>
            </a:r>
            <a:endParaRPr lang="en-US" sz="1400" dirty="0"/>
          </a:p>
        </p:txBody>
      </p:sp>
      <p:sp>
        <p:nvSpPr>
          <p:cNvPr id="20" name="Text 18"/>
          <p:cNvSpPr txBox="1"/>
          <p:nvPr/>
        </p:nvSpPr>
        <p:spPr>
          <a:xfrm>
            <a:off x="7132320" y="4736592"/>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Is compressive strength the appropriate criterion for this material class?</a:t>
            </a:r>
            <a:endParaRPr lang="en-US" sz="1250" dirty="0"/>
          </a:p>
        </p:txBody>
      </p:sp>
      <p:sp>
        <p:nvSpPr>
          <p:cNvPr id="22"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Constituents and their function</a:t>
            </a:r>
            <a:endParaRPr lang="en-US" sz="2900" dirty="0"/>
          </a:p>
        </p:txBody>
      </p:sp>
      <p:graphicFrame>
        <p:nvGraphicFramePr>
          <p:cNvPr id="7" name="mat-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920240"/>
                <a:gridCol w="1600200"/>
                <a:gridCol w="3749040"/>
                <a:gridCol w="388620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Constituent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Origin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 in the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Relevant property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Eggshell powder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Food waste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Mineral filler; load-bearing phase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94% CaCO₃; porous shell structure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Agar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Red seaweed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Binder; forms the continuous phase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Thermoreversible gel; high water retention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Vegetable oil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Plasticiser; controls ductility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Humectant; low vapour pressure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Carrier; governs solids concentration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Fully evaporated during drying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Shellac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Kerria lacca resin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Surface finish; hydrophobic barrier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Biodegradable; film-forming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mat-note"/>
          <p:cNvSpPr/>
          <p:nvPr/>
        </p:nvSpPr>
        <p:spPr>
          <a:xfrm>
            <a:off x="502920" y="4251960"/>
            <a:ext cx="11155680" cy="91440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4251960"/>
            <a:ext cx="10515600" cy="914400"/>
          </a:xfrm>
          <a:prstGeom prst="rect">
            <a:avLst/>
          </a:prstGeom>
          <a:noFill/>
          <a:ln/>
        </p:spPr>
        <p:txBody>
          <a:bodyPr wrap="square" lIns="0" tIns="0" rIns="0" bIns="0" rtlCol="0" anchor="ctr"/>
          <a:lstStyle/>
          <a:p>
            <a:pPr indent="0" marL="0">
              <a:lnSpc>
                <a:spcPts val="1700"/>
              </a:lnSpc>
              <a:buNone/>
            </a:pPr>
            <a:r>
              <a:rPr lang="en-US" sz="1250" b="1" dirty="0">
                <a:solidFill>
                  <a:schemeClr val="tx2"/>
                </a:solidFill>
              </a:rPr>
              <a:t>Design logic:  </a:t>
            </a:r>
            <a:pPr indent="0" marL="0">
              <a:lnSpc>
                <a:spcPts val="1700"/>
              </a:lnSpc>
              <a:buNone/>
            </a:pPr>
            <a:r>
              <a:rPr lang="en-US" sz="1250" dirty="0">
                <a:solidFill>
                  <a:schemeClr val="accent6"/>
                </a:solidFill>
              </a:rPr>
              <a:t>the mineral phase carries load, the agar network holds it together, and glycerol sets where the composite sits on the brittle–ductile axis. Water is not a component of the final material; it is the process variable that determines how densely the solids pack.</a:t>
            </a:r>
            <a:endParaRPr lang="en-US" sz="1250" dirty="0"/>
          </a:p>
        </p:txBody>
      </p:sp>
      <p:sp>
        <p:nvSpPr>
          <p:cNvPr id="6" name="Text 3"/>
          <p:cNvSpPr txBox="1"/>
          <p:nvPr/>
        </p:nvSpPr>
        <p:spPr>
          <a:xfrm>
            <a:off x="502920" y="5349240"/>
            <a:ext cx="11155680" cy="365760"/>
          </a:xfrm>
          <a:prstGeom prst="rect">
            <a:avLst/>
          </a:prstGeom>
          <a:noFill/>
          <a:ln/>
        </p:spPr>
        <p:txBody>
          <a:bodyPr wrap="square" lIns="0" tIns="0" rIns="0" bIns="0" rtlCol="0" anchor="ctr"/>
          <a:lstStyle/>
          <a:p>
            <a:pPr indent="0" marL="0">
              <a:buNone/>
            </a:pPr>
            <a:r>
              <a:rPr lang="en-US" sz="1100" i="1" dirty="0">
                <a:solidFill>
                  <a:schemeClr val="accent6"/>
                </a:solidFill>
              </a:rPr>
              <a:t>Gelatine, starch and vinegar were trialled during development and are not part of the reported formulations.</a:t>
            </a:r>
            <a:endParaRPr lang="en-US" sz="1100" dirty="0"/>
          </a:p>
        </p:txBody>
      </p:sp>
      <p:sp>
        <p:nvSpPr>
          <p:cNvPr id="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 — preparation of the mineral fraction</a:t>
            </a:r>
            <a:endParaRPr lang="en-US" sz="2900" dirty="0"/>
          </a:p>
        </p:txBody>
      </p:sp>
      <p:sp>
        <p:nvSpPr>
          <p:cNvPr id="3" name="dColl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Collection and cleaning</a:t>
            </a:r>
            <a:endParaRPr lang="en-US" sz="1400" dirty="0"/>
          </a:p>
        </p:txBody>
      </p:sp>
      <p:sp>
        <p:nvSpPr>
          <p:cNvPr id="6" name="Text 4"/>
          <p:cNvSpPr txBox="1"/>
          <p:nvPr/>
        </p:nvSpPr>
        <p:spPr>
          <a:xfrm>
            <a:off x="978408" y="149047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Shells from a single local bakery, collected over more than one year. Membrane and organic residue removed by hand.</a:t>
            </a:r>
            <a:endParaRPr lang="en-US" sz="1150" dirty="0"/>
          </a:p>
        </p:txBody>
      </p:sp>
      <p:sp>
        <p:nvSpPr>
          <p:cNvPr id="7" name="dTher1"/>
          <p:cNvSpPr/>
          <p:nvPr/>
        </p:nvSpPr>
        <p:spPr>
          <a:xfrm>
            <a:off x="502920" y="2194560"/>
            <a:ext cx="329184" cy="329184"/>
          </a:xfrm>
          <a:prstGeom prst="ellipse">
            <a:avLst/>
          </a:prstGeom>
          <a:solidFill>
            <a:schemeClr val="accent1"/>
          </a:solidFill>
          <a:ln/>
        </p:spPr>
      </p:sp>
      <p:sp>
        <p:nvSpPr>
          <p:cNvPr id="8" name="Text 6"/>
          <p:cNvSpPr txBox="1"/>
          <p:nvPr/>
        </p:nvSpPr>
        <p:spPr>
          <a:xfrm>
            <a:off x="502920" y="2194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16712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Thermal treatment</a:t>
            </a:r>
            <a:endParaRPr lang="en-US" sz="1400" dirty="0"/>
          </a:p>
        </p:txBody>
      </p:sp>
      <p:sp>
        <p:nvSpPr>
          <p:cNvPr id="10" name="Text 8"/>
          <p:cNvSpPr txBox="1"/>
          <p:nvPr/>
        </p:nvSpPr>
        <p:spPr>
          <a:xfrm>
            <a:off x="978408" y="245059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Laboratory oven, 120 °C for 20 minutes. Described as decontamination and drying; sterility was not verified and dry-heat sterilisation requires higher temperatures.</a:t>
            </a:r>
            <a:endParaRPr lang="en-US" sz="1150" dirty="0"/>
          </a:p>
        </p:txBody>
      </p:sp>
      <p:sp>
        <p:nvSpPr>
          <p:cNvPr id="11" name="dCool2"/>
          <p:cNvSpPr/>
          <p:nvPr/>
        </p:nvSpPr>
        <p:spPr>
          <a:xfrm>
            <a:off x="502920" y="3154680"/>
            <a:ext cx="329184" cy="329184"/>
          </a:xfrm>
          <a:prstGeom prst="ellipse">
            <a:avLst/>
          </a:prstGeom>
          <a:solidFill>
            <a:schemeClr val="accent1"/>
          </a:solidFill>
          <a:ln/>
        </p:spPr>
      </p:sp>
      <p:sp>
        <p:nvSpPr>
          <p:cNvPr id="12" name="Text 10"/>
          <p:cNvSpPr txBox="1"/>
          <p:nvPr/>
        </p:nvSpPr>
        <p:spPr>
          <a:xfrm>
            <a:off x="502920" y="3154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1272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Cooling and drying</a:t>
            </a:r>
            <a:endParaRPr lang="en-US" sz="1400" dirty="0"/>
          </a:p>
        </p:txBody>
      </p:sp>
      <p:sp>
        <p:nvSpPr>
          <p:cNvPr id="14" name="Text 12"/>
          <p:cNvSpPr txBox="1"/>
          <p:nvPr/>
        </p:nvSpPr>
        <p:spPr>
          <a:xfrm>
            <a:off x="978408" y="341071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Cooled to ambient, then dried until no residual moisture remained by mass.</a:t>
            </a:r>
            <a:endParaRPr lang="en-US" sz="1150" dirty="0"/>
          </a:p>
        </p:txBody>
      </p:sp>
      <p:sp>
        <p:nvSpPr>
          <p:cNvPr id="15" name="dMill3"/>
          <p:cNvSpPr/>
          <p:nvPr/>
        </p:nvSpPr>
        <p:spPr>
          <a:xfrm>
            <a:off x="502920" y="4114800"/>
            <a:ext cx="329184" cy="329184"/>
          </a:xfrm>
          <a:prstGeom prst="ellipse">
            <a:avLst/>
          </a:prstGeom>
          <a:solidFill>
            <a:schemeClr val="accent1"/>
          </a:solidFill>
          <a:ln/>
        </p:spPr>
      </p:sp>
      <p:sp>
        <p:nvSpPr>
          <p:cNvPr id="16" name="Text 14"/>
          <p:cNvSpPr txBox="1"/>
          <p:nvPr/>
        </p:nvSpPr>
        <p:spPr>
          <a:xfrm>
            <a:off x="502920" y="4114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0873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Milling</a:t>
            </a:r>
            <a:endParaRPr lang="en-US" sz="1400" dirty="0"/>
          </a:p>
        </p:txBody>
      </p:sp>
      <p:sp>
        <p:nvSpPr>
          <p:cNvPr id="18" name="Text 16"/>
          <p:cNvSpPr txBox="1"/>
          <p:nvPr/>
        </p:nvSpPr>
        <p:spPr>
          <a:xfrm>
            <a:off x="978408" y="437083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Laboratory mechanical grinder; milling continued until a visually homogeneous fine powder was obtained.</a:t>
            </a:r>
            <a:endParaRPr lang="en-US" sz="1150" dirty="0"/>
          </a:p>
        </p:txBody>
      </p:sp>
      <p:sp>
        <p:nvSpPr>
          <p:cNvPr id="19" name="dSiev4"/>
          <p:cNvSpPr/>
          <p:nvPr/>
        </p:nvSpPr>
        <p:spPr>
          <a:xfrm>
            <a:off x="502920" y="5074920"/>
            <a:ext cx="329184" cy="329184"/>
          </a:xfrm>
          <a:prstGeom prst="ellipse">
            <a:avLst/>
          </a:prstGeom>
          <a:solidFill>
            <a:schemeClr val="accent1"/>
          </a:solidFill>
          <a:ln/>
        </p:spPr>
      </p:sp>
      <p:sp>
        <p:nvSpPr>
          <p:cNvPr id="20" name="Text 18"/>
          <p:cNvSpPr txBox="1"/>
          <p:nvPr/>
        </p:nvSpPr>
        <p:spPr>
          <a:xfrm>
            <a:off x="502920" y="5074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1" name="Text 19"/>
          <p:cNvSpPr txBox="1"/>
          <p:nvPr/>
        </p:nvSpPr>
        <p:spPr>
          <a:xfrm>
            <a:off x="978408" y="50474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Sieving</a:t>
            </a:r>
            <a:endParaRPr lang="en-US" sz="1400" dirty="0"/>
          </a:p>
        </p:txBody>
      </p:sp>
      <p:sp>
        <p:nvSpPr>
          <p:cNvPr id="22" name="Text 20"/>
          <p:cNvSpPr txBox="1"/>
          <p:nvPr/>
        </p:nvSpPr>
        <p:spPr>
          <a:xfrm>
            <a:off x="978408" y="533095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150 µm mesh. Only the passing fraction was used, consistent with eggshell powder procedures reported for polymer composites.</a:t>
            </a:r>
            <a:endParaRPr lang="en-US" sz="1150" dirty="0"/>
          </a:p>
        </p:txBody>
      </p:sp>
      <p:pic>
        <p:nvPicPr>
          <p:cNvPr id="23" name="shells" descr="/home/user/sanat-ve-mekan/konferans-bildirisi/03-gorseller/03-uretim-sureci.jpeg">    </p:cNvPr>
          <p:cNvPicPr>
            <a:picLocks noChangeAspect="1"/>
          </p:cNvPicPr>
          <p:nvPr/>
        </p:nvPicPr>
        <p:blipFill>
          <a:blip r:embed="rId1"/>
          <a:stretch>
            <a:fillRect/>
          </a:stretch>
        </p:blipFill>
        <p:spPr>
          <a:xfrm>
            <a:off x="7680960" y="1325880"/>
            <a:ext cx="3977640" cy="1271016"/>
          </a:xfrm>
          <a:prstGeom prst="rect">
            <a:avLst/>
          </a:prstGeom>
        </p:spPr>
      </p:pic>
      <p:sp>
        <p:nvSpPr>
          <p:cNvPr id="24" name="p1-stats"/>
          <p:cNvSpPr/>
          <p:nvPr/>
        </p:nvSpPr>
        <p:spPr>
          <a:xfrm>
            <a:off x="7680960" y="2743200"/>
            <a:ext cx="3977640" cy="2331720"/>
          </a:xfrm>
          <a:prstGeom prst="roundRect">
            <a:avLst>
              <a:gd name="adj" fmla="val 1961"/>
            </a:avLst>
          </a:prstGeom>
          <a:solidFill>
            <a:schemeClr val="bg2"/>
          </a:solidFill>
          <a:ln w="12700">
            <a:solidFill>
              <a:schemeClr val="bg2"/>
            </a:solidFill>
            <a:prstDash val="solid"/>
          </a:ln>
        </p:spPr>
      </p:sp>
      <p:sp>
        <p:nvSpPr>
          <p:cNvPr id="25" name="Text 22"/>
          <p:cNvSpPr txBox="1"/>
          <p:nvPr/>
        </p:nvSpPr>
        <p:spPr>
          <a:xfrm>
            <a:off x="8001000" y="2944368"/>
            <a:ext cx="3337560" cy="274320"/>
          </a:xfrm>
          <a:prstGeom prst="rect">
            <a:avLst/>
          </a:prstGeom>
          <a:noFill/>
          <a:ln/>
        </p:spPr>
        <p:txBody>
          <a:bodyPr wrap="square" lIns="0" tIns="0" rIns="0" bIns="0" rtlCol="0" anchor="ctr"/>
          <a:lstStyle/>
          <a:p>
            <a:pPr indent="0" marL="0">
              <a:buNone/>
            </a:pPr>
            <a:r>
              <a:rPr lang="en-US" sz="1200" b="1" dirty="0">
                <a:solidFill>
                  <a:schemeClr val="accent1"/>
                </a:solidFill>
              </a:rPr>
              <a:t>CONTROLLED PARAMETERS</a:t>
            </a:r>
            <a:endParaRPr lang="en-US" sz="1200" dirty="0"/>
          </a:p>
        </p:txBody>
      </p:sp>
      <p:graphicFrame>
        <p:nvGraphicFramePr>
          <p:cNvPr id="8" name="p1-table"/>
          <p:cNvGraphicFramePr>
            <a:graphicFrameLocks noGrp="1"/>
          </p:cNvGraphicFramePr>
          <p:nvPr>
            <p:extLst>
              <p:ext uri="{D42A27DB-BD31-4B8C-83A1-F6EECF244321}">
                <p14:modId xmlns:p14="http://schemas.microsoft.com/office/powerpoint/2010/main" val="1579011935"/>
              </p:ext>
            </p:extLst>
          </p:nvPr>
        </p:nvGraphicFramePr>
        <p:xfrm>
          <a:off x="8001000" y="3291840"/>
          <a:ext cx="3337560" cy="914400"/>
        </p:xfrm>
        <a:graphic>
          <a:graphicData uri="http://schemas.openxmlformats.org/drawingml/2006/table">
            <a:tbl>
              <a:tblPr/>
              <a:tblGrid>
                <a:gridCol w="2148840"/>
                <a:gridCol w="1188720"/>
              </a:tblGrid>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Treatment temperature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120 °C</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Treatment duration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Sieve aperture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150 µm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Collection period</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&gt; 12 months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2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II — the binder phase and its thermal regime</a:t>
            </a:r>
            <a:endParaRPr lang="en-US" sz="2900" dirty="0"/>
          </a:p>
        </p:txBody>
      </p:sp>
      <p:sp>
        <p:nvSpPr>
          <p:cNvPr id="3" name="dPre-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Pre-mixing</a:t>
            </a:r>
            <a:endParaRPr lang="en-US" sz="1400" dirty="0"/>
          </a:p>
        </p:txBody>
      </p:sp>
      <p:sp>
        <p:nvSpPr>
          <p:cNvPr id="6" name="Text 4"/>
          <p:cNvSpPr txBox="1"/>
          <p:nvPr/>
        </p:nvSpPr>
        <p:spPr>
          <a:xfrm>
            <a:off x="978408" y="149047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Water and glycerol combined and stirred to a homogeneous liquid before any solids are introduced.</a:t>
            </a:r>
            <a:endParaRPr lang="en-US" sz="1150" dirty="0"/>
          </a:p>
        </p:txBody>
      </p:sp>
      <p:sp>
        <p:nvSpPr>
          <p:cNvPr id="7" name="dAgar1"/>
          <p:cNvSpPr/>
          <p:nvPr/>
        </p:nvSpPr>
        <p:spPr>
          <a:xfrm>
            <a:off x="502920" y="2331720"/>
            <a:ext cx="329184" cy="329184"/>
          </a:xfrm>
          <a:prstGeom prst="ellipse">
            <a:avLst/>
          </a:prstGeom>
          <a:solidFill>
            <a:schemeClr val="accent1"/>
          </a:solidFill>
          <a:ln/>
        </p:spPr>
      </p:sp>
      <p:sp>
        <p:nvSpPr>
          <p:cNvPr id="8" name="Text 6"/>
          <p:cNvSpPr txBox="1"/>
          <p:nvPr/>
        </p:nvSpPr>
        <p:spPr>
          <a:xfrm>
            <a:off x="502920" y="2331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3042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Agar dispersion</a:t>
            </a:r>
            <a:endParaRPr lang="en-US" sz="1400" dirty="0"/>
          </a:p>
        </p:txBody>
      </p:sp>
      <p:sp>
        <p:nvSpPr>
          <p:cNvPr id="10" name="Text 8"/>
          <p:cNvSpPr txBox="1"/>
          <p:nvPr/>
        </p:nvSpPr>
        <p:spPr>
          <a:xfrm>
            <a:off x="978408" y="258775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Powdered agar added incrementally under continuous stirring. Bulk addition causes agglomeration that does not redisperse.</a:t>
            </a:r>
            <a:endParaRPr lang="en-US" sz="1150" dirty="0"/>
          </a:p>
        </p:txBody>
      </p:sp>
      <p:sp>
        <p:nvSpPr>
          <p:cNvPr id="11" name="dDiss2"/>
          <p:cNvSpPr/>
          <p:nvPr/>
        </p:nvSpPr>
        <p:spPr>
          <a:xfrm>
            <a:off x="502920" y="3429000"/>
            <a:ext cx="329184" cy="329184"/>
          </a:xfrm>
          <a:prstGeom prst="ellipse">
            <a:avLst/>
          </a:prstGeom>
          <a:solidFill>
            <a:schemeClr val="accent1"/>
          </a:solidFill>
          <a:ln/>
        </p:spPr>
      </p:sp>
      <p:sp>
        <p:nvSpPr>
          <p:cNvPr id="12" name="Text 10"/>
          <p:cNvSpPr txBox="1"/>
          <p:nvPr/>
        </p:nvSpPr>
        <p:spPr>
          <a:xfrm>
            <a:off x="502920" y="3429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4015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Dissolution stage</a:t>
            </a:r>
            <a:endParaRPr lang="en-US" sz="1400" dirty="0"/>
          </a:p>
        </p:txBody>
      </p:sp>
      <p:sp>
        <p:nvSpPr>
          <p:cNvPr id="14" name="Text 12"/>
          <p:cNvSpPr txBox="1"/>
          <p:nvPr/>
        </p:nvSpPr>
        <p:spPr>
          <a:xfrm>
            <a:off x="978408" y="368503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Heated to 95 °C and held until the agar is fully in solution. Below full dissolution the gel network does not form continuously.</a:t>
            </a:r>
            <a:endParaRPr lang="en-US" sz="1150" dirty="0"/>
          </a:p>
        </p:txBody>
      </p:sp>
      <p:sp>
        <p:nvSpPr>
          <p:cNvPr id="15" name="dCook3"/>
          <p:cNvSpPr/>
          <p:nvPr/>
        </p:nvSpPr>
        <p:spPr>
          <a:xfrm>
            <a:off x="502920" y="4526280"/>
            <a:ext cx="329184" cy="329184"/>
          </a:xfrm>
          <a:prstGeom prst="ellipse">
            <a:avLst/>
          </a:prstGeom>
          <a:solidFill>
            <a:schemeClr val="accent1"/>
          </a:solidFill>
          <a:ln/>
        </p:spPr>
      </p:sp>
      <p:sp>
        <p:nvSpPr>
          <p:cNvPr id="16" name="Text 14"/>
          <p:cNvSpPr txBox="1"/>
          <p:nvPr/>
        </p:nvSpPr>
        <p:spPr>
          <a:xfrm>
            <a:off x="50292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4988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Cooking stage</a:t>
            </a:r>
            <a:endParaRPr lang="en-US" sz="1400" dirty="0"/>
          </a:p>
        </p:txBody>
      </p:sp>
      <p:sp>
        <p:nvSpPr>
          <p:cNvPr id="18" name="Text 16"/>
          <p:cNvSpPr txBox="1"/>
          <p:nvPr/>
        </p:nvSpPr>
        <p:spPr>
          <a:xfrm>
            <a:off x="978408" y="478231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Reduced to 80 °C and held, stirring maintained, while viscosity develops into a pourable but cohesive binder.</a:t>
            </a:r>
            <a:endParaRPr lang="en-US" sz="1150" dirty="0"/>
          </a:p>
        </p:txBody>
      </p:sp>
      <p:sp>
        <p:nvSpPr>
          <p:cNvPr id="19" name="p2-stats"/>
          <p:cNvSpPr/>
          <p:nvPr/>
        </p:nvSpPr>
        <p:spPr>
          <a:xfrm>
            <a:off x="7680960" y="1234440"/>
            <a:ext cx="3977640" cy="3108960"/>
          </a:xfrm>
          <a:prstGeom prst="roundRect">
            <a:avLst>
              <a:gd name="adj" fmla="val 1471"/>
            </a:avLst>
          </a:prstGeom>
          <a:solidFill>
            <a:srgbClr val="2E5F4A"/>
          </a:solidFill>
          <a:ln w="12700">
            <a:solidFill>
              <a:srgbClr val="2E5F4A"/>
            </a:solidFill>
            <a:prstDash val="solid"/>
          </a:ln>
        </p:spPr>
      </p:sp>
      <p:sp>
        <p:nvSpPr>
          <p:cNvPr id="20" name="Text 18"/>
          <p:cNvSpPr txBox="1"/>
          <p:nvPr/>
        </p:nvSpPr>
        <p:spPr>
          <a:xfrm>
            <a:off x="8001000" y="1444752"/>
            <a:ext cx="3337560" cy="274320"/>
          </a:xfrm>
          <a:prstGeom prst="rect">
            <a:avLst/>
          </a:prstGeom>
          <a:noFill/>
          <a:ln/>
        </p:spPr>
        <p:txBody>
          <a:bodyPr wrap="square" lIns="0" tIns="0" rIns="0" bIns="0" rtlCol="0" anchor="ctr"/>
          <a:lstStyle/>
          <a:p>
            <a:pPr indent="0" marL="0">
              <a:buNone/>
            </a:pPr>
            <a:r>
              <a:rPr lang="en-US" sz="1200" b="1" dirty="0">
                <a:solidFill>
                  <a:srgbClr val="AFC4B7"/>
                </a:solidFill>
              </a:rPr>
              <a:t>THERMAL REGIME</a:t>
            </a:r>
            <a:endParaRPr lang="en-US" sz="1200" dirty="0"/>
          </a:p>
        </p:txBody>
      </p:sp>
      <p:sp>
        <p:nvSpPr>
          <p:cNvPr id="21" name="Text 19"/>
          <p:cNvSpPr txBox="1"/>
          <p:nvPr/>
        </p:nvSpPr>
        <p:spPr>
          <a:xfrm>
            <a:off x="8001000" y="1783080"/>
            <a:ext cx="333756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95 °C</a:t>
            </a:r>
            <a:endParaRPr lang="en-US" sz="3000" dirty="0"/>
          </a:p>
        </p:txBody>
      </p:sp>
      <p:sp>
        <p:nvSpPr>
          <p:cNvPr id="22" name="Text 20"/>
          <p:cNvSpPr txBox="1"/>
          <p:nvPr/>
        </p:nvSpPr>
        <p:spPr>
          <a:xfrm>
            <a:off x="8001000" y="2386584"/>
            <a:ext cx="333756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dissolution set point</a:t>
            </a:r>
            <a:endParaRPr lang="en-US" sz="1100" dirty="0"/>
          </a:p>
        </p:txBody>
      </p:sp>
      <p:sp>
        <p:nvSpPr>
          <p:cNvPr id="23" name="Text 21"/>
          <p:cNvSpPr txBox="1"/>
          <p:nvPr/>
        </p:nvSpPr>
        <p:spPr>
          <a:xfrm>
            <a:off x="8001000" y="2834640"/>
            <a:ext cx="333756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80 °C</a:t>
            </a:r>
            <a:endParaRPr lang="en-US" sz="3000" dirty="0"/>
          </a:p>
        </p:txBody>
      </p:sp>
      <p:sp>
        <p:nvSpPr>
          <p:cNvPr id="24" name="Text 22"/>
          <p:cNvSpPr txBox="1"/>
          <p:nvPr/>
        </p:nvSpPr>
        <p:spPr>
          <a:xfrm>
            <a:off x="8001000" y="3438144"/>
            <a:ext cx="333756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controlled cooking set point</a:t>
            </a:r>
            <a:endParaRPr lang="en-US" sz="1100" dirty="0"/>
          </a:p>
        </p:txBody>
      </p:sp>
      <p:sp>
        <p:nvSpPr>
          <p:cNvPr id="25" name="Text 23"/>
          <p:cNvSpPr txBox="1"/>
          <p:nvPr/>
        </p:nvSpPr>
        <p:spPr>
          <a:xfrm>
            <a:off x="8001000" y="3886200"/>
            <a:ext cx="3337560" cy="365760"/>
          </a:xfrm>
          <a:prstGeom prst="rect">
            <a:avLst/>
          </a:prstGeom>
          <a:noFill/>
          <a:ln/>
        </p:spPr>
        <p:txBody>
          <a:bodyPr wrap="square" lIns="0" tIns="0" rIns="0" bIns="0" rtlCol="0" anchor="ctr"/>
          <a:lstStyle/>
          <a:p>
            <a:pPr indent="0" marL="0">
              <a:buNone/>
            </a:pPr>
            <a:r>
              <a:rPr lang="en-US" sz="1300" b="1" dirty="0">
                <a:solidFill>
                  <a:srgbClr val="F0C9A8"/>
                </a:solidFill>
              </a:rPr>
              <a:t>55 min total heating, across both stages</a:t>
            </a:r>
            <a:endParaRPr lang="en-US" sz="1300" dirty="0"/>
          </a:p>
        </p:txBody>
      </p:sp>
      <p:sp>
        <p:nvSpPr>
          <p:cNvPr id="26" name="p2-note"/>
          <p:cNvSpPr/>
          <p:nvPr/>
        </p:nvSpPr>
        <p:spPr>
          <a:xfrm>
            <a:off x="502920" y="5394960"/>
            <a:ext cx="11155680" cy="777240"/>
          </a:xfrm>
          <a:prstGeom prst="roundRect">
            <a:avLst>
              <a:gd name="adj" fmla="val 5882"/>
            </a:avLst>
          </a:prstGeom>
          <a:solidFill>
            <a:srgbClr val="F6E8DF"/>
          </a:solidFill>
          <a:ln w="12700">
            <a:solidFill>
              <a:srgbClr val="F6E8DF"/>
            </a:solidFill>
            <a:prstDash val="solid"/>
          </a:ln>
        </p:spPr>
      </p:sp>
      <p:sp>
        <p:nvSpPr>
          <p:cNvPr id="27" name="Text 25"/>
          <p:cNvSpPr txBox="1"/>
          <p:nvPr/>
        </p:nvSpPr>
        <p:spPr>
          <a:xfrm>
            <a:off x="822960" y="5394960"/>
            <a:ext cx="10515600" cy="777240"/>
          </a:xfrm>
          <a:prstGeom prst="rect">
            <a:avLst/>
          </a:prstGeom>
          <a:noFill/>
          <a:ln/>
        </p:spPr>
        <p:txBody>
          <a:bodyPr wrap="square" lIns="0" tIns="0" rIns="0" bIns="0" rtlCol="0" anchor="ctr"/>
          <a:lstStyle/>
          <a:p>
            <a:pPr indent="0" marL="0">
              <a:lnSpc>
                <a:spcPts val="1700"/>
              </a:lnSpc>
              <a:buNone/>
            </a:pPr>
            <a:r>
              <a:rPr lang="en-US" sz="1250" b="1" dirty="0">
                <a:solidFill>
                  <a:schemeClr val="accent1"/>
                </a:solidFill>
              </a:rPr>
              <a:t>Reproducibility limit:  </a:t>
            </a:r>
            <a:pPr indent="0" marL="0">
              <a:lnSpc>
                <a:spcPts val="1700"/>
              </a:lnSpc>
              <a:buNone/>
            </a:pPr>
            <a:r>
              <a:rPr lang="en-US" sz="1250" dirty="0">
                <a:solidFill>
                  <a:schemeClr val="tx1"/>
                </a:solidFill>
              </a:rPr>
              <a:t>stirring was manual throughout, so shear rate and mixing energy are not controlled quantities. The regime is reproducible in a studio; it is not yet specified tightly enough for an instrumented laboratory.</a:t>
            </a:r>
            <a:endParaRPr lang="en-US" sz="1250" dirty="0"/>
          </a:p>
        </p:txBody>
      </p:sp>
      <p:sp>
        <p:nvSpPr>
          <p:cNvPr id="28" name="Text 26"/>
          <p:cNvSpPr txBox="1"/>
          <p:nvPr/>
        </p:nvSpPr>
        <p:spPr>
          <a:xfrm>
            <a:off x="8001000" y="4434840"/>
            <a:ext cx="3566160" cy="640080"/>
          </a:xfrm>
          <a:prstGeom prst="rect">
            <a:avLst/>
          </a:prstGeom>
          <a:noFill/>
          <a:ln/>
        </p:spPr>
        <p:txBody>
          <a:bodyPr wrap="square" lIns="0" tIns="0" rIns="0" bIns="0" rtlCol="0" anchor="ctr"/>
          <a:lstStyle/>
          <a:p>
            <a:pPr indent="0" marL="0">
              <a:lnSpc>
                <a:spcPts val="1500"/>
              </a:lnSpc>
              <a:buNone/>
            </a:pPr>
            <a:r>
              <a:rPr lang="en-US" sz="1100" i="1" dirty="0">
                <a:solidFill>
                  <a:schemeClr val="accent6"/>
                </a:solidFill>
              </a:rPr>
              <a:t>The two-stage regime follows the 70–90 °C band reported for agar-based biomaterial preparation.</a:t>
            </a:r>
            <a:endParaRPr lang="en-US" sz="1100" dirty="0"/>
          </a:p>
        </p:txBody>
      </p:sp>
      <p:sp>
        <p:nvSpPr>
          <p:cNvPr id="30"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III — compositing, casting and drying</a:t>
            </a:r>
            <a:endParaRPr lang="en-US" sz="2900" dirty="0"/>
          </a:p>
        </p:txBody>
      </p:sp>
      <p:sp>
        <p:nvSpPr>
          <p:cNvPr id="3" name="dMine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Mineral incorporation</a:t>
            </a:r>
            <a:endParaRPr lang="en-US" sz="1400" dirty="0"/>
          </a:p>
        </p:txBody>
      </p:sp>
      <p:sp>
        <p:nvSpPr>
          <p:cNvPr id="6" name="Text 4"/>
          <p:cNvSpPr txBox="1"/>
          <p:nvPr/>
        </p:nvSpPr>
        <p:spPr>
          <a:xfrm>
            <a:off x="978408" y="149047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Sieved shell fraction added incrementally into the binder held at 80 °C, under continuous stirring. Earlier addition causes sedimentation of the mineral phase.</a:t>
            </a:r>
            <a:endParaRPr lang="en-US" sz="1150" dirty="0"/>
          </a:p>
        </p:txBody>
      </p:sp>
      <p:sp>
        <p:nvSpPr>
          <p:cNvPr id="7" name="dCast1"/>
          <p:cNvSpPr/>
          <p:nvPr/>
        </p:nvSpPr>
        <p:spPr>
          <a:xfrm>
            <a:off x="502920" y="2331720"/>
            <a:ext cx="329184" cy="329184"/>
          </a:xfrm>
          <a:prstGeom prst="ellipse">
            <a:avLst/>
          </a:prstGeom>
          <a:solidFill>
            <a:schemeClr val="accent1"/>
          </a:solidFill>
          <a:ln/>
        </p:spPr>
      </p:sp>
      <p:sp>
        <p:nvSpPr>
          <p:cNvPr id="8" name="Text 6"/>
          <p:cNvSpPr txBox="1"/>
          <p:nvPr/>
        </p:nvSpPr>
        <p:spPr>
          <a:xfrm>
            <a:off x="502920" y="2331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3042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Casting</a:t>
            </a:r>
            <a:endParaRPr lang="en-US" sz="1400" dirty="0"/>
          </a:p>
        </p:txBody>
      </p:sp>
      <p:sp>
        <p:nvSpPr>
          <p:cNvPr id="10" name="Text 8"/>
          <p:cNvSpPr txBox="1"/>
          <p:nvPr/>
        </p:nvSpPr>
        <p:spPr>
          <a:xfrm>
            <a:off x="978408" y="258775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Poured into silicone moulds and levelled. Silicone was selected for flexibility: it releases without a parting agent and without damaging the partially consolidated specimen.</a:t>
            </a:r>
            <a:endParaRPr lang="en-US" sz="1150" dirty="0"/>
          </a:p>
        </p:txBody>
      </p:sp>
      <p:sp>
        <p:nvSpPr>
          <p:cNvPr id="11" name="dIn-m2"/>
          <p:cNvSpPr/>
          <p:nvPr/>
        </p:nvSpPr>
        <p:spPr>
          <a:xfrm>
            <a:off x="502920" y="3429000"/>
            <a:ext cx="329184" cy="329184"/>
          </a:xfrm>
          <a:prstGeom prst="ellipse">
            <a:avLst/>
          </a:prstGeom>
          <a:solidFill>
            <a:schemeClr val="accent1"/>
          </a:solidFill>
          <a:ln/>
        </p:spPr>
      </p:sp>
      <p:sp>
        <p:nvSpPr>
          <p:cNvPr id="12" name="Text 10"/>
          <p:cNvSpPr txBox="1"/>
          <p:nvPr/>
        </p:nvSpPr>
        <p:spPr>
          <a:xfrm>
            <a:off x="502920" y="3429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4015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In-mould setting</a:t>
            </a:r>
            <a:endParaRPr lang="en-US" sz="1400" dirty="0"/>
          </a:p>
        </p:txBody>
      </p:sp>
      <p:sp>
        <p:nvSpPr>
          <p:cNvPr id="14" name="Text 12"/>
          <p:cNvSpPr txBox="1"/>
          <p:nvPr/>
        </p:nvSpPr>
        <p:spPr>
          <a:xfrm>
            <a:off x="978408" y="368503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Four days. Mould geometry follows the test: 50 mm cube moulds for compression, flat moulds for flexural, flame and absorption specimens.</a:t>
            </a:r>
            <a:endParaRPr lang="en-US" sz="1150" dirty="0"/>
          </a:p>
        </p:txBody>
      </p:sp>
      <p:sp>
        <p:nvSpPr>
          <p:cNvPr id="15" name="dAmbi3"/>
          <p:cNvSpPr/>
          <p:nvPr/>
        </p:nvSpPr>
        <p:spPr>
          <a:xfrm>
            <a:off x="502920" y="4526280"/>
            <a:ext cx="329184" cy="329184"/>
          </a:xfrm>
          <a:prstGeom prst="ellipse">
            <a:avLst/>
          </a:prstGeom>
          <a:solidFill>
            <a:schemeClr val="accent1"/>
          </a:solidFill>
          <a:ln/>
        </p:spPr>
      </p:sp>
      <p:sp>
        <p:nvSpPr>
          <p:cNvPr id="16" name="Text 14"/>
          <p:cNvSpPr txBox="1"/>
          <p:nvPr/>
        </p:nvSpPr>
        <p:spPr>
          <a:xfrm>
            <a:off x="50292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4988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Ambient consolidation</a:t>
            </a:r>
            <a:endParaRPr lang="en-US" sz="1400" dirty="0"/>
          </a:p>
        </p:txBody>
      </p:sp>
      <p:sp>
        <p:nvSpPr>
          <p:cNvPr id="18" name="Text 16"/>
          <p:cNvSpPr txBox="1"/>
          <p:nvPr/>
        </p:nvSpPr>
        <p:spPr>
          <a:xfrm>
            <a:off x="978408" y="478231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Demoulded, then a further seven days at approximately 23 °C, shielded from direct sunlight and forced air movement. No oven drying at any stage.</a:t>
            </a:r>
            <a:endParaRPr lang="en-US" sz="1150" dirty="0"/>
          </a:p>
        </p:txBody>
      </p:sp>
      <p:sp>
        <p:nvSpPr>
          <p:cNvPr id="19" name="shrink"/>
          <p:cNvSpPr/>
          <p:nvPr/>
        </p:nvSpPr>
        <p:spPr>
          <a:xfrm>
            <a:off x="7680960" y="1234440"/>
            <a:ext cx="3977640" cy="3291840"/>
          </a:xfrm>
          <a:prstGeom prst="roundRect">
            <a:avLst>
              <a:gd name="adj" fmla="val 1389"/>
            </a:avLst>
          </a:prstGeom>
          <a:solidFill>
            <a:srgbClr val="F6E8DF"/>
          </a:solidFill>
          <a:ln w="12700">
            <a:solidFill>
              <a:srgbClr val="F6E8DF"/>
            </a:solidFill>
            <a:prstDash val="solid"/>
          </a:ln>
        </p:spPr>
      </p:sp>
      <p:sp>
        <p:nvSpPr>
          <p:cNvPr id="20" name="Text 18"/>
          <p:cNvSpPr txBox="1"/>
          <p:nvPr/>
        </p:nvSpPr>
        <p:spPr>
          <a:xfrm>
            <a:off x="8001000" y="1444752"/>
            <a:ext cx="3337560" cy="274320"/>
          </a:xfrm>
          <a:prstGeom prst="rect">
            <a:avLst/>
          </a:prstGeom>
          <a:noFill/>
          <a:ln/>
        </p:spPr>
        <p:txBody>
          <a:bodyPr wrap="square" lIns="0" tIns="0" rIns="0" bIns="0" rtlCol="0" anchor="ctr"/>
          <a:lstStyle/>
          <a:p>
            <a:pPr indent="0" marL="0">
              <a:buNone/>
            </a:pPr>
            <a:r>
              <a:rPr lang="en-US" sz="1200" b="1" dirty="0">
                <a:solidFill>
                  <a:schemeClr val="accent1"/>
                </a:solidFill>
              </a:rPr>
              <a:t>DISCLOSURE — DIMENSIONAL LOSS</a:t>
            </a:r>
            <a:endParaRPr lang="en-US" sz="1200" dirty="0"/>
          </a:p>
        </p:txBody>
      </p:sp>
      <p:sp>
        <p:nvSpPr>
          <p:cNvPr id="21" name="Text 19"/>
          <p:cNvSpPr txBox="1"/>
          <p:nvPr/>
        </p:nvSpPr>
        <p:spPr>
          <a:xfrm>
            <a:off x="8001000" y="1783080"/>
            <a:ext cx="3337560" cy="260604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The composite shrinks appreciably as the water phase evaporates. Cross-sections were measured at the time of testing, but post-drying dimensions were not logged in the original study. Dimensions quoted in this presentation are mould dimensions unless stated otherwise.</a:t>
            </a:r>
            <a:endParaRPr lang="en-US" sz="1150" dirty="0"/>
          </a:p>
          <a:p>
            <a:pPr indent="0" marL="0">
              <a:lnSpc>
                <a:spcPts val="1600"/>
              </a:lnSpc>
              <a:buNone/>
            </a:pPr>
            <a:endParaRPr lang="en-US" sz="1150" dirty="0"/>
          </a:p>
          <a:p>
            <a:pPr indent="0" marL="0">
              <a:lnSpc>
                <a:spcPts val="1600"/>
              </a:lnSpc>
              <a:buNone/>
            </a:pPr>
            <a:r>
              <a:rPr lang="en-US" sz="1150" dirty="0">
                <a:solidFill>
                  <a:schemeClr val="tx1"/>
                </a:solidFill>
              </a:rPr>
              <a:t>Anyone applying this protocol should record specimen geometry after drying, not at casting.</a:t>
            </a:r>
            <a:endParaRPr lang="en-US" sz="1150" dirty="0"/>
          </a:p>
        </p:txBody>
      </p:sp>
      <p:sp>
        <p:nvSpPr>
          <p:cNvPr id="22" name="Text 20"/>
          <p:cNvSpPr txBox="1"/>
          <p:nvPr/>
        </p:nvSpPr>
        <p:spPr>
          <a:xfrm>
            <a:off x="502920" y="5532120"/>
            <a:ext cx="6949440" cy="640080"/>
          </a:xfrm>
          <a:prstGeom prst="rect">
            <a:avLst/>
          </a:prstGeom>
          <a:noFill/>
          <a:ln/>
        </p:spPr>
        <p:txBody>
          <a:bodyPr wrap="square" lIns="0" tIns="0" rIns="0" bIns="0" rtlCol="0" anchor="ctr"/>
          <a:lstStyle/>
          <a:p>
            <a:pPr indent="0" marL="0">
              <a:lnSpc>
                <a:spcPts val="1600"/>
              </a:lnSpc>
              <a:buNone/>
            </a:pPr>
            <a:r>
              <a:rPr lang="en-US" sz="1200" i="1" dirty="0">
                <a:solidFill>
                  <a:schemeClr val="accent6"/>
                </a:solidFill>
              </a:rPr>
              <a:t>Total time from casting to a finished specimen: 11 days, entirely at ambient temperature. No energy input beyond the 55-minute cook.</a:t>
            </a:r>
            <a:endParaRPr lang="en-US" sz="1200" dirty="0"/>
          </a:p>
        </p:txBody>
      </p:sp>
      <p:sp>
        <p:nvSpPr>
          <p:cNvPr id="23" name="Text 21"/>
          <p:cNvSpPr txBox="1"/>
          <p:nvPr/>
        </p:nvSpPr>
        <p:spPr>
          <a:xfrm>
            <a:off x="7680960" y="4709160"/>
            <a:ext cx="3977640" cy="365760"/>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23 °C  ·  11 days  ·  no oven</a:t>
            </a:r>
            <a:endParaRPr lang="en-US" sz="1500" dirty="0"/>
          </a:p>
        </p:txBody>
      </p:sp>
      <p:sp>
        <p:nvSpPr>
          <p:cNvPr id="25"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Formulation matrix and derived ratios</a:t>
            </a:r>
            <a:endParaRPr lang="en-US" sz="2900" dirty="0"/>
          </a:p>
        </p:txBody>
      </p:sp>
      <p:graphicFrame>
        <p:nvGraphicFramePr>
          <p:cNvPr id="11" name="form-matrix"/>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640080"/>
                <a:gridCol w="1691640"/>
                <a:gridCol w="914400"/>
                <a:gridCol w="868680"/>
                <a:gridCol w="822960"/>
                <a:gridCol w="1143000"/>
                <a:gridCol w="914400"/>
                <a:gridCol w="1417320"/>
                <a:gridCol w="1417320"/>
                <a:gridCol w="1371600"/>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Shell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Agar</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Shell : binder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 : 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 of solids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325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165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450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obs1"/>
          <p:cNvSpPr/>
          <p:nvPr/>
        </p:nvSpPr>
        <p:spPr>
          <a:xfrm>
            <a:off x="502920" y="4114800"/>
            <a:ext cx="5440680" cy="1783080"/>
          </a:xfrm>
          <a:prstGeom prst="roundRect">
            <a:avLst>
              <a:gd name="adj" fmla="val 2564"/>
            </a:avLst>
          </a:prstGeom>
          <a:solidFill>
            <a:schemeClr val="bg2"/>
          </a:solidFill>
          <a:ln w="12700">
            <a:solidFill>
              <a:schemeClr val="bg2"/>
            </a:solidFill>
            <a:prstDash val="solid"/>
          </a:ln>
        </p:spPr>
      </p:sp>
      <p:sp>
        <p:nvSpPr>
          <p:cNvPr id="5" name="Text 2"/>
          <p:cNvSpPr txBox="1"/>
          <p:nvPr/>
        </p:nvSpPr>
        <p:spPr>
          <a:xfrm>
            <a:off x="822960" y="4315968"/>
            <a:ext cx="4800600" cy="274320"/>
          </a:xfrm>
          <a:prstGeom prst="rect">
            <a:avLst/>
          </a:prstGeom>
          <a:noFill/>
          <a:ln/>
        </p:spPr>
        <p:txBody>
          <a:bodyPr wrap="square" lIns="0" tIns="0" rIns="0" bIns="0" rtlCol="0" anchor="ctr"/>
          <a:lstStyle/>
          <a:p>
            <a:pPr indent="0" marL="0">
              <a:buNone/>
            </a:pPr>
            <a:r>
              <a:rPr lang="en-US" sz="1200" b="1" dirty="0">
                <a:solidFill>
                  <a:schemeClr val="accent1"/>
                </a:solidFill>
              </a:rPr>
              <a:t>COMPRESSION SERIES</a:t>
            </a:r>
            <a:endParaRPr lang="en-US" sz="1200" dirty="0"/>
          </a:p>
        </p:txBody>
      </p:sp>
      <p:sp>
        <p:nvSpPr>
          <p:cNvPr id="6" name="Text 3"/>
          <p:cNvSpPr txBox="1"/>
          <p:nvPr/>
        </p:nvSpPr>
        <p:spPr>
          <a:xfrm>
            <a:off x="822960" y="4645152"/>
            <a:ext cx="4800600" cy="10972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The shell-to-binder mass ratio is held at exactly 2.00 across all three formulations. The single variable that changes is solids concentration, which rises from 0.37 to 0.59.</a:t>
            </a:r>
            <a:endParaRPr lang="en-US" sz="1250" dirty="0"/>
          </a:p>
        </p:txBody>
      </p:sp>
      <p:sp>
        <p:nvSpPr>
          <p:cNvPr id="7" name="obs2"/>
          <p:cNvSpPr/>
          <p:nvPr/>
        </p:nvSpPr>
        <p:spPr>
          <a:xfrm>
            <a:off x="6217920" y="4114800"/>
            <a:ext cx="5440680" cy="1783080"/>
          </a:xfrm>
          <a:prstGeom prst="roundRect">
            <a:avLst>
              <a:gd name="adj" fmla="val 2564"/>
            </a:avLst>
          </a:prstGeom>
          <a:solidFill>
            <a:srgbClr val="F6E8DF"/>
          </a:solidFill>
          <a:ln w="12700">
            <a:solidFill>
              <a:srgbClr val="F6E8DF"/>
            </a:solidFill>
            <a:prstDash val="solid"/>
          </a:ln>
        </p:spPr>
      </p:sp>
      <p:sp>
        <p:nvSpPr>
          <p:cNvPr id="8" name="Text 5"/>
          <p:cNvSpPr txBox="1"/>
          <p:nvPr/>
        </p:nvSpPr>
        <p:spPr>
          <a:xfrm>
            <a:off x="6537960" y="4315968"/>
            <a:ext cx="4800600" cy="274320"/>
          </a:xfrm>
          <a:prstGeom prst="rect">
            <a:avLst/>
          </a:prstGeom>
          <a:noFill/>
          <a:ln/>
        </p:spPr>
        <p:txBody>
          <a:bodyPr wrap="square" lIns="0" tIns="0" rIns="0" bIns="0" rtlCol="0" anchor="ctr"/>
          <a:lstStyle/>
          <a:p>
            <a:pPr indent="0" marL="0">
              <a:buNone/>
            </a:pPr>
            <a:r>
              <a:rPr lang="en-US" sz="1200" b="1" dirty="0">
                <a:solidFill>
                  <a:schemeClr val="accent1"/>
                </a:solidFill>
              </a:rPr>
              <a:t>FLEXURAL SERIES — CONFOUND</a:t>
            </a:r>
            <a:endParaRPr lang="en-US" sz="1200" dirty="0"/>
          </a:p>
        </p:txBody>
      </p:sp>
      <p:sp>
        <p:nvSpPr>
          <p:cNvPr id="9" name="Text 6"/>
          <p:cNvSpPr txBox="1"/>
          <p:nvPr/>
        </p:nvSpPr>
        <p:spPr>
          <a:xfrm>
            <a:off x="6537960" y="4645152"/>
            <a:ext cx="4800600" cy="10972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Glycerol was halved, but total batch mass was held at 770 g, so water rose to compensate. Shell-to-binder and solids concentration therefore moved as well. The glycerol effect is not fully isolated.</a:t>
            </a:r>
            <a:endParaRPr lang="en-US" sz="12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Test programme</a:t>
            </a:r>
            <a:endParaRPr lang="en-US" sz="2900" dirty="0"/>
          </a:p>
        </p:txBody>
      </p:sp>
      <p:graphicFrame>
        <p:nvGraphicFramePr>
          <p:cNvPr id="12" name="test-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2286000"/>
                <a:gridCol w="2240280"/>
                <a:gridCol w="3200400"/>
                <a:gridCol w="1051560"/>
                <a:gridCol w="2377440"/>
              </a:tblGrid>
              <a:tr h="4754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Specimen geometry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Measured quantity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Compressive behaviour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 (cube 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50 mm cube moulds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 per mix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Maximum load; compressive stress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Flexural behaviour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ASTM D790, three-point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180 × 60 × 20 mm, 120 mm span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 per mix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Flexural strength; flexural modulus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Reaction to fire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ISO 11925-2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40 × 50 mm, 45°, 15 s edge flame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 ignitions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Time to ignition; time to self-extinguish</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Water absorption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ASTM D570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40 × 50 mm, shellac-coated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Mass gain after 24 h immersion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Bulk density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Gravimetric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50 mm cube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Mass / mould volume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test-note"/>
          <p:cNvSpPr/>
          <p:nvPr/>
        </p:nvSpPr>
        <p:spPr>
          <a:xfrm>
            <a:off x="502920" y="4343400"/>
            <a:ext cx="11155680" cy="1463040"/>
          </a:xfrm>
          <a:prstGeom prst="roundRect">
            <a:avLst>
              <a:gd name="adj" fmla="val 3125"/>
            </a:avLst>
          </a:prstGeom>
          <a:solidFill>
            <a:schemeClr val="bg2"/>
          </a:solidFill>
          <a:ln w="12700">
            <a:solidFill>
              <a:schemeClr val="bg2"/>
            </a:solidFill>
            <a:prstDash val="solid"/>
          </a:ln>
        </p:spPr>
      </p:sp>
      <p:sp>
        <p:nvSpPr>
          <p:cNvPr id="5" name="Text 2"/>
          <p:cNvSpPr txBox="1"/>
          <p:nvPr/>
        </p:nvSpPr>
        <p:spPr>
          <a:xfrm>
            <a:off x="822960" y="4544568"/>
            <a:ext cx="10515600" cy="274320"/>
          </a:xfrm>
          <a:prstGeom prst="rect">
            <a:avLst/>
          </a:prstGeom>
          <a:noFill/>
          <a:ln/>
        </p:spPr>
        <p:txBody>
          <a:bodyPr wrap="square" lIns="0" tIns="0" rIns="0" bIns="0" rtlCol="0" anchor="ctr"/>
          <a:lstStyle/>
          <a:p>
            <a:pPr indent="0" marL="0">
              <a:buNone/>
            </a:pPr>
            <a:r>
              <a:rPr lang="en-US" sz="1200" b="1" dirty="0">
                <a:solidFill>
                  <a:schemeClr val="accent1"/>
                </a:solidFill>
              </a:rPr>
              <a:t>REPORTING CONVENTION</a:t>
            </a:r>
            <a:endParaRPr lang="en-US" sz="1200" dirty="0"/>
          </a:p>
        </p:txBody>
      </p:sp>
      <p:sp>
        <p:nvSpPr>
          <p:cNvPr id="6" name="Text 3"/>
          <p:cNvSpPr txBox="1"/>
          <p:nvPr/>
        </p:nvSpPr>
        <p:spPr>
          <a:xfrm>
            <a:off x="822960" y="4873752"/>
            <a:ext cx="10515600" cy="8686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All mechanical values reported in this presentation are means of three specimens. Individual specimen values were not retained in the original study, so standard deviations cannot be reported. Fire, absorption and density figures rest on single determinations and are presented as indicative rather than characteristic values.</a:t>
            </a:r>
            <a:endParaRPr lang="en-US" sz="1250" dirty="0"/>
          </a:p>
        </p:txBody>
      </p:sp>
      <p:sp>
        <p:nvSpPr>
          <p:cNvPr id="7" name="Text 4"/>
          <p:cNvSpPr txBox="1"/>
          <p:nvPr/>
        </p:nvSpPr>
        <p:spPr>
          <a:xfrm>
            <a:off x="502920" y="5897880"/>
            <a:ext cx="11155680" cy="320040"/>
          </a:xfrm>
          <a:prstGeom prst="rect">
            <a:avLst/>
          </a:prstGeom>
          <a:noFill/>
          <a:ln/>
        </p:spPr>
        <p:txBody>
          <a:bodyPr wrap="square" lIns="0" tIns="0" rIns="0" bIns="0" rtlCol="0" anchor="ctr"/>
          <a:lstStyle/>
          <a:p>
            <a:pPr indent="0" marL="0">
              <a:buNone/>
            </a:pPr>
            <a:r>
              <a:rPr lang="en-US" sz="1100" i="1" dirty="0">
                <a:solidFill>
                  <a:schemeClr val="accent6"/>
                </a:solidFill>
              </a:rPr>
              <a:t>All testing: Advanced Construction Materials Research Laboratory, Hacettepe University.</a:t>
            </a:r>
            <a:endParaRPr lang="en-US" sz="1100" dirty="0"/>
          </a:p>
        </p:txBody>
      </p:sp>
      <p:sp>
        <p:nvSpPr>
          <p:cNvPr id="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Compressive strength scales with solids concentration</a:t>
            </a:r>
            <a:endParaRPr lang="en-US" sz="2900" dirty="0"/>
          </a:p>
        </p:txBody>
      </p:sp>
      <p:graphicFrame>
        <p:nvGraphicFramePr>
          <p:cNvPr id="13" name="comp-table"/>
          <p:cNvGraphicFramePr>
            <a:graphicFrameLocks noGrp="1"/>
          </p:cNvGraphicFramePr>
          <p:nvPr>
            <p:extLst>
              <p:ext uri="{D42A27DB-BD31-4B8C-83A1-F6EECF244321}">
                <p14:modId xmlns:p14="http://schemas.microsoft.com/office/powerpoint/2010/main" val="1579011935"/>
              </p:ext>
            </p:extLst>
          </p:nvPr>
        </p:nvGraphicFramePr>
        <p:xfrm>
          <a:off x="502920" y="1188720"/>
          <a:ext cx="4846320" cy="914400"/>
        </p:xfrm>
        <a:graphic>
          <a:graphicData uri="http://schemas.openxmlformats.org/drawingml/2006/table">
            <a:tbl>
              <a:tblPr/>
              <a:tblGrid>
                <a:gridCol w="731520"/>
                <a:gridCol w="1554480"/>
                <a:gridCol w="1280160"/>
                <a:gridCol w="128016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 : 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Fₘₐₓ (kN)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σᴄ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3.89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4.30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6.80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4.10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r>
            </a:tbl>
          </a:graphicData>
        </a:graphic>
      </p:graphicFrame>
      <p:graphicFrame>
        <p:nvGraphicFramePr>
          <p:cNvPr id="4" name="comp-chart" descr=""/>
          <p:cNvGraphicFramePr/>
          <p:nvPr/>
        </p:nvGraphicFramePr>
        <p:xfrm>
          <a:off x="5577840" y="1188720"/>
          <a:ext cx="6080760" cy="3200400"/>
        </p:xfrm>
        <a:graphic xmlns:a="http://schemas.openxmlformats.org/drawingml/2006/main">
          <a:graphicData uri="http://schemas.openxmlformats.org/drawingml/2006/chart">
            <c:chart xmlns:c="http://schemas.openxmlformats.org/drawingml/2006/chart" r:id="rId1"/>
          </a:graphicData>
        </a:graphic>
      </p:graphicFrame>
      <p:sp>
        <p:nvSpPr>
          <p:cNvPr id="5" name="fit-card"/>
          <p:cNvSpPr/>
          <p:nvPr/>
        </p:nvSpPr>
        <p:spPr>
          <a:xfrm>
            <a:off x="502920" y="3200400"/>
            <a:ext cx="4846320" cy="2606040"/>
          </a:xfrm>
          <a:prstGeom prst="roundRect">
            <a:avLst>
              <a:gd name="adj" fmla="val 1754"/>
            </a:avLst>
          </a:prstGeom>
          <a:solidFill>
            <a:srgbClr val="2E5F4A"/>
          </a:solidFill>
          <a:ln w="12700">
            <a:solidFill>
              <a:srgbClr val="2E5F4A"/>
            </a:solidFill>
            <a:prstDash val="solid"/>
          </a:ln>
        </p:spPr>
      </p:sp>
      <p:sp>
        <p:nvSpPr>
          <p:cNvPr id="6" name="Text 2"/>
          <p:cNvSpPr txBox="1"/>
          <p:nvPr/>
        </p:nvSpPr>
        <p:spPr>
          <a:xfrm>
            <a:off x="822960" y="3401568"/>
            <a:ext cx="4206240" cy="274320"/>
          </a:xfrm>
          <a:prstGeom prst="rect">
            <a:avLst/>
          </a:prstGeom>
          <a:noFill/>
          <a:ln/>
        </p:spPr>
        <p:txBody>
          <a:bodyPr wrap="square" lIns="0" tIns="0" rIns="0" bIns="0" rtlCol="0" anchor="ctr"/>
          <a:lstStyle/>
          <a:p>
            <a:pPr indent="0" marL="0">
              <a:buNone/>
            </a:pPr>
            <a:r>
              <a:rPr lang="en-US" sz="1200" b="1" dirty="0">
                <a:solidFill>
                  <a:srgbClr val="AFC4B7"/>
                </a:solidFill>
              </a:rPr>
              <a:t>OBSERVED RELATIONSHIP</a:t>
            </a:r>
            <a:endParaRPr lang="en-US" sz="1200" dirty="0"/>
          </a:p>
        </p:txBody>
      </p:sp>
      <p:sp>
        <p:nvSpPr>
          <p:cNvPr id="7" name="Text 3"/>
          <p:cNvSpPr txBox="1"/>
          <p:nvPr/>
        </p:nvSpPr>
        <p:spPr>
          <a:xfrm>
            <a:off x="822960" y="3749040"/>
            <a:ext cx="420624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σᴄ  =  6.93 · (solids : water)  +  0.04</a:t>
            </a:r>
            <a:endParaRPr lang="en-US" sz="1600" dirty="0"/>
          </a:p>
        </p:txBody>
      </p:sp>
      <p:sp>
        <p:nvSpPr>
          <p:cNvPr id="8" name="Text 4"/>
          <p:cNvSpPr txBox="1"/>
          <p:nvPr/>
        </p:nvSpPr>
        <p:spPr>
          <a:xfrm>
            <a:off x="822960" y="4251960"/>
            <a:ext cx="4206240" cy="320040"/>
          </a:xfrm>
          <a:prstGeom prst="rect">
            <a:avLst/>
          </a:prstGeom>
          <a:noFill/>
          <a:ln/>
        </p:spPr>
        <p:txBody>
          <a:bodyPr wrap="square" lIns="0" tIns="0" rIns="0" bIns="0" rtlCol="0" anchor="ctr"/>
          <a:lstStyle/>
          <a:p>
            <a:pPr indent="0" marL="0">
              <a:buNone/>
            </a:pPr>
            <a:r>
              <a:rPr lang="en-US" sz="1200" dirty="0">
                <a:solidFill>
                  <a:srgbClr val="F0C9A8"/>
                </a:solidFill>
              </a:rPr>
              <a:t>R² = 0.994  over the range 0.37 – 0.59</a:t>
            </a:r>
            <a:endParaRPr lang="en-US" sz="1200" dirty="0"/>
          </a:p>
        </p:txBody>
      </p:sp>
      <p:sp>
        <p:nvSpPr>
          <p:cNvPr id="9" name="Text 5"/>
          <p:cNvSpPr txBox="1"/>
          <p:nvPr/>
        </p:nvSpPr>
        <p:spPr>
          <a:xfrm>
            <a:off x="822960" y="4645152"/>
            <a:ext cx="4206240" cy="1005840"/>
          </a:xfrm>
          <a:prstGeom prst="rect">
            <a:avLst/>
          </a:prstGeom>
          <a:noFill/>
          <a:ln/>
        </p:spPr>
        <p:txBody>
          <a:bodyPr wrap="square" lIns="0" tIns="0" rIns="0" bIns="0" rtlCol="0" anchor="ctr"/>
          <a:lstStyle/>
          <a:p>
            <a:pPr indent="0" marL="0">
              <a:lnSpc>
                <a:spcPts val="1500"/>
              </a:lnSpc>
              <a:buNone/>
            </a:pPr>
            <a:r>
              <a:rPr lang="en-US" sz="1150" dirty="0">
                <a:solidFill>
                  <a:srgbClr val="C7D4C9"/>
                </a:solidFill>
              </a:rPr>
              <a:t>With shell : binder fixed at 2.00, compressive stress is a linear function of solids concentration across the range tested. Three formulations cannot establish this as a law — but it is a testable hypothesis, and it predicts that strength is set by packing density rather than by mineral content as such.</a:t>
            </a:r>
            <a:endParaRPr lang="en-US" sz="11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Failure mode: progressive crushing, not fracture</a:t>
            </a:r>
            <a:endParaRPr lang="en-US" sz="29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502920" y="1188720"/>
            <a:ext cx="1874520" cy="4059936"/>
          </a:xfrm>
          <a:prstGeom prst="rect">
            <a:avLst/>
          </a:prstGeom>
        </p:spPr>
      </p:pic>
      <p:sp>
        <p:nvSpPr>
          <p:cNvPr id="4" name="Text 1"/>
          <p:cNvSpPr txBox="1"/>
          <p:nvPr/>
        </p:nvSpPr>
        <p:spPr>
          <a:xfrm>
            <a:off x="502920" y="5303520"/>
            <a:ext cx="2194560" cy="548640"/>
          </a:xfrm>
          <a:prstGeom prst="rect">
            <a:avLst/>
          </a:prstGeom>
          <a:noFill/>
          <a:ln/>
        </p:spPr>
        <p:txBody>
          <a:bodyPr wrap="square" lIns="0" tIns="0" rIns="0" bIns="0" rtlCol="0" anchor="ctr"/>
          <a:lstStyle/>
          <a:p>
            <a:pPr indent="0" marL="0">
              <a:lnSpc>
                <a:spcPts val="1400"/>
              </a:lnSpc>
              <a:buNone/>
            </a:pPr>
            <a:r>
              <a:rPr lang="en-US" sz="1050" i="1" dirty="0">
                <a:solidFill>
                  <a:schemeClr val="accent6"/>
                </a:solidFill>
              </a:rPr>
              <a:t>C3 specimen after loading: barrelled, shortened, still a single body</a:t>
            </a:r>
            <a:endParaRPr lang="en-US" sz="1050" dirty="0"/>
          </a:p>
        </p:txBody>
      </p:sp>
      <p:sp>
        <p:nvSpPr>
          <p:cNvPr id="5" name="Text 2"/>
          <p:cNvSpPr txBox="1"/>
          <p:nvPr/>
        </p:nvSpPr>
        <p:spPr>
          <a:xfrm>
            <a:off x="2743200" y="1207008"/>
            <a:ext cx="4572000" cy="274320"/>
          </a:xfrm>
          <a:prstGeom prst="rect">
            <a:avLst/>
          </a:prstGeom>
          <a:noFill/>
          <a:ln/>
        </p:spPr>
        <p:txBody>
          <a:bodyPr wrap="square" lIns="0" tIns="0" rIns="0" bIns="0" rtlCol="0" anchor="ctr"/>
          <a:lstStyle/>
          <a:p>
            <a:pPr indent="0" marL="0">
              <a:buNone/>
            </a:pPr>
            <a:r>
              <a:rPr lang="en-US" sz="1250" b="1" dirty="0">
                <a:solidFill>
                  <a:schemeClr val="tx2"/>
                </a:solidFill>
              </a:rPr>
              <a:t>Compressive stress – strain, C3</a:t>
            </a:r>
            <a:endParaRPr lang="en-US" sz="1250" dirty="0"/>
          </a:p>
        </p:txBody>
      </p:sp>
      <p:pic>
        <p:nvPicPr>
          <p:cNvPr id="6" name="comp-curve" descr="/home/user/sanat-ve-mekan/konferans-bildirisi/03-gorseller/05b-basma-egrisi.png">    </p:cNvPr>
          <p:cNvPicPr>
            <a:picLocks noChangeAspect="1"/>
          </p:cNvPicPr>
          <p:nvPr/>
        </p:nvPicPr>
        <p:blipFill>
          <a:blip r:embed="rId2"/>
          <a:stretch>
            <a:fillRect/>
          </a:stretch>
        </p:blipFill>
        <p:spPr>
          <a:xfrm>
            <a:off x="2743200" y="1536192"/>
            <a:ext cx="4572000" cy="2560320"/>
          </a:xfrm>
          <a:prstGeom prst="rect">
            <a:avLst/>
          </a:prstGeom>
        </p:spPr>
      </p:pic>
      <p:sp>
        <p:nvSpPr>
          <p:cNvPr id="7" name="Text 3"/>
          <p:cNvSpPr txBox="1"/>
          <p:nvPr/>
        </p:nvSpPr>
        <p:spPr>
          <a:xfrm rot="16200000">
            <a:off x="2121408" y="2377440"/>
            <a:ext cx="1188720" cy="274320"/>
          </a:xfrm>
          <a:prstGeom prst="rect">
            <a:avLst/>
          </a:prstGeom>
          <a:noFill/>
          <a:ln/>
        </p:spPr>
        <p:txBody>
          <a:bodyPr wrap="square" lIns="0" tIns="0" rIns="0" bIns="0" rtlCol="0" anchor="ctr"/>
          <a:lstStyle/>
          <a:p>
            <a:pPr indent="0" marL="0">
              <a:buNone/>
            </a:pPr>
            <a:r>
              <a:rPr lang="en-US" sz="1000" dirty="0">
                <a:solidFill>
                  <a:schemeClr val="accent6"/>
                </a:solidFill>
              </a:rPr>
              <a:t>Stress (MPa)</a:t>
            </a:r>
            <a:endParaRPr lang="en-US" sz="1000" dirty="0"/>
          </a:p>
        </p:txBody>
      </p:sp>
      <p:sp>
        <p:nvSpPr>
          <p:cNvPr id="8" name="Text 4"/>
          <p:cNvSpPr txBox="1"/>
          <p:nvPr/>
        </p:nvSpPr>
        <p:spPr>
          <a:xfrm>
            <a:off x="2743200" y="4114800"/>
            <a:ext cx="4572000" cy="274320"/>
          </a:xfrm>
          <a:prstGeom prst="rect">
            <a:avLst/>
          </a:prstGeom>
          <a:noFill/>
          <a:ln/>
        </p:spPr>
        <p:txBody>
          <a:bodyPr wrap="square" lIns="0" tIns="0" rIns="0" bIns="0" rtlCol="0" anchor="ctr"/>
          <a:lstStyle/>
          <a:p>
            <a:pPr algn="ctr" indent="0" marL="0">
              <a:buNone/>
            </a:pPr>
            <a:r>
              <a:rPr lang="en-US" sz="1000" dirty="0">
                <a:solidFill>
                  <a:schemeClr val="accent6"/>
                </a:solidFill>
              </a:rPr>
              <a:t>Strain</a:t>
            </a:r>
            <a:endParaRPr lang="en-US" sz="1000" dirty="0"/>
          </a:p>
        </p:txBody>
      </p:sp>
      <p:sp>
        <p:nvSpPr>
          <p:cNvPr id="9" name="fail-card"/>
          <p:cNvSpPr/>
          <p:nvPr/>
        </p:nvSpPr>
        <p:spPr>
          <a:xfrm>
            <a:off x="7589520" y="1188720"/>
            <a:ext cx="4069080" cy="4160520"/>
          </a:xfrm>
          <a:prstGeom prst="roundRect">
            <a:avLst>
              <a:gd name="adj" fmla="val 1124"/>
            </a:avLst>
          </a:prstGeom>
          <a:solidFill>
            <a:schemeClr val="bg2"/>
          </a:solidFill>
          <a:ln w="12700">
            <a:solidFill>
              <a:schemeClr val="bg2"/>
            </a:solidFill>
            <a:prstDash val="solid"/>
          </a:ln>
        </p:spPr>
      </p:sp>
      <p:sp>
        <p:nvSpPr>
          <p:cNvPr id="10" name="Text 6"/>
          <p:cNvSpPr txBox="1"/>
          <p:nvPr/>
        </p:nvSpPr>
        <p:spPr>
          <a:xfrm>
            <a:off x="7909560" y="138988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READING THE CURVE</a:t>
            </a:r>
            <a:endParaRPr lang="en-US" sz="1200" dirty="0"/>
          </a:p>
        </p:txBody>
      </p:sp>
      <p:sp>
        <p:nvSpPr>
          <p:cNvPr id="11" name="Text 7"/>
          <p:cNvSpPr txBox="1"/>
          <p:nvPr/>
        </p:nvSpPr>
        <p:spPr>
          <a:xfrm>
            <a:off x="7909560" y="1737360"/>
            <a:ext cx="3429000" cy="26517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chemeClr val="tx1"/>
                </a:solidFill>
              </a:rPr>
              <a:t>Initial linear elastic region to approximately 1 MPa.</a:t>
            </a:r>
            <a:endParaRPr lang="en-US" sz="1200" dirty="0"/>
          </a:p>
          <a:p>
            <a:pPr marL="342900" indent="-342900">
              <a:lnSpc>
                <a:spcPts val="1600"/>
              </a:lnSpc>
              <a:spcAft>
                <a:spcPts val="800"/>
              </a:spcAft>
              <a:buSzPct val="100000"/>
              <a:buChar char="•"/>
            </a:pPr>
            <a:r>
              <a:rPr lang="en-US" sz="1200" dirty="0">
                <a:solidFill>
                  <a:schemeClr val="tx1"/>
                </a:solidFill>
              </a:rPr>
              <a:t>Progressive stiffness loss as the agar network yields and the mineral phase redistributes.</a:t>
            </a:r>
            <a:endParaRPr lang="en-US" sz="1200" dirty="0"/>
          </a:p>
          <a:p>
            <a:pPr marL="342900" indent="-342900">
              <a:lnSpc>
                <a:spcPts val="1600"/>
              </a:lnSpc>
              <a:spcAft>
                <a:spcPts val="800"/>
              </a:spcAft>
              <a:buSzPct val="100000"/>
              <a:buChar char="•"/>
            </a:pPr>
            <a:r>
              <a:rPr lang="en-US" sz="1200" dirty="0">
                <a:solidFill>
                  <a:schemeClr val="tx1"/>
                </a:solidFill>
              </a:rPr>
              <a:t>Peak stress reached at roughly 10% strain, with no abrupt load drop.</a:t>
            </a:r>
            <a:endParaRPr lang="en-US" sz="1200" dirty="0"/>
          </a:p>
          <a:p>
            <a:pPr marL="342900" indent="-342900">
              <a:lnSpc>
                <a:spcPts val="1600"/>
              </a:lnSpc>
              <a:spcAft>
                <a:spcPts val="800"/>
              </a:spcAft>
              <a:buSzPct val="100000"/>
              <a:buChar char="•"/>
            </a:pPr>
            <a:r>
              <a:rPr lang="en-US" sz="1200" dirty="0">
                <a:solidFill>
                  <a:schemeClr val="tx1"/>
                </a:solidFill>
              </a:rPr>
              <a:t>Beyond peak the specimen continues to deform while retaining integrity: energy is absorbed rather than released.</a:t>
            </a:r>
            <a:endParaRPr lang="en-US" sz="1200" dirty="0"/>
          </a:p>
        </p:txBody>
      </p:sp>
      <p:sp>
        <p:nvSpPr>
          <p:cNvPr id="12" name="Text 8"/>
          <p:cNvSpPr txBox="1"/>
          <p:nvPr/>
        </p:nvSpPr>
        <p:spPr>
          <a:xfrm>
            <a:off x="7909560" y="4526280"/>
            <a:ext cx="3429000" cy="731520"/>
          </a:xfrm>
          <a:prstGeom prst="rect">
            <a:avLst/>
          </a:prstGeom>
          <a:noFill/>
          <a:ln/>
        </p:spPr>
        <p:txBody>
          <a:bodyPr wrap="square" lIns="0" tIns="0" rIns="0" bIns="0" rtlCol="0" anchor="ctr"/>
          <a:lstStyle/>
          <a:p>
            <a:pPr indent="0" marL="0">
              <a:lnSpc>
                <a:spcPts val="1400"/>
              </a:lnSpc>
              <a:buNone/>
            </a:pPr>
            <a:r>
              <a:rPr lang="en-US" sz="1050" i="1" dirty="0">
                <a:solidFill>
                  <a:schemeClr val="accent1"/>
                </a:solidFill>
              </a:rPr>
              <a:t>Strain values were derived from an assumed 10% maximum deformation based on observation during testing, not from instrumented strain measurement.</a:t>
            </a:r>
            <a:endParaRPr lang="en-US" sz="1050" dirty="0"/>
          </a:p>
        </p:txBody>
      </p:sp>
      <p:sp>
        <p:nvSpPr>
          <p:cNvPr id="13" name="Text 9"/>
          <p:cNvSpPr txBox="1"/>
          <p:nvPr/>
        </p:nvSpPr>
        <p:spPr>
          <a:xfrm>
            <a:off x="2743200" y="4617720"/>
            <a:ext cx="4572000" cy="640080"/>
          </a:xfrm>
          <a:prstGeom prst="rect">
            <a:avLst/>
          </a:prstGeom>
          <a:noFill/>
          <a:ln/>
        </p:spPr>
        <p:txBody>
          <a:bodyPr wrap="square" lIns="0" tIns="0" rIns="0" bIns="0" rtlCol="0" anchor="ctr"/>
          <a:lstStyle/>
          <a:p>
            <a:pPr indent="0" marL="0">
              <a:lnSpc>
                <a:spcPts val="1600"/>
              </a:lnSpc>
              <a:buNone/>
            </a:pPr>
            <a:r>
              <a:rPr lang="en-US" sz="1200" b="1" dirty="0">
                <a:solidFill>
                  <a:schemeClr val="tx2"/>
                </a:solidFill>
              </a:rPr>
              <a:t>Bulk density 1.38 g/cm³ (mould volume basis)  ·  specific compressive strength 2.96 MPa per g/cm³</a:t>
            </a:r>
            <a:endParaRPr lang="en-US" sz="1200" dirty="0"/>
          </a:p>
        </p:txBody>
      </p:sp>
      <p:sp>
        <p:nvSpPr>
          <p:cNvPr id="15"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Flexural behaviour: plasticiser content is decisive</a:t>
            </a:r>
            <a:endParaRPr lang="en-US" sz="2900" dirty="0"/>
          </a:p>
        </p:txBody>
      </p:sp>
      <p:graphicFrame>
        <p:nvGraphicFramePr>
          <p:cNvPr id="15" name="flex-table"/>
          <p:cNvGraphicFramePr>
            <a:graphicFrameLocks noGrp="1"/>
          </p:cNvGraphicFramePr>
          <p:nvPr>
            <p:extLst>
              <p:ext uri="{D42A27DB-BD31-4B8C-83A1-F6EECF244321}">
                <p14:modId xmlns:p14="http://schemas.microsoft.com/office/powerpoint/2010/main" val="1579011935"/>
              </p:ext>
            </p:extLst>
          </p:nvPr>
        </p:nvGraphicFramePr>
        <p:xfrm>
          <a:off x="502920" y="1188720"/>
          <a:ext cx="6812280" cy="914400"/>
        </p:xfrm>
        <a:graphic>
          <a:graphicData uri="http://schemas.openxmlformats.org/drawingml/2006/table">
            <a:tbl>
              <a:tblPr/>
              <a:tblGrid>
                <a:gridCol w="685800"/>
                <a:gridCol w="1508760"/>
                <a:gridCol w="1097280"/>
                <a:gridCol w="1600200"/>
                <a:gridCol w="1005840"/>
                <a:gridCol w="91440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 of solids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Fₘₐₓ (N)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σꜰ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Eꜰ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ε at peak</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i="1" dirty="0">
                          <a:solidFill>
                            <a:schemeClr val="tx1"/>
                          </a:solidFill>
                          <a:latin typeface="Calibri" pitchFamily="34" charset="0"/>
                          <a:ea typeface="Calibri" pitchFamily="34" charset="-122"/>
                          <a:cs typeface="Calibri" pitchFamily="34" charset="-120"/>
                        </a:rPr>
                        <a:t>not measurable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2.325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0.0121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2606040"/>
            <a:ext cx="6812280" cy="365760"/>
          </a:xfrm>
          <a:prstGeom prst="rect">
            <a:avLst/>
          </a:prstGeom>
          <a:noFill/>
          <a:ln/>
        </p:spPr>
        <p:txBody>
          <a:bodyPr wrap="square" lIns="0" tIns="0" rIns="0" bIns="0" rtlCol="0" anchor="ctr"/>
          <a:lstStyle/>
          <a:p>
            <a:pPr indent="0" marL="0">
              <a:buNone/>
            </a:pPr>
            <a:r>
              <a:rPr lang="en-US" sz="1150" dirty="0">
                <a:solidFill>
                  <a:schemeClr val="accent6"/>
                </a:solidFill>
              </a:rPr>
              <a:t>σꜰ = 3FL / 2bd²  with F = 310 N, L = 120 mm, b = 60 mm, d = 20 mm   ·   ε = σꜰ / Eꜰ (Hooke, elastic region)</a:t>
            </a:r>
            <a:endParaRPr lang="en-US" sz="1150" dirty="0"/>
          </a:p>
        </p:txBody>
      </p:sp>
      <p:pic>
        <p:nvPicPr>
          <p:cNvPr id="5" name="bend" descr="/home/user/sanat-ve-mekan/konferans-bildirisi/03-gorseller/06-egilme-buyuk-sehim.jpg">    </p:cNvPr>
          <p:cNvPicPr>
            <a:picLocks noChangeAspect="1"/>
          </p:cNvPicPr>
          <p:nvPr/>
        </p:nvPicPr>
        <p:blipFill>
          <a:blip r:embed="rId1"/>
          <a:stretch>
            <a:fillRect/>
          </a:stretch>
        </p:blipFill>
        <p:spPr>
          <a:xfrm>
            <a:off x="502920" y="3154680"/>
            <a:ext cx="1234440" cy="2743200"/>
          </a:xfrm>
          <a:prstGeom prst="rect">
            <a:avLst/>
          </a:prstGeom>
        </p:spPr>
      </p:pic>
      <p:pic>
        <p:nvPicPr>
          <p:cNvPr id="6" name="arch" descr="/home/user/sanat-ve-mekan/konferans-bildirisi/03-gorseller/08b-yivli-panel-kemer.jpg">    </p:cNvPr>
          <p:cNvPicPr>
            <a:picLocks noChangeAspect="1"/>
          </p:cNvPicPr>
          <p:nvPr/>
        </p:nvPicPr>
        <p:blipFill>
          <a:blip r:embed="rId2"/>
          <a:stretch>
            <a:fillRect/>
          </a:stretch>
        </p:blipFill>
        <p:spPr>
          <a:xfrm>
            <a:off x="1920240" y="3154680"/>
            <a:ext cx="1828800" cy="2560320"/>
          </a:xfrm>
          <a:prstGeom prst="rect">
            <a:avLst/>
          </a:prstGeom>
        </p:spPr>
      </p:pic>
      <p:sp>
        <p:nvSpPr>
          <p:cNvPr id="7" name="Text 2"/>
          <p:cNvSpPr txBox="1"/>
          <p:nvPr/>
        </p:nvSpPr>
        <p:spPr>
          <a:xfrm>
            <a:off x="502920" y="5852160"/>
            <a:ext cx="3246120" cy="411480"/>
          </a:xfrm>
          <a:prstGeom prst="rect">
            <a:avLst/>
          </a:prstGeom>
          <a:noFill/>
          <a:ln/>
        </p:spPr>
        <p:txBody>
          <a:bodyPr wrap="square" lIns="0" tIns="0" rIns="0" bIns="0" rtlCol="0" anchor="ctr"/>
          <a:lstStyle/>
          <a:p>
            <a:pPr indent="0" marL="0">
              <a:lnSpc>
                <a:spcPts val="1300"/>
              </a:lnSpc>
              <a:buNone/>
            </a:pPr>
            <a:r>
              <a:rPr lang="en-US" sz="1000" i="1" dirty="0">
                <a:solidFill>
                  <a:schemeClr val="accent6"/>
                </a:solidFill>
              </a:rPr>
              <a:t>Three-point rig at high deflection; kerfed panel arched by hand</a:t>
            </a:r>
            <a:endParaRPr lang="en-US" sz="1000" dirty="0"/>
          </a:p>
        </p:txBody>
      </p:sp>
      <p:sp>
        <p:nvSpPr>
          <p:cNvPr id="8" name="Text 3"/>
          <p:cNvSpPr txBox="1"/>
          <p:nvPr/>
        </p:nvSpPr>
        <p:spPr>
          <a:xfrm>
            <a:off x="3977640" y="3154680"/>
            <a:ext cx="3291840" cy="256032"/>
          </a:xfrm>
          <a:prstGeom prst="rect">
            <a:avLst/>
          </a:prstGeom>
          <a:noFill/>
          <a:ln/>
        </p:spPr>
        <p:txBody>
          <a:bodyPr wrap="square" lIns="0" tIns="0" rIns="0" bIns="0" rtlCol="0" anchor="ctr"/>
          <a:lstStyle/>
          <a:p>
            <a:pPr indent="0" marL="0">
              <a:buNone/>
            </a:pPr>
            <a:r>
              <a:rPr lang="en-US" sz="1150" b="1" dirty="0">
                <a:solidFill>
                  <a:schemeClr val="tx2"/>
                </a:solidFill>
              </a:rPr>
              <a:t>Flexural stress – strain, F2</a:t>
            </a:r>
            <a:endParaRPr lang="en-US" sz="1150" dirty="0"/>
          </a:p>
        </p:txBody>
      </p:sp>
      <p:pic>
        <p:nvPicPr>
          <p:cNvPr id="9" name="flex-curve" descr="/home/user/sanat-ve-mekan/konferans-bildirisi/03-gorseller/09b-egilme-egrisi.png">    </p:cNvPr>
          <p:cNvPicPr>
            <a:picLocks noChangeAspect="1"/>
          </p:cNvPicPr>
          <p:nvPr/>
        </p:nvPicPr>
        <p:blipFill>
          <a:blip r:embed="rId3"/>
          <a:stretch>
            <a:fillRect/>
          </a:stretch>
        </p:blipFill>
        <p:spPr>
          <a:xfrm>
            <a:off x="3977640" y="3456432"/>
            <a:ext cx="3291840" cy="1856232"/>
          </a:xfrm>
          <a:prstGeom prst="rect">
            <a:avLst/>
          </a:prstGeom>
        </p:spPr>
      </p:pic>
      <p:sp>
        <p:nvSpPr>
          <p:cNvPr id="10" name="kerf"/>
          <p:cNvSpPr/>
          <p:nvPr/>
        </p:nvSpPr>
        <p:spPr>
          <a:xfrm>
            <a:off x="7589520" y="1188720"/>
            <a:ext cx="4069080" cy="2377440"/>
          </a:xfrm>
          <a:prstGeom prst="roundRect">
            <a:avLst>
              <a:gd name="adj" fmla="val 1923"/>
            </a:avLst>
          </a:prstGeom>
          <a:solidFill>
            <a:srgbClr val="F6E8DF"/>
          </a:solidFill>
          <a:ln w="12700">
            <a:solidFill>
              <a:srgbClr val="F6E8DF"/>
            </a:solidFill>
            <a:prstDash val="solid"/>
          </a:ln>
        </p:spPr>
      </p:sp>
      <p:sp>
        <p:nvSpPr>
          <p:cNvPr id="11" name="Text 5"/>
          <p:cNvSpPr txBox="1"/>
          <p:nvPr/>
        </p:nvSpPr>
        <p:spPr>
          <a:xfrm>
            <a:off x="7909560" y="138988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DISCLOSURE — SECTION GEOMETRY</a:t>
            </a:r>
            <a:endParaRPr lang="en-US" sz="1200" dirty="0"/>
          </a:p>
        </p:txBody>
      </p:sp>
      <p:sp>
        <p:nvSpPr>
          <p:cNvPr id="12" name="Text 6"/>
          <p:cNvSpPr txBox="1"/>
          <p:nvPr/>
        </p:nvSpPr>
        <p:spPr>
          <a:xfrm>
            <a:off x="7909560" y="1737360"/>
            <a:ext cx="3429000" cy="173736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The specimen carries transverse kerfs on its tension face, visible in both photographs. ASTM D790 assumes a solid rectangular section and the calculation above uses the full 60 × 20 mm. Part of the measured compliance is geometric, not material, and the reported modulus is therefore a lower bound on the bulk material.</a:t>
            </a:r>
            <a:endParaRPr lang="en-US" sz="1150" dirty="0"/>
          </a:p>
        </p:txBody>
      </p:sp>
      <p:sp>
        <p:nvSpPr>
          <p:cNvPr id="13" name="flex-read"/>
          <p:cNvSpPr/>
          <p:nvPr/>
        </p:nvSpPr>
        <p:spPr>
          <a:xfrm>
            <a:off x="7589520" y="3749040"/>
            <a:ext cx="4069080" cy="2148840"/>
          </a:xfrm>
          <a:prstGeom prst="roundRect">
            <a:avLst>
              <a:gd name="adj" fmla="val 2128"/>
            </a:avLst>
          </a:prstGeom>
          <a:solidFill>
            <a:schemeClr val="bg2"/>
          </a:solidFill>
          <a:ln w="12700">
            <a:solidFill>
              <a:schemeClr val="bg2"/>
            </a:solidFill>
            <a:prstDash val="solid"/>
          </a:ln>
        </p:spPr>
      </p:sp>
      <p:sp>
        <p:nvSpPr>
          <p:cNvPr id="14" name="Text 8"/>
          <p:cNvSpPr txBox="1"/>
          <p:nvPr/>
        </p:nvSpPr>
        <p:spPr>
          <a:xfrm>
            <a:off x="7909560" y="395020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INTERPRETATION</a:t>
            </a:r>
            <a:endParaRPr lang="en-US" sz="1200" dirty="0"/>
          </a:p>
        </p:txBody>
      </p:sp>
      <p:sp>
        <p:nvSpPr>
          <p:cNvPr id="15" name="Text 9"/>
          <p:cNvSpPr txBox="1"/>
          <p:nvPr/>
        </p:nvSpPr>
        <p:spPr>
          <a:xfrm>
            <a:off x="7909560" y="4297680"/>
            <a:ext cx="3429000" cy="150876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At 18.8% glycerol the composite deformed without developing measurable resistance — the testing machine registered no usable load. Halving the plasticiser produced a section that resists while still flexing. The transition is sharp, and it sits between these two values.</a:t>
            </a:r>
            <a:endParaRPr lang="en-US" sz="1150" dirty="0"/>
          </a:p>
        </p:txBody>
      </p:sp>
      <p:sp>
        <p:nvSpPr>
          <p:cNvPr id="17"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Reaction to fire, hygric response and density</a:t>
            </a:r>
            <a:endParaRPr lang="en-US" sz="2900" dirty="0"/>
          </a:p>
        </p:txBody>
      </p:sp>
      <p:pic>
        <p:nvPicPr>
          <p:cNvPr id="3" name="flame" descr="/home/user/sanat-ve-mekan/konferans-bildirisi/03-gorseller/10-alev-testi.png">    </p:cNvPr>
          <p:cNvPicPr>
            <a:picLocks noChangeAspect="1"/>
          </p:cNvPicPr>
          <p:nvPr/>
        </p:nvPicPr>
        <p:blipFill>
          <a:blip r:embed="rId1"/>
          <a:stretch>
            <a:fillRect/>
          </a:stretch>
        </p:blipFill>
        <p:spPr>
          <a:xfrm>
            <a:off x="502920" y="1143000"/>
            <a:ext cx="1600200" cy="3465576"/>
          </a:xfrm>
          <a:prstGeom prst="rect">
            <a:avLst/>
          </a:prstGeom>
        </p:spPr>
      </p:pic>
      <p:sp>
        <p:nvSpPr>
          <p:cNvPr id="4" name="fire-card"/>
          <p:cNvSpPr/>
          <p:nvPr/>
        </p:nvSpPr>
        <p:spPr>
          <a:xfrm>
            <a:off x="2286000" y="1143000"/>
            <a:ext cx="4114800" cy="4617720"/>
          </a:xfrm>
          <a:prstGeom prst="roundRect">
            <a:avLst>
              <a:gd name="adj" fmla="val 1111"/>
            </a:avLst>
          </a:prstGeom>
          <a:solidFill>
            <a:schemeClr val="bg2"/>
          </a:solidFill>
          <a:ln w="12700">
            <a:solidFill>
              <a:schemeClr val="bg2"/>
            </a:solidFill>
            <a:prstDash val="solid"/>
          </a:ln>
        </p:spPr>
      </p:sp>
      <p:sp>
        <p:nvSpPr>
          <p:cNvPr id="5" name="Text 2"/>
          <p:cNvSpPr txBox="1"/>
          <p:nvPr/>
        </p:nvSpPr>
        <p:spPr>
          <a:xfrm>
            <a:off x="2606040" y="1325880"/>
            <a:ext cx="3474720" cy="274320"/>
          </a:xfrm>
          <a:prstGeom prst="rect">
            <a:avLst/>
          </a:prstGeom>
          <a:noFill/>
          <a:ln/>
        </p:spPr>
        <p:txBody>
          <a:bodyPr wrap="square" lIns="0" tIns="0" rIns="0" bIns="0" rtlCol="0" anchor="ctr"/>
          <a:lstStyle/>
          <a:p>
            <a:pPr indent="0" marL="0">
              <a:buNone/>
            </a:pPr>
            <a:r>
              <a:rPr lang="en-US" sz="1200" b="1" dirty="0">
                <a:solidFill>
                  <a:schemeClr val="accent1"/>
                </a:solidFill>
              </a:rPr>
              <a:t>IGNITABILITY — ISO 11925-2</a:t>
            </a:r>
            <a:endParaRPr lang="en-US" sz="1200" dirty="0"/>
          </a:p>
        </p:txBody>
      </p:sp>
      <p:sp>
        <p:nvSpPr>
          <p:cNvPr id="6" name="Text 3"/>
          <p:cNvSpPr txBox="1"/>
          <p:nvPr/>
        </p:nvSpPr>
        <p:spPr>
          <a:xfrm>
            <a:off x="2606040" y="1645920"/>
            <a:ext cx="3474720" cy="548640"/>
          </a:xfrm>
          <a:prstGeom prst="rect">
            <a:avLst/>
          </a:prstGeom>
          <a:noFill/>
          <a:ln/>
        </p:spPr>
        <p:txBody>
          <a:bodyPr wrap="square" lIns="0" tIns="0" rIns="0" bIns="0" rtlCol="0" anchor="ctr"/>
          <a:lstStyle/>
          <a:p>
            <a:pPr indent="0" marL="0">
              <a:lnSpc>
                <a:spcPts val="1400"/>
              </a:lnSpc>
              <a:buNone/>
            </a:pPr>
            <a:r>
              <a:rPr lang="en-US" sz="1100" dirty="0">
                <a:solidFill>
                  <a:schemeClr val="accent6"/>
                </a:solidFill>
              </a:rPr>
              <a:t>40 × 50 mm dried specimen; flame at 45° to the upper corner for 15 s, repeated at the lower corner.</a:t>
            </a:r>
            <a:endParaRPr lang="en-US" sz="1100" dirty="0"/>
          </a:p>
        </p:txBody>
      </p:sp>
      <p:sp>
        <p:nvSpPr>
          <p:cNvPr id="7" name="Text 4"/>
          <p:cNvSpPr txBox="1"/>
          <p:nvPr/>
        </p:nvSpPr>
        <p:spPr>
          <a:xfrm>
            <a:off x="2606040" y="2240280"/>
            <a:ext cx="1645920" cy="5669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~10 s</a:t>
            </a:r>
            <a:endParaRPr lang="en-US" sz="3000" dirty="0"/>
          </a:p>
        </p:txBody>
      </p:sp>
      <p:sp>
        <p:nvSpPr>
          <p:cNvPr id="8" name="Text 5"/>
          <p:cNvSpPr txBox="1"/>
          <p:nvPr/>
        </p:nvSpPr>
        <p:spPr>
          <a:xfrm>
            <a:off x="2606040" y="2843784"/>
            <a:ext cx="1645920" cy="457200"/>
          </a:xfrm>
          <a:prstGeom prst="rect">
            <a:avLst/>
          </a:prstGeom>
          <a:noFill/>
          <a:ln/>
        </p:spPr>
        <p:txBody>
          <a:bodyPr wrap="square" lIns="0" tIns="0" rIns="0" bIns="0" rtlCol="0" anchor="t"/>
          <a:lstStyle/>
          <a:p>
            <a:pPr indent="0" marL="0">
              <a:lnSpc>
                <a:spcPts val="1400"/>
              </a:lnSpc>
              <a:buNone/>
            </a:pPr>
            <a:r>
              <a:rPr lang="en-US" sz="1100" dirty="0">
                <a:solidFill>
                  <a:schemeClr val="accent6"/>
                </a:solidFill>
              </a:rPr>
              <a:t>to ignition</a:t>
            </a:r>
            <a:endParaRPr lang="en-US" sz="1100" dirty="0"/>
          </a:p>
        </p:txBody>
      </p:sp>
      <p:sp>
        <p:nvSpPr>
          <p:cNvPr id="9" name="Text 6"/>
          <p:cNvSpPr txBox="1"/>
          <p:nvPr/>
        </p:nvSpPr>
        <p:spPr>
          <a:xfrm>
            <a:off x="4434840" y="2240280"/>
            <a:ext cx="1645920" cy="5669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4 s</a:t>
            </a:r>
            <a:endParaRPr lang="en-US" sz="3000" dirty="0"/>
          </a:p>
        </p:txBody>
      </p:sp>
      <p:sp>
        <p:nvSpPr>
          <p:cNvPr id="10" name="Text 7"/>
          <p:cNvSpPr txBox="1"/>
          <p:nvPr/>
        </p:nvSpPr>
        <p:spPr>
          <a:xfrm>
            <a:off x="4434840" y="2843784"/>
            <a:ext cx="1645920" cy="457200"/>
          </a:xfrm>
          <a:prstGeom prst="rect">
            <a:avLst/>
          </a:prstGeom>
          <a:noFill/>
          <a:ln/>
        </p:spPr>
        <p:txBody>
          <a:bodyPr wrap="square" lIns="0" tIns="0" rIns="0" bIns="0" rtlCol="0" anchor="t"/>
          <a:lstStyle/>
          <a:p>
            <a:pPr indent="0" marL="0">
              <a:lnSpc>
                <a:spcPts val="1400"/>
              </a:lnSpc>
              <a:buNone/>
            </a:pPr>
            <a:r>
              <a:rPr lang="en-US" sz="1100" dirty="0">
                <a:solidFill>
                  <a:schemeClr val="accent6"/>
                </a:solidFill>
              </a:rPr>
              <a:t>to self-extinguish</a:t>
            </a:r>
            <a:endParaRPr lang="en-US" sz="1100" dirty="0"/>
          </a:p>
        </p:txBody>
      </p:sp>
      <p:sp>
        <p:nvSpPr>
          <p:cNvPr id="11" name="Text 8"/>
          <p:cNvSpPr txBox="1"/>
          <p:nvPr/>
        </p:nvSpPr>
        <p:spPr>
          <a:xfrm>
            <a:off x="2606040" y="3429000"/>
            <a:ext cx="3474720" cy="1005840"/>
          </a:xfrm>
          <a:prstGeom prst="rect">
            <a:avLst/>
          </a:prstGeom>
          <a:noFill/>
          <a:ln/>
        </p:spPr>
        <p:txBody>
          <a:bodyPr wrap="square" lIns="0" tIns="0" rIns="0" bIns="0" rtlCol="0" anchor="ctr"/>
          <a:lstStyle/>
          <a:p>
            <a:pPr marL="342900" indent="-342900">
              <a:lnSpc>
                <a:spcPts val="1400"/>
              </a:lnSpc>
              <a:spcAft>
                <a:spcPts val="500"/>
              </a:spcAft>
              <a:buSzPct val="100000"/>
              <a:buChar char="•"/>
            </a:pPr>
            <a:r>
              <a:rPr lang="en-US" sz="1100" dirty="0">
                <a:solidFill>
                  <a:schemeClr val="tx1"/>
                </a:solidFill>
              </a:rPr>
              <a:t>Charring local to the flame contact point.</a:t>
            </a:r>
            <a:endParaRPr lang="en-US" sz="1100" dirty="0"/>
          </a:p>
          <a:p>
            <a:pPr marL="342900" indent="-342900">
              <a:lnSpc>
                <a:spcPts val="1400"/>
              </a:lnSpc>
              <a:spcAft>
                <a:spcPts val="500"/>
              </a:spcAft>
              <a:buSzPct val="100000"/>
              <a:buChar char="•"/>
            </a:pPr>
            <a:r>
              <a:rPr lang="en-US" sz="1100" dirty="0">
                <a:solidFill>
                  <a:schemeClr val="tx1"/>
                </a:solidFill>
              </a:rPr>
              <a:t>No lateral flame spread in either ignition.</a:t>
            </a:r>
            <a:endParaRPr lang="en-US" sz="1100" dirty="0"/>
          </a:p>
          <a:p>
            <a:pPr marL="342900" indent="-342900">
              <a:lnSpc>
                <a:spcPts val="1400"/>
              </a:lnSpc>
              <a:spcAft>
                <a:spcPts val="500"/>
              </a:spcAft>
              <a:buSzPct val="100000"/>
              <a:buChar char="•"/>
            </a:pPr>
            <a:r>
              <a:rPr lang="en-US" sz="1100" dirty="0">
                <a:solidFill>
                  <a:schemeClr val="tx1"/>
                </a:solidFill>
              </a:rPr>
              <a:t>No melting, no dripping — no thermoplastic behaviour.</a:t>
            </a:r>
            <a:endParaRPr lang="en-US" sz="1100" dirty="0"/>
          </a:p>
        </p:txBody>
      </p:sp>
      <p:sp>
        <p:nvSpPr>
          <p:cNvPr id="12" name="Text 9"/>
          <p:cNvSpPr txBox="1"/>
          <p:nvPr/>
        </p:nvSpPr>
        <p:spPr>
          <a:xfrm>
            <a:off x="2606040" y="4526280"/>
            <a:ext cx="3474720" cy="1143000"/>
          </a:xfrm>
          <a:prstGeom prst="rect">
            <a:avLst/>
          </a:prstGeom>
          <a:noFill/>
          <a:ln/>
        </p:spPr>
        <p:txBody>
          <a:bodyPr wrap="square" lIns="0" tIns="0" rIns="0" bIns="0" rtlCol="0" anchor="ctr"/>
          <a:lstStyle/>
          <a:p>
            <a:pPr indent="0" marL="0">
              <a:lnSpc>
                <a:spcPts val="1400"/>
              </a:lnSpc>
              <a:buNone/>
            </a:pPr>
            <a:r>
              <a:rPr lang="en-US" sz="1050" i="1" dirty="0">
                <a:solidFill>
                  <a:schemeClr val="accent1"/>
                </a:solidFill>
              </a:rPr>
              <a:t>Probable mechanism: endothermic carbonate decomposition releasing CO₂, diluting the flame front locally. Not verified calorimetrically. ISO 11925-2 is an ignitability test — no Euroclass classification, cone calorimetry, smoke or toxicity data were obtained.</a:t>
            </a:r>
            <a:endParaRPr lang="en-US" sz="1050" dirty="0"/>
          </a:p>
        </p:txBody>
      </p:sp>
      <p:sp>
        <p:nvSpPr>
          <p:cNvPr id="13" name="water-card"/>
          <p:cNvSpPr/>
          <p:nvPr/>
        </p:nvSpPr>
        <p:spPr>
          <a:xfrm>
            <a:off x="6583680" y="1143000"/>
            <a:ext cx="5074920" cy="2011680"/>
          </a:xfrm>
          <a:prstGeom prst="roundRect">
            <a:avLst>
              <a:gd name="adj" fmla="val 2273"/>
            </a:avLst>
          </a:prstGeom>
          <a:solidFill>
            <a:schemeClr val="bg2"/>
          </a:solidFill>
          <a:ln w="12700">
            <a:solidFill>
              <a:schemeClr val="bg2"/>
            </a:solidFill>
            <a:prstDash val="solid"/>
          </a:ln>
        </p:spPr>
      </p:sp>
      <p:sp>
        <p:nvSpPr>
          <p:cNvPr id="14" name="Text 11"/>
          <p:cNvSpPr txBox="1"/>
          <p:nvPr/>
        </p:nvSpPr>
        <p:spPr>
          <a:xfrm>
            <a:off x="6903720" y="1325880"/>
            <a:ext cx="4434840" cy="274320"/>
          </a:xfrm>
          <a:prstGeom prst="rect">
            <a:avLst/>
          </a:prstGeom>
          <a:noFill/>
          <a:ln/>
        </p:spPr>
        <p:txBody>
          <a:bodyPr wrap="square" lIns="0" tIns="0" rIns="0" bIns="0" rtlCol="0" anchor="ctr"/>
          <a:lstStyle/>
          <a:p>
            <a:pPr indent="0" marL="0">
              <a:buNone/>
            </a:pPr>
            <a:r>
              <a:rPr lang="en-US" sz="1200" b="1" dirty="0">
                <a:solidFill>
                  <a:schemeClr val="accent1"/>
                </a:solidFill>
              </a:rPr>
              <a:t>WATER ABSORPTION — ASTM D570</a:t>
            </a:r>
            <a:endParaRPr lang="en-US" sz="1200" dirty="0"/>
          </a:p>
        </p:txBody>
      </p:sp>
      <p:sp>
        <p:nvSpPr>
          <p:cNvPr id="15" name="Text 12"/>
          <p:cNvSpPr txBox="1"/>
          <p:nvPr/>
        </p:nvSpPr>
        <p:spPr>
          <a:xfrm>
            <a:off x="6903720" y="1645920"/>
            <a:ext cx="4434840" cy="365760"/>
          </a:xfrm>
          <a:prstGeom prst="rect">
            <a:avLst/>
          </a:prstGeom>
          <a:noFill/>
          <a:ln/>
        </p:spPr>
        <p:txBody>
          <a:bodyPr wrap="square" lIns="0" tIns="0" rIns="0" bIns="0" rtlCol="0" anchor="ctr"/>
          <a:lstStyle/>
          <a:p>
            <a:pPr indent="0" marL="0">
              <a:lnSpc>
                <a:spcPts val="1400"/>
              </a:lnSpc>
              <a:buNone/>
            </a:pPr>
            <a:r>
              <a:rPr lang="en-US" sz="1100" dirty="0">
                <a:solidFill>
                  <a:schemeClr val="accent6"/>
                </a:solidFill>
              </a:rPr>
              <a:t>40 × 50 mm specimen, three shellac coats, 10 g initial mass, 24 h full immersion.</a:t>
            </a:r>
            <a:endParaRPr lang="en-US" sz="1100" dirty="0"/>
          </a:p>
        </p:txBody>
      </p:sp>
      <p:sp>
        <p:nvSpPr>
          <p:cNvPr id="16" name="Text 13"/>
          <p:cNvSpPr txBox="1"/>
          <p:nvPr/>
        </p:nvSpPr>
        <p:spPr>
          <a:xfrm>
            <a:off x="6903720" y="2011680"/>
            <a:ext cx="1371600" cy="50292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0.7%</a:t>
            </a:r>
            <a:endParaRPr lang="en-US" sz="2800" dirty="0"/>
          </a:p>
        </p:txBody>
      </p:sp>
      <p:sp>
        <p:nvSpPr>
          <p:cNvPr id="17" name="Text 14"/>
          <p:cNvSpPr txBox="1"/>
          <p:nvPr/>
        </p:nvSpPr>
        <p:spPr>
          <a:xfrm>
            <a:off x="8412480" y="1993392"/>
            <a:ext cx="2926080" cy="1188720"/>
          </a:xfrm>
          <a:prstGeom prst="rect">
            <a:avLst/>
          </a:prstGeom>
          <a:noFill/>
          <a:ln/>
        </p:spPr>
        <p:txBody>
          <a:bodyPr wrap="square" lIns="0" tIns="0" rIns="0" bIns="0" rtlCol="0" anchor="ctr"/>
          <a:lstStyle/>
          <a:p>
            <a:pPr indent="0" marL="0">
              <a:lnSpc>
                <a:spcPts val="1400"/>
              </a:lnSpc>
              <a:buNone/>
            </a:pPr>
            <a:r>
              <a:rPr lang="en-US" sz="1100" dirty="0">
                <a:solidFill>
                  <a:schemeClr val="tx1"/>
                </a:solidFill>
              </a:rPr>
              <a:t>mass gain over 24 h. Slight dimensional expansion; local dissolution where the coating was thin. Coating integrity, not the composite, is the limiting factor for humid use.</a:t>
            </a:r>
            <a:endParaRPr lang="en-US" sz="1100" dirty="0"/>
          </a:p>
        </p:txBody>
      </p:sp>
      <p:sp>
        <p:nvSpPr>
          <p:cNvPr id="18" name="dens-card"/>
          <p:cNvSpPr/>
          <p:nvPr/>
        </p:nvSpPr>
        <p:spPr>
          <a:xfrm>
            <a:off x="6583680" y="3291840"/>
            <a:ext cx="5074920" cy="2487168"/>
          </a:xfrm>
          <a:prstGeom prst="roundRect">
            <a:avLst>
              <a:gd name="adj" fmla="val 1838"/>
            </a:avLst>
          </a:prstGeom>
          <a:solidFill>
            <a:schemeClr val="bg2"/>
          </a:solidFill>
          <a:ln w="12700">
            <a:solidFill>
              <a:schemeClr val="bg2"/>
            </a:solidFill>
            <a:prstDash val="solid"/>
          </a:ln>
        </p:spPr>
      </p:sp>
      <p:sp>
        <p:nvSpPr>
          <p:cNvPr id="19" name="Text 16"/>
          <p:cNvSpPr txBox="1"/>
          <p:nvPr/>
        </p:nvSpPr>
        <p:spPr>
          <a:xfrm>
            <a:off x="6903720" y="3474720"/>
            <a:ext cx="4434840" cy="274320"/>
          </a:xfrm>
          <a:prstGeom prst="rect">
            <a:avLst/>
          </a:prstGeom>
          <a:noFill/>
          <a:ln/>
        </p:spPr>
        <p:txBody>
          <a:bodyPr wrap="square" lIns="0" tIns="0" rIns="0" bIns="0" rtlCol="0" anchor="ctr"/>
          <a:lstStyle/>
          <a:p>
            <a:pPr indent="0" marL="0">
              <a:buNone/>
            </a:pPr>
            <a:r>
              <a:rPr lang="en-US" sz="1200" b="1" dirty="0">
                <a:solidFill>
                  <a:schemeClr val="accent1"/>
                </a:solidFill>
              </a:rPr>
              <a:t>BULK DENSITY — COMPARATIVE POSITION</a:t>
            </a:r>
            <a:endParaRPr lang="en-US" sz="1200" dirty="0"/>
          </a:p>
        </p:txBody>
      </p:sp>
      <p:graphicFrame>
        <p:nvGraphicFramePr>
          <p:cNvPr id="16" name="dens-table"/>
          <p:cNvGraphicFramePr>
            <a:graphicFrameLocks noGrp="1"/>
          </p:cNvGraphicFramePr>
          <p:nvPr>
            <p:extLst>
              <p:ext uri="{D42A27DB-BD31-4B8C-83A1-F6EECF244321}">
                <p14:modId xmlns:p14="http://schemas.microsoft.com/office/powerpoint/2010/main" val="1579011935"/>
              </p:ext>
            </p:extLst>
          </p:nvPr>
        </p:nvGraphicFramePr>
        <p:xfrm>
          <a:off x="6903720" y="3785616"/>
          <a:ext cx="4434840" cy="914400"/>
        </p:xfrm>
        <a:graphic>
          <a:graphicData uri="http://schemas.openxmlformats.org/drawingml/2006/table">
            <a:tbl>
              <a:tblPr/>
              <a:tblGrid>
                <a:gridCol w="1874520"/>
                <a:gridCol w="868680"/>
                <a:gridCol w="1691640"/>
              </a:tblGrid>
              <a:tr h="3200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g/cm³</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20040">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004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 cellulose composites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 – 0.8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Jones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004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Fired clay brick</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1.6 – 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William &amp; Owen 1995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004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Normal-weight concrete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William &amp; Owen 1995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21" name="Text 17"/>
          <p:cNvSpPr txBox="1"/>
          <p:nvPr/>
        </p:nvSpPr>
        <p:spPr>
          <a:xfrm>
            <a:off x="6903720" y="5477256"/>
            <a:ext cx="4434840" cy="292608"/>
          </a:xfrm>
          <a:prstGeom prst="rect">
            <a:avLst/>
          </a:prstGeom>
          <a:noFill/>
          <a:ln/>
        </p:spPr>
        <p:txBody>
          <a:bodyPr wrap="square" lIns="0" tIns="0" rIns="0" bIns="0" rtlCol="0" anchor="ctr"/>
          <a:lstStyle/>
          <a:p>
            <a:pPr indent="0" marL="0">
              <a:buNone/>
            </a:pPr>
            <a:r>
              <a:rPr lang="en-US" sz="1000" i="1" dirty="0">
                <a:solidFill>
                  <a:schemeClr val="accent6"/>
                </a:solidFill>
              </a:rPr>
              <a:t>Quoted on a mould-volume basis and therefore a lower bound.</a:t>
            </a:r>
            <a:endParaRPr lang="en-US" sz="1000" dirty="0"/>
          </a:p>
        </p:txBody>
      </p:sp>
      <p:sp>
        <p:nvSpPr>
          <p:cNvPr id="23"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Benchmark I — conventional interior surface materials</a:t>
            </a:r>
            <a:endParaRPr lang="en-US" sz="2900" dirty="0"/>
          </a:p>
        </p:txBody>
      </p:sp>
      <p:graphicFrame>
        <p:nvGraphicFramePr>
          <p:cNvPr id="3" name="bench1" descr=""/>
          <p:cNvGraphicFramePr/>
          <p:nvPr/>
        </p:nvGraphicFramePr>
        <p:xfrm>
          <a:off x="502920" y="1188720"/>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02920" y="5376672"/>
            <a:ext cx="7223760" cy="320040"/>
          </a:xfrm>
          <a:prstGeom prst="rect">
            <a:avLst/>
          </a:prstGeom>
          <a:noFill/>
          <a:ln/>
        </p:spPr>
        <p:txBody>
          <a:bodyPr wrap="square" lIns="0" tIns="0" rIns="0" bIns="0" rtlCol="0" anchor="ctr"/>
          <a:lstStyle/>
          <a:p>
            <a:pPr indent="0" marL="0">
              <a:buNone/>
            </a:pPr>
            <a:r>
              <a:rPr lang="en-US" sz="1000" i="1" dirty="0">
                <a:solidFill>
                  <a:schemeClr val="accent6"/>
                </a:solidFill>
              </a:rPr>
              <a:t>Velasco &amp; Gaona 2011  ·  Klyosov 2007  ·  Nemli &amp; Aydın 2007  ·  Altun 2006</a:t>
            </a:r>
            <a:endParaRPr lang="en-US" sz="1000" dirty="0"/>
          </a:p>
        </p:txBody>
      </p:sp>
      <p:sp>
        <p:nvSpPr>
          <p:cNvPr id="5" name="bench1-read"/>
          <p:cNvSpPr/>
          <p:nvPr/>
        </p:nvSpPr>
        <p:spPr>
          <a:xfrm>
            <a:off x="8001000" y="1188720"/>
            <a:ext cx="3657600" cy="4480560"/>
          </a:xfrm>
          <a:prstGeom prst="roundRect">
            <a:avLst>
              <a:gd name="adj" fmla="val 1250"/>
            </a:avLst>
          </a:prstGeom>
          <a:solidFill>
            <a:srgbClr val="2E5F4A"/>
          </a:solidFill>
          <a:ln w="12700">
            <a:solidFill>
              <a:srgbClr val="2E5F4A"/>
            </a:solidFill>
            <a:prstDash val="solid"/>
          </a:ln>
        </p:spPr>
      </p:sp>
      <p:sp>
        <p:nvSpPr>
          <p:cNvPr id="6" name="Text 3"/>
          <p:cNvSpPr txBox="1"/>
          <p:nvPr/>
        </p:nvSpPr>
        <p:spPr>
          <a:xfrm>
            <a:off x="8321040" y="1389888"/>
            <a:ext cx="3017520" cy="274320"/>
          </a:xfrm>
          <a:prstGeom prst="rect">
            <a:avLst/>
          </a:prstGeom>
          <a:noFill/>
          <a:ln/>
        </p:spPr>
        <p:txBody>
          <a:bodyPr wrap="square" lIns="0" tIns="0" rIns="0" bIns="0" rtlCol="0" anchor="ctr"/>
          <a:lstStyle/>
          <a:p>
            <a:pPr indent="0" marL="0">
              <a:buNone/>
            </a:pPr>
            <a:r>
              <a:rPr lang="en-US" sz="1200" b="1" dirty="0">
                <a:solidFill>
                  <a:srgbClr val="AFC4B7"/>
                </a:solidFill>
              </a:rPr>
              <a:t>POSITION</a:t>
            </a:r>
            <a:endParaRPr lang="en-US" sz="1200" dirty="0"/>
          </a:p>
        </p:txBody>
      </p:sp>
      <p:sp>
        <p:nvSpPr>
          <p:cNvPr id="7" name="Text 4"/>
          <p:cNvSpPr txBox="1"/>
          <p:nvPr/>
        </p:nvSpPr>
        <p:spPr>
          <a:xfrm>
            <a:off x="8321040" y="1755648"/>
            <a:ext cx="3017520" cy="36576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Compressive strength is one sixth that of MDF and one twentieth that of travertine — a stone the material visually resembles.</a:t>
            </a:r>
            <a:endParaRPr lang="en-US" sz="1200" dirty="0"/>
          </a:p>
          <a:p>
            <a:pPr indent="0" marL="0">
              <a:lnSpc>
                <a:spcPts val="1600"/>
              </a:lnSpc>
              <a:buNone/>
            </a:pPr>
            <a:r>
              <a:rPr lang="en-US" sz="900" dirty="0">
                <a:solidFill>
                  <a:srgbClr val="FFFFFF"/>
                </a:solidFill>
              </a:rPr>
              <a:t> </a:t>
            </a:r>
            <a:endParaRPr lang="en-US" sz="1200" dirty="0"/>
          </a:p>
          <a:p>
            <a:pPr indent="0" marL="0">
              <a:lnSpc>
                <a:spcPts val="1600"/>
              </a:lnSpc>
              <a:buNone/>
            </a:pPr>
            <a:r>
              <a:rPr lang="en-US" sz="1200" dirty="0">
                <a:solidFill>
                  <a:srgbClr val="FFFFFF"/>
                </a:solidFill>
              </a:rPr>
              <a:t>It exceeds compressed mushroom panel, the only other fully bio-based board in this set, by a factor of three.</a:t>
            </a:r>
            <a:endParaRPr lang="en-US" sz="1200" dirty="0"/>
          </a:p>
          <a:p>
            <a:pPr indent="0" marL="0">
              <a:lnSpc>
                <a:spcPts val="1600"/>
              </a:lnSpc>
              <a:buNone/>
            </a:pPr>
            <a:r>
              <a:rPr lang="en-US" sz="900" dirty="0">
                <a:solidFill>
                  <a:srgbClr val="FFFFFF"/>
                </a:solidFill>
              </a:rPr>
              <a:t> </a:t>
            </a:r>
            <a:endParaRPr lang="en-US" sz="1200" dirty="0"/>
          </a:p>
          <a:p>
            <a:pPr indent="0" marL="0">
              <a:lnSpc>
                <a:spcPts val="1600"/>
              </a:lnSpc>
              <a:buNone/>
            </a:pPr>
            <a:r>
              <a:rPr lang="en-US" sz="1200" b="1" dirty="0">
                <a:solidFill>
                  <a:srgbClr val="F0C9A8"/>
                </a:solidFill>
              </a:rPr>
              <a:t>On strength alone, the material does not compete with engineered wood or stone, and this presentation does not claim that it does.</a:t>
            </a:r>
            <a:endParaRPr lang="en-US" sz="1200" dirty="0"/>
          </a:p>
        </p:txBody>
      </p:sp>
      <p:sp>
        <p:nvSpPr>
          <p:cNvPr id="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Benchmark II — bio-based composites</a:t>
            </a:r>
            <a:endParaRPr lang="en-US" sz="2900" dirty="0"/>
          </a:p>
        </p:txBody>
      </p:sp>
      <p:sp>
        <p:nvSpPr>
          <p:cNvPr id="3" name="Text 1"/>
          <p:cNvSpPr txBox="1"/>
          <p:nvPr/>
        </p:nvSpPr>
        <p:spPr>
          <a:xfrm>
            <a:off x="502920" y="1097280"/>
            <a:ext cx="5486400" cy="274320"/>
          </a:xfrm>
          <a:prstGeom prst="rect">
            <a:avLst/>
          </a:prstGeom>
          <a:noFill/>
          <a:ln/>
        </p:spPr>
        <p:txBody>
          <a:bodyPr wrap="square" lIns="0" tIns="0" rIns="0" bIns="0" rtlCol="0" anchor="ctr"/>
          <a:lstStyle/>
          <a:p>
            <a:pPr indent="0" marL="0">
              <a:buNone/>
            </a:pPr>
            <a:r>
              <a:rPr lang="en-US" sz="1200" b="1" dirty="0">
                <a:solidFill>
                  <a:schemeClr val="accent1"/>
                </a:solidFill>
              </a:rPr>
              <a:t>COMPRESSIVE STRENGTH</a:t>
            </a:r>
            <a:endParaRPr lang="en-US" sz="1200" dirty="0"/>
          </a:p>
        </p:txBody>
      </p:sp>
      <p:graphicFrame>
        <p:nvGraphicFramePr>
          <p:cNvPr id="18" name="bio1"/>
          <p:cNvGraphicFramePr>
            <a:graphicFrameLocks noGrp="1"/>
          </p:cNvGraphicFramePr>
          <p:nvPr>
            <p:extLst>
              <p:ext uri="{D42A27DB-BD31-4B8C-83A1-F6EECF244321}">
                <p14:modId xmlns:p14="http://schemas.microsoft.com/office/powerpoint/2010/main" val="1579011935"/>
              </p:ext>
            </p:extLst>
          </p:nvPr>
        </p:nvGraphicFramePr>
        <p:xfrm>
          <a:off x="502920" y="1408176"/>
          <a:ext cx="5486400" cy="914400"/>
        </p:xfrm>
        <a:graphic>
          <a:graphicData uri="http://schemas.openxmlformats.org/drawingml/2006/table">
            <a:tbl>
              <a:tblPr/>
              <a:tblGrid>
                <a:gridCol w="2514600"/>
                <a:gridCol w="150876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σᴄ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84048">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Mycelium-based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0.145 – 0.452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Jones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Hempcrete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 – 0.6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Arnaud &amp; Gourlay 2012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Eggshell-filled PLA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 – 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Kim &amp; Pal 2010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Mineral-filled biocomposite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 – 39.6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Shah et al. 2016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30% algae-filled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Kim &amp; Pal 2010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263640" y="1097280"/>
            <a:ext cx="5394960" cy="274320"/>
          </a:xfrm>
          <a:prstGeom prst="rect">
            <a:avLst/>
          </a:prstGeom>
          <a:noFill/>
          <a:ln/>
        </p:spPr>
        <p:txBody>
          <a:bodyPr wrap="square" lIns="0" tIns="0" rIns="0" bIns="0" rtlCol="0" anchor="ctr"/>
          <a:lstStyle/>
          <a:p>
            <a:pPr indent="0" marL="0">
              <a:buNone/>
            </a:pPr>
            <a:r>
              <a:rPr lang="en-US" sz="1200" b="1" dirty="0">
                <a:solidFill>
                  <a:schemeClr val="accent1"/>
                </a:solidFill>
              </a:rPr>
              <a:t>ELASTIC MODULUS</a:t>
            </a:r>
            <a:endParaRPr lang="en-US" sz="1200" dirty="0"/>
          </a:p>
        </p:txBody>
      </p:sp>
      <p:graphicFrame>
        <p:nvGraphicFramePr>
          <p:cNvPr id="35" name="bio2"/>
          <p:cNvGraphicFramePr>
            <a:graphicFrameLocks noGrp="1"/>
          </p:cNvGraphicFramePr>
          <p:nvPr>
            <p:extLst>
              <p:ext uri="{D42A27DB-BD31-4B8C-83A1-F6EECF244321}">
                <p14:modId xmlns:p14="http://schemas.microsoft.com/office/powerpoint/2010/main" val="1579011935"/>
              </p:ext>
            </p:extLst>
          </p:nvPr>
        </p:nvGraphicFramePr>
        <p:xfrm>
          <a:off x="6263640" y="1408176"/>
          <a:ext cx="5394960" cy="914400"/>
        </p:xfrm>
        <a:graphic>
          <a:graphicData uri="http://schemas.openxmlformats.org/drawingml/2006/table">
            <a:tbl>
              <a:tblPr/>
              <a:tblGrid>
                <a:gridCol w="246888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84048">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Mycelium-based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 – 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Islam et al. 2018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Soy-based bioplastic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Mansour et al. 2021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Corn starch + hemp fibre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Dweib et al. 2004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Flax-fibre PLA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Faruk et al. 2012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LDPE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100 – 300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Zhao et al. 2022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Wood (pine)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11 000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Pope &amp; Hudson 1989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7" name="bio-read"/>
          <p:cNvSpPr/>
          <p:nvPr/>
        </p:nvSpPr>
        <p:spPr>
          <a:xfrm>
            <a:off x="502920" y="4297680"/>
            <a:ext cx="11155680" cy="1417320"/>
          </a:xfrm>
          <a:prstGeom prst="roundRect">
            <a:avLst>
              <a:gd name="adj" fmla="val 3226"/>
            </a:avLst>
          </a:prstGeom>
          <a:solidFill>
            <a:srgbClr val="2E5F4A"/>
          </a:solidFill>
          <a:ln w="12700">
            <a:solidFill>
              <a:srgbClr val="2E5F4A"/>
            </a:solidFill>
            <a:prstDash val="solid"/>
          </a:ln>
        </p:spPr>
      </p:sp>
      <p:sp>
        <p:nvSpPr>
          <p:cNvPr id="8" name="Text 4"/>
          <p:cNvSpPr txBox="1"/>
          <p:nvPr/>
        </p:nvSpPr>
        <p:spPr>
          <a:xfrm>
            <a:off x="822960" y="4480560"/>
            <a:ext cx="10515600" cy="274320"/>
          </a:xfrm>
          <a:prstGeom prst="rect">
            <a:avLst/>
          </a:prstGeom>
          <a:noFill/>
          <a:ln/>
        </p:spPr>
        <p:txBody>
          <a:bodyPr wrap="square" lIns="0" tIns="0" rIns="0" bIns="0" rtlCol="0" anchor="ctr"/>
          <a:lstStyle/>
          <a:p>
            <a:pPr indent="0" marL="0">
              <a:buNone/>
            </a:pPr>
            <a:r>
              <a:rPr lang="en-US" sz="1200" b="1" dirty="0">
                <a:solidFill>
                  <a:srgbClr val="AFC4B7"/>
                </a:solidFill>
              </a:rPr>
              <a:t>WHERE THE MATERIAL SITS</a:t>
            </a:r>
            <a:endParaRPr lang="en-US" sz="1200" dirty="0"/>
          </a:p>
        </p:txBody>
      </p:sp>
      <p:sp>
        <p:nvSpPr>
          <p:cNvPr id="9" name="Text 5"/>
          <p:cNvSpPr txBox="1"/>
          <p:nvPr/>
        </p:nvSpPr>
        <p:spPr>
          <a:xfrm>
            <a:off x="822960" y="4800600"/>
            <a:ext cx="10515600" cy="868680"/>
          </a:xfrm>
          <a:prstGeom prst="rect">
            <a:avLst/>
          </a:prstGeom>
          <a:noFill/>
          <a:ln/>
        </p:spPr>
        <p:txBody>
          <a:bodyPr wrap="square" lIns="0" tIns="0" rIns="0" bIns="0" rtlCol="0" anchor="ctr"/>
          <a:lstStyle/>
          <a:p>
            <a:pPr indent="0" marL="0">
              <a:lnSpc>
                <a:spcPts val="1700"/>
              </a:lnSpc>
              <a:buNone/>
            </a:pPr>
            <a:r>
              <a:rPr lang="en-US" sz="1250" dirty="0">
                <a:solidFill>
                  <a:srgbClr val="FFFFFF"/>
                </a:solidFill>
              </a:rPr>
              <a:t>An order of magnitude above the fungal and lime-binder family in compression, and squarely inside the bio-polymer band in stiffness — between soy bioplastic at 124 MPa and flax-fibre PLA at 198 MPa, within the LDPE range. </a:t>
            </a:r>
            <a:pPr indent="0" marL="0">
              <a:lnSpc>
                <a:spcPts val="1700"/>
              </a:lnSpc>
              <a:buNone/>
            </a:pPr>
            <a:r>
              <a:rPr lang="en-US" sz="1250" b="1" dirty="0">
                <a:solidFill>
                  <a:srgbClr val="F0C9A8"/>
                </a:solidFill>
              </a:rPr>
              <a:t>A mineral-filled, water-cast, oven-free material reaches the stiffness of melt-processed bio-polymers. Unfilled agar films reported in the packaging literature sit one to two orders of magnitude below this; the mineral phase, not the binder, is carrying the stiffness.</a:t>
            </a:r>
            <a:endParaRPr lang="en-US" sz="12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bg1"/>
                </a:solidFill>
              </a:rPr>
              <a:t>A derived property: modulus of resilience</a:t>
            </a:r>
            <a:endParaRPr lang="en-US" sz="2900" dirty="0"/>
          </a:p>
        </p:txBody>
      </p:sp>
      <p:sp>
        <p:nvSpPr>
          <p:cNvPr id="3" name="ur"/>
          <p:cNvSpPr/>
          <p:nvPr/>
        </p:nvSpPr>
        <p:spPr>
          <a:xfrm>
            <a:off x="502920" y="1188720"/>
            <a:ext cx="5212080" cy="2286000"/>
          </a:xfrm>
          <a:prstGeom prst="roundRect">
            <a:avLst>
              <a:gd name="adj" fmla="val 2000"/>
            </a:avLst>
          </a:prstGeom>
          <a:solidFill>
            <a:srgbClr val="15302A"/>
          </a:solidFill>
          <a:ln w="12700">
            <a:solidFill>
              <a:srgbClr val="15302A"/>
            </a:solidFill>
            <a:prstDash val="solid"/>
          </a:ln>
        </p:spPr>
      </p:sp>
      <p:sp>
        <p:nvSpPr>
          <p:cNvPr id="4" name="Text 2"/>
          <p:cNvSpPr txBox="1"/>
          <p:nvPr/>
        </p:nvSpPr>
        <p:spPr>
          <a:xfrm>
            <a:off x="822960" y="1389888"/>
            <a:ext cx="4572000" cy="274320"/>
          </a:xfrm>
          <a:prstGeom prst="rect">
            <a:avLst/>
          </a:prstGeom>
          <a:noFill/>
          <a:ln/>
        </p:spPr>
        <p:txBody>
          <a:bodyPr wrap="square" lIns="0" tIns="0" rIns="0" bIns="0" rtlCol="0" anchor="ctr"/>
          <a:lstStyle/>
          <a:p>
            <a:pPr indent="0" marL="0">
              <a:buNone/>
            </a:pPr>
            <a:r>
              <a:rPr lang="en-US" sz="1200" b="1" dirty="0">
                <a:solidFill>
                  <a:srgbClr val="AFC4B7"/>
                </a:solidFill>
              </a:rPr>
              <a:t>DEFINITION</a:t>
            </a:r>
            <a:endParaRPr lang="en-US" sz="1200" dirty="0"/>
          </a:p>
        </p:txBody>
      </p:sp>
      <p:sp>
        <p:nvSpPr>
          <p:cNvPr id="5" name="Text 3"/>
          <p:cNvSpPr txBox="1"/>
          <p:nvPr/>
        </p:nvSpPr>
        <p:spPr>
          <a:xfrm>
            <a:off x="822960" y="17373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Ur  =  σꜰ² / 2Eꜰ</a:t>
            </a:r>
            <a:endParaRPr lang="en-US" sz="2400" dirty="0"/>
          </a:p>
        </p:txBody>
      </p:sp>
      <p:sp>
        <p:nvSpPr>
          <p:cNvPr id="6" name="Text 4"/>
          <p:cNvSpPr txBox="1"/>
          <p:nvPr/>
        </p:nvSpPr>
        <p:spPr>
          <a:xfrm>
            <a:off x="822960" y="2331720"/>
            <a:ext cx="4572000" cy="91440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The elastic strain energy absorbed per unit volume up to the onset of permanent deformation — the area under the stress–strain curve to yield.</a:t>
            </a:r>
            <a:endParaRPr lang="en-US" sz="1200" dirty="0"/>
          </a:p>
        </p:txBody>
      </p:sp>
      <p:sp>
        <p:nvSpPr>
          <p:cNvPr id="7" name="Text 5"/>
          <p:cNvSpPr txBox="1"/>
          <p:nvPr/>
        </p:nvSpPr>
        <p:spPr>
          <a:xfrm>
            <a:off x="502920" y="3657600"/>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Ur  =  2.325² / (2 × 192)  =  0.0141 MPa  =  14.1 kJ/m³</a:t>
            </a:r>
            <a:endParaRPr lang="en-US" sz="1500" dirty="0"/>
          </a:p>
        </p:txBody>
      </p:sp>
      <p:sp>
        <p:nvSpPr>
          <p:cNvPr id="8" name="Text 6"/>
          <p:cNvSpPr txBox="1"/>
          <p:nvPr/>
        </p:nvSpPr>
        <p:spPr>
          <a:xfrm>
            <a:off x="502920" y="4114800"/>
            <a:ext cx="5669280" cy="274320"/>
          </a:xfrm>
          <a:prstGeom prst="rect">
            <a:avLst/>
          </a:prstGeom>
          <a:noFill/>
          <a:ln/>
        </p:spPr>
        <p:txBody>
          <a:bodyPr wrap="square" lIns="0" tIns="0" rIns="0" bIns="0" rtlCol="0" anchor="ctr"/>
          <a:lstStyle/>
          <a:p>
            <a:pPr indent="0" marL="0">
              <a:buNone/>
            </a:pPr>
            <a:r>
              <a:rPr lang="en-US" sz="1100" i="1" dirty="0">
                <a:solidFill>
                  <a:srgbClr val="AFC4B7"/>
                </a:solidFill>
              </a:rPr>
              <a:t>from this study's own measured σꜰ and Eꜰ for F2</a:t>
            </a:r>
            <a:endParaRPr lang="en-US" sz="1100" dirty="0"/>
          </a:p>
        </p:txBody>
      </p:sp>
      <p:sp>
        <p:nvSpPr>
          <p:cNvPr id="9" name="ur-point"/>
          <p:cNvSpPr/>
          <p:nvPr/>
        </p:nvSpPr>
        <p:spPr>
          <a:xfrm>
            <a:off x="502920" y="4526280"/>
            <a:ext cx="5212080" cy="1371600"/>
          </a:xfrm>
          <a:prstGeom prst="roundRect">
            <a:avLst>
              <a:gd name="adj" fmla="val 3333"/>
            </a:avLst>
          </a:prstGeom>
          <a:solidFill>
            <a:srgbClr val="15302A"/>
          </a:solidFill>
          <a:ln w="12700">
            <a:solidFill>
              <a:srgbClr val="15302A"/>
            </a:solidFill>
            <a:prstDash val="solid"/>
          </a:ln>
        </p:spPr>
      </p:sp>
      <p:sp>
        <p:nvSpPr>
          <p:cNvPr id="10" name="Text 8"/>
          <p:cNvSpPr txBox="1"/>
          <p:nvPr/>
        </p:nvSpPr>
        <p:spPr>
          <a:xfrm>
            <a:off x="822960" y="4526280"/>
            <a:ext cx="4572000" cy="1371600"/>
          </a:xfrm>
          <a:prstGeom prst="rect">
            <a:avLst/>
          </a:prstGeom>
          <a:noFill/>
          <a:ln/>
        </p:spPr>
        <p:txBody>
          <a:bodyPr wrap="square" lIns="0" tIns="0" rIns="0" bIns="0" rtlCol="0" anchor="ctr"/>
          <a:lstStyle/>
          <a:p>
            <a:pPr indent="0" marL="0">
              <a:lnSpc>
                <a:spcPts val="1700"/>
              </a:lnSpc>
              <a:buNone/>
            </a:pPr>
            <a:r>
              <a:rPr lang="en-US" sz="1250" b="1" dirty="0">
                <a:solidFill>
                  <a:srgbClr val="F0C9A8"/>
                </a:solidFill>
              </a:rPr>
              <a:t>Stiffness sits in the denominator. The low modulus reported as a deficiency in Benchmark I is precisely what raises this quantity.</a:t>
            </a:r>
            <a:endParaRPr lang="en-US" sz="1250" dirty="0"/>
          </a:p>
        </p:txBody>
      </p:sp>
      <p:sp>
        <p:nvSpPr>
          <p:cNvPr id="11" name="ur-why"/>
          <p:cNvSpPr/>
          <p:nvPr/>
        </p:nvSpPr>
        <p:spPr>
          <a:xfrm>
            <a:off x="6035040" y="1188720"/>
            <a:ext cx="5623560" cy="2240280"/>
          </a:xfrm>
          <a:prstGeom prst="roundRect">
            <a:avLst>
              <a:gd name="adj" fmla="val 2041"/>
            </a:avLst>
          </a:prstGeom>
          <a:solidFill>
            <a:srgbClr val="15302A"/>
          </a:solidFill>
          <a:ln w="12700">
            <a:solidFill>
              <a:srgbClr val="15302A"/>
            </a:solidFill>
            <a:prstDash val="solid"/>
          </a:ln>
        </p:spPr>
      </p:sp>
      <p:sp>
        <p:nvSpPr>
          <p:cNvPr id="12" name="Text 10"/>
          <p:cNvSpPr txBox="1"/>
          <p:nvPr/>
        </p:nvSpPr>
        <p:spPr>
          <a:xfrm>
            <a:off x="6355080" y="1389888"/>
            <a:ext cx="4983480" cy="274320"/>
          </a:xfrm>
          <a:prstGeom prst="rect">
            <a:avLst/>
          </a:prstGeom>
          <a:noFill/>
          <a:ln/>
        </p:spPr>
        <p:txBody>
          <a:bodyPr wrap="square" lIns="0" tIns="0" rIns="0" bIns="0" rtlCol="0" anchor="ctr"/>
          <a:lstStyle/>
          <a:p>
            <a:pPr indent="0" marL="0">
              <a:buNone/>
            </a:pPr>
            <a:r>
              <a:rPr lang="en-US" sz="1200" b="1" dirty="0">
                <a:solidFill>
                  <a:srgbClr val="AFC4B7"/>
                </a:solidFill>
              </a:rPr>
              <a:t>WHY IT FITS THIS MATERIAL CLASS</a:t>
            </a:r>
            <a:endParaRPr lang="en-US" sz="1200" dirty="0"/>
          </a:p>
        </p:txBody>
      </p:sp>
      <p:sp>
        <p:nvSpPr>
          <p:cNvPr id="13" name="Text 11"/>
          <p:cNvSpPr txBox="1"/>
          <p:nvPr/>
        </p:nvSpPr>
        <p:spPr>
          <a:xfrm>
            <a:off x="6355080" y="1737360"/>
            <a:ext cx="4983480" cy="16002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Both test programmes produced the same qualitative result: the specimens deformed substantially and retained integrity rather than fracturing. Strength figures record the load at which a material stops performing. They do not record whether it then fails gracefully or catastrophically — which, for a demountable non-loadbearing component, is the behaviour that governs service life.</a:t>
            </a:r>
            <a:endParaRPr lang="en-US" sz="1200" dirty="0"/>
          </a:p>
        </p:txBody>
      </p:sp>
      <p:sp>
        <p:nvSpPr>
          <p:cNvPr id="14" name="ur-ask"/>
          <p:cNvSpPr/>
          <p:nvPr/>
        </p:nvSpPr>
        <p:spPr>
          <a:xfrm>
            <a:off x="6035040" y="3611880"/>
            <a:ext cx="5623560" cy="2286000"/>
          </a:xfrm>
          <a:prstGeom prst="roundRect">
            <a:avLst>
              <a:gd name="adj" fmla="val 2000"/>
            </a:avLst>
          </a:prstGeom>
          <a:solidFill>
            <a:srgbClr val="15302A"/>
          </a:solidFill>
          <a:ln w="12700">
            <a:solidFill>
              <a:srgbClr val="15302A"/>
            </a:solidFill>
            <a:prstDash val="solid"/>
          </a:ln>
        </p:spPr>
      </p:sp>
      <p:sp>
        <p:nvSpPr>
          <p:cNvPr id="15" name="Text 13"/>
          <p:cNvSpPr txBox="1"/>
          <p:nvPr/>
        </p:nvSpPr>
        <p:spPr>
          <a:xfrm>
            <a:off x="6355080" y="3813048"/>
            <a:ext cx="4983480" cy="274320"/>
          </a:xfrm>
          <a:prstGeom prst="rect">
            <a:avLst/>
          </a:prstGeom>
          <a:noFill/>
          <a:ln/>
        </p:spPr>
        <p:txBody>
          <a:bodyPr wrap="square" lIns="0" tIns="0" rIns="0" bIns="0" rtlCol="0" anchor="ctr"/>
          <a:lstStyle/>
          <a:p>
            <a:pPr indent="0" marL="0">
              <a:buNone/>
            </a:pPr>
            <a:r>
              <a:rPr lang="en-US" sz="1200" b="1" dirty="0">
                <a:solidFill>
                  <a:srgbClr val="AFC4B7"/>
                </a:solidFill>
              </a:rPr>
              <a:t>PROPOSAL, AND ITS CURRENT LIMIT</a:t>
            </a:r>
            <a:endParaRPr lang="en-US" sz="1200" dirty="0"/>
          </a:p>
        </p:txBody>
      </p:sp>
      <p:sp>
        <p:nvSpPr>
          <p:cNvPr id="16" name="Text 14"/>
          <p:cNvSpPr txBox="1"/>
          <p:nvPr/>
        </p:nvSpPr>
        <p:spPr>
          <a:xfrm>
            <a:off x="6355080" y="4160520"/>
            <a:ext cx="4983480" cy="164592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Report σꜰ and Eꜰ from the same specimen set for bio-based materials, so that Ur can be derived. At present it rarely can: the literature reports strength and modulus in separate studies on different formulations, so a comparative Ur table cannot yet be assembled. This value is offered as a single data point and a measurement convention, not as a ranking.</a:t>
            </a:r>
            <a:endParaRPr lang="en-US" sz="1200" dirty="0"/>
          </a:p>
        </p:txBody>
      </p:sp>
      <p:sp>
        <p:nvSpPr>
          <p:cNvPr id="1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Product proposal — a modular, demountable interior system</a:t>
            </a:r>
            <a:endParaRPr lang="en-US" sz="2900" dirty="0"/>
          </a:p>
        </p:txBody>
      </p:sp>
      <p:pic>
        <p:nvPicPr>
          <p:cNvPr id="3" name="modular" descr="/home/user/sanat-ve-mekan/konferans-bildirisi/03-gorseller/11-moduler-sistem.jpeg">    </p:cNvPr>
          <p:cNvPicPr>
            <a:picLocks noChangeAspect="1"/>
          </p:cNvPicPr>
          <p:nvPr/>
        </p:nvPicPr>
        <p:blipFill>
          <a:blip r:embed="rId1"/>
          <a:stretch>
            <a:fillRect/>
          </a:stretch>
        </p:blipFill>
        <p:spPr>
          <a:xfrm>
            <a:off x="502920" y="1188720"/>
            <a:ext cx="2916936" cy="2395728"/>
          </a:xfrm>
          <a:prstGeom prst="rect">
            <a:avLst/>
          </a:prstGeom>
        </p:spPr>
      </p:pic>
      <p:pic>
        <p:nvPicPr>
          <p:cNvPr id="4" name="render" descr="/home/user/sanat-ve-mekan/konferans-bildirisi/03-gorseller/12-ic-mekan-render.jpeg">    </p:cNvPr>
          <p:cNvPicPr>
            <a:picLocks noChangeAspect="1"/>
          </p:cNvPicPr>
          <p:nvPr/>
        </p:nvPicPr>
        <p:blipFill>
          <a:blip r:embed="rId2"/>
          <a:stretch>
            <a:fillRect/>
          </a:stretch>
        </p:blipFill>
        <p:spPr>
          <a:xfrm>
            <a:off x="502920" y="3767328"/>
            <a:ext cx="2916936" cy="2395728"/>
          </a:xfrm>
          <a:prstGeom prst="rect">
            <a:avLst/>
          </a:prstGeom>
        </p:spPr>
      </p:pic>
      <p:sp>
        <p:nvSpPr>
          <p:cNvPr id="5" name="prop-logic"/>
          <p:cNvSpPr/>
          <p:nvPr/>
        </p:nvSpPr>
        <p:spPr>
          <a:xfrm>
            <a:off x="3611880" y="1188720"/>
            <a:ext cx="8046720" cy="2377440"/>
          </a:xfrm>
          <a:prstGeom prst="roundRect">
            <a:avLst>
              <a:gd name="adj" fmla="val 1923"/>
            </a:avLst>
          </a:prstGeom>
          <a:solidFill>
            <a:schemeClr val="bg2"/>
          </a:solidFill>
          <a:ln w="12700">
            <a:solidFill>
              <a:schemeClr val="bg2"/>
            </a:solidFill>
            <a:prstDash val="solid"/>
          </a:ln>
        </p:spPr>
      </p:sp>
      <p:sp>
        <p:nvSpPr>
          <p:cNvPr id="6" name="Text 2"/>
          <p:cNvSpPr txBox="1"/>
          <p:nvPr/>
        </p:nvSpPr>
        <p:spPr>
          <a:xfrm>
            <a:off x="3931920" y="1389888"/>
            <a:ext cx="7406640" cy="274320"/>
          </a:xfrm>
          <a:prstGeom prst="rect">
            <a:avLst/>
          </a:prstGeom>
          <a:noFill/>
          <a:ln/>
        </p:spPr>
        <p:txBody>
          <a:bodyPr wrap="square" lIns="0" tIns="0" rIns="0" bIns="0" rtlCol="0" anchor="ctr"/>
          <a:lstStyle/>
          <a:p>
            <a:pPr indent="0" marL="0">
              <a:buNone/>
            </a:pPr>
            <a:r>
              <a:rPr lang="en-US" sz="1200" b="1" dirty="0">
                <a:solidFill>
                  <a:schemeClr val="accent1"/>
                </a:solidFill>
              </a:rPr>
              <a:t>DERIVED FROM THE MEASURED PROPERTIES, NOT IMPOSED ON THEM</a:t>
            </a:r>
            <a:endParaRPr lang="en-US" sz="1200" dirty="0"/>
          </a:p>
        </p:txBody>
      </p:sp>
      <p:sp>
        <p:nvSpPr>
          <p:cNvPr id="7" name="Text 3"/>
          <p:cNvSpPr txBox="1"/>
          <p:nvPr/>
        </p:nvSpPr>
        <p:spPr>
          <a:xfrm>
            <a:off x="3931920" y="1737360"/>
            <a:ext cx="7406640" cy="1737360"/>
          </a:xfrm>
          <a:prstGeom prst="rect">
            <a:avLst/>
          </a:prstGeom>
          <a:noFill/>
          <a:ln/>
        </p:spPr>
        <p:txBody>
          <a:bodyPr wrap="square" lIns="0" tIns="0" rIns="0" bIns="0" rtlCol="0" anchor="ctr"/>
          <a:lstStyle/>
          <a:p>
            <a:pPr indent="0" marL="0">
              <a:lnSpc>
                <a:spcPts val="1800"/>
              </a:lnSpc>
              <a:buNone/>
            </a:pPr>
            <a:r>
              <a:rPr lang="en-US" sz="1200" b="1" dirty="0">
                <a:solidFill>
                  <a:schemeClr val="tx2"/>
                </a:solidFill>
              </a:rPr>
              <a:t>Low strength, high deformation capacity  →  </a:t>
            </a:r>
            <a:pPr indent="0" marL="0">
              <a:lnSpc>
                <a:spcPts val="1800"/>
              </a:lnSpc>
              <a:buNone/>
            </a:pPr>
            <a:r>
              <a:rPr lang="en-US" sz="1200" dirty="0">
                <a:solidFill>
                  <a:schemeClr val="accent6"/>
                </a:solidFill>
              </a:rPr>
              <a:t>component carries its own weight and handling loads only; no structural duty.</a:t>
            </a:r>
            <a:endParaRPr lang="en-US" sz="1200" dirty="0"/>
          </a:p>
          <a:p>
            <a:pPr indent="0" marL="0">
              <a:lnSpc>
                <a:spcPts val="1800"/>
              </a:lnSpc>
              <a:buNone/>
            </a:pPr>
            <a:r>
              <a:rPr lang="en-US" sz="1200" b="1" dirty="0">
                <a:solidFill>
                  <a:schemeClr val="tx2"/>
                </a:solidFill>
              </a:rPr>
              <a:t>Self-extinguishing, no dripping  →  </a:t>
            </a:r>
            <a:pPr indent="0" marL="0">
              <a:lnSpc>
                <a:spcPts val="1800"/>
              </a:lnSpc>
              <a:buNone/>
            </a:pPr>
            <a:r>
              <a:rPr lang="en-US" sz="1200" dirty="0">
                <a:solidFill>
                  <a:schemeClr val="accent6"/>
                </a:solidFill>
              </a:rPr>
              <a:t>acceptable for interior surfaces away from ignition sources.</a:t>
            </a:r>
            <a:endParaRPr lang="en-US" sz="1200" dirty="0"/>
          </a:p>
          <a:p>
            <a:pPr indent="0" marL="0">
              <a:lnSpc>
                <a:spcPts val="1800"/>
              </a:lnSpc>
              <a:buNone/>
            </a:pPr>
            <a:r>
              <a:rPr lang="en-US" sz="1200" b="1" dirty="0">
                <a:solidFill>
                  <a:schemeClr val="tx2"/>
                </a:solidFill>
              </a:rPr>
              <a:t>Coating-dependent water resistance  →  </a:t>
            </a:r>
            <a:pPr indent="0" marL="0">
              <a:lnSpc>
                <a:spcPts val="1800"/>
              </a:lnSpc>
              <a:buNone/>
            </a:pPr>
            <a:r>
              <a:rPr lang="en-US" sz="1200" dirty="0">
                <a:solidFill>
                  <a:schemeClr val="accent6"/>
                </a:solidFill>
              </a:rPr>
              <a:t>dry interior environments; not wet rooms or facades.</a:t>
            </a:r>
            <a:endParaRPr lang="en-US" sz="1200" dirty="0"/>
          </a:p>
          <a:p>
            <a:pPr indent="0" marL="0">
              <a:lnSpc>
                <a:spcPts val="1800"/>
              </a:lnSpc>
              <a:buNone/>
            </a:pPr>
            <a:r>
              <a:rPr lang="en-US" sz="1200" b="1" dirty="0">
                <a:solidFill>
                  <a:schemeClr val="tx2"/>
                </a:solidFill>
              </a:rPr>
              <a:t>Repeatable small-format casting  →  </a:t>
            </a:r>
            <a:pPr indent="0" marL="0">
              <a:lnSpc>
                <a:spcPts val="1800"/>
              </a:lnSpc>
              <a:buNone/>
            </a:pPr>
            <a:r>
              <a:rPr lang="en-US" sz="1200" dirty="0">
                <a:solidFill>
                  <a:schemeClr val="accent6"/>
                </a:solidFill>
              </a:rPr>
              <a:t>a module, not a sheet. Failure is replaced one unit at a time.</a:t>
            </a:r>
            <a:endParaRPr lang="en-US" sz="1200" dirty="0"/>
          </a:p>
        </p:txBody>
      </p:sp>
      <p:sp>
        <p:nvSpPr>
          <p:cNvPr id="8" name="prop-sys"/>
          <p:cNvSpPr/>
          <p:nvPr/>
        </p:nvSpPr>
        <p:spPr>
          <a:xfrm>
            <a:off x="3611880" y="3749040"/>
            <a:ext cx="8046720" cy="2377440"/>
          </a:xfrm>
          <a:prstGeom prst="roundRect">
            <a:avLst>
              <a:gd name="adj" fmla="val 1923"/>
            </a:avLst>
          </a:prstGeom>
          <a:solidFill>
            <a:srgbClr val="2E5F4A"/>
          </a:solidFill>
          <a:ln w="12700">
            <a:solidFill>
              <a:srgbClr val="2E5F4A"/>
            </a:solidFill>
            <a:prstDash val="solid"/>
          </a:ln>
        </p:spPr>
      </p:sp>
      <p:sp>
        <p:nvSpPr>
          <p:cNvPr id="9" name="Text 5"/>
          <p:cNvSpPr txBox="1"/>
          <p:nvPr/>
        </p:nvSpPr>
        <p:spPr>
          <a:xfrm>
            <a:off x="3931920" y="3950208"/>
            <a:ext cx="7406640" cy="274320"/>
          </a:xfrm>
          <a:prstGeom prst="rect">
            <a:avLst/>
          </a:prstGeom>
          <a:noFill/>
          <a:ln/>
        </p:spPr>
        <p:txBody>
          <a:bodyPr wrap="square" lIns="0" tIns="0" rIns="0" bIns="0" rtlCol="0" anchor="ctr"/>
          <a:lstStyle/>
          <a:p>
            <a:pPr indent="0" marL="0">
              <a:buNone/>
            </a:pPr>
            <a:r>
              <a:rPr lang="en-US" sz="1200" b="1" dirty="0">
                <a:solidFill>
                  <a:srgbClr val="AFC4B7"/>
                </a:solidFill>
              </a:rPr>
              <a:t>SYSTEM CHARACTERISTICS</a:t>
            </a:r>
            <a:endParaRPr lang="en-US" sz="1200" dirty="0"/>
          </a:p>
        </p:txBody>
      </p:sp>
      <p:sp>
        <p:nvSpPr>
          <p:cNvPr id="10" name="Text 6"/>
          <p:cNvSpPr txBox="1"/>
          <p:nvPr/>
        </p:nvSpPr>
        <p:spPr>
          <a:xfrm>
            <a:off x="3931920" y="4297680"/>
            <a:ext cx="7406640" cy="1737360"/>
          </a:xfrm>
          <a:prstGeom prst="rect">
            <a:avLst/>
          </a:prstGeom>
          <a:noFill/>
          <a:ln/>
        </p:spPr>
        <p:txBody>
          <a:bodyPr wrap="square" lIns="0" tIns="0" rIns="0" bIns="0" rtlCol="0" anchor="ctr"/>
          <a:lstStyle/>
          <a:p>
            <a:pPr indent="0" marL="0">
              <a:lnSpc>
                <a:spcPts val="1800"/>
              </a:lnSpc>
              <a:buNone/>
            </a:pPr>
            <a:r>
              <a:rPr lang="en-US" sz="1200" b="1" dirty="0">
                <a:solidFill>
                  <a:srgbClr val="FFFFFF"/>
                </a:solidFill>
              </a:rPr>
              <a:t>Reversible assembly — </a:t>
            </a:r>
            <a:pPr indent="0" marL="0">
              <a:lnSpc>
                <a:spcPts val="1800"/>
              </a:lnSpc>
              <a:buNone/>
            </a:pPr>
            <a:r>
              <a:rPr lang="en-US" sz="1200" dirty="0">
                <a:solidFill>
                  <a:srgbClr val="D8E2DA"/>
                </a:solidFill>
              </a:rPr>
              <a:t>repeated cast units joined without adhesive, so components can be recovered intact.</a:t>
            </a:r>
            <a:endParaRPr lang="en-US" sz="1200" dirty="0"/>
          </a:p>
          <a:p>
            <a:pPr indent="0" marL="0">
              <a:lnSpc>
                <a:spcPts val="1800"/>
              </a:lnSpc>
              <a:buNone/>
            </a:pPr>
            <a:r>
              <a:rPr lang="en-US" sz="1200" b="1" dirty="0">
                <a:solidFill>
                  <a:srgbClr val="FFFFFF"/>
                </a:solidFill>
              </a:rPr>
              <a:t>Distributed load path — </a:t>
            </a:r>
            <a:pPr indent="0" marL="0">
              <a:lnSpc>
                <a:spcPts val="1800"/>
              </a:lnSpc>
              <a:buNone/>
            </a:pPr>
            <a:r>
              <a:rPr lang="en-US" sz="1200" dirty="0">
                <a:solidFill>
                  <a:srgbClr val="D8E2DA"/>
                </a:solidFill>
              </a:rPr>
              <a:t>units interlock and share load across neighbours rather than transferring it through a frame.</a:t>
            </a:r>
            <a:endParaRPr lang="en-US" sz="1200" dirty="0"/>
          </a:p>
          <a:p>
            <a:pPr indent="0" marL="0">
              <a:lnSpc>
                <a:spcPts val="1800"/>
              </a:lnSpc>
              <a:buNone/>
            </a:pPr>
            <a:r>
              <a:rPr lang="en-US" sz="1200" b="1" dirty="0">
                <a:solidFill>
                  <a:srgbClr val="FFFFFF"/>
                </a:solidFill>
              </a:rPr>
              <a:t>Unit replaceability — </a:t>
            </a:r>
            <a:pPr indent="0" marL="0">
              <a:lnSpc>
                <a:spcPts val="1800"/>
              </a:lnSpc>
              <a:buNone/>
            </a:pPr>
            <a:r>
              <a:rPr lang="en-US" sz="1200" dirty="0">
                <a:solidFill>
                  <a:srgbClr val="D8E2DA"/>
                </a:solidFill>
              </a:rPr>
              <a:t>a damaged unit is exchanged without dismantling the assembly; no single component is critical.</a:t>
            </a:r>
            <a:endParaRPr lang="en-US" sz="1200" dirty="0"/>
          </a:p>
          <a:p>
            <a:pPr indent="0" marL="0">
              <a:lnSpc>
                <a:spcPts val="1800"/>
              </a:lnSpc>
              <a:buNone/>
            </a:pPr>
            <a:r>
              <a:rPr lang="en-US" sz="1200" b="1" dirty="0">
                <a:solidFill>
                  <a:srgbClr val="FFFFFF"/>
                </a:solidFill>
              </a:rPr>
              <a:t>Formulation-family variation — </a:t>
            </a:r>
            <a:pPr indent="0" marL="0">
              <a:lnSpc>
                <a:spcPts val="1800"/>
              </a:lnSpc>
              <a:buNone/>
            </a:pPr>
            <a:r>
              <a:rPr lang="en-US" sz="1200" dirty="0">
                <a:solidFill>
                  <a:srgbClr val="D8E2DA"/>
                </a:solidFill>
              </a:rPr>
              <a:t>colour, texture and format vary from pigments and mould geometry at constant composition.</a:t>
            </a:r>
            <a:endParaRPr lang="en-US" sz="1200" dirty="0"/>
          </a:p>
        </p:txBody>
      </p:sp>
      <p:sp>
        <p:nvSpPr>
          <p:cNvPr id="12"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Potentials for sustainable interiors</a:t>
            </a:r>
            <a:endParaRPr lang="en-US" sz="2900" dirty="0"/>
          </a:p>
        </p:txBody>
      </p:sp>
      <p:sp>
        <p:nvSpPr>
          <p:cNvPr id="3" name="pot-0"/>
          <p:cNvSpPr/>
          <p:nvPr/>
        </p:nvSpPr>
        <p:spPr>
          <a:xfrm>
            <a:off x="502920" y="1188720"/>
            <a:ext cx="5440680" cy="1417320"/>
          </a:xfrm>
          <a:prstGeom prst="roundRect">
            <a:avLst>
              <a:gd name="adj" fmla="val 3226"/>
            </a:avLst>
          </a:prstGeom>
          <a:solidFill>
            <a:schemeClr val="bg2"/>
          </a:solidFill>
          <a:ln w="12700">
            <a:solidFill>
              <a:schemeClr val="bg2"/>
            </a:solidFill>
            <a:prstDash val="solid"/>
          </a:ln>
        </p:spPr>
      </p:sp>
      <p:sp>
        <p:nvSpPr>
          <p:cNvPr id="4" name="Text 2"/>
          <p:cNvSpPr txBox="1"/>
          <p:nvPr/>
        </p:nvSpPr>
        <p:spPr>
          <a:xfrm>
            <a:off x="777240" y="1335024"/>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Waste valorisation at source</a:t>
            </a:r>
            <a:endParaRPr lang="en-US" sz="1350" dirty="0"/>
          </a:p>
        </p:txBody>
      </p:sp>
      <p:sp>
        <p:nvSpPr>
          <p:cNvPr id="5" name="Text 3"/>
          <p:cNvSpPr txBox="1"/>
          <p:nvPr/>
        </p:nvSpPr>
        <p:spPr>
          <a:xfrm>
            <a:off x="777240" y="1664208"/>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 locally available food-waste stream becomes a surface material without an intermediate industry. The shells for this study came from one bakery.</a:t>
            </a:r>
            <a:endParaRPr lang="en-US" sz="1150" dirty="0"/>
          </a:p>
        </p:txBody>
      </p:sp>
      <p:sp>
        <p:nvSpPr>
          <p:cNvPr id="6" name="pot-1"/>
          <p:cNvSpPr/>
          <p:nvPr/>
        </p:nvSpPr>
        <p:spPr>
          <a:xfrm>
            <a:off x="6217920" y="1188720"/>
            <a:ext cx="5440680" cy="1417320"/>
          </a:xfrm>
          <a:prstGeom prst="roundRect">
            <a:avLst>
              <a:gd name="adj" fmla="val 3226"/>
            </a:avLst>
          </a:prstGeom>
          <a:solidFill>
            <a:schemeClr val="bg2"/>
          </a:solidFill>
          <a:ln w="12700">
            <a:solidFill>
              <a:schemeClr val="bg2"/>
            </a:solidFill>
            <a:prstDash val="solid"/>
          </a:ln>
        </p:spPr>
      </p:sp>
      <p:sp>
        <p:nvSpPr>
          <p:cNvPr id="7" name="Text 5"/>
          <p:cNvSpPr txBox="1"/>
          <p:nvPr/>
        </p:nvSpPr>
        <p:spPr>
          <a:xfrm>
            <a:off x="6492240" y="1335024"/>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Low-energy production</a:t>
            </a:r>
            <a:endParaRPr lang="en-US" sz="1350" dirty="0"/>
          </a:p>
        </p:txBody>
      </p:sp>
      <p:sp>
        <p:nvSpPr>
          <p:cNvPr id="8" name="Text 6"/>
          <p:cNvSpPr txBox="1"/>
          <p:nvPr/>
        </p:nvSpPr>
        <p:spPr>
          <a:xfrm>
            <a:off x="6492240" y="1664208"/>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No oven, no autoclave, no extrusion. A single 55-minute cook near 95 °C, then ambient drying. The thermal budget is a fraction of ceramic or cement-based surfaces.</a:t>
            </a:r>
            <a:endParaRPr lang="en-US" sz="1150" dirty="0"/>
          </a:p>
        </p:txBody>
      </p:sp>
      <p:sp>
        <p:nvSpPr>
          <p:cNvPr id="9" name="pot-2"/>
          <p:cNvSpPr/>
          <p:nvPr/>
        </p:nvSpPr>
        <p:spPr>
          <a:xfrm>
            <a:off x="502920" y="2761488"/>
            <a:ext cx="5440680" cy="1417320"/>
          </a:xfrm>
          <a:prstGeom prst="roundRect">
            <a:avLst>
              <a:gd name="adj" fmla="val 3226"/>
            </a:avLst>
          </a:prstGeom>
          <a:solidFill>
            <a:schemeClr val="bg2"/>
          </a:solidFill>
          <a:ln w="12700">
            <a:solidFill>
              <a:schemeClr val="bg2"/>
            </a:solidFill>
            <a:prstDash val="solid"/>
          </a:ln>
        </p:spPr>
      </p:sp>
      <p:sp>
        <p:nvSpPr>
          <p:cNvPr id="10" name="Text 8"/>
          <p:cNvSpPr txBox="1"/>
          <p:nvPr/>
        </p:nvSpPr>
        <p:spPr>
          <a:xfrm>
            <a:off x="777240" y="2907792"/>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End-of-life by design</a:t>
            </a:r>
            <a:endParaRPr lang="en-US" sz="1350" dirty="0"/>
          </a:p>
        </p:txBody>
      </p:sp>
      <p:sp>
        <p:nvSpPr>
          <p:cNvPr id="11" name="Text 9"/>
          <p:cNvSpPr txBox="1"/>
          <p:nvPr/>
        </p:nvSpPr>
        <p:spPr>
          <a:xfrm>
            <a:off x="777240" y="3236976"/>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Every constituent is biodegradable, including the shellac finish. The material returns to a biological cycle rather than requiring separation and disposal.</a:t>
            </a:r>
            <a:endParaRPr lang="en-US" sz="1150" dirty="0"/>
          </a:p>
        </p:txBody>
      </p:sp>
      <p:sp>
        <p:nvSpPr>
          <p:cNvPr id="12" name="pot-3"/>
          <p:cNvSpPr/>
          <p:nvPr/>
        </p:nvSpPr>
        <p:spPr>
          <a:xfrm>
            <a:off x="6217920" y="2761488"/>
            <a:ext cx="5440680" cy="1417320"/>
          </a:xfrm>
          <a:prstGeom prst="roundRect">
            <a:avLst>
              <a:gd name="adj" fmla="val 3226"/>
            </a:avLst>
          </a:prstGeom>
          <a:solidFill>
            <a:schemeClr val="bg2"/>
          </a:solidFill>
          <a:ln w="12700">
            <a:solidFill>
              <a:schemeClr val="bg2"/>
            </a:solidFill>
            <a:prstDash val="solid"/>
          </a:ln>
        </p:spPr>
      </p:sp>
      <p:sp>
        <p:nvSpPr>
          <p:cNvPr id="13" name="Text 11"/>
          <p:cNvSpPr txBox="1"/>
          <p:nvPr/>
        </p:nvSpPr>
        <p:spPr>
          <a:xfrm>
            <a:off x="6492240" y="2907792"/>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Reversible assembly</a:t>
            </a:r>
            <a:endParaRPr lang="en-US" sz="1350" dirty="0"/>
          </a:p>
        </p:txBody>
      </p:sp>
      <p:sp>
        <p:nvSpPr>
          <p:cNvPr id="14" name="Text 12"/>
          <p:cNvSpPr txBox="1"/>
          <p:nvPr/>
        </p:nvSpPr>
        <p:spPr>
          <a:xfrm>
            <a:off x="6492240" y="3236976"/>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Adhesive-free modular assembly means the material can be recovered intact, so reuse precedes recycling in the hierarchy.</a:t>
            </a:r>
            <a:endParaRPr lang="en-US" sz="1150" dirty="0"/>
          </a:p>
        </p:txBody>
      </p:sp>
      <p:sp>
        <p:nvSpPr>
          <p:cNvPr id="15" name="pot-4"/>
          <p:cNvSpPr/>
          <p:nvPr/>
        </p:nvSpPr>
        <p:spPr>
          <a:xfrm>
            <a:off x="502920" y="4334256"/>
            <a:ext cx="5440680" cy="1417320"/>
          </a:xfrm>
          <a:prstGeom prst="roundRect">
            <a:avLst>
              <a:gd name="adj" fmla="val 3226"/>
            </a:avLst>
          </a:prstGeom>
          <a:solidFill>
            <a:schemeClr val="bg2"/>
          </a:solidFill>
          <a:ln w="12700">
            <a:solidFill>
              <a:schemeClr val="bg2"/>
            </a:solidFill>
            <a:prstDash val="solid"/>
          </a:ln>
        </p:spPr>
      </p:sp>
      <p:sp>
        <p:nvSpPr>
          <p:cNvPr id="16" name="Text 14"/>
          <p:cNvSpPr txBox="1"/>
          <p:nvPr/>
        </p:nvSpPr>
        <p:spPr>
          <a:xfrm>
            <a:off x="777240" y="4480560"/>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Replacing a mineral extraction</a:t>
            </a:r>
            <a:endParaRPr lang="en-US" sz="1350" dirty="0"/>
          </a:p>
        </p:txBody>
      </p:sp>
      <p:sp>
        <p:nvSpPr>
          <p:cNvPr id="17" name="Text 15"/>
          <p:cNvSpPr txBox="1"/>
          <p:nvPr/>
        </p:nvSpPr>
        <p:spPr>
          <a:xfrm>
            <a:off x="777240" y="4809744"/>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calcium carbonate here substitutes quarried limestone in a surface application, which is a direct displacement rather than a downcycled use.</a:t>
            </a:r>
            <a:endParaRPr lang="en-US" sz="1150" dirty="0"/>
          </a:p>
        </p:txBody>
      </p:sp>
      <p:sp>
        <p:nvSpPr>
          <p:cNvPr id="18" name="pot-5"/>
          <p:cNvSpPr/>
          <p:nvPr/>
        </p:nvSpPr>
        <p:spPr>
          <a:xfrm>
            <a:off x="6217920" y="4334256"/>
            <a:ext cx="5440680" cy="1417320"/>
          </a:xfrm>
          <a:prstGeom prst="roundRect">
            <a:avLst>
              <a:gd name="adj" fmla="val 3226"/>
            </a:avLst>
          </a:prstGeom>
          <a:solidFill>
            <a:schemeClr val="bg2"/>
          </a:solidFill>
          <a:ln w="12700">
            <a:solidFill>
              <a:schemeClr val="bg2"/>
            </a:solidFill>
            <a:prstDash val="solid"/>
          </a:ln>
        </p:spPr>
      </p:sp>
      <p:sp>
        <p:nvSpPr>
          <p:cNvPr id="19" name="Text 17"/>
          <p:cNvSpPr txBox="1"/>
          <p:nvPr/>
        </p:nvSpPr>
        <p:spPr>
          <a:xfrm>
            <a:off x="6492240" y="4480560"/>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Local, low-barrier manufacture</a:t>
            </a:r>
            <a:endParaRPr lang="en-US" sz="1350" dirty="0"/>
          </a:p>
        </p:txBody>
      </p:sp>
      <p:sp>
        <p:nvSpPr>
          <p:cNvPr id="20" name="Text 18"/>
          <p:cNvSpPr txBox="1"/>
          <p:nvPr/>
        </p:nvSpPr>
        <p:spPr>
          <a:xfrm>
            <a:off x="6492240" y="4809744"/>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protocol requires a grinder, a sieve, a hotplate and silicone moulds. Production can be distributed rather than centralised.</a:t>
            </a:r>
            <a:endParaRPr lang="en-US" sz="1150" dirty="0"/>
          </a:p>
        </p:txBody>
      </p:sp>
      <p:sp>
        <p:nvSpPr>
          <p:cNvPr id="21" name="Text 19"/>
          <p:cNvSpPr txBox="1"/>
          <p:nvPr/>
        </p:nvSpPr>
        <p:spPr>
          <a:xfrm>
            <a:off x="502920" y="5943600"/>
            <a:ext cx="11155680" cy="320040"/>
          </a:xfrm>
          <a:prstGeom prst="rect">
            <a:avLst/>
          </a:prstGeom>
          <a:noFill/>
          <a:ln/>
        </p:spPr>
        <p:txBody>
          <a:bodyPr wrap="square" lIns="0" tIns="0" rIns="0" bIns="0" rtlCol="0" anchor="ctr"/>
          <a:lstStyle/>
          <a:p>
            <a:pPr indent="0" marL="0">
              <a:buNone/>
            </a:pPr>
            <a:r>
              <a:rPr lang="en-US" sz="1150" i="1" dirty="0">
                <a:solidFill>
                  <a:schemeClr val="accent1"/>
                </a:solidFill>
              </a:rPr>
              <a:t>No life-cycle assessment was carried out. These are qualitative potentials grounded in the production protocol, not quantified environmental claims.</a:t>
            </a:r>
            <a:endParaRPr lang="en-US" sz="1150" dirty="0"/>
          </a:p>
        </p:txBody>
      </p:sp>
      <p:sp>
        <p:nvSpPr>
          <p:cNvPr id="23"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Limitations of the study</a:t>
            </a:r>
            <a:endParaRPr lang="en-US" sz="2900" dirty="0"/>
          </a:p>
        </p:txBody>
      </p:sp>
      <p:sp>
        <p:nvSpPr>
          <p:cNvPr id="3" name="lim-0"/>
          <p:cNvSpPr/>
          <p:nvPr/>
        </p:nvSpPr>
        <p:spPr>
          <a:xfrm>
            <a:off x="502920" y="1143000"/>
            <a:ext cx="5440680" cy="1069848"/>
          </a:xfrm>
          <a:prstGeom prst="roundRect">
            <a:avLst>
              <a:gd name="adj" fmla="val 4274"/>
            </a:avLst>
          </a:prstGeom>
          <a:solidFill>
            <a:schemeClr val="bg2"/>
          </a:solidFill>
          <a:ln w="12700">
            <a:solidFill>
              <a:schemeClr val="bg2"/>
            </a:solidFill>
            <a:prstDash val="solid"/>
          </a:ln>
        </p:spPr>
      </p:sp>
      <p:sp>
        <p:nvSpPr>
          <p:cNvPr id="4" name="Text 2"/>
          <p:cNvSpPr txBox="1"/>
          <p:nvPr/>
        </p:nvSpPr>
        <p:spPr>
          <a:xfrm>
            <a:off x="758952" y="1252728"/>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Dispersion not reported</a:t>
            </a:r>
            <a:endParaRPr lang="en-US" sz="1250" dirty="0"/>
          </a:p>
        </p:txBody>
      </p:sp>
      <p:sp>
        <p:nvSpPr>
          <p:cNvPr id="5" name="Text 3"/>
          <p:cNvSpPr txBox="1"/>
          <p:nvPr/>
        </p:nvSpPr>
        <p:spPr>
          <a:xfrm>
            <a:off x="758952" y="1536192"/>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Means of three specimens per formulation; individual values were not retained, so no standard deviations or coefficients of variation can be given.</a:t>
            </a:r>
            <a:endParaRPr lang="en-US" sz="1050" dirty="0"/>
          </a:p>
        </p:txBody>
      </p:sp>
      <p:sp>
        <p:nvSpPr>
          <p:cNvPr id="6" name="lim-1"/>
          <p:cNvSpPr/>
          <p:nvPr/>
        </p:nvSpPr>
        <p:spPr>
          <a:xfrm>
            <a:off x="6217920" y="1143000"/>
            <a:ext cx="5440680" cy="1069848"/>
          </a:xfrm>
          <a:prstGeom prst="roundRect">
            <a:avLst>
              <a:gd name="adj" fmla="val 4274"/>
            </a:avLst>
          </a:prstGeom>
          <a:solidFill>
            <a:schemeClr val="bg2"/>
          </a:solidFill>
          <a:ln w="12700">
            <a:solidFill>
              <a:schemeClr val="bg2"/>
            </a:solidFill>
            <a:prstDash val="solid"/>
          </a:ln>
        </p:spPr>
      </p:sp>
      <p:sp>
        <p:nvSpPr>
          <p:cNvPr id="7" name="Text 5"/>
          <p:cNvSpPr txBox="1"/>
          <p:nvPr/>
        </p:nvSpPr>
        <p:spPr>
          <a:xfrm>
            <a:off x="6473952" y="1252728"/>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Formulation confound in flexure</a:t>
            </a:r>
            <a:endParaRPr lang="en-US" sz="1250" dirty="0"/>
          </a:p>
        </p:txBody>
      </p:sp>
      <p:sp>
        <p:nvSpPr>
          <p:cNvPr id="8" name="Text 6"/>
          <p:cNvSpPr txBox="1"/>
          <p:nvPr/>
        </p:nvSpPr>
        <p:spPr>
          <a:xfrm>
            <a:off x="6473952" y="1536192"/>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Glycerol, solids concentration and shell-to-binder ratio moved together between F1 and F2. The plasticiser effect is not isolated.</a:t>
            </a:r>
            <a:endParaRPr lang="en-US" sz="1050" dirty="0"/>
          </a:p>
        </p:txBody>
      </p:sp>
      <p:sp>
        <p:nvSpPr>
          <p:cNvPr id="9" name="lim-2"/>
          <p:cNvSpPr/>
          <p:nvPr/>
        </p:nvSpPr>
        <p:spPr>
          <a:xfrm>
            <a:off x="502920" y="2350008"/>
            <a:ext cx="5440680" cy="1069848"/>
          </a:xfrm>
          <a:prstGeom prst="roundRect">
            <a:avLst>
              <a:gd name="adj" fmla="val 4274"/>
            </a:avLst>
          </a:prstGeom>
          <a:solidFill>
            <a:schemeClr val="bg2"/>
          </a:solidFill>
          <a:ln w="12700">
            <a:solidFill>
              <a:schemeClr val="bg2"/>
            </a:solidFill>
            <a:prstDash val="solid"/>
          </a:ln>
        </p:spPr>
      </p:sp>
      <p:sp>
        <p:nvSpPr>
          <p:cNvPr id="10" name="Text 8"/>
          <p:cNvSpPr txBox="1"/>
          <p:nvPr/>
        </p:nvSpPr>
        <p:spPr>
          <a:xfrm>
            <a:off x="758952" y="2459736"/>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Section geometry in flexure</a:t>
            </a:r>
            <a:endParaRPr lang="en-US" sz="1250" dirty="0"/>
          </a:p>
        </p:txBody>
      </p:sp>
      <p:sp>
        <p:nvSpPr>
          <p:cNvPr id="11" name="Text 9"/>
          <p:cNvSpPr txBox="1"/>
          <p:nvPr/>
        </p:nvSpPr>
        <p:spPr>
          <a:xfrm>
            <a:off x="758952" y="2743200"/>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The ASTM D790 calculation treats a kerfed specimen as a solid rectangle. The reported modulus is a lower bound.</a:t>
            </a:r>
            <a:endParaRPr lang="en-US" sz="1050" dirty="0"/>
          </a:p>
        </p:txBody>
      </p:sp>
      <p:sp>
        <p:nvSpPr>
          <p:cNvPr id="12" name="lim-3"/>
          <p:cNvSpPr/>
          <p:nvPr/>
        </p:nvSpPr>
        <p:spPr>
          <a:xfrm>
            <a:off x="6217920" y="2350008"/>
            <a:ext cx="5440680" cy="1069848"/>
          </a:xfrm>
          <a:prstGeom prst="roundRect">
            <a:avLst>
              <a:gd name="adj" fmla="val 4274"/>
            </a:avLst>
          </a:prstGeom>
          <a:solidFill>
            <a:schemeClr val="bg2"/>
          </a:solidFill>
          <a:ln w="12700">
            <a:solidFill>
              <a:schemeClr val="bg2"/>
            </a:solidFill>
            <a:prstDash val="solid"/>
          </a:ln>
        </p:spPr>
      </p:sp>
      <p:sp>
        <p:nvSpPr>
          <p:cNvPr id="13" name="Text 11"/>
          <p:cNvSpPr txBox="1"/>
          <p:nvPr/>
        </p:nvSpPr>
        <p:spPr>
          <a:xfrm>
            <a:off x="6473952" y="2459736"/>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Strain not instrumented</a:t>
            </a:r>
            <a:endParaRPr lang="en-US" sz="1250" dirty="0"/>
          </a:p>
        </p:txBody>
      </p:sp>
      <p:sp>
        <p:nvSpPr>
          <p:cNvPr id="14" name="Text 12"/>
          <p:cNvSpPr txBox="1"/>
          <p:nvPr/>
        </p:nvSpPr>
        <p:spPr>
          <a:xfrm>
            <a:off x="6473952" y="2743200"/>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Compressive strain was derived from an assumed 10% maximum deformation based on observation, not measured directly.</a:t>
            </a:r>
            <a:endParaRPr lang="en-US" sz="1050" dirty="0"/>
          </a:p>
        </p:txBody>
      </p:sp>
      <p:sp>
        <p:nvSpPr>
          <p:cNvPr id="15" name="lim-4"/>
          <p:cNvSpPr/>
          <p:nvPr/>
        </p:nvSpPr>
        <p:spPr>
          <a:xfrm>
            <a:off x="502920" y="3557016"/>
            <a:ext cx="5440680" cy="1069848"/>
          </a:xfrm>
          <a:prstGeom prst="roundRect">
            <a:avLst>
              <a:gd name="adj" fmla="val 4274"/>
            </a:avLst>
          </a:prstGeom>
          <a:solidFill>
            <a:schemeClr val="bg2"/>
          </a:solidFill>
          <a:ln w="12700">
            <a:solidFill>
              <a:schemeClr val="bg2"/>
            </a:solidFill>
            <a:prstDash val="solid"/>
          </a:ln>
        </p:spPr>
      </p:sp>
      <p:sp>
        <p:nvSpPr>
          <p:cNvPr id="16" name="Text 14"/>
          <p:cNvSpPr txBox="1"/>
          <p:nvPr/>
        </p:nvSpPr>
        <p:spPr>
          <a:xfrm>
            <a:off x="758952" y="3666744"/>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Shrinkage unquantified</a:t>
            </a:r>
            <a:endParaRPr lang="en-US" sz="1250" dirty="0"/>
          </a:p>
        </p:txBody>
      </p:sp>
      <p:sp>
        <p:nvSpPr>
          <p:cNvPr id="17" name="Text 15"/>
          <p:cNvSpPr txBox="1"/>
          <p:nvPr/>
        </p:nvSpPr>
        <p:spPr>
          <a:xfrm>
            <a:off x="758952" y="3950208"/>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Post-drying dimensions were not logged. Density is quoted on a mould-volume basis and is a lower bound.</a:t>
            </a:r>
            <a:endParaRPr lang="en-US" sz="1050" dirty="0"/>
          </a:p>
        </p:txBody>
      </p:sp>
      <p:sp>
        <p:nvSpPr>
          <p:cNvPr id="18" name="lim-5"/>
          <p:cNvSpPr/>
          <p:nvPr/>
        </p:nvSpPr>
        <p:spPr>
          <a:xfrm>
            <a:off x="6217920" y="3557016"/>
            <a:ext cx="5440680" cy="1069848"/>
          </a:xfrm>
          <a:prstGeom prst="roundRect">
            <a:avLst>
              <a:gd name="adj" fmla="val 4274"/>
            </a:avLst>
          </a:prstGeom>
          <a:solidFill>
            <a:schemeClr val="bg2"/>
          </a:solidFill>
          <a:ln w="12700">
            <a:solidFill>
              <a:schemeClr val="bg2"/>
            </a:solidFill>
            <a:prstDash val="solid"/>
          </a:ln>
        </p:spPr>
      </p:sp>
      <p:sp>
        <p:nvSpPr>
          <p:cNvPr id="19" name="Text 17"/>
          <p:cNvSpPr txBox="1"/>
          <p:nvPr/>
        </p:nvSpPr>
        <p:spPr>
          <a:xfrm>
            <a:off x="6473952" y="3666744"/>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Process not instrumented</a:t>
            </a:r>
            <a:endParaRPr lang="en-US" sz="1250" dirty="0"/>
          </a:p>
        </p:txBody>
      </p:sp>
      <p:sp>
        <p:nvSpPr>
          <p:cNvPr id="20" name="Text 18"/>
          <p:cNvSpPr txBox="1"/>
          <p:nvPr/>
        </p:nvSpPr>
        <p:spPr>
          <a:xfrm>
            <a:off x="6473952" y="3950208"/>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Manual stirring leaves shear rate and mixing energy uncontrolled. Single laboratory, single operator, no inter-laboratory reproduction.</a:t>
            </a:r>
            <a:endParaRPr lang="en-US" sz="1050" dirty="0"/>
          </a:p>
        </p:txBody>
      </p:sp>
      <p:sp>
        <p:nvSpPr>
          <p:cNvPr id="21" name="lim-6"/>
          <p:cNvSpPr/>
          <p:nvPr/>
        </p:nvSpPr>
        <p:spPr>
          <a:xfrm>
            <a:off x="502920" y="4764024"/>
            <a:ext cx="5440680" cy="1069848"/>
          </a:xfrm>
          <a:prstGeom prst="roundRect">
            <a:avLst>
              <a:gd name="adj" fmla="val 4274"/>
            </a:avLst>
          </a:prstGeom>
          <a:solidFill>
            <a:schemeClr val="bg2"/>
          </a:solidFill>
          <a:ln w="12700">
            <a:solidFill>
              <a:schemeClr val="bg2"/>
            </a:solidFill>
            <a:prstDash val="solid"/>
          </a:ln>
        </p:spPr>
      </p:sp>
      <p:sp>
        <p:nvSpPr>
          <p:cNvPr id="22" name="Text 20"/>
          <p:cNvSpPr txBox="1"/>
          <p:nvPr/>
        </p:nvSpPr>
        <p:spPr>
          <a:xfrm>
            <a:off x="758952" y="4873752"/>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No durability data</a:t>
            </a:r>
            <a:endParaRPr lang="en-US" sz="1250" dirty="0"/>
          </a:p>
        </p:txBody>
      </p:sp>
      <p:sp>
        <p:nvSpPr>
          <p:cNvPr id="23" name="Text 21"/>
          <p:cNvSpPr txBox="1"/>
          <p:nvPr/>
        </p:nvSpPr>
        <p:spPr>
          <a:xfrm>
            <a:off x="758952" y="5157216"/>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No humidity cycling, thermal cycling, UV exposure, microbial resistance or accelerated ageing was performed.</a:t>
            </a:r>
            <a:endParaRPr lang="en-US" sz="1050" dirty="0"/>
          </a:p>
        </p:txBody>
      </p:sp>
      <p:sp>
        <p:nvSpPr>
          <p:cNvPr id="24" name="lim-7"/>
          <p:cNvSpPr/>
          <p:nvPr/>
        </p:nvSpPr>
        <p:spPr>
          <a:xfrm>
            <a:off x="6217920" y="4764024"/>
            <a:ext cx="5440680" cy="1069848"/>
          </a:xfrm>
          <a:prstGeom prst="roundRect">
            <a:avLst>
              <a:gd name="adj" fmla="val 4274"/>
            </a:avLst>
          </a:prstGeom>
          <a:solidFill>
            <a:schemeClr val="bg2"/>
          </a:solidFill>
          <a:ln w="12700">
            <a:solidFill>
              <a:schemeClr val="bg2"/>
            </a:solidFill>
            <a:prstDash val="solid"/>
          </a:ln>
        </p:spPr>
      </p:sp>
      <p:sp>
        <p:nvSpPr>
          <p:cNvPr id="25" name="Text 23"/>
          <p:cNvSpPr txBox="1"/>
          <p:nvPr/>
        </p:nvSpPr>
        <p:spPr>
          <a:xfrm>
            <a:off x="6473952" y="4873752"/>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No fire classification or LCA</a:t>
            </a:r>
            <a:endParaRPr lang="en-US" sz="1250" dirty="0"/>
          </a:p>
        </p:txBody>
      </p:sp>
      <p:sp>
        <p:nvSpPr>
          <p:cNvPr id="26" name="Text 24"/>
          <p:cNvSpPr txBox="1"/>
          <p:nvPr/>
        </p:nvSpPr>
        <p:spPr>
          <a:xfrm>
            <a:off x="6473952" y="5157216"/>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Ignitability only, with no Euroclass determination, and no life-cycle assessment to support the environmental argument.</a:t>
            </a:r>
            <a:endParaRPr lang="en-US" sz="1050" dirty="0"/>
          </a:p>
        </p:txBody>
      </p:sp>
      <p:sp>
        <p:nvSpPr>
          <p:cNvPr id="27" name="Text 25"/>
          <p:cNvSpPr txBox="1"/>
          <p:nvPr/>
        </p:nvSpPr>
        <p:spPr>
          <a:xfrm>
            <a:off x="502920" y="5943600"/>
            <a:ext cx="11155680" cy="320040"/>
          </a:xfrm>
          <a:prstGeom prst="rect">
            <a:avLst/>
          </a:prstGeom>
          <a:noFill/>
          <a:ln/>
        </p:spPr>
        <p:txBody>
          <a:bodyPr wrap="square" lIns="0" tIns="0" rIns="0" bIns="0" rtlCol="0" anchor="ctr"/>
          <a:lstStyle/>
          <a:p>
            <a:pPr indent="0" marL="0">
              <a:buNone/>
            </a:pPr>
            <a:r>
              <a:rPr lang="en-US" sz="1200" i="1" dirty="0">
                <a:solidFill>
                  <a:schemeClr val="accent1"/>
                </a:solidFill>
              </a:rPr>
              <a:t>A protocol offered for others to repeat has to state where it is thin. Each of these is addressable, and each defines a specific next experiment.</a:t>
            </a:r>
            <a:endParaRPr lang="en-US" sz="1200" dirty="0"/>
          </a:p>
        </p:txBody>
      </p:sp>
      <p:sp>
        <p:nvSpPr>
          <p:cNvPr id="2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bg1"/>
                </a:solidFill>
              </a:rPr>
              <a:t>Conclusions</a:t>
            </a:r>
            <a:endParaRPr lang="en-US" sz="2900" dirty="0"/>
          </a:p>
        </p:txBody>
      </p:sp>
      <p:sp>
        <p:nvSpPr>
          <p:cNvPr id="3" name="Text 1"/>
          <p:cNvSpPr txBox="1"/>
          <p:nvPr/>
        </p:nvSpPr>
        <p:spPr>
          <a:xfrm>
            <a:off x="502920" y="1143000"/>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01</a:t>
            </a:r>
            <a:endParaRPr lang="en-US" sz="1700" dirty="0"/>
          </a:p>
        </p:txBody>
      </p:sp>
      <p:sp>
        <p:nvSpPr>
          <p:cNvPr id="4" name="Text 2"/>
          <p:cNvSpPr txBox="1"/>
          <p:nvPr/>
        </p:nvSpPr>
        <p:spPr>
          <a:xfrm>
            <a:off x="1188720" y="1143000"/>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A reproducible protocol</a:t>
            </a:r>
            <a:endParaRPr lang="en-US" sz="1350" dirty="0"/>
          </a:p>
        </p:txBody>
      </p:sp>
      <p:sp>
        <p:nvSpPr>
          <p:cNvPr id="5" name="Text 3"/>
          <p:cNvSpPr txBox="1"/>
          <p:nvPr/>
        </p:nvSpPr>
        <p:spPr>
          <a:xfrm>
            <a:off x="4754880" y="1143000"/>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Every parameter required to produce the composite is reported: 120 °C shell treatment, 150 µm fraction, 95 °C dissolution, 80 °C cook, 55 min, silicone casting, 11 days ambient.</a:t>
            </a:r>
            <a:endParaRPr lang="en-US" sz="1200" dirty="0"/>
          </a:p>
        </p:txBody>
      </p:sp>
      <p:sp>
        <p:nvSpPr>
          <p:cNvPr id="6" name="Text 4"/>
          <p:cNvSpPr txBox="1"/>
          <p:nvPr/>
        </p:nvSpPr>
        <p:spPr>
          <a:xfrm>
            <a:off x="502920" y="2075688"/>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02</a:t>
            </a:r>
            <a:endParaRPr lang="en-US" sz="1700" dirty="0"/>
          </a:p>
        </p:txBody>
      </p:sp>
      <p:sp>
        <p:nvSpPr>
          <p:cNvPr id="7" name="Text 5"/>
          <p:cNvSpPr txBox="1"/>
          <p:nvPr/>
        </p:nvSpPr>
        <p:spPr>
          <a:xfrm>
            <a:off x="1188720" y="2075688"/>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Solids concentration governs strength</a:t>
            </a:r>
            <a:endParaRPr lang="en-US" sz="1350" dirty="0"/>
          </a:p>
        </p:txBody>
      </p:sp>
      <p:sp>
        <p:nvSpPr>
          <p:cNvPr id="8" name="Text 6"/>
          <p:cNvSpPr txBox="1"/>
          <p:nvPr/>
        </p:nvSpPr>
        <p:spPr>
          <a:xfrm>
            <a:off x="4754880" y="2075688"/>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With shell : binder fixed at 2.00, compressive stress is linear in solids concentration across 0.37–0.59 (R² = 0.994, three formulations). Strength is set by packing density.</a:t>
            </a:r>
            <a:endParaRPr lang="en-US" sz="1200" dirty="0"/>
          </a:p>
        </p:txBody>
      </p:sp>
      <p:sp>
        <p:nvSpPr>
          <p:cNvPr id="9" name="Text 7"/>
          <p:cNvSpPr txBox="1"/>
          <p:nvPr/>
        </p:nvSpPr>
        <p:spPr>
          <a:xfrm>
            <a:off x="502920" y="3008376"/>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03</a:t>
            </a:r>
            <a:endParaRPr lang="en-US" sz="1700" dirty="0"/>
          </a:p>
        </p:txBody>
      </p:sp>
      <p:sp>
        <p:nvSpPr>
          <p:cNvPr id="10" name="Text 8"/>
          <p:cNvSpPr txBox="1"/>
          <p:nvPr/>
        </p:nvSpPr>
        <p:spPr>
          <a:xfrm>
            <a:off x="1188720" y="3008376"/>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Plasticiser sets the brittle–ductile transition</a:t>
            </a:r>
            <a:endParaRPr lang="en-US" sz="1350" dirty="0"/>
          </a:p>
        </p:txBody>
      </p:sp>
      <p:sp>
        <p:nvSpPr>
          <p:cNvPr id="11" name="Text 9"/>
          <p:cNvSpPr txBox="1"/>
          <p:nvPr/>
        </p:nvSpPr>
        <p:spPr>
          <a:xfrm>
            <a:off x="4754880" y="3008376"/>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Between 18.8% and 10.3% glycerol the composite moves from unmeasurable compliance to 2.33 MPa at 192 MPa.</a:t>
            </a:r>
            <a:endParaRPr lang="en-US" sz="1200" dirty="0"/>
          </a:p>
        </p:txBody>
      </p:sp>
      <p:sp>
        <p:nvSpPr>
          <p:cNvPr id="12" name="Text 10"/>
          <p:cNvSpPr txBox="1"/>
          <p:nvPr/>
        </p:nvSpPr>
        <p:spPr>
          <a:xfrm>
            <a:off x="502920" y="3941064"/>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04</a:t>
            </a:r>
            <a:endParaRPr lang="en-US" sz="1700" dirty="0"/>
          </a:p>
        </p:txBody>
      </p:sp>
      <p:sp>
        <p:nvSpPr>
          <p:cNvPr id="13" name="Text 11"/>
          <p:cNvSpPr txBox="1"/>
          <p:nvPr/>
        </p:nvSpPr>
        <p:spPr>
          <a:xfrm>
            <a:off x="1188720" y="3941064"/>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Bio-polymer stiffness, oven-free</a:t>
            </a:r>
            <a:endParaRPr lang="en-US" sz="1350" dirty="0"/>
          </a:p>
        </p:txBody>
      </p:sp>
      <p:sp>
        <p:nvSpPr>
          <p:cNvPr id="14" name="Text 12"/>
          <p:cNvSpPr txBox="1"/>
          <p:nvPr/>
        </p:nvSpPr>
        <p:spPr>
          <a:xfrm>
            <a:off x="4754880" y="3941064"/>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192 MPa places a water-cast, ambient-dried material inside the band occupied by melt-processed bio-polymers.</a:t>
            </a:r>
            <a:endParaRPr lang="en-US" sz="1200" dirty="0"/>
          </a:p>
        </p:txBody>
      </p:sp>
      <p:sp>
        <p:nvSpPr>
          <p:cNvPr id="15" name="Text 13"/>
          <p:cNvSpPr txBox="1"/>
          <p:nvPr/>
        </p:nvSpPr>
        <p:spPr>
          <a:xfrm>
            <a:off x="502920" y="4873752"/>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05</a:t>
            </a:r>
            <a:endParaRPr lang="en-US" sz="1700" dirty="0"/>
          </a:p>
        </p:txBody>
      </p:sp>
      <p:sp>
        <p:nvSpPr>
          <p:cNvPr id="16" name="Text 14"/>
          <p:cNvSpPr txBox="1"/>
          <p:nvPr/>
        </p:nvSpPr>
        <p:spPr>
          <a:xfrm>
            <a:off x="1188720" y="4873752"/>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Strength is the wrong sole criterion</a:t>
            </a:r>
            <a:endParaRPr lang="en-US" sz="1350" dirty="0"/>
          </a:p>
        </p:txBody>
      </p:sp>
      <p:sp>
        <p:nvSpPr>
          <p:cNvPr id="17" name="Text 15"/>
          <p:cNvSpPr txBox="1"/>
          <p:nvPr/>
        </p:nvSpPr>
        <p:spPr>
          <a:xfrm>
            <a:off x="4754880" y="4873752"/>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Deformation capacity governs service behaviour for demountable non-loadbearing components. σ and E should be reported together so that Ur can be derived.</a:t>
            </a:r>
            <a:endParaRPr lang="en-US" sz="1200" dirty="0"/>
          </a:p>
        </p:txBody>
      </p:sp>
      <p:sp>
        <p:nvSpPr>
          <p:cNvPr id="18" name="Text 16"/>
          <p:cNvSpPr txBox="1"/>
          <p:nvPr/>
        </p:nvSpPr>
        <p:spPr>
          <a:xfrm>
            <a:off x="502920" y="5870448"/>
            <a:ext cx="11155680" cy="292608"/>
          </a:xfrm>
          <a:prstGeom prst="rect">
            <a:avLst/>
          </a:prstGeom>
          <a:noFill/>
          <a:ln/>
        </p:spPr>
        <p:txBody>
          <a:bodyPr wrap="square" lIns="0" tIns="0" rIns="0" bIns="0" rtlCol="0" anchor="ctr"/>
          <a:lstStyle/>
          <a:p>
            <a:pPr indent="0" marL="0">
              <a:buNone/>
            </a:pPr>
            <a:r>
              <a:rPr lang="en-US" sz="1250" b="1" dirty="0">
                <a:solidFill>
                  <a:srgbClr val="FFFFFF"/>
                </a:solidFill>
              </a:rPr>
              <a:t>Betül Ünal  ·  Department of Interior Architecture, Cappadocia University  ·  b.unal91@gmail.com</a:t>
            </a:r>
            <a:endParaRPr lang="en-US" sz="1250" dirty="0"/>
          </a:p>
        </p:txBody>
      </p:sp>
      <p:sp>
        <p:nvSpPr>
          <p:cNvPr id="19" name="Text 17"/>
          <p:cNvSpPr txBox="1"/>
          <p:nvPr/>
        </p:nvSpPr>
        <p:spPr>
          <a:xfrm>
            <a:off x="502920" y="6163056"/>
            <a:ext cx="11155680" cy="292608"/>
          </a:xfrm>
          <a:prstGeom prst="rect">
            <a:avLst/>
          </a:prstGeom>
          <a:noFill/>
          <a:ln/>
        </p:spPr>
        <p:txBody>
          <a:bodyPr wrap="square" lIns="0" tIns="0" rIns="0" bIns="0" rtlCol="0" anchor="ctr"/>
          <a:lstStyle/>
          <a:p>
            <a:pPr indent="0" marL="0">
              <a:buNone/>
            </a:pPr>
            <a:r>
              <a:rPr lang="en-US" sz="1000" i="1" dirty="0">
                <a:solidFill>
                  <a:srgbClr val="AFC4B7"/>
                </a:solidFill>
              </a:rPr>
              <a:t>Testing: Advanced Construction Materials Research Laboratory, Hacettepe University, with thanks to Dr Hüseyin İlcan. Derived from the author's doctoral dissertation, Hacettepe University, 2025.</a:t>
            </a:r>
            <a:endParaRPr lang="en-US" sz="1000" dirty="0"/>
          </a:p>
        </p:txBody>
      </p:sp>
      <p:sp>
        <p:nvSpPr>
          <p:cNvPr id="2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Selected references</a:t>
            </a:r>
            <a:endParaRPr lang="en-US" sz="2900" dirty="0"/>
          </a:p>
        </p:txBody>
      </p:sp>
      <p:sp>
        <p:nvSpPr>
          <p:cNvPr id="3" name="ref-0"/>
          <p:cNvSpPr/>
          <p:nvPr/>
        </p:nvSpPr>
        <p:spPr>
          <a:xfrm>
            <a:off x="502920" y="1143000"/>
            <a:ext cx="11155680" cy="1463040"/>
          </a:xfrm>
          <a:prstGeom prst="roundRect">
            <a:avLst>
              <a:gd name="adj" fmla="val 3125"/>
            </a:avLst>
          </a:prstGeom>
          <a:solidFill>
            <a:schemeClr val="bg2"/>
          </a:solidFill>
          <a:ln w="12700">
            <a:solidFill>
              <a:schemeClr val="bg2"/>
            </a:solidFill>
            <a:prstDash val="solid"/>
          </a:ln>
        </p:spPr>
      </p:sp>
      <p:sp>
        <p:nvSpPr>
          <p:cNvPr id="4" name="Text 2"/>
          <p:cNvSpPr txBox="1"/>
          <p:nvPr/>
        </p:nvSpPr>
        <p:spPr>
          <a:xfrm>
            <a:off x="822960" y="1271016"/>
            <a:ext cx="10515600" cy="274320"/>
          </a:xfrm>
          <a:prstGeom prst="rect">
            <a:avLst/>
          </a:prstGeom>
          <a:noFill/>
          <a:ln/>
        </p:spPr>
        <p:txBody>
          <a:bodyPr wrap="square" lIns="0" tIns="0" rIns="0" bIns="0" rtlCol="0" anchor="ctr"/>
          <a:lstStyle/>
          <a:p>
            <a:pPr indent="0" marL="0">
              <a:buNone/>
            </a:pPr>
            <a:r>
              <a:rPr lang="en-US" sz="1200" b="1" dirty="0">
                <a:solidFill>
                  <a:schemeClr val="accent1"/>
                </a:solidFill>
              </a:rPr>
              <a:t>REVIEWS AND STATE OF THE ART</a:t>
            </a:r>
            <a:endParaRPr lang="en-US" sz="1200" dirty="0"/>
          </a:p>
        </p:txBody>
      </p:sp>
      <p:sp>
        <p:nvSpPr>
          <p:cNvPr id="5" name="Text 3"/>
          <p:cNvSpPr txBox="1"/>
          <p:nvPr/>
        </p:nvSpPr>
        <p:spPr>
          <a:xfrm>
            <a:off x="822960" y="1563624"/>
            <a:ext cx="10515600" cy="960120"/>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050" dirty="0">
                <a:solidFill>
                  <a:schemeClr val="accent6"/>
                </a:solidFill>
              </a:rPr>
              <a:t>Ngayakamo, B. &amp; Onwualu, A.P. (2022). Recent advances in green processing technologies for valorisation of eggshell waste for sustainable construction materials. Heliyon.</a:t>
            </a:r>
            <a:endParaRPr lang="en-US" sz="1050" dirty="0"/>
          </a:p>
          <a:p>
            <a:pPr marL="342900" indent="-342900">
              <a:lnSpc>
                <a:spcPts val="1300"/>
              </a:lnSpc>
              <a:spcAft>
                <a:spcPts val="300"/>
              </a:spcAft>
              <a:buSzPct val="100000"/>
              <a:buChar char="•"/>
            </a:pPr>
            <a:r>
              <a:rPr lang="en-US" sz="1050" dirty="0">
                <a:solidFill>
                  <a:schemeClr val="accent6"/>
                </a:solidFill>
              </a:rPr>
              <a:t>Owuamanam, S. &amp; Cree, D. (2020). Progress of bio-calcium carbonate waste eggshell and seashell fillers in polymer composites: a review. Journal of Composites Science, 4(2), 70.</a:t>
            </a:r>
            <a:endParaRPr lang="en-US" sz="1050" dirty="0"/>
          </a:p>
          <a:p>
            <a:pPr marL="342900" indent="-342900">
              <a:lnSpc>
                <a:spcPts val="1300"/>
              </a:lnSpc>
              <a:spcAft>
                <a:spcPts val="300"/>
              </a:spcAft>
              <a:buSzPct val="100000"/>
              <a:buChar char="•"/>
            </a:pPr>
            <a:r>
              <a:rPr lang="en-US" sz="1050" dirty="0">
                <a:solidFill>
                  <a:schemeClr val="accent6"/>
                </a:solidFill>
              </a:rPr>
              <a:t>Biogenic calcium carbonate derived from waste shells for advanced material applications: a review (2022). Frontiers in Materials, 9, 1024977.</a:t>
            </a:r>
            <a:endParaRPr lang="en-US" sz="1050" dirty="0"/>
          </a:p>
        </p:txBody>
      </p:sp>
      <p:sp>
        <p:nvSpPr>
          <p:cNvPr id="6" name="ref-1"/>
          <p:cNvSpPr/>
          <p:nvPr/>
        </p:nvSpPr>
        <p:spPr>
          <a:xfrm>
            <a:off x="502920" y="2770632"/>
            <a:ext cx="11155680" cy="1463040"/>
          </a:xfrm>
          <a:prstGeom prst="roundRect">
            <a:avLst>
              <a:gd name="adj" fmla="val 3125"/>
            </a:avLst>
          </a:prstGeom>
          <a:solidFill>
            <a:schemeClr val="bg2"/>
          </a:solidFill>
          <a:ln w="12700">
            <a:solidFill>
              <a:schemeClr val="bg2"/>
            </a:solidFill>
            <a:prstDash val="solid"/>
          </a:ln>
        </p:spPr>
      </p:sp>
      <p:sp>
        <p:nvSpPr>
          <p:cNvPr id="7" name="Text 5"/>
          <p:cNvSpPr txBox="1"/>
          <p:nvPr/>
        </p:nvSpPr>
        <p:spPr>
          <a:xfrm>
            <a:off x="822960" y="2898648"/>
            <a:ext cx="10515600" cy="274320"/>
          </a:xfrm>
          <a:prstGeom prst="rect">
            <a:avLst/>
          </a:prstGeom>
          <a:noFill/>
          <a:ln/>
        </p:spPr>
        <p:txBody>
          <a:bodyPr wrap="square" lIns="0" tIns="0" rIns="0" bIns="0" rtlCol="0" anchor="ctr"/>
          <a:lstStyle/>
          <a:p>
            <a:pPr indent="0" marL="0">
              <a:buNone/>
            </a:pPr>
            <a:r>
              <a:rPr lang="en-US" sz="1200" b="1" dirty="0">
                <a:solidFill>
                  <a:schemeClr val="accent1"/>
                </a:solidFill>
              </a:rPr>
              <a:t>AGAR AND BIO-POLYMER SYSTEMS</a:t>
            </a:r>
            <a:endParaRPr lang="en-US" sz="1200" dirty="0"/>
          </a:p>
        </p:txBody>
      </p:sp>
      <p:sp>
        <p:nvSpPr>
          <p:cNvPr id="8" name="Text 6"/>
          <p:cNvSpPr txBox="1"/>
          <p:nvPr/>
        </p:nvSpPr>
        <p:spPr>
          <a:xfrm>
            <a:off x="822960" y="3191256"/>
            <a:ext cx="10515600" cy="960120"/>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050" dirty="0">
                <a:solidFill>
                  <a:schemeClr val="accent6"/>
                </a:solidFill>
              </a:rPr>
              <a:t>Hernández, V., Ibarra, D., Triana, J.F., Martínez-Soto, B. et al. (2022). Agar biopolymer films for biodegradable packaging: a reference dataset for exploring the limits of mechanical performance. Materials, 15(11), 3954.</a:t>
            </a:r>
            <a:endParaRPr lang="en-US" sz="1050" dirty="0"/>
          </a:p>
          <a:p>
            <a:pPr marL="342900" indent="-342900">
              <a:lnSpc>
                <a:spcPts val="1300"/>
              </a:lnSpc>
              <a:spcAft>
                <a:spcPts val="300"/>
              </a:spcAft>
              <a:buSzPct val="100000"/>
              <a:buChar char="•"/>
            </a:pPr>
            <a:r>
              <a:rPr lang="en-US" sz="1050" dirty="0">
                <a:solidFill>
                  <a:schemeClr val="accent6"/>
                </a:solidFill>
              </a:rPr>
              <a:t>Materiom (2026). Open biomaterial recipe commons and property database. materiom.org/data.</a:t>
            </a:r>
            <a:endParaRPr lang="en-US" sz="1050" dirty="0"/>
          </a:p>
          <a:p>
            <a:pPr marL="342900" indent="-342900">
              <a:lnSpc>
                <a:spcPts val="1300"/>
              </a:lnSpc>
              <a:spcAft>
                <a:spcPts val="300"/>
              </a:spcAft>
              <a:buSzPct val="100000"/>
              <a:buChar char="•"/>
            </a:pPr>
            <a:r>
              <a:rPr lang="en-US" sz="1050" dirty="0">
                <a:solidFill>
                  <a:schemeClr val="accent6"/>
                </a:solidFill>
              </a:rPr>
              <a:t>Mansour et al. (2021); Dweib et al. (2004); Faruk et al. (2012); Zhao et al. (2022) — bio-polymer elastic moduli.</a:t>
            </a:r>
            <a:endParaRPr lang="en-US" sz="1050" dirty="0"/>
          </a:p>
        </p:txBody>
      </p:sp>
      <p:sp>
        <p:nvSpPr>
          <p:cNvPr id="9" name="ref-2"/>
          <p:cNvSpPr/>
          <p:nvPr/>
        </p:nvSpPr>
        <p:spPr>
          <a:xfrm>
            <a:off x="502920" y="4398264"/>
            <a:ext cx="11155680" cy="1463040"/>
          </a:xfrm>
          <a:prstGeom prst="roundRect">
            <a:avLst>
              <a:gd name="adj" fmla="val 3125"/>
            </a:avLst>
          </a:prstGeom>
          <a:solidFill>
            <a:schemeClr val="bg2"/>
          </a:solidFill>
          <a:ln w="12700">
            <a:solidFill>
              <a:schemeClr val="bg2"/>
            </a:solidFill>
            <a:prstDash val="solid"/>
          </a:ln>
        </p:spPr>
      </p:sp>
      <p:sp>
        <p:nvSpPr>
          <p:cNvPr id="10" name="Text 8"/>
          <p:cNvSpPr txBox="1"/>
          <p:nvPr/>
        </p:nvSpPr>
        <p:spPr>
          <a:xfrm>
            <a:off x="822960" y="4526280"/>
            <a:ext cx="10515600" cy="274320"/>
          </a:xfrm>
          <a:prstGeom prst="rect">
            <a:avLst/>
          </a:prstGeom>
          <a:noFill/>
          <a:ln/>
        </p:spPr>
        <p:txBody>
          <a:bodyPr wrap="square" lIns="0" tIns="0" rIns="0" bIns="0" rtlCol="0" anchor="ctr"/>
          <a:lstStyle/>
          <a:p>
            <a:pPr indent="0" marL="0">
              <a:buNone/>
            </a:pPr>
            <a:r>
              <a:rPr lang="en-US" sz="1200" b="1" dirty="0">
                <a:solidFill>
                  <a:schemeClr val="accent1"/>
                </a:solidFill>
              </a:rPr>
              <a:t>COMPARATIVE MATERIAL DATA</a:t>
            </a:r>
            <a:endParaRPr lang="en-US" sz="1200" dirty="0"/>
          </a:p>
        </p:txBody>
      </p:sp>
      <p:sp>
        <p:nvSpPr>
          <p:cNvPr id="11" name="Text 9"/>
          <p:cNvSpPr txBox="1"/>
          <p:nvPr/>
        </p:nvSpPr>
        <p:spPr>
          <a:xfrm>
            <a:off x="822960" y="4818888"/>
            <a:ext cx="10515600" cy="960120"/>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050" dirty="0">
                <a:solidFill>
                  <a:schemeClr val="accent6"/>
                </a:solidFill>
              </a:rPr>
              <a:t>Jones, M. et al. (2020) — mycelium composite density and compressive strength. Islam et al. (2018) — mycelium modulus.</a:t>
            </a:r>
            <a:endParaRPr lang="en-US" sz="1050" dirty="0"/>
          </a:p>
          <a:p>
            <a:pPr marL="342900" indent="-342900">
              <a:lnSpc>
                <a:spcPts val="1300"/>
              </a:lnSpc>
              <a:spcAft>
                <a:spcPts val="300"/>
              </a:spcAft>
              <a:buSzPct val="100000"/>
              <a:buChar char="•"/>
            </a:pPr>
            <a:r>
              <a:rPr lang="en-US" sz="1050" dirty="0">
                <a:solidFill>
                  <a:schemeClr val="accent6"/>
                </a:solidFill>
              </a:rPr>
              <a:t>Arnaud, L. &amp; Gourlay, E. (2012) — hempcrete. Kim &amp; Pal (2010) — eggshell-filled PLA. Shah et al. (2016) — mineral-filled biocomposites.</a:t>
            </a:r>
            <a:endParaRPr lang="en-US" sz="1050" dirty="0"/>
          </a:p>
          <a:p>
            <a:pPr marL="342900" indent="-342900">
              <a:lnSpc>
                <a:spcPts val="1300"/>
              </a:lnSpc>
              <a:spcAft>
                <a:spcPts val="300"/>
              </a:spcAft>
              <a:buSzPct val="100000"/>
              <a:buChar char="•"/>
            </a:pPr>
            <a:r>
              <a:rPr lang="en-US" sz="1050" dirty="0">
                <a:solidFill>
                  <a:schemeClr val="accent6"/>
                </a:solidFill>
              </a:rPr>
              <a:t>Nemli &amp; Aydın (2007) — MDF. Altun (2006) — travertine. Klyosov (2007) — WPC. Velasco &amp; Gaona (2011) — compressed mushroom panel. Pope &amp; Hudson (1989) — pine.</a:t>
            </a:r>
            <a:endParaRPr lang="en-US" sz="1050" dirty="0"/>
          </a:p>
        </p:txBody>
      </p:sp>
      <p:sp>
        <p:nvSpPr>
          <p:cNvPr id="12" name="Text 10"/>
          <p:cNvSpPr txBox="1"/>
          <p:nvPr/>
        </p:nvSpPr>
        <p:spPr>
          <a:xfrm>
            <a:off x="502920" y="6035040"/>
            <a:ext cx="11155680" cy="274320"/>
          </a:xfrm>
          <a:prstGeom prst="rect">
            <a:avLst/>
          </a:prstGeom>
          <a:noFill/>
          <a:ln/>
        </p:spPr>
        <p:txBody>
          <a:bodyPr wrap="square" lIns="0" tIns="0" rIns="0" bIns="0" rtlCol="0" anchor="ctr"/>
          <a:lstStyle/>
          <a:p>
            <a:pPr indent="0" marL="0">
              <a:buNone/>
            </a:pPr>
            <a:r>
              <a:rPr lang="en-US" sz="1050" i="1" dirty="0">
                <a:solidFill>
                  <a:schemeClr val="accent6"/>
                </a:solidFill>
              </a:rPr>
              <a:t>Standards: ASTM D790-17 · ISO 11925-2:2020 · ASTM D570-98(2018).   Full reference list available on request.</a:t>
            </a:r>
            <a:endParaRPr lang="en-US" sz="1050" dirty="0"/>
          </a:p>
        </p:txBody>
      </p:sp>
      <p:sp>
        <p:nvSpPr>
          <p:cNvPr id="14"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theme/theme1.xml><?xml version="1.0" encoding="utf-8"?>
<a:theme xmlns:a="http://schemas.openxmlformats.org/drawingml/2006/main" name="Eggshell Biocomposite">
  <a:themeElements>
    <a:clrScheme name="Eggshell Biocomposite">
      <a:dk1>
        <a:srgbClr val="1A1A18"/>
      </a:dk1>
      <a:lt1>
        <a:srgbClr val="FFFFFF"/>
      </a:lt1>
      <a:dk2>
        <a:srgbClr val="1B3B2F"/>
      </a:dk2>
      <a:lt2>
        <a:srgbClr val="EFE9DC"/>
      </a:lt2>
      <a:accent1>
        <a:srgbClr val="C9622F"/>
      </a:accent1>
      <a:accent2>
        <a:srgbClr val="5E8C6A"/>
      </a:accent2>
      <a:accent3>
        <a:srgbClr val="8C7B5E"/>
      </a:accent3>
      <a:accent4>
        <a:srgbClr val="2E5F4A"/>
      </a:accent4>
      <a:accent5>
        <a:srgbClr val="B8A98C"/>
      </a:accent5>
      <a:accent6>
        <a:srgbClr val="6E6B64"/>
      </a:accent6>
      <a:hlink>
        <a:srgbClr val="C9622F"/>
      </a:hlink>
      <a:folHlink>
        <a:srgbClr val="8C7B5E"/>
      </a:folHlink>
    </a:clrScheme>
    <a:fontScheme name="Eggshell Biocompos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2026-10-21T20:43:45Z</dcterms:created>
  <dcterms:modified xsi:type="dcterms:W3CDTF">2026-10-21T20:43:45Z</dcterms:modified>
</cp:coreProperties>
</file>