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815d02e-3845-3f85-0239-49a304c3b122}">
          <p14:sldIdLst>
            <p14:sldId id="256"/>
          </p14:sldIdLst>
        </p14:section>
        <p14:section name="Problem" id="{43396257-8590-4d00-e829-77a55411b9ba}">
          <p14:sldIdLst>
            <p14:sldId id="257"/>
            <p14:sldId id="258"/>
          </p14:sldIdLst>
        </p14:section>
        <p14:section name="Protocol" id="{e5e540fc-98e9-5692-2e43-06a191359eab}">
          <p14:sldIdLst>
            <p14:sldId id="259"/>
            <p14:sldId id="260"/>
            <p14:sldId id="261"/>
            <p14:sldId id="262"/>
            <p14:sldId id="263"/>
          </p14:sldIdLst>
        </p14:section>
        <p14:section name="Results" id="{5bd4dd3f-2e69-9a8b-09c1-071432a1d690}">
          <p14:sldIdLst>
            <p14:sldId id="264"/>
            <p14:sldId id="265"/>
            <p14:sldId id="266"/>
            <p14:sldId id="267"/>
          </p14:sldIdLst>
        </p14:section>
        <p14:section name="Argument" id="{e8dc3911-ffe0-b462-00b9-41f480f39fe9}">
          <p14:sldIdLst>
            <p14:sldId id="268"/>
            <p14:sldId id="269"/>
          </p14:sldIdLst>
        </p14:section>
        <p14:section name="Closing" id="{bf2670e3-d7a0-64ce-7e2e-cca2a6142240}">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 strength</c:v>
                </c:pt>
              </c:strCache>
            </c:strRef>
          </c:tx>
          <c:spPr>
            <a:solidFill>
              <a:srgbClr val="2E5F4A"/>
            </a:solidFill>
            <a:effectLst/>
          </c:spPr>
          <c:invertIfNegative val="0"/>
          <c:dLbls>
            <c:numFmt formatCode="#,##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cat>
            <c:multiLvlStrRef>
              <c:f>Sheet1!$A$2:$A$6</c:f>
              <c:multiLvlStrCache>
                <c:ptCount val="5"/>
                <c:lvl>
                  <c:pt idx="0">
                    <c:v>Mushroom panel</c:v>
                  </c:pt>
                  <c:pt idx="1">
                    <c:v>This study</c:v>
                  </c:pt>
                  <c:pt idx="2">
                    <c:v>WPC</c:v>
                  </c:pt>
                  <c:pt idx="3">
                    <c:v>MDF</c:v>
                  </c:pt>
                  <c:pt idx="4">
                    <c:v>Travertine</c:v>
                  </c:pt>
                </c:lvl>
              </c:multiLvlStrCache>
            </c:multiLvlStrRef>
          </c:cat>
          <c:val>
            <c:numRef>
              <c:f>Sheet1!$B$2:$B$6</c:f>
              <c:numCache>
                <c:formatCode>General</c:formatCode>
                <c:ptCount val="5"/>
                <c:pt idx="0">
                  <c:v>1.2</c:v>
                </c:pt>
                <c:pt idx="1">
                  <c:v>4.1</c:v>
                </c:pt>
                <c:pt idx="2">
                  <c:v>7.2</c:v>
                </c:pt>
                <c:pt idx="3">
                  <c:v>24</c:v>
                </c:pt>
                <c:pt idx="4">
                  <c:v>80</c:v>
                </c:pt>
              </c:numCache>
            </c:numRef>
          </c:val>
        </c:ser>
        <c:ser>
          <c:idx val="1"/>
          <c:order val="1"/>
          <c:tx>
            <c:strRef>
              <c:f>Sheet1!$C$1</c:f>
              <c:strCache>
                <c:ptCount val="1"/>
                <c:pt idx="0">
                  <c:v>Flexural strength</c:v>
                </c:pt>
              </c:strCache>
            </c:strRef>
          </c:tx>
          <c:spPr>
            <a:solidFill>
              <a:srgbClr val="8C7B5E"/>
            </a:solidFill>
            <a:effectLst/>
          </c:spPr>
          <c:invertIfNegative val="0"/>
          <c:dLbls>
            <c:numFmt formatCode="#,##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cat>
            <c:multiLvlStrRef>
              <c:f>Sheet1!$A$2:$A$6</c:f>
              <c:multiLvlStrCache>
                <c:ptCount val="5"/>
                <c:lvl>
                  <c:pt idx="0">
                    <c:v>Mushroom panel</c:v>
                  </c:pt>
                  <c:pt idx="1">
                    <c:v>This study</c:v>
                  </c:pt>
                  <c:pt idx="2">
                    <c:v>WPC</c:v>
                  </c:pt>
                  <c:pt idx="3">
                    <c:v>MDF</c:v>
                  </c:pt>
                  <c:pt idx="4">
                    <c:v>Travertine</c:v>
                  </c:pt>
                </c:lvl>
              </c:multiLvlStrCache>
            </c:multiLvlStrRef>
          </c:cat>
          <c:val>
            <c:numRef>
              <c:f>Sheet1!$C$2:$C$6</c:f>
              <c:numCache>
                <c:formatCode>General</c:formatCode>
                <c:ptCount val="5"/>
                <c:pt idx="0">
                  <c:v>1</c:v>
                </c:pt>
                <c:pt idx="1">
                  <c:v>2.3</c:v>
                </c:pt>
                <c:pt idx="2">
                  <c:v>12</c:v>
                </c:pt>
                <c:pt idx="3">
                  <c:v>35</c:v>
                </c:pt>
                <c:pt idx="4">
                  <c:v>11</c:v>
                </c:pt>
              </c:numCache>
            </c:numRef>
          </c:val>
        </c:ser>
        <c:dLbls>
          <c:numFmt formatCode="#,##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B6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EAE3"/>
              </a:solidFill>
              <a:prstDash val="solid"/>
              <a:round/>
            </a:ln>
          </c:spPr>
        </c:majorGridlines>
        <c:title>
          <c:tx>
            <c:rich>
              <a:bodyPr/>
              <a:lstStyle/>
              <a:p>
                <a:pPr>
                  <a:defRPr sz="1100" b="0" i="0" u="none" strike="noStrike">
                    <a:solidFill>
                      <a:srgbClr val="6E6B64"/>
                    </a:solidFill>
                    <a:latin typeface="+mn-lt"/>
                  </a:defRPr>
                </a:pPr>
                <a:r>
                  <a:rPr sz="1100" b="0" i="0" u="none" strike="noStrike">
                    <a:solidFill>
                      <a:srgbClr val="6E6B64"/>
                    </a:solidFill>
                    <a:latin typeface="+mn-lt"/>
                  </a:rPr>
                  <a:t>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B64"/>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E6B6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Betul Unal, from the Department of Interior Architecture at Cappadocia University. Today I want to talk about a biocomposite made from eggshell waste - and about why the way we measure such materials may be hiding their most useful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Eggshell is one of the most abundant food waste streams we have. Chemically it is almost pure calcium carbonate, and that is why it keeps appearing in the materials literature. For this study, all shells came from a single bakery, collected over more than a year - which is itself a point about local waste streams.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Eggshell has been used widely - but almost always as a mineral filler suspended in a synthetic matrix: epoxy, PLA, PVC, or cement. The waste is valorised; the binder is not. In this study both the filler and the binder are biological.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 has four components. Eggshell powder is the mineral phase. Agar, from seaweed, is the binder - it is thermoreversible, so it melts and sets repeatedly. Glycerol is the plasticiser, and as we will see it is the single most influential variable. Water is the carrier and governs the final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what the contribution is. It is not that eggshell can be used - that is known. It is that this particular process is written down completely enough to be repeated. In designer-led biofabrication that is rare, and it is why results in this field are so hard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shell preparation is straightforward but the parameters matter. Note the heat treatment: 120 degrees for 20 minutes. I describe this as decontamination and drying rather than sterilisation, because dry heat sterilisation needs far higher temperatures and we did not verify sterility. The 150 micrometre sieve is consistent with eggshell powder procedures in the composite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binder is a two-stage thermal regime. Agar is dissolved at 95 degrees, then the temperature drops to 80 and the mixture is held there while viscosity develops. Total heating time is 55 minutes. The mineral goes in near the end, at 80 degrees - adding it earlier causes sedimentation. I should say openly that stirring was manual, so shear rate is uncontrolled. That is a reproducibility limit, and also an honest reflection of a studio process rather than a laboratory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Casting is in silicone moulds, which flex enough to release without any agent. Four days in the mould, then seven more days consolidating. One honest point: the material shrinks noticeably as water leaves, and we did not record the dried dimensions. The dimensions I quote are mould dimensions. Anyone repeating this should measure after drying.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formulations. Read down the compression rows: water falls, mineral and agar rise, and strength rises with them. The two flexural rows differ only in glycerol - sixty grams against thirty. At sixty the material was too ductile for the machine to register anything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compression result. Mean strength of the best formulation is 4.1 megapascals. But look at the curve rather than the number: after the peak, stress does not drop away. The specimen goes on deforming while holding together. And look at the photograph - the cube has barrelled, it is shorter and wider, and it is still a single object. That is ductile crushing, not brittle failure.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Flexure, tested to ASTM D790. The decisive variable is glycerol. At sixty grams the beam simply would not register - it deformed without resisting. Halve the glycerol and you get 2.33 megapascals at a modulus of 192. Now, I want to point something out before anyone else does: look at the underside of the beam. It is kerfed. ASTM D790 assumes a solid rectangle and my calculation uses the full twenty millimetre depth. So some of the compliance I am reporting is geometry, not material. That needs to be resolved in further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environmental tests. On fire: the material ignites at about ten seconds under direct flame, and self-extinguishes four seconds after the flame is removed. Charring stays where the flame touched - no spread, and importantly no melting or dripping, which is what you worry about with polymer-based materials. On water: with three coats of shellac, 0.7 percent mass gain over twenty-four hours of full immersion. The coating is doing the work there, and where it was thin the surface dissolved. So coating integrity is the real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us be blunt about where this material stands on the usual measure. Against MDF it has one sixth the compressive strength. Against travertine, one twentieth - and travertine is interesting here because the material actually resembles it visually, porous and pale. On strength alone, this is where the conversation normally ends. The material is filed under not strong enough, and we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reframe. The modulus of resilience is a standard quantity in materials science: the elastic energy a material absorbs per unit volume before permanent damage. Notice the formula. Stiffness is in the denominator. So low stiffness - the thing reported as a deficiency on the previous slide - is precisely what raises this value. For this material it comes to about 14 kilojoules per cubic metre. Now I have to be honest: I cannot give you a full comparison table, because almost nobody reports this quantity for bio-based materials. Both the strength and the modulus have to come from the same source, and that pairing mostly does not exist in the literature. So this is a proposal, not a finished ranking. But the photographs make the case qualitatively - neither specimen fractured.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not proposing this as a structural material, and I want to say that plainly. Its place is in non-loadbearing surfaces, in modular systems designed to be taken apart and reconfigured, and in temporary structures where a short service life and biodegradability are advantages rather than defects. The images are from the modular interior proposal in my doctoral work, which was developed from these measured properties rather than imposed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name the gaps myself than have them found. Three specimens, means only, no standard deviations. Shrinkage measured at test time but not logged. The kerfed section treated as solid in the D790 calculation. No long-term, humidity or microbial data. One laboratory, one operator, manual stirring. And prototype scale only. If the contribution is a protocol others are meant to repeat, then saying where it is thin is part of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with three things. First, a complete protocol - every parameter needed to make this material again. Second, measurement with the limits stated honestly. Third, and the part I would most like to leave you with: for this class of material, deformation capacity rather than strength alone is what determines whether it is useful. My thanks to the Advanced Construction Materials Research Laboratory at Hacettepe, and to Dr Ilcan.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675120" cy="23774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 </a:t>
            </a:r>
            <a:endParaRPr lang="en-US" sz="3400" dirty="0"/>
          </a:p>
        </p:txBody>
      </p:sp>
      <p:sp>
        <p:nvSpPr>
          <p:cNvPr id="3" name="Text 0"/>
          <p:cNvSpPr/>
          <p:nvPr>
            <p:ph idx="101" type="body" hasCustomPrompt="1"/>
          </p:nvPr>
        </p:nvSpPr>
        <p:spPr>
          <a:xfrm>
            <a:off x="640080" y="3977640"/>
            <a:ext cx="6675120" cy="1737360"/>
          </a:xfrm>
          <a:prstGeom prst="rect">
            <a:avLst/>
          </a:prstGeom>
          <a:noFill/>
          <a:ln/>
        </p:spPr>
        <p:txBody>
          <a:bodyPr wrap="square" rtlCol="0"/>
          <a:lstStyle>
            <a:lvl1pPr indent="0" marL="0">
              <a:buNone/>
              <a:defRPr lang="en-US" sz="1500" dirty="0">
                <a:solidFill>
                  <a:srgbClr val="D8E2DA"/>
                </a:solidFill>
              </a:defRPr>
            </a:lvl1pPr>
          </a:lstStyle>
          <a:p>
            <a:pPr indent="0" marL="0">
              <a:buNone/>
            </a:pPr>
            <a:r>
              <a:rPr lang="en-US" sz="1500" dirty="0">
                <a:solidFill>
                  <a:srgbClr val="D8E2DA"/>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880360"/>
            <a:ext cx="10515600" cy="10058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 </a:t>
            </a:r>
            <a:endParaRPr lang="en-US" sz="3800" dirty="0"/>
          </a:p>
        </p:txBody>
      </p:sp>
      <p:sp>
        <p:nvSpPr>
          <p:cNvPr id="3" name="Text 0"/>
          <p:cNvSpPr/>
          <p:nvPr>
            <p:ph idx="101" type="body" hasCustomPrompt="1"/>
          </p:nvPr>
        </p:nvSpPr>
        <p:spPr>
          <a:xfrm>
            <a:off x="868680" y="3931920"/>
            <a:ext cx="10515600" cy="457200"/>
          </a:xfrm>
          <a:prstGeom prst="rect">
            <a:avLst/>
          </a:prstGeom>
          <a:noFill/>
          <a:ln/>
        </p:spPr>
        <p:txBody>
          <a:bodyPr wrap="square" rtlCol="0"/>
          <a:lstStyle>
            <a:lvl1pPr indent="0" marL="0">
              <a:buNone/>
              <a:defRPr lang="en-US" sz="1600" dirty="0">
                <a:solidFill>
                  <a:srgbClr val="AFC4B7"/>
                </a:solidFill>
              </a:defRPr>
            </a:lvl1pPr>
          </a:lstStyle>
          <a:p>
            <a:pPr indent="0" marL="0">
              <a:buNone/>
            </a:pPr>
            <a:r>
              <a:rPr lang="en-US" sz="1600" dirty="0">
                <a:solidFill>
                  <a:srgbClr val="AFC4B7"/>
                </a:solidFill>
              </a:rPr>
              <a:t> </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lstStyle>
            <a:lvl1pPr algn="l" indent="0" marL="0">
              <a:buNone/>
              <a:defRPr lang="en-US" sz="3100" b="1" dirty="0">
                <a:solidFill>
                  <a:schemeClr val="tx2"/>
                </a:solidFill>
              </a:defRPr>
            </a:lvl1pPr>
          </a:lstStyle>
          <a:p>
            <a:pPr algn="l" indent="0" marL="0">
              <a:buNone/>
            </a:pPr>
            <a:r>
              <a:rPr lang="en-US" sz="3100" b="1" dirty="0">
                <a:solidFill>
                  <a:schemeClr val="tx2"/>
                </a:solidFill>
              </a:rPr>
              <a:t> </a:t>
            </a:r>
            <a:endParaRPr lang="en-US" sz="3100" dirty="0"/>
          </a:p>
        </p:txBody>
      </p:sp>
      <p:sp>
        <p:nvSpPr>
          <p:cNvPr id="3" name="Text 0"/>
          <p:cNvSpPr txBox="1"/>
          <p:nvPr/>
        </p:nvSpPr>
        <p:spPr>
          <a:xfrm>
            <a:off x="548640" y="6327648"/>
            <a:ext cx="9692640" cy="274320"/>
          </a:xfrm>
          <a:prstGeom prst="rect">
            <a:avLst/>
          </a:prstGeom>
          <a:noFill/>
          <a:ln/>
        </p:spPr>
        <p:txBody>
          <a:bodyPr wrap="square" lIns="0" tIns="0" rIns="0" bIns="0" rtlCol="0" anchor="ctr"/>
          <a:lstStyle/>
          <a:p>
            <a:pPr indent="0" marL="0">
              <a:buNone/>
            </a:pPr>
            <a:r>
              <a:rPr lang="en-US" sz="900" dirty="0">
                <a:solidFill>
                  <a:srgbClr val="9A978F"/>
                </a:solidFill>
              </a:rPr>
              <a:t>ICSMMEP-26  |  Mecca, 3-4 November 2026  |  B. Unal, Cappadocia University</a:t>
            </a:r>
            <a:endParaRPr lang="en-US" sz="900" dirty="0"/>
          </a:p>
        </p:txBody>
      </p:sp>
      <p:sp>
        <p:nvSpPr>
          <p:cNvPr id="4" name="Text 1"/>
          <p:cNvSpPr/>
          <p:nvPr>
            <p:ph idx="102" hasCustomPrompt="1"/>
          </p:nvPr>
        </p:nvSpPr>
        <p:spPr>
          <a:xfrm>
            <a:off x="11292840" y="6327648"/>
            <a:ext cx="365760" cy="274320"/>
          </a:xfrm>
          <a:prstGeom prst="rect">
            <a:avLst/>
          </a:prstGeom>
          <a:noFill/>
          <a:ln/>
        </p:spPr>
        <p:txBody>
          <a:bodyPr wrap="square" rtlCol="0"/>
          <a:lstStyle>
            <a:lvl1pPr algn="r" indent="0" marL="0">
              <a:buNone/>
              <a:defRPr lang="en-US" sz="900" dirty="0">
                <a:solidFill>
                  <a:srgbClr val="9A978F"/>
                </a:solidFill>
              </a:defRPr>
            </a:lvl1pPr>
          </a:lstStyle>
          <a:p>
            <a:pPr algn="r" indent="0" marL="0">
              <a:buNone/>
            </a:pP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lstStyle>
            <a:lvl1pPr algn="l" indent="0" marL="0">
              <a:buNone/>
              <a:defRPr lang="en-US" sz="3100" b="1" dirty="0">
                <a:solidFill>
                  <a:schemeClr val="bg1"/>
                </a:solidFill>
              </a:defRPr>
            </a:lvl1pPr>
          </a:lstStyle>
          <a:p>
            <a:pPr algn="l" indent="0" marL="0">
              <a:buNone/>
            </a:pPr>
            <a:r>
              <a:rPr lang="en-US" sz="3100" b="1" dirty="0">
                <a:solidFill>
                  <a:schemeClr val="bg1"/>
                </a:solidFill>
              </a:rPr>
              <a:t> </a:t>
            </a:r>
            <a:endParaRPr lang="en-US" sz="3100" dirty="0"/>
          </a:p>
        </p:txBody>
      </p:sp>
      <p:sp>
        <p:nvSpPr>
          <p:cNvPr id="3" name="Text 0"/>
          <p:cNvSpPr txBox="1"/>
          <p:nvPr/>
        </p:nvSpPr>
        <p:spPr>
          <a:xfrm>
            <a:off x="548640" y="6327648"/>
            <a:ext cx="9692640" cy="274320"/>
          </a:xfrm>
          <a:prstGeom prst="rect">
            <a:avLst/>
          </a:prstGeom>
          <a:noFill/>
          <a:ln/>
        </p:spPr>
        <p:txBody>
          <a:bodyPr wrap="square" lIns="0" tIns="0" rIns="0" bIns="0" rtlCol="0" anchor="ctr"/>
          <a:lstStyle/>
          <a:p>
            <a:pPr indent="0" marL="0">
              <a:buNone/>
            </a:pPr>
            <a:r>
              <a:rPr lang="en-US" sz="900" dirty="0">
                <a:solidFill>
                  <a:srgbClr val="7E937F"/>
                </a:solidFill>
              </a:rPr>
              <a:t>ICSMMEP-26  |  Mecca, 3-4 November 2026  |  B. Unal, Cappadocia University</a:t>
            </a:r>
            <a:endParaRPr lang="en-US" sz="900" dirty="0"/>
          </a:p>
        </p:txBody>
      </p:sp>
      <p:sp>
        <p:nvSpPr>
          <p:cNvPr id="4" name="Text 1"/>
          <p:cNvSpPr/>
          <p:nvPr>
            <p:ph idx="102" hasCustomPrompt="1"/>
          </p:nvPr>
        </p:nvSpPr>
        <p:spPr>
          <a:xfrm>
            <a:off x="11292840" y="6327648"/>
            <a:ext cx="365760" cy="274320"/>
          </a:xfrm>
          <a:prstGeom prst="rect">
            <a:avLst/>
          </a:prstGeom>
          <a:noFill/>
          <a:ln/>
        </p:spPr>
        <p:txBody>
          <a:bodyPr wrap="square" rtlCol="0"/>
          <a:lstStyle>
            <a:lvl1pPr algn="r" indent="0" marL="0">
              <a:buNone/>
              <a:defRPr lang="en-US" sz="900" dirty="0">
                <a:solidFill>
                  <a:srgbClr val="7E937F"/>
                </a:solidFill>
              </a:defRPr>
            </a:lvl1pPr>
          </a:lstStyle>
          <a:p>
            <a:pPr algn="r" indent="0" marL="0">
              <a:buNone/>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g"/><Relationship Id="rId3" Type="http://schemas.openxmlformats.org/officeDocument/2006/relationships/slideLayout" Target="../slideLayouts/slideLayout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home/user/sanat-ve-mekan/konferans-bildirisi/03-gorseller/01-prototip-cesitlemeleri.jpeg">    </p:cNvPr>
          <p:cNvPicPr>
            <a:picLocks noChangeAspect="1"/>
          </p:cNvPicPr>
          <p:nvPr/>
        </p:nvPicPr>
        <p:blipFill>
          <a:blip r:embed="rId1"/>
          <a:stretch>
            <a:fillRect/>
          </a:stretch>
        </p:blipFill>
        <p:spPr>
          <a:xfrm>
            <a:off x="7589520" y="1417320"/>
            <a:ext cx="4023360" cy="2258568"/>
          </a:xfrm>
          <a:prstGeom prst="rect">
            <a:avLst/>
          </a:prstGeom>
        </p:spPr>
      </p:pic>
      <p:sp>
        <p:nvSpPr>
          <p:cNvPr id="3" name="Text 0"/>
          <p:cNvSpPr/>
          <p:nvPr>
            <p:ph idx="100" type="title" hasCustomPrompt="1"/>
          </p:nvPr>
        </p:nvSpPr>
        <p:spPr>
          <a:xfrm>
            <a:off x="640080" y="1371600"/>
            <a:ext cx="6675120" cy="2377440"/>
          </a:xfrm>
          <a:prstGeom prst="rect">
            <a:avLst/>
          </a:prstGeom>
          <a:noFill/>
          <a:ln/>
        </p:spPr>
        <p:txBody>
          <a:bodyPr wrap="square" rtlCol="0" anchor="b"/>
          <a:lstStyle/>
          <a:p>
            <a:pPr algn="l" indent="0" marL="0">
              <a:buNone/>
            </a:pPr>
            <a:r>
              <a:rPr lang="en-US" sz="3400" b="1" dirty="0">
                <a:solidFill>
                  <a:schemeClr val="bg1"/>
                </a:solidFill>
              </a:rPr>
              <a:t>Development and Characterisation of Eggshell–Agar Biocomposites for Sustainable Interior Applications</a:t>
            </a:r>
            <a:endParaRPr lang="en-US" sz="3400" dirty="0"/>
          </a:p>
        </p:txBody>
      </p:sp>
      <p:sp>
        <p:nvSpPr>
          <p:cNvPr id="4" name="Text 0"/>
          <p:cNvSpPr/>
          <p:nvPr>
            <p:ph idx="101" type="body" hasCustomPrompt="1"/>
          </p:nvPr>
        </p:nvSpPr>
        <p:spPr>
          <a:xfrm>
            <a:off x="640080" y="3977640"/>
            <a:ext cx="6675120" cy="1737360"/>
          </a:xfrm>
          <a:prstGeom prst="rect">
            <a:avLst/>
          </a:prstGeom>
          <a:noFill/>
          <a:ln/>
        </p:spPr>
        <p:txBody>
          <a:bodyPr wrap="square" rtlCol="0" anchor="t"/>
          <a:lstStyle/>
          <a:p>
            <a:pPr indent="0" marL="0">
              <a:buNone/>
            </a:pPr>
            <a:r>
              <a:rPr lang="en-US" sz="1700" b="1" dirty="0">
                <a:solidFill>
                  <a:srgbClr val="FFFFFF"/>
                </a:solidFill>
              </a:rPr>
              <a:t>Betül Ünal</a:t>
            </a:r>
            <a:endParaRPr lang="en-US" sz="1500" dirty="0"/>
          </a:p>
          <a:p>
            <a:pPr indent="0" marL="0">
              <a:buNone/>
            </a:pPr>
            <a:r>
              <a:rPr lang="en-US" sz="1500" dirty="0">
                <a:solidFill>
                  <a:srgbClr val="D8E2DA"/>
                </a:solidFill>
              </a:rPr>
              <a:t>Department of Interior Architecture, Cappadocia University, Nevşehir, Türkiye</a:t>
            </a:r>
            <a:endParaRPr lang="en-US" sz="1500" dirty="0"/>
          </a:p>
          <a:p>
            <a:pPr indent="0" marL="0">
              <a:buNone/>
            </a:pPr>
            <a:r>
              <a:rPr lang="en-US" sz="700" dirty="0">
                <a:solidFill>
                  <a:srgbClr val="D8E2DA"/>
                </a:solidFill>
              </a:rPr>
              <a:t> </a:t>
            </a:r>
            <a:endParaRPr lang="en-US" sz="1500" dirty="0"/>
          </a:p>
          <a:p>
            <a:pPr indent="0" marL="0">
              <a:buNone/>
            </a:pPr>
            <a:r>
              <a:rPr lang="en-US" sz="1500" dirty="0">
                <a:solidFill>
                  <a:srgbClr val="AFC4B7"/>
                </a:solidFill>
              </a:rPr>
              <a:t>ICSMMEP-26  ·  Mecca, Saudi Arabia  ·  3–4 November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A waste stream in search of a binder</a:t>
            </a:r>
            <a:endParaRPr lang="en-US" sz="3100" dirty="0"/>
          </a:p>
        </p:txBody>
      </p:sp>
      <p:pic>
        <p:nvPicPr>
          <p:cNvPr id="3" name="process" descr="/home/user/sanat-ve-mekan/konferans-bildirisi/03-gorseller/03-uretim-sureci.jpeg">    </p:cNvPr>
          <p:cNvPicPr>
            <a:picLocks noChangeAspect="1"/>
          </p:cNvPicPr>
          <p:nvPr/>
        </p:nvPicPr>
        <p:blipFill>
          <a:blip r:embed="rId1"/>
          <a:stretch>
            <a:fillRect/>
          </a:stretch>
        </p:blipFill>
        <p:spPr>
          <a:xfrm>
            <a:off x="548640" y="4160520"/>
            <a:ext cx="6583680" cy="2103120"/>
          </a:xfrm>
          <a:prstGeom prst="rect">
            <a:avLst/>
          </a:prstGeom>
        </p:spPr>
      </p:pic>
      <p:sp>
        <p:nvSpPr>
          <p:cNvPr id="4" name="Text 1"/>
          <p:cNvSpPr txBox="1"/>
          <p:nvPr/>
        </p:nvSpPr>
        <p:spPr>
          <a:xfrm>
            <a:off x="548640" y="1371600"/>
            <a:ext cx="6583680" cy="1737360"/>
          </a:xfrm>
          <a:prstGeom prst="rect">
            <a:avLst/>
          </a:prstGeom>
          <a:noFill/>
          <a:ln/>
        </p:spPr>
        <p:txBody>
          <a:bodyPr wrap="square" lIns="0" tIns="0" rIns="0" bIns="0" rtlCol="0" anchor="ctr"/>
          <a:lstStyle/>
          <a:p>
            <a:pPr indent="0" marL="0">
              <a:lnSpc>
                <a:spcPts val="2200"/>
              </a:lnSpc>
              <a:buNone/>
            </a:pPr>
            <a:r>
              <a:rPr lang="en-US" sz="1500" dirty="0">
                <a:solidFill>
                  <a:schemeClr val="accent6"/>
                </a:solidFill>
              </a:rPr>
              <a:t>Eggshell is produced as food waste in millions of tonnes each year. It is roughly 94% calcium carbonate, and its porous shell structure is mechanically useful.</a:t>
            </a:r>
            <a:endParaRPr lang="en-US" sz="1500" dirty="0"/>
          </a:p>
          <a:p>
            <a:pPr indent="0" marL="0">
              <a:lnSpc>
                <a:spcPts val="2200"/>
              </a:lnSpc>
              <a:buNone/>
            </a:pPr>
            <a:r>
              <a:rPr lang="en-US" sz="800" dirty="0">
                <a:solidFill>
                  <a:schemeClr val="accent6"/>
                </a:solidFill>
              </a:rPr>
              <a:t> </a:t>
            </a:r>
            <a:endParaRPr lang="en-US" sz="1500" dirty="0"/>
          </a:p>
          <a:p>
            <a:pPr indent="0" marL="0">
              <a:lnSpc>
                <a:spcPts val="2200"/>
              </a:lnSpc>
              <a:buNone/>
            </a:pPr>
            <a:r>
              <a:rPr lang="en-US" sz="1500" b="1" dirty="0">
                <a:solidFill>
                  <a:schemeClr val="tx2"/>
                </a:solidFill>
              </a:rPr>
              <a:t>The shells for this study came from one bakery in Ankara, collected over more than a year.</a:t>
            </a:r>
            <a:endParaRPr lang="en-US" sz="1500" dirty="0"/>
          </a:p>
        </p:txBody>
      </p:sp>
      <p:sp>
        <p:nvSpPr>
          <p:cNvPr id="5" name="facts-card"/>
          <p:cNvSpPr/>
          <p:nvPr/>
        </p:nvSpPr>
        <p:spPr>
          <a:xfrm>
            <a:off x="7680960" y="1371600"/>
            <a:ext cx="3931920" cy="4572000"/>
          </a:xfrm>
          <a:prstGeom prst="roundRect">
            <a:avLst>
              <a:gd name="adj" fmla="val 1395"/>
            </a:avLst>
          </a:prstGeom>
          <a:solidFill>
            <a:schemeClr val="bg2"/>
          </a:solidFill>
          <a:ln w="12700">
            <a:solidFill>
              <a:schemeClr val="bg2"/>
            </a:solidFill>
            <a:prstDash val="solid"/>
          </a:ln>
        </p:spPr>
      </p:sp>
      <p:sp>
        <p:nvSpPr>
          <p:cNvPr id="6" name="Text 3"/>
          <p:cNvSpPr txBox="1"/>
          <p:nvPr/>
        </p:nvSpPr>
        <p:spPr>
          <a:xfrm>
            <a:off x="8001000" y="1600200"/>
            <a:ext cx="3291840" cy="365760"/>
          </a:xfrm>
          <a:prstGeom prst="rect">
            <a:avLst/>
          </a:prstGeom>
          <a:noFill/>
          <a:ln/>
        </p:spPr>
        <p:txBody>
          <a:bodyPr wrap="square" lIns="0" tIns="0" rIns="0" bIns="0" rtlCol="0" anchor="ctr"/>
          <a:lstStyle/>
          <a:p>
            <a:pPr indent="0" marL="0">
              <a:buNone/>
            </a:pPr>
            <a:r>
              <a:rPr lang="en-US" sz="1300" b="1" dirty="0">
                <a:solidFill>
                  <a:schemeClr val="tx2"/>
                </a:solidFill>
              </a:rPr>
              <a:t>Composition of eggshell</a:t>
            </a:r>
            <a:endParaRPr lang="en-US" sz="1300" dirty="0"/>
          </a:p>
        </p:txBody>
      </p:sp>
      <p:sp>
        <p:nvSpPr>
          <p:cNvPr id="7" name="Text 4"/>
          <p:cNvSpPr txBox="1"/>
          <p:nvPr/>
        </p:nvSpPr>
        <p:spPr>
          <a:xfrm>
            <a:off x="8001000" y="2103120"/>
            <a:ext cx="100584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94%</a:t>
            </a:r>
            <a:endParaRPr lang="en-US" sz="2200" dirty="0"/>
          </a:p>
        </p:txBody>
      </p:sp>
      <p:sp>
        <p:nvSpPr>
          <p:cNvPr id="8" name="Text 5"/>
          <p:cNvSpPr txBox="1"/>
          <p:nvPr/>
        </p:nvSpPr>
        <p:spPr>
          <a:xfrm>
            <a:off x="9098280" y="2103120"/>
            <a:ext cx="2194560" cy="411480"/>
          </a:xfrm>
          <a:prstGeom prst="rect">
            <a:avLst/>
          </a:prstGeom>
          <a:noFill/>
          <a:ln/>
        </p:spPr>
        <p:txBody>
          <a:bodyPr wrap="square" lIns="0" tIns="0" rIns="0" bIns="0" rtlCol="0" anchor="ctr"/>
          <a:lstStyle/>
          <a:p>
            <a:pPr indent="0" marL="0">
              <a:buNone/>
            </a:pPr>
            <a:r>
              <a:rPr lang="en-US" sz="1200" dirty="0">
                <a:solidFill>
                  <a:schemeClr val="accent6"/>
                </a:solidFill>
              </a:rPr>
              <a:t>calcium carbonate</a:t>
            </a:r>
            <a:endParaRPr lang="en-US" sz="1200" dirty="0"/>
          </a:p>
        </p:txBody>
      </p:sp>
      <p:sp>
        <p:nvSpPr>
          <p:cNvPr id="9" name="Text 6"/>
          <p:cNvSpPr txBox="1"/>
          <p:nvPr/>
        </p:nvSpPr>
        <p:spPr>
          <a:xfrm>
            <a:off x="8001000" y="3017520"/>
            <a:ext cx="100584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4%</a:t>
            </a:r>
            <a:endParaRPr lang="en-US" sz="2200" dirty="0"/>
          </a:p>
        </p:txBody>
      </p:sp>
      <p:sp>
        <p:nvSpPr>
          <p:cNvPr id="10" name="Text 7"/>
          <p:cNvSpPr txBox="1"/>
          <p:nvPr/>
        </p:nvSpPr>
        <p:spPr>
          <a:xfrm>
            <a:off x="9098280" y="3017520"/>
            <a:ext cx="2194560" cy="411480"/>
          </a:xfrm>
          <a:prstGeom prst="rect">
            <a:avLst/>
          </a:prstGeom>
          <a:noFill/>
          <a:ln/>
        </p:spPr>
        <p:txBody>
          <a:bodyPr wrap="square" lIns="0" tIns="0" rIns="0" bIns="0" rtlCol="0" anchor="ctr"/>
          <a:lstStyle/>
          <a:p>
            <a:pPr indent="0" marL="0">
              <a:buNone/>
            </a:pPr>
            <a:r>
              <a:rPr lang="en-US" sz="1200" dirty="0">
                <a:solidFill>
                  <a:schemeClr val="accent6"/>
                </a:solidFill>
              </a:rPr>
              <a:t>organic matter</a:t>
            </a:r>
            <a:endParaRPr lang="en-US" sz="1200" dirty="0"/>
          </a:p>
        </p:txBody>
      </p:sp>
      <p:sp>
        <p:nvSpPr>
          <p:cNvPr id="11" name="Text 8"/>
          <p:cNvSpPr txBox="1"/>
          <p:nvPr/>
        </p:nvSpPr>
        <p:spPr>
          <a:xfrm>
            <a:off x="8001000" y="3931920"/>
            <a:ext cx="100584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a:t>
            </a:r>
            <a:endParaRPr lang="en-US" sz="2200" dirty="0"/>
          </a:p>
        </p:txBody>
      </p:sp>
      <p:sp>
        <p:nvSpPr>
          <p:cNvPr id="12" name="Text 9"/>
          <p:cNvSpPr txBox="1"/>
          <p:nvPr/>
        </p:nvSpPr>
        <p:spPr>
          <a:xfrm>
            <a:off x="9098280" y="3931920"/>
            <a:ext cx="2194560" cy="411480"/>
          </a:xfrm>
          <a:prstGeom prst="rect">
            <a:avLst/>
          </a:prstGeom>
          <a:noFill/>
          <a:ln/>
        </p:spPr>
        <p:txBody>
          <a:bodyPr wrap="square" lIns="0" tIns="0" rIns="0" bIns="0" rtlCol="0" anchor="ctr"/>
          <a:lstStyle/>
          <a:p>
            <a:pPr indent="0" marL="0">
              <a:buNone/>
            </a:pPr>
            <a:r>
              <a:rPr lang="en-US" sz="1200" dirty="0">
                <a:solidFill>
                  <a:schemeClr val="accent6"/>
                </a:solidFill>
              </a:rPr>
              <a:t>calcium phosphate</a:t>
            </a:r>
            <a:endParaRPr lang="en-US" sz="1200" dirty="0"/>
          </a:p>
        </p:txBody>
      </p:sp>
      <p:sp>
        <p:nvSpPr>
          <p:cNvPr id="13" name="Text 10"/>
          <p:cNvSpPr txBox="1"/>
          <p:nvPr/>
        </p:nvSpPr>
        <p:spPr>
          <a:xfrm>
            <a:off x="8001000" y="4846320"/>
            <a:ext cx="100584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a:t>
            </a:r>
            <a:endParaRPr lang="en-US" sz="2200" dirty="0"/>
          </a:p>
        </p:txBody>
      </p:sp>
      <p:sp>
        <p:nvSpPr>
          <p:cNvPr id="14" name="Text 11"/>
          <p:cNvSpPr txBox="1"/>
          <p:nvPr/>
        </p:nvSpPr>
        <p:spPr>
          <a:xfrm>
            <a:off x="9098280" y="4846320"/>
            <a:ext cx="2194560" cy="411480"/>
          </a:xfrm>
          <a:prstGeom prst="rect">
            <a:avLst/>
          </a:prstGeom>
          <a:noFill/>
          <a:ln/>
        </p:spPr>
        <p:txBody>
          <a:bodyPr wrap="square" lIns="0" tIns="0" rIns="0" bIns="0" rtlCol="0" anchor="ctr"/>
          <a:lstStyle/>
          <a:p>
            <a:pPr indent="0" marL="0">
              <a:buNone/>
            </a:pPr>
            <a:r>
              <a:rPr lang="en-US" sz="1200" dirty="0">
                <a:solidFill>
                  <a:schemeClr val="accent6"/>
                </a:solidFill>
              </a:rPr>
              <a:t>magnesium carbonate</a:t>
            </a:r>
            <a:endParaRPr lang="en-US" sz="1200" dirty="0"/>
          </a:p>
        </p:txBody>
      </p:sp>
      <p:sp>
        <p:nvSpPr>
          <p:cNvPr id="16"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The filler was already bio-based. The binder was not</a:t>
            </a:r>
            <a:endParaRPr lang="en-US" sz="3100" dirty="0"/>
          </a:p>
        </p:txBody>
      </p:sp>
      <p:sp>
        <p:nvSpPr>
          <p:cNvPr id="3" name="lit-card"/>
          <p:cNvSpPr/>
          <p:nvPr/>
        </p:nvSpPr>
        <p:spPr>
          <a:xfrm>
            <a:off x="548640" y="1371600"/>
            <a:ext cx="5349240" cy="4526280"/>
          </a:xfrm>
          <a:prstGeom prst="roundRect">
            <a:avLst>
              <a:gd name="adj" fmla="val 1212"/>
            </a:avLst>
          </a:prstGeom>
          <a:solidFill>
            <a:schemeClr val="bg2"/>
          </a:solidFill>
          <a:ln w="12700">
            <a:solidFill>
              <a:schemeClr val="bg2"/>
            </a:solidFill>
            <a:prstDash val="solid"/>
          </a:ln>
        </p:spPr>
      </p:sp>
      <p:sp>
        <p:nvSpPr>
          <p:cNvPr id="4" name="Text 2"/>
          <p:cNvSpPr txBox="1"/>
          <p:nvPr/>
        </p:nvSpPr>
        <p:spPr>
          <a:xfrm>
            <a:off x="868680" y="1600200"/>
            <a:ext cx="4754880" cy="365760"/>
          </a:xfrm>
          <a:prstGeom prst="rect">
            <a:avLst/>
          </a:prstGeom>
          <a:noFill/>
          <a:ln/>
        </p:spPr>
        <p:txBody>
          <a:bodyPr wrap="square" lIns="0" tIns="0" rIns="0" bIns="0" rtlCol="0" anchor="ctr"/>
          <a:lstStyle/>
          <a:p>
            <a:pPr indent="0" marL="0">
              <a:buNone/>
            </a:pPr>
            <a:r>
              <a:rPr lang="en-US" sz="1400" b="1" dirty="0">
                <a:solidFill>
                  <a:schemeClr val="tx2"/>
                </a:solidFill>
              </a:rPr>
              <a:t>Eggshell in the literature</a:t>
            </a:r>
            <a:endParaRPr lang="en-US" sz="1400" dirty="0"/>
          </a:p>
        </p:txBody>
      </p:sp>
      <p:sp>
        <p:nvSpPr>
          <p:cNvPr id="5" name="Text 3"/>
          <p:cNvSpPr txBox="1"/>
          <p:nvPr/>
        </p:nvSpPr>
        <p:spPr>
          <a:xfrm>
            <a:off x="868680" y="2103120"/>
            <a:ext cx="4754880" cy="2834640"/>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chemeClr val="accent6"/>
                </a:solidFill>
              </a:rPr>
              <a:t>Cement and concrete replacement</a:t>
            </a:r>
            <a:endParaRPr lang="en-US" sz="1350" dirty="0"/>
          </a:p>
          <a:p>
            <a:pPr marL="342900" indent="-342900">
              <a:spcAft>
                <a:spcPts val="700"/>
              </a:spcAft>
              <a:buSzPct val="100000"/>
              <a:buChar char="•"/>
            </a:pPr>
            <a:r>
              <a:rPr lang="en-US" sz="1350" dirty="0">
                <a:solidFill>
                  <a:schemeClr val="accent6"/>
                </a:solidFill>
              </a:rPr>
              <a:t>Asphalt binder modification</a:t>
            </a:r>
            <a:endParaRPr lang="en-US" sz="1350" dirty="0"/>
          </a:p>
          <a:p>
            <a:pPr marL="342900" indent="-342900">
              <a:spcAft>
                <a:spcPts val="700"/>
              </a:spcAft>
              <a:buSzPct val="100000"/>
              <a:buChar char="•"/>
            </a:pPr>
            <a:r>
              <a:rPr lang="en-US" sz="1350" dirty="0">
                <a:solidFill>
                  <a:schemeClr val="accent6"/>
                </a:solidFill>
              </a:rPr>
              <a:t>Soil stabilisation, replacing lime</a:t>
            </a:r>
            <a:endParaRPr lang="en-US" sz="1350" dirty="0"/>
          </a:p>
          <a:p>
            <a:pPr marL="342900" indent="-342900">
              <a:spcAft>
                <a:spcPts val="700"/>
              </a:spcAft>
              <a:buSzPct val="100000"/>
              <a:buChar char="•"/>
            </a:pPr>
            <a:r>
              <a:rPr lang="en-US" sz="1350" dirty="0">
                <a:solidFill>
                  <a:schemeClr val="accent6"/>
                </a:solidFill>
              </a:rPr>
              <a:t>Ceramic tile and wallpaper production</a:t>
            </a:r>
            <a:endParaRPr lang="en-US" sz="1350" dirty="0"/>
          </a:p>
          <a:p>
            <a:pPr marL="342900" indent="-342900">
              <a:spcAft>
                <a:spcPts val="700"/>
              </a:spcAft>
              <a:buSzPct val="100000"/>
              <a:buChar char="•"/>
            </a:pPr>
            <a:r>
              <a:rPr lang="en-US" sz="1350" dirty="0">
                <a:solidFill>
                  <a:schemeClr val="accent6"/>
                </a:solidFill>
              </a:rPr>
              <a:t>Filler in PLA, epoxy, PVC and polyurethane</a:t>
            </a:r>
            <a:endParaRPr lang="en-US" sz="1350" dirty="0"/>
          </a:p>
          <a:p>
            <a:pPr marL="342900" indent="-342900">
              <a:spcAft>
                <a:spcPts val="700"/>
              </a:spcAft>
              <a:buSzPct val="100000"/>
              <a:buChar char="•"/>
            </a:pPr>
            <a:r>
              <a:rPr lang="en-US" sz="1350" dirty="0">
                <a:solidFill>
                  <a:schemeClr val="accent6"/>
                </a:solidFill>
              </a:rPr>
              <a:t>Reinforcement in metal and ceramic composites</a:t>
            </a:r>
            <a:endParaRPr lang="en-US" sz="1350" dirty="0"/>
          </a:p>
          <a:p>
            <a:pPr marL="342900" indent="-342900">
              <a:spcAft>
                <a:spcPts val="700"/>
              </a:spcAft>
              <a:buSzPct val="100000"/>
              <a:buChar char="•"/>
            </a:pPr>
            <a:r>
              <a:rPr lang="en-US" sz="1350" dirty="0">
                <a:solidFill>
                  <a:schemeClr val="accent6"/>
                </a:solidFill>
              </a:rPr>
              <a:t>Bio-calcium carbonate for wall tiles and paper</a:t>
            </a:r>
            <a:endParaRPr lang="en-US" sz="1350" dirty="0"/>
          </a:p>
        </p:txBody>
      </p:sp>
      <p:sp>
        <p:nvSpPr>
          <p:cNvPr id="6" name="Text 4"/>
          <p:cNvSpPr txBox="1"/>
          <p:nvPr/>
        </p:nvSpPr>
        <p:spPr>
          <a:xfrm>
            <a:off x="868680" y="5074920"/>
            <a:ext cx="4754880" cy="548640"/>
          </a:xfrm>
          <a:prstGeom prst="rect">
            <a:avLst/>
          </a:prstGeom>
          <a:noFill/>
          <a:ln/>
        </p:spPr>
        <p:txBody>
          <a:bodyPr wrap="square" lIns="0" tIns="0" rIns="0" bIns="0" rtlCol="0" anchor="ctr"/>
          <a:lstStyle/>
          <a:p>
            <a:pPr indent="0" marL="0">
              <a:buNone/>
            </a:pPr>
            <a:r>
              <a:rPr lang="en-US" sz="1400" b="1" i="1" dirty="0">
                <a:solidFill>
                  <a:schemeClr val="accent1"/>
                </a:solidFill>
              </a:rPr>
              <a:t>In every case the matrix stays petrochemical or clinker-based.</a:t>
            </a:r>
            <a:endParaRPr lang="en-US" sz="1400" dirty="0"/>
          </a:p>
        </p:txBody>
      </p:sp>
      <p:sp>
        <p:nvSpPr>
          <p:cNvPr id="7" name="arrow"/>
          <p:cNvSpPr/>
          <p:nvPr/>
        </p:nvSpPr>
        <p:spPr>
          <a:xfrm>
            <a:off x="6053328" y="3401568"/>
            <a:ext cx="502920" cy="411480"/>
          </a:xfrm>
          <a:prstGeom prst="rightArrow">
            <a:avLst/>
          </a:prstGeom>
          <a:solidFill>
            <a:schemeClr val="accent5"/>
          </a:solidFill>
          <a:ln w="12700">
            <a:solidFill>
              <a:schemeClr val="accent5"/>
            </a:solidFill>
            <a:prstDash val="solid"/>
          </a:ln>
        </p:spPr>
      </p:sp>
      <p:sp>
        <p:nvSpPr>
          <p:cNvPr id="8" name="this-card"/>
          <p:cNvSpPr/>
          <p:nvPr/>
        </p:nvSpPr>
        <p:spPr>
          <a:xfrm>
            <a:off x="6720840" y="1371600"/>
            <a:ext cx="4892040" cy="4526280"/>
          </a:xfrm>
          <a:prstGeom prst="roundRect">
            <a:avLst>
              <a:gd name="adj" fmla="val 1212"/>
            </a:avLst>
          </a:prstGeom>
          <a:solidFill>
            <a:schemeClr val="accent4"/>
          </a:solidFill>
          <a:ln w="12700">
            <a:solidFill>
              <a:schemeClr val="accent4"/>
            </a:solidFill>
            <a:prstDash val="solid"/>
          </a:ln>
        </p:spPr>
      </p:sp>
      <p:sp>
        <p:nvSpPr>
          <p:cNvPr id="9" name="Text 7"/>
          <p:cNvSpPr txBox="1"/>
          <p:nvPr/>
        </p:nvSpPr>
        <p:spPr>
          <a:xfrm>
            <a:off x="7040880" y="1600200"/>
            <a:ext cx="4297680" cy="365760"/>
          </a:xfrm>
          <a:prstGeom prst="rect">
            <a:avLst/>
          </a:prstGeom>
          <a:noFill/>
          <a:ln/>
        </p:spPr>
        <p:txBody>
          <a:bodyPr wrap="square" lIns="0" tIns="0" rIns="0" bIns="0" rtlCol="0" anchor="ctr"/>
          <a:lstStyle/>
          <a:p>
            <a:pPr indent="0" marL="0">
              <a:buNone/>
            </a:pPr>
            <a:r>
              <a:rPr lang="en-US" sz="1400" b="1" dirty="0">
                <a:solidFill>
                  <a:srgbClr val="FFFFFF"/>
                </a:solidFill>
              </a:rPr>
              <a:t>This study</a:t>
            </a:r>
            <a:endParaRPr lang="en-US" sz="1400" dirty="0"/>
          </a:p>
        </p:txBody>
      </p:sp>
      <p:sp>
        <p:nvSpPr>
          <p:cNvPr id="10" name="Text 8"/>
          <p:cNvSpPr txBox="1"/>
          <p:nvPr/>
        </p:nvSpPr>
        <p:spPr>
          <a:xfrm>
            <a:off x="7040880" y="2286000"/>
            <a:ext cx="4297680" cy="2468880"/>
          </a:xfrm>
          <a:prstGeom prst="rect">
            <a:avLst/>
          </a:prstGeom>
          <a:noFill/>
          <a:ln/>
        </p:spPr>
        <p:txBody>
          <a:bodyPr wrap="square" lIns="0" tIns="0" rIns="0" bIns="0" rtlCol="0" anchor="ctr"/>
          <a:lstStyle/>
          <a:p>
            <a:pPr indent="0" marL="0">
              <a:buNone/>
            </a:pPr>
            <a:r>
              <a:rPr lang="en-US" sz="1600" b="1" dirty="0">
                <a:solidFill>
                  <a:srgbClr val="FFFFFF"/>
                </a:solidFill>
              </a:rPr>
              <a:t>Filler:  </a:t>
            </a:r>
            <a:pPr indent="0" marL="0">
              <a:buNone/>
            </a:pPr>
            <a:r>
              <a:rPr lang="en-US" sz="1600" dirty="0">
                <a:solidFill>
                  <a:srgbClr val="D8E2DA"/>
                </a:solidFill>
              </a:rPr>
              <a:t>waste eggshell powder</a:t>
            </a:r>
            <a:endParaRPr lang="en-US" sz="1600" dirty="0"/>
          </a:p>
          <a:p>
            <a:pPr indent="0" marL="0">
              <a:buNone/>
            </a:pPr>
            <a:r>
              <a:rPr lang="en-US" sz="900" dirty="0">
                <a:solidFill>
                  <a:srgbClr val="000000"/>
                </a:solidFill>
              </a:rPr>
              <a:t> </a:t>
            </a:r>
            <a:endParaRPr lang="en-US" sz="1600" dirty="0"/>
          </a:p>
          <a:p>
            <a:pPr indent="0" marL="0">
              <a:buNone/>
            </a:pPr>
            <a:r>
              <a:rPr lang="en-US" sz="1600" b="1" dirty="0">
                <a:solidFill>
                  <a:srgbClr val="FFFFFF"/>
                </a:solidFill>
              </a:rPr>
              <a:t>Binder:  </a:t>
            </a:r>
            <a:pPr indent="0" marL="0">
              <a:buNone/>
            </a:pPr>
            <a:r>
              <a:rPr lang="en-US" sz="1600" dirty="0">
                <a:solidFill>
                  <a:srgbClr val="D8E2DA"/>
                </a:solidFill>
              </a:rPr>
              <a:t>agar and glycerol</a:t>
            </a:r>
            <a:endParaRPr lang="en-US" sz="1600" dirty="0"/>
          </a:p>
          <a:p>
            <a:pPr indent="0" marL="0">
              <a:buNone/>
            </a:pPr>
            <a:r>
              <a:rPr lang="en-US" sz="900" dirty="0">
                <a:solidFill>
                  <a:srgbClr val="000000"/>
                </a:solidFill>
              </a:rPr>
              <a:t> </a:t>
            </a:r>
            <a:endParaRPr lang="en-US" sz="1600" dirty="0"/>
          </a:p>
          <a:p>
            <a:pPr indent="0" marL="0">
              <a:buNone/>
            </a:pPr>
            <a:r>
              <a:rPr lang="en-US" sz="1600" b="1" dirty="0">
                <a:solidFill>
                  <a:srgbClr val="FFFFFF"/>
                </a:solidFill>
              </a:rPr>
              <a:t>Finish:  </a:t>
            </a:r>
            <a:pPr indent="0" marL="0">
              <a:buNone/>
            </a:pPr>
            <a:r>
              <a:rPr lang="en-US" sz="1600" dirty="0">
                <a:solidFill>
                  <a:srgbClr val="D8E2DA"/>
                </a:solidFill>
              </a:rPr>
              <a:t>shellac</a:t>
            </a:r>
            <a:endParaRPr lang="en-US" sz="1600" dirty="0"/>
          </a:p>
        </p:txBody>
      </p:sp>
      <p:sp>
        <p:nvSpPr>
          <p:cNvPr id="11" name="Text 9"/>
          <p:cNvSpPr txBox="1"/>
          <p:nvPr/>
        </p:nvSpPr>
        <p:spPr>
          <a:xfrm>
            <a:off x="7040880" y="5074920"/>
            <a:ext cx="4297680" cy="548640"/>
          </a:xfrm>
          <a:prstGeom prst="rect">
            <a:avLst/>
          </a:prstGeom>
          <a:noFill/>
          <a:ln/>
        </p:spPr>
        <p:txBody>
          <a:bodyPr wrap="square" lIns="0" tIns="0" rIns="0" bIns="0" rtlCol="0" anchor="ctr"/>
          <a:lstStyle/>
          <a:p>
            <a:pPr indent="0" marL="0">
              <a:buNone/>
            </a:pPr>
            <a:r>
              <a:rPr lang="en-US" sz="1400" b="1" i="1" dirty="0">
                <a:solidFill>
                  <a:srgbClr val="F0C9A8"/>
                </a:solidFill>
              </a:rPr>
              <a:t>Both phases are biological and biodegradable.</a:t>
            </a:r>
            <a:endParaRPr lang="en-US" sz="1400" dirty="0"/>
          </a:p>
        </p:txBody>
      </p:sp>
      <p:sp>
        <p:nvSpPr>
          <p:cNvPr id="13"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Four components, all biodegradable</a:t>
            </a:r>
            <a:endParaRPr lang="en-US" sz="3100" dirty="0"/>
          </a:p>
        </p:txBody>
      </p:sp>
      <p:pic>
        <p:nvPicPr>
          <p:cNvPr id="3" name="variants" descr="/home/user/sanat-ve-mekan/konferans-bildirisi/03-gorseller/01-prototip-cesitlemeleri.jpeg">    </p:cNvPr>
          <p:cNvPicPr>
            <a:picLocks noChangeAspect="1"/>
          </p:cNvPicPr>
          <p:nvPr/>
        </p:nvPicPr>
        <p:blipFill>
          <a:blip r:embed="rId1"/>
          <a:stretch>
            <a:fillRect/>
          </a:stretch>
        </p:blipFill>
        <p:spPr>
          <a:xfrm>
            <a:off x="5212080" y="1463040"/>
            <a:ext cx="6400800" cy="3602736"/>
          </a:xfrm>
          <a:prstGeom prst="rect">
            <a:avLst/>
          </a:prstGeom>
        </p:spPr>
      </p:pic>
      <p:sp>
        <p:nvSpPr>
          <p:cNvPr id="4" name="Text 1"/>
          <p:cNvSpPr txBox="1"/>
          <p:nvPr/>
        </p:nvSpPr>
        <p:spPr>
          <a:xfrm>
            <a:off x="548640" y="1481328"/>
            <a:ext cx="4389120" cy="310896"/>
          </a:xfrm>
          <a:prstGeom prst="rect">
            <a:avLst/>
          </a:prstGeom>
          <a:noFill/>
          <a:ln/>
        </p:spPr>
        <p:txBody>
          <a:bodyPr wrap="square" lIns="0" tIns="0" rIns="0" bIns="0" rtlCol="0" anchor="ctr"/>
          <a:lstStyle/>
          <a:p>
            <a:pPr indent="0" marL="0">
              <a:buNone/>
            </a:pPr>
            <a:r>
              <a:rPr lang="en-US" sz="1500" b="1" dirty="0">
                <a:solidFill>
                  <a:schemeClr val="tx2"/>
                </a:solidFill>
              </a:rPr>
              <a:t>Eggshell powder</a:t>
            </a:r>
            <a:endParaRPr lang="en-US" sz="1500" dirty="0"/>
          </a:p>
        </p:txBody>
      </p:sp>
      <p:sp>
        <p:nvSpPr>
          <p:cNvPr id="5" name="Text 2"/>
          <p:cNvSpPr txBox="1"/>
          <p:nvPr/>
        </p:nvSpPr>
        <p:spPr>
          <a:xfrm>
            <a:off x="548640" y="1792224"/>
            <a:ext cx="4389120" cy="548640"/>
          </a:xfrm>
          <a:prstGeom prst="rect">
            <a:avLst/>
          </a:prstGeom>
          <a:noFill/>
          <a:ln/>
        </p:spPr>
        <p:txBody>
          <a:bodyPr wrap="square" lIns="0" tIns="0" rIns="0" bIns="0" rtlCol="0" anchor="ctr"/>
          <a:lstStyle/>
          <a:p>
            <a:pPr indent="0" marL="0">
              <a:buNone/>
            </a:pPr>
            <a:r>
              <a:rPr lang="en-US" sz="1200" dirty="0">
                <a:solidFill>
                  <a:schemeClr val="accent6"/>
                </a:solidFill>
              </a:rPr>
              <a:t>Mineral phase. Sieved to 150 µm.</a:t>
            </a:r>
            <a:endParaRPr lang="en-US" sz="1200" dirty="0"/>
          </a:p>
        </p:txBody>
      </p:sp>
      <p:sp>
        <p:nvSpPr>
          <p:cNvPr id="6" name="Text 3"/>
          <p:cNvSpPr txBox="1"/>
          <p:nvPr/>
        </p:nvSpPr>
        <p:spPr>
          <a:xfrm>
            <a:off x="548640" y="2468880"/>
            <a:ext cx="4389120" cy="310896"/>
          </a:xfrm>
          <a:prstGeom prst="rect">
            <a:avLst/>
          </a:prstGeom>
          <a:noFill/>
          <a:ln/>
        </p:spPr>
        <p:txBody>
          <a:bodyPr wrap="square" lIns="0" tIns="0" rIns="0" bIns="0" rtlCol="0" anchor="ctr"/>
          <a:lstStyle/>
          <a:p>
            <a:pPr indent="0" marL="0">
              <a:buNone/>
            </a:pPr>
            <a:r>
              <a:rPr lang="en-US" sz="1500" b="1" dirty="0">
                <a:solidFill>
                  <a:schemeClr val="tx2"/>
                </a:solidFill>
              </a:rPr>
              <a:t>Agar</a:t>
            </a:r>
            <a:endParaRPr lang="en-US" sz="1500" dirty="0"/>
          </a:p>
        </p:txBody>
      </p:sp>
      <p:sp>
        <p:nvSpPr>
          <p:cNvPr id="7" name="Text 4"/>
          <p:cNvSpPr txBox="1"/>
          <p:nvPr/>
        </p:nvSpPr>
        <p:spPr>
          <a:xfrm>
            <a:off x="548640" y="2779776"/>
            <a:ext cx="4389120" cy="548640"/>
          </a:xfrm>
          <a:prstGeom prst="rect">
            <a:avLst/>
          </a:prstGeom>
          <a:noFill/>
          <a:ln/>
        </p:spPr>
        <p:txBody>
          <a:bodyPr wrap="square" lIns="0" tIns="0" rIns="0" bIns="0" rtlCol="0" anchor="ctr"/>
          <a:lstStyle/>
          <a:p>
            <a:pPr indent="0" marL="0">
              <a:buNone/>
            </a:pPr>
            <a:r>
              <a:rPr lang="en-US" sz="1200" dirty="0">
                <a:solidFill>
                  <a:schemeClr val="accent6"/>
                </a:solidFill>
              </a:rPr>
              <a:t>Seaweed polysaccharide. Thermoreversible gel.</a:t>
            </a:r>
            <a:endParaRPr lang="en-US" sz="1200" dirty="0"/>
          </a:p>
        </p:txBody>
      </p:sp>
      <p:sp>
        <p:nvSpPr>
          <p:cNvPr id="8" name="Text 5"/>
          <p:cNvSpPr txBox="1"/>
          <p:nvPr/>
        </p:nvSpPr>
        <p:spPr>
          <a:xfrm>
            <a:off x="548640" y="3456432"/>
            <a:ext cx="4389120" cy="310896"/>
          </a:xfrm>
          <a:prstGeom prst="rect">
            <a:avLst/>
          </a:prstGeom>
          <a:noFill/>
          <a:ln/>
        </p:spPr>
        <p:txBody>
          <a:bodyPr wrap="square" lIns="0" tIns="0" rIns="0" bIns="0" rtlCol="0" anchor="ctr"/>
          <a:lstStyle/>
          <a:p>
            <a:pPr indent="0" marL="0">
              <a:buNone/>
            </a:pPr>
            <a:r>
              <a:rPr lang="en-US" sz="1500" b="1" dirty="0">
                <a:solidFill>
                  <a:schemeClr val="tx2"/>
                </a:solidFill>
              </a:rPr>
              <a:t>Glycerol</a:t>
            </a:r>
            <a:endParaRPr lang="en-US" sz="1500" dirty="0"/>
          </a:p>
        </p:txBody>
      </p:sp>
      <p:sp>
        <p:nvSpPr>
          <p:cNvPr id="9" name="Text 6"/>
          <p:cNvSpPr txBox="1"/>
          <p:nvPr/>
        </p:nvSpPr>
        <p:spPr>
          <a:xfrm>
            <a:off x="548640" y="3767328"/>
            <a:ext cx="4389120" cy="548640"/>
          </a:xfrm>
          <a:prstGeom prst="rect">
            <a:avLst/>
          </a:prstGeom>
          <a:noFill/>
          <a:ln/>
        </p:spPr>
        <p:txBody>
          <a:bodyPr wrap="square" lIns="0" tIns="0" rIns="0" bIns="0" rtlCol="0" anchor="ctr"/>
          <a:lstStyle/>
          <a:p>
            <a:pPr indent="0" marL="0">
              <a:buNone/>
            </a:pPr>
            <a:r>
              <a:rPr lang="en-US" sz="1200" dirty="0">
                <a:solidFill>
                  <a:schemeClr val="accent6"/>
                </a:solidFill>
              </a:rPr>
              <a:t>Plasticiser. Governs ductility.</a:t>
            </a:r>
            <a:endParaRPr lang="en-US" sz="1200" dirty="0"/>
          </a:p>
        </p:txBody>
      </p:sp>
      <p:sp>
        <p:nvSpPr>
          <p:cNvPr id="10" name="Text 7"/>
          <p:cNvSpPr txBox="1"/>
          <p:nvPr/>
        </p:nvSpPr>
        <p:spPr>
          <a:xfrm>
            <a:off x="548640" y="4443984"/>
            <a:ext cx="4389120" cy="310896"/>
          </a:xfrm>
          <a:prstGeom prst="rect">
            <a:avLst/>
          </a:prstGeom>
          <a:noFill/>
          <a:ln/>
        </p:spPr>
        <p:txBody>
          <a:bodyPr wrap="square" lIns="0" tIns="0" rIns="0" bIns="0" rtlCol="0" anchor="ctr"/>
          <a:lstStyle/>
          <a:p>
            <a:pPr indent="0" marL="0">
              <a:buNone/>
            </a:pPr>
            <a:r>
              <a:rPr lang="en-US" sz="1500" b="1" dirty="0">
                <a:solidFill>
                  <a:schemeClr val="tx2"/>
                </a:solidFill>
              </a:rPr>
              <a:t>Water</a:t>
            </a:r>
            <a:endParaRPr lang="en-US" sz="1500" dirty="0"/>
          </a:p>
        </p:txBody>
      </p:sp>
      <p:sp>
        <p:nvSpPr>
          <p:cNvPr id="11" name="Text 8"/>
          <p:cNvSpPr txBox="1"/>
          <p:nvPr/>
        </p:nvSpPr>
        <p:spPr>
          <a:xfrm>
            <a:off x="548640" y="4754880"/>
            <a:ext cx="4389120" cy="548640"/>
          </a:xfrm>
          <a:prstGeom prst="rect">
            <a:avLst/>
          </a:prstGeom>
          <a:noFill/>
          <a:ln/>
        </p:spPr>
        <p:txBody>
          <a:bodyPr wrap="square" lIns="0" tIns="0" rIns="0" bIns="0" rtlCol="0" anchor="ctr"/>
          <a:lstStyle/>
          <a:p>
            <a:pPr indent="0" marL="0">
              <a:buNone/>
            </a:pPr>
            <a:r>
              <a:rPr lang="en-US" sz="1200" dirty="0">
                <a:solidFill>
                  <a:schemeClr val="accent6"/>
                </a:solidFill>
              </a:rPr>
              <a:t>Carrier. Governs final density.</a:t>
            </a:r>
            <a:endParaRPr lang="en-US" sz="1200" dirty="0"/>
          </a:p>
        </p:txBody>
      </p:sp>
      <p:sp>
        <p:nvSpPr>
          <p:cNvPr id="12" name="Text 9"/>
          <p:cNvSpPr txBox="1"/>
          <p:nvPr/>
        </p:nvSpPr>
        <p:spPr>
          <a:xfrm>
            <a:off x="5212080" y="5193792"/>
            <a:ext cx="6400800" cy="457200"/>
          </a:xfrm>
          <a:prstGeom prst="rect">
            <a:avLst/>
          </a:prstGeom>
          <a:noFill/>
          <a:ln/>
        </p:spPr>
        <p:txBody>
          <a:bodyPr wrap="square" lIns="0" tIns="0" rIns="0" bIns="0" rtlCol="0" anchor="ctr"/>
          <a:lstStyle/>
          <a:p>
            <a:pPr indent="0" marL="0">
              <a:buNone/>
            </a:pPr>
            <a:r>
              <a:rPr lang="en-US" sz="1100" i="1" dirty="0">
                <a:solidFill>
                  <a:schemeClr val="accent6"/>
                </a:solidFill>
              </a:rPr>
              <a:t>Prototype variations in colour, texture and format. Natural pigments including beetroot were trialled.</a:t>
            </a:r>
            <a:endParaRPr lang="en-US" sz="1100" dirty="0"/>
          </a:p>
        </p:txBody>
      </p:sp>
      <p:sp>
        <p:nvSpPr>
          <p:cNvPr id="14"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Why the protocol is the contribution</a:t>
            </a:r>
            <a:endParaRPr lang="en-US" sz="3100" dirty="0"/>
          </a:p>
        </p:txBody>
      </p:sp>
      <p:sp>
        <p:nvSpPr>
          <p:cNvPr id="3" name="step-dot-1"/>
          <p:cNvSpPr/>
          <p:nvPr/>
        </p:nvSpPr>
        <p:spPr>
          <a:xfrm>
            <a:off x="548640" y="1463040"/>
            <a:ext cx="384048" cy="384048"/>
          </a:xfrm>
          <a:prstGeom prst="ellipse">
            <a:avLst/>
          </a:prstGeom>
          <a:solidFill>
            <a:schemeClr val="accent1"/>
          </a:solidFill>
          <a:ln/>
        </p:spPr>
      </p:sp>
      <p:sp>
        <p:nvSpPr>
          <p:cNvPr id="4" name="Text 2"/>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97280" y="1444752"/>
            <a:ext cx="6126480" cy="310896"/>
          </a:xfrm>
          <a:prstGeom prst="rect">
            <a:avLst/>
          </a:prstGeom>
          <a:noFill/>
          <a:ln/>
        </p:spPr>
        <p:txBody>
          <a:bodyPr wrap="square" lIns="0" tIns="0" rIns="0" bIns="0" rtlCol="0" anchor="ctr"/>
          <a:lstStyle/>
          <a:p>
            <a:pPr indent="0" marL="0">
              <a:buNone/>
            </a:pPr>
            <a:r>
              <a:rPr lang="en-US" sz="1500" b="1" dirty="0">
                <a:solidFill>
                  <a:schemeClr val="tx2"/>
                </a:solidFill>
              </a:rPr>
              <a:t>No shared procedures exist</a:t>
            </a:r>
            <a:endParaRPr lang="en-US" sz="1500" dirty="0"/>
          </a:p>
        </p:txBody>
      </p:sp>
      <p:sp>
        <p:nvSpPr>
          <p:cNvPr id="6" name="Text 4"/>
          <p:cNvSpPr txBox="1"/>
          <p:nvPr/>
        </p:nvSpPr>
        <p:spPr>
          <a:xfrm>
            <a:off x="1097280" y="1755648"/>
            <a:ext cx="6126480" cy="566928"/>
          </a:xfrm>
          <a:prstGeom prst="rect">
            <a:avLst/>
          </a:prstGeom>
          <a:noFill/>
          <a:ln/>
        </p:spPr>
        <p:txBody>
          <a:bodyPr wrap="square" lIns="0" tIns="0" rIns="0" bIns="0" rtlCol="0" anchor="t"/>
          <a:lstStyle/>
          <a:p>
            <a:pPr indent="0" marL="0">
              <a:buNone/>
            </a:pPr>
            <a:r>
              <a:rPr lang="en-US" sz="1200" dirty="0">
                <a:solidFill>
                  <a:schemeClr val="accent6"/>
                </a:solidFill>
              </a:rPr>
              <a:t>Designer-led biofabrication has no standard protocol. Each study starts from scratch.</a:t>
            </a:r>
            <a:endParaRPr lang="en-US" sz="1200" dirty="0"/>
          </a:p>
        </p:txBody>
      </p:sp>
      <p:sp>
        <p:nvSpPr>
          <p:cNvPr id="7" name="step-dot-2"/>
          <p:cNvSpPr/>
          <p:nvPr/>
        </p:nvSpPr>
        <p:spPr>
          <a:xfrm>
            <a:off x="548640" y="2651760"/>
            <a:ext cx="384048" cy="384048"/>
          </a:xfrm>
          <a:prstGeom prst="ellipse">
            <a:avLst/>
          </a:prstGeom>
          <a:solidFill>
            <a:schemeClr val="accent1"/>
          </a:solidFill>
          <a:ln/>
        </p:spPr>
      </p:sp>
      <p:sp>
        <p:nvSpPr>
          <p:cNvPr id="8" name="Text 6"/>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1097280" y="2633472"/>
            <a:ext cx="6126480" cy="310896"/>
          </a:xfrm>
          <a:prstGeom prst="rect">
            <a:avLst/>
          </a:prstGeom>
          <a:noFill/>
          <a:ln/>
        </p:spPr>
        <p:txBody>
          <a:bodyPr wrap="square" lIns="0" tIns="0" rIns="0" bIns="0" rtlCol="0" anchor="ctr"/>
          <a:lstStyle/>
          <a:p>
            <a:pPr indent="0" marL="0">
              <a:buNone/>
            </a:pPr>
            <a:r>
              <a:rPr lang="en-US" sz="1500" b="1" dirty="0">
                <a:solidFill>
                  <a:schemeClr val="tx2"/>
                </a:solidFill>
              </a:rPr>
              <a:t>So the process stays trial and error</a:t>
            </a:r>
            <a:endParaRPr lang="en-US" sz="1500" dirty="0"/>
          </a:p>
        </p:txBody>
      </p:sp>
      <p:sp>
        <p:nvSpPr>
          <p:cNvPr id="10" name="Text 8"/>
          <p:cNvSpPr txBox="1"/>
          <p:nvPr/>
        </p:nvSpPr>
        <p:spPr>
          <a:xfrm>
            <a:off x="1097280" y="2944368"/>
            <a:ext cx="6126480" cy="566928"/>
          </a:xfrm>
          <a:prstGeom prst="rect">
            <a:avLst/>
          </a:prstGeom>
          <a:noFill/>
          <a:ln/>
        </p:spPr>
        <p:txBody>
          <a:bodyPr wrap="square" lIns="0" tIns="0" rIns="0" bIns="0" rtlCol="0" anchor="t"/>
          <a:lstStyle/>
          <a:p>
            <a:pPr indent="0" marL="0">
              <a:buNone/>
            </a:pPr>
            <a:r>
              <a:rPr lang="en-US" sz="1200" dirty="0">
                <a:solidFill>
                  <a:schemeClr val="accent6"/>
                </a:solidFill>
              </a:rPr>
              <a:t>Finding a workable formulation takes months of iteration that nobody else can reuse.</a:t>
            </a:r>
            <a:endParaRPr lang="en-US" sz="1200" dirty="0"/>
          </a:p>
        </p:txBody>
      </p:sp>
      <p:sp>
        <p:nvSpPr>
          <p:cNvPr id="11" name="step-dot-3"/>
          <p:cNvSpPr/>
          <p:nvPr/>
        </p:nvSpPr>
        <p:spPr>
          <a:xfrm>
            <a:off x="548640" y="3840480"/>
            <a:ext cx="384048" cy="384048"/>
          </a:xfrm>
          <a:prstGeom prst="ellipse">
            <a:avLst/>
          </a:prstGeom>
          <a:solidFill>
            <a:schemeClr val="accent1"/>
          </a:solidFill>
          <a:ln/>
        </p:spPr>
      </p:sp>
      <p:sp>
        <p:nvSpPr>
          <p:cNvPr id="12" name="Text 10"/>
          <p:cNvSpPr txBox="1"/>
          <p:nvPr/>
        </p:nvSpPr>
        <p:spPr>
          <a:xfrm>
            <a:off x="548640" y="3840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1"/>
          <p:cNvSpPr txBox="1"/>
          <p:nvPr/>
        </p:nvSpPr>
        <p:spPr>
          <a:xfrm>
            <a:off x="1097280" y="3822192"/>
            <a:ext cx="6126480" cy="310896"/>
          </a:xfrm>
          <a:prstGeom prst="rect">
            <a:avLst/>
          </a:prstGeom>
          <a:noFill/>
          <a:ln/>
        </p:spPr>
        <p:txBody>
          <a:bodyPr wrap="square" lIns="0" tIns="0" rIns="0" bIns="0" rtlCol="0" anchor="ctr"/>
          <a:lstStyle/>
          <a:p>
            <a:pPr indent="0" marL="0">
              <a:buNone/>
            </a:pPr>
            <a:r>
              <a:rPr lang="en-US" sz="1500" b="1" dirty="0">
                <a:solidFill>
                  <a:schemeClr val="tx2"/>
                </a:solidFill>
              </a:rPr>
              <a:t>And results cannot be compared</a:t>
            </a:r>
            <a:endParaRPr lang="en-US" sz="1500" dirty="0"/>
          </a:p>
        </p:txBody>
      </p:sp>
      <p:sp>
        <p:nvSpPr>
          <p:cNvPr id="14" name="Text 12"/>
          <p:cNvSpPr txBox="1"/>
          <p:nvPr/>
        </p:nvSpPr>
        <p:spPr>
          <a:xfrm>
            <a:off x="1097280" y="4133088"/>
            <a:ext cx="6126480" cy="566928"/>
          </a:xfrm>
          <a:prstGeom prst="rect">
            <a:avLst/>
          </a:prstGeom>
          <a:noFill/>
          <a:ln/>
        </p:spPr>
        <p:txBody>
          <a:bodyPr wrap="square" lIns="0" tIns="0" rIns="0" bIns="0" rtlCol="0" anchor="t"/>
          <a:lstStyle/>
          <a:p>
            <a:pPr indent="0" marL="0">
              <a:buNone/>
            </a:pPr>
            <a:r>
              <a:rPr lang="en-US" sz="1200" dirty="0">
                <a:solidFill>
                  <a:schemeClr val="accent6"/>
                </a:solidFill>
              </a:rPr>
              <a:t>Without recorded parameters, two studies of the same material are not comparable at all.</a:t>
            </a:r>
            <a:endParaRPr lang="en-US" sz="1200" dirty="0"/>
          </a:p>
        </p:txBody>
      </p:sp>
      <p:sp>
        <p:nvSpPr>
          <p:cNvPr id="15" name="claim"/>
          <p:cNvSpPr/>
          <p:nvPr/>
        </p:nvSpPr>
        <p:spPr>
          <a:xfrm>
            <a:off x="548640" y="5120640"/>
            <a:ext cx="6675120" cy="777240"/>
          </a:xfrm>
          <a:prstGeom prst="roundRect">
            <a:avLst>
              <a:gd name="adj" fmla="val 7059"/>
            </a:avLst>
          </a:prstGeom>
          <a:solidFill>
            <a:schemeClr val="bg2"/>
          </a:solidFill>
          <a:ln w="12700">
            <a:solidFill>
              <a:schemeClr val="bg2"/>
            </a:solidFill>
            <a:prstDash val="solid"/>
          </a:ln>
        </p:spPr>
      </p:sp>
      <p:sp>
        <p:nvSpPr>
          <p:cNvPr id="16" name="Text 14"/>
          <p:cNvSpPr txBox="1"/>
          <p:nvPr/>
        </p:nvSpPr>
        <p:spPr>
          <a:xfrm>
            <a:off x="868680" y="5120640"/>
            <a:ext cx="6035040" cy="777240"/>
          </a:xfrm>
          <a:prstGeom prst="rect">
            <a:avLst/>
          </a:prstGeom>
          <a:noFill/>
          <a:ln/>
        </p:spPr>
        <p:txBody>
          <a:bodyPr wrap="square" lIns="0" tIns="0" rIns="0" bIns="0" rtlCol="0" anchor="ctr"/>
          <a:lstStyle/>
          <a:p>
            <a:pPr indent="0" marL="0">
              <a:buNone/>
            </a:pPr>
            <a:r>
              <a:rPr lang="en-US" sz="1400" b="1" dirty="0">
                <a:solidFill>
                  <a:schemeClr val="tx2"/>
                </a:solidFill>
              </a:rPr>
              <a:t>This paper reports every parameter needed to reproduce the material.</a:t>
            </a:r>
            <a:endParaRPr lang="en-US" sz="1400" dirty="0"/>
          </a:p>
        </p:txBody>
      </p:sp>
      <p:pic>
        <p:nvPicPr>
          <p:cNvPr id="17" name="panel" descr="/home/user/sanat-ve-mekan/konferans-bildirisi/03-gorseller/02-panel-elde.png">    </p:cNvPr>
          <p:cNvPicPr>
            <a:picLocks noChangeAspect="1"/>
          </p:cNvPicPr>
          <p:nvPr/>
        </p:nvPicPr>
        <p:blipFill>
          <a:blip r:embed="rId1"/>
          <a:stretch>
            <a:fillRect/>
          </a:stretch>
        </p:blipFill>
        <p:spPr>
          <a:xfrm>
            <a:off x="7680960" y="1463040"/>
            <a:ext cx="3931920" cy="3822192"/>
          </a:xfrm>
          <a:prstGeom prst="rect">
            <a:avLst/>
          </a:prstGeom>
        </p:spPr>
      </p:pic>
      <p:sp>
        <p:nvSpPr>
          <p:cNvPr id="18" name="Text 15"/>
          <p:cNvSpPr txBox="1"/>
          <p:nvPr/>
        </p:nvSpPr>
        <p:spPr>
          <a:xfrm>
            <a:off x="7680960" y="5394960"/>
            <a:ext cx="3931920" cy="320040"/>
          </a:xfrm>
          <a:prstGeom prst="rect">
            <a:avLst/>
          </a:prstGeom>
          <a:noFill/>
          <a:ln/>
        </p:spPr>
        <p:txBody>
          <a:bodyPr wrap="square" lIns="0" tIns="0" rIns="0" bIns="0" rtlCol="0" anchor="ctr"/>
          <a:lstStyle/>
          <a:p>
            <a:pPr indent="0" marL="0">
              <a:buNone/>
            </a:pPr>
            <a:r>
              <a:rPr lang="en-US" sz="1100" i="1" dirty="0">
                <a:solidFill>
                  <a:schemeClr val="accent6"/>
                </a:solidFill>
              </a:rPr>
              <a:t>Cast panel, 300 mm square</a:t>
            </a:r>
            <a:endParaRPr lang="en-US" sz="1100" dirty="0"/>
          </a:p>
        </p:txBody>
      </p:sp>
      <p:sp>
        <p:nvSpPr>
          <p:cNvPr id="20"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Preparing the shell fraction</a:t>
            </a:r>
            <a:endParaRPr lang="en-US" sz="3100" dirty="0"/>
          </a:p>
        </p:txBody>
      </p:sp>
      <p:sp>
        <p:nvSpPr>
          <p:cNvPr id="3" name="step-dot-1"/>
          <p:cNvSpPr/>
          <p:nvPr/>
        </p:nvSpPr>
        <p:spPr>
          <a:xfrm>
            <a:off x="548640" y="1481328"/>
            <a:ext cx="384048" cy="384048"/>
          </a:xfrm>
          <a:prstGeom prst="ellipse">
            <a:avLst/>
          </a:prstGeom>
          <a:solidFill>
            <a:schemeClr val="accent1"/>
          </a:solidFill>
          <a:ln/>
        </p:spPr>
      </p:sp>
      <p:sp>
        <p:nvSpPr>
          <p:cNvPr id="4" name="Text 2"/>
          <p:cNvSpPr txBox="1"/>
          <p:nvPr/>
        </p:nvSpPr>
        <p:spPr>
          <a:xfrm>
            <a:off x="54864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97280" y="1463040"/>
            <a:ext cx="6126480" cy="310896"/>
          </a:xfrm>
          <a:prstGeom prst="rect">
            <a:avLst/>
          </a:prstGeom>
          <a:noFill/>
          <a:ln/>
        </p:spPr>
        <p:txBody>
          <a:bodyPr wrap="square" lIns="0" tIns="0" rIns="0" bIns="0" rtlCol="0" anchor="ctr"/>
          <a:lstStyle/>
          <a:p>
            <a:pPr indent="0" marL="0">
              <a:buNone/>
            </a:pPr>
            <a:r>
              <a:rPr lang="en-US" sz="1500" b="1" dirty="0">
                <a:solidFill>
                  <a:schemeClr val="tx2"/>
                </a:solidFill>
              </a:rPr>
              <a:t>Clean</a:t>
            </a:r>
            <a:endParaRPr lang="en-US" sz="1500" dirty="0"/>
          </a:p>
        </p:txBody>
      </p:sp>
      <p:sp>
        <p:nvSpPr>
          <p:cNvPr id="6" name="Text 4"/>
          <p:cNvSpPr txBox="1"/>
          <p:nvPr/>
        </p:nvSpPr>
        <p:spPr>
          <a:xfrm>
            <a:off x="1097280" y="1773936"/>
            <a:ext cx="6126480" cy="566928"/>
          </a:xfrm>
          <a:prstGeom prst="rect">
            <a:avLst/>
          </a:prstGeom>
          <a:noFill/>
          <a:ln/>
        </p:spPr>
        <p:txBody>
          <a:bodyPr wrap="square" lIns="0" tIns="0" rIns="0" bIns="0" rtlCol="0" anchor="t"/>
          <a:lstStyle/>
          <a:p>
            <a:pPr indent="0" marL="0">
              <a:buNone/>
            </a:pPr>
            <a:r>
              <a:rPr lang="en-US" sz="1200" dirty="0">
                <a:solidFill>
                  <a:schemeClr val="accent6"/>
                </a:solidFill>
              </a:rPr>
              <a:t>Membrane and organic residue removed</a:t>
            </a:r>
            <a:endParaRPr lang="en-US" sz="1200" dirty="0"/>
          </a:p>
        </p:txBody>
      </p:sp>
      <p:sp>
        <p:nvSpPr>
          <p:cNvPr id="7" name="step-dot-2"/>
          <p:cNvSpPr/>
          <p:nvPr/>
        </p:nvSpPr>
        <p:spPr>
          <a:xfrm>
            <a:off x="548640" y="2395728"/>
            <a:ext cx="384048" cy="384048"/>
          </a:xfrm>
          <a:prstGeom prst="ellipse">
            <a:avLst/>
          </a:prstGeom>
          <a:solidFill>
            <a:schemeClr val="accent1"/>
          </a:solidFill>
          <a:ln/>
        </p:spPr>
      </p:sp>
      <p:sp>
        <p:nvSpPr>
          <p:cNvPr id="8" name="Text 6"/>
          <p:cNvSpPr txBox="1"/>
          <p:nvPr/>
        </p:nvSpPr>
        <p:spPr>
          <a:xfrm>
            <a:off x="548640" y="2395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1097280" y="2377440"/>
            <a:ext cx="6126480" cy="310896"/>
          </a:xfrm>
          <a:prstGeom prst="rect">
            <a:avLst/>
          </a:prstGeom>
          <a:noFill/>
          <a:ln/>
        </p:spPr>
        <p:txBody>
          <a:bodyPr wrap="square" lIns="0" tIns="0" rIns="0" bIns="0" rtlCol="0" anchor="ctr"/>
          <a:lstStyle/>
          <a:p>
            <a:pPr indent="0" marL="0">
              <a:buNone/>
            </a:pPr>
            <a:r>
              <a:rPr lang="en-US" sz="1500" b="1" dirty="0">
                <a:solidFill>
                  <a:schemeClr val="tx2"/>
                </a:solidFill>
              </a:rPr>
              <a:t>Heat treat</a:t>
            </a:r>
            <a:endParaRPr lang="en-US" sz="1500" dirty="0"/>
          </a:p>
        </p:txBody>
      </p:sp>
      <p:sp>
        <p:nvSpPr>
          <p:cNvPr id="10" name="Text 8"/>
          <p:cNvSpPr txBox="1"/>
          <p:nvPr/>
        </p:nvSpPr>
        <p:spPr>
          <a:xfrm>
            <a:off x="1097280" y="2688336"/>
            <a:ext cx="6126480" cy="566928"/>
          </a:xfrm>
          <a:prstGeom prst="rect">
            <a:avLst/>
          </a:prstGeom>
          <a:noFill/>
          <a:ln/>
        </p:spPr>
        <p:txBody>
          <a:bodyPr wrap="square" lIns="0" tIns="0" rIns="0" bIns="0" rtlCol="0" anchor="t"/>
          <a:lstStyle/>
          <a:p>
            <a:pPr indent="0" marL="0">
              <a:buNone/>
            </a:pPr>
            <a:r>
              <a:rPr lang="en-US" sz="1200" dirty="0">
                <a:solidFill>
                  <a:schemeClr val="accent6"/>
                </a:solidFill>
              </a:rPr>
              <a:t>120 °C for 20 minutes, for decontamination and drying</a:t>
            </a:r>
            <a:endParaRPr lang="en-US" sz="1200" dirty="0"/>
          </a:p>
        </p:txBody>
      </p:sp>
      <p:sp>
        <p:nvSpPr>
          <p:cNvPr id="11" name="step-dot-3"/>
          <p:cNvSpPr/>
          <p:nvPr/>
        </p:nvSpPr>
        <p:spPr>
          <a:xfrm>
            <a:off x="548640" y="3310128"/>
            <a:ext cx="384048" cy="384048"/>
          </a:xfrm>
          <a:prstGeom prst="ellipse">
            <a:avLst/>
          </a:prstGeom>
          <a:solidFill>
            <a:schemeClr val="accent1"/>
          </a:solidFill>
          <a:ln/>
        </p:spPr>
      </p:sp>
      <p:sp>
        <p:nvSpPr>
          <p:cNvPr id="12" name="Text 10"/>
          <p:cNvSpPr txBox="1"/>
          <p:nvPr/>
        </p:nvSpPr>
        <p:spPr>
          <a:xfrm>
            <a:off x="54864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1"/>
          <p:cNvSpPr txBox="1"/>
          <p:nvPr/>
        </p:nvSpPr>
        <p:spPr>
          <a:xfrm>
            <a:off x="1097280" y="3291840"/>
            <a:ext cx="6126480" cy="310896"/>
          </a:xfrm>
          <a:prstGeom prst="rect">
            <a:avLst/>
          </a:prstGeom>
          <a:noFill/>
          <a:ln/>
        </p:spPr>
        <p:txBody>
          <a:bodyPr wrap="square" lIns="0" tIns="0" rIns="0" bIns="0" rtlCol="0" anchor="ctr"/>
          <a:lstStyle/>
          <a:p>
            <a:pPr indent="0" marL="0">
              <a:buNone/>
            </a:pPr>
            <a:r>
              <a:rPr lang="en-US" sz="1500" b="1" dirty="0">
                <a:solidFill>
                  <a:schemeClr val="tx2"/>
                </a:solidFill>
              </a:rPr>
              <a:t>Cool and dry</a:t>
            </a:r>
            <a:endParaRPr lang="en-US" sz="1500" dirty="0"/>
          </a:p>
        </p:txBody>
      </p:sp>
      <p:sp>
        <p:nvSpPr>
          <p:cNvPr id="14" name="Text 12"/>
          <p:cNvSpPr txBox="1"/>
          <p:nvPr/>
        </p:nvSpPr>
        <p:spPr>
          <a:xfrm>
            <a:off x="1097280" y="3602736"/>
            <a:ext cx="6126480" cy="566928"/>
          </a:xfrm>
          <a:prstGeom prst="rect">
            <a:avLst/>
          </a:prstGeom>
          <a:noFill/>
          <a:ln/>
        </p:spPr>
        <p:txBody>
          <a:bodyPr wrap="square" lIns="0" tIns="0" rIns="0" bIns="0" rtlCol="0" anchor="t"/>
          <a:lstStyle/>
          <a:p>
            <a:pPr indent="0" marL="0">
              <a:buNone/>
            </a:pPr>
            <a:r>
              <a:rPr lang="en-US" sz="1200" dirty="0">
                <a:solidFill>
                  <a:schemeClr val="accent6"/>
                </a:solidFill>
              </a:rPr>
              <a:t>To room temperature, then dried until no residual moisture</a:t>
            </a:r>
            <a:endParaRPr lang="en-US" sz="1200" dirty="0"/>
          </a:p>
        </p:txBody>
      </p:sp>
      <p:sp>
        <p:nvSpPr>
          <p:cNvPr id="15" name="step-dot-4"/>
          <p:cNvSpPr/>
          <p:nvPr/>
        </p:nvSpPr>
        <p:spPr>
          <a:xfrm>
            <a:off x="548640" y="4224528"/>
            <a:ext cx="384048" cy="384048"/>
          </a:xfrm>
          <a:prstGeom prst="ellipse">
            <a:avLst/>
          </a:prstGeom>
          <a:solidFill>
            <a:schemeClr val="accent1"/>
          </a:solidFill>
          <a:ln/>
        </p:spPr>
      </p:sp>
      <p:sp>
        <p:nvSpPr>
          <p:cNvPr id="16" name="Text 14"/>
          <p:cNvSpPr txBox="1"/>
          <p:nvPr/>
        </p:nvSpPr>
        <p:spPr>
          <a:xfrm>
            <a:off x="54864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txBox="1"/>
          <p:nvPr/>
        </p:nvSpPr>
        <p:spPr>
          <a:xfrm>
            <a:off x="1097280" y="4206240"/>
            <a:ext cx="6126480" cy="310896"/>
          </a:xfrm>
          <a:prstGeom prst="rect">
            <a:avLst/>
          </a:prstGeom>
          <a:noFill/>
          <a:ln/>
        </p:spPr>
        <p:txBody>
          <a:bodyPr wrap="square" lIns="0" tIns="0" rIns="0" bIns="0" rtlCol="0" anchor="ctr"/>
          <a:lstStyle/>
          <a:p>
            <a:pPr indent="0" marL="0">
              <a:buNone/>
            </a:pPr>
            <a:r>
              <a:rPr lang="en-US" sz="1500" b="1" dirty="0">
                <a:solidFill>
                  <a:schemeClr val="tx2"/>
                </a:solidFill>
              </a:rPr>
              <a:t>Mill</a:t>
            </a:r>
            <a:endParaRPr lang="en-US" sz="1500" dirty="0"/>
          </a:p>
        </p:txBody>
      </p:sp>
      <p:sp>
        <p:nvSpPr>
          <p:cNvPr id="18" name="Text 16"/>
          <p:cNvSpPr txBox="1"/>
          <p:nvPr/>
        </p:nvSpPr>
        <p:spPr>
          <a:xfrm>
            <a:off x="1097280" y="4517136"/>
            <a:ext cx="6126480" cy="566928"/>
          </a:xfrm>
          <a:prstGeom prst="rect">
            <a:avLst/>
          </a:prstGeom>
          <a:noFill/>
          <a:ln/>
        </p:spPr>
        <p:txBody>
          <a:bodyPr wrap="square" lIns="0" tIns="0" rIns="0" bIns="0" rtlCol="0" anchor="t"/>
          <a:lstStyle/>
          <a:p>
            <a:pPr indent="0" marL="0">
              <a:buNone/>
            </a:pPr>
            <a:r>
              <a:rPr lang="en-US" sz="1200" dirty="0">
                <a:solidFill>
                  <a:schemeClr val="accent6"/>
                </a:solidFill>
              </a:rPr>
              <a:t>Laboratory mechanical grinder, until visually homogeneous</a:t>
            </a:r>
            <a:endParaRPr lang="en-US" sz="1200" dirty="0"/>
          </a:p>
        </p:txBody>
      </p:sp>
      <p:sp>
        <p:nvSpPr>
          <p:cNvPr id="19" name="step-dot-5"/>
          <p:cNvSpPr/>
          <p:nvPr/>
        </p:nvSpPr>
        <p:spPr>
          <a:xfrm>
            <a:off x="548640" y="5138928"/>
            <a:ext cx="384048" cy="384048"/>
          </a:xfrm>
          <a:prstGeom prst="ellipse">
            <a:avLst/>
          </a:prstGeom>
          <a:solidFill>
            <a:schemeClr val="accent1"/>
          </a:solidFill>
          <a:ln/>
        </p:spPr>
      </p:sp>
      <p:sp>
        <p:nvSpPr>
          <p:cNvPr id="20" name="Text 18"/>
          <p:cNvSpPr txBox="1"/>
          <p:nvPr/>
        </p:nvSpPr>
        <p:spPr>
          <a:xfrm>
            <a:off x="548640" y="5138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1" name="Text 19"/>
          <p:cNvSpPr txBox="1"/>
          <p:nvPr/>
        </p:nvSpPr>
        <p:spPr>
          <a:xfrm>
            <a:off x="1097280" y="5120640"/>
            <a:ext cx="6126480" cy="310896"/>
          </a:xfrm>
          <a:prstGeom prst="rect">
            <a:avLst/>
          </a:prstGeom>
          <a:noFill/>
          <a:ln/>
        </p:spPr>
        <p:txBody>
          <a:bodyPr wrap="square" lIns="0" tIns="0" rIns="0" bIns="0" rtlCol="0" anchor="ctr"/>
          <a:lstStyle/>
          <a:p>
            <a:pPr indent="0" marL="0">
              <a:buNone/>
            </a:pPr>
            <a:r>
              <a:rPr lang="en-US" sz="1500" b="1" dirty="0">
                <a:solidFill>
                  <a:schemeClr val="tx2"/>
                </a:solidFill>
              </a:rPr>
              <a:t>Sieve</a:t>
            </a:r>
            <a:endParaRPr lang="en-US" sz="1500" dirty="0"/>
          </a:p>
        </p:txBody>
      </p:sp>
      <p:sp>
        <p:nvSpPr>
          <p:cNvPr id="22" name="Text 20"/>
          <p:cNvSpPr txBox="1"/>
          <p:nvPr/>
        </p:nvSpPr>
        <p:spPr>
          <a:xfrm>
            <a:off x="1097280" y="5431536"/>
            <a:ext cx="6126480" cy="566928"/>
          </a:xfrm>
          <a:prstGeom prst="rect">
            <a:avLst/>
          </a:prstGeom>
          <a:noFill/>
          <a:ln/>
        </p:spPr>
        <p:txBody>
          <a:bodyPr wrap="square" lIns="0" tIns="0" rIns="0" bIns="0" rtlCol="0" anchor="t"/>
          <a:lstStyle/>
          <a:p>
            <a:pPr indent="0" marL="0">
              <a:buNone/>
            </a:pPr>
            <a:r>
              <a:rPr lang="en-US" sz="1200" dirty="0">
                <a:solidFill>
                  <a:schemeClr val="accent6"/>
                </a:solidFill>
              </a:rPr>
              <a:t>150 µm mesh; only the passing fraction is used</a:t>
            </a:r>
            <a:endParaRPr lang="en-US" sz="1200" dirty="0"/>
          </a:p>
        </p:txBody>
      </p:sp>
      <p:pic>
        <p:nvPicPr>
          <p:cNvPr id="23" name="shells" descr="/home/user/sanat-ve-mekan/konferans-bildirisi/03-gorseller/03-uretim-sureci.jpeg">    </p:cNvPr>
          <p:cNvPicPr>
            <a:picLocks noChangeAspect="1"/>
          </p:cNvPicPr>
          <p:nvPr/>
        </p:nvPicPr>
        <p:blipFill>
          <a:blip r:embed="rId1"/>
          <a:stretch>
            <a:fillRect/>
          </a:stretch>
        </p:blipFill>
        <p:spPr>
          <a:xfrm>
            <a:off x="7680960" y="2286000"/>
            <a:ext cx="3931920" cy="1252728"/>
          </a:xfrm>
          <a:prstGeom prst="rect">
            <a:avLst/>
          </a:prstGeom>
        </p:spPr>
      </p:pic>
      <p:sp>
        <p:nvSpPr>
          <p:cNvPr id="24" name="stat-heat treatment"/>
          <p:cNvSpPr txBox="1"/>
          <p:nvPr/>
        </p:nvSpPr>
        <p:spPr>
          <a:xfrm>
            <a:off x="7680960" y="3840480"/>
            <a:ext cx="182880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120 °C</a:t>
            </a:r>
            <a:endParaRPr lang="en-US" sz="4000" dirty="0"/>
          </a:p>
        </p:txBody>
      </p:sp>
      <p:sp>
        <p:nvSpPr>
          <p:cNvPr id="25" name="Text 22"/>
          <p:cNvSpPr txBox="1"/>
          <p:nvPr/>
        </p:nvSpPr>
        <p:spPr>
          <a:xfrm>
            <a:off x="7680960" y="4590288"/>
            <a:ext cx="1828800" cy="502920"/>
          </a:xfrm>
          <a:prstGeom prst="rect">
            <a:avLst/>
          </a:prstGeom>
          <a:noFill/>
          <a:ln/>
        </p:spPr>
        <p:txBody>
          <a:bodyPr wrap="square" lIns="0" tIns="0" rIns="0" bIns="0" rtlCol="0" anchor="t"/>
          <a:lstStyle/>
          <a:p>
            <a:pPr indent="0" marL="0">
              <a:buNone/>
            </a:pPr>
            <a:r>
              <a:rPr lang="en-US" sz="1200" dirty="0">
                <a:solidFill>
                  <a:schemeClr val="accent6"/>
                </a:solidFill>
              </a:rPr>
              <a:t>heat treatment</a:t>
            </a:r>
            <a:endParaRPr lang="en-US" sz="1200" dirty="0"/>
          </a:p>
        </p:txBody>
      </p:sp>
      <p:sp>
        <p:nvSpPr>
          <p:cNvPr id="26" name="stat-sieve aperture"/>
          <p:cNvSpPr txBox="1"/>
          <p:nvPr/>
        </p:nvSpPr>
        <p:spPr>
          <a:xfrm>
            <a:off x="9692640" y="3840480"/>
            <a:ext cx="192024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150 µm</a:t>
            </a:r>
            <a:endParaRPr lang="en-US" sz="4000" dirty="0"/>
          </a:p>
        </p:txBody>
      </p:sp>
      <p:sp>
        <p:nvSpPr>
          <p:cNvPr id="27" name="Text 24"/>
          <p:cNvSpPr txBox="1"/>
          <p:nvPr/>
        </p:nvSpPr>
        <p:spPr>
          <a:xfrm>
            <a:off x="9692640" y="4590288"/>
            <a:ext cx="1920240" cy="502920"/>
          </a:xfrm>
          <a:prstGeom prst="rect">
            <a:avLst/>
          </a:prstGeom>
          <a:noFill/>
          <a:ln/>
        </p:spPr>
        <p:txBody>
          <a:bodyPr wrap="square" lIns="0" tIns="0" rIns="0" bIns="0" rtlCol="0" anchor="t"/>
          <a:lstStyle/>
          <a:p>
            <a:pPr indent="0" marL="0">
              <a:buNone/>
            </a:pPr>
            <a:r>
              <a:rPr lang="en-US" sz="1200" dirty="0">
                <a:solidFill>
                  <a:schemeClr val="accent6"/>
                </a:solidFill>
              </a:rPr>
              <a:t>sieve aperture</a:t>
            </a:r>
            <a:endParaRPr lang="en-US" sz="1200" dirty="0"/>
          </a:p>
        </p:txBody>
      </p:sp>
      <p:sp>
        <p:nvSpPr>
          <p:cNvPr id="29"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Preparing the binder phase</a:t>
            </a:r>
            <a:endParaRPr lang="en-US" sz="3100" dirty="0"/>
          </a:p>
        </p:txBody>
      </p:sp>
      <p:sp>
        <p:nvSpPr>
          <p:cNvPr id="3" name="step-dot-1"/>
          <p:cNvSpPr/>
          <p:nvPr/>
        </p:nvSpPr>
        <p:spPr>
          <a:xfrm>
            <a:off x="548640" y="1481328"/>
            <a:ext cx="384048" cy="384048"/>
          </a:xfrm>
          <a:prstGeom prst="ellipse">
            <a:avLst/>
          </a:prstGeom>
          <a:solidFill>
            <a:schemeClr val="accent1"/>
          </a:solidFill>
          <a:ln/>
        </p:spPr>
      </p:sp>
      <p:sp>
        <p:nvSpPr>
          <p:cNvPr id="4" name="Text 2"/>
          <p:cNvSpPr txBox="1"/>
          <p:nvPr/>
        </p:nvSpPr>
        <p:spPr>
          <a:xfrm>
            <a:off x="54864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97280" y="1463040"/>
            <a:ext cx="6309360" cy="310896"/>
          </a:xfrm>
          <a:prstGeom prst="rect">
            <a:avLst/>
          </a:prstGeom>
          <a:noFill/>
          <a:ln/>
        </p:spPr>
        <p:txBody>
          <a:bodyPr wrap="square" lIns="0" tIns="0" rIns="0" bIns="0" rtlCol="0" anchor="ctr"/>
          <a:lstStyle/>
          <a:p>
            <a:pPr indent="0" marL="0">
              <a:buNone/>
            </a:pPr>
            <a:r>
              <a:rPr lang="en-US" sz="1500" b="1" dirty="0">
                <a:solidFill>
                  <a:schemeClr val="tx2"/>
                </a:solidFill>
              </a:rPr>
              <a:t>Combine</a:t>
            </a:r>
            <a:endParaRPr lang="en-US" sz="1500" dirty="0"/>
          </a:p>
        </p:txBody>
      </p:sp>
      <p:sp>
        <p:nvSpPr>
          <p:cNvPr id="6" name="Text 4"/>
          <p:cNvSpPr txBox="1"/>
          <p:nvPr/>
        </p:nvSpPr>
        <p:spPr>
          <a:xfrm>
            <a:off x="1097280" y="1773936"/>
            <a:ext cx="6309360" cy="566928"/>
          </a:xfrm>
          <a:prstGeom prst="rect">
            <a:avLst/>
          </a:prstGeom>
          <a:noFill/>
          <a:ln/>
        </p:spPr>
        <p:txBody>
          <a:bodyPr wrap="square" lIns="0" tIns="0" rIns="0" bIns="0" rtlCol="0" anchor="t"/>
          <a:lstStyle/>
          <a:p>
            <a:pPr indent="0" marL="0">
              <a:buNone/>
            </a:pPr>
            <a:r>
              <a:rPr lang="en-US" sz="1200" dirty="0">
                <a:solidFill>
                  <a:schemeClr val="accent6"/>
                </a:solidFill>
              </a:rPr>
              <a:t>Water and glycerol, stirred until homogeneous</a:t>
            </a:r>
            <a:endParaRPr lang="en-US" sz="1200" dirty="0"/>
          </a:p>
        </p:txBody>
      </p:sp>
      <p:sp>
        <p:nvSpPr>
          <p:cNvPr id="7" name="step-dot-2"/>
          <p:cNvSpPr/>
          <p:nvPr/>
        </p:nvSpPr>
        <p:spPr>
          <a:xfrm>
            <a:off x="548640" y="2395728"/>
            <a:ext cx="384048" cy="384048"/>
          </a:xfrm>
          <a:prstGeom prst="ellipse">
            <a:avLst/>
          </a:prstGeom>
          <a:solidFill>
            <a:schemeClr val="accent1"/>
          </a:solidFill>
          <a:ln/>
        </p:spPr>
      </p:sp>
      <p:sp>
        <p:nvSpPr>
          <p:cNvPr id="8" name="Text 6"/>
          <p:cNvSpPr txBox="1"/>
          <p:nvPr/>
        </p:nvSpPr>
        <p:spPr>
          <a:xfrm>
            <a:off x="548640" y="2395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1097280" y="2377440"/>
            <a:ext cx="6309360" cy="310896"/>
          </a:xfrm>
          <a:prstGeom prst="rect">
            <a:avLst/>
          </a:prstGeom>
          <a:noFill/>
          <a:ln/>
        </p:spPr>
        <p:txBody>
          <a:bodyPr wrap="square" lIns="0" tIns="0" rIns="0" bIns="0" rtlCol="0" anchor="ctr"/>
          <a:lstStyle/>
          <a:p>
            <a:pPr indent="0" marL="0">
              <a:buNone/>
            </a:pPr>
            <a:r>
              <a:rPr lang="en-US" sz="1500" b="1" dirty="0">
                <a:solidFill>
                  <a:schemeClr val="tx2"/>
                </a:solidFill>
              </a:rPr>
              <a:t>Add agar</a:t>
            </a:r>
            <a:endParaRPr lang="en-US" sz="1500" dirty="0"/>
          </a:p>
        </p:txBody>
      </p:sp>
      <p:sp>
        <p:nvSpPr>
          <p:cNvPr id="10" name="Text 8"/>
          <p:cNvSpPr txBox="1"/>
          <p:nvPr/>
        </p:nvSpPr>
        <p:spPr>
          <a:xfrm>
            <a:off x="1097280" y="2688336"/>
            <a:ext cx="6309360" cy="566928"/>
          </a:xfrm>
          <a:prstGeom prst="rect">
            <a:avLst/>
          </a:prstGeom>
          <a:noFill/>
          <a:ln/>
        </p:spPr>
        <p:txBody>
          <a:bodyPr wrap="square" lIns="0" tIns="0" rIns="0" bIns="0" rtlCol="0" anchor="t"/>
          <a:lstStyle/>
          <a:p>
            <a:pPr indent="0" marL="0">
              <a:buNone/>
            </a:pPr>
            <a:r>
              <a:rPr lang="en-US" sz="1200" dirty="0">
                <a:solidFill>
                  <a:schemeClr val="accent6"/>
                </a:solidFill>
              </a:rPr>
              <a:t>Introduced gradually under continuous stirring to prevent agglomeration</a:t>
            </a:r>
            <a:endParaRPr lang="en-US" sz="1200" dirty="0"/>
          </a:p>
        </p:txBody>
      </p:sp>
      <p:sp>
        <p:nvSpPr>
          <p:cNvPr id="11" name="step-dot-3"/>
          <p:cNvSpPr/>
          <p:nvPr/>
        </p:nvSpPr>
        <p:spPr>
          <a:xfrm>
            <a:off x="548640" y="3310128"/>
            <a:ext cx="384048" cy="384048"/>
          </a:xfrm>
          <a:prstGeom prst="ellipse">
            <a:avLst/>
          </a:prstGeom>
          <a:solidFill>
            <a:schemeClr val="accent1"/>
          </a:solidFill>
          <a:ln/>
        </p:spPr>
      </p:sp>
      <p:sp>
        <p:nvSpPr>
          <p:cNvPr id="12" name="Text 10"/>
          <p:cNvSpPr txBox="1"/>
          <p:nvPr/>
        </p:nvSpPr>
        <p:spPr>
          <a:xfrm>
            <a:off x="54864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1"/>
          <p:cNvSpPr txBox="1"/>
          <p:nvPr/>
        </p:nvSpPr>
        <p:spPr>
          <a:xfrm>
            <a:off x="1097280" y="3291840"/>
            <a:ext cx="6309360" cy="310896"/>
          </a:xfrm>
          <a:prstGeom prst="rect">
            <a:avLst/>
          </a:prstGeom>
          <a:noFill/>
          <a:ln/>
        </p:spPr>
        <p:txBody>
          <a:bodyPr wrap="square" lIns="0" tIns="0" rIns="0" bIns="0" rtlCol="0" anchor="ctr"/>
          <a:lstStyle/>
          <a:p>
            <a:pPr indent="0" marL="0">
              <a:buNone/>
            </a:pPr>
            <a:r>
              <a:rPr lang="en-US" sz="1500" b="1" dirty="0">
                <a:solidFill>
                  <a:schemeClr val="tx2"/>
                </a:solidFill>
              </a:rPr>
              <a:t>Dissolve</a:t>
            </a:r>
            <a:endParaRPr lang="en-US" sz="1500" dirty="0"/>
          </a:p>
        </p:txBody>
      </p:sp>
      <p:sp>
        <p:nvSpPr>
          <p:cNvPr id="14" name="Text 12"/>
          <p:cNvSpPr txBox="1"/>
          <p:nvPr/>
        </p:nvSpPr>
        <p:spPr>
          <a:xfrm>
            <a:off x="1097280" y="3602736"/>
            <a:ext cx="6309360" cy="566928"/>
          </a:xfrm>
          <a:prstGeom prst="rect">
            <a:avLst/>
          </a:prstGeom>
          <a:noFill/>
          <a:ln/>
        </p:spPr>
        <p:txBody>
          <a:bodyPr wrap="square" lIns="0" tIns="0" rIns="0" bIns="0" rtlCol="0" anchor="t"/>
          <a:lstStyle/>
          <a:p>
            <a:pPr indent="0" marL="0">
              <a:buNone/>
            </a:pPr>
            <a:r>
              <a:rPr lang="en-US" sz="1200" dirty="0">
                <a:solidFill>
                  <a:schemeClr val="accent6"/>
                </a:solidFill>
              </a:rPr>
              <a:t>Heated to 95 °C until the agar is fully in solution</a:t>
            </a:r>
            <a:endParaRPr lang="en-US" sz="1200" dirty="0"/>
          </a:p>
        </p:txBody>
      </p:sp>
      <p:sp>
        <p:nvSpPr>
          <p:cNvPr id="15" name="step-dot-4"/>
          <p:cNvSpPr/>
          <p:nvPr/>
        </p:nvSpPr>
        <p:spPr>
          <a:xfrm>
            <a:off x="548640" y="4224528"/>
            <a:ext cx="384048" cy="384048"/>
          </a:xfrm>
          <a:prstGeom prst="ellipse">
            <a:avLst/>
          </a:prstGeom>
          <a:solidFill>
            <a:schemeClr val="accent1"/>
          </a:solidFill>
          <a:ln/>
        </p:spPr>
      </p:sp>
      <p:sp>
        <p:nvSpPr>
          <p:cNvPr id="16" name="Text 14"/>
          <p:cNvSpPr txBox="1"/>
          <p:nvPr/>
        </p:nvSpPr>
        <p:spPr>
          <a:xfrm>
            <a:off x="54864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txBox="1"/>
          <p:nvPr/>
        </p:nvSpPr>
        <p:spPr>
          <a:xfrm>
            <a:off x="1097280" y="4206240"/>
            <a:ext cx="6309360" cy="310896"/>
          </a:xfrm>
          <a:prstGeom prst="rect">
            <a:avLst/>
          </a:prstGeom>
          <a:noFill/>
          <a:ln/>
        </p:spPr>
        <p:txBody>
          <a:bodyPr wrap="square" lIns="0" tIns="0" rIns="0" bIns="0" rtlCol="0" anchor="ctr"/>
          <a:lstStyle/>
          <a:p>
            <a:pPr indent="0" marL="0">
              <a:buNone/>
            </a:pPr>
            <a:r>
              <a:rPr lang="en-US" sz="1500" b="1" dirty="0">
                <a:solidFill>
                  <a:schemeClr val="tx2"/>
                </a:solidFill>
              </a:rPr>
              <a:t>Hold</a:t>
            </a:r>
            <a:endParaRPr lang="en-US" sz="1500" dirty="0"/>
          </a:p>
        </p:txBody>
      </p:sp>
      <p:sp>
        <p:nvSpPr>
          <p:cNvPr id="18" name="Text 16"/>
          <p:cNvSpPr txBox="1"/>
          <p:nvPr/>
        </p:nvSpPr>
        <p:spPr>
          <a:xfrm>
            <a:off x="1097280" y="4517136"/>
            <a:ext cx="6309360" cy="566928"/>
          </a:xfrm>
          <a:prstGeom prst="rect">
            <a:avLst/>
          </a:prstGeom>
          <a:noFill/>
          <a:ln/>
        </p:spPr>
        <p:txBody>
          <a:bodyPr wrap="square" lIns="0" tIns="0" rIns="0" bIns="0" rtlCol="0" anchor="t"/>
          <a:lstStyle/>
          <a:p>
            <a:pPr indent="0" marL="0">
              <a:buNone/>
            </a:pPr>
            <a:r>
              <a:rPr lang="en-US" sz="1200" dirty="0">
                <a:solidFill>
                  <a:schemeClr val="accent6"/>
                </a:solidFill>
              </a:rPr>
              <a:t>Reduced to 80 °C and cooked at that temperature, stirring throughout</a:t>
            </a:r>
            <a:endParaRPr lang="en-US" sz="1200" dirty="0"/>
          </a:p>
        </p:txBody>
      </p:sp>
      <p:sp>
        <p:nvSpPr>
          <p:cNvPr id="19" name="step-dot-5"/>
          <p:cNvSpPr/>
          <p:nvPr/>
        </p:nvSpPr>
        <p:spPr>
          <a:xfrm>
            <a:off x="548640" y="5138928"/>
            <a:ext cx="384048" cy="384048"/>
          </a:xfrm>
          <a:prstGeom prst="ellipse">
            <a:avLst/>
          </a:prstGeom>
          <a:solidFill>
            <a:schemeClr val="accent1"/>
          </a:solidFill>
          <a:ln/>
        </p:spPr>
      </p:sp>
      <p:sp>
        <p:nvSpPr>
          <p:cNvPr id="20" name="Text 18"/>
          <p:cNvSpPr txBox="1"/>
          <p:nvPr/>
        </p:nvSpPr>
        <p:spPr>
          <a:xfrm>
            <a:off x="548640" y="5138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1" name="Text 19"/>
          <p:cNvSpPr txBox="1"/>
          <p:nvPr/>
        </p:nvSpPr>
        <p:spPr>
          <a:xfrm>
            <a:off x="1097280" y="5120640"/>
            <a:ext cx="6309360" cy="310896"/>
          </a:xfrm>
          <a:prstGeom prst="rect">
            <a:avLst/>
          </a:prstGeom>
          <a:noFill/>
          <a:ln/>
        </p:spPr>
        <p:txBody>
          <a:bodyPr wrap="square" lIns="0" tIns="0" rIns="0" bIns="0" rtlCol="0" anchor="ctr"/>
          <a:lstStyle/>
          <a:p>
            <a:pPr indent="0" marL="0">
              <a:buNone/>
            </a:pPr>
            <a:r>
              <a:rPr lang="en-US" sz="1500" b="1" dirty="0">
                <a:solidFill>
                  <a:schemeClr val="tx2"/>
                </a:solidFill>
              </a:rPr>
              <a:t>Add the mineral</a:t>
            </a:r>
            <a:endParaRPr lang="en-US" sz="1500" dirty="0"/>
          </a:p>
        </p:txBody>
      </p:sp>
      <p:sp>
        <p:nvSpPr>
          <p:cNvPr id="22" name="Text 20"/>
          <p:cNvSpPr txBox="1"/>
          <p:nvPr/>
        </p:nvSpPr>
        <p:spPr>
          <a:xfrm>
            <a:off x="1097280" y="5431536"/>
            <a:ext cx="6309360" cy="566928"/>
          </a:xfrm>
          <a:prstGeom prst="rect">
            <a:avLst/>
          </a:prstGeom>
          <a:noFill/>
          <a:ln/>
        </p:spPr>
        <p:txBody>
          <a:bodyPr wrap="square" lIns="0" tIns="0" rIns="0" bIns="0" rtlCol="0" anchor="t"/>
          <a:lstStyle/>
          <a:p>
            <a:pPr indent="0" marL="0">
              <a:buNone/>
            </a:pPr>
            <a:r>
              <a:rPr lang="en-US" sz="1200" dirty="0">
                <a:solidFill>
                  <a:schemeClr val="accent6"/>
                </a:solidFill>
              </a:rPr>
              <a:t>Shell fraction added incrementally near the end of cooking</a:t>
            </a:r>
            <a:endParaRPr lang="en-US" sz="1200" dirty="0"/>
          </a:p>
        </p:txBody>
      </p:sp>
      <p:sp>
        <p:nvSpPr>
          <p:cNvPr id="23" name="binder-stats"/>
          <p:cNvSpPr/>
          <p:nvPr/>
        </p:nvSpPr>
        <p:spPr>
          <a:xfrm>
            <a:off x="7818120" y="1600200"/>
            <a:ext cx="3794760" cy="3931920"/>
          </a:xfrm>
          <a:prstGeom prst="roundRect">
            <a:avLst>
              <a:gd name="adj" fmla="val 1446"/>
            </a:avLst>
          </a:prstGeom>
          <a:solidFill>
            <a:schemeClr val="bg2"/>
          </a:solidFill>
          <a:ln w="12700">
            <a:solidFill>
              <a:schemeClr val="bg2"/>
            </a:solidFill>
            <a:prstDash val="solid"/>
          </a:ln>
        </p:spPr>
      </p:sp>
      <p:sp>
        <p:nvSpPr>
          <p:cNvPr id="24" name="Text 22"/>
          <p:cNvSpPr txBox="1"/>
          <p:nvPr/>
        </p:nvSpPr>
        <p:spPr>
          <a:xfrm>
            <a:off x="8138160" y="1828800"/>
            <a:ext cx="3200400" cy="320040"/>
          </a:xfrm>
          <a:prstGeom prst="rect">
            <a:avLst/>
          </a:prstGeom>
          <a:noFill/>
          <a:ln/>
        </p:spPr>
        <p:txBody>
          <a:bodyPr wrap="square" lIns="0" tIns="0" rIns="0" bIns="0" rtlCol="0" anchor="ctr"/>
          <a:lstStyle/>
          <a:p>
            <a:pPr indent="0" marL="0">
              <a:buNone/>
            </a:pPr>
            <a:r>
              <a:rPr lang="en-US" sz="1300" b="1" dirty="0">
                <a:solidFill>
                  <a:schemeClr val="tx2"/>
                </a:solidFill>
              </a:rPr>
              <a:t>Key parameters</a:t>
            </a:r>
            <a:endParaRPr lang="en-US" sz="1300" dirty="0"/>
          </a:p>
        </p:txBody>
      </p:sp>
      <p:sp>
        <p:nvSpPr>
          <p:cNvPr id="25" name="stat-agar dissolution"/>
          <p:cNvSpPr txBox="1"/>
          <p:nvPr/>
        </p:nvSpPr>
        <p:spPr>
          <a:xfrm>
            <a:off x="8138160" y="2286000"/>
            <a:ext cx="320040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95 °C</a:t>
            </a:r>
            <a:endParaRPr lang="en-US" sz="4000" dirty="0"/>
          </a:p>
        </p:txBody>
      </p:sp>
      <p:sp>
        <p:nvSpPr>
          <p:cNvPr id="26" name="Text 24"/>
          <p:cNvSpPr txBox="1"/>
          <p:nvPr/>
        </p:nvSpPr>
        <p:spPr>
          <a:xfrm>
            <a:off x="8138160" y="3035808"/>
            <a:ext cx="3200400" cy="502920"/>
          </a:xfrm>
          <a:prstGeom prst="rect">
            <a:avLst/>
          </a:prstGeom>
          <a:noFill/>
          <a:ln/>
        </p:spPr>
        <p:txBody>
          <a:bodyPr wrap="square" lIns="0" tIns="0" rIns="0" bIns="0" rtlCol="0" anchor="t"/>
          <a:lstStyle/>
          <a:p>
            <a:pPr indent="0" marL="0">
              <a:buNone/>
            </a:pPr>
            <a:r>
              <a:rPr lang="en-US" sz="1200" dirty="0">
                <a:solidFill>
                  <a:schemeClr val="accent6"/>
                </a:solidFill>
              </a:rPr>
              <a:t>agar dissolution</a:t>
            </a:r>
            <a:endParaRPr lang="en-US" sz="1200" dirty="0"/>
          </a:p>
        </p:txBody>
      </p:sp>
      <p:sp>
        <p:nvSpPr>
          <p:cNvPr id="27" name="stat-controlled cooking"/>
          <p:cNvSpPr txBox="1"/>
          <p:nvPr/>
        </p:nvSpPr>
        <p:spPr>
          <a:xfrm>
            <a:off x="8138160" y="3337560"/>
            <a:ext cx="320040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80 °C</a:t>
            </a:r>
            <a:endParaRPr lang="en-US" sz="4000" dirty="0"/>
          </a:p>
        </p:txBody>
      </p:sp>
      <p:sp>
        <p:nvSpPr>
          <p:cNvPr id="28" name="Text 26"/>
          <p:cNvSpPr txBox="1"/>
          <p:nvPr/>
        </p:nvSpPr>
        <p:spPr>
          <a:xfrm>
            <a:off x="8138160" y="4087368"/>
            <a:ext cx="3200400" cy="502920"/>
          </a:xfrm>
          <a:prstGeom prst="rect">
            <a:avLst/>
          </a:prstGeom>
          <a:noFill/>
          <a:ln/>
        </p:spPr>
        <p:txBody>
          <a:bodyPr wrap="square" lIns="0" tIns="0" rIns="0" bIns="0" rtlCol="0" anchor="t"/>
          <a:lstStyle/>
          <a:p>
            <a:pPr indent="0" marL="0">
              <a:buNone/>
            </a:pPr>
            <a:r>
              <a:rPr lang="en-US" sz="1200" dirty="0">
                <a:solidFill>
                  <a:schemeClr val="accent6"/>
                </a:solidFill>
              </a:rPr>
              <a:t>controlled cooking</a:t>
            </a:r>
            <a:endParaRPr lang="en-US" sz="1200" dirty="0"/>
          </a:p>
        </p:txBody>
      </p:sp>
      <p:sp>
        <p:nvSpPr>
          <p:cNvPr id="29" name="stat-total heating time"/>
          <p:cNvSpPr txBox="1"/>
          <p:nvPr/>
        </p:nvSpPr>
        <p:spPr>
          <a:xfrm>
            <a:off x="8138160" y="4389120"/>
            <a:ext cx="320040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55 min</a:t>
            </a:r>
            <a:endParaRPr lang="en-US" sz="4000" dirty="0"/>
          </a:p>
        </p:txBody>
      </p:sp>
      <p:sp>
        <p:nvSpPr>
          <p:cNvPr id="30" name="Text 28"/>
          <p:cNvSpPr txBox="1"/>
          <p:nvPr/>
        </p:nvSpPr>
        <p:spPr>
          <a:xfrm>
            <a:off x="8138160" y="5138928"/>
            <a:ext cx="3200400" cy="502920"/>
          </a:xfrm>
          <a:prstGeom prst="rect">
            <a:avLst/>
          </a:prstGeom>
          <a:noFill/>
          <a:ln/>
        </p:spPr>
        <p:txBody>
          <a:bodyPr wrap="square" lIns="0" tIns="0" rIns="0" bIns="0" rtlCol="0" anchor="t"/>
          <a:lstStyle/>
          <a:p>
            <a:pPr indent="0" marL="0">
              <a:buNone/>
            </a:pPr>
            <a:r>
              <a:rPr lang="en-US" sz="1200" dirty="0">
                <a:solidFill>
                  <a:schemeClr val="accent6"/>
                </a:solidFill>
              </a:rPr>
              <a:t>total heating time</a:t>
            </a:r>
            <a:endParaRPr lang="en-US" sz="1200" dirty="0"/>
          </a:p>
        </p:txBody>
      </p:sp>
      <p:sp>
        <p:nvSpPr>
          <p:cNvPr id="31" name="Text 29"/>
          <p:cNvSpPr txBox="1"/>
          <p:nvPr/>
        </p:nvSpPr>
        <p:spPr>
          <a:xfrm>
            <a:off x="548640" y="5760720"/>
            <a:ext cx="6858000" cy="457200"/>
          </a:xfrm>
          <a:prstGeom prst="rect">
            <a:avLst/>
          </a:prstGeom>
          <a:noFill/>
          <a:ln/>
        </p:spPr>
        <p:txBody>
          <a:bodyPr wrap="square" lIns="0" tIns="0" rIns="0" bIns="0" rtlCol="0" anchor="ctr"/>
          <a:lstStyle/>
          <a:p>
            <a:pPr indent="0" marL="0">
              <a:buNone/>
            </a:pPr>
            <a:r>
              <a:rPr lang="en-US" sz="1100" i="1" dirty="0">
                <a:solidFill>
                  <a:schemeClr val="accent1"/>
                </a:solidFill>
              </a:rPr>
              <a:t>Stirring was manual throughout, so shear rate is not controlled. This is stated as a limitation.</a:t>
            </a:r>
            <a:endParaRPr lang="en-US" sz="1100" dirty="0"/>
          </a:p>
        </p:txBody>
      </p:sp>
      <p:sp>
        <p:nvSpPr>
          <p:cNvPr id="33"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Casting, drying and consolidation</a:t>
            </a:r>
            <a:endParaRPr lang="en-US" sz="3100" dirty="0"/>
          </a:p>
        </p:txBody>
      </p:sp>
      <p:sp>
        <p:nvSpPr>
          <p:cNvPr id="3" name="step-dot-1"/>
          <p:cNvSpPr/>
          <p:nvPr/>
        </p:nvSpPr>
        <p:spPr>
          <a:xfrm>
            <a:off x="548640" y="1517904"/>
            <a:ext cx="384048" cy="384048"/>
          </a:xfrm>
          <a:prstGeom prst="ellipse">
            <a:avLst/>
          </a:prstGeom>
          <a:solidFill>
            <a:schemeClr val="accent1"/>
          </a:solidFill>
          <a:ln/>
        </p:spPr>
      </p:sp>
      <p:sp>
        <p:nvSpPr>
          <p:cNvPr id="4" name="Text 2"/>
          <p:cNvSpPr txBox="1"/>
          <p:nvPr/>
        </p:nvSpPr>
        <p:spPr>
          <a:xfrm>
            <a:off x="548640"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97280" y="1499616"/>
            <a:ext cx="6217920" cy="310896"/>
          </a:xfrm>
          <a:prstGeom prst="rect">
            <a:avLst/>
          </a:prstGeom>
          <a:noFill/>
          <a:ln/>
        </p:spPr>
        <p:txBody>
          <a:bodyPr wrap="square" lIns="0" tIns="0" rIns="0" bIns="0" rtlCol="0" anchor="ctr"/>
          <a:lstStyle/>
          <a:p>
            <a:pPr indent="0" marL="0">
              <a:buNone/>
            </a:pPr>
            <a:r>
              <a:rPr lang="en-US" sz="1500" b="1" dirty="0">
                <a:solidFill>
                  <a:schemeClr val="tx2"/>
                </a:solidFill>
              </a:rPr>
              <a:t>Cast</a:t>
            </a:r>
            <a:endParaRPr lang="en-US" sz="1500" dirty="0"/>
          </a:p>
        </p:txBody>
      </p:sp>
      <p:sp>
        <p:nvSpPr>
          <p:cNvPr id="6" name="Text 4"/>
          <p:cNvSpPr txBox="1"/>
          <p:nvPr/>
        </p:nvSpPr>
        <p:spPr>
          <a:xfrm>
            <a:off x="1097280" y="1810512"/>
            <a:ext cx="6217920" cy="566928"/>
          </a:xfrm>
          <a:prstGeom prst="rect">
            <a:avLst/>
          </a:prstGeom>
          <a:noFill/>
          <a:ln/>
        </p:spPr>
        <p:txBody>
          <a:bodyPr wrap="square" lIns="0" tIns="0" rIns="0" bIns="0" rtlCol="0" anchor="t"/>
          <a:lstStyle/>
          <a:p>
            <a:pPr indent="0" marL="0">
              <a:buNone/>
            </a:pPr>
            <a:r>
              <a:rPr lang="en-US" sz="1200" dirty="0">
                <a:solidFill>
                  <a:schemeClr val="accent6"/>
                </a:solidFill>
              </a:rPr>
              <a:t>Poured into silicone moulds and spread to uniform thickness. Silicone flexes, so no release agent is needed.</a:t>
            </a:r>
            <a:endParaRPr lang="en-US" sz="1200" dirty="0"/>
          </a:p>
        </p:txBody>
      </p:sp>
      <p:sp>
        <p:nvSpPr>
          <p:cNvPr id="7" name="step-dot-2"/>
          <p:cNvSpPr/>
          <p:nvPr/>
        </p:nvSpPr>
        <p:spPr>
          <a:xfrm>
            <a:off x="548640" y="2706624"/>
            <a:ext cx="384048" cy="384048"/>
          </a:xfrm>
          <a:prstGeom prst="ellipse">
            <a:avLst/>
          </a:prstGeom>
          <a:solidFill>
            <a:schemeClr val="accent1"/>
          </a:solidFill>
          <a:ln/>
        </p:spPr>
      </p:sp>
      <p:sp>
        <p:nvSpPr>
          <p:cNvPr id="8" name="Text 6"/>
          <p:cNvSpPr txBox="1"/>
          <p:nvPr/>
        </p:nvSpPr>
        <p:spPr>
          <a:xfrm>
            <a:off x="548640" y="2706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1097280" y="2688336"/>
            <a:ext cx="6217920" cy="310896"/>
          </a:xfrm>
          <a:prstGeom prst="rect">
            <a:avLst/>
          </a:prstGeom>
          <a:noFill/>
          <a:ln/>
        </p:spPr>
        <p:txBody>
          <a:bodyPr wrap="square" lIns="0" tIns="0" rIns="0" bIns="0" rtlCol="0" anchor="ctr"/>
          <a:lstStyle/>
          <a:p>
            <a:pPr indent="0" marL="0">
              <a:buNone/>
            </a:pPr>
            <a:r>
              <a:rPr lang="en-US" sz="1500" b="1" dirty="0">
                <a:solidFill>
                  <a:schemeClr val="tx2"/>
                </a:solidFill>
              </a:rPr>
              <a:t>Set in mould</a:t>
            </a:r>
            <a:endParaRPr lang="en-US" sz="1500" dirty="0"/>
          </a:p>
        </p:txBody>
      </p:sp>
      <p:sp>
        <p:nvSpPr>
          <p:cNvPr id="10" name="Text 8"/>
          <p:cNvSpPr txBox="1"/>
          <p:nvPr/>
        </p:nvSpPr>
        <p:spPr>
          <a:xfrm>
            <a:off x="1097280" y="2999232"/>
            <a:ext cx="6217920" cy="566928"/>
          </a:xfrm>
          <a:prstGeom prst="rect">
            <a:avLst/>
          </a:prstGeom>
          <a:noFill/>
          <a:ln/>
        </p:spPr>
        <p:txBody>
          <a:bodyPr wrap="square" lIns="0" tIns="0" rIns="0" bIns="0" rtlCol="0" anchor="t"/>
          <a:lstStyle/>
          <a:p>
            <a:pPr indent="0" marL="0">
              <a:buNone/>
            </a:pPr>
            <a:r>
              <a:rPr lang="en-US" sz="1200" dirty="0">
                <a:solidFill>
                  <a:schemeClr val="accent6"/>
                </a:solidFill>
              </a:rPr>
              <a:t>Four days for initial setting and drying</a:t>
            </a:r>
            <a:endParaRPr lang="en-US" sz="1200" dirty="0"/>
          </a:p>
        </p:txBody>
      </p:sp>
      <p:sp>
        <p:nvSpPr>
          <p:cNvPr id="11" name="step-dot-3"/>
          <p:cNvSpPr/>
          <p:nvPr/>
        </p:nvSpPr>
        <p:spPr>
          <a:xfrm>
            <a:off x="548640" y="3895344"/>
            <a:ext cx="384048" cy="384048"/>
          </a:xfrm>
          <a:prstGeom prst="ellipse">
            <a:avLst/>
          </a:prstGeom>
          <a:solidFill>
            <a:schemeClr val="accent1"/>
          </a:solidFill>
          <a:ln/>
        </p:spPr>
      </p:sp>
      <p:sp>
        <p:nvSpPr>
          <p:cNvPr id="12" name="Text 10"/>
          <p:cNvSpPr txBox="1"/>
          <p:nvPr/>
        </p:nvSpPr>
        <p:spPr>
          <a:xfrm>
            <a:off x="548640" y="3895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1"/>
          <p:cNvSpPr txBox="1"/>
          <p:nvPr/>
        </p:nvSpPr>
        <p:spPr>
          <a:xfrm>
            <a:off x="1097280" y="3877056"/>
            <a:ext cx="6217920" cy="310896"/>
          </a:xfrm>
          <a:prstGeom prst="rect">
            <a:avLst/>
          </a:prstGeom>
          <a:noFill/>
          <a:ln/>
        </p:spPr>
        <p:txBody>
          <a:bodyPr wrap="square" lIns="0" tIns="0" rIns="0" bIns="0" rtlCol="0" anchor="ctr"/>
          <a:lstStyle/>
          <a:p>
            <a:pPr indent="0" marL="0">
              <a:buNone/>
            </a:pPr>
            <a:r>
              <a:rPr lang="en-US" sz="1500" b="1" dirty="0">
                <a:solidFill>
                  <a:schemeClr val="tx2"/>
                </a:solidFill>
              </a:rPr>
              <a:t>Demould</a:t>
            </a:r>
            <a:endParaRPr lang="en-US" sz="1500" dirty="0"/>
          </a:p>
        </p:txBody>
      </p:sp>
      <p:sp>
        <p:nvSpPr>
          <p:cNvPr id="14" name="Text 12"/>
          <p:cNvSpPr txBox="1"/>
          <p:nvPr/>
        </p:nvSpPr>
        <p:spPr>
          <a:xfrm>
            <a:off x="1097280" y="4187952"/>
            <a:ext cx="6217920" cy="566928"/>
          </a:xfrm>
          <a:prstGeom prst="rect">
            <a:avLst/>
          </a:prstGeom>
          <a:noFill/>
          <a:ln/>
        </p:spPr>
        <p:txBody>
          <a:bodyPr wrap="square" lIns="0" tIns="0" rIns="0" bIns="0" rtlCol="0" anchor="t"/>
          <a:lstStyle/>
          <a:p>
            <a:pPr indent="0" marL="0">
              <a:buNone/>
            </a:pPr>
            <a:r>
              <a:rPr lang="en-US" sz="1200" dirty="0">
                <a:solidFill>
                  <a:schemeClr val="accent6"/>
                </a:solidFill>
              </a:rPr>
              <a:t>Removed once the specimen holds its form</a:t>
            </a:r>
            <a:endParaRPr lang="en-US" sz="1200" dirty="0"/>
          </a:p>
        </p:txBody>
      </p:sp>
      <p:sp>
        <p:nvSpPr>
          <p:cNvPr id="15" name="step-dot-4"/>
          <p:cNvSpPr/>
          <p:nvPr/>
        </p:nvSpPr>
        <p:spPr>
          <a:xfrm>
            <a:off x="548640" y="5084064"/>
            <a:ext cx="384048" cy="384048"/>
          </a:xfrm>
          <a:prstGeom prst="ellipse">
            <a:avLst/>
          </a:prstGeom>
          <a:solidFill>
            <a:schemeClr val="accent1"/>
          </a:solidFill>
          <a:ln/>
        </p:spPr>
      </p:sp>
      <p:sp>
        <p:nvSpPr>
          <p:cNvPr id="16" name="Text 14"/>
          <p:cNvSpPr txBox="1"/>
          <p:nvPr/>
        </p:nvSpPr>
        <p:spPr>
          <a:xfrm>
            <a:off x="548640" y="5084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txBox="1"/>
          <p:nvPr/>
        </p:nvSpPr>
        <p:spPr>
          <a:xfrm>
            <a:off x="1097280" y="5065776"/>
            <a:ext cx="6217920" cy="310896"/>
          </a:xfrm>
          <a:prstGeom prst="rect">
            <a:avLst/>
          </a:prstGeom>
          <a:noFill/>
          <a:ln/>
        </p:spPr>
        <p:txBody>
          <a:bodyPr wrap="square" lIns="0" tIns="0" rIns="0" bIns="0" rtlCol="0" anchor="ctr"/>
          <a:lstStyle/>
          <a:p>
            <a:pPr indent="0" marL="0">
              <a:buNone/>
            </a:pPr>
            <a:r>
              <a:rPr lang="en-US" sz="1500" b="1" dirty="0">
                <a:solidFill>
                  <a:schemeClr val="tx2"/>
                </a:solidFill>
              </a:rPr>
              <a:t>Consolidate</a:t>
            </a:r>
            <a:endParaRPr lang="en-US" sz="1500" dirty="0"/>
          </a:p>
        </p:txBody>
      </p:sp>
      <p:sp>
        <p:nvSpPr>
          <p:cNvPr id="18" name="Text 16"/>
          <p:cNvSpPr txBox="1"/>
          <p:nvPr/>
        </p:nvSpPr>
        <p:spPr>
          <a:xfrm>
            <a:off x="1097280" y="5376672"/>
            <a:ext cx="6217920" cy="566928"/>
          </a:xfrm>
          <a:prstGeom prst="rect">
            <a:avLst/>
          </a:prstGeom>
          <a:noFill/>
          <a:ln/>
        </p:spPr>
        <p:txBody>
          <a:bodyPr wrap="square" lIns="0" tIns="0" rIns="0" bIns="0" rtlCol="0" anchor="t"/>
          <a:lstStyle/>
          <a:p>
            <a:pPr indent="0" marL="0">
              <a:buNone/>
            </a:pPr>
            <a:r>
              <a:rPr lang="en-US" sz="1200" dirty="0">
                <a:solidFill>
                  <a:schemeClr val="accent6"/>
                </a:solidFill>
              </a:rPr>
              <a:t>A further seven days under ambient conditions, shielded from direct sun and air movement</a:t>
            </a:r>
            <a:endParaRPr lang="en-US" sz="1200" dirty="0"/>
          </a:p>
        </p:txBody>
      </p:sp>
      <p:sp>
        <p:nvSpPr>
          <p:cNvPr id="19" name="shrink-note"/>
          <p:cNvSpPr/>
          <p:nvPr/>
        </p:nvSpPr>
        <p:spPr>
          <a:xfrm>
            <a:off x="7680960" y="1517904"/>
            <a:ext cx="3931920" cy="2971800"/>
          </a:xfrm>
          <a:prstGeom prst="roundRect">
            <a:avLst>
              <a:gd name="adj" fmla="val 1846"/>
            </a:avLst>
          </a:prstGeom>
          <a:solidFill>
            <a:srgbClr val="F6E8DF"/>
          </a:solidFill>
          <a:ln w="12700">
            <a:solidFill>
              <a:srgbClr val="F6E8DF"/>
            </a:solidFill>
            <a:prstDash val="solid"/>
          </a:ln>
        </p:spPr>
      </p:sp>
      <p:sp>
        <p:nvSpPr>
          <p:cNvPr id="20" name="Text 18"/>
          <p:cNvSpPr txBox="1"/>
          <p:nvPr/>
        </p:nvSpPr>
        <p:spPr>
          <a:xfrm>
            <a:off x="8001000" y="1755648"/>
            <a:ext cx="3291840" cy="320040"/>
          </a:xfrm>
          <a:prstGeom prst="rect">
            <a:avLst/>
          </a:prstGeom>
          <a:noFill/>
          <a:ln/>
        </p:spPr>
        <p:txBody>
          <a:bodyPr wrap="square" lIns="0" tIns="0" rIns="0" bIns="0" rtlCol="0" anchor="ctr"/>
          <a:lstStyle/>
          <a:p>
            <a:pPr indent="0" marL="0">
              <a:buNone/>
            </a:pPr>
            <a:r>
              <a:rPr lang="en-US" sz="1300" b="1" dirty="0">
                <a:solidFill>
                  <a:schemeClr val="accent1"/>
                </a:solidFill>
              </a:rPr>
              <a:t>Dimensional loss</a:t>
            </a:r>
            <a:endParaRPr lang="en-US" sz="1300" dirty="0"/>
          </a:p>
        </p:txBody>
      </p:sp>
      <p:sp>
        <p:nvSpPr>
          <p:cNvPr id="21" name="Text 19"/>
          <p:cNvSpPr txBox="1"/>
          <p:nvPr/>
        </p:nvSpPr>
        <p:spPr>
          <a:xfrm>
            <a:off x="8001000" y="2148840"/>
            <a:ext cx="3291840" cy="2194560"/>
          </a:xfrm>
          <a:prstGeom prst="rect">
            <a:avLst/>
          </a:prstGeom>
          <a:noFill/>
          <a:ln/>
        </p:spPr>
        <p:txBody>
          <a:bodyPr wrap="square" lIns="0" tIns="0" rIns="0" bIns="0" rtlCol="0" anchor="ctr"/>
          <a:lstStyle/>
          <a:p>
            <a:pPr indent="0" marL="0">
              <a:lnSpc>
                <a:spcPts val="1700"/>
              </a:lnSpc>
              <a:buNone/>
            </a:pPr>
            <a:r>
              <a:rPr lang="en-US" sz="1250" dirty="0">
                <a:solidFill>
                  <a:schemeClr val="tx2"/>
                </a:solidFill>
              </a:rPr>
              <a:t>The material shrinks appreciably as the water phase evaporates. Post-drying dimensions were not recorded in this study; the dimensions reported here are mould dimensions. Future work using this protocol should measure specimens after drying, not at casting.</a:t>
            </a:r>
            <a:endParaRPr lang="en-US" sz="1250" dirty="0"/>
          </a:p>
        </p:txBody>
      </p:sp>
      <p:sp>
        <p:nvSpPr>
          <p:cNvPr id="22" name="stat-ambient drying"/>
          <p:cNvSpPr txBox="1"/>
          <p:nvPr/>
        </p:nvSpPr>
        <p:spPr>
          <a:xfrm>
            <a:off x="7680960" y="4800600"/>
            <a:ext cx="182880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23 °C</a:t>
            </a:r>
            <a:endParaRPr lang="en-US" sz="4000" dirty="0"/>
          </a:p>
        </p:txBody>
      </p:sp>
      <p:sp>
        <p:nvSpPr>
          <p:cNvPr id="23" name="Text 21"/>
          <p:cNvSpPr txBox="1"/>
          <p:nvPr/>
        </p:nvSpPr>
        <p:spPr>
          <a:xfrm>
            <a:off x="7680960" y="5550408"/>
            <a:ext cx="1828800" cy="502920"/>
          </a:xfrm>
          <a:prstGeom prst="rect">
            <a:avLst/>
          </a:prstGeom>
          <a:noFill/>
          <a:ln/>
        </p:spPr>
        <p:txBody>
          <a:bodyPr wrap="square" lIns="0" tIns="0" rIns="0" bIns="0" rtlCol="0" anchor="t"/>
          <a:lstStyle/>
          <a:p>
            <a:pPr indent="0" marL="0">
              <a:buNone/>
            </a:pPr>
            <a:r>
              <a:rPr lang="en-US" sz="1200" dirty="0">
                <a:solidFill>
                  <a:schemeClr val="accent6"/>
                </a:solidFill>
              </a:rPr>
              <a:t>ambient drying</a:t>
            </a:r>
            <a:endParaRPr lang="en-US" sz="1200" dirty="0"/>
          </a:p>
        </p:txBody>
      </p:sp>
      <p:sp>
        <p:nvSpPr>
          <p:cNvPr id="24" name="stat-mould to finished"/>
          <p:cNvSpPr txBox="1"/>
          <p:nvPr/>
        </p:nvSpPr>
        <p:spPr>
          <a:xfrm>
            <a:off x="9692640" y="4800600"/>
            <a:ext cx="192024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11 days</a:t>
            </a:r>
            <a:endParaRPr lang="en-US" sz="4000" dirty="0"/>
          </a:p>
        </p:txBody>
      </p:sp>
      <p:sp>
        <p:nvSpPr>
          <p:cNvPr id="25" name="Text 23"/>
          <p:cNvSpPr txBox="1"/>
          <p:nvPr/>
        </p:nvSpPr>
        <p:spPr>
          <a:xfrm>
            <a:off x="9692640" y="5550408"/>
            <a:ext cx="1920240" cy="502920"/>
          </a:xfrm>
          <a:prstGeom prst="rect">
            <a:avLst/>
          </a:prstGeom>
          <a:noFill/>
          <a:ln/>
        </p:spPr>
        <p:txBody>
          <a:bodyPr wrap="square" lIns="0" tIns="0" rIns="0" bIns="0" rtlCol="0" anchor="t"/>
          <a:lstStyle/>
          <a:p>
            <a:pPr indent="0" marL="0">
              <a:buNone/>
            </a:pPr>
            <a:r>
              <a:rPr lang="en-US" sz="1200" dirty="0">
                <a:solidFill>
                  <a:schemeClr val="accent6"/>
                </a:solidFill>
              </a:rPr>
              <a:t>mould to finished</a:t>
            </a:r>
            <a:endParaRPr lang="en-US" sz="1200" dirty="0"/>
          </a:p>
        </p:txBody>
      </p:sp>
      <p:sp>
        <p:nvSpPr>
          <p:cNvPr id="27"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Formulations characterised</a:t>
            </a:r>
            <a:endParaRPr lang="en-US" sz="3100" dirty="0"/>
          </a:p>
        </p:txBody>
      </p:sp>
      <p:graphicFrame>
        <p:nvGraphicFramePr>
          <p:cNvPr id="10" name="formulation-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737360"/>
                <a:gridCol w="685800"/>
                <a:gridCol w="1371600"/>
                <a:gridCol w="1600200"/>
                <a:gridCol w="1188720"/>
                <a:gridCol w="1600200"/>
                <a:gridCol w="2880360"/>
              </a:tblGrid>
              <a:tr h="47548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Water (g)</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Eggshell (g)</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Agar (g)</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Glycerol (g)</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75488">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Compression</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C1</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325</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2.55 MPa</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Compression</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C2</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310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3.12 MPa</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Compression</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C3</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280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110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4.10 MPa</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Flexure</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450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190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i="1" dirty="0">
                          <a:solidFill>
                            <a:schemeClr val="tx1"/>
                          </a:solidFill>
                          <a:latin typeface="Calibri" pitchFamily="34" charset="0"/>
                          <a:ea typeface="Calibri" pitchFamily="34" charset="-122"/>
                          <a:cs typeface="Calibri" pitchFamily="34" charset="-120"/>
                        </a:rPr>
                        <a:t>not measurable</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Flexure</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480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190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2.33 MPa</a:t>
                      </a:r>
                      <a:endParaRPr lang="en-US" sz="13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663440"/>
            <a:ext cx="11064240" cy="457200"/>
          </a:xfrm>
          <a:prstGeom prst="rect">
            <a:avLst/>
          </a:prstGeom>
          <a:noFill/>
          <a:ln/>
        </p:spPr>
        <p:txBody>
          <a:bodyPr wrap="square" lIns="0" tIns="0" rIns="0" bIns="0" rtlCol="0" anchor="ctr"/>
          <a:lstStyle/>
          <a:p>
            <a:pPr indent="0" marL="0">
              <a:buNone/>
            </a:pPr>
            <a:r>
              <a:rPr lang="en-US" sz="1200" i="1" dirty="0">
                <a:solidFill>
                  <a:schemeClr val="accent6"/>
                </a:solidFill>
              </a:rPr>
              <a:t>Three specimens were tested per formulation. Values reported are means; individual specimen values were not retained, so standard deviations are not available.</a:t>
            </a:r>
            <a:endParaRPr lang="en-US" sz="1200" dirty="0"/>
          </a:p>
        </p:txBody>
      </p:sp>
      <p:sp>
        <p:nvSpPr>
          <p:cNvPr id="5" name="read"/>
          <p:cNvSpPr/>
          <p:nvPr/>
        </p:nvSpPr>
        <p:spPr>
          <a:xfrm>
            <a:off x="548640" y="5257800"/>
            <a:ext cx="11064240" cy="685800"/>
          </a:xfrm>
          <a:prstGeom prst="roundRect">
            <a:avLst>
              <a:gd name="adj" fmla="val 8000"/>
            </a:avLst>
          </a:prstGeom>
          <a:solidFill>
            <a:schemeClr val="bg2"/>
          </a:solidFill>
          <a:ln w="12700">
            <a:solidFill>
              <a:schemeClr val="bg2"/>
            </a:solidFill>
            <a:prstDash val="solid"/>
          </a:ln>
        </p:spPr>
      </p:sp>
      <p:sp>
        <p:nvSpPr>
          <p:cNvPr id="6" name="Text 3"/>
          <p:cNvSpPr txBox="1"/>
          <p:nvPr/>
        </p:nvSpPr>
        <p:spPr>
          <a:xfrm>
            <a:off x="868680" y="5257800"/>
            <a:ext cx="10424160" cy="685800"/>
          </a:xfrm>
          <a:prstGeom prst="rect">
            <a:avLst/>
          </a:prstGeom>
          <a:noFill/>
          <a:ln/>
        </p:spPr>
        <p:txBody>
          <a:bodyPr wrap="square" lIns="0" tIns="0" rIns="0" bIns="0" rtlCol="0" anchor="ctr"/>
          <a:lstStyle/>
          <a:p>
            <a:pPr indent="0" marL="0">
              <a:buNone/>
            </a:pPr>
            <a:r>
              <a:rPr lang="en-US" sz="1300" b="1" dirty="0">
                <a:solidFill>
                  <a:schemeClr val="tx2"/>
                </a:solidFill>
              </a:rPr>
              <a:t>Two relationships hold across the set:  </a:t>
            </a:r>
            <a:pPr indent="0" marL="0">
              <a:buNone/>
            </a:pPr>
            <a:r>
              <a:rPr lang="en-US" sz="1300" dirty="0">
                <a:solidFill>
                  <a:schemeClr val="accent6"/>
                </a:solidFill>
              </a:rPr>
              <a:t>less water with more mineral and agar raises load capacity; halving glycerol turns an unmeasurably ductile material into a measurable one.</a:t>
            </a:r>
            <a:endParaRPr lang="en-US" sz="1300" dirty="0"/>
          </a:p>
        </p:txBody>
      </p:sp>
      <p:sp>
        <p:nvSpPr>
          <p:cNvPr id="8"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Compression: it crushes without disintegrating</a:t>
            </a:r>
            <a:endParaRPr lang="en-US" sz="3100" dirty="0"/>
          </a:p>
        </p:txBody>
      </p:sp>
      <p:pic>
        <p:nvPicPr>
          <p:cNvPr id="3" name="cube" descr="/home/user/sanat-ve-mekan/konferans-bildirisi/03-gorseller/04-basma-ficilasmis-kup.jpeg">    </p:cNvPr>
          <p:cNvPicPr>
            <a:picLocks noChangeAspect="1"/>
          </p:cNvPicPr>
          <p:nvPr/>
        </p:nvPicPr>
        <p:blipFill>
          <a:blip r:embed="rId1"/>
          <a:stretch>
            <a:fillRect/>
          </a:stretch>
        </p:blipFill>
        <p:spPr>
          <a:xfrm>
            <a:off x="548640" y="1463040"/>
            <a:ext cx="2011680" cy="4361688"/>
          </a:xfrm>
          <a:prstGeom prst="rect">
            <a:avLst/>
          </a:prstGeom>
        </p:spPr>
      </p:pic>
      <p:pic>
        <p:nvPicPr>
          <p:cNvPr id="4" name="comp-curve" descr="/home/user/sanat-ve-mekan/konferans-bildirisi/03-gorseller/05b-basma-egrisi.png">    </p:cNvPr>
          <p:cNvPicPr>
            <a:picLocks noChangeAspect="1"/>
          </p:cNvPicPr>
          <p:nvPr/>
        </p:nvPicPr>
        <p:blipFill>
          <a:blip r:embed="rId2"/>
          <a:stretch>
            <a:fillRect/>
          </a:stretch>
        </p:blipFill>
        <p:spPr>
          <a:xfrm>
            <a:off x="3017520" y="1810512"/>
            <a:ext cx="4526280" cy="2532888"/>
          </a:xfrm>
          <a:prstGeom prst="rect">
            <a:avLst/>
          </a:prstGeom>
        </p:spPr>
      </p:pic>
      <p:sp>
        <p:nvSpPr>
          <p:cNvPr id="5" name="Text 1"/>
          <p:cNvSpPr txBox="1"/>
          <p:nvPr/>
        </p:nvSpPr>
        <p:spPr>
          <a:xfrm>
            <a:off x="3017520" y="1481328"/>
            <a:ext cx="4526280" cy="274320"/>
          </a:xfrm>
          <a:prstGeom prst="rect">
            <a:avLst/>
          </a:prstGeom>
          <a:noFill/>
          <a:ln/>
        </p:spPr>
        <p:txBody>
          <a:bodyPr wrap="square" lIns="0" tIns="0" rIns="0" bIns="0" rtlCol="0" anchor="ctr"/>
          <a:lstStyle/>
          <a:p>
            <a:pPr indent="0" marL="0">
              <a:buNone/>
            </a:pPr>
            <a:r>
              <a:rPr lang="en-US" sz="1200" b="1" dirty="0">
                <a:solidFill>
                  <a:schemeClr val="tx2"/>
                </a:solidFill>
              </a:rPr>
              <a:t>Compressive stress – strain</a:t>
            </a:r>
            <a:endParaRPr lang="en-US" sz="1200" dirty="0"/>
          </a:p>
        </p:txBody>
      </p:sp>
      <p:sp>
        <p:nvSpPr>
          <p:cNvPr id="6" name="Text 2"/>
          <p:cNvSpPr txBox="1"/>
          <p:nvPr/>
        </p:nvSpPr>
        <p:spPr>
          <a:xfrm rot="16200000">
            <a:off x="2395728" y="2651760"/>
            <a:ext cx="1188720" cy="274320"/>
          </a:xfrm>
          <a:prstGeom prst="rect">
            <a:avLst/>
          </a:prstGeom>
          <a:noFill/>
          <a:ln/>
        </p:spPr>
        <p:txBody>
          <a:bodyPr wrap="square" lIns="0" tIns="0" rIns="0" bIns="0" rtlCol="0" anchor="ctr"/>
          <a:lstStyle/>
          <a:p>
            <a:pPr indent="0" marL="0">
              <a:buNone/>
            </a:pPr>
            <a:r>
              <a:rPr lang="en-US" sz="1000" dirty="0">
                <a:solidFill>
                  <a:schemeClr val="accent6"/>
                </a:solidFill>
              </a:rPr>
              <a:t>Stress (MPa)</a:t>
            </a:r>
            <a:endParaRPr lang="en-US" sz="1000" dirty="0"/>
          </a:p>
        </p:txBody>
      </p:sp>
      <p:sp>
        <p:nvSpPr>
          <p:cNvPr id="7" name="Text 3"/>
          <p:cNvSpPr txBox="1"/>
          <p:nvPr/>
        </p:nvSpPr>
        <p:spPr>
          <a:xfrm>
            <a:off x="3017520" y="4370832"/>
            <a:ext cx="4526280" cy="274320"/>
          </a:xfrm>
          <a:prstGeom prst="rect">
            <a:avLst/>
          </a:prstGeom>
          <a:noFill/>
          <a:ln/>
        </p:spPr>
        <p:txBody>
          <a:bodyPr wrap="square" lIns="0" tIns="0" rIns="0" bIns="0" rtlCol="0" anchor="ctr"/>
          <a:lstStyle/>
          <a:p>
            <a:pPr algn="ctr" indent="0" marL="0">
              <a:buNone/>
            </a:pPr>
            <a:r>
              <a:rPr lang="en-US" sz="1000" dirty="0">
                <a:solidFill>
                  <a:schemeClr val="accent6"/>
                </a:solidFill>
              </a:rPr>
              <a:t>Strain</a:t>
            </a:r>
            <a:endParaRPr lang="en-US" sz="1000" dirty="0"/>
          </a:p>
        </p:txBody>
      </p:sp>
      <p:sp>
        <p:nvSpPr>
          <p:cNvPr id="8" name="Text 4"/>
          <p:cNvSpPr txBox="1"/>
          <p:nvPr/>
        </p:nvSpPr>
        <p:spPr>
          <a:xfrm>
            <a:off x="548640" y="5870448"/>
            <a:ext cx="2194560" cy="320040"/>
          </a:xfrm>
          <a:prstGeom prst="rect">
            <a:avLst/>
          </a:prstGeom>
          <a:noFill/>
          <a:ln/>
        </p:spPr>
        <p:txBody>
          <a:bodyPr wrap="square" lIns="0" tIns="0" rIns="0" bIns="0" rtlCol="0" anchor="ctr"/>
          <a:lstStyle/>
          <a:p>
            <a:pPr indent="0" marL="0">
              <a:buNone/>
            </a:pPr>
            <a:r>
              <a:rPr lang="en-US" sz="1000" i="1" dirty="0">
                <a:solidFill>
                  <a:schemeClr val="accent6"/>
                </a:solidFill>
              </a:rPr>
              <a:t>Barrelled specimen, still in one piece</a:t>
            </a:r>
            <a:endParaRPr lang="en-US" sz="1000" dirty="0"/>
          </a:p>
        </p:txBody>
      </p:sp>
      <p:sp>
        <p:nvSpPr>
          <p:cNvPr id="9" name="comp-stats"/>
          <p:cNvSpPr/>
          <p:nvPr/>
        </p:nvSpPr>
        <p:spPr>
          <a:xfrm>
            <a:off x="7726680" y="1463040"/>
            <a:ext cx="3886200" cy="3657600"/>
          </a:xfrm>
          <a:prstGeom prst="roundRect">
            <a:avLst>
              <a:gd name="adj" fmla="val 1500"/>
            </a:avLst>
          </a:prstGeom>
          <a:solidFill>
            <a:schemeClr val="bg2"/>
          </a:solidFill>
          <a:ln w="12700">
            <a:solidFill>
              <a:schemeClr val="bg2"/>
            </a:solidFill>
            <a:prstDash val="solid"/>
          </a:ln>
        </p:spPr>
      </p:sp>
      <p:sp>
        <p:nvSpPr>
          <p:cNvPr id="10" name="stat-mean compressive strength, C3"/>
          <p:cNvSpPr txBox="1"/>
          <p:nvPr/>
        </p:nvSpPr>
        <p:spPr>
          <a:xfrm>
            <a:off x="8046720" y="1691640"/>
            <a:ext cx="320040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4.10 MPa</a:t>
            </a:r>
            <a:endParaRPr lang="en-US" sz="4000" dirty="0"/>
          </a:p>
        </p:txBody>
      </p:sp>
      <p:sp>
        <p:nvSpPr>
          <p:cNvPr id="11" name="Text 7"/>
          <p:cNvSpPr txBox="1"/>
          <p:nvPr/>
        </p:nvSpPr>
        <p:spPr>
          <a:xfrm>
            <a:off x="8046720" y="2441448"/>
            <a:ext cx="3200400" cy="502920"/>
          </a:xfrm>
          <a:prstGeom prst="rect">
            <a:avLst/>
          </a:prstGeom>
          <a:noFill/>
          <a:ln/>
        </p:spPr>
        <p:txBody>
          <a:bodyPr wrap="square" lIns="0" tIns="0" rIns="0" bIns="0" rtlCol="0" anchor="t"/>
          <a:lstStyle/>
          <a:p>
            <a:pPr indent="0" marL="0">
              <a:buNone/>
            </a:pPr>
            <a:r>
              <a:rPr lang="en-US" sz="1200" dirty="0">
                <a:solidFill>
                  <a:schemeClr val="accent6"/>
                </a:solidFill>
              </a:rPr>
              <a:t>mean compressive strength, C3</a:t>
            </a:r>
            <a:endParaRPr lang="en-US" sz="1200" dirty="0"/>
          </a:p>
        </p:txBody>
      </p:sp>
      <p:sp>
        <p:nvSpPr>
          <p:cNvPr id="12" name="stat-maximum load at failure"/>
          <p:cNvSpPr txBox="1"/>
          <p:nvPr/>
        </p:nvSpPr>
        <p:spPr>
          <a:xfrm>
            <a:off x="8046720" y="2880360"/>
            <a:ext cx="320040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6.80 kN</a:t>
            </a:r>
            <a:endParaRPr lang="en-US" sz="4000" dirty="0"/>
          </a:p>
        </p:txBody>
      </p:sp>
      <p:sp>
        <p:nvSpPr>
          <p:cNvPr id="13" name="Text 9"/>
          <p:cNvSpPr txBox="1"/>
          <p:nvPr/>
        </p:nvSpPr>
        <p:spPr>
          <a:xfrm>
            <a:off x="8046720" y="3630168"/>
            <a:ext cx="3200400" cy="502920"/>
          </a:xfrm>
          <a:prstGeom prst="rect">
            <a:avLst/>
          </a:prstGeom>
          <a:noFill/>
          <a:ln/>
        </p:spPr>
        <p:txBody>
          <a:bodyPr wrap="square" lIns="0" tIns="0" rIns="0" bIns="0" rtlCol="0" anchor="t"/>
          <a:lstStyle/>
          <a:p>
            <a:pPr indent="0" marL="0">
              <a:buNone/>
            </a:pPr>
            <a:r>
              <a:rPr lang="en-US" sz="1200" dirty="0">
                <a:solidFill>
                  <a:schemeClr val="accent6"/>
                </a:solidFill>
              </a:rPr>
              <a:t>maximum load at failure</a:t>
            </a:r>
            <a:endParaRPr lang="en-US" sz="1200" dirty="0"/>
          </a:p>
        </p:txBody>
      </p:sp>
      <p:sp>
        <p:nvSpPr>
          <p:cNvPr id="14" name="stat-density, below brick and concrete"/>
          <p:cNvSpPr txBox="1"/>
          <p:nvPr/>
        </p:nvSpPr>
        <p:spPr>
          <a:xfrm>
            <a:off x="8046720" y="4069080"/>
            <a:ext cx="320040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~1.4 g/cm³</a:t>
            </a:r>
            <a:endParaRPr lang="en-US" sz="4000" dirty="0"/>
          </a:p>
        </p:txBody>
      </p:sp>
      <p:sp>
        <p:nvSpPr>
          <p:cNvPr id="15" name="Text 11"/>
          <p:cNvSpPr txBox="1"/>
          <p:nvPr/>
        </p:nvSpPr>
        <p:spPr>
          <a:xfrm>
            <a:off x="8046720" y="4818888"/>
            <a:ext cx="3200400" cy="502920"/>
          </a:xfrm>
          <a:prstGeom prst="rect">
            <a:avLst/>
          </a:prstGeom>
          <a:noFill/>
          <a:ln/>
        </p:spPr>
        <p:txBody>
          <a:bodyPr wrap="square" lIns="0" tIns="0" rIns="0" bIns="0" rtlCol="0" anchor="t"/>
          <a:lstStyle/>
          <a:p>
            <a:pPr indent="0" marL="0">
              <a:buNone/>
            </a:pPr>
            <a:r>
              <a:rPr lang="en-US" sz="1200" dirty="0">
                <a:solidFill>
                  <a:schemeClr val="accent6"/>
                </a:solidFill>
              </a:rPr>
              <a:t>density, below brick and concrete</a:t>
            </a:r>
            <a:endParaRPr lang="en-US" sz="1200" dirty="0"/>
          </a:p>
        </p:txBody>
      </p:sp>
      <p:sp>
        <p:nvSpPr>
          <p:cNvPr id="16" name="Text 12"/>
          <p:cNvSpPr txBox="1"/>
          <p:nvPr/>
        </p:nvSpPr>
        <p:spPr>
          <a:xfrm>
            <a:off x="3017520" y="4846320"/>
            <a:ext cx="4526280" cy="1097280"/>
          </a:xfrm>
          <a:prstGeom prst="rect">
            <a:avLst/>
          </a:prstGeom>
          <a:noFill/>
          <a:ln/>
        </p:spPr>
        <p:txBody>
          <a:bodyPr wrap="square" lIns="0" tIns="0" rIns="0" bIns="0" rtlCol="0" anchor="ctr"/>
          <a:lstStyle/>
          <a:p>
            <a:pPr indent="0" marL="0">
              <a:lnSpc>
                <a:spcPts val="1800"/>
              </a:lnSpc>
              <a:buNone/>
            </a:pPr>
            <a:r>
              <a:rPr lang="en-US" sz="1350" dirty="0">
                <a:solidFill>
                  <a:schemeClr val="tx2"/>
                </a:solidFill>
              </a:rPr>
              <a:t>Past peak load the stress does not collapse. The specimen keeps deforming while holding together, which is energy absorption rather than fracture.</a:t>
            </a:r>
            <a:endParaRPr lang="en-US" sz="1350" dirty="0"/>
          </a:p>
        </p:txBody>
      </p:sp>
      <p:sp>
        <p:nvSpPr>
          <p:cNvPr id="18"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Flexure: glycerol governs everything</a:t>
            </a:r>
            <a:endParaRPr lang="en-US" sz="3100" dirty="0"/>
          </a:p>
        </p:txBody>
      </p:sp>
      <p:pic>
        <p:nvPicPr>
          <p:cNvPr id="3" name="bend" descr="/home/user/sanat-ve-mekan/konferans-bildirisi/03-gorseller/06-egilme-buyuk-sehim.jpg">    </p:cNvPr>
          <p:cNvPicPr>
            <a:picLocks noChangeAspect="1"/>
          </p:cNvPicPr>
          <p:nvPr/>
        </p:nvPicPr>
        <p:blipFill>
          <a:blip r:embed="rId1"/>
          <a:stretch>
            <a:fillRect/>
          </a:stretch>
        </p:blipFill>
        <p:spPr>
          <a:xfrm>
            <a:off x="548640" y="1463040"/>
            <a:ext cx="1965960" cy="4370832"/>
          </a:xfrm>
          <a:prstGeom prst="rect">
            <a:avLst/>
          </a:prstGeom>
        </p:spPr>
      </p:pic>
      <p:pic>
        <p:nvPicPr>
          <p:cNvPr id="4" name="arch" descr="/home/user/sanat-ve-mekan/konferans-bildirisi/03-gorseller/08b-yivli-panel-kemer.jpg">    </p:cNvPr>
          <p:cNvPicPr>
            <a:picLocks noChangeAspect="1"/>
          </p:cNvPicPr>
          <p:nvPr/>
        </p:nvPicPr>
        <p:blipFill>
          <a:blip r:embed="rId2"/>
          <a:stretch>
            <a:fillRect/>
          </a:stretch>
        </p:blipFill>
        <p:spPr>
          <a:xfrm>
            <a:off x="2743200" y="1481328"/>
            <a:ext cx="1600200" cy="2240280"/>
          </a:xfrm>
          <a:prstGeom prst="rect">
            <a:avLst/>
          </a:prstGeom>
        </p:spPr>
      </p:pic>
      <p:sp>
        <p:nvSpPr>
          <p:cNvPr id="5" name="Text 1"/>
          <p:cNvSpPr txBox="1"/>
          <p:nvPr/>
        </p:nvSpPr>
        <p:spPr>
          <a:xfrm>
            <a:off x="2743200" y="3767328"/>
            <a:ext cx="2697480" cy="274320"/>
          </a:xfrm>
          <a:prstGeom prst="rect">
            <a:avLst/>
          </a:prstGeom>
          <a:noFill/>
          <a:ln/>
        </p:spPr>
        <p:txBody>
          <a:bodyPr wrap="square" lIns="0" tIns="0" rIns="0" bIns="0" rtlCol="0" anchor="ctr"/>
          <a:lstStyle/>
          <a:p>
            <a:pPr indent="0" marL="0">
              <a:buNone/>
            </a:pPr>
            <a:r>
              <a:rPr lang="en-US" sz="1000" i="1" dirty="0">
                <a:solidFill>
                  <a:schemeClr val="accent6"/>
                </a:solidFill>
              </a:rPr>
              <a:t>Kerfed panel arched by hand</a:t>
            </a:r>
            <a:endParaRPr lang="en-US" sz="1000" dirty="0"/>
          </a:p>
        </p:txBody>
      </p:sp>
      <p:pic>
        <p:nvPicPr>
          <p:cNvPr id="6" name="flex-curve" descr="/home/user/sanat-ve-mekan/konferans-bildirisi/03-gorseller/09b-egilme-egrisi.png">    </p:cNvPr>
          <p:cNvPicPr>
            <a:picLocks noChangeAspect="1"/>
          </p:cNvPicPr>
          <p:nvPr/>
        </p:nvPicPr>
        <p:blipFill>
          <a:blip r:embed="rId3"/>
          <a:stretch>
            <a:fillRect/>
          </a:stretch>
        </p:blipFill>
        <p:spPr>
          <a:xfrm>
            <a:off x="2743200" y="4434840"/>
            <a:ext cx="2697480" cy="1527048"/>
          </a:xfrm>
          <a:prstGeom prst="rect">
            <a:avLst/>
          </a:prstGeom>
        </p:spPr>
      </p:pic>
      <p:sp>
        <p:nvSpPr>
          <p:cNvPr id="7" name="Text 2"/>
          <p:cNvSpPr txBox="1"/>
          <p:nvPr/>
        </p:nvSpPr>
        <p:spPr>
          <a:xfrm>
            <a:off x="2743200" y="4142232"/>
            <a:ext cx="3017520" cy="256032"/>
          </a:xfrm>
          <a:prstGeom prst="rect">
            <a:avLst/>
          </a:prstGeom>
          <a:noFill/>
          <a:ln/>
        </p:spPr>
        <p:txBody>
          <a:bodyPr wrap="square" lIns="0" tIns="0" rIns="0" bIns="0" rtlCol="0" anchor="ctr"/>
          <a:lstStyle/>
          <a:p>
            <a:pPr indent="0" marL="0">
              <a:buNone/>
            </a:pPr>
            <a:r>
              <a:rPr lang="en-US" sz="1100" b="1" dirty="0">
                <a:solidFill>
                  <a:schemeClr val="tx2"/>
                </a:solidFill>
              </a:rPr>
              <a:t>Flexural stress – strain  (MPa / strain)</a:t>
            </a:r>
            <a:endParaRPr lang="en-US" sz="1100" dirty="0"/>
          </a:p>
        </p:txBody>
      </p:sp>
      <p:sp>
        <p:nvSpPr>
          <p:cNvPr id="8" name="flex-stats"/>
          <p:cNvSpPr/>
          <p:nvPr/>
        </p:nvSpPr>
        <p:spPr>
          <a:xfrm>
            <a:off x="5806440" y="1463040"/>
            <a:ext cx="5806440" cy="2331720"/>
          </a:xfrm>
          <a:prstGeom prst="roundRect">
            <a:avLst>
              <a:gd name="adj" fmla="val 2353"/>
            </a:avLst>
          </a:prstGeom>
          <a:solidFill>
            <a:schemeClr val="bg2"/>
          </a:solidFill>
          <a:ln w="12700">
            <a:solidFill>
              <a:schemeClr val="bg2"/>
            </a:solidFill>
            <a:prstDash val="solid"/>
          </a:ln>
        </p:spPr>
      </p:sp>
      <p:sp>
        <p:nvSpPr>
          <p:cNvPr id="9" name="stat-flexural strength, F2"/>
          <p:cNvSpPr txBox="1"/>
          <p:nvPr/>
        </p:nvSpPr>
        <p:spPr>
          <a:xfrm>
            <a:off x="6126480" y="1645920"/>
            <a:ext cx="246888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2.33 MPa</a:t>
            </a:r>
            <a:endParaRPr lang="en-US" sz="4000" dirty="0"/>
          </a:p>
        </p:txBody>
      </p:sp>
      <p:sp>
        <p:nvSpPr>
          <p:cNvPr id="10" name="Text 5"/>
          <p:cNvSpPr txBox="1"/>
          <p:nvPr/>
        </p:nvSpPr>
        <p:spPr>
          <a:xfrm>
            <a:off x="6126480" y="2395728"/>
            <a:ext cx="2468880" cy="502920"/>
          </a:xfrm>
          <a:prstGeom prst="rect">
            <a:avLst/>
          </a:prstGeom>
          <a:noFill/>
          <a:ln/>
        </p:spPr>
        <p:txBody>
          <a:bodyPr wrap="square" lIns="0" tIns="0" rIns="0" bIns="0" rtlCol="0" anchor="t"/>
          <a:lstStyle/>
          <a:p>
            <a:pPr indent="0" marL="0">
              <a:buNone/>
            </a:pPr>
            <a:r>
              <a:rPr lang="en-US" sz="1200" dirty="0">
                <a:solidFill>
                  <a:schemeClr val="accent6"/>
                </a:solidFill>
              </a:rPr>
              <a:t>flexural strength, F2</a:t>
            </a:r>
            <a:endParaRPr lang="en-US" sz="1200" dirty="0"/>
          </a:p>
        </p:txBody>
      </p:sp>
      <p:sp>
        <p:nvSpPr>
          <p:cNvPr id="11" name="stat-flexural modulus"/>
          <p:cNvSpPr txBox="1"/>
          <p:nvPr/>
        </p:nvSpPr>
        <p:spPr>
          <a:xfrm>
            <a:off x="8778240" y="1645920"/>
            <a:ext cx="256032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192 MPa</a:t>
            </a:r>
            <a:endParaRPr lang="en-US" sz="4000" dirty="0"/>
          </a:p>
        </p:txBody>
      </p:sp>
      <p:sp>
        <p:nvSpPr>
          <p:cNvPr id="12" name="Text 7"/>
          <p:cNvSpPr txBox="1"/>
          <p:nvPr/>
        </p:nvSpPr>
        <p:spPr>
          <a:xfrm>
            <a:off x="8778240" y="2395728"/>
            <a:ext cx="2560320" cy="502920"/>
          </a:xfrm>
          <a:prstGeom prst="rect">
            <a:avLst/>
          </a:prstGeom>
          <a:noFill/>
          <a:ln/>
        </p:spPr>
        <p:txBody>
          <a:bodyPr wrap="square" lIns="0" tIns="0" rIns="0" bIns="0" rtlCol="0" anchor="t"/>
          <a:lstStyle/>
          <a:p>
            <a:pPr indent="0" marL="0">
              <a:buNone/>
            </a:pPr>
            <a:r>
              <a:rPr lang="en-US" sz="1200" dirty="0">
                <a:solidFill>
                  <a:schemeClr val="accent6"/>
                </a:solidFill>
              </a:rPr>
              <a:t>flexural modulus</a:t>
            </a:r>
            <a:endParaRPr lang="en-US" sz="1200" dirty="0"/>
          </a:p>
        </p:txBody>
      </p:sp>
      <p:sp>
        <p:nvSpPr>
          <p:cNvPr id="13" name="Text 8"/>
          <p:cNvSpPr txBox="1"/>
          <p:nvPr/>
        </p:nvSpPr>
        <p:spPr>
          <a:xfrm>
            <a:off x="6126480" y="2880360"/>
            <a:ext cx="5212080" cy="685800"/>
          </a:xfrm>
          <a:prstGeom prst="rect">
            <a:avLst/>
          </a:prstGeom>
          <a:noFill/>
          <a:ln/>
        </p:spPr>
        <p:txBody>
          <a:bodyPr wrap="square" lIns="0" tIns="0" rIns="0" bIns="0" rtlCol="0" anchor="ctr"/>
          <a:lstStyle/>
          <a:p>
            <a:pPr indent="0" marL="0">
              <a:lnSpc>
                <a:spcPts val="1700"/>
              </a:lnSpc>
              <a:buNone/>
            </a:pPr>
            <a:r>
              <a:rPr lang="en-US" sz="1200" dirty="0">
                <a:solidFill>
                  <a:schemeClr val="accent6"/>
                </a:solidFill>
              </a:rPr>
              <a:t>At 60 g glycerol the specimen was too ductile to register a reading. At 30 g it became measurable while still flexing.</a:t>
            </a:r>
            <a:endParaRPr lang="en-US" sz="1200" dirty="0"/>
          </a:p>
        </p:txBody>
      </p:sp>
      <p:sp>
        <p:nvSpPr>
          <p:cNvPr id="14" name="kerf-note"/>
          <p:cNvSpPr/>
          <p:nvPr/>
        </p:nvSpPr>
        <p:spPr>
          <a:xfrm>
            <a:off x="5806440" y="3931920"/>
            <a:ext cx="5806440" cy="1783080"/>
          </a:xfrm>
          <a:prstGeom prst="roundRect">
            <a:avLst>
              <a:gd name="adj" fmla="val 3077"/>
            </a:avLst>
          </a:prstGeom>
          <a:solidFill>
            <a:srgbClr val="F6E8DF"/>
          </a:solidFill>
          <a:ln w="12700">
            <a:solidFill>
              <a:srgbClr val="F6E8DF"/>
            </a:solidFill>
            <a:prstDash val="solid"/>
          </a:ln>
        </p:spPr>
      </p:sp>
      <p:sp>
        <p:nvSpPr>
          <p:cNvPr id="15" name="Text 10"/>
          <p:cNvSpPr txBox="1"/>
          <p:nvPr/>
        </p:nvSpPr>
        <p:spPr>
          <a:xfrm>
            <a:off x="6126480" y="4114800"/>
            <a:ext cx="5212080" cy="292608"/>
          </a:xfrm>
          <a:prstGeom prst="rect">
            <a:avLst/>
          </a:prstGeom>
          <a:noFill/>
          <a:ln/>
        </p:spPr>
        <p:txBody>
          <a:bodyPr wrap="square" lIns="0" tIns="0" rIns="0" bIns="0" rtlCol="0" anchor="ctr"/>
          <a:lstStyle/>
          <a:p>
            <a:pPr indent="0" marL="0">
              <a:buNone/>
            </a:pPr>
            <a:r>
              <a:rPr lang="en-US" sz="1300" b="1" dirty="0">
                <a:solidFill>
                  <a:schemeClr val="accent1"/>
                </a:solidFill>
              </a:rPr>
              <a:t>A note on the cross-section</a:t>
            </a:r>
            <a:endParaRPr lang="en-US" sz="1300" dirty="0"/>
          </a:p>
        </p:txBody>
      </p:sp>
      <p:sp>
        <p:nvSpPr>
          <p:cNvPr id="16" name="Text 11"/>
          <p:cNvSpPr txBox="1"/>
          <p:nvPr/>
        </p:nvSpPr>
        <p:spPr>
          <a:xfrm>
            <a:off x="6126480" y="4462272"/>
            <a:ext cx="5212080" cy="1188720"/>
          </a:xfrm>
          <a:prstGeom prst="rect">
            <a:avLst/>
          </a:prstGeom>
          <a:noFill/>
          <a:ln/>
        </p:spPr>
        <p:txBody>
          <a:bodyPr wrap="square" lIns="0" tIns="0" rIns="0" bIns="0" rtlCol="0" anchor="ctr"/>
          <a:lstStyle/>
          <a:p>
            <a:pPr indent="0" marL="0">
              <a:lnSpc>
                <a:spcPts val="1500"/>
              </a:lnSpc>
              <a:buNone/>
            </a:pPr>
            <a:r>
              <a:rPr lang="en-US" sz="1150" dirty="0">
                <a:solidFill>
                  <a:schemeClr val="tx2"/>
                </a:solidFill>
              </a:rPr>
              <a:t>The specimen carries transverse kerfs on its tension face, visible in both photographs. ASTM D790 assumes a solid rectangular section, and the calculation here uses the full 60 × 20 mm. Part of the measured compliance is therefore geometric, not material.</a:t>
            </a:r>
            <a:endParaRPr lang="en-US" sz="1150" dirty="0"/>
          </a:p>
        </p:txBody>
      </p:sp>
      <p:sp>
        <p:nvSpPr>
          <p:cNvPr id="18"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Fire and water response</a:t>
            </a:r>
            <a:endParaRPr lang="en-US" sz="3100" dirty="0"/>
          </a:p>
        </p:txBody>
      </p:sp>
      <p:pic>
        <p:nvPicPr>
          <p:cNvPr id="3" name="flame" descr="/home/user/sanat-ve-mekan/konferans-bildirisi/03-gorseller/10-alev-testi.png">    </p:cNvPr>
          <p:cNvPicPr>
            <a:picLocks noChangeAspect="1"/>
          </p:cNvPicPr>
          <p:nvPr/>
        </p:nvPicPr>
        <p:blipFill>
          <a:blip r:embed="rId1"/>
          <a:stretch>
            <a:fillRect/>
          </a:stretch>
        </p:blipFill>
        <p:spPr>
          <a:xfrm>
            <a:off x="548640" y="1463040"/>
            <a:ext cx="2103120" cy="4553712"/>
          </a:xfrm>
          <a:prstGeom prst="rect">
            <a:avLst/>
          </a:prstGeom>
        </p:spPr>
      </p:pic>
      <p:sp>
        <p:nvSpPr>
          <p:cNvPr id="4" name="fire-card"/>
          <p:cNvSpPr/>
          <p:nvPr/>
        </p:nvSpPr>
        <p:spPr>
          <a:xfrm>
            <a:off x="3017520" y="1463040"/>
            <a:ext cx="4160520" cy="3931920"/>
          </a:xfrm>
          <a:prstGeom prst="roundRect">
            <a:avLst>
              <a:gd name="adj" fmla="val 1395"/>
            </a:avLst>
          </a:prstGeom>
          <a:solidFill>
            <a:schemeClr val="bg2"/>
          </a:solidFill>
          <a:ln w="12700">
            <a:solidFill>
              <a:schemeClr val="bg2"/>
            </a:solidFill>
            <a:prstDash val="solid"/>
          </a:ln>
        </p:spPr>
      </p:sp>
      <p:sp>
        <p:nvSpPr>
          <p:cNvPr id="5" name="Text 2"/>
          <p:cNvSpPr txBox="1"/>
          <p:nvPr/>
        </p:nvSpPr>
        <p:spPr>
          <a:xfrm>
            <a:off x="3337560" y="1691640"/>
            <a:ext cx="3566160" cy="320040"/>
          </a:xfrm>
          <a:prstGeom prst="rect">
            <a:avLst/>
          </a:prstGeom>
          <a:noFill/>
          <a:ln/>
        </p:spPr>
        <p:txBody>
          <a:bodyPr wrap="square" lIns="0" tIns="0" rIns="0" bIns="0" rtlCol="0" anchor="ctr"/>
          <a:lstStyle/>
          <a:p>
            <a:pPr indent="0" marL="0">
              <a:buNone/>
            </a:pPr>
            <a:r>
              <a:rPr lang="en-US" sz="1400" b="1" dirty="0">
                <a:solidFill>
                  <a:schemeClr val="tx2"/>
                </a:solidFill>
              </a:rPr>
              <a:t>Single-flame ignitability</a:t>
            </a:r>
            <a:endParaRPr lang="en-US" sz="1400" dirty="0"/>
          </a:p>
        </p:txBody>
      </p:sp>
      <p:sp>
        <p:nvSpPr>
          <p:cNvPr id="6" name="Text 3"/>
          <p:cNvSpPr txBox="1"/>
          <p:nvPr/>
        </p:nvSpPr>
        <p:spPr>
          <a:xfrm>
            <a:off x="3337560" y="2011680"/>
            <a:ext cx="3566160" cy="274320"/>
          </a:xfrm>
          <a:prstGeom prst="rect">
            <a:avLst/>
          </a:prstGeom>
          <a:noFill/>
          <a:ln/>
        </p:spPr>
        <p:txBody>
          <a:bodyPr wrap="square" lIns="0" tIns="0" rIns="0" bIns="0" rtlCol="0" anchor="ctr"/>
          <a:lstStyle/>
          <a:p>
            <a:pPr indent="0" marL="0">
              <a:buNone/>
            </a:pPr>
            <a:r>
              <a:rPr lang="en-US" sz="1100" i="1" dirty="0">
                <a:solidFill>
                  <a:schemeClr val="accent6"/>
                </a:solidFill>
              </a:rPr>
              <a:t>ISO 11925-1, 15 s flame at 45°</a:t>
            </a:r>
            <a:endParaRPr lang="en-US" sz="1100" dirty="0"/>
          </a:p>
        </p:txBody>
      </p:sp>
      <p:sp>
        <p:nvSpPr>
          <p:cNvPr id="7" name="stat-to ignition"/>
          <p:cNvSpPr txBox="1"/>
          <p:nvPr/>
        </p:nvSpPr>
        <p:spPr>
          <a:xfrm>
            <a:off x="3337560" y="2423160"/>
            <a:ext cx="356616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~10 s</a:t>
            </a:r>
            <a:endParaRPr lang="en-US" sz="4000" dirty="0"/>
          </a:p>
        </p:txBody>
      </p:sp>
      <p:sp>
        <p:nvSpPr>
          <p:cNvPr id="8" name="Text 5"/>
          <p:cNvSpPr txBox="1"/>
          <p:nvPr/>
        </p:nvSpPr>
        <p:spPr>
          <a:xfrm>
            <a:off x="3337560" y="3172968"/>
            <a:ext cx="3566160" cy="502920"/>
          </a:xfrm>
          <a:prstGeom prst="rect">
            <a:avLst/>
          </a:prstGeom>
          <a:noFill/>
          <a:ln/>
        </p:spPr>
        <p:txBody>
          <a:bodyPr wrap="square" lIns="0" tIns="0" rIns="0" bIns="0" rtlCol="0" anchor="t"/>
          <a:lstStyle/>
          <a:p>
            <a:pPr indent="0" marL="0">
              <a:buNone/>
            </a:pPr>
            <a:r>
              <a:rPr lang="en-US" sz="1200" dirty="0">
                <a:solidFill>
                  <a:schemeClr val="accent6"/>
                </a:solidFill>
              </a:rPr>
              <a:t>to ignition</a:t>
            </a:r>
            <a:endParaRPr lang="en-US" sz="1200" dirty="0"/>
          </a:p>
        </p:txBody>
      </p:sp>
      <p:sp>
        <p:nvSpPr>
          <p:cNvPr id="9" name="stat-to self-extinguish after flame removal"/>
          <p:cNvSpPr txBox="1"/>
          <p:nvPr/>
        </p:nvSpPr>
        <p:spPr>
          <a:xfrm>
            <a:off x="3337560" y="3520440"/>
            <a:ext cx="356616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4 s</a:t>
            </a:r>
            <a:endParaRPr lang="en-US" sz="4000" dirty="0"/>
          </a:p>
        </p:txBody>
      </p:sp>
      <p:sp>
        <p:nvSpPr>
          <p:cNvPr id="10" name="Text 7"/>
          <p:cNvSpPr txBox="1"/>
          <p:nvPr/>
        </p:nvSpPr>
        <p:spPr>
          <a:xfrm>
            <a:off x="3337560" y="4270248"/>
            <a:ext cx="3566160" cy="502920"/>
          </a:xfrm>
          <a:prstGeom prst="rect">
            <a:avLst/>
          </a:prstGeom>
          <a:noFill/>
          <a:ln/>
        </p:spPr>
        <p:txBody>
          <a:bodyPr wrap="square" lIns="0" tIns="0" rIns="0" bIns="0" rtlCol="0" anchor="t"/>
          <a:lstStyle/>
          <a:p>
            <a:pPr indent="0" marL="0">
              <a:buNone/>
            </a:pPr>
            <a:r>
              <a:rPr lang="en-US" sz="1200" dirty="0">
                <a:solidFill>
                  <a:schemeClr val="accent6"/>
                </a:solidFill>
              </a:rPr>
              <a:t>to self-extinguish after flame removal</a:t>
            </a:r>
            <a:endParaRPr lang="en-US" sz="1200" dirty="0"/>
          </a:p>
        </p:txBody>
      </p:sp>
      <p:sp>
        <p:nvSpPr>
          <p:cNvPr id="11" name="Text 8"/>
          <p:cNvSpPr txBox="1"/>
          <p:nvPr/>
        </p:nvSpPr>
        <p:spPr>
          <a:xfrm>
            <a:off x="3337560" y="4709160"/>
            <a:ext cx="3566160" cy="548640"/>
          </a:xfrm>
          <a:prstGeom prst="rect">
            <a:avLst/>
          </a:prstGeom>
          <a:noFill/>
          <a:ln/>
        </p:spPr>
        <p:txBody>
          <a:bodyPr wrap="square" lIns="0" tIns="0" rIns="0" bIns="0" rtlCol="0" anchor="ctr"/>
          <a:lstStyle/>
          <a:p>
            <a:pPr indent="0" marL="0">
              <a:lnSpc>
                <a:spcPts val="1700"/>
              </a:lnSpc>
              <a:buNone/>
            </a:pPr>
            <a:r>
              <a:rPr lang="en-US" sz="1200" dirty="0">
                <a:solidFill>
                  <a:schemeClr val="tx2"/>
                </a:solidFill>
              </a:rPr>
              <a:t>Charring stayed local. No flame spread, no melting, no dripping.</a:t>
            </a:r>
            <a:endParaRPr lang="en-US" sz="1200" dirty="0"/>
          </a:p>
        </p:txBody>
      </p:sp>
      <p:sp>
        <p:nvSpPr>
          <p:cNvPr id="12" name="water-card"/>
          <p:cNvSpPr/>
          <p:nvPr/>
        </p:nvSpPr>
        <p:spPr>
          <a:xfrm>
            <a:off x="7498080" y="1463040"/>
            <a:ext cx="4114800" cy="3931920"/>
          </a:xfrm>
          <a:prstGeom prst="roundRect">
            <a:avLst>
              <a:gd name="adj" fmla="val 1395"/>
            </a:avLst>
          </a:prstGeom>
          <a:solidFill>
            <a:schemeClr val="bg2"/>
          </a:solidFill>
          <a:ln w="12700">
            <a:solidFill>
              <a:schemeClr val="bg2"/>
            </a:solidFill>
            <a:prstDash val="solid"/>
          </a:ln>
        </p:spPr>
      </p:sp>
      <p:sp>
        <p:nvSpPr>
          <p:cNvPr id="13" name="Text 10"/>
          <p:cNvSpPr txBox="1"/>
          <p:nvPr/>
        </p:nvSpPr>
        <p:spPr>
          <a:xfrm>
            <a:off x="7818120" y="1691640"/>
            <a:ext cx="3474720" cy="320040"/>
          </a:xfrm>
          <a:prstGeom prst="rect">
            <a:avLst/>
          </a:prstGeom>
          <a:noFill/>
          <a:ln/>
        </p:spPr>
        <p:txBody>
          <a:bodyPr wrap="square" lIns="0" tIns="0" rIns="0" bIns="0" rtlCol="0" anchor="ctr"/>
          <a:lstStyle/>
          <a:p>
            <a:pPr indent="0" marL="0">
              <a:buNone/>
            </a:pPr>
            <a:r>
              <a:rPr lang="en-US" sz="1400" b="1" dirty="0">
                <a:solidFill>
                  <a:schemeClr val="tx2"/>
                </a:solidFill>
              </a:rPr>
              <a:t>Water absorption</a:t>
            </a:r>
            <a:endParaRPr lang="en-US" sz="1400" dirty="0"/>
          </a:p>
        </p:txBody>
      </p:sp>
      <p:sp>
        <p:nvSpPr>
          <p:cNvPr id="14" name="Text 11"/>
          <p:cNvSpPr txBox="1"/>
          <p:nvPr/>
        </p:nvSpPr>
        <p:spPr>
          <a:xfrm>
            <a:off x="7818120" y="2011680"/>
            <a:ext cx="3474720" cy="274320"/>
          </a:xfrm>
          <a:prstGeom prst="rect">
            <a:avLst/>
          </a:prstGeom>
          <a:noFill/>
          <a:ln/>
        </p:spPr>
        <p:txBody>
          <a:bodyPr wrap="square" lIns="0" tIns="0" rIns="0" bIns="0" rtlCol="0" anchor="ctr"/>
          <a:lstStyle/>
          <a:p>
            <a:pPr indent="0" marL="0">
              <a:buNone/>
            </a:pPr>
            <a:r>
              <a:rPr lang="en-US" sz="1100" i="1" dirty="0">
                <a:solidFill>
                  <a:schemeClr val="accent6"/>
                </a:solidFill>
              </a:rPr>
              <a:t>ASTM D570, 24 h full immersion</a:t>
            </a:r>
            <a:endParaRPr lang="en-US" sz="1100" dirty="0"/>
          </a:p>
        </p:txBody>
      </p:sp>
      <p:sp>
        <p:nvSpPr>
          <p:cNvPr id="15" name="stat-mass gain, shellac-coated"/>
          <p:cNvSpPr txBox="1"/>
          <p:nvPr/>
        </p:nvSpPr>
        <p:spPr>
          <a:xfrm>
            <a:off x="7818120" y="2423160"/>
            <a:ext cx="3474720" cy="713232"/>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0.7%</a:t>
            </a:r>
            <a:endParaRPr lang="en-US" sz="4000" dirty="0"/>
          </a:p>
        </p:txBody>
      </p:sp>
      <p:sp>
        <p:nvSpPr>
          <p:cNvPr id="16" name="Text 13"/>
          <p:cNvSpPr txBox="1"/>
          <p:nvPr/>
        </p:nvSpPr>
        <p:spPr>
          <a:xfrm>
            <a:off x="7818120" y="3172968"/>
            <a:ext cx="3474720" cy="502920"/>
          </a:xfrm>
          <a:prstGeom prst="rect">
            <a:avLst/>
          </a:prstGeom>
          <a:noFill/>
          <a:ln/>
        </p:spPr>
        <p:txBody>
          <a:bodyPr wrap="square" lIns="0" tIns="0" rIns="0" bIns="0" rtlCol="0" anchor="t"/>
          <a:lstStyle/>
          <a:p>
            <a:pPr indent="0" marL="0">
              <a:buNone/>
            </a:pPr>
            <a:r>
              <a:rPr lang="en-US" sz="1200" dirty="0">
                <a:solidFill>
                  <a:schemeClr val="accent6"/>
                </a:solidFill>
              </a:rPr>
              <a:t>mass gain, shellac-coated</a:t>
            </a:r>
            <a:endParaRPr lang="en-US" sz="1200" dirty="0"/>
          </a:p>
        </p:txBody>
      </p:sp>
      <p:sp>
        <p:nvSpPr>
          <p:cNvPr id="17" name="Text 14"/>
          <p:cNvSpPr txBox="1"/>
          <p:nvPr/>
        </p:nvSpPr>
        <p:spPr>
          <a:xfrm>
            <a:off x="7818120" y="3474720"/>
            <a:ext cx="3474720" cy="1737360"/>
          </a:xfrm>
          <a:prstGeom prst="rect">
            <a:avLst/>
          </a:prstGeom>
          <a:noFill/>
          <a:ln/>
        </p:spPr>
        <p:txBody>
          <a:bodyPr wrap="square" lIns="0" tIns="0" rIns="0" bIns="0" rtlCol="0" anchor="ctr"/>
          <a:lstStyle/>
          <a:p>
            <a:pPr indent="0" marL="0">
              <a:lnSpc>
                <a:spcPts val="1700"/>
              </a:lnSpc>
              <a:buNone/>
            </a:pPr>
            <a:r>
              <a:rPr lang="en-US" sz="1200" dirty="0">
                <a:solidFill>
                  <a:schemeClr val="tx2"/>
                </a:solidFill>
              </a:rPr>
              <a:t>Shellac is a natural, biodegradable, hydrophobic resin, applied here in three coats. Where the coating was thin, surface loss occurred. Coating integrity is the limiting factor for any humid application.</a:t>
            </a:r>
            <a:endParaRPr lang="en-US" sz="1200" dirty="0"/>
          </a:p>
        </p:txBody>
      </p:sp>
      <p:sp>
        <p:nvSpPr>
          <p:cNvPr id="19"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Judged by strength, this material is weak</a:t>
            </a:r>
            <a:endParaRPr lang="en-US" sz="3100" dirty="0"/>
          </a:p>
        </p:txBody>
      </p:sp>
      <p:graphicFrame>
        <p:nvGraphicFramePr>
          <p:cNvPr id="3" name="strength-chart" descr=""/>
          <p:cNvGraphicFramePr/>
          <p:nvPr/>
        </p:nvGraphicFramePr>
        <p:xfrm>
          <a:off x="548640" y="150876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779008"/>
            <a:ext cx="7315200" cy="320040"/>
          </a:xfrm>
          <a:prstGeom prst="rect">
            <a:avLst/>
          </a:prstGeom>
          <a:noFill/>
          <a:ln/>
        </p:spPr>
        <p:txBody>
          <a:bodyPr wrap="square" lIns="0" tIns="0" rIns="0" bIns="0" rtlCol="0" anchor="ctr"/>
          <a:lstStyle/>
          <a:p>
            <a:pPr indent="0" marL="0">
              <a:buNone/>
            </a:pPr>
            <a:r>
              <a:rPr lang="en-US" sz="1000" i="1" dirty="0">
                <a:solidFill>
                  <a:schemeClr val="accent6"/>
                </a:solidFill>
              </a:rPr>
              <a:t>Sources: Velasco &amp; Gaona 2011; Klyosov 2007; Nemli &amp; Aydın 2007; Altun 2006</a:t>
            </a:r>
            <a:endParaRPr lang="en-US" sz="1000" dirty="0"/>
          </a:p>
        </p:txBody>
      </p:sp>
      <p:sp>
        <p:nvSpPr>
          <p:cNvPr id="5" name="verdict"/>
          <p:cNvSpPr/>
          <p:nvPr/>
        </p:nvSpPr>
        <p:spPr>
          <a:xfrm>
            <a:off x="8138160" y="1508760"/>
            <a:ext cx="3474720" cy="4206240"/>
          </a:xfrm>
          <a:prstGeom prst="roundRect">
            <a:avLst>
              <a:gd name="adj" fmla="val 1579"/>
            </a:avLst>
          </a:prstGeom>
          <a:solidFill>
            <a:schemeClr val="bg2"/>
          </a:solidFill>
          <a:ln w="12700">
            <a:solidFill>
              <a:schemeClr val="bg2"/>
            </a:solidFill>
            <a:prstDash val="solid"/>
          </a:ln>
        </p:spPr>
      </p:sp>
      <p:sp>
        <p:nvSpPr>
          <p:cNvPr id="6" name="Text 3"/>
          <p:cNvSpPr txBox="1"/>
          <p:nvPr/>
        </p:nvSpPr>
        <p:spPr>
          <a:xfrm>
            <a:off x="8458200" y="1783080"/>
            <a:ext cx="2834640" cy="731520"/>
          </a:xfrm>
          <a:prstGeom prst="rect">
            <a:avLst/>
          </a:prstGeom>
          <a:noFill/>
          <a:ln/>
        </p:spPr>
        <p:txBody>
          <a:bodyPr wrap="square" lIns="0" tIns="0" rIns="0" bIns="0" rtlCol="0" anchor="ctr"/>
          <a:lstStyle/>
          <a:p>
            <a:pPr indent="0" marL="0">
              <a:lnSpc>
                <a:spcPts val="1900"/>
              </a:lnSpc>
              <a:buNone/>
            </a:pPr>
            <a:r>
              <a:rPr lang="en-US" sz="1400" b="1" dirty="0">
                <a:solidFill>
                  <a:schemeClr val="tx2"/>
                </a:solidFill>
              </a:rPr>
              <a:t>On the conventional criterion the conclusion is simple.</a:t>
            </a:r>
            <a:endParaRPr lang="en-US" sz="1400" dirty="0"/>
          </a:p>
        </p:txBody>
      </p:sp>
      <p:sp>
        <p:nvSpPr>
          <p:cNvPr id="7" name="Text 4"/>
          <p:cNvSpPr txBox="1"/>
          <p:nvPr/>
        </p:nvSpPr>
        <p:spPr>
          <a:xfrm>
            <a:off x="8458200" y="2606040"/>
            <a:ext cx="2834640" cy="1371600"/>
          </a:xfrm>
          <a:prstGeom prst="rect">
            <a:avLst/>
          </a:prstGeom>
          <a:noFill/>
          <a:ln/>
        </p:spPr>
        <p:txBody>
          <a:bodyPr wrap="square" lIns="0" tIns="0" rIns="0" bIns="0" rtlCol="0" anchor="ctr"/>
          <a:lstStyle/>
          <a:p>
            <a:pPr indent="0" marL="0">
              <a:lnSpc>
                <a:spcPts val="1800"/>
              </a:lnSpc>
              <a:buNone/>
            </a:pPr>
            <a:r>
              <a:rPr lang="en-US" sz="1250" dirty="0">
                <a:solidFill>
                  <a:schemeClr val="accent6"/>
                </a:solidFill>
              </a:rPr>
              <a:t>It is one sixth the compressive strength of MDF and one twentieth that of travertine — a stone it happens to resemble.</a:t>
            </a:r>
            <a:endParaRPr lang="en-US" sz="1250" dirty="0"/>
          </a:p>
        </p:txBody>
      </p:sp>
      <p:sp>
        <p:nvSpPr>
          <p:cNvPr id="8" name="Text 5"/>
          <p:cNvSpPr txBox="1"/>
          <p:nvPr/>
        </p:nvSpPr>
        <p:spPr>
          <a:xfrm>
            <a:off x="8458200" y="4114800"/>
            <a:ext cx="2834640" cy="1371600"/>
          </a:xfrm>
          <a:prstGeom prst="rect">
            <a:avLst/>
          </a:prstGeom>
          <a:noFill/>
          <a:ln/>
        </p:spPr>
        <p:txBody>
          <a:bodyPr wrap="square" lIns="0" tIns="0" rIns="0" bIns="0" rtlCol="0" anchor="ctr"/>
          <a:lstStyle/>
          <a:p>
            <a:pPr indent="0" marL="0">
              <a:lnSpc>
                <a:spcPts val="1800"/>
              </a:lnSpc>
              <a:buNone/>
            </a:pPr>
            <a:r>
              <a:rPr lang="en-US" sz="1250" i="1" dirty="0">
                <a:solidFill>
                  <a:schemeClr val="accent1"/>
                </a:solidFill>
              </a:rPr>
              <a:t>So we stop here, and the material is filed as not strong enough.</a:t>
            </a:r>
            <a:endParaRPr lang="en-US" sz="1250" dirty="0"/>
          </a:p>
        </p:txBody>
      </p:sp>
      <p:sp>
        <p:nvSpPr>
          <p:cNvPr id="10"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bg1"/>
                </a:solidFill>
              </a:rPr>
              <a:t>But strength is not the only thing worth measuring</a:t>
            </a:r>
            <a:endParaRPr lang="en-US" sz="3100" dirty="0"/>
          </a:p>
        </p:txBody>
      </p:sp>
      <p:sp>
        <p:nvSpPr>
          <p:cNvPr id="3" name="formula-card"/>
          <p:cNvSpPr/>
          <p:nvPr/>
        </p:nvSpPr>
        <p:spPr>
          <a:xfrm>
            <a:off x="548640" y="1463040"/>
            <a:ext cx="5120640" cy="1965960"/>
          </a:xfrm>
          <a:prstGeom prst="roundRect">
            <a:avLst>
              <a:gd name="adj" fmla="val 2791"/>
            </a:avLst>
          </a:prstGeom>
          <a:solidFill>
            <a:srgbClr val="15302A"/>
          </a:solidFill>
          <a:ln w="12700">
            <a:solidFill>
              <a:srgbClr val="2E5F4A"/>
            </a:solidFill>
            <a:prstDash val="solid"/>
          </a:ln>
        </p:spPr>
      </p:sp>
      <p:sp>
        <p:nvSpPr>
          <p:cNvPr id="4" name="Text 2"/>
          <p:cNvSpPr txBox="1"/>
          <p:nvPr/>
        </p:nvSpPr>
        <p:spPr>
          <a:xfrm>
            <a:off x="868680" y="1645920"/>
            <a:ext cx="4480560" cy="292608"/>
          </a:xfrm>
          <a:prstGeom prst="rect">
            <a:avLst/>
          </a:prstGeom>
          <a:noFill/>
          <a:ln/>
        </p:spPr>
        <p:txBody>
          <a:bodyPr wrap="square" lIns="0" tIns="0" rIns="0" bIns="0" rtlCol="0" anchor="ctr"/>
          <a:lstStyle/>
          <a:p>
            <a:pPr indent="0" marL="0">
              <a:buNone/>
            </a:pPr>
            <a:r>
              <a:rPr lang="en-US" sz="1300" b="1" dirty="0">
                <a:solidFill>
                  <a:srgbClr val="AFC4B7"/>
                </a:solidFill>
              </a:rPr>
              <a:t>Modulus of resilience</a:t>
            </a:r>
            <a:endParaRPr lang="en-US" sz="1300" dirty="0"/>
          </a:p>
        </p:txBody>
      </p:sp>
      <p:sp>
        <p:nvSpPr>
          <p:cNvPr id="5" name="Text 3"/>
          <p:cNvSpPr txBox="1"/>
          <p:nvPr/>
        </p:nvSpPr>
        <p:spPr>
          <a:xfrm>
            <a:off x="868680" y="1965960"/>
            <a:ext cx="448056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Ur  =  σf²  /  2E</a:t>
            </a:r>
            <a:endParaRPr lang="en-US" sz="2600" dirty="0"/>
          </a:p>
        </p:txBody>
      </p:sp>
      <p:sp>
        <p:nvSpPr>
          <p:cNvPr id="6" name="Text 4"/>
          <p:cNvSpPr txBox="1"/>
          <p:nvPr/>
        </p:nvSpPr>
        <p:spPr>
          <a:xfrm>
            <a:off x="868680" y="2606040"/>
            <a:ext cx="4480560" cy="640080"/>
          </a:xfrm>
          <a:prstGeom prst="rect">
            <a:avLst/>
          </a:prstGeom>
          <a:noFill/>
          <a:ln/>
        </p:spPr>
        <p:txBody>
          <a:bodyPr wrap="square" lIns="0" tIns="0" rIns="0" bIns="0" rtlCol="0" anchor="ctr"/>
          <a:lstStyle/>
          <a:p>
            <a:pPr indent="0" marL="0">
              <a:lnSpc>
                <a:spcPts val="1700"/>
              </a:lnSpc>
              <a:buNone/>
            </a:pPr>
            <a:r>
              <a:rPr lang="en-US" sz="1200" dirty="0">
                <a:solidFill>
                  <a:srgbClr val="C7D4C9"/>
                </a:solidFill>
              </a:rPr>
              <a:t>The elastic energy a material absorbs per unit volume before it takes permanent damage.</a:t>
            </a:r>
            <a:endParaRPr lang="en-US" sz="1200" dirty="0"/>
          </a:p>
        </p:txBody>
      </p:sp>
      <p:sp>
        <p:nvSpPr>
          <p:cNvPr id="7" name="Text 5"/>
          <p:cNvSpPr txBox="1"/>
          <p:nvPr/>
        </p:nvSpPr>
        <p:spPr>
          <a:xfrm>
            <a:off x="548640" y="3611880"/>
            <a:ext cx="5120640" cy="777240"/>
          </a:xfrm>
          <a:prstGeom prst="rect">
            <a:avLst/>
          </a:prstGeom>
          <a:noFill/>
          <a:ln/>
        </p:spPr>
        <p:txBody>
          <a:bodyPr wrap="square" lIns="0" tIns="0" rIns="0" bIns="0" rtlCol="0" anchor="ctr"/>
          <a:lstStyle/>
          <a:p>
            <a:pPr indent="0" marL="0">
              <a:lnSpc>
                <a:spcPts val="1900"/>
              </a:lnSpc>
              <a:buNone/>
            </a:pPr>
            <a:r>
              <a:rPr lang="en-US" sz="1400" b="1" dirty="0">
                <a:solidFill>
                  <a:srgbClr val="F0C9A8"/>
                </a:solidFill>
              </a:rPr>
              <a:t>A low stiffness raises this value. The property reported as a weakness is what produces it.</a:t>
            </a:r>
            <a:endParaRPr lang="en-US" sz="1400" dirty="0"/>
          </a:p>
        </p:txBody>
      </p:sp>
      <p:sp>
        <p:nvSpPr>
          <p:cNvPr id="8" name="Text 6"/>
          <p:cNvSpPr txBox="1"/>
          <p:nvPr/>
        </p:nvSpPr>
        <p:spPr>
          <a:xfrm>
            <a:off x="548640" y="4526280"/>
            <a:ext cx="512064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2.33²  /  (2 × 192)  =  14.1 kJ/m³</a:t>
            </a:r>
            <a:endParaRPr lang="en-US" sz="1700" dirty="0"/>
          </a:p>
        </p:txBody>
      </p:sp>
      <p:sp>
        <p:nvSpPr>
          <p:cNvPr id="9" name="Text 7"/>
          <p:cNvSpPr txBox="1"/>
          <p:nvPr/>
        </p:nvSpPr>
        <p:spPr>
          <a:xfrm>
            <a:off x="548640" y="4983480"/>
            <a:ext cx="5120640" cy="320040"/>
          </a:xfrm>
          <a:prstGeom prst="rect">
            <a:avLst/>
          </a:prstGeom>
          <a:noFill/>
          <a:ln/>
        </p:spPr>
        <p:txBody>
          <a:bodyPr wrap="square" lIns="0" tIns="0" rIns="0" bIns="0" rtlCol="0" anchor="ctr"/>
          <a:lstStyle/>
          <a:p>
            <a:pPr indent="0" marL="0">
              <a:buNone/>
            </a:pPr>
            <a:r>
              <a:rPr lang="en-US" sz="1100" i="1" dirty="0">
                <a:solidFill>
                  <a:srgbClr val="AFC4B7"/>
                </a:solidFill>
              </a:rPr>
              <a:t>for the formulation measured here</a:t>
            </a:r>
            <a:endParaRPr lang="en-US" sz="1100" dirty="0"/>
          </a:p>
        </p:txBody>
      </p:sp>
      <p:pic>
        <p:nvPicPr>
          <p:cNvPr id="10" name="cube2" descr="/home/user/sanat-ve-mekan/konferans-bildirisi/03-gorseller/04-basma-ficilasmis-kup.jpeg">    </p:cNvPr>
          <p:cNvPicPr>
            <a:picLocks noChangeAspect="1"/>
          </p:cNvPicPr>
          <p:nvPr/>
        </p:nvPicPr>
        <p:blipFill>
          <a:blip r:embed="rId1"/>
          <a:stretch>
            <a:fillRect/>
          </a:stretch>
        </p:blipFill>
        <p:spPr>
          <a:xfrm>
            <a:off x="6126480" y="1463040"/>
            <a:ext cx="1600200" cy="3465576"/>
          </a:xfrm>
          <a:prstGeom prst="rect">
            <a:avLst/>
          </a:prstGeom>
        </p:spPr>
      </p:pic>
      <p:pic>
        <p:nvPicPr>
          <p:cNvPr id="11" name="bend2" descr="/home/user/sanat-ve-mekan/konferans-bildirisi/03-gorseller/06-egilme-buyuk-sehim.jpg">    </p:cNvPr>
          <p:cNvPicPr>
            <a:picLocks noChangeAspect="1"/>
          </p:cNvPicPr>
          <p:nvPr/>
        </p:nvPicPr>
        <p:blipFill>
          <a:blip r:embed="rId2"/>
          <a:stretch>
            <a:fillRect/>
          </a:stretch>
        </p:blipFill>
        <p:spPr>
          <a:xfrm>
            <a:off x="7955280" y="1463040"/>
            <a:ext cx="1554480" cy="3456432"/>
          </a:xfrm>
          <a:prstGeom prst="rect">
            <a:avLst/>
          </a:prstGeom>
        </p:spPr>
      </p:pic>
      <p:sp>
        <p:nvSpPr>
          <p:cNvPr id="12" name="Text 8"/>
          <p:cNvSpPr txBox="1"/>
          <p:nvPr/>
        </p:nvSpPr>
        <p:spPr>
          <a:xfrm>
            <a:off x="6126480" y="5074920"/>
            <a:ext cx="3383280" cy="1005840"/>
          </a:xfrm>
          <a:prstGeom prst="rect">
            <a:avLst/>
          </a:prstGeom>
          <a:noFill/>
          <a:ln/>
        </p:spPr>
        <p:txBody>
          <a:bodyPr wrap="square" lIns="0" tIns="0" rIns="0" bIns="0" rtlCol="0" anchor="ctr"/>
          <a:lstStyle/>
          <a:p>
            <a:pPr indent="0" marL="0">
              <a:lnSpc>
                <a:spcPts val="1700"/>
              </a:lnSpc>
              <a:buNone/>
            </a:pPr>
            <a:r>
              <a:rPr lang="en-US" sz="1200" dirty="0">
                <a:solidFill>
                  <a:srgbClr val="C7D4C9"/>
                </a:solidFill>
              </a:rPr>
              <a:t>Neither specimen fractured. Both absorbed load and kept their integrity — the behaviour strength figures do not capture.</a:t>
            </a:r>
            <a:endParaRPr lang="en-US" sz="1200" dirty="0"/>
          </a:p>
        </p:txBody>
      </p:sp>
      <p:sp>
        <p:nvSpPr>
          <p:cNvPr id="13" name="ask"/>
          <p:cNvSpPr/>
          <p:nvPr/>
        </p:nvSpPr>
        <p:spPr>
          <a:xfrm>
            <a:off x="9784080" y="1463040"/>
            <a:ext cx="1828800" cy="3465576"/>
          </a:xfrm>
          <a:prstGeom prst="roundRect">
            <a:avLst>
              <a:gd name="adj" fmla="val 3000"/>
            </a:avLst>
          </a:prstGeom>
          <a:solidFill>
            <a:srgbClr val="15302A"/>
          </a:solidFill>
          <a:ln w="12700">
            <a:solidFill>
              <a:srgbClr val="2E5F4A"/>
            </a:solidFill>
            <a:prstDash val="solid"/>
          </a:ln>
        </p:spPr>
      </p:sp>
      <p:sp>
        <p:nvSpPr>
          <p:cNvPr id="14" name="Text 10"/>
          <p:cNvSpPr txBox="1"/>
          <p:nvPr/>
        </p:nvSpPr>
        <p:spPr>
          <a:xfrm>
            <a:off x="10012680" y="1691640"/>
            <a:ext cx="1417320" cy="320040"/>
          </a:xfrm>
          <a:prstGeom prst="rect">
            <a:avLst/>
          </a:prstGeom>
          <a:noFill/>
          <a:ln/>
        </p:spPr>
        <p:txBody>
          <a:bodyPr wrap="square" lIns="0" tIns="0" rIns="0" bIns="0" rtlCol="0" anchor="ctr"/>
          <a:lstStyle/>
          <a:p>
            <a:pPr indent="0" marL="0">
              <a:buNone/>
            </a:pPr>
            <a:r>
              <a:rPr lang="en-US" sz="1300" b="1" dirty="0">
                <a:solidFill>
                  <a:srgbClr val="F0C9A8"/>
                </a:solidFill>
              </a:rPr>
              <a:t>The proposal</a:t>
            </a:r>
            <a:endParaRPr lang="en-US" sz="1300" dirty="0"/>
          </a:p>
        </p:txBody>
      </p:sp>
      <p:sp>
        <p:nvSpPr>
          <p:cNvPr id="15" name="Text 11"/>
          <p:cNvSpPr txBox="1"/>
          <p:nvPr/>
        </p:nvSpPr>
        <p:spPr>
          <a:xfrm>
            <a:off x="10012680" y="2103120"/>
            <a:ext cx="1417320" cy="2651760"/>
          </a:xfrm>
          <a:prstGeom prst="rect">
            <a:avLst/>
          </a:prstGeom>
          <a:noFill/>
          <a:ln/>
        </p:spPr>
        <p:txBody>
          <a:bodyPr wrap="square" lIns="0" tIns="0" rIns="0" bIns="0" rtlCol="0" anchor="ctr"/>
          <a:lstStyle/>
          <a:p>
            <a:pPr indent="0" marL="0">
              <a:lnSpc>
                <a:spcPts val="1700"/>
              </a:lnSpc>
              <a:buNone/>
            </a:pPr>
            <a:r>
              <a:rPr lang="en-US" sz="1200" dirty="0">
                <a:solidFill>
                  <a:srgbClr val="FFFFFF"/>
                </a:solidFill>
              </a:rPr>
              <a:t>Report this value for bio-based materials. Almost no study currently does, so the comparative set does not yet exist.</a:t>
            </a:r>
            <a:endParaRPr lang="en-US" sz="1200" dirty="0"/>
          </a:p>
        </p:txBody>
      </p:sp>
      <p:sp>
        <p:nvSpPr>
          <p:cNvPr id="17"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Where a material like this belongs</a:t>
            </a:r>
            <a:endParaRPr lang="en-US" sz="3100" dirty="0"/>
          </a:p>
        </p:txBody>
      </p:sp>
      <p:pic>
        <p:nvPicPr>
          <p:cNvPr id="3" name="render" descr="/home/user/sanat-ve-mekan/konferans-bildirisi/03-gorseller/12-ic-mekan-render.jpeg">    </p:cNvPr>
          <p:cNvPicPr>
            <a:picLocks noChangeAspect="1"/>
          </p:cNvPicPr>
          <p:nvPr/>
        </p:nvPicPr>
        <p:blipFill>
          <a:blip r:embed="rId1"/>
          <a:stretch>
            <a:fillRect/>
          </a:stretch>
        </p:blipFill>
        <p:spPr>
          <a:xfrm>
            <a:off x="548640" y="1463040"/>
            <a:ext cx="5120640" cy="4197096"/>
          </a:xfrm>
          <a:prstGeom prst="rect">
            <a:avLst/>
          </a:prstGeom>
        </p:spPr>
      </p:pic>
      <p:pic>
        <p:nvPicPr>
          <p:cNvPr id="4" name="modular" descr="/home/user/sanat-ve-mekan/konferans-bildirisi/03-gorseller/11-moduler-sistem.jpeg">    </p:cNvPr>
          <p:cNvPicPr>
            <a:picLocks noChangeAspect="1"/>
          </p:cNvPicPr>
          <p:nvPr/>
        </p:nvPicPr>
        <p:blipFill>
          <a:blip r:embed="rId2"/>
          <a:stretch>
            <a:fillRect/>
          </a:stretch>
        </p:blipFill>
        <p:spPr>
          <a:xfrm>
            <a:off x="6035040" y="1463040"/>
            <a:ext cx="2514600" cy="2066544"/>
          </a:xfrm>
          <a:prstGeom prst="rect">
            <a:avLst/>
          </a:prstGeom>
        </p:spPr>
      </p:pic>
      <p:sp>
        <p:nvSpPr>
          <p:cNvPr id="5" name="Text 1"/>
          <p:cNvSpPr txBox="1"/>
          <p:nvPr/>
        </p:nvSpPr>
        <p:spPr>
          <a:xfrm>
            <a:off x="8823960" y="1481328"/>
            <a:ext cx="2788920" cy="548640"/>
          </a:xfrm>
          <a:prstGeom prst="rect">
            <a:avLst/>
          </a:prstGeom>
          <a:noFill/>
          <a:ln/>
        </p:spPr>
        <p:txBody>
          <a:bodyPr wrap="square" lIns="0" tIns="0" rIns="0" bIns="0" rtlCol="0" anchor="ctr"/>
          <a:lstStyle/>
          <a:p>
            <a:pPr indent="0" marL="0">
              <a:lnSpc>
                <a:spcPts val="1700"/>
              </a:lnSpc>
              <a:buNone/>
            </a:pPr>
            <a:r>
              <a:rPr lang="en-US" sz="1400" b="1" dirty="0">
                <a:solidFill>
                  <a:schemeClr val="tx2"/>
                </a:solidFill>
              </a:rPr>
              <a:t>Non-loadbearing surfaces</a:t>
            </a:r>
            <a:endParaRPr lang="en-US" sz="1400" dirty="0"/>
          </a:p>
        </p:txBody>
      </p:sp>
      <p:sp>
        <p:nvSpPr>
          <p:cNvPr id="6" name="Text 2"/>
          <p:cNvSpPr txBox="1"/>
          <p:nvPr/>
        </p:nvSpPr>
        <p:spPr>
          <a:xfrm>
            <a:off x="8823960" y="2029968"/>
            <a:ext cx="2788920" cy="91440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Panels, cladding and partitions, where stiffness is not the governing requirement</a:t>
            </a:r>
            <a:endParaRPr lang="en-US" sz="1150" dirty="0"/>
          </a:p>
        </p:txBody>
      </p:sp>
      <p:sp>
        <p:nvSpPr>
          <p:cNvPr id="7" name="Text 3"/>
          <p:cNvSpPr txBox="1"/>
          <p:nvPr/>
        </p:nvSpPr>
        <p:spPr>
          <a:xfrm>
            <a:off x="8823960" y="2898648"/>
            <a:ext cx="2788920" cy="548640"/>
          </a:xfrm>
          <a:prstGeom prst="rect">
            <a:avLst/>
          </a:prstGeom>
          <a:noFill/>
          <a:ln/>
        </p:spPr>
        <p:txBody>
          <a:bodyPr wrap="square" lIns="0" tIns="0" rIns="0" bIns="0" rtlCol="0" anchor="ctr"/>
          <a:lstStyle/>
          <a:p>
            <a:pPr indent="0" marL="0">
              <a:lnSpc>
                <a:spcPts val="1700"/>
              </a:lnSpc>
              <a:buNone/>
            </a:pPr>
            <a:r>
              <a:rPr lang="en-US" sz="1400" b="1" dirty="0">
                <a:solidFill>
                  <a:schemeClr val="tx2"/>
                </a:solidFill>
              </a:rPr>
              <a:t>Modular and demountable systems</a:t>
            </a:r>
            <a:endParaRPr lang="en-US" sz="1400" dirty="0"/>
          </a:p>
        </p:txBody>
      </p:sp>
      <p:sp>
        <p:nvSpPr>
          <p:cNvPr id="8" name="Text 4"/>
          <p:cNvSpPr txBox="1"/>
          <p:nvPr/>
        </p:nvSpPr>
        <p:spPr>
          <a:xfrm>
            <a:off x="8823960" y="3447288"/>
            <a:ext cx="2788920" cy="91440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Components designed to be reconfigured rather than to last unchanged</a:t>
            </a:r>
            <a:endParaRPr lang="en-US" sz="1150" dirty="0"/>
          </a:p>
        </p:txBody>
      </p:sp>
      <p:sp>
        <p:nvSpPr>
          <p:cNvPr id="9" name="Text 5"/>
          <p:cNvSpPr txBox="1"/>
          <p:nvPr/>
        </p:nvSpPr>
        <p:spPr>
          <a:xfrm>
            <a:off x="8823960" y="4315968"/>
            <a:ext cx="2788920" cy="548640"/>
          </a:xfrm>
          <a:prstGeom prst="rect">
            <a:avLst/>
          </a:prstGeom>
          <a:noFill/>
          <a:ln/>
        </p:spPr>
        <p:txBody>
          <a:bodyPr wrap="square" lIns="0" tIns="0" rIns="0" bIns="0" rtlCol="0" anchor="ctr"/>
          <a:lstStyle/>
          <a:p>
            <a:pPr indent="0" marL="0">
              <a:lnSpc>
                <a:spcPts val="1700"/>
              </a:lnSpc>
              <a:buNone/>
            </a:pPr>
            <a:r>
              <a:rPr lang="en-US" sz="1400" b="1" dirty="0">
                <a:solidFill>
                  <a:schemeClr val="tx2"/>
                </a:solidFill>
              </a:rPr>
              <a:t>Temporary and exhibition structures</a:t>
            </a:r>
            <a:endParaRPr lang="en-US" sz="1400" dirty="0"/>
          </a:p>
        </p:txBody>
      </p:sp>
      <p:sp>
        <p:nvSpPr>
          <p:cNvPr id="10" name="Text 6"/>
          <p:cNvSpPr txBox="1"/>
          <p:nvPr/>
        </p:nvSpPr>
        <p:spPr>
          <a:xfrm>
            <a:off x="8823960" y="4864608"/>
            <a:ext cx="2788920" cy="91440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Short service life, where biodegradability is an advantage, not a defect</a:t>
            </a:r>
            <a:endParaRPr lang="en-US" sz="1150" dirty="0"/>
          </a:p>
        </p:txBody>
      </p:sp>
      <p:sp>
        <p:nvSpPr>
          <p:cNvPr id="11" name="Text 7"/>
          <p:cNvSpPr txBox="1"/>
          <p:nvPr/>
        </p:nvSpPr>
        <p:spPr>
          <a:xfrm>
            <a:off x="548640" y="5779008"/>
            <a:ext cx="7955280" cy="320040"/>
          </a:xfrm>
          <a:prstGeom prst="rect">
            <a:avLst/>
          </a:prstGeom>
          <a:noFill/>
          <a:ln/>
        </p:spPr>
        <p:txBody>
          <a:bodyPr wrap="square" lIns="0" tIns="0" rIns="0" bIns="0" rtlCol="0" anchor="ctr"/>
          <a:lstStyle/>
          <a:p>
            <a:pPr indent="0" marL="0">
              <a:buNone/>
            </a:pPr>
            <a:r>
              <a:rPr lang="en-US" sz="1000" i="1" dirty="0">
                <a:solidFill>
                  <a:schemeClr val="accent6"/>
                </a:solidFill>
              </a:rPr>
              <a:t>Modular interior proposal developed from the material's measured properties, from the author's doctoral research.</a:t>
            </a:r>
            <a:endParaRPr lang="en-US" sz="1000" dirty="0"/>
          </a:p>
        </p:txBody>
      </p:sp>
      <p:sp>
        <p:nvSpPr>
          <p:cNvPr id="13"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algn="l" indent="0" marL="0">
              <a:buNone/>
            </a:pPr>
            <a:r>
              <a:rPr lang="en-US" sz="3100" b="1" dirty="0">
                <a:solidFill>
                  <a:schemeClr val="tx2"/>
                </a:solidFill>
              </a:rPr>
              <a:t>What this study does not establish</a:t>
            </a:r>
            <a:endParaRPr lang="en-US" sz="3100" dirty="0"/>
          </a:p>
        </p:txBody>
      </p:sp>
      <p:sp>
        <p:nvSpPr>
          <p:cNvPr id="3" name="lim-0"/>
          <p:cNvSpPr/>
          <p:nvPr/>
        </p:nvSpPr>
        <p:spPr>
          <a:xfrm>
            <a:off x="548640" y="1554480"/>
            <a:ext cx="5349240" cy="1298448"/>
          </a:xfrm>
          <a:prstGeom prst="roundRect">
            <a:avLst>
              <a:gd name="adj" fmla="val 4225"/>
            </a:avLst>
          </a:prstGeom>
          <a:solidFill>
            <a:schemeClr val="bg2"/>
          </a:solidFill>
          <a:ln w="12700">
            <a:solidFill>
              <a:schemeClr val="bg2"/>
            </a:solidFill>
            <a:prstDash val="solid"/>
          </a:ln>
        </p:spPr>
      </p:sp>
      <p:sp>
        <p:nvSpPr>
          <p:cNvPr id="4" name="Text 2"/>
          <p:cNvSpPr txBox="1"/>
          <p:nvPr/>
        </p:nvSpPr>
        <p:spPr>
          <a:xfrm>
            <a:off x="822960" y="1682496"/>
            <a:ext cx="4800600" cy="310896"/>
          </a:xfrm>
          <a:prstGeom prst="rect">
            <a:avLst/>
          </a:prstGeom>
          <a:noFill/>
          <a:ln/>
        </p:spPr>
        <p:txBody>
          <a:bodyPr wrap="square" lIns="0" tIns="0" rIns="0" bIns="0" rtlCol="0" anchor="ctr"/>
          <a:lstStyle/>
          <a:p>
            <a:pPr indent="0" marL="0">
              <a:buNone/>
            </a:pPr>
            <a:r>
              <a:rPr lang="en-US" sz="1350" b="1" dirty="0">
                <a:solidFill>
                  <a:schemeClr val="tx2"/>
                </a:solidFill>
              </a:rPr>
              <a:t>Three specimens, means only</a:t>
            </a:r>
            <a:endParaRPr lang="en-US" sz="1350" dirty="0"/>
          </a:p>
        </p:txBody>
      </p:sp>
      <p:sp>
        <p:nvSpPr>
          <p:cNvPr id="5" name="Text 3"/>
          <p:cNvSpPr txBox="1"/>
          <p:nvPr/>
        </p:nvSpPr>
        <p:spPr>
          <a:xfrm>
            <a:off x="822960" y="2011680"/>
            <a:ext cx="4800600" cy="71323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Individual specimen values were not retained, so no standard deviations are reported.</a:t>
            </a:r>
            <a:endParaRPr lang="en-US" sz="1150" dirty="0"/>
          </a:p>
        </p:txBody>
      </p:sp>
      <p:sp>
        <p:nvSpPr>
          <p:cNvPr id="6" name="lim-1"/>
          <p:cNvSpPr/>
          <p:nvPr/>
        </p:nvSpPr>
        <p:spPr>
          <a:xfrm>
            <a:off x="6263640" y="1554480"/>
            <a:ext cx="5349240" cy="1298448"/>
          </a:xfrm>
          <a:prstGeom prst="roundRect">
            <a:avLst>
              <a:gd name="adj" fmla="val 4225"/>
            </a:avLst>
          </a:prstGeom>
          <a:solidFill>
            <a:schemeClr val="bg2"/>
          </a:solidFill>
          <a:ln w="12700">
            <a:solidFill>
              <a:schemeClr val="bg2"/>
            </a:solidFill>
            <a:prstDash val="solid"/>
          </a:ln>
        </p:spPr>
      </p:sp>
      <p:sp>
        <p:nvSpPr>
          <p:cNvPr id="7" name="Text 5"/>
          <p:cNvSpPr txBox="1"/>
          <p:nvPr/>
        </p:nvSpPr>
        <p:spPr>
          <a:xfrm>
            <a:off x="6537960" y="1682496"/>
            <a:ext cx="4800600" cy="310896"/>
          </a:xfrm>
          <a:prstGeom prst="rect">
            <a:avLst/>
          </a:prstGeom>
          <a:noFill/>
          <a:ln/>
        </p:spPr>
        <p:txBody>
          <a:bodyPr wrap="square" lIns="0" tIns="0" rIns="0" bIns="0" rtlCol="0" anchor="ctr"/>
          <a:lstStyle/>
          <a:p>
            <a:pPr indent="0" marL="0">
              <a:buNone/>
            </a:pPr>
            <a:r>
              <a:rPr lang="en-US" sz="1350" b="1" dirty="0">
                <a:solidFill>
                  <a:schemeClr val="tx2"/>
                </a:solidFill>
              </a:rPr>
              <a:t>Shrinkage not recorded</a:t>
            </a:r>
            <a:endParaRPr lang="en-US" sz="1350" dirty="0"/>
          </a:p>
        </p:txBody>
      </p:sp>
      <p:sp>
        <p:nvSpPr>
          <p:cNvPr id="8" name="Text 6"/>
          <p:cNvSpPr txBox="1"/>
          <p:nvPr/>
        </p:nvSpPr>
        <p:spPr>
          <a:xfrm>
            <a:off x="6537960" y="2011680"/>
            <a:ext cx="4800600" cy="71323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Dimensions quoted are mould dimensions; the dried cross-section was measured at test time but not logged.</a:t>
            </a:r>
            <a:endParaRPr lang="en-US" sz="1150" dirty="0"/>
          </a:p>
        </p:txBody>
      </p:sp>
      <p:sp>
        <p:nvSpPr>
          <p:cNvPr id="9" name="lim-2"/>
          <p:cNvSpPr/>
          <p:nvPr/>
        </p:nvSpPr>
        <p:spPr>
          <a:xfrm>
            <a:off x="548640" y="3035808"/>
            <a:ext cx="5349240" cy="1298448"/>
          </a:xfrm>
          <a:prstGeom prst="roundRect">
            <a:avLst>
              <a:gd name="adj" fmla="val 4225"/>
            </a:avLst>
          </a:prstGeom>
          <a:solidFill>
            <a:schemeClr val="bg2"/>
          </a:solidFill>
          <a:ln w="12700">
            <a:solidFill>
              <a:schemeClr val="bg2"/>
            </a:solidFill>
            <a:prstDash val="solid"/>
          </a:ln>
        </p:spPr>
      </p:sp>
      <p:sp>
        <p:nvSpPr>
          <p:cNvPr id="10" name="Text 8"/>
          <p:cNvSpPr txBox="1"/>
          <p:nvPr/>
        </p:nvSpPr>
        <p:spPr>
          <a:xfrm>
            <a:off x="822960" y="3163824"/>
            <a:ext cx="4800600" cy="310896"/>
          </a:xfrm>
          <a:prstGeom prst="rect">
            <a:avLst/>
          </a:prstGeom>
          <a:noFill/>
          <a:ln/>
        </p:spPr>
        <p:txBody>
          <a:bodyPr wrap="square" lIns="0" tIns="0" rIns="0" bIns="0" rtlCol="0" anchor="ctr"/>
          <a:lstStyle/>
          <a:p>
            <a:pPr indent="0" marL="0">
              <a:buNone/>
            </a:pPr>
            <a:r>
              <a:rPr lang="en-US" sz="1350" b="1" dirty="0">
                <a:solidFill>
                  <a:schemeClr val="tx2"/>
                </a:solidFill>
              </a:rPr>
              <a:t>Kerfed section treated as solid</a:t>
            </a:r>
            <a:endParaRPr lang="en-US" sz="1350" dirty="0"/>
          </a:p>
        </p:txBody>
      </p:sp>
      <p:sp>
        <p:nvSpPr>
          <p:cNvPr id="11" name="Text 9"/>
          <p:cNvSpPr txBox="1"/>
          <p:nvPr/>
        </p:nvSpPr>
        <p:spPr>
          <a:xfrm>
            <a:off x="822960" y="3493008"/>
            <a:ext cx="4800600" cy="71323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ASTM D790 calculation assumes a full rectangular section, so some compliance is geometric.</a:t>
            </a:r>
            <a:endParaRPr lang="en-US" sz="1150" dirty="0"/>
          </a:p>
        </p:txBody>
      </p:sp>
      <p:sp>
        <p:nvSpPr>
          <p:cNvPr id="12" name="lim-3"/>
          <p:cNvSpPr/>
          <p:nvPr/>
        </p:nvSpPr>
        <p:spPr>
          <a:xfrm>
            <a:off x="6263640" y="3035808"/>
            <a:ext cx="5349240" cy="1298448"/>
          </a:xfrm>
          <a:prstGeom prst="roundRect">
            <a:avLst>
              <a:gd name="adj" fmla="val 4225"/>
            </a:avLst>
          </a:prstGeom>
          <a:solidFill>
            <a:schemeClr val="bg2"/>
          </a:solidFill>
          <a:ln w="12700">
            <a:solidFill>
              <a:schemeClr val="bg2"/>
            </a:solidFill>
            <a:prstDash val="solid"/>
          </a:ln>
        </p:spPr>
      </p:sp>
      <p:sp>
        <p:nvSpPr>
          <p:cNvPr id="13" name="Text 11"/>
          <p:cNvSpPr txBox="1"/>
          <p:nvPr/>
        </p:nvSpPr>
        <p:spPr>
          <a:xfrm>
            <a:off x="6537960" y="3163824"/>
            <a:ext cx="4800600" cy="310896"/>
          </a:xfrm>
          <a:prstGeom prst="rect">
            <a:avLst/>
          </a:prstGeom>
          <a:noFill/>
          <a:ln/>
        </p:spPr>
        <p:txBody>
          <a:bodyPr wrap="square" lIns="0" tIns="0" rIns="0" bIns="0" rtlCol="0" anchor="ctr"/>
          <a:lstStyle/>
          <a:p>
            <a:pPr indent="0" marL="0">
              <a:buNone/>
            </a:pPr>
            <a:r>
              <a:rPr lang="en-US" sz="1350" b="1" dirty="0">
                <a:solidFill>
                  <a:schemeClr val="tx2"/>
                </a:solidFill>
              </a:rPr>
              <a:t>No long-term data</a:t>
            </a:r>
            <a:endParaRPr lang="en-US" sz="1350" dirty="0"/>
          </a:p>
        </p:txBody>
      </p:sp>
      <p:sp>
        <p:nvSpPr>
          <p:cNvPr id="14" name="Text 12"/>
          <p:cNvSpPr txBox="1"/>
          <p:nvPr/>
        </p:nvSpPr>
        <p:spPr>
          <a:xfrm>
            <a:off x="6537960" y="3493008"/>
            <a:ext cx="4800600" cy="71323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Humidity cycling, temperature cycling and microbial resistance were not tested.</a:t>
            </a:r>
            <a:endParaRPr lang="en-US" sz="1150" dirty="0"/>
          </a:p>
        </p:txBody>
      </p:sp>
      <p:sp>
        <p:nvSpPr>
          <p:cNvPr id="15" name="lim-4"/>
          <p:cNvSpPr/>
          <p:nvPr/>
        </p:nvSpPr>
        <p:spPr>
          <a:xfrm>
            <a:off x="548640" y="4517136"/>
            <a:ext cx="5349240" cy="1298448"/>
          </a:xfrm>
          <a:prstGeom prst="roundRect">
            <a:avLst>
              <a:gd name="adj" fmla="val 4225"/>
            </a:avLst>
          </a:prstGeom>
          <a:solidFill>
            <a:schemeClr val="bg2"/>
          </a:solidFill>
          <a:ln w="12700">
            <a:solidFill>
              <a:schemeClr val="bg2"/>
            </a:solidFill>
            <a:prstDash val="solid"/>
          </a:ln>
        </p:spPr>
      </p:sp>
      <p:sp>
        <p:nvSpPr>
          <p:cNvPr id="16" name="Text 14"/>
          <p:cNvSpPr txBox="1"/>
          <p:nvPr/>
        </p:nvSpPr>
        <p:spPr>
          <a:xfrm>
            <a:off x="822960" y="4645152"/>
            <a:ext cx="4800600" cy="310896"/>
          </a:xfrm>
          <a:prstGeom prst="rect">
            <a:avLst/>
          </a:prstGeom>
          <a:noFill/>
          <a:ln/>
        </p:spPr>
        <p:txBody>
          <a:bodyPr wrap="square" lIns="0" tIns="0" rIns="0" bIns="0" rtlCol="0" anchor="ctr"/>
          <a:lstStyle/>
          <a:p>
            <a:pPr indent="0" marL="0">
              <a:buNone/>
            </a:pPr>
            <a:r>
              <a:rPr lang="en-US" sz="1350" b="1" dirty="0">
                <a:solidFill>
                  <a:schemeClr val="tx2"/>
                </a:solidFill>
              </a:rPr>
              <a:t>One laboratory, one operator</a:t>
            </a:r>
            <a:endParaRPr lang="en-US" sz="1350" dirty="0"/>
          </a:p>
        </p:txBody>
      </p:sp>
      <p:sp>
        <p:nvSpPr>
          <p:cNvPr id="17" name="Text 15"/>
          <p:cNvSpPr txBox="1"/>
          <p:nvPr/>
        </p:nvSpPr>
        <p:spPr>
          <a:xfrm>
            <a:off x="822960" y="4974336"/>
            <a:ext cx="4800600" cy="71323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Stirring was manual; the process has not been reproduced elsewhere.</a:t>
            </a:r>
            <a:endParaRPr lang="en-US" sz="1150" dirty="0"/>
          </a:p>
        </p:txBody>
      </p:sp>
      <p:sp>
        <p:nvSpPr>
          <p:cNvPr id="18" name="lim-5"/>
          <p:cNvSpPr/>
          <p:nvPr/>
        </p:nvSpPr>
        <p:spPr>
          <a:xfrm>
            <a:off x="6263640" y="4517136"/>
            <a:ext cx="5349240" cy="1298448"/>
          </a:xfrm>
          <a:prstGeom prst="roundRect">
            <a:avLst>
              <a:gd name="adj" fmla="val 4225"/>
            </a:avLst>
          </a:prstGeom>
          <a:solidFill>
            <a:schemeClr val="bg2"/>
          </a:solidFill>
          <a:ln w="12700">
            <a:solidFill>
              <a:schemeClr val="bg2"/>
            </a:solidFill>
            <a:prstDash val="solid"/>
          </a:ln>
        </p:spPr>
      </p:sp>
      <p:sp>
        <p:nvSpPr>
          <p:cNvPr id="19" name="Text 17"/>
          <p:cNvSpPr txBox="1"/>
          <p:nvPr/>
        </p:nvSpPr>
        <p:spPr>
          <a:xfrm>
            <a:off x="6537960" y="4645152"/>
            <a:ext cx="4800600" cy="310896"/>
          </a:xfrm>
          <a:prstGeom prst="rect">
            <a:avLst/>
          </a:prstGeom>
          <a:noFill/>
          <a:ln/>
        </p:spPr>
        <p:txBody>
          <a:bodyPr wrap="square" lIns="0" tIns="0" rIns="0" bIns="0" rtlCol="0" anchor="ctr"/>
          <a:lstStyle/>
          <a:p>
            <a:pPr indent="0" marL="0">
              <a:buNone/>
            </a:pPr>
            <a:r>
              <a:rPr lang="en-US" sz="1350" b="1" dirty="0">
                <a:solidFill>
                  <a:schemeClr val="tx2"/>
                </a:solidFill>
              </a:rPr>
              <a:t>Prototype scale only</a:t>
            </a:r>
            <a:endParaRPr lang="en-US" sz="1350" dirty="0"/>
          </a:p>
        </p:txBody>
      </p:sp>
      <p:sp>
        <p:nvSpPr>
          <p:cNvPr id="20" name="Text 18"/>
          <p:cNvSpPr txBox="1"/>
          <p:nvPr/>
        </p:nvSpPr>
        <p:spPr>
          <a:xfrm>
            <a:off x="6537960" y="4974336"/>
            <a:ext cx="4800600" cy="71323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design proposal was never built at full scale or occupied.</a:t>
            </a:r>
            <a:endParaRPr lang="en-US" sz="1150" dirty="0"/>
          </a:p>
        </p:txBody>
      </p:sp>
      <p:sp>
        <p:nvSpPr>
          <p:cNvPr id="21" name="Text 19"/>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200" i="1" dirty="0">
                <a:solidFill>
                  <a:schemeClr val="accent1"/>
                </a:solidFill>
              </a:rPr>
              <a:t>Stating these is part of the contribution: a protocol that others are meant to repeat has to say where it is thin.</a:t>
            </a:r>
            <a:endParaRPr lang="en-US" sz="1200" dirty="0"/>
          </a:p>
        </p:txBody>
      </p:sp>
      <p:sp>
        <p:nvSpPr>
          <p:cNvPr id="23" name="Text 1"/>
          <p:cNvSpPr/>
          <p:nvPr>
            <p:ph idx="102" hasCustomPrompt="1"/>
          </p:nvPr>
        </p:nvSpPr>
        <p:spPr>
          <a:xfrm>
            <a:off x="11292840" y="6327648"/>
            <a:ext cx="36576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2880360"/>
            <a:ext cx="10515600" cy="1005840"/>
          </a:xfrm>
          <a:prstGeom prst="rect">
            <a:avLst/>
          </a:prstGeom>
          <a:noFill/>
          <a:ln/>
        </p:spPr>
        <p:txBody>
          <a:bodyPr wrap="square" rtlCol="0" anchor="ctr"/>
          <a:lstStyle/>
          <a:p>
            <a:pPr algn="l" indent="0" marL="0">
              <a:buNone/>
            </a:pPr>
            <a:r>
              <a:rPr lang="en-US" sz="3800" b="1" dirty="0">
                <a:solidFill>
                  <a:schemeClr val="bg1"/>
                </a:solidFill>
              </a:rPr>
              <a:t>Thank you</a:t>
            </a:r>
            <a:endParaRPr lang="en-US" sz="3800" dirty="0"/>
          </a:p>
        </p:txBody>
      </p:sp>
      <p:sp>
        <p:nvSpPr>
          <p:cNvPr id="3" name="Text 0"/>
          <p:cNvSpPr/>
          <p:nvPr>
            <p:ph idx="101" type="body" hasCustomPrompt="1"/>
          </p:nvPr>
        </p:nvSpPr>
        <p:spPr>
          <a:xfrm>
            <a:off x="868680" y="3931920"/>
            <a:ext cx="10515600" cy="457200"/>
          </a:xfrm>
          <a:prstGeom prst="rect">
            <a:avLst/>
          </a:prstGeom>
          <a:noFill/>
          <a:ln/>
        </p:spPr>
        <p:txBody>
          <a:bodyPr wrap="square" rtlCol="0" anchor="t"/>
          <a:lstStyle/>
          <a:p>
            <a:pPr indent="0" marL="0">
              <a:buNone/>
            </a:pPr>
            <a:r>
              <a:rPr lang="en-US" sz="1600" dirty="0">
                <a:solidFill>
                  <a:srgbClr val="AFC4B7"/>
                </a:solidFill>
              </a:rPr>
              <a:t>Questions welcome</a:t>
            </a:r>
            <a:endParaRPr lang="en-US" sz="1600" dirty="0"/>
          </a:p>
        </p:txBody>
      </p:sp>
      <p:sp>
        <p:nvSpPr>
          <p:cNvPr id="4" name="Text 2"/>
          <p:cNvSpPr txBox="1"/>
          <p:nvPr/>
        </p:nvSpPr>
        <p:spPr>
          <a:xfrm>
            <a:off x="822960" y="685800"/>
            <a:ext cx="3200400" cy="457200"/>
          </a:xfrm>
          <a:prstGeom prst="rect">
            <a:avLst/>
          </a:prstGeom>
          <a:noFill/>
          <a:ln/>
        </p:spPr>
        <p:txBody>
          <a:bodyPr wrap="square" lIns="0" tIns="0" rIns="0" bIns="0" rtlCol="0" anchor="ctr"/>
          <a:lstStyle/>
          <a:p>
            <a:pPr indent="0" marL="0">
              <a:buNone/>
            </a:pPr>
            <a:r>
              <a:rPr lang="en-US" sz="2000" b="1" dirty="0">
                <a:solidFill>
                  <a:srgbClr val="F0C9A8"/>
                </a:solidFill>
                <a:latin typeface="Cambria" pitchFamily="34" charset="0"/>
                <a:ea typeface="Cambria" pitchFamily="34" charset="-122"/>
                <a:cs typeface="Cambria" pitchFamily="34" charset="-120"/>
              </a:rPr>
              <a:t>01</a:t>
            </a:r>
            <a:endParaRPr lang="en-US" sz="2000" dirty="0"/>
          </a:p>
        </p:txBody>
      </p:sp>
      <p:sp>
        <p:nvSpPr>
          <p:cNvPr id="5" name="Text 3"/>
          <p:cNvSpPr txBox="1"/>
          <p:nvPr/>
        </p:nvSpPr>
        <p:spPr>
          <a:xfrm>
            <a:off x="822960" y="1143000"/>
            <a:ext cx="3200400" cy="365760"/>
          </a:xfrm>
          <a:prstGeom prst="rect">
            <a:avLst/>
          </a:prstGeom>
          <a:noFill/>
          <a:ln/>
        </p:spPr>
        <p:txBody>
          <a:bodyPr wrap="square" lIns="0" tIns="0" rIns="0" bIns="0" rtlCol="0" anchor="ctr"/>
          <a:lstStyle/>
          <a:p>
            <a:pPr indent="0" marL="0">
              <a:buNone/>
            </a:pPr>
            <a:r>
              <a:rPr lang="en-US" sz="1500" b="1" dirty="0">
                <a:solidFill>
                  <a:srgbClr val="FFFFFF"/>
                </a:solidFill>
              </a:rPr>
              <a:t>A complete protocol</a:t>
            </a:r>
            <a:endParaRPr lang="en-US" sz="1500" dirty="0"/>
          </a:p>
        </p:txBody>
      </p:sp>
      <p:sp>
        <p:nvSpPr>
          <p:cNvPr id="6" name="Text 4"/>
          <p:cNvSpPr txBox="1"/>
          <p:nvPr/>
        </p:nvSpPr>
        <p:spPr>
          <a:xfrm>
            <a:off x="822960" y="1536192"/>
            <a:ext cx="3200400" cy="86868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Every parameter needed to reproduce an eggshell–agar biocomposite is reported.</a:t>
            </a:r>
            <a:endParaRPr lang="en-US" sz="1200" dirty="0"/>
          </a:p>
        </p:txBody>
      </p:sp>
      <p:sp>
        <p:nvSpPr>
          <p:cNvPr id="7" name="Text 5"/>
          <p:cNvSpPr txBox="1"/>
          <p:nvPr/>
        </p:nvSpPr>
        <p:spPr>
          <a:xfrm>
            <a:off x="4434840" y="685800"/>
            <a:ext cx="3200400" cy="457200"/>
          </a:xfrm>
          <a:prstGeom prst="rect">
            <a:avLst/>
          </a:prstGeom>
          <a:noFill/>
          <a:ln/>
        </p:spPr>
        <p:txBody>
          <a:bodyPr wrap="square" lIns="0" tIns="0" rIns="0" bIns="0" rtlCol="0" anchor="ctr"/>
          <a:lstStyle/>
          <a:p>
            <a:pPr indent="0" marL="0">
              <a:buNone/>
            </a:pPr>
            <a:r>
              <a:rPr lang="en-US" sz="2000" b="1" dirty="0">
                <a:solidFill>
                  <a:srgbClr val="F0C9A8"/>
                </a:solidFill>
                <a:latin typeface="Cambria" pitchFamily="34" charset="0"/>
                <a:ea typeface="Cambria" pitchFamily="34" charset="-122"/>
                <a:cs typeface="Cambria" pitchFamily="34" charset="-120"/>
              </a:rPr>
              <a:t>02</a:t>
            </a:r>
            <a:endParaRPr lang="en-US" sz="2000" dirty="0"/>
          </a:p>
        </p:txBody>
      </p:sp>
      <p:sp>
        <p:nvSpPr>
          <p:cNvPr id="8" name="Text 6"/>
          <p:cNvSpPr txBox="1"/>
          <p:nvPr/>
        </p:nvSpPr>
        <p:spPr>
          <a:xfrm>
            <a:off x="4434840" y="1143000"/>
            <a:ext cx="3200400" cy="365760"/>
          </a:xfrm>
          <a:prstGeom prst="rect">
            <a:avLst/>
          </a:prstGeom>
          <a:noFill/>
          <a:ln/>
        </p:spPr>
        <p:txBody>
          <a:bodyPr wrap="square" lIns="0" tIns="0" rIns="0" bIns="0" rtlCol="0" anchor="ctr"/>
          <a:lstStyle/>
          <a:p>
            <a:pPr indent="0" marL="0">
              <a:buNone/>
            </a:pPr>
            <a:r>
              <a:rPr lang="en-US" sz="1500" b="1" dirty="0">
                <a:solidFill>
                  <a:srgbClr val="FFFFFF"/>
                </a:solidFill>
              </a:rPr>
              <a:t>Measured, with limits stated</a:t>
            </a:r>
            <a:endParaRPr lang="en-US" sz="1500" dirty="0"/>
          </a:p>
        </p:txBody>
      </p:sp>
      <p:sp>
        <p:nvSpPr>
          <p:cNvPr id="9" name="Text 7"/>
          <p:cNvSpPr txBox="1"/>
          <p:nvPr/>
        </p:nvSpPr>
        <p:spPr>
          <a:xfrm>
            <a:off x="4434840" y="1536192"/>
            <a:ext cx="3200400" cy="86868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4.10 MPa compressive, 2.33 MPa flexural, self-extinguishing, 0.7% water uptake.</a:t>
            </a:r>
            <a:endParaRPr lang="en-US" sz="1200" dirty="0"/>
          </a:p>
        </p:txBody>
      </p:sp>
      <p:sp>
        <p:nvSpPr>
          <p:cNvPr id="10" name="Text 8"/>
          <p:cNvSpPr txBox="1"/>
          <p:nvPr/>
        </p:nvSpPr>
        <p:spPr>
          <a:xfrm>
            <a:off x="8046720" y="685800"/>
            <a:ext cx="3200400" cy="457200"/>
          </a:xfrm>
          <a:prstGeom prst="rect">
            <a:avLst/>
          </a:prstGeom>
          <a:noFill/>
          <a:ln/>
        </p:spPr>
        <p:txBody>
          <a:bodyPr wrap="square" lIns="0" tIns="0" rIns="0" bIns="0" rtlCol="0" anchor="ctr"/>
          <a:lstStyle/>
          <a:p>
            <a:pPr indent="0" marL="0">
              <a:buNone/>
            </a:pPr>
            <a:r>
              <a:rPr lang="en-US" sz="2000" b="1" dirty="0">
                <a:solidFill>
                  <a:srgbClr val="F0C9A8"/>
                </a:solidFill>
                <a:latin typeface="Cambria" pitchFamily="34" charset="0"/>
                <a:ea typeface="Cambria" pitchFamily="34" charset="-122"/>
                <a:cs typeface="Cambria" pitchFamily="34" charset="-120"/>
              </a:rPr>
              <a:t>03</a:t>
            </a:r>
            <a:endParaRPr lang="en-US" sz="2000" dirty="0"/>
          </a:p>
        </p:txBody>
      </p:sp>
      <p:sp>
        <p:nvSpPr>
          <p:cNvPr id="11" name="Text 9"/>
          <p:cNvSpPr txBox="1"/>
          <p:nvPr/>
        </p:nvSpPr>
        <p:spPr>
          <a:xfrm>
            <a:off x="8046720" y="1143000"/>
            <a:ext cx="3200400" cy="365760"/>
          </a:xfrm>
          <a:prstGeom prst="rect">
            <a:avLst/>
          </a:prstGeom>
          <a:noFill/>
          <a:ln/>
        </p:spPr>
        <p:txBody>
          <a:bodyPr wrap="square" lIns="0" tIns="0" rIns="0" bIns="0" rtlCol="0" anchor="ctr"/>
          <a:lstStyle/>
          <a:p>
            <a:pPr indent="0" marL="0">
              <a:buNone/>
            </a:pPr>
            <a:r>
              <a:rPr lang="en-US" sz="1500" b="1" dirty="0">
                <a:solidFill>
                  <a:srgbClr val="FFFFFF"/>
                </a:solidFill>
              </a:rPr>
              <a:t>A criterion worth changing</a:t>
            </a:r>
            <a:endParaRPr lang="en-US" sz="1500" dirty="0"/>
          </a:p>
        </p:txBody>
      </p:sp>
      <p:sp>
        <p:nvSpPr>
          <p:cNvPr id="12" name="Text 10"/>
          <p:cNvSpPr txBox="1"/>
          <p:nvPr/>
        </p:nvSpPr>
        <p:spPr>
          <a:xfrm>
            <a:off x="8046720" y="1536192"/>
            <a:ext cx="3200400" cy="86868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Deformation capacity, not strength alone, is what makes this class of material useful.</a:t>
            </a:r>
            <a:endParaRPr lang="en-US" sz="1200" dirty="0"/>
          </a:p>
        </p:txBody>
      </p:sp>
      <p:sp>
        <p:nvSpPr>
          <p:cNvPr id="13" name="Text 11"/>
          <p:cNvSpPr txBox="1"/>
          <p:nvPr/>
        </p:nvSpPr>
        <p:spPr>
          <a:xfrm>
            <a:off x="822960" y="4709160"/>
            <a:ext cx="10515600" cy="320040"/>
          </a:xfrm>
          <a:prstGeom prst="rect">
            <a:avLst/>
          </a:prstGeom>
          <a:noFill/>
          <a:ln/>
        </p:spPr>
        <p:txBody>
          <a:bodyPr wrap="square" lIns="0" tIns="0" rIns="0" bIns="0" rtlCol="0" anchor="ctr"/>
          <a:lstStyle/>
          <a:p>
            <a:pPr indent="0" marL="0">
              <a:buNone/>
            </a:pPr>
            <a:r>
              <a:rPr lang="en-US" sz="1400" b="1" dirty="0">
                <a:solidFill>
                  <a:srgbClr val="FFFFFF"/>
                </a:solidFill>
              </a:rPr>
              <a:t>Betül Ünal  ·  Cappadocia University  ·  b.unal91@gmail.com</a:t>
            </a:r>
            <a:endParaRPr lang="en-US" sz="1400" dirty="0"/>
          </a:p>
        </p:txBody>
      </p:sp>
      <p:sp>
        <p:nvSpPr>
          <p:cNvPr id="14" name="Text 12"/>
          <p:cNvSpPr txBox="1"/>
          <p:nvPr/>
        </p:nvSpPr>
        <p:spPr>
          <a:xfrm>
            <a:off x="822960" y="5120640"/>
            <a:ext cx="10515600" cy="731520"/>
          </a:xfrm>
          <a:prstGeom prst="rect">
            <a:avLst/>
          </a:prstGeom>
          <a:noFill/>
          <a:ln/>
        </p:spPr>
        <p:txBody>
          <a:bodyPr wrap="square" lIns="0" tIns="0" rIns="0" bIns="0" rtlCol="0" anchor="ctr"/>
          <a:lstStyle/>
          <a:p>
            <a:pPr indent="0" marL="0">
              <a:lnSpc>
                <a:spcPts val="1500"/>
              </a:lnSpc>
              <a:buNone/>
            </a:pPr>
            <a:r>
              <a:rPr lang="en-US" sz="1100" i="1" dirty="0">
                <a:solidFill>
                  <a:srgbClr val="AFC4B7"/>
                </a:solidFill>
              </a:rPr>
              <a:t>With thanks to the Advanced Construction Materials Research Laboratory, Hacettepe University, and to Dr Hüseyin İlcan. Derived from the author's doctoral dissertation, Hacettepe University, 2025.</a:t>
            </a:r>
            <a:endParaRPr lang="en-US" sz="1100" dirty="0"/>
          </a:p>
        </p:txBody>
      </p:sp>
    </p:spTree>
  </p:cSld>
  <p:clrMapOvr>
    <a:masterClrMapping/>
  </p:clrMapOvr>
</p:sld>
</file>

<file path=ppt/theme/theme1.xml><?xml version="1.0" encoding="utf-8"?>
<a:theme xmlns:a="http://schemas.openxmlformats.org/drawingml/2006/main" name="Eggshell Biocomposite">
  <a:themeElements>
    <a:clrScheme name="Eggshell Biocomposite">
      <a:dk1>
        <a:srgbClr val="1A1A18"/>
      </a:dk1>
      <a:lt1>
        <a:srgbClr val="FFFFFF"/>
      </a:lt1>
      <a:dk2>
        <a:srgbClr val="1B3B2F"/>
      </a:dk2>
      <a:lt2>
        <a:srgbClr val="EFE9DC"/>
      </a:lt2>
      <a:accent1>
        <a:srgbClr val="C9622F"/>
      </a:accent1>
      <a:accent2>
        <a:srgbClr val="5E8C6A"/>
      </a:accent2>
      <a:accent3>
        <a:srgbClr val="8C7B5E"/>
      </a:accent3>
      <a:accent4>
        <a:srgbClr val="2E5F4A"/>
      </a:accent4>
      <a:accent5>
        <a:srgbClr val="B8A98C"/>
      </a:accent5>
      <a:accent6>
        <a:srgbClr val="6E6B64"/>
      </a:accent6>
      <a:hlink>
        <a:srgbClr val="C9622F"/>
      </a:hlink>
      <a:folHlink>
        <a:srgbClr val="8C7B5E"/>
      </a:folHlink>
    </a:clrScheme>
    <a:fontScheme name="Eggshell Biocomposi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Betul Unal</cp:lastModifiedBy>
  <cp:revision>1</cp:revision>
  <dcterms:created xsi:type="dcterms:W3CDTF">2026-10-16T09:42:20Z</dcterms:created>
  <dcterms:modified xsi:type="dcterms:W3CDTF">2026-10-16T09:42:20Z</dcterms:modified>
</cp:coreProperties>
</file>