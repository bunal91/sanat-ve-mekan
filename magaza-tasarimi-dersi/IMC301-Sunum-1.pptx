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138988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Anahtarını Okumak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77824" y="20665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Müşteri Deneyimini Haritalamak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0" y="3931920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384505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40965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25596" y="384505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40965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KULLANICI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50508" y="384505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82512" y="40965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DENEYİM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83980" y="384505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15984" y="40965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Mimari Proje III  ·  Birinci ders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Markadan mekâna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38528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185166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0848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kimliği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5915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Markayı araştırmak ve kimliğini çözümlemek.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25596" y="185166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20848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35915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Kullanıcının ihtiyaç, değer ve davranışlarını anlamak.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50508" y="185166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0848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Deneyim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82512" y="235915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Etkileşim, duyular, teknoloji ve müşteri yolculuğunu tasarlamak.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83980" y="185166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33688" y="1956816"/>
            <a:ext cx="2551176" cy="1042416"/>
          </a:xfrm>
          <a:prstGeom prst="rect">
            <a:avLst/>
          </a:prstGeom>
          <a:solidFill>
            <a:srgbClr val="9E6048"/>
          </a:solidFill>
          <a:ln w="6350">
            <a:solidFill>
              <a:srgbClr val="9E604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61704" y="20848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061704" y="2359152"/>
            <a:ext cx="2276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DD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Kimliği atmosfer, malzeme, ışık ve mekânsal kurguya çevirmek.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70848" y="1856232"/>
            <a:ext cx="0" cy="201168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52560" y="36758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İşlevler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134856" y="4005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 ve sergileme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34856" y="42291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 ve eşik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134856" y="4453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dolaşım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134856" y="46771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deneyim alanı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134856" y="4901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 ve tanıtım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51252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satış ve kasa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5349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depolama ve stok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134856" y="55732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personel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" y="53583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kapsamı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77824" y="5687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77824" y="59115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kimlik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61356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77824" y="63596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ışık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2889504" y="5687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renk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2889504" y="59115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2889504" y="61356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mobilya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889504" y="63596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duyusal nitelikler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Markadan mekâna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tasarımın gerekçelendirilebilir olması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2139696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analizi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560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Markanın misyonunu, değerlerini, ürünlerini ve kimliğini araştırmak.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37660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69664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odağı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169664" y="2560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profilini ihtiyaç, değer ve davranışlarıyla anlamak.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11212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43216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Deneyim ve duyular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43216" y="2560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Mekânı görme, dokunma, işitme, koku ve hareket üzerinden düşünmek.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0" y="4224528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4108" y="413766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3708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Teknoloji entegrasyonu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64515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Fiziksel ve dijital temasları deneyimi destekleyecek biçimde kurmak.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37660" y="413766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69664" y="43708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Mekânsal kimlik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169664" y="464515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Kimliği atmosfer, malzeme, ışık, renk, doku ve kurguya çevirmek.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11212" y="413766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43216" y="43708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Uygulanabilirlik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464515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Ergonomi, operasyon, depolama, dolaşım ve detay kararlarını gözetmek.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DNA’sı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Markanın kimliğini çözümlemek ve onu mekânsal bir dile çevirmek.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77824" y="1609344"/>
            <a:ext cx="10241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bir vaadin tutarlı biçimde tekrarlanmasıdır.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Markanın bağlamı — dışarıdan gelen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2798064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271119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6112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Rekabet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1868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Başka hangi seçenekler var?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7116" y="271119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89120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kullanıcı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321868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Kime sesleniyor?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50124" y="271119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82128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Amaçlar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882128" y="321868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Neyi başarmak istiyor?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" y="39319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Markanın ifadesi — kendi kurduğu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4352544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4108" y="426567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44988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Misyon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773168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olma nedeni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19756" y="426567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44988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4773168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Neye inanıyor?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75404" y="426567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07408" y="44988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Faydalar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407408" y="4773168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İşlevsel ve duygusal olarak ne sunuyor?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31052" y="426567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63056" y="44988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Kişilik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163056" y="4773168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insan olsaydı nasıl biri olurdu?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886700" y="426567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918704" y="44988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dil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918704" y="4773168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Renk · biçim · malzeme · görüntü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642348" y="426567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74352" y="449884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İletişim tonu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9674352" y="4773168"/>
            <a:ext cx="1627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konuşuyor?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77824" y="63093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Sunar Bükülmez, Girginkaya Akdağ ve Ekin (2025), Marka Anahtarı Analizi aracı (I-AM İstanbul).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kimliği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Araştırmanın amacı aynı anlamı farklı kanıtlarda görebilmek.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2139696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sitesi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560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Misyon · ürün dili · değerler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37660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69664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medya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169664" y="2560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dil · iletişim · kullanıcı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11212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43216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43216" y="2560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 · biçim · fiyat · kullanım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4108" y="397306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206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yorumları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480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Beklenti · memnuniyet · sorunlar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37660" y="397306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69664" y="4206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Rakipler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169664" y="4480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Farklılaşma · konum · fırsat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11212" y="397306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60920" y="4078224"/>
            <a:ext cx="3108960" cy="914400"/>
          </a:xfrm>
          <a:prstGeom prst="rect">
            <a:avLst/>
          </a:prstGeom>
          <a:solidFill>
            <a:srgbClr val="9E6048"/>
          </a:solidFill>
          <a:ln w="6350">
            <a:solidFill>
              <a:srgbClr val="9E604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88936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88936" y="44805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DD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davranış · temas · bağlam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" y="63093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Sunar Bükülmez vd. (2025), marka analizi ve kullanıcı profili bölümleri.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profili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Davranışı okunabilen kullanıcı, mekânsal karar üretir.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2139696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560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 · yaşam biçimi · sosyo-ekonomik bağlam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37660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69664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Neye değer veriyor?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169664" y="2560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Değerler · öncelikler · inançlar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11212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43216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Neye ihtiyacı var?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43216" y="2560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İşlevsel ve duygusal ihtiyaçlar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4108" y="397306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" y="4078224"/>
            <a:ext cx="3108960" cy="914400"/>
          </a:xfrm>
          <a:prstGeom prst="rect">
            <a:avLst/>
          </a:prstGeom>
          <a:solidFill>
            <a:srgbClr val="9E6048"/>
          </a:solidFill>
          <a:ln w="6350">
            <a:solidFill>
              <a:srgbClr val="9E604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davranıyor?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41832" y="44805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DD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Arıyor · karşılaştırıyor · seçiyor · bekliyor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37660" y="397306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69664" y="4206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hissediyor?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169664" y="4480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Merak · güven · huzursuzluk · aidiyet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11212" y="397306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43216" y="4206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bekliyor?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43216" y="4480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· keşif · kişisellik · kolaylık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" y="63093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Sunar Bükülmez vd. (2025), kullanıcı profili ve persona yaklaşımı.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Anahtar kelime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Markanın analizini tasarım kararına bağlar.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2139696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Kaynaklar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560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Markanın kendi ürettiği her şey: metinler, ambalaj, sosyal medya dili, müşteri yorumları, görüşme, rakiplerin dili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25596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kelime havuzu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560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Otuz–elli kelime. Sıfat, fiil ve nesne adı; hepsini yaz, hiçbirini eleme, tekrar edenleri işaretle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0508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Gruplama ve eleme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82512" y="2560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 anlamlıları birleştir, kümele; markaya özgü olmayanları at: kaliteli, modern, özel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83980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33688" y="2157984"/>
            <a:ext cx="2551176" cy="1188720"/>
          </a:xfrm>
          <a:prstGeom prst="rect">
            <a:avLst/>
          </a:prstGeom>
          <a:solidFill>
            <a:srgbClr val="9E6048"/>
          </a:solidFill>
          <a:ln w="6350">
            <a:solidFill>
              <a:srgbClr val="9E604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61704" y="2286000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anahtar kelime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061704" y="2560320"/>
            <a:ext cx="2276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DD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Özgül · kanıtlı · mekânda karşılığı kurulabilir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70848" y="2057400"/>
            <a:ext cx="0" cy="1984248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3840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kelimenin sınavı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134856" y="41696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markaya uyacak kadar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134856" y="4407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olmamalı.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34856" y="46451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34856" y="48828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Araştırmada karşılığı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5120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bulunmalı.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53583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134856" y="5596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Mekânda somut bir karşılığı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134856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kurulabilmeli.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Anahtar kelime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vaka: yerel bir seramik markası — el yapımı seramik ev ve sofra ürünleri.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2011680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92481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1579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özelliği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43230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araştırmada bulunan somut olgu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25596" y="192481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21579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Anahtar kelime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43230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olgunun tek sıfata indirgenmesi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0508" y="192481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21579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Mekânsal ilke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82512" y="243230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sayısız çözüme açık genel kural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83980" y="192481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15984" y="21579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öğesi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015984" y="243230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çizilebilir, ölçülebilir karar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" y="33101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Markanın profili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7124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varız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346704" y="3712464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Gündelik yaşama üretim ve malzeme duygusu katmak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" y="41696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İdeal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3346704" y="4169664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Atölyesini müşteriye açabilen, öğreten bir dükkân olmak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" y="46268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Değerler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3346704" y="4626864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Yerellik · zanaat · doğaya saygı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50840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Kişilik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3346704" y="5084064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Özenli · açık sözlü · malzemeye yakın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7824" y="55412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Pazar konumu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3346704" y="5541264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 üretim ev ürünleri değil; imzalı zanaat parçaları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" y="59984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profili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3346704" y="5998464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Kentin yoğunluğu içinde yavaş ve anlamlı seçim yapmak isteyen, ürünü eline almadan karar vermeyen kullanıcı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markadan çıkan beş kelime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vaka: yerel bir seramik markası — el yapımı seramik ev ve sofra ürünleri.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4128" y="1938528"/>
            <a:ext cx="0" cy="384048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7260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7260" y="289407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7260" y="3735324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7260" y="457657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7260" y="541782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08176" y="192024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8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CESUR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408176" y="23225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karakterli · görünür · güçlü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08176" y="276148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8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31638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malzemeye yakın · sıcak · yalın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08176" y="360273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8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SÜRDÜRÜLEBİLİR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1408176" y="4005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ömürlü · az atık · esnek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444398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8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TEKİLLİK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846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ürün tek · elde üretilmiş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528523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spc="8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GÖRÜNÜRLÜK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408176" y="56875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 gizlenmiyor · süreç sahnede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13969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 markanın analizinden çıkar.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2523744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Mekânsal ilke o kelimenin kuralıdır; tasarım öğesi ise o kuralın çizilebilir hâlidir. Üç kelime seçilecek, hepsi mekânda karşılık bulacak.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Kelimeden tasarım öğesine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vaka: yerel bir seramik markası — el yapımı seramik ev ve sofra ürünleri.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9202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Mekânsal ilke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06640" y="19202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öğesi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24128" y="2231136"/>
            <a:ext cx="0" cy="3621024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7260" y="234543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7260" y="313182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7260" y="3918204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260" y="470458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" y="549097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89888" y="22311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pc="4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25237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karakterli · görünür · güçlü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28600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vurgu ve hiyerarşi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2267712"/>
            <a:ext cx="4078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Koyu vurgu duvarı · ölçek atlayan tek büyük parça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389888" y="30175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pc="4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3310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malzemeye yakın · sıcak · yalın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7238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 ve ışık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3054096"/>
            <a:ext cx="4078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sıva ve masif ahşap · dokunulabilir açık raf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389888" y="38039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4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SÜRDÜRÜLEBİLİR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89888" y="4096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ömürlü · az atık · esnek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385876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ve işletme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3840480"/>
            <a:ext cx="4078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Sökülebilir modüler raf · vidalı (yapıştırmasız) birleşim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389888" y="459028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pc="4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TEKİLLİK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389888" y="48828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ürün tek · elde üretilmiş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663440" y="46451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yoğunluk ve aralık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4626864"/>
            <a:ext cx="4078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Tekil kaideler · nokta aydınlatma · ürünler arası geniş aralık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389888" y="53766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pc="4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GÖRÜNÜRLÜK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1389888" y="5669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 gizlenmiyor · süreç sahnede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663440" y="543153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görüş hattı ve sınır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406640" y="5413248"/>
            <a:ext cx="4078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Camlı atölye duvarı · tezgâhın vitrine bakması · açık kuruma rafı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yolculuğunun sekiz aşaması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2377440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" y="2290572"/>
            <a:ext cx="173736" cy="173736"/>
          </a:xfrm>
          <a:prstGeom prst="ellipse">
            <a:avLst/>
          </a:prstGeom>
          <a:solidFill>
            <a:srgbClr val="F6F4EF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51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237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40" kern="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FARKINDALIK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98548" y="229057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30552" y="19751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130552" y="25237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4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ÇEKİM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130552" y="2798064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cephe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ilk görsel temas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42716" y="229057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19751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5237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4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EŞİK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798064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ilk izlenim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86884" y="229057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18888" y="19751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18888" y="25237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4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YÖNLENME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18888" y="2798064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dolaşım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görüş hatları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işaretleme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31052" y="229057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63056" y="19751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163056" y="25237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4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KEŞİF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163056" y="2798064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grupları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sergileme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475220" y="229057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07224" y="19751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507224" y="25237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4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ETKİLEŞİM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07224" y="2798064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deneme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bekleme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teknoloji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819388" y="229057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51392" y="19751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851392" y="25237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40" kern="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SATIN ALMA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851392" y="2798064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kasa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ödeme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paketleme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0163556" y="2290572"/>
            <a:ext cx="173736" cy="173736"/>
          </a:xfrm>
          <a:prstGeom prst="ellipse">
            <a:avLst/>
          </a:prstGeom>
          <a:solidFill>
            <a:srgbClr val="F6F4EF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195560" y="19751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0195560" y="252374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40" kern="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AYRILIŞ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6384" y="279806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mekânın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dışında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195560" y="279806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mekânın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dışında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185416" y="3913632"/>
            <a:ext cx="6720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85416" y="3803904"/>
            <a:ext cx="0" cy="109728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06256" y="3803904"/>
            <a:ext cx="0" cy="109728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185416" y="39867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mekânda geçen altı aşama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77824" y="51389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Yolculuğun görünmeyen yüzü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877824" y="5468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depolama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7824" y="56921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personel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877824" y="5916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ergonomi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Seramik markasının müşteri yolculuğu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024128" y="1554480"/>
            <a:ext cx="0" cy="44256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" y="166878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7260" y="232714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7260" y="298551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7260" y="3643884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7260" y="430225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7260" y="496062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260" y="561898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89888" y="16002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01568" y="1627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Vitrinde tek bir parça; arkasında çalışan çark görünüyor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1636776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5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GÖRÜNÜRLÜK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225856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01568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yüzey, mat ışık ve çamurun kokusu karşılıyor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229514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5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29169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Yönlenme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401568" y="29443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görüş hattı; rota atölyeden tartıma doğru akıyor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295351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5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GÖRÜNÜRLÜK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389888" y="357530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Keşif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36027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parça kendi kaidesinde, aralarında geniş boşluk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3611880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5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TEKİLLİK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423367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3401568" y="426110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Dokunma serbest; numune ve üretim anlatısı tezgâhta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138160" y="4270248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5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TEKİLLİK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389888" y="4892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Satın alma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3401568" y="49194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Ambalajın kendisi zanaatın parçası; paketleme görünür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4928616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5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SÜRDÜRÜLEBİLİRLİK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89888" y="555040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Ayrılış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3401568" y="55778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Parçanın kim tarafından yapıldığı yazan kart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5586984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50" kern="0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TEKİLLİK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Duyular marka kimliğini nasıl taşır?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 tek bir duyudan doğmaz; duyusal etki uyaranların birlikte çalışmasından doğar.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4128" y="1847088"/>
            <a:ext cx="0" cy="4133088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7260" y="196138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7260" y="269290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7260" y="34244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7260" y="415594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7260" y="488746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260" y="561898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89888" y="187452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Görme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127248" y="191109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ışık · renk · kontrast · görüş hattı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961888" y="1901952"/>
            <a:ext cx="5522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Işığın düzeyi mekânın hızını belirler; rengi ürünün rengini değiştirir.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26060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Dokunma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127248" y="264261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 · doku · sıcaklık · ağırlık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961888" y="2633472"/>
            <a:ext cx="5522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 ürünü eline aldığında sahiplik duygusu geliştirir. İnternete karşı en güçlü duyu.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333756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İşitme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127248" y="337413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akustik · müzik · sessizlik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961888" y="3364992"/>
            <a:ext cx="5522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verilen yerlerde sesin düşmesi gerekir: kabin, danışma, ödeme.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89888" y="406908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Koklama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127248" y="41056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koku · hafıza · kaynak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961888" y="4096512"/>
            <a:ext cx="5522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Hafızaya en doğrudan bağlanan duyu. Kokunun kaynağı ürünün kendisi olmalı.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4800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3127248" y="483717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tadım · ikram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961888" y="4828032"/>
            <a:ext cx="5522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dar kullanım alanı, ama kullanıldığı yerde en güçlü etki.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89888" y="553212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3127248" y="556869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ısı · hava · kot · ritim · yoğunluk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961888" y="5559552"/>
            <a:ext cx="5522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Yoğunluk en güçlü etken: kalabalıkta insan hızlanır ve erken çıkar.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 duyu, yolculuğun hangi anında?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Duyular mekânın her yerinde aynı yoğunlukta çalışmaz; her duyunun baskın olduğu bir an vardır.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18836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ÇEKİM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8836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EŞİK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8836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YÖNELME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8836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GEZİNME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18836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ETKİLEŞİM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8836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SATIN ALMA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8836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AYRILIŞ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23774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Görme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962656" y="2450592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85616" y="2450592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08576" y="2450592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31536" y="2450592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2505456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0" y="2505456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55280" y="2505456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0" y="23957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 silüeti · teşhir kontrastı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" y="30358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017520" y="3163824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85616" y="3108960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08576" y="3108960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31536" y="3108960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3163824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32320" y="3163824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55280" y="3163824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0" y="305409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eşikte ısı · koridor genişliği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77824" y="36941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Koklama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17520" y="3822192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85616" y="3767328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3822192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0" y="3822192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54496" y="3767328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32320" y="3822192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55280" y="3822192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686800" y="371246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ilk izlenim · ürünün kendi kokusu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77824" y="43525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İşitme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017520" y="4480560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40480" y="4480560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0" y="4480560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31536" y="4425696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54496" y="4425696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077456" y="4425696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55280" y="4480560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686800" y="4370832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akustik · kabinde sessizlik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77824" y="50109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Dokunma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017520" y="5138928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840480" y="5138928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63440" y="5138928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31536" y="5084064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54496" y="5084064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132320" y="5138928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955280" y="5138928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686800" y="502920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raf · deneme · tezgâh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877824" y="566928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3017520" y="5797296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840480" y="5797296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63440" y="5797296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486400" y="5797296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254496" y="5742432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132320" y="5797296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955280" y="5797296"/>
            <a:ext cx="91440" cy="91440"/>
          </a:xfrm>
          <a:prstGeom prst="ellipse">
            <a:avLst/>
          </a:prstGeom>
          <a:solidFill>
            <a:srgbClr val="C9C2BA"/>
          </a:solidFill>
          <a:ln w="19050">
            <a:solidFill>
              <a:srgbClr val="C9C2B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686800" y="568756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tadım noktası · ikram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+ boşluk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5179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ürün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741664" y="15179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ürün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3017520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5004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293065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6112" y="3200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Mücevher · sanat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712464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 değer yüksek; boşluk doğrudan değer anlamına gelir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32404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33572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22092" y="293065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4096" y="3200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Parfüm · sofistike moda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3054096" y="3712464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seçilmiş az sayıda ürün, geniş boşluk, oturarak satış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89804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90972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92140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57216" y="2907792"/>
            <a:ext cx="219456" cy="21945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12080" y="3200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Seramik · zanaat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712464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parça tekil; kaide ve aralık gerekir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47204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48372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49540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50708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48956" y="2327148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38060" y="293065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70064" y="3200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Kitap · plak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7370064" y="3712464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tarama davranışı; orta yoğunluk, raf metrajı önemli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505188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06356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907524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08692" y="2107692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05188" y="2327148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06356" y="2327148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907524" y="2327148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08692" y="2327148"/>
            <a:ext cx="100584" cy="100584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96044" y="293065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528048" y="3200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Giyim · ayakkabı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9528048" y="3712464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beden çeşidi yoğunluk üretir; stok yakınlığı belirleyici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77824" y="51206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sayısı arttıkça boşluk azalır; boşluk azaldıkça mekânın anlattığı şey değişir.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Hangi tür ürün satan markaları seçebilirsiniz?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Ürünün türü mekândan istediği şeyi belirler. Kendi adayınız hangi gruba giriyor?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4128" y="1865376"/>
            <a:ext cx="0" cy="4041648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7260" y="197967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7260" y="269290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7260" y="3406140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7260" y="4119372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7260" y="4832604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260" y="5545836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89888" y="18836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değer, az ürün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41648" y="19019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Mücevher · saat · sanat baskısı · tekil tasarım objesi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50608" y="1901952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Kilitli ve vitrinli teşhir · nokta aydınlatma · oturarak satış · güvenlik ve sigorta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89888" y="25968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Denenen ürün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41648" y="26151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Giyim · ayakkabı · gözlük · şapka · takı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50608" y="2615184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Deneme kabini ve ayna · oturma · stok yakınlığı · ayakkabıda büyük kutu deposu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331012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Koklanan ürün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041648" y="33284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Parfüm · zeytinyağı ve baharat · sabun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50608" y="3328416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tezgâhı · havalandırma ve koku nötrleme · lavabo · dökme satış ve kapalı stok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389888" y="40233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Taranan ürün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041648" y="40416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Kitap · plak · kırtasiye ve kâğıt · tohum ve bitki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150608" y="4041648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raf metrajı · kategori işaretleme · oturma · bitkide su, ışık, nem ve drenaj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473659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 ve hacimli ürün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41648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Mobilya · halı ve kilim · ev tekstili · bisiklet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50608" y="4754880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Kurulu kullanım senaryosu · geniş rota · asma ve katman sistemi · mal kabul ve büyük depo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389888" y="54498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Üretimi görünür ürün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41648" y="54681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94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Seramik · deri ve ayakkabı atölyesi · terzi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150608" y="5468112"/>
            <a:ext cx="4334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Atölye ile satışın bir arada olması · fırın, çark, tezgâh · ısı, koku ve atık · kuruma rafı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araştırması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2139696"/>
            <a:ext cx="12191695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7373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marka bul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akım olmayan, mağaza kimliği henüz oluşmamış adaylar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22092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54096" y="17373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054096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Markayı araştır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54096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· kullanıcı · değer ve hikâye · rakipler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80076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0" y="17373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anahtar kelime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Markayı mekâna taşıyabilecek üç kelime seç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38060" y="2052828"/>
            <a:ext cx="173736" cy="17373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70064" y="17373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370064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Üründen mekâna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70064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Sergileme ve depolama · aydınlatma · deneyim ve duyu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73184" y="2029968"/>
            <a:ext cx="219456" cy="21945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28048" y="17373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445752" y="2157984"/>
            <a:ext cx="2039112" cy="1188720"/>
          </a:xfrm>
          <a:prstGeom prst="rect">
            <a:avLst/>
          </a:prstGeom>
          <a:solidFill>
            <a:srgbClr val="9E6048"/>
          </a:solidFill>
          <a:ln w="6350">
            <a:solidFill>
              <a:srgbClr val="9E604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28048" y="226771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Kelimeyi karara çevir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528048" y="28163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DD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kelime için somut bir mekânsal karar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82912" y="2057400"/>
            <a:ext cx="0" cy="1984248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564624" y="3840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E6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Teslim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46920" y="41696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aday marka stüdyoda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646920" y="4407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çalışılmaya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646920" y="4645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başlanabilir; teslim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48828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içinde alınacaktır.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7824" y="64008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Dersin temel kaynakları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420624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77824" y="1170432"/>
            <a:ext cx="8485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Sunumun çerçevesi aşağıdaki makale ve ders izlencesinden kuruldu.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2396" y="1933956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33856" y="1883664"/>
            <a:ext cx="4544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Sunar Bükülmez, P., Girginkaya Akdağ, S. ve Ekin, G. (2025)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2249424"/>
            <a:ext cx="4544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Design Competencies and Customer Journey Mapping Tools. The International Journal of Design Education, 19(2), 25–50. — Marka anahtarı ve yolculuk haritası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82396" y="2866644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33856" y="2816352"/>
            <a:ext cx="4544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Wheeler, A. (2017)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3072384"/>
            <a:ext cx="4544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Brand Identity. Wiley. — Marka DNA’sı ve marka deneyiminin bileşenleri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82396" y="3543300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33856" y="3493008"/>
            <a:ext cx="4544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Kotler, P. (1973)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3749040"/>
            <a:ext cx="4544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Atmospherics as a Marketing Tool. Journal of Retailing, 49(4), 48–64. — Atmosfer kavramı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2396" y="4219956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4169664"/>
            <a:ext cx="4544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Bitner, M. J. (1992)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4425696"/>
            <a:ext cx="4544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Servicescapes: The Impact of Physical Surroundings. Journal of Marketing, 56(2), 57–71. — Fiziksel çevrenin üç kanalı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2396" y="4896612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33856" y="4846320"/>
            <a:ext cx="4544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Mehrabian, A. ve Russell, J. A. (1974)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5102352"/>
            <a:ext cx="4544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Approach to Environmental Psychology. MIT Press. — Yaklaşma ve kaçınma davranışı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2396" y="5573268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33856" y="5522976"/>
            <a:ext cx="4544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Spence, C. vd. (2014)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33856" y="5779008"/>
            <a:ext cx="4544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Atmospherics: A Multisensory Perspective. Psychology &amp; Marketing, 31(7), 472–488. — Duyuların birlikte çalışması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60236" y="1933956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11696" y="1883664"/>
            <a:ext cx="4544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Pallasmaa, J. (2005)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711696" y="2249424"/>
            <a:ext cx="4544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Eyes of the Skin. Wiley. [Tenin Gözleri, YEM Yayın] — Mekânın bedenle deneyimlenmesi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60236" y="2866644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11696" y="2816352"/>
            <a:ext cx="4544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Lemon, K. N. ve Verhoef, P. C. (2016)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711696" y="3072384"/>
            <a:ext cx="4544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Customer Experience Throughout the Customer Journey. Journal of Marketing, 80(6), 69–96.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60236" y="3543300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11696" y="3493008"/>
            <a:ext cx="4544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Stein, A. ve Ramaseshan, B. (2016)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11696" y="3749040"/>
            <a:ext cx="4544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 the Identification of Customer Experience Touch Point Elements. JRCS, 30, 8–19.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60236" y="4219956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11696" y="4169664"/>
            <a:ext cx="4544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Underhill, P. (2008)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711696" y="4425696"/>
            <a:ext cx="4544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Buy: The Science of Shopping. Simon &amp; Schuster. — Mağaza içi davranış ve sağa yönelim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60236" y="4896612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11696" y="4846320"/>
            <a:ext cx="4544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Mesher, L. (2010)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711696" y="5102352"/>
            <a:ext cx="4544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 Interior Design: Retail Design. AVA Publishing.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60236" y="5573268"/>
            <a:ext cx="82296" cy="82296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11696" y="5522976"/>
            <a:ext cx="4544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22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Mimari Tasarım III ders izlencesi (2025–2026)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711696" y="5779008"/>
            <a:ext cx="4544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kapsamı, gereklilikler ve öğrenme çıktıları.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77824" y="630936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7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 modellerdeki diyagramlar bu sunum için yeniden çizilmiştir · doi.org/10.18848/2325-128X/CGP/v19i02/25-50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Marka Anahtarını Okumak ve Müşteri Deneyimini Haritalamak</dc:title>
  <dc:subject>PptxGenJS Presentation</dc:subject>
  <dc:creator>Kapadokya Üniversitesi</dc:creator>
  <cp:lastModifiedBy>Kapadokya Üniversitesi</cp:lastModifiedBy>
  <cp:revision>1</cp:revision>
  <dcterms:created xsi:type="dcterms:W3CDTF">2026-09-28T10:42:22Z</dcterms:created>
  <dcterms:modified xsi:type="dcterms:W3CDTF">2026-09-28T10:42:22Z</dcterms:modified>
</cp:coreProperties>
</file>