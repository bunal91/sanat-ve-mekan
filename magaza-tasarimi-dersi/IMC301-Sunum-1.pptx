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210312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Anahtarını Okumak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8346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Müşteri Deneyimini Haritalamak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54380" y="4475988"/>
            <a:ext cx="82296" cy="82296"/>
          </a:xfrm>
          <a:prstGeom prst="ellipse">
            <a:avLst/>
          </a:prstGeom>
          <a:solidFill>
            <a:srgbClr val="3C6E6A"/>
          </a:solidFill>
          <a:ln w="12700">
            <a:solidFill>
              <a:srgbClr val="3C6E6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7552" y="44074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60" kern="0" dirty="0">
                <a:solidFill>
                  <a:srgbClr val="9DB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313432" y="4475988"/>
            <a:ext cx="82296" cy="82296"/>
          </a:xfrm>
          <a:prstGeom prst="ellipse">
            <a:avLst/>
          </a:prstGeom>
          <a:solidFill>
            <a:srgbClr val="3C6E6A"/>
          </a:solidFill>
          <a:ln w="12700">
            <a:solidFill>
              <a:srgbClr val="3C6E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6604" y="4407408"/>
            <a:ext cx="1211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60" kern="0" dirty="0">
                <a:solidFill>
                  <a:srgbClr val="9DB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KULLANICI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29684" y="4475988"/>
            <a:ext cx="82296" cy="82296"/>
          </a:xfrm>
          <a:prstGeom prst="ellipse">
            <a:avLst/>
          </a:prstGeom>
          <a:solidFill>
            <a:srgbClr val="3C6E6A"/>
          </a:solidFill>
          <a:ln w="12700">
            <a:solidFill>
              <a:srgbClr val="3C6E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62856" y="4407408"/>
            <a:ext cx="982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60" kern="0" dirty="0">
                <a:solidFill>
                  <a:srgbClr val="9DB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DENEYİM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17336" y="4475988"/>
            <a:ext cx="82296" cy="82296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0508" y="44074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2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E8F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 Mimari Proje III  ·  Birinci ders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MARKADAN MEKÂNA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Markadan Mekâna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6642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299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kimliği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59152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Markayı araştırmak ve kimliğini çözümlemek.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236976" y="21396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236976" y="250545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236976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Kullanıcının ihtiyaç, değer ve davranışlarını anlamak.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724144" y="2615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724144" y="29809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Deneyim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724144" y="3310128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Etkileşim, duyular, teknoloji ve müşteri yolculuğunu tasarlamak.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309067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11312" y="3785616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Kimliği atmosfer, malzeme, ışık ve mekânsal kurguya çevirmek.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8828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İŞLEVLER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138928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Vitrin ve sergileme · giriş ve eşik · dolaşım · deneyim alanı · bilgi ve tanıtım · satış ve kasa · depolama ve stok · personel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7058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TASARIM KAPSAMI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961888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Atmosfer · kimlik · malzeme · ışık · renk · doku · mobilya · duyusal nitelikler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MARKADAN MEKÂNA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Markadan Mekâna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tasarımın gerekçelendirilebilir olması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579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3230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analizi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09067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Markanın misyonunu, değerlerini, ürünlerini ve kimliğini araştırmak.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279392" y="23774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79392" y="265176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 odağı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33101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 profilini ihtiyaç, değer ve davranışlarıyla anlamak.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808976" y="25968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08976" y="2871216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Deneyim ve duyular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808976" y="352958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Mekânı görme, dokunma, işitme, koku ve hareket üzerinden düşünmek.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04164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15968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Teknoloji entegrasyonu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497433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Fiziksel ve dijital temasları deneyimi destekleyecek biçimde kurmak.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42611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4535424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Mekânsal kimlik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51937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Kimliği atmosfer, malzeme, ışık, renk, doku ve kurguya çevirmek.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4480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475488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Uygulanabilirlik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541324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Ergonomi, operasyon, depolama, dolaşım ve detay kararlarını gözetmek.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ANALIZI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133856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00"/>
              </a:lnSpc>
              <a:buNone/>
            </a:pPr>
            <a:r>
              <a:rPr lang="en-US" sz="32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DNA’sı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0175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Markanın kimliğini çözümlemek ve onu mekânsal bir dile çevirmek.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224528" y="1115568"/>
            <a:ext cx="721461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bir vaadin</a:t>
            </a:r>
            <a:endParaRPr lang="en-US" sz="27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tutarlı biçimde</a:t>
            </a:r>
            <a:endParaRPr lang="en-US" sz="27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7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tekrarlanmasıdır.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4224528" y="2926080"/>
            <a:ext cx="7214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DIŞARIDAN GELEN  ·  markanın bağlamı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224528" y="3218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Rekabet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35112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Başka hangi seçenekler var?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656832" y="3218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Hedef kullanıcı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56832" y="35112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Kime sesleniyor?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089136" y="3218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Amaçlar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89136" y="351129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Neyi başarmak istiyor?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224528" y="4151376"/>
            <a:ext cx="7214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KENDİ KURDUĞU  ·  markanın ifadesi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224528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Misyon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24528" y="47183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 olma nedeni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656832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56832" y="47183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Neye inanıyor?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89136" y="44439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Faydalar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089136" y="47183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İşlevsel ve duygusal olarak ne sunuyor?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5321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Kişilik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24528" y="5596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 insan olsaydı nasıl biri olurdu?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56832" y="5321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Görsel dil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656832" y="5596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Renk · biçim · malzeme · görüntü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9089136" y="5321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İletişim tonu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089136" y="55961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Nasıl konuşuyor?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63459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Kaynak: Sunar Bükülmez, Girginkaya Akdağ ve Ekin (2025), Marka Anahtarı Analizi aracı (I-AM İstanbul).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ARAŞTIRMA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Kimliği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Araştırmanın amacı aynı anlamı farklı kanıtlarda görebilmek.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103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774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sitesi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80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Misyon · ürün dili · değerler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279392" y="23408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279392" y="26151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Sosyal medya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279392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Görsel dil · iletişim · kullanıcı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808976" y="2578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808976" y="28529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808976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Malzeme · biçim · fiyat · kullanım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9136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18795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 yorumları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7914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Beklenti · memnuniyet · sorunlar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809744" y="415137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09744" y="442569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Rakipler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809744" y="5029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Farklılaşma · konum · fırsat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3891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46634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Gözlem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339328" y="52669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 davranış · temas · bağlam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634593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Kaynak: Sunar Bükülmez vd. (2025), marka analizi ve kullanıcı profili bölümleri.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KULLANICI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 Profili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Davranışı okunabilen kullanıcı, mekânsal karar üretir.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58952" y="228600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1579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578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Yaş · yaşam biçimi · sosyo-ekonomik bağlam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5352" y="257860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24505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Neye değer veriyor?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547104" y="28712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Değerler · öncelikler · inançlar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179576" y="358444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1328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Neye ihtiyacı var?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877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İşlevsel ve duygusal ihtiyaçlar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65976" y="387705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67728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Nasıl davranıyor?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967728" y="4169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Arıyor · karşılaştırıyor · seçiyor · bekliyor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600200" y="488289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01952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 hissediyor?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901952" y="5175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Merak · güven · huzursuzluk · aidiyet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086600" y="5175504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88352" y="50474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 bekliyor?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7388352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Hız · keşif · kişisellik · kolaylık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Anahtar Kelime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Markanın analizini tasarım kararına bağlar.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202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945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Kaynaklar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9806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Markanın kendi ürettiği her şey: metinler, ambalaj, sosyal medya dili, müşteri yorumları, görüşme, rakiplerin dili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3408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6151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 kelime havuzu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18688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Otuz–elli kelime. Sıfat, fiil ve nesne adı; hepsini yaz, hiçbirini eleme, tekrar edenleri işaretle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33872" y="27614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833872" y="30358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Gruplama ve eleme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833872" y="3639312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Eş anlamlıları birleştir, kümele; markaya özgü olmayanları at: kaliteli, modern, özel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821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34564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anahtar kelime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75904" y="4059936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Özgül · kanıtlı · mekânda karşılığı kurulabilir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52303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KELİMENİN SINAVI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541264"/>
            <a:ext cx="8860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markaya uyacak kadar genel olmamalı.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888736"/>
            <a:ext cx="8860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Araştırmada karşılığı bulunmalı.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627632" y="6236208"/>
            <a:ext cx="8860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Mekânda somut bir karşılığı kurulabilmeli.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Anahtar Kelime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vaka: yerel bir seramik markası — el yapımı seramik ev ve sofra ürünleri.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31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özelliği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araştırmada bulunan somut olgu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2686" y="23431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19856" y="20116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2231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Anahtar kelime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19856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olgunun tek sıfata indirgenmesi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72734" y="23431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9904" y="20116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2231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Mekânsal ilke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089904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sayısız çözüme açık genel kural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542782" y="23431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59952" y="20116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759952" y="22311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Tasarım öğesi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59952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çizilebilir, ölçülebilir karar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3383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MARKANIN PROFİLİ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69417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varız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127248" y="3694176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Gündelik yaşama üretim ve malzeme duygusu katmak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1148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İdeal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127248" y="4114800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Atölyesini müşteriye açabilen, öğreten bir dükkân olmak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453542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27248" y="4535424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Yerellik · zanaat · doğaya saygı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956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Kişilik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127248" y="4956048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Özenli · açık sözlü · malzemeye yakın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3766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Pazar konumu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3127248" y="5376672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Seri üretim ev ürünleri değil; imzalı zanaat parçaları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" y="57972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Kullanıcı profili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127248" y="5797296"/>
            <a:ext cx="8311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Kentin yoğunluğu içinde yavaş ve anlamlı seçim yapmak isteyen, ürünü eline almadan karar vermeyen kullanıcı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10689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 markadan çıkan beş kelime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53312"/>
            <a:ext cx="85514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9DB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vaka: yerel bir seramik markası — el yapımı seramik ev ve sofra ürünleri.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901952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12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CESUR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5915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8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karakterli · görünür · güçlü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08176" y="2724912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DOĞAL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31821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8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malzemeye yakın · sıcak · yalın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66544" y="3547872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12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SÜRDÜRÜLEBİLİR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066544" y="40050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8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uzun ömürlü · az atık · esnek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4370832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12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TEKİLLİK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48280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8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ürün tek · elde üretilmiş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5193792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spc="12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GÖRÜNÜRLÜK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56509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8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üretim gizlenmiyor · süreç sahnede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SENTEZ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Kelimeden Tasarım Öğesine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Örnek vaka: yerel bir seramik markası — el yapımı seramik ev ve sofra ürünleri.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261104" y="19568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MEKÂNSAL İLKE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059168" y="195681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TASARIM ÖĞESİ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6771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spc="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CESUR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968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karakterli · görünür · güçlü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261104" y="23042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vurgu ve hiyerarşi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59168" y="2322576"/>
            <a:ext cx="4379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Koyu vurgu duvarı · ölçek atlayan tek büyük parça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0906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spc="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DOĞAL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34198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malzemeye yakın · sıcak · yalın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261104" y="31272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malzeme ve ışık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59168" y="3145536"/>
            <a:ext cx="4379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 sıva ve masif ahşap · dokunulabilir açık raf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391363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SÜRDÜRÜLEBİLİR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2428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uzun ömürlü · az atık · esnek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261104" y="39502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sistem ve işletme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59168" y="3968496"/>
            <a:ext cx="4379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Sökülebilir modüler raf · vidalı (yapıştırmasız) birleşim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73659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spc="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TEKİLLİK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50657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ürün tek · elde üretilmiş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261104" y="4773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yoğunluk ve aralık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4791456"/>
            <a:ext cx="4379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Tekil kaideler · nokta aydınlatma · ürünler arası geniş aralık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5595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spc="6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GÖRÜNÜRLÜK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8887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üretim gizlenmiyor · süreç sahnede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261104" y="5596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görüş hattı ve sınır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5614416"/>
            <a:ext cx="4379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Camlı atölye duvarı · tezgâhın vitrine bakması · açık kuruma rafı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MÜŞTERI YOLCULUĞU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Müşteri Yolculuğunun Sekiz Aşaması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49808" y="3383280"/>
            <a:ext cx="10689336" cy="0"/>
          </a:xfrm>
          <a:prstGeom prst="line">
            <a:avLst/>
          </a:prstGeom>
          <a:noFill/>
          <a:ln w="15875">
            <a:solidFill>
              <a:srgbClr val="3C6E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2172" y="3337560"/>
            <a:ext cx="91440" cy="9144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4203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6148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FARKINDALIK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85478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85975" y="363931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085975" y="385876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ÇEKİM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994535" y="4169664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cephe · vitrin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ilk görsel temas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021645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2142" y="254203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422142" y="276148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EŞİK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0702" y="1938528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giriş · ilk izlenim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atmosfer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57813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58309" y="363931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758309" y="385876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YÖNLENME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66869" y="4169664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dolaşım · görüş hatları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işaretleme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93980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4476" y="254203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094476" y="276148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KEŞİF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003036" y="1938528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 grupları · bilgi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sergileme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30146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30643" y="363931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30643" y="385876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ETKİLEŞİM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39203" y="4169664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deneme · bekleme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teknoloji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366314" y="3314700"/>
            <a:ext cx="137160" cy="13716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766810" y="254203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8766810" y="276148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SATIN ALMA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675370" y="1938528"/>
            <a:ext cx="1519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kasa · ödeme</a:t>
            </a:r>
            <a:endParaRPr lang="en-US" sz="95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paketleme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0725341" y="3337560"/>
            <a:ext cx="91440" cy="9144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02977" y="3639312"/>
            <a:ext cx="13361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0102977" y="3858768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AYRILIŞ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4736592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Mekânın dışında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02977" y="4736592"/>
            <a:ext cx="1336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Mekânın dışında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085975" y="4736592"/>
            <a:ext cx="80170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 mekânda geçen altı aşama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55961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YOLCULUĞUN GÖRÜNMEYEN YÜZÜ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870448"/>
            <a:ext cx="10689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Depolama · personel · ergonomi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VAKA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Seramik Markasının Müşteri Yolculuğu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7007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Çekim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761488" y="17373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Vitrinde tek bir parça; arkasında çalışan çark görünüyor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75564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GÖRÜNÜRLÜK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35915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Eşik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145536" y="239572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Ham yüzey, mat ışık ve çamurun kokusu karşılıyor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41401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DOĞAL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301752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Yönlenme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61488" y="3054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 görüş hattı; rota atölyeden tartıma doğru akıyor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307238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GÖRÜNÜRLÜK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3675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Keşif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145536" y="371246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parça kendi kaidesinde, aralarında geniş boşluk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373075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TEKİLLİK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3342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Etkileşim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61488" y="43708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Dokunma serbest; numune ve üretim anlatısı tezgâhta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4389120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TEKİLLİK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9926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Satın alma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145536" y="502920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Ambalajın kendisi zanaatın parçası; paketleme görünür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504748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SÜRDÜRÜLEBİLİRLİK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565099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Ayrılış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761488" y="568756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Parçanın kim tarafından yapıldığı yazan kart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570585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TEKİLLİK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DUYULAR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133856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00"/>
              </a:lnSpc>
              <a:buNone/>
            </a:pPr>
            <a:r>
              <a:rPr lang="en-US" sz="32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Duyular marka kimliğini nasıl taşır?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0175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Atmosfer tek bir duyudan doğmaz; duyusal etki uyaranların birlikte çalışmasından doğar.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224528" y="1042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Görme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705856" y="1097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ışık · renk · kontrast · görüş hattı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156448" y="1060704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Işığın düzeyi mekânın hızını belirler; rengi ürünün rengini değiştirir.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19202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Dokunma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705856" y="197510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malzeme · doku · sıcaklık · ağırlık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156448" y="1938528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İnsan ürünü eline aldığında sahiplik duygusu geliştirir. İnternete karşı en güçlü duyu.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224528" y="27980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İşitme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705856" y="2852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akustik · müzik · sessizlik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2816352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verilen yerlerde sesin düşmesi gerekir: kabin, danışma, ödeme.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224528" y="367588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Koklama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705856" y="373075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koku · hafıza · kaynak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156448" y="3694176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Hafızaya en doğrudan bağlanan duyu. Kokunun kaynağı ürünün kendisi olmalı.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224528" y="45537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705856" y="4608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tadım · ikram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156448" y="4572000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dar kullanım alanı, ama kullanıldığı yerde en güçlü etki.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224528" y="543153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Beden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705856" y="5486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ısı · hava · kot · ritim · yoğunluk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156448" y="5449824"/>
            <a:ext cx="3282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Yoğunluk en güçlü etken: kalabalıkta insan hızlanır ve erken çıkar.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DUYULAR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Hangi duyu, yolculuğun hangi anında?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Duyular mekânın her yerinde aynı yoğunlukta çalışmaz; her duyunun baskın olduğu bir an vardır.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ÇEKİM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046258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EŞİK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843093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YÖNELME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639927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GEZİNME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436761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ETKİLEŞİM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233595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SATIN ALMA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7030430" y="2084832"/>
            <a:ext cx="796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10" kern="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AYRILIŞ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56401" y="2615184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53235" y="2615184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0070" y="2615184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46904" y="2615184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0888" y="267233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7723" y="267233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4557" y="267233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9328" y="2569464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vitrin silüeti · teşhir kontrastı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12724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Beden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13551" y="3275838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53235" y="3218688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50070" y="3218688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04" y="3218688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0888" y="3275838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97723" y="3275838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94557" y="3275838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39328" y="317296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eşikte ısı · koridor genişliği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" y="37307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Koklama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613551" y="3879342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53235" y="3822192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07220" y="3879342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04054" y="3879342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743738" y="3822192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97723" y="3879342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94557" y="3879342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39328" y="3776472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ilk izlenim · ürünün kendi kokusu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433425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İşitme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2613551" y="4482846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10385" y="4482846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207220" y="4482846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46904" y="4425696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43738" y="4425696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40573" y="4425696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394557" y="4482846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39328" y="4379976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genel akustik · kabinde sessizlik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937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Dokunma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2613551" y="50863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10385" y="50863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07220" y="50863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46904" y="5029200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743738" y="5029200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97723" y="50863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394557" y="5086350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339328" y="4983480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açık raf · deneme · tezgâh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749808" y="55412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Tat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2613551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410385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207220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004054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43738" y="5632704"/>
            <a:ext cx="182880" cy="18288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597723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94557" y="5689854"/>
            <a:ext cx="68580" cy="68580"/>
          </a:xfrm>
          <a:prstGeom prst="ellipse">
            <a:avLst/>
          </a:prstGeom>
          <a:solidFill>
            <a:srgbClr val="C9CED5"/>
          </a:solidFill>
          <a:ln w="12700">
            <a:solidFill>
              <a:srgbClr val="C9CED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8339328" y="5586984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tadım noktası · ikram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ÇEVIRI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 + Boşluk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572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 ÜRÜN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95944" y="1572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ÇOK ÜRÜN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49808" y="3346704"/>
            <a:ext cx="10689336" cy="0"/>
          </a:xfrm>
          <a:prstGeom prst="line">
            <a:avLst/>
          </a:prstGeom>
          <a:noFill/>
          <a:ln w="15875">
            <a:solidFill>
              <a:srgbClr val="3C6E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79880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63878" y="3291840"/>
            <a:ext cx="109728" cy="109728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84448"/>
            <a:ext cx="18269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Mücevher · sanat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4041648"/>
            <a:ext cx="18269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birim değer yüksek; boşluk doğrudan değer anlamına gelir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62299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17747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1745" y="3291840"/>
            <a:ext cx="109728" cy="109728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7675" y="4443984"/>
            <a:ext cx="18269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Parfüm · sofistike moda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7675" y="4901184"/>
            <a:ext cx="18269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seçilmiş az sayıda ürün, geniş boşluk, oturarak satış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44718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00166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5614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9612" y="3291840"/>
            <a:ext cx="109728" cy="109728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5542" y="3584448"/>
            <a:ext cx="18269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Seramik · zanaat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5542" y="4041648"/>
            <a:ext cx="18269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parça tekil; kaide ve aralık gerekir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27137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2585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38033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93481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93481" y="2475738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77479" y="3291840"/>
            <a:ext cx="109728" cy="109728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63410" y="4443984"/>
            <a:ext cx="18269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Kitap · plak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63410" y="4901184"/>
            <a:ext cx="18269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tarama davranışı; orta yoğunluk, raf metrajı önemli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865004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20452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75900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331348" y="2302002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65004" y="2475738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20452" y="2475738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75900" y="2475738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331348" y="2475738"/>
            <a:ext cx="77724" cy="77724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315346" y="3291840"/>
            <a:ext cx="109728" cy="109728"/>
          </a:xfrm>
          <a:prstGeom prst="ellipse">
            <a:avLst/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301277" y="3584448"/>
            <a:ext cx="18269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Giyim · ayakkabı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301277" y="4041648"/>
            <a:ext cx="18269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beden çeşidi yoğunluk üretir; stok yakınlığı belirleyici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49808" y="5888736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 sayısı arttıkça boşluk azalır; boşluk azaldıkça mekânın anlattığı şey değişir.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SEÇIMI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10689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Hangi tür ürün satan markaları seçebilirsiniz?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1335024"/>
            <a:ext cx="7910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Ürünün türü mekândan istediği şeyi belirler. Kendi adayınız hangi gruba giriyor?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8483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Yüksek değer, az ürün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447288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Mücevher · saat · sanat baskısı · tekil tasarım objesi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56248" y="2103120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Kilitli ve vitrinli teşhir · nokta aydınlatma · oturarak satış · güvenlik ve sigorta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798064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Denenen ürün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28163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Giyim · ayakkabı · gözlük · şapka · takı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816352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Deneme kabini ve ayna · oturma · stok yakınlığı · ayakkabıda büyük kutu deposu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511296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Koklanan ürün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35295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Parfüm · zeytinyağı ve baharat · sabun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56248" y="3529584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tezgâhı · havalandırma ve koku nötrleme · lavabo · dökme satış ve kapalı stok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245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Taranan ürün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424281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Kitap · plak · kırtasiye ve kâğıt · tohum ve bitki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56248" y="4242816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Uzun raf metrajı · kategori işaretleme · oturma · bitkide su, ışık, nem ve drenaj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93776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Ağır ve hacimli ürün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447288" y="4956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Mobilya · halı ve kilim · ev tekstili · bisiklet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56248" y="4956048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Kurulu kullanım senaryosu · geniş rota · asma ve katman sistemi · mal kabul ve büyük depo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56509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Üretimi görünür ürün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3447288" y="56692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Seramik · deri ve ayakkabı atölyesi · terzi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56248" y="5669280"/>
            <a:ext cx="4882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B52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Atölye ile satışın bir arada olması · fırın, çark, tezgâh · ısı, koku ve atık · kuruma rafı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713232"/>
            <a:ext cx="8765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 Araştırması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71907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709928" y="166420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marka bul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236208" y="1755648"/>
            <a:ext cx="4837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 akım olmayan, mağaza kimliği henüz oluşmamış adaylar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225296" y="250545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185416" y="245059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Markayı araştır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11696" y="2542032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 · kullanıcı · değer ve hikâye · rakipler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700784" y="3291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660904" y="32369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anahtar kelime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187184" y="332841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Markayı mekâna taşıyabilecek üç kelime seç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176272" y="4078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F2B8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3136392" y="402336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Üründen mekâna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662672" y="4114800"/>
            <a:ext cx="3410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Sergileme ve depolama · aydınlatma · deneyim ve duyu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486460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80974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Kelimeyi karara çevir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901184"/>
            <a:ext cx="2935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kelime için somut bir mekânsal karar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5870448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0F3D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 aday marka stüdyoda çalışılmaya başlanabilir; teslim hafta içinde alınacaktır.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49808" y="45720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240" kern="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KAYNAKLAR</a:t>
            </a:r>
            <a:endParaRPr lang="en-US" sz="85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1133856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00"/>
              </a:lnSpc>
              <a:buNone/>
            </a:pPr>
            <a:r>
              <a:rPr lang="en-US" sz="3200" dirty="0">
                <a:solidFill>
                  <a:srgbClr val="1417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Dersin temel kaynakları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01752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3C6E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Sunumun çerçevesi aşağıdaki makale ve ders izlencesinden kuruldu.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10799064" y="63459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spc="140" kern="0" dirty="0">
                <a:solidFill>
                  <a:srgbClr val="C9CED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224528" y="84124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Sunar Bükülmez, P., Girginkaya Akdağ, S. ve Ekin, G. (2025)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224528" y="1188720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 Design Competencies and Customer Journey Mapping Tools. The International Journal of Design Education, 19(2), 25–50. — Marka anahtarı ve yolculuk haritası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224528" y="192024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Wheeler, A. (2017)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224528" y="226771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Designing Brand Identity. Wiley. — Marka DNA’sı ve marka deneyiminin bileşenleri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224528" y="265176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Kotler, P. (1973)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299923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Atmospherics as a Marketing Tool. Journal of Retailing, 49(4), 48–64. — Atmosfer kavramı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224528" y="338328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Bitner, M. J. (1992)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24528" y="373075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Servicescapes: The Impact of Physical Surroundings. Journal of Marketing, 56(2), 57–71. — Fiziksel çevrenin üç kanalı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224528" y="411480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Mehrabian, A. ve Russell, J. A. (1974)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224528" y="446227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Approach to Environmental Psychology. MIT Press. — Yaklaşma ve kaçınma davranışı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224528" y="484632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Spence, C. vd. (2014)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224528" y="519379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Atmospherics: A Multisensory Perspective. Psychology &amp; Marketing, 31(7), 472–488. — Duyuların birlikte çalışması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028432" y="1115568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Pallasmaa, J. (2005)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028432" y="1463040"/>
            <a:ext cx="3401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Eyes of the Skin. Wiley. [Tenin Gözleri, YEM Yayın] — Mekânın bedenle deneyimlenmesi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028432" y="219456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Lemon, K. N. ve Verhoef, P. C. (2016)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28432" y="254203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Customer Experience Throughout the Customer Journey. Journal of Marketing, 80(6), 69–96.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028432" y="292608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Stein, A. ve Ramaseshan, B. (2016)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028432" y="327355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Towards the Identification of Customer Experience Touch Point Elements. JRCS, 30, 8–19.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028432" y="365760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Underhill, P. (2008)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28432" y="400507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Buy: The Science of Shopping. Simon &amp; Schuster. — Mağaza içi davranış ve sağa yönelim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028432" y="438912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Mesher, L. (2010)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028432" y="473659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Basics Interior Design: Retail Design. AVA Publishing.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028432" y="5120640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 Mimari Tasarım III ders izlencesi (2025–2026)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028432" y="5468112"/>
            <a:ext cx="3401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kapsamı, gereklilikler ve öğrenme çıktıları.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6345936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2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Kaynak modellerdeki diyagramlar bu sunum için yeniden çizilmiştir · doi.org/10.18848/2325-128X/CGP/v19i02/25-50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Marka Anahtarını Okumak ve Müşteri Deneyimini Haritalamak</dc:title>
  <dc:subject>PptxGenJS Presentation</dc:subject>
  <dc:creator>Kapadokya Üniversitesi</dc:creator>
  <cp:lastModifiedBy>Kapadokya Üniversitesi</cp:lastModifiedBy>
  <cp:revision>1</cp:revision>
  <dcterms:created xsi:type="dcterms:W3CDTF">2026-09-28T10:22:16Z</dcterms:created>
  <dcterms:modified xsi:type="dcterms:W3CDTF">2026-09-28T10:22:16Z</dcterms:modified>
</cp:coreProperties>
</file>