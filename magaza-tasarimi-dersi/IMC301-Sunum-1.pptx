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170078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1956816"/>
            <a:ext cx="10689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Anahtarını Okumak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2743200"/>
            <a:ext cx="10689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 Müşteri Deneyimini Haritalamak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49808" y="4041648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238" y="4336542"/>
            <a:ext cx="68580" cy="68580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4261104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33572" y="4336542"/>
            <a:ext cx="68580" cy="68580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5022" y="4261104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KULLANICI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5838" y="4206240"/>
            <a:ext cx="0" cy="3291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05906" y="4336542"/>
            <a:ext cx="68580" cy="68580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77356" y="4261104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DENEYİM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8172" y="4206240"/>
            <a:ext cx="0" cy="3291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433654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49690" y="4261104"/>
            <a:ext cx="2398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4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20506" y="4206240"/>
            <a:ext cx="0" cy="3291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58887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 Mimari Proje III  ·  Birinci ders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MARKADAN MEKÂNA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Markadan Mekâna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76272"/>
            <a:ext cx="2288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kimliği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23744"/>
            <a:ext cx="2288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Markayı araştırmak ve kimliğini çözümlemek.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7550" y="1920240"/>
            <a:ext cx="0" cy="138988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2142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422142" y="2176272"/>
            <a:ext cx="2288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2142" y="2523744"/>
            <a:ext cx="2288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Kullanıcının ihtiyaç, değer ve davranışlarını anlamak.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29884" y="1920240"/>
            <a:ext cx="0" cy="138988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4476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094476" y="2176272"/>
            <a:ext cx="2288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Deneyim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2523744"/>
            <a:ext cx="2288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Etkileşim, duyular, teknoloji ve müşteri yolculuğunu tasarlamak.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02218" y="1920240"/>
            <a:ext cx="0" cy="138988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66810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766810" y="2176272"/>
            <a:ext cx="22882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66810" y="2523744"/>
            <a:ext cx="228828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Kimliği atmosfer, malzeme, ışık ve mekânsal kurguya çevirmek.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3803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9319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İŞLEVLER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187952"/>
            <a:ext cx="1068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 ve sergileme  ·  giriş ve eşik  ·  dolaşım  ·  deneyim alanı  ·  bilgi ve tanıtım  ·  satış ve kasa  ·  depolama ve stok  ·  personel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9808" y="488289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501091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TASARIM KAPSAMI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266944"/>
            <a:ext cx="10689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Atmosfer  ·  kimlik  ·  malzeme  ·  ışık  ·  renk  ·  doku  ·  mobilya  ·  duyusal nitelikler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MARKADAN MEKÂNA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Markadan Mekâna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tasarımın gerekçelendirilebilir olması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231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4871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analizi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Markanın misyonunu, değerlerini, ürünlerini ve kimliğini araştırmak.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1752" y="2176272"/>
            <a:ext cx="0" cy="148132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2920" y="2231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312920" y="24871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odağı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12920" y="28346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profilini ihtiyaç, değer ve davranışlarıyla anlamak.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74864" y="2176272"/>
            <a:ext cx="0" cy="148132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6032" y="22311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76032" y="24871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Deneyim ve duyular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28346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Mekânı görme, dokunma, işitme, koku ve hareket üzerinden düşünmek.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224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48056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Teknoloji entegrasyonu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82803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Fiziksel ve dijital temasları deneyimi destekleyecek biçimde kurmak.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1752" y="4169664"/>
            <a:ext cx="0" cy="148132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12920" y="4224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312920" y="448056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Mekânsal kimlik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12920" y="482803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Kimliği atmosfer, malzeme, ışık, renk, doku ve kurguya çevirmek.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74864" y="4169664"/>
            <a:ext cx="0" cy="1481328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76032" y="422452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876032" y="448056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Uygulanabilirlik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76032" y="482803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Ergonomi, operasyon, depolama, dolaşım ve detay kararlarını gözetmek.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9136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ANALIZI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DNA’sı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Markanın kimliğini çözümlemek ve onu mekânsal bir dile çevirmek.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29968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bir vaadin tutarlı biçimde tekrarlanmasıdır.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614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MARKANIN BAĞLAMI — DIŞARIDAN GELEN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47488" y="2871216"/>
            <a:ext cx="639165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090672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Rekabet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83280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Başka hangi seçenekler var?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1752" y="3090672"/>
            <a:ext cx="0" cy="676656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12920" y="3090672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Hedef kullanıcı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312920" y="3383280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Kime sesleniyor?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74864" y="3090672"/>
            <a:ext cx="0" cy="676656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76032" y="3090672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Amaçlar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3383280"/>
            <a:ext cx="3105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Neyi başarmak istiyor?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0599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MARKANIN IFADESI — KENDI KURDUĞU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64608" y="4169664"/>
            <a:ext cx="65745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Misyon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 olma nedeni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85060" y="4389120"/>
            <a:ext cx="0" cy="106070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31364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531364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Neye inanıyor?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66616" y="4389120"/>
            <a:ext cx="0" cy="106070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12920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Faydalar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312920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İşlevsel ve duygusal olarak ne sunuyor?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8172" y="4389120"/>
            <a:ext cx="0" cy="106070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94476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Kişilik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094476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 insan olsaydı nasıl biri olurdu?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29728" y="4389120"/>
            <a:ext cx="0" cy="106070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76032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Görsel dil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876032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Renk · biçim · malzeme · görüntü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511284" y="4389120"/>
            <a:ext cx="0" cy="106070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57588" y="4389120"/>
            <a:ext cx="1470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İletişim tonu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9657588" y="4681728"/>
            <a:ext cx="14706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konuşuyor?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9808" y="627278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9808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Kaynak: Sunar Bükülmez, Girginkaya Akdağ ve Ekin (2025), Marka Anahtarı Analizi aracı (I-AM İstanbul).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ARAŞTIRMA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Kimliği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Araştırmanın amacı aynı anlamı farklı kanıtlarda görebilmek.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sitesi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Misyon · ürün dili · değerler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1752" y="2249424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2920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312920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Sosyal medya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12920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Görsel dil · iletişim · kullanıcı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74864" y="2249424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6032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76032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Malzeme · biçim · fiyat · kullanım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yorumları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Beklenti · memnuniyet · sorunlar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1752" y="4005072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12920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312920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Rakipler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12920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Farklılaşma · konum · fırsat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74864" y="4005072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76032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876032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Gözlem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76032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Gerçek davranış · temas · bağlam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78561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627278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Kaynak: Sunar Bükülmez vd. (2025), marka analizi ve kullanıcı profili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KULLANICI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Profili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Davranışı okunabilen kullanıcı, mekânsal karar üretir.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Kim?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Yaş · yaşam biçimi · sosyo-ekonomik bağlam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1752" y="2249424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12920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312920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Neye değer veriyor?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12920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Değerler · öncelikler · inançlar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74864" y="2249424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76032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7876032" y="2560320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Neye ihtiyacı var?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876032" y="2907792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İşlevsel ve duygusal ihtiyaçlar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davranıyor?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Arıyor · karşılaştırıyor · seçiyor · bekliyor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1752" y="4005072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12920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312920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hissediyor?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312920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Merak · güven · huzursuzluk · aidiyet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74864" y="4005072"/>
            <a:ext cx="0" cy="12435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76032" y="40599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876032" y="4315968"/>
            <a:ext cx="310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bekliyor?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876032" y="4663440"/>
            <a:ext cx="310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Hız · keşif · kişisellik · kolaylık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9808" y="378561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627278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Kaynak: Sunar Bükülmez vd. (2025), kullanıcı profili ve persona yaklaşımı.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SENTEZ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Markanın analizini tasarım kararına bağlar.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396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95728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43200"/>
            <a:ext cx="2196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Markanın kendi ürettiği her şey: metinler, ambalaj, sosyal medya dili, müşteri yorumları, görüşme, rakiplerin dili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15818" y="2217420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2142" y="21396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422142" y="2395728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kelime havuzu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2142" y="2743200"/>
            <a:ext cx="2196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Otuz–elli kelime. Sıfat, fiil ve nesne adı; hepsini yaz, hiçbirini eleme, tekrar edenleri işaretle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88152" y="2217420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4476" y="21396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2395728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Gruplama ve eleme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743200"/>
            <a:ext cx="2196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 anlamlıları birleştir, kümele; markaya özgü olmayanları at: kaliteli, modern, özel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60486" y="2217420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66810" y="21396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66810" y="2395728"/>
            <a:ext cx="21968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anahtar kelime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66810" y="2743200"/>
            <a:ext cx="21968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Özgül · kanıtlı · mekânda karşılığı kurulabilir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96849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1148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KELIMENIN SINAVI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2668" y="4585716"/>
            <a:ext cx="64008" cy="6400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4128" y="4498848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markaya uyacak kadar genel olmamalı.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" y="48280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" y="5006340"/>
            <a:ext cx="64008" cy="6400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4128" y="4919472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Araştırmada karşılığı bulunmalı.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" y="524865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2668" y="5426964"/>
            <a:ext cx="64008" cy="6400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4128" y="5340096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Mekânda somut bir karşılığı kurulabilmeli.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SENTEZ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vaka: yerel bir seramik markası — el yapımı seramik ev ve sofra ürünleri.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özelliği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araştırmada bulunan somut olgu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15818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2142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422142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2142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olgunun tek sıfata indirgenmesi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88152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4476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Mekânsal ilke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sayısız çözüme açık genel kural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60486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66810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66810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Tasarım öğesi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66810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çizilebilir, ölçülebilir karar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31012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4564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MARKANIN PROFILI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3749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Neden varız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35808" y="3749040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Gündelik yaşama üretim ve malzeme duygusu katmak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" y="407822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151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İdeal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035808" y="4151376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Atölyesini müşteriye açabilen, öğreten bir dükkân olmak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448056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5537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Değerler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035808" y="4553712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Yerellik · zanaat · doğaya saygı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" y="488289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4956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Kişilik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035808" y="4956048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Özenli · açık sözlü · malzemeye yakın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9808" y="52852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535838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Pazar konumu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035808" y="5358384"/>
            <a:ext cx="8403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 üretim ev ürünleri değil; imzalı zanaat parçaları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9808" y="568756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760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Kullanıcı profili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035808" y="5760720"/>
            <a:ext cx="8403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Kentin yoğunluğu içinde yavaş ve anlamlı seçim yapmak isteyen, ürünü eline almadan karar vermeyen kullanıcı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49808" y="623620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SENTEZ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vaka: yerel bir seramik markası — el yapımı seramik ev ve sofra ürünleri.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özelliği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araştırmada bulunan somut olgu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15818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2142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422142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22142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olgunun tek sıfata indirgenmesi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88152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4476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094476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Mekânsal ilke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sayısız çözüme açık genel kural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60486" y="218084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66810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66810" y="2340864"/>
            <a:ext cx="21968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Tasarım öğesi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66810" y="2670048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çizilebilir, ölçülebilir karar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34670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22142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MARKADAN ÇIKAN BEŞ KELIME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40430" y="3968496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14750" y="3858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6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CESUR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422142" y="4224528"/>
            <a:ext cx="3607651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40430" y="4425696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4750" y="43159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6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DOĞAL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22142" y="4681728"/>
            <a:ext cx="3607651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40430" y="4882896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14750" y="47731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6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SÜRDÜRÜLEBİLİR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422142" y="5138928"/>
            <a:ext cx="3607651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40430" y="5340096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714750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6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TEKİLLİK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422142" y="5596128"/>
            <a:ext cx="3607651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40430" y="5797296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714750" y="5687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spc="16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GÖRÜNÜRLÜK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422142" y="6053328"/>
            <a:ext cx="3607651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97026" y="3858768"/>
            <a:ext cx="41421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Kelime, markanın analizinden çıkar; mekânsal ilke o kelimenin kuralıdır; tasarım öğesi ise o kuralın çizilebilir hâlidir.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SENTEZ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Anahtar Kelime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vaka: yerel bir seramik markası — el yapımı seramik ev ve sofra ürünleri.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212848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87552" y="2130552"/>
            <a:ext cx="1826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CESUR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505456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karakterli · görünür · güçlü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584448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vurgu ve hiyerarşi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645152"/>
            <a:ext cx="1826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Koyu vurgu duvarı · ölçek atlayan tek büyük parça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32227" y="2084832"/>
            <a:ext cx="0" cy="371246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6819" y="2212848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5419" y="2130552"/>
            <a:ext cx="1826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7675" y="2505456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malzemeye yakın · sıcak · yalın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7675" y="3584448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malzeme ve ışık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887675" y="4645152"/>
            <a:ext cx="1826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sıva ve masif ahşap · dokunulabilir açık raf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70094" y="2084832"/>
            <a:ext cx="0" cy="371246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34686" y="2212848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3286" y="2130552"/>
            <a:ext cx="1826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SÜRDÜRÜLEBİLİR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25542" y="2505456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uzun ömürlü · az atık · esnek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5542" y="3584448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 ve işletme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5542" y="4645152"/>
            <a:ext cx="1826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Sökülebilir modüler raf · vidalı (yapıştırmasız) birleşim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07962" y="2084832"/>
            <a:ext cx="0" cy="371246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72554" y="2212848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1154" y="2130552"/>
            <a:ext cx="1826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TEKİLLİK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63410" y="2505456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ürün tek · elde üretilmiş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163410" y="3584448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yoğunluk ve aralık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63410" y="4645152"/>
            <a:ext cx="1826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Tekil kaideler · nokta aydınlatma · ürünler arası geniş aralık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45829" y="2084832"/>
            <a:ext cx="0" cy="371246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10421" y="2212848"/>
            <a:ext cx="73152" cy="7315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39021" y="2130552"/>
            <a:ext cx="182697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5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GÖRÜNÜRLÜK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01277" y="2505456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 gizlenmiyor · süreç sahnede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301277" y="3584448"/>
            <a:ext cx="1826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görüş hattı ve sınır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301277" y="4645152"/>
            <a:ext cx="18269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Camlı atölye duvarı · tezgâhın vitrine bakması · açık kuruma rafı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808" y="316382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3273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MEKÂNSAL ILKE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9808" y="422452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43342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TASARIM ÖĞESI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49808" y="5797296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YOLCULUĞU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Müşteri Yolculuğunun Sekiz Aşaması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8895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FARKINDALIK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6744" y="2848356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85975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085975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ÇEKİM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4623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85975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cephe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ilk görsel temas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22142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22142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EŞİK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30789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22142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giriş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ilk izlenim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atmosfer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758309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758309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YÖNLENME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66957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8309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dolaşım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görüş hatları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işaretleme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94476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94476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KEŞİF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03124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94476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grupları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bilgi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sergileme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30643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30643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ETKİLEŞİM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39290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30643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deneme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bekleme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teknoloji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766810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766810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SATIN ALMA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75458" y="2830068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66810" y="3054096"/>
            <a:ext cx="1336167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kasa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ödeme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paketleme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102977" y="2249424"/>
            <a:ext cx="1336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6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0102977" y="2505456"/>
            <a:ext cx="13361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AYRILIŞ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729913" y="2848356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5975" y="4041648"/>
            <a:ext cx="8017002" cy="0"/>
          </a:xfrm>
          <a:prstGeom prst="line">
            <a:avLst/>
          </a:prstGeom>
          <a:noFill/>
          <a:ln w="12700">
            <a:solidFill>
              <a:srgbClr val="1B3A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85975" y="4041648"/>
            <a:ext cx="0" cy="-109728"/>
          </a:xfrm>
          <a:prstGeom prst="line">
            <a:avLst/>
          </a:prstGeom>
          <a:noFill/>
          <a:ln w="12700">
            <a:solidFill>
              <a:srgbClr val="1B3A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02977" y="4041648"/>
            <a:ext cx="0" cy="-109728"/>
          </a:xfrm>
          <a:prstGeom prst="line">
            <a:avLst/>
          </a:prstGeom>
          <a:noFill/>
          <a:ln w="12700">
            <a:solidFill>
              <a:srgbClr val="1B3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85975" y="4114800"/>
            <a:ext cx="80170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 mekânda geçen altı aşama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" y="4114800"/>
            <a:ext cx="1336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Mekânın dışında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102977" y="4114800"/>
            <a:ext cx="13361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Mekânın dışında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9808" y="493776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50657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YOLCULUĞUN GÖRÜNMEYEN YÜZÜ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" y="5340096"/>
            <a:ext cx="10689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Depolama  ·  personel  ·  ergonomi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VAKA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Seramik Markasının Müşteri Yolculuğu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470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AŞAMA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18470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MEKÂNSAL KARAR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796528" y="1847088"/>
            <a:ext cx="2642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KELIMEYI TAŞIYOR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49808" y="2103120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238" y="238887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7552" y="226771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Çekim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26771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Vitrinde tek bir parça; arkasında çalışan çark görünüyor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796528" y="226771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GÖRÜNÜRLÜK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238" y="295579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70048" y="283464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yüzey, mat ışık ve çamurun kokusu karşılıyor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283464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DOĞAL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323697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238" y="3522726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34015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Yönlenme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670048" y="34015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 görüş hattı; rota atölyeden tartıma doğru akıyor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796528" y="3401568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GÖRÜNÜRLÜK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" y="380390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1238" y="4089654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7552" y="3968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Keşif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670048" y="396849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parça kendi kaidesinde, aralarında geniş boşluk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3968496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" y="43708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1238" y="465658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5354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Etkileşim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70048" y="453542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Dokunma serbest; numune ve üretim anlatısı tezgâhta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96528" y="4535424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" y="493776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1238" y="522351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7552" y="5102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Satın alma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670048" y="51023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Ambalajın kendisi zanaatın parçası; paketleme görünür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796528" y="5102352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SÜRDÜRÜLEBİLİRLİK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" y="550468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1238" y="579043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7552" y="5669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Ayrılış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2670048" y="56692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Parçanın kim tarafından yapıldığı yazan kart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796528" y="566928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9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9808" y="607161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DUYULAR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Duyular Marka Kimliğini Nasıl Taşır?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Atmosfer tek bir duyudan doğmaz; duyusal etki uyaranların birlikte çalışmasından doğar.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1396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487168" y="21854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ışık · renk · kontrast · görüş hattı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504688" y="2185416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Işığın düzeyi mekânın hızını belirler; rengi ürünün rengini değiştirir.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265176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7980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Dokunma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28437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malzeme · doku · sıcaklık · ağırlık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504688" y="2843784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İnsan ürünü eline aldığında sahiplik duygusu geliştirir. İnternete karşı en güçlü duyu.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331012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4564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İşitme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3502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akustik · müzik · sessizlik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504688" y="3502152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 verilen yerlerde sesin düşmesi gerekir: kabin, danışma, ödeme.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396849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1148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Koklama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487168" y="4160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koku · hafıza · kaynak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4160520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Hafızaya en doğrudan bağlanan duyu. Kokunun kaynağı ürünün kendisi olmalı.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9808" y="462686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7731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487168" y="48188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tadım · ikram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504688" y="4818888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dar kullanım alanı, ama kullanıldığı yerde en güçlü etki.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49808" y="52852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4315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Beden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5477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ısı · hava · kot · ritim · yoğunluk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504688" y="5477256"/>
            <a:ext cx="5934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Yoğunluk en güçlü etken: kalabalıkta insan hızlanır ve erken çıkar.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9808" y="594360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DUYULAR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Duyu, Yolculuğun Hangi Anında?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Duyular mekânın her yerinde aynı yoğunlukta çalışmaz; her duyunun baskın olduğu bir an vardır.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ÇEKİM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122023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EŞİK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912326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YÖNELME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702629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GEZİNME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492931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ETKİLEŞİM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6283234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SATIN ALMA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7073537" y="2084832"/>
            <a:ext cx="7903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AYRILIŞ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" y="2359152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487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Görme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49147" y="2583180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9450" y="2583180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29753" y="2583180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583180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9221" y="262204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39524" y="262204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29827" y="262204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33688" y="250545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vitrin silüeti · teşhir kontrastı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9808" y="290779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05409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688009" y="3188970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39450" y="3150108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9753" y="3150108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0056" y="3150108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9221" y="3188970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9524" y="3188970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29827" y="3188970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33688" y="307238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eşikte ısı · koridor genişliği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9808" y="347472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3621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Koklama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88009" y="3755898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9450" y="3717036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68615" y="3755898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8918" y="3755898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10359" y="3717036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39524" y="3755898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29827" y="3755898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33688" y="3639312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ilk izlenim · ürünün kendi kokusu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9808" y="404164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" y="41879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İşitme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688009" y="4322826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8312" y="4322826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68615" y="4322826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0056" y="4283964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10359" y="4283964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00662" y="4283964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29827" y="4322826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933688" y="4206240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genel akustik · kabinde sessizlik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9808" y="4608576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9808" y="475488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Dokunma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688009" y="4889754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8312" y="4889754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68615" y="4889754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020056" y="4850892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10359" y="4850892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639524" y="4889754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29827" y="4889754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933688" y="4773168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açık raf · deneme · tezgâh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49808" y="517550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49808" y="532180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2688009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78312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268615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58918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810359" y="5417820"/>
            <a:ext cx="155448" cy="155448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639524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29827" y="5456682"/>
            <a:ext cx="77724" cy="77724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933688" y="534009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tadım noktası · ikram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9808" y="5742432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ÇEVIRI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+ Boşluk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83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 ÜRÜN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695944" y="18836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1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ÇOK ÜRÜN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84452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3022" y="3008376"/>
            <a:ext cx="91440" cy="9144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3218688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Mücevher · sanat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712464"/>
            <a:ext cx="1753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birim değer yüksek; boşluk doğrudan değer anlamına gelir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53739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0899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0889" y="3008376"/>
            <a:ext cx="91440" cy="9144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7675" y="3218688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Parfüm · sofistike moda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887675" y="3712464"/>
            <a:ext cx="1753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seçilmiş az sayıda ürün, geniş boşluk, oturarak satış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23026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60186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7346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48756" y="3008376"/>
            <a:ext cx="91440" cy="9144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5542" y="3218688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Seramik · zanaat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025542" y="3712464"/>
            <a:ext cx="1753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parça tekil; kaide ve aralık gerekir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2313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29473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66633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03793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8053" y="268147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6623" y="3008376"/>
            <a:ext cx="91440" cy="9144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63410" y="3218688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Kitap · plak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63410" y="3712464"/>
            <a:ext cx="1753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tarama davranışı; orta yoğunluk, raf metrajı önemli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130180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67340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04500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41660" y="2526030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30180" y="268147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67340" y="268147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04500" y="268147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41660" y="2681478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24490" y="3008376"/>
            <a:ext cx="91440" cy="9144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01277" y="3218688"/>
            <a:ext cx="175381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Giyim · ayakkabı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9301277" y="3712464"/>
            <a:ext cx="17538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beden çeşidi yoğunluk üretir; stok yakınlığı belirleyici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9808" y="3054096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" y="4663440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4809744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sayısı arttıkça boşluk azalır; boşluk azaldıkça mekânın anlattığı şey değişir.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SEÇIMI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Hangi Tür Ürün Satan Markaları Seçebilirsiniz?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Ürünün türü mekândan istediği şeyi belirler. Kendi adayınız hangi gruba giriyor?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GRUBU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2011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ÖRNEK MARKA TÜRLERI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011680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MEKÂNDAN NE ISTER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2267712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238" y="255346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Yüksek değer, az ürün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310128" y="24323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Mücevher · saat · sanat baskısı · tekil tasarım objesi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601968" y="243230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Kilitli ve vitrinli teşhir · nokta aydınlatma · oturarak satış · güvenlik ve sigorta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294436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238" y="319354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7552" y="30723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Denenen ürün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30723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Giyim · ayakkabı · gözlük · şapka · takı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307238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Deneme kabini ve ayna · oturma · stok yakınlığı · ayakkabıda büyük kutu deposu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9808" y="358444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1238" y="383362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552" y="371246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Koklanan ürün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310128" y="37124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Parfüm · zeytinyağı ve baharat · sabun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01968" y="371246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tezgâhı · havalandırma ve koku nötrleme · lavabo · dökme satış ve kapalı stok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" y="422452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1238" y="447370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" y="43525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Taranan ürün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310128" y="43525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Kitap · plak · kırtasiye ve kâğıt · tohum ve bitki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601968" y="435254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Uzun raf metrajı · kategori işaretleme · oturma · bitkide su, ışık, nem ve drenaj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" y="486460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238" y="511378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7552" y="4992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Ağır ve hacimli ürün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310128" y="49926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Mobilya · halı ve kilim · ev tekstili · bisiklet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601968" y="499262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Kurulu kullanım senaryosu · geniş rota · asma ve katman sistemi · mal kabul ve büyük depo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" y="550468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1238" y="5753862"/>
            <a:ext cx="68580" cy="68580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87552" y="5632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Üretimi görünür ürün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310128" y="5632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Seramik · deri ve ayakkabı atölyesi · terzi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601968" y="5632704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ile satışın bir arada olması · fırın, çark, tezgâh · ısı, koku ve atık · kuruma rafı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49808" y="6144768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 Araştırması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" y="151790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77440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" y="2336292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523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79776"/>
            <a:ext cx="1698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marka bul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93008"/>
            <a:ext cx="16989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 akım olmayan, mağaza kimliği henüz oluşmamış adaylar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04795" y="2542032"/>
            <a:ext cx="0" cy="1719072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92247" y="2336292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7675" y="2523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887675" y="2779776"/>
            <a:ext cx="1698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Markayı araştır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7675" y="3493008"/>
            <a:ext cx="16989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 · kullanıcı · değer ve hikâye · rakipler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2662" y="2542032"/>
            <a:ext cx="0" cy="1719072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30114" y="2336292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5542" y="2523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5542" y="2779776"/>
            <a:ext cx="1698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anahtar kelime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25542" y="3493008"/>
            <a:ext cx="16989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Markayı mekâna taşıyabilecek üç kelime seç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80530" y="2542032"/>
            <a:ext cx="0" cy="1719072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67982" y="2336292"/>
            <a:ext cx="82296" cy="82296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63410" y="2523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6E8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163410" y="2779776"/>
            <a:ext cx="1698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Üründen mekâna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163410" y="3493008"/>
            <a:ext cx="16989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Sergileme ve depolama · aydınlatma · deneyim ve duyu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18397" y="2542032"/>
            <a:ext cx="0" cy="1719072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87561" y="2318004"/>
            <a:ext cx="118872" cy="118872"/>
          </a:xfrm>
          <a:prstGeom prst="ellipse">
            <a:avLst/>
          </a:prstGeom>
          <a:solidFill>
            <a:srgbClr val="1B3A5B"/>
          </a:solidFill>
          <a:ln w="11430">
            <a:solidFill>
              <a:srgbClr val="1B3A5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1277" y="252374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9301277" y="2779776"/>
            <a:ext cx="1698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Kelimeyi karara çevir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01277" y="3493008"/>
            <a:ext cx="16989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kelime için somut bir mekânsal karar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49808" y="462686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791456"/>
            <a:ext cx="10689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E4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 aday marka stüdyoda çalışılmaya başlanabilir; teslim hafta içinde alınacaktır.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402336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210" kern="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0799064" y="384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spc="140" kern="0" dirty="0">
                <a:solidFill>
                  <a:srgbClr val="C9D2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731520"/>
            <a:ext cx="10689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Dersin Temel Kaynakları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389888"/>
            <a:ext cx="940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Sunumun çerçevesi aşağıdaki makale ve ders izlencesinden kuruldu.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9808" y="1883664"/>
            <a:ext cx="10689336" cy="0"/>
          </a:xfrm>
          <a:prstGeom prst="line">
            <a:avLst/>
          </a:prstGeom>
          <a:noFill/>
          <a:ln w="12700">
            <a:solidFill>
              <a:srgbClr val="B9B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27648" y="2048256"/>
            <a:ext cx="0" cy="3986784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107692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04825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Sunar Bükülmez, P., Girginkaya Akdağ, S. ve Ekin, G. (2025)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226771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Design Competencies and Customer Journey Mapping Tools. The International Journal of Design Education, 19(2), 25–50. — Marka anahtarı ve yolculuk haritası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2948940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88950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Wheeler, A. (2017)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310896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Brand Identity. Wiley. — Marka DNA’sı ve marka deneyiminin bileşenleri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8952" y="3625596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3566160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Kotler, P. (1973)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378561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Atmospherics as a Marketing Tool. Journal of Retailing, 49(4), 48–64. — Atmosfer kavramı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" y="4302252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424281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Bitner, M. J. (1992)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46227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Servicescapes: The Impact of Physical Surroundings. Journal of Marketing, 56(2), 57–71. — Fiziksel çevrenin üç kanalı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58952" y="4978908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919472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Mehrabian, A. ve Russell, J. A. (1974)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5138928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Approach to Environmental Psychology. MIT Press. — Yaklaşma ve kaçınma davranışı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" y="565556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5596128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Spence, C. vd. (2014)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5815584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Atmospherics: A Multisensory Perspective. Psychology &amp; Marketing, 31(7), 472–488. — Duyuların birlikte çalışması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39712" y="2107692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68312" y="204825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Pallasmaa, J. (2005)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68312" y="226771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Eyes of the Skin. Wiley. [Tenin Gözleri, YEM Yayın] — Mekânın bedenle deneyimlenmesi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39712" y="2948940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68312" y="2889504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Lemon, K. N. ve Verhoef, P. C. (2016)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68312" y="3108960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Customer Experience Throughout the Customer Journey. Journal of Marketing, 80(6), 69–96.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39712" y="3625596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68312" y="3566160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Stein, A. ve Ramaseshan, B. (2016)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068312" y="3785616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Towards the Identification of Customer Experience Touch Point Elements. JRCS, 30, 8–19.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39712" y="4302252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68312" y="4242816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Underhill, P. (2008)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068312" y="4462272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Buy: The Science of Shopping. Simon &amp; Schuster. — Mağaza içi davranış ve sağa yönelim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39712" y="4978908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68312" y="4919472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Mesher, L. (2010)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068312" y="5138928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Basics Interior Design: Retail Design. AVA Publishing.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39712" y="5655564"/>
            <a:ext cx="64008" cy="64008"/>
          </a:xfrm>
          <a:prstGeom prst="ellipse">
            <a:avLst/>
          </a:prstGeom>
          <a:solidFill>
            <a:srgbClr val="C9D2DB"/>
          </a:solidFill>
          <a:ln w="11430">
            <a:solidFill>
              <a:srgbClr val="C9D2D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68312" y="5596128"/>
            <a:ext cx="4837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51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İç Mimari Tasarım III ders izlencesi (2025–2026)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068312" y="5815584"/>
            <a:ext cx="4837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 kapsamı, gereklilikler ve öğrenme çıktıları.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9808" y="6272784"/>
            <a:ext cx="10689336" cy="0"/>
          </a:xfrm>
          <a:prstGeom prst="line">
            <a:avLst/>
          </a:prstGeom>
          <a:noFill/>
          <a:ln w="9525">
            <a:solidFill>
              <a:srgbClr val="DCDFE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" y="6345936"/>
            <a:ext cx="10689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1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 modellerdeki diyagramlar bu sunum için yeniden çizilmiştir  ·  doi.org/10.18848/2325-128X/CGP/v19i02/25-50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 Anahtarını Okumak ve Müşteri Deneyimini Haritalamak</dc:title>
  <dc:subject>PptxGenJS Presentation</dc:subject>
  <dc:creator>Kapadokya Üniversitesi</dc:creator>
  <cp:lastModifiedBy>Kapadokya Üniversitesi</cp:lastModifiedBy>
  <cp:revision>1</cp:revision>
  <dcterms:created xsi:type="dcterms:W3CDTF">2026-09-28T09:26:01Z</dcterms:created>
  <dcterms:modified xsi:type="dcterms:W3CDTF">2026-09-28T09:26:01Z</dcterms:modified>
</cp:coreProperties>
</file>