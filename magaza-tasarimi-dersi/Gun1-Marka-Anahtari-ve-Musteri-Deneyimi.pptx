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slaytı dönem boyunca tekrar açın; öğrenci hangi soruda olduğunu bilsin.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Saatler kesin değil, sıra kesin. Gruplar için masaları yeniden dizmeye on dakika ayırın.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Yan etiketler, o jüride hangi konunun ölçüldüğünü gösteriyor. Bu slayt dersin haritası.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Küçük markada bu katmanlar sahibinin kafasındadır; öğrenci görüşerek çıkarmak zorunda.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Altı kaynağı tahtaya yazın; ödevin birinci adımı bunları toplamak.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Öğrenciler bu sekiz soruyu telefonlarına kaydetsin.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diyagram makaledeki Şekil 1a'nın Türkçeleştirilmiş hâli. Öz'ün en son yazıldığını vurgulayın.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Doldurulamayan başlık, araştırmanın eksik kaldığı yeri gösterir.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Öz cümlesinin doğrudan bir mekân kararı ürettiğine dikkat çekin — slaytın bütün amacı bu.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Üçüncü persona vurgusu önemli: refakatçi, mekânda en çok atlanan kullanıcıdır.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İkinci hafta alan ziyaretinde en az iki yöntemi uygulamalarını isteyin.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diyagram makaledeki Şekil 1b'nin Türkçeleştirilmiş hâli.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slayt vize 2 ve final değerlendirmesinin doğrudan karşılığı.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'Kaç parça' sorusunun doğru cevabı yok; hangi ayrımın işe yaradığı var.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slayt dersin kurgusunu meşrulaştırıyor: atölyeler keyfî değil.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Öğrenciler bu soruyu birbirine sorsun; kritik süresini çok kısaltır.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 kelimenin yanında kanıt zorunlu; kelime tek başına değersiz.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slayt dersin merkezi: öğrencinin bütün dönem kuracağı yapı bu.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matris vize 1 paftasında istenecek; boşluklar kritiğin konusu olacak.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Dönem boyunca bu slayt referans: öğrenci hangi adımda olduğunu buradan görür.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Altı kısıt dersin ayırt edici yeri: kapalı AVM mağazası kurgusu burada işlemez.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Depo gerekçesi en çok atlanan konu — ölçümlerde en zayıf modül organizasyonel ihtiyaçlar çıktı.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Teslim paketleri yazılı brifte ayrıntılı; burada sadece hatırlatıyoruz.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Dönem notu: araştırma sunumu %10, vize 1 %25, vize 2 %25, final %30, süreç %10.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Kanıt zorunluluğunu vurgulayın: kâğıtta bunun için ayrı bir alan var.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Uzlaşma istemeyin. Anlaşmazlık mekânın belirsiz kaldığı yeri gösteriyor.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Mersin ve Çukurova'ya özgü kategorileri örnekleyin: narenciye, baharat, zeytinyağı, sabun, tekstil atölyesi.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Kapanış cümlesi bu: araştırma tasarımın kendisidir.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1143000"/>
            <a:ext cx="10634472" cy="0"/>
          </a:xfrm>
          <a:prstGeom prst="line">
            <a:avLst/>
          </a:prstGeom>
          <a:noFill/>
          <a:ln w="12700">
            <a:solidFill>
              <a:srgbClr val="3A3A4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77240" y="132588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20" kern="0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MAĞAZA TASARIMI PROJE STÜDYOSU · 1. HAFTA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874520"/>
            <a:ext cx="104241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Bir marka nasıl</a:t>
            </a:r>
            <a:endParaRPr lang="en-US" sz="4800" dirty="0"/>
          </a:p>
          <a:p>
            <a:pPr indent="0" marL="0">
              <a:lnSpc>
                <a:spcPts val="6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mağazaya dönüşür?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777240" y="4114800"/>
            <a:ext cx="2194560" cy="0"/>
          </a:xfrm>
          <a:prstGeom prst="line">
            <a:avLst/>
          </a:prstGeom>
          <a:noFill/>
          <a:ln w="25400">
            <a:solidFill>
              <a:srgbClr val="8C3A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4370832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B9B9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Marka anahtarı · Persona · Müşteri yolculuğu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594360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Kullanılan modeller: I-AM Istanbul (2018) · Bükülmez vd. (2025)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80" kern="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 HARİTASI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6809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8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 dersin cevapladığı altı soru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77240" y="1490472"/>
            <a:ext cx="1371600" cy="0"/>
          </a:xfrm>
          <a:prstGeom prst="line">
            <a:avLst/>
          </a:prstGeom>
          <a:noFill/>
          <a:ln w="22225">
            <a:solidFill>
              <a:srgbClr val="8C3A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0" y="6364224"/>
            <a:ext cx="438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700784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Bugün ilk dördünü öğreneceğiz. Her soru bir sonrakinin girdisini üretir.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40864"/>
            <a:ext cx="640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BD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39572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Bir markanın kimliği nasıl okunur?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1554480" y="2871216"/>
            <a:ext cx="8869680" cy="0"/>
          </a:xfrm>
          <a:prstGeom prst="line">
            <a:avLst/>
          </a:prstGeom>
          <a:noFill/>
          <a:ln w="9525">
            <a:solidFill>
              <a:srgbClr val="EDED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980944"/>
            <a:ext cx="640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BD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30358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Markanın kimliği nasıl çıkarılır?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1554480" y="3511296"/>
            <a:ext cx="8869680" cy="0"/>
          </a:xfrm>
          <a:prstGeom prst="line">
            <a:avLst/>
          </a:prstGeom>
          <a:noFill/>
          <a:ln w="9525">
            <a:solidFill>
              <a:srgbClr val="EDED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3621024"/>
            <a:ext cx="640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BD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1554480" y="367588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Persona nasıl anlaşılır?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1554480" y="4151376"/>
            <a:ext cx="8869680" cy="0"/>
          </a:xfrm>
          <a:prstGeom prst="line">
            <a:avLst/>
          </a:prstGeom>
          <a:noFill/>
          <a:ln w="9525">
            <a:solidFill>
              <a:srgbClr val="EDEDF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261104"/>
            <a:ext cx="640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BD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1554480" y="431596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Müşteri yolculuğu nasıl haritalanır?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1554480" y="4791456"/>
            <a:ext cx="8869680" cy="0"/>
          </a:xfrm>
          <a:prstGeom prst="line">
            <a:avLst/>
          </a:prstGeom>
          <a:noFill/>
          <a:ln w="9525">
            <a:solidFill>
              <a:srgbClr val="EDED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901184"/>
            <a:ext cx="640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BD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1554480" y="495604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Anahtar kelimeler nasıl belirlenir?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1554480" y="5431536"/>
            <a:ext cx="8869680" cy="0"/>
          </a:xfrm>
          <a:prstGeom prst="line">
            <a:avLst/>
          </a:prstGeom>
          <a:noFill/>
          <a:ln w="9525">
            <a:solidFill>
              <a:srgbClr val="EDEDF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5541264"/>
            <a:ext cx="640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BD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1554480" y="559612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 kelimeler mekâna nasıl dönüşür?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1554480" y="6071616"/>
            <a:ext cx="8869680" cy="0"/>
          </a:xfrm>
          <a:prstGeom prst="line">
            <a:avLst/>
          </a:prstGeom>
          <a:noFill/>
          <a:ln w="9525">
            <a:solidFill>
              <a:srgbClr val="EDED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63093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150" i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Kimlik → kelime → mekân. Bu zincire çeviri zinciri diyoruz.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80" kern="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BUGÜN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6809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8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Sekiz saati nasıl geçireceğiz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77240" y="1490472"/>
            <a:ext cx="1371600" cy="0"/>
          </a:xfrm>
          <a:prstGeom prst="line">
            <a:avLst/>
          </a:prstGeom>
          <a:noFill/>
          <a:ln w="22225">
            <a:solidFill>
              <a:srgbClr val="8C3A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0" y="6364224"/>
            <a:ext cx="438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2960" y="2075688"/>
            <a:ext cx="164592" cy="164592"/>
          </a:xfrm>
          <a:prstGeom prst="ellipse">
            <a:avLst/>
          </a:prstGeom>
          <a:solidFill>
            <a:srgbClr val="B9B9C0"/>
          </a:solidFill>
          <a:ln w="12700">
            <a:solidFill>
              <a:srgbClr val="B9B9C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05256" y="2304288"/>
            <a:ext cx="0" cy="365760"/>
          </a:xfrm>
          <a:prstGeom prst="line">
            <a:avLst/>
          </a:prstGeom>
          <a:noFill/>
          <a:ln w="12700">
            <a:solidFill>
              <a:srgbClr val="C9C9C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34440" y="19933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saat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697480" y="1920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 brifi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5897880" y="199339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 akışı ve teslimler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" y="2825496"/>
            <a:ext cx="164592" cy="164592"/>
          </a:xfrm>
          <a:prstGeom prst="ellipse">
            <a:avLst/>
          </a:prstGeom>
          <a:solidFill>
            <a:srgbClr val="B9B9C0"/>
          </a:solidFill>
          <a:ln w="12700">
            <a:solidFill>
              <a:srgbClr val="B9B9C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05256" y="3054096"/>
            <a:ext cx="0" cy="365760"/>
          </a:xfrm>
          <a:prstGeom prst="line">
            <a:avLst/>
          </a:prstGeom>
          <a:noFill/>
          <a:ln w="12700">
            <a:solidFill>
              <a:srgbClr val="C9C9C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234440" y="27432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2–3. saat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697480" y="267004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 sunum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5897880" y="27432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araçları öğreniyoruz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77240" y="3529584"/>
            <a:ext cx="256032" cy="256032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5256" y="3803904"/>
            <a:ext cx="0" cy="365760"/>
          </a:xfrm>
          <a:prstGeom prst="line">
            <a:avLst/>
          </a:prstGeom>
          <a:noFill/>
          <a:ln w="12700">
            <a:solidFill>
              <a:srgbClr val="C9C9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234440" y="349300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saat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341985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Mağaza okuma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5897880" y="34930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bireysel analiz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77240" y="4279392"/>
            <a:ext cx="256032" cy="256032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05256" y="4553712"/>
            <a:ext cx="0" cy="365760"/>
          </a:xfrm>
          <a:prstGeom prst="line">
            <a:avLst/>
          </a:prstGeom>
          <a:noFill/>
          <a:ln w="12700">
            <a:solidFill>
              <a:srgbClr val="C9C9C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234440" y="4242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5–7. saat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2697480" y="416966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Grup çalışması</a:t>
            </a:r>
            <a:endParaRPr lang="en-US" sz="1900" dirty="0"/>
          </a:p>
        </p:txBody>
      </p:sp>
      <p:sp>
        <p:nvSpPr>
          <p:cNvPr id="25" name="Text 23"/>
          <p:cNvSpPr txBox="1"/>
          <p:nvPr/>
        </p:nvSpPr>
        <p:spPr>
          <a:xfrm>
            <a:off x="5897880" y="424281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okumaları karşılaştırma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22960" y="5074920"/>
            <a:ext cx="164592" cy="164592"/>
          </a:xfrm>
          <a:prstGeom prst="ellipse">
            <a:avLst/>
          </a:prstGeom>
          <a:solidFill>
            <a:srgbClr val="B9B9C0"/>
          </a:solidFill>
          <a:ln w="12700">
            <a:solidFill>
              <a:srgbClr val="B9B9C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234440" y="499262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saat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2697480" y="49194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Ödev</a:t>
            </a:r>
            <a:endParaRPr lang="en-US" sz="1900" dirty="0"/>
          </a:p>
        </p:txBody>
      </p:sp>
      <p:sp>
        <p:nvSpPr>
          <p:cNvPr id="29" name="Text 27"/>
          <p:cNvSpPr txBox="1"/>
          <p:nvPr/>
        </p:nvSpPr>
        <p:spPr>
          <a:xfrm>
            <a:off x="5897880" y="499262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üç aday marka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777240" y="5696712"/>
            <a:ext cx="1243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70" kern="0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GÜN SONUNDA ELİNİZDE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093976" y="5815584"/>
            <a:ext cx="9317736" cy="0"/>
          </a:xfrm>
          <a:prstGeom prst="line">
            <a:avLst/>
          </a:prstGeom>
          <a:noFill/>
          <a:ln w="9525">
            <a:solidFill>
              <a:srgbClr val="EDEDF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77240" y="5998464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350" dirty="0">
                <a:solidFill>
                  <a:srgbClr val="2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Doldurulmuş bir mağaza okuma kâğıdı, üç anahtar kelime ve haftaya teslim edilecek ödev.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80" kern="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ÇERÇEVE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6809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8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 araçlar nereden geliyor?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77240" y="1490472"/>
            <a:ext cx="1371600" cy="0"/>
          </a:xfrm>
          <a:prstGeom prst="line">
            <a:avLst/>
          </a:prstGeom>
          <a:noFill/>
          <a:ln w="22225">
            <a:solidFill>
              <a:srgbClr val="8C3A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0" y="6364224"/>
            <a:ext cx="438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700784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2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Aşağıdaki kurgu, altmış dokuz öğrenciyle yürütülmüş on dört haftalık bir mağaza tasarımı stüdyosundan geliyor. Araçlar profesyonel bir deneyim tasarımı ajansıyla birlikte geliştirildi ve sonuçları ölçüldü.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77240" y="2468880"/>
            <a:ext cx="2377440" cy="457200"/>
          </a:xfrm>
          <a:prstGeom prst="rect">
            <a:avLst/>
          </a:prstGeom>
          <a:ln w="9525">
            <a:solidFill>
              <a:srgbClr val="C9C9C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 brifi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7240" y="3017520"/>
            <a:ext cx="2377440" cy="457200"/>
          </a:xfrm>
          <a:prstGeom prst="rect">
            <a:avLst/>
          </a:prstGeom>
          <a:ln w="9525">
            <a:solidFill>
              <a:srgbClr val="C9C9C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017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Deneyim atölyesi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27832" y="2697480"/>
            <a:ext cx="338328" cy="320040"/>
          </a:xfrm>
          <a:prstGeom prst="line">
            <a:avLst/>
          </a:prstGeom>
          <a:noFill/>
          <a:ln w="16510">
            <a:solidFill>
              <a:srgbClr val="8C3A2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 flipV="1">
            <a:off x="3227832" y="3127248"/>
            <a:ext cx="338328" cy="118872"/>
          </a:xfrm>
          <a:prstGeom prst="line">
            <a:avLst/>
          </a:prstGeom>
          <a:noFill/>
          <a:ln w="16510">
            <a:solidFill>
              <a:srgbClr val="8C3A2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657600" y="2834640"/>
            <a:ext cx="2651760" cy="566928"/>
          </a:xfrm>
          <a:prstGeom prst="rect">
            <a:avLst/>
          </a:prstGeom>
          <a:ln w="9525">
            <a:solidFill>
              <a:srgbClr val="C9C9C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803904" y="2907792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Mağaza tasarımı projesi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803904" y="3200400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dört hafta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983480" y="3438144"/>
            <a:ext cx="0" cy="237744"/>
          </a:xfrm>
          <a:prstGeom prst="line">
            <a:avLst/>
          </a:prstGeom>
          <a:noFill/>
          <a:ln w="17780">
            <a:solidFill>
              <a:srgbClr val="8C3A2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657600" y="3712464"/>
            <a:ext cx="2651760" cy="566928"/>
          </a:xfrm>
          <a:prstGeom prst="rect">
            <a:avLst/>
          </a:prstGeom>
          <a:ln w="9525">
            <a:solidFill>
              <a:srgbClr val="C9C9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803904" y="3785616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Vize 1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3803904" y="4078224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 ve konsept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983480" y="4315968"/>
            <a:ext cx="0" cy="237744"/>
          </a:xfrm>
          <a:prstGeom prst="line">
            <a:avLst/>
          </a:prstGeom>
          <a:noFill/>
          <a:ln w="17780">
            <a:solidFill>
              <a:srgbClr val="8C3A2B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309360" y="3995928"/>
            <a:ext cx="274320" cy="0"/>
          </a:xfrm>
          <a:prstGeom prst="line">
            <a:avLst/>
          </a:prstGeom>
          <a:noFill/>
          <a:ln w="12700">
            <a:solidFill>
              <a:srgbClr val="C9C9C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56832" y="3840480"/>
            <a:ext cx="1165860" cy="310896"/>
          </a:xfrm>
          <a:prstGeom prst="roundRect">
            <a:avLst>
              <a:gd name="adj" fmla="val 50000"/>
            </a:avLst>
          </a:prstGeom>
          <a:solidFill>
            <a:srgbClr val="F6EAE6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711696" y="3840480"/>
            <a:ext cx="1056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Marka analizi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7950708" y="3840480"/>
            <a:ext cx="1303020" cy="310896"/>
          </a:xfrm>
          <a:prstGeom prst="roundRect">
            <a:avLst>
              <a:gd name="adj" fmla="val 50000"/>
            </a:avLst>
          </a:prstGeom>
          <a:solidFill>
            <a:srgbClr val="F6EAE6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005572" y="3840480"/>
            <a:ext cx="11932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Müşteri profili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657600" y="4590288"/>
            <a:ext cx="2651760" cy="566928"/>
          </a:xfrm>
          <a:prstGeom prst="rect">
            <a:avLst/>
          </a:prstGeom>
          <a:ln w="9525">
            <a:solidFill>
              <a:srgbClr val="C9C9C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803904" y="466344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Vize 2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3803904" y="4956048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somutlaştırma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983480" y="5193792"/>
            <a:ext cx="0" cy="237744"/>
          </a:xfrm>
          <a:prstGeom prst="line">
            <a:avLst/>
          </a:prstGeom>
          <a:noFill/>
          <a:ln w="17780">
            <a:solidFill>
              <a:srgbClr val="8C3A2B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6309360" y="4873752"/>
            <a:ext cx="274320" cy="0"/>
          </a:xfrm>
          <a:prstGeom prst="line">
            <a:avLst/>
          </a:prstGeom>
          <a:noFill/>
          <a:ln w="12700">
            <a:solidFill>
              <a:srgbClr val="C9C9C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656832" y="4718304"/>
            <a:ext cx="617220" cy="310896"/>
          </a:xfrm>
          <a:prstGeom prst="roundRect">
            <a:avLst>
              <a:gd name="adj" fmla="val 50000"/>
            </a:avLst>
          </a:prstGeom>
          <a:solidFill>
            <a:srgbClr val="F6EAE6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711696" y="4718304"/>
            <a:ext cx="5074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Çekim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402068" y="4718304"/>
            <a:ext cx="548640" cy="310896"/>
          </a:xfrm>
          <a:prstGeom prst="roundRect">
            <a:avLst>
              <a:gd name="adj" fmla="val 50000"/>
            </a:avLst>
          </a:prstGeom>
          <a:solidFill>
            <a:srgbClr val="F6EAE6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456932" y="4718304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Eşik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8078724" y="4718304"/>
            <a:ext cx="548640" cy="310896"/>
          </a:xfrm>
          <a:prstGeom prst="roundRect">
            <a:avLst>
              <a:gd name="adj" fmla="val 50000"/>
            </a:avLst>
          </a:prstGeom>
          <a:solidFill>
            <a:srgbClr val="F6EAE6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133588" y="4718304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Ürün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8755380" y="4718304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F6EAE6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810244" y="4718304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Organizasyon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9980676" y="4718304"/>
            <a:ext cx="754380" cy="310896"/>
          </a:xfrm>
          <a:prstGeom prst="roundRect">
            <a:avLst>
              <a:gd name="adj" fmla="val 50000"/>
            </a:avLst>
          </a:prstGeom>
          <a:solidFill>
            <a:srgbClr val="F6EAE6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10035540" y="4718304"/>
            <a:ext cx="6446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Yönelme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3657600" y="5468112"/>
            <a:ext cx="2651760" cy="566928"/>
          </a:xfrm>
          <a:prstGeom prst="rect">
            <a:avLst/>
          </a:prstGeom>
          <a:ln w="9525">
            <a:solidFill>
              <a:srgbClr val="C9C9C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3803904" y="5541264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3803904" y="5833872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detay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309360" y="5751576"/>
            <a:ext cx="274320" cy="0"/>
          </a:xfrm>
          <a:prstGeom prst="line">
            <a:avLst/>
          </a:prstGeom>
          <a:noFill/>
          <a:ln w="12700">
            <a:solidFill>
              <a:srgbClr val="C9C9C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656832" y="5596128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F6EAE6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711696" y="5596128"/>
            <a:ext cx="1124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Tüm bileşenler</a:t>
            </a:r>
            <a:endParaRPr lang="en-US" sz="950" dirty="0"/>
          </a:p>
        </p:txBody>
      </p:sp>
      <p:sp>
        <p:nvSpPr>
          <p:cNvPr id="47" name="Text 45"/>
          <p:cNvSpPr txBox="1"/>
          <p:nvPr/>
        </p:nvSpPr>
        <p:spPr>
          <a:xfrm>
            <a:off x="777240" y="5989320"/>
            <a:ext cx="10634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300" i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Sizin dönem kurgunuz da bu akışı izliyor: önce marka ve müşteri, sonra mekân, en son detay.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777240" y="63642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Bükülmez, Sunar &amp; Kuloğlu (2025), Şekil 2'den uyarlanmıştır.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1234440"/>
            <a:ext cx="10634472" cy="0"/>
          </a:xfrm>
          <a:prstGeom prst="line">
            <a:avLst/>
          </a:prstGeom>
          <a:noFill/>
          <a:ln w="12700">
            <a:solidFill>
              <a:srgbClr val="3A3A4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77240" y="1353312"/>
            <a:ext cx="310896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0" b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10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06324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Markanın kimliği nasıl okunur?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777240" y="4315968"/>
            <a:ext cx="2011680" cy="0"/>
          </a:xfrm>
          <a:prstGeom prst="line">
            <a:avLst/>
          </a:prstGeom>
          <a:noFill/>
          <a:ln w="25400">
            <a:solidFill>
              <a:srgbClr val="8C3A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452628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i="1" dirty="0">
                <a:solidFill>
                  <a:srgbClr val="B9B9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Marka bir logo değil, bir vaattir. Vaadi okumak için nereye bakılır?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80" kern="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· KİMLİK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6809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8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Markanın görünmeyen tarafı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77240" y="1490472"/>
            <a:ext cx="1371600" cy="0"/>
          </a:xfrm>
          <a:prstGeom prst="line">
            <a:avLst/>
          </a:prstGeom>
          <a:noFill/>
          <a:ln w="22225">
            <a:solidFill>
              <a:srgbClr val="8C3A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0" y="6364224"/>
            <a:ext cx="438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700784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Bir markanın görünen yüzü küçüktür: adı, logosu, rengi. Bunlar markayı tanıtır ama açıklamaz. Tasarımcının malzemesi alttaki katmandır.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194560" y="2468880"/>
            <a:ext cx="7772400" cy="3200400"/>
          </a:xfrm>
          <a:prstGeom prst="rect">
            <a:avLst/>
          </a:prstGeom>
          <a:ln w="10795">
            <a:solidFill>
              <a:srgbClr val="C9C9CF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2304288" y="2532888"/>
            <a:ext cx="7552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GÖRÜNEN — logo, renk, ambalaj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697480" y="2971800"/>
            <a:ext cx="6766560" cy="2194560"/>
          </a:xfrm>
          <a:prstGeom prst="rect">
            <a:avLst/>
          </a:prstGeom>
          <a:ln w="10795">
            <a:solidFill>
              <a:srgbClr val="C9C9C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807208" y="3035808"/>
            <a:ext cx="6547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DAVRANIŞ — nasıl satıyor, nasıl konuşuyor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00400" y="3474720"/>
            <a:ext cx="5760720" cy="1188720"/>
          </a:xfrm>
          <a:prstGeom prst="rect">
            <a:avLst/>
          </a:prstGeom>
          <a:ln w="10795">
            <a:solidFill>
              <a:srgbClr val="C9C9C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310128" y="3538728"/>
            <a:ext cx="5541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İNANÇ — neye değer veriyor, kime sesleniyor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703320" y="3977640"/>
            <a:ext cx="4754880" cy="182880"/>
          </a:xfrm>
          <a:prstGeom prst="rect">
            <a:avLst/>
          </a:prstGeom>
          <a:solidFill>
            <a:srgbClr val="F6EAE6"/>
          </a:solidFill>
          <a:ln w="17780">
            <a:solidFill>
              <a:srgbClr val="8C3A2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813048" y="4041648"/>
            <a:ext cx="4535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 — tek cümleyle ne vaat ediyor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5943600"/>
            <a:ext cx="10634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500" i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Yazılamayan bir marka mekâna da çevrilemez.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80" kern="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· KİMLİK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49808"/>
            <a:ext cx="10424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800" b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Kimlik nereden okunur?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77240" y="1490472"/>
            <a:ext cx="1371600" cy="0"/>
          </a:xfrm>
          <a:prstGeom prst="line">
            <a:avLst/>
          </a:prstGeom>
          <a:noFill/>
          <a:ln w="22225">
            <a:solidFill>
              <a:srgbClr val="8C3A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0" y="6364224"/>
            <a:ext cx="438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700784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Kimlik tahminle değil kanıtla çıkarılır. Altı kaynağa bakın; ikisi çelişiyorsa marka hakkında bir şey öğrenmiş olursunuz.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487168"/>
            <a:ext cx="3291840" cy="0"/>
          </a:xfrm>
          <a:prstGeom prst="line">
            <a:avLst/>
          </a:prstGeom>
          <a:noFill/>
          <a:ln w="15875">
            <a:solidFill>
              <a:srgbClr val="8C3A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2715768"/>
            <a:ext cx="274320" cy="274320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7157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197864" y="2688336"/>
            <a:ext cx="2871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Ürünün kendisi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09067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malzeme, ölçü, kırılganlık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453128" y="2487168"/>
            <a:ext cx="3291840" cy="0"/>
          </a:xfrm>
          <a:prstGeom prst="line">
            <a:avLst/>
          </a:prstGeom>
          <a:noFill/>
          <a:ln w="15875">
            <a:solidFill>
              <a:srgbClr val="8C3A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62272" y="2715768"/>
            <a:ext cx="274320" cy="274320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462272" y="27157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873752" y="2688336"/>
            <a:ext cx="2871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Ambalaj ve etiket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453128" y="309067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hangi dille yazılmış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129016" y="2487168"/>
            <a:ext cx="3291840" cy="0"/>
          </a:xfrm>
          <a:prstGeom prst="line">
            <a:avLst/>
          </a:prstGeom>
          <a:noFill/>
          <a:ln w="15875">
            <a:solidFill>
              <a:srgbClr val="8C3A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38160" y="2715768"/>
            <a:ext cx="274320" cy="274320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27157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8549640" y="2688336"/>
            <a:ext cx="2871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 olan dükkân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129016" y="309067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neyi çözmüş, neyi çözememiş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77240" y="3858768"/>
            <a:ext cx="3291840" cy="0"/>
          </a:xfrm>
          <a:prstGeom prst="line">
            <a:avLst/>
          </a:prstGeom>
          <a:noFill/>
          <a:ln w="15875">
            <a:solidFill>
              <a:srgbClr val="8C3A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86384" y="4087368"/>
            <a:ext cx="274320" cy="274320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86384" y="40873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197864" y="4059936"/>
            <a:ext cx="2871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Müşteri yorumları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77240" y="446227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neyi övüyor, neden şikâyet ediyor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453128" y="3858768"/>
            <a:ext cx="3291840" cy="0"/>
          </a:xfrm>
          <a:prstGeom prst="line">
            <a:avLst/>
          </a:prstGeom>
          <a:noFill/>
          <a:ln w="15875">
            <a:solidFill>
              <a:srgbClr val="8C3A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62272" y="4087368"/>
            <a:ext cx="274320" cy="274320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462272" y="40873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4873752" y="4059936"/>
            <a:ext cx="2871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Rakipler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4453128" y="446227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 yana konduğu üç marka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129016" y="3858768"/>
            <a:ext cx="3291840" cy="0"/>
          </a:xfrm>
          <a:prstGeom prst="line">
            <a:avLst/>
          </a:prstGeom>
          <a:noFill/>
          <a:ln w="15875">
            <a:solidFill>
              <a:srgbClr val="8C3A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138160" y="4087368"/>
            <a:ext cx="274320" cy="274320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138160" y="40873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8549640" y="4059936"/>
            <a:ext cx="2871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Sahibin anlatısı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8129016" y="446227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"biz aslında..." cümlesi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777240" y="544068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400" i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işe yarar soru sahibine sorulur: bu işi yaparken neyi reddediyorsunuz? Bir markayı, yapmadığı şey tarif eder.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777240" y="636422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i="1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Görsel önerisi — seçtiğiniz bir yerel markanın ürün ve ambalaj fotoğrafı bu slaytta örnek olarak gösterilebilir.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80" kern="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· KİMLİK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6809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8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Marka sahibine sorulacak sekiz soru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77240" y="1490472"/>
            <a:ext cx="1371600" cy="0"/>
          </a:xfrm>
          <a:prstGeom prst="line">
            <a:avLst/>
          </a:prstGeom>
          <a:noFill/>
          <a:ln w="22225">
            <a:solidFill>
              <a:srgbClr val="8C3A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0" y="6364224"/>
            <a:ext cx="438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700784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 sorular ödevin ilk adımı. Cevaplar not alınacak ve paftaya girecek.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59152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BD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435608" y="237744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dirty="0">
                <a:solidFill>
                  <a:srgbClr val="2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 işi neden kurdunuz?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435608" y="2980944"/>
            <a:ext cx="4215384" cy="0"/>
          </a:xfrm>
          <a:prstGeom prst="line">
            <a:avLst/>
          </a:prstGeom>
          <a:noFill/>
          <a:ln w="9525">
            <a:solidFill>
              <a:srgbClr val="EDED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0" y="2359152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BD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876288" y="237744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dirty="0">
                <a:solidFill>
                  <a:srgbClr val="2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Müşteriniz en çok neyi soruyor?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876288" y="2980944"/>
            <a:ext cx="4215384" cy="0"/>
          </a:xfrm>
          <a:prstGeom prst="line">
            <a:avLst/>
          </a:prstGeom>
          <a:noFill/>
          <a:ln w="9525">
            <a:solidFill>
              <a:srgbClr val="EDED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329184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BD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1435608" y="3310128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dirty="0">
                <a:solidFill>
                  <a:srgbClr val="2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 yapmayı reddediyorsunuz?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1435608" y="3913632"/>
            <a:ext cx="4215384" cy="0"/>
          </a:xfrm>
          <a:prstGeom prst="line">
            <a:avLst/>
          </a:prstGeom>
          <a:noFill/>
          <a:ln w="9525">
            <a:solidFill>
              <a:srgbClr val="EDEDF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17920" y="329184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BD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876288" y="3310128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dirty="0">
                <a:solidFill>
                  <a:srgbClr val="2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çok hangi ürün satıyor, neden?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876288" y="3913632"/>
            <a:ext cx="4215384" cy="0"/>
          </a:xfrm>
          <a:prstGeom prst="line">
            <a:avLst/>
          </a:prstGeom>
          <a:noFill/>
          <a:ln w="9525">
            <a:solidFill>
              <a:srgbClr val="EDED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224528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BD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1435608" y="4242816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dirty="0">
                <a:solidFill>
                  <a:srgbClr val="2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Müşteri ürünü eline alıyor mu?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435608" y="4846320"/>
            <a:ext cx="4215384" cy="0"/>
          </a:xfrm>
          <a:prstGeom prst="line">
            <a:avLst/>
          </a:prstGeom>
          <a:noFill/>
          <a:ln w="9525">
            <a:solidFill>
              <a:srgbClr val="EDEDF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217920" y="4224528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BD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6876288" y="4242816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dirty="0">
                <a:solidFill>
                  <a:srgbClr val="2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Deponuzda en çok ne yer kaplıyor?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876288" y="4846320"/>
            <a:ext cx="4215384" cy="0"/>
          </a:xfrm>
          <a:prstGeom prst="line">
            <a:avLst/>
          </a:prstGeom>
          <a:noFill/>
          <a:ln w="9525">
            <a:solidFill>
              <a:srgbClr val="EDED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157216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BD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1435608" y="517550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dirty="0">
                <a:solidFill>
                  <a:srgbClr val="2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Hangi markaya benzetiliyorsunuz?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1435608" y="5779008"/>
            <a:ext cx="4215384" cy="0"/>
          </a:xfrm>
          <a:prstGeom prst="line">
            <a:avLst/>
          </a:prstGeom>
          <a:noFill/>
          <a:ln w="9525">
            <a:solidFill>
              <a:srgbClr val="EDEDF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217920" y="5157216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BD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2200" dirty="0"/>
          </a:p>
        </p:txBody>
      </p:sp>
      <p:sp>
        <p:nvSpPr>
          <p:cNvPr id="29" name="Text 27"/>
          <p:cNvSpPr txBox="1"/>
          <p:nvPr/>
        </p:nvSpPr>
        <p:spPr>
          <a:xfrm>
            <a:off x="6876288" y="517550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dirty="0">
                <a:solidFill>
                  <a:srgbClr val="2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Beş yıl sonra ne olmak istiyorsunuz?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6876288" y="5779008"/>
            <a:ext cx="4215384" cy="0"/>
          </a:xfrm>
          <a:prstGeom prst="line">
            <a:avLst/>
          </a:prstGeom>
          <a:noFill/>
          <a:ln w="9525">
            <a:solidFill>
              <a:srgbClr val="EDEDF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" y="6126480"/>
            <a:ext cx="10634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300" i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Üçüncü soru en çok işe yarayanıdır.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1234440"/>
            <a:ext cx="10634472" cy="0"/>
          </a:xfrm>
          <a:prstGeom prst="line">
            <a:avLst/>
          </a:prstGeom>
          <a:noFill/>
          <a:ln w="12700">
            <a:solidFill>
              <a:srgbClr val="3A3A4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77240" y="1353312"/>
            <a:ext cx="310896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0" b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</a:t>
            </a:r>
            <a:endParaRPr lang="en-US" sz="10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06324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Markanın kimliği nasıl çıkarılır?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777240" y="4315968"/>
            <a:ext cx="2011680" cy="0"/>
          </a:xfrm>
          <a:prstGeom prst="line">
            <a:avLst/>
          </a:prstGeom>
          <a:noFill/>
          <a:ln w="25400">
            <a:solidFill>
              <a:srgbClr val="8C3A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452628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i="1" dirty="0">
                <a:solidFill>
                  <a:srgbClr val="B9B9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Okuduğunuz kimliği yazıya dökmenin adı marka anahtarıdır.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80" kern="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 · MARKA ANAHTARI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6809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8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Marka anahtarı: on bileşen, tek öz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77240" y="1490472"/>
            <a:ext cx="1371600" cy="0"/>
          </a:xfrm>
          <a:prstGeom prst="line">
            <a:avLst/>
          </a:prstGeom>
          <a:noFill/>
          <a:ln w="22225">
            <a:solidFill>
              <a:srgbClr val="8C3A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0" y="6364224"/>
            <a:ext cx="438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682496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Marka anahtarı, bir markayı belirli başlıklar altında tanımlayan bir şablondur. Üç grupta okunur.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355080" y="2011680"/>
            <a:ext cx="3657600" cy="3657600"/>
          </a:xfrm>
          <a:prstGeom prst="ellipse">
            <a:avLst/>
          </a:prstGeom>
          <a:ln w="15875">
            <a:solidFill>
              <a:srgbClr val="C9C9C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80160" y="3291840"/>
            <a:ext cx="5159156" cy="0"/>
          </a:xfrm>
          <a:prstGeom prst="line">
            <a:avLst/>
          </a:prstGeom>
          <a:noFill/>
          <a:ln w="15875">
            <a:solidFill>
              <a:srgbClr val="C9C9C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80160" y="4389120"/>
            <a:ext cx="5159156" cy="0"/>
          </a:xfrm>
          <a:prstGeom prst="line">
            <a:avLst/>
          </a:prstGeom>
          <a:noFill/>
          <a:ln w="15875">
            <a:solidFill>
              <a:srgbClr val="C9C9C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80160" y="3291840"/>
            <a:ext cx="0" cy="1097280"/>
          </a:xfrm>
          <a:prstGeom prst="line">
            <a:avLst/>
          </a:prstGeom>
          <a:noFill/>
          <a:ln w="15875">
            <a:solidFill>
              <a:srgbClr val="C9C9C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00200" y="3383280"/>
            <a:ext cx="914400" cy="914400"/>
          </a:xfrm>
          <a:prstGeom prst="ellipse">
            <a:avLst/>
          </a:prstGeom>
          <a:solidFill>
            <a:srgbClr val="FCFCFA"/>
          </a:solidFill>
          <a:ln w="16510">
            <a:solidFill>
              <a:srgbClr val="16161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600200" y="33832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161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REKABET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00400" y="3383280"/>
            <a:ext cx="914400" cy="914400"/>
          </a:xfrm>
          <a:prstGeom prst="ellipse">
            <a:avLst/>
          </a:prstGeom>
          <a:solidFill>
            <a:srgbClr val="FCFCFA"/>
          </a:solidFill>
          <a:ln w="16510">
            <a:solidFill>
              <a:srgbClr val="16161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200400" y="33832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161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HEDEF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161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KİTLE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800600" y="3383280"/>
            <a:ext cx="914400" cy="914400"/>
          </a:xfrm>
          <a:prstGeom prst="ellipse">
            <a:avLst/>
          </a:prstGeom>
          <a:solidFill>
            <a:srgbClr val="FCFCFA"/>
          </a:solidFill>
          <a:ln w="16510">
            <a:solidFill>
              <a:srgbClr val="16161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00600" y="33832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161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HEDEFLER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290779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b="1" spc="200" kern="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BAĞLAM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589520" y="3246120"/>
            <a:ext cx="1188720" cy="1188720"/>
          </a:xfrm>
          <a:prstGeom prst="ellipse">
            <a:avLst/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589520" y="32461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ÖZ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6922008" y="2368296"/>
            <a:ext cx="786384" cy="786384"/>
          </a:xfrm>
          <a:prstGeom prst="ellipse">
            <a:avLst/>
          </a:prstGeom>
          <a:solidFill>
            <a:srgbClr val="EFEFEC"/>
          </a:solidFill>
          <a:ln w="15240">
            <a:solidFill>
              <a:srgbClr val="7A7A8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922008" y="2368296"/>
            <a:ext cx="7863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MİSYON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7790688" y="2368296"/>
            <a:ext cx="786384" cy="786384"/>
          </a:xfrm>
          <a:prstGeom prst="ellipse">
            <a:avLst/>
          </a:prstGeom>
          <a:solidFill>
            <a:srgbClr val="EFEFEC"/>
          </a:solidFill>
          <a:ln w="15240">
            <a:solidFill>
              <a:srgbClr val="7A7A8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90688" y="2368296"/>
            <a:ext cx="7863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DEĞERLER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8659368" y="2368296"/>
            <a:ext cx="786384" cy="786384"/>
          </a:xfrm>
          <a:prstGeom prst="ellipse">
            <a:avLst/>
          </a:prstGeom>
          <a:solidFill>
            <a:srgbClr val="EFEFEC"/>
          </a:solidFill>
          <a:ln w="15240">
            <a:solidFill>
              <a:srgbClr val="7A7A8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59368" y="2368296"/>
            <a:ext cx="7863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FAYDALAR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22008" y="4526280"/>
            <a:ext cx="786384" cy="786384"/>
          </a:xfrm>
          <a:prstGeom prst="ellipse">
            <a:avLst/>
          </a:prstGeom>
          <a:solidFill>
            <a:srgbClr val="F6EAE6"/>
          </a:solidFill>
          <a:ln w="15240">
            <a:solidFill>
              <a:srgbClr val="8C3A2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922008" y="4526280"/>
            <a:ext cx="7863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7790688" y="4526280"/>
            <a:ext cx="786384" cy="786384"/>
          </a:xfrm>
          <a:prstGeom prst="ellipse">
            <a:avLst/>
          </a:prstGeom>
          <a:solidFill>
            <a:srgbClr val="F6EAE6"/>
          </a:solidFill>
          <a:ln w="15240">
            <a:solidFill>
              <a:srgbClr val="8C3A2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790688" y="4526280"/>
            <a:ext cx="7863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GÖRÜNÜM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8659368" y="4526280"/>
            <a:ext cx="786384" cy="786384"/>
          </a:xfrm>
          <a:prstGeom prst="ellipse">
            <a:avLst/>
          </a:prstGeom>
          <a:solidFill>
            <a:srgbClr val="F6EAE6"/>
          </a:solidFill>
          <a:ln w="15240">
            <a:solidFill>
              <a:srgbClr val="8C3A2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59368" y="4526280"/>
            <a:ext cx="7863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KİŞİLİK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6355080" y="181965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b="1" spc="200" kern="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KONUMLANDIRMA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6355080" y="570585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b="1" spc="200" kern="0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İFADE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777240" y="60533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250" i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Öz en son yazılır: markanın kendi iddiası değil, müşterinin markayı nasıl anlattığıdır.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777240" y="634593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i="1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Kaynak: I-AM Istanbul, Brand Key Analysis Tool (2018).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80" kern="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 · MARKA ANAHTARI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6809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8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 bileşen bir soruya cevap verir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77240" y="1490472"/>
            <a:ext cx="1371600" cy="0"/>
          </a:xfrm>
          <a:prstGeom prst="line">
            <a:avLst/>
          </a:prstGeom>
          <a:noFill/>
          <a:ln w="22225">
            <a:solidFill>
              <a:srgbClr val="8C3A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0" y="6364224"/>
            <a:ext cx="438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828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BAĞLAM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08483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50" i="1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dışarıdan gelen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77240" y="1737360"/>
            <a:ext cx="10634472" cy="0"/>
          </a:xfrm>
          <a:prstGeom prst="line">
            <a:avLst/>
          </a:prstGeom>
          <a:noFill/>
          <a:ln w="12700">
            <a:solidFill>
              <a:srgbClr val="C9C9C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834640" y="18288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Rekabet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709160" y="1847088"/>
            <a:ext cx="6702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Müşteri bu markayı hangi üç seçenekle yan yana koyuyor?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834640" y="221284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Hedef kitle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709160" y="2231136"/>
            <a:ext cx="6702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Kime sesleniyor? Yaşla değil, davranışla tarif edin.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834640" y="25968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Hedefler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709160" y="2615184"/>
            <a:ext cx="6702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İki-üç yıl içinde nereye varmak istiyor?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31272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KONUMLANDIRMA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338328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50" i="1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markanın kendi tanımı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77240" y="3035808"/>
            <a:ext cx="10634472" cy="0"/>
          </a:xfrm>
          <a:prstGeom prst="line">
            <a:avLst/>
          </a:prstGeom>
          <a:noFill/>
          <a:ln w="7620">
            <a:solidFill>
              <a:srgbClr val="EDED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834640" y="312724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Misyon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709160" y="3145536"/>
            <a:ext cx="6702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marka neden var?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2834640" y="35112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Değerler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709160" y="3529584"/>
            <a:ext cx="6702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Neye değer veriyor, neyi reddediyor?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2834640" y="389534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Faydalar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709160" y="3913632"/>
            <a:ext cx="6702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Ürün ne işe yarıyor, insanı ne hissettiriyor?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442569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İFADE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468172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50" i="1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nasıl göründüğü ve konuştuğu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77240" y="4334256"/>
            <a:ext cx="10634472" cy="0"/>
          </a:xfrm>
          <a:prstGeom prst="line">
            <a:avLst/>
          </a:prstGeom>
          <a:noFill/>
          <a:ln w="7620">
            <a:solidFill>
              <a:srgbClr val="EDEDF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834640" y="44256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Ton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709160" y="4443984"/>
            <a:ext cx="6702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Müşteriyle nasıl bir dille konuşuyor?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2834640" y="480974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Görünüm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709160" y="4828032"/>
            <a:ext cx="6702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Malzemesi, rengi, dokusu ne?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2834640" y="51937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Kişilik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709160" y="5212080"/>
            <a:ext cx="6702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marka bir insan olsa nasıl biri olurdu?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77240" y="5632704"/>
            <a:ext cx="10634472" cy="0"/>
          </a:xfrm>
          <a:prstGeom prst="line">
            <a:avLst/>
          </a:prstGeom>
          <a:noFill/>
          <a:ln w="7620">
            <a:solidFill>
              <a:srgbClr val="EDED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7240" y="5779008"/>
            <a:ext cx="10634472" cy="566928"/>
          </a:xfrm>
          <a:prstGeom prst="rect">
            <a:avLst/>
          </a:prstGeom>
          <a:solidFill>
            <a:srgbClr val="F6EAE6"/>
          </a:solidFill>
          <a:ln w="15875">
            <a:solidFill>
              <a:srgbClr val="8C3A2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96696" y="585216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1600200" y="5815584"/>
            <a:ext cx="9509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Müşteri bu markayı başkasına nasıl anlatıyor?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80" kern="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 · MARKA ANAHTARI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6809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8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Doldurulmuş örnek: küçük bir kahve kavurucusu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77240" y="1490472"/>
            <a:ext cx="1371600" cy="0"/>
          </a:xfrm>
          <a:prstGeom prst="line">
            <a:avLst/>
          </a:prstGeom>
          <a:noFill/>
          <a:ln w="22225">
            <a:solidFill>
              <a:srgbClr val="8C3A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0" y="6364224"/>
            <a:ext cx="438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700784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Tek dükkânlı, kendi çekirdeğini kavuran, henüz tasarım dili olmayan bir kahveci.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3172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Rekabet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606040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2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Zincirler değil, semtteki üç küçük kavurucu.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17296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Hedef kitle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447288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2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Tarif ederek soran, bekleyebilen müşteri.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01421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Hedefler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288536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2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İki yıl içinde kavurmayı gösteren ikinci dükkân.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4389120" y="233172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Misyon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4389120" y="2606040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2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İnsanın ne içtiğini bilmesini sağlamak.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4389120" y="317296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Değerler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4389120" y="3447288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2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Meraklı, sabırlı; öğretmeyi seviyor.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389120" y="401421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Faydalar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4288536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2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Taze çekirdek; ne aldığını anlama duygusu.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8001000" y="233172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8001000" y="2606040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2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yazısı etiket, az söz, tarih yazan fiş.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8001000" y="317296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Görünüm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8001000" y="3447288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2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Ham metal, açık ahşap, cam kavanoz.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8001000" y="401421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Kişilik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8001000" y="4288536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2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Anlatmayı seven ama satmaya çalışmayan usta.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4206240" y="2286000"/>
            <a:ext cx="0" cy="2468880"/>
          </a:xfrm>
          <a:prstGeom prst="line">
            <a:avLst/>
          </a:prstGeom>
          <a:noFill/>
          <a:ln w="7620">
            <a:solidFill>
              <a:srgbClr val="EDED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18120" y="2286000"/>
            <a:ext cx="0" cy="2468880"/>
          </a:xfrm>
          <a:prstGeom prst="line">
            <a:avLst/>
          </a:prstGeom>
          <a:noFill/>
          <a:ln w="7620">
            <a:solidFill>
              <a:srgbClr val="EDED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7240" y="5029200"/>
            <a:ext cx="10634472" cy="777240"/>
          </a:xfrm>
          <a:prstGeom prst="rect">
            <a:avLst/>
          </a:prstGeom>
          <a:solidFill>
            <a:srgbClr val="F6EAE6"/>
          </a:solidFill>
          <a:ln w="15875">
            <a:solidFill>
              <a:srgbClr val="8C3A2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05840" y="51572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1691640" y="512064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i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“Kahveyi saklamayan, gösteren dükkân.”</a:t>
            </a:r>
            <a:endParaRPr lang="en-US" sz="2000" dirty="0"/>
          </a:p>
        </p:txBody>
      </p:sp>
      <p:sp>
        <p:nvSpPr>
          <p:cNvPr id="30" name="Text 28"/>
          <p:cNvSpPr txBox="1"/>
          <p:nvPr/>
        </p:nvSpPr>
        <p:spPr>
          <a:xfrm>
            <a:off x="777240" y="5989320"/>
            <a:ext cx="10634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350" dirty="0">
                <a:solidFill>
                  <a:srgbClr val="2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 cümle zaten bir mekân kararıdır: üretim görünür olmalı.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1234440"/>
            <a:ext cx="10634472" cy="0"/>
          </a:xfrm>
          <a:prstGeom prst="line">
            <a:avLst/>
          </a:prstGeom>
          <a:noFill/>
          <a:ln w="12700">
            <a:solidFill>
              <a:srgbClr val="3A3A4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77240" y="1353312"/>
            <a:ext cx="310896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b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III</a:t>
            </a:r>
            <a:endParaRPr lang="en-US" sz="78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06324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Persona nasıl anlaşılır?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777240" y="4315968"/>
            <a:ext cx="2011680" cy="0"/>
          </a:xfrm>
          <a:prstGeom prst="line">
            <a:avLst/>
          </a:prstGeom>
          <a:noFill/>
          <a:ln w="25400">
            <a:solidFill>
              <a:srgbClr val="8C3A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452628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i="1" dirty="0">
                <a:solidFill>
                  <a:srgbClr val="B9B9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Hedef kitle bir istatistik değil; tek bir insanın gününde görünür hâle gelmesidir.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80" kern="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 · PERSONA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6809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8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Persona nedir, neden üç tane?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77240" y="1490472"/>
            <a:ext cx="1371600" cy="0"/>
          </a:xfrm>
          <a:prstGeom prst="line">
            <a:avLst/>
          </a:prstGeom>
          <a:noFill/>
          <a:ln w="22225">
            <a:solidFill>
              <a:srgbClr val="8C3A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0" y="6364224"/>
            <a:ext cx="438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700784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Persona, hedef kitleyi tek bir kişide somutlaştırmaktır. Amacı, tasarım kararlarını gerçek bir ihtiyaca bağlamak. Stüdyoda üç persona istenir; biri ana persona olur.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450592"/>
            <a:ext cx="3291840" cy="1508760"/>
          </a:xfrm>
          <a:prstGeom prst="rect">
            <a:avLst/>
          </a:prstGeom>
          <a:solidFill>
            <a:srgbClr val="F6EAE6"/>
          </a:solidFill>
          <a:ln w="15875">
            <a:solidFill>
              <a:srgbClr val="8C3A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78408" y="2615184"/>
            <a:ext cx="2889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PERSONA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978408" y="2926080"/>
            <a:ext cx="28895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Markanın asıl seslendiği kişi.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78408" y="3602736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mekânı bu kişi belirler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453128" y="2450592"/>
            <a:ext cx="3291840" cy="1508760"/>
          </a:xfrm>
          <a:prstGeom prst="rect">
            <a:avLst/>
          </a:prstGeom>
          <a:ln w="9525">
            <a:solidFill>
              <a:srgbClr val="C9C9C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54296" y="2615184"/>
            <a:ext cx="2889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İKİNCİ PERSONA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654296" y="2926080"/>
            <a:ext cx="28895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2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Aynı ürünü farklı bir nedenle alan kişi.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654296" y="3602736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esnekliği bu kişi sınar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129016" y="2450592"/>
            <a:ext cx="3291840" cy="1508760"/>
          </a:xfrm>
          <a:prstGeom prst="rect">
            <a:avLst/>
          </a:prstGeom>
          <a:ln w="9525">
            <a:solidFill>
              <a:srgbClr val="C9C9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30184" y="2615184"/>
            <a:ext cx="2889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ÜÇÜNCÜ PERSONA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330184" y="2926080"/>
            <a:ext cx="28895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2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Refakatçi: çocuk, eş, kurye, tedarikçi.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330184" y="3602736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eksikleri bu kişi gösterir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4224528"/>
            <a:ext cx="101681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70" kern="0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NE YAZAR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867205" y="4343400"/>
            <a:ext cx="9544507" cy="0"/>
          </a:xfrm>
          <a:prstGeom prst="line">
            <a:avLst/>
          </a:prstGeom>
          <a:noFill/>
          <a:ln w="9525">
            <a:solidFill>
              <a:srgbClr val="EDED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7240" y="4526280"/>
            <a:ext cx="10634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400" dirty="0">
                <a:solidFill>
                  <a:srgbClr val="2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Yaş ve gelir bir mekân kararı üretmez. İşe yarayan persona kişinin ne yaptığını anlatır: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09244" y="5097780"/>
            <a:ext cx="100584" cy="100584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51560" y="501091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İşten çıkınca uğruyor, on dakikası var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389120" y="502005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kalma süresi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249924" y="5097780"/>
            <a:ext cx="100584" cy="100584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92240" y="501091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Ürünü eline almadan karar vermiyor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9829800" y="502005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dokunma izni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09244" y="5554980"/>
            <a:ext cx="100584" cy="100584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51560" y="546811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 sormayı sevmiyor, etiketten okuyor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389120" y="547725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bilgi katmanı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249924" y="5554980"/>
            <a:ext cx="100584" cy="100584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492240" y="546811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Yanında çocuk ya da poşetle geliyor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829800" y="547725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koridor genişliği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777240" y="6035040"/>
            <a:ext cx="10634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300" i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Kural: bir madde bir tasarım kararını değiştirmiyorsa personaya ait değildir.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80" kern="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 · PERSONA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49808"/>
            <a:ext cx="10424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800" b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Persona nasıl çıkarılır?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77240" y="1490472"/>
            <a:ext cx="1371600" cy="0"/>
          </a:xfrm>
          <a:prstGeom prst="line">
            <a:avLst/>
          </a:prstGeom>
          <a:noFill/>
          <a:ln w="22225">
            <a:solidFill>
              <a:srgbClr val="8C3A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0" y="6364224"/>
            <a:ext cx="438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700784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Persona anket doldurtarak değil, gözlemle çıkar. Üç yöntem var; üçü de bir hafta içinde tek başına uygulanabilir.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487168"/>
            <a:ext cx="3291840" cy="2514600"/>
          </a:xfrm>
          <a:prstGeom prst="rect">
            <a:avLst/>
          </a:prstGeom>
          <a:ln w="9525">
            <a:solidFill>
              <a:srgbClr val="C9C9C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42416" y="2752344"/>
            <a:ext cx="310896" cy="310896"/>
          </a:xfrm>
          <a:prstGeom prst="ellipse">
            <a:avLst/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42416" y="2752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96696" y="3236976"/>
            <a:ext cx="2852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Hizmet safarisi</a:t>
            </a:r>
            <a:endParaRPr lang="en-US" sz="1650" dirty="0"/>
          </a:p>
        </p:txBody>
      </p:sp>
      <p:sp>
        <p:nvSpPr>
          <p:cNvPr id="11" name="Text 9"/>
          <p:cNvSpPr txBox="1"/>
          <p:nvPr/>
        </p:nvSpPr>
        <p:spPr>
          <a:xfrm>
            <a:off x="996696" y="3621024"/>
            <a:ext cx="28529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Kendiniz müşteri olursunuz: alışverişi baştan sona yaşar, her adımda ne hissettiğinizi not edersiniz.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996696" y="4590288"/>
            <a:ext cx="2852928" cy="0"/>
          </a:xfrm>
          <a:prstGeom prst="line">
            <a:avLst/>
          </a:prstGeom>
          <a:noFill/>
          <a:ln w="9525">
            <a:solidFill>
              <a:srgbClr val="EDED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6696" y="4654296"/>
            <a:ext cx="2852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yolculuğu kendi üzerinizde yaşarsınız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453128" y="2487168"/>
            <a:ext cx="3291840" cy="2514600"/>
          </a:xfrm>
          <a:prstGeom prst="rect">
            <a:avLst/>
          </a:prstGeom>
          <a:solidFill>
            <a:srgbClr val="F6EAE6"/>
          </a:solidFill>
          <a:ln w="15875">
            <a:solidFill>
              <a:srgbClr val="8C3A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18304" y="2752344"/>
            <a:ext cx="310896" cy="310896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718304" y="2752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672584" y="3236976"/>
            <a:ext cx="2852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Yerinde gözlem</a:t>
            </a:r>
            <a:endParaRPr lang="en-US" sz="1650" dirty="0"/>
          </a:p>
        </p:txBody>
      </p:sp>
      <p:sp>
        <p:nvSpPr>
          <p:cNvPr id="18" name="Text 16"/>
          <p:cNvSpPr txBox="1"/>
          <p:nvPr/>
        </p:nvSpPr>
        <p:spPr>
          <a:xfrm>
            <a:off x="4672584" y="3621024"/>
            <a:ext cx="28529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Mağazada durup insanları izlersiniz: nereye bakıyor, nerede duraklıyor, neye dokunuyor?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72584" y="4590288"/>
            <a:ext cx="2852928" cy="0"/>
          </a:xfrm>
          <a:prstGeom prst="line">
            <a:avLst/>
          </a:prstGeom>
          <a:noFill/>
          <a:ln w="9525">
            <a:solidFill>
              <a:srgbClr val="8C3A2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672584" y="4654296"/>
            <a:ext cx="2852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insanların gerçekte ne yaptığını verir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129016" y="2487168"/>
            <a:ext cx="3291840" cy="2514600"/>
          </a:xfrm>
          <a:prstGeom prst="rect">
            <a:avLst/>
          </a:prstGeom>
          <a:ln w="9525">
            <a:solidFill>
              <a:srgbClr val="C9C9C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394192" y="2752344"/>
            <a:ext cx="310896" cy="310896"/>
          </a:xfrm>
          <a:prstGeom prst="ellipse">
            <a:avLst/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394192" y="2752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348472" y="3236976"/>
            <a:ext cx="2852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Bağlamsal görüşme</a:t>
            </a:r>
            <a:endParaRPr lang="en-US" sz="1650" dirty="0"/>
          </a:p>
        </p:txBody>
      </p:sp>
      <p:sp>
        <p:nvSpPr>
          <p:cNvPr id="25" name="Text 23"/>
          <p:cNvSpPr txBox="1"/>
          <p:nvPr/>
        </p:nvSpPr>
        <p:spPr>
          <a:xfrm>
            <a:off x="8348472" y="3621024"/>
            <a:ext cx="28529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Müşteriyle mekânın içinde konuşursunuz. Sorular yaşanan ana bağlı olduğu için cevaplar somuttur.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348472" y="4590288"/>
            <a:ext cx="2852928" cy="0"/>
          </a:xfrm>
          <a:prstGeom prst="line">
            <a:avLst/>
          </a:prstGeom>
          <a:noFill/>
          <a:ln w="9525">
            <a:solidFill>
              <a:srgbClr val="EDEDF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348472" y="4654296"/>
            <a:ext cx="2852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davranışın nedenini verir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77240" y="525780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Üçü birlikte kullanıldığında birbirini doğrular. Gözlem yazıya ve fotoğrafa dökülmeli; hatırlanan gözlem, gözlem sayılmaz.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777240" y="63642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Stickdorn vd. (2018); Micheaux &amp; Bosio (2019).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1234440"/>
            <a:ext cx="10634472" cy="0"/>
          </a:xfrm>
          <a:prstGeom prst="line">
            <a:avLst/>
          </a:prstGeom>
          <a:noFill/>
          <a:ln w="12700">
            <a:solidFill>
              <a:srgbClr val="3A3A4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77240" y="1353312"/>
            <a:ext cx="310896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0" b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</a:t>
            </a:r>
            <a:endParaRPr lang="en-US" sz="10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06324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Müşteri yolculuğu nasıl haritalanır?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4315968"/>
            <a:ext cx="2011680" cy="0"/>
          </a:xfrm>
          <a:prstGeom prst="line">
            <a:avLst/>
          </a:prstGeom>
          <a:noFill/>
          <a:ln w="25400">
            <a:solidFill>
              <a:srgbClr val="8C3A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452628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i="1" dirty="0">
                <a:solidFill>
                  <a:srgbClr val="B9B9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Deneyim bir bütün değil, sıralı anlardır. Haritanın işi o anları ayırmaktır.</a:t>
            </a:r>
            <a:endParaRPr lang="en-US" sz="1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80" kern="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· YOLCULUK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6809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8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Müşteri yolculuğu: sekiz adım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77240" y="1490472"/>
            <a:ext cx="1371600" cy="0"/>
          </a:xfrm>
          <a:prstGeom prst="line">
            <a:avLst/>
          </a:prstGeom>
          <a:noFill/>
          <a:ln w="22225">
            <a:solidFill>
              <a:srgbClr val="8C3A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0" y="6364224"/>
            <a:ext cx="438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225796" y="3063240"/>
            <a:ext cx="1737360" cy="1737360"/>
          </a:xfrm>
          <a:prstGeom prst="ellipse">
            <a:avLst/>
          </a:prstGeom>
          <a:ln w="12700">
            <a:solidFill>
              <a:srgbClr val="EDED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80076" y="3547872"/>
            <a:ext cx="18288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MÜŞTERİ</a:t>
            </a:r>
            <a:endParaRPr lang="en-US" sz="16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YOLCULUĞU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820156" y="2212848"/>
            <a:ext cx="548640" cy="548640"/>
          </a:xfrm>
          <a:prstGeom prst="ellipse">
            <a:avLst/>
          </a:prstGeom>
          <a:solidFill>
            <a:srgbClr val="FCFCFA"/>
          </a:solidFill>
          <a:ln w="17780">
            <a:solidFill>
              <a:srgbClr val="B9B9C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820156" y="22128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B9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408676" y="178308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A7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Farkındalık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309483" y="2636006"/>
            <a:ext cx="548640" cy="548640"/>
          </a:xfrm>
          <a:prstGeom prst="ellipse">
            <a:avLst/>
          </a:prstGeom>
          <a:solidFill>
            <a:srgbClr val="F6EAE6"/>
          </a:solidFill>
          <a:ln w="17780">
            <a:solidFill>
              <a:srgbClr val="8C3A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09483" y="263600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976995" y="275487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Çekim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340596" y="3657600"/>
            <a:ext cx="548640" cy="548640"/>
          </a:xfrm>
          <a:prstGeom prst="ellipse">
            <a:avLst/>
          </a:prstGeom>
          <a:solidFill>
            <a:srgbClr val="F6EAE6"/>
          </a:solidFill>
          <a:ln w="17780">
            <a:solidFill>
              <a:srgbClr val="8C3A2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340596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0008108" y="377647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Eşik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309483" y="4679194"/>
            <a:ext cx="548640" cy="548640"/>
          </a:xfrm>
          <a:prstGeom prst="ellipse">
            <a:avLst/>
          </a:prstGeom>
          <a:solidFill>
            <a:srgbClr val="F6EAE6"/>
          </a:solidFill>
          <a:ln w="17780">
            <a:solidFill>
              <a:srgbClr val="8C3A2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09483" y="467919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976995" y="479806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Yönelme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820156" y="5102352"/>
            <a:ext cx="548640" cy="548640"/>
          </a:xfrm>
          <a:prstGeom prst="ellipse">
            <a:avLst/>
          </a:prstGeom>
          <a:solidFill>
            <a:srgbClr val="F6EAE6"/>
          </a:solidFill>
          <a:ln w="17780">
            <a:solidFill>
              <a:srgbClr val="8C3A2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820156" y="51023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408676" y="576986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Gezinme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248533" y="4596898"/>
            <a:ext cx="713232" cy="713232"/>
          </a:xfrm>
          <a:prstGeom prst="ellipse">
            <a:avLst/>
          </a:prstGeom>
          <a:ln w="12700">
            <a:solidFill>
              <a:srgbClr val="8C3A2B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3330829" y="4679194"/>
            <a:ext cx="548640" cy="548640"/>
          </a:xfrm>
          <a:prstGeom prst="ellipse">
            <a:avLst/>
          </a:prstGeom>
          <a:solidFill>
            <a:srgbClr val="FCFCFA"/>
          </a:solidFill>
          <a:ln w="17780">
            <a:solidFill>
              <a:srgbClr val="8C3A2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330829" y="467919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840357" y="479806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Etkileşim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217420" y="3575304"/>
            <a:ext cx="713232" cy="713232"/>
          </a:xfrm>
          <a:prstGeom prst="ellipse">
            <a:avLst/>
          </a:prstGeom>
          <a:ln w="12700">
            <a:solidFill>
              <a:srgbClr val="8C3A2B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2299716" y="3657600"/>
            <a:ext cx="548640" cy="548640"/>
          </a:xfrm>
          <a:prstGeom prst="ellipse">
            <a:avLst/>
          </a:prstGeom>
          <a:solidFill>
            <a:srgbClr val="FCFCFA"/>
          </a:solidFill>
          <a:ln w="17780">
            <a:solidFill>
              <a:srgbClr val="8C3A2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299716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09244" y="377647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Satın alma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330829" y="2636006"/>
            <a:ext cx="548640" cy="548640"/>
          </a:xfrm>
          <a:prstGeom prst="ellipse">
            <a:avLst/>
          </a:prstGeom>
          <a:solidFill>
            <a:srgbClr val="FCFCFA"/>
          </a:solidFill>
          <a:ln w="17780">
            <a:solidFill>
              <a:srgbClr val="B9B9C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330829" y="263600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B9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1840357" y="275487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A7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Ayrılma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777240" y="614476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200" i="1" dirty="0">
                <a:solidFill>
                  <a:srgbClr val="2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Dolu daireler bizim tasarladığımız adımlar. Kesikli halkalı ikisi iç mekân için yeniden tanımlandı; soluk ikisi pazarlamanın işi.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777240" y="643737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i="1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Kaynak: I-AM Istanbul, Customer Journey Mapping Tool (2018).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80" kern="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· YOLCULUK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6809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8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İç mimarlığın tasarladığı altı modül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77240" y="1490472"/>
            <a:ext cx="1371600" cy="0"/>
          </a:xfrm>
          <a:prstGeom prst="line">
            <a:avLst/>
          </a:prstGeom>
          <a:noFill/>
          <a:ln w="22225">
            <a:solidFill>
              <a:srgbClr val="8C3A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0" y="6364224"/>
            <a:ext cx="438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66420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2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Farkındalık ve ayrılma çıkarıldı; etkileşim ve satın alma, mağazanın içindeki işlere göre yeniden adlandırıldı. Kalan altı modül dönem boyunca projenizin okunma biçimi.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68096" y="2642616"/>
            <a:ext cx="310896" cy="310896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68096" y="26426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289304" y="2615184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Çekim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977640" y="263347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Mağaza sokakta nasıl fark edilir?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651760"/>
            <a:ext cx="3364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konum · cephe · vitrin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289304" y="3090672"/>
            <a:ext cx="10122408" cy="0"/>
          </a:xfrm>
          <a:prstGeom prst="line">
            <a:avLst/>
          </a:prstGeom>
          <a:noFill/>
          <a:ln w="6350">
            <a:solidFill>
              <a:srgbClr val="EDED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8096" y="3264408"/>
            <a:ext cx="310896" cy="310896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68096" y="3264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289304" y="3236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Eşik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3977640" y="3255264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İlk izlenim nasıl kurulur?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046720" y="3273552"/>
            <a:ext cx="3364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karşılama · atmosfer · giriş–çıkış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289304" y="3712464"/>
            <a:ext cx="10122408" cy="0"/>
          </a:xfrm>
          <a:prstGeom prst="line">
            <a:avLst/>
          </a:prstGeom>
          <a:noFill/>
          <a:ln w="6350">
            <a:solidFill>
              <a:srgbClr val="EDED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8096" y="3886200"/>
            <a:ext cx="310896" cy="310896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68096" y="38862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289304" y="385876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Ürün ve hizmetler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3977640" y="3877056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Ürün nerede teşhir edilir, nerede denenir?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8046720" y="3895344"/>
            <a:ext cx="3364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teşhir · deneme · oturma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289304" y="4334256"/>
            <a:ext cx="10122408" cy="0"/>
          </a:xfrm>
          <a:prstGeom prst="line">
            <a:avLst/>
          </a:prstGeom>
          <a:noFill/>
          <a:ln w="6350">
            <a:solidFill>
              <a:srgbClr val="EDED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8096" y="4507992"/>
            <a:ext cx="310896" cy="310896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68096" y="45079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289304" y="4480560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Organizasyonel ihtiyaçlar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3977640" y="449884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Mağaza nasıl çalışır?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8046720" y="4517136"/>
            <a:ext cx="3364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kasa · kasa arkası · depo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289304" y="4956048"/>
            <a:ext cx="10122408" cy="0"/>
          </a:xfrm>
          <a:prstGeom prst="line">
            <a:avLst/>
          </a:prstGeom>
          <a:noFill/>
          <a:ln w="6350">
            <a:solidFill>
              <a:srgbClr val="EDED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096" y="5129784"/>
            <a:ext cx="310896" cy="310896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68096" y="51297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1289304" y="510235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Yönelme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3977640" y="512064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Müşteri kaybolmadan nasıl dolaşır?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8046720" y="5138928"/>
            <a:ext cx="3364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dolaşım · yönlendirme · görüş hatları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289304" y="5577840"/>
            <a:ext cx="10122408" cy="0"/>
          </a:xfrm>
          <a:prstGeom prst="line">
            <a:avLst/>
          </a:prstGeom>
          <a:noFill/>
          <a:ln w="6350">
            <a:solidFill>
              <a:srgbClr val="EDED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68096" y="5751576"/>
            <a:ext cx="310896" cy="310896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68096" y="57515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1289304" y="5724144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Gezinme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3977640" y="57424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Kategoriler arasında nasıl geçilir?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8046720" y="5760720"/>
            <a:ext cx="3364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kategori · bilgi · dijital deneyim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1289304" y="232257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b="1" spc="150" kern="0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MODÜL</a:t>
            </a:r>
            <a:endParaRPr lang="en-US" sz="850" dirty="0"/>
          </a:p>
        </p:txBody>
      </p:sp>
      <p:sp>
        <p:nvSpPr>
          <p:cNvPr id="43" name="Text 41"/>
          <p:cNvSpPr txBox="1"/>
          <p:nvPr/>
        </p:nvSpPr>
        <p:spPr>
          <a:xfrm>
            <a:off x="3977640" y="232257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b="1" spc="150" kern="0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SORUSU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8046720" y="2322576"/>
            <a:ext cx="3364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b="1" spc="150" kern="0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MEKÂNDA KARŞILIĞI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77240" y="2542032"/>
            <a:ext cx="10634472" cy="0"/>
          </a:xfrm>
          <a:prstGeom prst="line">
            <a:avLst/>
          </a:prstGeom>
          <a:noFill/>
          <a:ln w="12700">
            <a:solidFill>
              <a:srgbClr val="C9C9C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77240" y="63825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300" i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Jüriler bu altı modül üzerinden okunacak.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80" kern="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· YOLCULUK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6809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8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Deneyim kaça bölünür? Farklı okumalar var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77240" y="1490472"/>
            <a:ext cx="1371600" cy="0"/>
          </a:xfrm>
          <a:prstGeom prst="line">
            <a:avLst/>
          </a:prstGeom>
          <a:noFill/>
          <a:ln w="22225">
            <a:solidFill>
              <a:srgbClr val="8C3A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0" y="6364224"/>
            <a:ext cx="438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66420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2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Literatürde tek bir cevap yok: kimi altıya, kimi yediye, kimi sekize ayırıyor. Önemli olan sayı değil, neyin ayrıldığı.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8716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Wheeler (2017)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marka deneyiminin bileşenleri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3401568" y="2468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EBD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3931920" y="2514600"/>
            <a:ext cx="1193292" cy="493776"/>
          </a:xfrm>
          <a:prstGeom prst="rect">
            <a:avLst/>
          </a:prstGeom>
          <a:solidFill>
            <a:srgbClr val="F6EAE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977640" y="2514600"/>
            <a:ext cx="11018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İmaj ve</a:t>
            </a:r>
            <a:endParaRPr lang="en-US" sz="8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kimlik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5189220" y="2514600"/>
            <a:ext cx="1193292" cy="493776"/>
          </a:xfrm>
          <a:prstGeom prst="rect">
            <a:avLst/>
          </a:prstGeom>
          <a:solidFill>
            <a:srgbClr val="F6EAE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234940" y="2514600"/>
            <a:ext cx="11018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Ürün ve</a:t>
            </a:r>
            <a:endParaRPr lang="en-US" sz="8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hizmet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446520" y="2514600"/>
            <a:ext cx="1193292" cy="493776"/>
          </a:xfrm>
          <a:prstGeom prst="rect">
            <a:avLst/>
          </a:prstGeom>
          <a:solidFill>
            <a:srgbClr val="F6EAE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92240" y="2514600"/>
            <a:ext cx="11018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İnsan ve</a:t>
            </a:r>
            <a:endParaRPr lang="en-US" sz="8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kültür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7703820" y="2514600"/>
            <a:ext cx="1193292" cy="493776"/>
          </a:xfrm>
          <a:prstGeom prst="rect">
            <a:avLst/>
          </a:prstGeom>
          <a:solidFill>
            <a:srgbClr val="F6EAE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49540" y="2514600"/>
            <a:ext cx="11018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Satış</a:t>
            </a:r>
            <a:endParaRPr lang="en-US" sz="8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süreçleri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8961120" y="2514600"/>
            <a:ext cx="1193292" cy="493776"/>
          </a:xfrm>
          <a:prstGeom prst="rect">
            <a:avLst/>
          </a:prstGeom>
          <a:solidFill>
            <a:srgbClr val="8C3A2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006840" y="2514600"/>
            <a:ext cx="11018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Fiziksel ve</a:t>
            </a:r>
            <a:endParaRPr lang="en-US" sz="8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sanal mekân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0218420" y="2514600"/>
            <a:ext cx="1193292" cy="493776"/>
          </a:xfrm>
          <a:prstGeom prst="rect">
            <a:avLst/>
          </a:prstGeom>
          <a:solidFill>
            <a:srgbClr val="F6EAE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264140" y="2514600"/>
            <a:ext cx="11018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Farkındalık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77240" y="3200400"/>
            <a:ext cx="10634472" cy="0"/>
          </a:xfrm>
          <a:prstGeom prst="line">
            <a:avLst/>
          </a:prstGeom>
          <a:noFill/>
          <a:ln w="6350">
            <a:solidFill>
              <a:srgbClr val="EDED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332841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Stein &amp; Ramaseshan (2016)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358444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temas noktası türleri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3401568" y="3310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EBD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3931920" y="3355848"/>
            <a:ext cx="1013678" cy="493776"/>
          </a:xfrm>
          <a:prstGeom prst="rect">
            <a:avLst/>
          </a:prstGeom>
          <a:solidFill>
            <a:srgbClr val="8C3A2B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977640" y="3355848"/>
            <a:ext cx="92223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Atmosferik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5009606" y="3355848"/>
            <a:ext cx="1013678" cy="493776"/>
          </a:xfrm>
          <a:prstGeom prst="rect">
            <a:avLst/>
          </a:prstGeom>
          <a:solidFill>
            <a:srgbClr val="8C3A2B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055326" y="3355848"/>
            <a:ext cx="92223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Teknolojik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087291" y="3355848"/>
            <a:ext cx="1013678" cy="493776"/>
          </a:xfrm>
          <a:prstGeom prst="rect">
            <a:avLst/>
          </a:prstGeom>
          <a:solidFill>
            <a:srgbClr val="8C3A2B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133011" y="3355848"/>
            <a:ext cx="92223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İletişimsel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164977" y="3355848"/>
            <a:ext cx="1013678" cy="493776"/>
          </a:xfrm>
          <a:prstGeom prst="rect">
            <a:avLst/>
          </a:prstGeom>
          <a:solidFill>
            <a:srgbClr val="F6EAE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210697" y="3355848"/>
            <a:ext cx="92223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Süreç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8242663" y="3355848"/>
            <a:ext cx="1013678" cy="493776"/>
          </a:xfrm>
          <a:prstGeom prst="rect">
            <a:avLst/>
          </a:prstGeom>
          <a:solidFill>
            <a:srgbClr val="F6EAE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288383" y="3355848"/>
            <a:ext cx="92223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Çalışan–</a:t>
            </a:r>
            <a:endParaRPr lang="en-US" sz="8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müşteri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9320349" y="3355848"/>
            <a:ext cx="1013678" cy="493776"/>
          </a:xfrm>
          <a:prstGeom prst="rect">
            <a:avLst/>
          </a:prstGeom>
          <a:solidFill>
            <a:srgbClr val="F6EAE6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9366069" y="3355848"/>
            <a:ext cx="92223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Müşteri–</a:t>
            </a:r>
            <a:endParaRPr lang="en-US" sz="8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müşteri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10398034" y="3355848"/>
            <a:ext cx="1013678" cy="493776"/>
          </a:xfrm>
          <a:prstGeom prst="rect">
            <a:avLst/>
          </a:prstGeom>
          <a:solidFill>
            <a:srgbClr val="F6EAE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10443754" y="3355848"/>
            <a:ext cx="92223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Ürünle</a:t>
            </a:r>
            <a:endParaRPr lang="en-US" sz="8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etkileşim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777240" y="4041648"/>
            <a:ext cx="10634472" cy="0"/>
          </a:xfrm>
          <a:prstGeom prst="line">
            <a:avLst/>
          </a:prstGeom>
          <a:noFill/>
          <a:ln w="6350">
            <a:solidFill>
              <a:srgbClr val="EDEDF0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77240" y="416966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I-AM Istanbul (2018)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777240" y="442569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müşteri yolculuğu adımları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3401568" y="4151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EBD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100" dirty="0"/>
          </a:p>
        </p:txBody>
      </p:sp>
      <p:sp>
        <p:nvSpPr>
          <p:cNvPr id="44" name="Shape 42"/>
          <p:cNvSpPr/>
          <p:nvPr/>
        </p:nvSpPr>
        <p:spPr>
          <a:xfrm>
            <a:off x="3931920" y="4197096"/>
            <a:ext cx="878967" cy="493776"/>
          </a:xfrm>
          <a:prstGeom prst="rect">
            <a:avLst/>
          </a:prstGeom>
          <a:solidFill>
            <a:srgbClr val="F6EAE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977640" y="4197096"/>
            <a:ext cx="78752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Farkındalık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4874895" y="4197096"/>
            <a:ext cx="878967" cy="493776"/>
          </a:xfrm>
          <a:prstGeom prst="rect">
            <a:avLst/>
          </a:prstGeom>
          <a:solidFill>
            <a:srgbClr val="8C3A2B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4920615" y="4197096"/>
            <a:ext cx="78752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Çekim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817870" y="4197096"/>
            <a:ext cx="878967" cy="493776"/>
          </a:xfrm>
          <a:prstGeom prst="rect">
            <a:avLst/>
          </a:prstGeom>
          <a:solidFill>
            <a:srgbClr val="8C3A2B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5863590" y="4197096"/>
            <a:ext cx="78752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Eşik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760845" y="4197096"/>
            <a:ext cx="878967" cy="493776"/>
          </a:xfrm>
          <a:prstGeom prst="rect">
            <a:avLst/>
          </a:prstGeom>
          <a:solidFill>
            <a:srgbClr val="8C3A2B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806565" y="4197096"/>
            <a:ext cx="78752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Yönelme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703820" y="4197096"/>
            <a:ext cx="878967" cy="493776"/>
          </a:xfrm>
          <a:prstGeom prst="rect">
            <a:avLst/>
          </a:prstGeom>
          <a:solidFill>
            <a:srgbClr val="8C3A2B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7749540" y="4197096"/>
            <a:ext cx="78752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Gezinme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8646795" y="4197096"/>
            <a:ext cx="878967" cy="493776"/>
          </a:xfrm>
          <a:prstGeom prst="rect">
            <a:avLst/>
          </a:prstGeom>
          <a:solidFill>
            <a:srgbClr val="8C3A2B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692515" y="4197096"/>
            <a:ext cx="78752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Etkileşim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9589770" y="4197096"/>
            <a:ext cx="878967" cy="493776"/>
          </a:xfrm>
          <a:prstGeom prst="rect">
            <a:avLst/>
          </a:prstGeom>
          <a:solidFill>
            <a:srgbClr val="8C3A2B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9635490" y="4197096"/>
            <a:ext cx="78752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Satın alma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10532745" y="4197096"/>
            <a:ext cx="878967" cy="493776"/>
          </a:xfrm>
          <a:prstGeom prst="rect">
            <a:avLst/>
          </a:prstGeom>
          <a:solidFill>
            <a:srgbClr val="F6EAE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10578465" y="4197096"/>
            <a:ext cx="78752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Ayrılma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777240" y="4882896"/>
            <a:ext cx="10634472" cy="0"/>
          </a:xfrm>
          <a:prstGeom prst="line">
            <a:avLst/>
          </a:prstGeom>
          <a:noFill/>
          <a:ln w="6350">
            <a:solidFill>
              <a:srgbClr val="EDEDF0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777240" y="501091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 ders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777240" y="526694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iç mekâna uyarlanmış modüller</a:t>
            </a:r>
            <a:endParaRPr lang="en-US" sz="950" dirty="0"/>
          </a:p>
        </p:txBody>
      </p:sp>
      <p:sp>
        <p:nvSpPr>
          <p:cNvPr id="63" name="Text 61"/>
          <p:cNvSpPr txBox="1"/>
          <p:nvPr/>
        </p:nvSpPr>
        <p:spPr>
          <a:xfrm>
            <a:off x="3401568" y="4992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EBD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100" dirty="0"/>
          </a:p>
        </p:txBody>
      </p:sp>
      <p:sp>
        <p:nvSpPr>
          <p:cNvPr id="64" name="Shape 62"/>
          <p:cNvSpPr/>
          <p:nvPr/>
        </p:nvSpPr>
        <p:spPr>
          <a:xfrm>
            <a:off x="3931920" y="5038344"/>
            <a:ext cx="1193292" cy="493776"/>
          </a:xfrm>
          <a:prstGeom prst="rect">
            <a:avLst/>
          </a:prstGeom>
          <a:solidFill>
            <a:srgbClr val="8C3A2B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3977640" y="5038344"/>
            <a:ext cx="11018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Çekim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5189220" y="5038344"/>
            <a:ext cx="1193292" cy="493776"/>
          </a:xfrm>
          <a:prstGeom prst="rect">
            <a:avLst/>
          </a:prstGeom>
          <a:solidFill>
            <a:srgbClr val="8C3A2B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5234940" y="5038344"/>
            <a:ext cx="11018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Eşik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6446520" y="5038344"/>
            <a:ext cx="1193292" cy="493776"/>
          </a:xfrm>
          <a:prstGeom prst="rect">
            <a:avLst/>
          </a:prstGeom>
          <a:solidFill>
            <a:srgbClr val="8C3A2B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6492240" y="5038344"/>
            <a:ext cx="11018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Ürün ve</a:t>
            </a:r>
            <a:endParaRPr lang="en-US" sz="8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hizmetler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7703820" y="5038344"/>
            <a:ext cx="1193292" cy="493776"/>
          </a:xfrm>
          <a:prstGeom prst="rect">
            <a:avLst/>
          </a:prstGeom>
          <a:solidFill>
            <a:srgbClr val="8C3A2B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7749540" y="5038344"/>
            <a:ext cx="11018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Organizasyonel</a:t>
            </a:r>
            <a:endParaRPr lang="en-US" sz="8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ihtiyaçlar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8961120" y="5038344"/>
            <a:ext cx="1193292" cy="493776"/>
          </a:xfrm>
          <a:prstGeom prst="rect">
            <a:avLst/>
          </a:prstGeom>
          <a:solidFill>
            <a:srgbClr val="8C3A2B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9006840" y="5038344"/>
            <a:ext cx="11018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Yönelme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10218420" y="5038344"/>
            <a:ext cx="1193292" cy="493776"/>
          </a:xfrm>
          <a:prstGeom prst="rect">
            <a:avLst/>
          </a:prstGeom>
          <a:solidFill>
            <a:srgbClr val="8C3A2B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10264140" y="5038344"/>
            <a:ext cx="11018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Gezinme</a:t>
            </a:r>
            <a:endParaRPr lang="en-US" sz="800" dirty="0"/>
          </a:p>
        </p:txBody>
      </p:sp>
      <p:sp>
        <p:nvSpPr>
          <p:cNvPr id="76" name="Text 74"/>
          <p:cNvSpPr txBox="1"/>
          <p:nvPr/>
        </p:nvSpPr>
        <p:spPr>
          <a:xfrm>
            <a:off x="777240" y="5943600"/>
            <a:ext cx="10634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300" dirty="0">
                <a:solidFill>
                  <a:srgbClr val="2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Koyu parçalar iç mimarlığın tasarladığı bölümler. Dördü de aynı şeyi söylüyor: deneyimin büyük kısmı mekânda geçiyor.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80" kern="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· YOLCULUK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6809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8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Öğrenciler hangi modülde zorlanıyor?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77240" y="1490472"/>
            <a:ext cx="1371600" cy="0"/>
          </a:xfrm>
          <a:prstGeom prst="line">
            <a:avLst/>
          </a:prstGeom>
          <a:noFill/>
          <a:ln w="22225">
            <a:solidFill>
              <a:srgbClr val="8C3A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0" y="6364224"/>
            <a:ext cx="438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664208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2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Aynı çerçevenin uygulandığı stüdyoda otuz proje, dört değerlendirici tarafından bu altı modül üzerinden puanlandı.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900830" y="2505456"/>
            <a:ext cx="0" cy="3273552"/>
          </a:xfrm>
          <a:prstGeom prst="line">
            <a:avLst/>
          </a:prstGeom>
          <a:noFill/>
          <a:ln w="7620">
            <a:solidFill>
              <a:srgbClr val="EDED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717950" y="226771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601261" y="2505456"/>
            <a:ext cx="0" cy="3273552"/>
          </a:xfrm>
          <a:prstGeom prst="line">
            <a:avLst/>
          </a:prstGeom>
          <a:noFill/>
          <a:ln w="7620">
            <a:solidFill>
              <a:srgbClr val="EDED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18381" y="226771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301691" y="2505456"/>
            <a:ext cx="0" cy="3273552"/>
          </a:xfrm>
          <a:prstGeom prst="line">
            <a:avLst/>
          </a:prstGeom>
          <a:noFill/>
          <a:ln w="7620">
            <a:solidFill>
              <a:srgbClr val="EDED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18811" y="226771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002122" y="2505456"/>
            <a:ext cx="0" cy="3273552"/>
          </a:xfrm>
          <a:prstGeom prst="line">
            <a:avLst/>
          </a:prstGeom>
          <a:noFill/>
          <a:ln w="7620">
            <a:solidFill>
              <a:srgbClr val="EDED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819242" y="226771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6702552" y="2505456"/>
            <a:ext cx="0" cy="3273552"/>
          </a:xfrm>
          <a:prstGeom prst="line">
            <a:avLst/>
          </a:prstGeom>
          <a:noFill/>
          <a:ln w="7620">
            <a:solidFill>
              <a:srgbClr val="EDEDF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19672" y="226771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2633472"/>
            <a:ext cx="2295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Yönelme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200400" y="2651760"/>
            <a:ext cx="2423489" cy="329184"/>
          </a:xfrm>
          <a:prstGeom prst="rect">
            <a:avLst/>
          </a:prstGeom>
          <a:solidFill>
            <a:srgbClr val="8C3A2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97041" y="2633472"/>
            <a:ext cx="512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3.46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3182112"/>
            <a:ext cx="2295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Gezinme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00400" y="3200400"/>
            <a:ext cx="2388468" cy="329184"/>
          </a:xfrm>
          <a:prstGeom prst="rect">
            <a:avLst/>
          </a:prstGeom>
          <a:solidFill>
            <a:srgbClr val="8C3A2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2020" y="3182112"/>
            <a:ext cx="512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3.41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3730752"/>
            <a:ext cx="2295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Ürün ve hizmetler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00400" y="3749040"/>
            <a:ext cx="2283403" cy="329184"/>
          </a:xfrm>
          <a:prstGeom prst="rect">
            <a:avLst/>
          </a:prstGeom>
          <a:solidFill>
            <a:srgbClr val="8C3A2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556955" y="3730752"/>
            <a:ext cx="512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3.26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777240" y="4279392"/>
            <a:ext cx="2295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Eşik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200400" y="4297680"/>
            <a:ext cx="2241377" cy="329184"/>
          </a:xfrm>
          <a:prstGeom prst="rect">
            <a:avLst/>
          </a:prstGeom>
          <a:solidFill>
            <a:srgbClr val="8C3A2B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514929" y="4279392"/>
            <a:ext cx="512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3.20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" y="4828032"/>
            <a:ext cx="2295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Çekim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200400" y="4846320"/>
            <a:ext cx="2017240" cy="329184"/>
          </a:xfrm>
          <a:prstGeom prst="rect">
            <a:avLst/>
          </a:prstGeom>
          <a:solidFill>
            <a:srgbClr val="8C3A2B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290792" y="4828032"/>
            <a:ext cx="512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2.88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77240" y="5376672"/>
            <a:ext cx="2295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Organizasyonel ihtiyaçlar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200400" y="5394960"/>
            <a:ext cx="1989222" cy="329184"/>
          </a:xfrm>
          <a:prstGeom prst="rect">
            <a:avLst/>
          </a:prstGeom>
          <a:solidFill>
            <a:srgbClr val="8C3A2B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262774" y="5376672"/>
            <a:ext cx="512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2.84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200400" y="2505456"/>
            <a:ext cx="0" cy="3273552"/>
          </a:xfrm>
          <a:prstGeom prst="line">
            <a:avLst/>
          </a:prstGeom>
          <a:noFill/>
          <a:ln w="12700">
            <a:solidFill>
              <a:srgbClr val="C9C9C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420764" y="2432304"/>
            <a:ext cx="0" cy="3383280"/>
          </a:xfrm>
          <a:prstGeom prst="line">
            <a:avLst/>
          </a:prstGeom>
          <a:noFill/>
          <a:ln w="12700">
            <a:solidFill>
              <a:srgbClr val="16161A"/>
            </a:solidFill>
            <a:prstDash val="dash"/>
          </a:ln>
        </p:spPr>
      </p:sp>
      <p:sp>
        <p:nvSpPr>
          <p:cNvPr id="37" name="Text 35"/>
          <p:cNvSpPr txBox="1"/>
          <p:nvPr/>
        </p:nvSpPr>
        <p:spPr>
          <a:xfrm>
            <a:off x="4232044" y="58521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161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ortalama 3,17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7543800" y="2377440"/>
            <a:ext cx="0" cy="3566160"/>
          </a:xfrm>
          <a:prstGeom prst="line">
            <a:avLst/>
          </a:prstGeom>
          <a:noFill/>
          <a:ln w="9525">
            <a:solidFill>
              <a:srgbClr val="C9C9C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863840" y="2395728"/>
            <a:ext cx="10735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70" kern="0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BUNDAN NE ÇIKIYOR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9010498" y="2514600"/>
            <a:ext cx="2401214" cy="0"/>
          </a:xfrm>
          <a:prstGeom prst="line">
            <a:avLst/>
          </a:prstGeom>
          <a:noFill/>
          <a:ln w="9525">
            <a:solidFill>
              <a:srgbClr val="EBD7D1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918704" y="2889504"/>
            <a:ext cx="109728" cy="109728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174736" y="2798064"/>
            <a:ext cx="32369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zayıf iki modül: çekim ve organizasyonel ihtiyaçlar.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7918704" y="3675888"/>
            <a:ext cx="109728" cy="109728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174736" y="3584448"/>
            <a:ext cx="32369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Analiz fazı güçlü, mekâna dönüşme fazı zayıf.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7918704" y="4462272"/>
            <a:ext cx="109728" cy="109728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174736" y="4370832"/>
            <a:ext cx="32369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düşük tek başlık: mağaza içi yönlendirme.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7863840" y="5212080"/>
            <a:ext cx="3547872" cy="731520"/>
          </a:xfrm>
          <a:prstGeom prst="rect">
            <a:avLst/>
          </a:prstGeom>
          <a:solidFill>
            <a:srgbClr val="F6EAE6"/>
          </a:solidFill>
          <a:ln w="15875">
            <a:solidFill>
              <a:srgbClr val="8C3A2B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046720" y="5321808"/>
            <a:ext cx="3182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 yüzden 7., 8. ve 10. haftalarda vitrin, ergonomi ve ışık atölyeleri var.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777240" y="63642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Ölçek: 1 = hiç katılmıyorum, 5 = tamamen katılıyorum · Veri: Bükülmez vd. (2025), Tablo 2.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1234440"/>
            <a:ext cx="10634472" cy="0"/>
          </a:xfrm>
          <a:prstGeom prst="line">
            <a:avLst/>
          </a:prstGeom>
          <a:noFill/>
          <a:ln w="12700">
            <a:solidFill>
              <a:srgbClr val="3A3A4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77240" y="1353312"/>
            <a:ext cx="310896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0" b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10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06324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Anahtar kelimeler nasıl belirlenir?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4315968"/>
            <a:ext cx="2011680" cy="0"/>
          </a:xfrm>
          <a:prstGeom prst="line">
            <a:avLst/>
          </a:prstGeom>
          <a:noFill/>
          <a:ln w="25400">
            <a:solidFill>
              <a:srgbClr val="8C3A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452628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i="1" dirty="0">
                <a:solidFill>
                  <a:srgbClr val="B9B9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Araştırmadan çıkan onlarca sıfattan ayakta kalan üç kelime.</a:t>
            </a:r>
            <a:endParaRPr lang="en-US" sz="1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80" kern="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· ANAHTAR KELİME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49808"/>
            <a:ext cx="10424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800" b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Üç aşamalı eleme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77240" y="1490472"/>
            <a:ext cx="1371600" cy="0"/>
          </a:xfrm>
          <a:prstGeom prst="line">
            <a:avLst/>
          </a:prstGeom>
          <a:noFill/>
          <a:ln w="22225">
            <a:solidFill>
              <a:srgbClr val="8C3A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0" y="6364224"/>
            <a:ext cx="438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700784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Ham listeniz uzun olsun; eleme sert olsun. Sonunda üç kelime kalmalı.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431036" y="2359152"/>
            <a:ext cx="9326880" cy="640080"/>
          </a:xfrm>
          <a:prstGeom prst="rect">
            <a:avLst/>
          </a:prstGeom>
          <a:ln w="9525">
            <a:solidFill>
              <a:srgbClr val="C9C9C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613916" y="2432304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Markayla ilgili bütün sıfatlar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613916" y="2724912"/>
            <a:ext cx="8961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20–30 kelime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094476" y="3035808"/>
            <a:ext cx="0" cy="219456"/>
          </a:xfrm>
          <a:prstGeom prst="line">
            <a:avLst/>
          </a:prstGeom>
          <a:noFill/>
          <a:ln w="17780">
            <a:solidFill>
              <a:srgbClr val="8C3A2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619756" y="3291840"/>
            <a:ext cx="6949440" cy="640080"/>
          </a:xfrm>
          <a:prstGeom prst="rect">
            <a:avLst/>
          </a:prstGeom>
          <a:ln w="9525">
            <a:solidFill>
              <a:srgbClr val="C9C9C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802636" y="336499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Rakiplerin söyleyemeyecekleri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802636" y="3657600"/>
            <a:ext cx="6583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herkesin söylediği elenir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094476" y="3968496"/>
            <a:ext cx="0" cy="219456"/>
          </a:xfrm>
          <a:prstGeom prst="line">
            <a:avLst/>
          </a:prstGeom>
          <a:noFill/>
          <a:ln w="17780">
            <a:solidFill>
              <a:srgbClr val="8C3A2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717036" y="4224528"/>
            <a:ext cx="4754880" cy="640080"/>
          </a:xfrm>
          <a:prstGeom prst="rect">
            <a:avLst/>
          </a:prstGeom>
          <a:ln w="9525">
            <a:solidFill>
              <a:srgbClr val="C9C9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899916" y="429768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Mekânda karşılığı olanlar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899916" y="4590288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ölçüye çevrilebilenler kalır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094476" y="4901184"/>
            <a:ext cx="0" cy="219456"/>
          </a:xfrm>
          <a:prstGeom prst="line">
            <a:avLst/>
          </a:prstGeom>
          <a:noFill/>
          <a:ln w="17780">
            <a:solidFill>
              <a:srgbClr val="8C3A2B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082796" y="5157216"/>
            <a:ext cx="4023360" cy="640080"/>
          </a:xfrm>
          <a:prstGeom prst="rect">
            <a:avLst/>
          </a:prstGeom>
          <a:solidFill>
            <a:srgbClr val="F6EAE6"/>
          </a:solidFill>
          <a:ln w="15875">
            <a:solidFill>
              <a:srgbClr val="8C3A2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265676" y="523036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ÜÇ ANAHTAR KELİME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4265676" y="552297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tasarımın her kararını sınar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5596128"/>
            <a:ext cx="7900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70" kern="0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 SORUSU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1640434" y="5715000"/>
            <a:ext cx="9771278" cy="0"/>
          </a:xfrm>
          <a:prstGeom prst="line">
            <a:avLst/>
          </a:prstGeom>
          <a:noFill/>
          <a:ln w="9525">
            <a:solidFill>
              <a:srgbClr val="EBD7D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5897880"/>
            <a:ext cx="10634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500" b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 sıfatın zıttını bilinçli olarak seçen bir marka olabilir mi? Olamıyorsa o sıfat anahtar kelime değildir.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80" kern="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· ANAHTAR KELİME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6809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8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İşe yarayan kelime nasıl olur?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77240" y="1490472"/>
            <a:ext cx="1371600" cy="0"/>
          </a:xfrm>
          <a:prstGeom prst="line">
            <a:avLst/>
          </a:prstGeom>
          <a:noFill/>
          <a:ln w="22225">
            <a:solidFill>
              <a:srgbClr val="8C3A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0" y="6364224"/>
            <a:ext cx="438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700784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İyi bir anahtar kelimenin bir zıttı vardır ve mekânda neyi değiştirdiği söylenebilir.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2860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b="1" spc="150" kern="0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KELİME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3657600" y="22860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b="1" spc="150" kern="0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ZITTI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2286000"/>
            <a:ext cx="5010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b="1" spc="150" kern="0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MEKÂNDA NEYİ DEĞİŞTİRİR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77240" y="2487168"/>
            <a:ext cx="10634472" cy="0"/>
          </a:xfrm>
          <a:prstGeom prst="line">
            <a:avLst/>
          </a:prstGeom>
          <a:noFill/>
          <a:ln w="12700">
            <a:solidFill>
              <a:srgbClr val="C9C9C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61518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Ham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265176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7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↔  işlenmiş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2660904"/>
            <a:ext cx="5010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yüzey, birleşim, bitiş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77240" y="3035808"/>
            <a:ext cx="10634472" cy="0"/>
          </a:xfrm>
          <a:prstGeom prst="line">
            <a:avLst/>
          </a:prstGeom>
          <a:noFill/>
          <a:ln w="6350">
            <a:solidFill>
              <a:srgbClr val="EDED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316382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Yavaş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3657600" y="32004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7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↔  hızlı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0" y="3209544"/>
            <a:ext cx="5010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dolaşım, kalma süresi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77240" y="3584448"/>
            <a:ext cx="10634472" cy="0"/>
          </a:xfrm>
          <a:prstGeom prst="line">
            <a:avLst/>
          </a:prstGeom>
          <a:noFill/>
          <a:ln w="6350">
            <a:solidFill>
              <a:srgbClr val="EDED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371246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Yoğun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3657600" y="37490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7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↔  seyrek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0" y="3758184"/>
            <a:ext cx="5010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teşhir sıklığı, ürün / m²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777240" y="4133088"/>
            <a:ext cx="10634472" cy="0"/>
          </a:xfrm>
          <a:prstGeom prst="line">
            <a:avLst/>
          </a:prstGeom>
          <a:noFill/>
          <a:ln w="6350">
            <a:solidFill>
              <a:srgbClr val="EDED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426110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Gizli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3657600" y="42976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7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↔  açık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0" y="4306824"/>
            <a:ext cx="5010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görüş hattı, katmanlama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777240" y="4681728"/>
            <a:ext cx="10634472" cy="0"/>
          </a:xfrm>
          <a:prstGeom prst="line">
            <a:avLst/>
          </a:prstGeom>
          <a:noFill/>
          <a:ln w="6350">
            <a:solidFill>
              <a:srgbClr val="EDEDF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77240" y="480974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Törensel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3657600" y="48463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7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↔  gündelik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6400800" y="4855464"/>
            <a:ext cx="5010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kasa, paketleme, veda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777240" y="5230368"/>
            <a:ext cx="10634472" cy="0"/>
          </a:xfrm>
          <a:prstGeom prst="line">
            <a:avLst/>
          </a:prstGeom>
          <a:noFill/>
          <a:ln w="6350">
            <a:solidFill>
              <a:srgbClr val="EDEDF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" y="535838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Sert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3657600" y="539496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7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↔  yumuşak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400800" y="5404104"/>
            <a:ext cx="5010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malzeme, akustik, ışık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777240" y="6035040"/>
            <a:ext cx="10634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300" i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Kelimeyi seçtikten sonra kanıtını da yazın: markada bu kelimeyi nerede gördünüz?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1234440"/>
            <a:ext cx="10634472" cy="0"/>
          </a:xfrm>
          <a:prstGeom prst="line">
            <a:avLst/>
          </a:prstGeom>
          <a:noFill/>
          <a:ln w="12700">
            <a:solidFill>
              <a:srgbClr val="3A3A4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77240" y="1353312"/>
            <a:ext cx="310896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0" b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</a:t>
            </a:r>
            <a:endParaRPr lang="en-US" sz="10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06324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Kelimeler mekâna nasıl dönüşür?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777240" y="4315968"/>
            <a:ext cx="2011680" cy="0"/>
          </a:xfrm>
          <a:prstGeom prst="line">
            <a:avLst/>
          </a:prstGeom>
          <a:noFill/>
          <a:ln w="25400">
            <a:solidFill>
              <a:srgbClr val="8C3A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452628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i="1" dirty="0">
                <a:solidFill>
                  <a:srgbClr val="B9B9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Bir tasarım kararı, nereden geldiği gösterilebiliyorsa savunulabilir.</a:t>
            </a:r>
            <a:endParaRPr lang="en-US" sz="1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80" kern="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 · ÇEVİRİ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49808"/>
            <a:ext cx="10424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800" b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Çeviri zinciri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77240" y="1490472"/>
            <a:ext cx="1371600" cy="0"/>
          </a:xfrm>
          <a:prstGeom prst="line">
            <a:avLst/>
          </a:prstGeom>
          <a:noFill/>
          <a:ln w="22225">
            <a:solidFill>
              <a:srgbClr val="8C3A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0" y="6364224"/>
            <a:ext cx="438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700784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Marka ile çizim arasında dört durak var. Bir durak atlanırsa karar dayanaksız kalır.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359152"/>
            <a:ext cx="1965960" cy="1207008"/>
          </a:xfrm>
          <a:prstGeom prst="rect">
            <a:avLst/>
          </a:prstGeom>
          <a:ln w="9525">
            <a:solidFill>
              <a:srgbClr val="C9C9C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3544" y="2505456"/>
            <a:ext cx="256032" cy="256032"/>
          </a:xfrm>
          <a:prstGeom prst="ellipse">
            <a:avLst/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23544" y="25054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905256" y="2871216"/>
            <a:ext cx="1709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Bileşen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905256" y="3273552"/>
            <a:ext cx="1709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marka anahtarından bir başlık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770632" y="2962656"/>
            <a:ext cx="146304" cy="0"/>
          </a:xfrm>
          <a:prstGeom prst="line">
            <a:avLst/>
          </a:prstGeom>
          <a:noFill/>
          <a:ln w="17780">
            <a:solidFill>
              <a:srgbClr val="8C3A2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944368" y="2359152"/>
            <a:ext cx="1965960" cy="1207008"/>
          </a:xfrm>
          <a:prstGeom prst="rect">
            <a:avLst/>
          </a:prstGeom>
          <a:ln w="9525">
            <a:solidFill>
              <a:srgbClr val="C9C9C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090672" y="2505456"/>
            <a:ext cx="256032" cy="256032"/>
          </a:xfrm>
          <a:prstGeom prst="ellipse">
            <a:avLst/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090672" y="25054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3072384" y="2871216"/>
            <a:ext cx="1709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Anahtar kelime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3072384" y="3273552"/>
            <a:ext cx="1709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 sıfata indir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37760" y="2962656"/>
            <a:ext cx="146304" cy="0"/>
          </a:xfrm>
          <a:prstGeom prst="line">
            <a:avLst/>
          </a:prstGeom>
          <a:noFill/>
          <a:ln w="17780">
            <a:solidFill>
              <a:srgbClr val="8C3A2B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111496" y="2359152"/>
            <a:ext cx="1965960" cy="1207008"/>
          </a:xfrm>
          <a:prstGeom prst="rect">
            <a:avLst/>
          </a:prstGeom>
          <a:ln w="9525">
            <a:solidFill>
              <a:srgbClr val="C9C9C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257800" y="2505456"/>
            <a:ext cx="256032" cy="256032"/>
          </a:xfrm>
          <a:prstGeom prst="ellipse">
            <a:avLst/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257800" y="25054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5239512" y="2871216"/>
            <a:ext cx="1709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Modül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5239512" y="3273552"/>
            <a:ext cx="1709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hangi modülde sınanıyor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104888" y="2962656"/>
            <a:ext cx="146304" cy="0"/>
          </a:xfrm>
          <a:prstGeom prst="line">
            <a:avLst/>
          </a:prstGeom>
          <a:noFill/>
          <a:ln w="17780">
            <a:solidFill>
              <a:srgbClr val="8C3A2B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278624" y="2359152"/>
            <a:ext cx="1965960" cy="1207008"/>
          </a:xfrm>
          <a:prstGeom prst="rect">
            <a:avLst/>
          </a:prstGeom>
          <a:ln w="9525">
            <a:solidFill>
              <a:srgbClr val="C9C9C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24928" y="2505456"/>
            <a:ext cx="256032" cy="256032"/>
          </a:xfrm>
          <a:prstGeom prst="ellipse">
            <a:avLst/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424928" y="25054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406640" y="2871216"/>
            <a:ext cx="1709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Mekânsal ilke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7406640" y="3273552"/>
            <a:ext cx="1709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anı kuran kural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9272016" y="2962656"/>
            <a:ext cx="146304" cy="0"/>
          </a:xfrm>
          <a:prstGeom prst="line">
            <a:avLst/>
          </a:prstGeom>
          <a:noFill/>
          <a:ln w="17780">
            <a:solidFill>
              <a:srgbClr val="8C3A2B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445752" y="2359152"/>
            <a:ext cx="1965960" cy="1207008"/>
          </a:xfrm>
          <a:prstGeom prst="rect">
            <a:avLst/>
          </a:prstGeom>
          <a:solidFill>
            <a:srgbClr val="F6EAE6"/>
          </a:solidFill>
          <a:ln w="15875">
            <a:solidFill>
              <a:srgbClr val="8C3A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592056" y="2505456"/>
            <a:ext cx="256032" cy="256032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592056" y="25054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9573768" y="2871216"/>
            <a:ext cx="1709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Çizilebilir karar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9573768" y="3273552"/>
            <a:ext cx="1709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somut öğe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777240" y="3813048"/>
            <a:ext cx="393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70" kern="0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ÖRNEK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1243584" y="3931920"/>
            <a:ext cx="10168128" cy="0"/>
          </a:xfrm>
          <a:prstGeom prst="line">
            <a:avLst/>
          </a:prstGeom>
          <a:noFill/>
          <a:ln w="9525">
            <a:solidFill>
              <a:srgbClr val="EDEDF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95528" y="4133088"/>
            <a:ext cx="19293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2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Değerler: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2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öğretmeyi seviyor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2962656" y="4133088"/>
            <a:ext cx="19293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2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Şeffaf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5129784" y="4133088"/>
            <a:ext cx="19293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2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Çekim ·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2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Ürün ve hizmetler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7296912" y="4133088"/>
            <a:ext cx="19293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2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Üretim satış alanından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2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görülebilmeli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9464040" y="4133088"/>
            <a:ext cx="19293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Kavurma makinesi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vitrine bakan nişte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777240" y="5074920"/>
            <a:ext cx="10634472" cy="0"/>
          </a:xfrm>
          <a:prstGeom prst="line">
            <a:avLst/>
          </a:prstGeom>
          <a:noFill/>
          <a:ln w="9525">
            <a:solidFill>
              <a:srgbClr val="C9C9CF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77240" y="5257800"/>
            <a:ext cx="10634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Aynı zinciri müşteri tarafından da kurun: gözlenen davranış → ihtiyaç → ilke → öğe. İki zincir aynı kararda buluşmuyorsa ya marka ya müşteri yanlış okunmuş.</a:t>
            </a:r>
            <a:endParaRPr lang="en-US" sz="1350" dirty="0"/>
          </a:p>
        </p:txBody>
      </p:sp>
      <p:sp>
        <p:nvSpPr>
          <p:cNvPr id="45" name="Text 43"/>
          <p:cNvSpPr txBox="1"/>
          <p:nvPr/>
        </p:nvSpPr>
        <p:spPr>
          <a:xfrm>
            <a:off x="777240" y="5989320"/>
            <a:ext cx="10634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250" i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Konsept jürisinde her öğrenciden en az üç tam zincir isteyeceğiz.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80" kern="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 · ÇEVİRİ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6809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8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Üç kelime, altı modül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77240" y="1490472"/>
            <a:ext cx="1371600" cy="0"/>
          </a:xfrm>
          <a:prstGeom prst="line">
            <a:avLst/>
          </a:prstGeom>
          <a:noFill/>
          <a:ln w="22225">
            <a:solidFill>
              <a:srgbClr val="8C3A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0" y="6364224"/>
            <a:ext cx="438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700784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2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 kelime, altı modülün her birinde bir karşılık üretmek zorunda. Boş kalan kesişimler tasarımın henüz cevaplamadığı yerler.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2313432" y="2688336"/>
            <a:ext cx="2048256" cy="0"/>
          </a:xfrm>
          <a:prstGeom prst="line">
            <a:avLst/>
          </a:prstGeom>
          <a:noFill/>
          <a:ln w="12700">
            <a:solidFill>
              <a:srgbClr val="EBD7D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313432" y="2688336"/>
            <a:ext cx="2048256" cy="1170432"/>
          </a:xfrm>
          <a:prstGeom prst="line">
            <a:avLst/>
          </a:prstGeom>
          <a:noFill/>
          <a:ln w="12700">
            <a:solidFill>
              <a:srgbClr val="EBD7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13432" y="2688336"/>
            <a:ext cx="2048256" cy="1755648"/>
          </a:xfrm>
          <a:prstGeom prst="line">
            <a:avLst/>
          </a:prstGeom>
          <a:noFill/>
          <a:ln w="12700">
            <a:solidFill>
              <a:srgbClr val="EBD7D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13432" y="3273552"/>
            <a:ext cx="2048256" cy="0"/>
          </a:xfrm>
          <a:prstGeom prst="line">
            <a:avLst/>
          </a:prstGeom>
          <a:noFill/>
          <a:ln w="12700">
            <a:solidFill>
              <a:srgbClr val="EBD7D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13432" y="3273552"/>
            <a:ext cx="2048256" cy="1755648"/>
          </a:xfrm>
          <a:prstGeom prst="line">
            <a:avLst/>
          </a:prstGeom>
          <a:noFill/>
          <a:ln w="12700">
            <a:solidFill>
              <a:srgbClr val="EBD7D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13432" y="3273552"/>
            <a:ext cx="2048256" cy="2340864"/>
          </a:xfrm>
          <a:prstGeom prst="line">
            <a:avLst/>
          </a:prstGeom>
          <a:noFill/>
          <a:ln w="12700">
            <a:solidFill>
              <a:srgbClr val="EBD7D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313432" y="3273552"/>
            <a:ext cx="2048256" cy="585216"/>
          </a:xfrm>
          <a:prstGeom prst="line">
            <a:avLst/>
          </a:prstGeom>
          <a:noFill/>
          <a:ln w="12700">
            <a:solidFill>
              <a:srgbClr val="EBD7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313432" y="3858768"/>
            <a:ext cx="2048256" cy="0"/>
          </a:xfrm>
          <a:prstGeom prst="line">
            <a:avLst/>
          </a:prstGeom>
          <a:noFill/>
          <a:ln w="12700">
            <a:solidFill>
              <a:srgbClr val="EBD7D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313432" y="3858768"/>
            <a:ext cx="2048256" cy="1170432"/>
          </a:xfrm>
          <a:prstGeom prst="line">
            <a:avLst/>
          </a:prstGeom>
          <a:noFill/>
          <a:ln w="12700">
            <a:solidFill>
              <a:srgbClr val="EBD7D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7240" y="2542032"/>
            <a:ext cx="1463040" cy="292608"/>
          </a:xfrm>
          <a:prstGeom prst="rect">
            <a:avLst/>
          </a:prstGeom>
          <a:solidFill>
            <a:srgbClr val="F6EAE6"/>
          </a:solidFill>
          <a:ln w="15875">
            <a:solidFill>
              <a:srgbClr val="8C3A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50392" y="2542032"/>
            <a:ext cx="1316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ŞEFFAF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77240" y="3127248"/>
            <a:ext cx="1463040" cy="292608"/>
          </a:xfrm>
          <a:prstGeom prst="rect">
            <a:avLst/>
          </a:prstGeom>
          <a:solidFill>
            <a:srgbClr val="F6EAE6"/>
          </a:solidFill>
          <a:ln w="15875">
            <a:solidFill>
              <a:srgbClr val="8C3A2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50392" y="3127248"/>
            <a:ext cx="1316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SABIRLI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77240" y="3712464"/>
            <a:ext cx="1463040" cy="292608"/>
          </a:xfrm>
          <a:prstGeom prst="rect">
            <a:avLst/>
          </a:prstGeom>
          <a:solidFill>
            <a:srgbClr val="F6EAE6"/>
          </a:solidFill>
          <a:ln w="15875">
            <a:solidFill>
              <a:srgbClr val="8C3A2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50392" y="3712464"/>
            <a:ext cx="1316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HAM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434840" y="2542032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Çekim — kavurma makinesi vitrinden görünür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265676" y="2647188"/>
            <a:ext cx="82296" cy="82296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434840" y="3127248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Eşik — koku eşikte karşılar, kapı ağırdır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265676" y="3232404"/>
            <a:ext cx="82296" cy="82296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434840" y="3712464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Ürün ve hizmetler — açık kavanoz, tartım tezgâhı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265676" y="3817620"/>
            <a:ext cx="82296" cy="82296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434840" y="429768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Organizasyonel — depo camlı, stok görünür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265676" y="4402836"/>
            <a:ext cx="82296" cy="82296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434840" y="4882896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Yönelme — rota kavurmadan tartıma akar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4265676" y="4988052"/>
            <a:ext cx="82296" cy="82296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434840" y="5468112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Gezinme — bekleyene oturma ve tadım noktası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265676" y="5573268"/>
            <a:ext cx="82296" cy="82296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23042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b="1" spc="140" kern="0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KELİME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4434840" y="230428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b="1" spc="140" kern="0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MODÜLDEKİ KARŞILIĞI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777240" y="5833872"/>
            <a:ext cx="10634472" cy="0"/>
          </a:xfrm>
          <a:prstGeom prst="line">
            <a:avLst/>
          </a:prstGeom>
          <a:noFill/>
          <a:ln w="9525">
            <a:solidFill>
              <a:srgbClr val="C9C9C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7240" y="5989320"/>
            <a:ext cx="10634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300" i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Hiçbir modülde karşılık bulamayan kelime, anahtar kelime değildir.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80" kern="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 · ÇEVİRİ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6809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8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Bir marka nasıl mağazaya dönüşür?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77240" y="1490472"/>
            <a:ext cx="1371600" cy="0"/>
          </a:xfrm>
          <a:prstGeom prst="line">
            <a:avLst/>
          </a:prstGeom>
          <a:noFill/>
          <a:ln w="22225">
            <a:solidFill>
              <a:srgbClr val="8C3A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0" y="6364224"/>
            <a:ext cx="438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700784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Bugün anlatılan her araç bu akışın bir halkası.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286000"/>
            <a:ext cx="3456432" cy="329184"/>
          </a:xfrm>
          <a:prstGeom prst="rect">
            <a:avLst/>
          </a:prstGeom>
          <a:solidFill>
            <a:srgbClr val="F6EAE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286000"/>
            <a:ext cx="3456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ARAŞTIRMA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77240" y="2816352"/>
            <a:ext cx="3456432" cy="621792"/>
          </a:xfrm>
          <a:prstGeom prst="rect">
            <a:avLst/>
          </a:prstGeom>
          <a:ln w="9525">
            <a:solidFill>
              <a:srgbClr val="C9C9C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50976" y="2990088"/>
            <a:ext cx="274320" cy="274320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50976" y="2990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380744" y="2816352"/>
            <a:ext cx="27066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Kimlik okuma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2505456" y="3456432"/>
            <a:ext cx="0" cy="128016"/>
          </a:xfrm>
          <a:prstGeom prst="line">
            <a:avLst/>
          </a:prstGeom>
          <a:noFill/>
          <a:ln w="15240">
            <a:solidFill>
              <a:srgbClr val="8C3A2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77240" y="3602736"/>
            <a:ext cx="3456432" cy="621792"/>
          </a:xfrm>
          <a:prstGeom prst="rect">
            <a:avLst/>
          </a:prstGeom>
          <a:ln w="9525">
            <a:solidFill>
              <a:srgbClr val="C9C9C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0976" y="3776472"/>
            <a:ext cx="274320" cy="274320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50976" y="3776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380744" y="3602736"/>
            <a:ext cx="27066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Marka anahtarı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2505456" y="4242816"/>
            <a:ext cx="0" cy="128016"/>
          </a:xfrm>
          <a:prstGeom prst="line">
            <a:avLst/>
          </a:prstGeom>
          <a:noFill/>
          <a:ln w="15240">
            <a:solidFill>
              <a:srgbClr val="8C3A2B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77240" y="4389120"/>
            <a:ext cx="3456432" cy="621792"/>
          </a:xfrm>
          <a:prstGeom prst="rect">
            <a:avLst/>
          </a:prstGeom>
          <a:ln w="9525">
            <a:solidFill>
              <a:srgbClr val="C9C9C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50976" y="4562856"/>
            <a:ext cx="274320" cy="274320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50976" y="45628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1380744" y="4389120"/>
            <a:ext cx="27066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Persona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4270248" y="4023360"/>
            <a:ext cx="201168" cy="0"/>
          </a:xfrm>
          <a:prstGeom prst="line">
            <a:avLst/>
          </a:prstGeom>
          <a:noFill/>
          <a:ln w="20320">
            <a:solidFill>
              <a:srgbClr val="8C3A2B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777240" y="5285232"/>
            <a:ext cx="3456432" cy="0"/>
          </a:xfrm>
          <a:prstGeom prst="line">
            <a:avLst/>
          </a:prstGeom>
          <a:noFill/>
          <a:ln w="15875">
            <a:solidFill>
              <a:srgbClr val="8C3A2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394960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aday marka · 10 bileşen · 3 persona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507992" y="2286000"/>
            <a:ext cx="3456432" cy="329184"/>
          </a:xfrm>
          <a:prstGeom prst="rect">
            <a:avLst/>
          </a:prstGeom>
          <a:solidFill>
            <a:srgbClr val="F6EAE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507992" y="2286000"/>
            <a:ext cx="3456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ÇEVİRİ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507992" y="2816352"/>
            <a:ext cx="3456432" cy="621792"/>
          </a:xfrm>
          <a:prstGeom prst="rect">
            <a:avLst/>
          </a:prstGeom>
          <a:ln w="9525">
            <a:solidFill>
              <a:srgbClr val="C9C9C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681728" y="2990088"/>
            <a:ext cx="274320" cy="274320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681728" y="2990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111496" y="2816352"/>
            <a:ext cx="27066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Yolculuk haritası</a:t>
            </a:r>
            <a:endParaRPr lang="en-US" sz="1450" dirty="0"/>
          </a:p>
        </p:txBody>
      </p:sp>
      <p:sp>
        <p:nvSpPr>
          <p:cNvPr id="32" name="Shape 30"/>
          <p:cNvSpPr/>
          <p:nvPr/>
        </p:nvSpPr>
        <p:spPr>
          <a:xfrm>
            <a:off x="6236208" y="3456432"/>
            <a:ext cx="0" cy="128016"/>
          </a:xfrm>
          <a:prstGeom prst="line">
            <a:avLst/>
          </a:prstGeom>
          <a:noFill/>
          <a:ln w="15240">
            <a:solidFill>
              <a:srgbClr val="8C3A2B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4507992" y="3602736"/>
            <a:ext cx="3456432" cy="621792"/>
          </a:xfrm>
          <a:prstGeom prst="rect">
            <a:avLst/>
          </a:prstGeom>
          <a:ln w="9525">
            <a:solidFill>
              <a:srgbClr val="C9C9C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81728" y="3776472"/>
            <a:ext cx="274320" cy="274320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681728" y="3776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5111496" y="3602736"/>
            <a:ext cx="27066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Anahtar kelime</a:t>
            </a:r>
            <a:endParaRPr lang="en-US" sz="1450" dirty="0"/>
          </a:p>
        </p:txBody>
      </p:sp>
      <p:sp>
        <p:nvSpPr>
          <p:cNvPr id="37" name="Shape 35"/>
          <p:cNvSpPr/>
          <p:nvPr/>
        </p:nvSpPr>
        <p:spPr>
          <a:xfrm>
            <a:off x="6236208" y="4242816"/>
            <a:ext cx="0" cy="128016"/>
          </a:xfrm>
          <a:prstGeom prst="line">
            <a:avLst/>
          </a:prstGeom>
          <a:noFill/>
          <a:ln w="15240">
            <a:solidFill>
              <a:srgbClr val="8C3A2B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4507992" y="4389120"/>
            <a:ext cx="3456432" cy="621792"/>
          </a:xfrm>
          <a:prstGeom prst="rect">
            <a:avLst/>
          </a:prstGeom>
          <a:ln w="9525">
            <a:solidFill>
              <a:srgbClr val="C9C9C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681728" y="4562856"/>
            <a:ext cx="274320" cy="274320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681728" y="45628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5111496" y="4389120"/>
            <a:ext cx="27066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Mekânsal ilke</a:t>
            </a:r>
            <a:endParaRPr lang="en-US" sz="1450" dirty="0"/>
          </a:p>
        </p:txBody>
      </p:sp>
      <p:sp>
        <p:nvSpPr>
          <p:cNvPr id="42" name="Shape 40"/>
          <p:cNvSpPr/>
          <p:nvPr/>
        </p:nvSpPr>
        <p:spPr>
          <a:xfrm>
            <a:off x="8001000" y="4023360"/>
            <a:ext cx="201168" cy="0"/>
          </a:xfrm>
          <a:prstGeom prst="line">
            <a:avLst/>
          </a:prstGeom>
          <a:noFill/>
          <a:ln w="20320">
            <a:solidFill>
              <a:srgbClr val="8C3A2B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4507992" y="5285232"/>
            <a:ext cx="3456432" cy="0"/>
          </a:xfrm>
          <a:prstGeom prst="line">
            <a:avLst/>
          </a:prstGeom>
          <a:noFill/>
          <a:ln w="15875">
            <a:solidFill>
              <a:srgbClr val="8C3A2B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507992" y="5394960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modül · 3 kelime · 3 ilke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8238744" y="2286000"/>
            <a:ext cx="3456432" cy="329184"/>
          </a:xfrm>
          <a:prstGeom prst="rect">
            <a:avLst/>
          </a:prstGeom>
          <a:solidFill>
            <a:srgbClr val="8C3A2B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8238744" y="2286000"/>
            <a:ext cx="3456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TASARIM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8238744" y="2816352"/>
            <a:ext cx="3456432" cy="621792"/>
          </a:xfrm>
          <a:prstGeom prst="rect">
            <a:avLst/>
          </a:prstGeom>
          <a:ln w="9525">
            <a:solidFill>
              <a:srgbClr val="C9C9C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412480" y="2990088"/>
            <a:ext cx="274320" cy="274320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8412480" y="2990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8842248" y="2816352"/>
            <a:ext cx="27066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Mekânsal program</a:t>
            </a:r>
            <a:endParaRPr lang="en-US" sz="1450" dirty="0"/>
          </a:p>
        </p:txBody>
      </p:sp>
      <p:sp>
        <p:nvSpPr>
          <p:cNvPr id="51" name="Shape 49"/>
          <p:cNvSpPr/>
          <p:nvPr/>
        </p:nvSpPr>
        <p:spPr>
          <a:xfrm>
            <a:off x="9966960" y="3456432"/>
            <a:ext cx="0" cy="128016"/>
          </a:xfrm>
          <a:prstGeom prst="line">
            <a:avLst/>
          </a:prstGeom>
          <a:noFill/>
          <a:ln w="15240">
            <a:solidFill>
              <a:srgbClr val="8C3A2B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8238744" y="3602736"/>
            <a:ext cx="3456432" cy="621792"/>
          </a:xfrm>
          <a:prstGeom prst="rect">
            <a:avLst/>
          </a:prstGeom>
          <a:ln w="9525">
            <a:solidFill>
              <a:srgbClr val="C9C9C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412480" y="3776472"/>
            <a:ext cx="274320" cy="274320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8412480" y="3776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8842248" y="3602736"/>
            <a:ext cx="27066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Konsept</a:t>
            </a:r>
            <a:endParaRPr lang="en-US" sz="1450" dirty="0"/>
          </a:p>
        </p:txBody>
      </p:sp>
      <p:sp>
        <p:nvSpPr>
          <p:cNvPr id="56" name="Shape 54"/>
          <p:cNvSpPr/>
          <p:nvPr/>
        </p:nvSpPr>
        <p:spPr>
          <a:xfrm>
            <a:off x="9966960" y="4242816"/>
            <a:ext cx="0" cy="128016"/>
          </a:xfrm>
          <a:prstGeom prst="line">
            <a:avLst/>
          </a:prstGeom>
          <a:noFill/>
          <a:ln w="15240">
            <a:solidFill>
              <a:srgbClr val="8C3A2B"/>
            </a:solidFill>
            <a:prstDash val="solid"/>
            <a:tailEnd type="triangle"/>
          </a:ln>
        </p:spPr>
      </p:sp>
      <p:sp>
        <p:nvSpPr>
          <p:cNvPr id="57" name="Shape 55"/>
          <p:cNvSpPr/>
          <p:nvPr/>
        </p:nvSpPr>
        <p:spPr>
          <a:xfrm>
            <a:off x="8238744" y="4389120"/>
            <a:ext cx="3456432" cy="621792"/>
          </a:xfrm>
          <a:prstGeom prst="rect">
            <a:avLst/>
          </a:prstGeom>
          <a:ln w="9525">
            <a:solidFill>
              <a:srgbClr val="C9C9C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412480" y="4562856"/>
            <a:ext cx="274320" cy="274320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8412480" y="45628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60" name="Text 58"/>
          <p:cNvSpPr txBox="1"/>
          <p:nvPr/>
        </p:nvSpPr>
        <p:spPr>
          <a:xfrm>
            <a:off x="8842248" y="4389120"/>
            <a:ext cx="27066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Detay</a:t>
            </a:r>
            <a:endParaRPr lang="en-US" sz="1450" dirty="0"/>
          </a:p>
        </p:txBody>
      </p:sp>
      <p:sp>
        <p:nvSpPr>
          <p:cNvPr id="61" name="Shape 59"/>
          <p:cNvSpPr/>
          <p:nvPr/>
        </p:nvSpPr>
        <p:spPr>
          <a:xfrm>
            <a:off x="8238744" y="5285232"/>
            <a:ext cx="3456432" cy="0"/>
          </a:xfrm>
          <a:prstGeom prst="line">
            <a:avLst/>
          </a:prstGeom>
          <a:noFill/>
          <a:ln w="15875">
            <a:solidFill>
              <a:srgbClr val="8C3A2B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8238744" y="5394960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m² dağılımı · 1/100 · 1/50 ve 1/20</a:t>
            </a:r>
            <a:endParaRPr lang="en-US" sz="1050" dirty="0"/>
          </a:p>
        </p:txBody>
      </p:sp>
      <p:sp>
        <p:nvSpPr>
          <p:cNvPr id="63" name="Text 61"/>
          <p:cNvSpPr txBox="1"/>
          <p:nvPr/>
        </p:nvSpPr>
        <p:spPr>
          <a:xfrm>
            <a:off x="777240" y="5989320"/>
            <a:ext cx="10634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300" i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Atlanan adım en son çizimde eksik olarak geri döner.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1234440"/>
            <a:ext cx="10634472" cy="0"/>
          </a:xfrm>
          <a:prstGeom prst="line">
            <a:avLst/>
          </a:prstGeom>
          <a:noFill/>
          <a:ln w="12700">
            <a:solidFill>
              <a:srgbClr val="3A3A4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77240" y="1353312"/>
            <a:ext cx="310896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b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VII</a:t>
            </a:r>
            <a:endParaRPr lang="en-US" sz="78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06324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 ve beklentiler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777240" y="4315968"/>
            <a:ext cx="2011680" cy="0"/>
          </a:xfrm>
          <a:prstGeom prst="line">
            <a:avLst/>
          </a:prstGeom>
          <a:noFill/>
          <a:ln w="25400">
            <a:solidFill>
              <a:srgbClr val="8C3A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452628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i="1" dirty="0">
                <a:solidFill>
                  <a:srgbClr val="B9B9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 tasarlayacaksınız, ne teslim edeceksiniz, jüri neye bakacak?</a:t>
            </a:r>
            <a:endParaRPr lang="en-US" sz="1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80" kern="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VII · PROJE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6809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8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 tanımı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77240" y="1490472"/>
            <a:ext cx="1371600" cy="0"/>
          </a:xfrm>
          <a:prstGeom prst="line">
            <a:avLst/>
          </a:prstGeom>
          <a:noFill/>
          <a:ln w="22225">
            <a:solidFill>
              <a:srgbClr val="8C3A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0" y="6364224"/>
            <a:ext cx="438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700784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Küçük ve yerel bir markanın ilk fiziksel mekânını tasarlayacaksınız. Mekân verili: Mersin Marina'da bir ticari birim. Kabuk değişmez; içi, tavanı, zemini ve vitrini sizin.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23160"/>
            <a:ext cx="6766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70" kern="0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VERİLENLER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527048" y="2542032"/>
            <a:ext cx="4279392" cy="0"/>
          </a:xfrm>
          <a:prstGeom prst="line">
            <a:avLst/>
          </a:prstGeom>
          <a:noFill/>
          <a:ln w="9525">
            <a:solidFill>
              <a:srgbClr val="EDED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79806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Mekân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331720" y="28254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Mersin Marina'da bir birim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77240" y="3200400"/>
            <a:ext cx="5029200" cy="0"/>
          </a:xfrm>
          <a:prstGeom prst="line">
            <a:avLst/>
          </a:prstGeom>
          <a:noFill/>
          <a:ln w="6350">
            <a:solidFill>
              <a:srgbClr val="EDED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3101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Kabuk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331720" y="33375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taşıyıcı, cephe hattı, kot verili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3712464"/>
            <a:ext cx="5029200" cy="0"/>
          </a:xfrm>
          <a:prstGeom prst="line">
            <a:avLst/>
          </a:prstGeom>
          <a:noFill/>
          <a:ln w="6350">
            <a:solidFill>
              <a:srgbClr val="EDED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382219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Alan ziyareti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2331720" y="384962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hafta, hep birlikte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77240" y="4224528"/>
            <a:ext cx="5029200" cy="0"/>
          </a:xfrm>
          <a:prstGeom prst="line">
            <a:avLst/>
          </a:prstGeom>
          <a:noFill/>
          <a:ln w="6350">
            <a:solidFill>
              <a:srgbClr val="EDED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7240" y="433425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Marka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2331720" y="436168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 bulacağınız küçük marka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77240" y="4736592"/>
            <a:ext cx="5029200" cy="0"/>
          </a:xfrm>
          <a:prstGeom prst="line">
            <a:avLst/>
          </a:prstGeom>
          <a:noFill/>
          <a:ln w="6350">
            <a:solidFill>
              <a:srgbClr val="EDED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7240" y="48463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Ölçek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331720" y="487375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bireysel proje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382512" y="2423160"/>
            <a:ext cx="1243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70" kern="0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MARİNA BİR AVM DEĞİL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99248" y="2542032"/>
            <a:ext cx="3712464" cy="0"/>
          </a:xfrm>
          <a:prstGeom prst="line">
            <a:avLst/>
          </a:prstGeom>
          <a:noFill/>
          <a:ln w="9525">
            <a:solidFill>
              <a:srgbClr val="EBD7D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14516" y="2884932"/>
            <a:ext cx="100584" cy="100584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675120" y="2798064"/>
            <a:ext cx="4736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Açık hava: yaya dış mekândan gelir.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414516" y="3342132"/>
            <a:ext cx="100584" cy="100584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675120" y="3255264"/>
            <a:ext cx="4736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Mevsimsellik: yaz ve kış yoğunluğu farklı.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14516" y="3799332"/>
            <a:ext cx="100584" cy="100584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675120" y="3712464"/>
            <a:ext cx="4736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Tuz ve nem: malzeme buna dayanmalı.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414516" y="4256532"/>
            <a:ext cx="100584" cy="100584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675120" y="4169664"/>
            <a:ext cx="4736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Akşam kullanımı: gece cephesi ayrı tasarlanır.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414516" y="4713732"/>
            <a:ext cx="100584" cy="100584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675120" y="4626864"/>
            <a:ext cx="4736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Karma kullanıcı: tekne sahibi, turist, yerli.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414516" y="5170932"/>
            <a:ext cx="100584" cy="100584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675120" y="5084064"/>
            <a:ext cx="4736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Görünürlük: cephe uzaktan ve yandan okunur.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5961888" y="2505456"/>
            <a:ext cx="0" cy="3072384"/>
          </a:xfrm>
          <a:prstGeom prst="line">
            <a:avLst/>
          </a:prstGeom>
          <a:noFill/>
          <a:ln w="9525">
            <a:solidFill>
              <a:srgbClr val="C9C9C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77240" y="5760720"/>
            <a:ext cx="10634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300" i="1" dirty="0">
                <a:solidFill>
                  <a:srgbClr val="7A7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Alanın m²'si, kat sayısı ve tavan yüksekliği 2. hafta ölçülerek verilecek.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777240" y="636422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i="1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Görsel önerisi — Mersin Marina'dan cephe ve yaya akışı fotoğrafı bu slayta konabilir.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80" kern="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VII · PROJE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6809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8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Çözmek zorunda olduğunuz alanlar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77240" y="1490472"/>
            <a:ext cx="1371600" cy="0"/>
          </a:xfrm>
          <a:prstGeom prst="line">
            <a:avLst/>
          </a:prstGeom>
          <a:noFill/>
          <a:ln w="22225">
            <a:solidFill>
              <a:srgbClr val="8C3A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0" y="6364224"/>
            <a:ext cx="438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700784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Mekân ne kadar büyük olursa olsun bu işlevlerin hepsi çözülmüş olacak. Nerede olacakları size ait.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774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 ALAN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63347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müşterinin gördüğü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77240" y="2267712"/>
            <a:ext cx="10634472" cy="0"/>
          </a:xfrm>
          <a:prstGeom prst="line">
            <a:avLst/>
          </a:prstGeom>
          <a:noFill/>
          <a:ln w="12700">
            <a:solidFill>
              <a:srgbClr val="C9C9C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7772" y="2510028"/>
            <a:ext cx="100584" cy="100584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62656" y="24231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Vitrin ve cephe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485132" y="2510028"/>
            <a:ext cx="100584" cy="100584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700016" y="24231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Giriş ve eşik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22492" y="2510028"/>
            <a:ext cx="100584" cy="100584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37376" y="24231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Teşhir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9852" y="2510028"/>
            <a:ext cx="100584" cy="100584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174736" y="24231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Deneme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9697212" y="2510028"/>
            <a:ext cx="100584" cy="100584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912096" y="24231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Oturma ve bekleme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33832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KESİŞİM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36393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ikisinin buluştuğu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7620">
            <a:solidFill>
              <a:srgbClr val="EDED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747772" y="3515868"/>
            <a:ext cx="100584" cy="100584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962656" y="342900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Kasa ve paketleme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091172" y="3515868"/>
            <a:ext cx="100584" cy="100584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06056" y="342900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Kasa arkası yönetim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777240" y="43891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ARKA ALAN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777240" y="46451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işletmenin çalıştığı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77240" y="4279392"/>
            <a:ext cx="10634472" cy="0"/>
          </a:xfrm>
          <a:prstGeom prst="line">
            <a:avLst/>
          </a:prstGeom>
          <a:noFill/>
          <a:ln w="7620">
            <a:solidFill>
              <a:srgbClr val="EDED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747772" y="4521708"/>
            <a:ext cx="100584" cy="100584"/>
          </a:xfrm>
          <a:prstGeom prst="ellipse">
            <a:avLst/>
          </a:prstGeom>
          <a:solidFill>
            <a:srgbClr val="B9B9C0"/>
          </a:solidFill>
          <a:ln w="12700">
            <a:solidFill>
              <a:srgbClr val="B9B9C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962656" y="4434840"/>
            <a:ext cx="18973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 kabul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919472" y="4521708"/>
            <a:ext cx="100584" cy="100584"/>
          </a:xfrm>
          <a:prstGeom prst="ellipse">
            <a:avLst/>
          </a:prstGeom>
          <a:solidFill>
            <a:srgbClr val="B9B9C0"/>
          </a:solidFill>
          <a:ln w="12700">
            <a:solidFill>
              <a:srgbClr val="B9B9C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134356" y="4434840"/>
            <a:ext cx="18973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7091172" y="4521708"/>
            <a:ext cx="100584" cy="100584"/>
          </a:xfrm>
          <a:prstGeom prst="ellipse">
            <a:avLst/>
          </a:prstGeom>
          <a:solidFill>
            <a:srgbClr val="B9B9C0"/>
          </a:solidFill>
          <a:ln w="12700">
            <a:solidFill>
              <a:srgbClr val="B9B9C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306056" y="4434840"/>
            <a:ext cx="18973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Personel ve WC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9262872" y="4521708"/>
            <a:ext cx="100584" cy="100584"/>
          </a:xfrm>
          <a:prstGeom prst="ellipse">
            <a:avLst/>
          </a:prstGeom>
          <a:solidFill>
            <a:srgbClr val="B9B9C0"/>
          </a:solidFill>
          <a:ln w="12700">
            <a:solidFill>
              <a:srgbClr val="B9B9C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477756" y="4434840"/>
            <a:ext cx="18973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Servis rotası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777240" y="5285232"/>
            <a:ext cx="10634472" cy="0"/>
          </a:xfrm>
          <a:prstGeom prst="line">
            <a:avLst/>
          </a:prstGeom>
          <a:noFill/>
          <a:ln w="7620">
            <a:solidFill>
              <a:srgbClr val="EDED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77240" y="5522976"/>
            <a:ext cx="10634472" cy="960120"/>
          </a:xfrm>
          <a:prstGeom prst="rect">
            <a:avLst/>
          </a:prstGeom>
          <a:solidFill>
            <a:srgbClr val="F6EAE6"/>
          </a:solidFill>
          <a:ln w="15875">
            <a:solidFill>
              <a:srgbClr val="8C3A2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1005840" y="5650992"/>
            <a:ext cx="10149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DUYUSAL VURGU — BU DERSİN AYIRT EDİCİ TALEBİ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1005840" y="5907024"/>
            <a:ext cx="10149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Beş duyunun her biri için en az bir bilinçli karar verecek ve üç “imza an” tanımlayacaksınız: müşterinin hatırlayacağı üç mekânsal moment. Deponun m²'si de gerekçeli olacak.</a:t>
            </a:r>
            <a:endParaRPr lang="en-US" sz="13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80" kern="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VII · TESLİMLER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6809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8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Üç jüri, üç paket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77240" y="1490472"/>
            <a:ext cx="1371600" cy="0"/>
          </a:xfrm>
          <a:prstGeom prst="line">
            <a:avLst/>
          </a:prstGeom>
          <a:noFill/>
          <a:ln w="22225">
            <a:solidFill>
              <a:srgbClr val="8C3A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0" y="6364224"/>
            <a:ext cx="438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700784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 jüride ne getireceğiniz baştan belli. Sağ kolon o jüride hangi konunun ölçüldüğünü gösteriyor.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406640" y="2048256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b="1" spc="150" kern="0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JÜRİDE ÖLÇÜLEN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777240" y="2286000"/>
            <a:ext cx="1600200" cy="310896"/>
          </a:xfrm>
          <a:prstGeom prst="rect">
            <a:avLst/>
          </a:prstGeom>
          <a:solidFill>
            <a:srgbClr val="F6EAE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228600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60" kern="0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VİZE 1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65176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hafta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907792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%25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2651760" y="2414016"/>
            <a:ext cx="91440" cy="91440"/>
          </a:xfrm>
          <a:prstGeom prst="ellipse">
            <a:avLst/>
          </a:prstGeom>
          <a:solidFill>
            <a:srgbClr val="B9B9C0"/>
          </a:solidFill>
          <a:ln w="12700">
            <a:solidFill>
              <a:srgbClr val="B9B9C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880360" y="2322576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Marka anahtarı ve üç persona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2651760" y="2798064"/>
            <a:ext cx="91440" cy="91440"/>
          </a:xfrm>
          <a:prstGeom prst="ellipse">
            <a:avLst/>
          </a:prstGeom>
          <a:solidFill>
            <a:srgbClr val="B9B9C0"/>
          </a:solidFill>
          <a:ln w="12700">
            <a:solidFill>
              <a:srgbClr val="B9B9C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880360" y="270662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Yolculuk haritası ve üç anahtar kelime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2651760" y="3182112"/>
            <a:ext cx="91440" cy="91440"/>
          </a:xfrm>
          <a:prstGeom prst="ellipse">
            <a:avLst/>
          </a:prstGeom>
          <a:solidFill>
            <a:srgbClr val="B9B9C0"/>
          </a:solidFill>
          <a:ln w="12700">
            <a:solidFill>
              <a:srgbClr val="B9B9C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880360" y="309067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Mekânsal program ve 1/100 plan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406640" y="2651760"/>
            <a:ext cx="1111910" cy="292608"/>
          </a:xfrm>
          <a:prstGeom prst="roundRect">
            <a:avLst>
              <a:gd name="adj" fmla="val 50000"/>
            </a:avLst>
          </a:prstGeom>
          <a:solidFill>
            <a:srgbClr val="F6EAE6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461504" y="2651760"/>
            <a:ext cx="10021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Marka analizi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628278" y="2651760"/>
            <a:ext cx="1243584" cy="292608"/>
          </a:xfrm>
          <a:prstGeom prst="roundRect">
            <a:avLst>
              <a:gd name="adj" fmla="val 50000"/>
            </a:avLst>
          </a:prstGeom>
          <a:solidFill>
            <a:srgbClr val="F6EAE6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683142" y="2651760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Müşteri profili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77240" y="3456432"/>
            <a:ext cx="10634472" cy="0"/>
          </a:xfrm>
          <a:prstGeom prst="line">
            <a:avLst/>
          </a:prstGeom>
          <a:noFill/>
          <a:ln w="6350">
            <a:solidFill>
              <a:srgbClr val="EDED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77240" y="3657600"/>
            <a:ext cx="1600200" cy="310896"/>
          </a:xfrm>
          <a:prstGeom prst="rect">
            <a:avLst/>
          </a:prstGeom>
          <a:solidFill>
            <a:srgbClr val="F6EAE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77240" y="365760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60" kern="0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VİZE 2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402336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hafta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777240" y="4279392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%25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2651760" y="3785616"/>
            <a:ext cx="91440" cy="91440"/>
          </a:xfrm>
          <a:prstGeom prst="ellipse">
            <a:avLst/>
          </a:prstGeom>
          <a:solidFill>
            <a:srgbClr val="B9B9C0"/>
          </a:solidFill>
          <a:ln w="12700">
            <a:solidFill>
              <a:srgbClr val="B9B9C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880360" y="3694176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1/50 tam set: plan, kesit, cephe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2651760" y="4169664"/>
            <a:ext cx="91440" cy="91440"/>
          </a:xfrm>
          <a:prstGeom prst="ellipse">
            <a:avLst/>
          </a:prstGeom>
          <a:solidFill>
            <a:srgbClr val="B9B9C0"/>
          </a:solidFill>
          <a:ln w="12700">
            <a:solidFill>
              <a:srgbClr val="B9B9C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880360" y="407822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Tavan ve aydınlatma planı, malzeme paneli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2651760" y="4553712"/>
            <a:ext cx="91440" cy="91440"/>
          </a:xfrm>
          <a:prstGeom prst="ellipse">
            <a:avLst/>
          </a:prstGeom>
          <a:solidFill>
            <a:srgbClr val="B9B9C0"/>
          </a:solidFill>
          <a:ln w="12700">
            <a:solidFill>
              <a:srgbClr val="B9B9C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880360" y="446227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Arka ofis, kasa, yönlendirme şeması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7406640" y="4023360"/>
            <a:ext cx="585216" cy="292608"/>
          </a:xfrm>
          <a:prstGeom prst="roundRect">
            <a:avLst>
              <a:gd name="adj" fmla="val 50000"/>
            </a:avLst>
          </a:prstGeom>
          <a:solidFill>
            <a:srgbClr val="F6EAE6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461504" y="4023360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Çekim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8101584" y="4023360"/>
            <a:ext cx="519379" cy="292608"/>
          </a:xfrm>
          <a:prstGeom prst="roundRect">
            <a:avLst>
              <a:gd name="adj" fmla="val 50000"/>
            </a:avLst>
          </a:prstGeom>
          <a:solidFill>
            <a:srgbClr val="F6EAE6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156448" y="4023360"/>
            <a:ext cx="40965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Eşik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8730691" y="4023360"/>
            <a:ext cx="519379" cy="292608"/>
          </a:xfrm>
          <a:prstGeom prst="roundRect">
            <a:avLst>
              <a:gd name="adj" fmla="val 50000"/>
            </a:avLst>
          </a:prstGeom>
          <a:solidFill>
            <a:srgbClr val="F6EAE6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785555" y="4023360"/>
            <a:ext cx="40965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Ürün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9359798" y="4023360"/>
            <a:ext cx="1046074" cy="292608"/>
          </a:xfrm>
          <a:prstGeom prst="roundRect">
            <a:avLst>
              <a:gd name="adj" fmla="val 50000"/>
            </a:avLst>
          </a:prstGeom>
          <a:solidFill>
            <a:srgbClr val="F6EAE6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414662" y="4023360"/>
            <a:ext cx="9363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Organizasyon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10515600" y="4023360"/>
            <a:ext cx="716890" cy="292608"/>
          </a:xfrm>
          <a:prstGeom prst="roundRect">
            <a:avLst>
              <a:gd name="adj" fmla="val 50000"/>
            </a:avLst>
          </a:prstGeom>
          <a:solidFill>
            <a:srgbClr val="F6EAE6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0570464" y="4023360"/>
            <a:ext cx="6071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Yönelme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777240" y="4828032"/>
            <a:ext cx="10634472" cy="0"/>
          </a:xfrm>
          <a:prstGeom prst="line">
            <a:avLst/>
          </a:prstGeom>
          <a:noFill/>
          <a:ln w="6350">
            <a:solidFill>
              <a:srgbClr val="EDED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77240" y="5029200"/>
            <a:ext cx="1600200" cy="310896"/>
          </a:xfrm>
          <a:prstGeom prst="rect">
            <a:avLst/>
          </a:prstGeom>
          <a:solidFill>
            <a:srgbClr val="8C3A2B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777240" y="502920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FİNAL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777240" y="539496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ayrı hafta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777240" y="5650992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%30</a:t>
            </a:r>
            <a:endParaRPr lang="en-US" sz="1700" dirty="0"/>
          </a:p>
        </p:txBody>
      </p:sp>
      <p:sp>
        <p:nvSpPr>
          <p:cNvPr id="48" name="Shape 46"/>
          <p:cNvSpPr/>
          <p:nvPr/>
        </p:nvSpPr>
        <p:spPr>
          <a:xfrm>
            <a:off x="2651760" y="5157216"/>
            <a:ext cx="91440" cy="91440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880360" y="5065776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1/50 tam set + 1/20 kısmi plan ve kesit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2651760" y="5541264"/>
            <a:ext cx="91440" cy="91440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880360" y="544982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1/10–1/5 teşhir detayı, maket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2651760" y="5925312"/>
            <a:ext cx="91440" cy="91440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2880360" y="583387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İç mekân görselleri ve gece cephesi</a:t>
            </a:r>
            <a:endParaRPr lang="en-US" sz="1150" dirty="0"/>
          </a:p>
        </p:txBody>
      </p:sp>
      <p:sp>
        <p:nvSpPr>
          <p:cNvPr id="54" name="Shape 52"/>
          <p:cNvSpPr/>
          <p:nvPr/>
        </p:nvSpPr>
        <p:spPr>
          <a:xfrm>
            <a:off x="7406640" y="5394960"/>
            <a:ext cx="1046074" cy="292608"/>
          </a:xfrm>
          <a:prstGeom prst="roundRect">
            <a:avLst>
              <a:gd name="adj" fmla="val 50000"/>
            </a:avLst>
          </a:prstGeom>
          <a:solidFill>
            <a:srgbClr val="F6EAE6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7461504" y="5394960"/>
            <a:ext cx="9363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Tüm modüller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7086600" y="2231136"/>
            <a:ext cx="0" cy="3712464"/>
          </a:xfrm>
          <a:prstGeom prst="line">
            <a:avLst/>
          </a:prstGeom>
          <a:noFill/>
          <a:ln w="9525">
            <a:solidFill>
              <a:srgbClr val="C9C9CF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777240" y="62362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250" i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Ayrıca 3. haftada araştırma sunumu (%10) ve yarıyıl boyunca stüdyo performansı (%10). Jüriye katılım ve sözlü sunum zorunlu.</a:t>
            </a:r>
            <a:endParaRPr lang="en-US" sz="12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80" kern="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VII · DEĞERLENDİRME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6809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8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Jüri neye bakıyor?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77240" y="1490472"/>
            <a:ext cx="1371600" cy="0"/>
          </a:xfrm>
          <a:prstGeom prst="line">
            <a:avLst/>
          </a:prstGeom>
          <a:noFill/>
          <a:ln w="22225">
            <a:solidFill>
              <a:srgbClr val="8C3A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0" y="6364224"/>
            <a:ext cx="438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700784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 jüride sekiz boyut puanlanır. Ağırlıklar jüriye göre değişir: önce fikir, sonra mekân, en son detay ölçülür.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9572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b="1" spc="150" kern="0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BOYUT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943600" y="2395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850" b="1" spc="150" kern="0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VİZE 1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7315200" y="2395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850" b="1" spc="150" kern="0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VİZE 2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686800" y="2395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850" b="1" spc="150" kern="0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FİNAL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777240" y="2615184"/>
            <a:ext cx="9281160" cy="0"/>
          </a:xfrm>
          <a:prstGeom prst="line">
            <a:avLst/>
          </a:prstGeom>
          <a:noFill/>
          <a:ln w="12700">
            <a:solidFill>
              <a:srgbClr val="C9C9C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274320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Marka ve kullanıcı analizi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943600" y="27432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%30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315200" y="27432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%10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686800" y="27432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%10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3072384"/>
            <a:ext cx="9281160" cy="0"/>
          </a:xfrm>
          <a:prstGeom prst="line">
            <a:avLst/>
          </a:prstGeom>
          <a:noFill/>
          <a:ln w="5080">
            <a:solidFill>
              <a:srgbClr val="EDED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3145536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Konsept gücü ve tutarlılığı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943600" y="314553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%30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7315200" y="314553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%15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8686800" y="314553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%15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77240" y="3474720"/>
            <a:ext cx="9281160" cy="0"/>
          </a:xfrm>
          <a:prstGeom prst="line">
            <a:avLst/>
          </a:prstGeom>
          <a:noFill/>
          <a:ln w="5080">
            <a:solidFill>
              <a:srgbClr val="EDEDF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354787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Mekânsal kurgu ve program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354787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%20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7315200" y="354787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%20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8686800" y="354787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%15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777240" y="3877056"/>
            <a:ext cx="9281160" cy="0"/>
          </a:xfrm>
          <a:prstGeom prst="line">
            <a:avLst/>
          </a:prstGeom>
          <a:noFill/>
          <a:ln w="5080">
            <a:solidFill>
              <a:srgbClr val="EDEDF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77240" y="395020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Çekim ve eşik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5943600" y="395020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%5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7315200" y="395020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%15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8686800" y="395020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%10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777240" y="4279392"/>
            <a:ext cx="9281160" cy="0"/>
          </a:xfrm>
          <a:prstGeom prst="line">
            <a:avLst/>
          </a:prstGeom>
          <a:noFill/>
          <a:ln w="5080">
            <a:solidFill>
              <a:srgbClr val="EDEDF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77240" y="4352544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Organizasyonel çözüm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5943600" y="4352544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7315200" y="4352544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%15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8686800" y="4352544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%15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777240" y="4681728"/>
            <a:ext cx="9281160" cy="0"/>
          </a:xfrm>
          <a:prstGeom prst="line">
            <a:avLst/>
          </a:prstGeom>
          <a:noFill/>
          <a:ln w="5080">
            <a:solidFill>
              <a:srgbClr val="EDEDF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7240" y="475488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Atmosfer ve duyusal katman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5943600" y="47548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%5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7315200" y="47548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%15</a:t>
            </a:r>
            <a:endParaRPr lang="en-US" sz="1250" dirty="0"/>
          </a:p>
        </p:txBody>
      </p:sp>
      <p:sp>
        <p:nvSpPr>
          <p:cNvPr id="40" name="Text 38"/>
          <p:cNvSpPr txBox="1"/>
          <p:nvPr/>
        </p:nvSpPr>
        <p:spPr>
          <a:xfrm>
            <a:off x="8686800" y="47548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%15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777240" y="5084064"/>
            <a:ext cx="9281160" cy="0"/>
          </a:xfrm>
          <a:prstGeom prst="line">
            <a:avLst/>
          </a:prstGeom>
          <a:noFill/>
          <a:ln w="5080">
            <a:solidFill>
              <a:srgbClr val="EDEDF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77240" y="5157216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Teknik çözüm ve detay</a:t>
            </a:r>
            <a:endParaRPr lang="en-US" sz="1250" dirty="0"/>
          </a:p>
        </p:txBody>
      </p:sp>
      <p:sp>
        <p:nvSpPr>
          <p:cNvPr id="43" name="Text 41"/>
          <p:cNvSpPr txBox="1"/>
          <p:nvPr/>
        </p:nvSpPr>
        <p:spPr>
          <a:xfrm>
            <a:off x="5943600" y="515721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7315200" y="515721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%5</a:t>
            </a:r>
            <a:endParaRPr lang="en-US" sz="1250" dirty="0"/>
          </a:p>
        </p:txBody>
      </p:sp>
      <p:sp>
        <p:nvSpPr>
          <p:cNvPr id="45" name="Text 43"/>
          <p:cNvSpPr txBox="1"/>
          <p:nvPr/>
        </p:nvSpPr>
        <p:spPr>
          <a:xfrm>
            <a:off x="8686800" y="515721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%15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777240" y="5486400"/>
            <a:ext cx="9281160" cy="0"/>
          </a:xfrm>
          <a:prstGeom prst="line">
            <a:avLst/>
          </a:prstGeom>
          <a:noFill/>
          <a:ln w="5080">
            <a:solidFill>
              <a:srgbClr val="EDEDF0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77240" y="555955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Sunum ve anlatım</a:t>
            </a:r>
            <a:endParaRPr lang="en-US" sz="1250" dirty="0"/>
          </a:p>
        </p:txBody>
      </p:sp>
      <p:sp>
        <p:nvSpPr>
          <p:cNvPr id="48" name="Text 46"/>
          <p:cNvSpPr txBox="1"/>
          <p:nvPr/>
        </p:nvSpPr>
        <p:spPr>
          <a:xfrm>
            <a:off x="5943600" y="555955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%10</a:t>
            </a:r>
            <a:endParaRPr lang="en-US" sz="1250" dirty="0"/>
          </a:p>
        </p:txBody>
      </p:sp>
      <p:sp>
        <p:nvSpPr>
          <p:cNvPr id="49" name="Text 47"/>
          <p:cNvSpPr txBox="1"/>
          <p:nvPr/>
        </p:nvSpPr>
        <p:spPr>
          <a:xfrm>
            <a:off x="7315200" y="555955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%5</a:t>
            </a:r>
            <a:endParaRPr lang="en-US" sz="1250" dirty="0"/>
          </a:p>
        </p:txBody>
      </p:sp>
      <p:sp>
        <p:nvSpPr>
          <p:cNvPr id="50" name="Text 48"/>
          <p:cNvSpPr txBox="1"/>
          <p:nvPr/>
        </p:nvSpPr>
        <p:spPr>
          <a:xfrm>
            <a:off x="8686800" y="555955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%5</a:t>
            </a:r>
            <a:endParaRPr lang="en-US" sz="1250" dirty="0"/>
          </a:p>
        </p:txBody>
      </p:sp>
      <p:sp>
        <p:nvSpPr>
          <p:cNvPr id="51" name="Text 49"/>
          <p:cNvSpPr txBox="1"/>
          <p:nvPr/>
        </p:nvSpPr>
        <p:spPr>
          <a:xfrm>
            <a:off x="777240" y="6053328"/>
            <a:ext cx="10634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300" i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Vize 1'de teknik çizim kalitesi değil, analizin derinliği ölçülür.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1234440"/>
            <a:ext cx="10634472" cy="0"/>
          </a:xfrm>
          <a:prstGeom prst="line">
            <a:avLst/>
          </a:prstGeom>
          <a:noFill/>
          <a:ln w="12700">
            <a:solidFill>
              <a:srgbClr val="3A3A4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77240" y="1353312"/>
            <a:ext cx="310896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b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VIII</a:t>
            </a:r>
            <a:endParaRPr lang="en-US" sz="78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06324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Bugün ve bu hafta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777240" y="4315968"/>
            <a:ext cx="2011680" cy="0"/>
          </a:xfrm>
          <a:prstGeom prst="line">
            <a:avLst/>
          </a:prstGeom>
          <a:noFill/>
          <a:ln w="25400">
            <a:solidFill>
              <a:srgbClr val="8C3A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452628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i="1" dirty="0">
                <a:solidFill>
                  <a:srgbClr val="B9B9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Öğrendiklerimizi bugün bir mağaza üzerinde deneyeceğiz.</a:t>
            </a:r>
            <a:endParaRPr lang="en-US" sz="1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80" kern="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VIII · BUGÜN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6809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8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Birinci çalışma: bir mağazayı okumak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77240" y="1490472"/>
            <a:ext cx="1371600" cy="0"/>
          </a:xfrm>
          <a:prstGeom prst="line">
            <a:avLst/>
          </a:prstGeom>
          <a:noFill/>
          <a:ln w="22225">
            <a:solidFill>
              <a:srgbClr val="8C3A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0" y="6364224"/>
            <a:ext cx="438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700784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 birinize bir mağaza görseli verilecek. Markayı tanımıyorsunuz; yalnızca gördüğünüzden hareket edeceksiniz.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468880"/>
            <a:ext cx="3291840" cy="0"/>
          </a:xfrm>
          <a:prstGeom prst="line">
            <a:avLst/>
          </a:prstGeom>
          <a:noFill/>
          <a:ln w="15875">
            <a:solidFill>
              <a:srgbClr val="8C3A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2679192"/>
            <a:ext cx="274320" cy="274320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6791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197864" y="2651760"/>
            <a:ext cx="2871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Marka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07238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mekân nasıl bir markayı anlatıyor?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453128" y="2468880"/>
            <a:ext cx="3291840" cy="0"/>
          </a:xfrm>
          <a:prstGeom prst="line">
            <a:avLst/>
          </a:prstGeom>
          <a:noFill/>
          <a:ln w="15875">
            <a:solidFill>
              <a:srgbClr val="8C3A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62272" y="2679192"/>
            <a:ext cx="274320" cy="274320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462272" y="26791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873752" y="2651760"/>
            <a:ext cx="2871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Kullanıcı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4453128" y="307238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Burada kim rahat eder?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129016" y="2468880"/>
            <a:ext cx="3291840" cy="0"/>
          </a:xfrm>
          <a:prstGeom prst="line">
            <a:avLst/>
          </a:prstGeom>
          <a:noFill/>
          <a:ln w="15875">
            <a:solidFill>
              <a:srgbClr val="8C3A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38160" y="2679192"/>
            <a:ext cx="274320" cy="274320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26791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8549640" y="2651760"/>
            <a:ext cx="2871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Ürün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8129016" y="307238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satılıyor, nasıl sunuluyor?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77240" y="3703320"/>
            <a:ext cx="3291840" cy="0"/>
          </a:xfrm>
          <a:prstGeom prst="line">
            <a:avLst/>
          </a:prstGeom>
          <a:noFill/>
          <a:ln w="15875">
            <a:solidFill>
              <a:srgbClr val="8C3A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86384" y="3913632"/>
            <a:ext cx="274320" cy="274320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86384" y="39136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197864" y="3886200"/>
            <a:ext cx="2871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Davranış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777240" y="430682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Müşteri burada ne yapıyor?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453128" y="3703320"/>
            <a:ext cx="3291840" cy="0"/>
          </a:xfrm>
          <a:prstGeom prst="line">
            <a:avLst/>
          </a:prstGeom>
          <a:noFill/>
          <a:ln w="15875">
            <a:solidFill>
              <a:srgbClr val="8C3A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62272" y="3913632"/>
            <a:ext cx="274320" cy="274320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462272" y="39136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4873752" y="3886200"/>
            <a:ext cx="2871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Duyular</a:t>
            </a:r>
            <a:endParaRPr lang="en-US" sz="1700" dirty="0"/>
          </a:p>
        </p:txBody>
      </p:sp>
      <p:sp>
        <p:nvSpPr>
          <p:cNvPr id="31" name="Text 29"/>
          <p:cNvSpPr txBox="1"/>
          <p:nvPr/>
        </p:nvSpPr>
        <p:spPr>
          <a:xfrm>
            <a:off x="4453128" y="430682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Hangi duyulara sesleniyor?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8129016" y="3703320"/>
            <a:ext cx="3291840" cy="0"/>
          </a:xfrm>
          <a:prstGeom prst="line">
            <a:avLst/>
          </a:prstGeom>
          <a:noFill/>
          <a:ln w="15875">
            <a:solidFill>
              <a:srgbClr val="8C3A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138160" y="3913632"/>
            <a:ext cx="274320" cy="274320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138160" y="39136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8549640" y="3886200"/>
            <a:ext cx="2871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Atmosfer</a:t>
            </a:r>
            <a:endParaRPr lang="en-US" sz="1700" dirty="0"/>
          </a:p>
        </p:txBody>
      </p:sp>
      <p:sp>
        <p:nvSpPr>
          <p:cNvPr id="36" name="Text 34"/>
          <p:cNvSpPr txBox="1"/>
          <p:nvPr/>
        </p:nvSpPr>
        <p:spPr>
          <a:xfrm>
            <a:off x="8129016" y="430682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Nasıl bir his kuruyor?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777240" y="5120640"/>
            <a:ext cx="10634472" cy="713232"/>
          </a:xfrm>
          <a:prstGeom prst="rect">
            <a:avLst/>
          </a:prstGeom>
          <a:solidFill>
            <a:srgbClr val="F6EAE6"/>
          </a:solidFill>
          <a:ln w="15875">
            <a:solidFill>
              <a:srgbClr val="8C3A2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1005840" y="523036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ÇIKTI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1828800" y="5230368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Üç anahtar kelime ve her kelimenin yanında görselde onu gösteren kanıt.</a:t>
            </a:r>
            <a:endParaRPr lang="en-US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777240" y="5989320"/>
            <a:ext cx="10634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250" i="1" dirty="0">
                <a:solidFill>
                  <a:srgbClr val="7A7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 dakika · bireysel · kâğıt dağıtılacak</a:t>
            </a:r>
            <a:endParaRPr lang="en-US" sz="1250" dirty="0"/>
          </a:p>
        </p:txBody>
      </p:sp>
      <p:sp>
        <p:nvSpPr>
          <p:cNvPr id="41" name="Text 39"/>
          <p:cNvSpPr txBox="1"/>
          <p:nvPr/>
        </p:nvSpPr>
        <p:spPr>
          <a:xfrm>
            <a:off x="777240" y="636422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i="1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Görsel önerisi — dört mağaza görseli bu slaytın ardına tam sayfa olarak eklenebilir.</a:t>
            </a:r>
            <a:endParaRPr lang="en-US" sz="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80" kern="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VIII · BUGÜN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6809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8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İkinci çalışma: aynı mağaza, farklı okumalar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77240" y="1490472"/>
            <a:ext cx="1371600" cy="0"/>
          </a:xfrm>
          <a:prstGeom prst="line">
            <a:avLst/>
          </a:prstGeom>
          <a:noFill/>
          <a:ln w="22225">
            <a:solidFill>
              <a:srgbClr val="8C3A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0" y="6364224"/>
            <a:ext cx="438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700784"/>
            <a:ext cx="10634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Aynı görseli okuyanlar bir grup olacak. Kelimeler tutmayacak — bu bir hata değil, çalışmanın asıl konusu.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468880"/>
            <a:ext cx="3291840" cy="2011680"/>
          </a:xfrm>
          <a:prstGeom prst="rect">
            <a:avLst/>
          </a:prstGeom>
          <a:ln w="9525">
            <a:solidFill>
              <a:srgbClr val="C9C9C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24128" y="2715768"/>
            <a:ext cx="310896" cy="310896"/>
          </a:xfrm>
          <a:prstGeom prst="ellipse">
            <a:avLst/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24128" y="2715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96696" y="3200400"/>
            <a:ext cx="2852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Ortak olanı bulun</a:t>
            </a:r>
            <a:endParaRPr lang="en-US" sz="1650" dirty="0"/>
          </a:p>
        </p:txBody>
      </p:sp>
      <p:sp>
        <p:nvSpPr>
          <p:cNvPr id="11" name="Text 9"/>
          <p:cNvSpPr txBox="1"/>
          <p:nvPr/>
        </p:nvSpPr>
        <p:spPr>
          <a:xfrm>
            <a:off x="996696" y="3566160"/>
            <a:ext cx="2852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5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Grubun çoğunun yazdığı kelimeler, mekânın net söylediği şeydir.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996696" y="4169664"/>
            <a:ext cx="2852928" cy="0"/>
          </a:xfrm>
          <a:prstGeom prst="line">
            <a:avLst/>
          </a:prstGeom>
          <a:noFill/>
          <a:ln w="9525">
            <a:solidFill>
              <a:srgbClr val="EDED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6696" y="4224528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güçlü sinyaller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453128" y="2468880"/>
            <a:ext cx="3291840" cy="2011680"/>
          </a:xfrm>
          <a:prstGeom prst="rect">
            <a:avLst/>
          </a:prstGeom>
          <a:ln w="9525">
            <a:solidFill>
              <a:srgbClr val="C9C9C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00016" y="2715768"/>
            <a:ext cx="310896" cy="310896"/>
          </a:xfrm>
          <a:prstGeom prst="ellipse">
            <a:avLst/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700016" y="2715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672584" y="3200400"/>
            <a:ext cx="2852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Ayrışanı tartışın</a:t>
            </a:r>
            <a:endParaRPr lang="en-US" sz="1650" dirty="0"/>
          </a:p>
        </p:txBody>
      </p:sp>
      <p:sp>
        <p:nvSpPr>
          <p:cNvPr id="18" name="Text 16"/>
          <p:cNvSpPr txBox="1"/>
          <p:nvPr/>
        </p:nvSpPr>
        <p:spPr>
          <a:xfrm>
            <a:off x="4672584" y="3566160"/>
            <a:ext cx="2852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5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 kişinin gördüğü şey ya derin bir okuma ya bir yanlış anlama.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672584" y="4169664"/>
            <a:ext cx="2852928" cy="0"/>
          </a:xfrm>
          <a:prstGeom prst="line">
            <a:avLst/>
          </a:prstGeom>
          <a:noFill/>
          <a:ln w="9525">
            <a:solidFill>
              <a:srgbClr val="EDEDF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672584" y="4224528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mekânın belirsiz kaldığı yer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129016" y="2468880"/>
            <a:ext cx="3291840" cy="2011680"/>
          </a:xfrm>
          <a:prstGeom prst="rect">
            <a:avLst/>
          </a:prstGeom>
          <a:solidFill>
            <a:srgbClr val="F6EAE6"/>
          </a:solidFill>
          <a:ln w="15875">
            <a:solidFill>
              <a:srgbClr val="8C3A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375904" y="2715768"/>
            <a:ext cx="310896" cy="310896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375904" y="2715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348472" y="3200400"/>
            <a:ext cx="2852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Eksiği adlandırın</a:t>
            </a:r>
            <a:endParaRPr lang="en-US" sz="1650" dirty="0"/>
          </a:p>
        </p:txBody>
      </p:sp>
      <p:sp>
        <p:nvSpPr>
          <p:cNvPr id="25" name="Text 23"/>
          <p:cNvSpPr txBox="1"/>
          <p:nvPr/>
        </p:nvSpPr>
        <p:spPr>
          <a:xfrm>
            <a:off x="8348472" y="3566160"/>
            <a:ext cx="2852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5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Kimsenin yazmadığı ama mekânda olması gereken bir şey var mı?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348472" y="4169664"/>
            <a:ext cx="2852928" cy="0"/>
          </a:xfrm>
          <a:prstGeom prst="line">
            <a:avLst/>
          </a:prstGeom>
          <a:noFill/>
          <a:ln w="9525">
            <a:solidFill>
              <a:srgbClr val="8C3A2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348472" y="4224528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tasarım fırsatı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77240" y="4764024"/>
            <a:ext cx="7900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70" kern="0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 ÇIKTISI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1640434" y="4882896"/>
            <a:ext cx="9771278" cy="0"/>
          </a:xfrm>
          <a:prstGeom prst="line">
            <a:avLst/>
          </a:prstGeom>
          <a:noFill/>
          <a:ln w="9525">
            <a:solidFill>
              <a:srgbClr val="EDEDF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5065776"/>
            <a:ext cx="10634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2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Tek bir A3 sayfa: ortak kelimeler, ayrışan kelimeler ve grubun ortak cümlesi — “Bu mağaza şunu söylüyor ama şunu söyleyemiyor.”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77240" y="5852160"/>
            <a:ext cx="10634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250" i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 dakika çalışma + 30 dakika sunum · 4–5 kişilik gruplar · uzlaşma beklenmiyor</a:t>
            </a:r>
            <a:endParaRPr lang="en-US" sz="12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80" kern="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VIII · ÖDEV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6809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8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Haftaya: üç aday marka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77240" y="1490472"/>
            <a:ext cx="1371600" cy="0"/>
          </a:xfrm>
          <a:prstGeom prst="line">
            <a:avLst/>
          </a:prstGeom>
          <a:noFill/>
          <a:ln w="22225">
            <a:solidFill>
              <a:srgbClr val="8C3A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0" y="6364224"/>
            <a:ext cx="438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700784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Üç aday marka bulup her biri için bir A4 pafta hazırlayacaksınız. Hangisiyle devam edeceğinize kritikte birlikte karar vereceğiz.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41448"/>
            <a:ext cx="11301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70" kern="0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MARKA NASIL OLMALI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980590" y="2560320"/>
            <a:ext cx="3825850" cy="0"/>
          </a:xfrm>
          <a:prstGeom prst="line">
            <a:avLst/>
          </a:prstGeom>
          <a:noFill/>
          <a:ln w="9525">
            <a:solidFill>
              <a:srgbClr val="EBD7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9244" y="2921508"/>
            <a:ext cx="100584" cy="100584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69848" y="2834640"/>
            <a:ext cx="4736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Küçük ve yerel, tercihen tek dükkânlı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09244" y="3451860"/>
            <a:ext cx="100584" cy="100584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69848" y="3364992"/>
            <a:ext cx="4736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Yerleşik bir tasarım dili olmayan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09244" y="3982212"/>
            <a:ext cx="100584" cy="100584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69848" y="3895344"/>
            <a:ext cx="4736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Ürünü somut, depolama ve teşhir sorunu olan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9244" y="4512564"/>
            <a:ext cx="100584" cy="100584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69848" y="4425696"/>
            <a:ext cx="4736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Ulaşabileceğiniz bir sahibi olan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09244" y="5042916"/>
            <a:ext cx="100584" cy="100584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69848" y="4956048"/>
            <a:ext cx="4736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Hakkında konuşulacak bir hikâyesi bulunan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382512" y="2441448"/>
            <a:ext cx="1243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70" kern="0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PAFTANIN YEDİ BÖLÜMÜ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699248" y="2560320"/>
            <a:ext cx="3712464" cy="0"/>
          </a:xfrm>
          <a:prstGeom prst="line">
            <a:avLst/>
          </a:prstGeom>
          <a:noFill/>
          <a:ln w="9525">
            <a:solidFill>
              <a:srgbClr val="EDED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73368" y="2862072"/>
            <a:ext cx="237744" cy="237744"/>
          </a:xfrm>
          <a:prstGeom prst="ellipse">
            <a:avLst/>
          </a:prstGeom>
          <a:solidFill>
            <a:srgbClr val="B9B9C0"/>
          </a:solidFill>
          <a:ln w="12700">
            <a:solidFill>
              <a:srgbClr val="B9B9C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373368" y="28620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6748272" y="283464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Marka künyesi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373368" y="3264408"/>
            <a:ext cx="237744" cy="237744"/>
          </a:xfrm>
          <a:prstGeom prst="ellipse">
            <a:avLst/>
          </a:prstGeom>
          <a:solidFill>
            <a:srgbClr val="B9B9C0"/>
          </a:solidFill>
          <a:ln w="12700">
            <a:solidFill>
              <a:srgbClr val="B9B9C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73368" y="32644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6748272" y="3236976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Ürün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373368" y="3666744"/>
            <a:ext cx="237744" cy="237744"/>
          </a:xfrm>
          <a:prstGeom prst="ellipse">
            <a:avLst/>
          </a:prstGeom>
          <a:solidFill>
            <a:srgbClr val="B9B9C0"/>
          </a:solidFill>
          <a:ln w="12700">
            <a:solidFill>
              <a:srgbClr val="B9B9C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373368" y="366674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6748272" y="3639312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Ürünle ilişki ve depolama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373368" y="4069080"/>
            <a:ext cx="237744" cy="237744"/>
          </a:xfrm>
          <a:prstGeom prst="ellipse">
            <a:avLst/>
          </a:prstGeom>
          <a:solidFill>
            <a:srgbClr val="B9B9C0"/>
          </a:solidFill>
          <a:ln w="12700">
            <a:solidFill>
              <a:srgbClr val="B9B9C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73368" y="40690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6748272" y="4041648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Kullanıcı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373368" y="4471416"/>
            <a:ext cx="237744" cy="237744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73368" y="447141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6748272" y="4443984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Marka dili ve anahtar kelimeler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6373368" y="4873752"/>
            <a:ext cx="237744" cy="237744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373368" y="48737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6748272" y="484632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Mekânsal karşılık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6373368" y="5276088"/>
            <a:ext cx="237744" cy="237744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373368" y="52760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  <p:sp>
        <p:nvSpPr>
          <p:cNvPr id="41" name="Text 39"/>
          <p:cNvSpPr txBox="1"/>
          <p:nvPr/>
        </p:nvSpPr>
        <p:spPr>
          <a:xfrm>
            <a:off x="6748272" y="5248656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Uygunluk değerlendirmesi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6382512" y="565099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100" i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Son üç bölüm doldurulmadan pafta tamamlanmış sayılmaz.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961888" y="2523744"/>
            <a:ext cx="0" cy="3054096"/>
          </a:xfrm>
          <a:prstGeom prst="line">
            <a:avLst/>
          </a:prstGeom>
          <a:noFill/>
          <a:ln w="9525">
            <a:solidFill>
              <a:srgbClr val="C9C9CF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77240" y="565099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100" i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iyi adaylar çoğu zaman tanıdığınız birinin işidir.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777240" y="619963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250" dirty="0">
                <a:solidFill>
                  <a:srgbClr val="2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Teslim: üç pafta, A4 dikey, çıktı. Boş şablon ders sonunda dağıtılacak.</a:t>
            </a:r>
            <a:endParaRPr lang="en-US" sz="12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80" kern="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VIII · SONRAKİ HAFTALAR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6809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8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Önümüzdeki üç hafta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77240" y="1490472"/>
            <a:ext cx="1371600" cy="0"/>
          </a:xfrm>
          <a:prstGeom prst="line">
            <a:avLst/>
          </a:prstGeom>
          <a:noFill/>
          <a:ln w="22225">
            <a:solidFill>
              <a:srgbClr val="8C3A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0" y="6364224"/>
            <a:ext cx="438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77240" y="1920240"/>
            <a:ext cx="3291840" cy="2606040"/>
          </a:xfrm>
          <a:prstGeom prst="rect">
            <a:avLst/>
          </a:prstGeom>
          <a:solidFill>
            <a:srgbClr val="F6EAE6"/>
          </a:solidFill>
          <a:ln w="15875">
            <a:solidFill>
              <a:srgbClr val="8C3A2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96696" y="2121408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HAFTA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996696" y="2432304"/>
            <a:ext cx="285292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Alan ziyareti ve marka seçimi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996696" y="3291840"/>
            <a:ext cx="28529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 alanını yerinde göreceğiz, ölçüler verilecek. Aynı gün üç adaydan biri seçilecek.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96696" y="4151376"/>
            <a:ext cx="2852928" cy="0"/>
          </a:xfrm>
          <a:prstGeom prst="line">
            <a:avLst/>
          </a:prstGeom>
          <a:noFill/>
          <a:ln w="9525">
            <a:solidFill>
              <a:srgbClr val="8C3A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96696" y="4206240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yanınızda: üç pafta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42232" y="3223260"/>
            <a:ext cx="237744" cy="0"/>
          </a:xfrm>
          <a:prstGeom prst="line">
            <a:avLst/>
          </a:prstGeom>
          <a:noFill/>
          <a:ln w="15875">
            <a:solidFill>
              <a:srgbClr val="C9C9CF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453128" y="1920240"/>
            <a:ext cx="3291840" cy="2606040"/>
          </a:xfrm>
          <a:prstGeom prst="rect">
            <a:avLst/>
          </a:prstGeom>
          <a:ln w="9525">
            <a:solidFill>
              <a:srgbClr val="C9C9C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72584" y="2121408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HAFTA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672584" y="2432304"/>
            <a:ext cx="285292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Marka anahtarı ve persona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672584" y="3291840"/>
            <a:ext cx="28529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Seçilen marka için anahtar doldurulacak, üç persona ve yolculuk haritası çıkarılacak. Araştırma sunumu.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72584" y="4151376"/>
            <a:ext cx="2852928" cy="0"/>
          </a:xfrm>
          <a:prstGeom prst="line">
            <a:avLst/>
          </a:prstGeom>
          <a:noFill/>
          <a:ln w="9525">
            <a:solidFill>
              <a:srgbClr val="EDED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672584" y="4206240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yanınızda: görüşme ve gözlem notları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818120" y="3223260"/>
            <a:ext cx="237744" cy="0"/>
          </a:xfrm>
          <a:prstGeom prst="line">
            <a:avLst/>
          </a:prstGeom>
          <a:noFill/>
          <a:ln w="15875">
            <a:solidFill>
              <a:srgbClr val="C9C9CF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129016" y="1920240"/>
            <a:ext cx="3291840" cy="2606040"/>
          </a:xfrm>
          <a:prstGeom prst="rect">
            <a:avLst/>
          </a:prstGeom>
          <a:ln w="9525">
            <a:solidFill>
              <a:srgbClr val="C9C9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348472" y="2121408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HAFTA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8348472" y="2432304"/>
            <a:ext cx="285292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Anahtar kelime ve ilk mekânsal karşılıklar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8348472" y="3291840"/>
            <a:ext cx="28529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Üç kelime kesinleşecek, altı modül için karşılık matrisi kurulacak. Mekânsal program.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348472" y="4151376"/>
            <a:ext cx="2852928" cy="0"/>
          </a:xfrm>
          <a:prstGeom prst="line">
            <a:avLst/>
          </a:prstGeom>
          <a:noFill/>
          <a:ln w="9525">
            <a:solidFill>
              <a:srgbClr val="EDED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348472" y="4206240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yanınızda: çeviri zinciri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777240" y="4864608"/>
            <a:ext cx="10634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2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Dördüncü haftanın sonunda elinizde savunulabilir bir konsept olacak: üç kelime, altı modülde karşılıkları ve bunları doğuran araştırma.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77240" y="5669280"/>
            <a:ext cx="10634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500" i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Araştırma, tasarımdan önce yapılan bir ödev değil; tasarımın başladığı yerdir.</a:t>
            </a:r>
            <a:endParaRPr lang="en-US" sz="15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80" kern="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KAYNAKÇA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6809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8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Okuma listesi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77240" y="1490472"/>
            <a:ext cx="1371600" cy="0"/>
          </a:xfrm>
          <a:prstGeom prst="line">
            <a:avLst/>
          </a:prstGeom>
          <a:noFill/>
          <a:ln w="22225">
            <a:solidFill>
              <a:srgbClr val="8C3A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0" y="6364224"/>
            <a:ext cx="438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700784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2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İlk üçü ödevi yaparken doğrudan işinize yarayacak.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77240" y="2286000"/>
            <a:ext cx="146304" cy="0"/>
          </a:xfrm>
          <a:prstGeom prst="line">
            <a:avLst/>
          </a:prstGeom>
          <a:noFill/>
          <a:ln w="12700">
            <a:solidFill>
              <a:srgbClr val="8C3A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359152"/>
            <a:ext cx="5029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Bükülmez, P. S., Sunar, T. &amp; Kuloğlu, N. (2025). Retail Design Competencies: A Framework for Integrating Brand Key Analysis and Customer Journey Mapping. The International Journal of Design Education.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77240" y="3072384"/>
            <a:ext cx="146304" cy="0"/>
          </a:xfrm>
          <a:prstGeom prst="line">
            <a:avLst/>
          </a:prstGeom>
          <a:noFill/>
          <a:ln w="12700">
            <a:solidFill>
              <a:srgbClr val="8C3A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145536"/>
            <a:ext cx="5029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Stickdorn, M., Hormess, M., Lawrence, A. &amp; Schneider, J. (2018). This Is Service Design Doing. O'Reilly.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77240" y="3858768"/>
            <a:ext cx="146304" cy="0"/>
          </a:xfrm>
          <a:prstGeom prst="line">
            <a:avLst/>
          </a:prstGeom>
          <a:noFill/>
          <a:ln w="12700">
            <a:solidFill>
              <a:srgbClr val="8C3A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931920"/>
            <a:ext cx="5029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Wheeler, A. (2017). Designing Brand Identity (5. baskı). Wiley.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77240" y="4645152"/>
            <a:ext cx="146304" cy="0"/>
          </a:xfrm>
          <a:prstGeom prst="line">
            <a:avLst/>
          </a:prstGeom>
          <a:noFill/>
          <a:ln w="12700">
            <a:solidFill>
              <a:srgbClr val="8C3A2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4718304"/>
            <a:ext cx="5029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Micheaux, A. &amp; Bosio, B. (2019). Customer Journey Mapping as a New Way to Teach Data-Driven Marketing. Journal of Marketing Education, 41(2), 127–140.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77240" y="5431536"/>
            <a:ext cx="146304" cy="0"/>
          </a:xfrm>
          <a:prstGeom prst="line">
            <a:avLst/>
          </a:prstGeom>
          <a:noFill/>
          <a:ln w="12700">
            <a:solidFill>
              <a:srgbClr val="8C3A2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5504688"/>
            <a:ext cx="5029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Stein, A. &amp; Ramaseshan, B. (2016). Towards the Identification of Customer Experience Touch Point Elements. Journal of Retailing and Consumer Services, 30, 8–19.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382512" y="2286000"/>
            <a:ext cx="146304" cy="0"/>
          </a:xfrm>
          <a:prstGeom prst="line">
            <a:avLst/>
          </a:prstGeom>
          <a:noFill/>
          <a:ln w="12700">
            <a:solidFill>
              <a:srgbClr val="8C3A2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382512" y="2359152"/>
            <a:ext cx="5029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Lemon, K. N. &amp; Verhoef, P. C. (2016). Understanding Customer Experience Throughout the Customer Journey. Journal of Marketing, 80(6), 69–96.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382512" y="3072384"/>
            <a:ext cx="146304" cy="0"/>
          </a:xfrm>
          <a:prstGeom prst="line">
            <a:avLst/>
          </a:prstGeom>
          <a:noFill/>
          <a:ln w="12700">
            <a:solidFill>
              <a:srgbClr val="8C3A2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82512" y="3145536"/>
            <a:ext cx="5029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Quartier, K., Claes, S. &amp; Vanrie, J. (2020). A Comprehensive Competence Framework for (Future) Retail Design and Retail Design Education. Design Research Society.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82512" y="3858768"/>
            <a:ext cx="146304" cy="0"/>
          </a:xfrm>
          <a:prstGeom prst="line">
            <a:avLst/>
          </a:prstGeom>
          <a:noFill/>
          <a:ln w="12700">
            <a:solidFill>
              <a:srgbClr val="8C3A2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382512" y="3931920"/>
            <a:ext cx="5029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Petermans, A., Janssens, W. &amp; Van Cleempoel, K. (2013). A Holistic Framework for Conceptualizing Customer Experiences in Retail Environments. International Journal of Design, 7(2), 1–18.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82512" y="4645152"/>
            <a:ext cx="146304" cy="0"/>
          </a:xfrm>
          <a:prstGeom prst="line">
            <a:avLst/>
          </a:prstGeom>
          <a:noFill/>
          <a:ln w="12700">
            <a:solidFill>
              <a:srgbClr val="8C3A2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82512" y="4718304"/>
            <a:ext cx="5029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Zomerdijk, L. G. &amp; Voss, C. A. (2010). Service Design for Experience-Centric Services. Journal of Service Research, 13(1), 67–82.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82512" y="5431536"/>
            <a:ext cx="146304" cy="0"/>
          </a:xfrm>
          <a:prstGeom prst="line">
            <a:avLst/>
          </a:prstGeom>
          <a:noFill/>
          <a:ln w="12700">
            <a:solidFill>
              <a:srgbClr val="8C3A2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382512" y="5504688"/>
            <a:ext cx="5029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Kotler, P. (1973). Atmospherics as a Marketing Tool. Journal of Retailing, 49(4), 48–64.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961888" y="2231136"/>
            <a:ext cx="0" cy="3895344"/>
          </a:xfrm>
          <a:prstGeom prst="line">
            <a:avLst/>
          </a:prstGeom>
          <a:noFill/>
          <a:ln w="7620">
            <a:solidFill>
              <a:srgbClr val="EDEDF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6272784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Şekil 1a ve 1b'nin özgün hâli: I-AM Istanbul (2018), Bükülmez vd. (2025) içinde.</a:t>
            </a:r>
            <a:endParaRPr lang="en-US" sz="9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1234440"/>
            <a:ext cx="10634472" cy="0"/>
          </a:xfrm>
          <a:prstGeom prst="line">
            <a:avLst/>
          </a:prstGeom>
          <a:noFill/>
          <a:ln w="12700">
            <a:solidFill>
              <a:srgbClr val="3A3A4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77240" y="1920240"/>
            <a:ext cx="10424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0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Bir mağazayı tasarlamadan önce</a:t>
            </a:r>
            <a:endParaRPr lang="en-US" sz="3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0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iki şeyi bilmek gerekir:</a:t>
            </a:r>
            <a:endParaRPr lang="en-US" sz="3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0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marka ne söylüyor, müşteri ne yapıyor.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4526280"/>
            <a:ext cx="2194560" cy="0"/>
          </a:xfrm>
          <a:prstGeom prst="line">
            <a:avLst/>
          </a:prstGeom>
          <a:noFill/>
          <a:ln w="25400">
            <a:solidFill>
              <a:srgbClr val="8C3A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475488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B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Bugün: mağaza okuma kâğıdı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5047488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B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Haftaya: üç aday marka, üç A4 pafta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Marka Anahtarı ve Müşteri Deneyimi Araştırması</dc:title>
  <dc:subject>PptxGenJS Presentation</dc:subject>
  <dc:creator>PptxGenJS</dc:creator>
  <cp:lastModifiedBy>PptxGenJS</cp:lastModifiedBy>
  <cp:revision>1</cp:revision>
  <dcterms:created xsi:type="dcterms:W3CDTF">2026-09-17T22:05:57Z</dcterms:created>
  <dcterms:modified xsi:type="dcterms:W3CDTF">2026-09-17T22:05:57Z</dcterms:modified>
</cp:coreProperties>
</file>