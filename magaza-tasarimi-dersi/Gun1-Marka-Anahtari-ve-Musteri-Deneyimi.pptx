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slaytı dönem boyunca tekrar açın; öğrenci hangi soruda olduğunu bilsin.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Gruplar oluşurken masaları yeniden dizmek için on dakika ayırın.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Buradaki sayıları geçin ama 'bu veri' vurgusunu yapın: öğrenci neye göre değerlendirileceğini bilsin.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Küçük markada bu katmanlar sahibinin kafasındadır; öğrenci görüşerek çıkarmak zorunda.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Altı bileşen sunumun ilk büyük diyagramı; öğrenci mekânın bütünün bir parçası olduğunu burada görüyor.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sekiz soruyu öğrenciler telefonlarına kaydetsin; ödevin birinci adımı 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diyagram makaledeki Şekil 1a'nın Türkçeleştirilmiş hâli. Öz'ün en son yazıldığını vurgulayın.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görüşme sorularının kontrol listesi. Sağ alttaki 'öz' sorusu en kritik olanı.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şema 'öz' hariç dokuz bileşeni ölçeklere bağlar; öz hepsinin sınavıdır.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 cümlesinin doğrudan bir mekân kararı ürettiğine dikkat çekin — bu slaytın bütün amacı 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Üçüncü persona vurgusu önemli: refakatçi, mekânda en çok atlanan kullanıcıdır.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kuralı öğrenciler birbirine uygulasın; stok fotoğraflı künyeleri baştan engeller.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İkinci hafta alan ziyaretinde en az iki yöntemi uygulamalarını isteyin.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Ödev paftasındaki kullanıcı bölümü bu kartın kısaltılmış hâli.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haritanın 'neden' kısmı; hemen ardından kaç parçaya bölündüğü geliyor.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makalenin ilgili bölümünün özeti. 'Kaç parça' sorusunun cevabı yok, hangi ayrımın işe yaradığı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 kolondaki dördü de mekân gerektirir; 'tasarlamıyorum' demek onları yok saymak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Kesikli halkalı iki nokta yeniden tanımlanan modüller; soluk olanlar çıkarılanlar.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vize 2 ve final değerlendirmesinin doğrudan karşılığı; öğrenci neye bakılacağını buradan öğreniyor.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dersin kurgusunu meşrulaştırıyor: atölyeler keyfî değil, ölçülmüş zayıflığa cevap.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Huninin genişlikleri kasıtlı: ham listenin uzun olması iyidir, eleme sert olmalıdır.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 bu sınavı birbirine uygulasın; kritik süresini çok kısaltır.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dersin merkezi: öğrencinin bütün dönem boyunca kuracağı yapı 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matris vize 1 paftasında istenecek; boşluklar kritiğin konusu olacak.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Dönem boyunca bu slayt referans: öğrenci hangi adımda olduğunu buradan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ayrı bir haftada; öğrenci takvimi buradan not alsın.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Altı kısıt dersin ayırt edici yeri: kapalı AVM mağazası kurgusu burada işlemez.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 gerekçesi en çok atlanan konu — ölçümlerde 'organizasyonel ihtiyaçlar' en zayıf modül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Teslim paketleri yazılı brifte de var; burada sadece hatırlatıyoruz.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ifade kritiklerde doğrudan kullanılabilir; öğrenci kendi projesine bu soruları sorabilir.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öğrenciye nereye çalışacağını söylüyor: modül zayıfsa hangi bilgi alanı eksik.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Öğrenciye söyleyin: vize 1'de teknik çizim kalitesi değil analiz derinliği ölçülüyor.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Kanıt zorunluluğunu vurgulayın; kâğıtta bunun için ayrı bir alan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Uzlaşma istemeyin. Anlaşmazlık mekânın belirsiz kaldığı yeri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Narenciye, baharat, deniz malzemesi, tekstil atölyesi, zeytinyağı, sabun gibi yerel kategorileri örnekleyin.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Paftanın boş şablonu ders sonunda dağıtılacak.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 cümlesi bu: araştırma tasarımın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143000"/>
            <a:ext cx="10634472" cy="0"/>
          </a:xfrm>
          <a:prstGeom prst="line">
            <a:avLst/>
          </a:prstGeom>
          <a:noFill/>
          <a:ln w="12700">
            <a:solidFill>
              <a:srgbClr val="3A3A42"/>
            </a:solidFill>
            <a:prstDash val="solid"/>
          </a:ln>
        </p:spPr>
      </p:sp>
      <p:sp>
        <p:nvSpPr>
          <p:cNvPr id="3" name="Text 1"/>
          <p:cNvSpPr txBox="1"/>
          <p:nvPr/>
        </p:nvSpPr>
        <p:spPr>
          <a:xfrm>
            <a:off x="777240" y="1325880"/>
            <a:ext cx="10424160" cy="274320"/>
          </a:xfrm>
          <a:prstGeom prst="rect">
            <a:avLst/>
          </a:prstGeom>
          <a:noFill/>
          <a:ln/>
        </p:spPr>
        <p:txBody>
          <a:bodyPr wrap="square" lIns="0" tIns="0" rIns="0" bIns="0" rtlCol="0" anchor="ctr"/>
          <a:lstStyle/>
          <a:p>
            <a:pPr indent="0" marL="0">
              <a:buNone/>
            </a:pPr>
            <a:r>
              <a:rPr lang="en-US" sz="1050" b="1" spc="320" kern="0" dirty="0">
                <a:solidFill>
                  <a:srgbClr val="8C3A2B"/>
                </a:solidFill>
                <a:latin typeface="Calibri" pitchFamily="34" charset="0"/>
                <a:ea typeface="Calibri" pitchFamily="34" charset="-122"/>
                <a:cs typeface="Calibri" pitchFamily="34" charset="-120"/>
              </a:rPr>
              <a:t>İÇ MİMARLIK · MAĞAZA TASARIMI PROJE STÜDYOSU · 1. HAFTA</a:t>
            </a:r>
            <a:endParaRPr lang="en-US" sz="1050" dirty="0"/>
          </a:p>
        </p:txBody>
      </p:sp>
      <p:sp>
        <p:nvSpPr>
          <p:cNvPr id="4" name="Text 2"/>
          <p:cNvSpPr txBox="1"/>
          <p:nvPr/>
        </p:nvSpPr>
        <p:spPr>
          <a:xfrm>
            <a:off x="777240" y="1828800"/>
            <a:ext cx="10424160" cy="1965960"/>
          </a:xfrm>
          <a:prstGeom prst="rect">
            <a:avLst/>
          </a:prstGeom>
          <a:noFill/>
          <a:ln/>
        </p:spPr>
        <p:txBody>
          <a:bodyPr wrap="square" lIns="0" tIns="0" rIns="0" bIns="0" rtlCol="0" anchor="ctr"/>
          <a:lstStyle/>
          <a:p>
            <a:pPr indent="0" marL="0">
              <a:lnSpc>
                <a:spcPts val="6000"/>
              </a:lnSpc>
              <a:buNone/>
            </a:pPr>
            <a:r>
              <a:rPr lang="en-US" sz="4800" b="1" dirty="0">
                <a:solidFill>
                  <a:srgbClr val="FFFFFF"/>
                </a:solidFill>
                <a:latin typeface="Cambria" pitchFamily="34" charset="0"/>
                <a:ea typeface="Cambria" pitchFamily="34" charset="-122"/>
                <a:cs typeface="Cambria" pitchFamily="34" charset="-120"/>
              </a:rPr>
              <a:t>Bir marka nasıl</a:t>
            </a:r>
            <a:endParaRPr lang="en-US" sz="4800" dirty="0"/>
          </a:p>
          <a:p>
            <a:pPr indent="0" marL="0">
              <a:lnSpc>
                <a:spcPts val="6000"/>
              </a:lnSpc>
              <a:buNone/>
            </a:pPr>
            <a:r>
              <a:rPr lang="en-US" sz="4800" b="1" dirty="0">
                <a:solidFill>
                  <a:srgbClr val="FFFFFF"/>
                </a:solidFill>
                <a:latin typeface="Cambria" pitchFamily="34" charset="0"/>
                <a:ea typeface="Cambria" pitchFamily="34" charset="-122"/>
                <a:cs typeface="Cambria" pitchFamily="34" charset="-120"/>
              </a:rPr>
              <a:t>mağazaya dönüşür?</a:t>
            </a:r>
            <a:endParaRPr lang="en-US" sz="4800" dirty="0"/>
          </a:p>
        </p:txBody>
      </p:sp>
      <p:sp>
        <p:nvSpPr>
          <p:cNvPr id="5" name="Shape 3"/>
          <p:cNvSpPr/>
          <p:nvPr/>
        </p:nvSpPr>
        <p:spPr>
          <a:xfrm>
            <a:off x="777240" y="4023360"/>
            <a:ext cx="2194560" cy="0"/>
          </a:xfrm>
          <a:prstGeom prst="line">
            <a:avLst/>
          </a:prstGeom>
          <a:noFill/>
          <a:ln w="25400">
            <a:solidFill>
              <a:srgbClr val="8C3A2B"/>
            </a:solidFill>
            <a:prstDash val="solid"/>
          </a:ln>
        </p:spPr>
      </p:sp>
      <p:sp>
        <p:nvSpPr>
          <p:cNvPr id="6" name="Text 4"/>
          <p:cNvSpPr txBox="1"/>
          <p:nvPr/>
        </p:nvSpPr>
        <p:spPr>
          <a:xfrm>
            <a:off x="777240" y="4261104"/>
            <a:ext cx="9326880" cy="365760"/>
          </a:xfrm>
          <a:prstGeom prst="rect">
            <a:avLst/>
          </a:prstGeom>
          <a:noFill/>
          <a:ln/>
        </p:spPr>
        <p:txBody>
          <a:bodyPr wrap="square" lIns="0" tIns="0" rIns="0" bIns="0" rtlCol="0" anchor="ctr"/>
          <a:lstStyle/>
          <a:p>
            <a:pPr indent="0" marL="0">
              <a:buNone/>
            </a:pPr>
            <a:r>
              <a:rPr lang="en-US" sz="1900" dirty="0">
                <a:solidFill>
                  <a:srgbClr val="B9B9C0"/>
                </a:solidFill>
                <a:latin typeface="Cambria" pitchFamily="34" charset="0"/>
                <a:ea typeface="Cambria" pitchFamily="34" charset="-122"/>
                <a:cs typeface="Cambria" pitchFamily="34" charset="-120"/>
              </a:rPr>
              <a:t>Marka anahtarı analizi, persona ve müşteri yolculuğu haritalama</a:t>
            </a:r>
            <a:endParaRPr lang="en-US" sz="1900" dirty="0"/>
          </a:p>
        </p:txBody>
      </p:sp>
      <p:sp>
        <p:nvSpPr>
          <p:cNvPr id="7" name="Text 5"/>
          <p:cNvSpPr txBox="1"/>
          <p:nvPr/>
        </p:nvSpPr>
        <p:spPr>
          <a:xfrm>
            <a:off x="777240" y="5870448"/>
            <a:ext cx="10424160" cy="274320"/>
          </a:xfrm>
          <a:prstGeom prst="rect">
            <a:avLst/>
          </a:prstGeom>
          <a:noFill/>
          <a:ln/>
        </p:spPr>
        <p:txBody>
          <a:bodyPr wrap="square" lIns="0" tIns="0" rIns="0" bIns="0" rtlCol="0" anchor="ctr"/>
          <a:lstStyle/>
          <a:p>
            <a:pPr indent="0" marL="0">
              <a:buNone/>
            </a:pPr>
            <a:r>
              <a:rPr lang="en-US" sz="1000" spc="180" kern="0" dirty="0">
                <a:solidFill>
                  <a:srgbClr val="7A7A82"/>
                </a:solidFill>
                <a:latin typeface="Calibri" pitchFamily="34" charset="0"/>
                <a:ea typeface="Calibri" pitchFamily="34" charset="-122"/>
                <a:cs typeface="Calibri" pitchFamily="34" charset="-120"/>
              </a:rPr>
              <a:t>Brand Key Analysis  ·  Persona  ·  Customer Journey Mapping</a:t>
            </a:r>
            <a:endParaRPr lang="en-US" sz="1000" dirty="0"/>
          </a:p>
        </p:txBody>
      </p:sp>
      <p:sp>
        <p:nvSpPr>
          <p:cNvPr id="8" name="Text 6"/>
          <p:cNvSpPr txBox="1"/>
          <p:nvPr/>
        </p:nvSpPr>
        <p:spPr>
          <a:xfrm>
            <a:off x="777240" y="6144768"/>
            <a:ext cx="10424160" cy="274320"/>
          </a:xfrm>
          <a:prstGeom prst="rect">
            <a:avLst/>
          </a:prstGeom>
          <a:noFill/>
          <a:ln/>
        </p:spPr>
        <p:txBody>
          <a:bodyPr wrap="square" lIns="0" tIns="0" rIns="0" bIns="0" rtlCol="0" anchor="ctr"/>
          <a:lstStyle/>
          <a:p>
            <a:pPr indent="0" marL="0">
              <a:buNone/>
            </a:pPr>
            <a:r>
              <a:rPr lang="en-US" sz="900" i="1" dirty="0">
                <a:solidFill>
                  <a:srgbClr val="5A5A62"/>
                </a:solidFill>
                <a:latin typeface="Calibri" pitchFamily="34" charset="0"/>
                <a:ea typeface="Calibri" pitchFamily="34" charset="-122"/>
                <a:cs typeface="Calibri" pitchFamily="34" charset="-120"/>
              </a:rPr>
              <a:t>Anlatılan çerçeve Bükülmez, Sunar &amp; Kuloğlu (2025) ve I-AM Istanbul (2018) modellerine dayanır.</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YOL HARİTASI</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Bu sunumun cevapladığı altı soru</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a:t>
            </a:r>
            <a:endParaRPr lang="en-US" sz="900" dirty="0"/>
          </a:p>
        </p:txBody>
      </p:sp>
      <p:sp>
        <p:nvSpPr>
          <p:cNvPr id="6" name="Text 4"/>
          <p:cNvSpPr txBox="1"/>
          <p:nvPr/>
        </p:nvSpPr>
        <p:spPr>
          <a:xfrm>
            <a:off x="777240" y="1664208"/>
            <a:ext cx="10634472" cy="658368"/>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Aşağıdaki altı soru bu dersin bütün dönemi boyunca sırayla cevaplanacak. Bugün ilk dördünü tam, son ikisini ise ilk hâliyle göreceğiz. Her soru bir sonrakinin girdisini üretir; biri boş kalırsa sonraki soru cevaplanamaz.</a:t>
            </a:r>
            <a:endParaRPr lang="en-US" sz="1400" dirty="0"/>
          </a:p>
        </p:txBody>
      </p:sp>
      <p:sp>
        <p:nvSpPr>
          <p:cNvPr id="7" name="Text 5"/>
          <p:cNvSpPr txBox="1"/>
          <p:nvPr/>
        </p:nvSpPr>
        <p:spPr>
          <a:xfrm>
            <a:off x="777240" y="2487168"/>
            <a:ext cx="566928" cy="411480"/>
          </a:xfrm>
          <a:prstGeom prst="rect">
            <a:avLst/>
          </a:prstGeom>
          <a:noFill/>
          <a:ln/>
        </p:spPr>
        <p:txBody>
          <a:bodyPr wrap="square" lIns="0" tIns="0" rIns="0" bIns="0" rtlCol="0" anchor="ctr"/>
          <a:lstStyle/>
          <a:p>
            <a:pPr indent="0" marL="0">
              <a:buNone/>
            </a:pPr>
            <a:r>
              <a:rPr lang="en-US" sz="2600" b="1" dirty="0">
                <a:solidFill>
                  <a:srgbClr val="EBD7D1"/>
                </a:solidFill>
                <a:latin typeface="Cambria" pitchFamily="34" charset="0"/>
                <a:ea typeface="Cambria" pitchFamily="34" charset="-122"/>
                <a:cs typeface="Cambria" pitchFamily="34" charset="-120"/>
              </a:rPr>
              <a:t>01</a:t>
            </a:r>
            <a:endParaRPr lang="en-US" sz="2600" dirty="0"/>
          </a:p>
        </p:txBody>
      </p:sp>
      <p:sp>
        <p:nvSpPr>
          <p:cNvPr id="8" name="Text 6"/>
          <p:cNvSpPr txBox="1"/>
          <p:nvPr/>
        </p:nvSpPr>
        <p:spPr>
          <a:xfrm>
            <a:off x="1399032" y="2542032"/>
            <a:ext cx="4251960" cy="310896"/>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Bir markanın kimliği nasıl okunur?</a:t>
            </a:r>
            <a:endParaRPr lang="en-US" sz="1550" dirty="0"/>
          </a:p>
        </p:txBody>
      </p:sp>
      <p:sp>
        <p:nvSpPr>
          <p:cNvPr id="9" name="Text 7"/>
          <p:cNvSpPr txBox="1"/>
          <p:nvPr/>
        </p:nvSpPr>
        <p:spPr>
          <a:xfrm>
            <a:off x="1399032" y="2852928"/>
            <a:ext cx="4251960"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gözlem, görüşme, ürün ve rakip analizi</a:t>
            </a:r>
            <a:endParaRPr lang="en-US" sz="1050" dirty="0"/>
          </a:p>
        </p:txBody>
      </p:sp>
      <p:sp>
        <p:nvSpPr>
          <p:cNvPr id="10" name="Shape 8"/>
          <p:cNvSpPr/>
          <p:nvPr/>
        </p:nvSpPr>
        <p:spPr>
          <a:xfrm>
            <a:off x="1399032" y="3200400"/>
            <a:ext cx="4251960" cy="0"/>
          </a:xfrm>
          <a:prstGeom prst="line">
            <a:avLst/>
          </a:prstGeom>
          <a:noFill/>
          <a:ln w="9525">
            <a:solidFill>
              <a:srgbClr val="EDEDF0"/>
            </a:solidFill>
            <a:prstDash val="solid"/>
          </a:ln>
        </p:spPr>
      </p:sp>
      <p:sp>
        <p:nvSpPr>
          <p:cNvPr id="11" name="Text 9"/>
          <p:cNvSpPr txBox="1"/>
          <p:nvPr/>
        </p:nvSpPr>
        <p:spPr>
          <a:xfrm>
            <a:off x="6217920" y="2487168"/>
            <a:ext cx="566928" cy="411480"/>
          </a:xfrm>
          <a:prstGeom prst="rect">
            <a:avLst/>
          </a:prstGeom>
          <a:noFill/>
          <a:ln/>
        </p:spPr>
        <p:txBody>
          <a:bodyPr wrap="square" lIns="0" tIns="0" rIns="0" bIns="0" rtlCol="0" anchor="ctr"/>
          <a:lstStyle/>
          <a:p>
            <a:pPr indent="0" marL="0">
              <a:buNone/>
            </a:pPr>
            <a:r>
              <a:rPr lang="en-US" sz="2600" b="1" dirty="0">
                <a:solidFill>
                  <a:srgbClr val="EBD7D1"/>
                </a:solidFill>
                <a:latin typeface="Cambria" pitchFamily="34" charset="0"/>
                <a:ea typeface="Cambria" pitchFamily="34" charset="-122"/>
                <a:cs typeface="Cambria" pitchFamily="34" charset="-120"/>
              </a:rPr>
              <a:t>02</a:t>
            </a:r>
            <a:endParaRPr lang="en-US" sz="2600" dirty="0"/>
          </a:p>
        </p:txBody>
      </p:sp>
      <p:sp>
        <p:nvSpPr>
          <p:cNvPr id="12" name="Text 10"/>
          <p:cNvSpPr txBox="1"/>
          <p:nvPr/>
        </p:nvSpPr>
        <p:spPr>
          <a:xfrm>
            <a:off x="6839712" y="2542032"/>
            <a:ext cx="4251960" cy="310896"/>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Markanın kimliği nasıl çıkarılır?</a:t>
            </a:r>
            <a:endParaRPr lang="en-US" sz="1550" dirty="0"/>
          </a:p>
        </p:txBody>
      </p:sp>
      <p:sp>
        <p:nvSpPr>
          <p:cNvPr id="13" name="Text 11"/>
          <p:cNvSpPr txBox="1"/>
          <p:nvPr/>
        </p:nvSpPr>
        <p:spPr>
          <a:xfrm>
            <a:off x="6839712" y="2852928"/>
            <a:ext cx="4251960"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marka anahtarı: on bileşen</a:t>
            </a:r>
            <a:endParaRPr lang="en-US" sz="1050" dirty="0"/>
          </a:p>
        </p:txBody>
      </p:sp>
      <p:sp>
        <p:nvSpPr>
          <p:cNvPr id="14" name="Shape 12"/>
          <p:cNvSpPr/>
          <p:nvPr/>
        </p:nvSpPr>
        <p:spPr>
          <a:xfrm>
            <a:off x="6839712" y="3200400"/>
            <a:ext cx="4251960" cy="0"/>
          </a:xfrm>
          <a:prstGeom prst="line">
            <a:avLst/>
          </a:prstGeom>
          <a:noFill/>
          <a:ln w="9525">
            <a:solidFill>
              <a:srgbClr val="EDEDF0"/>
            </a:solidFill>
            <a:prstDash val="solid"/>
          </a:ln>
        </p:spPr>
      </p:sp>
      <p:sp>
        <p:nvSpPr>
          <p:cNvPr id="15" name="Text 13"/>
          <p:cNvSpPr txBox="1"/>
          <p:nvPr/>
        </p:nvSpPr>
        <p:spPr>
          <a:xfrm>
            <a:off x="777240" y="3621024"/>
            <a:ext cx="566928" cy="411480"/>
          </a:xfrm>
          <a:prstGeom prst="rect">
            <a:avLst/>
          </a:prstGeom>
          <a:noFill/>
          <a:ln/>
        </p:spPr>
        <p:txBody>
          <a:bodyPr wrap="square" lIns="0" tIns="0" rIns="0" bIns="0" rtlCol="0" anchor="ctr"/>
          <a:lstStyle/>
          <a:p>
            <a:pPr indent="0" marL="0">
              <a:buNone/>
            </a:pPr>
            <a:r>
              <a:rPr lang="en-US" sz="2600" b="1" dirty="0">
                <a:solidFill>
                  <a:srgbClr val="EBD7D1"/>
                </a:solidFill>
                <a:latin typeface="Cambria" pitchFamily="34" charset="0"/>
                <a:ea typeface="Cambria" pitchFamily="34" charset="-122"/>
                <a:cs typeface="Cambria" pitchFamily="34" charset="-120"/>
              </a:rPr>
              <a:t>03</a:t>
            </a:r>
            <a:endParaRPr lang="en-US" sz="2600" dirty="0"/>
          </a:p>
        </p:txBody>
      </p:sp>
      <p:sp>
        <p:nvSpPr>
          <p:cNvPr id="16" name="Text 14"/>
          <p:cNvSpPr txBox="1"/>
          <p:nvPr/>
        </p:nvSpPr>
        <p:spPr>
          <a:xfrm>
            <a:off x="1399032" y="3675888"/>
            <a:ext cx="4251960" cy="310896"/>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Persona nasıl anlaşılır?</a:t>
            </a:r>
            <a:endParaRPr lang="en-US" sz="1550" dirty="0"/>
          </a:p>
        </p:txBody>
      </p:sp>
      <p:sp>
        <p:nvSpPr>
          <p:cNvPr id="17" name="Text 15"/>
          <p:cNvSpPr txBox="1"/>
          <p:nvPr/>
        </p:nvSpPr>
        <p:spPr>
          <a:xfrm>
            <a:off x="1399032" y="3986784"/>
            <a:ext cx="4251960"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davranışa dayalı üç persona, biri ana</a:t>
            </a:r>
            <a:endParaRPr lang="en-US" sz="1050" dirty="0"/>
          </a:p>
        </p:txBody>
      </p:sp>
      <p:sp>
        <p:nvSpPr>
          <p:cNvPr id="18" name="Shape 16"/>
          <p:cNvSpPr/>
          <p:nvPr/>
        </p:nvSpPr>
        <p:spPr>
          <a:xfrm>
            <a:off x="1399032" y="4334256"/>
            <a:ext cx="4251960" cy="0"/>
          </a:xfrm>
          <a:prstGeom prst="line">
            <a:avLst/>
          </a:prstGeom>
          <a:noFill/>
          <a:ln w="9525">
            <a:solidFill>
              <a:srgbClr val="EDEDF0"/>
            </a:solidFill>
            <a:prstDash val="solid"/>
          </a:ln>
        </p:spPr>
      </p:sp>
      <p:sp>
        <p:nvSpPr>
          <p:cNvPr id="19" name="Text 17"/>
          <p:cNvSpPr txBox="1"/>
          <p:nvPr/>
        </p:nvSpPr>
        <p:spPr>
          <a:xfrm>
            <a:off x="6217920" y="3621024"/>
            <a:ext cx="566928" cy="411480"/>
          </a:xfrm>
          <a:prstGeom prst="rect">
            <a:avLst/>
          </a:prstGeom>
          <a:noFill/>
          <a:ln/>
        </p:spPr>
        <p:txBody>
          <a:bodyPr wrap="square" lIns="0" tIns="0" rIns="0" bIns="0" rtlCol="0" anchor="ctr"/>
          <a:lstStyle/>
          <a:p>
            <a:pPr indent="0" marL="0">
              <a:buNone/>
            </a:pPr>
            <a:r>
              <a:rPr lang="en-US" sz="2600" b="1" dirty="0">
                <a:solidFill>
                  <a:srgbClr val="EBD7D1"/>
                </a:solidFill>
                <a:latin typeface="Cambria" pitchFamily="34" charset="0"/>
                <a:ea typeface="Cambria" pitchFamily="34" charset="-122"/>
                <a:cs typeface="Cambria" pitchFamily="34" charset="-120"/>
              </a:rPr>
              <a:t>04</a:t>
            </a:r>
            <a:endParaRPr lang="en-US" sz="2600" dirty="0"/>
          </a:p>
        </p:txBody>
      </p:sp>
      <p:sp>
        <p:nvSpPr>
          <p:cNvPr id="20" name="Text 18"/>
          <p:cNvSpPr txBox="1"/>
          <p:nvPr/>
        </p:nvSpPr>
        <p:spPr>
          <a:xfrm>
            <a:off x="6839712" y="3675888"/>
            <a:ext cx="4251960" cy="310896"/>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Müşteri yolculuğu nasıl haritalanır?</a:t>
            </a:r>
            <a:endParaRPr lang="en-US" sz="1550" dirty="0"/>
          </a:p>
        </p:txBody>
      </p:sp>
      <p:sp>
        <p:nvSpPr>
          <p:cNvPr id="21" name="Text 19"/>
          <p:cNvSpPr txBox="1"/>
          <p:nvPr/>
        </p:nvSpPr>
        <p:spPr>
          <a:xfrm>
            <a:off x="6839712" y="3986784"/>
            <a:ext cx="4251960"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sekiz adım, altı mekânsal modül</a:t>
            </a:r>
            <a:endParaRPr lang="en-US" sz="1050" dirty="0"/>
          </a:p>
        </p:txBody>
      </p:sp>
      <p:sp>
        <p:nvSpPr>
          <p:cNvPr id="22" name="Shape 20"/>
          <p:cNvSpPr/>
          <p:nvPr/>
        </p:nvSpPr>
        <p:spPr>
          <a:xfrm>
            <a:off x="6839712" y="4334256"/>
            <a:ext cx="4251960" cy="0"/>
          </a:xfrm>
          <a:prstGeom prst="line">
            <a:avLst/>
          </a:prstGeom>
          <a:noFill/>
          <a:ln w="9525">
            <a:solidFill>
              <a:srgbClr val="EDEDF0"/>
            </a:solidFill>
            <a:prstDash val="solid"/>
          </a:ln>
        </p:spPr>
      </p:sp>
      <p:sp>
        <p:nvSpPr>
          <p:cNvPr id="23" name="Text 21"/>
          <p:cNvSpPr txBox="1"/>
          <p:nvPr/>
        </p:nvSpPr>
        <p:spPr>
          <a:xfrm>
            <a:off x="777240" y="4754880"/>
            <a:ext cx="566928" cy="411480"/>
          </a:xfrm>
          <a:prstGeom prst="rect">
            <a:avLst/>
          </a:prstGeom>
          <a:noFill/>
          <a:ln/>
        </p:spPr>
        <p:txBody>
          <a:bodyPr wrap="square" lIns="0" tIns="0" rIns="0" bIns="0" rtlCol="0" anchor="ctr"/>
          <a:lstStyle/>
          <a:p>
            <a:pPr indent="0" marL="0">
              <a:buNone/>
            </a:pPr>
            <a:r>
              <a:rPr lang="en-US" sz="2600" b="1" dirty="0">
                <a:solidFill>
                  <a:srgbClr val="EBD7D1"/>
                </a:solidFill>
                <a:latin typeface="Cambria" pitchFamily="34" charset="0"/>
                <a:ea typeface="Cambria" pitchFamily="34" charset="-122"/>
                <a:cs typeface="Cambria" pitchFamily="34" charset="-120"/>
              </a:rPr>
              <a:t>05</a:t>
            </a:r>
            <a:endParaRPr lang="en-US" sz="2600" dirty="0"/>
          </a:p>
        </p:txBody>
      </p:sp>
      <p:sp>
        <p:nvSpPr>
          <p:cNvPr id="24" name="Text 22"/>
          <p:cNvSpPr txBox="1"/>
          <p:nvPr/>
        </p:nvSpPr>
        <p:spPr>
          <a:xfrm>
            <a:off x="1399032" y="4809744"/>
            <a:ext cx="4251960" cy="310896"/>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Anahtar kelimeler nasıl belirlenir?</a:t>
            </a:r>
            <a:endParaRPr lang="en-US" sz="1550" dirty="0"/>
          </a:p>
        </p:txBody>
      </p:sp>
      <p:sp>
        <p:nvSpPr>
          <p:cNvPr id="25" name="Text 23"/>
          <p:cNvSpPr txBox="1"/>
          <p:nvPr/>
        </p:nvSpPr>
        <p:spPr>
          <a:xfrm>
            <a:off x="1399032" y="5120640"/>
            <a:ext cx="4251960"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üç aşamalı eleme ve kelime sınavı</a:t>
            </a:r>
            <a:endParaRPr lang="en-US" sz="1050" dirty="0"/>
          </a:p>
        </p:txBody>
      </p:sp>
      <p:sp>
        <p:nvSpPr>
          <p:cNvPr id="26" name="Shape 24"/>
          <p:cNvSpPr/>
          <p:nvPr/>
        </p:nvSpPr>
        <p:spPr>
          <a:xfrm>
            <a:off x="1399032" y="5468112"/>
            <a:ext cx="4251960" cy="0"/>
          </a:xfrm>
          <a:prstGeom prst="line">
            <a:avLst/>
          </a:prstGeom>
          <a:noFill/>
          <a:ln w="9525">
            <a:solidFill>
              <a:srgbClr val="EDEDF0"/>
            </a:solidFill>
            <a:prstDash val="solid"/>
          </a:ln>
        </p:spPr>
      </p:sp>
      <p:sp>
        <p:nvSpPr>
          <p:cNvPr id="27" name="Text 25"/>
          <p:cNvSpPr txBox="1"/>
          <p:nvPr/>
        </p:nvSpPr>
        <p:spPr>
          <a:xfrm>
            <a:off x="6217920" y="4754880"/>
            <a:ext cx="566928" cy="411480"/>
          </a:xfrm>
          <a:prstGeom prst="rect">
            <a:avLst/>
          </a:prstGeom>
          <a:noFill/>
          <a:ln/>
        </p:spPr>
        <p:txBody>
          <a:bodyPr wrap="square" lIns="0" tIns="0" rIns="0" bIns="0" rtlCol="0" anchor="ctr"/>
          <a:lstStyle/>
          <a:p>
            <a:pPr indent="0" marL="0">
              <a:buNone/>
            </a:pPr>
            <a:r>
              <a:rPr lang="en-US" sz="2600" b="1" dirty="0">
                <a:solidFill>
                  <a:srgbClr val="EBD7D1"/>
                </a:solidFill>
                <a:latin typeface="Cambria" pitchFamily="34" charset="0"/>
                <a:ea typeface="Cambria" pitchFamily="34" charset="-122"/>
                <a:cs typeface="Cambria" pitchFamily="34" charset="-120"/>
              </a:rPr>
              <a:t>06</a:t>
            </a:r>
            <a:endParaRPr lang="en-US" sz="2600" dirty="0"/>
          </a:p>
        </p:txBody>
      </p:sp>
      <p:sp>
        <p:nvSpPr>
          <p:cNvPr id="28" name="Text 26"/>
          <p:cNvSpPr txBox="1"/>
          <p:nvPr/>
        </p:nvSpPr>
        <p:spPr>
          <a:xfrm>
            <a:off x="6839712" y="4809744"/>
            <a:ext cx="4251960" cy="310896"/>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Bu kelimeler mekâna nasıl dönüşür?</a:t>
            </a:r>
            <a:endParaRPr lang="en-US" sz="1550" dirty="0"/>
          </a:p>
        </p:txBody>
      </p:sp>
      <p:sp>
        <p:nvSpPr>
          <p:cNvPr id="29" name="Text 27"/>
          <p:cNvSpPr txBox="1"/>
          <p:nvPr/>
        </p:nvSpPr>
        <p:spPr>
          <a:xfrm>
            <a:off x="6839712" y="5120640"/>
            <a:ext cx="4251960"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çeviri zinciri ve mekânsal ilkeler</a:t>
            </a:r>
            <a:endParaRPr lang="en-US" sz="1050" dirty="0"/>
          </a:p>
        </p:txBody>
      </p:sp>
      <p:sp>
        <p:nvSpPr>
          <p:cNvPr id="30" name="Shape 28"/>
          <p:cNvSpPr/>
          <p:nvPr/>
        </p:nvSpPr>
        <p:spPr>
          <a:xfrm>
            <a:off x="6839712" y="5468112"/>
            <a:ext cx="4251960" cy="0"/>
          </a:xfrm>
          <a:prstGeom prst="line">
            <a:avLst/>
          </a:prstGeom>
          <a:noFill/>
          <a:ln w="9525">
            <a:solidFill>
              <a:srgbClr val="EDEDF0"/>
            </a:solidFill>
            <a:prstDash val="solid"/>
          </a:ln>
        </p:spPr>
      </p:sp>
      <p:sp>
        <p:nvSpPr>
          <p:cNvPr id="31" name="Text 29"/>
          <p:cNvSpPr txBox="1"/>
          <p:nvPr/>
        </p:nvSpPr>
        <p:spPr>
          <a:xfrm>
            <a:off x="777240" y="5943600"/>
            <a:ext cx="10424160" cy="36576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Sorular birbirinin girdisidir: kimlik → kelime → mekân. Bu zincirin adı çeviri zinciridir ve dönem boyunca her kritikte sorulacak.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BUGÜN</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Sekiz saati nasıl geçireceğiz</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Bugünün sekiz saati üç işe ayrılıyor: dersin çerçevesini anlamak, bir markayı mekâna çeviren araçları öğrenmek, sonra bu araçları aynı gün bir mağaza üzerinde denemek.</a:t>
            </a:r>
            <a:endParaRPr lang="en-US" sz="1400" dirty="0"/>
          </a:p>
        </p:txBody>
      </p:sp>
      <p:sp>
        <p:nvSpPr>
          <p:cNvPr id="7" name="Shape 5"/>
          <p:cNvSpPr/>
          <p:nvPr/>
        </p:nvSpPr>
        <p:spPr>
          <a:xfrm>
            <a:off x="777240" y="2651760"/>
            <a:ext cx="2024482" cy="310896"/>
          </a:xfrm>
          <a:prstGeom prst="rect">
            <a:avLst/>
          </a:prstGeom>
          <a:solidFill>
            <a:srgbClr val="F6EAE6"/>
          </a:solidFill>
          <a:ln/>
        </p:spPr>
      </p:sp>
      <p:sp>
        <p:nvSpPr>
          <p:cNvPr id="8" name="Text 6"/>
          <p:cNvSpPr txBox="1"/>
          <p:nvPr/>
        </p:nvSpPr>
        <p:spPr>
          <a:xfrm>
            <a:off x="822960" y="2651760"/>
            <a:ext cx="1933042" cy="310896"/>
          </a:xfrm>
          <a:prstGeom prst="rect">
            <a:avLst/>
          </a:prstGeom>
          <a:noFill/>
          <a:ln/>
        </p:spPr>
        <p:txBody>
          <a:bodyPr wrap="square" lIns="0" tIns="0" rIns="0" bIns="0" rtlCol="0" anchor="ctr"/>
          <a:lstStyle/>
          <a:p>
            <a:pPr algn="ctr" indent="0" marL="0">
              <a:lnSpc>
                <a:spcPts val="1150"/>
              </a:lnSpc>
              <a:buNone/>
            </a:pPr>
            <a:r>
              <a:rPr lang="en-US" sz="950" b="1" dirty="0">
                <a:solidFill>
                  <a:srgbClr val="8C3A2B"/>
                </a:solidFill>
                <a:latin typeface="Calibri" pitchFamily="34" charset="0"/>
                <a:ea typeface="Calibri" pitchFamily="34" charset="-122"/>
                <a:cs typeface="Calibri" pitchFamily="34" charset="-120"/>
              </a:rPr>
              <a:t>1. saat</a:t>
            </a:r>
            <a:endParaRPr lang="en-US" sz="950" dirty="0"/>
          </a:p>
        </p:txBody>
      </p:sp>
      <p:sp>
        <p:nvSpPr>
          <p:cNvPr id="9" name="Shape 7"/>
          <p:cNvSpPr/>
          <p:nvPr/>
        </p:nvSpPr>
        <p:spPr>
          <a:xfrm>
            <a:off x="2929738" y="2651760"/>
            <a:ext cx="2024482" cy="310896"/>
          </a:xfrm>
          <a:prstGeom prst="rect">
            <a:avLst/>
          </a:prstGeom>
          <a:solidFill>
            <a:srgbClr val="F6EAE6"/>
          </a:solidFill>
          <a:ln/>
        </p:spPr>
      </p:sp>
      <p:sp>
        <p:nvSpPr>
          <p:cNvPr id="10" name="Text 8"/>
          <p:cNvSpPr txBox="1"/>
          <p:nvPr/>
        </p:nvSpPr>
        <p:spPr>
          <a:xfrm>
            <a:off x="2975458" y="2651760"/>
            <a:ext cx="1933042" cy="310896"/>
          </a:xfrm>
          <a:prstGeom prst="rect">
            <a:avLst/>
          </a:prstGeom>
          <a:noFill/>
          <a:ln/>
        </p:spPr>
        <p:txBody>
          <a:bodyPr wrap="square" lIns="0" tIns="0" rIns="0" bIns="0" rtlCol="0" anchor="ctr"/>
          <a:lstStyle/>
          <a:p>
            <a:pPr algn="ctr" indent="0" marL="0">
              <a:lnSpc>
                <a:spcPts val="1150"/>
              </a:lnSpc>
              <a:buNone/>
            </a:pPr>
            <a:r>
              <a:rPr lang="en-US" sz="950" b="1" dirty="0">
                <a:solidFill>
                  <a:srgbClr val="8C3A2B"/>
                </a:solidFill>
                <a:latin typeface="Calibri" pitchFamily="34" charset="0"/>
                <a:ea typeface="Calibri" pitchFamily="34" charset="-122"/>
                <a:cs typeface="Calibri" pitchFamily="34" charset="-120"/>
              </a:rPr>
              <a:t>2–3. saat</a:t>
            </a:r>
            <a:endParaRPr lang="en-US" sz="950" dirty="0"/>
          </a:p>
        </p:txBody>
      </p:sp>
      <p:sp>
        <p:nvSpPr>
          <p:cNvPr id="11" name="Shape 9"/>
          <p:cNvSpPr/>
          <p:nvPr/>
        </p:nvSpPr>
        <p:spPr>
          <a:xfrm>
            <a:off x="5082235" y="2651760"/>
            <a:ext cx="2024482" cy="310896"/>
          </a:xfrm>
          <a:prstGeom prst="rect">
            <a:avLst/>
          </a:prstGeom>
          <a:solidFill>
            <a:srgbClr val="8C3A2B"/>
          </a:solidFill>
          <a:ln/>
        </p:spPr>
      </p:sp>
      <p:sp>
        <p:nvSpPr>
          <p:cNvPr id="12" name="Text 10"/>
          <p:cNvSpPr txBox="1"/>
          <p:nvPr/>
        </p:nvSpPr>
        <p:spPr>
          <a:xfrm>
            <a:off x="5127955" y="2651760"/>
            <a:ext cx="1933042" cy="310896"/>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4. saat</a:t>
            </a:r>
            <a:endParaRPr lang="en-US" sz="950" dirty="0"/>
          </a:p>
        </p:txBody>
      </p:sp>
      <p:sp>
        <p:nvSpPr>
          <p:cNvPr id="13" name="Shape 11"/>
          <p:cNvSpPr/>
          <p:nvPr/>
        </p:nvSpPr>
        <p:spPr>
          <a:xfrm>
            <a:off x="7234733" y="2651760"/>
            <a:ext cx="2024482" cy="310896"/>
          </a:xfrm>
          <a:prstGeom prst="rect">
            <a:avLst/>
          </a:prstGeom>
          <a:solidFill>
            <a:srgbClr val="8C3A2B"/>
          </a:solidFill>
          <a:ln/>
        </p:spPr>
      </p:sp>
      <p:sp>
        <p:nvSpPr>
          <p:cNvPr id="14" name="Text 12"/>
          <p:cNvSpPr txBox="1"/>
          <p:nvPr/>
        </p:nvSpPr>
        <p:spPr>
          <a:xfrm>
            <a:off x="7280453" y="2651760"/>
            <a:ext cx="1933042" cy="310896"/>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5–7. saat</a:t>
            </a:r>
            <a:endParaRPr lang="en-US" sz="950" dirty="0"/>
          </a:p>
        </p:txBody>
      </p:sp>
      <p:sp>
        <p:nvSpPr>
          <p:cNvPr id="15" name="Shape 13"/>
          <p:cNvSpPr/>
          <p:nvPr/>
        </p:nvSpPr>
        <p:spPr>
          <a:xfrm>
            <a:off x="9387230" y="2651760"/>
            <a:ext cx="2024482" cy="310896"/>
          </a:xfrm>
          <a:prstGeom prst="rect">
            <a:avLst/>
          </a:prstGeom>
          <a:solidFill>
            <a:srgbClr val="F6EAE6"/>
          </a:solidFill>
          <a:ln/>
        </p:spPr>
      </p:sp>
      <p:sp>
        <p:nvSpPr>
          <p:cNvPr id="16" name="Text 14"/>
          <p:cNvSpPr txBox="1"/>
          <p:nvPr/>
        </p:nvSpPr>
        <p:spPr>
          <a:xfrm>
            <a:off x="9432950" y="2651760"/>
            <a:ext cx="1933042" cy="310896"/>
          </a:xfrm>
          <a:prstGeom prst="rect">
            <a:avLst/>
          </a:prstGeom>
          <a:noFill/>
          <a:ln/>
        </p:spPr>
        <p:txBody>
          <a:bodyPr wrap="square" lIns="0" tIns="0" rIns="0" bIns="0" rtlCol="0" anchor="ctr"/>
          <a:lstStyle/>
          <a:p>
            <a:pPr algn="ctr" indent="0" marL="0">
              <a:lnSpc>
                <a:spcPts val="1150"/>
              </a:lnSpc>
              <a:buNone/>
            </a:pPr>
            <a:r>
              <a:rPr lang="en-US" sz="950" b="1" dirty="0">
                <a:solidFill>
                  <a:srgbClr val="8C3A2B"/>
                </a:solidFill>
                <a:latin typeface="Calibri" pitchFamily="34" charset="0"/>
                <a:ea typeface="Calibri" pitchFamily="34" charset="-122"/>
                <a:cs typeface="Calibri" pitchFamily="34" charset="-120"/>
              </a:rPr>
              <a:t>8. saat</a:t>
            </a:r>
            <a:endParaRPr lang="en-US" sz="950" dirty="0"/>
          </a:p>
        </p:txBody>
      </p:sp>
      <p:sp>
        <p:nvSpPr>
          <p:cNvPr id="17" name="Text 15"/>
          <p:cNvSpPr txBox="1"/>
          <p:nvPr/>
        </p:nvSpPr>
        <p:spPr>
          <a:xfrm>
            <a:off x="777240" y="3108960"/>
            <a:ext cx="2024482" cy="310896"/>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Proje brifi</a:t>
            </a:r>
            <a:endParaRPr lang="en-US" sz="1500" dirty="0"/>
          </a:p>
        </p:txBody>
      </p:sp>
      <p:sp>
        <p:nvSpPr>
          <p:cNvPr id="18" name="Text 16"/>
          <p:cNvSpPr txBox="1"/>
          <p:nvPr/>
        </p:nvSpPr>
        <p:spPr>
          <a:xfrm>
            <a:off x="777240" y="3438144"/>
            <a:ext cx="202448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ders akışı, teslimler,</a:t>
            </a:r>
            <a:endParaRPr lang="en-US" sz="1000" dirty="0"/>
          </a:p>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değerlendirme</a:t>
            </a:r>
            <a:endParaRPr lang="en-US" sz="1000" dirty="0"/>
          </a:p>
        </p:txBody>
      </p:sp>
      <p:sp>
        <p:nvSpPr>
          <p:cNvPr id="19" name="Shape 17"/>
          <p:cNvSpPr/>
          <p:nvPr/>
        </p:nvSpPr>
        <p:spPr>
          <a:xfrm>
            <a:off x="2820010" y="3218688"/>
            <a:ext cx="91440" cy="0"/>
          </a:xfrm>
          <a:prstGeom prst="line">
            <a:avLst/>
          </a:prstGeom>
          <a:noFill/>
          <a:ln w="12700">
            <a:solidFill>
              <a:srgbClr val="C9C9CF"/>
            </a:solidFill>
            <a:prstDash val="solid"/>
          </a:ln>
        </p:spPr>
      </p:sp>
      <p:sp>
        <p:nvSpPr>
          <p:cNvPr id="20" name="Text 18"/>
          <p:cNvSpPr txBox="1"/>
          <p:nvPr/>
        </p:nvSpPr>
        <p:spPr>
          <a:xfrm>
            <a:off x="2929738" y="3108960"/>
            <a:ext cx="2024482" cy="310896"/>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Teorik anlatım</a:t>
            </a:r>
            <a:endParaRPr lang="en-US" sz="1500" dirty="0"/>
          </a:p>
        </p:txBody>
      </p:sp>
      <p:sp>
        <p:nvSpPr>
          <p:cNvPr id="21" name="Text 19"/>
          <p:cNvSpPr txBox="1"/>
          <p:nvPr/>
        </p:nvSpPr>
        <p:spPr>
          <a:xfrm>
            <a:off x="2929738" y="3438144"/>
            <a:ext cx="202448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marka anahtarı, persona,</a:t>
            </a:r>
            <a:endParaRPr lang="en-US" sz="1000" dirty="0"/>
          </a:p>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yolculuk haritası</a:t>
            </a:r>
            <a:endParaRPr lang="en-US" sz="1000" dirty="0"/>
          </a:p>
        </p:txBody>
      </p:sp>
      <p:sp>
        <p:nvSpPr>
          <p:cNvPr id="22" name="Shape 20"/>
          <p:cNvSpPr/>
          <p:nvPr/>
        </p:nvSpPr>
        <p:spPr>
          <a:xfrm>
            <a:off x="4972507" y="3218688"/>
            <a:ext cx="91440" cy="0"/>
          </a:xfrm>
          <a:prstGeom prst="line">
            <a:avLst/>
          </a:prstGeom>
          <a:noFill/>
          <a:ln w="12700">
            <a:solidFill>
              <a:srgbClr val="C9C9CF"/>
            </a:solidFill>
            <a:prstDash val="solid"/>
          </a:ln>
        </p:spPr>
      </p:sp>
      <p:sp>
        <p:nvSpPr>
          <p:cNvPr id="23" name="Text 21"/>
          <p:cNvSpPr txBox="1"/>
          <p:nvPr/>
        </p:nvSpPr>
        <p:spPr>
          <a:xfrm>
            <a:off x="5082235" y="3108960"/>
            <a:ext cx="2024482" cy="310896"/>
          </a:xfrm>
          <a:prstGeom prst="rect">
            <a:avLst/>
          </a:prstGeom>
          <a:noFill/>
          <a:ln/>
        </p:spPr>
        <p:txBody>
          <a:bodyPr wrap="square" lIns="0" tIns="0" rIns="0" bIns="0" rtlCol="0" anchor="ctr"/>
          <a:lstStyle/>
          <a:p>
            <a:pPr indent="0" marL="0">
              <a:buNone/>
            </a:pPr>
            <a:r>
              <a:rPr lang="en-US" sz="1500" b="1" dirty="0">
                <a:solidFill>
                  <a:srgbClr val="8C3A2B"/>
                </a:solidFill>
                <a:latin typeface="Cambria" pitchFamily="34" charset="0"/>
                <a:ea typeface="Cambria" pitchFamily="34" charset="-122"/>
                <a:cs typeface="Cambria" pitchFamily="34" charset="-120"/>
              </a:rPr>
              <a:t>Mağaza okuma</a:t>
            </a:r>
            <a:endParaRPr lang="en-US" sz="1500" dirty="0"/>
          </a:p>
        </p:txBody>
      </p:sp>
      <p:sp>
        <p:nvSpPr>
          <p:cNvPr id="24" name="Text 22"/>
          <p:cNvSpPr txBox="1"/>
          <p:nvPr/>
        </p:nvSpPr>
        <p:spPr>
          <a:xfrm>
            <a:off x="5082235" y="3438144"/>
            <a:ext cx="202448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verilen görsel üzerinden</a:t>
            </a:r>
            <a:endParaRPr lang="en-US" sz="1000" dirty="0"/>
          </a:p>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bireysel analiz</a:t>
            </a:r>
            <a:endParaRPr lang="en-US" sz="1000" dirty="0"/>
          </a:p>
        </p:txBody>
      </p:sp>
      <p:sp>
        <p:nvSpPr>
          <p:cNvPr id="25" name="Shape 23"/>
          <p:cNvSpPr/>
          <p:nvPr/>
        </p:nvSpPr>
        <p:spPr>
          <a:xfrm>
            <a:off x="7125005" y="3218688"/>
            <a:ext cx="91440" cy="0"/>
          </a:xfrm>
          <a:prstGeom prst="line">
            <a:avLst/>
          </a:prstGeom>
          <a:noFill/>
          <a:ln w="12700">
            <a:solidFill>
              <a:srgbClr val="C9C9CF"/>
            </a:solidFill>
            <a:prstDash val="solid"/>
          </a:ln>
        </p:spPr>
      </p:sp>
      <p:sp>
        <p:nvSpPr>
          <p:cNvPr id="26" name="Text 24"/>
          <p:cNvSpPr txBox="1"/>
          <p:nvPr/>
        </p:nvSpPr>
        <p:spPr>
          <a:xfrm>
            <a:off x="7234733" y="3108960"/>
            <a:ext cx="2024482" cy="310896"/>
          </a:xfrm>
          <a:prstGeom prst="rect">
            <a:avLst/>
          </a:prstGeom>
          <a:noFill/>
          <a:ln/>
        </p:spPr>
        <p:txBody>
          <a:bodyPr wrap="square" lIns="0" tIns="0" rIns="0" bIns="0" rtlCol="0" anchor="ctr"/>
          <a:lstStyle/>
          <a:p>
            <a:pPr indent="0" marL="0">
              <a:buNone/>
            </a:pPr>
            <a:r>
              <a:rPr lang="en-US" sz="1500" b="1" dirty="0">
                <a:solidFill>
                  <a:srgbClr val="8C3A2B"/>
                </a:solidFill>
                <a:latin typeface="Cambria" pitchFamily="34" charset="0"/>
                <a:ea typeface="Cambria" pitchFamily="34" charset="-122"/>
                <a:cs typeface="Cambria" pitchFamily="34" charset="-120"/>
              </a:rPr>
              <a:t>Grup tartışması</a:t>
            </a:r>
            <a:endParaRPr lang="en-US" sz="1500" dirty="0"/>
          </a:p>
        </p:txBody>
      </p:sp>
      <p:sp>
        <p:nvSpPr>
          <p:cNvPr id="27" name="Text 25"/>
          <p:cNvSpPr txBox="1"/>
          <p:nvPr/>
        </p:nvSpPr>
        <p:spPr>
          <a:xfrm>
            <a:off x="7234733" y="3438144"/>
            <a:ext cx="202448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aynı mağazayı okuyanların</a:t>
            </a:r>
            <a:endParaRPr lang="en-US" sz="1000" dirty="0"/>
          </a:p>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farkları</a:t>
            </a:r>
            <a:endParaRPr lang="en-US" sz="1000" dirty="0"/>
          </a:p>
        </p:txBody>
      </p:sp>
      <p:sp>
        <p:nvSpPr>
          <p:cNvPr id="28" name="Shape 26"/>
          <p:cNvSpPr/>
          <p:nvPr/>
        </p:nvSpPr>
        <p:spPr>
          <a:xfrm>
            <a:off x="9277502" y="3218688"/>
            <a:ext cx="91440" cy="0"/>
          </a:xfrm>
          <a:prstGeom prst="line">
            <a:avLst/>
          </a:prstGeom>
          <a:noFill/>
          <a:ln w="12700">
            <a:solidFill>
              <a:srgbClr val="C9C9CF"/>
            </a:solidFill>
            <a:prstDash val="solid"/>
          </a:ln>
        </p:spPr>
      </p:sp>
      <p:sp>
        <p:nvSpPr>
          <p:cNvPr id="29" name="Text 27"/>
          <p:cNvSpPr txBox="1"/>
          <p:nvPr/>
        </p:nvSpPr>
        <p:spPr>
          <a:xfrm>
            <a:off x="9387230" y="3108960"/>
            <a:ext cx="2024482" cy="310896"/>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Ödevin verilmesi</a:t>
            </a:r>
            <a:endParaRPr lang="en-US" sz="1500" dirty="0"/>
          </a:p>
        </p:txBody>
      </p:sp>
      <p:sp>
        <p:nvSpPr>
          <p:cNvPr id="30" name="Text 28"/>
          <p:cNvSpPr txBox="1"/>
          <p:nvPr/>
        </p:nvSpPr>
        <p:spPr>
          <a:xfrm>
            <a:off x="9387230" y="3438144"/>
            <a:ext cx="202448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üç aday marka ve</a:t>
            </a:r>
            <a:endParaRPr lang="en-US" sz="1000" dirty="0"/>
          </a:p>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araştırma paftası</a:t>
            </a:r>
            <a:endParaRPr lang="en-US" sz="1000" dirty="0"/>
          </a:p>
        </p:txBody>
      </p:sp>
      <p:sp>
        <p:nvSpPr>
          <p:cNvPr id="31" name="Text 29"/>
          <p:cNvSpPr txBox="1"/>
          <p:nvPr/>
        </p:nvSpPr>
        <p:spPr>
          <a:xfrm>
            <a:off x="777240" y="4023360"/>
            <a:ext cx="10424160" cy="274320"/>
          </a:xfrm>
          <a:prstGeom prst="rect">
            <a:avLst/>
          </a:prstGeom>
          <a:noFill/>
          <a:ln/>
        </p:spPr>
        <p:txBody>
          <a:bodyPr wrap="square" lIns="0" tIns="0" rIns="0" bIns="0" rtlCol="0" anchor="ctr"/>
          <a:lstStyle/>
          <a:p>
            <a:pPr algn="l" indent="0" marL="0">
              <a:lnSpc>
                <a:spcPts val="1200"/>
              </a:lnSpc>
              <a:buNone/>
            </a:pPr>
            <a:r>
              <a:rPr lang="en-US" sz="1050" i="1" dirty="0">
                <a:solidFill>
                  <a:srgbClr val="A6A6AC"/>
                </a:solidFill>
                <a:latin typeface="Calibri" pitchFamily="34" charset="0"/>
                <a:ea typeface="Calibri" pitchFamily="34" charset="-122"/>
                <a:cs typeface="Calibri" pitchFamily="34" charset="-120"/>
              </a:rPr>
              <a:t>İlk ikisi dinleyerek, son üçü yaparak geçecek.</a:t>
            </a:r>
            <a:endParaRPr lang="en-US" sz="1050" dirty="0"/>
          </a:p>
        </p:txBody>
      </p:sp>
      <p:sp>
        <p:nvSpPr>
          <p:cNvPr id="32" name="Text 30"/>
          <p:cNvSpPr txBox="1"/>
          <p:nvPr/>
        </p:nvSpPr>
        <p:spPr>
          <a:xfrm>
            <a:off x="777240" y="4498848"/>
            <a:ext cx="1810512"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GÜN SONUNDA ELİNİZDE OLACAKLAR</a:t>
            </a:r>
            <a:endParaRPr lang="en-US" sz="900" dirty="0"/>
          </a:p>
        </p:txBody>
      </p:sp>
      <p:sp>
        <p:nvSpPr>
          <p:cNvPr id="33" name="Shape 31"/>
          <p:cNvSpPr/>
          <p:nvPr/>
        </p:nvSpPr>
        <p:spPr>
          <a:xfrm>
            <a:off x="2660904" y="4617720"/>
            <a:ext cx="8750808" cy="0"/>
          </a:xfrm>
          <a:prstGeom prst="line">
            <a:avLst/>
          </a:prstGeom>
          <a:noFill/>
          <a:ln w="9525">
            <a:solidFill>
              <a:srgbClr val="EDEDF0"/>
            </a:solidFill>
            <a:prstDash val="solid"/>
          </a:ln>
        </p:spPr>
      </p:sp>
      <p:sp>
        <p:nvSpPr>
          <p:cNvPr id="34" name="Shape 32"/>
          <p:cNvSpPr/>
          <p:nvPr/>
        </p:nvSpPr>
        <p:spPr>
          <a:xfrm>
            <a:off x="813816" y="4956048"/>
            <a:ext cx="109728" cy="109728"/>
          </a:xfrm>
          <a:prstGeom prst="ellipse">
            <a:avLst/>
          </a:prstGeom>
          <a:solidFill>
            <a:srgbClr val="8C3A2B"/>
          </a:solidFill>
          <a:ln w="12700">
            <a:solidFill>
              <a:srgbClr val="8C3A2B"/>
            </a:solidFill>
            <a:prstDash val="solid"/>
          </a:ln>
        </p:spPr>
      </p:sp>
      <p:sp>
        <p:nvSpPr>
          <p:cNvPr id="35" name="Text 33"/>
          <p:cNvSpPr txBox="1"/>
          <p:nvPr/>
        </p:nvSpPr>
        <p:spPr>
          <a:xfrm>
            <a:off x="1069848" y="4873752"/>
            <a:ext cx="32004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Doldurulmuş mağaza okuma kâğıdı</a:t>
            </a:r>
            <a:endParaRPr lang="en-US" sz="1300" dirty="0"/>
          </a:p>
        </p:txBody>
      </p:sp>
      <p:sp>
        <p:nvSpPr>
          <p:cNvPr id="36" name="Text 34"/>
          <p:cNvSpPr txBox="1"/>
          <p:nvPr/>
        </p:nvSpPr>
        <p:spPr>
          <a:xfrm>
            <a:off x="1069848" y="5175504"/>
            <a:ext cx="3200400" cy="56692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altı başlık ve üç anahtar kelime, her kelimenin kanıtıyla</a:t>
            </a:r>
            <a:endParaRPr lang="en-US" sz="1050" dirty="0"/>
          </a:p>
        </p:txBody>
      </p:sp>
      <p:sp>
        <p:nvSpPr>
          <p:cNvPr id="37" name="Shape 35"/>
          <p:cNvSpPr/>
          <p:nvPr/>
        </p:nvSpPr>
        <p:spPr>
          <a:xfrm>
            <a:off x="4425696" y="4956048"/>
            <a:ext cx="109728" cy="109728"/>
          </a:xfrm>
          <a:prstGeom prst="ellipse">
            <a:avLst/>
          </a:prstGeom>
          <a:solidFill>
            <a:srgbClr val="8C3A2B"/>
          </a:solidFill>
          <a:ln w="12700">
            <a:solidFill>
              <a:srgbClr val="8C3A2B"/>
            </a:solidFill>
            <a:prstDash val="solid"/>
          </a:ln>
        </p:spPr>
      </p:sp>
      <p:sp>
        <p:nvSpPr>
          <p:cNvPr id="38" name="Text 36"/>
          <p:cNvSpPr txBox="1"/>
          <p:nvPr/>
        </p:nvSpPr>
        <p:spPr>
          <a:xfrm>
            <a:off x="4681728" y="4873752"/>
            <a:ext cx="32004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Grup tartışmasının notları</a:t>
            </a:r>
            <a:endParaRPr lang="en-US" sz="1300" dirty="0"/>
          </a:p>
        </p:txBody>
      </p:sp>
      <p:sp>
        <p:nvSpPr>
          <p:cNvPr id="39" name="Text 37"/>
          <p:cNvSpPr txBox="1"/>
          <p:nvPr/>
        </p:nvSpPr>
        <p:spPr>
          <a:xfrm>
            <a:off x="4681728" y="5175504"/>
            <a:ext cx="3200400" cy="56692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aynı mekânın farklı okunduğu yerler</a:t>
            </a:r>
            <a:endParaRPr lang="en-US" sz="1050" dirty="0"/>
          </a:p>
        </p:txBody>
      </p:sp>
      <p:sp>
        <p:nvSpPr>
          <p:cNvPr id="40" name="Shape 38"/>
          <p:cNvSpPr/>
          <p:nvPr/>
        </p:nvSpPr>
        <p:spPr>
          <a:xfrm>
            <a:off x="8037576" y="4956048"/>
            <a:ext cx="109728" cy="109728"/>
          </a:xfrm>
          <a:prstGeom prst="ellipse">
            <a:avLst/>
          </a:prstGeom>
          <a:solidFill>
            <a:srgbClr val="8C3A2B"/>
          </a:solidFill>
          <a:ln w="12700">
            <a:solidFill>
              <a:srgbClr val="8C3A2B"/>
            </a:solidFill>
            <a:prstDash val="solid"/>
          </a:ln>
        </p:spPr>
      </p:sp>
      <p:sp>
        <p:nvSpPr>
          <p:cNvPr id="41" name="Text 39"/>
          <p:cNvSpPr txBox="1"/>
          <p:nvPr/>
        </p:nvSpPr>
        <p:spPr>
          <a:xfrm>
            <a:off x="8293608" y="4873752"/>
            <a:ext cx="32004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Haftaya teslim edilecek ödev</a:t>
            </a:r>
            <a:endParaRPr lang="en-US" sz="1300" dirty="0"/>
          </a:p>
        </p:txBody>
      </p:sp>
      <p:sp>
        <p:nvSpPr>
          <p:cNvPr id="42" name="Text 40"/>
          <p:cNvSpPr txBox="1"/>
          <p:nvPr/>
        </p:nvSpPr>
        <p:spPr>
          <a:xfrm>
            <a:off x="8293608" y="5175504"/>
            <a:ext cx="3200400" cy="56692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üç aday marka, üç A4 araştırma paftası</a:t>
            </a:r>
            <a:endParaRPr lang="en-US" sz="1050" dirty="0"/>
          </a:p>
        </p:txBody>
      </p:sp>
      <p:sp>
        <p:nvSpPr>
          <p:cNvPr id="43" name="Text 41"/>
          <p:cNvSpPr txBox="1"/>
          <p:nvPr/>
        </p:nvSpPr>
        <p:spPr>
          <a:xfrm>
            <a:off x="777240" y="5897880"/>
            <a:ext cx="10424160" cy="320040"/>
          </a:xfrm>
          <a:prstGeom prst="rect">
            <a:avLst/>
          </a:prstGeom>
          <a:noFill/>
          <a:ln/>
        </p:spPr>
        <p:txBody>
          <a:bodyPr wrap="square" lIns="0" tIns="0" rIns="0" bIns="0" rtlCol="0" anchor="ctr"/>
          <a:lstStyle/>
          <a:p>
            <a:pPr algn="l" indent="0" marL="0">
              <a:lnSpc>
                <a:spcPts val="1200"/>
              </a:lnSpc>
              <a:buNone/>
            </a:pPr>
            <a:r>
              <a:rPr lang="en-US" sz="1150" i="1" dirty="0">
                <a:solidFill>
                  <a:srgbClr val="A6A6AC"/>
                </a:solidFill>
                <a:latin typeface="Cambria" pitchFamily="34" charset="0"/>
                <a:ea typeface="Cambria" pitchFamily="34" charset="-122"/>
                <a:cs typeface="Cambria" pitchFamily="34" charset="-120"/>
              </a:rPr>
              <a:t>Öğle arası ve molalar bu akışın içinde; saatler kesin değil, sıra kesindir.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ÇERÇEVE</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Anlatacağımız araçlar nereden geliyor?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777240" y="1664208"/>
            <a:ext cx="5029200" cy="224028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Bu derste kullanacağımız araçlar bir kitaptan değil, ölçülmüş bir stüdyo deneyiminden geliyor. Bahçeşehir Üniversitesi İç Mimarlık bölümünde, beşinci yarıyıl mağaza tasarımı stüdyosunda (INT 3001) altmış dokuz öğrenciyle yürütülen on dört haftalık bir program, profesyonel deneyim tasarımı ajansı I-AM Istanbul ile birlikte kurgulandı ve sonuçları nicel olarak ölçüldü (Bükülmez vd., 2025).</a:t>
            </a:r>
            <a:endParaRPr lang="en-US" sz="1350" dirty="0"/>
          </a:p>
        </p:txBody>
      </p:sp>
      <p:sp>
        <p:nvSpPr>
          <p:cNvPr id="7" name="Text 5"/>
          <p:cNvSpPr txBox="1"/>
          <p:nvPr/>
        </p:nvSpPr>
        <p:spPr>
          <a:xfrm>
            <a:off x="6382512" y="1664208"/>
            <a:ext cx="5029200" cy="224028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Bizim için önemi şu: hangi aracın öğrenciye ne kazandırdığı ve öğrencilerin hangi konuda zorlandığı tahmin değil, veri. Bu sunumdaki sıralamayı da o veri belirledi.</a:t>
            </a:r>
            <a:endParaRPr lang="en-US" sz="1350" dirty="0"/>
          </a:p>
        </p:txBody>
      </p:sp>
      <p:sp>
        <p:nvSpPr>
          <p:cNvPr id="8" name="Text 6"/>
          <p:cNvSpPr txBox="1"/>
          <p:nvPr/>
        </p:nvSpPr>
        <p:spPr>
          <a:xfrm>
            <a:off x="777240" y="3886200"/>
            <a:ext cx="1186891"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O STÜDYONUN KURGUSU</a:t>
            </a:r>
            <a:endParaRPr lang="en-US" sz="900" dirty="0"/>
          </a:p>
        </p:txBody>
      </p:sp>
      <p:sp>
        <p:nvSpPr>
          <p:cNvPr id="9" name="Shape 7"/>
          <p:cNvSpPr/>
          <p:nvPr/>
        </p:nvSpPr>
        <p:spPr>
          <a:xfrm>
            <a:off x="2037283" y="4005072"/>
            <a:ext cx="9374429" cy="0"/>
          </a:xfrm>
          <a:prstGeom prst="line">
            <a:avLst/>
          </a:prstGeom>
          <a:noFill/>
          <a:ln w="9525">
            <a:solidFill>
              <a:srgbClr val="EDEDF0"/>
            </a:solidFill>
            <a:prstDash val="solid"/>
          </a:ln>
        </p:spPr>
      </p:sp>
      <p:sp>
        <p:nvSpPr>
          <p:cNvPr id="10" name="Text 8"/>
          <p:cNvSpPr txBox="1"/>
          <p:nvPr/>
        </p:nvSpPr>
        <p:spPr>
          <a:xfrm>
            <a:off x="777240" y="4224528"/>
            <a:ext cx="1543812" cy="566928"/>
          </a:xfrm>
          <a:prstGeom prst="rect">
            <a:avLst/>
          </a:prstGeom>
          <a:noFill/>
          <a:ln/>
        </p:spPr>
        <p:txBody>
          <a:bodyPr wrap="square" lIns="0" tIns="0" rIns="0" bIns="0" rtlCol="0" anchor="ctr"/>
          <a:lstStyle/>
          <a:p>
            <a:pPr indent="0" marL="0">
              <a:buNone/>
            </a:pPr>
            <a:r>
              <a:rPr lang="en-US" sz="3400" b="1" dirty="0">
                <a:solidFill>
                  <a:srgbClr val="8C3A2B"/>
                </a:solidFill>
                <a:latin typeface="Cambria" pitchFamily="34" charset="0"/>
                <a:ea typeface="Cambria" pitchFamily="34" charset="-122"/>
                <a:cs typeface="Cambria" pitchFamily="34" charset="-120"/>
              </a:rPr>
              <a:t>69</a:t>
            </a:r>
            <a:endParaRPr lang="en-US" sz="3400" dirty="0"/>
          </a:p>
        </p:txBody>
      </p:sp>
      <p:sp>
        <p:nvSpPr>
          <p:cNvPr id="11" name="Text 9"/>
          <p:cNvSpPr txBox="1"/>
          <p:nvPr/>
        </p:nvSpPr>
        <p:spPr>
          <a:xfrm>
            <a:off x="777240" y="4809744"/>
            <a:ext cx="154381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öğrenci, 8 yürütücü</a:t>
            </a:r>
            <a:endParaRPr lang="en-US" sz="1000" dirty="0"/>
          </a:p>
        </p:txBody>
      </p:sp>
      <p:sp>
        <p:nvSpPr>
          <p:cNvPr id="12" name="Shape 10"/>
          <p:cNvSpPr/>
          <p:nvPr/>
        </p:nvSpPr>
        <p:spPr>
          <a:xfrm>
            <a:off x="2449068" y="4270248"/>
            <a:ext cx="0" cy="914400"/>
          </a:xfrm>
          <a:prstGeom prst="line">
            <a:avLst/>
          </a:prstGeom>
          <a:noFill/>
          <a:ln w="9525">
            <a:solidFill>
              <a:srgbClr val="EDEDF0"/>
            </a:solidFill>
            <a:prstDash val="solid"/>
          </a:ln>
        </p:spPr>
      </p:sp>
      <p:sp>
        <p:nvSpPr>
          <p:cNvPr id="13" name="Text 11"/>
          <p:cNvSpPr txBox="1"/>
          <p:nvPr/>
        </p:nvSpPr>
        <p:spPr>
          <a:xfrm>
            <a:off x="2595372" y="4224528"/>
            <a:ext cx="1543812" cy="566928"/>
          </a:xfrm>
          <a:prstGeom prst="rect">
            <a:avLst/>
          </a:prstGeom>
          <a:noFill/>
          <a:ln/>
        </p:spPr>
        <p:txBody>
          <a:bodyPr wrap="square" lIns="0" tIns="0" rIns="0" bIns="0" rtlCol="0" anchor="ctr"/>
          <a:lstStyle/>
          <a:p>
            <a:pPr indent="0" marL="0">
              <a:buNone/>
            </a:pPr>
            <a:r>
              <a:rPr lang="en-US" sz="3400" b="1" dirty="0">
                <a:solidFill>
                  <a:srgbClr val="8C3A2B"/>
                </a:solidFill>
                <a:latin typeface="Cambria" pitchFamily="34" charset="0"/>
                <a:ea typeface="Cambria" pitchFamily="34" charset="-122"/>
                <a:cs typeface="Cambria" pitchFamily="34" charset="-120"/>
              </a:rPr>
              <a:t>14</a:t>
            </a:r>
            <a:endParaRPr lang="en-US" sz="3400" dirty="0"/>
          </a:p>
        </p:txBody>
      </p:sp>
      <p:sp>
        <p:nvSpPr>
          <p:cNvPr id="14" name="Text 12"/>
          <p:cNvSpPr txBox="1"/>
          <p:nvPr/>
        </p:nvSpPr>
        <p:spPr>
          <a:xfrm>
            <a:off x="2595372" y="4809744"/>
            <a:ext cx="154381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haftalık program</a:t>
            </a:r>
            <a:endParaRPr lang="en-US" sz="1000" dirty="0"/>
          </a:p>
        </p:txBody>
      </p:sp>
      <p:sp>
        <p:nvSpPr>
          <p:cNvPr id="15" name="Shape 13"/>
          <p:cNvSpPr/>
          <p:nvPr/>
        </p:nvSpPr>
        <p:spPr>
          <a:xfrm>
            <a:off x="4267200" y="4270248"/>
            <a:ext cx="0" cy="914400"/>
          </a:xfrm>
          <a:prstGeom prst="line">
            <a:avLst/>
          </a:prstGeom>
          <a:noFill/>
          <a:ln w="9525">
            <a:solidFill>
              <a:srgbClr val="EDEDF0"/>
            </a:solidFill>
            <a:prstDash val="solid"/>
          </a:ln>
        </p:spPr>
      </p:sp>
      <p:sp>
        <p:nvSpPr>
          <p:cNvPr id="16" name="Text 14"/>
          <p:cNvSpPr txBox="1"/>
          <p:nvPr/>
        </p:nvSpPr>
        <p:spPr>
          <a:xfrm>
            <a:off x="4413504" y="4224528"/>
            <a:ext cx="1543812" cy="566928"/>
          </a:xfrm>
          <a:prstGeom prst="rect">
            <a:avLst/>
          </a:prstGeom>
          <a:noFill/>
          <a:ln/>
        </p:spPr>
        <p:txBody>
          <a:bodyPr wrap="square" lIns="0" tIns="0" rIns="0" bIns="0" rtlCol="0" anchor="ctr"/>
          <a:lstStyle/>
          <a:p>
            <a:pPr indent="0" marL="0">
              <a:buNone/>
            </a:pPr>
            <a:r>
              <a:rPr lang="en-US" sz="3400" b="1" dirty="0">
                <a:solidFill>
                  <a:srgbClr val="8C3A2B"/>
                </a:solidFill>
                <a:latin typeface="Cambria" pitchFamily="34" charset="0"/>
                <a:ea typeface="Cambria" pitchFamily="34" charset="-122"/>
                <a:cs typeface="Cambria" pitchFamily="34" charset="-120"/>
              </a:rPr>
              <a:t>2</a:t>
            </a:r>
            <a:endParaRPr lang="en-US" sz="3400" dirty="0"/>
          </a:p>
        </p:txBody>
      </p:sp>
      <p:sp>
        <p:nvSpPr>
          <p:cNvPr id="17" name="Text 15"/>
          <p:cNvSpPr txBox="1"/>
          <p:nvPr/>
        </p:nvSpPr>
        <p:spPr>
          <a:xfrm>
            <a:off x="4413504" y="4809744"/>
            <a:ext cx="154381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vize + 1 final jürisi</a:t>
            </a:r>
            <a:endParaRPr lang="en-US" sz="1000" dirty="0"/>
          </a:p>
        </p:txBody>
      </p:sp>
      <p:sp>
        <p:nvSpPr>
          <p:cNvPr id="18" name="Shape 16"/>
          <p:cNvSpPr/>
          <p:nvPr/>
        </p:nvSpPr>
        <p:spPr>
          <a:xfrm>
            <a:off x="6085332" y="4270248"/>
            <a:ext cx="0" cy="914400"/>
          </a:xfrm>
          <a:prstGeom prst="line">
            <a:avLst/>
          </a:prstGeom>
          <a:noFill/>
          <a:ln w="9525">
            <a:solidFill>
              <a:srgbClr val="EDEDF0"/>
            </a:solidFill>
            <a:prstDash val="solid"/>
          </a:ln>
        </p:spPr>
      </p:sp>
      <p:sp>
        <p:nvSpPr>
          <p:cNvPr id="19" name="Text 17"/>
          <p:cNvSpPr txBox="1"/>
          <p:nvPr/>
        </p:nvSpPr>
        <p:spPr>
          <a:xfrm>
            <a:off x="6231636" y="4224528"/>
            <a:ext cx="1543812" cy="566928"/>
          </a:xfrm>
          <a:prstGeom prst="rect">
            <a:avLst/>
          </a:prstGeom>
          <a:noFill/>
          <a:ln/>
        </p:spPr>
        <p:txBody>
          <a:bodyPr wrap="square" lIns="0" tIns="0" rIns="0" bIns="0" rtlCol="0" anchor="ctr"/>
          <a:lstStyle/>
          <a:p>
            <a:pPr indent="0" marL="0">
              <a:buNone/>
            </a:pPr>
            <a:r>
              <a:rPr lang="en-US" sz="3400" b="1" dirty="0">
                <a:solidFill>
                  <a:srgbClr val="8C3A2B"/>
                </a:solidFill>
                <a:latin typeface="Cambria" pitchFamily="34" charset="0"/>
                <a:ea typeface="Cambria" pitchFamily="34" charset="-122"/>
                <a:cs typeface="Cambria" pitchFamily="34" charset="-120"/>
              </a:rPr>
              <a:t>3</a:t>
            </a:r>
            <a:endParaRPr lang="en-US" sz="3400" dirty="0"/>
          </a:p>
        </p:txBody>
      </p:sp>
      <p:sp>
        <p:nvSpPr>
          <p:cNvPr id="20" name="Text 18"/>
          <p:cNvSpPr txBox="1"/>
          <p:nvPr/>
        </p:nvSpPr>
        <p:spPr>
          <a:xfrm>
            <a:off x="6231636" y="4809744"/>
            <a:ext cx="154381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persona, biri ana persona</a:t>
            </a:r>
            <a:endParaRPr lang="en-US" sz="1000" dirty="0"/>
          </a:p>
        </p:txBody>
      </p:sp>
      <p:sp>
        <p:nvSpPr>
          <p:cNvPr id="21" name="Shape 19"/>
          <p:cNvSpPr/>
          <p:nvPr/>
        </p:nvSpPr>
        <p:spPr>
          <a:xfrm>
            <a:off x="7903464" y="4270248"/>
            <a:ext cx="0" cy="914400"/>
          </a:xfrm>
          <a:prstGeom prst="line">
            <a:avLst/>
          </a:prstGeom>
          <a:noFill/>
          <a:ln w="9525">
            <a:solidFill>
              <a:srgbClr val="EDEDF0"/>
            </a:solidFill>
            <a:prstDash val="solid"/>
          </a:ln>
        </p:spPr>
      </p:sp>
      <p:sp>
        <p:nvSpPr>
          <p:cNvPr id="22" name="Text 20"/>
          <p:cNvSpPr txBox="1"/>
          <p:nvPr/>
        </p:nvSpPr>
        <p:spPr>
          <a:xfrm>
            <a:off x="8049768" y="4224528"/>
            <a:ext cx="1543812" cy="566928"/>
          </a:xfrm>
          <a:prstGeom prst="rect">
            <a:avLst/>
          </a:prstGeom>
          <a:noFill/>
          <a:ln/>
        </p:spPr>
        <p:txBody>
          <a:bodyPr wrap="square" lIns="0" tIns="0" rIns="0" bIns="0" rtlCol="0" anchor="ctr"/>
          <a:lstStyle/>
          <a:p>
            <a:pPr indent="0" marL="0">
              <a:buNone/>
            </a:pPr>
            <a:r>
              <a:rPr lang="en-US" sz="3400" b="1" dirty="0">
                <a:solidFill>
                  <a:srgbClr val="8C3A2B"/>
                </a:solidFill>
                <a:latin typeface="Cambria" pitchFamily="34" charset="0"/>
                <a:ea typeface="Cambria" pitchFamily="34" charset="-122"/>
                <a:cs typeface="Cambria" pitchFamily="34" charset="-120"/>
              </a:rPr>
              <a:t>8</a:t>
            </a:r>
            <a:endParaRPr lang="en-US" sz="3400" dirty="0"/>
          </a:p>
        </p:txBody>
      </p:sp>
      <p:sp>
        <p:nvSpPr>
          <p:cNvPr id="23" name="Text 21"/>
          <p:cNvSpPr txBox="1"/>
          <p:nvPr/>
        </p:nvSpPr>
        <p:spPr>
          <a:xfrm>
            <a:off x="8049768" y="4809744"/>
            <a:ext cx="154381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adımlı yolculuk modeli</a:t>
            </a:r>
            <a:endParaRPr lang="en-US" sz="1000" dirty="0"/>
          </a:p>
        </p:txBody>
      </p:sp>
      <p:sp>
        <p:nvSpPr>
          <p:cNvPr id="24" name="Shape 22"/>
          <p:cNvSpPr/>
          <p:nvPr/>
        </p:nvSpPr>
        <p:spPr>
          <a:xfrm>
            <a:off x="9721596" y="4270248"/>
            <a:ext cx="0" cy="914400"/>
          </a:xfrm>
          <a:prstGeom prst="line">
            <a:avLst/>
          </a:prstGeom>
          <a:noFill/>
          <a:ln w="9525">
            <a:solidFill>
              <a:srgbClr val="EDEDF0"/>
            </a:solidFill>
            <a:prstDash val="solid"/>
          </a:ln>
        </p:spPr>
      </p:sp>
      <p:sp>
        <p:nvSpPr>
          <p:cNvPr id="25" name="Text 23"/>
          <p:cNvSpPr txBox="1"/>
          <p:nvPr/>
        </p:nvSpPr>
        <p:spPr>
          <a:xfrm>
            <a:off x="9867900" y="4224528"/>
            <a:ext cx="1543812" cy="566928"/>
          </a:xfrm>
          <a:prstGeom prst="rect">
            <a:avLst/>
          </a:prstGeom>
          <a:noFill/>
          <a:ln/>
        </p:spPr>
        <p:txBody>
          <a:bodyPr wrap="square" lIns="0" tIns="0" rIns="0" bIns="0" rtlCol="0" anchor="ctr"/>
          <a:lstStyle/>
          <a:p>
            <a:pPr indent="0" marL="0">
              <a:buNone/>
            </a:pPr>
            <a:r>
              <a:rPr lang="en-US" sz="3400" b="1" dirty="0">
                <a:solidFill>
                  <a:srgbClr val="8C3A2B"/>
                </a:solidFill>
                <a:latin typeface="Cambria" pitchFamily="34" charset="0"/>
                <a:ea typeface="Cambria" pitchFamily="34" charset="-122"/>
                <a:cs typeface="Cambria" pitchFamily="34" charset="-120"/>
              </a:rPr>
              <a:t>21</a:t>
            </a:r>
            <a:endParaRPr lang="en-US" sz="3400" dirty="0"/>
          </a:p>
        </p:txBody>
      </p:sp>
      <p:sp>
        <p:nvSpPr>
          <p:cNvPr id="26" name="Text 24"/>
          <p:cNvSpPr txBox="1"/>
          <p:nvPr/>
        </p:nvSpPr>
        <p:spPr>
          <a:xfrm>
            <a:off x="9867900" y="4809744"/>
            <a:ext cx="1543812" cy="50292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ifadeli değerlendirme çerçevesi</a:t>
            </a:r>
            <a:endParaRPr lang="en-US" sz="1000" dirty="0"/>
          </a:p>
        </p:txBody>
      </p:sp>
      <p:sp>
        <p:nvSpPr>
          <p:cNvPr id="27" name="Text 25"/>
          <p:cNvSpPr txBox="1"/>
          <p:nvPr/>
        </p:nvSpPr>
        <p:spPr>
          <a:xfrm>
            <a:off x="777240" y="5486400"/>
            <a:ext cx="10424160" cy="502920"/>
          </a:xfrm>
          <a:prstGeom prst="rect">
            <a:avLst/>
          </a:prstGeom>
          <a:noFill/>
          <a:ln/>
        </p:spPr>
        <p:txBody>
          <a:bodyPr wrap="square" lIns="0" tIns="0" rIns="0" bIns="0" rtlCol="0" anchor="ctr"/>
          <a:lstStyle/>
          <a:p>
            <a:pPr algn="l" indent="0" marL="0">
              <a:lnSpc>
                <a:spcPts val="1700"/>
              </a:lnSpc>
              <a:buNone/>
            </a:pPr>
            <a:r>
              <a:rPr lang="en-US" sz="1250" dirty="0">
                <a:solidFill>
                  <a:srgbClr val="2B2B31"/>
                </a:solidFill>
                <a:latin typeface="Cambria" pitchFamily="34" charset="0"/>
                <a:ea typeface="Cambria" pitchFamily="34" charset="-122"/>
                <a:cs typeface="Cambria" pitchFamily="34" charset="-120"/>
              </a:rPr>
              <a:t>Stüdyo eğitimi, Quartier vd. (2017) perakende tasarım süreç modeline göre üç fazda kuruldu: Analiz ve Konsept · Somutlaştırma · Detay. Bizim on dört haftamız da aynı üç fazı izliyor.</a:t>
            </a:r>
            <a:endParaRPr lang="en-US" sz="1250" dirty="0"/>
          </a:p>
        </p:txBody>
      </p:sp>
      <p:sp>
        <p:nvSpPr>
          <p:cNvPr id="28" name="Text 26"/>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Bükülmez, P. S., Sunar, T. &amp; Kuloğlu, N. (2025). Retail Design Competencies. The International Journal of Design Education.</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10400" b="1" dirty="0">
                <a:solidFill>
                  <a:srgbClr val="8C3A2B"/>
                </a:solidFill>
                <a:latin typeface="Cambria" pitchFamily="34" charset="0"/>
                <a:ea typeface="Cambria" pitchFamily="34" charset="-122"/>
                <a:cs typeface="Cambria" pitchFamily="34" charset="-120"/>
              </a:rPr>
              <a:t>I</a:t>
            </a:r>
            <a:endParaRPr lang="en-US" sz="104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Markanın kimliği nasıl okunur?</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Marka bir logo değil bir vaattir. Vaadi okumak için nereye bakılır?</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 · KİMLİK OKUMA</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Marka, görünenden ibaret değildir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5</a:t>
            </a:r>
            <a:endParaRPr lang="en-US" sz="900" dirty="0"/>
          </a:p>
        </p:txBody>
      </p:sp>
      <p:sp>
        <p:nvSpPr>
          <p:cNvPr id="6" name="Text 4"/>
          <p:cNvSpPr txBox="1"/>
          <p:nvPr/>
        </p:nvSpPr>
        <p:spPr>
          <a:xfrm>
            <a:off x="777240" y="1664208"/>
            <a:ext cx="10634472" cy="621792"/>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Bir markanın görünen yüzü küçüktür: adı, logosu, rengi, ambalajı. Bunlar markayı tanıtır ama açıklamaz. Altında, çoğu zaman yazılı bile olmayan bir katman vardır. Tasarımcının malzemesi bu alt katmandır.</a:t>
            </a:r>
            <a:endParaRPr lang="en-US" sz="1400" dirty="0"/>
          </a:p>
        </p:txBody>
      </p:sp>
      <p:sp>
        <p:nvSpPr>
          <p:cNvPr id="7" name="Shape 5"/>
          <p:cNvSpPr/>
          <p:nvPr/>
        </p:nvSpPr>
        <p:spPr>
          <a:xfrm>
            <a:off x="1051560" y="2487168"/>
            <a:ext cx="4480560" cy="3017520"/>
          </a:xfrm>
          <a:prstGeom prst="rect">
            <a:avLst/>
          </a:prstGeom>
          <a:ln w="10795">
            <a:solidFill>
              <a:srgbClr val="C9C9CF"/>
            </a:solidFill>
            <a:prstDash val="dash"/>
          </a:ln>
        </p:spPr>
      </p:sp>
      <p:sp>
        <p:nvSpPr>
          <p:cNvPr id="8" name="Text 6"/>
          <p:cNvSpPr txBox="1"/>
          <p:nvPr/>
        </p:nvSpPr>
        <p:spPr>
          <a:xfrm>
            <a:off x="1161288" y="2551176"/>
            <a:ext cx="4261104" cy="237744"/>
          </a:xfrm>
          <a:prstGeom prst="rect">
            <a:avLst/>
          </a:prstGeom>
          <a:noFill/>
          <a:ln/>
        </p:spPr>
        <p:txBody>
          <a:bodyPr wrap="square" lIns="0" tIns="0" rIns="0" bIns="0" rtlCol="0" anchor="ctr"/>
          <a:lstStyle/>
          <a:p>
            <a:pPr indent="0" marL="0">
              <a:buNone/>
            </a:pPr>
            <a:r>
              <a:rPr lang="en-US" sz="900" b="1" spc="140" kern="0" dirty="0">
                <a:solidFill>
                  <a:srgbClr val="7A7A82"/>
                </a:solidFill>
                <a:latin typeface="Calibri" pitchFamily="34" charset="0"/>
                <a:ea typeface="Calibri" pitchFamily="34" charset="-122"/>
                <a:cs typeface="Calibri" pitchFamily="34" charset="-120"/>
              </a:rPr>
              <a:t>GÖRÜNEN — logo, renk, ambalaj, isim</a:t>
            </a:r>
            <a:endParaRPr lang="en-US" sz="900" dirty="0"/>
          </a:p>
        </p:txBody>
      </p:sp>
      <p:sp>
        <p:nvSpPr>
          <p:cNvPr id="9" name="Shape 7"/>
          <p:cNvSpPr/>
          <p:nvPr/>
        </p:nvSpPr>
        <p:spPr>
          <a:xfrm>
            <a:off x="1508760" y="2944368"/>
            <a:ext cx="3566160" cy="2103120"/>
          </a:xfrm>
          <a:prstGeom prst="rect">
            <a:avLst/>
          </a:prstGeom>
          <a:ln w="10795">
            <a:solidFill>
              <a:srgbClr val="C9C9CF"/>
            </a:solidFill>
            <a:prstDash val="solid"/>
          </a:ln>
        </p:spPr>
      </p:sp>
      <p:sp>
        <p:nvSpPr>
          <p:cNvPr id="10" name="Text 8"/>
          <p:cNvSpPr txBox="1"/>
          <p:nvPr/>
        </p:nvSpPr>
        <p:spPr>
          <a:xfrm>
            <a:off x="1618488" y="3008376"/>
            <a:ext cx="3346704" cy="237744"/>
          </a:xfrm>
          <a:prstGeom prst="rect">
            <a:avLst/>
          </a:prstGeom>
          <a:noFill/>
          <a:ln/>
        </p:spPr>
        <p:txBody>
          <a:bodyPr wrap="square" lIns="0" tIns="0" rIns="0" bIns="0" rtlCol="0" anchor="ctr"/>
          <a:lstStyle/>
          <a:p>
            <a:pPr indent="0" marL="0">
              <a:buNone/>
            </a:pPr>
            <a:r>
              <a:rPr lang="en-US" sz="900" b="1" spc="140" kern="0" dirty="0">
                <a:solidFill>
                  <a:srgbClr val="7A7A82"/>
                </a:solidFill>
                <a:latin typeface="Calibri" pitchFamily="34" charset="0"/>
                <a:ea typeface="Calibri" pitchFamily="34" charset="-122"/>
                <a:cs typeface="Calibri" pitchFamily="34" charset="-120"/>
              </a:rPr>
              <a:t>DAVRANIŞ — nasıl satıyor, nasıl konuşuyor</a:t>
            </a:r>
            <a:endParaRPr lang="en-US" sz="900" dirty="0"/>
          </a:p>
        </p:txBody>
      </p:sp>
      <p:sp>
        <p:nvSpPr>
          <p:cNvPr id="11" name="Shape 9"/>
          <p:cNvSpPr/>
          <p:nvPr/>
        </p:nvSpPr>
        <p:spPr>
          <a:xfrm>
            <a:off x="1965960" y="3401568"/>
            <a:ext cx="2651760" cy="1188720"/>
          </a:xfrm>
          <a:prstGeom prst="rect">
            <a:avLst/>
          </a:prstGeom>
          <a:ln w="10795">
            <a:solidFill>
              <a:srgbClr val="C9C9CF"/>
            </a:solidFill>
            <a:prstDash val="solid"/>
          </a:ln>
        </p:spPr>
      </p:sp>
      <p:sp>
        <p:nvSpPr>
          <p:cNvPr id="12" name="Text 10"/>
          <p:cNvSpPr txBox="1"/>
          <p:nvPr/>
        </p:nvSpPr>
        <p:spPr>
          <a:xfrm>
            <a:off x="2075688" y="3465576"/>
            <a:ext cx="2432304" cy="237744"/>
          </a:xfrm>
          <a:prstGeom prst="rect">
            <a:avLst/>
          </a:prstGeom>
          <a:noFill/>
          <a:ln/>
        </p:spPr>
        <p:txBody>
          <a:bodyPr wrap="square" lIns="0" tIns="0" rIns="0" bIns="0" rtlCol="0" anchor="ctr"/>
          <a:lstStyle/>
          <a:p>
            <a:pPr indent="0" marL="0">
              <a:buNone/>
            </a:pPr>
            <a:r>
              <a:rPr lang="en-US" sz="900" b="1" spc="140" kern="0" dirty="0">
                <a:solidFill>
                  <a:srgbClr val="7A7A82"/>
                </a:solidFill>
                <a:latin typeface="Calibri" pitchFamily="34" charset="0"/>
                <a:ea typeface="Calibri" pitchFamily="34" charset="-122"/>
                <a:cs typeface="Calibri" pitchFamily="34" charset="-120"/>
              </a:rPr>
              <a:t>İNANÇ — neye değer veriyor, kime sesleniyor</a:t>
            </a:r>
            <a:endParaRPr lang="en-US" sz="900" dirty="0"/>
          </a:p>
        </p:txBody>
      </p:sp>
      <p:sp>
        <p:nvSpPr>
          <p:cNvPr id="13" name="Shape 11"/>
          <p:cNvSpPr/>
          <p:nvPr/>
        </p:nvSpPr>
        <p:spPr>
          <a:xfrm>
            <a:off x="2423160" y="3858768"/>
            <a:ext cx="1737360" cy="274320"/>
          </a:xfrm>
          <a:prstGeom prst="rect">
            <a:avLst/>
          </a:prstGeom>
          <a:solidFill>
            <a:srgbClr val="F6EAE6"/>
          </a:solidFill>
          <a:ln w="17780">
            <a:solidFill>
              <a:srgbClr val="8C3A2B"/>
            </a:solidFill>
            <a:prstDash val="solid"/>
          </a:ln>
        </p:spPr>
      </p:sp>
      <p:sp>
        <p:nvSpPr>
          <p:cNvPr id="14" name="Text 12"/>
          <p:cNvSpPr txBox="1"/>
          <p:nvPr/>
        </p:nvSpPr>
        <p:spPr>
          <a:xfrm>
            <a:off x="2532888" y="3922776"/>
            <a:ext cx="1517904"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ÖZ — tek cümleyle ne vaat ediyor</a:t>
            </a:r>
            <a:endParaRPr lang="en-US" sz="900" dirty="0"/>
          </a:p>
        </p:txBody>
      </p:sp>
      <p:sp>
        <p:nvSpPr>
          <p:cNvPr id="15" name="Text 13"/>
          <p:cNvSpPr txBox="1"/>
          <p:nvPr/>
        </p:nvSpPr>
        <p:spPr>
          <a:xfrm>
            <a:off x="1051560" y="5577840"/>
            <a:ext cx="4480560" cy="365760"/>
          </a:xfrm>
          <a:prstGeom prst="rect">
            <a:avLst/>
          </a:prstGeom>
          <a:noFill/>
          <a:ln/>
        </p:spPr>
        <p:txBody>
          <a:bodyPr wrap="square" lIns="0" tIns="0" rIns="0" bIns="0" rtlCol="0" anchor="ctr"/>
          <a:lstStyle/>
          <a:p>
            <a:pPr algn="l" indent="0" marL="0">
              <a:lnSpc>
                <a:spcPts val="1300"/>
              </a:lnSpc>
              <a:buNone/>
            </a:pPr>
            <a:r>
              <a:rPr lang="en-US" sz="1050" i="1" dirty="0">
                <a:solidFill>
                  <a:srgbClr val="7A7A82"/>
                </a:solidFill>
                <a:latin typeface="Calibri" pitchFamily="34" charset="0"/>
                <a:ea typeface="Calibri" pitchFamily="34" charset="-122"/>
                <a:cs typeface="Calibri" pitchFamily="34" charset="-120"/>
              </a:rPr>
              <a:t>Dışarıdan içeriye doğru okunur; tasarım en içteki katmandan başlar.</a:t>
            </a:r>
            <a:endParaRPr lang="en-US" sz="1050" dirty="0"/>
          </a:p>
        </p:txBody>
      </p:sp>
      <p:sp>
        <p:nvSpPr>
          <p:cNvPr id="16" name="Text 14"/>
          <p:cNvSpPr txBox="1"/>
          <p:nvPr/>
        </p:nvSpPr>
        <p:spPr>
          <a:xfrm>
            <a:off x="6035040" y="2487168"/>
            <a:ext cx="1527048"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HER KATMAN NEREDE GÖRÜLÜR</a:t>
            </a:r>
            <a:endParaRPr lang="en-US" sz="900" dirty="0"/>
          </a:p>
        </p:txBody>
      </p:sp>
      <p:sp>
        <p:nvSpPr>
          <p:cNvPr id="17" name="Shape 15"/>
          <p:cNvSpPr/>
          <p:nvPr/>
        </p:nvSpPr>
        <p:spPr>
          <a:xfrm>
            <a:off x="7635240" y="2606040"/>
            <a:ext cx="3776472" cy="0"/>
          </a:xfrm>
          <a:prstGeom prst="line">
            <a:avLst/>
          </a:prstGeom>
          <a:noFill/>
          <a:ln w="9525">
            <a:solidFill>
              <a:srgbClr val="EDEDF0"/>
            </a:solidFill>
            <a:prstDash val="solid"/>
          </a:ln>
        </p:spPr>
      </p:sp>
      <p:sp>
        <p:nvSpPr>
          <p:cNvPr id="18" name="Shape 16"/>
          <p:cNvSpPr/>
          <p:nvPr/>
        </p:nvSpPr>
        <p:spPr>
          <a:xfrm>
            <a:off x="6089904" y="2916936"/>
            <a:ext cx="109728" cy="109728"/>
          </a:xfrm>
          <a:prstGeom prst="ellipse">
            <a:avLst/>
          </a:prstGeom>
          <a:solidFill>
            <a:srgbClr val="B9B9C0"/>
          </a:solidFill>
          <a:ln w="12700">
            <a:solidFill>
              <a:srgbClr val="B9B9C0"/>
            </a:solidFill>
            <a:prstDash val="solid"/>
          </a:ln>
        </p:spPr>
      </p:sp>
      <p:sp>
        <p:nvSpPr>
          <p:cNvPr id="19" name="Text 17"/>
          <p:cNvSpPr txBox="1"/>
          <p:nvPr/>
        </p:nvSpPr>
        <p:spPr>
          <a:xfrm>
            <a:off x="6364224" y="2852928"/>
            <a:ext cx="137160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Görünen</a:t>
            </a:r>
            <a:endParaRPr lang="en-US" sz="1350" dirty="0"/>
          </a:p>
        </p:txBody>
      </p:sp>
      <p:sp>
        <p:nvSpPr>
          <p:cNvPr id="20" name="Text 18"/>
          <p:cNvSpPr txBox="1"/>
          <p:nvPr/>
        </p:nvSpPr>
        <p:spPr>
          <a:xfrm>
            <a:off x="7772400" y="2871216"/>
            <a:ext cx="3639312" cy="603504"/>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Ambalaj, etiket, tabela, sosyal medya hesabı, fiş.</a:t>
            </a:r>
            <a:endParaRPr lang="en-US" sz="1050" dirty="0"/>
          </a:p>
        </p:txBody>
      </p:sp>
      <p:sp>
        <p:nvSpPr>
          <p:cNvPr id="21" name="Shape 19"/>
          <p:cNvSpPr/>
          <p:nvPr/>
        </p:nvSpPr>
        <p:spPr>
          <a:xfrm>
            <a:off x="6364224" y="3456432"/>
            <a:ext cx="5047488" cy="0"/>
          </a:xfrm>
          <a:prstGeom prst="line">
            <a:avLst/>
          </a:prstGeom>
          <a:noFill/>
          <a:ln w="6350">
            <a:solidFill>
              <a:srgbClr val="EDEDF0"/>
            </a:solidFill>
            <a:prstDash val="solid"/>
          </a:ln>
        </p:spPr>
      </p:sp>
      <p:sp>
        <p:nvSpPr>
          <p:cNvPr id="22" name="Shape 20"/>
          <p:cNvSpPr/>
          <p:nvPr/>
        </p:nvSpPr>
        <p:spPr>
          <a:xfrm>
            <a:off x="6089904" y="3611880"/>
            <a:ext cx="109728" cy="109728"/>
          </a:xfrm>
          <a:prstGeom prst="ellipse">
            <a:avLst/>
          </a:prstGeom>
          <a:solidFill>
            <a:srgbClr val="B9B9C0"/>
          </a:solidFill>
          <a:ln w="12700">
            <a:solidFill>
              <a:srgbClr val="B9B9C0"/>
            </a:solidFill>
            <a:prstDash val="solid"/>
          </a:ln>
        </p:spPr>
      </p:sp>
      <p:sp>
        <p:nvSpPr>
          <p:cNvPr id="23" name="Text 21"/>
          <p:cNvSpPr txBox="1"/>
          <p:nvPr/>
        </p:nvSpPr>
        <p:spPr>
          <a:xfrm>
            <a:off x="6364224" y="3547872"/>
            <a:ext cx="137160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Davranış</a:t>
            </a:r>
            <a:endParaRPr lang="en-US" sz="1350" dirty="0"/>
          </a:p>
        </p:txBody>
      </p:sp>
      <p:sp>
        <p:nvSpPr>
          <p:cNvPr id="24" name="Text 22"/>
          <p:cNvSpPr txBox="1"/>
          <p:nvPr/>
        </p:nvSpPr>
        <p:spPr>
          <a:xfrm>
            <a:off x="7772400" y="3566160"/>
            <a:ext cx="3639312" cy="603504"/>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Ürünü nasıl paketliyor, müşteriyle nasıl konuşuyor, hangi saatte açıyor.</a:t>
            </a:r>
            <a:endParaRPr lang="en-US" sz="1050" dirty="0"/>
          </a:p>
        </p:txBody>
      </p:sp>
      <p:sp>
        <p:nvSpPr>
          <p:cNvPr id="25" name="Shape 23"/>
          <p:cNvSpPr/>
          <p:nvPr/>
        </p:nvSpPr>
        <p:spPr>
          <a:xfrm>
            <a:off x="6364224" y="4151376"/>
            <a:ext cx="5047488" cy="0"/>
          </a:xfrm>
          <a:prstGeom prst="line">
            <a:avLst/>
          </a:prstGeom>
          <a:noFill/>
          <a:ln w="6350">
            <a:solidFill>
              <a:srgbClr val="EDEDF0"/>
            </a:solidFill>
            <a:prstDash val="solid"/>
          </a:ln>
        </p:spPr>
      </p:sp>
      <p:sp>
        <p:nvSpPr>
          <p:cNvPr id="26" name="Shape 24"/>
          <p:cNvSpPr/>
          <p:nvPr/>
        </p:nvSpPr>
        <p:spPr>
          <a:xfrm>
            <a:off x="6089904" y="4306824"/>
            <a:ext cx="109728" cy="109728"/>
          </a:xfrm>
          <a:prstGeom prst="ellipse">
            <a:avLst/>
          </a:prstGeom>
          <a:solidFill>
            <a:srgbClr val="B9B9C0"/>
          </a:solidFill>
          <a:ln w="12700">
            <a:solidFill>
              <a:srgbClr val="B9B9C0"/>
            </a:solidFill>
            <a:prstDash val="solid"/>
          </a:ln>
        </p:spPr>
      </p:sp>
      <p:sp>
        <p:nvSpPr>
          <p:cNvPr id="27" name="Text 25"/>
          <p:cNvSpPr txBox="1"/>
          <p:nvPr/>
        </p:nvSpPr>
        <p:spPr>
          <a:xfrm>
            <a:off x="6364224" y="4242816"/>
            <a:ext cx="137160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İnanç</a:t>
            </a:r>
            <a:endParaRPr lang="en-US" sz="1350" dirty="0"/>
          </a:p>
        </p:txBody>
      </p:sp>
      <p:sp>
        <p:nvSpPr>
          <p:cNvPr id="28" name="Text 26"/>
          <p:cNvSpPr txBox="1"/>
          <p:nvPr/>
        </p:nvSpPr>
        <p:spPr>
          <a:xfrm>
            <a:off x="7772400" y="4261104"/>
            <a:ext cx="3639312" cy="603504"/>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Neyi yapmayı reddediyor. En çok bu soru ayırt eder.</a:t>
            </a:r>
            <a:endParaRPr lang="en-US" sz="1050" dirty="0"/>
          </a:p>
        </p:txBody>
      </p:sp>
      <p:sp>
        <p:nvSpPr>
          <p:cNvPr id="29" name="Shape 27"/>
          <p:cNvSpPr/>
          <p:nvPr/>
        </p:nvSpPr>
        <p:spPr>
          <a:xfrm>
            <a:off x="6364224" y="4846320"/>
            <a:ext cx="5047488" cy="0"/>
          </a:xfrm>
          <a:prstGeom prst="line">
            <a:avLst/>
          </a:prstGeom>
          <a:noFill/>
          <a:ln w="6350">
            <a:solidFill>
              <a:srgbClr val="EDEDF0"/>
            </a:solidFill>
            <a:prstDash val="solid"/>
          </a:ln>
        </p:spPr>
      </p:sp>
      <p:sp>
        <p:nvSpPr>
          <p:cNvPr id="30" name="Shape 28"/>
          <p:cNvSpPr/>
          <p:nvPr/>
        </p:nvSpPr>
        <p:spPr>
          <a:xfrm>
            <a:off x="6089904" y="5001768"/>
            <a:ext cx="109728" cy="109728"/>
          </a:xfrm>
          <a:prstGeom prst="ellipse">
            <a:avLst/>
          </a:prstGeom>
          <a:solidFill>
            <a:srgbClr val="8C3A2B"/>
          </a:solidFill>
          <a:ln w="12700">
            <a:solidFill>
              <a:srgbClr val="8C3A2B"/>
            </a:solidFill>
            <a:prstDash val="solid"/>
          </a:ln>
        </p:spPr>
      </p:sp>
      <p:sp>
        <p:nvSpPr>
          <p:cNvPr id="31" name="Text 29"/>
          <p:cNvSpPr txBox="1"/>
          <p:nvPr/>
        </p:nvSpPr>
        <p:spPr>
          <a:xfrm>
            <a:off x="6364224" y="4937760"/>
            <a:ext cx="1371600"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Öz</a:t>
            </a:r>
            <a:endParaRPr lang="en-US" sz="1350" dirty="0"/>
          </a:p>
        </p:txBody>
      </p:sp>
      <p:sp>
        <p:nvSpPr>
          <p:cNvPr id="32" name="Text 30"/>
          <p:cNvSpPr txBox="1"/>
          <p:nvPr/>
        </p:nvSpPr>
        <p:spPr>
          <a:xfrm>
            <a:off x="7772400" y="4956048"/>
            <a:ext cx="3639312" cy="603504"/>
          </a:xfrm>
          <a:prstGeom prst="rect">
            <a:avLst/>
          </a:prstGeom>
          <a:noFill/>
          <a:ln/>
        </p:spPr>
        <p:txBody>
          <a:bodyPr wrap="square" lIns="0" tIns="0" rIns="0" bIns="0" rtlCol="0" anchor="ctr"/>
          <a:lstStyle/>
          <a:p>
            <a:pPr indent="0" marL="0">
              <a:lnSpc>
                <a:spcPts val="1350"/>
              </a:lnSpc>
              <a:buNone/>
            </a:pPr>
            <a:r>
              <a:rPr lang="en-US" sz="1050" dirty="0">
                <a:solidFill>
                  <a:srgbClr val="8C3A2B"/>
                </a:solidFill>
                <a:latin typeface="Calibri" pitchFamily="34" charset="0"/>
                <a:ea typeface="Calibri" pitchFamily="34" charset="-122"/>
                <a:cs typeface="Calibri" pitchFamily="34" charset="-120"/>
              </a:rPr>
              <a:t>Sahibinin "biz aslında şunu yapıyoruz" diye başlayan cümlesi.</a:t>
            </a:r>
            <a:endParaRPr lang="en-US" sz="1050" dirty="0"/>
          </a:p>
        </p:txBody>
      </p:sp>
      <p:sp>
        <p:nvSpPr>
          <p:cNvPr id="33" name="Text 31"/>
          <p:cNvSpPr txBox="1"/>
          <p:nvPr/>
        </p:nvSpPr>
        <p:spPr>
          <a:xfrm>
            <a:off x="6035040" y="5577840"/>
            <a:ext cx="5376672"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Yazılamayan bir marka mekâna da çevrilemez.</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 · KİMLİK OKUMA</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Marka deneyimi altı bileşenden oluşur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777240" y="1700784"/>
            <a:ext cx="3931920" cy="14630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Marka kimliği tasarımı literatüründe kapsamlı bir marka deneyiminin altı bileşeni tanımlanır (Wheeler, 2017). Bu altı bileşen, markanın konumundan satış süreçlerine kadar her şeyi biçimlendirir.</a:t>
            </a:r>
            <a:endParaRPr lang="en-US" sz="1350" dirty="0"/>
          </a:p>
        </p:txBody>
      </p:sp>
      <p:sp>
        <p:nvSpPr>
          <p:cNvPr id="7" name="Shape 5"/>
          <p:cNvSpPr/>
          <p:nvPr/>
        </p:nvSpPr>
        <p:spPr>
          <a:xfrm>
            <a:off x="8412480" y="2853151"/>
            <a:ext cx="329184" cy="570163"/>
          </a:xfrm>
          <a:prstGeom prst="line">
            <a:avLst/>
          </a:prstGeom>
          <a:noFill/>
          <a:ln w="10795">
            <a:solidFill>
              <a:srgbClr val="EDEDF0"/>
            </a:solidFill>
            <a:prstDash val="solid"/>
          </a:ln>
        </p:spPr>
      </p:sp>
      <p:sp>
        <p:nvSpPr>
          <p:cNvPr id="8" name="Shape 6"/>
          <p:cNvSpPr/>
          <p:nvPr/>
        </p:nvSpPr>
        <p:spPr>
          <a:xfrm>
            <a:off x="8631936" y="2368695"/>
            <a:ext cx="493776" cy="493776"/>
          </a:xfrm>
          <a:prstGeom prst="ellipse">
            <a:avLst/>
          </a:prstGeom>
          <a:solidFill>
            <a:srgbClr val="FCFCFA"/>
          </a:solidFill>
          <a:ln w="15240">
            <a:solidFill>
              <a:srgbClr val="8C3A2B"/>
            </a:solidFill>
            <a:prstDash val="solid"/>
          </a:ln>
        </p:spPr>
      </p:sp>
      <p:sp>
        <p:nvSpPr>
          <p:cNvPr id="9" name="Text 7"/>
          <p:cNvSpPr txBox="1"/>
          <p:nvPr/>
        </p:nvSpPr>
        <p:spPr>
          <a:xfrm>
            <a:off x="8631936" y="2368695"/>
            <a:ext cx="493776" cy="493776"/>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061704" y="1713610"/>
            <a:ext cx="1298448" cy="274320"/>
          </a:xfrm>
          <a:prstGeom prst="rect">
            <a:avLst/>
          </a:prstGeom>
          <a:noFill/>
          <a:ln/>
        </p:spPr>
        <p:txBody>
          <a:bodyPr wrap="square" lIns="0" tIns="0" rIns="0" bIns="0" rtlCol="0" anchor="b"/>
          <a:lstStyle/>
          <a:p>
            <a:pPr algn="l" indent="0" marL="0">
              <a:lnSpc>
                <a:spcPts val="1500"/>
              </a:lnSpc>
              <a:buNone/>
            </a:pPr>
            <a:r>
              <a:rPr lang="en-US" sz="1150" b="1" dirty="0">
                <a:solidFill>
                  <a:srgbClr val="16161A"/>
                </a:solidFill>
                <a:latin typeface="Cambria" pitchFamily="34" charset="0"/>
                <a:ea typeface="Cambria" pitchFamily="34" charset="-122"/>
                <a:cs typeface="Cambria" pitchFamily="34" charset="-120"/>
              </a:rPr>
              <a:t>İmaj ve kimlik</a:t>
            </a:r>
            <a:endParaRPr lang="en-US" sz="1150" dirty="0"/>
          </a:p>
        </p:txBody>
      </p:sp>
      <p:sp>
        <p:nvSpPr>
          <p:cNvPr id="11" name="Text 9"/>
          <p:cNvSpPr txBox="1"/>
          <p:nvPr/>
        </p:nvSpPr>
        <p:spPr>
          <a:xfrm>
            <a:off x="9061704" y="2024506"/>
            <a:ext cx="1298448" cy="292608"/>
          </a:xfrm>
          <a:prstGeom prst="rect">
            <a:avLst/>
          </a:prstGeom>
          <a:noFill/>
          <a:ln/>
        </p:spPr>
        <p:txBody>
          <a:bodyPr wrap="square" lIns="0" tIns="0" rIns="0" bIns="0" rtlCol="0" anchor="ctr"/>
          <a:lstStyle/>
          <a:p>
            <a:pPr algn="l" indent="0" marL="0">
              <a:lnSpc>
                <a:spcPts val="1050"/>
              </a:lnSpc>
              <a:buNone/>
            </a:pPr>
            <a:r>
              <a:rPr lang="en-US" sz="850" dirty="0">
                <a:solidFill>
                  <a:srgbClr val="7A7A82"/>
                </a:solidFill>
                <a:latin typeface="Calibri" pitchFamily="34" charset="0"/>
                <a:ea typeface="Calibri" pitchFamily="34" charset="-122"/>
                <a:cs typeface="Calibri" pitchFamily="34" charset="-120"/>
              </a:rPr>
              <a:t>ad, logo, görsel dil</a:t>
            </a:r>
            <a:endParaRPr lang="en-US" sz="850" dirty="0"/>
          </a:p>
        </p:txBody>
      </p:sp>
      <p:sp>
        <p:nvSpPr>
          <p:cNvPr id="12" name="Shape 10"/>
          <p:cNvSpPr/>
          <p:nvPr/>
        </p:nvSpPr>
        <p:spPr>
          <a:xfrm>
            <a:off x="8732520" y="3977640"/>
            <a:ext cx="658368" cy="0"/>
          </a:xfrm>
          <a:prstGeom prst="line">
            <a:avLst/>
          </a:prstGeom>
          <a:noFill/>
          <a:ln w="10795">
            <a:solidFill>
              <a:srgbClr val="EDEDF0"/>
            </a:solidFill>
            <a:prstDash val="solid"/>
          </a:ln>
        </p:spPr>
      </p:sp>
      <p:sp>
        <p:nvSpPr>
          <p:cNvPr id="13" name="Shape 11"/>
          <p:cNvSpPr/>
          <p:nvPr/>
        </p:nvSpPr>
        <p:spPr>
          <a:xfrm>
            <a:off x="9418320" y="3730752"/>
            <a:ext cx="493776" cy="493776"/>
          </a:xfrm>
          <a:prstGeom prst="ellipse">
            <a:avLst/>
          </a:prstGeom>
          <a:solidFill>
            <a:srgbClr val="FCFCFA"/>
          </a:solidFill>
          <a:ln w="15240">
            <a:solidFill>
              <a:srgbClr val="8C3A2B"/>
            </a:solidFill>
            <a:prstDash val="solid"/>
          </a:ln>
        </p:spPr>
      </p:sp>
      <p:sp>
        <p:nvSpPr>
          <p:cNvPr id="14" name="Text 12"/>
          <p:cNvSpPr txBox="1"/>
          <p:nvPr/>
        </p:nvSpPr>
        <p:spPr>
          <a:xfrm>
            <a:off x="9418320" y="3730752"/>
            <a:ext cx="493776" cy="493776"/>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10030968" y="3785616"/>
            <a:ext cx="1298448" cy="274320"/>
          </a:xfrm>
          <a:prstGeom prst="rect">
            <a:avLst/>
          </a:prstGeom>
          <a:noFill/>
          <a:ln/>
        </p:spPr>
        <p:txBody>
          <a:bodyPr wrap="square" lIns="0" tIns="0" rIns="0" bIns="0" rtlCol="0" anchor="t"/>
          <a:lstStyle/>
          <a:p>
            <a:pPr algn="l" indent="0" marL="0">
              <a:lnSpc>
                <a:spcPts val="1500"/>
              </a:lnSpc>
              <a:buNone/>
            </a:pPr>
            <a:r>
              <a:rPr lang="en-US" sz="1150" b="1" dirty="0">
                <a:solidFill>
                  <a:srgbClr val="16161A"/>
                </a:solidFill>
                <a:latin typeface="Cambria" pitchFamily="34" charset="0"/>
                <a:ea typeface="Cambria" pitchFamily="34" charset="-122"/>
                <a:cs typeface="Cambria" pitchFamily="34" charset="-120"/>
              </a:rPr>
              <a:t>Ürün ve hizmet</a:t>
            </a:r>
            <a:endParaRPr lang="en-US" sz="1150" dirty="0"/>
          </a:p>
        </p:txBody>
      </p:sp>
      <p:sp>
        <p:nvSpPr>
          <p:cNvPr id="16" name="Text 14"/>
          <p:cNvSpPr txBox="1"/>
          <p:nvPr/>
        </p:nvSpPr>
        <p:spPr>
          <a:xfrm>
            <a:off x="10030968" y="4069080"/>
            <a:ext cx="1298448" cy="292608"/>
          </a:xfrm>
          <a:prstGeom prst="rect">
            <a:avLst/>
          </a:prstGeom>
          <a:noFill/>
          <a:ln/>
        </p:spPr>
        <p:txBody>
          <a:bodyPr wrap="square" lIns="0" tIns="0" rIns="0" bIns="0" rtlCol="0" anchor="ctr"/>
          <a:lstStyle/>
          <a:p>
            <a:pPr algn="l" indent="0" marL="0">
              <a:lnSpc>
                <a:spcPts val="1050"/>
              </a:lnSpc>
              <a:buNone/>
            </a:pPr>
            <a:r>
              <a:rPr lang="en-US" sz="850" dirty="0">
                <a:solidFill>
                  <a:srgbClr val="7A7A82"/>
                </a:solidFill>
                <a:latin typeface="Calibri" pitchFamily="34" charset="0"/>
                <a:ea typeface="Calibri" pitchFamily="34" charset="-122"/>
                <a:cs typeface="Calibri" pitchFamily="34" charset="-120"/>
              </a:rPr>
              <a:t>ne satıyor, neyi vaat ediyor</a:t>
            </a:r>
            <a:endParaRPr lang="en-US" sz="850" dirty="0"/>
          </a:p>
        </p:txBody>
      </p:sp>
      <p:sp>
        <p:nvSpPr>
          <p:cNvPr id="17" name="Shape 15"/>
          <p:cNvSpPr/>
          <p:nvPr/>
        </p:nvSpPr>
        <p:spPr>
          <a:xfrm>
            <a:off x="8412480" y="4531966"/>
            <a:ext cx="329184" cy="570163"/>
          </a:xfrm>
          <a:prstGeom prst="line">
            <a:avLst/>
          </a:prstGeom>
          <a:noFill/>
          <a:ln w="10795">
            <a:solidFill>
              <a:srgbClr val="EDEDF0"/>
            </a:solidFill>
            <a:prstDash val="solid"/>
          </a:ln>
        </p:spPr>
      </p:sp>
      <p:sp>
        <p:nvSpPr>
          <p:cNvPr id="18" name="Shape 16"/>
          <p:cNvSpPr/>
          <p:nvPr/>
        </p:nvSpPr>
        <p:spPr>
          <a:xfrm>
            <a:off x="8631936" y="5092809"/>
            <a:ext cx="493776" cy="493776"/>
          </a:xfrm>
          <a:prstGeom prst="ellipse">
            <a:avLst/>
          </a:prstGeom>
          <a:solidFill>
            <a:srgbClr val="FCFCFA"/>
          </a:solidFill>
          <a:ln w="15240">
            <a:solidFill>
              <a:srgbClr val="8C3A2B"/>
            </a:solidFill>
            <a:prstDash val="solid"/>
          </a:ln>
        </p:spPr>
      </p:sp>
      <p:sp>
        <p:nvSpPr>
          <p:cNvPr id="19" name="Text 17"/>
          <p:cNvSpPr txBox="1"/>
          <p:nvPr/>
        </p:nvSpPr>
        <p:spPr>
          <a:xfrm>
            <a:off x="8631936" y="5092809"/>
            <a:ext cx="493776" cy="493776"/>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9061704" y="5464430"/>
            <a:ext cx="1298448" cy="274320"/>
          </a:xfrm>
          <a:prstGeom prst="rect">
            <a:avLst/>
          </a:prstGeom>
          <a:noFill/>
          <a:ln/>
        </p:spPr>
        <p:txBody>
          <a:bodyPr wrap="square" lIns="0" tIns="0" rIns="0" bIns="0" rtlCol="0" anchor="t"/>
          <a:lstStyle/>
          <a:p>
            <a:pPr algn="l" indent="0" marL="0">
              <a:lnSpc>
                <a:spcPts val="1500"/>
              </a:lnSpc>
              <a:buNone/>
            </a:pPr>
            <a:r>
              <a:rPr lang="en-US" sz="1150" b="1" dirty="0">
                <a:solidFill>
                  <a:srgbClr val="16161A"/>
                </a:solidFill>
                <a:latin typeface="Cambria" pitchFamily="34" charset="0"/>
                <a:ea typeface="Cambria" pitchFamily="34" charset="-122"/>
                <a:cs typeface="Cambria" pitchFamily="34" charset="-120"/>
              </a:rPr>
              <a:t>Satış süreçleri</a:t>
            </a:r>
            <a:endParaRPr lang="en-US" sz="1150" dirty="0"/>
          </a:p>
        </p:txBody>
      </p:sp>
      <p:sp>
        <p:nvSpPr>
          <p:cNvPr id="21" name="Text 19"/>
          <p:cNvSpPr txBox="1"/>
          <p:nvPr/>
        </p:nvSpPr>
        <p:spPr>
          <a:xfrm>
            <a:off x="9061704" y="5747894"/>
            <a:ext cx="1298448" cy="292608"/>
          </a:xfrm>
          <a:prstGeom prst="rect">
            <a:avLst/>
          </a:prstGeom>
          <a:noFill/>
          <a:ln/>
        </p:spPr>
        <p:txBody>
          <a:bodyPr wrap="square" lIns="0" tIns="0" rIns="0" bIns="0" rtlCol="0" anchor="ctr"/>
          <a:lstStyle/>
          <a:p>
            <a:pPr algn="l" indent="0" marL="0">
              <a:lnSpc>
                <a:spcPts val="1050"/>
              </a:lnSpc>
              <a:buNone/>
            </a:pPr>
            <a:r>
              <a:rPr lang="en-US" sz="850" dirty="0">
                <a:solidFill>
                  <a:srgbClr val="7A7A82"/>
                </a:solidFill>
                <a:latin typeface="Calibri" pitchFamily="34" charset="0"/>
                <a:ea typeface="Calibri" pitchFamily="34" charset="-122"/>
                <a:cs typeface="Calibri" pitchFamily="34" charset="-120"/>
              </a:rPr>
              <a:t>nasıl satıyor, nasıl ödenir</a:t>
            </a:r>
            <a:endParaRPr lang="en-US" sz="850" dirty="0"/>
          </a:p>
        </p:txBody>
      </p:sp>
      <p:sp>
        <p:nvSpPr>
          <p:cNvPr id="22" name="Shape 20"/>
          <p:cNvSpPr/>
          <p:nvPr/>
        </p:nvSpPr>
        <p:spPr>
          <a:xfrm>
            <a:off x="7443216" y="4531966"/>
            <a:ext cx="329184" cy="570163"/>
          </a:xfrm>
          <a:prstGeom prst="line">
            <a:avLst/>
          </a:prstGeom>
          <a:noFill/>
          <a:ln w="10795">
            <a:solidFill>
              <a:srgbClr val="EDEDF0"/>
            </a:solidFill>
            <a:prstDash val="solid"/>
          </a:ln>
        </p:spPr>
      </p:sp>
      <p:sp>
        <p:nvSpPr>
          <p:cNvPr id="23" name="Shape 21"/>
          <p:cNvSpPr/>
          <p:nvPr/>
        </p:nvSpPr>
        <p:spPr>
          <a:xfrm>
            <a:off x="7059168" y="5092809"/>
            <a:ext cx="493776" cy="493776"/>
          </a:xfrm>
          <a:prstGeom prst="ellipse">
            <a:avLst/>
          </a:prstGeom>
          <a:solidFill>
            <a:srgbClr val="FCFCFA"/>
          </a:solidFill>
          <a:ln w="15240">
            <a:solidFill>
              <a:srgbClr val="8C3A2B"/>
            </a:solidFill>
            <a:prstDash val="solid"/>
          </a:ln>
        </p:spPr>
      </p:sp>
      <p:sp>
        <p:nvSpPr>
          <p:cNvPr id="24" name="Text 22"/>
          <p:cNvSpPr txBox="1"/>
          <p:nvPr/>
        </p:nvSpPr>
        <p:spPr>
          <a:xfrm>
            <a:off x="7059168" y="5092809"/>
            <a:ext cx="493776" cy="493776"/>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5824728" y="5345558"/>
            <a:ext cx="1298448" cy="402336"/>
          </a:xfrm>
          <a:prstGeom prst="rect">
            <a:avLst/>
          </a:prstGeom>
          <a:noFill/>
          <a:ln/>
        </p:spPr>
        <p:txBody>
          <a:bodyPr wrap="square" lIns="0" tIns="0" rIns="0" bIns="0" rtlCol="0" anchor="t"/>
          <a:lstStyle/>
          <a:p>
            <a:pPr algn="r" indent="0" marL="0">
              <a:lnSpc>
                <a:spcPts val="1500"/>
              </a:lnSpc>
              <a:buNone/>
            </a:pPr>
            <a:r>
              <a:rPr lang="en-US" sz="1150" b="1" dirty="0">
                <a:solidFill>
                  <a:srgbClr val="16161A"/>
                </a:solidFill>
                <a:latin typeface="Cambria" pitchFamily="34" charset="0"/>
                <a:ea typeface="Cambria" pitchFamily="34" charset="-122"/>
                <a:cs typeface="Cambria" pitchFamily="34" charset="-120"/>
              </a:rPr>
              <a:t>Fiziksel ve</a:t>
            </a:r>
            <a:endParaRPr lang="en-US" sz="1150" dirty="0"/>
          </a:p>
          <a:p>
            <a:pPr algn="r" indent="0" marL="0">
              <a:lnSpc>
                <a:spcPts val="1500"/>
              </a:lnSpc>
              <a:buNone/>
            </a:pPr>
            <a:r>
              <a:rPr lang="en-US" sz="1150" b="1" dirty="0">
                <a:solidFill>
                  <a:srgbClr val="16161A"/>
                </a:solidFill>
                <a:latin typeface="Cambria" pitchFamily="34" charset="0"/>
                <a:ea typeface="Cambria" pitchFamily="34" charset="-122"/>
                <a:cs typeface="Cambria" pitchFamily="34" charset="-120"/>
              </a:rPr>
              <a:t>sanal mekânlar</a:t>
            </a:r>
            <a:endParaRPr lang="en-US" sz="1150" dirty="0"/>
          </a:p>
        </p:txBody>
      </p:sp>
      <p:sp>
        <p:nvSpPr>
          <p:cNvPr id="26" name="Text 24"/>
          <p:cNvSpPr txBox="1"/>
          <p:nvPr/>
        </p:nvSpPr>
        <p:spPr>
          <a:xfrm>
            <a:off x="5824728" y="5766182"/>
            <a:ext cx="1298448" cy="292608"/>
          </a:xfrm>
          <a:prstGeom prst="rect">
            <a:avLst/>
          </a:prstGeom>
          <a:noFill/>
          <a:ln/>
        </p:spPr>
        <p:txBody>
          <a:bodyPr wrap="square" lIns="0" tIns="0" rIns="0" bIns="0" rtlCol="0" anchor="ctr"/>
          <a:lstStyle/>
          <a:p>
            <a:pPr algn="r" indent="0" marL="0">
              <a:lnSpc>
                <a:spcPts val="1050"/>
              </a:lnSpc>
              <a:buNone/>
            </a:pPr>
            <a:r>
              <a:rPr lang="en-US" sz="850" dirty="0">
                <a:solidFill>
                  <a:srgbClr val="7A7A82"/>
                </a:solidFill>
                <a:latin typeface="Calibri" pitchFamily="34" charset="0"/>
                <a:ea typeface="Calibri" pitchFamily="34" charset="-122"/>
                <a:cs typeface="Calibri" pitchFamily="34" charset="-120"/>
              </a:rPr>
              <a:t>mağaza, vitrin, web</a:t>
            </a:r>
            <a:endParaRPr lang="en-US" sz="850" dirty="0"/>
          </a:p>
        </p:txBody>
      </p:sp>
      <p:sp>
        <p:nvSpPr>
          <p:cNvPr id="27" name="Shape 25"/>
          <p:cNvSpPr/>
          <p:nvPr/>
        </p:nvSpPr>
        <p:spPr>
          <a:xfrm>
            <a:off x="6793992" y="3977640"/>
            <a:ext cx="658368" cy="0"/>
          </a:xfrm>
          <a:prstGeom prst="line">
            <a:avLst/>
          </a:prstGeom>
          <a:noFill/>
          <a:ln w="10795">
            <a:solidFill>
              <a:srgbClr val="EDEDF0"/>
            </a:solidFill>
            <a:prstDash val="solid"/>
          </a:ln>
        </p:spPr>
      </p:sp>
      <p:sp>
        <p:nvSpPr>
          <p:cNvPr id="28" name="Shape 26"/>
          <p:cNvSpPr/>
          <p:nvPr/>
        </p:nvSpPr>
        <p:spPr>
          <a:xfrm>
            <a:off x="6272784" y="3730752"/>
            <a:ext cx="493776" cy="493776"/>
          </a:xfrm>
          <a:prstGeom prst="ellipse">
            <a:avLst/>
          </a:prstGeom>
          <a:solidFill>
            <a:srgbClr val="FCFCFA"/>
          </a:solidFill>
          <a:ln w="15240">
            <a:solidFill>
              <a:srgbClr val="8C3A2B"/>
            </a:solidFill>
            <a:prstDash val="solid"/>
          </a:ln>
        </p:spPr>
      </p:sp>
      <p:sp>
        <p:nvSpPr>
          <p:cNvPr id="29" name="Text 27"/>
          <p:cNvSpPr txBox="1"/>
          <p:nvPr/>
        </p:nvSpPr>
        <p:spPr>
          <a:xfrm>
            <a:off x="6272784" y="3730752"/>
            <a:ext cx="493776" cy="493776"/>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4855464" y="3666744"/>
            <a:ext cx="1298448" cy="402336"/>
          </a:xfrm>
          <a:prstGeom prst="rect">
            <a:avLst/>
          </a:prstGeom>
          <a:noFill/>
          <a:ln/>
        </p:spPr>
        <p:txBody>
          <a:bodyPr wrap="square" lIns="0" tIns="0" rIns="0" bIns="0" rtlCol="0" anchor="t"/>
          <a:lstStyle/>
          <a:p>
            <a:pPr algn="r" indent="0" marL="0">
              <a:lnSpc>
                <a:spcPts val="1500"/>
              </a:lnSpc>
              <a:buNone/>
            </a:pPr>
            <a:r>
              <a:rPr lang="en-US" sz="1150" b="1" dirty="0">
                <a:solidFill>
                  <a:srgbClr val="16161A"/>
                </a:solidFill>
                <a:latin typeface="Cambria" pitchFamily="34" charset="0"/>
                <a:ea typeface="Cambria" pitchFamily="34" charset="-122"/>
                <a:cs typeface="Cambria" pitchFamily="34" charset="-120"/>
              </a:rPr>
              <a:t>Farkındalık</a:t>
            </a:r>
            <a:endParaRPr lang="en-US" sz="1150" dirty="0"/>
          </a:p>
          <a:p>
            <a:pPr algn="r" indent="0" marL="0">
              <a:lnSpc>
                <a:spcPts val="1500"/>
              </a:lnSpc>
              <a:buNone/>
            </a:pPr>
            <a:r>
              <a:rPr lang="en-US" sz="1150" b="1" dirty="0">
                <a:solidFill>
                  <a:srgbClr val="16161A"/>
                </a:solidFill>
                <a:latin typeface="Cambria" pitchFamily="34" charset="0"/>
                <a:ea typeface="Cambria" pitchFamily="34" charset="-122"/>
                <a:cs typeface="Cambria" pitchFamily="34" charset="-120"/>
              </a:rPr>
              <a:t>stratejisi</a:t>
            </a:r>
            <a:endParaRPr lang="en-US" sz="1150" dirty="0"/>
          </a:p>
        </p:txBody>
      </p:sp>
      <p:sp>
        <p:nvSpPr>
          <p:cNvPr id="31" name="Text 29"/>
          <p:cNvSpPr txBox="1"/>
          <p:nvPr/>
        </p:nvSpPr>
        <p:spPr>
          <a:xfrm>
            <a:off x="4855464" y="4087368"/>
            <a:ext cx="1298448" cy="292608"/>
          </a:xfrm>
          <a:prstGeom prst="rect">
            <a:avLst/>
          </a:prstGeom>
          <a:noFill/>
          <a:ln/>
        </p:spPr>
        <p:txBody>
          <a:bodyPr wrap="square" lIns="0" tIns="0" rIns="0" bIns="0" rtlCol="0" anchor="ctr"/>
          <a:lstStyle/>
          <a:p>
            <a:pPr algn="r" indent="0" marL="0">
              <a:lnSpc>
                <a:spcPts val="1050"/>
              </a:lnSpc>
              <a:buNone/>
            </a:pPr>
            <a:r>
              <a:rPr lang="en-US" sz="850" dirty="0">
                <a:solidFill>
                  <a:srgbClr val="7A7A82"/>
                </a:solidFill>
                <a:latin typeface="Calibri" pitchFamily="34" charset="0"/>
                <a:ea typeface="Calibri" pitchFamily="34" charset="-122"/>
                <a:cs typeface="Calibri" pitchFamily="34" charset="-120"/>
              </a:rPr>
              <a:t>nasıl duyuluyor</a:t>
            </a:r>
            <a:endParaRPr lang="en-US" sz="850" dirty="0"/>
          </a:p>
        </p:txBody>
      </p:sp>
      <p:sp>
        <p:nvSpPr>
          <p:cNvPr id="32" name="Shape 30"/>
          <p:cNvSpPr/>
          <p:nvPr/>
        </p:nvSpPr>
        <p:spPr>
          <a:xfrm>
            <a:off x="7443216" y="2853151"/>
            <a:ext cx="329184" cy="570163"/>
          </a:xfrm>
          <a:prstGeom prst="line">
            <a:avLst/>
          </a:prstGeom>
          <a:noFill/>
          <a:ln w="10795">
            <a:solidFill>
              <a:srgbClr val="EDEDF0"/>
            </a:solidFill>
            <a:prstDash val="solid"/>
          </a:ln>
        </p:spPr>
      </p:sp>
      <p:sp>
        <p:nvSpPr>
          <p:cNvPr id="33" name="Shape 31"/>
          <p:cNvSpPr/>
          <p:nvPr/>
        </p:nvSpPr>
        <p:spPr>
          <a:xfrm>
            <a:off x="7059168" y="2368695"/>
            <a:ext cx="493776" cy="493776"/>
          </a:xfrm>
          <a:prstGeom prst="ellipse">
            <a:avLst/>
          </a:prstGeom>
          <a:solidFill>
            <a:srgbClr val="FCFCFA"/>
          </a:solidFill>
          <a:ln w="15240">
            <a:solidFill>
              <a:srgbClr val="8C3A2B"/>
            </a:solidFill>
            <a:prstDash val="solid"/>
          </a:ln>
        </p:spPr>
      </p:sp>
      <p:sp>
        <p:nvSpPr>
          <p:cNvPr id="34" name="Text 32"/>
          <p:cNvSpPr txBox="1"/>
          <p:nvPr/>
        </p:nvSpPr>
        <p:spPr>
          <a:xfrm>
            <a:off x="7059168" y="2368695"/>
            <a:ext cx="493776" cy="493776"/>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6</a:t>
            </a:r>
            <a:endParaRPr lang="en-US" sz="1100" dirty="0"/>
          </a:p>
        </p:txBody>
      </p:sp>
      <p:sp>
        <p:nvSpPr>
          <p:cNvPr id="35" name="Text 33"/>
          <p:cNvSpPr txBox="1"/>
          <p:nvPr/>
        </p:nvSpPr>
        <p:spPr>
          <a:xfrm>
            <a:off x="5824728" y="2106802"/>
            <a:ext cx="1298448" cy="274320"/>
          </a:xfrm>
          <a:prstGeom prst="rect">
            <a:avLst/>
          </a:prstGeom>
          <a:noFill/>
          <a:ln/>
        </p:spPr>
        <p:txBody>
          <a:bodyPr wrap="square" lIns="0" tIns="0" rIns="0" bIns="0" rtlCol="0" anchor="t"/>
          <a:lstStyle/>
          <a:p>
            <a:pPr algn="r" indent="0" marL="0">
              <a:lnSpc>
                <a:spcPts val="1500"/>
              </a:lnSpc>
              <a:buNone/>
            </a:pPr>
            <a:r>
              <a:rPr lang="en-US" sz="1150" b="1" dirty="0">
                <a:solidFill>
                  <a:srgbClr val="16161A"/>
                </a:solidFill>
                <a:latin typeface="Cambria" pitchFamily="34" charset="0"/>
                <a:ea typeface="Cambria" pitchFamily="34" charset="-122"/>
                <a:cs typeface="Cambria" pitchFamily="34" charset="-120"/>
              </a:rPr>
              <a:t>İnsan ve kültür</a:t>
            </a:r>
            <a:endParaRPr lang="en-US" sz="1150" dirty="0"/>
          </a:p>
        </p:txBody>
      </p:sp>
      <p:sp>
        <p:nvSpPr>
          <p:cNvPr id="36" name="Text 34"/>
          <p:cNvSpPr txBox="1"/>
          <p:nvPr/>
        </p:nvSpPr>
        <p:spPr>
          <a:xfrm>
            <a:off x="5824728" y="2390266"/>
            <a:ext cx="1298448" cy="292608"/>
          </a:xfrm>
          <a:prstGeom prst="rect">
            <a:avLst/>
          </a:prstGeom>
          <a:noFill/>
          <a:ln/>
        </p:spPr>
        <p:txBody>
          <a:bodyPr wrap="square" lIns="0" tIns="0" rIns="0" bIns="0" rtlCol="0" anchor="ctr"/>
          <a:lstStyle/>
          <a:p>
            <a:pPr algn="r" indent="0" marL="0">
              <a:lnSpc>
                <a:spcPts val="1050"/>
              </a:lnSpc>
              <a:buNone/>
            </a:pPr>
            <a:r>
              <a:rPr lang="en-US" sz="850" dirty="0">
                <a:solidFill>
                  <a:srgbClr val="7A7A82"/>
                </a:solidFill>
                <a:latin typeface="Calibri" pitchFamily="34" charset="0"/>
                <a:ea typeface="Calibri" pitchFamily="34" charset="-122"/>
                <a:cs typeface="Calibri" pitchFamily="34" charset="-120"/>
              </a:rPr>
              <a:t>kim çalışıyor, nasıl davranıyor</a:t>
            </a:r>
            <a:endParaRPr lang="en-US" sz="850" dirty="0"/>
          </a:p>
        </p:txBody>
      </p:sp>
      <p:sp>
        <p:nvSpPr>
          <p:cNvPr id="37" name="Shape 35"/>
          <p:cNvSpPr/>
          <p:nvPr/>
        </p:nvSpPr>
        <p:spPr>
          <a:xfrm>
            <a:off x="7479792" y="3364992"/>
            <a:ext cx="1225296" cy="1225296"/>
          </a:xfrm>
          <a:prstGeom prst="ellipse">
            <a:avLst/>
          </a:prstGeom>
          <a:solidFill>
            <a:srgbClr val="F6EAE6"/>
          </a:solidFill>
          <a:ln w="19050">
            <a:solidFill>
              <a:srgbClr val="8C3A2B"/>
            </a:solidFill>
            <a:prstDash val="solid"/>
          </a:ln>
        </p:spPr>
      </p:sp>
      <p:sp>
        <p:nvSpPr>
          <p:cNvPr id="38" name="Text 36"/>
          <p:cNvSpPr txBox="1"/>
          <p:nvPr/>
        </p:nvSpPr>
        <p:spPr>
          <a:xfrm>
            <a:off x="7479792" y="3630168"/>
            <a:ext cx="1225296" cy="694944"/>
          </a:xfrm>
          <a:prstGeom prst="rect">
            <a:avLst/>
          </a:prstGeom>
          <a:noFill/>
          <a:ln/>
        </p:spPr>
        <p:txBody>
          <a:bodyPr wrap="square" lIns="0" tIns="0" rIns="0" bIns="0" rtlCol="0" anchor="ctr"/>
          <a:lstStyle/>
          <a:p>
            <a:pPr algn="ctr" indent="0" marL="0">
              <a:lnSpc>
                <a:spcPts val="1700"/>
              </a:lnSpc>
              <a:buNone/>
            </a:pPr>
            <a:r>
              <a:rPr lang="en-US" sz="1400" b="1" dirty="0">
                <a:solidFill>
                  <a:srgbClr val="8C3A2B"/>
                </a:solidFill>
                <a:latin typeface="Cambria" pitchFamily="34" charset="0"/>
                <a:ea typeface="Cambria" pitchFamily="34" charset="-122"/>
                <a:cs typeface="Cambria" pitchFamily="34" charset="-120"/>
              </a:rPr>
              <a:t>MARKA</a:t>
            </a:r>
            <a:endParaRPr lang="en-US" sz="1400" dirty="0"/>
          </a:p>
          <a:p>
            <a:pPr algn="ctr" indent="0" marL="0">
              <a:lnSpc>
                <a:spcPts val="1700"/>
              </a:lnSpc>
              <a:buNone/>
            </a:pPr>
            <a:r>
              <a:rPr lang="en-US" sz="1400" b="1" dirty="0">
                <a:solidFill>
                  <a:srgbClr val="8C3A2B"/>
                </a:solidFill>
                <a:latin typeface="Cambria" pitchFamily="34" charset="0"/>
                <a:ea typeface="Cambria" pitchFamily="34" charset="-122"/>
                <a:cs typeface="Cambria" pitchFamily="34" charset="-120"/>
              </a:rPr>
              <a:t>DENEYİMİ</a:t>
            </a:r>
            <a:endParaRPr lang="en-US" sz="1400" dirty="0"/>
          </a:p>
        </p:txBody>
      </p:sp>
      <p:sp>
        <p:nvSpPr>
          <p:cNvPr id="39" name="Text 37"/>
          <p:cNvSpPr txBox="1"/>
          <p:nvPr/>
        </p:nvSpPr>
        <p:spPr>
          <a:xfrm>
            <a:off x="777240" y="3227832"/>
            <a:ext cx="1810512"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BİZİ EN ÇOK İLGİLENDİREN İKİSİ</a:t>
            </a:r>
            <a:endParaRPr lang="en-US" sz="900" dirty="0"/>
          </a:p>
        </p:txBody>
      </p:sp>
      <p:sp>
        <p:nvSpPr>
          <p:cNvPr id="40" name="Shape 38"/>
          <p:cNvSpPr/>
          <p:nvPr/>
        </p:nvSpPr>
        <p:spPr>
          <a:xfrm>
            <a:off x="2660904" y="3346704"/>
            <a:ext cx="2048256" cy="0"/>
          </a:xfrm>
          <a:prstGeom prst="line">
            <a:avLst/>
          </a:prstGeom>
          <a:noFill/>
          <a:ln w="9525">
            <a:solidFill>
              <a:srgbClr val="EBD7D1"/>
            </a:solidFill>
            <a:prstDash val="solid"/>
          </a:ln>
        </p:spPr>
      </p:sp>
      <p:sp>
        <p:nvSpPr>
          <p:cNvPr id="41" name="Shape 39"/>
          <p:cNvSpPr/>
          <p:nvPr/>
        </p:nvSpPr>
        <p:spPr>
          <a:xfrm>
            <a:off x="777240" y="3566160"/>
            <a:ext cx="3931920" cy="960120"/>
          </a:xfrm>
          <a:prstGeom prst="rect">
            <a:avLst/>
          </a:prstGeom>
          <a:solidFill>
            <a:srgbClr val="F6EAE6"/>
          </a:solidFill>
          <a:ln w="15875">
            <a:solidFill>
              <a:srgbClr val="8C3A2B"/>
            </a:solidFill>
            <a:prstDash val="solid"/>
          </a:ln>
        </p:spPr>
      </p:sp>
      <p:sp>
        <p:nvSpPr>
          <p:cNvPr id="42" name="Text 40"/>
          <p:cNvSpPr txBox="1"/>
          <p:nvPr/>
        </p:nvSpPr>
        <p:spPr>
          <a:xfrm>
            <a:off x="941832" y="3675888"/>
            <a:ext cx="36027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Fiziksel ve sanal mekânlar</a:t>
            </a:r>
            <a:endParaRPr lang="en-US" sz="1350" dirty="0"/>
          </a:p>
        </p:txBody>
      </p:sp>
      <p:sp>
        <p:nvSpPr>
          <p:cNvPr id="43" name="Text 41"/>
          <p:cNvSpPr txBox="1"/>
          <p:nvPr/>
        </p:nvSpPr>
        <p:spPr>
          <a:xfrm>
            <a:off x="941832" y="3959352"/>
            <a:ext cx="3602736" cy="512064"/>
          </a:xfrm>
          <a:prstGeom prst="rect">
            <a:avLst/>
          </a:prstGeom>
          <a:noFill/>
          <a:ln/>
        </p:spPr>
        <p:txBody>
          <a:bodyPr wrap="square" lIns="0" tIns="0" rIns="0" bIns="0" rtlCol="0" anchor="ctr"/>
          <a:lstStyle/>
          <a:p>
            <a:pPr indent="0" marL="0">
              <a:lnSpc>
                <a:spcPts val="1250"/>
              </a:lnSpc>
              <a:buNone/>
            </a:pPr>
            <a:r>
              <a:rPr lang="en-US" sz="1000" dirty="0">
                <a:solidFill>
                  <a:srgbClr val="8C3A2B"/>
                </a:solidFill>
                <a:latin typeface="Calibri" pitchFamily="34" charset="0"/>
                <a:ea typeface="Calibri" pitchFamily="34" charset="-122"/>
                <a:cs typeface="Calibri" pitchFamily="34" charset="-120"/>
              </a:rPr>
              <a:t>Mağaza, vitrin, teşhir, dijital arayüz. Dönem projesinin tamamı bu bileşenin içinde.</a:t>
            </a:r>
            <a:endParaRPr lang="en-US" sz="1000" dirty="0"/>
          </a:p>
        </p:txBody>
      </p:sp>
      <p:sp>
        <p:nvSpPr>
          <p:cNvPr id="44" name="Shape 42"/>
          <p:cNvSpPr/>
          <p:nvPr/>
        </p:nvSpPr>
        <p:spPr>
          <a:xfrm>
            <a:off x="777240" y="4654296"/>
            <a:ext cx="3931920" cy="960120"/>
          </a:xfrm>
          <a:prstGeom prst="rect">
            <a:avLst/>
          </a:prstGeom>
          <a:solidFill>
            <a:srgbClr val="F6EAE6"/>
          </a:solidFill>
          <a:ln w="15875">
            <a:solidFill>
              <a:srgbClr val="8C3A2B"/>
            </a:solidFill>
            <a:prstDash val="solid"/>
          </a:ln>
        </p:spPr>
      </p:sp>
      <p:sp>
        <p:nvSpPr>
          <p:cNvPr id="45" name="Text 43"/>
          <p:cNvSpPr txBox="1"/>
          <p:nvPr/>
        </p:nvSpPr>
        <p:spPr>
          <a:xfrm>
            <a:off x="941832" y="4764024"/>
            <a:ext cx="3602736" cy="274320"/>
          </a:xfrm>
          <a:prstGeom prst="rect">
            <a:avLst/>
          </a:prstGeom>
          <a:noFill/>
          <a:ln/>
        </p:spPr>
        <p:txBody>
          <a:bodyPr wrap="square" lIns="0" tIns="0" rIns="0" bIns="0" rtlCol="0" anchor="ctr"/>
          <a:lstStyle/>
          <a:p>
            <a:pPr indent="0" marL="0">
              <a:buNone/>
            </a:pPr>
            <a:r>
              <a:rPr lang="en-US" sz="1350" b="1" dirty="0">
                <a:solidFill>
                  <a:srgbClr val="8C3A2B"/>
                </a:solidFill>
                <a:latin typeface="Cambria" pitchFamily="34" charset="0"/>
                <a:ea typeface="Cambria" pitchFamily="34" charset="-122"/>
                <a:cs typeface="Cambria" pitchFamily="34" charset="-120"/>
              </a:rPr>
              <a:t>İnsan ve kültür</a:t>
            </a:r>
            <a:endParaRPr lang="en-US" sz="1350" dirty="0"/>
          </a:p>
        </p:txBody>
      </p:sp>
      <p:sp>
        <p:nvSpPr>
          <p:cNvPr id="46" name="Text 44"/>
          <p:cNvSpPr txBox="1"/>
          <p:nvPr/>
        </p:nvSpPr>
        <p:spPr>
          <a:xfrm>
            <a:off x="941832" y="5047488"/>
            <a:ext cx="3602736" cy="512064"/>
          </a:xfrm>
          <a:prstGeom prst="rect">
            <a:avLst/>
          </a:prstGeom>
          <a:noFill/>
          <a:ln/>
        </p:spPr>
        <p:txBody>
          <a:bodyPr wrap="square" lIns="0" tIns="0" rIns="0" bIns="0" rtlCol="0" anchor="ctr"/>
          <a:lstStyle/>
          <a:p>
            <a:pPr indent="0" marL="0">
              <a:lnSpc>
                <a:spcPts val="1250"/>
              </a:lnSpc>
              <a:buNone/>
            </a:pPr>
            <a:r>
              <a:rPr lang="en-US" sz="1000" dirty="0">
                <a:solidFill>
                  <a:srgbClr val="8C3A2B"/>
                </a:solidFill>
                <a:latin typeface="Calibri" pitchFamily="34" charset="0"/>
                <a:ea typeface="Calibri" pitchFamily="34" charset="-122"/>
                <a:cs typeface="Calibri" pitchFamily="34" charset="-120"/>
              </a:rPr>
              <a:t>Çalışanın davranışı bir mekân kararıdır: danışma noktası mı, serbest dolaşım mı?</a:t>
            </a:r>
            <a:endParaRPr lang="en-US" sz="1000" dirty="0"/>
          </a:p>
        </p:txBody>
      </p:sp>
      <p:sp>
        <p:nvSpPr>
          <p:cNvPr id="47" name="Text 45"/>
          <p:cNvSpPr txBox="1"/>
          <p:nvPr/>
        </p:nvSpPr>
        <p:spPr>
          <a:xfrm>
            <a:off x="777240" y="5742432"/>
            <a:ext cx="3931920" cy="365760"/>
          </a:xfrm>
          <a:prstGeom prst="rect">
            <a:avLst/>
          </a:prstGeom>
          <a:noFill/>
          <a:ln/>
        </p:spPr>
        <p:txBody>
          <a:bodyPr wrap="square" lIns="0" tIns="0" rIns="0" bIns="0" rtlCol="0" anchor="ctr"/>
          <a:lstStyle/>
          <a:p>
            <a:pPr algn="l" indent="0" marL="0">
              <a:lnSpc>
                <a:spcPts val="1400"/>
              </a:lnSpc>
              <a:buNone/>
            </a:pPr>
            <a:r>
              <a:rPr lang="en-US" sz="1100" i="1" dirty="0">
                <a:solidFill>
                  <a:srgbClr val="7A7A82"/>
                </a:solidFill>
                <a:latin typeface="Cambria" pitchFamily="34" charset="0"/>
                <a:ea typeface="Cambria" pitchFamily="34" charset="-122"/>
                <a:cs typeface="Cambria" pitchFamily="34" charset="-120"/>
              </a:rPr>
              <a:t>Kalan dördü tasarımın konusu değil ama girdisidir.</a:t>
            </a:r>
            <a:endParaRPr lang="en-US" sz="1100" dirty="0"/>
          </a:p>
        </p:txBody>
      </p:sp>
      <p:sp>
        <p:nvSpPr>
          <p:cNvPr id="48" name="Text 46"/>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Wheeler (2017), Bükülmez vd. (2025) içinde aktarıldığı biçimiyle.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 · KİMLİK OKUMA</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Kimlik nereden okunur? Yedi kanıt kaynağı</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7</a:t>
            </a:r>
            <a:endParaRPr lang="en-US" sz="900" dirty="0"/>
          </a:p>
        </p:txBody>
      </p:sp>
      <p:sp>
        <p:nvSpPr>
          <p:cNvPr id="6" name="Text 4"/>
          <p:cNvSpPr txBox="1"/>
          <p:nvPr/>
        </p:nvSpPr>
        <p:spPr>
          <a:xfrm>
            <a:off x="777240" y="1700784"/>
            <a:ext cx="3886200" cy="1234440"/>
          </a:xfrm>
          <a:prstGeom prst="rect">
            <a:avLst/>
          </a:prstGeom>
          <a:noFill/>
          <a:ln/>
        </p:spPr>
        <p:txBody>
          <a:bodyPr wrap="square" lIns="0" tIns="0" rIns="0" bIns="0" rtlCol="0" anchor="ctr"/>
          <a:lstStyle/>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Marka kimliği tahminle değil kanıtla çıkarılır. Yedi kaynak birbirini doğrular ya da çürütür; ikisi çelişiyorsa markanın kendisi hakkında bir şey öğrenmiş olursunuz.</a:t>
            </a:r>
            <a:endParaRPr lang="en-US" sz="1300" dirty="0"/>
          </a:p>
        </p:txBody>
      </p:sp>
      <p:sp>
        <p:nvSpPr>
          <p:cNvPr id="7" name="Shape 5"/>
          <p:cNvSpPr/>
          <p:nvPr/>
        </p:nvSpPr>
        <p:spPr>
          <a:xfrm>
            <a:off x="8092440" y="2670048"/>
            <a:ext cx="0" cy="685800"/>
          </a:xfrm>
          <a:prstGeom prst="line">
            <a:avLst/>
          </a:prstGeom>
          <a:noFill/>
          <a:ln w="10795">
            <a:solidFill>
              <a:srgbClr val="EDEDF0"/>
            </a:solidFill>
            <a:prstDash val="solid"/>
          </a:ln>
        </p:spPr>
      </p:sp>
      <p:sp>
        <p:nvSpPr>
          <p:cNvPr id="8" name="Shape 6"/>
          <p:cNvSpPr/>
          <p:nvPr/>
        </p:nvSpPr>
        <p:spPr>
          <a:xfrm>
            <a:off x="7854696" y="2167128"/>
            <a:ext cx="475488" cy="475488"/>
          </a:xfrm>
          <a:prstGeom prst="ellipse">
            <a:avLst/>
          </a:prstGeom>
          <a:solidFill>
            <a:srgbClr val="FCFCFA"/>
          </a:solidFill>
          <a:ln w="15240">
            <a:solidFill>
              <a:srgbClr val="8C3A2B"/>
            </a:solidFill>
            <a:prstDash val="solid"/>
          </a:ln>
        </p:spPr>
      </p:sp>
      <p:sp>
        <p:nvSpPr>
          <p:cNvPr id="9" name="Text 7"/>
          <p:cNvSpPr txBox="1"/>
          <p:nvPr/>
        </p:nvSpPr>
        <p:spPr>
          <a:xfrm>
            <a:off x="7854696" y="2167128"/>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7452360" y="1463040"/>
            <a:ext cx="1280160" cy="274320"/>
          </a:xfrm>
          <a:prstGeom prst="rect">
            <a:avLst/>
          </a:prstGeom>
          <a:noFill/>
          <a:ln/>
        </p:spPr>
        <p:txBody>
          <a:bodyPr wrap="square" lIns="0" tIns="0" rIns="0" bIns="0" rtlCol="0" anchor="b"/>
          <a:lstStyle/>
          <a:p>
            <a:pPr algn="ctr" indent="0" marL="0">
              <a:lnSpc>
                <a:spcPts val="1500"/>
              </a:lnSpc>
              <a:buNone/>
            </a:pPr>
            <a:r>
              <a:rPr lang="en-US" sz="1100" b="1" dirty="0">
                <a:solidFill>
                  <a:srgbClr val="16161A"/>
                </a:solidFill>
                <a:latin typeface="Cambria" pitchFamily="34" charset="0"/>
                <a:ea typeface="Cambria" pitchFamily="34" charset="-122"/>
                <a:cs typeface="Cambria" pitchFamily="34" charset="-120"/>
              </a:rPr>
              <a:t>Ürünün kendisi</a:t>
            </a:r>
            <a:endParaRPr lang="en-US" sz="1100" dirty="0"/>
          </a:p>
        </p:txBody>
      </p:sp>
      <p:sp>
        <p:nvSpPr>
          <p:cNvPr id="11" name="Text 9"/>
          <p:cNvSpPr txBox="1"/>
          <p:nvPr/>
        </p:nvSpPr>
        <p:spPr>
          <a:xfrm>
            <a:off x="7452360" y="1773936"/>
            <a:ext cx="1280160" cy="292608"/>
          </a:xfrm>
          <a:prstGeom prst="rect">
            <a:avLst/>
          </a:prstGeom>
          <a:noFill/>
          <a:ln/>
        </p:spPr>
        <p:txBody>
          <a:bodyPr wrap="square" lIns="0" tIns="0" rIns="0" bIns="0" rtlCol="0" anchor="ctr"/>
          <a:lstStyle/>
          <a:p>
            <a:pPr algn="ctr" indent="0" marL="0">
              <a:lnSpc>
                <a:spcPts val="1050"/>
              </a:lnSpc>
              <a:buNone/>
            </a:pPr>
            <a:r>
              <a:rPr lang="en-US" sz="850" dirty="0">
                <a:solidFill>
                  <a:srgbClr val="7A7A82"/>
                </a:solidFill>
                <a:latin typeface="Calibri" pitchFamily="34" charset="0"/>
                <a:ea typeface="Calibri" pitchFamily="34" charset="-122"/>
                <a:cs typeface="Calibri" pitchFamily="34" charset="-120"/>
              </a:rPr>
              <a:t>malzeme, ölçü, kırılganlık</a:t>
            </a:r>
            <a:endParaRPr lang="en-US" sz="850" dirty="0"/>
          </a:p>
        </p:txBody>
      </p:sp>
      <p:sp>
        <p:nvSpPr>
          <p:cNvPr id="12" name="Shape 10"/>
          <p:cNvSpPr/>
          <p:nvPr/>
        </p:nvSpPr>
        <p:spPr>
          <a:xfrm>
            <a:off x="8578577" y="3162370"/>
            <a:ext cx="536180" cy="427589"/>
          </a:xfrm>
          <a:prstGeom prst="line">
            <a:avLst/>
          </a:prstGeom>
          <a:noFill/>
          <a:ln w="10795">
            <a:solidFill>
              <a:srgbClr val="EDEDF0"/>
            </a:solidFill>
            <a:prstDash val="solid"/>
          </a:ln>
        </p:spPr>
      </p:sp>
      <p:sp>
        <p:nvSpPr>
          <p:cNvPr id="13" name="Shape 11"/>
          <p:cNvSpPr/>
          <p:nvPr/>
        </p:nvSpPr>
        <p:spPr>
          <a:xfrm>
            <a:off x="9084336" y="2759291"/>
            <a:ext cx="475488" cy="475488"/>
          </a:xfrm>
          <a:prstGeom prst="ellipse">
            <a:avLst/>
          </a:prstGeom>
          <a:solidFill>
            <a:srgbClr val="FCFCFA"/>
          </a:solidFill>
          <a:ln w="15240">
            <a:solidFill>
              <a:srgbClr val="8C3A2B"/>
            </a:solidFill>
            <a:prstDash val="solid"/>
          </a:ln>
        </p:spPr>
      </p:sp>
      <p:sp>
        <p:nvSpPr>
          <p:cNvPr id="14" name="Text 12"/>
          <p:cNvSpPr txBox="1"/>
          <p:nvPr/>
        </p:nvSpPr>
        <p:spPr>
          <a:xfrm>
            <a:off x="9084336" y="2759291"/>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9600893" y="2463793"/>
            <a:ext cx="1280160" cy="402336"/>
          </a:xfrm>
          <a:prstGeom prst="rect">
            <a:avLst/>
          </a:prstGeom>
          <a:noFill/>
          <a:ln/>
        </p:spPr>
        <p:txBody>
          <a:bodyPr wrap="square" lIns="0" tIns="0" rIns="0" bIns="0" rtlCol="0" anchor="t"/>
          <a:lstStyle/>
          <a:p>
            <a:pPr algn="l" indent="0" marL="0">
              <a:lnSpc>
                <a:spcPts val="1500"/>
              </a:lnSpc>
              <a:buNone/>
            </a:pPr>
            <a:r>
              <a:rPr lang="en-US" sz="1100" b="1" dirty="0">
                <a:solidFill>
                  <a:srgbClr val="16161A"/>
                </a:solidFill>
                <a:latin typeface="Cambria" pitchFamily="34" charset="0"/>
                <a:ea typeface="Cambria" pitchFamily="34" charset="-122"/>
                <a:cs typeface="Cambria" pitchFamily="34" charset="-120"/>
              </a:rPr>
              <a:t>Ambalaj ve</a:t>
            </a:r>
            <a:endParaRPr lang="en-US" sz="1100" dirty="0"/>
          </a:p>
          <a:p>
            <a:pPr algn="l" indent="0" marL="0">
              <a:lnSpc>
                <a:spcPts val="1500"/>
              </a:lnSpc>
              <a:buNone/>
            </a:pPr>
            <a:r>
              <a:rPr lang="en-US" sz="1100" b="1" dirty="0">
                <a:solidFill>
                  <a:srgbClr val="16161A"/>
                </a:solidFill>
                <a:latin typeface="Cambria" pitchFamily="34" charset="0"/>
                <a:ea typeface="Cambria" pitchFamily="34" charset="-122"/>
                <a:cs typeface="Cambria" pitchFamily="34" charset="-120"/>
              </a:rPr>
              <a:t>etiket</a:t>
            </a:r>
            <a:endParaRPr lang="en-US" sz="1100" dirty="0"/>
          </a:p>
        </p:txBody>
      </p:sp>
      <p:sp>
        <p:nvSpPr>
          <p:cNvPr id="16" name="Text 14"/>
          <p:cNvSpPr txBox="1"/>
          <p:nvPr/>
        </p:nvSpPr>
        <p:spPr>
          <a:xfrm>
            <a:off x="9600893" y="2884417"/>
            <a:ext cx="1280160" cy="292608"/>
          </a:xfrm>
          <a:prstGeom prst="rect">
            <a:avLst/>
          </a:prstGeom>
          <a:noFill/>
          <a:ln/>
        </p:spPr>
        <p:txBody>
          <a:bodyPr wrap="square" lIns="0" tIns="0" rIns="0" bIns="0" rtlCol="0" anchor="ctr"/>
          <a:lstStyle/>
          <a:p>
            <a:pPr algn="l" indent="0" marL="0">
              <a:lnSpc>
                <a:spcPts val="1050"/>
              </a:lnSpc>
              <a:buNone/>
            </a:pPr>
            <a:r>
              <a:rPr lang="en-US" sz="850" dirty="0">
                <a:solidFill>
                  <a:srgbClr val="7A7A82"/>
                </a:solidFill>
                <a:latin typeface="Calibri" pitchFamily="34" charset="0"/>
                <a:ea typeface="Calibri" pitchFamily="34" charset="-122"/>
                <a:cs typeface="Calibri" pitchFamily="34" charset="-120"/>
              </a:rPr>
              <a:t>yazı, dil, bilgi düzeyi</a:t>
            </a:r>
            <a:endParaRPr lang="en-US" sz="850" dirty="0"/>
          </a:p>
        </p:txBody>
      </p:sp>
      <p:sp>
        <p:nvSpPr>
          <p:cNvPr id="17" name="Shape 15"/>
          <p:cNvSpPr/>
          <p:nvPr/>
        </p:nvSpPr>
        <p:spPr>
          <a:xfrm>
            <a:off x="8698642" y="4116002"/>
            <a:ext cx="668606" cy="152605"/>
          </a:xfrm>
          <a:prstGeom prst="line">
            <a:avLst/>
          </a:prstGeom>
          <a:noFill/>
          <a:ln w="10795">
            <a:solidFill>
              <a:srgbClr val="EDEDF0"/>
            </a:solidFill>
            <a:prstDash val="solid"/>
          </a:ln>
        </p:spPr>
      </p:sp>
      <p:sp>
        <p:nvSpPr>
          <p:cNvPr id="18" name="Shape 16"/>
          <p:cNvSpPr/>
          <p:nvPr/>
        </p:nvSpPr>
        <p:spPr>
          <a:xfrm>
            <a:off x="9388031" y="4089870"/>
            <a:ext cx="475488" cy="475488"/>
          </a:xfrm>
          <a:prstGeom prst="ellipse">
            <a:avLst/>
          </a:prstGeom>
          <a:solidFill>
            <a:srgbClr val="FCFCFA"/>
          </a:solidFill>
          <a:ln w="15240">
            <a:solidFill>
              <a:srgbClr val="8C3A2B"/>
            </a:solidFill>
            <a:prstDash val="solid"/>
          </a:ln>
        </p:spPr>
      </p:sp>
      <p:sp>
        <p:nvSpPr>
          <p:cNvPr id="19" name="Text 17"/>
          <p:cNvSpPr txBox="1"/>
          <p:nvPr/>
        </p:nvSpPr>
        <p:spPr>
          <a:xfrm>
            <a:off x="9388031" y="4089870"/>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9973450" y="4096072"/>
            <a:ext cx="1280160" cy="402336"/>
          </a:xfrm>
          <a:prstGeom prst="rect">
            <a:avLst/>
          </a:prstGeom>
          <a:noFill/>
          <a:ln/>
        </p:spPr>
        <p:txBody>
          <a:bodyPr wrap="square" lIns="0" tIns="0" rIns="0" bIns="0" rtlCol="0" anchor="t"/>
          <a:lstStyle/>
          <a:p>
            <a:pPr algn="l" indent="0" marL="0">
              <a:lnSpc>
                <a:spcPts val="1500"/>
              </a:lnSpc>
              <a:buNone/>
            </a:pPr>
            <a:r>
              <a:rPr lang="en-US" sz="1100" b="1" dirty="0">
                <a:solidFill>
                  <a:srgbClr val="16161A"/>
                </a:solidFill>
                <a:latin typeface="Cambria" pitchFamily="34" charset="0"/>
                <a:ea typeface="Cambria" pitchFamily="34" charset="-122"/>
                <a:cs typeface="Cambria" pitchFamily="34" charset="-120"/>
              </a:rPr>
              <a:t>Var olan</a:t>
            </a:r>
            <a:endParaRPr lang="en-US" sz="1100" dirty="0"/>
          </a:p>
          <a:p>
            <a:pPr algn="l" indent="0" marL="0">
              <a:lnSpc>
                <a:spcPts val="1500"/>
              </a:lnSpc>
              <a:buNone/>
            </a:pPr>
            <a:r>
              <a:rPr lang="en-US" sz="1100" b="1" dirty="0">
                <a:solidFill>
                  <a:srgbClr val="16161A"/>
                </a:solidFill>
                <a:latin typeface="Cambria" pitchFamily="34" charset="0"/>
                <a:ea typeface="Cambria" pitchFamily="34" charset="-122"/>
                <a:cs typeface="Cambria" pitchFamily="34" charset="-120"/>
              </a:rPr>
              <a:t>dükkân</a:t>
            </a:r>
            <a:endParaRPr lang="en-US" sz="1100" dirty="0"/>
          </a:p>
        </p:txBody>
      </p:sp>
      <p:sp>
        <p:nvSpPr>
          <p:cNvPr id="21" name="Text 19"/>
          <p:cNvSpPr txBox="1"/>
          <p:nvPr/>
        </p:nvSpPr>
        <p:spPr>
          <a:xfrm>
            <a:off x="9973450" y="4516696"/>
            <a:ext cx="1280160" cy="292608"/>
          </a:xfrm>
          <a:prstGeom prst="rect">
            <a:avLst/>
          </a:prstGeom>
          <a:noFill/>
          <a:ln/>
        </p:spPr>
        <p:txBody>
          <a:bodyPr wrap="square" lIns="0" tIns="0" rIns="0" bIns="0" rtlCol="0" anchor="ctr"/>
          <a:lstStyle/>
          <a:p>
            <a:pPr algn="l" indent="0" marL="0">
              <a:lnSpc>
                <a:spcPts val="1050"/>
              </a:lnSpc>
              <a:buNone/>
            </a:pPr>
            <a:r>
              <a:rPr lang="en-US" sz="850" dirty="0">
                <a:solidFill>
                  <a:srgbClr val="7A7A82"/>
                </a:solidFill>
                <a:latin typeface="Calibri" pitchFamily="34" charset="0"/>
                <a:ea typeface="Calibri" pitchFamily="34" charset="-122"/>
                <a:cs typeface="Calibri" pitchFamily="34" charset="-120"/>
              </a:rPr>
              <a:t>varsa: neyi çözmüş, neyi çözememiş</a:t>
            </a:r>
            <a:endParaRPr lang="en-US" sz="850" dirty="0"/>
          </a:p>
        </p:txBody>
      </p:sp>
      <p:sp>
        <p:nvSpPr>
          <p:cNvPr id="22" name="Shape 20"/>
          <p:cNvSpPr/>
          <p:nvPr/>
        </p:nvSpPr>
        <p:spPr>
          <a:xfrm>
            <a:off x="8362225" y="4537855"/>
            <a:ext cx="297557" cy="617884"/>
          </a:xfrm>
          <a:prstGeom prst="line">
            <a:avLst/>
          </a:prstGeom>
          <a:noFill/>
          <a:ln w="10795">
            <a:solidFill>
              <a:srgbClr val="EDEDF0"/>
            </a:solidFill>
            <a:prstDash val="solid"/>
          </a:ln>
        </p:spPr>
      </p:sp>
      <p:sp>
        <p:nvSpPr>
          <p:cNvPr id="23" name="Shape 21"/>
          <p:cNvSpPr/>
          <p:nvPr/>
        </p:nvSpPr>
        <p:spPr>
          <a:xfrm>
            <a:off x="8537094" y="5156911"/>
            <a:ext cx="475488" cy="475488"/>
          </a:xfrm>
          <a:prstGeom prst="ellipse">
            <a:avLst/>
          </a:prstGeom>
          <a:solidFill>
            <a:srgbClr val="FCFCFA"/>
          </a:solidFill>
          <a:ln w="15240">
            <a:solidFill>
              <a:srgbClr val="8C3A2B"/>
            </a:solidFill>
            <a:prstDash val="solid"/>
          </a:ln>
        </p:spPr>
      </p:sp>
      <p:sp>
        <p:nvSpPr>
          <p:cNvPr id="24" name="Text 22"/>
          <p:cNvSpPr txBox="1"/>
          <p:nvPr/>
        </p:nvSpPr>
        <p:spPr>
          <a:xfrm>
            <a:off x="8537094" y="5156911"/>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8929568" y="5405059"/>
            <a:ext cx="1280160" cy="402336"/>
          </a:xfrm>
          <a:prstGeom prst="rect">
            <a:avLst/>
          </a:prstGeom>
          <a:noFill/>
          <a:ln/>
        </p:spPr>
        <p:txBody>
          <a:bodyPr wrap="square" lIns="0" tIns="0" rIns="0" bIns="0" rtlCol="0" anchor="t"/>
          <a:lstStyle/>
          <a:p>
            <a:pPr algn="l" indent="0" marL="0">
              <a:lnSpc>
                <a:spcPts val="1500"/>
              </a:lnSpc>
              <a:buNone/>
            </a:pPr>
            <a:r>
              <a:rPr lang="en-US" sz="1100" b="1" dirty="0">
                <a:solidFill>
                  <a:srgbClr val="16161A"/>
                </a:solidFill>
                <a:latin typeface="Cambria" pitchFamily="34" charset="0"/>
                <a:ea typeface="Cambria" pitchFamily="34" charset="-122"/>
                <a:cs typeface="Cambria" pitchFamily="34" charset="-120"/>
              </a:rPr>
              <a:t>Müşteri</a:t>
            </a:r>
            <a:endParaRPr lang="en-US" sz="1100" dirty="0"/>
          </a:p>
          <a:p>
            <a:pPr algn="l" indent="0" marL="0">
              <a:lnSpc>
                <a:spcPts val="1500"/>
              </a:lnSpc>
              <a:buNone/>
            </a:pPr>
            <a:r>
              <a:rPr lang="en-US" sz="1100" b="1" dirty="0">
                <a:solidFill>
                  <a:srgbClr val="16161A"/>
                </a:solidFill>
                <a:latin typeface="Cambria" pitchFamily="34" charset="0"/>
                <a:ea typeface="Cambria" pitchFamily="34" charset="-122"/>
                <a:cs typeface="Cambria" pitchFamily="34" charset="-120"/>
              </a:rPr>
              <a:t>yorumları</a:t>
            </a:r>
            <a:endParaRPr lang="en-US" sz="1100" dirty="0"/>
          </a:p>
        </p:txBody>
      </p:sp>
      <p:sp>
        <p:nvSpPr>
          <p:cNvPr id="26" name="Text 24"/>
          <p:cNvSpPr txBox="1"/>
          <p:nvPr/>
        </p:nvSpPr>
        <p:spPr>
          <a:xfrm>
            <a:off x="8929568" y="5825683"/>
            <a:ext cx="1280160" cy="292608"/>
          </a:xfrm>
          <a:prstGeom prst="rect">
            <a:avLst/>
          </a:prstGeom>
          <a:noFill/>
          <a:ln/>
        </p:spPr>
        <p:txBody>
          <a:bodyPr wrap="square" lIns="0" tIns="0" rIns="0" bIns="0" rtlCol="0" anchor="ctr"/>
          <a:lstStyle/>
          <a:p>
            <a:pPr algn="l" indent="0" marL="0">
              <a:lnSpc>
                <a:spcPts val="1050"/>
              </a:lnSpc>
              <a:buNone/>
            </a:pPr>
            <a:r>
              <a:rPr lang="en-US" sz="850" dirty="0">
                <a:solidFill>
                  <a:srgbClr val="7A7A82"/>
                </a:solidFill>
                <a:latin typeface="Calibri" pitchFamily="34" charset="0"/>
                <a:ea typeface="Calibri" pitchFamily="34" charset="-122"/>
                <a:cs typeface="Calibri" pitchFamily="34" charset="-120"/>
              </a:rPr>
              <a:t>neyi övüyor, neden şikâyet ediyor</a:t>
            </a:r>
            <a:endParaRPr lang="en-US" sz="850" dirty="0"/>
          </a:p>
        </p:txBody>
      </p:sp>
      <p:sp>
        <p:nvSpPr>
          <p:cNvPr id="27" name="Shape 25"/>
          <p:cNvSpPr/>
          <p:nvPr/>
        </p:nvSpPr>
        <p:spPr>
          <a:xfrm>
            <a:off x="7525097" y="4537855"/>
            <a:ext cx="297557" cy="617884"/>
          </a:xfrm>
          <a:prstGeom prst="line">
            <a:avLst/>
          </a:prstGeom>
          <a:noFill/>
          <a:ln w="10795">
            <a:solidFill>
              <a:srgbClr val="EDEDF0"/>
            </a:solidFill>
            <a:prstDash val="solid"/>
          </a:ln>
        </p:spPr>
      </p:sp>
      <p:sp>
        <p:nvSpPr>
          <p:cNvPr id="28" name="Shape 26"/>
          <p:cNvSpPr/>
          <p:nvPr/>
        </p:nvSpPr>
        <p:spPr>
          <a:xfrm>
            <a:off x="7172298" y="5156911"/>
            <a:ext cx="475488" cy="475488"/>
          </a:xfrm>
          <a:prstGeom prst="ellipse">
            <a:avLst/>
          </a:prstGeom>
          <a:solidFill>
            <a:srgbClr val="FCFCFA"/>
          </a:solidFill>
          <a:ln w="15240">
            <a:solidFill>
              <a:srgbClr val="8C3A2B"/>
            </a:solidFill>
            <a:prstDash val="solid"/>
          </a:ln>
        </p:spPr>
      </p:sp>
      <p:sp>
        <p:nvSpPr>
          <p:cNvPr id="29" name="Text 27"/>
          <p:cNvSpPr txBox="1"/>
          <p:nvPr/>
        </p:nvSpPr>
        <p:spPr>
          <a:xfrm>
            <a:off x="7172298" y="5156911"/>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5975152" y="5523931"/>
            <a:ext cx="1280160" cy="274320"/>
          </a:xfrm>
          <a:prstGeom prst="rect">
            <a:avLst/>
          </a:prstGeom>
          <a:noFill/>
          <a:ln/>
        </p:spPr>
        <p:txBody>
          <a:bodyPr wrap="square" lIns="0" tIns="0" rIns="0" bIns="0" rtlCol="0" anchor="t"/>
          <a:lstStyle/>
          <a:p>
            <a:pPr algn="r" indent="0" marL="0">
              <a:lnSpc>
                <a:spcPts val="1500"/>
              </a:lnSpc>
              <a:buNone/>
            </a:pPr>
            <a:r>
              <a:rPr lang="en-US" sz="1100" b="1" dirty="0">
                <a:solidFill>
                  <a:srgbClr val="16161A"/>
                </a:solidFill>
                <a:latin typeface="Cambria" pitchFamily="34" charset="0"/>
                <a:ea typeface="Cambria" pitchFamily="34" charset="-122"/>
                <a:cs typeface="Cambria" pitchFamily="34" charset="-120"/>
              </a:rPr>
              <a:t>Rakipler</a:t>
            </a:r>
            <a:endParaRPr lang="en-US" sz="1100" dirty="0"/>
          </a:p>
        </p:txBody>
      </p:sp>
      <p:sp>
        <p:nvSpPr>
          <p:cNvPr id="31" name="Text 29"/>
          <p:cNvSpPr txBox="1"/>
          <p:nvPr/>
        </p:nvSpPr>
        <p:spPr>
          <a:xfrm>
            <a:off x="5975152" y="5807395"/>
            <a:ext cx="1280160" cy="292608"/>
          </a:xfrm>
          <a:prstGeom prst="rect">
            <a:avLst/>
          </a:prstGeom>
          <a:noFill/>
          <a:ln/>
        </p:spPr>
        <p:txBody>
          <a:bodyPr wrap="square" lIns="0" tIns="0" rIns="0" bIns="0" rtlCol="0" anchor="ctr"/>
          <a:lstStyle/>
          <a:p>
            <a:pPr algn="r" indent="0" marL="0">
              <a:lnSpc>
                <a:spcPts val="1050"/>
              </a:lnSpc>
              <a:buNone/>
            </a:pPr>
            <a:r>
              <a:rPr lang="en-US" sz="850" dirty="0">
                <a:solidFill>
                  <a:srgbClr val="7A7A82"/>
                </a:solidFill>
                <a:latin typeface="Calibri" pitchFamily="34" charset="0"/>
                <a:ea typeface="Calibri" pitchFamily="34" charset="-122"/>
                <a:cs typeface="Calibri" pitchFamily="34" charset="-120"/>
              </a:rPr>
              <a:t>yan yana konduğu üç marka</a:t>
            </a:r>
            <a:endParaRPr lang="en-US" sz="850" dirty="0"/>
          </a:p>
        </p:txBody>
      </p:sp>
      <p:sp>
        <p:nvSpPr>
          <p:cNvPr id="32" name="Shape 30"/>
          <p:cNvSpPr/>
          <p:nvPr/>
        </p:nvSpPr>
        <p:spPr>
          <a:xfrm>
            <a:off x="6817632" y="4116002"/>
            <a:ext cx="668606" cy="152605"/>
          </a:xfrm>
          <a:prstGeom prst="line">
            <a:avLst/>
          </a:prstGeom>
          <a:noFill/>
          <a:ln w="10795">
            <a:solidFill>
              <a:srgbClr val="EDEDF0"/>
            </a:solidFill>
            <a:prstDash val="solid"/>
          </a:ln>
        </p:spPr>
      </p:sp>
      <p:sp>
        <p:nvSpPr>
          <p:cNvPr id="33" name="Shape 31"/>
          <p:cNvSpPr/>
          <p:nvPr/>
        </p:nvSpPr>
        <p:spPr>
          <a:xfrm>
            <a:off x="6321361" y="4089870"/>
            <a:ext cx="475488" cy="475488"/>
          </a:xfrm>
          <a:prstGeom prst="ellipse">
            <a:avLst/>
          </a:prstGeom>
          <a:solidFill>
            <a:srgbClr val="FCFCFA"/>
          </a:solidFill>
          <a:ln w="15240">
            <a:solidFill>
              <a:srgbClr val="8C3A2B"/>
            </a:solidFill>
            <a:prstDash val="solid"/>
          </a:ln>
        </p:spPr>
      </p:sp>
      <p:sp>
        <p:nvSpPr>
          <p:cNvPr id="34" name="Text 32"/>
          <p:cNvSpPr txBox="1"/>
          <p:nvPr/>
        </p:nvSpPr>
        <p:spPr>
          <a:xfrm>
            <a:off x="6321361" y="4089870"/>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6</a:t>
            </a:r>
            <a:endParaRPr lang="en-US" sz="1100" dirty="0"/>
          </a:p>
        </p:txBody>
      </p:sp>
      <p:sp>
        <p:nvSpPr>
          <p:cNvPr id="35" name="Text 33"/>
          <p:cNvSpPr txBox="1"/>
          <p:nvPr/>
        </p:nvSpPr>
        <p:spPr>
          <a:xfrm>
            <a:off x="4931270" y="4214944"/>
            <a:ext cx="1280160" cy="274320"/>
          </a:xfrm>
          <a:prstGeom prst="rect">
            <a:avLst/>
          </a:prstGeom>
          <a:noFill/>
          <a:ln/>
        </p:spPr>
        <p:txBody>
          <a:bodyPr wrap="square" lIns="0" tIns="0" rIns="0" bIns="0" rtlCol="0" anchor="t"/>
          <a:lstStyle/>
          <a:p>
            <a:pPr algn="r" indent="0" marL="0">
              <a:lnSpc>
                <a:spcPts val="1500"/>
              </a:lnSpc>
              <a:buNone/>
            </a:pPr>
            <a:r>
              <a:rPr lang="en-US" sz="1100" b="1" dirty="0">
                <a:solidFill>
                  <a:srgbClr val="16161A"/>
                </a:solidFill>
                <a:latin typeface="Cambria" pitchFamily="34" charset="0"/>
                <a:ea typeface="Cambria" pitchFamily="34" charset="-122"/>
                <a:cs typeface="Cambria" pitchFamily="34" charset="-120"/>
              </a:rPr>
              <a:t>Sosyal medya</a:t>
            </a:r>
            <a:endParaRPr lang="en-US" sz="1100" dirty="0"/>
          </a:p>
        </p:txBody>
      </p:sp>
      <p:sp>
        <p:nvSpPr>
          <p:cNvPr id="36" name="Text 34"/>
          <p:cNvSpPr txBox="1"/>
          <p:nvPr/>
        </p:nvSpPr>
        <p:spPr>
          <a:xfrm>
            <a:off x="4931270" y="4498408"/>
            <a:ext cx="1280160" cy="292608"/>
          </a:xfrm>
          <a:prstGeom prst="rect">
            <a:avLst/>
          </a:prstGeom>
          <a:noFill/>
          <a:ln/>
        </p:spPr>
        <p:txBody>
          <a:bodyPr wrap="square" lIns="0" tIns="0" rIns="0" bIns="0" rtlCol="0" anchor="ctr"/>
          <a:lstStyle/>
          <a:p>
            <a:pPr algn="r" indent="0" marL="0">
              <a:lnSpc>
                <a:spcPts val="1050"/>
              </a:lnSpc>
              <a:buNone/>
            </a:pPr>
            <a:r>
              <a:rPr lang="en-US" sz="850" dirty="0">
                <a:solidFill>
                  <a:srgbClr val="7A7A82"/>
                </a:solidFill>
                <a:latin typeface="Calibri" pitchFamily="34" charset="0"/>
                <a:ea typeface="Calibri" pitchFamily="34" charset="-122"/>
                <a:cs typeface="Calibri" pitchFamily="34" charset="-120"/>
              </a:rPr>
              <a:t>kime, nasıl sesleniyor</a:t>
            </a:r>
            <a:endParaRPr lang="en-US" sz="850" dirty="0"/>
          </a:p>
        </p:txBody>
      </p:sp>
      <p:sp>
        <p:nvSpPr>
          <p:cNvPr id="37" name="Shape 35"/>
          <p:cNvSpPr/>
          <p:nvPr/>
        </p:nvSpPr>
        <p:spPr>
          <a:xfrm>
            <a:off x="7070123" y="3162370"/>
            <a:ext cx="536180" cy="427589"/>
          </a:xfrm>
          <a:prstGeom prst="line">
            <a:avLst/>
          </a:prstGeom>
          <a:noFill/>
          <a:ln w="10795">
            <a:solidFill>
              <a:srgbClr val="EDEDF0"/>
            </a:solidFill>
            <a:prstDash val="solid"/>
          </a:ln>
        </p:spPr>
      </p:sp>
      <p:sp>
        <p:nvSpPr>
          <p:cNvPr id="38" name="Shape 36"/>
          <p:cNvSpPr/>
          <p:nvPr/>
        </p:nvSpPr>
        <p:spPr>
          <a:xfrm>
            <a:off x="6625056" y="2759291"/>
            <a:ext cx="475488" cy="475488"/>
          </a:xfrm>
          <a:prstGeom prst="ellipse">
            <a:avLst/>
          </a:prstGeom>
          <a:solidFill>
            <a:srgbClr val="FCFCFA"/>
          </a:solidFill>
          <a:ln w="15240">
            <a:solidFill>
              <a:srgbClr val="8C3A2B"/>
            </a:solidFill>
            <a:prstDash val="solid"/>
          </a:ln>
        </p:spPr>
      </p:sp>
      <p:sp>
        <p:nvSpPr>
          <p:cNvPr id="39" name="Text 37"/>
          <p:cNvSpPr txBox="1"/>
          <p:nvPr/>
        </p:nvSpPr>
        <p:spPr>
          <a:xfrm>
            <a:off x="6625056" y="2759291"/>
            <a:ext cx="475488" cy="475488"/>
          </a:xfrm>
          <a:prstGeom prst="rect">
            <a:avLst/>
          </a:prstGeom>
          <a:noFill/>
          <a:ln/>
        </p:spPr>
        <p:txBody>
          <a:bodyPr wrap="square" lIns="0" tIns="0" rIns="0" bIns="0" rtlCol="0" anchor="ctr"/>
          <a:lstStyle/>
          <a:p>
            <a:pPr algn="ctr" indent="0" marL="0">
              <a:buNone/>
            </a:pPr>
            <a:r>
              <a:rPr lang="en-US" sz="1100" b="1" dirty="0">
                <a:solidFill>
                  <a:srgbClr val="8C3A2B"/>
                </a:solidFill>
                <a:latin typeface="Calibri" pitchFamily="34" charset="0"/>
                <a:ea typeface="Calibri" pitchFamily="34" charset="-122"/>
                <a:cs typeface="Calibri" pitchFamily="34" charset="-120"/>
              </a:rPr>
              <a:t>7</a:t>
            </a:r>
            <a:endParaRPr lang="en-US" sz="1100" dirty="0"/>
          </a:p>
        </p:txBody>
      </p:sp>
      <p:sp>
        <p:nvSpPr>
          <p:cNvPr id="40" name="Text 38"/>
          <p:cNvSpPr txBox="1"/>
          <p:nvPr/>
        </p:nvSpPr>
        <p:spPr>
          <a:xfrm>
            <a:off x="5303827" y="2463793"/>
            <a:ext cx="1280160" cy="402336"/>
          </a:xfrm>
          <a:prstGeom prst="rect">
            <a:avLst/>
          </a:prstGeom>
          <a:noFill/>
          <a:ln/>
        </p:spPr>
        <p:txBody>
          <a:bodyPr wrap="square" lIns="0" tIns="0" rIns="0" bIns="0" rtlCol="0" anchor="t"/>
          <a:lstStyle/>
          <a:p>
            <a:pPr algn="r" indent="0" marL="0">
              <a:lnSpc>
                <a:spcPts val="1500"/>
              </a:lnSpc>
              <a:buNone/>
            </a:pPr>
            <a:r>
              <a:rPr lang="en-US" sz="1100" b="1" dirty="0">
                <a:solidFill>
                  <a:srgbClr val="16161A"/>
                </a:solidFill>
                <a:latin typeface="Cambria" pitchFamily="34" charset="0"/>
                <a:ea typeface="Cambria" pitchFamily="34" charset="-122"/>
                <a:cs typeface="Cambria" pitchFamily="34" charset="-120"/>
              </a:rPr>
              <a:t>Sahibin</a:t>
            </a:r>
            <a:endParaRPr lang="en-US" sz="1100" dirty="0"/>
          </a:p>
          <a:p>
            <a:pPr algn="r" indent="0" marL="0">
              <a:lnSpc>
                <a:spcPts val="1500"/>
              </a:lnSpc>
              <a:buNone/>
            </a:pPr>
            <a:r>
              <a:rPr lang="en-US" sz="1100" b="1" dirty="0">
                <a:solidFill>
                  <a:srgbClr val="16161A"/>
                </a:solidFill>
                <a:latin typeface="Cambria" pitchFamily="34" charset="0"/>
                <a:ea typeface="Cambria" pitchFamily="34" charset="-122"/>
                <a:cs typeface="Cambria" pitchFamily="34" charset="-120"/>
              </a:rPr>
              <a:t>anlatısı</a:t>
            </a:r>
            <a:endParaRPr lang="en-US" sz="1100" dirty="0"/>
          </a:p>
        </p:txBody>
      </p:sp>
      <p:sp>
        <p:nvSpPr>
          <p:cNvPr id="41" name="Text 39"/>
          <p:cNvSpPr txBox="1"/>
          <p:nvPr/>
        </p:nvSpPr>
        <p:spPr>
          <a:xfrm>
            <a:off x="5303827" y="2884417"/>
            <a:ext cx="1280160" cy="292608"/>
          </a:xfrm>
          <a:prstGeom prst="rect">
            <a:avLst/>
          </a:prstGeom>
          <a:noFill/>
          <a:ln/>
        </p:spPr>
        <p:txBody>
          <a:bodyPr wrap="square" lIns="0" tIns="0" rIns="0" bIns="0" rtlCol="0" anchor="ctr"/>
          <a:lstStyle/>
          <a:p>
            <a:pPr algn="r" indent="0" marL="0">
              <a:lnSpc>
                <a:spcPts val="1050"/>
              </a:lnSpc>
              <a:buNone/>
            </a:pPr>
            <a:r>
              <a:rPr lang="en-US" sz="850" dirty="0">
                <a:solidFill>
                  <a:srgbClr val="7A7A82"/>
                </a:solidFill>
                <a:latin typeface="Calibri" pitchFamily="34" charset="0"/>
                <a:ea typeface="Calibri" pitchFamily="34" charset="-122"/>
                <a:cs typeface="Calibri" pitchFamily="34" charset="-120"/>
              </a:rPr>
              <a:t>"biz aslında..." cümlesi</a:t>
            </a:r>
            <a:endParaRPr lang="en-US" sz="850" dirty="0"/>
          </a:p>
        </p:txBody>
      </p:sp>
      <p:sp>
        <p:nvSpPr>
          <p:cNvPr id="42" name="Shape 40"/>
          <p:cNvSpPr/>
          <p:nvPr/>
        </p:nvSpPr>
        <p:spPr>
          <a:xfrm>
            <a:off x="7498080" y="3383280"/>
            <a:ext cx="1188720" cy="1188720"/>
          </a:xfrm>
          <a:prstGeom prst="ellipse">
            <a:avLst/>
          </a:prstGeom>
          <a:solidFill>
            <a:srgbClr val="F6EAE6"/>
          </a:solidFill>
          <a:ln w="19050">
            <a:solidFill>
              <a:srgbClr val="8C3A2B"/>
            </a:solidFill>
            <a:prstDash val="solid"/>
          </a:ln>
        </p:spPr>
      </p:sp>
      <p:sp>
        <p:nvSpPr>
          <p:cNvPr id="43" name="Text 41"/>
          <p:cNvSpPr txBox="1"/>
          <p:nvPr/>
        </p:nvSpPr>
        <p:spPr>
          <a:xfrm>
            <a:off x="7498080" y="3648456"/>
            <a:ext cx="1188720" cy="310896"/>
          </a:xfrm>
          <a:prstGeom prst="rect">
            <a:avLst/>
          </a:prstGeom>
          <a:noFill/>
          <a:ln/>
        </p:spPr>
        <p:txBody>
          <a:bodyPr wrap="square" lIns="0" tIns="0" rIns="0" bIns="0" rtlCol="0" anchor="b"/>
          <a:lstStyle/>
          <a:p>
            <a:pPr algn="ctr" indent="0" marL="0">
              <a:buNone/>
            </a:pPr>
            <a:r>
              <a:rPr lang="en-US" sz="1500" b="1" dirty="0">
                <a:solidFill>
                  <a:srgbClr val="8C3A2B"/>
                </a:solidFill>
                <a:latin typeface="Cambria" pitchFamily="34" charset="0"/>
                <a:ea typeface="Cambria" pitchFamily="34" charset="-122"/>
                <a:cs typeface="Cambria" pitchFamily="34" charset="-120"/>
              </a:rPr>
              <a:t>KİMLİK</a:t>
            </a:r>
            <a:endParaRPr lang="en-US" sz="1500" dirty="0"/>
          </a:p>
        </p:txBody>
      </p:sp>
      <p:sp>
        <p:nvSpPr>
          <p:cNvPr id="44" name="Text 42"/>
          <p:cNvSpPr txBox="1"/>
          <p:nvPr/>
        </p:nvSpPr>
        <p:spPr>
          <a:xfrm>
            <a:off x="7388352" y="3968496"/>
            <a:ext cx="1408176" cy="384048"/>
          </a:xfrm>
          <a:prstGeom prst="rect">
            <a:avLst/>
          </a:prstGeom>
          <a:noFill/>
          <a:ln/>
        </p:spPr>
        <p:txBody>
          <a:bodyPr wrap="square" lIns="0" tIns="0" rIns="0" bIns="0" rtlCol="0" anchor="ctr"/>
          <a:lstStyle/>
          <a:p>
            <a:pPr algn="ctr" indent="0" marL="0">
              <a:lnSpc>
                <a:spcPts val="1000"/>
              </a:lnSpc>
              <a:buNone/>
            </a:pPr>
            <a:r>
              <a:rPr lang="en-US" sz="800" dirty="0">
                <a:solidFill>
                  <a:srgbClr val="8C3A2B"/>
                </a:solidFill>
                <a:latin typeface="Calibri" pitchFamily="34" charset="0"/>
                <a:ea typeface="Calibri" pitchFamily="34" charset="-122"/>
                <a:cs typeface="Calibri" pitchFamily="34" charset="-120"/>
              </a:rPr>
              <a:t>yedi kaynağın</a:t>
            </a:r>
            <a:endParaRPr lang="en-US" sz="800" dirty="0"/>
          </a:p>
          <a:p>
            <a:pPr algn="ctr" indent="0" marL="0">
              <a:lnSpc>
                <a:spcPts val="1000"/>
              </a:lnSpc>
              <a:buNone/>
            </a:pPr>
            <a:r>
              <a:rPr lang="en-US" sz="800" dirty="0">
                <a:solidFill>
                  <a:srgbClr val="8C3A2B"/>
                </a:solidFill>
                <a:latin typeface="Calibri" pitchFamily="34" charset="0"/>
                <a:ea typeface="Calibri" pitchFamily="34" charset="-122"/>
                <a:cs typeface="Calibri" pitchFamily="34" charset="-120"/>
              </a:rPr>
              <a:t>kesişimi</a:t>
            </a:r>
            <a:endParaRPr lang="en-US" sz="800" dirty="0"/>
          </a:p>
        </p:txBody>
      </p:sp>
      <p:sp>
        <p:nvSpPr>
          <p:cNvPr id="45" name="Text 43"/>
          <p:cNvSpPr txBox="1"/>
          <p:nvPr/>
        </p:nvSpPr>
        <p:spPr>
          <a:xfrm>
            <a:off x="777240" y="3008376"/>
            <a:ext cx="1697126"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GÖRÜŞME REHBERİ — SEKİZ SORU</a:t>
            </a:r>
            <a:endParaRPr lang="en-US" sz="900" dirty="0"/>
          </a:p>
        </p:txBody>
      </p:sp>
      <p:sp>
        <p:nvSpPr>
          <p:cNvPr id="46" name="Shape 44"/>
          <p:cNvSpPr/>
          <p:nvPr/>
        </p:nvSpPr>
        <p:spPr>
          <a:xfrm>
            <a:off x="2547518" y="3127248"/>
            <a:ext cx="2115922" cy="0"/>
          </a:xfrm>
          <a:prstGeom prst="line">
            <a:avLst/>
          </a:prstGeom>
          <a:noFill/>
          <a:ln w="9525">
            <a:solidFill>
              <a:srgbClr val="EBD7D1"/>
            </a:solidFill>
            <a:prstDash val="solid"/>
          </a:ln>
        </p:spPr>
      </p:sp>
      <p:sp>
        <p:nvSpPr>
          <p:cNvPr id="47" name="Text 45"/>
          <p:cNvSpPr txBox="1"/>
          <p:nvPr/>
        </p:nvSpPr>
        <p:spPr>
          <a:xfrm>
            <a:off x="777240" y="3364992"/>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1</a:t>
            </a:r>
            <a:endParaRPr lang="en-US" sz="850" dirty="0"/>
          </a:p>
        </p:txBody>
      </p:sp>
      <p:sp>
        <p:nvSpPr>
          <p:cNvPr id="48" name="Text 46"/>
          <p:cNvSpPr txBox="1"/>
          <p:nvPr/>
        </p:nvSpPr>
        <p:spPr>
          <a:xfrm>
            <a:off x="1069848" y="3346704"/>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Bu işi neden kurdunuz?</a:t>
            </a:r>
            <a:endParaRPr lang="en-US" sz="1150" dirty="0"/>
          </a:p>
        </p:txBody>
      </p:sp>
      <p:sp>
        <p:nvSpPr>
          <p:cNvPr id="49" name="Text 47"/>
          <p:cNvSpPr txBox="1"/>
          <p:nvPr/>
        </p:nvSpPr>
        <p:spPr>
          <a:xfrm>
            <a:off x="777240" y="3694176"/>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2</a:t>
            </a:r>
            <a:endParaRPr lang="en-US" sz="850" dirty="0"/>
          </a:p>
        </p:txBody>
      </p:sp>
      <p:sp>
        <p:nvSpPr>
          <p:cNvPr id="50" name="Text 48"/>
          <p:cNvSpPr txBox="1"/>
          <p:nvPr/>
        </p:nvSpPr>
        <p:spPr>
          <a:xfrm>
            <a:off x="1069848" y="3675888"/>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Müşteriniz en çok neyi soruyor?</a:t>
            </a:r>
            <a:endParaRPr lang="en-US" sz="1150" dirty="0"/>
          </a:p>
        </p:txBody>
      </p:sp>
      <p:sp>
        <p:nvSpPr>
          <p:cNvPr id="51" name="Text 49"/>
          <p:cNvSpPr txBox="1"/>
          <p:nvPr/>
        </p:nvSpPr>
        <p:spPr>
          <a:xfrm>
            <a:off x="777240" y="4023360"/>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3</a:t>
            </a:r>
            <a:endParaRPr lang="en-US" sz="850" dirty="0"/>
          </a:p>
        </p:txBody>
      </p:sp>
      <p:sp>
        <p:nvSpPr>
          <p:cNvPr id="52" name="Text 50"/>
          <p:cNvSpPr txBox="1"/>
          <p:nvPr/>
        </p:nvSpPr>
        <p:spPr>
          <a:xfrm>
            <a:off x="1069848" y="4005072"/>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Ne yapmayı reddediyorsunuz?</a:t>
            </a:r>
            <a:endParaRPr lang="en-US" sz="1150" dirty="0"/>
          </a:p>
        </p:txBody>
      </p:sp>
      <p:sp>
        <p:nvSpPr>
          <p:cNvPr id="53" name="Text 51"/>
          <p:cNvSpPr txBox="1"/>
          <p:nvPr/>
        </p:nvSpPr>
        <p:spPr>
          <a:xfrm>
            <a:off x="777240" y="4352544"/>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4</a:t>
            </a:r>
            <a:endParaRPr lang="en-US" sz="850" dirty="0"/>
          </a:p>
        </p:txBody>
      </p:sp>
      <p:sp>
        <p:nvSpPr>
          <p:cNvPr id="54" name="Text 52"/>
          <p:cNvSpPr txBox="1"/>
          <p:nvPr/>
        </p:nvSpPr>
        <p:spPr>
          <a:xfrm>
            <a:off x="1069848" y="4334256"/>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En çok hangi ürün satıyor, neden?</a:t>
            </a:r>
            <a:endParaRPr lang="en-US" sz="1150" dirty="0"/>
          </a:p>
        </p:txBody>
      </p:sp>
      <p:sp>
        <p:nvSpPr>
          <p:cNvPr id="55" name="Text 53"/>
          <p:cNvSpPr txBox="1"/>
          <p:nvPr/>
        </p:nvSpPr>
        <p:spPr>
          <a:xfrm>
            <a:off x="777240" y="4681728"/>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5</a:t>
            </a:r>
            <a:endParaRPr lang="en-US" sz="850" dirty="0"/>
          </a:p>
        </p:txBody>
      </p:sp>
      <p:sp>
        <p:nvSpPr>
          <p:cNvPr id="56" name="Text 54"/>
          <p:cNvSpPr txBox="1"/>
          <p:nvPr/>
        </p:nvSpPr>
        <p:spPr>
          <a:xfrm>
            <a:off x="1069848" y="4663440"/>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Müşteri ürünü eline alıyor mu?</a:t>
            </a:r>
            <a:endParaRPr lang="en-US" sz="1150" dirty="0"/>
          </a:p>
        </p:txBody>
      </p:sp>
      <p:sp>
        <p:nvSpPr>
          <p:cNvPr id="57" name="Text 55"/>
          <p:cNvSpPr txBox="1"/>
          <p:nvPr/>
        </p:nvSpPr>
        <p:spPr>
          <a:xfrm>
            <a:off x="777240" y="5010912"/>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6</a:t>
            </a:r>
            <a:endParaRPr lang="en-US" sz="850" dirty="0"/>
          </a:p>
        </p:txBody>
      </p:sp>
      <p:sp>
        <p:nvSpPr>
          <p:cNvPr id="58" name="Text 56"/>
          <p:cNvSpPr txBox="1"/>
          <p:nvPr/>
        </p:nvSpPr>
        <p:spPr>
          <a:xfrm>
            <a:off x="1069848" y="4992624"/>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Deponuzda en çok ne yer kaplıyor?</a:t>
            </a:r>
            <a:endParaRPr lang="en-US" sz="1150" dirty="0"/>
          </a:p>
        </p:txBody>
      </p:sp>
      <p:sp>
        <p:nvSpPr>
          <p:cNvPr id="59" name="Text 57"/>
          <p:cNvSpPr txBox="1"/>
          <p:nvPr/>
        </p:nvSpPr>
        <p:spPr>
          <a:xfrm>
            <a:off x="777240" y="5340096"/>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7</a:t>
            </a:r>
            <a:endParaRPr lang="en-US" sz="850" dirty="0"/>
          </a:p>
        </p:txBody>
      </p:sp>
      <p:sp>
        <p:nvSpPr>
          <p:cNvPr id="60" name="Text 58"/>
          <p:cNvSpPr txBox="1"/>
          <p:nvPr/>
        </p:nvSpPr>
        <p:spPr>
          <a:xfrm>
            <a:off x="1069848" y="5321808"/>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Hangi markaya benzetiliyorsunuz?</a:t>
            </a:r>
            <a:endParaRPr lang="en-US" sz="1150" dirty="0"/>
          </a:p>
        </p:txBody>
      </p:sp>
      <p:sp>
        <p:nvSpPr>
          <p:cNvPr id="61" name="Text 59"/>
          <p:cNvSpPr txBox="1"/>
          <p:nvPr/>
        </p:nvSpPr>
        <p:spPr>
          <a:xfrm>
            <a:off x="777240" y="5669280"/>
            <a:ext cx="201168" cy="237744"/>
          </a:xfrm>
          <a:prstGeom prst="rect">
            <a:avLst/>
          </a:prstGeom>
          <a:noFill/>
          <a:ln/>
        </p:spPr>
        <p:txBody>
          <a:bodyPr wrap="square" lIns="0" tIns="0" rIns="0" bIns="0" rtlCol="0" anchor="ctr"/>
          <a:lstStyle/>
          <a:p>
            <a:pPr algn="r" indent="0" marL="0">
              <a:buNone/>
            </a:pPr>
            <a:r>
              <a:rPr lang="en-US" sz="850" b="1" dirty="0">
                <a:solidFill>
                  <a:srgbClr val="8C3A2B"/>
                </a:solidFill>
                <a:latin typeface="Calibri" pitchFamily="34" charset="0"/>
                <a:ea typeface="Calibri" pitchFamily="34" charset="-122"/>
                <a:cs typeface="Calibri" pitchFamily="34" charset="-120"/>
              </a:rPr>
              <a:t>8</a:t>
            </a:r>
            <a:endParaRPr lang="en-US" sz="850" dirty="0"/>
          </a:p>
        </p:txBody>
      </p:sp>
      <p:sp>
        <p:nvSpPr>
          <p:cNvPr id="62" name="Text 60"/>
          <p:cNvSpPr txBox="1"/>
          <p:nvPr/>
        </p:nvSpPr>
        <p:spPr>
          <a:xfrm>
            <a:off x="1069848" y="5650992"/>
            <a:ext cx="3593592" cy="274320"/>
          </a:xfrm>
          <a:prstGeom prst="rect">
            <a:avLst/>
          </a:prstGeom>
          <a:noFill/>
          <a:ln/>
        </p:spPr>
        <p:txBody>
          <a:bodyPr wrap="square" lIns="0" tIns="0" rIns="0" bIns="0" rtlCol="0" anchor="ctr"/>
          <a:lstStyle/>
          <a:p>
            <a:pPr indent="0" marL="0">
              <a:buNone/>
            </a:pPr>
            <a:r>
              <a:rPr lang="en-US" sz="1150" dirty="0">
                <a:solidFill>
                  <a:srgbClr val="2B2B31"/>
                </a:solidFill>
                <a:latin typeface="Cambria" pitchFamily="34" charset="0"/>
                <a:ea typeface="Cambria" pitchFamily="34" charset="-122"/>
                <a:cs typeface="Cambria" pitchFamily="34" charset="-120"/>
              </a:rPr>
              <a:t>Beş yıl sonra ne olmak istiyorsunuz?</a:t>
            </a:r>
            <a:endParaRPr lang="en-US" sz="1150" dirty="0"/>
          </a:p>
        </p:txBody>
      </p:sp>
      <p:sp>
        <p:nvSpPr>
          <p:cNvPr id="63" name="Text 61"/>
          <p:cNvSpPr txBox="1"/>
          <p:nvPr/>
        </p:nvSpPr>
        <p:spPr>
          <a:xfrm>
            <a:off x="777240" y="6053328"/>
            <a:ext cx="3886200" cy="365760"/>
          </a:xfrm>
          <a:prstGeom prst="rect">
            <a:avLst/>
          </a:prstGeom>
          <a:noFill/>
          <a:ln/>
        </p:spPr>
        <p:txBody>
          <a:bodyPr wrap="square" lIns="0" tIns="0" rIns="0" bIns="0" rtlCol="0" anchor="ctr"/>
          <a:lstStyle/>
          <a:p>
            <a:pPr algn="l" indent="0" marL="0">
              <a:lnSpc>
                <a:spcPts val="1300"/>
              </a:lnSpc>
              <a:buNone/>
            </a:pPr>
            <a:r>
              <a:rPr lang="en-US" sz="1050" i="1" dirty="0">
                <a:solidFill>
                  <a:srgbClr val="8C3A2B"/>
                </a:solidFill>
                <a:latin typeface="Cambria" pitchFamily="34" charset="0"/>
                <a:ea typeface="Cambria" pitchFamily="34" charset="-122"/>
                <a:cs typeface="Cambria" pitchFamily="34" charset="-120"/>
              </a:rPr>
              <a:t>Üçüncü soru en çok işe yarayanıdır: markayı, reddettiği şey tarif eder.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10400" b="1" dirty="0">
                <a:solidFill>
                  <a:srgbClr val="8C3A2B"/>
                </a:solidFill>
                <a:latin typeface="Cambria" pitchFamily="34" charset="0"/>
                <a:ea typeface="Cambria" pitchFamily="34" charset="-122"/>
                <a:cs typeface="Cambria" pitchFamily="34" charset="-120"/>
              </a:rPr>
              <a:t>II</a:t>
            </a:r>
            <a:endParaRPr lang="en-US" sz="104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Markanın kimliği nasıl çıkarılır?</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Okunan kimliği yazıya dökmenin adı marka anahtarıdır: on bileşen, tek bir öz.</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 · MARKA ANAHTARI</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Marka anahtarı: on bileşen, tek öz</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9</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Marka anahtarı (Brand Key), bir markanın özünü belirli başlıklar altında tanımlayan çerçevedir. Aşağıdaki hâli mağaza tasarımı stüdyosu için uyarlanmış on bileşenden oluşur.</a:t>
            </a:r>
            <a:endParaRPr lang="en-US" sz="1350" dirty="0"/>
          </a:p>
        </p:txBody>
      </p:sp>
      <p:sp>
        <p:nvSpPr>
          <p:cNvPr id="7" name="Text 5"/>
          <p:cNvSpPr txBox="1"/>
          <p:nvPr/>
        </p:nvSpPr>
        <p:spPr>
          <a:xfrm>
            <a:off x="777240" y="2578608"/>
            <a:ext cx="91440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DIŞ GİRDİ</a:t>
            </a:r>
            <a:endParaRPr lang="en-US" sz="850" dirty="0"/>
          </a:p>
        </p:txBody>
      </p:sp>
      <p:sp>
        <p:nvSpPr>
          <p:cNvPr id="8" name="Shape 6"/>
          <p:cNvSpPr/>
          <p:nvPr/>
        </p:nvSpPr>
        <p:spPr>
          <a:xfrm>
            <a:off x="1751076" y="2395728"/>
            <a:ext cx="2773680" cy="603504"/>
          </a:xfrm>
          <a:prstGeom prst="rect">
            <a:avLst/>
          </a:prstGeom>
          <a:ln w="9525">
            <a:solidFill>
              <a:srgbClr val="C9C9CF"/>
            </a:solidFill>
            <a:prstDash val="solid"/>
          </a:ln>
        </p:spPr>
      </p:sp>
      <p:sp>
        <p:nvSpPr>
          <p:cNvPr id="9" name="Text 7"/>
          <p:cNvSpPr txBox="1"/>
          <p:nvPr/>
        </p:nvSpPr>
        <p:spPr>
          <a:xfrm>
            <a:off x="1842516" y="2459736"/>
            <a:ext cx="259080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Rekabet</a:t>
            </a:r>
            <a:endParaRPr lang="en-US" sz="1400" dirty="0"/>
          </a:p>
        </p:txBody>
      </p:sp>
      <p:sp>
        <p:nvSpPr>
          <p:cNvPr id="10" name="Text 8"/>
          <p:cNvSpPr txBox="1"/>
          <p:nvPr/>
        </p:nvSpPr>
        <p:spPr>
          <a:xfrm>
            <a:off x="1842516" y="2734056"/>
            <a:ext cx="259080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alternatif markalar</a:t>
            </a:r>
            <a:endParaRPr lang="en-US" sz="900" dirty="0"/>
          </a:p>
        </p:txBody>
      </p:sp>
      <p:sp>
        <p:nvSpPr>
          <p:cNvPr id="11" name="Shape 9"/>
          <p:cNvSpPr/>
          <p:nvPr/>
        </p:nvSpPr>
        <p:spPr>
          <a:xfrm>
            <a:off x="4707636" y="2395728"/>
            <a:ext cx="2773680" cy="603504"/>
          </a:xfrm>
          <a:prstGeom prst="rect">
            <a:avLst/>
          </a:prstGeom>
          <a:ln w="9525">
            <a:solidFill>
              <a:srgbClr val="C9C9CF"/>
            </a:solidFill>
            <a:prstDash val="solid"/>
          </a:ln>
        </p:spPr>
      </p:sp>
      <p:sp>
        <p:nvSpPr>
          <p:cNvPr id="12" name="Text 10"/>
          <p:cNvSpPr txBox="1"/>
          <p:nvPr/>
        </p:nvSpPr>
        <p:spPr>
          <a:xfrm>
            <a:off x="4799076" y="2459736"/>
            <a:ext cx="259080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Hedef kitle</a:t>
            </a:r>
            <a:endParaRPr lang="en-US" sz="1400" dirty="0"/>
          </a:p>
        </p:txBody>
      </p:sp>
      <p:sp>
        <p:nvSpPr>
          <p:cNvPr id="13" name="Text 11"/>
          <p:cNvSpPr txBox="1"/>
          <p:nvPr/>
        </p:nvSpPr>
        <p:spPr>
          <a:xfrm>
            <a:off x="4799076" y="2734056"/>
            <a:ext cx="259080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demografi ve davranış</a:t>
            </a:r>
            <a:endParaRPr lang="en-US" sz="900" dirty="0"/>
          </a:p>
        </p:txBody>
      </p:sp>
      <p:sp>
        <p:nvSpPr>
          <p:cNvPr id="14" name="Shape 12"/>
          <p:cNvSpPr/>
          <p:nvPr/>
        </p:nvSpPr>
        <p:spPr>
          <a:xfrm>
            <a:off x="7664196" y="2395728"/>
            <a:ext cx="2773680" cy="603504"/>
          </a:xfrm>
          <a:prstGeom prst="rect">
            <a:avLst/>
          </a:prstGeom>
          <a:ln w="9525">
            <a:solidFill>
              <a:srgbClr val="C9C9CF"/>
            </a:solidFill>
            <a:prstDash val="solid"/>
          </a:ln>
        </p:spPr>
      </p:sp>
      <p:sp>
        <p:nvSpPr>
          <p:cNvPr id="15" name="Text 13"/>
          <p:cNvSpPr txBox="1"/>
          <p:nvPr/>
        </p:nvSpPr>
        <p:spPr>
          <a:xfrm>
            <a:off x="7755636" y="2459736"/>
            <a:ext cx="259080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Hedefler</a:t>
            </a:r>
            <a:endParaRPr lang="en-US" sz="1400" dirty="0"/>
          </a:p>
        </p:txBody>
      </p:sp>
      <p:sp>
        <p:nvSpPr>
          <p:cNvPr id="16" name="Text 14"/>
          <p:cNvSpPr txBox="1"/>
          <p:nvPr/>
        </p:nvSpPr>
        <p:spPr>
          <a:xfrm>
            <a:off x="7755636" y="2734056"/>
            <a:ext cx="259080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ticari amaçlar</a:t>
            </a:r>
            <a:endParaRPr lang="en-US" sz="900" dirty="0"/>
          </a:p>
        </p:txBody>
      </p:sp>
      <p:sp>
        <p:nvSpPr>
          <p:cNvPr id="17" name="Shape 15"/>
          <p:cNvSpPr/>
          <p:nvPr/>
        </p:nvSpPr>
        <p:spPr>
          <a:xfrm>
            <a:off x="6094476" y="3035808"/>
            <a:ext cx="0" cy="219456"/>
          </a:xfrm>
          <a:prstGeom prst="line">
            <a:avLst/>
          </a:prstGeom>
          <a:noFill/>
          <a:ln w="17780">
            <a:solidFill>
              <a:srgbClr val="8C3A2B"/>
            </a:solidFill>
            <a:prstDash val="solid"/>
            <a:tailEnd type="triangle"/>
          </a:ln>
        </p:spPr>
      </p:sp>
      <p:sp>
        <p:nvSpPr>
          <p:cNvPr id="18" name="Text 16"/>
          <p:cNvSpPr txBox="1"/>
          <p:nvPr/>
        </p:nvSpPr>
        <p:spPr>
          <a:xfrm>
            <a:off x="777240" y="3511296"/>
            <a:ext cx="91440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KENDİ TANIMI</a:t>
            </a:r>
            <a:endParaRPr lang="en-US" sz="850" dirty="0"/>
          </a:p>
        </p:txBody>
      </p:sp>
      <p:sp>
        <p:nvSpPr>
          <p:cNvPr id="19" name="Shape 17"/>
          <p:cNvSpPr/>
          <p:nvPr/>
        </p:nvSpPr>
        <p:spPr>
          <a:xfrm>
            <a:off x="2482596" y="3328416"/>
            <a:ext cx="2286000" cy="603504"/>
          </a:xfrm>
          <a:prstGeom prst="rect">
            <a:avLst/>
          </a:prstGeom>
          <a:ln w="9525">
            <a:solidFill>
              <a:srgbClr val="C9C9CF"/>
            </a:solidFill>
            <a:prstDash val="solid"/>
          </a:ln>
        </p:spPr>
      </p:sp>
      <p:sp>
        <p:nvSpPr>
          <p:cNvPr id="20" name="Text 18"/>
          <p:cNvSpPr txBox="1"/>
          <p:nvPr/>
        </p:nvSpPr>
        <p:spPr>
          <a:xfrm>
            <a:off x="2574036" y="3392424"/>
            <a:ext cx="210312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Misyon</a:t>
            </a:r>
            <a:endParaRPr lang="en-US" sz="1400" dirty="0"/>
          </a:p>
        </p:txBody>
      </p:sp>
      <p:sp>
        <p:nvSpPr>
          <p:cNvPr id="21" name="Text 19"/>
          <p:cNvSpPr txBox="1"/>
          <p:nvPr/>
        </p:nvSpPr>
        <p:spPr>
          <a:xfrm>
            <a:off x="2574036" y="3666744"/>
            <a:ext cx="210312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varlık nedeni</a:t>
            </a:r>
            <a:endParaRPr lang="en-US" sz="900" dirty="0"/>
          </a:p>
        </p:txBody>
      </p:sp>
      <p:sp>
        <p:nvSpPr>
          <p:cNvPr id="22" name="Shape 20"/>
          <p:cNvSpPr/>
          <p:nvPr/>
        </p:nvSpPr>
        <p:spPr>
          <a:xfrm>
            <a:off x="4951476" y="3328416"/>
            <a:ext cx="2286000" cy="603504"/>
          </a:xfrm>
          <a:prstGeom prst="rect">
            <a:avLst/>
          </a:prstGeom>
          <a:ln w="9525">
            <a:solidFill>
              <a:srgbClr val="C9C9CF"/>
            </a:solidFill>
            <a:prstDash val="solid"/>
          </a:ln>
        </p:spPr>
      </p:sp>
      <p:sp>
        <p:nvSpPr>
          <p:cNvPr id="23" name="Text 21"/>
          <p:cNvSpPr txBox="1"/>
          <p:nvPr/>
        </p:nvSpPr>
        <p:spPr>
          <a:xfrm>
            <a:off x="5042916" y="3392424"/>
            <a:ext cx="210312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Değerler</a:t>
            </a:r>
            <a:endParaRPr lang="en-US" sz="1400" dirty="0"/>
          </a:p>
        </p:txBody>
      </p:sp>
      <p:sp>
        <p:nvSpPr>
          <p:cNvPr id="24" name="Text 22"/>
          <p:cNvSpPr txBox="1"/>
          <p:nvPr/>
        </p:nvSpPr>
        <p:spPr>
          <a:xfrm>
            <a:off x="5042916" y="3666744"/>
            <a:ext cx="210312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temel ilkeler</a:t>
            </a:r>
            <a:endParaRPr lang="en-US" sz="900" dirty="0"/>
          </a:p>
        </p:txBody>
      </p:sp>
      <p:sp>
        <p:nvSpPr>
          <p:cNvPr id="25" name="Shape 23"/>
          <p:cNvSpPr/>
          <p:nvPr/>
        </p:nvSpPr>
        <p:spPr>
          <a:xfrm>
            <a:off x="7420356" y="3328416"/>
            <a:ext cx="2286000" cy="603504"/>
          </a:xfrm>
          <a:prstGeom prst="rect">
            <a:avLst/>
          </a:prstGeom>
          <a:ln w="9525">
            <a:solidFill>
              <a:srgbClr val="C9C9CF"/>
            </a:solidFill>
            <a:prstDash val="solid"/>
          </a:ln>
        </p:spPr>
      </p:sp>
      <p:sp>
        <p:nvSpPr>
          <p:cNvPr id="26" name="Text 24"/>
          <p:cNvSpPr txBox="1"/>
          <p:nvPr/>
        </p:nvSpPr>
        <p:spPr>
          <a:xfrm>
            <a:off x="7511796" y="3392424"/>
            <a:ext cx="210312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Faydalar</a:t>
            </a:r>
            <a:endParaRPr lang="en-US" sz="1400" dirty="0"/>
          </a:p>
        </p:txBody>
      </p:sp>
      <p:sp>
        <p:nvSpPr>
          <p:cNvPr id="27" name="Text 25"/>
          <p:cNvSpPr txBox="1"/>
          <p:nvPr/>
        </p:nvSpPr>
        <p:spPr>
          <a:xfrm>
            <a:off x="7511796" y="3666744"/>
            <a:ext cx="210312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işlevsel ve duygusal</a:t>
            </a:r>
            <a:endParaRPr lang="en-US" sz="900" dirty="0"/>
          </a:p>
        </p:txBody>
      </p:sp>
      <p:sp>
        <p:nvSpPr>
          <p:cNvPr id="28" name="Shape 26"/>
          <p:cNvSpPr/>
          <p:nvPr/>
        </p:nvSpPr>
        <p:spPr>
          <a:xfrm>
            <a:off x="6094476" y="3968496"/>
            <a:ext cx="0" cy="219456"/>
          </a:xfrm>
          <a:prstGeom prst="line">
            <a:avLst/>
          </a:prstGeom>
          <a:noFill/>
          <a:ln w="17780">
            <a:solidFill>
              <a:srgbClr val="8C3A2B"/>
            </a:solidFill>
            <a:prstDash val="solid"/>
            <a:tailEnd type="triangle"/>
          </a:ln>
        </p:spPr>
      </p:sp>
      <p:sp>
        <p:nvSpPr>
          <p:cNvPr id="29" name="Text 27"/>
          <p:cNvSpPr txBox="1"/>
          <p:nvPr/>
        </p:nvSpPr>
        <p:spPr>
          <a:xfrm>
            <a:off x="777240" y="4443984"/>
            <a:ext cx="91440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İFADE BİÇİMİ</a:t>
            </a:r>
            <a:endParaRPr lang="en-US" sz="850" dirty="0"/>
          </a:p>
        </p:txBody>
      </p:sp>
      <p:sp>
        <p:nvSpPr>
          <p:cNvPr id="30" name="Shape 28"/>
          <p:cNvSpPr/>
          <p:nvPr/>
        </p:nvSpPr>
        <p:spPr>
          <a:xfrm>
            <a:off x="3214116" y="4261104"/>
            <a:ext cx="1798320" cy="603504"/>
          </a:xfrm>
          <a:prstGeom prst="rect">
            <a:avLst/>
          </a:prstGeom>
          <a:ln w="9525">
            <a:solidFill>
              <a:srgbClr val="C9C9CF"/>
            </a:solidFill>
            <a:prstDash val="solid"/>
          </a:ln>
        </p:spPr>
      </p:sp>
      <p:sp>
        <p:nvSpPr>
          <p:cNvPr id="31" name="Text 29"/>
          <p:cNvSpPr txBox="1"/>
          <p:nvPr/>
        </p:nvSpPr>
        <p:spPr>
          <a:xfrm>
            <a:off x="3305556" y="4325112"/>
            <a:ext cx="161544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Kişilik</a:t>
            </a:r>
            <a:endParaRPr lang="en-US" sz="1400" dirty="0"/>
          </a:p>
        </p:txBody>
      </p:sp>
      <p:sp>
        <p:nvSpPr>
          <p:cNvPr id="32" name="Text 30"/>
          <p:cNvSpPr txBox="1"/>
          <p:nvPr/>
        </p:nvSpPr>
        <p:spPr>
          <a:xfrm>
            <a:off x="3305556" y="4599432"/>
            <a:ext cx="161544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marka karakteri</a:t>
            </a:r>
            <a:endParaRPr lang="en-US" sz="900" dirty="0"/>
          </a:p>
        </p:txBody>
      </p:sp>
      <p:sp>
        <p:nvSpPr>
          <p:cNvPr id="33" name="Shape 31"/>
          <p:cNvSpPr/>
          <p:nvPr/>
        </p:nvSpPr>
        <p:spPr>
          <a:xfrm>
            <a:off x="5195316" y="4261104"/>
            <a:ext cx="1798320" cy="603504"/>
          </a:xfrm>
          <a:prstGeom prst="rect">
            <a:avLst/>
          </a:prstGeom>
          <a:ln w="9525">
            <a:solidFill>
              <a:srgbClr val="C9C9CF"/>
            </a:solidFill>
            <a:prstDash val="solid"/>
          </a:ln>
        </p:spPr>
      </p:sp>
      <p:sp>
        <p:nvSpPr>
          <p:cNvPr id="34" name="Text 32"/>
          <p:cNvSpPr txBox="1"/>
          <p:nvPr/>
        </p:nvSpPr>
        <p:spPr>
          <a:xfrm>
            <a:off x="5286756" y="4325112"/>
            <a:ext cx="161544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Görünüm</a:t>
            </a:r>
            <a:endParaRPr lang="en-US" sz="1400" dirty="0"/>
          </a:p>
        </p:txBody>
      </p:sp>
      <p:sp>
        <p:nvSpPr>
          <p:cNvPr id="35" name="Text 33"/>
          <p:cNvSpPr txBox="1"/>
          <p:nvPr/>
        </p:nvSpPr>
        <p:spPr>
          <a:xfrm>
            <a:off x="5286756" y="4599432"/>
            <a:ext cx="161544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görsel kimlik</a:t>
            </a:r>
            <a:endParaRPr lang="en-US" sz="900" dirty="0"/>
          </a:p>
        </p:txBody>
      </p:sp>
      <p:sp>
        <p:nvSpPr>
          <p:cNvPr id="36" name="Shape 34"/>
          <p:cNvSpPr/>
          <p:nvPr/>
        </p:nvSpPr>
        <p:spPr>
          <a:xfrm>
            <a:off x="7176516" y="4261104"/>
            <a:ext cx="1798320" cy="603504"/>
          </a:xfrm>
          <a:prstGeom prst="rect">
            <a:avLst/>
          </a:prstGeom>
          <a:ln w="9525">
            <a:solidFill>
              <a:srgbClr val="C9C9CF"/>
            </a:solidFill>
            <a:prstDash val="solid"/>
          </a:ln>
        </p:spPr>
      </p:sp>
      <p:sp>
        <p:nvSpPr>
          <p:cNvPr id="37" name="Text 35"/>
          <p:cNvSpPr txBox="1"/>
          <p:nvPr/>
        </p:nvSpPr>
        <p:spPr>
          <a:xfrm>
            <a:off x="7267956" y="4325112"/>
            <a:ext cx="161544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İletişim dili</a:t>
            </a:r>
            <a:endParaRPr lang="en-US" sz="1400" dirty="0"/>
          </a:p>
        </p:txBody>
      </p:sp>
      <p:sp>
        <p:nvSpPr>
          <p:cNvPr id="38" name="Text 36"/>
          <p:cNvSpPr txBox="1"/>
          <p:nvPr/>
        </p:nvSpPr>
        <p:spPr>
          <a:xfrm>
            <a:off x="7267956" y="4599432"/>
            <a:ext cx="1615440" cy="237744"/>
          </a:xfrm>
          <a:prstGeom prst="rect">
            <a:avLst/>
          </a:prstGeom>
          <a:noFill/>
          <a:ln/>
        </p:spPr>
        <p:txBody>
          <a:bodyPr wrap="square" lIns="0" tIns="0" rIns="0" bIns="0" rtlCol="0" anchor="ctr"/>
          <a:lstStyle/>
          <a:p>
            <a:pPr algn="ctr" indent="0" marL="0">
              <a:buNone/>
            </a:pPr>
            <a:r>
              <a:rPr lang="en-US" sz="900" dirty="0">
                <a:solidFill>
                  <a:srgbClr val="7A7A82"/>
                </a:solidFill>
                <a:latin typeface="Calibri" pitchFamily="34" charset="0"/>
                <a:ea typeface="Calibri" pitchFamily="34" charset="-122"/>
                <a:cs typeface="Calibri" pitchFamily="34" charset="-120"/>
              </a:rPr>
              <a:t>konuşma biçimi</a:t>
            </a:r>
            <a:endParaRPr lang="en-US" sz="900" dirty="0"/>
          </a:p>
        </p:txBody>
      </p:sp>
      <p:sp>
        <p:nvSpPr>
          <p:cNvPr id="39" name="Shape 37"/>
          <p:cNvSpPr/>
          <p:nvPr/>
        </p:nvSpPr>
        <p:spPr>
          <a:xfrm>
            <a:off x="6094476" y="4901184"/>
            <a:ext cx="0" cy="219456"/>
          </a:xfrm>
          <a:prstGeom prst="line">
            <a:avLst/>
          </a:prstGeom>
          <a:noFill/>
          <a:ln w="17780">
            <a:solidFill>
              <a:srgbClr val="8C3A2B"/>
            </a:solidFill>
            <a:prstDash val="solid"/>
            <a:tailEnd type="triangle"/>
          </a:ln>
        </p:spPr>
      </p:sp>
      <p:sp>
        <p:nvSpPr>
          <p:cNvPr id="40" name="Shape 38"/>
          <p:cNvSpPr/>
          <p:nvPr/>
        </p:nvSpPr>
        <p:spPr>
          <a:xfrm>
            <a:off x="3991356" y="5193792"/>
            <a:ext cx="4206240" cy="658368"/>
          </a:xfrm>
          <a:prstGeom prst="rect">
            <a:avLst/>
          </a:prstGeom>
          <a:solidFill>
            <a:srgbClr val="F6EAE6"/>
          </a:solidFill>
          <a:ln w="15875">
            <a:solidFill>
              <a:srgbClr val="8C3A2B"/>
            </a:solidFill>
            <a:prstDash val="solid"/>
          </a:ln>
        </p:spPr>
      </p:sp>
      <p:sp>
        <p:nvSpPr>
          <p:cNvPr id="41" name="Text 39"/>
          <p:cNvSpPr txBox="1"/>
          <p:nvPr/>
        </p:nvSpPr>
        <p:spPr>
          <a:xfrm>
            <a:off x="3991356" y="5248656"/>
            <a:ext cx="4206240" cy="237744"/>
          </a:xfrm>
          <a:prstGeom prst="rect">
            <a:avLst/>
          </a:prstGeom>
          <a:noFill/>
          <a:ln/>
        </p:spPr>
        <p:txBody>
          <a:bodyPr wrap="square" lIns="0" tIns="0" rIns="0" bIns="0" rtlCol="0" anchor="ctr"/>
          <a:lstStyle/>
          <a:p>
            <a:pPr algn="ctr" indent="0" marL="0">
              <a:buNone/>
            </a:pPr>
            <a:r>
              <a:rPr lang="en-US" sz="900" b="1" spc="160" kern="0" dirty="0">
                <a:solidFill>
                  <a:srgbClr val="8C3A2B"/>
                </a:solidFill>
                <a:latin typeface="Calibri" pitchFamily="34" charset="0"/>
                <a:ea typeface="Calibri" pitchFamily="34" charset="-122"/>
                <a:cs typeface="Calibri" pitchFamily="34" charset="-120"/>
              </a:rPr>
              <a:t>ÖZ</a:t>
            </a:r>
            <a:endParaRPr lang="en-US" sz="900" dirty="0"/>
          </a:p>
        </p:txBody>
      </p:sp>
      <p:sp>
        <p:nvSpPr>
          <p:cNvPr id="42" name="Text 40"/>
          <p:cNvSpPr txBox="1"/>
          <p:nvPr/>
        </p:nvSpPr>
        <p:spPr>
          <a:xfrm>
            <a:off x="3991356" y="5486400"/>
            <a:ext cx="4206240" cy="292608"/>
          </a:xfrm>
          <a:prstGeom prst="rect">
            <a:avLst/>
          </a:prstGeom>
          <a:noFill/>
          <a:ln/>
        </p:spPr>
        <p:txBody>
          <a:bodyPr wrap="square" lIns="0" tIns="0" rIns="0" bIns="0" rtlCol="0" anchor="ctr"/>
          <a:lstStyle/>
          <a:p>
            <a:pPr algn="ctr" indent="0" marL="0">
              <a:buNone/>
            </a:pPr>
            <a:r>
              <a:rPr lang="en-US" sz="1300" b="1" dirty="0">
                <a:solidFill>
                  <a:srgbClr val="8C3A2B"/>
                </a:solidFill>
                <a:latin typeface="Cambria" pitchFamily="34" charset="0"/>
                <a:ea typeface="Cambria" pitchFamily="34" charset="-122"/>
                <a:cs typeface="Cambria" pitchFamily="34" charset="-120"/>
              </a:rPr>
              <a:t>müşteri ve basın bu marka hakkında ne diyor</a:t>
            </a:r>
            <a:endParaRPr lang="en-US" sz="1300" dirty="0"/>
          </a:p>
        </p:txBody>
      </p:sp>
      <p:sp>
        <p:nvSpPr>
          <p:cNvPr id="43" name="Text 41"/>
          <p:cNvSpPr txBox="1"/>
          <p:nvPr/>
        </p:nvSpPr>
        <p:spPr>
          <a:xfrm>
            <a:off x="777240" y="5888736"/>
            <a:ext cx="10634472" cy="411480"/>
          </a:xfrm>
          <a:prstGeom prst="rect">
            <a:avLst/>
          </a:prstGeom>
          <a:noFill/>
          <a:ln/>
        </p:spPr>
        <p:txBody>
          <a:bodyPr wrap="square" lIns="0" tIns="0" rIns="0" bIns="0" rtlCol="0" anchor="ctr"/>
          <a:lstStyle/>
          <a:p>
            <a:pPr algn="ctr" indent="0" marL="0">
              <a:lnSpc>
                <a:spcPts val="1200"/>
              </a:lnSpc>
              <a:buNone/>
            </a:pPr>
            <a:r>
              <a:rPr lang="en-US" sz="1200" i="1" dirty="0">
                <a:solidFill>
                  <a:srgbClr val="8C3A2B"/>
                </a:solidFill>
                <a:latin typeface="Cambria" pitchFamily="34" charset="0"/>
                <a:ea typeface="Cambria" pitchFamily="34" charset="-122"/>
                <a:cs typeface="Cambria" pitchFamily="34" charset="-120"/>
              </a:rPr>
              <a:t>Huninin yönü önemlidir: öz yukarıdan aşağı doğru üretilir, aşağıdan yukarı uydurulmaz. Öz, markanın kendi iddiası değil; müşterinin onu nasıl anlattığıdır.</a:t>
            </a:r>
            <a:endParaRPr lang="en-US" sz="1200" dirty="0"/>
          </a:p>
        </p:txBody>
      </p:sp>
      <p:sp>
        <p:nvSpPr>
          <p:cNvPr id="44" name="Text 42"/>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Kaynak: I-AM Istanbul Brand Key Analysis Tool (2018); Bükülmez vd. (2025), Şekil 1a.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 · MARKA ANAHTARI</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Her bileşen tek bir soruya cevap verir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Her bileşenin karşılığı bir cümleyle verilebilir. Cevaplar markadan, müşteriden ve rakiplerden toplanan kanıta dayanmalıdır; tahminle doldurulan bir satır sonraki bütün adımları bozar.</a:t>
            </a:r>
            <a:endParaRPr lang="en-US" sz="1350" dirty="0"/>
          </a:p>
        </p:txBody>
      </p:sp>
      <p:sp>
        <p:nvSpPr>
          <p:cNvPr id="7" name="Shape 5"/>
          <p:cNvSpPr/>
          <p:nvPr/>
        </p:nvSpPr>
        <p:spPr>
          <a:xfrm>
            <a:off x="822960" y="2523744"/>
            <a:ext cx="109728" cy="109728"/>
          </a:xfrm>
          <a:prstGeom prst="ellipse">
            <a:avLst/>
          </a:prstGeom>
          <a:solidFill>
            <a:srgbClr val="B9B9C0"/>
          </a:solidFill>
          <a:ln w="12700">
            <a:solidFill>
              <a:srgbClr val="B9B9C0"/>
            </a:solidFill>
            <a:prstDash val="solid"/>
          </a:ln>
        </p:spPr>
      </p:sp>
      <p:sp>
        <p:nvSpPr>
          <p:cNvPr id="8" name="Text 6"/>
          <p:cNvSpPr txBox="1"/>
          <p:nvPr/>
        </p:nvSpPr>
        <p:spPr>
          <a:xfrm>
            <a:off x="1106424" y="2450592"/>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Rekabet</a:t>
            </a:r>
            <a:endParaRPr lang="en-US" sz="1350" dirty="0"/>
          </a:p>
        </p:txBody>
      </p:sp>
      <p:sp>
        <p:nvSpPr>
          <p:cNvPr id="9" name="Text 7"/>
          <p:cNvSpPr txBox="1"/>
          <p:nvPr/>
        </p:nvSpPr>
        <p:spPr>
          <a:xfrm>
            <a:off x="2606040" y="2468880"/>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Müşteri bu markayı hangi üç seçenekle yan yana koyuyor?</a:t>
            </a:r>
            <a:endParaRPr lang="en-US" sz="1050" dirty="0"/>
          </a:p>
        </p:txBody>
      </p:sp>
      <p:sp>
        <p:nvSpPr>
          <p:cNvPr id="10" name="Shape 8"/>
          <p:cNvSpPr/>
          <p:nvPr/>
        </p:nvSpPr>
        <p:spPr>
          <a:xfrm>
            <a:off x="1106424" y="3054096"/>
            <a:ext cx="4700016" cy="0"/>
          </a:xfrm>
          <a:prstGeom prst="line">
            <a:avLst/>
          </a:prstGeom>
          <a:noFill/>
          <a:ln w="6350">
            <a:solidFill>
              <a:srgbClr val="EDEDF0"/>
            </a:solidFill>
            <a:prstDash val="solid"/>
          </a:ln>
        </p:spPr>
      </p:sp>
      <p:sp>
        <p:nvSpPr>
          <p:cNvPr id="11" name="Shape 9"/>
          <p:cNvSpPr/>
          <p:nvPr/>
        </p:nvSpPr>
        <p:spPr>
          <a:xfrm>
            <a:off x="822960" y="3236976"/>
            <a:ext cx="109728" cy="109728"/>
          </a:xfrm>
          <a:prstGeom prst="ellipse">
            <a:avLst/>
          </a:prstGeom>
          <a:solidFill>
            <a:srgbClr val="B9B9C0"/>
          </a:solidFill>
          <a:ln w="12700">
            <a:solidFill>
              <a:srgbClr val="B9B9C0"/>
            </a:solidFill>
            <a:prstDash val="solid"/>
          </a:ln>
        </p:spPr>
      </p:sp>
      <p:sp>
        <p:nvSpPr>
          <p:cNvPr id="12" name="Text 10"/>
          <p:cNvSpPr txBox="1"/>
          <p:nvPr/>
        </p:nvSpPr>
        <p:spPr>
          <a:xfrm>
            <a:off x="1106424" y="3163824"/>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Hedef kitle</a:t>
            </a:r>
            <a:endParaRPr lang="en-US" sz="1350" dirty="0"/>
          </a:p>
        </p:txBody>
      </p:sp>
      <p:sp>
        <p:nvSpPr>
          <p:cNvPr id="13" name="Text 11"/>
          <p:cNvSpPr txBox="1"/>
          <p:nvPr/>
        </p:nvSpPr>
        <p:spPr>
          <a:xfrm>
            <a:off x="2606040" y="3182112"/>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Kime sesleniyor — yaşla değil, davranışla tarif edilebilir mi?</a:t>
            </a:r>
            <a:endParaRPr lang="en-US" sz="1050" dirty="0"/>
          </a:p>
        </p:txBody>
      </p:sp>
      <p:sp>
        <p:nvSpPr>
          <p:cNvPr id="14" name="Shape 12"/>
          <p:cNvSpPr/>
          <p:nvPr/>
        </p:nvSpPr>
        <p:spPr>
          <a:xfrm>
            <a:off x="1106424" y="3767328"/>
            <a:ext cx="4700016" cy="0"/>
          </a:xfrm>
          <a:prstGeom prst="line">
            <a:avLst/>
          </a:prstGeom>
          <a:noFill/>
          <a:ln w="6350">
            <a:solidFill>
              <a:srgbClr val="EDEDF0"/>
            </a:solidFill>
            <a:prstDash val="solid"/>
          </a:ln>
        </p:spPr>
      </p:sp>
      <p:sp>
        <p:nvSpPr>
          <p:cNvPr id="15" name="Shape 13"/>
          <p:cNvSpPr/>
          <p:nvPr/>
        </p:nvSpPr>
        <p:spPr>
          <a:xfrm>
            <a:off x="822960" y="3950208"/>
            <a:ext cx="109728" cy="109728"/>
          </a:xfrm>
          <a:prstGeom prst="ellipse">
            <a:avLst/>
          </a:prstGeom>
          <a:solidFill>
            <a:srgbClr val="B9B9C0"/>
          </a:solidFill>
          <a:ln w="12700">
            <a:solidFill>
              <a:srgbClr val="B9B9C0"/>
            </a:solidFill>
            <a:prstDash val="solid"/>
          </a:ln>
        </p:spPr>
      </p:sp>
      <p:sp>
        <p:nvSpPr>
          <p:cNvPr id="16" name="Text 14"/>
          <p:cNvSpPr txBox="1"/>
          <p:nvPr/>
        </p:nvSpPr>
        <p:spPr>
          <a:xfrm>
            <a:off x="1106424" y="3877056"/>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Hedefler</a:t>
            </a:r>
            <a:endParaRPr lang="en-US" sz="1350" dirty="0"/>
          </a:p>
        </p:txBody>
      </p:sp>
      <p:sp>
        <p:nvSpPr>
          <p:cNvPr id="17" name="Text 15"/>
          <p:cNvSpPr txBox="1"/>
          <p:nvPr/>
        </p:nvSpPr>
        <p:spPr>
          <a:xfrm>
            <a:off x="2606040" y="3895344"/>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İki-üç yıl içinde ticari olarak nereye varmak istiyor?</a:t>
            </a:r>
            <a:endParaRPr lang="en-US" sz="1050" dirty="0"/>
          </a:p>
        </p:txBody>
      </p:sp>
      <p:sp>
        <p:nvSpPr>
          <p:cNvPr id="18" name="Shape 16"/>
          <p:cNvSpPr/>
          <p:nvPr/>
        </p:nvSpPr>
        <p:spPr>
          <a:xfrm>
            <a:off x="1106424" y="4480560"/>
            <a:ext cx="4700016" cy="0"/>
          </a:xfrm>
          <a:prstGeom prst="line">
            <a:avLst/>
          </a:prstGeom>
          <a:noFill/>
          <a:ln w="6350">
            <a:solidFill>
              <a:srgbClr val="EDEDF0"/>
            </a:solidFill>
            <a:prstDash val="solid"/>
          </a:ln>
        </p:spPr>
      </p:sp>
      <p:sp>
        <p:nvSpPr>
          <p:cNvPr id="19" name="Shape 17"/>
          <p:cNvSpPr/>
          <p:nvPr/>
        </p:nvSpPr>
        <p:spPr>
          <a:xfrm>
            <a:off x="822960" y="4663440"/>
            <a:ext cx="109728" cy="109728"/>
          </a:xfrm>
          <a:prstGeom prst="ellipse">
            <a:avLst/>
          </a:prstGeom>
          <a:solidFill>
            <a:srgbClr val="B9B9C0"/>
          </a:solidFill>
          <a:ln w="12700">
            <a:solidFill>
              <a:srgbClr val="B9B9C0"/>
            </a:solidFill>
            <a:prstDash val="solid"/>
          </a:ln>
        </p:spPr>
      </p:sp>
      <p:sp>
        <p:nvSpPr>
          <p:cNvPr id="20" name="Text 18"/>
          <p:cNvSpPr txBox="1"/>
          <p:nvPr/>
        </p:nvSpPr>
        <p:spPr>
          <a:xfrm>
            <a:off x="1106424" y="4590288"/>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Misyon</a:t>
            </a:r>
            <a:endParaRPr lang="en-US" sz="1350" dirty="0"/>
          </a:p>
        </p:txBody>
      </p:sp>
      <p:sp>
        <p:nvSpPr>
          <p:cNvPr id="21" name="Text 19"/>
          <p:cNvSpPr txBox="1"/>
          <p:nvPr/>
        </p:nvSpPr>
        <p:spPr>
          <a:xfrm>
            <a:off x="2606040" y="4608576"/>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Bu marka neden var; olmasa ne eksik kalırdı?</a:t>
            </a:r>
            <a:endParaRPr lang="en-US" sz="1050" dirty="0"/>
          </a:p>
        </p:txBody>
      </p:sp>
      <p:sp>
        <p:nvSpPr>
          <p:cNvPr id="22" name="Shape 20"/>
          <p:cNvSpPr/>
          <p:nvPr/>
        </p:nvSpPr>
        <p:spPr>
          <a:xfrm>
            <a:off x="1106424" y="5193792"/>
            <a:ext cx="4700016" cy="0"/>
          </a:xfrm>
          <a:prstGeom prst="line">
            <a:avLst/>
          </a:prstGeom>
          <a:noFill/>
          <a:ln w="6350">
            <a:solidFill>
              <a:srgbClr val="EDEDF0"/>
            </a:solidFill>
            <a:prstDash val="solid"/>
          </a:ln>
        </p:spPr>
      </p:sp>
      <p:sp>
        <p:nvSpPr>
          <p:cNvPr id="23" name="Shape 21"/>
          <p:cNvSpPr/>
          <p:nvPr/>
        </p:nvSpPr>
        <p:spPr>
          <a:xfrm>
            <a:off x="822960" y="5376672"/>
            <a:ext cx="109728" cy="109728"/>
          </a:xfrm>
          <a:prstGeom prst="ellipse">
            <a:avLst/>
          </a:prstGeom>
          <a:solidFill>
            <a:srgbClr val="B9B9C0"/>
          </a:solidFill>
          <a:ln w="12700">
            <a:solidFill>
              <a:srgbClr val="B9B9C0"/>
            </a:solidFill>
            <a:prstDash val="solid"/>
          </a:ln>
        </p:spPr>
      </p:sp>
      <p:sp>
        <p:nvSpPr>
          <p:cNvPr id="24" name="Text 22"/>
          <p:cNvSpPr txBox="1"/>
          <p:nvPr/>
        </p:nvSpPr>
        <p:spPr>
          <a:xfrm>
            <a:off x="1106424" y="5303520"/>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Değerler</a:t>
            </a:r>
            <a:endParaRPr lang="en-US" sz="1350" dirty="0"/>
          </a:p>
        </p:txBody>
      </p:sp>
      <p:sp>
        <p:nvSpPr>
          <p:cNvPr id="25" name="Text 23"/>
          <p:cNvSpPr txBox="1"/>
          <p:nvPr/>
        </p:nvSpPr>
        <p:spPr>
          <a:xfrm>
            <a:off x="2606040" y="5321808"/>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Neye değer veriyor, neyi yapmayı reddediyor?</a:t>
            </a:r>
            <a:endParaRPr lang="en-US" sz="1050" dirty="0"/>
          </a:p>
        </p:txBody>
      </p:sp>
      <p:sp>
        <p:nvSpPr>
          <p:cNvPr id="26" name="Shape 24"/>
          <p:cNvSpPr/>
          <p:nvPr/>
        </p:nvSpPr>
        <p:spPr>
          <a:xfrm>
            <a:off x="6428232" y="2523744"/>
            <a:ext cx="109728" cy="109728"/>
          </a:xfrm>
          <a:prstGeom prst="ellipse">
            <a:avLst/>
          </a:prstGeom>
          <a:solidFill>
            <a:srgbClr val="B9B9C0"/>
          </a:solidFill>
          <a:ln w="12700">
            <a:solidFill>
              <a:srgbClr val="B9B9C0"/>
            </a:solidFill>
            <a:prstDash val="solid"/>
          </a:ln>
        </p:spPr>
      </p:sp>
      <p:sp>
        <p:nvSpPr>
          <p:cNvPr id="27" name="Text 25"/>
          <p:cNvSpPr txBox="1"/>
          <p:nvPr/>
        </p:nvSpPr>
        <p:spPr>
          <a:xfrm>
            <a:off x="6711696" y="2450592"/>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Faydalar</a:t>
            </a:r>
            <a:endParaRPr lang="en-US" sz="1350" dirty="0"/>
          </a:p>
        </p:txBody>
      </p:sp>
      <p:sp>
        <p:nvSpPr>
          <p:cNvPr id="28" name="Text 26"/>
          <p:cNvSpPr txBox="1"/>
          <p:nvPr/>
        </p:nvSpPr>
        <p:spPr>
          <a:xfrm>
            <a:off x="8211312" y="2468880"/>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Ürün ne işe yarıyor; insanı ne hissettiriyor?</a:t>
            </a:r>
            <a:endParaRPr lang="en-US" sz="1050" dirty="0"/>
          </a:p>
        </p:txBody>
      </p:sp>
      <p:sp>
        <p:nvSpPr>
          <p:cNvPr id="29" name="Shape 27"/>
          <p:cNvSpPr/>
          <p:nvPr/>
        </p:nvSpPr>
        <p:spPr>
          <a:xfrm>
            <a:off x="6711696" y="3054096"/>
            <a:ext cx="4700016" cy="0"/>
          </a:xfrm>
          <a:prstGeom prst="line">
            <a:avLst/>
          </a:prstGeom>
          <a:noFill/>
          <a:ln w="6350">
            <a:solidFill>
              <a:srgbClr val="EDEDF0"/>
            </a:solidFill>
            <a:prstDash val="solid"/>
          </a:ln>
        </p:spPr>
      </p:sp>
      <p:sp>
        <p:nvSpPr>
          <p:cNvPr id="30" name="Shape 28"/>
          <p:cNvSpPr/>
          <p:nvPr/>
        </p:nvSpPr>
        <p:spPr>
          <a:xfrm>
            <a:off x="6428232" y="3236976"/>
            <a:ext cx="109728" cy="109728"/>
          </a:xfrm>
          <a:prstGeom prst="ellipse">
            <a:avLst/>
          </a:prstGeom>
          <a:solidFill>
            <a:srgbClr val="B9B9C0"/>
          </a:solidFill>
          <a:ln w="12700">
            <a:solidFill>
              <a:srgbClr val="B9B9C0"/>
            </a:solidFill>
            <a:prstDash val="solid"/>
          </a:ln>
        </p:spPr>
      </p:sp>
      <p:sp>
        <p:nvSpPr>
          <p:cNvPr id="31" name="Text 29"/>
          <p:cNvSpPr txBox="1"/>
          <p:nvPr/>
        </p:nvSpPr>
        <p:spPr>
          <a:xfrm>
            <a:off x="6711696" y="3163824"/>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Kişilik</a:t>
            </a:r>
            <a:endParaRPr lang="en-US" sz="1350" dirty="0"/>
          </a:p>
        </p:txBody>
      </p:sp>
      <p:sp>
        <p:nvSpPr>
          <p:cNvPr id="32" name="Text 30"/>
          <p:cNvSpPr txBox="1"/>
          <p:nvPr/>
        </p:nvSpPr>
        <p:spPr>
          <a:xfrm>
            <a:off x="8211312" y="3182112"/>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Bu marka bir insan olsa nasıl biri olurdu?</a:t>
            </a:r>
            <a:endParaRPr lang="en-US" sz="1050" dirty="0"/>
          </a:p>
        </p:txBody>
      </p:sp>
      <p:sp>
        <p:nvSpPr>
          <p:cNvPr id="33" name="Shape 31"/>
          <p:cNvSpPr/>
          <p:nvPr/>
        </p:nvSpPr>
        <p:spPr>
          <a:xfrm>
            <a:off x="6711696" y="3767328"/>
            <a:ext cx="4700016" cy="0"/>
          </a:xfrm>
          <a:prstGeom prst="line">
            <a:avLst/>
          </a:prstGeom>
          <a:noFill/>
          <a:ln w="6350">
            <a:solidFill>
              <a:srgbClr val="EDEDF0"/>
            </a:solidFill>
            <a:prstDash val="solid"/>
          </a:ln>
        </p:spPr>
      </p:sp>
      <p:sp>
        <p:nvSpPr>
          <p:cNvPr id="34" name="Shape 32"/>
          <p:cNvSpPr/>
          <p:nvPr/>
        </p:nvSpPr>
        <p:spPr>
          <a:xfrm>
            <a:off x="6428232" y="3950208"/>
            <a:ext cx="109728" cy="109728"/>
          </a:xfrm>
          <a:prstGeom prst="ellipse">
            <a:avLst/>
          </a:prstGeom>
          <a:solidFill>
            <a:srgbClr val="B9B9C0"/>
          </a:solidFill>
          <a:ln w="12700">
            <a:solidFill>
              <a:srgbClr val="B9B9C0"/>
            </a:solidFill>
            <a:prstDash val="solid"/>
          </a:ln>
        </p:spPr>
      </p:sp>
      <p:sp>
        <p:nvSpPr>
          <p:cNvPr id="35" name="Text 33"/>
          <p:cNvSpPr txBox="1"/>
          <p:nvPr/>
        </p:nvSpPr>
        <p:spPr>
          <a:xfrm>
            <a:off x="6711696" y="3877056"/>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Görünüm</a:t>
            </a:r>
            <a:endParaRPr lang="en-US" sz="1350" dirty="0"/>
          </a:p>
        </p:txBody>
      </p:sp>
      <p:sp>
        <p:nvSpPr>
          <p:cNvPr id="36" name="Text 34"/>
          <p:cNvSpPr txBox="1"/>
          <p:nvPr/>
        </p:nvSpPr>
        <p:spPr>
          <a:xfrm>
            <a:off x="8211312" y="3895344"/>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Malzemesi, rengi, dokusu, biçim dili ne?</a:t>
            </a:r>
            <a:endParaRPr lang="en-US" sz="1050" dirty="0"/>
          </a:p>
        </p:txBody>
      </p:sp>
      <p:sp>
        <p:nvSpPr>
          <p:cNvPr id="37" name="Shape 35"/>
          <p:cNvSpPr/>
          <p:nvPr/>
        </p:nvSpPr>
        <p:spPr>
          <a:xfrm>
            <a:off x="6711696" y="4480560"/>
            <a:ext cx="4700016" cy="0"/>
          </a:xfrm>
          <a:prstGeom prst="line">
            <a:avLst/>
          </a:prstGeom>
          <a:noFill/>
          <a:ln w="6350">
            <a:solidFill>
              <a:srgbClr val="EDEDF0"/>
            </a:solidFill>
            <a:prstDash val="solid"/>
          </a:ln>
        </p:spPr>
      </p:sp>
      <p:sp>
        <p:nvSpPr>
          <p:cNvPr id="38" name="Shape 36"/>
          <p:cNvSpPr/>
          <p:nvPr/>
        </p:nvSpPr>
        <p:spPr>
          <a:xfrm>
            <a:off x="6428232" y="4663440"/>
            <a:ext cx="109728" cy="109728"/>
          </a:xfrm>
          <a:prstGeom prst="ellipse">
            <a:avLst/>
          </a:prstGeom>
          <a:solidFill>
            <a:srgbClr val="B9B9C0"/>
          </a:solidFill>
          <a:ln w="12700">
            <a:solidFill>
              <a:srgbClr val="B9B9C0"/>
            </a:solidFill>
            <a:prstDash val="solid"/>
          </a:ln>
        </p:spPr>
      </p:sp>
      <p:sp>
        <p:nvSpPr>
          <p:cNvPr id="39" name="Text 37"/>
          <p:cNvSpPr txBox="1"/>
          <p:nvPr/>
        </p:nvSpPr>
        <p:spPr>
          <a:xfrm>
            <a:off x="6711696" y="4590288"/>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İletişim dili</a:t>
            </a:r>
            <a:endParaRPr lang="en-US" sz="1350" dirty="0"/>
          </a:p>
        </p:txBody>
      </p:sp>
      <p:sp>
        <p:nvSpPr>
          <p:cNvPr id="40" name="Text 38"/>
          <p:cNvSpPr txBox="1"/>
          <p:nvPr/>
        </p:nvSpPr>
        <p:spPr>
          <a:xfrm>
            <a:off x="8211312" y="4608576"/>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Nasıl konuşuyor: yazısı, sesi, sessizliği?</a:t>
            </a:r>
            <a:endParaRPr lang="en-US" sz="1050" dirty="0"/>
          </a:p>
        </p:txBody>
      </p:sp>
      <p:sp>
        <p:nvSpPr>
          <p:cNvPr id="41" name="Shape 39"/>
          <p:cNvSpPr/>
          <p:nvPr/>
        </p:nvSpPr>
        <p:spPr>
          <a:xfrm>
            <a:off x="6711696" y="5193792"/>
            <a:ext cx="4700016" cy="0"/>
          </a:xfrm>
          <a:prstGeom prst="line">
            <a:avLst/>
          </a:prstGeom>
          <a:noFill/>
          <a:ln w="6350">
            <a:solidFill>
              <a:srgbClr val="EDEDF0"/>
            </a:solidFill>
            <a:prstDash val="solid"/>
          </a:ln>
        </p:spPr>
      </p:sp>
      <p:sp>
        <p:nvSpPr>
          <p:cNvPr id="42" name="Shape 40"/>
          <p:cNvSpPr/>
          <p:nvPr/>
        </p:nvSpPr>
        <p:spPr>
          <a:xfrm>
            <a:off x="6428232" y="5376672"/>
            <a:ext cx="109728" cy="109728"/>
          </a:xfrm>
          <a:prstGeom prst="ellipse">
            <a:avLst/>
          </a:prstGeom>
          <a:solidFill>
            <a:srgbClr val="8C3A2B"/>
          </a:solidFill>
          <a:ln w="12700">
            <a:solidFill>
              <a:srgbClr val="8C3A2B"/>
            </a:solidFill>
            <a:prstDash val="solid"/>
          </a:ln>
        </p:spPr>
      </p:sp>
      <p:sp>
        <p:nvSpPr>
          <p:cNvPr id="43" name="Text 41"/>
          <p:cNvSpPr txBox="1"/>
          <p:nvPr/>
        </p:nvSpPr>
        <p:spPr>
          <a:xfrm>
            <a:off x="6711696" y="5303520"/>
            <a:ext cx="1481328"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Öz</a:t>
            </a:r>
            <a:endParaRPr lang="en-US" sz="1350" dirty="0"/>
          </a:p>
        </p:txBody>
      </p:sp>
      <p:sp>
        <p:nvSpPr>
          <p:cNvPr id="44" name="Text 42"/>
          <p:cNvSpPr txBox="1"/>
          <p:nvPr/>
        </p:nvSpPr>
        <p:spPr>
          <a:xfrm>
            <a:off x="8211312" y="5321808"/>
            <a:ext cx="3200400" cy="566928"/>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Müşteri bu markayı başkasına nasıl anlatıyor?</a:t>
            </a:r>
            <a:endParaRPr lang="en-US" sz="1050" dirty="0"/>
          </a:p>
        </p:txBody>
      </p:sp>
      <p:sp>
        <p:nvSpPr>
          <p:cNvPr id="45" name="Shape 43"/>
          <p:cNvSpPr/>
          <p:nvPr/>
        </p:nvSpPr>
        <p:spPr>
          <a:xfrm>
            <a:off x="5961888" y="2395728"/>
            <a:ext cx="0" cy="3346704"/>
          </a:xfrm>
          <a:prstGeom prst="line">
            <a:avLst/>
          </a:prstGeom>
          <a:noFill/>
          <a:ln w="9525">
            <a:solidFill>
              <a:srgbClr val="C9C9CF"/>
            </a:solidFill>
            <a:prstDash val="solid"/>
          </a:ln>
        </p:spPr>
      </p:sp>
      <p:sp>
        <p:nvSpPr>
          <p:cNvPr id="46" name="Text 44"/>
          <p:cNvSpPr txBox="1"/>
          <p:nvPr/>
        </p:nvSpPr>
        <p:spPr>
          <a:xfrm>
            <a:off x="777240" y="5870448"/>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Doldurulamayan bir başlık, araştırmanın eksik kaldığı yeri gösterir — boş bırakmak yerine nasıl öğreneceğinizi yazın.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 · MARKA ANAHTARI</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Bileşen hangi ölçekte iş görür?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Her bileşen mekânda farklı bir ölçekte karşılık bulur; kimi bütün kurguyu belirler, kimi tek bir detayda görünür. Bileşeni doğru ölçeğe bağlamak, hangi kararın nereden geldiğini açıklayabilmektir.</a:t>
            </a:r>
            <a:endParaRPr lang="en-US" sz="1350" dirty="0"/>
          </a:p>
        </p:txBody>
      </p:sp>
      <p:sp>
        <p:nvSpPr>
          <p:cNvPr id="7" name="Shape 5"/>
          <p:cNvSpPr/>
          <p:nvPr/>
        </p:nvSpPr>
        <p:spPr>
          <a:xfrm>
            <a:off x="777240" y="2395728"/>
            <a:ext cx="1680972" cy="292608"/>
          </a:xfrm>
          <a:prstGeom prst="rect">
            <a:avLst/>
          </a:prstGeom>
          <a:solidFill>
            <a:srgbClr val="F6EAE6"/>
          </a:solidFill>
          <a:ln/>
        </p:spPr>
      </p:sp>
      <p:sp>
        <p:nvSpPr>
          <p:cNvPr id="8" name="Text 6"/>
          <p:cNvSpPr txBox="1"/>
          <p:nvPr/>
        </p:nvSpPr>
        <p:spPr>
          <a:xfrm>
            <a:off x="822960" y="2395728"/>
            <a:ext cx="1589532" cy="292608"/>
          </a:xfrm>
          <a:prstGeom prst="rect">
            <a:avLst/>
          </a:prstGeom>
          <a:noFill/>
          <a:ln/>
        </p:spPr>
        <p:txBody>
          <a:bodyPr wrap="square" lIns="0" tIns="0" rIns="0" bIns="0" rtlCol="0" anchor="ctr"/>
          <a:lstStyle/>
          <a:p>
            <a:pPr algn="ctr" indent="0" marL="0">
              <a:lnSpc>
                <a:spcPts val="1100"/>
              </a:lnSpc>
              <a:buNone/>
            </a:pPr>
            <a:r>
              <a:rPr lang="en-US" sz="900" b="1" dirty="0">
                <a:solidFill>
                  <a:srgbClr val="8C3A2B"/>
                </a:solidFill>
                <a:latin typeface="Calibri" pitchFamily="34" charset="0"/>
                <a:ea typeface="Calibri" pitchFamily="34" charset="-122"/>
                <a:cs typeface="Calibri" pitchFamily="34" charset="-120"/>
              </a:rPr>
              <a:t>KURGU</a:t>
            </a:r>
            <a:endParaRPr lang="en-US" sz="900" dirty="0"/>
          </a:p>
        </p:txBody>
      </p:sp>
      <p:sp>
        <p:nvSpPr>
          <p:cNvPr id="9" name="Shape 7"/>
          <p:cNvSpPr/>
          <p:nvPr/>
        </p:nvSpPr>
        <p:spPr>
          <a:xfrm>
            <a:off x="2567940" y="2395728"/>
            <a:ext cx="1680972" cy="292608"/>
          </a:xfrm>
          <a:prstGeom prst="rect">
            <a:avLst/>
          </a:prstGeom>
          <a:solidFill>
            <a:srgbClr val="F6EAE6"/>
          </a:solidFill>
          <a:ln/>
        </p:spPr>
      </p:sp>
      <p:sp>
        <p:nvSpPr>
          <p:cNvPr id="10" name="Text 8"/>
          <p:cNvSpPr txBox="1"/>
          <p:nvPr/>
        </p:nvSpPr>
        <p:spPr>
          <a:xfrm>
            <a:off x="2613660" y="2395728"/>
            <a:ext cx="1589532" cy="292608"/>
          </a:xfrm>
          <a:prstGeom prst="rect">
            <a:avLst/>
          </a:prstGeom>
          <a:noFill/>
          <a:ln/>
        </p:spPr>
        <p:txBody>
          <a:bodyPr wrap="square" lIns="0" tIns="0" rIns="0" bIns="0" rtlCol="0" anchor="ctr"/>
          <a:lstStyle/>
          <a:p>
            <a:pPr algn="ctr" indent="0" marL="0">
              <a:lnSpc>
                <a:spcPts val="1100"/>
              </a:lnSpc>
              <a:buNone/>
            </a:pPr>
            <a:r>
              <a:rPr lang="en-US" sz="900" b="1" dirty="0">
                <a:solidFill>
                  <a:srgbClr val="8C3A2B"/>
                </a:solidFill>
                <a:latin typeface="Calibri" pitchFamily="34" charset="0"/>
                <a:ea typeface="Calibri" pitchFamily="34" charset="-122"/>
                <a:cs typeface="Calibri" pitchFamily="34" charset="-120"/>
              </a:rPr>
              <a:t>CEPHE</a:t>
            </a:r>
            <a:endParaRPr lang="en-US" sz="900" dirty="0"/>
          </a:p>
        </p:txBody>
      </p:sp>
      <p:sp>
        <p:nvSpPr>
          <p:cNvPr id="11" name="Shape 9"/>
          <p:cNvSpPr/>
          <p:nvPr/>
        </p:nvSpPr>
        <p:spPr>
          <a:xfrm>
            <a:off x="4358640" y="2395728"/>
            <a:ext cx="1680972" cy="292608"/>
          </a:xfrm>
          <a:prstGeom prst="rect">
            <a:avLst/>
          </a:prstGeom>
          <a:solidFill>
            <a:srgbClr val="F6EAE6"/>
          </a:solidFill>
          <a:ln/>
        </p:spPr>
      </p:sp>
      <p:sp>
        <p:nvSpPr>
          <p:cNvPr id="12" name="Text 10"/>
          <p:cNvSpPr txBox="1"/>
          <p:nvPr/>
        </p:nvSpPr>
        <p:spPr>
          <a:xfrm>
            <a:off x="4404360" y="2395728"/>
            <a:ext cx="1589532" cy="292608"/>
          </a:xfrm>
          <a:prstGeom prst="rect">
            <a:avLst/>
          </a:prstGeom>
          <a:noFill/>
          <a:ln/>
        </p:spPr>
        <p:txBody>
          <a:bodyPr wrap="square" lIns="0" tIns="0" rIns="0" bIns="0" rtlCol="0" anchor="ctr"/>
          <a:lstStyle/>
          <a:p>
            <a:pPr algn="ctr" indent="0" marL="0">
              <a:lnSpc>
                <a:spcPts val="1100"/>
              </a:lnSpc>
              <a:buNone/>
            </a:pPr>
            <a:r>
              <a:rPr lang="en-US" sz="900" b="1" dirty="0">
                <a:solidFill>
                  <a:srgbClr val="8C3A2B"/>
                </a:solidFill>
                <a:latin typeface="Calibri" pitchFamily="34" charset="0"/>
                <a:ea typeface="Calibri" pitchFamily="34" charset="-122"/>
                <a:cs typeface="Calibri" pitchFamily="34" charset="-120"/>
              </a:rPr>
              <a:t>TEŞHİR</a:t>
            </a:r>
            <a:endParaRPr lang="en-US" sz="900" dirty="0"/>
          </a:p>
        </p:txBody>
      </p:sp>
      <p:sp>
        <p:nvSpPr>
          <p:cNvPr id="13" name="Shape 11"/>
          <p:cNvSpPr/>
          <p:nvPr/>
        </p:nvSpPr>
        <p:spPr>
          <a:xfrm>
            <a:off x="6149340" y="2395728"/>
            <a:ext cx="1680972" cy="292608"/>
          </a:xfrm>
          <a:prstGeom prst="rect">
            <a:avLst/>
          </a:prstGeom>
          <a:solidFill>
            <a:srgbClr val="F6EAE6"/>
          </a:solidFill>
          <a:ln/>
        </p:spPr>
      </p:sp>
      <p:sp>
        <p:nvSpPr>
          <p:cNvPr id="14" name="Text 12"/>
          <p:cNvSpPr txBox="1"/>
          <p:nvPr/>
        </p:nvSpPr>
        <p:spPr>
          <a:xfrm>
            <a:off x="6195060" y="2395728"/>
            <a:ext cx="1589532" cy="292608"/>
          </a:xfrm>
          <a:prstGeom prst="rect">
            <a:avLst/>
          </a:prstGeom>
          <a:noFill/>
          <a:ln/>
        </p:spPr>
        <p:txBody>
          <a:bodyPr wrap="square" lIns="0" tIns="0" rIns="0" bIns="0" rtlCol="0" anchor="ctr"/>
          <a:lstStyle/>
          <a:p>
            <a:pPr algn="ctr" indent="0" marL="0">
              <a:lnSpc>
                <a:spcPts val="1100"/>
              </a:lnSpc>
              <a:buNone/>
            </a:pPr>
            <a:r>
              <a:rPr lang="en-US" sz="900" b="1" dirty="0">
                <a:solidFill>
                  <a:srgbClr val="8C3A2B"/>
                </a:solidFill>
                <a:latin typeface="Calibri" pitchFamily="34" charset="0"/>
                <a:ea typeface="Calibri" pitchFamily="34" charset="-122"/>
                <a:cs typeface="Calibri" pitchFamily="34" charset="-120"/>
              </a:rPr>
              <a:t>ATMOSFER</a:t>
            </a:r>
            <a:endParaRPr lang="en-US" sz="900" dirty="0"/>
          </a:p>
        </p:txBody>
      </p:sp>
      <p:sp>
        <p:nvSpPr>
          <p:cNvPr id="15" name="Shape 13"/>
          <p:cNvSpPr/>
          <p:nvPr/>
        </p:nvSpPr>
        <p:spPr>
          <a:xfrm>
            <a:off x="7940040" y="2395728"/>
            <a:ext cx="1680972" cy="292608"/>
          </a:xfrm>
          <a:prstGeom prst="rect">
            <a:avLst/>
          </a:prstGeom>
          <a:solidFill>
            <a:srgbClr val="F6EAE6"/>
          </a:solidFill>
          <a:ln/>
        </p:spPr>
      </p:sp>
      <p:sp>
        <p:nvSpPr>
          <p:cNvPr id="16" name="Text 14"/>
          <p:cNvSpPr txBox="1"/>
          <p:nvPr/>
        </p:nvSpPr>
        <p:spPr>
          <a:xfrm>
            <a:off x="7985760" y="2395728"/>
            <a:ext cx="1589532" cy="292608"/>
          </a:xfrm>
          <a:prstGeom prst="rect">
            <a:avLst/>
          </a:prstGeom>
          <a:noFill/>
          <a:ln/>
        </p:spPr>
        <p:txBody>
          <a:bodyPr wrap="square" lIns="0" tIns="0" rIns="0" bIns="0" rtlCol="0" anchor="ctr"/>
          <a:lstStyle/>
          <a:p>
            <a:pPr algn="ctr" indent="0" marL="0">
              <a:lnSpc>
                <a:spcPts val="1100"/>
              </a:lnSpc>
              <a:buNone/>
            </a:pPr>
            <a:r>
              <a:rPr lang="en-US" sz="900" b="1" dirty="0">
                <a:solidFill>
                  <a:srgbClr val="8C3A2B"/>
                </a:solidFill>
                <a:latin typeface="Calibri" pitchFamily="34" charset="0"/>
                <a:ea typeface="Calibri" pitchFamily="34" charset="-122"/>
                <a:cs typeface="Calibri" pitchFamily="34" charset="-120"/>
              </a:rPr>
              <a:t>MALZEME</a:t>
            </a:r>
            <a:endParaRPr lang="en-US" sz="900" dirty="0"/>
          </a:p>
        </p:txBody>
      </p:sp>
      <p:sp>
        <p:nvSpPr>
          <p:cNvPr id="17" name="Shape 15"/>
          <p:cNvSpPr/>
          <p:nvPr/>
        </p:nvSpPr>
        <p:spPr>
          <a:xfrm>
            <a:off x="9730740" y="2395728"/>
            <a:ext cx="1680972" cy="292608"/>
          </a:xfrm>
          <a:prstGeom prst="rect">
            <a:avLst/>
          </a:prstGeom>
          <a:solidFill>
            <a:srgbClr val="F6EAE6"/>
          </a:solidFill>
          <a:ln/>
        </p:spPr>
      </p:sp>
      <p:sp>
        <p:nvSpPr>
          <p:cNvPr id="18" name="Text 16"/>
          <p:cNvSpPr txBox="1"/>
          <p:nvPr/>
        </p:nvSpPr>
        <p:spPr>
          <a:xfrm>
            <a:off x="9776460" y="2395728"/>
            <a:ext cx="1589532" cy="292608"/>
          </a:xfrm>
          <a:prstGeom prst="rect">
            <a:avLst/>
          </a:prstGeom>
          <a:noFill/>
          <a:ln/>
        </p:spPr>
        <p:txBody>
          <a:bodyPr wrap="square" lIns="0" tIns="0" rIns="0" bIns="0" rtlCol="0" anchor="ctr"/>
          <a:lstStyle/>
          <a:p>
            <a:pPr algn="ctr" indent="0" marL="0">
              <a:lnSpc>
                <a:spcPts val="1100"/>
              </a:lnSpc>
              <a:buNone/>
            </a:pPr>
            <a:r>
              <a:rPr lang="en-US" sz="900" b="1" dirty="0">
                <a:solidFill>
                  <a:srgbClr val="8C3A2B"/>
                </a:solidFill>
                <a:latin typeface="Calibri" pitchFamily="34" charset="0"/>
                <a:ea typeface="Calibri" pitchFamily="34" charset="-122"/>
                <a:cs typeface="Calibri" pitchFamily="34" charset="-120"/>
              </a:rPr>
              <a:t>DETAY</a:t>
            </a:r>
            <a:endParaRPr lang="en-US" sz="900" dirty="0"/>
          </a:p>
        </p:txBody>
      </p:sp>
      <p:sp>
        <p:nvSpPr>
          <p:cNvPr id="19" name="Shape 17"/>
          <p:cNvSpPr/>
          <p:nvPr/>
        </p:nvSpPr>
        <p:spPr>
          <a:xfrm>
            <a:off x="1617726" y="2724912"/>
            <a:ext cx="0" cy="402336"/>
          </a:xfrm>
          <a:prstGeom prst="line">
            <a:avLst/>
          </a:prstGeom>
          <a:noFill/>
          <a:ln w="10795">
            <a:solidFill>
              <a:srgbClr val="EBD7D1"/>
            </a:solidFill>
            <a:prstDash val="solid"/>
          </a:ln>
        </p:spPr>
      </p:sp>
      <p:sp>
        <p:nvSpPr>
          <p:cNvPr id="20" name="Shape 18"/>
          <p:cNvSpPr/>
          <p:nvPr/>
        </p:nvSpPr>
        <p:spPr>
          <a:xfrm>
            <a:off x="5199126" y="2724912"/>
            <a:ext cx="0" cy="402336"/>
          </a:xfrm>
          <a:prstGeom prst="line">
            <a:avLst/>
          </a:prstGeom>
          <a:noFill/>
          <a:ln w="10795">
            <a:solidFill>
              <a:srgbClr val="EBD7D1"/>
            </a:solidFill>
            <a:prstDash val="solid"/>
          </a:ln>
        </p:spPr>
      </p:sp>
      <p:sp>
        <p:nvSpPr>
          <p:cNvPr id="21" name="Shape 19"/>
          <p:cNvSpPr/>
          <p:nvPr/>
        </p:nvSpPr>
        <p:spPr>
          <a:xfrm>
            <a:off x="1617726" y="3127248"/>
            <a:ext cx="3581400" cy="0"/>
          </a:xfrm>
          <a:prstGeom prst="line">
            <a:avLst/>
          </a:prstGeom>
          <a:noFill/>
          <a:ln w="17780">
            <a:solidFill>
              <a:srgbClr val="8C3A2B"/>
            </a:solidFill>
            <a:prstDash val="solid"/>
          </a:ln>
        </p:spPr>
      </p:sp>
      <p:sp>
        <p:nvSpPr>
          <p:cNvPr id="22" name="Shape 20"/>
          <p:cNvSpPr/>
          <p:nvPr/>
        </p:nvSpPr>
        <p:spPr>
          <a:xfrm>
            <a:off x="1558290" y="3067812"/>
            <a:ext cx="118872" cy="118872"/>
          </a:xfrm>
          <a:prstGeom prst="ellipse">
            <a:avLst/>
          </a:prstGeom>
          <a:solidFill>
            <a:srgbClr val="8C3A2B"/>
          </a:solidFill>
          <a:ln w="12700">
            <a:solidFill>
              <a:srgbClr val="8C3A2B"/>
            </a:solidFill>
            <a:prstDash val="solid"/>
          </a:ln>
        </p:spPr>
      </p:sp>
      <p:sp>
        <p:nvSpPr>
          <p:cNvPr id="23" name="Shape 21"/>
          <p:cNvSpPr/>
          <p:nvPr/>
        </p:nvSpPr>
        <p:spPr>
          <a:xfrm>
            <a:off x="5139690" y="3067812"/>
            <a:ext cx="118872" cy="118872"/>
          </a:xfrm>
          <a:prstGeom prst="ellipse">
            <a:avLst/>
          </a:prstGeom>
          <a:solidFill>
            <a:srgbClr val="8C3A2B"/>
          </a:solidFill>
          <a:ln w="12700">
            <a:solidFill>
              <a:srgbClr val="8C3A2B"/>
            </a:solidFill>
            <a:prstDash val="solid"/>
          </a:ln>
        </p:spPr>
      </p:sp>
      <p:sp>
        <p:nvSpPr>
          <p:cNvPr id="24" name="Text 22"/>
          <p:cNvSpPr txBox="1"/>
          <p:nvPr/>
        </p:nvSpPr>
        <p:spPr>
          <a:xfrm>
            <a:off x="777240" y="3255264"/>
            <a:ext cx="301752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Hedef kitle · Hedefler</a:t>
            </a:r>
            <a:endParaRPr lang="en-US" sz="1300" dirty="0"/>
          </a:p>
        </p:txBody>
      </p:sp>
      <p:sp>
        <p:nvSpPr>
          <p:cNvPr id="25" name="Text 23"/>
          <p:cNvSpPr txBox="1"/>
          <p:nvPr/>
        </p:nvSpPr>
        <p:spPr>
          <a:xfrm>
            <a:off x="3931920" y="3273552"/>
            <a:ext cx="7479792"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dolaşım hızı, kalma süresi, oturma ihtiyacı, esneklik</a:t>
            </a:r>
            <a:endParaRPr lang="en-US" sz="1100" dirty="0"/>
          </a:p>
        </p:txBody>
      </p:sp>
      <p:sp>
        <p:nvSpPr>
          <p:cNvPr id="26" name="Shape 24"/>
          <p:cNvSpPr/>
          <p:nvPr/>
        </p:nvSpPr>
        <p:spPr>
          <a:xfrm>
            <a:off x="777240" y="3593592"/>
            <a:ext cx="10634472" cy="0"/>
          </a:xfrm>
          <a:prstGeom prst="line">
            <a:avLst/>
          </a:prstGeom>
          <a:noFill/>
          <a:ln w="6350">
            <a:solidFill>
              <a:srgbClr val="EDEDF0"/>
            </a:solidFill>
            <a:prstDash val="solid"/>
          </a:ln>
        </p:spPr>
      </p:sp>
      <p:sp>
        <p:nvSpPr>
          <p:cNvPr id="27" name="Shape 25"/>
          <p:cNvSpPr/>
          <p:nvPr/>
        </p:nvSpPr>
        <p:spPr>
          <a:xfrm>
            <a:off x="3408426" y="2724912"/>
            <a:ext cx="0" cy="905256"/>
          </a:xfrm>
          <a:prstGeom prst="line">
            <a:avLst/>
          </a:prstGeom>
          <a:noFill/>
          <a:ln w="10795">
            <a:solidFill>
              <a:srgbClr val="EBD7D1"/>
            </a:solidFill>
            <a:prstDash val="solid"/>
          </a:ln>
        </p:spPr>
      </p:sp>
      <p:sp>
        <p:nvSpPr>
          <p:cNvPr id="28" name="Shape 26"/>
          <p:cNvSpPr/>
          <p:nvPr/>
        </p:nvSpPr>
        <p:spPr>
          <a:xfrm>
            <a:off x="3348990" y="3570732"/>
            <a:ext cx="118872" cy="118872"/>
          </a:xfrm>
          <a:prstGeom prst="ellipse">
            <a:avLst/>
          </a:prstGeom>
          <a:solidFill>
            <a:srgbClr val="8C3A2B"/>
          </a:solidFill>
          <a:ln w="12700">
            <a:solidFill>
              <a:srgbClr val="8C3A2B"/>
            </a:solidFill>
            <a:prstDash val="solid"/>
          </a:ln>
        </p:spPr>
      </p:sp>
      <p:sp>
        <p:nvSpPr>
          <p:cNvPr id="29" name="Text 27"/>
          <p:cNvSpPr txBox="1"/>
          <p:nvPr/>
        </p:nvSpPr>
        <p:spPr>
          <a:xfrm>
            <a:off x="777240" y="3758184"/>
            <a:ext cx="301752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Rekabet</a:t>
            </a:r>
            <a:endParaRPr lang="en-US" sz="1300" dirty="0"/>
          </a:p>
        </p:txBody>
      </p:sp>
      <p:sp>
        <p:nvSpPr>
          <p:cNvPr id="30" name="Text 28"/>
          <p:cNvSpPr txBox="1"/>
          <p:nvPr/>
        </p:nvSpPr>
        <p:spPr>
          <a:xfrm>
            <a:off x="3931920" y="3776472"/>
            <a:ext cx="7479792"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vitrinin sokakta nasıl ayrıştığı, tabelanın tonu</a:t>
            </a:r>
            <a:endParaRPr lang="en-US" sz="1100" dirty="0"/>
          </a:p>
        </p:txBody>
      </p:sp>
      <p:sp>
        <p:nvSpPr>
          <p:cNvPr id="31" name="Shape 29"/>
          <p:cNvSpPr/>
          <p:nvPr/>
        </p:nvSpPr>
        <p:spPr>
          <a:xfrm>
            <a:off x="777240" y="4096512"/>
            <a:ext cx="10634472" cy="0"/>
          </a:xfrm>
          <a:prstGeom prst="line">
            <a:avLst/>
          </a:prstGeom>
          <a:noFill/>
          <a:ln w="6350">
            <a:solidFill>
              <a:srgbClr val="EDEDF0"/>
            </a:solidFill>
            <a:prstDash val="solid"/>
          </a:ln>
        </p:spPr>
      </p:sp>
      <p:sp>
        <p:nvSpPr>
          <p:cNvPr id="32" name="Shape 30"/>
          <p:cNvSpPr/>
          <p:nvPr/>
        </p:nvSpPr>
        <p:spPr>
          <a:xfrm>
            <a:off x="5199126" y="2724912"/>
            <a:ext cx="0" cy="1408176"/>
          </a:xfrm>
          <a:prstGeom prst="line">
            <a:avLst/>
          </a:prstGeom>
          <a:noFill/>
          <a:ln w="10795">
            <a:solidFill>
              <a:srgbClr val="EBD7D1"/>
            </a:solidFill>
            <a:prstDash val="solid"/>
          </a:ln>
        </p:spPr>
      </p:sp>
      <p:sp>
        <p:nvSpPr>
          <p:cNvPr id="33" name="Shape 31"/>
          <p:cNvSpPr/>
          <p:nvPr/>
        </p:nvSpPr>
        <p:spPr>
          <a:xfrm>
            <a:off x="5139690" y="4073652"/>
            <a:ext cx="118872" cy="118872"/>
          </a:xfrm>
          <a:prstGeom prst="ellipse">
            <a:avLst/>
          </a:prstGeom>
          <a:solidFill>
            <a:srgbClr val="8C3A2B"/>
          </a:solidFill>
          <a:ln w="12700">
            <a:solidFill>
              <a:srgbClr val="8C3A2B"/>
            </a:solidFill>
            <a:prstDash val="solid"/>
          </a:ln>
        </p:spPr>
      </p:sp>
      <p:sp>
        <p:nvSpPr>
          <p:cNvPr id="34" name="Text 32"/>
          <p:cNvSpPr txBox="1"/>
          <p:nvPr/>
        </p:nvSpPr>
        <p:spPr>
          <a:xfrm>
            <a:off x="777240" y="4261104"/>
            <a:ext cx="301752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Faydalar</a:t>
            </a:r>
            <a:endParaRPr lang="en-US" sz="1300" dirty="0"/>
          </a:p>
        </p:txBody>
      </p:sp>
      <p:sp>
        <p:nvSpPr>
          <p:cNvPr id="35" name="Text 33"/>
          <p:cNvSpPr txBox="1"/>
          <p:nvPr/>
        </p:nvSpPr>
        <p:spPr>
          <a:xfrm>
            <a:off x="3931920" y="4279392"/>
            <a:ext cx="7479792"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ürüne dokunma izni, deneme alanı, ürün yoğunluğu</a:t>
            </a:r>
            <a:endParaRPr lang="en-US" sz="1100" dirty="0"/>
          </a:p>
        </p:txBody>
      </p:sp>
      <p:sp>
        <p:nvSpPr>
          <p:cNvPr id="36" name="Shape 34"/>
          <p:cNvSpPr/>
          <p:nvPr/>
        </p:nvSpPr>
        <p:spPr>
          <a:xfrm>
            <a:off x="777240" y="4599432"/>
            <a:ext cx="10634472" cy="0"/>
          </a:xfrm>
          <a:prstGeom prst="line">
            <a:avLst/>
          </a:prstGeom>
          <a:noFill/>
          <a:ln w="6350">
            <a:solidFill>
              <a:srgbClr val="EDEDF0"/>
            </a:solidFill>
            <a:prstDash val="solid"/>
          </a:ln>
        </p:spPr>
      </p:sp>
      <p:sp>
        <p:nvSpPr>
          <p:cNvPr id="37" name="Shape 35"/>
          <p:cNvSpPr/>
          <p:nvPr/>
        </p:nvSpPr>
        <p:spPr>
          <a:xfrm>
            <a:off x="6989826" y="2724912"/>
            <a:ext cx="0" cy="1911096"/>
          </a:xfrm>
          <a:prstGeom prst="line">
            <a:avLst/>
          </a:prstGeom>
          <a:noFill/>
          <a:ln w="10795">
            <a:solidFill>
              <a:srgbClr val="EBD7D1"/>
            </a:solidFill>
            <a:prstDash val="solid"/>
          </a:ln>
        </p:spPr>
      </p:sp>
      <p:sp>
        <p:nvSpPr>
          <p:cNvPr id="38" name="Shape 36"/>
          <p:cNvSpPr/>
          <p:nvPr/>
        </p:nvSpPr>
        <p:spPr>
          <a:xfrm>
            <a:off x="6930390" y="4576572"/>
            <a:ext cx="118872" cy="118872"/>
          </a:xfrm>
          <a:prstGeom prst="ellipse">
            <a:avLst/>
          </a:prstGeom>
          <a:solidFill>
            <a:srgbClr val="8C3A2B"/>
          </a:solidFill>
          <a:ln w="12700">
            <a:solidFill>
              <a:srgbClr val="8C3A2B"/>
            </a:solidFill>
            <a:prstDash val="solid"/>
          </a:ln>
        </p:spPr>
      </p:sp>
      <p:sp>
        <p:nvSpPr>
          <p:cNvPr id="39" name="Text 37"/>
          <p:cNvSpPr txBox="1"/>
          <p:nvPr/>
        </p:nvSpPr>
        <p:spPr>
          <a:xfrm>
            <a:off x="777240" y="4764024"/>
            <a:ext cx="301752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Kişilik · Değerler</a:t>
            </a:r>
            <a:endParaRPr lang="en-US" sz="1300" dirty="0"/>
          </a:p>
        </p:txBody>
      </p:sp>
      <p:sp>
        <p:nvSpPr>
          <p:cNvPr id="40" name="Text 38"/>
          <p:cNvSpPr txBox="1"/>
          <p:nvPr/>
        </p:nvSpPr>
        <p:spPr>
          <a:xfrm>
            <a:off x="3931920" y="4782312"/>
            <a:ext cx="7479792"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ışık sıcaklığı, ses düzeyi, malzeme sertliği</a:t>
            </a:r>
            <a:endParaRPr lang="en-US" sz="1100" dirty="0"/>
          </a:p>
        </p:txBody>
      </p:sp>
      <p:sp>
        <p:nvSpPr>
          <p:cNvPr id="41" name="Shape 39"/>
          <p:cNvSpPr/>
          <p:nvPr/>
        </p:nvSpPr>
        <p:spPr>
          <a:xfrm>
            <a:off x="777240" y="5102352"/>
            <a:ext cx="10634472" cy="0"/>
          </a:xfrm>
          <a:prstGeom prst="line">
            <a:avLst/>
          </a:prstGeom>
          <a:noFill/>
          <a:ln w="6350">
            <a:solidFill>
              <a:srgbClr val="EDEDF0"/>
            </a:solidFill>
            <a:prstDash val="solid"/>
          </a:ln>
        </p:spPr>
      </p:sp>
      <p:sp>
        <p:nvSpPr>
          <p:cNvPr id="42" name="Shape 40"/>
          <p:cNvSpPr/>
          <p:nvPr/>
        </p:nvSpPr>
        <p:spPr>
          <a:xfrm>
            <a:off x="8780526" y="2724912"/>
            <a:ext cx="0" cy="2414016"/>
          </a:xfrm>
          <a:prstGeom prst="line">
            <a:avLst/>
          </a:prstGeom>
          <a:noFill/>
          <a:ln w="10795">
            <a:solidFill>
              <a:srgbClr val="EBD7D1"/>
            </a:solidFill>
            <a:prstDash val="solid"/>
          </a:ln>
        </p:spPr>
      </p:sp>
      <p:sp>
        <p:nvSpPr>
          <p:cNvPr id="43" name="Shape 41"/>
          <p:cNvSpPr/>
          <p:nvPr/>
        </p:nvSpPr>
        <p:spPr>
          <a:xfrm>
            <a:off x="8721090" y="5079492"/>
            <a:ext cx="118872" cy="118872"/>
          </a:xfrm>
          <a:prstGeom prst="ellipse">
            <a:avLst/>
          </a:prstGeom>
          <a:solidFill>
            <a:srgbClr val="8C3A2B"/>
          </a:solidFill>
          <a:ln w="12700">
            <a:solidFill>
              <a:srgbClr val="8C3A2B"/>
            </a:solidFill>
            <a:prstDash val="solid"/>
          </a:ln>
        </p:spPr>
      </p:sp>
      <p:sp>
        <p:nvSpPr>
          <p:cNvPr id="44" name="Text 42"/>
          <p:cNvSpPr txBox="1"/>
          <p:nvPr/>
        </p:nvSpPr>
        <p:spPr>
          <a:xfrm>
            <a:off x="777240" y="5266944"/>
            <a:ext cx="301752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Görünüm</a:t>
            </a:r>
            <a:endParaRPr lang="en-US" sz="1300" dirty="0"/>
          </a:p>
        </p:txBody>
      </p:sp>
      <p:sp>
        <p:nvSpPr>
          <p:cNvPr id="45" name="Text 43"/>
          <p:cNvSpPr txBox="1"/>
          <p:nvPr/>
        </p:nvSpPr>
        <p:spPr>
          <a:xfrm>
            <a:off x="3931920" y="5285232"/>
            <a:ext cx="7479792"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yüzey, renk, doku, birleşim detayı</a:t>
            </a:r>
            <a:endParaRPr lang="en-US" sz="1100" dirty="0"/>
          </a:p>
        </p:txBody>
      </p:sp>
      <p:sp>
        <p:nvSpPr>
          <p:cNvPr id="46" name="Shape 44"/>
          <p:cNvSpPr/>
          <p:nvPr/>
        </p:nvSpPr>
        <p:spPr>
          <a:xfrm>
            <a:off x="777240" y="5605272"/>
            <a:ext cx="10634472" cy="0"/>
          </a:xfrm>
          <a:prstGeom prst="line">
            <a:avLst/>
          </a:prstGeom>
          <a:noFill/>
          <a:ln w="6350">
            <a:solidFill>
              <a:srgbClr val="EDEDF0"/>
            </a:solidFill>
            <a:prstDash val="solid"/>
          </a:ln>
        </p:spPr>
      </p:sp>
      <p:sp>
        <p:nvSpPr>
          <p:cNvPr id="47" name="Shape 45"/>
          <p:cNvSpPr/>
          <p:nvPr/>
        </p:nvSpPr>
        <p:spPr>
          <a:xfrm>
            <a:off x="10571226" y="2724912"/>
            <a:ext cx="0" cy="2916936"/>
          </a:xfrm>
          <a:prstGeom prst="line">
            <a:avLst/>
          </a:prstGeom>
          <a:noFill/>
          <a:ln w="10795">
            <a:solidFill>
              <a:srgbClr val="EBD7D1"/>
            </a:solidFill>
            <a:prstDash val="solid"/>
          </a:ln>
        </p:spPr>
      </p:sp>
      <p:sp>
        <p:nvSpPr>
          <p:cNvPr id="48" name="Shape 46"/>
          <p:cNvSpPr/>
          <p:nvPr/>
        </p:nvSpPr>
        <p:spPr>
          <a:xfrm>
            <a:off x="10511790" y="5582412"/>
            <a:ext cx="118872" cy="118872"/>
          </a:xfrm>
          <a:prstGeom prst="ellipse">
            <a:avLst/>
          </a:prstGeom>
          <a:solidFill>
            <a:srgbClr val="8C3A2B"/>
          </a:solidFill>
          <a:ln w="12700">
            <a:solidFill>
              <a:srgbClr val="8C3A2B"/>
            </a:solidFill>
            <a:prstDash val="solid"/>
          </a:ln>
        </p:spPr>
      </p:sp>
      <p:sp>
        <p:nvSpPr>
          <p:cNvPr id="49" name="Text 47"/>
          <p:cNvSpPr txBox="1"/>
          <p:nvPr/>
        </p:nvSpPr>
        <p:spPr>
          <a:xfrm>
            <a:off x="777240" y="5769864"/>
            <a:ext cx="301752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İletişim dili</a:t>
            </a:r>
            <a:endParaRPr lang="en-US" sz="1300" dirty="0"/>
          </a:p>
        </p:txBody>
      </p:sp>
      <p:sp>
        <p:nvSpPr>
          <p:cNvPr id="50" name="Text 48"/>
          <p:cNvSpPr txBox="1"/>
          <p:nvPr/>
        </p:nvSpPr>
        <p:spPr>
          <a:xfrm>
            <a:off x="3931920" y="5788152"/>
            <a:ext cx="7479792"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yazı karakteri, yönlendirme, etiket, ambalaj</a:t>
            </a:r>
            <a:endParaRPr lang="en-US" sz="1100" dirty="0"/>
          </a:p>
        </p:txBody>
      </p:sp>
      <p:sp>
        <p:nvSpPr>
          <p:cNvPr id="51" name="Shape 49"/>
          <p:cNvSpPr/>
          <p:nvPr/>
        </p:nvSpPr>
        <p:spPr>
          <a:xfrm>
            <a:off x="777240" y="6108192"/>
            <a:ext cx="10634472" cy="0"/>
          </a:xfrm>
          <a:prstGeom prst="line">
            <a:avLst/>
          </a:prstGeom>
          <a:noFill/>
          <a:ln w="6350">
            <a:solidFill>
              <a:srgbClr val="EDEDF0"/>
            </a:solidFill>
            <a:prstDash val="solid"/>
          </a:ln>
        </p:spPr>
      </p:sp>
      <p:sp>
        <p:nvSpPr>
          <p:cNvPr id="52" name="Text 50"/>
          <p:cNvSpPr txBox="1"/>
          <p:nvPr/>
        </p:nvSpPr>
        <p:spPr>
          <a:xfrm>
            <a:off x="777240" y="6080760"/>
            <a:ext cx="10634472" cy="32004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Kritiklerde sorulacak soru: bu karar hangi bileşenden geliyor?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 · MARKA ANAHTARI</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Doldurulmuş örnek: küçük bir kahve kavurucusu</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12</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Aşağıdaki örnek, sizin bulacağınız türden bir markadan üretildi: tek dükkânlı, kendi çekirdeğini kavuran, henüz tasarım dili olmayan bir kahveci.</a:t>
            </a:r>
            <a:endParaRPr lang="en-US" sz="1350" dirty="0"/>
          </a:p>
        </p:txBody>
      </p:sp>
      <p:sp>
        <p:nvSpPr>
          <p:cNvPr id="7" name="Text 5"/>
          <p:cNvSpPr txBox="1"/>
          <p:nvPr/>
        </p:nvSpPr>
        <p:spPr>
          <a:xfrm>
            <a:off x="777240" y="2267712"/>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Rekabet</a:t>
            </a:r>
            <a:endParaRPr lang="en-US" sz="900" dirty="0"/>
          </a:p>
        </p:txBody>
      </p:sp>
      <p:sp>
        <p:nvSpPr>
          <p:cNvPr id="8" name="Text 6"/>
          <p:cNvSpPr txBox="1"/>
          <p:nvPr/>
        </p:nvSpPr>
        <p:spPr>
          <a:xfrm>
            <a:off x="777240" y="2496312"/>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Zincir kahveciler değil, semtteki üç küçük kavurucu.</a:t>
            </a:r>
            <a:endParaRPr lang="en-US" sz="1250" dirty="0"/>
          </a:p>
        </p:txBody>
      </p:sp>
      <p:sp>
        <p:nvSpPr>
          <p:cNvPr id="9" name="Text 7"/>
          <p:cNvSpPr txBox="1"/>
          <p:nvPr/>
        </p:nvSpPr>
        <p:spPr>
          <a:xfrm>
            <a:off x="777240" y="3017520"/>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Hedef kitle</a:t>
            </a:r>
            <a:endParaRPr lang="en-US" sz="900" dirty="0"/>
          </a:p>
        </p:txBody>
      </p:sp>
      <p:sp>
        <p:nvSpPr>
          <p:cNvPr id="10" name="Text 8"/>
          <p:cNvSpPr txBox="1"/>
          <p:nvPr/>
        </p:nvSpPr>
        <p:spPr>
          <a:xfrm>
            <a:off x="777240" y="3246120"/>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Kahveyi tarif ederek soran, bekleyebilen müşteri.</a:t>
            </a:r>
            <a:endParaRPr lang="en-US" sz="1250" dirty="0"/>
          </a:p>
        </p:txBody>
      </p:sp>
      <p:sp>
        <p:nvSpPr>
          <p:cNvPr id="11" name="Text 9"/>
          <p:cNvSpPr txBox="1"/>
          <p:nvPr/>
        </p:nvSpPr>
        <p:spPr>
          <a:xfrm>
            <a:off x="777240" y="3767328"/>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Hedefler</a:t>
            </a:r>
            <a:endParaRPr lang="en-US" sz="900" dirty="0"/>
          </a:p>
        </p:txBody>
      </p:sp>
      <p:sp>
        <p:nvSpPr>
          <p:cNvPr id="12" name="Text 10"/>
          <p:cNvSpPr txBox="1"/>
          <p:nvPr/>
        </p:nvSpPr>
        <p:spPr>
          <a:xfrm>
            <a:off x="777240" y="3995928"/>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İki yıl içinde kavurmayı gösterebileceği ikinci dükkân.</a:t>
            </a:r>
            <a:endParaRPr lang="en-US" sz="1250" dirty="0"/>
          </a:p>
        </p:txBody>
      </p:sp>
      <p:sp>
        <p:nvSpPr>
          <p:cNvPr id="13" name="Text 11"/>
          <p:cNvSpPr txBox="1"/>
          <p:nvPr/>
        </p:nvSpPr>
        <p:spPr>
          <a:xfrm>
            <a:off x="4389120" y="2267712"/>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Misyon</a:t>
            </a:r>
            <a:endParaRPr lang="en-US" sz="900" dirty="0"/>
          </a:p>
        </p:txBody>
      </p:sp>
      <p:sp>
        <p:nvSpPr>
          <p:cNvPr id="14" name="Text 12"/>
          <p:cNvSpPr txBox="1"/>
          <p:nvPr/>
        </p:nvSpPr>
        <p:spPr>
          <a:xfrm>
            <a:off x="4389120" y="2496312"/>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İnsanın ne içtiğini bilmesini sağlamak.</a:t>
            </a:r>
            <a:endParaRPr lang="en-US" sz="1250" dirty="0"/>
          </a:p>
        </p:txBody>
      </p:sp>
      <p:sp>
        <p:nvSpPr>
          <p:cNvPr id="15" name="Text 13"/>
          <p:cNvSpPr txBox="1"/>
          <p:nvPr/>
        </p:nvSpPr>
        <p:spPr>
          <a:xfrm>
            <a:off x="4389120" y="3017520"/>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Değerler</a:t>
            </a:r>
            <a:endParaRPr lang="en-US" sz="900" dirty="0"/>
          </a:p>
        </p:txBody>
      </p:sp>
      <p:sp>
        <p:nvSpPr>
          <p:cNvPr id="16" name="Text 14"/>
          <p:cNvSpPr txBox="1"/>
          <p:nvPr/>
        </p:nvSpPr>
        <p:spPr>
          <a:xfrm>
            <a:off x="4389120" y="3246120"/>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Meraklı, sabırlı, gösterişsiz; öğretmeyi seviyor.</a:t>
            </a:r>
            <a:endParaRPr lang="en-US" sz="1250" dirty="0"/>
          </a:p>
        </p:txBody>
      </p:sp>
      <p:sp>
        <p:nvSpPr>
          <p:cNvPr id="17" name="Text 15"/>
          <p:cNvSpPr txBox="1"/>
          <p:nvPr/>
        </p:nvSpPr>
        <p:spPr>
          <a:xfrm>
            <a:off x="4389120" y="3767328"/>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Faydalar</a:t>
            </a:r>
            <a:endParaRPr lang="en-US" sz="900" dirty="0"/>
          </a:p>
        </p:txBody>
      </p:sp>
      <p:sp>
        <p:nvSpPr>
          <p:cNvPr id="18" name="Text 16"/>
          <p:cNvSpPr txBox="1"/>
          <p:nvPr/>
        </p:nvSpPr>
        <p:spPr>
          <a:xfrm>
            <a:off x="4389120" y="3995928"/>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Taze kavrulmuş çekirdek; ne aldığını anlama duygusu.</a:t>
            </a:r>
            <a:endParaRPr lang="en-US" sz="1250" dirty="0"/>
          </a:p>
        </p:txBody>
      </p:sp>
      <p:sp>
        <p:nvSpPr>
          <p:cNvPr id="19" name="Text 17"/>
          <p:cNvSpPr txBox="1"/>
          <p:nvPr/>
        </p:nvSpPr>
        <p:spPr>
          <a:xfrm>
            <a:off x="8001000" y="2267712"/>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Kişilik</a:t>
            </a:r>
            <a:endParaRPr lang="en-US" sz="900" dirty="0"/>
          </a:p>
        </p:txBody>
      </p:sp>
      <p:sp>
        <p:nvSpPr>
          <p:cNvPr id="20" name="Text 18"/>
          <p:cNvSpPr txBox="1"/>
          <p:nvPr/>
        </p:nvSpPr>
        <p:spPr>
          <a:xfrm>
            <a:off x="8001000" y="2496312"/>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Anlatmayı seven ama satmaya çalışmayan bir usta.</a:t>
            </a:r>
            <a:endParaRPr lang="en-US" sz="1250" dirty="0"/>
          </a:p>
        </p:txBody>
      </p:sp>
      <p:sp>
        <p:nvSpPr>
          <p:cNvPr id="21" name="Text 19"/>
          <p:cNvSpPr txBox="1"/>
          <p:nvPr/>
        </p:nvSpPr>
        <p:spPr>
          <a:xfrm>
            <a:off x="8001000" y="3017520"/>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Görünüm</a:t>
            </a:r>
            <a:endParaRPr lang="en-US" sz="900" dirty="0"/>
          </a:p>
        </p:txBody>
      </p:sp>
      <p:sp>
        <p:nvSpPr>
          <p:cNvPr id="22" name="Text 20"/>
          <p:cNvSpPr txBox="1"/>
          <p:nvPr/>
        </p:nvSpPr>
        <p:spPr>
          <a:xfrm>
            <a:off x="8001000" y="3246120"/>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Ham metal, açık ahşap, cam kavanoz; boyasız yüzeyler.</a:t>
            </a:r>
            <a:endParaRPr lang="en-US" sz="1250" dirty="0"/>
          </a:p>
        </p:txBody>
      </p:sp>
      <p:sp>
        <p:nvSpPr>
          <p:cNvPr id="23" name="Text 21"/>
          <p:cNvSpPr txBox="1"/>
          <p:nvPr/>
        </p:nvSpPr>
        <p:spPr>
          <a:xfrm>
            <a:off x="8001000" y="3767328"/>
            <a:ext cx="3291840" cy="237744"/>
          </a:xfrm>
          <a:prstGeom prst="rect">
            <a:avLst/>
          </a:prstGeom>
          <a:noFill/>
          <a:ln/>
        </p:spPr>
        <p:txBody>
          <a:bodyPr wrap="square" lIns="0" tIns="0" rIns="0" bIns="0" rtlCol="0" anchor="ctr"/>
          <a:lstStyle/>
          <a:p>
            <a:pPr indent="0" marL="0">
              <a:buNone/>
            </a:pPr>
            <a:r>
              <a:rPr lang="en-US" sz="900" b="1" spc="140" kern="0" dirty="0">
                <a:solidFill>
                  <a:srgbClr val="8C3A2B"/>
                </a:solidFill>
                <a:latin typeface="Calibri" pitchFamily="34" charset="0"/>
                <a:ea typeface="Calibri" pitchFamily="34" charset="-122"/>
                <a:cs typeface="Calibri" pitchFamily="34" charset="-120"/>
              </a:rPr>
              <a:t>İletişim dili</a:t>
            </a:r>
            <a:endParaRPr lang="en-US" sz="900" dirty="0"/>
          </a:p>
        </p:txBody>
      </p:sp>
      <p:sp>
        <p:nvSpPr>
          <p:cNvPr id="24" name="Text 22"/>
          <p:cNvSpPr txBox="1"/>
          <p:nvPr/>
        </p:nvSpPr>
        <p:spPr>
          <a:xfrm>
            <a:off x="8001000" y="3995928"/>
            <a:ext cx="3291840" cy="475488"/>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El yazısı etiket, tarih ve rakım yazan fiş, az söz.</a:t>
            </a:r>
            <a:endParaRPr lang="en-US" sz="1250" dirty="0"/>
          </a:p>
        </p:txBody>
      </p:sp>
      <p:sp>
        <p:nvSpPr>
          <p:cNvPr id="25" name="Shape 23"/>
          <p:cNvSpPr/>
          <p:nvPr/>
        </p:nvSpPr>
        <p:spPr>
          <a:xfrm>
            <a:off x="4206240" y="2240280"/>
            <a:ext cx="0" cy="2240280"/>
          </a:xfrm>
          <a:prstGeom prst="line">
            <a:avLst/>
          </a:prstGeom>
          <a:noFill/>
          <a:ln w="7620">
            <a:solidFill>
              <a:srgbClr val="EDEDF0"/>
            </a:solidFill>
            <a:prstDash val="solid"/>
          </a:ln>
        </p:spPr>
      </p:sp>
      <p:sp>
        <p:nvSpPr>
          <p:cNvPr id="26" name="Shape 24"/>
          <p:cNvSpPr/>
          <p:nvPr/>
        </p:nvSpPr>
        <p:spPr>
          <a:xfrm>
            <a:off x="7818120" y="2240280"/>
            <a:ext cx="0" cy="2240280"/>
          </a:xfrm>
          <a:prstGeom prst="line">
            <a:avLst/>
          </a:prstGeom>
          <a:noFill/>
          <a:ln w="7620">
            <a:solidFill>
              <a:srgbClr val="EDEDF0"/>
            </a:solidFill>
            <a:prstDash val="solid"/>
          </a:ln>
        </p:spPr>
      </p:sp>
      <p:sp>
        <p:nvSpPr>
          <p:cNvPr id="27" name="Shape 25"/>
          <p:cNvSpPr/>
          <p:nvPr/>
        </p:nvSpPr>
        <p:spPr>
          <a:xfrm>
            <a:off x="777240" y="4681728"/>
            <a:ext cx="10634472" cy="731520"/>
          </a:xfrm>
          <a:prstGeom prst="rect">
            <a:avLst/>
          </a:prstGeom>
          <a:solidFill>
            <a:srgbClr val="F6EAE6"/>
          </a:solidFill>
          <a:ln w="15875">
            <a:solidFill>
              <a:srgbClr val="8C3A2B"/>
            </a:solidFill>
            <a:prstDash val="solid"/>
          </a:ln>
        </p:spPr>
      </p:sp>
      <p:sp>
        <p:nvSpPr>
          <p:cNvPr id="28" name="Text 26"/>
          <p:cNvSpPr txBox="1"/>
          <p:nvPr/>
        </p:nvSpPr>
        <p:spPr>
          <a:xfrm>
            <a:off x="996696" y="4828032"/>
            <a:ext cx="548640" cy="274320"/>
          </a:xfrm>
          <a:prstGeom prst="rect">
            <a:avLst/>
          </a:prstGeom>
          <a:noFill/>
          <a:ln/>
        </p:spPr>
        <p:txBody>
          <a:bodyPr wrap="square" lIns="0" tIns="0" rIns="0" bIns="0" rtlCol="0" anchor="ctr"/>
          <a:lstStyle/>
          <a:p>
            <a:pPr indent="0" marL="0">
              <a:buNone/>
            </a:pPr>
            <a:r>
              <a:rPr lang="en-US" sz="950" b="1" spc="150" kern="0" dirty="0">
                <a:solidFill>
                  <a:srgbClr val="8C3A2B"/>
                </a:solidFill>
                <a:latin typeface="Calibri" pitchFamily="34" charset="0"/>
                <a:ea typeface="Calibri" pitchFamily="34" charset="-122"/>
                <a:cs typeface="Calibri" pitchFamily="34" charset="-120"/>
              </a:rPr>
              <a:t>ÖZ</a:t>
            </a:r>
            <a:endParaRPr lang="en-US" sz="950" dirty="0"/>
          </a:p>
        </p:txBody>
      </p:sp>
      <p:sp>
        <p:nvSpPr>
          <p:cNvPr id="29" name="Text 27"/>
          <p:cNvSpPr txBox="1"/>
          <p:nvPr/>
        </p:nvSpPr>
        <p:spPr>
          <a:xfrm>
            <a:off x="1645920" y="4773168"/>
            <a:ext cx="9418320" cy="457200"/>
          </a:xfrm>
          <a:prstGeom prst="rect">
            <a:avLst/>
          </a:prstGeom>
          <a:noFill/>
          <a:ln/>
        </p:spPr>
        <p:txBody>
          <a:bodyPr wrap="square" lIns="0" tIns="0" rIns="0" bIns="0" rtlCol="0" anchor="ctr"/>
          <a:lstStyle/>
          <a:p>
            <a:pPr indent="0" marL="0">
              <a:buNone/>
            </a:pPr>
            <a:r>
              <a:rPr lang="en-US" sz="1900" b="1" i="1" dirty="0">
                <a:solidFill>
                  <a:srgbClr val="8C3A2B"/>
                </a:solidFill>
                <a:latin typeface="Cambria" pitchFamily="34" charset="0"/>
                <a:ea typeface="Cambria" pitchFamily="34" charset="-122"/>
                <a:cs typeface="Cambria" pitchFamily="34" charset="-120"/>
              </a:rPr>
              <a:t>“Kahveyi saklamayan, gösteren dükkân.”</a:t>
            </a:r>
            <a:endParaRPr lang="en-US" sz="1900" dirty="0"/>
          </a:p>
        </p:txBody>
      </p:sp>
      <p:sp>
        <p:nvSpPr>
          <p:cNvPr id="30" name="Text 28"/>
          <p:cNvSpPr txBox="1"/>
          <p:nvPr/>
        </p:nvSpPr>
        <p:spPr>
          <a:xfrm>
            <a:off x="777240" y="5596128"/>
            <a:ext cx="10634472" cy="457200"/>
          </a:xfrm>
          <a:prstGeom prst="rect">
            <a:avLst/>
          </a:prstGeom>
          <a:noFill/>
          <a:ln/>
        </p:spPr>
        <p:txBody>
          <a:bodyPr wrap="square" lIns="0" tIns="0" rIns="0" bIns="0" rtlCol="0" anchor="ctr"/>
          <a:lstStyle/>
          <a:p>
            <a:pPr algn="l" indent="0" marL="0">
              <a:lnSpc>
                <a:spcPts val="1700"/>
              </a:lnSpc>
              <a:buNone/>
            </a:pPr>
            <a:r>
              <a:rPr lang="en-US" sz="1250" dirty="0">
                <a:solidFill>
                  <a:srgbClr val="2B2B31"/>
                </a:solidFill>
                <a:latin typeface="Cambria" pitchFamily="34" charset="0"/>
                <a:ea typeface="Cambria" pitchFamily="34" charset="-122"/>
                <a:cs typeface="Cambria" pitchFamily="34" charset="-120"/>
              </a:rPr>
              <a:t>Bu öz cümlesi zaten bir mekânsal talimattır: üretim görünür olmalı. Kavurma makinesinin yeri artık bir beğeni sorusu değil.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7800" b="1" dirty="0">
                <a:solidFill>
                  <a:srgbClr val="8C3A2B"/>
                </a:solidFill>
                <a:latin typeface="Cambria" pitchFamily="34" charset="0"/>
                <a:ea typeface="Cambria" pitchFamily="34" charset="-122"/>
                <a:cs typeface="Cambria" pitchFamily="34" charset="-120"/>
              </a:rPr>
              <a:t>III</a:t>
            </a:r>
            <a:endParaRPr lang="en-US" sz="78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Persona nasıl anlaşılır?</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Hedef kitle bir istatistik değil; tek bir insanın gününde görünür hâle gelmesidir.</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III · PERSONA</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Persona nedir, neden üç tane?</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777240" y="1664208"/>
            <a:ext cx="5029200" cy="1975104"/>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Persona, hedef kitleyi tek bir kurgusal kişide somutlaştırma aracıdır. Amacı empati kurmayı kolaylaştırmak ve tasarımcının kararlarını bir kişinin gerçek ihtiyacına bağlamaktır (Kim vd., 2002). Müşteri yolculuğundan toplanan veriyle geliştirilen persona, tasarım eğitiminde yaratıcılık ile hedef kitle anlayışı arasında köprü kurar (Micheaux &amp; Bosio, 2019).</a:t>
            </a:r>
            <a:endParaRPr lang="en-US" sz="1350" dirty="0"/>
          </a:p>
        </p:txBody>
      </p:sp>
      <p:sp>
        <p:nvSpPr>
          <p:cNvPr id="7" name="Text 5"/>
          <p:cNvSpPr txBox="1"/>
          <p:nvPr/>
        </p:nvSpPr>
        <p:spPr>
          <a:xfrm>
            <a:off x="6382512" y="1664208"/>
            <a:ext cx="5029200" cy="1975104"/>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Bu yüzden stüdyoda tek persona değil üç persona istenir: biri ana persona olarak seçilir, diğer ikisi tasarımın sınırlarını yoklamak için elde tutulur. Tek personayla çalışan öğrenci mekânı bir kişiye göre daraltır; üç personayla çalışan öğrenci mekânın esnekliğini görür.</a:t>
            </a:r>
            <a:endParaRPr lang="en-US" sz="1350" dirty="0"/>
          </a:p>
        </p:txBody>
      </p:sp>
      <p:sp>
        <p:nvSpPr>
          <p:cNvPr id="8" name="Text 6"/>
          <p:cNvSpPr txBox="1"/>
          <p:nvPr/>
        </p:nvSpPr>
        <p:spPr>
          <a:xfrm>
            <a:off x="777240" y="3584448"/>
            <a:ext cx="1470355"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ÜÇ PERSONA NASIL SEÇİLİR</a:t>
            </a:r>
            <a:endParaRPr lang="en-US" sz="900" dirty="0"/>
          </a:p>
        </p:txBody>
      </p:sp>
      <p:sp>
        <p:nvSpPr>
          <p:cNvPr id="9" name="Shape 7"/>
          <p:cNvSpPr/>
          <p:nvPr/>
        </p:nvSpPr>
        <p:spPr>
          <a:xfrm>
            <a:off x="2320747" y="3703320"/>
            <a:ext cx="9090965" cy="0"/>
          </a:xfrm>
          <a:prstGeom prst="line">
            <a:avLst/>
          </a:prstGeom>
          <a:noFill/>
          <a:ln w="9525">
            <a:solidFill>
              <a:srgbClr val="EDEDF0"/>
            </a:solidFill>
            <a:prstDash val="solid"/>
          </a:ln>
        </p:spPr>
      </p:sp>
      <p:sp>
        <p:nvSpPr>
          <p:cNvPr id="10" name="Shape 8"/>
          <p:cNvSpPr/>
          <p:nvPr/>
        </p:nvSpPr>
        <p:spPr>
          <a:xfrm>
            <a:off x="777240" y="3950208"/>
            <a:ext cx="3291840" cy="1691640"/>
          </a:xfrm>
          <a:prstGeom prst="rect">
            <a:avLst/>
          </a:prstGeom>
          <a:solidFill>
            <a:srgbClr val="F6EAE6"/>
          </a:solidFill>
          <a:ln w="15875">
            <a:solidFill>
              <a:srgbClr val="8C3A2B"/>
            </a:solidFill>
            <a:prstDash val="solid"/>
          </a:ln>
        </p:spPr>
      </p:sp>
      <p:sp>
        <p:nvSpPr>
          <p:cNvPr id="11" name="Text 9"/>
          <p:cNvSpPr txBox="1"/>
          <p:nvPr/>
        </p:nvSpPr>
        <p:spPr>
          <a:xfrm>
            <a:off x="978408" y="4096512"/>
            <a:ext cx="2889504" cy="256032"/>
          </a:xfrm>
          <a:prstGeom prst="rect">
            <a:avLst/>
          </a:prstGeom>
          <a:noFill/>
          <a:ln/>
        </p:spPr>
        <p:txBody>
          <a:bodyPr wrap="square" lIns="0" tIns="0" rIns="0" bIns="0" rtlCol="0" anchor="ctr"/>
          <a:lstStyle/>
          <a:p>
            <a:pPr indent="0" marL="0">
              <a:buNone/>
            </a:pPr>
            <a:r>
              <a:rPr lang="en-US" sz="950" b="1" spc="160" kern="0" dirty="0">
                <a:solidFill>
                  <a:srgbClr val="8C3A2B"/>
                </a:solidFill>
                <a:latin typeface="Calibri" pitchFamily="34" charset="0"/>
                <a:ea typeface="Calibri" pitchFamily="34" charset="-122"/>
                <a:cs typeface="Calibri" pitchFamily="34" charset="-120"/>
              </a:rPr>
              <a:t>ANA PERSONA</a:t>
            </a:r>
            <a:endParaRPr lang="en-US" sz="950" dirty="0"/>
          </a:p>
        </p:txBody>
      </p:sp>
      <p:sp>
        <p:nvSpPr>
          <p:cNvPr id="12" name="Text 10"/>
          <p:cNvSpPr txBox="1"/>
          <p:nvPr/>
        </p:nvSpPr>
        <p:spPr>
          <a:xfrm>
            <a:off x="978408" y="4407408"/>
            <a:ext cx="2889504" cy="822960"/>
          </a:xfrm>
          <a:prstGeom prst="rect">
            <a:avLst/>
          </a:prstGeom>
          <a:noFill/>
          <a:ln/>
        </p:spPr>
        <p:txBody>
          <a:bodyPr wrap="square" lIns="0" tIns="0" rIns="0" bIns="0" rtlCol="0" anchor="ctr"/>
          <a:lstStyle/>
          <a:p>
            <a:pPr indent="0" marL="0">
              <a:lnSpc>
                <a:spcPts val="1600"/>
              </a:lnSpc>
              <a:buNone/>
            </a:pPr>
            <a:r>
              <a:rPr lang="en-US" sz="1250" dirty="0">
                <a:solidFill>
                  <a:srgbClr val="8C3A2B"/>
                </a:solidFill>
                <a:latin typeface="Cambria" pitchFamily="34" charset="0"/>
                <a:ea typeface="Cambria" pitchFamily="34" charset="-122"/>
                <a:cs typeface="Cambria" pitchFamily="34" charset="-120"/>
              </a:rPr>
              <a:t>Markanın asıl seslendiği kişi. Tasarımın bütün kararları önce buna göre alınır.</a:t>
            </a:r>
            <a:endParaRPr lang="en-US" sz="1250" dirty="0"/>
          </a:p>
        </p:txBody>
      </p:sp>
      <p:sp>
        <p:nvSpPr>
          <p:cNvPr id="13" name="Text 11"/>
          <p:cNvSpPr txBox="1"/>
          <p:nvPr/>
        </p:nvSpPr>
        <p:spPr>
          <a:xfrm>
            <a:off x="978408" y="5303520"/>
            <a:ext cx="2889504" cy="274320"/>
          </a:xfrm>
          <a:prstGeom prst="rect">
            <a:avLst/>
          </a:prstGeom>
          <a:noFill/>
          <a:ln/>
        </p:spPr>
        <p:txBody>
          <a:bodyPr wrap="square" lIns="0" tIns="0" rIns="0" bIns="0" rtlCol="0" anchor="ctr"/>
          <a:lstStyle/>
          <a:p>
            <a:pPr indent="0" marL="0">
              <a:buNone/>
            </a:pPr>
            <a:r>
              <a:rPr lang="en-US" sz="950" i="1" dirty="0">
                <a:solidFill>
                  <a:srgbClr val="8C3A2B"/>
                </a:solidFill>
                <a:latin typeface="Calibri" pitchFamily="34" charset="0"/>
                <a:ea typeface="Calibri" pitchFamily="34" charset="-122"/>
                <a:cs typeface="Calibri" pitchFamily="34" charset="-120"/>
              </a:rPr>
              <a:t>mekânı bu kişi belirler</a:t>
            </a:r>
            <a:endParaRPr lang="en-US" sz="950" dirty="0"/>
          </a:p>
        </p:txBody>
      </p:sp>
      <p:sp>
        <p:nvSpPr>
          <p:cNvPr id="14" name="Shape 12"/>
          <p:cNvSpPr/>
          <p:nvPr/>
        </p:nvSpPr>
        <p:spPr>
          <a:xfrm>
            <a:off x="4453128" y="3950208"/>
            <a:ext cx="3291840" cy="1691640"/>
          </a:xfrm>
          <a:prstGeom prst="rect">
            <a:avLst/>
          </a:prstGeom>
          <a:ln w="9525">
            <a:solidFill>
              <a:srgbClr val="C9C9CF"/>
            </a:solidFill>
            <a:prstDash val="solid"/>
          </a:ln>
        </p:spPr>
      </p:sp>
      <p:sp>
        <p:nvSpPr>
          <p:cNvPr id="15" name="Text 13"/>
          <p:cNvSpPr txBox="1"/>
          <p:nvPr/>
        </p:nvSpPr>
        <p:spPr>
          <a:xfrm>
            <a:off x="4654296" y="4096512"/>
            <a:ext cx="2889504" cy="256032"/>
          </a:xfrm>
          <a:prstGeom prst="rect">
            <a:avLst/>
          </a:prstGeom>
          <a:noFill/>
          <a:ln/>
        </p:spPr>
        <p:txBody>
          <a:bodyPr wrap="square" lIns="0" tIns="0" rIns="0" bIns="0" rtlCol="0" anchor="ctr"/>
          <a:lstStyle/>
          <a:p>
            <a:pPr indent="0" marL="0">
              <a:buNone/>
            </a:pPr>
            <a:r>
              <a:rPr lang="en-US" sz="950" b="1" spc="160" kern="0" dirty="0">
                <a:solidFill>
                  <a:srgbClr val="7A7A82"/>
                </a:solidFill>
                <a:latin typeface="Calibri" pitchFamily="34" charset="0"/>
                <a:ea typeface="Calibri" pitchFamily="34" charset="-122"/>
                <a:cs typeface="Calibri" pitchFamily="34" charset="-120"/>
              </a:rPr>
              <a:t>İKİNCİ PERSONA</a:t>
            </a:r>
            <a:endParaRPr lang="en-US" sz="950" dirty="0"/>
          </a:p>
        </p:txBody>
      </p:sp>
      <p:sp>
        <p:nvSpPr>
          <p:cNvPr id="16" name="Text 14"/>
          <p:cNvSpPr txBox="1"/>
          <p:nvPr/>
        </p:nvSpPr>
        <p:spPr>
          <a:xfrm>
            <a:off x="4654296" y="4407408"/>
            <a:ext cx="2889504" cy="822960"/>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Aynı ürünü farklı bir nedenle alan kişi. Mekânın ikinci bir kullanım biçimini üretir.</a:t>
            </a:r>
            <a:endParaRPr lang="en-US" sz="1250" dirty="0"/>
          </a:p>
        </p:txBody>
      </p:sp>
      <p:sp>
        <p:nvSpPr>
          <p:cNvPr id="17" name="Text 15"/>
          <p:cNvSpPr txBox="1"/>
          <p:nvPr/>
        </p:nvSpPr>
        <p:spPr>
          <a:xfrm>
            <a:off x="4654296" y="5303520"/>
            <a:ext cx="2889504" cy="274320"/>
          </a:xfrm>
          <a:prstGeom prst="rect">
            <a:avLst/>
          </a:prstGeom>
          <a:noFill/>
          <a:ln/>
        </p:spPr>
        <p:txBody>
          <a:bodyPr wrap="square" lIns="0" tIns="0" rIns="0" bIns="0" rtlCol="0" anchor="ctr"/>
          <a:lstStyle/>
          <a:p>
            <a:pPr indent="0" marL="0">
              <a:buNone/>
            </a:pPr>
            <a:r>
              <a:rPr lang="en-US" sz="950" i="1" dirty="0">
                <a:solidFill>
                  <a:srgbClr val="A6A6AC"/>
                </a:solidFill>
                <a:latin typeface="Calibri" pitchFamily="34" charset="0"/>
                <a:ea typeface="Calibri" pitchFamily="34" charset="-122"/>
                <a:cs typeface="Calibri" pitchFamily="34" charset="-120"/>
              </a:rPr>
              <a:t>esnekliği bu kişi sınar</a:t>
            </a:r>
            <a:endParaRPr lang="en-US" sz="950" dirty="0"/>
          </a:p>
        </p:txBody>
      </p:sp>
      <p:sp>
        <p:nvSpPr>
          <p:cNvPr id="18" name="Shape 16"/>
          <p:cNvSpPr/>
          <p:nvPr/>
        </p:nvSpPr>
        <p:spPr>
          <a:xfrm>
            <a:off x="8129016" y="3950208"/>
            <a:ext cx="3291840" cy="1691640"/>
          </a:xfrm>
          <a:prstGeom prst="rect">
            <a:avLst/>
          </a:prstGeom>
          <a:ln w="9525">
            <a:solidFill>
              <a:srgbClr val="C9C9CF"/>
            </a:solidFill>
            <a:prstDash val="solid"/>
          </a:ln>
        </p:spPr>
      </p:sp>
      <p:sp>
        <p:nvSpPr>
          <p:cNvPr id="19" name="Text 17"/>
          <p:cNvSpPr txBox="1"/>
          <p:nvPr/>
        </p:nvSpPr>
        <p:spPr>
          <a:xfrm>
            <a:off x="8330184" y="4096512"/>
            <a:ext cx="2889504" cy="256032"/>
          </a:xfrm>
          <a:prstGeom prst="rect">
            <a:avLst/>
          </a:prstGeom>
          <a:noFill/>
          <a:ln/>
        </p:spPr>
        <p:txBody>
          <a:bodyPr wrap="square" lIns="0" tIns="0" rIns="0" bIns="0" rtlCol="0" anchor="ctr"/>
          <a:lstStyle/>
          <a:p>
            <a:pPr indent="0" marL="0">
              <a:buNone/>
            </a:pPr>
            <a:r>
              <a:rPr lang="en-US" sz="950" b="1" spc="160" kern="0" dirty="0">
                <a:solidFill>
                  <a:srgbClr val="7A7A82"/>
                </a:solidFill>
                <a:latin typeface="Calibri" pitchFamily="34" charset="0"/>
                <a:ea typeface="Calibri" pitchFamily="34" charset="-122"/>
                <a:cs typeface="Calibri" pitchFamily="34" charset="-120"/>
              </a:rPr>
              <a:t>ÜÇÜNCÜ PERSONA</a:t>
            </a:r>
            <a:endParaRPr lang="en-US" sz="950" dirty="0"/>
          </a:p>
        </p:txBody>
      </p:sp>
      <p:sp>
        <p:nvSpPr>
          <p:cNvPr id="20" name="Text 18"/>
          <p:cNvSpPr txBox="1"/>
          <p:nvPr/>
        </p:nvSpPr>
        <p:spPr>
          <a:xfrm>
            <a:off x="8330184" y="4407408"/>
            <a:ext cx="2889504" cy="822960"/>
          </a:xfrm>
          <a:prstGeom prst="rect">
            <a:avLst/>
          </a:prstGeom>
          <a:noFill/>
          <a:ln/>
        </p:spPr>
        <p:txBody>
          <a:bodyPr wrap="square" lIns="0" tIns="0" rIns="0" bIns="0" rtlCol="0" anchor="ctr"/>
          <a:lstStyle/>
          <a:p>
            <a:pPr indent="0" marL="0">
              <a:lnSpc>
                <a:spcPts val="1600"/>
              </a:lnSpc>
              <a:buNone/>
            </a:pPr>
            <a:r>
              <a:rPr lang="en-US" sz="1250" dirty="0">
                <a:solidFill>
                  <a:srgbClr val="2B2B31"/>
                </a:solidFill>
                <a:latin typeface="Cambria" pitchFamily="34" charset="0"/>
                <a:ea typeface="Cambria" pitchFamily="34" charset="-122"/>
                <a:cs typeface="Cambria" pitchFamily="34" charset="-120"/>
              </a:rPr>
              <a:t>Refakatçi ya da zorunlu ziyaretçi: çocuk, eş, kurye, tedarikçi. Çoğu öğrencinin atladığı kişi.</a:t>
            </a:r>
            <a:endParaRPr lang="en-US" sz="1250" dirty="0"/>
          </a:p>
        </p:txBody>
      </p:sp>
      <p:sp>
        <p:nvSpPr>
          <p:cNvPr id="21" name="Text 19"/>
          <p:cNvSpPr txBox="1"/>
          <p:nvPr/>
        </p:nvSpPr>
        <p:spPr>
          <a:xfrm>
            <a:off x="8330184" y="5303520"/>
            <a:ext cx="2889504" cy="274320"/>
          </a:xfrm>
          <a:prstGeom prst="rect">
            <a:avLst/>
          </a:prstGeom>
          <a:noFill/>
          <a:ln/>
        </p:spPr>
        <p:txBody>
          <a:bodyPr wrap="square" lIns="0" tIns="0" rIns="0" bIns="0" rtlCol="0" anchor="ctr"/>
          <a:lstStyle/>
          <a:p>
            <a:pPr indent="0" marL="0">
              <a:buNone/>
            </a:pPr>
            <a:r>
              <a:rPr lang="en-US" sz="950" i="1" dirty="0">
                <a:solidFill>
                  <a:srgbClr val="A6A6AC"/>
                </a:solidFill>
                <a:latin typeface="Calibri" pitchFamily="34" charset="0"/>
                <a:ea typeface="Calibri" pitchFamily="34" charset="-122"/>
                <a:cs typeface="Calibri" pitchFamily="34" charset="-120"/>
              </a:rPr>
              <a:t>eksikleri bu kişi gösterir</a:t>
            </a:r>
            <a:endParaRPr lang="en-US" sz="950" dirty="0"/>
          </a:p>
        </p:txBody>
      </p:sp>
      <p:sp>
        <p:nvSpPr>
          <p:cNvPr id="22" name="Text 20"/>
          <p:cNvSpPr txBox="1"/>
          <p:nvPr/>
        </p:nvSpPr>
        <p:spPr>
          <a:xfrm>
            <a:off x="777240" y="5806440"/>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Personalar yolculuk haritasından toplanan veriyle geliştirilir; hayal edilerek değil.</a:t>
            </a:r>
            <a:endParaRPr lang="en-US" sz="1200" dirty="0"/>
          </a:p>
        </p:txBody>
      </p:sp>
      <p:sp>
        <p:nvSpPr>
          <p:cNvPr id="23" name="Text 21"/>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Kim vd. (2002); Micheaux &amp; Bosio (2019); Bükülmez vd. (2025).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III · PERSONA</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İşe yarayan persona, işe yaramayan persona</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En sık yapılan hata, personayı demografik bir künyeye indirgemektir. Yaş ve gelir bir mekân kararı üretmez. İşe yarayan persona, kişinin ne yaptığını anlatır.</a:t>
            </a:r>
            <a:endParaRPr lang="en-US" sz="1350" dirty="0"/>
          </a:p>
        </p:txBody>
      </p:sp>
      <p:sp>
        <p:nvSpPr>
          <p:cNvPr id="7" name="Text 5"/>
          <p:cNvSpPr txBox="1"/>
          <p:nvPr/>
        </p:nvSpPr>
        <p:spPr>
          <a:xfrm>
            <a:off x="777240" y="2258568"/>
            <a:ext cx="846734" cy="237744"/>
          </a:xfrm>
          <a:prstGeom prst="rect">
            <a:avLst/>
          </a:prstGeom>
          <a:noFill/>
          <a:ln/>
        </p:spPr>
        <p:txBody>
          <a:bodyPr wrap="square" lIns="0" tIns="0" rIns="0" bIns="0" rtlCol="0" anchor="ctr"/>
          <a:lstStyle/>
          <a:p>
            <a:pPr indent="0" marL="0">
              <a:buNone/>
            </a:pPr>
            <a:r>
              <a:rPr lang="en-US" sz="900" b="1" spc="170" kern="0" dirty="0">
                <a:solidFill>
                  <a:srgbClr val="7A7A82"/>
                </a:solidFill>
                <a:latin typeface="Calibri" pitchFamily="34" charset="0"/>
                <a:ea typeface="Calibri" pitchFamily="34" charset="-122"/>
                <a:cs typeface="Calibri" pitchFamily="34" charset="-120"/>
              </a:rPr>
              <a:t>İŞE YARAMAYAN</a:t>
            </a:r>
            <a:endParaRPr lang="en-US" sz="900" dirty="0"/>
          </a:p>
        </p:txBody>
      </p:sp>
      <p:sp>
        <p:nvSpPr>
          <p:cNvPr id="8" name="Shape 6"/>
          <p:cNvSpPr/>
          <p:nvPr/>
        </p:nvSpPr>
        <p:spPr>
          <a:xfrm>
            <a:off x="1697126" y="2377440"/>
            <a:ext cx="4109314" cy="0"/>
          </a:xfrm>
          <a:prstGeom prst="line">
            <a:avLst/>
          </a:prstGeom>
          <a:noFill/>
          <a:ln w="9525">
            <a:solidFill>
              <a:srgbClr val="EDEDF0"/>
            </a:solidFill>
            <a:prstDash val="solid"/>
          </a:ln>
        </p:spPr>
      </p:sp>
      <p:sp>
        <p:nvSpPr>
          <p:cNvPr id="9" name="Text 7"/>
          <p:cNvSpPr txBox="1"/>
          <p:nvPr/>
        </p:nvSpPr>
        <p:spPr>
          <a:xfrm>
            <a:off x="777240" y="2615184"/>
            <a:ext cx="201168" cy="274320"/>
          </a:xfrm>
          <a:prstGeom prst="rect">
            <a:avLst/>
          </a:prstGeom>
          <a:noFill/>
          <a:ln/>
        </p:spPr>
        <p:txBody>
          <a:bodyPr wrap="square" lIns="0" tIns="0" rIns="0" bIns="0" rtlCol="0" anchor="ctr"/>
          <a:lstStyle/>
          <a:p>
            <a:pPr indent="0" marL="0">
              <a:buNone/>
            </a:pPr>
            <a:r>
              <a:rPr lang="en-US" sz="1200" dirty="0">
                <a:solidFill>
                  <a:srgbClr val="B9B9C0"/>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1033272" y="2615184"/>
            <a:ext cx="4754880" cy="292608"/>
          </a:xfrm>
          <a:prstGeom prst="rect">
            <a:avLst/>
          </a:prstGeom>
          <a:noFill/>
          <a:ln/>
        </p:spPr>
        <p:txBody>
          <a:bodyPr wrap="square" lIns="0" tIns="0" rIns="0" bIns="0" rtlCol="0" anchor="ctr"/>
          <a:lstStyle/>
          <a:p>
            <a:pPr indent="0" marL="0">
              <a:buNone/>
            </a:pPr>
            <a:r>
              <a:rPr lang="en-US" sz="1150" dirty="0">
                <a:solidFill>
                  <a:srgbClr val="A6A6AC"/>
                </a:solidFill>
                <a:latin typeface="Calibri" pitchFamily="34" charset="0"/>
                <a:ea typeface="Calibri" pitchFamily="34" charset="-122"/>
                <a:cs typeface="Calibri" pitchFamily="34" charset="-120"/>
              </a:rPr>
              <a:t>28 yaşında</a:t>
            </a:r>
            <a:endParaRPr lang="en-US" sz="1150" dirty="0"/>
          </a:p>
        </p:txBody>
      </p:sp>
      <p:sp>
        <p:nvSpPr>
          <p:cNvPr id="11" name="Text 9"/>
          <p:cNvSpPr txBox="1"/>
          <p:nvPr/>
        </p:nvSpPr>
        <p:spPr>
          <a:xfrm>
            <a:off x="777240" y="3017520"/>
            <a:ext cx="201168" cy="274320"/>
          </a:xfrm>
          <a:prstGeom prst="rect">
            <a:avLst/>
          </a:prstGeom>
          <a:noFill/>
          <a:ln/>
        </p:spPr>
        <p:txBody>
          <a:bodyPr wrap="square" lIns="0" tIns="0" rIns="0" bIns="0" rtlCol="0" anchor="ctr"/>
          <a:lstStyle/>
          <a:p>
            <a:pPr indent="0" marL="0">
              <a:buNone/>
            </a:pPr>
            <a:r>
              <a:rPr lang="en-US" sz="1200" dirty="0">
                <a:solidFill>
                  <a:srgbClr val="B9B9C0"/>
                </a:solidFill>
                <a:latin typeface="Calibri" pitchFamily="34" charset="0"/>
                <a:ea typeface="Calibri" pitchFamily="34" charset="-122"/>
                <a:cs typeface="Calibri" pitchFamily="34" charset="-120"/>
              </a:rPr>
              <a:t>×</a:t>
            </a:r>
            <a:endParaRPr lang="en-US" sz="1200" dirty="0"/>
          </a:p>
        </p:txBody>
      </p:sp>
      <p:sp>
        <p:nvSpPr>
          <p:cNvPr id="12" name="Text 10"/>
          <p:cNvSpPr txBox="1"/>
          <p:nvPr/>
        </p:nvSpPr>
        <p:spPr>
          <a:xfrm>
            <a:off x="1033272" y="3017520"/>
            <a:ext cx="4754880" cy="292608"/>
          </a:xfrm>
          <a:prstGeom prst="rect">
            <a:avLst/>
          </a:prstGeom>
          <a:noFill/>
          <a:ln/>
        </p:spPr>
        <p:txBody>
          <a:bodyPr wrap="square" lIns="0" tIns="0" rIns="0" bIns="0" rtlCol="0" anchor="ctr"/>
          <a:lstStyle/>
          <a:p>
            <a:pPr indent="0" marL="0">
              <a:buNone/>
            </a:pPr>
            <a:r>
              <a:rPr lang="en-US" sz="1150" dirty="0">
                <a:solidFill>
                  <a:srgbClr val="A6A6AC"/>
                </a:solidFill>
                <a:latin typeface="Calibri" pitchFamily="34" charset="0"/>
                <a:ea typeface="Calibri" pitchFamily="34" charset="-122"/>
                <a:cs typeface="Calibri" pitchFamily="34" charset="-120"/>
              </a:rPr>
              <a:t>Üniversite mezunu</a:t>
            </a:r>
            <a:endParaRPr lang="en-US" sz="1150" dirty="0"/>
          </a:p>
        </p:txBody>
      </p:sp>
      <p:sp>
        <p:nvSpPr>
          <p:cNvPr id="13" name="Text 11"/>
          <p:cNvSpPr txBox="1"/>
          <p:nvPr/>
        </p:nvSpPr>
        <p:spPr>
          <a:xfrm>
            <a:off x="777240" y="3419856"/>
            <a:ext cx="201168" cy="274320"/>
          </a:xfrm>
          <a:prstGeom prst="rect">
            <a:avLst/>
          </a:prstGeom>
          <a:noFill/>
          <a:ln/>
        </p:spPr>
        <p:txBody>
          <a:bodyPr wrap="square" lIns="0" tIns="0" rIns="0" bIns="0" rtlCol="0" anchor="ctr"/>
          <a:lstStyle/>
          <a:p>
            <a:pPr indent="0" marL="0">
              <a:buNone/>
            </a:pPr>
            <a:r>
              <a:rPr lang="en-US" sz="1200" dirty="0">
                <a:solidFill>
                  <a:srgbClr val="B9B9C0"/>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1033272" y="3419856"/>
            <a:ext cx="4754880" cy="292608"/>
          </a:xfrm>
          <a:prstGeom prst="rect">
            <a:avLst/>
          </a:prstGeom>
          <a:noFill/>
          <a:ln/>
        </p:spPr>
        <p:txBody>
          <a:bodyPr wrap="square" lIns="0" tIns="0" rIns="0" bIns="0" rtlCol="0" anchor="ctr"/>
          <a:lstStyle/>
          <a:p>
            <a:pPr indent="0" marL="0">
              <a:buNone/>
            </a:pPr>
            <a:r>
              <a:rPr lang="en-US" sz="1150" dirty="0">
                <a:solidFill>
                  <a:srgbClr val="A6A6AC"/>
                </a:solidFill>
                <a:latin typeface="Calibri" pitchFamily="34" charset="0"/>
                <a:ea typeface="Calibri" pitchFamily="34" charset="-122"/>
                <a:cs typeface="Calibri" pitchFamily="34" charset="-120"/>
              </a:rPr>
              <a:t>Orta-üst gelir grubu</a:t>
            </a:r>
            <a:endParaRPr lang="en-US" sz="1150" dirty="0"/>
          </a:p>
        </p:txBody>
      </p:sp>
      <p:sp>
        <p:nvSpPr>
          <p:cNvPr id="15" name="Text 13"/>
          <p:cNvSpPr txBox="1"/>
          <p:nvPr/>
        </p:nvSpPr>
        <p:spPr>
          <a:xfrm>
            <a:off x="777240" y="3822192"/>
            <a:ext cx="201168" cy="274320"/>
          </a:xfrm>
          <a:prstGeom prst="rect">
            <a:avLst/>
          </a:prstGeom>
          <a:noFill/>
          <a:ln/>
        </p:spPr>
        <p:txBody>
          <a:bodyPr wrap="square" lIns="0" tIns="0" rIns="0" bIns="0" rtlCol="0" anchor="ctr"/>
          <a:lstStyle/>
          <a:p>
            <a:pPr indent="0" marL="0">
              <a:buNone/>
            </a:pPr>
            <a:r>
              <a:rPr lang="en-US" sz="1200" dirty="0">
                <a:solidFill>
                  <a:srgbClr val="B9B9C0"/>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1033272" y="3822192"/>
            <a:ext cx="4754880" cy="292608"/>
          </a:xfrm>
          <a:prstGeom prst="rect">
            <a:avLst/>
          </a:prstGeom>
          <a:noFill/>
          <a:ln/>
        </p:spPr>
        <p:txBody>
          <a:bodyPr wrap="square" lIns="0" tIns="0" rIns="0" bIns="0" rtlCol="0" anchor="ctr"/>
          <a:lstStyle/>
          <a:p>
            <a:pPr indent="0" marL="0">
              <a:buNone/>
            </a:pPr>
            <a:r>
              <a:rPr lang="en-US" sz="1150" dirty="0">
                <a:solidFill>
                  <a:srgbClr val="A6A6AC"/>
                </a:solidFill>
                <a:latin typeface="Calibri" pitchFamily="34" charset="0"/>
                <a:ea typeface="Calibri" pitchFamily="34" charset="-122"/>
                <a:cs typeface="Calibri" pitchFamily="34" charset="-120"/>
              </a:rPr>
              <a:t>Sosyal medyayı aktif kullanıyor</a:t>
            </a:r>
            <a:endParaRPr lang="en-US" sz="1150" dirty="0"/>
          </a:p>
        </p:txBody>
      </p:sp>
      <p:sp>
        <p:nvSpPr>
          <p:cNvPr id="17" name="Text 15"/>
          <p:cNvSpPr txBox="1"/>
          <p:nvPr/>
        </p:nvSpPr>
        <p:spPr>
          <a:xfrm>
            <a:off x="777240" y="4224528"/>
            <a:ext cx="201168" cy="274320"/>
          </a:xfrm>
          <a:prstGeom prst="rect">
            <a:avLst/>
          </a:prstGeom>
          <a:noFill/>
          <a:ln/>
        </p:spPr>
        <p:txBody>
          <a:bodyPr wrap="square" lIns="0" tIns="0" rIns="0" bIns="0" rtlCol="0" anchor="ctr"/>
          <a:lstStyle/>
          <a:p>
            <a:pPr indent="0" marL="0">
              <a:buNone/>
            </a:pPr>
            <a:r>
              <a:rPr lang="en-US" sz="1200" dirty="0">
                <a:solidFill>
                  <a:srgbClr val="B9B9C0"/>
                </a:solidFill>
                <a:latin typeface="Calibri" pitchFamily="34" charset="0"/>
                <a:ea typeface="Calibri" pitchFamily="34" charset="-122"/>
                <a:cs typeface="Calibri" pitchFamily="34" charset="-120"/>
              </a:rPr>
              <a:t>×</a:t>
            </a:r>
            <a:endParaRPr lang="en-US" sz="1200" dirty="0"/>
          </a:p>
        </p:txBody>
      </p:sp>
      <p:sp>
        <p:nvSpPr>
          <p:cNvPr id="18" name="Text 16"/>
          <p:cNvSpPr txBox="1"/>
          <p:nvPr/>
        </p:nvSpPr>
        <p:spPr>
          <a:xfrm>
            <a:off x="1033272" y="4224528"/>
            <a:ext cx="4754880" cy="292608"/>
          </a:xfrm>
          <a:prstGeom prst="rect">
            <a:avLst/>
          </a:prstGeom>
          <a:noFill/>
          <a:ln/>
        </p:spPr>
        <p:txBody>
          <a:bodyPr wrap="square" lIns="0" tIns="0" rIns="0" bIns="0" rtlCol="0" anchor="ctr"/>
          <a:lstStyle/>
          <a:p>
            <a:pPr indent="0" marL="0">
              <a:buNone/>
            </a:pPr>
            <a:r>
              <a:rPr lang="en-US" sz="1150" dirty="0">
                <a:solidFill>
                  <a:srgbClr val="A6A6AC"/>
                </a:solidFill>
                <a:latin typeface="Calibri" pitchFamily="34" charset="0"/>
                <a:ea typeface="Calibri" pitchFamily="34" charset="-122"/>
                <a:cs typeface="Calibri" pitchFamily="34" charset="-120"/>
              </a:rPr>
              <a:t>Kaliteye önem veriyor</a:t>
            </a:r>
            <a:endParaRPr lang="en-US" sz="1150" dirty="0"/>
          </a:p>
        </p:txBody>
      </p:sp>
      <p:sp>
        <p:nvSpPr>
          <p:cNvPr id="19" name="Text 17"/>
          <p:cNvSpPr txBox="1"/>
          <p:nvPr/>
        </p:nvSpPr>
        <p:spPr>
          <a:xfrm>
            <a:off x="777240" y="4754880"/>
            <a:ext cx="5029200" cy="502920"/>
          </a:xfrm>
          <a:prstGeom prst="rect">
            <a:avLst/>
          </a:prstGeom>
          <a:noFill/>
          <a:ln/>
        </p:spPr>
        <p:txBody>
          <a:bodyPr wrap="square" lIns="0" tIns="0" rIns="0" bIns="0" rtlCol="0" anchor="ctr"/>
          <a:lstStyle/>
          <a:p>
            <a:pPr algn="l" indent="0" marL="0">
              <a:lnSpc>
                <a:spcPts val="1400"/>
              </a:lnSpc>
              <a:buNone/>
            </a:pPr>
            <a:r>
              <a:rPr lang="en-US" sz="1100" i="1" dirty="0">
                <a:solidFill>
                  <a:srgbClr val="7A7A82"/>
                </a:solidFill>
                <a:latin typeface="Calibri" pitchFamily="34" charset="0"/>
                <a:ea typeface="Calibri" pitchFamily="34" charset="-122"/>
                <a:cs typeface="Calibri" pitchFamily="34" charset="-120"/>
              </a:rPr>
              <a:t>Hiçbiri bir rafın yüksekliğini ya da bir koridorun genişliğini değiştirmez.</a:t>
            </a:r>
            <a:endParaRPr lang="en-US" sz="1100" dirty="0"/>
          </a:p>
        </p:txBody>
      </p:sp>
      <p:sp>
        <p:nvSpPr>
          <p:cNvPr id="20" name="Text 18"/>
          <p:cNvSpPr txBox="1"/>
          <p:nvPr/>
        </p:nvSpPr>
        <p:spPr>
          <a:xfrm>
            <a:off x="6382512" y="2258568"/>
            <a:ext cx="733349"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İŞE YARAYAN</a:t>
            </a:r>
            <a:endParaRPr lang="en-US" sz="900" dirty="0"/>
          </a:p>
        </p:txBody>
      </p:sp>
      <p:sp>
        <p:nvSpPr>
          <p:cNvPr id="21" name="Shape 19"/>
          <p:cNvSpPr/>
          <p:nvPr/>
        </p:nvSpPr>
        <p:spPr>
          <a:xfrm>
            <a:off x="7189013" y="2377440"/>
            <a:ext cx="4222699" cy="0"/>
          </a:xfrm>
          <a:prstGeom prst="line">
            <a:avLst/>
          </a:prstGeom>
          <a:noFill/>
          <a:ln w="9525">
            <a:solidFill>
              <a:srgbClr val="EBD7D1"/>
            </a:solidFill>
            <a:prstDash val="solid"/>
          </a:ln>
        </p:spPr>
      </p:sp>
      <p:sp>
        <p:nvSpPr>
          <p:cNvPr id="22" name="Shape 20"/>
          <p:cNvSpPr/>
          <p:nvPr/>
        </p:nvSpPr>
        <p:spPr>
          <a:xfrm>
            <a:off x="6409944" y="2706624"/>
            <a:ext cx="91440" cy="91440"/>
          </a:xfrm>
          <a:prstGeom prst="ellipse">
            <a:avLst/>
          </a:prstGeom>
          <a:solidFill>
            <a:srgbClr val="8C3A2B"/>
          </a:solidFill>
          <a:ln w="12700">
            <a:solidFill>
              <a:srgbClr val="8C3A2B"/>
            </a:solidFill>
            <a:prstDash val="solid"/>
          </a:ln>
        </p:spPr>
      </p:sp>
      <p:sp>
        <p:nvSpPr>
          <p:cNvPr id="23" name="Text 21"/>
          <p:cNvSpPr txBox="1"/>
          <p:nvPr/>
        </p:nvSpPr>
        <p:spPr>
          <a:xfrm>
            <a:off x="6638544" y="2596896"/>
            <a:ext cx="3063240" cy="292608"/>
          </a:xfrm>
          <a:prstGeom prst="rect">
            <a:avLst/>
          </a:prstGeom>
          <a:noFill/>
          <a:ln/>
        </p:spPr>
        <p:txBody>
          <a:bodyPr wrap="square" lIns="0" tIns="0" rIns="0" bIns="0" rtlCol="0" anchor="ctr"/>
          <a:lstStyle/>
          <a:p>
            <a:pPr indent="0" marL="0">
              <a:buNone/>
            </a:pPr>
            <a:r>
              <a:rPr lang="en-US" sz="1150" dirty="0">
                <a:solidFill>
                  <a:srgbClr val="2B2B31"/>
                </a:solidFill>
                <a:latin typeface="Calibri" pitchFamily="34" charset="0"/>
                <a:ea typeface="Calibri" pitchFamily="34" charset="-122"/>
                <a:cs typeface="Calibri" pitchFamily="34" charset="-120"/>
              </a:rPr>
              <a:t>İşten çıkınca uğruyor, on dakikası var</a:t>
            </a:r>
            <a:endParaRPr lang="en-US" sz="1150" dirty="0"/>
          </a:p>
        </p:txBody>
      </p:sp>
      <p:sp>
        <p:nvSpPr>
          <p:cNvPr id="24" name="Text 22"/>
          <p:cNvSpPr txBox="1"/>
          <p:nvPr/>
        </p:nvSpPr>
        <p:spPr>
          <a:xfrm>
            <a:off x="9729216" y="2615184"/>
            <a:ext cx="1682496" cy="274320"/>
          </a:xfrm>
          <a:prstGeom prst="rect">
            <a:avLst/>
          </a:prstGeom>
          <a:noFill/>
          <a:ln/>
        </p:spPr>
        <p:txBody>
          <a:bodyPr wrap="square" lIns="0" tIns="0" rIns="0" bIns="0" rtlCol="0" anchor="ctr"/>
          <a:lstStyle/>
          <a:p>
            <a:pPr indent="0" marL="0">
              <a:buNone/>
            </a:pPr>
            <a:r>
              <a:rPr lang="en-US" sz="850" i="1" dirty="0">
                <a:solidFill>
                  <a:srgbClr val="8C3A2B"/>
                </a:solidFill>
                <a:latin typeface="Calibri" pitchFamily="34" charset="0"/>
                <a:ea typeface="Calibri" pitchFamily="34" charset="-122"/>
                <a:cs typeface="Calibri" pitchFamily="34" charset="-120"/>
              </a:rPr>
              <a:t>kalma süresi · hızlı rota</a:t>
            </a:r>
            <a:endParaRPr lang="en-US" sz="850" dirty="0"/>
          </a:p>
        </p:txBody>
      </p:sp>
      <p:sp>
        <p:nvSpPr>
          <p:cNvPr id="25" name="Shape 23"/>
          <p:cNvSpPr/>
          <p:nvPr/>
        </p:nvSpPr>
        <p:spPr>
          <a:xfrm>
            <a:off x="6409944" y="3108960"/>
            <a:ext cx="91440" cy="91440"/>
          </a:xfrm>
          <a:prstGeom prst="ellipse">
            <a:avLst/>
          </a:prstGeom>
          <a:solidFill>
            <a:srgbClr val="8C3A2B"/>
          </a:solidFill>
          <a:ln w="12700">
            <a:solidFill>
              <a:srgbClr val="8C3A2B"/>
            </a:solidFill>
            <a:prstDash val="solid"/>
          </a:ln>
        </p:spPr>
      </p:sp>
      <p:sp>
        <p:nvSpPr>
          <p:cNvPr id="26" name="Text 24"/>
          <p:cNvSpPr txBox="1"/>
          <p:nvPr/>
        </p:nvSpPr>
        <p:spPr>
          <a:xfrm>
            <a:off x="6638544" y="2999232"/>
            <a:ext cx="3063240" cy="292608"/>
          </a:xfrm>
          <a:prstGeom prst="rect">
            <a:avLst/>
          </a:prstGeom>
          <a:noFill/>
          <a:ln/>
        </p:spPr>
        <p:txBody>
          <a:bodyPr wrap="square" lIns="0" tIns="0" rIns="0" bIns="0" rtlCol="0" anchor="ctr"/>
          <a:lstStyle/>
          <a:p>
            <a:pPr indent="0" marL="0">
              <a:buNone/>
            </a:pPr>
            <a:r>
              <a:rPr lang="en-US" sz="1150" dirty="0">
                <a:solidFill>
                  <a:srgbClr val="2B2B31"/>
                </a:solidFill>
                <a:latin typeface="Calibri" pitchFamily="34" charset="0"/>
                <a:ea typeface="Calibri" pitchFamily="34" charset="-122"/>
                <a:cs typeface="Calibri" pitchFamily="34" charset="-120"/>
              </a:rPr>
              <a:t>Ürünü eline almadan karar vermiyor</a:t>
            </a:r>
            <a:endParaRPr lang="en-US" sz="1150" dirty="0"/>
          </a:p>
        </p:txBody>
      </p:sp>
      <p:sp>
        <p:nvSpPr>
          <p:cNvPr id="27" name="Text 25"/>
          <p:cNvSpPr txBox="1"/>
          <p:nvPr/>
        </p:nvSpPr>
        <p:spPr>
          <a:xfrm>
            <a:off x="9729216" y="3017520"/>
            <a:ext cx="1682496" cy="274320"/>
          </a:xfrm>
          <a:prstGeom prst="rect">
            <a:avLst/>
          </a:prstGeom>
          <a:noFill/>
          <a:ln/>
        </p:spPr>
        <p:txBody>
          <a:bodyPr wrap="square" lIns="0" tIns="0" rIns="0" bIns="0" rtlCol="0" anchor="ctr"/>
          <a:lstStyle/>
          <a:p>
            <a:pPr indent="0" marL="0">
              <a:buNone/>
            </a:pPr>
            <a:r>
              <a:rPr lang="en-US" sz="850" i="1" dirty="0">
                <a:solidFill>
                  <a:srgbClr val="8C3A2B"/>
                </a:solidFill>
                <a:latin typeface="Calibri" pitchFamily="34" charset="0"/>
                <a:ea typeface="Calibri" pitchFamily="34" charset="-122"/>
                <a:cs typeface="Calibri" pitchFamily="34" charset="-120"/>
              </a:rPr>
              <a:t>açık teşhir · dokunma izni</a:t>
            </a:r>
            <a:endParaRPr lang="en-US" sz="850" dirty="0"/>
          </a:p>
        </p:txBody>
      </p:sp>
      <p:sp>
        <p:nvSpPr>
          <p:cNvPr id="28" name="Shape 26"/>
          <p:cNvSpPr/>
          <p:nvPr/>
        </p:nvSpPr>
        <p:spPr>
          <a:xfrm>
            <a:off x="6409944" y="3511296"/>
            <a:ext cx="91440" cy="91440"/>
          </a:xfrm>
          <a:prstGeom prst="ellipse">
            <a:avLst/>
          </a:prstGeom>
          <a:solidFill>
            <a:srgbClr val="8C3A2B"/>
          </a:solidFill>
          <a:ln w="12700">
            <a:solidFill>
              <a:srgbClr val="8C3A2B"/>
            </a:solidFill>
            <a:prstDash val="solid"/>
          </a:ln>
        </p:spPr>
      </p:sp>
      <p:sp>
        <p:nvSpPr>
          <p:cNvPr id="29" name="Text 27"/>
          <p:cNvSpPr txBox="1"/>
          <p:nvPr/>
        </p:nvSpPr>
        <p:spPr>
          <a:xfrm>
            <a:off x="6638544" y="3401568"/>
            <a:ext cx="3063240" cy="292608"/>
          </a:xfrm>
          <a:prstGeom prst="rect">
            <a:avLst/>
          </a:prstGeom>
          <a:noFill/>
          <a:ln/>
        </p:spPr>
        <p:txBody>
          <a:bodyPr wrap="square" lIns="0" tIns="0" rIns="0" bIns="0" rtlCol="0" anchor="ctr"/>
          <a:lstStyle/>
          <a:p>
            <a:pPr indent="0" marL="0">
              <a:buNone/>
            </a:pPr>
            <a:r>
              <a:rPr lang="en-US" sz="1150" dirty="0">
                <a:solidFill>
                  <a:srgbClr val="2B2B31"/>
                </a:solidFill>
                <a:latin typeface="Calibri" pitchFamily="34" charset="0"/>
                <a:ea typeface="Calibri" pitchFamily="34" charset="-122"/>
                <a:cs typeface="Calibri" pitchFamily="34" charset="-120"/>
              </a:rPr>
              <a:t>Soru sormayı sevmiyor, etiketten okuyor</a:t>
            </a:r>
            <a:endParaRPr lang="en-US" sz="1150" dirty="0"/>
          </a:p>
        </p:txBody>
      </p:sp>
      <p:sp>
        <p:nvSpPr>
          <p:cNvPr id="30" name="Text 28"/>
          <p:cNvSpPr txBox="1"/>
          <p:nvPr/>
        </p:nvSpPr>
        <p:spPr>
          <a:xfrm>
            <a:off x="9729216" y="3419856"/>
            <a:ext cx="1682496" cy="274320"/>
          </a:xfrm>
          <a:prstGeom prst="rect">
            <a:avLst/>
          </a:prstGeom>
          <a:noFill/>
          <a:ln/>
        </p:spPr>
        <p:txBody>
          <a:bodyPr wrap="square" lIns="0" tIns="0" rIns="0" bIns="0" rtlCol="0" anchor="ctr"/>
          <a:lstStyle/>
          <a:p>
            <a:pPr indent="0" marL="0">
              <a:buNone/>
            </a:pPr>
            <a:r>
              <a:rPr lang="en-US" sz="850" i="1" dirty="0">
                <a:solidFill>
                  <a:srgbClr val="8C3A2B"/>
                </a:solidFill>
                <a:latin typeface="Calibri" pitchFamily="34" charset="0"/>
                <a:ea typeface="Calibri" pitchFamily="34" charset="-122"/>
                <a:cs typeface="Calibri" pitchFamily="34" charset="-120"/>
              </a:rPr>
              <a:t>bilgi katmanı · yönlendirme</a:t>
            </a:r>
            <a:endParaRPr lang="en-US" sz="850" dirty="0"/>
          </a:p>
        </p:txBody>
      </p:sp>
      <p:sp>
        <p:nvSpPr>
          <p:cNvPr id="31" name="Shape 29"/>
          <p:cNvSpPr/>
          <p:nvPr/>
        </p:nvSpPr>
        <p:spPr>
          <a:xfrm>
            <a:off x="6409944" y="3913632"/>
            <a:ext cx="91440" cy="91440"/>
          </a:xfrm>
          <a:prstGeom prst="ellipse">
            <a:avLst/>
          </a:prstGeom>
          <a:solidFill>
            <a:srgbClr val="8C3A2B"/>
          </a:solidFill>
          <a:ln w="12700">
            <a:solidFill>
              <a:srgbClr val="8C3A2B"/>
            </a:solidFill>
            <a:prstDash val="solid"/>
          </a:ln>
        </p:spPr>
      </p:sp>
      <p:sp>
        <p:nvSpPr>
          <p:cNvPr id="32" name="Text 30"/>
          <p:cNvSpPr txBox="1"/>
          <p:nvPr/>
        </p:nvSpPr>
        <p:spPr>
          <a:xfrm>
            <a:off x="6638544" y="3803904"/>
            <a:ext cx="3063240" cy="292608"/>
          </a:xfrm>
          <a:prstGeom prst="rect">
            <a:avLst/>
          </a:prstGeom>
          <a:noFill/>
          <a:ln/>
        </p:spPr>
        <p:txBody>
          <a:bodyPr wrap="square" lIns="0" tIns="0" rIns="0" bIns="0" rtlCol="0" anchor="ctr"/>
          <a:lstStyle/>
          <a:p>
            <a:pPr indent="0" marL="0">
              <a:buNone/>
            </a:pPr>
            <a:r>
              <a:rPr lang="en-US" sz="1150" dirty="0">
                <a:solidFill>
                  <a:srgbClr val="2B2B31"/>
                </a:solidFill>
                <a:latin typeface="Calibri" pitchFamily="34" charset="0"/>
                <a:ea typeface="Calibri" pitchFamily="34" charset="-122"/>
                <a:cs typeface="Calibri" pitchFamily="34" charset="-120"/>
              </a:rPr>
              <a:t>Yanında çocuk ya da poşetle geliyor</a:t>
            </a:r>
            <a:endParaRPr lang="en-US" sz="1150" dirty="0"/>
          </a:p>
        </p:txBody>
      </p:sp>
      <p:sp>
        <p:nvSpPr>
          <p:cNvPr id="33" name="Text 31"/>
          <p:cNvSpPr txBox="1"/>
          <p:nvPr/>
        </p:nvSpPr>
        <p:spPr>
          <a:xfrm>
            <a:off x="9729216" y="3822192"/>
            <a:ext cx="1682496" cy="274320"/>
          </a:xfrm>
          <a:prstGeom prst="rect">
            <a:avLst/>
          </a:prstGeom>
          <a:noFill/>
          <a:ln/>
        </p:spPr>
        <p:txBody>
          <a:bodyPr wrap="square" lIns="0" tIns="0" rIns="0" bIns="0" rtlCol="0" anchor="ctr"/>
          <a:lstStyle/>
          <a:p>
            <a:pPr indent="0" marL="0">
              <a:buNone/>
            </a:pPr>
            <a:r>
              <a:rPr lang="en-US" sz="850" i="1" dirty="0">
                <a:solidFill>
                  <a:srgbClr val="8C3A2B"/>
                </a:solidFill>
                <a:latin typeface="Calibri" pitchFamily="34" charset="0"/>
                <a:ea typeface="Calibri" pitchFamily="34" charset="-122"/>
                <a:cs typeface="Calibri" pitchFamily="34" charset="-120"/>
              </a:rPr>
              <a:t>koridor genişliği · bırakma yeri</a:t>
            </a:r>
            <a:endParaRPr lang="en-US" sz="850" dirty="0"/>
          </a:p>
        </p:txBody>
      </p:sp>
      <p:sp>
        <p:nvSpPr>
          <p:cNvPr id="34" name="Shape 32"/>
          <p:cNvSpPr/>
          <p:nvPr/>
        </p:nvSpPr>
        <p:spPr>
          <a:xfrm>
            <a:off x="6409944" y="4315968"/>
            <a:ext cx="91440" cy="91440"/>
          </a:xfrm>
          <a:prstGeom prst="ellipse">
            <a:avLst/>
          </a:prstGeom>
          <a:solidFill>
            <a:srgbClr val="8C3A2B"/>
          </a:solidFill>
          <a:ln w="12700">
            <a:solidFill>
              <a:srgbClr val="8C3A2B"/>
            </a:solidFill>
            <a:prstDash val="solid"/>
          </a:ln>
        </p:spPr>
      </p:sp>
      <p:sp>
        <p:nvSpPr>
          <p:cNvPr id="35" name="Text 33"/>
          <p:cNvSpPr txBox="1"/>
          <p:nvPr/>
        </p:nvSpPr>
        <p:spPr>
          <a:xfrm>
            <a:off x="6638544" y="4206240"/>
            <a:ext cx="3063240" cy="292608"/>
          </a:xfrm>
          <a:prstGeom prst="rect">
            <a:avLst/>
          </a:prstGeom>
          <a:noFill/>
          <a:ln/>
        </p:spPr>
        <p:txBody>
          <a:bodyPr wrap="square" lIns="0" tIns="0" rIns="0" bIns="0" rtlCol="0" anchor="ctr"/>
          <a:lstStyle/>
          <a:p>
            <a:pPr indent="0" marL="0">
              <a:buNone/>
            </a:pPr>
            <a:r>
              <a:rPr lang="en-US" sz="1150" dirty="0">
                <a:solidFill>
                  <a:srgbClr val="2B2B31"/>
                </a:solidFill>
                <a:latin typeface="Calibri" pitchFamily="34" charset="0"/>
                <a:ea typeface="Calibri" pitchFamily="34" charset="-122"/>
                <a:cs typeface="Calibri" pitchFamily="34" charset="-120"/>
              </a:rPr>
              <a:t>Aynı ürünü ikinci kez almaya geliyor</a:t>
            </a:r>
            <a:endParaRPr lang="en-US" sz="1150" dirty="0"/>
          </a:p>
        </p:txBody>
      </p:sp>
      <p:sp>
        <p:nvSpPr>
          <p:cNvPr id="36" name="Text 34"/>
          <p:cNvSpPr txBox="1"/>
          <p:nvPr/>
        </p:nvSpPr>
        <p:spPr>
          <a:xfrm>
            <a:off x="9729216" y="4224528"/>
            <a:ext cx="1682496" cy="274320"/>
          </a:xfrm>
          <a:prstGeom prst="rect">
            <a:avLst/>
          </a:prstGeom>
          <a:noFill/>
          <a:ln/>
        </p:spPr>
        <p:txBody>
          <a:bodyPr wrap="square" lIns="0" tIns="0" rIns="0" bIns="0" rtlCol="0" anchor="ctr"/>
          <a:lstStyle/>
          <a:p>
            <a:pPr indent="0" marL="0">
              <a:buNone/>
            </a:pPr>
            <a:r>
              <a:rPr lang="en-US" sz="850" i="1" dirty="0">
                <a:solidFill>
                  <a:srgbClr val="8C3A2B"/>
                </a:solidFill>
                <a:latin typeface="Calibri" pitchFamily="34" charset="0"/>
                <a:ea typeface="Calibri" pitchFamily="34" charset="-122"/>
                <a:cs typeface="Calibri" pitchFamily="34" charset="-120"/>
              </a:rPr>
              <a:t>tekrar rotası · hızlı kasa</a:t>
            </a:r>
            <a:endParaRPr lang="en-US" sz="850" dirty="0"/>
          </a:p>
        </p:txBody>
      </p:sp>
      <p:sp>
        <p:nvSpPr>
          <p:cNvPr id="37" name="Text 35"/>
          <p:cNvSpPr txBox="1"/>
          <p:nvPr/>
        </p:nvSpPr>
        <p:spPr>
          <a:xfrm>
            <a:off x="6382512" y="4754880"/>
            <a:ext cx="5029200" cy="502920"/>
          </a:xfrm>
          <a:prstGeom prst="rect">
            <a:avLst/>
          </a:prstGeom>
          <a:noFill/>
          <a:ln/>
        </p:spPr>
        <p:txBody>
          <a:bodyPr wrap="square" lIns="0" tIns="0" rIns="0" bIns="0" rtlCol="0" anchor="ctr"/>
          <a:lstStyle/>
          <a:p>
            <a:pPr algn="l" indent="0" marL="0">
              <a:lnSpc>
                <a:spcPts val="1400"/>
              </a:lnSpc>
              <a:buNone/>
            </a:pPr>
            <a:r>
              <a:rPr lang="en-US" sz="1100" i="1" dirty="0">
                <a:solidFill>
                  <a:srgbClr val="8C3A2B"/>
                </a:solidFill>
                <a:latin typeface="Calibri" pitchFamily="34" charset="0"/>
                <a:ea typeface="Calibri" pitchFamily="34" charset="-122"/>
                <a:cs typeface="Calibri" pitchFamily="34" charset="-120"/>
              </a:rPr>
              <a:t>Her biri bir mekânsal karara çevrilebilir: süre, erişim, bilgi, alan, tekrar.</a:t>
            </a:r>
            <a:endParaRPr lang="en-US" sz="1100" dirty="0"/>
          </a:p>
        </p:txBody>
      </p:sp>
      <p:sp>
        <p:nvSpPr>
          <p:cNvPr id="38" name="Shape 36"/>
          <p:cNvSpPr/>
          <p:nvPr/>
        </p:nvSpPr>
        <p:spPr>
          <a:xfrm>
            <a:off x="5961888" y="2331720"/>
            <a:ext cx="0" cy="2926080"/>
          </a:xfrm>
          <a:prstGeom prst="line">
            <a:avLst/>
          </a:prstGeom>
          <a:noFill/>
          <a:ln w="9525">
            <a:solidFill>
              <a:srgbClr val="C9C9CF"/>
            </a:solidFill>
            <a:prstDash val="solid"/>
          </a:ln>
        </p:spPr>
      </p:sp>
      <p:sp>
        <p:nvSpPr>
          <p:cNvPr id="39" name="Shape 37"/>
          <p:cNvSpPr/>
          <p:nvPr/>
        </p:nvSpPr>
        <p:spPr>
          <a:xfrm>
            <a:off x="777240" y="5440680"/>
            <a:ext cx="10634472" cy="603504"/>
          </a:xfrm>
          <a:prstGeom prst="rect">
            <a:avLst/>
          </a:prstGeom>
          <a:solidFill>
            <a:srgbClr val="F6EAE6"/>
          </a:solidFill>
          <a:ln w="15875">
            <a:solidFill>
              <a:srgbClr val="8C3A2B"/>
            </a:solidFill>
            <a:prstDash val="solid"/>
          </a:ln>
        </p:spPr>
      </p:sp>
      <p:sp>
        <p:nvSpPr>
          <p:cNvPr id="40" name="Text 38"/>
          <p:cNvSpPr txBox="1"/>
          <p:nvPr/>
        </p:nvSpPr>
        <p:spPr>
          <a:xfrm>
            <a:off x="1005840" y="5532120"/>
            <a:ext cx="10149840" cy="420624"/>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KURAL:  Bir persona maddesi bir tasarım kararını değiştirmiyorsa, o madde personaya ait değildir.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III · PERSONA</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Persona nasıl çıkarılır? Üç gözlem yöntemi</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Persona anket doldurtarak çıkmaz; gözlemle çıkar. Hizmet tasarımı pratiğinde bu iş için üç yöntem kullanılır (Stickdorn vd., 2018). Üçü de bir öğrencinin tek başına, bir hafta içinde uygulayabileceği yöntemlerdir.</a:t>
            </a:r>
            <a:endParaRPr lang="en-US" sz="1350" dirty="0"/>
          </a:p>
        </p:txBody>
      </p:sp>
      <p:sp>
        <p:nvSpPr>
          <p:cNvPr id="7" name="Shape 5"/>
          <p:cNvSpPr/>
          <p:nvPr/>
        </p:nvSpPr>
        <p:spPr>
          <a:xfrm>
            <a:off x="777240" y="2377440"/>
            <a:ext cx="3291840" cy="2514600"/>
          </a:xfrm>
          <a:prstGeom prst="rect">
            <a:avLst/>
          </a:prstGeom>
          <a:ln w="9525">
            <a:solidFill>
              <a:srgbClr val="C9C9CF"/>
            </a:solidFill>
            <a:prstDash val="solid"/>
          </a:ln>
        </p:spPr>
      </p:sp>
      <p:sp>
        <p:nvSpPr>
          <p:cNvPr id="8" name="Shape 6"/>
          <p:cNvSpPr/>
          <p:nvPr/>
        </p:nvSpPr>
        <p:spPr>
          <a:xfrm>
            <a:off x="1033272" y="2633472"/>
            <a:ext cx="292608" cy="292608"/>
          </a:xfrm>
          <a:prstGeom prst="ellipse">
            <a:avLst/>
          </a:prstGeom>
          <a:solidFill>
            <a:srgbClr val="16161A"/>
          </a:solidFill>
          <a:ln w="12700">
            <a:solidFill>
              <a:srgbClr val="16161A"/>
            </a:solidFill>
            <a:prstDash val="solid"/>
          </a:ln>
        </p:spPr>
      </p:sp>
      <p:sp>
        <p:nvSpPr>
          <p:cNvPr id="9" name="Text 7"/>
          <p:cNvSpPr txBox="1"/>
          <p:nvPr/>
        </p:nvSpPr>
        <p:spPr>
          <a:xfrm>
            <a:off x="1033272" y="26334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78408" y="3072384"/>
            <a:ext cx="2889504" cy="292608"/>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Hizmet safarisi</a:t>
            </a:r>
            <a:endParaRPr lang="en-US" sz="1550" dirty="0"/>
          </a:p>
        </p:txBody>
      </p:sp>
      <p:sp>
        <p:nvSpPr>
          <p:cNvPr id="11" name="Text 9"/>
          <p:cNvSpPr txBox="1"/>
          <p:nvPr/>
        </p:nvSpPr>
        <p:spPr>
          <a:xfrm>
            <a:off x="978408" y="3364992"/>
            <a:ext cx="2889504" cy="219456"/>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service safari</a:t>
            </a:r>
            <a:endParaRPr lang="en-US" sz="850" dirty="0"/>
          </a:p>
        </p:txBody>
      </p:sp>
      <p:sp>
        <p:nvSpPr>
          <p:cNvPr id="12" name="Text 10"/>
          <p:cNvSpPr txBox="1"/>
          <p:nvPr/>
        </p:nvSpPr>
        <p:spPr>
          <a:xfrm>
            <a:off x="978408" y="3657600"/>
            <a:ext cx="2889504" cy="841248"/>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Kendiniz müşteri gibi davranırsınız: mağazaya gidip alışverişi baştan sona yaşar, her adımda ne hissettiğinizi not edersiniz.</a:t>
            </a:r>
            <a:endParaRPr lang="en-US" sz="1050" dirty="0"/>
          </a:p>
        </p:txBody>
      </p:sp>
      <p:sp>
        <p:nvSpPr>
          <p:cNvPr id="13" name="Shape 11"/>
          <p:cNvSpPr/>
          <p:nvPr/>
        </p:nvSpPr>
        <p:spPr>
          <a:xfrm>
            <a:off x="978408" y="4517136"/>
            <a:ext cx="2889504" cy="0"/>
          </a:xfrm>
          <a:prstGeom prst="line">
            <a:avLst/>
          </a:prstGeom>
          <a:noFill/>
          <a:ln w="9525">
            <a:solidFill>
              <a:srgbClr val="EDEDF0"/>
            </a:solidFill>
            <a:prstDash val="solid"/>
          </a:ln>
        </p:spPr>
      </p:sp>
      <p:sp>
        <p:nvSpPr>
          <p:cNvPr id="14" name="Text 12"/>
          <p:cNvSpPr txBox="1"/>
          <p:nvPr/>
        </p:nvSpPr>
        <p:spPr>
          <a:xfrm>
            <a:off x="978408" y="4572000"/>
            <a:ext cx="2889504" cy="292608"/>
          </a:xfrm>
          <a:prstGeom prst="rect">
            <a:avLst/>
          </a:prstGeom>
          <a:noFill/>
          <a:ln/>
        </p:spPr>
        <p:txBody>
          <a:bodyPr wrap="square" lIns="0" tIns="0" rIns="0" bIns="0" rtlCol="0" anchor="ctr"/>
          <a:lstStyle/>
          <a:p>
            <a:pPr indent="0" marL="0">
              <a:lnSpc>
                <a:spcPts val="1150"/>
              </a:lnSpc>
              <a:buNone/>
            </a:pPr>
            <a:r>
              <a:rPr lang="en-US" sz="950" b="1" dirty="0">
                <a:solidFill>
                  <a:srgbClr val="7A7A82"/>
                </a:solidFill>
                <a:latin typeface="Calibri" pitchFamily="34" charset="0"/>
                <a:ea typeface="Calibri" pitchFamily="34" charset="-122"/>
                <a:cs typeface="Calibri" pitchFamily="34" charset="-120"/>
              </a:rPr>
              <a:t>yolculuğun tamamını</a:t>
            </a:r>
            <a:endParaRPr lang="en-US" sz="950" dirty="0"/>
          </a:p>
          <a:p>
            <a:pPr indent="0" marL="0">
              <a:lnSpc>
                <a:spcPts val="1150"/>
              </a:lnSpc>
              <a:buNone/>
            </a:pPr>
            <a:r>
              <a:rPr lang="en-US" sz="950" b="1" dirty="0">
                <a:solidFill>
                  <a:srgbClr val="7A7A82"/>
                </a:solidFill>
                <a:latin typeface="Calibri" pitchFamily="34" charset="0"/>
                <a:ea typeface="Calibri" pitchFamily="34" charset="-122"/>
                <a:cs typeface="Calibri" pitchFamily="34" charset="-120"/>
              </a:rPr>
              <a:t>kendi üzerinizde yaşarsınız</a:t>
            </a:r>
            <a:endParaRPr lang="en-US" sz="950" dirty="0"/>
          </a:p>
        </p:txBody>
      </p:sp>
      <p:sp>
        <p:nvSpPr>
          <p:cNvPr id="15" name="Shape 13"/>
          <p:cNvSpPr/>
          <p:nvPr/>
        </p:nvSpPr>
        <p:spPr>
          <a:xfrm>
            <a:off x="4453128" y="2377440"/>
            <a:ext cx="3291840" cy="2514600"/>
          </a:xfrm>
          <a:prstGeom prst="rect">
            <a:avLst/>
          </a:prstGeom>
          <a:solidFill>
            <a:srgbClr val="F6EAE6"/>
          </a:solidFill>
          <a:ln w="15875">
            <a:solidFill>
              <a:srgbClr val="8C3A2B"/>
            </a:solidFill>
            <a:prstDash val="solid"/>
          </a:ln>
        </p:spPr>
      </p:sp>
      <p:sp>
        <p:nvSpPr>
          <p:cNvPr id="16" name="Shape 14"/>
          <p:cNvSpPr/>
          <p:nvPr/>
        </p:nvSpPr>
        <p:spPr>
          <a:xfrm>
            <a:off x="4709160" y="2633472"/>
            <a:ext cx="292608" cy="292608"/>
          </a:xfrm>
          <a:prstGeom prst="ellipse">
            <a:avLst/>
          </a:prstGeom>
          <a:solidFill>
            <a:srgbClr val="8C3A2B"/>
          </a:solidFill>
          <a:ln w="12700">
            <a:solidFill>
              <a:srgbClr val="8C3A2B"/>
            </a:solidFill>
            <a:prstDash val="solid"/>
          </a:ln>
        </p:spPr>
      </p:sp>
      <p:sp>
        <p:nvSpPr>
          <p:cNvPr id="17" name="Text 15"/>
          <p:cNvSpPr txBox="1"/>
          <p:nvPr/>
        </p:nvSpPr>
        <p:spPr>
          <a:xfrm>
            <a:off x="4709160" y="26334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txBox="1"/>
          <p:nvPr/>
        </p:nvSpPr>
        <p:spPr>
          <a:xfrm>
            <a:off x="4654296" y="3072384"/>
            <a:ext cx="2889504" cy="292608"/>
          </a:xfrm>
          <a:prstGeom prst="rect">
            <a:avLst/>
          </a:prstGeom>
          <a:noFill/>
          <a:ln/>
        </p:spPr>
        <p:txBody>
          <a:bodyPr wrap="square" lIns="0" tIns="0" rIns="0" bIns="0" rtlCol="0" anchor="ctr"/>
          <a:lstStyle/>
          <a:p>
            <a:pPr indent="0" marL="0">
              <a:buNone/>
            </a:pPr>
            <a:r>
              <a:rPr lang="en-US" sz="1550" b="1" dirty="0">
                <a:solidFill>
                  <a:srgbClr val="8C3A2B"/>
                </a:solidFill>
                <a:latin typeface="Cambria" pitchFamily="34" charset="0"/>
                <a:ea typeface="Cambria" pitchFamily="34" charset="-122"/>
                <a:cs typeface="Cambria" pitchFamily="34" charset="-120"/>
              </a:rPr>
              <a:t>Yerinde gözlem</a:t>
            </a:r>
            <a:endParaRPr lang="en-US" sz="1550" dirty="0"/>
          </a:p>
        </p:txBody>
      </p:sp>
      <p:sp>
        <p:nvSpPr>
          <p:cNvPr id="19" name="Text 17"/>
          <p:cNvSpPr txBox="1"/>
          <p:nvPr/>
        </p:nvSpPr>
        <p:spPr>
          <a:xfrm>
            <a:off x="4654296" y="3364992"/>
            <a:ext cx="2889504" cy="219456"/>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mobile ethnography</a:t>
            </a:r>
            <a:endParaRPr lang="en-US" sz="850" dirty="0"/>
          </a:p>
        </p:txBody>
      </p:sp>
      <p:sp>
        <p:nvSpPr>
          <p:cNvPr id="20" name="Text 18"/>
          <p:cNvSpPr txBox="1"/>
          <p:nvPr/>
        </p:nvSpPr>
        <p:spPr>
          <a:xfrm>
            <a:off x="4654296" y="3657600"/>
            <a:ext cx="2889504" cy="841248"/>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Mağazada durup insanları izlersiniz: nereye baktıklarını, nerede duraksadıklarını, neye dokunduklarını kaydedersiniz.</a:t>
            </a:r>
            <a:endParaRPr lang="en-US" sz="1050" dirty="0"/>
          </a:p>
        </p:txBody>
      </p:sp>
      <p:sp>
        <p:nvSpPr>
          <p:cNvPr id="21" name="Shape 19"/>
          <p:cNvSpPr/>
          <p:nvPr/>
        </p:nvSpPr>
        <p:spPr>
          <a:xfrm>
            <a:off x="4654296" y="4517136"/>
            <a:ext cx="2889504" cy="0"/>
          </a:xfrm>
          <a:prstGeom prst="line">
            <a:avLst/>
          </a:prstGeom>
          <a:noFill/>
          <a:ln w="9525">
            <a:solidFill>
              <a:srgbClr val="8C3A2B"/>
            </a:solidFill>
            <a:prstDash val="solid"/>
          </a:ln>
        </p:spPr>
      </p:sp>
      <p:sp>
        <p:nvSpPr>
          <p:cNvPr id="22" name="Text 20"/>
          <p:cNvSpPr txBox="1"/>
          <p:nvPr/>
        </p:nvSpPr>
        <p:spPr>
          <a:xfrm>
            <a:off x="4654296" y="4572000"/>
            <a:ext cx="2889504" cy="292608"/>
          </a:xfrm>
          <a:prstGeom prst="rect">
            <a:avLst/>
          </a:prstGeom>
          <a:noFill/>
          <a:ln/>
        </p:spPr>
        <p:txBody>
          <a:bodyPr wrap="square" lIns="0" tIns="0" rIns="0" bIns="0" rtlCol="0" anchor="ctr"/>
          <a:lstStyle/>
          <a:p>
            <a:pPr indent="0" marL="0">
              <a:lnSpc>
                <a:spcPts val="1150"/>
              </a:lnSpc>
              <a:buNone/>
            </a:pPr>
            <a:r>
              <a:rPr lang="en-US" sz="950" b="1" dirty="0">
                <a:solidFill>
                  <a:srgbClr val="8C3A2B"/>
                </a:solidFill>
                <a:latin typeface="Calibri" pitchFamily="34" charset="0"/>
                <a:ea typeface="Calibri" pitchFamily="34" charset="-122"/>
                <a:cs typeface="Calibri" pitchFamily="34" charset="-120"/>
              </a:rPr>
              <a:t>insanların gerçekte</a:t>
            </a:r>
            <a:endParaRPr lang="en-US" sz="950" dirty="0"/>
          </a:p>
          <a:p>
            <a:pPr indent="0" marL="0">
              <a:lnSpc>
                <a:spcPts val="1150"/>
              </a:lnSpc>
              <a:buNone/>
            </a:pPr>
            <a:r>
              <a:rPr lang="en-US" sz="950" b="1" dirty="0">
                <a:solidFill>
                  <a:srgbClr val="8C3A2B"/>
                </a:solidFill>
                <a:latin typeface="Calibri" pitchFamily="34" charset="0"/>
                <a:ea typeface="Calibri" pitchFamily="34" charset="-122"/>
                <a:cs typeface="Calibri" pitchFamily="34" charset="-120"/>
              </a:rPr>
              <a:t>ne yaptığını verir</a:t>
            </a:r>
            <a:endParaRPr lang="en-US" sz="950" dirty="0"/>
          </a:p>
        </p:txBody>
      </p:sp>
      <p:sp>
        <p:nvSpPr>
          <p:cNvPr id="23" name="Shape 21"/>
          <p:cNvSpPr/>
          <p:nvPr/>
        </p:nvSpPr>
        <p:spPr>
          <a:xfrm>
            <a:off x="8129016" y="2377440"/>
            <a:ext cx="3291840" cy="2514600"/>
          </a:xfrm>
          <a:prstGeom prst="rect">
            <a:avLst/>
          </a:prstGeom>
          <a:ln w="9525">
            <a:solidFill>
              <a:srgbClr val="C9C9CF"/>
            </a:solidFill>
            <a:prstDash val="solid"/>
          </a:ln>
        </p:spPr>
      </p:sp>
      <p:sp>
        <p:nvSpPr>
          <p:cNvPr id="24" name="Shape 22"/>
          <p:cNvSpPr/>
          <p:nvPr/>
        </p:nvSpPr>
        <p:spPr>
          <a:xfrm>
            <a:off x="8385048" y="2633472"/>
            <a:ext cx="292608" cy="292608"/>
          </a:xfrm>
          <a:prstGeom prst="ellipse">
            <a:avLst/>
          </a:prstGeom>
          <a:solidFill>
            <a:srgbClr val="16161A"/>
          </a:solidFill>
          <a:ln w="12700">
            <a:solidFill>
              <a:srgbClr val="16161A"/>
            </a:solidFill>
            <a:prstDash val="solid"/>
          </a:ln>
        </p:spPr>
      </p:sp>
      <p:sp>
        <p:nvSpPr>
          <p:cNvPr id="25" name="Text 23"/>
          <p:cNvSpPr txBox="1"/>
          <p:nvPr/>
        </p:nvSpPr>
        <p:spPr>
          <a:xfrm>
            <a:off x="8385048" y="26334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330184" y="3072384"/>
            <a:ext cx="2889504" cy="292608"/>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Bağlamsal görüşme</a:t>
            </a:r>
            <a:endParaRPr lang="en-US" sz="1550" dirty="0"/>
          </a:p>
        </p:txBody>
      </p:sp>
      <p:sp>
        <p:nvSpPr>
          <p:cNvPr id="27" name="Text 25"/>
          <p:cNvSpPr txBox="1"/>
          <p:nvPr/>
        </p:nvSpPr>
        <p:spPr>
          <a:xfrm>
            <a:off x="8330184" y="3364992"/>
            <a:ext cx="2889504" cy="219456"/>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contextual interview</a:t>
            </a:r>
            <a:endParaRPr lang="en-US" sz="850" dirty="0"/>
          </a:p>
        </p:txBody>
      </p:sp>
      <p:sp>
        <p:nvSpPr>
          <p:cNvPr id="28" name="Text 26"/>
          <p:cNvSpPr txBox="1"/>
          <p:nvPr/>
        </p:nvSpPr>
        <p:spPr>
          <a:xfrm>
            <a:off x="8330184" y="3657600"/>
            <a:ext cx="2889504" cy="841248"/>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Müşteriyle ya da marka sahibiyle mekânın içinde konuşursunuz; sorular yaşanan ana bağlı olduğu için cevaplar somuttur.</a:t>
            </a:r>
            <a:endParaRPr lang="en-US" sz="1050" dirty="0"/>
          </a:p>
        </p:txBody>
      </p:sp>
      <p:sp>
        <p:nvSpPr>
          <p:cNvPr id="29" name="Shape 27"/>
          <p:cNvSpPr/>
          <p:nvPr/>
        </p:nvSpPr>
        <p:spPr>
          <a:xfrm>
            <a:off x="8330184" y="4517136"/>
            <a:ext cx="2889504" cy="0"/>
          </a:xfrm>
          <a:prstGeom prst="line">
            <a:avLst/>
          </a:prstGeom>
          <a:noFill/>
          <a:ln w="9525">
            <a:solidFill>
              <a:srgbClr val="EDEDF0"/>
            </a:solidFill>
            <a:prstDash val="solid"/>
          </a:ln>
        </p:spPr>
      </p:sp>
      <p:sp>
        <p:nvSpPr>
          <p:cNvPr id="30" name="Text 28"/>
          <p:cNvSpPr txBox="1"/>
          <p:nvPr/>
        </p:nvSpPr>
        <p:spPr>
          <a:xfrm>
            <a:off x="8330184" y="4572000"/>
            <a:ext cx="2889504" cy="292608"/>
          </a:xfrm>
          <a:prstGeom prst="rect">
            <a:avLst/>
          </a:prstGeom>
          <a:noFill/>
          <a:ln/>
        </p:spPr>
        <p:txBody>
          <a:bodyPr wrap="square" lIns="0" tIns="0" rIns="0" bIns="0" rtlCol="0" anchor="ctr"/>
          <a:lstStyle/>
          <a:p>
            <a:pPr indent="0" marL="0">
              <a:lnSpc>
                <a:spcPts val="1150"/>
              </a:lnSpc>
              <a:buNone/>
            </a:pPr>
            <a:r>
              <a:rPr lang="en-US" sz="950" b="1" dirty="0">
                <a:solidFill>
                  <a:srgbClr val="7A7A82"/>
                </a:solidFill>
                <a:latin typeface="Calibri" pitchFamily="34" charset="0"/>
                <a:ea typeface="Calibri" pitchFamily="34" charset="-122"/>
                <a:cs typeface="Calibri" pitchFamily="34" charset="-120"/>
              </a:rPr>
              <a:t>davranışın nedenini</a:t>
            </a:r>
            <a:endParaRPr lang="en-US" sz="950" dirty="0"/>
          </a:p>
          <a:p>
            <a:pPr indent="0" marL="0">
              <a:lnSpc>
                <a:spcPts val="1150"/>
              </a:lnSpc>
              <a:buNone/>
            </a:pPr>
            <a:r>
              <a:rPr lang="en-US" sz="950" b="1" dirty="0">
                <a:solidFill>
                  <a:srgbClr val="7A7A82"/>
                </a:solidFill>
                <a:latin typeface="Calibri" pitchFamily="34" charset="0"/>
                <a:ea typeface="Calibri" pitchFamily="34" charset="-122"/>
                <a:cs typeface="Calibri" pitchFamily="34" charset="-120"/>
              </a:rPr>
              <a:t>verir</a:t>
            </a:r>
            <a:endParaRPr lang="en-US" sz="950" dirty="0"/>
          </a:p>
        </p:txBody>
      </p:sp>
      <p:sp>
        <p:nvSpPr>
          <p:cNvPr id="31" name="Text 29"/>
          <p:cNvSpPr txBox="1"/>
          <p:nvPr/>
        </p:nvSpPr>
        <p:spPr>
          <a:xfrm>
            <a:off x="777240" y="5102352"/>
            <a:ext cx="10634472" cy="365760"/>
          </a:xfrm>
          <a:prstGeom prst="rect">
            <a:avLst/>
          </a:prstGeom>
          <a:noFill/>
          <a:ln/>
        </p:spPr>
        <p:txBody>
          <a:bodyPr wrap="square" lIns="0" tIns="0" rIns="0" bIns="0" rtlCol="0" anchor="ctr"/>
          <a:lstStyle/>
          <a:p>
            <a:pPr algn="l" indent="0" marL="0">
              <a:lnSpc>
                <a:spcPts val="1200"/>
              </a:lnSpc>
              <a:buNone/>
            </a:pPr>
            <a:r>
              <a:rPr lang="en-US" sz="1250" dirty="0">
                <a:solidFill>
                  <a:srgbClr val="2B2B31"/>
                </a:solidFill>
                <a:latin typeface="Cambria" pitchFamily="34" charset="0"/>
                <a:ea typeface="Cambria" pitchFamily="34" charset="-122"/>
                <a:cs typeface="Cambria" pitchFamily="34" charset="-120"/>
              </a:rPr>
              <a:t>Üçü birlikte kullanıldığında birbirini doğrular. Biri eksikse persona tahmine dayanır.</a:t>
            </a:r>
            <a:endParaRPr lang="en-US" sz="1250" dirty="0"/>
          </a:p>
        </p:txBody>
      </p:sp>
      <p:sp>
        <p:nvSpPr>
          <p:cNvPr id="32" name="Text 30"/>
          <p:cNvSpPr txBox="1"/>
          <p:nvPr/>
        </p:nvSpPr>
        <p:spPr>
          <a:xfrm>
            <a:off x="777240" y="5486400"/>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Her gözlemin çıktısı yazıya ve fotoğrafa dökülmeli; hatırlanan gözlem, gözlem sayılmaz.</a:t>
            </a:r>
            <a:endParaRPr lang="en-US" sz="1200" dirty="0"/>
          </a:p>
        </p:txBody>
      </p:sp>
      <p:sp>
        <p:nvSpPr>
          <p:cNvPr id="33" name="Text 31"/>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Stickdorn, Hormess, Lawrence &amp; Schneider (2018).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III · PERSONA</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Persona kartı: doldurulacak alanlar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Aşağıdaki kart, ödevde ve vize paftasında doldurulacak persona şablonudur. Sol taraf kişiyi, sağ taraf o kişinin mekândan ne istediğini yazar. Sağ taraf boşsa persona tamamlanmamıştır.</a:t>
            </a:r>
            <a:endParaRPr lang="en-US" sz="1350" dirty="0"/>
          </a:p>
        </p:txBody>
      </p:sp>
      <p:sp>
        <p:nvSpPr>
          <p:cNvPr id="7" name="Shape 5"/>
          <p:cNvSpPr/>
          <p:nvPr/>
        </p:nvSpPr>
        <p:spPr>
          <a:xfrm>
            <a:off x="777240" y="2331720"/>
            <a:ext cx="5029200" cy="3291840"/>
          </a:xfrm>
          <a:prstGeom prst="rect">
            <a:avLst/>
          </a:prstGeom>
          <a:ln w="9525">
            <a:solidFill>
              <a:srgbClr val="C9C9CF"/>
            </a:solidFill>
            <a:prstDash val="solid"/>
          </a:ln>
        </p:spPr>
      </p:sp>
      <p:sp>
        <p:nvSpPr>
          <p:cNvPr id="8" name="Text 6"/>
          <p:cNvSpPr txBox="1"/>
          <p:nvPr/>
        </p:nvSpPr>
        <p:spPr>
          <a:xfrm>
            <a:off x="996696" y="2487168"/>
            <a:ext cx="279806" cy="237744"/>
          </a:xfrm>
          <a:prstGeom prst="rect">
            <a:avLst/>
          </a:prstGeom>
          <a:noFill/>
          <a:ln/>
        </p:spPr>
        <p:txBody>
          <a:bodyPr wrap="square" lIns="0" tIns="0" rIns="0" bIns="0" rtlCol="0" anchor="ctr"/>
          <a:lstStyle/>
          <a:p>
            <a:pPr indent="0" marL="0">
              <a:buNone/>
            </a:pPr>
            <a:r>
              <a:rPr lang="en-US" sz="900" b="1" spc="170" kern="0" dirty="0">
                <a:solidFill>
                  <a:srgbClr val="7A7A82"/>
                </a:solidFill>
                <a:latin typeface="Calibri" pitchFamily="34" charset="0"/>
                <a:ea typeface="Calibri" pitchFamily="34" charset="-122"/>
                <a:cs typeface="Calibri" pitchFamily="34" charset="-120"/>
              </a:rPr>
              <a:t>KİM</a:t>
            </a:r>
            <a:endParaRPr lang="en-US" sz="900" dirty="0"/>
          </a:p>
        </p:txBody>
      </p:sp>
      <p:sp>
        <p:nvSpPr>
          <p:cNvPr id="9" name="Shape 7"/>
          <p:cNvSpPr/>
          <p:nvPr/>
        </p:nvSpPr>
        <p:spPr>
          <a:xfrm>
            <a:off x="1349654" y="2606040"/>
            <a:ext cx="4237330" cy="0"/>
          </a:xfrm>
          <a:prstGeom prst="line">
            <a:avLst/>
          </a:prstGeom>
          <a:noFill/>
          <a:ln w="9525">
            <a:solidFill>
              <a:srgbClr val="EDEDF0"/>
            </a:solidFill>
            <a:prstDash val="solid"/>
          </a:ln>
        </p:spPr>
      </p:sp>
      <p:sp>
        <p:nvSpPr>
          <p:cNvPr id="10" name="Text 8"/>
          <p:cNvSpPr txBox="1"/>
          <p:nvPr/>
        </p:nvSpPr>
        <p:spPr>
          <a:xfrm>
            <a:off x="996696" y="2834640"/>
            <a:ext cx="4590288" cy="256032"/>
          </a:xfrm>
          <a:prstGeom prst="rect">
            <a:avLst/>
          </a:prstGeom>
          <a:noFill/>
          <a:ln/>
        </p:spPr>
        <p:txBody>
          <a:bodyPr wrap="square" lIns="0" tIns="0" rIns="0" bIns="0" rtlCol="0" anchor="ctr"/>
          <a:lstStyle/>
          <a:p>
            <a:pPr indent="0" marL="0">
              <a:lnSpc>
                <a:spcPts val="1500"/>
              </a:lnSpc>
              <a:buNone/>
            </a:pPr>
            <a:r>
              <a:rPr lang="en-US" sz="1250" b="1" dirty="0">
                <a:solidFill>
                  <a:srgbClr val="16161A"/>
                </a:solidFill>
                <a:latin typeface="Cambria" pitchFamily="34" charset="0"/>
                <a:ea typeface="Cambria" pitchFamily="34" charset="-122"/>
                <a:cs typeface="Cambria" pitchFamily="34" charset="-120"/>
              </a:rPr>
              <a:t>Adı ve tek cümlesi</a:t>
            </a:r>
            <a:endParaRPr lang="en-US" sz="1250" dirty="0"/>
          </a:p>
        </p:txBody>
      </p:sp>
      <p:sp>
        <p:nvSpPr>
          <p:cNvPr id="11" name="Text 9"/>
          <p:cNvSpPr txBox="1"/>
          <p:nvPr/>
        </p:nvSpPr>
        <p:spPr>
          <a:xfrm>
            <a:off x="996696" y="3108960"/>
            <a:ext cx="4590288"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"Deniz, işten çıkınca on dakikası olan biri."</a:t>
            </a:r>
            <a:endParaRPr lang="en-US" sz="1000" dirty="0"/>
          </a:p>
        </p:txBody>
      </p:sp>
      <p:sp>
        <p:nvSpPr>
          <p:cNvPr id="12" name="Shape 10"/>
          <p:cNvSpPr/>
          <p:nvPr/>
        </p:nvSpPr>
        <p:spPr>
          <a:xfrm>
            <a:off x="996696" y="3401568"/>
            <a:ext cx="4590288" cy="0"/>
          </a:xfrm>
          <a:prstGeom prst="line">
            <a:avLst/>
          </a:prstGeom>
          <a:noFill/>
          <a:ln w="6350">
            <a:solidFill>
              <a:srgbClr val="EDEDF0"/>
            </a:solidFill>
            <a:prstDash val="solid"/>
          </a:ln>
        </p:spPr>
      </p:sp>
      <p:sp>
        <p:nvSpPr>
          <p:cNvPr id="13" name="Text 11"/>
          <p:cNvSpPr txBox="1"/>
          <p:nvPr/>
        </p:nvSpPr>
        <p:spPr>
          <a:xfrm>
            <a:off x="996696" y="3511296"/>
            <a:ext cx="4590288" cy="384048"/>
          </a:xfrm>
          <a:prstGeom prst="rect">
            <a:avLst/>
          </a:prstGeom>
          <a:noFill/>
          <a:ln/>
        </p:spPr>
        <p:txBody>
          <a:bodyPr wrap="square" lIns="0" tIns="0" rIns="0" bIns="0" rtlCol="0" anchor="ctr"/>
          <a:lstStyle/>
          <a:p>
            <a:pPr indent="0" marL="0">
              <a:lnSpc>
                <a:spcPts val="1500"/>
              </a:lnSpc>
              <a:buNone/>
            </a:pPr>
            <a:r>
              <a:rPr lang="en-US" sz="1250" b="1" dirty="0">
                <a:solidFill>
                  <a:srgbClr val="16161A"/>
                </a:solidFill>
                <a:latin typeface="Cambria" pitchFamily="34" charset="0"/>
                <a:ea typeface="Cambria" pitchFamily="34" charset="-122"/>
                <a:cs typeface="Cambria" pitchFamily="34" charset="-120"/>
              </a:rPr>
              <a:t>Gününde bu markaya</a:t>
            </a:r>
            <a:endParaRPr lang="en-US" sz="1250" dirty="0"/>
          </a:p>
          <a:p>
            <a:pPr indent="0" marL="0">
              <a:lnSpc>
                <a:spcPts val="1500"/>
              </a:lnSpc>
              <a:buNone/>
            </a:pPr>
            <a:r>
              <a:rPr lang="en-US" sz="1250" b="1" dirty="0">
                <a:solidFill>
                  <a:srgbClr val="16161A"/>
                </a:solidFill>
                <a:latin typeface="Cambria" pitchFamily="34" charset="0"/>
                <a:ea typeface="Cambria" pitchFamily="34" charset="-122"/>
                <a:cs typeface="Cambria" pitchFamily="34" charset="-120"/>
              </a:rPr>
              <a:t>yer açtığı an</a:t>
            </a:r>
            <a:endParaRPr lang="en-US" sz="1250" dirty="0"/>
          </a:p>
        </p:txBody>
      </p:sp>
      <p:sp>
        <p:nvSpPr>
          <p:cNvPr id="14" name="Text 12"/>
          <p:cNvSpPr txBox="1"/>
          <p:nvPr/>
        </p:nvSpPr>
        <p:spPr>
          <a:xfrm>
            <a:off x="996696" y="3913632"/>
            <a:ext cx="4590288"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hangi saat, hangi sıklıkta, kiminle</a:t>
            </a:r>
            <a:endParaRPr lang="en-US" sz="1000" dirty="0"/>
          </a:p>
        </p:txBody>
      </p:sp>
      <p:sp>
        <p:nvSpPr>
          <p:cNvPr id="15" name="Shape 13"/>
          <p:cNvSpPr/>
          <p:nvPr/>
        </p:nvSpPr>
        <p:spPr>
          <a:xfrm>
            <a:off x="996696" y="4078224"/>
            <a:ext cx="4590288" cy="0"/>
          </a:xfrm>
          <a:prstGeom prst="line">
            <a:avLst/>
          </a:prstGeom>
          <a:noFill/>
          <a:ln w="6350">
            <a:solidFill>
              <a:srgbClr val="EDEDF0"/>
            </a:solidFill>
            <a:prstDash val="solid"/>
          </a:ln>
        </p:spPr>
      </p:sp>
      <p:sp>
        <p:nvSpPr>
          <p:cNvPr id="16" name="Text 14"/>
          <p:cNvSpPr txBox="1"/>
          <p:nvPr/>
        </p:nvSpPr>
        <p:spPr>
          <a:xfrm>
            <a:off x="996696" y="4187952"/>
            <a:ext cx="4590288" cy="256032"/>
          </a:xfrm>
          <a:prstGeom prst="rect">
            <a:avLst/>
          </a:prstGeom>
          <a:noFill/>
          <a:ln/>
        </p:spPr>
        <p:txBody>
          <a:bodyPr wrap="square" lIns="0" tIns="0" rIns="0" bIns="0" rtlCol="0" anchor="ctr"/>
          <a:lstStyle/>
          <a:p>
            <a:pPr indent="0" marL="0">
              <a:lnSpc>
                <a:spcPts val="1500"/>
              </a:lnSpc>
              <a:buNone/>
            </a:pPr>
            <a:r>
              <a:rPr lang="en-US" sz="1250" b="1" dirty="0">
                <a:solidFill>
                  <a:srgbClr val="16161A"/>
                </a:solidFill>
                <a:latin typeface="Cambria" pitchFamily="34" charset="0"/>
                <a:ea typeface="Cambria" pitchFamily="34" charset="-122"/>
                <a:cs typeface="Cambria" pitchFamily="34" charset="-120"/>
              </a:rPr>
              <a:t>Bu markayı seçme nedeni</a:t>
            </a:r>
            <a:endParaRPr lang="en-US" sz="1250" dirty="0"/>
          </a:p>
        </p:txBody>
      </p:sp>
      <p:sp>
        <p:nvSpPr>
          <p:cNvPr id="17" name="Text 15"/>
          <p:cNvSpPr txBox="1"/>
          <p:nvPr/>
        </p:nvSpPr>
        <p:spPr>
          <a:xfrm>
            <a:off x="996696" y="4462272"/>
            <a:ext cx="4590288"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ürünün hangi özelliği için geliyor</a:t>
            </a:r>
            <a:endParaRPr lang="en-US" sz="1000" dirty="0"/>
          </a:p>
        </p:txBody>
      </p:sp>
      <p:sp>
        <p:nvSpPr>
          <p:cNvPr id="18" name="Shape 16"/>
          <p:cNvSpPr/>
          <p:nvPr/>
        </p:nvSpPr>
        <p:spPr>
          <a:xfrm>
            <a:off x="996696" y="4754880"/>
            <a:ext cx="4590288" cy="0"/>
          </a:xfrm>
          <a:prstGeom prst="line">
            <a:avLst/>
          </a:prstGeom>
          <a:noFill/>
          <a:ln w="6350">
            <a:solidFill>
              <a:srgbClr val="EDEDF0"/>
            </a:solidFill>
            <a:prstDash val="solid"/>
          </a:ln>
        </p:spPr>
      </p:sp>
      <p:sp>
        <p:nvSpPr>
          <p:cNvPr id="19" name="Text 17"/>
          <p:cNvSpPr txBox="1"/>
          <p:nvPr/>
        </p:nvSpPr>
        <p:spPr>
          <a:xfrm>
            <a:off x="996696" y="4864608"/>
            <a:ext cx="4590288" cy="256032"/>
          </a:xfrm>
          <a:prstGeom prst="rect">
            <a:avLst/>
          </a:prstGeom>
          <a:noFill/>
          <a:ln/>
        </p:spPr>
        <p:txBody>
          <a:bodyPr wrap="square" lIns="0" tIns="0" rIns="0" bIns="0" rtlCol="0" anchor="ctr"/>
          <a:lstStyle/>
          <a:p>
            <a:pPr indent="0" marL="0">
              <a:lnSpc>
                <a:spcPts val="1500"/>
              </a:lnSpc>
              <a:buNone/>
            </a:pPr>
            <a:r>
              <a:rPr lang="en-US" sz="1250" b="1" dirty="0">
                <a:solidFill>
                  <a:srgbClr val="16161A"/>
                </a:solidFill>
                <a:latin typeface="Cambria" pitchFamily="34" charset="0"/>
                <a:ea typeface="Cambria" pitchFamily="34" charset="-122"/>
                <a:cs typeface="Cambria" pitchFamily="34" charset="-120"/>
              </a:rPr>
              <a:t>Rahatsız olduğu şey</a:t>
            </a:r>
            <a:endParaRPr lang="en-US" sz="1250" dirty="0"/>
          </a:p>
        </p:txBody>
      </p:sp>
      <p:sp>
        <p:nvSpPr>
          <p:cNvPr id="20" name="Text 18"/>
          <p:cNvSpPr txBox="1"/>
          <p:nvPr/>
        </p:nvSpPr>
        <p:spPr>
          <a:xfrm>
            <a:off x="996696" y="5138928"/>
            <a:ext cx="4590288"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beklemek, sorulmak, kalabalık, belirsizlik</a:t>
            </a:r>
            <a:endParaRPr lang="en-US" sz="1000" dirty="0"/>
          </a:p>
        </p:txBody>
      </p:sp>
      <p:sp>
        <p:nvSpPr>
          <p:cNvPr id="21" name="Shape 19"/>
          <p:cNvSpPr/>
          <p:nvPr/>
        </p:nvSpPr>
        <p:spPr>
          <a:xfrm>
            <a:off x="6382512" y="2331720"/>
            <a:ext cx="5029200" cy="3291840"/>
          </a:xfrm>
          <a:prstGeom prst="rect">
            <a:avLst/>
          </a:prstGeom>
          <a:solidFill>
            <a:srgbClr val="F6EAE6"/>
          </a:solidFill>
          <a:ln w="15875">
            <a:solidFill>
              <a:srgbClr val="8C3A2B"/>
            </a:solidFill>
            <a:prstDash val="solid"/>
          </a:ln>
        </p:spPr>
      </p:sp>
      <p:sp>
        <p:nvSpPr>
          <p:cNvPr id="22" name="Text 20"/>
          <p:cNvSpPr txBox="1"/>
          <p:nvPr/>
        </p:nvSpPr>
        <p:spPr>
          <a:xfrm>
            <a:off x="6601968" y="2487168"/>
            <a:ext cx="1186891"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MEKÂNDAN NE İSTİYOR</a:t>
            </a:r>
            <a:endParaRPr lang="en-US" sz="900" dirty="0"/>
          </a:p>
        </p:txBody>
      </p:sp>
      <p:sp>
        <p:nvSpPr>
          <p:cNvPr id="23" name="Shape 21"/>
          <p:cNvSpPr/>
          <p:nvPr/>
        </p:nvSpPr>
        <p:spPr>
          <a:xfrm>
            <a:off x="7862011" y="2606040"/>
            <a:ext cx="3330245" cy="0"/>
          </a:xfrm>
          <a:prstGeom prst="line">
            <a:avLst/>
          </a:prstGeom>
          <a:noFill/>
          <a:ln w="9525">
            <a:solidFill>
              <a:srgbClr val="EBD7D1"/>
            </a:solidFill>
            <a:prstDash val="solid"/>
          </a:ln>
        </p:spPr>
      </p:sp>
      <p:sp>
        <p:nvSpPr>
          <p:cNvPr id="24" name="Shape 22"/>
          <p:cNvSpPr/>
          <p:nvPr/>
        </p:nvSpPr>
        <p:spPr>
          <a:xfrm>
            <a:off x="6624828" y="2921508"/>
            <a:ext cx="100584" cy="100584"/>
          </a:xfrm>
          <a:prstGeom prst="ellipse">
            <a:avLst/>
          </a:prstGeom>
          <a:solidFill>
            <a:srgbClr val="8C3A2B"/>
          </a:solidFill>
          <a:ln w="12700">
            <a:solidFill>
              <a:srgbClr val="8C3A2B"/>
            </a:solidFill>
            <a:prstDash val="solid"/>
          </a:ln>
        </p:spPr>
      </p:sp>
      <p:sp>
        <p:nvSpPr>
          <p:cNvPr id="25" name="Text 23"/>
          <p:cNvSpPr txBox="1"/>
          <p:nvPr/>
        </p:nvSpPr>
        <p:spPr>
          <a:xfrm>
            <a:off x="6858000" y="2834640"/>
            <a:ext cx="1828800" cy="274320"/>
          </a:xfrm>
          <a:prstGeom prst="rect">
            <a:avLst/>
          </a:prstGeom>
          <a:noFill/>
          <a:ln/>
        </p:spPr>
        <p:txBody>
          <a:bodyPr wrap="square" lIns="0" tIns="0" rIns="0" bIns="0" rtlCol="0" anchor="ctr"/>
          <a:lstStyle/>
          <a:p>
            <a:pPr indent="0" marL="0">
              <a:buNone/>
            </a:pPr>
            <a:r>
              <a:rPr lang="en-US" sz="1250" b="1" dirty="0">
                <a:solidFill>
                  <a:srgbClr val="8C3A2B"/>
                </a:solidFill>
                <a:latin typeface="Cambria" pitchFamily="34" charset="0"/>
                <a:ea typeface="Cambria" pitchFamily="34" charset="-122"/>
                <a:cs typeface="Cambria" pitchFamily="34" charset="-120"/>
              </a:rPr>
              <a:t>Kalma süresi</a:t>
            </a:r>
            <a:endParaRPr lang="en-US" sz="1250" dirty="0"/>
          </a:p>
        </p:txBody>
      </p:sp>
      <p:sp>
        <p:nvSpPr>
          <p:cNvPr id="26" name="Text 24"/>
          <p:cNvSpPr txBox="1"/>
          <p:nvPr/>
        </p:nvSpPr>
        <p:spPr>
          <a:xfrm>
            <a:off x="8723376" y="2852928"/>
            <a:ext cx="2468880" cy="457200"/>
          </a:xfrm>
          <a:prstGeom prst="rect">
            <a:avLst/>
          </a:prstGeom>
          <a:noFill/>
          <a:ln/>
        </p:spPr>
        <p:txBody>
          <a:bodyPr wrap="square" lIns="0" tIns="0" rIns="0" bIns="0" rtlCol="0" anchor="ctr"/>
          <a:lstStyle/>
          <a:p>
            <a:pPr indent="0" marL="0">
              <a:lnSpc>
                <a:spcPts val="1250"/>
              </a:lnSpc>
              <a:buNone/>
            </a:pPr>
            <a:r>
              <a:rPr lang="en-US" sz="1000" dirty="0">
                <a:solidFill>
                  <a:srgbClr val="8C3A2B"/>
                </a:solidFill>
                <a:latin typeface="Calibri" pitchFamily="34" charset="0"/>
                <a:ea typeface="Calibri" pitchFamily="34" charset="-122"/>
                <a:cs typeface="Calibri" pitchFamily="34" charset="-120"/>
              </a:rPr>
              <a:t>üç dakika mı, yarım saat mi</a:t>
            </a:r>
            <a:endParaRPr lang="en-US" sz="1000" dirty="0"/>
          </a:p>
        </p:txBody>
      </p:sp>
      <p:sp>
        <p:nvSpPr>
          <p:cNvPr id="27" name="Shape 25"/>
          <p:cNvSpPr/>
          <p:nvPr/>
        </p:nvSpPr>
        <p:spPr>
          <a:xfrm>
            <a:off x="6858000" y="3401568"/>
            <a:ext cx="4334256" cy="0"/>
          </a:xfrm>
          <a:prstGeom prst="line">
            <a:avLst/>
          </a:prstGeom>
          <a:noFill/>
          <a:ln w="6350">
            <a:solidFill>
              <a:srgbClr val="EBD7D1"/>
            </a:solidFill>
            <a:prstDash val="solid"/>
          </a:ln>
        </p:spPr>
      </p:sp>
      <p:sp>
        <p:nvSpPr>
          <p:cNvPr id="28" name="Shape 26"/>
          <p:cNvSpPr/>
          <p:nvPr/>
        </p:nvSpPr>
        <p:spPr>
          <a:xfrm>
            <a:off x="6624828" y="3598164"/>
            <a:ext cx="100584" cy="100584"/>
          </a:xfrm>
          <a:prstGeom prst="ellipse">
            <a:avLst/>
          </a:prstGeom>
          <a:solidFill>
            <a:srgbClr val="8C3A2B"/>
          </a:solidFill>
          <a:ln w="12700">
            <a:solidFill>
              <a:srgbClr val="8C3A2B"/>
            </a:solidFill>
            <a:prstDash val="solid"/>
          </a:ln>
        </p:spPr>
      </p:sp>
      <p:sp>
        <p:nvSpPr>
          <p:cNvPr id="29" name="Text 27"/>
          <p:cNvSpPr txBox="1"/>
          <p:nvPr/>
        </p:nvSpPr>
        <p:spPr>
          <a:xfrm>
            <a:off x="6858000" y="3511296"/>
            <a:ext cx="1828800" cy="274320"/>
          </a:xfrm>
          <a:prstGeom prst="rect">
            <a:avLst/>
          </a:prstGeom>
          <a:noFill/>
          <a:ln/>
        </p:spPr>
        <p:txBody>
          <a:bodyPr wrap="square" lIns="0" tIns="0" rIns="0" bIns="0" rtlCol="0" anchor="ctr"/>
          <a:lstStyle/>
          <a:p>
            <a:pPr indent="0" marL="0">
              <a:buNone/>
            </a:pPr>
            <a:r>
              <a:rPr lang="en-US" sz="1250" b="1" dirty="0">
                <a:solidFill>
                  <a:srgbClr val="8C3A2B"/>
                </a:solidFill>
                <a:latin typeface="Cambria" pitchFamily="34" charset="0"/>
                <a:ea typeface="Cambria" pitchFamily="34" charset="-122"/>
                <a:cs typeface="Cambria" pitchFamily="34" charset="-120"/>
              </a:rPr>
              <a:t>Ürünle ilişkisi</a:t>
            </a:r>
            <a:endParaRPr lang="en-US" sz="1250" dirty="0"/>
          </a:p>
        </p:txBody>
      </p:sp>
      <p:sp>
        <p:nvSpPr>
          <p:cNvPr id="30" name="Text 28"/>
          <p:cNvSpPr txBox="1"/>
          <p:nvPr/>
        </p:nvSpPr>
        <p:spPr>
          <a:xfrm>
            <a:off x="8723376" y="3529584"/>
            <a:ext cx="2468880" cy="457200"/>
          </a:xfrm>
          <a:prstGeom prst="rect">
            <a:avLst/>
          </a:prstGeom>
          <a:noFill/>
          <a:ln/>
        </p:spPr>
        <p:txBody>
          <a:bodyPr wrap="square" lIns="0" tIns="0" rIns="0" bIns="0" rtlCol="0" anchor="ctr"/>
          <a:lstStyle/>
          <a:p>
            <a:pPr indent="0" marL="0">
              <a:lnSpc>
                <a:spcPts val="1250"/>
              </a:lnSpc>
              <a:buNone/>
            </a:pPr>
            <a:r>
              <a:rPr lang="en-US" sz="1000" dirty="0">
                <a:solidFill>
                  <a:srgbClr val="8C3A2B"/>
                </a:solidFill>
                <a:latin typeface="Calibri" pitchFamily="34" charset="0"/>
                <a:ea typeface="Calibri" pitchFamily="34" charset="-122"/>
                <a:cs typeface="Calibri" pitchFamily="34" charset="-120"/>
              </a:rPr>
              <a:t>dokunuyor, deniyor, sadece bakıyor</a:t>
            </a:r>
            <a:endParaRPr lang="en-US" sz="1000" dirty="0"/>
          </a:p>
        </p:txBody>
      </p:sp>
      <p:sp>
        <p:nvSpPr>
          <p:cNvPr id="31" name="Shape 29"/>
          <p:cNvSpPr/>
          <p:nvPr/>
        </p:nvSpPr>
        <p:spPr>
          <a:xfrm>
            <a:off x="6858000" y="4078224"/>
            <a:ext cx="4334256" cy="0"/>
          </a:xfrm>
          <a:prstGeom prst="line">
            <a:avLst/>
          </a:prstGeom>
          <a:noFill/>
          <a:ln w="6350">
            <a:solidFill>
              <a:srgbClr val="EBD7D1"/>
            </a:solidFill>
            <a:prstDash val="solid"/>
          </a:ln>
        </p:spPr>
      </p:sp>
      <p:sp>
        <p:nvSpPr>
          <p:cNvPr id="32" name="Shape 30"/>
          <p:cNvSpPr/>
          <p:nvPr/>
        </p:nvSpPr>
        <p:spPr>
          <a:xfrm>
            <a:off x="6624828" y="4274820"/>
            <a:ext cx="100584" cy="100584"/>
          </a:xfrm>
          <a:prstGeom prst="ellipse">
            <a:avLst/>
          </a:prstGeom>
          <a:solidFill>
            <a:srgbClr val="8C3A2B"/>
          </a:solidFill>
          <a:ln w="12700">
            <a:solidFill>
              <a:srgbClr val="8C3A2B"/>
            </a:solidFill>
            <a:prstDash val="solid"/>
          </a:ln>
        </p:spPr>
      </p:sp>
      <p:sp>
        <p:nvSpPr>
          <p:cNvPr id="33" name="Text 31"/>
          <p:cNvSpPr txBox="1"/>
          <p:nvPr/>
        </p:nvSpPr>
        <p:spPr>
          <a:xfrm>
            <a:off x="6858000" y="4187952"/>
            <a:ext cx="1828800" cy="274320"/>
          </a:xfrm>
          <a:prstGeom prst="rect">
            <a:avLst/>
          </a:prstGeom>
          <a:noFill/>
          <a:ln/>
        </p:spPr>
        <p:txBody>
          <a:bodyPr wrap="square" lIns="0" tIns="0" rIns="0" bIns="0" rtlCol="0" anchor="ctr"/>
          <a:lstStyle/>
          <a:p>
            <a:pPr indent="0" marL="0">
              <a:buNone/>
            </a:pPr>
            <a:r>
              <a:rPr lang="en-US" sz="1250" b="1" dirty="0">
                <a:solidFill>
                  <a:srgbClr val="8C3A2B"/>
                </a:solidFill>
                <a:latin typeface="Cambria" pitchFamily="34" charset="0"/>
                <a:ea typeface="Cambria" pitchFamily="34" charset="-122"/>
                <a:cs typeface="Cambria" pitchFamily="34" charset="-120"/>
              </a:rPr>
              <a:t>Bilgi ihtiyacı</a:t>
            </a:r>
            <a:endParaRPr lang="en-US" sz="1250" dirty="0"/>
          </a:p>
        </p:txBody>
      </p:sp>
      <p:sp>
        <p:nvSpPr>
          <p:cNvPr id="34" name="Text 32"/>
          <p:cNvSpPr txBox="1"/>
          <p:nvPr/>
        </p:nvSpPr>
        <p:spPr>
          <a:xfrm>
            <a:off x="8723376" y="4206240"/>
            <a:ext cx="2468880" cy="457200"/>
          </a:xfrm>
          <a:prstGeom prst="rect">
            <a:avLst/>
          </a:prstGeom>
          <a:noFill/>
          <a:ln/>
        </p:spPr>
        <p:txBody>
          <a:bodyPr wrap="square" lIns="0" tIns="0" rIns="0" bIns="0" rtlCol="0" anchor="ctr"/>
          <a:lstStyle/>
          <a:p>
            <a:pPr indent="0" marL="0">
              <a:lnSpc>
                <a:spcPts val="1250"/>
              </a:lnSpc>
              <a:buNone/>
            </a:pPr>
            <a:r>
              <a:rPr lang="en-US" sz="1000" dirty="0">
                <a:solidFill>
                  <a:srgbClr val="8C3A2B"/>
                </a:solidFill>
                <a:latin typeface="Calibri" pitchFamily="34" charset="0"/>
                <a:ea typeface="Calibri" pitchFamily="34" charset="-122"/>
                <a:cs typeface="Calibri" pitchFamily="34" charset="-120"/>
              </a:rPr>
              <a:t>soruyor, okuyor, kendi buluyor</a:t>
            </a:r>
            <a:endParaRPr lang="en-US" sz="1000" dirty="0"/>
          </a:p>
        </p:txBody>
      </p:sp>
      <p:sp>
        <p:nvSpPr>
          <p:cNvPr id="35" name="Shape 33"/>
          <p:cNvSpPr/>
          <p:nvPr/>
        </p:nvSpPr>
        <p:spPr>
          <a:xfrm>
            <a:off x="6858000" y="4754880"/>
            <a:ext cx="4334256" cy="0"/>
          </a:xfrm>
          <a:prstGeom prst="line">
            <a:avLst/>
          </a:prstGeom>
          <a:noFill/>
          <a:ln w="6350">
            <a:solidFill>
              <a:srgbClr val="EBD7D1"/>
            </a:solidFill>
            <a:prstDash val="solid"/>
          </a:ln>
        </p:spPr>
      </p:sp>
      <p:sp>
        <p:nvSpPr>
          <p:cNvPr id="36" name="Shape 34"/>
          <p:cNvSpPr/>
          <p:nvPr/>
        </p:nvSpPr>
        <p:spPr>
          <a:xfrm>
            <a:off x="6624828" y="4951476"/>
            <a:ext cx="100584" cy="100584"/>
          </a:xfrm>
          <a:prstGeom prst="ellipse">
            <a:avLst/>
          </a:prstGeom>
          <a:solidFill>
            <a:srgbClr val="8C3A2B"/>
          </a:solidFill>
          <a:ln w="12700">
            <a:solidFill>
              <a:srgbClr val="8C3A2B"/>
            </a:solidFill>
            <a:prstDash val="solid"/>
          </a:ln>
        </p:spPr>
      </p:sp>
      <p:sp>
        <p:nvSpPr>
          <p:cNvPr id="37" name="Text 35"/>
          <p:cNvSpPr txBox="1"/>
          <p:nvPr/>
        </p:nvSpPr>
        <p:spPr>
          <a:xfrm>
            <a:off x="6858000" y="4864608"/>
            <a:ext cx="1828800" cy="274320"/>
          </a:xfrm>
          <a:prstGeom prst="rect">
            <a:avLst/>
          </a:prstGeom>
          <a:noFill/>
          <a:ln/>
        </p:spPr>
        <p:txBody>
          <a:bodyPr wrap="square" lIns="0" tIns="0" rIns="0" bIns="0" rtlCol="0" anchor="ctr"/>
          <a:lstStyle/>
          <a:p>
            <a:pPr indent="0" marL="0">
              <a:buNone/>
            </a:pPr>
            <a:r>
              <a:rPr lang="en-US" sz="1250" b="1" dirty="0">
                <a:solidFill>
                  <a:srgbClr val="8C3A2B"/>
                </a:solidFill>
                <a:latin typeface="Cambria" pitchFamily="34" charset="0"/>
                <a:ea typeface="Cambria" pitchFamily="34" charset="-122"/>
                <a:cs typeface="Cambria" pitchFamily="34" charset="-120"/>
              </a:rPr>
              <a:t>Mahremiyet ihtiyacı</a:t>
            </a:r>
            <a:endParaRPr lang="en-US" sz="1250" dirty="0"/>
          </a:p>
        </p:txBody>
      </p:sp>
      <p:sp>
        <p:nvSpPr>
          <p:cNvPr id="38" name="Text 36"/>
          <p:cNvSpPr txBox="1"/>
          <p:nvPr/>
        </p:nvSpPr>
        <p:spPr>
          <a:xfrm>
            <a:off x="8723376" y="4882896"/>
            <a:ext cx="2468880" cy="457200"/>
          </a:xfrm>
          <a:prstGeom prst="rect">
            <a:avLst/>
          </a:prstGeom>
          <a:noFill/>
          <a:ln/>
        </p:spPr>
        <p:txBody>
          <a:bodyPr wrap="square" lIns="0" tIns="0" rIns="0" bIns="0" rtlCol="0" anchor="ctr"/>
          <a:lstStyle/>
          <a:p>
            <a:pPr indent="0" marL="0">
              <a:lnSpc>
                <a:spcPts val="1250"/>
              </a:lnSpc>
              <a:buNone/>
            </a:pPr>
            <a:r>
              <a:rPr lang="en-US" sz="1000" dirty="0">
                <a:solidFill>
                  <a:srgbClr val="8C3A2B"/>
                </a:solidFill>
                <a:latin typeface="Calibri" pitchFamily="34" charset="0"/>
                <a:ea typeface="Calibri" pitchFamily="34" charset="-122"/>
                <a:cs typeface="Calibri" pitchFamily="34" charset="-120"/>
              </a:rPr>
              <a:t>görülmek istiyor mu, istemiyor mu</a:t>
            </a:r>
            <a:endParaRPr lang="en-US" sz="1000" dirty="0"/>
          </a:p>
        </p:txBody>
      </p:sp>
      <p:sp>
        <p:nvSpPr>
          <p:cNvPr id="39" name="Shape 37"/>
          <p:cNvSpPr/>
          <p:nvPr/>
        </p:nvSpPr>
        <p:spPr>
          <a:xfrm>
            <a:off x="5852160" y="3977640"/>
            <a:ext cx="457200" cy="0"/>
          </a:xfrm>
          <a:prstGeom prst="line">
            <a:avLst/>
          </a:prstGeom>
          <a:noFill/>
          <a:ln w="19050">
            <a:solidFill>
              <a:srgbClr val="8C3A2B"/>
            </a:solidFill>
            <a:prstDash val="solid"/>
            <a:tailEnd type="triangle"/>
          </a:ln>
        </p:spPr>
      </p:sp>
      <p:sp>
        <p:nvSpPr>
          <p:cNvPr id="40" name="Text 38"/>
          <p:cNvSpPr txBox="1"/>
          <p:nvPr/>
        </p:nvSpPr>
        <p:spPr>
          <a:xfrm>
            <a:off x="777240" y="5760720"/>
            <a:ext cx="10634472" cy="365760"/>
          </a:xfrm>
          <a:prstGeom prst="rect">
            <a:avLst/>
          </a:prstGeom>
          <a:noFill/>
          <a:ln/>
        </p:spPr>
        <p:txBody>
          <a:bodyPr wrap="square" lIns="0" tIns="0" rIns="0" bIns="0" rtlCol="0" anchor="ctr"/>
          <a:lstStyle/>
          <a:p>
            <a:pPr algn="l" indent="0" marL="0">
              <a:lnSpc>
                <a:spcPts val="1200"/>
              </a:lnSpc>
              <a:buNone/>
            </a:pPr>
            <a:r>
              <a:rPr lang="en-US" sz="1250" i="1" dirty="0">
                <a:solidFill>
                  <a:srgbClr val="8C3A2B"/>
                </a:solidFill>
                <a:latin typeface="Cambria" pitchFamily="34" charset="0"/>
                <a:ea typeface="Cambria" pitchFamily="34" charset="-122"/>
                <a:cs typeface="Cambria" pitchFamily="34" charset="-120"/>
              </a:rPr>
              <a:t>Sol taraftaki her madde sağ tarafta bir karşılık üretmek zorundadır. Karşılığı olmayan madde kartın dışına çıkar.</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10400" b="1" dirty="0">
                <a:solidFill>
                  <a:srgbClr val="8C3A2B"/>
                </a:solidFill>
                <a:latin typeface="Cambria" pitchFamily="34" charset="0"/>
                <a:ea typeface="Cambria" pitchFamily="34" charset="-122"/>
                <a:cs typeface="Cambria" pitchFamily="34" charset="-120"/>
              </a:rPr>
              <a:t>IV</a:t>
            </a:r>
            <a:endParaRPr lang="en-US" sz="104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200" b="1" dirty="0">
                <a:solidFill>
                  <a:srgbClr val="FFFFFF"/>
                </a:solidFill>
                <a:latin typeface="Cambria" pitchFamily="34" charset="0"/>
                <a:ea typeface="Cambria" pitchFamily="34" charset="-122"/>
                <a:cs typeface="Cambria" pitchFamily="34" charset="-120"/>
              </a:rPr>
              <a:t>Müşteri yolculuğu nasıl haritalanır?</a:t>
            </a:r>
            <a:endParaRPr lang="en-US" sz="32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Deneyim bir bütün değil, sıralı anlardır. Haritanın işi o anları ayırmaktır.</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IV · YOLCULUK</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Temas noktası ve yolculuk haritası</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777240" y="1664208"/>
            <a:ext cx="5029200" cy="19202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Müşteri, bir ürünün, hizmetin ya da markanın herhangi bir yönüyle etkileşime geçtiği her yerde bir deneyim yaşar; bu etkileşim birden çok kanalda ve farklı zamanlarda gerçekleşir (Van de Sand vd., 2020). Müşteri ile markanın herhangi bir yönü arasındaki kritik karşılaşma anlarına temas noktası (touchpoint) denir.</a:t>
            </a:r>
            <a:endParaRPr lang="en-US" sz="1350" dirty="0"/>
          </a:p>
        </p:txBody>
      </p:sp>
      <p:sp>
        <p:nvSpPr>
          <p:cNvPr id="7" name="Text 5"/>
          <p:cNvSpPr txBox="1"/>
          <p:nvPr/>
        </p:nvSpPr>
        <p:spPr>
          <a:xfrm>
            <a:off x="6382512" y="1664208"/>
            <a:ext cx="5029200" cy="19202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Müşteri yolculuğu haritası (CJM) ise bu anlardan kurulu bir hikâye panosudur (Zomerdijk &amp; Voss, 2010). Her aşamada haritanın işi, markanın hedef kitlesinde uyandırmak istediği akılcı, duygusal ve davranışsal tepkileri hangi ilke ve nitelikle kuracağını belirlemektir.</a:t>
            </a:r>
            <a:endParaRPr lang="en-US" sz="1350" dirty="0"/>
          </a:p>
        </p:txBody>
      </p:sp>
      <p:sp>
        <p:nvSpPr>
          <p:cNvPr id="8" name="Text 6"/>
          <p:cNvSpPr txBox="1"/>
          <p:nvPr/>
        </p:nvSpPr>
        <p:spPr>
          <a:xfrm>
            <a:off x="777240" y="3767328"/>
            <a:ext cx="1186891"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HARİTA NE İŞE YARAR</a:t>
            </a:r>
            <a:endParaRPr lang="en-US" sz="900" dirty="0"/>
          </a:p>
        </p:txBody>
      </p:sp>
      <p:sp>
        <p:nvSpPr>
          <p:cNvPr id="9" name="Shape 7"/>
          <p:cNvSpPr/>
          <p:nvPr/>
        </p:nvSpPr>
        <p:spPr>
          <a:xfrm>
            <a:off x="2037283" y="3886200"/>
            <a:ext cx="9374429" cy="0"/>
          </a:xfrm>
          <a:prstGeom prst="line">
            <a:avLst/>
          </a:prstGeom>
          <a:noFill/>
          <a:ln w="9525">
            <a:solidFill>
              <a:srgbClr val="EDEDF0"/>
            </a:solidFill>
            <a:prstDash val="solid"/>
          </a:ln>
        </p:spPr>
      </p:sp>
      <p:sp>
        <p:nvSpPr>
          <p:cNvPr id="10" name="Shape 8"/>
          <p:cNvSpPr/>
          <p:nvPr/>
        </p:nvSpPr>
        <p:spPr>
          <a:xfrm>
            <a:off x="777240" y="4114800"/>
            <a:ext cx="3291840" cy="0"/>
          </a:xfrm>
          <a:prstGeom prst="line">
            <a:avLst/>
          </a:prstGeom>
          <a:noFill/>
          <a:ln w="15875">
            <a:solidFill>
              <a:srgbClr val="8C3A2B"/>
            </a:solidFill>
            <a:prstDash val="solid"/>
          </a:ln>
        </p:spPr>
      </p:sp>
      <p:sp>
        <p:nvSpPr>
          <p:cNvPr id="11" name="Text 9"/>
          <p:cNvSpPr txBox="1"/>
          <p:nvPr/>
        </p:nvSpPr>
        <p:spPr>
          <a:xfrm>
            <a:off x="777240" y="4206240"/>
            <a:ext cx="3291840" cy="512064"/>
          </a:xfrm>
          <a:prstGeom prst="rect">
            <a:avLst/>
          </a:prstGeom>
          <a:noFill/>
          <a:ln/>
        </p:spPr>
        <p:txBody>
          <a:bodyPr wrap="square" lIns="0" tIns="0" rIns="0" bIns="0" rtlCol="0" anchor="ctr"/>
          <a:lstStyle/>
          <a:p>
            <a:pPr indent="0" marL="0">
              <a:lnSpc>
                <a:spcPts val="1800"/>
              </a:lnSpc>
              <a:buNone/>
            </a:pPr>
            <a:r>
              <a:rPr lang="en-US" sz="1450" b="1" dirty="0">
                <a:solidFill>
                  <a:srgbClr val="16161A"/>
                </a:solidFill>
                <a:latin typeface="Cambria" pitchFamily="34" charset="0"/>
                <a:ea typeface="Cambria" pitchFamily="34" charset="-122"/>
                <a:cs typeface="Cambria" pitchFamily="34" charset="-120"/>
              </a:rPr>
              <a:t>Empati kurdurur</a:t>
            </a:r>
            <a:endParaRPr lang="en-US" sz="1450" dirty="0"/>
          </a:p>
        </p:txBody>
      </p:sp>
      <p:sp>
        <p:nvSpPr>
          <p:cNvPr id="12" name="Text 10"/>
          <p:cNvSpPr txBox="1"/>
          <p:nvPr/>
        </p:nvSpPr>
        <p:spPr>
          <a:xfrm>
            <a:off x="777240" y="4754880"/>
            <a:ext cx="3291840" cy="105156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Tasarım düşüncesi açısından harita, müşteriyle empati kurmayı ve deneyimi iyileştirmeyi sağlar (Chasanidou vd., 2015).</a:t>
            </a:r>
            <a:endParaRPr lang="en-US" sz="1050" dirty="0"/>
          </a:p>
        </p:txBody>
      </p:sp>
      <p:sp>
        <p:nvSpPr>
          <p:cNvPr id="13" name="Shape 11"/>
          <p:cNvSpPr/>
          <p:nvPr/>
        </p:nvSpPr>
        <p:spPr>
          <a:xfrm>
            <a:off x="4453128" y="4114800"/>
            <a:ext cx="3291840" cy="0"/>
          </a:xfrm>
          <a:prstGeom prst="line">
            <a:avLst/>
          </a:prstGeom>
          <a:noFill/>
          <a:ln w="15875">
            <a:solidFill>
              <a:srgbClr val="8C3A2B"/>
            </a:solidFill>
            <a:prstDash val="solid"/>
          </a:ln>
        </p:spPr>
      </p:sp>
      <p:sp>
        <p:nvSpPr>
          <p:cNvPr id="14" name="Text 12"/>
          <p:cNvSpPr txBox="1"/>
          <p:nvPr/>
        </p:nvSpPr>
        <p:spPr>
          <a:xfrm>
            <a:off x="4453128" y="4206240"/>
            <a:ext cx="3291840" cy="512064"/>
          </a:xfrm>
          <a:prstGeom prst="rect">
            <a:avLst/>
          </a:prstGeom>
          <a:noFill/>
          <a:ln/>
        </p:spPr>
        <p:txBody>
          <a:bodyPr wrap="square" lIns="0" tIns="0" rIns="0" bIns="0" rtlCol="0" anchor="ctr"/>
          <a:lstStyle/>
          <a:p>
            <a:pPr indent="0" marL="0">
              <a:lnSpc>
                <a:spcPts val="1800"/>
              </a:lnSpc>
              <a:buNone/>
            </a:pPr>
            <a:r>
              <a:rPr lang="en-US" sz="1450" b="1" dirty="0">
                <a:solidFill>
                  <a:srgbClr val="16161A"/>
                </a:solidFill>
                <a:latin typeface="Cambria" pitchFamily="34" charset="0"/>
                <a:ea typeface="Cambria" pitchFamily="34" charset="-122"/>
                <a:cs typeface="Cambria" pitchFamily="34" charset="-120"/>
              </a:rPr>
              <a:t>Fırsat gösterir</a:t>
            </a:r>
            <a:endParaRPr lang="en-US" sz="1450" dirty="0"/>
          </a:p>
        </p:txBody>
      </p:sp>
      <p:sp>
        <p:nvSpPr>
          <p:cNvPr id="15" name="Text 13"/>
          <p:cNvSpPr txBox="1"/>
          <p:nvPr/>
        </p:nvSpPr>
        <p:spPr>
          <a:xfrm>
            <a:off x="4453128" y="4754880"/>
            <a:ext cx="3291840" cy="105156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Yenilik yapılabilecek yerleri ve hizmetin iyileştirilmesi gereken noktaları ortaya çıkarır (Johnston &amp; Kong, 2011).</a:t>
            </a:r>
            <a:endParaRPr lang="en-US" sz="1050" dirty="0"/>
          </a:p>
        </p:txBody>
      </p:sp>
      <p:sp>
        <p:nvSpPr>
          <p:cNvPr id="16" name="Shape 14"/>
          <p:cNvSpPr/>
          <p:nvPr/>
        </p:nvSpPr>
        <p:spPr>
          <a:xfrm>
            <a:off x="8129016" y="4114800"/>
            <a:ext cx="3291840" cy="0"/>
          </a:xfrm>
          <a:prstGeom prst="line">
            <a:avLst/>
          </a:prstGeom>
          <a:noFill/>
          <a:ln w="15875">
            <a:solidFill>
              <a:srgbClr val="8C3A2B"/>
            </a:solidFill>
            <a:prstDash val="solid"/>
          </a:ln>
        </p:spPr>
      </p:sp>
      <p:sp>
        <p:nvSpPr>
          <p:cNvPr id="17" name="Text 15"/>
          <p:cNvSpPr txBox="1"/>
          <p:nvPr/>
        </p:nvSpPr>
        <p:spPr>
          <a:xfrm>
            <a:off x="8129016" y="4206240"/>
            <a:ext cx="3291840" cy="512064"/>
          </a:xfrm>
          <a:prstGeom prst="rect">
            <a:avLst/>
          </a:prstGeom>
          <a:noFill/>
          <a:ln/>
        </p:spPr>
        <p:txBody>
          <a:bodyPr wrap="square" lIns="0" tIns="0" rIns="0" bIns="0" rtlCol="0" anchor="ctr"/>
          <a:lstStyle/>
          <a:p>
            <a:pPr indent="0" marL="0">
              <a:lnSpc>
                <a:spcPts val="1800"/>
              </a:lnSpc>
              <a:buNone/>
            </a:pPr>
            <a:r>
              <a:rPr lang="en-US" sz="1450" b="1" dirty="0">
                <a:solidFill>
                  <a:srgbClr val="16161A"/>
                </a:solidFill>
                <a:latin typeface="Cambria" pitchFamily="34" charset="0"/>
                <a:ea typeface="Cambria" pitchFamily="34" charset="-122"/>
                <a:cs typeface="Cambria" pitchFamily="34" charset="-120"/>
              </a:rPr>
              <a:t>Marka ile yolculuğu</a:t>
            </a:r>
            <a:endParaRPr lang="en-US" sz="1450" dirty="0"/>
          </a:p>
          <a:p>
            <a:pPr indent="0" marL="0">
              <a:lnSpc>
                <a:spcPts val="1800"/>
              </a:lnSpc>
              <a:buNone/>
            </a:pPr>
            <a:r>
              <a:rPr lang="en-US" sz="1450" b="1" dirty="0">
                <a:solidFill>
                  <a:srgbClr val="16161A"/>
                </a:solidFill>
                <a:latin typeface="Cambria" pitchFamily="34" charset="0"/>
                <a:ea typeface="Cambria" pitchFamily="34" charset="-122"/>
                <a:cs typeface="Cambria" pitchFamily="34" charset="-120"/>
              </a:rPr>
              <a:t>hizalar</a:t>
            </a:r>
            <a:endParaRPr lang="en-US" sz="1450" dirty="0"/>
          </a:p>
        </p:txBody>
      </p:sp>
      <p:sp>
        <p:nvSpPr>
          <p:cNvPr id="18" name="Text 16"/>
          <p:cNvSpPr txBox="1"/>
          <p:nvPr/>
        </p:nvSpPr>
        <p:spPr>
          <a:xfrm>
            <a:off x="8129016" y="4754880"/>
            <a:ext cx="3291840" cy="105156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Marka mesajı ile müşteri yolculuğunu hizalamak, deneyimin baştan sona tutarlı kalmasını sağlar (Petermans vd., 2013).</a:t>
            </a:r>
            <a:endParaRPr lang="en-US" sz="1050" dirty="0"/>
          </a:p>
        </p:txBody>
      </p:sp>
      <p:sp>
        <p:nvSpPr>
          <p:cNvPr id="19" name="Text 17"/>
          <p:cNvSpPr txBox="1"/>
          <p:nvPr/>
        </p:nvSpPr>
        <p:spPr>
          <a:xfrm>
            <a:off x="777240" y="5870448"/>
            <a:ext cx="10634472" cy="365760"/>
          </a:xfrm>
          <a:prstGeom prst="rect">
            <a:avLst/>
          </a:prstGeom>
          <a:noFill/>
          <a:ln/>
        </p:spPr>
        <p:txBody>
          <a:bodyPr wrap="square" lIns="0" tIns="0" rIns="0" bIns="0" rtlCol="0" anchor="ctr"/>
          <a:lstStyle/>
          <a:p>
            <a:pPr algn="l" indent="0" marL="0">
              <a:lnSpc>
                <a:spcPts val="1200"/>
              </a:lnSpc>
              <a:buNone/>
            </a:pPr>
            <a:r>
              <a:rPr lang="en-US" sz="1150" i="1" dirty="0">
                <a:solidFill>
                  <a:srgbClr val="7A7A82"/>
                </a:solidFill>
                <a:latin typeface="Cambria" pitchFamily="34" charset="0"/>
                <a:ea typeface="Cambria" pitchFamily="34" charset="-122"/>
                <a:cs typeface="Cambria" pitchFamily="34" charset="-120"/>
              </a:rPr>
              <a:t>Harita yalnızca işletmelerin değil; tasarım ve danışmanlık ofislerinin de günlük aracıdır (Stickdorn vd., 2018).</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IV · YOLCULUK</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Deneyim kaça bölünür? Dört farklı okuma</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20</a:t>
            </a:r>
            <a:endParaRPr lang="en-US" sz="900" dirty="0"/>
          </a:p>
        </p:txBody>
      </p:sp>
      <p:sp>
        <p:nvSpPr>
          <p:cNvPr id="6" name="Text 4"/>
          <p:cNvSpPr txBox="1"/>
          <p:nvPr/>
        </p:nvSpPr>
        <p:spPr>
          <a:xfrm>
            <a:off x="777240" y="1664208"/>
            <a:ext cx="10634472" cy="603504"/>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Literatürde deneyimin kaç parçaya bölüneceği konusunda tek bir cevap yok: kimi altıya, kimi yediye, kimi sekize ayırıyor. Bölmelerin sayısı değil, neyi ayırdıkları önemlidir. Aşağıda dördü yan yana duruyor.</a:t>
            </a:r>
            <a:endParaRPr lang="en-US" sz="1350" dirty="0"/>
          </a:p>
        </p:txBody>
      </p:sp>
      <p:sp>
        <p:nvSpPr>
          <p:cNvPr id="7" name="Text 5"/>
          <p:cNvSpPr txBox="1"/>
          <p:nvPr/>
        </p:nvSpPr>
        <p:spPr>
          <a:xfrm>
            <a:off x="777240" y="2468880"/>
            <a:ext cx="2468880" cy="256032"/>
          </a:xfrm>
          <a:prstGeom prst="rect">
            <a:avLst/>
          </a:prstGeom>
          <a:noFill/>
          <a:ln/>
        </p:spPr>
        <p:txBody>
          <a:bodyPr wrap="square" lIns="0" tIns="0" rIns="0" bIns="0" rtlCol="0" anchor="ctr"/>
          <a:lstStyle/>
          <a:p>
            <a:pPr indent="0" marL="0">
              <a:buNone/>
            </a:pPr>
            <a:r>
              <a:rPr lang="en-US" sz="1250" b="1" dirty="0">
                <a:solidFill>
                  <a:srgbClr val="16161A"/>
                </a:solidFill>
                <a:latin typeface="Cambria" pitchFamily="34" charset="0"/>
                <a:ea typeface="Cambria" pitchFamily="34" charset="-122"/>
                <a:cs typeface="Cambria" pitchFamily="34" charset="-120"/>
              </a:rPr>
              <a:t>Wheeler (2017)</a:t>
            </a:r>
            <a:endParaRPr lang="en-US" sz="1250" dirty="0"/>
          </a:p>
        </p:txBody>
      </p:sp>
      <p:sp>
        <p:nvSpPr>
          <p:cNvPr id="8" name="Text 6"/>
          <p:cNvSpPr txBox="1"/>
          <p:nvPr/>
        </p:nvSpPr>
        <p:spPr>
          <a:xfrm>
            <a:off x="777240" y="2706624"/>
            <a:ext cx="2468880" cy="256032"/>
          </a:xfrm>
          <a:prstGeom prst="rect">
            <a:avLst/>
          </a:prstGeom>
          <a:noFill/>
          <a:ln/>
        </p:spPr>
        <p:txBody>
          <a:bodyPr wrap="square" lIns="0" tIns="0" rIns="0" bIns="0" rtlCol="0" anchor="ctr"/>
          <a:lstStyle/>
          <a:p>
            <a:pPr indent="0" marL="0">
              <a:buNone/>
            </a:pPr>
            <a:r>
              <a:rPr lang="en-US" sz="900" i="1" dirty="0">
                <a:solidFill>
                  <a:srgbClr val="7A7A82"/>
                </a:solidFill>
                <a:latin typeface="Calibri" pitchFamily="34" charset="0"/>
                <a:ea typeface="Calibri" pitchFamily="34" charset="-122"/>
                <a:cs typeface="Calibri" pitchFamily="34" charset="-120"/>
              </a:rPr>
              <a:t>marka deneyiminin bileşenleri</a:t>
            </a:r>
            <a:endParaRPr lang="en-US" sz="900" dirty="0"/>
          </a:p>
        </p:txBody>
      </p:sp>
      <p:sp>
        <p:nvSpPr>
          <p:cNvPr id="9" name="Text 7"/>
          <p:cNvSpPr txBox="1"/>
          <p:nvPr/>
        </p:nvSpPr>
        <p:spPr>
          <a:xfrm>
            <a:off x="3310128" y="2450592"/>
            <a:ext cx="365760" cy="365760"/>
          </a:xfrm>
          <a:prstGeom prst="rect">
            <a:avLst/>
          </a:prstGeom>
          <a:noFill/>
          <a:ln/>
        </p:spPr>
        <p:txBody>
          <a:bodyPr wrap="square" lIns="0" tIns="0" rIns="0" bIns="0" rtlCol="0" anchor="ctr"/>
          <a:lstStyle/>
          <a:p>
            <a:pPr algn="r" indent="0" marL="0">
              <a:buNone/>
            </a:pPr>
            <a:r>
              <a:rPr lang="en-US" sz="2000" b="1" dirty="0">
                <a:solidFill>
                  <a:srgbClr val="EBD7D1"/>
                </a:solidFill>
                <a:latin typeface="Cambria" pitchFamily="34" charset="0"/>
                <a:ea typeface="Cambria" pitchFamily="34" charset="-122"/>
                <a:cs typeface="Cambria" pitchFamily="34" charset="-120"/>
              </a:rPr>
              <a:t>6</a:t>
            </a:r>
            <a:endParaRPr lang="en-US" sz="2000" dirty="0"/>
          </a:p>
        </p:txBody>
      </p:sp>
      <p:sp>
        <p:nvSpPr>
          <p:cNvPr id="10" name="Shape 8"/>
          <p:cNvSpPr/>
          <p:nvPr/>
        </p:nvSpPr>
        <p:spPr>
          <a:xfrm>
            <a:off x="3858768" y="2487168"/>
            <a:ext cx="1205484" cy="475488"/>
          </a:xfrm>
          <a:prstGeom prst="rect">
            <a:avLst/>
          </a:prstGeom>
          <a:solidFill>
            <a:srgbClr val="F6EAE6"/>
          </a:solidFill>
          <a:ln/>
        </p:spPr>
      </p:sp>
      <p:sp>
        <p:nvSpPr>
          <p:cNvPr id="11" name="Text 9"/>
          <p:cNvSpPr txBox="1"/>
          <p:nvPr/>
        </p:nvSpPr>
        <p:spPr>
          <a:xfrm>
            <a:off x="3904488" y="2487168"/>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İmaj ve</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kimlik</a:t>
            </a:r>
            <a:endParaRPr lang="en-US" sz="800" dirty="0"/>
          </a:p>
        </p:txBody>
      </p:sp>
      <p:sp>
        <p:nvSpPr>
          <p:cNvPr id="12" name="Shape 10"/>
          <p:cNvSpPr/>
          <p:nvPr/>
        </p:nvSpPr>
        <p:spPr>
          <a:xfrm>
            <a:off x="5128260" y="2487168"/>
            <a:ext cx="1205484" cy="475488"/>
          </a:xfrm>
          <a:prstGeom prst="rect">
            <a:avLst/>
          </a:prstGeom>
          <a:solidFill>
            <a:srgbClr val="F6EAE6"/>
          </a:solidFill>
          <a:ln/>
        </p:spPr>
      </p:sp>
      <p:sp>
        <p:nvSpPr>
          <p:cNvPr id="13" name="Text 11"/>
          <p:cNvSpPr txBox="1"/>
          <p:nvPr/>
        </p:nvSpPr>
        <p:spPr>
          <a:xfrm>
            <a:off x="5173980" y="2487168"/>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Ürün ve</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hizmet</a:t>
            </a:r>
            <a:endParaRPr lang="en-US" sz="800" dirty="0"/>
          </a:p>
        </p:txBody>
      </p:sp>
      <p:sp>
        <p:nvSpPr>
          <p:cNvPr id="14" name="Shape 12"/>
          <p:cNvSpPr/>
          <p:nvPr/>
        </p:nvSpPr>
        <p:spPr>
          <a:xfrm>
            <a:off x="6397752" y="2487168"/>
            <a:ext cx="1205484" cy="475488"/>
          </a:xfrm>
          <a:prstGeom prst="rect">
            <a:avLst/>
          </a:prstGeom>
          <a:solidFill>
            <a:srgbClr val="F6EAE6"/>
          </a:solidFill>
          <a:ln/>
        </p:spPr>
      </p:sp>
      <p:sp>
        <p:nvSpPr>
          <p:cNvPr id="15" name="Text 13"/>
          <p:cNvSpPr txBox="1"/>
          <p:nvPr/>
        </p:nvSpPr>
        <p:spPr>
          <a:xfrm>
            <a:off x="6443472" y="2487168"/>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İnsan ve</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kültür</a:t>
            </a:r>
            <a:endParaRPr lang="en-US" sz="800" dirty="0"/>
          </a:p>
        </p:txBody>
      </p:sp>
      <p:sp>
        <p:nvSpPr>
          <p:cNvPr id="16" name="Shape 14"/>
          <p:cNvSpPr/>
          <p:nvPr/>
        </p:nvSpPr>
        <p:spPr>
          <a:xfrm>
            <a:off x="7667244" y="2487168"/>
            <a:ext cx="1205484" cy="475488"/>
          </a:xfrm>
          <a:prstGeom prst="rect">
            <a:avLst/>
          </a:prstGeom>
          <a:solidFill>
            <a:srgbClr val="F6EAE6"/>
          </a:solidFill>
          <a:ln/>
        </p:spPr>
      </p:sp>
      <p:sp>
        <p:nvSpPr>
          <p:cNvPr id="17" name="Text 15"/>
          <p:cNvSpPr txBox="1"/>
          <p:nvPr/>
        </p:nvSpPr>
        <p:spPr>
          <a:xfrm>
            <a:off x="7712964" y="2487168"/>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Satış</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süreçleri</a:t>
            </a:r>
            <a:endParaRPr lang="en-US" sz="800" dirty="0"/>
          </a:p>
        </p:txBody>
      </p:sp>
      <p:sp>
        <p:nvSpPr>
          <p:cNvPr id="18" name="Shape 16"/>
          <p:cNvSpPr/>
          <p:nvPr/>
        </p:nvSpPr>
        <p:spPr>
          <a:xfrm>
            <a:off x="8936736" y="2487168"/>
            <a:ext cx="1205484" cy="475488"/>
          </a:xfrm>
          <a:prstGeom prst="rect">
            <a:avLst/>
          </a:prstGeom>
          <a:solidFill>
            <a:srgbClr val="8C3A2B"/>
          </a:solidFill>
          <a:ln/>
        </p:spPr>
      </p:sp>
      <p:sp>
        <p:nvSpPr>
          <p:cNvPr id="19" name="Text 17"/>
          <p:cNvSpPr txBox="1"/>
          <p:nvPr/>
        </p:nvSpPr>
        <p:spPr>
          <a:xfrm>
            <a:off x="8982456" y="2487168"/>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Fiziksel ve</a:t>
            </a:r>
            <a:endParaRPr lang="en-US" sz="800" dirty="0"/>
          </a:p>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sanal mekân</a:t>
            </a:r>
            <a:endParaRPr lang="en-US" sz="800" dirty="0"/>
          </a:p>
        </p:txBody>
      </p:sp>
      <p:sp>
        <p:nvSpPr>
          <p:cNvPr id="20" name="Shape 18"/>
          <p:cNvSpPr/>
          <p:nvPr/>
        </p:nvSpPr>
        <p:spPr>
          <a:xfrm>
            <a:off x="10206228" y="2487168"/>
            <a:ext cx="1205484" cy="475488"/>
          </a:xfrm>
          <a:prstGeom prst="rect">
            <a:avLst/>
          </a:prstGeom>
          <a:solidFill>
            <a:srgbClr val="F6EAE6"/>
          </a:solidFill>
          <a:ln/>
        </p:spPr>
      </p:sp>
      <p:sp>
        <p:nvSpPr>
          <p:cNvPr id="21" name="Text 19"/>
          <p:cNvSpPr txBox="1"/>
          <p:nvPr/>
        </p:nvSpPr>
        <p:spPr>
          <a:xfrm>
            <a:off x="10251948" y="2487168"/>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Farkındalık</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stratejisi</a:t>
            </a:r>
            <a:endParaRPr lang="en-US" sz="800" dirty="0"/>
          </a:p>
        </p:txBody>
      </p:sp>
      <p:sp>
        <p:nvSpPr>
          <p:cNvPr id="22" name="Shape 20"/>
          <p:cNvSpPr/>
          <p:nvPr/>
        </p:nvSpPr>
        <p:spPr>
          <a:xfrm>
            <a:off x="777240" y="3127248"/>
            <a:ext cx="10634472" cy="0"/>
          </a:xfrm>
          <a:prstGeom prst="line">
            <a:avLst/>
          </a:prstGeom>
          <a:noFill/>
          <a:ln w="6350">
            <a:solidFill>
              <a:srgbClr val="EDEDF0"/>
            </a:solidFill>
            <a:prstDash val="solid"/>
          </a:ln>
        </p:spPr>
      </p:sp>
      <p:sp>
        <p:nvSpPr>
          <p:cNvPr id="23" name="Text 21"/>
          <p:cNvSpPr txBox="1"/>
          <p:nvPr/>
        </p:nvSpPr>
        <p:spPr>
          <a:xfrm>
            <a:off x="777240" y="3255264"/>
            <a:ext cx="2468880" cy="256032"/>
          </a:xfrm>
          <a:prstGeom prst="rect">
            <a:avLst/>
          </a:prstGeom>
          <a:noFill/>
          <a:ln/>
        </p:spPr>
        <p:txBody>
          <a:bodyPr wrap="square" lIns="0" tIns="0" rIns="0" bIns="0" rtlCol="0" anchor="ctr"/>
          <a:lstStyle/>
          <a:p>
            <a:pPr indent="0" marL="0">
              <a:buNone/>
            </a:pPr>
            <a:r>
              <a:rPr lang="en-US" sz="1250" b="1" dirty="0">
                <a:solidFill>
                  <a:srgbClr val="16161A"/>
                </a:solidFill>
                <a:latin typeface="Cambria" pitchFamily="34" charset="0"/>
                <a:ea typeface="Cambria" pitchFamily="34" charset="-122"/>
                <a:cs typeface="Cambria" pitchFamily="34" charset="-120"/>
              </a:rPr>
              <a:t>Stein &amp; Ramaseshan (2016)</a:t>
            </a:r>
            <a:endParaRPr lang="en-US" sz="1250" dirty="0"/>
          </a:p>
        </p:txBody>
      </p:sp>
      <p:sp>
        <p:nvSpPr>
          <p:cNvPr id="24" name="Text 22"/>
          <p:cNvSpPr txBox="1"/>
          <p:nvPr/>
        </p:nvSpPr>
        <p:spPr>
          <a:xfrm>
            <a:off x="777240" y="3493008"/>
            <a:ext cx="2468880" cy="256032"/>
          </a:xfrm>
          <a:prstGeom prst="rect">
            <a:avLst/>
          </a:prstGeom>
          <a:noFill/>
          <a:ln/>
        </p:spPr>
        <p:txBody>
          <a:bodyPr wrap="square" lIns="0" tIns="0" rIns="0" bIns="0" rtlCol="0" anchor="ctr"/>
          <a:lstStyle/>
          <a:p>
            <a:pPr indent="0" marL="0">
              <a:buNone/>
            </a:pPr>
            <a:r>
              <a:rPr lang="en-US" sz="900" i="1" dirty="0">
                <a:solidFill>
                  <a:srgbClr val="7A7A82"/>
                </a:solidFill>
                <a:latin typeface="Calibri" pitchFamily="34" charset="0"/>
                <a:ea typeface="Calibri" pitchFamily="34" charset="-122"/>
                <a:cs typeface="Calibri" pitchFamily="34" charset="-120"/>
              </a:rPr>
              <a:t>temas noktası öğeleri</a:t>
            </a:r>
            <a:endParaRPr lang="en-US" sz="900" dirty="0"/>
          </a:p>
        </p:txBody>
      </p:sp>
      <p:sp>
        <p:nvSpPr>
          <p:cNvPr id="25" name="Text 23"/>
          <p:cNvSpPr txBox="1"/>
          <p:nvPr/>
        </p:nvSpPr>
        <p:spPr>
          <a:xfrm>
            <a:off x="3310128" y="3236976"/>
            <a:ext cx="365760" cy="365760"/>
          </a:xfrm>
          <a:prstGeom prst="rect">
            <a:avLst/>
          </a:prstGeom>
          <a:noFill/>
          <a:ln/>
        </p:spPr>
        <p:txBody>
          <a:bodyPr wrap="square" lIns="0" tIns="0" rIns="0" bIns="0" rtlCol="0" anchor="ctr"/>
          <a:lstStyle/>
          <a:p>
            <a:pPr algn="r" indent="0" marL="0">
              <a:buNone/>
            </a:pPr>
            <a:r>
              <a:rPr lang="en-US" sz="2000" b="1" dirty="0">
                <a:solidFill>
                  <a:srgbClr val="EBD7D1"/>
                </a:solidFill>
                <a:latin typeface="Cambria" pitchFamily="34" charset="0"/>
                <a:ea typeface="Cambria" pitchFamily="34" charset="-122"/>
                <a:cs typeface="Cambria" pitchFamily="34" charset="-120"/>
              </a:rPr>
              <a:t>7</a:t>
            </a:r>
            <a:endParaRPr lang="en-US" sz="2000" dirty="0"/>
          </a:p>
        </p:txBody>
      </p:sp>
      <p:sp>
        <p:nvSpPr>
          <p:cNvPr id="26" name="Shape 24"/>
          <p:cNvSpPr/>
          <p:nvPr/>
        </p:nvSpPr>
        <p:spPr>
          <a:xfrm>
            <a:off x="3858768" y="3273552"/>
            <a:ext cx="1024128" cy="475488"/>
          </a:xfrm>
          <a:prstGeom prst="rect">
            <a:avLst/>
          </a:prstGeom>
          <a:solidFill>
            <a:srgbClr val="8C3A2B"/>
          </a:solidFill>
          <a:ln/>
        </p:spPr>
      </p:sp>
      <p:sp>
        <p:nvSpPr>
          <p:cNvPr id="27" name="Text 25"/>
          <p:cNvSpPr txBox="1"/>
          <p:nvPr/>
        </p:nvSpPr>
        <p:spPr>
          <a:xfrm>
            <a:off x="3904488"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Atmosferik</a:t>
            </a:r>
            <a:endParaRPr lang="en-US" sz="800" dirty="0"/>
          </a:p>
        </p:txBody>
      </p:sp>
      <p:sp>
        <p:nvSpPr>
          <p:cNvPr id="28" name="Shape 26"/>
          <p:cNvSpPr/>
          <p:nvPr/>
        </p:nvSpPr>
        <p:spPr>
          <a:xfrm>
            <a:off x="4946904" y="3273552"/>
            <a:ext cx="1024128" cy="475488"/>
          </a:xfrm>
          <a:prstGeom prst="rect">
            <a:avLst/>
          </a:prstGeom>
          <a:solidFill>
            <a:srgbClr val="8C3A2B"/>
          </a:solidFill>
          <a:ln/>
        </p:spPr>
      </p:sp>
      <p:sp>
        <p:nvSpPr>
          <p:cNvPr id="29" name="Text 27"/>
          <p:cNvSpPr txBox="1"/>
          <p:nvPr/>
        </p:nvSpPr>
        <p:spPr>
          <a:xfrm>
            <a:off x="4992624"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Teknolojik</a:t>
            </a:r>
            <a:endParaRPr lang="en-US" sz="800" dirty="0"/>
          </a:p>
        </p:txBody>
      </p:sp>
      <p:sp>
        <p:nvSpPr>
          <p:cNvPr id="30" name="Shape 28"/>
          <p:cNvSpPr/>
          <p:nvPr/>
        </p:nvSpPr>
        <p:spPr>
          <a:xfrm>
            <a:off x="6035040" y="3273552"/>
            <a:ext cx="1024128" cy="475488"/>
          </a:xfrm>
          <a:prstGeom prst="rect">
            <a:avLst/>
          </a:prstGeom>
          <a:solidFill>
            <a:srgbClr val="8C3A2B"/>
          </a:solidFill>
          <a:ln/>
        </p:spPr>
      </p:sp>
      <p:sp>
        <p:nvSpPr>
          <p:cNvPr id="31" name="Text 29"/>
          <p:cNvSpPr txBox="1"/>
          <p:nvPr/>
        </p:nvSpPr>
        <p:spPr>
          <a:xfrm>
            <a:off x="6080760"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İletişimsel</a:t>
            </a:r>
            <a:endParaRPr lang="en-US" sz="800" dirty="0"/>
          </a:p>
        </p:txBody>
      </p:sp>
      <p:sp>
        <p:nvSpPr>
          <p:cNvPr id="32" name="Shape 30"/>
          <p:cNvSpPr/>
          <p:nvPr/>
        </p:nvSpPr>
        <p:spPr>
          <a:xfrm>
            <a:off x="7123176" y="3273552"/>
            <a:ext cx="1024128" cy="475488"/>
          </a:xfrm>
          <a:prstGeom prst="rect">
            <a:avLst/>
          </a:prstGeom>
          <a:solidFill>
            <a:srgbClr val="F6EAE6"/>
          </a:solidFill>
          <a:ln/>
        </p:spPr>
      </p:sp>
      <p:sp>
        <p:nvSpPr>
          <p:cNvPr id="33" name="Text 31"/>
          <p:cNvSpPr txBox="1"/>
          <p:nvPr/>
        </p:nvSpPr>
        <p:spPr>
          <a:xfrm>
            <a:off x="7168896"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Süreçle</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ilgili</a:t>
            </a:r>
            <a:endParaRPr lang="en-US" sz="800" dirty="0"/>
          </a:p>
        </p:txBody>
      </p:sp>
      <p:sp>
        <p:nvSpPr>
          <p:cNvPr id="34" name="Shape 32"/>
          <p:cNvSpPr/>
          <p:nvPr/>
        </p:nvSpPr>
        <p:spPr>
          <a:xfrm>
            <a:off x="8211312" y="3273552"/>
            <a:ext cx="1024128" cy="475488"/>
          </a:xfrm>
          <a:prstGeom prst="rect">
            <a:avLst/>
          </a:prstGeom>
          <a:solidFill>
            <a:srgbClr val="F6EAE6"/>
          </a:solidFill>
          <a:ln/>
        </p:spPr>
      </p:sp>
      <p:sp>
        <p:nvSpPr>
          <p:cNvPr id="35" name="Text 33"/>
          <p:cNvSpPr txBox="1"/>
          <p:nvPr/>
        </p:nvSpPr>
        <p:spPr>
          <a:xfrm>
            <a:off x="8257032"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Çalışan–</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müşteri</a:t>
            </a:r>
            <a:endParaRPr lang="en-US" sz="800" dirty="0"/>
          </a:p>
        </p:txBody>
      </p:sp>
      <p:sp>
        <p:nvSpPr>
          <p:cNvPr id="36" name="Shape 34"/>
          <p:cNvSpPr/>
          <p:nvPr/>
        </p:nvSpPr>
        <p:spPr>
          <a:xfrm>
            <a:off x="9299448" y="3273552"/>
            <a:ext cx="1024128" cy="475488"/>
          </a:xfrm>
          <a:prstGeom prst="rect">
            <a:avLst/>
          </a:prstGeom>
          <a:solidFill>
            <a:srgbClr val="F6EAE6"/>
          </a:solidFill>
          <a:ln/>
        </p:spPr>
      </p:sp>
      <p:sp>
        <p:nvSpPr>
          <p:cNvPr id="37" name="Text 35"/>
          <p:cNvSpPr txBox="1"/>
          <p:nvPr/>
        </p:nvSpPr>
        <p:spPr>
          <a:xfrm>
            <a:off x="9345168"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Müşteri–</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müşteri</a:t>
            </a:r>
            <a:endParaRPr lang="en-US" sz="800" dirty="0"/>
          </a:p>
        </p:txBody>
      </p:sp>
      <p:sp>
        <p:nvSpPr>
          <p:cNvPr id="38" name="Shape 36"/>
          <p:cNvSpPr/>
          <p:nvPr/>
        </p:nvSpPr>
        <p:spPr>
          <a:xfrm>
            <a:off x="10387584" y="3273552"/>
            <a:ext cx="1024128" cy="475488"/>
          </a:xfrm>
          <a:prstGeom prst="rect">
            <a:avLst/>
          </a:prstGeom>
          <a:solidFill>
            <a:srgbClr val="F6EAE6"/>
          </a:solidFill>
          <a:ln/>
        </p:spPr>
      </p:sp>
      <p:sp>
        <p:nvSpPr>
          <p:cNvPr id="39" name="Text 37"/>
          <p:cNvSpPr txBox="1"/>
          <p:nvPr/>
        </p:nvSpPr>
        <p:spPr>
          <a:xfrm>
            <a:off x="10433304" y="3273552"/>
            <a:ext cx="932688"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Ürünle</a:t>
            </a:r>
            <a:endParaRPr lang="en-US" sz="800" dirty="0"/>
          </a:p>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etkileşim</a:t>
            </a:r>
            <a:endParaRPr lang="en-US" sz="800" dirty="0"/>
          </a:p>
        </p:txBody>
      </p:sp>
      <p:sp>
        <p:nvSpPr>
          <p:cNvPr id="40" name="Shape 38"/>
          <p:cNvSpPr/>
          <p:nvPr/>
        </p:nvSpPr>
        <p:spPr>
          <a:xfrm>
            <a:off x="777240" y="3913632"/>
            <a:ext cx="10634472" cy="0"/>
          </a:xfrm>
          <a:prstGeom prst="line">
            <a:avLst/>
          </a:prstGeom>
          <a:noFill/>
          <a:ln w="6350">
            <a:solidFill>
              <a:srgbClr val="EDEDF0"/>
            </a:solidFill>
            <a:prstDash val="solid"/>
          </a:ln>
        </p:spPr>
      </p:sp>
      <p:sp>
        <p:nvSpPr>
          <p:cNvPr id="41" name="Text 39"/>
          <p:cNvSpPr txBox="1"/>
          <p:nvPr/>
        </p:nvSpPr>
        <p:spPr>
          <a:xfrm>
            <a:off x="777240" y="4041648"/>
            <a:ext cx="2468880" cy="256032"/>
          </a:xfrm>
          <a:prstGeom prst="rect">
            <a:avLst/>
          </a:prstGeom>
          <a:noFill/>
          <a:ln/>
        </p:spPr>
        <p:txBody>
          <a:bodyPr wrap="square" lIns="0" tIns="0" rIns="0" bIns="0" rtlCol="0" anchor="ctr"/>
          <a:lstStyle/>
          <a:p>
            <a:pPr indent="0" marL="0">
              <a:buNone/>
            </a:pPr>
            <a:r>
              <a:rPr lang="en-US" sz="1250" b="1" dirty="0">
                <a:solidFill>
                  <a:srgbClr val="16161A"/>
                </a:solidFill>
                <a:latin typeface="Cambria" pitchFamily="34" charset="0"/>
                <a:ea typeface="Cambria" pitchFamily="34" charset="-122"/>
                <a:cs typeface="Cambria" pitchFamily="34" charset="-120"/>
              </a:rPr>
              <a:t>I-AM Istanbul (2018)</a:t>
            </a:r>
            <a:endParaRPr lang="en-US" sz="1250" dirty="0"/>
          </a:p>
        </p:txBody>
      </p:sp>
      <p:sp>
        <p:nvSpPr>
          <p:cNvPr id="42" name="Text 40"/>
          <p:cNvSpPr txBox="1"/>
          <p:nvPr/>
        </p:nvSpPr>
        <p:spPr>
          <a:xfrm>
            <a:off x="777240" y="4279392"/>
            <a:ext cx="2468880" cy="256032"/>
          </a:xfrm>
          <a:prstGeom prst="rect">
            <a:avLst/>
          </a:prstGeom>
          <a:noFill/>
          <a:ln/>
        </p:spPr>
        <p:txBody>
          <a:bodyPr wrap="square" lIns="0" tIns="0" rIns="0" bIns="0" rtlCol="0" anchor="ctr"/>
          <a:lstStyle/>
          <a:p>
            <a:pPr indent="0" marL="0">
              <a:buNone/>
            </a:pPr>
            <a:r>
              <a:rPr lang="en-US" sz="900" i="1" dirty="0">
                <a:solidFill>
                  <a:srgbClr val="7A7A82"/>
                </a:solidFill>
                <a:latin typeface="Calibri" pitchFamily="34" charset="0"/>
                <a:ea typeface="Calibri" pitchFamily="34" charset="-122"/>
                <a:cs typeface="Calibri" pitchFamily="34" charset="-120"/>
              </a:rPr>
              <a:t>müşteri yolculuğu adımları</a:t>
            </a:r>
            <a:endParaRPr lang="en-US" sz="900" dirty="0"/>
          </a:p>
        </p:txBody>
      </p:sp>
      <p:sp>
        <p:nvSpPr>
          <p:cNvPr id="43" name="Text 41"/>
          <p:cNvSpPr txBox="1"/>
          <p:nvPr/>
        </p:nvSpPr>
        <p:spPr>
          <a:xfrm>
            <a:off x="3310128" y="4023360"/>
            <a:ext cx="365760" cy="365760"/>
          </a:xfrm>
          <a:prstGeom prst="rect">
            <a:avLst/>
          </a:prstGeom>
          <a:noFill/>
          <a:ln/>
        </p:spPr>
        <p:txBody>
          <a:bodyPr wrap="square" lIns="0" tIns="0" rIns="0" bIns="0" rtlCol="0" anchor="ctr"/>
          <a:lstStyle/>
          <a:p>
            <a:pPr algn="r" indent="0" marL="0">
              <a:buNone/>
            </a:pPr>
            <a:r>
              <a:rPr lang="en-US" sz="2000" b="1" dirty="0">
                <a:solidFill>
                  <a:srgbClr val="EBD7D1"/>
                </a:solidFill>
                <a:latin typeface="Cambria" pitchFamily="34" charset="0"/>
                <a:ea typeface="Cambria" pitchFamily="34" charset="-122"/>
                <a:cs typeface="Cambria" pitchFamily="34" charset="-120"/>
              </a:rPr>
              <a:t>8</a:t>
            </a:r>
            <a:endParaRPr lang="en-US" sz="2000" dirty="0"/>
          </a:p>
        </p:txBody>
      </p:sp>
      <p:sp>
        <p:nvSpPr>
          <p:cNvPr id="44" name="Shape 42"/>
          <p:cNvSpPr/>
          <p:nvPr/>
        </p:nvSpPr>
        <p:spPr>
          <a:xfrm>
            <a:off x="3858768" y="4059936"/>
            <a:ext cx="888111" cy="475488"/>
          </a:xfrm>
          <a:prstGeom prst="rect">
            <a:avLst/>
          </a:prstGeom>
          <a:solidFill>
            <a:srgbClr val="F6EAE6"/>
          </a:solidFill>
          <a:ln/>
        </p:spPr>
      </p:sp>
      <p:sp>
        <p:nvSpPr>
          <p:cNvPr id="45" name="Text 43"/>
          <p:cNvSpPr txBox="1"/>
          <p:nvPr/>
        </p:nvSpPr>
        <p:spPr>
          <a:xfrm>
            <a:off x="3904488"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Farkındalık</a:t>
            </a:r>
            <a:endParaRPr lang="en-US" sz="800" dirty="0"/>
          </a:p>
        </p:txBody>
      </p:sp>
      <p:sp>
        <p:nvSpPr>
          <p:cNvPr id="46" name="Shape 44"/>
          <p:cNvSpPr/>
          <p:nvPr/>
        </p:nvSpPr>
        <p:spPr>
          <a:xfrm>
            <a:off x="4810887" y="4059936"/>
            <a:ext cx="888111" cy="475488"/>
          </a:xfrm>
          <a:prstGeom prst="rect">
            <a:avLst/>
          </a:prstGeom>
          <a:solidFill>
            <a:srgbClr val="8C3A2B"/>
          </a:solidFill>
          <a:ln/>
        </p:spPr>
      </p:sp>
      <p:sp>
        <p:nvSpPr>
          <p:cNvPr id="47" name="Text 45"/>
          <p:cNvSpPr txBox="1"/>
          <p:nvPr/>
        </p:nvSpPr>
        <p:spPr>
          <a:xfrm>
            <a:off x="4856607"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Çekim</a:t>
            </a:r>
            <a:endParaRPr lang="en-US" sz="800" dirty="0"/>
          </a:p>
        </p:txBody>
      </p:sp>
      <p:sp>
        <p:nvSpPr>
          <p:cNvPr id="48" name="Shape 46"/>
          <p:cNvSpPr/>
          <p:nvPr/>
        </p:nvSpPr>
        <p:spPr>
          <a:xfrm>
            <a:off x="5763006" y="4059936"/>
            <a:ext cx="888111" cy="475488"/>
          </a:xfrm>
          <a:prstGeom prst="rect">
            <a:avLst/>
          </a:prstGeom>
          <a:solidFill>
            <a:srgbClr val="8C3A2B"/>
          </a:solidFill>
          <a:ln/>
        </p:spPr>
      </p:sp>
      <p:sp>
        <p:nvSpPr>
          <p:cNvPr id="49" name="Text 47"/>
          <p:cNvSpPr txBox="1"/>
          <p:nvPr/>
        </p:nvSpPr>
        <p:spPr>
          <a:xfrm>
            <a:off x="5808726"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Eşik</a:t>
            </a:r>
            <a:endParaRPr lang="en-US" sz="800" dirty="0"/>
          </a:p>
        </p:txBody>
      </p:sp>
      <p:sp>
        <p:nvSpPr>
          <p:cNvPr id="50" name="Shape 48"/>
          <p:cNvSpPr/>
          <p:nvPr/>
        </p:nvSpPr>
        <p:spPr>
          <a:xfrm>
            <a:off x="6715125" y="4059936"/>
            <a:ext cx="888111" cy="475488"/>
          </a:xfrm>
          <a:prstGeom prst="rect">
            <a:avLst/>
          </a:prstGeom>
          <a:solidFill>
            <a:srgbClr val="8C3A2B"/>
          </a:solidFill>
          <a:ln/>
        </p:spPr>
      </p:sp>
      <p:sp>
        <p:nvSpPr>
          <p:cNvPr id="51" name="Text 49"/>
          <p:cNvSpPr txBox="1"/>
          <p:nvPr/>
        </p:nvSpPr>
        <p:spPr>
          <a:xfrm>
            <a:off x="6760845"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Yönelme</a:t>
            </a:r>
            <a:endParaRPr lang="en-US" sz="800" dirty="0"/>
          </a:p>
        </p:txBody>
      </p:sp>
      <p:sp>
        <p:nvSpPr>
          <p:cNvPr id="52" name="Shape 50"/>
          <p:cNvSpPr/>
          <p:nvPr/>
        </p:nvSpPr>
        <p:spPr>
          <a:xfrm>
            <a:off x="7667244" y="4059936"/>
            <a:ext cx="888111" cy="475488"/>
          </a:xfrm>
          <a:prstGeom prst="rect">
            <a:avLst/>
          </a:prstGeom>
          <a:solidFill>
            <a:srgbClr val="8C3A2B"/>
          </a:solidFill>
          <a:ln/>
        </p:spPr>
      </p:sp>
      <p:sp>
        <p:nvSpPr>
          <p:cNvPr id="53" name="Text 51"/>
          <p:cNvSpPr txBox="1"/>
          <p:nvPr/>
        </p:nvSpPr>
        <p:spPr>
          <a:xfrm>
            <a:off x="7712964"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Gezinme</a:t>
            </a:r>
            <a:endParaRPr lang="en-US" sz="800" dirty="0"/>
          </a:p>
        </p:txBody>
      </p:sp>
      <p:sp>
        <p:nvSpPr>
          <p:cNvPr id="54" name="Shape 52"/>
          <p:cNvSpPr/>
          <p:nvPr/>
        </p:nvSpPr>
        <p:spPr>
          <a:xfrm>
            <a:off x="8619363" y="4059936"/>
            <a:ext cx="888111" cy="475488"/>
          </a:xfrm>
          <a:prstGeom prst="rect">
            <a:avLst/>
          </a:prstGeom>
          <a:solidFill>
            <a:srgbClr val="8C3A2B"/>
          </a:solidFill>
          <a:ln/>
        </p:spPr>
      </p:sp>
      <p:sp>
        <p:nvSpPr>
          <p:cNvPr id="55" name="Text 53"/>
          <p:cNvSpPr txBox="1"/>
          <p:nvPr/>
        </p:nvSpPr>
        <p:spPr>
          <a:xfrm>
            <a:off x="8665083"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Etkileşim</a:t>
            </a:r>
            <a:endParaRPr lang="en-US" sz="800" dirty="0"/>
          </a:p>
        </p:txBody>
      </p:sp>
      <p:sp>
        <p:nvSpPr>
          <p:cNvPr id="56" name="Shape 54"/>
          <p:cNvSpPr/>
          <p:nvPr/>
        </p:nvSpPr>
        <p:spPr>
          <a:xfrm>
            <a:off x="9571482" y="4059936"/>
            <a:ext cx="888111" cy="475488"/>
          </a:xfrm>
          <a:prstGeom prst="rect">
            <a:avLst/>
          </a:prstGeom>
          <a:solidFill>
            <a:srgbClr val="8C3A2B"/>
          </a:solidFill>
          <a:ln/>
        </p:spPr>
      </p:sp>
      <p:sp>
        <p:nvSpPr>
          <p:cNvPr id="57" name="Text 55"/>
          <p:cNvSpPr txBox="1"/>
          <p:nvPr/>
        </p:nvSpPr>
        <p:spPr>
          <a:xfrm>
            <a:off x="9617202"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Satın alma</a:t>
            </a:r>
            <a:endParaRPr lang="en-US" sz="800" dirty="0"/>
          </a:p>
        </p:txBody>
      </p:sp>
      <p:sp>
        <p:nvSpPr>
          <p:cNvPr id="58" name="Shape 56"/>
          <p:cNvSpPr/>
          <p:nvPr/>
        </p:nvSpPr>
        <p:spPr>
          <a:xfrm>
            <a:off x="10523601" y="4059936"/>
            <a:ext cx="888111" cy="475488"/>
          </a:xfrm>
          <a:prstGeom prst="rect">
            <a:avLst/>
          </a:prstGeom>
          <a:solidFill>
            <a:srgbClr val="F6EAE6"/>
          </a:solidFill>
          <a:ln/>
        </p:spPr>
      </p:sp>
      <p:sp>
        <p:nvSpPr>
          <p:cNvPr id="59" name="Text 57"/>
          <p:cNvSpPr txBox="1"/>
          <p:nvPr/>
        </p:nvSpPr>
        <p:spPr>
          <a:xfrm>
            <a:off x="10569321" y="4059936"/>
            <a:ext cx="796671" cy="475488"/>
          </a:xfrm>
          <a:prstGeom prst="rect">
            <a:avLst/>
          </a:prstGeom>
          <a:noFill/>
          <a:ln/>
        </p:spPr>
        <p:txBody>
          <a:bodyPr wrap="square" lIns="0" tIns="0" rIns="0" bIns="0" rtlCol="0" anchor="ctr"/>
          <a:lstStyle/>
          <a:p>
            <a:pPr algn="ctr" indent="0" marL="0">
              <a:lnSpc>
                <a:spcPts val="1000"/>
              </a:lnSpc>
              <a:buNone/>
            </a:pPr>
            <a:r>
              <a:rPr lang="en-US" sz="800" b="1" dirty="0">
                <a:solidFill>
                  <a:srgbClr val="8C3A2B"/>
                </a:solidFill>
                <a:latin typeface="Calibri" pitchFamily="34" charset="0"/>
                <a:ea typeface="Calibri" pitchFamily="34" charset="-122"/>
                <a:cs typeface="Calibri" pitchFamily="34" charset="-120"/>
              </a:rPr>
              <a:t>Ayrılma</a:t>
            </a:r>
            <a:endParaRPr lang="en-US" sz="800" dirty="0"/>
          </a:p>
        </p:txBody>
      </p:sp>
      <p:sp>
        <p:nvSpPr>
          <p:cNvPr id="60" name="Shape 58"/>
          <p:cNvSpPr/>
          <p:nvPr/>
        </p:nvSpPr>
        <p:spPr>
          <a:xfrm>
            <a:off x="777240" y="4700016"/>
            <a:ext cx="10634472" cy="0"/>
          </a:xfrm>
          <a:prstGeom prst="line">
            <a:avLst/>
          </a:prstGeom>
          <a:noFill/>
          <a:ln w="6350">
            <a:solidFill>
              <a:srgbClr val="EDEDF0"/>
            </a:solidFill>
            <a:prstDash val="solid"/>
          </a:ln>
        </p:spPr>
      </p:sp>
      <p:sp>
        <p:nvSpPr>
          <p:cNvPr id="61" name="Text 59"/>
          <p:cNvSpPr txBox="1"/>
          <p:nvPr/>
        </p:nvSpPr>
        <p:spPr>
          <a:xfrm>
            <a:off x="777240" y="4828032"/>
            <a:ext cx="2468880" cy="256032"/>
          </a:xfrm>
          <a:prstGeom prst="rect">
            <a:avLst/>
          </a:prstGeom>
          <a:noFill/>
          <a:ln/>
        </p:spPr>
        <p:txBody>
          <a:bodyPr wrap="square" lIns="0" tIns="0" rIns="0" bIns="0" rtlCol="0" anchor="ctr"/>
          <a:lstStyle/>
          <a:p>
            <a:pPr indent="0" marL="0">
              <a:buNone/>
            </a:pPr>
            <a:r>
              <a:rPr lang="en-US" sz="1250" b="1" dirty="0">
                <a:solidFill>
                  <a:srgbClr val="16161A"/>
                </a:solidFill>
                <a:latin typeface="Cambria" pitchFamily="34" charset="0"/>
                <a:ea typeface="Cambria" pitchFamily="34" charset="-122"/>
                <a:cs typeface="Cambria" pitchFamily="34" charset="-120"/>
              </a:rPr>
              <a:t>Bükülmez vd. (2025)</a:t>
            </a:r>
            <a:endParaRPr lang="en-US" sz="1250" dirty="0"/>
          </a:p>
        </p:txBody>
      </p:sp>
      <p:sp>
        <p:nvSpPr>
          <p:cNvPr id="62" name="Text 60"/>
          <p:cNvSpPr txBox="1"/>
          <p:nvPr/>
        </p:nvSpPr>
        <p:spPr>
          <a:xfrm>
            <a:off x="777240" y="5065776"/>
            <a:ext cx="2468880" cy="256032"/>
          </a:xfrm>
          <a:prstGeom prst="rect">
            <a:avLst/>
          </a:prstGeom>
          <a:noFill/>
          <a:ln/>
        </p:spPr>
        <p:txBody>
          <a:bodyPr wrap="square" lIns="0" tIns="0" rIns="0" bIns="0" rtlCol="0" anchor="ctr"/>
          <a:lstStyle/>
          <a:p>
            <a:pPr indent="0" marL="0">
              <a:buNone/>
            </a:pPr>
            <a:r>
              <a:rPr lang="en-US" sz="900" i="1" dirty="0">
                <a:solidFill>
                  <a:srgbClr val="7A7A82"/>
                </a:solidFill>
                <a:latin typeface="Calibri" pitchFamily="34" charset="0"/>
                <a:ea typeface="Calibri" pitchFamily="34" charset="-122"/>
                <a:cs typeface="Calibri" pitchFamily="34" charset="-120"/>
              </a:rPr>
              <a:t>iç mekâna uyarlanmış modüller</a:t>
            </a:r>
            <a:endParaRPr lang="en-US" sz="900" dirty="0"/>
          </a:p>
        </p:txBody>
      </p:sp>
      <p:sp>
        <p:nvSpPr>
          <p:cNvPr id="63" name="Text 61"/>
          <p:cNvSpPr txBox="1"/>
          <p:nvPr/>
        </p:nvSpPr>
        <p:spPr>
          <a:xfrm>
            <a:off x="3310128" y="4809744"/>
            <a:ext cx="365760" cy="365760"/>
          </a:xfrm>
          <a:prstGeom prst="rect">
            <a:avLst/>
          </a:prstGeom>
          <a:noFill/>
          <a:ln/>
        </p:spPr>
        <p:txBody>
          <a:bodyPr wrap="square" lIns="0" tIns="0" rIns="0" bIns="0" rtlCol="0" anchor="ctr"/>
          <a:lstStyle/>
          <a:p>
            <a:pPr algn="r" indent="0" marL="0">
              <a:buNone/>
            </a:pPr>
            <a:r>
              <a:rPr lang="en-US" sz="2000" b="1" dirty="0">
                <a:solidFill>
                  <a:srgbClr val="EBD7D1"/>
                </a:solidFill>
                <a:latin typeface="Cambria" pitchFamily="34" charset="0"/>
                <a:ea typeface="Cambria" pitchFamily="34" charset="-122"/>
                <a:cs typeface="Cambria" pitchFamily="34" charset="-120"/>
              </a:rPr>
              <a:t>6</a:t>
            </a:r>
            <a:endParaRPr lang="en-US" sz="2000" dirty="0"/>
          </a:p>
        </p:txBody>
      </p:sp>
      <p:sp>
        <p:nvSpPr>
          <p:cNvPr id="64" name="Shape 62"/>
          <p:cNvSpPr/>
          <p:nvPr/>
        </p:nvSpPr>
        <p:spPr>
          <a:xfrm>
            <a:off x="3858768" y="4846320"/>
            <a:ext cx="1205484" cy="475488"/>
          </a:xfrm>
          <a:prstGeom prst="rect">
            <a:avLst/>
          </a:prstGeom>
          <a:solidFill>
            <a:srgbClr val="8C3A2B"/>
          </a:solidFill>
          <a:ln/>
        </p:spPr>
      </p:sp>
      <p:sp>
        <p:nvSpPr>
          <p:cNvPr id="65" name="Text 63"/>
          <p:cNvSpPr txBox="1"/>
          <p:nvPr/>
        </p:nvSpPr>
        <p:spPr>
          <a:xfrm>
            <a:off x="3904488" y="4846320"/>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Çekim</a:t>
            </a:r>
            <a:endParaRPr lang="en-US" sz="800" dirty="0"/>
          </a:p>
        </p:txBody>
      </p:sp>
      <p:sp>
        <p:nvSpPr>
          <p:cNvPr id="66" name="Shape 64"/>
          <p:cNvSpPr/>
          <p:nvPr/>
        </p:nvSpPr>
        <p:spPr>
          <a:xfrm>
            <a:off x="5128260" y="4846320"/>
            <a:ext cx="1205484" cy="475488"/>
          </a:xfrm>
          <a:prstGeom prst="rect">
            <a:avLst/>
          </a:prstGeom>
          <a:solidFill>
            <a:srgbClr val="8C3A2B"/>
          </a:solidFill>
          <a:ln/>
        </p:spPr>
      </p:sp>
      <p:sp>
        <p:nvSpPr>
          <p:cNvPr id="67" name="Text 65"/>
          <p:cNvSpPr txBox="1"/>
          <p:nvPr/>
        </p:nvSpPr>
        <p:spPr>
          <a:xfrm>
            <a:off x="5173980" y="4846320"/>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Eşik</a:t>
            </a:r>
            <a:endParaRPr lang="en-US" sz="800" dirty="0"/>
          </a:p>
        </p:txBody>
      </p:sp>
      <p:sp>
        <p:nvSpPr>
          <p:cNvPr id="68" name="Shape 66"/>
          <p:cNvSpPr/>
          <p:nvPr/>
        </p:nvSpPr>
        <p:spPr>
          <a:xfrm>
            <a:off x="6397752" y="4846320"/>
            <a:ext cx="1205484" cy="475488"/>
          </a:xfrm>
          <a:prstGeom prst="rect">
            <a:avLst/>
          </a:prstGeom>
          <a:solidFill>
            <a:srgbClr val="8C3A2B"/>
          </a:solidFill>
          <a:ln/>
        </p:spPr>
      </p:sp>
      <p:sp>
        <p:nvSpPr>
          <p:cNvPr id="69" name="Text 67"/>
          <p:cNvSpPr txBox="1"/>
          <p:nvPr/>
        </p:nvSpPr>
        <p:spPr>
          <a:xfrm>
            <a:off x="6443472" y="4846320"/>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Ürün ve</a:t>
            </a:r>
            <a:endParaRPr lang="en-US" sz="800" dirty="0"/>
          </a:p>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hizmetler</a:t>
            </a:r>
            <a:endParaRPr lang="en-US" sz="800" dirty="0"/>
          </a:p>
        </p:txBody>
      </p:sp>
      <p:sp>
        <p:nvSpPr>
          <p:cNvPr id="70" name="Shape 68"/>
          <p:cNvSpPr/>
          <p:nvPr/>
        </p:nvSpPr>
        <p:spPr>
          <a:xfrm>
            <a:off x="7667244" y="4846320"/>
            <a:ext cx="1205484" cy="475488"/>
          </a:xfrm>
          <a:prstGeom prst="rect">
            <a:avLst/>
          </a:prstGeom>
          <a:solidFill>
            <a:srgbClr val="8C3A2B"/>
          </a:solidFill>
          <a:ln/>
        </p:spPr>
      </p:sp>
      <p:sp>
        <p:nvSpPr>
          <p:cNvPr id="71" name="Text 69"/>
          <p:cNvSpPr txBox="1"/>
          <p:nvPr/>
        </p:nvSpPr>
        <p:spPr>
          <a:xfrm>
            <a:off x="7712964" y="4846320"/>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Organizasyonel</a:t>
            </a:r>
            <a:endParaRPr lang="en-US" sz="800" dirty="0"/>
          </a:p>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ihtiyaçlar</a:t>
            </a:r>
            <a:endParaRPr lang="en-US" sz="800" dirty="0"/>
          </a:p>
        </p:txBody>
      </p:sp>
      <p:sp>
        <p:nvSpPr>
          <p:cNvPr id="72" name="Shape 70"/>
          <p:cNvSpPr/>
          <p:nvPr/>
        </p:nvSpPr>
        <p:spPr>
          <a:xfrm>
            <a:off x="8936736" y="4846320"/>
            <a:ext cx="1205484" cy="475488"/>
          </a:xfrm>
          <a:prstGeom prst="rect">
            <a:avLst/>
          </a:prstGeom>
          <a:solidFill>
            <a:srgbClr val="8C3A2B"/>
          </a:solidFill>
          <a:ln/>
        </p:spPr>
      </p:sp>
      <p:sp>
        <p:nvSpPr>
          <p:cNvPr id="73" name="Text 71"/>
          <p:cNvSpPr txBox="1"/>
          <p:nvPr/>
        </p:nvSpPr>
        <p:spPr>
          <a:xfrm>
            <a:off x="8982456" y="4846320"/>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Yönelme</a:t>
            </a:r>
            <a:endParaRPr lang="en-US" sz="800" dirty="0"/>
          </a:p>
        </p:txBody>
      </p:sp>
      <p:sp>
        <p:nvSpPr>
          <p:cNvPr id="74" name="Shape 72"/>
          <p:cNvSpPr/>
          <p:nvPr/>
        </p:nvSpPr>
        <p:spPr>
          <a:xfrm>
            <a:off x="10206228" y="4846320"/>
            <a:ext cx="1205484" cy="475488"/>
          </a:xfrm>
          <a:prstGeom prst="rect">
            <a:avLst/>
          </a:prstGeom>
          <a:solidFill>
            <a:srgbClr val="8C3A2B"/>
          </a:solidFill>
          <a:ln/>
        </p:spPr>
      </p:sp>
      <p:sp>
        <p:nvSpPr>
          <p:cNvPr id="75" name="Text 73"/>
          <p:cNvSpPr txBox="1"/>
          <p:nvPr/>
        </p:nvSpPr>
        <p:spPr>
          <a:xfrm>
            <a:off x="10251948" y="4846320"/>
            <a:ext cx="1114044" cy="475488"/>
          </a:xfrm>
          <a:prstGeom prst="rect">
            <a:avLst/>
          </a:prstGeom>
          <a:noFill/>
          <a:ln/>
        </p:spPr>
        <p:txBody>
          <a:bodyPr wrap="square" lIns="0" tIns="0" rIns="0" bIns="0" rtlCol="0" anchor="ctr"/>
          <a:lstStyle/>
          <a:p>
            <a:pPr algn="ctr" indent="0" marL="0">
              <a:lnSpc>
                <a:spcPts val="1000"/>
              </a:lnSpc>
              <a:buNone/>
            </a:pPr>
            <a:r>
              <a:rPr lang="en-US" sz="800" b="1" dirty="0">
                <a:solidFill>
                  <a:srgbClr val="FFFFFF"/>
                </a:solidFill>
                <a:latin typeface="Calibri" pitchFamily="34" charset="0"/>
                <a:ea typeface="Calibri" pitchFamily="34" charset="-122"/>
                <a:cs typeface="Calibri" pitchFamily="34" charset="-120"/>
              </a:rPr>
              <a:t>Gezinme</a:t>
            </a:r>
            <a:endParaRPr lang="en-US" sz="800" dirty="0"/>
          </a:p>
        </p:txBody>
      </p:sp>
      <p:sp>
        <p:nvSpPr>
          <p:cNvPr id="76" name="Text 74"/>
          <p:cNvSpPr txBox="1"/>
          <p:nvPr/>
        </p:nvSpPr>
        <p:spPr>
          <a:xfrm>
            <a:off x="777240" y="5559552"/>
            <a:ext cx="10634472" cy="365760"/>
          </a:xfrm>
          <a:prstGeom prst="rect">
            <a:avLst/>
          </a:prstGeom>
          <a:noFill/>
          <a:ln/>
        </p:spPr>
        <p:txBody>
          <a:bodyPr wrap="square" lIns="0" tIns="0" rIns="0" bIns="0" rtlCol="0" anchor="ctr"/>
          <a:lstStyle/>
          <a:p>
            <a:pPr algn="l" indent="0" marL="0">
              <a:lnSpc>
                <a:spcPts val="1200"/>
              </a:lnSpc>
              <a:buNone/>
            </a:pPr>
            <a:r>
              <a:rPr lang="en-US" sz="1200" dirty="0">
                <a:solidFill>
                  <a:srgbClr val="2B2B31"/>
                </a:solidFill>
                <a:latin typeface="Cambria" pitchFamily="34" charset="0"/>
                <a:ea typeface="Cambria" pitchFamily="34" charset="-122"/>
                <a:cs typeface="Cambria" pitchFamily="34" charset="-120"/>
              </a:rPr>
              <a:t>Koyu renkli parçalar iç mimarlığın doğrudan tasarladığı bölümler. Dört okuma da aynı şeyi söylüyor: deneyimin büyük kısmı mekânda geçer.</a:t>
            </a:r>
            <a:endParaRPr lang="en-US" sz="1200" dirty="0"/>
          </a:p>
        </p:txBody>
      </p:sp>
      <p:sp>
        <p:nvSpPr>
          <p:cNvPr id="77" name="Text 75"/>
          <p:cNvSpPr txBox="1"/>
          <p:nvPr/>
        </p:nvSpPr>
        <p:spPr>
          <a:xfrm>
            <a:off x="777240" y="5925312"/>
            <a:ext cx="10634472" cy="365760"/>
          </a:xfrm>
          <a:prstGeom prst="rect">
            <a:avLst/>
          </a:prstGeom>
          <a:noFill/>
          <a:ln/>
        </p:spPr>
        <p:txBody>
          <a:bodyPr wrap="square" lIns="0" tIns="0" rIns="0" bIns="0" rtlCol="0" anchor="ctr"/>
          <a:lstStyle/>
          <a:p>
            <a:pPr algn="l" indent="0" marL="0">
              <a:lnSpc>
                <a:spcPts val="1200"/>
              </a:lnSpc>
              <a:buNone/>
            </a:pPr>
            <a:r>
              <a:rPr lang="en-US" sz="1250" b="1" i="1" dirty="0">
                <a:solidFill>
                  <a:srgbClr val="8C3A2B"/>
                </a:solidFill>
                <a:latin typeface="Cambria" pitchFamily="34" charset="0"/>
                <a:ea typeface="Cambria" pitchFamily="34" charset="-122"/>
                <a:cs typeface="Cambria" pitchFamily="34" charset="-120"/>
              </a:rPr>
              <a:t>Bizim dönem boyunca kullanacağımız model en alttaki: altı modül.</a:t>
            </a:r>
            <a:endParaRPr lang="en-US" sz="1250" dirty="0"/>
          </a:p>
        </p:txBody>
      </p:sp>
      <p:sp>
        <p:nvSpPr>
          <p:cNvPr id="78" name="Text 76"/>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Karşılaştırma: Bükülmez vd. (2025), “Brand Key Analysis and Customer Journey Mapping” bölümü.</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IV · YOLCULUK</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Temas noktalarının yedi türü</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Perakende deneyimi üzerine yapılan ölçümlerde temas noktaları yedi öğe altında toplanıyor (Stein &amp; Ramaseshan, 2016). Üçü doğrudan tasarımın kurduğu şeylerdir; dördü tasarımın barındırmak zorunda olduğu şeyler.</a:t>
            </a:r>
            <a:endParaRPr lang="en-US" sz="1350" dirty="0"/>
          </a:p>
        </p:txBody>
      </p:sp>
      <p:sp>
        <p:nvSpPr>
          <p:cNvPr id="7" name="Text 5"/>
          <p:cNvSpPr txBox="1"/>
          <p:nvPr/>
        </p:nvSpPr>
        <p:spPr>
          <a:xfrm>
            <a:off x="777240" y="2276856"/>
            <a:ext cx="1243584"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TASARIMCININ KURDUĞU</a:t>
            </a:r>
            <a:endParaRPr lang="en-US" sz="900" dirty="0"/>
          </a:p>
        </p:txBody>
      </p:sp>
      <p:sp>
        <p:nvSpPr>
          <p:cNvPr id="8" name="Shape 6"/>
          <p:cNvSpPr/>
          <p:nvPr/>
        </p:nvSpPr>
        <p:spPr>
          <a:xfrm>
            <a:off x="2093976" y="2395728"/>
            <a:ext cx="3712464" cy="0"/>
          </a:xfrm>
          <a:prstGeom prst="line">
            <a:avLst/>
          </a:prstGeom>
          <a:noFill/>
          <a:ln w="9525">
            <a:solidFill>
              <a:srgbClr val="EBD7D1"/>
            </a:solidFill>
            <a:prstDash val="solid"/>
          </a:ln>
        </p:spPr>
      </p:sp>
      <p:sp>
        <p:nvSpPr>
          <p:cNvPr id="9" name="Text 7"/>
          <p:cNvSpPr txBox="1"/>
          <p:nvPr/>
        </p:nvSpPr>
        <p:spPr>
          <a:xfrm>
            <a:off x="6382512" y="2276856"/>
            <a:ext cx="1356970" cy="237744"/>
          </a:xfrm>
          <a:prstGeom prst="rect">
            <a:avLst/>
          </a:prstGeom>
          <a:noFill/>
          <a:ln/>
        </p:spPr>
        <p:txBody>
          <a:bodyPr wrap="square" lIns="0" tIns="0" rIns="0" bIns="0" rtlCol="0" anchor="ctr"/>
          <a:lstStyle/>
          <a:p>
            <a:pPr indent="0" marL="0">
              <a:buNone/>
            </a:pPr>
            <a:r>
              <a:rPr lang="en-US" sz="900" b="1" spc="170" kern="0" dirty="0">
                <a:solidFill>
                  <a:srgbClr val="7A7A82"/>
                </a:solidFill>
                <a:latin typeface="Calibri" pitchFamily="34" charset="0"/>
                <a:ea typeface="Calibri" pitchFamily="34" charset="-122"/>
                <a:cs typeface="Calibri" pitchFamily="34" charset="-120"/>
              </a:rPr>
              <a:t>TASARIMIN BARINDIRDIĞI</a:t>
            </a:r>
            <a:endParaRPr lang="en-US" sz="900" dirty="0"/>
          </a:p>
        </p:txBody>
      </p:sp>
      <p:sp>
        <p:nvSpPr>
          <p:cNvPr id="10" name="Shape 8"/>
          <p:cNvSpPr/>
          <p:nvPr/>
        </p:nvSpPr>
        <p:spPr>
          <a:xfrm>
            <a:off x="7812634" y="2395728"/>
            <a:ext cx="3599078" cy="0"/>
          </a:xfrm>
          <a:prstGeom prst="line">
            <a:avLst/>
          </a:prstGeom>
          <a:noFill/>
          <a:ln w="9525">
            <a:solidFill>
              <a:srgbClr val="EDEDF0"/>
            </a:solidFill>
            <a:prstDash val="solid"/>
          </a:ln>
        </p:spPr>
      </p:sp>
      <p:sp>
        <p:nvSpPr>
          <p:cNvPr id="11" name="Shape 9"/>
          <p:cNvSpPr/>
          <p:nvPr/>
        </p:nvSpPr>
        <p:spPr>
          <a:xfrm>
            <a:off x="777240" y="2670048"/>
            <a:ext cx="5029200" cy="749808"/>
          </a:xfrm>
          <a:prstGeom prst="rect">
            <a:avLst/>
          </a:prstGeom>
          <a:solidFill>
            <a:srgbClr val="F6EAE6"/>
          </a:solidFill>
          <a:ln w="15875">
            <a:solidFill>
              <a:srgbClr val="8C3A2B"/>
            </a:solidFill>
            <a:prstDash val="solid"/>
          </a:ln>
        </p:spPr>
      </p:sp>
      <p:sp>
        <p:nvSpPr>
          <p:cNvPr id="12" name="Text 10"/>
          <p:cNvSpPr txBox="1"/>
          <p:nvPr/>
        </p:nvSpPr>
        <p:spPr>
          <a:xfrm>
            <a:off x="978408" y="2779776"/>
            <a:ext cx="4626864" cy="274320"/>
          </a:xfrm>
          <a:prstGeom prst="rect">
            <a:avLst/>
          </a:prstGeom>
          <a:noFill/>
          <a:ln/>
        </p:spPr>
        <p:txBody>
          <a:bodyPr wrap="square" lIns="0" tIns="0" rIns="0" bIns="0" rtlCol="0" anchor="ctr"/>
          <a:lstStyle/>
          <a:p>
            <a:pPr indent="0" marL="0">
              <a:buNone/>
            </a:pPr>
            <a:r>
              <a:rPr lang="en-US" sz="1450" b="1" dirty="0">
                <a:solidFill>
                  <a:srgbClr val="8C3A2B"/>
                </a:solidFill>
                <a:latin typeface="Cambria" pitchFamily="34" charset="0"/>
                <a:ea typeface="Cambria" pitchFamily="34" charset="-122"/>
                <a:cs typeface="Cambria" pitchFamily="34" charset="-120"/>
              </a:rPr>
              <a:t>Atmosferik</a:t>
            </a:r>
            <a:endParaRPr lang="en-US" sz="1450" dirty="0"/>
          </a:p>
        </p:txBody>
      </p:sp>
      <p:sp>
        <p:nvSpPr>
          <p:cNvPr id="13" name="Text 11"/>
          <p:cNvSpPr txBox="1"/>
          <p:nvPr/>
        </p:nvSpPr>
        <p:spPr>
          <a:xfrm>
            <a:off x="978408" y="3072384"/>
            <a:ext cx="4626864"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ışık, ses, koku, malzeme, sıcaklık</a:t>
            </a:r>
            <a:endParaRPr lang="en-US" sz="1050" dirty="0"/>
          </a:p>
        </p:txBody>
      </p:sp>
      <p:sp>
        <p:nvSpPr>
          <p:cNvPr id="14" name="Shape 12"/>
          <p:cNvSpPr/>
          <p:nvPr/>
        </p:nvSpPr>
        <p:spPr>
          <a:xfrm>
            <a:off x="777240" y="3566160"/>
            <a:ext cx="5029200" cy="749808"/>
          </a:xfrm>
          <a:prstGeom prst="rect">
            <a:avLst/>
          </a:prstGeom>
          <a:solidFill>
            <a:srgbClr val="F6EAE6"/>
          </a:solidFill>
          <a:ln w="15875">
            <a:solidFill>
              <a:srgbClr val="8C3A2B"/>
            </a:solidFill>
            <a:prstDash val="solid"/>
          </a:ln>
        </p:spPr>
      </p:sp>
      <p:sp>
        <p:nvSpPr>
          <p:cNvPr id="15" name="Text 13"/>
          <p:cNvSpPr txBox="1"/>
          <p:nvPr/>
        </p:nvSpPr>
        <p:spPr>
          <a:xfrm>
            <a:off x="978408" y="3675888"/>
            <a:ext cx="4626864" cy="274320"/>
          </a:xfrm>
          <a:prstGeom prst="rect">
            <a:avLst/>
          </a:prstGeom>
          <a:noFill/>
          <a:ln/>
        </p:spPr>
        <p:txBody>
          <a:bodyPr wrap="square" lIns="0" tIns="0" rIns="0" bIns="0" rtlCol="0" anchor="ctr"/>
          <a:lstStyle/>
          <a:p>
            <a:pPr indent="0" marL="0">
              <a:buNone/>
            </a:pPr>
            <a:r>
              <a:rPr lang="en-US" sz="1450" b="1" dirty="0">
                <a:solidFill>
                  <a:srgbClr val="8C3A2B"/>
                </a:solidFill>
                <a:latin typeface="Cambria" pitchFamily="34" charset="0"/>
                <a:ea typeface="Cambria" pitchFamily="34" charset="-122"/>
                <a:cs typeface="Cambria" pitchFamily="34" charset="-120"/>
              </a:rPr>
              <a:t>İletişimsel</a:t>
            </a:r>
            <a:endParaRPr lang="en-US" sz="1450" dirty="0"/>
          </a:p>
        </p:txBody>
      </p:sp>
      <p:sp>
        <p:nvSpPr>
          <p:cNvPr id="16" name="Text 14"/>
          <p:cNvSpPr txBox="1"/>
          <p:nvPr/>
        </p:nvSpPr>
        <p:spPr>
          <a:xfrm>
            <a:off x="978408" y="3968496"/>
            <a:ext cx="4626864"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tabela, etiket, yönlendirme, fiyat</a:t>
            </a:r>
            <a:endParaRPr lang="en-US" sz="1050" dirty="0"/>
          </a:p>
        </p:txBody>
      </p:sp>
      <p:sp>
        <p:nvSpPr>
          <p:cNvPr id="17" name="Shape 15"/>
          <p:cNvSpPr/>
          <p:nvPr/>
        </p:nvSpPr>
        <p:spPr>
          <a:xfrm>
            <a:off x="777240" y="4462272"/>
            <a:ext cx="5029200" cy="749808"/>
          </a:xfrm>
          <a:prstGeom prst="rect">
            <a:avLst/>
          </a:prstGeom>
          <a:solidFill>
            <a:srgbClr val="F6EAE6"/>
          </a:solidFill>
          <a:ln w="15875">
            <a:solidFill>
              <a:srgbClr val="8C3A2B"/>
            </a:solidFill>
            <a:prstDash val="solid"/>
          </a:ln>
        </p:spPr>
      </p:sp>
      <p:sp>
        <p:nvSpPr>
          <p:cNvPr id="18" name="Text 16"/>
          <p:cNvSpPr txBox="1"/>
          <p:nvPr/>
        </p:nvSpPr>
        <p:spPr>
          <a:xfrm>
            <a:off x="978408" y="4572000"/>
            <a:ext cx="4626864" cy="274320"/>
          </a:xfrm>
          <a:prstGeom prst="rect">
            <a:avLst/>
          </a:prstGeom>
          <a:noFill/>
          <a:ln/>
        </p:spPr>
        <p:txBody>
          <a:bodyPr wrap="square" lIns="0" tIns="0" rIns="0" bIns="0" rtlCol="0" anchor="ctr"/>
          <a:lstStyle/>
          <a:p>
            <a:pPr indent="0" marL="0">
              <a:buNone/>
            </a:pPr>
            <a:r>
              <a:rPr lang="en-US" sz="1450" b="1" dirty="0">
                <a:solidFill>
                  <a:srgbClr val="8C3A2B"/>
                </a:solidFill>
                <a:latin typeface="Cambria" pitchFamily="34" charset="0"/>
                <a:ea typeface="Cambria" pitchFamily="34" charset="-122"/>
                <a:cs typeface="Cambria" pitchFamily="34" charset="-120"/>
              </a:rPr>
              <a:t>Teknolojik</a:t>
            </a:r>
            <a:endParaRPr lang="en-US" sz="1450" dirty="0"/>
          </a:p>
        </p:txBody>
      </p:sp>
      <p:sp>
        <p:nvSpPr>
          <p:cNvPr id="19" name="Text 17"/>
          <p:cNvSpPr txBox="1"/>
          <p:nvPr/>
        </p:nvSpPr>
        <p:spPr>
          <a:xfrm>
            <a:off x="978408" y="4864608"/>
            <a:ext cx="4626864" cy="274320"/>
          </a:xfrm>
          <a:prstGeom prst="rect">
            <a:avLst/>
          </a:prstGeom>
          <a:noFill/>
          <a:ln/>
        </p:spPr>
        <p:txBody>
          <a:bodyPr wrap="square" lIns="0" tIns="0" rIns="0" bIns="0" rtlCol="0" anchor="ctr"/>
          <a:lstStyle/>
          <a:p>
            <a:pPr indent="0" marL="0">
              <a:buNone/>
            </a:pPr>
            <a:r>
              <a:rPr lang="en-US" sz="1050" dirty="0">
                <a:solidFill>
                  <a:srgbClr val="8C3A2B"/>
                </a:solidFill>
                <a:latin typeface="Calibri" pitchFamily="34" charset="0"/>
                <a:ea typeface="Calibri" pitchFamily="34" charset="-122"/>
                <a:cs typeface="Calibri" pitchFamily="34" charset="-120"/>
              </a:rPr>
              <a:t>ekran, uygulama, kiosk, ödeme</a:t>
            </a:r>
            <a:endParaRPr lang="en-US" sz="1050" dirty="0"/>
          </a:p>
        </p:txBody>
      </p:sp>
      <p:sp>
        <p:nvSpPr>
          <p:cNvPr id="20" name="Text 18"/>
          <p:cNvSpPr txBox="1"/>
          <p:nvPr/>
        </p:nvSpPr>
        <p:spPr>
          <a:xfrm>
            <a:off x="6601968" y="2670048"/>
            <a:ext cx="210312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Ürünle etkileşim</a:t>
            </a:r>
            <a:endParaRPr lang="en-US" sz="1350" dirty="0"/>
          </a:p>
        </p:txBody>
      </p:sp>
      <p:sp>
        <p:nvSpPr>
          <p:cNvPr id="21" name="Text 19"/>
          <p:cNvSpPr txBox="1"/>
          <p:nvPr/>
        </p:nvSpPr>
        <p:spPr>
          <a:xfrm>
            <a:off x="8759952" y="2688336"/>
            <a:ext cx="2651760" cy="54864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dokunma, deneme, tartma, koklama</a:t>
            </a:r>
            <a:endParaRPr lang="en-US" sz="1000" dirty="0"/>
          </a:p>
        </p:txBody>
      </p:sp>
      <p:sp>
        <p:nvSpPr>
          <p:cNvPr id="22" name="Shape 20"/>
          <p:cNvSpPr/>
          <p:nvPr/>
        </p:nvSpPr>
        <p:spPr>
          <a:xfrm>
            <a:off x="6409944" y="2761488"/>
            <a:ext cx="91440" cy="91440"/>
          </a:xfrm>
          <a:prstGeom prst="ellipse">
            <a:avLst/>
          </a:prstGeom>
          <a:solidFill>
            <a:srgbClr val="B9B9C0"/>
          </a:solidFill>
          <a:ln w="12700">
            <a:solidFill>
              <a:srgbClr val="B9B9C0"/>
            </a:solidFill>
            <a:prstDash val="solid"/>
          </a:ln>
        </p:spPr>
      </p:sp>
      <p:sp>
        <p:nvSpPr>
          <p:cNvPr id="23" name="Shape 21"/>
          <p:cNvSpPr/>
          <p:nvPr/>
        </p:nvSpPr>
        <p:spPr>
          <a:xfrm>
            <a:off x="6601968" y="3236976"/>
            <a:ext cx="4809744" cy="0"/>
          </a:xfrm>
          <a:prstGeom prst="line">
            <a:avLst/>
          </a:prstGeom>
          <a:noFill/>
          <a:ln w="6350">
            <a:solidFill>
              <a:srgbClr val="EDEDF0"/>
            </a:solidFill>
            <a:prstDash val="solid"/>
          </a:ln>
        </p:spPr>
      </p:sp>
      <p:sp>
        <p:nvSpPr>
          <p:cNvPr id="24" name="Text 22"/>
          <p:cNvSpPr txBox="1"/>
          <p:nvPr/>
        </p:nvSpPr>
        <p:spPr>
          <a:xfrm>
            <a:off x="6601968" y="3346704"/>
            <a:ext cx="210312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Çalışan–müşteri</a:t>
            </a:r>
            <a:endParaRPr lang="en-US" sz="1350" dirty="0"/>
          </a:p>
        </p:txBody>
      </p:sp>
      <p:sp>
        <p:nvSpPr>
          <p:cNvPr id="25" name="Text 23"/>
          <p:cNvSpPr txBox="1"/>
          <p:nvPr/>
        </p:nvSpPr>
        <p:spPr>
          <a:xfrm>
            <a:off x="8759952" y="3364992"/>
            <a:ext cx="2651760" cy="54864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karşılama, danışma, birebir ilgi</a:t>
            </a:r>
            <a:endParaRPr lang="en-US" sz="1000" dirty="0"/>
          </a:p>
        </p:txBody>
      </p:sp>
      <p:sp>
        <p:nvSpPr>
          <p:cNvPr id="26" name="Shape 24"/>
          <p:cNvSpPr/>
          <p:nvPr/>
        </p:nvSpPr>
        <p:spPr>
          <a:xfrm>
            <a:off x="6409944" y="3438144"/>
            <a:ext cx="91440" cy="91440"/>
          </a:xfrm>
          <a:prstGeom prst="ellipse">
            <a:avLst/>
          </a:prstGeom>
          <a:solidFill>
            <a:srgbClr val="B9B9C0"/>
          </a:solidFill>
          <a:ln w="12700">
            <a:solidFill>
              <a:srgbClr val="B9B9C0"/>
            </a:solidFill>
            <a:prstDash val="solid"/>
          </a:ln>
        </p:spPr>
      </p:sp>
      <p:sp>
        <p:nvSpPr>
          <p:cNvPr id="27" name="Shape 25"/>
          <p:cNvSpPr/>
          <p:nvPr/>
        </p:nvSpPr>
        <p:spPr>
          <a:xfrm>
            <a:off x="6601968" y="3913632"/>
            <a:ext cx="4809744" cy="0"/>
          </a:xfrm>
          <a:prstGeom prst="line">
            <a:avLst/>
          </a:prstGeom>
          <a:noFill/>
          <a:ln w="6350">
            <a:solidFill>
              <a:srgbClr val="EDEDF0"/>
            </a:solidFill>
            <a:prstDash val="solid"/>
          </a:ln>
        </p:spPr>
      </p:sp>
      <p:sp>
        <p:nvSpPr>
          <p:cNvPr id="28" name="Text 26"/>
          <p:cNvSpPr txBox="1"/>
          <p:nvPr/>
        </p:nvSpPr>
        <p:spPr>
          <a:xfrm>
            <a:off x="6601968" y="4023360"/>
            <a:ext cx="210312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Müşteri–müşteri</a:t>
            </a:r>
            <a:endParaRPr lang="en-US" sz="1350" dirty="0"/>
          </a:p>
        </p:txBody>
      </p:sp>
      <p:sp>
        <p:nvSpPr>
          <p:cNvPr id="29" name="Text 27"/>
          <p:cNvSpPr txBox="1"/>
          <p:nvPr/>
        </p:nvSpPr>
        <p:spPr>
          <a:xfrm>
            <a:off x="8759952" y="4041648"/>
            <a:ext cx="2651760" cy="54864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kalabalık, mahremiyet, başkasının bakışı</a:t>
            </a:r>
            <a:endParaRPr lang="en-US" sz="1000" dirty="0"/>
          </a:p>
        </p:txBody>
      </p:sp>
      <p:sp>
        <p:nvSpPr>
          <p:cNvPr id="30" name="Shape 28"/>
          <p:cNvSpPr/>
          <p:nvPr/>
        </p:nvSpPr>
        <p:spPr>
          <a:xfrm>
            <a:off x="6409944" y="4114800"/>
            <a:ext cx="91440" cy="91440"/>
          </a:xfrm>
          <a:prstGeom prst="ellipse">
            <a:avLst/>
          </a:prstGeom>
          <a:solidFill>
            <a:srgbClr val="B9B9C0"/>
          </a:solidFill>
          <a:ln w="12700">
            <a:solidFill>
              <a:srgbClr val="B9B9C0"/>
            </a:solidFill>
            <a:prstDash val="solid"/>
          </a:ln>
        </p:spPr>
      </p:sp>
      <p:sp>
        <p:nvSpPr>
          <p:cNvPr id="31" name="Shape 29"/>
          <p:cNvSpPr/>
          <p:nvPr/>
        </p:nvSpPr>
        <p:spPr>
          <a:xfrm>
            <a:off x="6601968" y="4590288"/>
            <a:ext cx="4809744" cy="0"/>
          </a:xfrm>
          <a:prstGeom prst="line">
            <a:avLst/>
          </a:prstGeom>
          <a:noFill/>
          <a:ln w="6350">
            <a:solidFill>
              <a:srgbClr val="EDEDF0"/>
            </a:solidFill>
            <a:prstDash val="solid"/>
          </a:ln>
        </p:spPr>
      </p:sp>
      <p:sp>
        <p:nvSpPr>
          <p:cNvPr id="32" name="Text 30"/>
          <p:cNvSpPr txBox="1"/>
          <p:nvPr/>
        </p:nvSpPr>
        <p:spPr>
          <a:xfrm>
            <a:off x="6601968" y="4700016"/>
            <a:ext cx="2103120" cy="274320"/>
          </a:xfrm>
          <a:prstGeom prst="rect">
            <a:avLst/>
          </a:prstGeom>
          <a:noFill/>
          <a:ln/>
        </p:spPr>
        <p:txBody>
          <a:bodyPr wrap="square" lIns="0" tIns="0" rIns="0" bIns="0" rtlCol="0" anchor="ctr"/>
          <a:lstStyle/>
          <a:p>
            <a:pPr indent="0" marL="0">
              <a:buNone/>
            </a:pPr>
            <a:r>
              <a:rPr lang="en-US" sz="1350" b="1" dirty="0">
                <a:solidFill>
                  <a:srgbClr val="16161A"/>
                </a:solidFill>
                <a:latin typeface="Cambria" pitchFamily="34" charset="0"/>
                <a:ea typeface="Cambria" pitchFamily="34" charset="-122"/>
                <a:cs typeface="Cambria" pitchFamily="34" charset="-120"/>
              </a:rPr>
              <a:t>Süreçle ilgili</a:t>
            </a:r>
            <a:endParaRPr lang="en-US" sz="1350" dirty="0"/>
          </a:p>
        </p:txBody>
      </p:sp>
      <p:sp>
        <p:nvSpPr>
          <p:cNvPr id="33" name="Text 31"/>
          <p:cNvSpPr txBox="1"/>
          <p:nvPr/>
        </p:nvSpPr>
        <p:spPr>
          <a:xfrm>
            <a:off x="8759952" y="4718304"/>
            <a:ext cx="2651760" cy="548640"/>
          </a:xfrm>
          <a:prstGeom prst="rect">
            <a:avLst/>
          </a:prstGeom>
          <a:noFill/>
          <a:ln/>
        </p:spPr>
        <p:txBody>
          <a:bodyPr wrap="square" lIns="0" tIns="0" rIns="0" bIns="0" rtlCol="0" anchor="ctr"/>
          <a:lstStyle/>
          <a:p>
            <a:pPr indent="0" marL="0">
              <a:lnSpc>
                <a:spcPts val="1250"/>
              </a:lnSpc>
              <a:buNone/>
            </a:pPr>
            <a:r>
              <a:rPr lang="en-US" sz="1000" dirty="0">
                <a:solidFill>
                  <a:srgbClr val="7A7A82"/>
                </a:solidFill>
                <a:latin typeface="Calibri" pitchFamily="34" charset="0"/>
                <a:ea typeface="Calibri" pitchFamily="34" charset="-122"/>
                <a:cs typeface="Calibri" pitchFamily="34" charset="-120"/>
              </a:rPr>
              <a:t>sıra, bekleme, kasa, iade akışı</a:t>
            </a:r>
            <a:endParaRPr lang="en-US" sz="1000" dirty="0"/>
          </a:p>
        </p:txBody>
      </p:sp>
      <p:sp>
        <p:nvSpPr>
          <p:cNvPr id="34" name="Shape 32"/>
          <p:cNvSpPr/>
          <p:nvPr/>
        </p:nvSpPr>
        <p:spPr>
          <a:xfrm>
            <a:off x="6409944" y="4791456"/>
            <a:ext cx="91440" cy="91440"/>
          </a:xfrm>
          <a:prstGeom prst="ellipse">
            <a:avLst/>
          </a:prstGeom>
          <a:solidFill>
            <a:srgbClr val="B9B9C0"/>
          </a:solidFill>
          <a:ln w="12700">
            <a:solidFill>
              <a:srgbClr val="B9B9C0"/>
            </a:solidFill>
            <a:prstDash val="solid"/>
          </a:ln>
        </p:spPr>
      </p:sp>
      <p:sp>
        <p:nvSpPr>
          <p:cNvPr id="35" name="Shape 33"/>
          <p:cNvSpPr/>
          <p:nvPr/>
        </p:nvSpPr>
        <p:spPr>
          <a:xfrm>
            <a:off x="5961888" y="2359152"/>
            <a:ext cx="0" cy="3035808"/>
          </a:xfrm>
          <a:prstGeom prst="line">
            <a:avLst/>
          </a:prstGeom>
          <a:noFill/>
          <a:ln w="9525">
            <a:solidFill>
              <a:srgbClr val="C9C9CF"/>
            </a:solidFill>
            <a:prstDash val="solid"/>
          </a:ln>
        </p:spPr>
      </p:sp>
      <p:sp>
        <p:nvSpPr>
          <p:cNvPr id="36" name="Text 34"/>
          <p:cNvSpPr txBox="1"/>
          <p:nvPr/>
        </p:nvSpPr>
        <p:spPr>
          <a:xfrm>
            <a:off x="777240" y="5577840"/>
            <a:ext cx="10634472" cy="502920"/>
          </a:xfrm>
          <a:prstGeom prst="rect">
            <a:avLst/>
          </a:prstGeom>
          <a:noFill/>
          <a:ln/>
        </p:spPr>
        <p:txBody>
          <a:bodyPr wrap="square" lIns="0" tIns="0" rIns="0" bIns="0" rtlCol="0" anchor="ctr"/>
          <a:lstStyle/>
          <a:p>
            <a:pPr algn="l" indent="0" marL="0">
              <a:lnSpc>
                <a:spcPts val="1600"/>
              </a:lnSpc>
              <a:buNone/>
            </a:pPr>
            <a:r>
              <a:rPr lang="en-US" sz="1200" dirty="0">
                <a:solidFill>
                  <a:srgbClr val="2B2B31"/>
                </a:solidFill>
                <a:latin typeface="Cambria" pitchFamily="34" charset="0"/>
                <a:ea typeface="Cambria" pitchFamily="34" charset="-122"/>
                <a:cs typeface="Cambria" pitchFamily="34" charset="-120"/>
              </a:rPr>
              <a:t>Ölçümler atmosferik temas noktalarının marka sadakatine en güçlü katkıyı yaptığını gösteriyor. Müşteri–müşteri teması ise en çok atlanan başlık: kalabalık ve mahremiyet bir tasarım konusudur.</a:t>
            </a:r>
            <a:endParaRPr lang="en-US" sz="1200" dirty="0"/>
          </a:p>
        </p:txBody>
      </p:sp>
      <p:sp>
        <p:nvSpPr>
          <p:cNvPr id="37" name="Text 35"/>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Stein &amp; Ramaseshan (2016), Journal of Retailing and Consumer Services, 30, 8–19.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IV · YOLCULUK</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Sekiz adımlı yolculuk ve iç mekâna uyarlanması</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777240" y="1664208"/>
            <a:ext cx="10634472" cy="621792"/>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Aşağıdaki sekiz adımlı model, deneyim tasarımı ajansı I-AM Istanbul tarafından perakende iç mekân tasarımının kendine özgü sorunları için geliştirildi. İç mekân tasarımı için uyarlanırken iki adım çıkarıldı, iki yeni modül eklendi.</a:t>
            </a:r>
            <a:endParaRPr lang="en-US" sz="1350" dirty="0"/>
          </a:p>
        </p:txBody>
      </p:sp>
      <p:sp>
        <p:nvSpPr>
          <p:cNvPr id="7" name="Shape 5"/>
          <p:cNvSpPr/>
          <p:nvPr/>
        </p:nvSpPr>
        <p:spPr>
          <a:xfrm>
            <a:off x="1102763" y="3762555"/>
            <a:ext cx="667984" cy="337819"/>
          </a:xfrm>
          <a:prstGeom prst="line">
            <a:avLst/>
          </a:prstGeom>
          <a:noFill/>
          <a:ln w="12700">
            <a:solidFill>
              <a:srgbClr val="B9B9C0"/>
            </a:solidFill>
            <a:prstDash val="dash"/>
          </a:ln>
        </p:spPr>
      </p:sp>
      <p:sp>
        <p:nvSpPr>
          <p:cNvPr id="8" name="Shape 6"/>
          <p:cNvSpPr/>
          <p:nvPr/>
        </p:nvSpPr>
        <p:spPr>
          <a:xfrm>
            <a:off x="1770747" y="3499664"/>
            <a:ext cx="1398155" cy="262892"/>
          </a:xfrm>
          <a:prstGeom prst="line">
            <a:avLst/>
          </a:prstGeom>
          <a:noFill/>
          <a:ln w="20320">
            <a:solidFill>
              <a:srgbClr val="8C3A2B"/>
            </a:solidFill>
            <a:prstDash val="solid"/>
          </a:ln>
        </p:spPr>
      </p:sp>
      <p:sp>
        <p:nvSpPr>
          <p:cNvPr id="9" name="Shape 7"/>
          <p:cNvSpPr/>
          <p:nvPr/>
        </p:nvSpPr>
        <p:spPr>
          <a:xfrm>
            <a:off x="3168903" y="3356095"/>
            <a:ext cx="1892212" cy="143568"/>
          </a:xfrm>
          <a:prstGeom prst="line">
            <a:avLst/>
          </a:prstGeom>
          <a:noFill/>
          <a:ln w="20320">
            <a:solidFill>
              <a:srgbClr val="8C3A2B"/>
            </a:solidFill>
            <a:prstDash val="solid"/>
          </a:ln>
        </p:spPr>
      </p:sp>
      <p:sp>
        <p:nvSpPr>
          <p:cNvPr id="10" name="Shape 8"/>
          <p:cNvSpPr/>
          <p:nvPr/>
        </p:nvSpPr>
        <p:spPr>
          <a:xfrm>
            <a:off x="5061115" y="3356095"/>
            <a:ext cx="2066722" cy="0"/>
          </a:xfrm>
          <a:prstGeom prst="line">
            <a:avLst/>
          </a:prstGeom>
          <a:noFill/>
          <a:ln w="20320">
            <a:solidFill>
              <a:srgbClr val="8C3A2B"/>
            </a:solidFill>
            <a:prstDash val="solid"/>
          </a:ln>
        </p:spPr>
      </p:sp>
      <p:sp>
        <p:nvSpPr>
          <p:cNvPr id="11" name="Shape 9"/>
          <p:cNvSpPr/>
          <p:nvPr/>
        </p:nvSpPr>
        <p:spPr>
          <a:xfrm>
            <a:off x="7127837" y="3356095"/>
            <a:ext cx="1892212" cy="143568"/>
          </a:xfrm>
          <a:prstGeom prst="line">
            <a:avLst/>
          </a:prstGeom>
          <a:noFill/>
          <a:ln w="20320">
            <a:solidFill>
              <a:srgbClr val="8C3A2B"/>
            </a:solidFill>
            <a:prstDash val="solid"/>
          </a:ln>
        </p:spPr>
      </p:sp>
      <p:sp>
        <p:nvSpPr>
          <p:cNvPr id="12" name="Shape 10"/>
          <p:cNvSpPr/>
          <p:nvPr/>
        </p:nvSpPr>
        <p:spPr>
          <a:xfrm>
            <a:off x="9020049" y="3499664"/>
            <a:ext cx="1398155" cy="262892"/>
          </a:xfrm>
          <a:prstGeom prst="line">
            <a:avLst/>
          </a:prstGeom>
          <a:noFill/>
          <a:ln w="20320">
            <a:solidFill>
              <a:srgbClr val="8C3A2B"/>
            </a:solidFill>
            <a:prstDash val="solid"/>
          </a:ln>
        </p:spPr>
      </p:sp>
      <p:sp>
        <p:nvSpPr>
          <p:cNvPr id="13" name="Shape 11"/>
          <p:cNvSpPr/>
          <p:nvPr/>
        </p:nvSpPr>
        <p:spPr>
          <a:xfrm>
            <a:off x="10418205" y="3762555"/>
            <a:ext cx="667984" cy="337819"/>
          </a:xfrm>
          <a:prstGeom prst="line">
            <a:avLst/>
          </a:prstGeom>
          <a:noFill/>
          <a:ln w="12700">
            <a:solidFill>
              <a:srgbClr val="B9B9C0"/>
            </a:solidFill>
            <a:prstDash val="dash"/>
          </a:ln>
        </p:spPr>
      </p:sp>
      <p:sp>
        <p:nvSpPr>
          <p:cNvPr id="14" name="Shape 12"/>
          <p:cNvSpPr/>
          <p:nvPr/>
        </p:nvSpPr>
        <p:spPr>
          <a:xfrm>
            <a:off x="993035" y="3990647"/>
            <a:ext cx="219456" cy="219456"/>
          </a:xfrm>
          <a:prstGeom prst="ellipse">
            <a:avLst/>
          </a:prstGeom>
          <a:solidFill>
            <a:srgbClr val="B9B9C0"/>
          </a:solidFill>
          <a:ln w="12700">
            <a:solidFill>
              <a:srgbClr val="B9B9C0"/>
            </a:solidFill>
            <a:prstDash val="solid"/>
          </a:ln>
        </p:spPr>
      </p:sp>
      <p:sp>
        <p:nvSpPr>
          <p:cNvPr id="15" name="Text 13"/>
          <p:cNvSpPr txBox="1"/>
          <p:nvPr/>
        </p:nvSpPr>
        <p:spPr>
          <a:xfrm>
            <a:off x="993035" y="3990647"/>
            <a:ext cx="219456"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6" name="Text 14"/>
          <p:cNvSpPr txBox="1"/>
          <p:nvPr/>
        </p:nvSpPr>
        <p:spPr>
          <a:xfrm>
            <a:off x="508403" y="3496871"/>
            <a:ext cx="1188720" cy="347472"/>
          </a:xfrm>
          <a:prstGeom prst="rect">
            <a:avLst/>
          </a:prstGeom>
          <a:noFill/>
          <a:ln/>
        </p:spPr>
        <p:txBody>
          <a:bodyPr wrap="square" lIns="0" tIns="0" rIns="0" bIns="0" rtlCol="0" anchor="b"/>
          <a:lstStyle/>
          <a:p>
            <a:pPr algn="ctr" indent="0" marL="0">
              <a:lnSpc>
                <a:spcPts val="1500"/>
              </a:lnSpc>
              <a:buNone/>
            </a:pPr>
            <a:r>
              <a:rPr lang="en-US" sz="1150" b="1" dirty="0">
                <a:solidFill>
                  <a:srgbClr val="7A7A82"/>
                </a:solidFill>
                <a:latin typeface="Cambria" pitchFamily="34" charset="0"/>
                <a:ea typeface="Cambria" pitchFamily="34" charset="-122"/>
                <a:cs typeface="Cambria" pitchFamily="34" charset="-120"/>
              </a:rPr>
              <a:t>Farkındalık</a:t>
            </a:r>
            <a:endParaRPr lang="en-US" sz="1150" dirty="0"/>
          </a:p>
        </p:txBody>
      </p:sp>
      <p:sp>
        <p:nvSpPr>
          <p:cNvPr id="17" name="Text 15"/>
          <p:cNvSpPr txBox="1"/>
          <p:nvPr/>
        </p:nvSpPr>
        <p:spPr>
          <a:xfrm>
            <a:off x="389531" y="3259127"/>
            <a:ext cx="1426464" cy="237744"/>
          </a:xfrm>
          <a:prstGeom prst="rect">
            <a:avLst/>
          </a:prstGeom>
          <a:noFill/>
          <a:ln/>
        </p:spPr>
        <p:txBody>
          <a:bodyPr wrap="square" lIns="0" tIns="0" rIns="0" bIns="0" rtlCol="0" anchor="ctr"/>
          <a:lstStyle/>
          <a:p>
            <a:pPr algn="ctr" indent="0" marL="0">
              <a:buNone/>
            </a:pPr>
            <a:r>
              <a:rPr lang="en-US" sz="800" i="1" dirty="0">
                <a:solidFill>
                  <a:srgbClr val="A6A6AC"/>
                </a:solidFill>
                <a:latin typeface="Calibri" pitchFamily="34" charset="0"/>
                <a:ea typeface="Calibri" pitchFamily="34" charset="-122"/>
                <a:cs typeface="Calibri" pitchFamily="34" charset="-120"/>
              </a:rPr>
              <a:t>çıkarıldı</a:t>
            </a:r>
            <a:endParaRPr lang="en-US" sz="800" dirty="0"/>
          </a:p>
        </p:txBody>
      </p:sp>
      <p:sp>
        <p:nvSpPr>
          <p:cNvPr id="18" name="Shape 16"/>
          <p:cNvSpPr/>
          <p:nvPr/>
        </p:nvSpPr>
        <p:spPr>
          <a:xfrm>
            <a:off x="1606155" y="3597963"/>
            <a:ext cx="329184" cy="329184"/>
          </a:xfrm>
          <a:prstGeom prst="ellipse">
            <a:avLst/>
          </a:prstGeom>
          <a:solidFill>
            <a:srgbClr val="8C3A2B"/>
          </a:solidFill>
          <a:ln w="12700">
            <a:solidFill>
              <a:srgbClr val="8C3A2B"/>
            </a:solidFill>
            <a:prstDash val="solid"/>
          </a:ln>
        </p:spPr>
      </p:sp>
      <p:sp>
        <p:nvSpPr>
          <p:cNvPr id="19" name="Text 17"/>
          <p:cNvSpPr txBox="1"/>
          <p:nvPr/>
        </p:nvSpPr>
        <p:spPr>
          <a:xfrm>
            <a:off x="1606155" y="3597963"/>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20" name="Text 18"/>
          <p:cNvSpPr txBox="1"/>
          <p:nvPr/>
        </p:nvSpPr>
        <p:spPr>
          <a:xfrm>
            <a:off x="1176387" y="4000299"/>
            <a:ext cx="1188720" cy="347472"/>
          </a:xfrm>
          <a:prstGeom prst="rect">
            <a:avLst/>
          </a:prstGeom>
          <a:noFill/>
          <a:ln/>
        </p:spPr>
        <p:txBody>
          <a:bodyPr wrap="square" lIns="0" tIns="0" rIns="0" bIns="0" rtlCol="0" anchor="t"/>
          <a:lstStyle/>
          <a:p>
            <a:pPr algn="ctr" indent="0" marL="0">
              <a:lnSpc>
                <a:spcPts val="1500"/>
              </a:lnSpc>
              <a:buNone/>
            </a:pPr>
            <a:r>
              <a:rPr lang="en-US" sz="1150" b="1" dirty="0">
                <a:solidFill>
                  <a:srgbClr val="16161A"/>
                </a:solidFill>
                <a:latin typeface="Cambria" pitchFamily="34" charset="0"/>
                <a:ea typeface="Cambria" pitchFamily="34" charset="-122"/>
                <a:cs typeface="Cambria" pitchFamily="34" charset="-120"/>
              </a:rPr>
              <a:t>Çekim</a:t>
            </a:r>
            <a:endParaRPr lang="en-US" sz="1150" dirty="0"/>
          </a:p>
        </p:txBody>
      </p:sp>
      <p:sp>
        <p:nvSpPr>
          <p:cNvPr id="21" name="Shape 19"/>
          <p:cNvSpPr/>
          <p:nvPr/>
        </p:nvSpPr>
        <p:spPr>
          <a:xfrm>
            <a:off x="3004311" y="3335072"/>
            <a:ext cx="329184" cy="329184"/>
          </a:xfrm>
          <a:prstGeom prst="ellipse">
            <a:avLst/>
          </a:prstGeom>
          <a:solidFill>
            <a:srgbClr val="8C3A2B"/>
          </a:solidFill>
          <a:ln w="12700">
            <a:solidFill>
              <a:srgbClr val="8C3A2B"/>
            </a:solidFill>
            <a:prstDash val="solid"/>
          </a:ln>
        </p:spPr>
      </p:sp>
      <p:sp>
        <p:nvSpPr>
          <p:cNvPr id="22" name="Text 20"/>
          <p:cNvSpPr txBox="1"/>
          <p:nvPr/>
        </p:nvSpPr>
        <p:spPr>
          <a:xfrm>
            <a:off x="3004311" y="333507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3" name="Text 21"/>
          <p:cNvSpPr txBox="1"/>
          <p:nvPr/>
        </p:nvSpPr>
        <p:spPr>
          <a:xfrm>
            <a:off x="2574543" y="2896160"/>
            <a:ext cx="1188720" cy="347472"/>
          </a:xfrm>
          <a:prstGeom prst="rect">
            <a:avLst/>
          </a:prstGeom>
          <a:noFill/>
          <a:ln/>
        </p:spPr>
        <p:txBody>
          <a:bodyPr wrap="square" lIns="0" tIns="0" rIns="0" bIns="0" rtlCol="0" anchor="b"/>
          <a:lstStyle/>
          <a:p>
            <a:pPr algn="ctr" indent="0" marL="0">
              <a:lnSpc>
                <a:spcPts val="1500"/>
              </a:lnSpc>
              <a:buNone/>
            </a:pPr>
            <a:r>
              <a:rPr lang="en-US" sz="1150" b="1" dirty="0">
                <a:solidFill>
                  <a:srgbClr val="16161A"/>
                </a:solidFill>
                <a:latin typeface="Cambria" pitchFamily="34" charset="0"/>
                <a:ea typeface="Cambria" pitchFamily="34" charset="-122"/>
                <a:cs typeface="Cambria" pitchFamily="34" charset="-120"/>
              </a:rPr>
              <a:t>Eşik</a:t>
            </a:r>
            <a:endParaRPr lang="en-US" sz="1150" dirty="0"/>
          </a:p>
        </p:txBody>
      </p:sp>
      <p:sp>
        <p:nvSpPr>
          <p:cNvPr id="24" name="Shape 22"/>
          <p:cNvSpPr/>
          <p:nvPr/>
        </p:nvSpPr>
        <p:spPr>
          <a:xfrm>
            <a:off x="4896523" y="3191503"/>
            <a:ext cx="329184" cy="329184"/>
          </a:xfrm>
          <a:prstGeom prst="ellipse">
            <a:avLst/>
          </a:prstGeom>
          <a:solidFill>
            <a:srgbClr val="8C3A2B"/>
          </a:solidFill>
          <a:ln w="12700">
            <a:solidFill>
              <a:srgbClr val="8C3A2B"/>
            </a:solidFill>
            <a:prstDash val="solid"/>
          </a:ln>
        </p:spPr>
      </p:sp>
      <p:sp>
        <p:nvSpPr>
          <p:cNvPr id="25" name="Text 23"/>
          <p:cNvSpPr txBox="1"/>
          <p:nvPr/>
        </p:nvSpPr>
        <p:spPr>
          <a:xfrm>
            <a:off x="4896523" y="3191503"/>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6" name="Text 24"/>
          <p:cNvSpPr txBox="1"/>
          <p:nvPr/>
        </p:nvSpPr>
        <p:spPr>
          <a:xfrm>
            <a:off x="4466755" y="3593839"/>
            <a:ext cx="1188720" cy="347472"/>
          </a:xfrm>
          <a:prstGeom prst="rect">
            <a:avLst/>
          </a:prstGeom>
          <a:noFill/>
          <a:ln/>
        </p:spPr>
        <p:txBody>
          <a:bodyPr wrap="square" lIns="0" tIns="0" rIns="0" bIns="0" rtlCol="0" anchor="t"/>
          <a:lstStyle/>
          <a:p>
            <a:pPr algn="ctr" indent="0" marL="0">
              <a:lnSpc>
                <a:spcPts val="1500"/>
              </a:lnSpc>
              <a:buNone/>
            </a:pPr>
            <a:r>
              <a:rPr lang="en-US" sz="1150" b="1" dirty="0">
                <a:solidFill>
                  <a:srgbClr val="16161A"/>
                </a:solidFill>
                <a:latin typeface="Cambria" pitchFamily="34" charset="0"/>
                <a:ea typeface="Cambria" pitchFamily="34" charset="-122"/>
                <a:cs typeface="Cambria" pitchFamily="34" charset="-120"/>
              </a:rPr>
              <a:t>Yönelme</a:t>
            </a:r>
            <a:endParaRPr lang="en-US" sz="1150" dirty="0"/>
          </a:p>
        </p:txBody>
      </p:sp>
      <p:sp>
        <p:nvSpPr>
          <p:cNvPr id="27" name="Shape 25"/>
          <p:cNvSpPr/>
          <p:nvPr/>
        </p:nvSpPr>
        <p:spPr>
          <a:xfrm>
            <a:off x="6963245" y="3191503"/>
            <a:ext cx="329184" cy="329184"/>
          </a:xfrm>
          <a:prstGeom prst="ellipse">
            <a:avLst/>
          </a:prstGeom>
          <a:solidFill>
            <a:srgbClr val="8C3A2B"/>
          </a:solidFill>
          <a:ln w="12700">
            <a:solidFill>
              <a:srgbClr val="8C3A2B"/>
            </a:solidFill>
            <a:prstDash val="solid"/>
          </a:ln>
        </p:spPr>
      </p:sp>
      <p:sp>
        <p:nvSpPr>
          <p:cNvPr id="28" name="Text 26"/>
          <p:cNvSpPr txBox="1"/>
          <p:nvPr/>
        </p:nvSpPr>
        <p:spPr>
          <a:xfrm>
            <a:off x="6963245" y="3191503"/>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6533477" y="2752591"/>
            <a:ext cx="1188720" cy="347472"/>
          </a:xfrm>
          <a:prstGeom prst="rect">
            <a:avLst/>
          </a:prstGeom>
          <a:noFill/>
          <a:ln/>
        </p:spPr>
        <p:txBody>
          <a:bodyPr wrap="square" lIns="0" tIns="0" rIns="0" bIns="0" rtlCol="0" anchor="b"/>
          <a:lstStyle/>
          <a:p>
            <a:pPr algn="ctr" indent="0" marL="0">
              <a:lnSpc>
                <a:spcPts val="1500"/>
              </a:lnSpc>
              <a:buNone/>
            </a:pPr>
            <a:r>
              <a:rPr lang="en-US" sz="1150" b="1" dirty="0">
                <a:solidFill>
                  <a:srgbClr val="16161A"/>
                </a:solidFill>
                <a:latin typeface="Cambria" pitchFamily="34" charset="0"/>
                <a:ea typeface="Cambria" pitchFamily="34" charset="-122"/>
                <a:cs typeface="Cambria" pitchFamily="34" charset="-120"/>
              </a:rPr>
              <a:t>Gezinme</a:t>
            </a:r>
            <a:endParaRPr lang="en-US" sz="1150" dirty="0"/>
          </a:p>
        </p:txBody>
      </p:sp>
      <p:sp>
        <p:nvSpPr>
          <p:cNvPr id="30" name="Shape 28"/>
          <p:cNvSpPr/>
          <p:nvPr/>
        </p:nvSpPr>
        <p:spPr>
          <a:xfrm>
            <a:off x="8782305" y="3261920"/>
            <a:ext cx="475488" cy="475488"/>
          </a:xfrm>
          <a:prstGeom prst="ellipse">
            <a:avLst/>
          </a:prstGeom>
          <a:ln w="12700">
            <a:solidFill>
              <a:srgbClr val="8C3A2B"/>
            </a:solidFill>
            <a:prstDash val="dash"/>
          </a:ln>
        </p:spPr>
      </p:sp>
      <p:sp>
        <p:nvSpPr>
          <p:cNvPr id="31" name="Shape 29"/>
          <p:cNvSpPr/>
          <p:nvPr/>
        </p:nvSpPr>
        <p:spPr>
          <a:xfrm>
            <a:off x="8855457" y="3335072"/>
            <a:ext cx="329184" cy="329184"/>
          </a:xfrm>
          <a:prstGeom prst="ellipse">
            <a:avLst/>
          </a:prstGeom>
          <a:solidFill>
            <a:srgbClr val="8C3A2B"/>
          </a:solidFill>
          <a:ln w="12700">
            <a:solidFill>
              <a:srgbClr val="8C3A2B"/>
            </a:solidFill>
            <a:prstDash val="solid"/>
          </a:ln>
        </p:spPr>
      </p:sp>
      <p:sp>
        <p:nvSpPr>
          <p:cNvPr id="32" name="Text 30"/>
          <p:cNvSpPr txBox="1"/>
          <p:nvPr/>
        </p:nvSpPr>
        <p:spPr>
          <a:xfrm>
            <a:off x="8855457" y="333507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8425689" y="3737408"/>
            <a:ext cx="1188720" cy="347472"/>
          </a:xfrm>
          <a:prstGeom prst="rect">
            <a:avLst/>
          </a:prstGeom>
          <a:noFill/>
          <a:ln/>
        </p:spPr>
        <p:txBody>
          <a:bodyPr wrap="square" lIns="0" tIns="0" rIns="0" bIns="0" rtlCol="0" anchor="t"/>
          <a:lstStyle/>
          <a:p>
            <a:pPr algn="ctr" indent="0" marL="0">
              <a:lnSpc>
                <a:spcPts val="1500"/>
              </a:lnSpc>
              <a:buNone/>
            </a:pPr>
            <a:r>
              <a:rPr lang="en-US" sz="1150" b="1" dirty="0">
                <a:solidFill>
                  <a:srgbClr val="16161A"/>
                </a:solidFill>
                <a:latin typeface="Cambria" pitchFamily="34" charset="0"/>
                <a:ea typeface="Cambria" pitchFamily="34" charset="-122"/>
                <a:cs typeface="Cambria" pitchFamily="34" charset="-120"/>
              </a:rPr>
              <a:t>Etkileşim</a:t>
            </a:r>
            <a:endParaRPr lang="en-US" sz="1150" dirty="0"/>
          </a:p>
        </p:txBody>
      </p:sp>
      <p:sp>
        <p:nvSpPr>
          <p:cNvPr id="34" name="Text 32"/>
          <p:cNvSpPr txBox="1"/>
          <p:nvPr/>
        </p:nvSpPr>
        <p:spPr>
          <a:xfrm>
            <a:off x="8306817" y="4084880"/>
            <a:ext cx="1426464" cy="237744"/>
          </a:xfrm>
          <a:prstGeom prst="rect">
            <a:avLst/>
          </a:prstGeom>
          <a:noFill/>
          <a:ln/>
        </p:spPr>
        <p:txBody>
          <a:bodyPr wrap="square" lIns="0" tIns="0" rIns="0" bIns="0" rtlCol="0" anchor="ctr"/>
          <a:lstStyle/>
          <a:p>
            <a:pPr algn="ctr" indent="0" marL="0">
              <a:buNone/>
            </a:pPr>
            <a:r>
              <a:rPr lang="en-US" sz="800" i="1" dirty="0">
                <a:solidFill>
                  <a:srgbClr val="7A7A82"/>
                </a:solidFill>
                <a:latin typeface="Calibri" pitchFamily="34" charset="0"/>
                <a:ea typeface="Calibri" pitchFamily="34" charset="-122"/>
                <a:cs typeface="Calibri" pitchFamily="34" charset="-120"/>
              </a:rPr>
              <a:t>yeniden tanımlandı</a:t>
            </a:r>
            <a:endParaRPr lang="en-US" sz="800" dirty="0"/>
          </a:p>
        </p:txBody>
      </p:sp>
      <p:sp>
        <p:nvSpPr>
          <p:cNvPr id="35" name="Shape 33"/>
          <p:cNvSpPr/>
          <p:nvPr/>
        </p:nvSpPr>
        <p:spPr>
          <a:xfrm>
            <a:off x="10180461" y="3524811"/>
            <a:ext cx="475488" cy="475488"/>
          </a:xfrm>
          <a:prstGeom prst="ellipse">
            <a:avLst/>
          </a:prstGeom>
          <a:ln w="12700">
            <a:solidFill>
              <a:srgbClr val="8C3A2B"/>
            </a:solidFill>
            <a:prstDash val="dash"/>
          </a:ln>
        </p:spPr>
      </p:sp>
      <p:sp>
        <p:nvSpPr>
          <p:cNvPr id="36" name="Shape 34"/>
          <p:cNvSpPr/>
          <p:nvPr/>
        </p:nvSpPr>
        <p:spPr>
          <a:xfrm>
            <a:off x="10253613" y="3597963"/>
            <a:ext cx="329184" cy="329184"/>
          </a:xfrm>
          <a:prstGeom prst="ellipse">
            <a:avLst/>
          </a:prstGeom>
          <a:solidFill>
            <a:srgbClr val="8C3A2B"/>
          </a:solidFill>
          <a:ln w="12700">
            <a:solidFill>
              <a:srgbClr val="8C3A2B"/>
            </a:solidFill>
            <a:prstDash val="solid"/>
          </a:ln>
        </p:spPr>
      </p:sp>
      <p:sp>
        <p:nvSpPr>
          <p:cNvPr id="37" name="Text 35"/>
          <p:cNvSpPr txBox="1"/>
          <p:nvPr/>
        </p:nvSpPr>
        <p:spPr>
          <a:xfrm>
            <a:off x="10253613" y="3597963"/>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7</a:t>
            </a:r>
            <a:endParaRPr lang="en-US" sz="1050" dirty="0"/>
          </a:p>
        </p:txBody>
      </p:sp>
      <p:sp>
        <p:nvSpPr>
          <p:cNvPr id="38" name="Text 36"/>
          <p:cNvSpPr txBox="1"/>
          <p:nvPr/>
        </p:nvSpPr>
        <p:spPr>
          <a:xfrm>
            <a:off x="9823845" y="3159051"/>
            <a:ext cx="1188720" cy="347472"/>
          </a:xfrm>
          <a:prstGeom prst="rect">
            <a:avLst/>
          </a:prstGeom>
          <a:noFill/>
          <a:ln/>
        </p:spPr>
        <p:txBody>
          <a:bodyPr wrap="square" lIns="0" tIns="0" rIns="0" bIns="0" rtlCol="0" anchor="b"/>
          <a:lstStyle/>
          <a:p>
            <a:pPr algn="ctr" indent="0" marL="0">
              <a:lnSpc>
                <a:spcPts val="1500"/>
              </a:lnSpc>
              <a:buNone/>
            </a:pPr>
            <a:r>
              <a:rPr lang="en-US" sz="1150" b="1" dirty="0">
                <a:solidFill>
                  <a:srgbClr val="16161A"/>
                </a:solidFill>
                <a:latin typeface="Cambria" pitchFamily="34" charset="0"/>
                <a:ea typeface="Cambria" pitchFamily="34" charset="-122"/>
                <a:cs typeface="Cambria" pitchFamily="34" charset="-120"/>
              </a:rPr>
              <a:t>Satın alma</a:t>
            </a:r>
            <a:endParaRPr lang="en-US" sz="1150" dirty="0"/>
          </a:p>
        </p:txBody>
      </p:sp>
      <p:sp>
        <p:nvSpPr>
          <p:cNvPr id="39" name="Text 37"/>
          <p:cNvSpPr txBox="1"/>
          <p:nvPr/>
        </p:nvSpPr>
        <p:spPr>
          <a:xfrm>
            <a:off x="9704973" y="2921307"/>
            <a:ext cx="1426464" cy="237744"/>
          </a:xfrm>
          <a:prstGeom prst="rect">
            <a:avLst/>
          </a:prstGeom>
          <a:noFill/>
          <a:ln/>
        </p:spPr>
        <p:txBody>
          <a:bodyPr wrap="square" lIns="0" tIns="0" rIns="0" bIns="0" rtlCol="0" anchor="ctr"/>
          <a:lstStyle/>
          <a:p>
            <a:pPr algn="ctr" indent="0" marL="0">
              <a:buNone/>
            </a:pPr>
            <a:r>
              <a:rPr lang="en-US" sz="800" i="1" dirty="0">
                <a:solidFill>
                  <a:srgbClr val="7A7A82"/>
                </a:solidFill>
                <a:latin typeface="Calibri" pitchFamily="34" charset="0"/>
                <a:ea typeface="Calibri" pitchFamily="34" charset="-122"/>
                <a:cs typeface="Calibri" pitchFamily="34" charset="-120"/>
              </a:rPr>
              <a:t>yeniden tanımlandı</a:t>
            </a:r>
            <a:endParaRPr lang="en-US" sz="800" dirty="0"/>
          </a:p>
        </p:txBody>
      </p:sp>
      <p:sp>
        <p:nvSpPr>
          <p:cNvPr id="40" name="Shape 38"/>
          <p:cNvSpPr/>
          <p:nvPr/>
        </p:nvSpPr>
        <p:spPr>
          <a:xfrm>
            <a:off x="10976461" y="3990647"/>
            <a:ext cx="219456" cy="219456"/>
          </a:xfrm>
          <a:prstGeom prst="ellipse">
            <a:avLst/>
          </a:prstGeom>
          <a:solidFill>
            <a:srgbClr val="B9B9C0"/>
          </a:solidFill>
          <a:ln w="12700">
            <a:solidFill>
              <a:srgbClr val="B9B9C0"/>
            </a:solidFill>
            <a:prstDash val="solid"/>
          </a:ln>
        </p:spPr>
      </p:sp>
      <p:sp>
        <p:nvSpPr>
          <p:cNvPr id="41" name="Text 39"/>
          <p:cNvSpPr txBox="1"/>
          <p:nvPr/>
        </p:nvSpPr>
        <p:spPr>
          <a:xfrm>
            <a:off x="10976461" y="3990647"/>
            <a:ext cx="219456"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8</a:t>
            </a:r>
            <a:endParaRPr lang="en-US" sz="800" dirty="0"/>
          </a:p>
        </p:txBody>
      </p:sp>
      <p:sp>
        <p:nvSpPr>
          <p:cNvPr id="42" name="Text 40"/>
          <p:cNvSpPr txBox="1"/>
          <p:nvPr/>
        </p:nvSpPr>
        <p:spPr>
          <a:xfrm>
            <a:off x="10491829" y="4338119"/>
            <a:ext cx="1188720" cy="347472"/>
          </a:xfrm>
          <a:prstGeom prst="rect">
            <a:avLst/>
          </a:prstGeom>
          <a:noFill/>
          <a:ln/>
        </p:spPr>
        <p:txBody>
          <a:bodyPr wrap="square" lIns="0" tIns="0" rIns="0" bIns="0" rtlCol="0" anchor="t"/>
          <a:lstStyle/>
          <a:p>
            <a:pPr algn="ctr" indent="0" marL="0">
              <a:lnSpc>
                <a:spcPts val="1500"/>
              </a:lnSpc>
              <a:buNone/>
            </a:pPr>
            <a:r>
              <a:rPr lang="en-US" sz="1150" b="1" dirty="0">
                <a:solidFill>
                  <a:srgbClr val="7A7A82"/>
                </a:solidFill>
                <a:latin typeface="Cambria" pitchFamily="34" charset="0"/>
                <a:ea typeface="Cambria" pitchFamily="34" charset="-122"/>
                <a:cs typeface="Cambria" pitchFamily="34" charset="-120"/>
              </a:rPr>
              <a:t>Ayrılma</a:t>
            </a:r>
            <a:endParaRPr lang="en-US" sz="1150" dirty="0"/>
          </a:p>
        </p:txBody>
      </p:sp>
      <p:sp>
        <p:nvSpPr>
          <p:cNvPr id="43" name="Text 41"/>
          <p:cNvSpPr txBox="1"/>
          <p:nvPr/>
        </p:nvSpPr>
        <p:spPr>
          <a:xfrm>
            <a:off x="10372957" y="4685591"/>
            <a:ext cx="1426464" cy="237744"/>
          </a:xfrm>
          <a:prstGeom prst="rect">
            <a:avLst/>
          </a:prstGeom>
          <a:noFill/>
          <a:ln/>
        </p:spPr>
        <p:txBody>
          <a:bodyPr wrap="square" lIns="0" tIns="0" rIns="0" bIns="0" rtlCol="0" anchor="ctr"/>
          <a:lstStyle/>
          <a:p>
            <a:pPr algn="ctr" indent="0" marL="0">
              <a:buNone/>
            </a:pPr>
            <a:r>
              <a:rPr lang="en-US" sz="800" i="1" dirty="0">
                <a:solidFill>
                  <a:srgbClr val="A6A6AC"/>
                </a:solidFill>
                <a:latin typeface="Calibri" pitchFamily="34" charset="0"/>
                <a:ea typeface="Calibri" pitchFamily="34" charset="-122"/>
                <a:cs typeface="Calibri" pitchFamily="34" charset="-120"/>
              </a:rPr>
              <a:t>çıkarıldı</a:t>
            </a:r>
            <a:endParaRPr lang="en-US" sz="800" dirty="0"/>
          </a:p>
        </p:txBody>
      </p:sp>
      <p:sp>
        <p:nvSpPr>
          <p:cNvPr id="44" name="Text 42"/>
          <p:cNvSpPr txBox="1"/>
          <p:nvPr/>
        </p:nvSpPr>
        <p:spPr>
          <a:xfrm>
            <a:off x="777240" y="5020056"/>
            <a:ext cx="1356970"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UYARLAMA NEDEN GEREKTİ</a:t>
            </a:r>
            <a:endParaRPr lang="en-US" sz="900" dirty="0"/>
          </a:p>
        </p:txBody>
      </p:sp>
      <p:sp>
        <p:nvSpPr>
          <p:cNvPr id="45" name="Shape 43"/>
          <p:cNvSpPr/>
          <p:nvPr/>
        </p:nvSpPr>
        <p:spPr>
          <a:xfrm>
            <a:off x="2207362" y="5138928"/>
            <a:ext cx="9204350" cy="0"/>
          </a:xfrm>
          <a:prstGeom prst="line">
            <a:avLst/>
          </a:prstGeom>
          <a:noFill/>
          <a:ln w="9525">
            <a:solidFill>
              <a:srgbClr val="EDEDF0"/>
            </a:solidFill>
            <a:prstDash val="solid"/>
          </a:ln>
        </p:spPr>
      </p:sp>
      <p:sp>
        <p:nvSpPr>
          <p:cNvPr id="46" name="Text 44"/>
          <p:cNvSpPr txBox="1"/>
          <p:nvPr/>
        </p:nvSpPr>
        <p:spPr>
          <a:xfrm>
            <a:off x="777240" y="5358384"/>
            <a:ext cx="3291840" cy="256032"/>
          </a:xfrm>
          <a:prstGeom prst="rect">
            <a:avLst/>
          </a:prstGeom>
          <a:noFill/>
          <a:ln/>
        </p:spPr>
        <p:txBody>
          <a:bodyPr wrap="square" lIns="0" tIns="0" rIns="0" bIns="0" rtlCol="0" anchor="ctr"/>
          <a:lstStyle/>
          <a:p>
            <a:pPr indent="0" marL="0">
              <a:buNone/>
            </a:pPr>
            <a:r>
              <a:rPr lang="en-US" sz="950" b="1" spc="150" kern="0" dirty="0">
                <a:solidFill>
                  <a:srgbClr val="7A7A82"/>
                </a:solidFill>
                <a:latin typeface="Calibri" pitchFamily="34" charset="0"/>
                <a:ea typeface="Calibri" pitchFamily="34" charset="-122"/>
                <a:cs typeface="Calibri" pitchFamily="34" charset="-120"/>
              </a:rPr>
              <a:t>Çıkarılanlar</a:t>
            </a:r>
            <a:endParaRPr lang="en-US" sz="950" dirty="0"/>
          </a:p>
        </p:txBody>
      </p:sp>
      <p:sp>
        <p:nvSpPr>
          <p:cNvPr id="47" name="Text 45"/>
          <p:cNvSpPr txBox="1"/>
          <p:nvPr/>
        </p:nvSpPr>
        <p:spPr>
          <a:xfrm>
            <a:off x="777240" y="5632704"/>
            <a:ext cx="3291840" cy="713232"/>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Farkındalık (pazarlama, marka savunuculuğu, etkinlik) ve ayrılma (geri bildirim, sadakat) adımları mekânın değil, çok kanallı pazarlamanın işi.</a:t>
            </a:r>
            <a:endParaRPr lang="en-US" sz="1050" dirty="0"/>
          </a:p>
        </p:txBody>
      </p:sp>
      <p:sp>
        <p:nvSpPr>
          <p:cNvPr id="48" name="Text 46"/>
          <p:cNvSpPr txBox="1"/>
          <p:nvPr/>
        </p:nvSpPr>
        <p:spPr>
          <a:xfrm>
            <a:off x="4453128" y="5358384"/>
            <a:ext cx="3291840" cy="256032"/>
          </a:xfrm>
          <a:prstGeom prst="rect">
            <a:avLst/>
          </a:prstGeom>
          <a:noFill/>
          <a:ln/>
        </p:spPr>
        <p:txBody>
          <a:bodyPr wrap="square" lIns="0" tIns="0" rIns="0" bIns="0" rtlCol="0" anchor="ctr"/>
          <a:lstStyle/>
          <a:p>
            <a:pPr indent="0" marL="0">
              <a:buNone/>
            </a:pPr>
            <a:r>
              <a:rPr lang="en-US" sz="950" b="1" spc="150" kern="0" dirty="0">
                <a:solidFill>
                  <a:srgbClr val="7A7A82"/>
                </a:solidFill>
                <a:latin typeface="Calibri" pitchFamily="34" charset="0"/>
                <a:ea typeface="Calibri" pitchFamily="34" charset="-122"/>
                <a:cs typeface="Calibri" pitchFamily="34" charset="-120"/>
              </a:rPr>
              <a:t>Eklenenler</a:t>
            </a:r>
            <a:endParaRPr lang="en-US" sz="950" dirty="0"/>
          </a:p>
        </p:txBody>
      </p:sp>
      <p:sp>
        <p:nvSpPr>
          <p:cNvPr id="49" name="Text 47"/>
          <p:cNvSpPr txBox="1"/>
          <p:nvPr/>
        </p:nvSpPr>
        <p:spPr>
          <a:xfrm>
            <a:off x="4453128" y="5632704"/>
            <a:ext cx="3291840" cy="713232"/>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Etkileşim ve satın alma adımları, mağazanın içindeki eylemlere göre yeniden tanımlandı: ürün ve hizmetler, organizasyonel ihtiyaçlar.</a:t>
            </a:r>
            <a:endParaRPr lang="en-US" sz="1050" dirty="0"/>
          </a:p>
        </p:txBody>
      </p:sp>
      <p:sp>
        <p:nvSpPr>
          <p:cNvPr id="50" name="Text 48"/>
          <p:cNvSpPr txBox="1"/>
          <p:nvPr/>
        </p:nvSpPr>
        <p:spPr>
          <a:xfrm>
            <a:off x="8129016" y="5358384"/>
            <a:ext cx="3291840" cy="256032"/>
          </a:xfrm>
          <a:prstGeom prst="rect">
            <a:avLst/>
          </a:prstGeom>
          <a:noFill/>
          <a:ln/>
        </p:spPr>
        <p:txBody>
          <a:bodyPr wrap="square" lIns="0" tIns="0" rIns="0" bIns="0" rtlCol="0" anchor="ctr"/>
          <a:lstStyle/>
          <a:p>
            <a:pPr indent="0" marL="0">
              <a:buNone/>
            </a:pPr>
            <a:r>
              <a:rPr lang="en-US" sz="950" b="1" spc="150" kern="0" dirty="0">
                <a:solidFill>
                  <a:srgbClr val="8C3A2B"/>
                </a:solidFill>
                <a:latin typeface="Calibri" pitchFamily="34" charset="0"/>
                <a:ea typeface="Calibri" pitchFamily="34" charset="-122"/>
                <a:cs typeface="Calibri" pitchFamily="34" charset="-120"/>
              </a:rPr>
              <a:t>Sonuç</a:t>
            </a:r>
            <a:endParaRPr lang="en-US" sz="950" dirty="0"/>
          </a:p>
        </p:txBody>
      </p:sp>
      <p:sp>
        <p:nvSpPr>
          <p:cNvPr id="51" name="Text 49"/>
          <p:cNvSpPr txBox="1"/>
          <p:nvPr/>
        </p:nvSpPr>
        <p:spPr>
          <a:xfrm>
            <a:off x="8129016" y="5632704"/>
            <a:ext cx="3291840" cy="713232"/>
          </a:xfrm>
          <a:prstGeom prst="rect">
            <a:avLst/>
          </a:prstGeom>
          <a:noFill/>
          <a:ln/>
        </p:spPr>
        <p:txBody>
          <a:bodyPr wrap="square" lIns="0" tIns="0" rIns="0" bIns="0" rtlCol="0" anchor="ctr"/>
          <a:lstStyle/>
          <a:p>
            <a:pPr indent="0" marL="0">
              <a:lnSpc>
                <a:spcPts val="1350"/>
              </a:lnSpc>
              <a:buNone/>
            </a:pPr>
            <a:r>
              <a:rPr lang="en-US" sz="1050" dirty="0">
                <a:solidFill>
                  <a:srgbClr val="8C3A2B"/>
                </a:solidFill>
                <a:latin typeface="Calibri" pitchFamily="34" charset="0"/>
                <a:ea typeface="Calibri" pitchFamily="34" charset="-122"/>
                <a:cs typeface="Calibri" pitchFamily="34" charset="-120"/>
              </a:rPr>
              <a:t>İç mekâna dair altı modül: çekim, eşik, ürün ve hizmetler, organizasyonel ihtiyaçlar, yönelme, gezinme.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IV · YOLCULUK</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Altı modül ne soruyor?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777240" y="1664208"/>
            <a:ext cx="10634472" cy="29260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Dönem boyunca projeniz bu altı modül üzerinden okunacak.</a:t>
            </a:r>
            <a:endParaRPr lang="en-US" sz="1350" dirty="0"/>
          </a:p>
        </p:txBody>
      </p:sp>
      <p:sp>
        <p:nvSpPr>
          <p:cNvPr id="7" name="Shape 5"/>
          <p:cNvSpPr/>
          <p:nvPr/>
        </p:nvSpPr>
        <p:spPr>
          <a:xfrm>
            <a:off x="768096" y="2258568"/>
            <a:ext cx="274320" cy="274320"/>
          </a:xfrm>
          <a:prstGeom prst="ellipse">
            <a:avLst/>
          </a:prstGeom>
          <a:solidFill>
            <a:srgbClr val="8C3A2B"/>
          </a:solidFill>
          <a:ln w="12700">
            <a:solidFill>
              <a:srgbClr val="8C3A2B"/>
            </a:solidFill>
            <a:prstDash val="solid"/>
          </a:ln>
        </p:spPr>
      </p:sp>
      <p:sp>
        <p:nvSpPr>
          <p:cNvPr id="8" name="Text 6"/>
          <p:cNvSpPr txBox="1"/>
          <p:nvPr/>
        </p:nvSpPr>
        <p:spPr>
          <a:xfrm>
            <a:off x="768096" y="225856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1234440" y="2231136"/>
            <a:ext cx="2468880" cy="292608"/>
          </a:xfrm>
          <a:prstGeom prst="rect">
            <a:avLst/>
          </a:prstGeom>
          <a:noFill/>
          <a:ln/>
        </p:spPr>
        <p:txBody>
          <a:bodyPr wrap="square" lIns="0" tIns="0" rIns="0" bIns="0" rtlCol="0" anchor="ctr"/>
          <a:lstStyle/>
          <a:p>
            <a:pPr indent="0" marL="0">
              <a:lnSpc>
                <a:spcPts val="1600"/>
              </a:lnSpc>
              <a:buNone/>
            </a:pPr>
            <a:r>
              <a:rPr lang="en-US" sz="1400" b="1" dirty="0">
                <a:solidFill>
                  <a:srgbClr val="16161A"/>
                </a:solidFill>
                <a:latin typeface="Cambria" pitchFamily="34" charset="0"/>
                <a:ea typeface="Cambria" pitchFamily="34" charset="-122"/>
                <a:cs typeface="Cambria" pitchFamily="34" charset="-120"/>
              </a:rPr>
              <a:t>Çekim</a:t>
            </a:r>
            <a:endParaRPr lang="en-US" sz="1400" dirty="0"/>
          </a:p>
        </p:txBody>
      </p:sp>
      <p:sp>
        <p:nvSpPr>
          <p:cNvPr id="10" name="Text 8"/>
          <p:cNvSpPr txBox="1"/>
          <p:nvPr/>
        </p:nvSpPr>
        <p:spPr>
          <a:xfrm>
            <a:off x="3657600" y="2231136"/>
            <a:ext cx="3931920" cy="457200"/>
          </a:xfrm>
          <a:prstGeom prst="rect">
            <a:avLst/>
          </a:prstGeom>
          <a:noFill/>
          <a:ln/>
        </p:spPr>
        <p:txBody>
          <a:bodyPr wrap="square" lIns="0" tIns="0" rIns="0" bIns="0" rtlCol="0" anchor="ctr"/>
          <a:lstStyle/>
          <a:p>
            <a:pPr indent="0" marL="0">
              <a:lnSpc>
                <a:spcPts val="1500"/>
              </a:lnSpc>
              <a:buNone/>
            </a:pPr>
            <a:r>
              <a:rPr lang="en-US" sz="1200" i="1" dirty="0">
                <a:solidFill>
                  <a:srgbClr val="8C3A2B"/>
                </a:solidFill>
                <a:latin typeface="Cambria" pitchFamily="34" charset="0"/>
                <a:ea typeface="Cambria" pitchFamily="34" charset="-122"/>
                <a:cs typeface="Cambria" pitchFamily="34" charset="-120"/>
              </a:rPr>
              <a:t>Mağaza sokakta nasıl fark edilir ve içeri nasıl çağırır?</a:t>
            </a:r>
            <a:endParaRPr lang="en-US" sz="1200" dirty="0"/>
          </a:p>
        </p:txBody>
      </p:sp>
      <p:sp>
        <p:nvSpPr>
          <p:cNvPr id="11" name="Text 9"/>
          <p:cNvSpPr txBox="1"/>
          <p:nvPr/>
        </p:nvSpPr>
        <p:spPr>
          <a:xfrm>
            <a:off x="7790688" y="2249424"/>
            <a:ext cx="3621024" cy="548640"/>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konum, cephe, vitrin, tabela · marka kimliğini yansıtan ve benzerlerinden ayrışan vitrin</a:t>
            </a:r>
            <a:endParaRPr lang="en-US" sz="950" dirty="0"/>
          </a:p>
        </p:txBody>
      </p:sp>
      <p:sp>
        <p:nvSpPr>
          <p:cNvPr id="12" name="Shape 10"/>
          <p:cNvSpPr/>
          <p:nvPr/>
        </p:nvSpPr>
        <p:spPr>
          <a:xfrm>
            <a:off x="1234440" y="2779776"/>
            <a:ext cx="10177272" cy="0"/>
          </a:xfrm>
          <a:prstGeom prst="line">
            <a:avLst/>
          </a:prstGeom>
          <a:noFill/>
          <a:ln w="6350">
            <a:solidFill>
              <a:srgbClr val="EDEDF0"/>
            </a:solidFill>
            <a:prstDash val="solid"/>
          </a:ln>
        </p:spPr>
      </p:sp>
      <p:sp>
        <p:nvSpPr>
          <p:cNvPr id="13" name="Shape 11"/>
          <p:cNvSpPr/>
          <p:nvPr/>
        </p:nvSpPr>
        <p:spPr>
          <a:xfrm>
            <a:off x="768096" y="2916936"/>
            <a:ext cx="274320" cy="274320"/>
          </a:xfrm>
          <a:prstGeom prst="ellipse">
            <a:avLst/>
          </a:prstGeom>
          <a:solidFill>
            <a:srgbClr val="8C3A2B"/>
          </a:solidFill>
          <a:ln w="12700">
            <a:solidFill>
              <a:srgbClr val="8C3A2B"/>
            </a:solidFill>
            <a:prstDash val="solid"/>
          </a:ln>
        </p:spPr>
      </p:sp>
      <p:sp>
        <p:nvSpPr>
          <p:cNvPr id="14" name="Text 12"/>
          <p:cNvSpPr txBox="1"/>
          <p:nvPr/>
        </p:nvSpPr>
        <p:spPr>
          <a:xfrm>
            <a:off x="768096" y="291693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txBox="1"/>
          <p:nvPr/>
        </p:nvSpPr>
        <p:spPr>
          <a:xfrm>
            <a:off x="1234440" y="2889504"/>
            <a:ext cx="2468880" cy="292608"/>
          </a:xfrm>
          <a:prstGeom prst="rect">
            <a:avLst/>
          </a:prstGeom>
          <a:noFill/>
          <a:ln/>
        </p:spPr>
        <p:txBody>
          <a:bodyPr wrap="square" lIns="0" tIns="0" rIns="0" bIns="0" rtlCol="0" anchor="ctr"/>
          <a:lstStyle/>
          <a:p>
            <a:pPr indent="0" marL="0">
              <a:lnSpc>
                <a:spcPts val="1600"/>
              </a:lnSpc>
              <a:buNone/>
            </a:pPr>
            <a:r>
              <a:rPr lang="en-US" sz="1400" b="1" dirty="0">
                <a:solidFill>
                  <a:srgbClr val="16161A"/>
                </a:solidFill>
                <a:latin typeface="Cambria" pitchFamily="34" charset="0"/>
                <a:ea typeface="Cambria" pitchFamily="34" charset="-122"/>
                <a:cs typeface="Cambria" pitchFamily="34" charset="-120"/>
              </a:rPr>
              <a:t>Eşik</a:t>
            </a:r>
            <a:endParaRPr lang="en-US" sz="1400" dirty="0"/>
          </a:p>
        </p:txBody>
      </p:sp>
      <p:sp>
        <p:nvSpPr>
          <p:cNvPr id="16" name="Text 14"/>
          <p:cNvSpPr txBox="1"/>
          <p:nvPr/>
        </p:nvSpPr>
        <p:spPr>
          <a:xfrm>
            <a:off x="3657600" y="2889504"/>
            <a:ext cx="3931920" cy="457200"/>
          </a:xfrm>
          <a:prstGeom prst="rect">
            <a:avLst/>
          </a:prstGeom>
          <a:noFill/>
          <a:ln/>
        </p:spPr>
        <p:txBody>
          <a:bodyPr wrap="square" lIns="0" tIns="0" rIns="0" bIns="0" rtlCol="0" anchor="ctr"/>
          <a:lstStyle/>
          <a:p>
            <a:pPr indent="0" marL="0">
              <a:lnSpc>
                <a:spcPts val="1500"/>
              </a:lnSpc>
              <a:buNone/>
            </a:pPr>
            <a:r>
              <a:rPr lang="en-US" sz="1200" i="1" dirty="0">
                <a:solidFill>
                  <a:srgbClr val="8C3A2B"/>
                </a:solidFill>
                <a:latin typeface="Cambria" pitchFamily="34" charset="0"/>
                <a:ea typeface="Cambria" pitchFamily="34" charset="-122"/>
                <a:cs typeface="Cambria" pitchFamily="34" charset="-120"/>
              </a:rPr>
              <a:t>Müşteri içeri girerken ilk izlenimi nasıl kurulur?</a:t>
            </a:r>
            <a:endParaRPr lang="en-US" sz="1200" dirty="0"/>
          </a:p>
        </p:txBody>
      </p:sp>
      <p:sp>
        <p:nvSpPr>
          <p:cNvPr id="17" name="Text 15"/>
          <p:cNvSpPr txBox="1"/>
          <p:nvPr/>
        </p:nvSpPr>
        <p:spPr>
          <a:xfrm>
            <a:off x="7790688" y="2907792"/>
            <a:ext cx="3621024" cy="548640"/>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giriş–çıkış ilişkisi, iç atmosfer: renk, malzeme, doku, mobilya · duyusal ihtiyaçlar</a:t>
            </a:r>
            <a:endParaRPr lang="en-US" sz="950" dirty="0"/>
          </a:p>
        </p:txBody>
      </p:sp>
      <p:sp>
        <p:nvSpPr>
          <p:cNvPr id="18" name="Shape 16"/>
          <p:cNvSpPr/>
          <p:nvPr/>
        </p:nvSpPr>
        <p:spPr>
          <a:xfrm>
            <a:off x="1234440" y="3438144"/>
            <a:ext cx="10177272" cy="0"/>
          </a:xfrm>
          <a:prstGeom prst="line">
            <a:avLst/>
          </a:prstGeom>
          <a:noFill/>
          <a:ln w="6350">
            <a:solidFill>
              <a:srgbClr val="EDEDF0"/>
            </a:solidFill>
            <a:prstDash val="solid"/>
          </a:ln>
        </p:spPr>
      </p:sp>
      <p:sp>
        <p:nvSpPr>
          <p:cNvPr id="19" name="Shape 17"/>
          <p:cNvSpPr/>
          <p:nvPr/>
        </p:nvSpPr>
        <p:spPr>
          <a:xfrm>
            <a:off x="768096" y="3575304"/>
            <a:ext cx="274320" cy="274320"/>
          </a:xfrm>
          <a:prstGeom prst="ellipse">
            <a:avLst/>
          </a:prstGeom>
          <a:solidFill>
            <a:srgbClr val="8C3A2B"/>
          </a:solidFill>
          <a:ln w="12700">
            <a:solidFill>
              <a:srgbClr val="8C3A2B"/>
            </a:solidFill>
            <a:prstDash val="solid"/>
          </a:ln>
        </p:spPr>
      </p:sp>
      <p:sp>
        <p:nvSpPr>
          <p:cNvPr id="20" name="Text 18"/>
          <p:cNvSpPr txBox="1"/>
          <p:nvPr/>
        </p:nvSpPr>
        <p:spPr>
          <a:xfrm>
            <a:off x="768096" y="357530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9"/>
          <p:cNvSpPr txBox="1"/>
          <p:nvPr/>
        </p:nvSpPr>
        <p:spPr>
          <a:xfrm>
            <a:off x="1234440" y="3547872"/>
            <a:ext cx="2468880" cy="292608"/>
          </a:xfrm>
          <a:prstGeom prst="rect">
            <a:avLst/>
          </a:prstGeom>
          <a:noFill/>
          <a:ln/>
        </p:spPr>
        <p:txBody>
          <a:bodyPr wrap="square" lIns="0" tIns="0" rIns="0" bIns="0" rtlCol="0" anchor="ctr"/>
          <a:lstStyle/>
          <a:p>
            <a:pPr indent="0" marL="0">
              <a:lnSpc>
                <a:spcPts val="1600"/>
              </a:lnSpc>
              <a:buNone/>
            </a:pPr>
            <a:r>
              <a:rPr lang="en-US" sz="1400" b="1" dirty="0">
                <a:solidFill>
                  <a:srgbClr val="16161A"/>
                </a:solidFill>
                <a:latin typeface="Cambria" pitchFamily="34" charset="0"/>
                <a:ea typeface="Cambria" pitchFamily="34" charset="-122"/>
                <a:cs typeface="Cambria" pitchFamily="34" charset="-120"/>
              </a:rPr>
              <a:t>Ürün ve hizmetler</a:t>
            </a:r>
            <a:endParaRPr lang="en-US" sz="1400" dirty="0"/>
          </a:p>
        </p:txBody>
      </p:sp>
      <p:sp>
        <p:nvSpPr>
          <p:cNvPr id="22" name="Text 20"/>
          <p:cNvSpPr txBox="1"/>
          <p:nvPr/>
        </p:nvSpPr>
        <p:spPr>
          <a:xfrm>
            <a:off x="3657600" y="3547872"/>
            <a:ext cx="3931920" cy="457200"/>
          </a:xfrm>
          <a:prstGeom prst="rect">
            <a:avLst/>
          </a:prstGeom>
          <a:noFill/>
          <a:ln/>
        </p:spPr>
        <p:txBody>
          <a:bodyPr wrap="square" lIns="0" tIns="0" rIns="0" bIns="0" rtlCol="0" anchor="ctr"/>
          <a:lstStyle/>
          <a:p>
            <a:pPr indent="0" marL="0">
              <a:lnSpc>
                <a:spcPts val="1500"/>
              </a:lnSpc>
              <a:buNone/>
            </a:pPr>
            <a:r>
              <a:rPr lang="en-US" sz="1200" i="1" dirty="0">
                <a:solidFill>
                  <a:srgbClr val="8C3A2B"/>
                </a:solidFill>
                <a:latin typeface="Cambria" pitchFamily="34" charset="0"/>
                <a:ea typeface="Cambria" pitchFamily="34" charset="-122"/>
                <a:cs typeface="Cambria" pitchFamily="34" charset="-120"/>
              </a:rPr>
              <a:t>Ürün nasıl teşhir edilir, nerede denenir, nerede dinlenilir?</a:t>
            </a:r>
            <a:endParaRPr lang="en-US" sz="1200" dirty="0"/>
          </a:p>
        </p:txBody>
      </p:sp>
      <p:sp>
        <p:nvSpPr>
          <p:cNvPr id="23" name="Text 21"/>
          <p:cNvSpPr txBox="1"/>
          <p:nvPr/>
        </p:nvSpPr>
        <p:spPr>
          <a:xfrm>
            <a:off x="7790688" y="3566160"/>
            <a:ext cx="3621024" cy="548640"/>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teşhir ölçüsü ve malzemesi, deneme, oturma ve bekleme noktalarının yeri ve alanı</a:t>
            </a:r>
            <a:endParaRPr lang="en-US" sz="950" dirty="0"/>
          </a:p>
        </p:txBody>
      </p:sp>
      <p:sp>
        <p:nvSpPr>
          <p:cNvPr id="24" name="Shape 22"/>
          <p:cNvSpPr/>
          <p:nvPr/>
        </p:nvSpPr>
        <p:spPr>
          <a:xfrm>
            <a:off x="1234440" y="4096512"/>
            <a:ext cx="10177272" cy="0"/>
          </a:xfrm>
          <a:prstGeom prst="line">
            <a:avLst/>
          </a:prstGeom>
          <a:noFill/>
          <a:ln w="6350">
            <a:solidFill>
              <a:srgbClr val="EDEDF0"/>
            </a:solidFill>
            <a:prstDash val="solid"/>
          </a:ln>
        </p:spPr>
      </p:sp>
      <p:sp>
        <p:nvSpPr>
          <p:cNvPr id="25" name="Shape 23"/>
          <p:cNvSpPr/>
          <p:nvPr/>
        </p:nvSpPr>
        <p:spPr>
          <a:xfrm>
            <a:off x="768096" y="4233672"/>
            <a:ext cx="274320" cy="274320"/>
          </a:xfrm>
          <a:prstGeom prst="ellipse">
            <a:avLst/>
          </a:prstGeom>
          <a:solidFill>
            <a:srgbClr val="8C3A2B"/>
          </a:solidFill>
          <a:ln w="12700">
            <a:solidFill>
              <a:srgbClr val="8C3A2B"/>
            </a:solidFill>
            <a:prstDash val="solid"/>
          </a:ln>
        </p:spPr>
      </p:sp>
      <p:sp>
        <p:nvSpPr>
          <p:cNvPr id="26" name="Text 24"/>
          <p:cNvSpPr txBox="1"/>
          <p:nvPr/>
        </p:nvSpPr>
        <p:spPr>
          <a:xfrm>
            <a:off x="768096" y="423367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1234440" y="4206240"/>
            <a:ext cx="2468880" cy="292608"/>
          </a:xfrm>
          <a:prstGeom prst="rect">
            <a:avLst/>
          </a:prstGeom>
          <a:noFill/>
          <a:ln/>
        </p:spPr>
        <p:txBody>
          <a:bodyPr wrap="square" lIns="0" tIns="0" rIns="0" bIns="0" rtlCol="0" anchor="ctr"/>
          <a:lstStyle/>
          <a:p>
            <a:pPr indent="0" marL="0">
              <a:lnSpc>
                <a:spcPts val="1600"/>
              </a:lnSpc>
              <a:buNone/>
            </a:pPr>
            <a:r>
              <a:rPr lang="en-US" sz="1400" b="1" dirty="0">
                <a:solidFill>
                  <a:srgbClr val="16161A"/>
                </a:solidFill>
                <a:latin typeface="Cambria" pitchFamily="34" charset="0"/>
                <a:ea typeface="Cambria" pitchFamily="34" charset="-122"/>
                <a:cs typeface="Cambria" pitchFamily="34" charset="-120"/>
              </a:rPr>
              <a:t>Organizasyonel ihtiyaçlar</a:t>
            </a:r>
            <a:endParaRPr lang="en-US" sz="1400" dirty="0"/>
          </a:p>
        </p:txBody>
      </p:sp>
      <p:sp>
        <p:nvSpPr>
          <p:cNvPr id="28" name="Text 26"/>
          <p:cNvSpPr txBox="1"/>
          <p:nvPr/>
        </p:nvSpPr>
        <p:spPr>
          <a:xfrm>
            <a:off x="3657600" y="4206240"/>
            <a:ext cx="3931920" cy="457200"/>
          </a:xfrm>
          <a:prstGeom prst="rect">
            <a:avLst/>
          </a:prstGeom>
          <a:noFill/>
          <a:ln/>
        </p:spPr>
        <p:txBody>
          <a:bodyPr wrap="square" lIns="0" tIns="0" rIns="0" bIns="0" rtlCol="0" anchor="ctr"/>
          <a:lstStyle/>
          <a:p>
            <a:pPr indent="0" marL="0">
              <a:lnSpc>
                <a:spcPts val="1500"/>
              </a:lnSpc>
              <a:buNone/>
            </a:pPr>
            <a:r>
              <a:rPr lang="en-US" sz="1200" i="1" dirty="0">
                <a:solidFill>
                  <a:srgbClr val="8C3A2B"/>
                </a:solidFill>
                <a:latin typeface="Cambria" pitchFamily="34" charset="0"/>
                <a:ea typeface="Cambria" pitchFamily="34" charset="-122"/>
                <a:cs typeface="Cambria" pitchFamily="34" charset="-120"/>
              </a:rPr>
              <a:t>Mağaza nasıl çalışır; kasa, yönetim ve depo nerede olmalı?</a:t>
            </a:r>
            <a:endParaRPr lang="en-US" sz="1200" dirty="0"/>
          </a:p>
        </p:txBody>
      </p:sp>
      <p:sp>
        <p:nvSpPr>
          <p:cNvPr id="29" name="Text 27"/>
          <p:cNvSpPr txBox="1"/>
          <p:nvPr/>
        </p:nvSpPr>
        <p:spPr>
          <a:xfrm>
            <a:off x="7790688" y="4224528"/>
            <a:ext cx="3621024" cy="548640"/>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kasa konumu ve alanı, kasa arkası yönetim, depo m² ve yerleşimi · ergonomi</a:t>
            </a:r>
            <a:endParaRPr lang="en-US" sz="950" dirty="0"/>
          </a:p>
        </p:txBody>
      </p:sp>
      <p:sp>
        <p:nvSpPr>
          <p:cNvPr id="30" name="Shape 28"/>
          <p:cNvSpPr/>
          <p:nvPr/>
        </p:nvSpPr>
        <p:spPr>
          <a:xfrm>
            <a:off x="1234440" y="4754880"/>
            <a:ext cx="10177272" cy="0"/>
          </a:xfrm>
          <a:prstGeom prst="line">
            <a:avLst/>
          </a:prstGeom>
          <a:noFill/>
          <a:ln w="6350">
            <a:solidFill>
              <a:srgbClr val="EDEDF0"/>
            </a:solidFill>
            <a:prstDash val="solid"/>
          </a:ln>
        </p:spPr>
      </p:sp>
      <p:sp>
        <p:nvSpPr>
          <p:cNvPr id="31" name="Shape 29"/>
          <p:cNvSpPr/>
          <p:nvPr/>
        </p:nvSpPr>
        <p:spPr>
          <a:xfrm>
            <a:off x="768096" y="4892040"/>
            <a:ext cx="274320" cy="274320"/>
          </a:xfrm>
          <a:prstGeom prst="ellipse">
            <a:avLst/>
          </a:prstGeom>
          <a:solidFill>
            <a:srgbClr val="8C3A2B"/>
          </a:solidFill>
          <a:ln w="12700">
            <a:solidFill>
              <a:srgbClr val="8C3A2B"/>
            </a:solidFill>
            <a:prstDash val="solid"/>
          </a:ln>
        </p:spPr>
      </p:sp>
      <p:sp>
        <p:nvSpPr>
          <p:cNvPr id="32" name="Text 30"/>
          <p:cNvSpPr txBox="1"/>
          <p:nvPr/>
        </p:nvSpPr>
        <p:spPr>
          <a:xfrm>
            <a:off x="768096" y="48920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Text 31"/>
          <p:cNvSpPr txBox="1"/>
          <p:nvPr/>
        </p:nvSpPr>
        <p:spPr>
          <a:xfrm>
            <a:off x="1234440" y="4864608"/>
            <a:ext cx="2468880" cy="292608"/>
          </a:xfrm>
          <a:prstGeom prst="rect">
            <a:avLst/>
          </a:prstGeom>
          <a:noFill/>
          <a:ln/>
        </p:spPr>
        <p:txBody>
          <a:bodyPr wrap="square" lIns="0" tIns="0" rIns="0" bIns="0" rtlCol="0" anchor="ctr"/>
          <a:lstStyle/>
          <a:p>
            <a:pPr indent="0" marL="0">
              <a:lnSpc>
                <a:spcPts val="1600"/>
              </a:lnSpc>
              <a:buNone/>
            </a:pPr>
            <a:r>
              <a:rPr lang="en-US" sz="1400" b="1" dirty="0">
                <a:solidFill>
                  <a:srgbClr val="16161A"/>
                </a:solidFill>
                <a:latin typeface="Cambria" pitchFamily="34" charset="0"/>
                <a:ea typeface="Cambria" pitchFamily="34" charset="-122"/>
                <a:cs typeface="Cambria" pitchFamily="34" charset="-120"/>
              </a:rPr>
              <a:t>Yönelme</a:t>
            </a:r>
            <a:endParaRPr lang="en-US" sz="1400" dirty="0"/>
          </a:p>
        </p:txBody>
      </p:sp>
      <p:sp>
        <p:nvSpPr>
          <p:cNvPr id="34" name="Text 32"/>
          <p:cNvSpPr txBox="1"/>
          <p:nvPr/>
        </p:nvSpPr>
        <p:spPr>
          <a:xfrm>
            <a:off x="3657600" y="4864608"/>
            <a:ext cx="3931920" cy="457200"/>
          </a:xfrm>
          <a:prstGeom prst="rect">
            <a:avLst/>
          </a:prstGeom>
          <a:noFill/>
          <a:ln/>
        </p:spPr>
        <p:txBody>
          <a:bodyPr wrap="square" lIns="0" tIns="0" rIns="0" bIns="0" rtlCol="0" anchor="ctr"/>
          <a:lstStyle/>
          <a:p>
            <a:pPr indent="0" marL="0">
              <a:lnSpc>
                <a:spcPts val="1500"/>
              </a:lnSpc>
              <a:buNone/>
            </a:pPr>
            <a:r>
              <a:rPr lang="en-US" sz="1200" i="1" dirty="0">
                <a:solidFill>
                  <a:srgbClr val="8C3A2B"/>
                </a:solidFill>
                <a:latin typeface="Cambria" pitchFamily="34" charset="0"/>
                <a:ea typeface="Cambria" pitchFamily="34" charset="-122"/>
                <a:cs typeface="Cambria" pitchFamily="34" charset="-120"/>
              </a:rPr>
              <a:t>Müşteri kaybolmadan nasıl dolaşır?</a:t>
            </a:r>
            <a:endParaRPr lang="en-US" sz="1200" dirty="0"/>
          </a:p>
        </p:txBody>
      </p:sp>
      <p:sp>
        <p:nvSpPr>
          <p:cNvPr id="35" name="Text 33"/>
          <p:cNvSpPr txBox="1"/>
          <p:nvPr/>
        </p:nvSpPr>
        <p:spPr>
          <a:xfrm>
            <a:off x="7790688" y="4882896"/>
            <a:ext cx="3621024" cy="548640"/>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dolaşımın müşteriye ve servise uygunluğu, yönlendirme öğeleri, yapı mevzuatı</a:t>
            </a:r>
            <a:endParaRPr lang="en-US" sz="950" dirty="0"/>
          </a:p>
        </p:txBody>
      </p:sp>
      <p:sp>
        <p:nvSpPr>
          <p:cNvPr id="36" name="Shape 34"/>
          <p:cNvSpPr/>
          <p:nvPr/>
        </p:nvSpPr>
        <p:spPr>
          <a:xfrm>
            <a:off x="1234440" y="5413248"/>
            <a:ext cx="10177272" cy="0"/>
          </a:xfrm>
          <a:prstGeom prst="line">
            <a:avLst/>
          </a:prstGeom>
          <a:noFill/>
          <a:ln w="6350">
            <a:solidFill>
              <a:srgbClr val="EDEDF0"/>
            </a:solidFill>
            <a:prstDash val="solid"/>
          </a:ln>
        </p:spPr>
      </p:sp>
      <p:sp>
        <p:nvSpPr>
          <p:cNvPr id="37" name="Shape 35"/>
          <p:cNvSpPr/>
          <p:nvPr/>
        </p:nvSpPr>
        <p:spPr>
          <a:xfrm>
            <a:off x="768096" y="5550408"/>
            <a:ext cx="274320" cy="274320"/>
          </a:xfrm>
          <a:prstGeom prst="ellipse">
            <a:avLst/>
          </a:prstGeom>
          <a:solidFill>
            <a:srgbClr val="8C3A2B"/>
          </a:solidFill>
          <a:ln w="12700">
            <a:solidFill>
              <a:srgbClr val="8C3A2B"/>
            </a:solidFill>
            <a:prstDash val="solid"/>
          </a:ln>
        </p:spPr>
      </p:sp>
      <p:sp>
        <p:nvSpPr>
          <p:cNvPr id="38" name="Text 36"/>
          <p:cNvSpPr txBox="1"/>
          <p:nvPr/>
        </p:nvSpPr>
        <p:spPr>
          <a:xfrm>
            <a:off x="768096" y="5550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Text 37"/>
          <p:cNvSpPr txBox="1"/>
          <p:nvPr/>
        </p:nvSpPr>
        <p:spPr>
          <a:xfrm>
            <a:off x="1234440" y="5522976"/>
            <a:ext cx="2468880" cy="292608"/>
          </a:xfrm>
          <a:prstGeom prst="rect">
            <a:avLst/>
          </a:prstGeom>
          <a:noFill/>
          <a:ln/>
        </p:spPr>
        <p:txBody>
          <a:bodyPr wrap="square" lIns="0" tIns="0" rIns="0" bIns="0" rtlCol="0" anchor="ctr"/>
          <a:lstStyle/>
          <a:p>
            <a:pPr indent="0" marL="0">
              <a:lnSpc>
                <a:spcPts val="1600"/>
              </a:lnSpc>
              <a:buNone/>
            </a:pPr>
            <a:r>
              <a:rPr lang="en-US" sz="1400" b="1" dirty="0">
                <a:solidFill>
                  <a:srgbClr val="16161A"/>
                </a:solidFill>
                <a:latin typeface="Cambria" pitchFamily="34" charset="0"/>
                <a:ea typeface="Cambria" pitchFamily="34" charset="-122"/>
                <a:cs typeface="Cambria" pitchFamily="34" charset="-120"/>
              </a:rPr>
              <a:t>Gezinme</a:t>
            </a:r>
            <a:endParaRPr lang="en-US" sz="1400" dirty="0"/>
          </a:p>
        </p:txBody>
      </p:sp>
      <p:sp>
        <p:nvSpPr>
          <p:cNvPr id="40" name="Text 38"/>
          <p:cNvSpPr txBox="1"/>
          <p:nvPr/>
        </p:nvSpPr>
        <p:spPr>
          <a:xfrm>
            <a:off x="3657600" y="5522976"/>
            <a:ext cx="3931920" cy="457200"/>
          </a:xfrm>
          <a:prstGeom prst="rect">
            <a:avLst/>
          </a:prstGeom>
          <a:noFill/>
          <a:ln/>
        </p:spPr>
        <p:txBody>
          <a:bodyPr wrap="square" lIns="0" tIns="0" rIns="0" bIns="0" rtlCol="0" anchor="ctr"/>
          <a:lstStyle/>
          <a:p>
            <a:pPr indent="0" marL="0">
              <a:lnSpc>
                <a:spcPts val="1500"/>
              </a:lnSpc>
              <a:buNone/>
            </a:pPr>
            <a:r>
              <a:rPr lang="en-US" sz="1200" i="1" dirty="0">
                <a:solidFill>
                  <a:srgbClr val="8C3A2B"/>
                </a:solidFill>
                <a:latin typeface="Cambria" pitchFamily="34" charset="0"/>
                <a:ea typeface="Cambria" pitchFamily="34" charset="-122"/>
                <a:cs typeface="Cambria" pitchFamily="34" charset="-120"/>
              </a:rPr>
              <a:t>Ürün kategorileri arasında nasıl geçilir; fiziksel ve dijital deneyim nerede?</a:t>
            </a:r>
            <a:endParaRPr lang="en-US" sz="1200" dirty="0"/>
          </a:p>
        </p:txBody>
      </p:sp>
      <p:sp>
        <p:nvSpPr>
          <p:cNvPr id="41" name="Text 39"/>
          <p:cNvSpPr txBox="1"/>
          <p:nvPr/>
        </p:nvSpPr>
        <p:spPr>
          <a:xfrm>
            <a:off x="7790688" y="5541264"/>
            <a:ext cx="3621024" cy="548640"/>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kategoriler arası geçiş, fiziksel ve dijital deneyim alanları · çok kanallılık</a:t>
            </a:r>
            <a:endParaRPr lang="en-US" sz="950" dirty="0"/>
          </a:p>
        </p:txBody>
      </p:sp>
      <p:sp>
        <p:nvSpPr>
          <p:cNvPr id="42" name="Text 40"/>
          <p:cNvSpPr txBox="1"/>
          <p:nvPr/>
        </p:nvSpPr>
        <p:spPr>
          <a:xfrm>
            <a:off x="3657600" y="1975104"/>
            <a:ext cx="3931920" cy="274320"/>
          </a:xfrm>
          <a:prstGeom prst="rect">
            <a:avLst/>
          </a:prstGeom>
          <a:noFill/>
          <a:ln/>
        </p:spPr>
        <p:txBody>
          <a:bodyPr wrap="square" lIns="0" tIns="0" rIns="0" bIns="0" rtlCol="0" anchor="ctr"/>
          <a:lstStyle/>
          <a:p>
            <a:pPr algn="l" indent="0" marL="0">
              <a:lnSpc>
                <a:spcPts val="1200"/>
              </a:lnSpc>
              <a:buNone/>
            </a:pPr>
            <a:r>
              <a:rPr lang="en-US" sz="850" b="1" spc="150" kern="0" dirty="0">
                <a:solidFill>
                  <a:srgbClr val="A6A6AC"/>
                </a:solidFill>
                <a:latin typeface="Calibri" pitchFamily="34" charset="0"/>
                <a:ea typeface="Calibri" pitchFamily="34" charset="-122"/>
                <a:cs typeface="Calibri" pitchFamily="34" charset="-120"/>
              </a:rPr>
              <a:t>MODÜLÜN SORUSU</a:t>
            </a:r>
            <a:endParaRPr lang="en-US" sz="850" dirty="0"/>
          </a:p>
        </p:txBody>
      </p:sp>
      <p:sp>
        <p:nvSpPr>
          <p:cNvPr id="43" name="Text 41"/>
          <p:cNvSpPr txBox="1"/>
          <p:nvPr/>
        </p:nvSpPr>
        <p:spPr>
          <a:xfrm>
            <a:off x="7790688" y="1975104"/>
            <a:ext cx="3621024" cy="274320"/>
          </a:xfrm>
          <a:prstGeom prst="rect">
            <a:avLst/>
          </a:prstGeom>
          <a:noFill/>
          <a:ln/>
        </p:spPr>
        <p:txBody>
          <a:bodyPr wrap="square" lIns="0" tIns="0" rIns="0" bIns="0" rtlCol="0" anchor="ctr"/>
          <a:lstStyle/>
          <a:p>
            <a:pPr algn="l" indent="0" marL="0">
              <a:lnSpc>
                <a:spcPts val="1200"/>
              </a:lnSpc>
              <a:buNone/>
            </a:pPr>
            <a:r>
              <a:rPr lang="en-US" sz="850" b="1" spc="150" kern="0" dirty="0">
                <a:solidFill>
                  <a:srgbClr val="A6A6AC"/>
                </a:solidFill>
                <a:latin typeface="Calibri" pitchFamily="34" charset="0"/>
                <a:ea typeface="Calibri" pitchFamily="34" charset="-122"/>
                <a:cs typeface="Calibri" pitchFamily="34" charset="-120"/>
              </a:rPr>
              <a:t>MEKÂNDA KARŞILIĞI</a:t>
            </a:r>
            <a:endParaRPr lang="en-US" sz="850" dirty="0"/>
          </a:p>
        </p:txBody>
      </p:sp>
      <p:sp>
        <p:nvSpPr>
          <p:cNvPr id="44" name="Text 42"/>
          <p:cNvSpPr txBox="1"/>
          <p:nvPr/>
        </p:nvSpPr>
        <p:spPr>
          <a:xfrm>
            <a:off x="1234440" y="1975104"/>
            <a:ext cx="2468880" cy="274320"/>
          </a:xfrm>
          <a:prstGeom prst="rect">
            <a:avLst/>
          </a:prstGeom>
          <a:noFill/>
          <a:ln/>
        </p:spPr>
        <p:txBody>
          <a:bodyPr wrap="square" lIns="0" tIns="0" rIns="0" bIns="0" rtlCol="0" anchor="ctr"/>
          <a:lstStyle/>
          <a:p>
            <a:pPr algn="l" indent="0" marL="0">
              <a:lnSpc>
                <a:spcPts val="1200"/>
              </a:lnSpc>
              <a:buNone/>
            </a:pPr>
            <a:r>
              <a:rPr lang="en-US" sz="850" b="1" spc="150" kern="0" dirty="0">
                <a:solidFill>
                  <a:srgbClr val="A6A6AC"/>
                </a:solidFill>
                <a:latin typeface="Calibri" pitchFamily="34" charset="0"/>
                <a:ea typeface="Calibri" pitchFamily="34" charset="-122"/>
                <a:cs typeface="Calibri" pitchFamily="34" charset="-120"/>
              </a:rPr>
              <a:t>MODÜL</a:t>
            </a:r>
            <a:endParaRPr lang="en-US" sz="850" dirty="0"/>
          </a:p>
        </p:txBody>
      </p:sp>
      <p:sp>
        <p:nvSpPr>
          <p:cNvPr id="45" name="Text 43"/>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Modül tanımları: Bükülmez vd. (2025), Tablo 1 ve I-AM Istanbul CJM modeli.</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IV · YOLCULUK</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Öğrenciler hangi modülde zorlanıyor?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24</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Aynı stüdyoda otuz proje, dört değerlendirici tarafından altı modül üzerinden yeniden puanlandı (1–5 ölçek). Sonuç, hangi konuda ek çalışma gerektiğini tahmine bırakmıyor.</a:t>
            </a:r>
            <a:endParaRPr lang="en-US" sz="1350" dirty="0"/>
          </a:p>
        </p:txBody>
      </p:sp>
      <p:sp>
        <p:nvSpPr>
          <p:cNvPr id="7" name="Text 5"/>
          <p:cNvSpPr txBox="1"/>
          <p:nvPr/>
        </p:nvSpPr>
        <p:spPr>
          <a:xfrm>
            <a:off x="777240" y="2350008"/>
            <a:ext cx="2887675"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SOMUTLAŞTIRMA VE DETAY FAZINDA MODÜL ORTALAMALARI</a:t>
            </a:r>
            <a:endParaRPr lang="en-US" sz="900" dirty="0"/>
          </a:p>
        </p:txBody>
      </p:sp>
      <p:sp>
        <p:nvSpPr>
          <p:cNvPr id="8" name="Shape 6"/>
          <p:cNvSpPr/>
          <p:nvPr/>
        </p:nvSpPr>
        <p:spPr>
          <a:xfrm>
            <a:off x="3738067" y="2468880"/>
            <a:ext cx="3348533" cy="0"/>
          </a:xfrm>
          <a:prstGeom prst="line">
            <a:avLst/>
          </a:prstGeom>
          <a:noFill/>
          <a:ln w="9525">
            <a:solidFill>
              <a:srgbClr val="EDEDF0"/>
            </a:solidFill>
            <a:prstDash val="solid"/>
          </a:ln>
        </p:spPr>
      </p:sp>
      <p:sp>
        <p:nvSpPr>
          <p:cNvPr id="9" name="Shape 7"/>
          <p:cNvSpPr/>
          <p:nvPr/>
        </p:nvSpPr>
        <p:spPr>
          <a:xfrm>
            <a:off x="3791102" y="2779776"/>
            <a:ext cx="0" cy="2871216"/>
          </a:xfrm>
          <a:prstGeom prst="line">
            <a:avLst/>
          </a:prstGeom>
          <a:noFill/>
          <a:ln w="7620">
            <a:solidFill>
              <a:srgbClr val="EDEDF0"/>
            </a:solidFill>
            <a:prstDash val="solid"/>
          </a:ln>
        </p:spPr>
      </p:sp>
      <p:sp>
        <p:nvSpPr>
          <p:cNvPr id="10" name="Text 8"/>
          <p:cNvSpPr txBox="1"/>
          <p:nvPr/>
        </p:nvSpPr>
        <p:spPr>
          <a:xfrm>
            <a:off x="3608222" y="2542032"/>
            <a:ext cx="365760" cy="274320"/>
          </a:xfrm>
          <a:prstGeom prst="rect">
            <a:avLst/>
          </a:prstGeom>
          <a:noFill/>
          <a:ln/>
        </p:spPr>
        <p:txBody>
          <a:bodyPr wrap="square" lIns="0" tIns="0" rIns="0" bIns="0" rtlCol="0" anchor="ctr"/>
          <a:lstStyle/>
          <a:p>
            <a:pPr algn="ctr" indent="0" marL="0">
              <a:lnSpc>
                <a:spcPts val="1200"/>
              </a:lnSpc>
              <a:buNone/>
            </a:pPr>
            <a:r>
              <a:rPr lang="en-US" sz="800" dirty="0">
                <a:solidFill>
                  <a:srgbClr val="A6A6AC"/>
                </a:solidFill>
                <a:latin typeface="Calibri" pitchFamily="34" charset="0"/>
                <a:ea typeface="Calibri" pitchFamily="34" charset="-122"/>
                <a:cs typeface="Calibri" pitchFamily="34" charset="-120"/>
              </a:rPr>
              <a:t>1</a:t>
            </a:r>
            <a:endParaRPr lang="en-US" sz="800" dirty="0"/>
          </a:p>
        </p:txBody>
      </p:sp>
      <p:sp>
        <p:nvSpPr>
          <p:cNvPr id="11" name="Shape 9"/>
          <p:cNvSpPr/>
          <p:nvPr/>
        </p:nvSpPr>
        <p:spPr>
          <a:xfrm>
            <a:off x="4473245" y="2779776"/>
            <a:ext cx="0" cy="2871216"/>
          </a:xfrm>
          <a:prstGeom prst="line">
            <a:avLst/>
          </a:prstGeom>
          <a:noFill/>
          <a:ln w="7620">
            <a:solidFill>
              <a:srgbClr val="EDEDF0"/>
            </a:solidFill>
            <a:prstDash val="solid"/>
          </a:ln>
        </p:spPr>
      </p:sp>
      <p:sp>
        <p:nvSpPr>
          <p:cNvPr id="12" name="Text 10"/>
          <p:cNvSpPr txBox="1"/>
          <p:nvPr/>
        </p:nvSpPr>
        <p:spPr>
          <a:xfrm>
            <a:off x="4290365" y="2542032"/>
            <a:ext cx="365760" cy="274320"/>
          </a:xfrm>
          <a:prstGeom prst="rect">
            <a:avLst/>
          </a:prstGeom>
          <a:noFill/>
          <a:ln/>
        </p:spPr>
        <p:txBody>
          <a:bodyPr wrap="square" lIns="0" tIns="0" rIns="0" bIns="0" rtlCol="0" anchor="ctr"/>
          <a:lstStyle/>
          <a:p>
            <a:pPr algn="ctr" indent="0" marL="0">
              <a:lnSpc>
                <a:spcPts val="1200"/>
              </a:lnSpc>
              <a:buNone/>
            </a:pPr>
            <a:r>
              <a:rPr lang="en-US" sz="800" dirty="0">
                <a:solidFill>
                  <a:srgbClr val="A6A6AC"/>
                </a:solidFill>
                <a:latin typeface="Calibri" pitchFamily="34" charset="0"/>
                <a:ea typeface="Calibri" pitchFamily="34" charset="-122"/>
                <a:cs typeface="Calibri" pitchFamily="34" charset="-120"/>
              </a:rPr>
              <a:t>2</a:t>
            </a:r>
            <a:endParaRPr lang="en-US" sz="800" dirty="0"/>
          </a:p>
        </p:txBody>
      </p:sp>
      <p:sp>
        <p:nvSpPr>
          <p:cNvPr id="13" name="Shape 11"/>
          <p:cNvSpPr/>
          <p:nvPr/>
        </p:nvSpPr>
        <p:spPr>
          <a:xfrm>
            <a:off x="5155387" y="2779776"/>
            <a:ext cx="0" cy="2871216"/>
          </a:xfrm>
          <a:prstGeom prst="line">
            <a:avLst/>
          </a:prstGeom>
          <a:noFill/>
          <a:ln w="7620">
            <a:solidFill>
              <a:srgbClr val="EDEDF0"/>
            </a:solidFill>
            <a:prstDash val="solid"/>
          </a:ln>
        </p:spPr>
      </p:sp>
      <p:sp>
        <p:nvSpPr>
          <p:cNvPr id="14" name="Text 12"/>
          <p:cNvSpPr txBox="1"/>
          <p:nvPr/>
        </p:nvSpPr>
        <p:spPr>
          <a:xfrm>
            <a:off x="4972507" y="2542032"/>
            <a:ext cx="365760" cy="274320"/>
          </a:xfrm>
          <a:prstGeom prst="rect">
            <a:avLst/>
          </a:prstGeom>
          <a:noFill/>
          <a:ln/>
        </p:spPr>
        <p:txBody>
          <a:bodyPr wrap="square" lIns="0" tIns="0" rIns="0" bIns="0" rtlCol="0" anchor="ctr"/>
          <a:lstStyle/>
          <a:p>
            <a:pPr algn="ctr" indent="0" marL="0">
              <a:lnSpc>
                <a:spcPts val="1200"/>
              </a:lnSpc>
              <a:buNone/>
            </a:pPr>
            <a:r>
              <a:rPr lang="en-US" sz="800" dirty="0">
                <a:solidFill>
                  <a:srgbClr val="A6A6AC"/>
                </a:solidFill>
                <a:latin typeface="Calibri" pitchFamily="34" charset="0"/>
                <a:ea typeface="Calibri" pitchFamily="34" charset="-122"/>
                <a:cs typeface="Calibri" pitchFamily="34" charset="-120"/>
              </a:rPr>
              <a:t>3</a:t>
            </a:r>
            <a:endParaRPr lang="en-US" sz="800" dirty="0"/>
          </a:p>
        </p:txBody>
      </p:sp>
      <p:sp>
        <p:nvSpPr>
          <p:cNvPr id="15" name="Shape 13"/>
          <p:cNvSpPr/>
          <p:nvPr/>
        </p:nvSpPr>
        <p:spPr>
          <a:xfrm>
            <a:off x="5837530" y="2779776"/>
            <a:ext cx="0" cy="2871216"/>
          </a:xfrm>
          <a:prstGeom prst="line">
            <a:avLst/>
          </a:prstGeom>
          <a:noFill/>
          <a:ln w="7620">
            <a:solidFill>
              <a:srgbClr val="EDEDF0"/>
            </a:solidFill>
            <a:prstDash val="solid"/>
          </a:ln>
        </p:spPr>
      </p:sp>
      <p:sp>
        <p:nvSpPr>
          <p:cNvPr id="16" name="Text 14"/>
          <p:cNvSpPr txBox="1"/>
          <p:nvPr/>
        </p:nvSpPr>
        <p:spPr>
          <a:xfrm>
            <a:off x="5654650" y="2542032"/>
            <a:ext cx="365760" cy="274320"/>
          </a:xfrm>
          <a:prstGeom prst="rect">
            <a:avLst/>
          </a:prstGeom>
          <a:noFill/>
          <a:ln/>
        </p:spPr>
        <p:txBody>
          <a:bodyPr wrap="square" lIns="0" tIns="0" rIns="0" bIns="0" rtlCol="0" anchor="ctr"/>
          <a:lstStyle/>
          <a:p>
            <a:pPr algn="ctr" indent="0" marL="0">
              <a:lnSpc>
                <a:spcPts val="1200"/>
              </a:lnSpc>
              <a:buNone/>
            </a:pPr>
            <a:r>
              <a:rPr lang="en-US" sz="800" dirty="0">
                <a:solidFill>
                  <a:srgbClr val="A6A6AC"/>
                </a:solidFill>
                <a:latin typeface="Calibri" pitchFamily="34" charset="0"/>
                <a:ea typeface="Calibri" pitchFamily="34" charset="-122"/>
                <a:cs typeface="Calibri" pitchFamily="34" charset="-120"/>
              </a:rPr>
              <a:t>4</a:t>
            </a:r>
            <a:endParaRPr lang="en-US" sz="800" dirty="0"/>
          </a:p>
        </p:txBody>
      </p:sp>
      <p:sp>
        <p:nvSpPr>
          <p:cNvPr id="17" name="Shape 15"/>
          <p:cNvSpPr/>
          <p:nvPr/>
        </p:nvSpPr>
        <p:spPr>
          <a:xfrm>
            <a:off x="6519672" y="2779776"/>
            <a:ext cx="0" cy="2871216"/>
          </a:xfrm>
          <a:prstGeom prst="line">
            <a:avLst/>
          </a:prstGeom>
          <a:noFill/>
          <a:ln w="7620">
            <a:solidFill>
              <a:srgbClr val="EDEDF0"/>
            </a:solidFill>
            <a:prstDash val="solid"/>
          </a:ln>
        </p:spPr>
      </p:sp>
      <p:sp>
        <p:nvSpPr>
          <p:cNvPr id="18" name="Text 16"/>
          <p:cNvSpPr txBox="1"/>
          <p:nvPr/>
        </p:nvSpPr>
        <p:spPr>
          <a:xfrm>
            <a:off x="6336792" y="2542032"/>
            <a:ext cx="365760" cy="274320"/>
          </a:xfrm>
          <a:prstGeom prst="rect">
            <a:avLst/>
          </a:prstGeom>
          <a:noFill/>
          <a:ln/>
        </p:spPr>
        <p:txBody>
          <a:bodyPr wrap="square" lIns="0" tIns="0" rIns="0" bIns="0" rtlCol="0" anchor="ctr"/>
          <a:lstStyle/>
          <a:p>
            <a:pPr algn="ctr" indent="0" marL="0">
              <a:lnSpc>
                <a:spcPts val="1200"/>
              </a:lnSpc>
              <a:buNone/>
            </a:pPr>
            <a:r>
              <a:rPr lang="en-US" sz="800" dirty="0">
                <a:solidFill>
                  <a:srgbClr val="A6A6AC"/>
                </a:solidFill>
                <a:latin typeface="Calibri" pitchFamily="34" charset="0"/>
                <a:ea typeface="Calibri" pitchFamily="34" charset="-122"/>
                <a:cs typeface="Calibri" pitchFamily="34" charset="-120"/>
              </a:rPr>
              <a:t>5</a:t>
            </a:r>
            <a:endParaRPr lang="en-US" sz="800" dirty="0"/>
          </a:p>
        </p:txBody>
      </p:sp>
      <p:sp>
        <p:nvSpPr>
          <p:cNvPr id="19" name="Text 17"/>
          <p:cNvSpPr txBox="1"/>
          <p:nvPr/>
        </p:nvSpPr>
        <p:spPr>
          <a:xfrm>
            <a:off x="777240" y="2907792"/>
            <a:ext cx="2203704" cy="292608"/>
          </a:xfrm>
          <a:prstGeom prst="rect">
            <a:avLst/>
          </a:prstGeom>
          <a:noFill/>
          <a:ln/>
        </p:spPr>
        <p:txBody>
          <a:bodyPr wrap="square" lIns="0" tIns="0" rIns="0" bIns="0" rtlCol="0" anchor="ctr"/>
          <a:lstStyle/>
          <a:p>
            <a:pPr algn="r" indent="0" marL="0">
              <a:buNone/>
            </a:pPr>
            <a:r>
              <a:rPr lang="en-US" sz="1100" dirty="0">
                <a:solidFill>
                  <a:srgbClr val="2B2B31"/>
                </a:solidFill>
                <a:latin typeface="Calibri" pitchFamily="34" charset="0"/>
                <a:ea typeface="Calibri" pitchFamily="34" charset="-122"/>
                <a:cs typeface="Calibri" pitchFamily="34" charset="-120"/>
              </a:rPr>
              <a:t>Yönelme</a:t>
            </a:r>
            <a:endParaRPr lang="en-US" sz="1100" dirty="0"/>
          </a:p>
        </p:txBody>
      </p:sp>
      <p:sp>
        <p:nvSpPr>
          <p:cNvPr id="20" name="Shape 18"/>
          <p:cNvSpPr/>
          <p:nvPr/>
        </p:nvSpPr>
        <p:spPr>
          <a:xfrm>
            <a:off x="3108960" y="2926080"/>
            <a:ext cx="2360213" cy="292608"/>
          </a:xfrm>
          <a:prstGeom prst="rect">
            <a:avLst/>
          </a:prstGeom>
          <a:solidFill>
            <a:srgbClr val="8C3A2B"/>
          </a:solidFill>
          <a:ln/>
        </p:spPr>
      </p:sp>
      <p:sp>
        <p:nvSpPr>
          <p:cNvPr id="21" name="Text 19"/>
          <p:cNvSpPr txBox="1"/>
          <p:nvPr/>
        </p:nvSpPr>
        <p:spPr>
          <a:xfrm>
            <a:off x="5542325" y="2907792"/>
            <a:ext cx="512064" cy="292608"/>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3.46</a:t>
            </a:r>
            <a:endParaRPr lang="en-US" sz="1000" dirty="0"/>
          </a:p>
        </p:txBody>
      </p:sp>
      <p:sp>
        <p:nvSpPr>
          <p:cNvPr id="22" name="Text 20"/>
          <p:cNvSpPr txBox="1"/>
          <p:nvPr/>
        </p:nvSpPr>
        <p:spPr>
          <a:xfrm>
            <a:off x="777240" y="3383280"/>
            <a:ext cx="2203704" cy="292608"/>
          </a:xfrm>
          <a:prstGeom prst="rect">
            <a:avLst/>
          </a:prstGeom>
          <a:noFill/>
          <a:ln/>
        </p:spPr>
        <p:txBody>
          <a:bodyPr wrap="square" lIns="0" tIns="0" rIns="0" bIns="0" rtlCol="0" anchor="ctr"/>
          <a:lstStyle/>
          <a:p>
            <a:pPr algn="r" indent="0" marL="0">
              <a:buNone/>
            </a:pPr>
            <a:r>
              <a:rPr lang="en-US" sz="1100" dirty="0">
                <a:solidFill>
                  <a:srgbClr val="2B2B31"/>
                </a:solidFill>
                <a:latin typeface="Calibri" pitchFamily="34" charset="0"/>
                <a:ea typeface="Calibri" pitchFamily="34" charset="-122"/>
                <a:cs typeface="Calibri" pitchFamily="34" charset="-120"/>
              </a:rPr>
              <a:t>Gezinme</a:t>
            </a:r>
            <a:endParaRPr lang="en-US" sz="1100" dirty="0"/>
          </a:p>
        </p:txBody>
      </p:sp>
      <p:sp>
        <p:nvSpPr>
          <p:cNvPr id="23" name="Shape 21"/>
          <p:cNvSpPr/>
          <p:nvPr/>
        </p:nvSpPr>
        <p:spPr>
          <a:xfrm>
            <a:off x="3108960" y="3401568"/>
            <a:ext cx="2326106" cy="292608"/>
          </a:xfrm>
          <a:prstGeom prst="rect">
            <a:avLst/>
          </a:prstGeom>
          <a:solidFill>
            <a:srgbClr val="8C3A2B"/>
          </a:solidFill>
          <a:ln/>
        </p:spPr>
      </p:sp>
      <p:sp>
        <p:nvSpPr>
          <p:cNvPr id="24" name="Text 22"/>
          <p:cNvSpPr txBox="1"/>
          <p:nvPr/>
        </p:nvSpPr>
        <p:spPr>
          <a:xfrm>
            <a:off x="5508218" y="3383280"/>
            <a:ext cx="512064" cy="292608"/>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3.41</a:t>
            </a:r>
            <a:endParaRPr lang="en-US" sz="1000" dirty="0"/>
          </a:p>
        </p:txBody>
      </p:sp>
      <p:sp>
        <p:nvSpPr>
          <p:cNvPr id="25" name="Text 23"/>
          <p:cNvSpPr txBox="1"/>
          <p:nvPr/>
        </p:nvSpPr>
        <p:spPr>
          <a:xfrm>
            <a:off x="777240" y="3858768"/>
            <a:ext cx="2203704" cy="292608"/>
          </a:xfrm>
          <a:prstGeom prst="rect">
            <a:avLst/>
          </a:prstGeom>
          <a:noFill/>
          <a:ln/>
        </p:spPr>
        <p:txBody>
          <a:bodyPr wrap="square" lIns="0" tIns="0" rIns="0" bIns="0" rtlCol="0" anchor="ctr"/>
          <a:lstStyle/>
          <a:p>
            <a:pPr algn="r" indent="0" marL="0">
              <a:buNone/>
            </a:pPr>
            <a:r>
              <a:rPr lang="en-US" sz="1100" dirty="0">
                <a:solidFill>
                  <a:srgbClr val="2B2B31"/>
                </a:solidFill>
                <a:latin typeface="Calibri" pitchFamily="34" charset="0"/>
                <a:ea typeface="Calibri" pitchFamily="34" charset="-122"/>
                <a:cs typeface="Calibri" pitchFamily="34" charset="-120"/>
              </a:rPr>
              <a:t>Ürün ve hizmetler</a:t>
            </a:r>
            <a:endParaRPr lang="en-US" sz="1100" dirty="0"/>
          </a:p>
        </p:txBody>
      </p:sp>
      <p:sp>
        <p:nvSpPr>
          <p:cNvPr id="26" name="Shape 24"/>
          <p:cNvSpPr/>
          <p:nvPr/>
        </p:nvSpPr>
        <p:spPr>
          <a:xfrm>
            <a:off x="3108960" y="3877056"/>
            <a:ext cx="2223784" cy="292608"/>
          </a:xfrm>
          <a:prstGeom prst="rect">
            <a:avLst/>
          </a:prstGeom>
          <a:solidFill>
            <a:srgbClr val="8C3A2B"/>
          </a:solidFill>
          <a:ln/>
        </p:spPr>
      </p:sp>
      <p:sp>
        <p:nvSpPr>
          <p:cNvPr id="27" name="Text 25"/>
          <p:cNvSpPr txBox="1"/>
          <p:nvPr/>
        </p:nvSpPr>
        <p:spPr>
          <a:xfrm>
            <a:off x="5405896" y="3858768"/>
            <a:ext cx="512064" cy="292608"/>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3.26</a:t>
            </a:r>
            <a:endParaRPr lang="en-US" sz="1000" dirty="0"/>
          </a:p>
        </p:txBody>
      </p:sp>
      <p:sp>
        <p:nvSpPr>
          <p:cNvPr id="28" name="Text 26"/>
          <p:cNvSpPr txBox="1"/>
          <p:nvPr/>
        </p:nvSpPr>
        <p:spPr>
          <a:xfrm>
            <a:off x="777240" y="4334256"/>
            <a:ext cx="2203704" cy="292608"/>
          </a:xfrm>
          <a:prstGeom prst="rect">
            <a:avLst/>
          </a:prstGeom>
          <a:noFill/>
          <a:ln/>
        </p:spPr>
        <p:txBody>
          <a:bodyPr wrap="square" lIns="0" tIns="0" rIns="0" bIns="0" rtlCol="0" anchor="ctr"/>
          <a:lstStyle/>
          <a:p>
            <a:pPr algn="r" indent="0" marL="0">
              <a:buNone/>
            </a:pPr>
            <a:r>
              <a:rPr lang="en-US" sz="1100" dirty="0">
                <a:solidFill>
                  <a:srgbClr val="2B2B31"/>
                </a:solidFill>
                <a:latin typeface="Calibri" pitchFamily="34" charset="0"/>
                <a:ea typeface="Calibri" pitchFamily="34" charset="-122"/>
                <a:cs typeface="Calibri" pitchFamily="34" charset="-120"/>
              </a:rPr>
              <a:t>Eşik</a:t>
            </a:r>
            <a:endParaRPr lang="en-US" sz="1100" dirty="0"/>
          </a:p>
        </p:txBody>
      </p:sp>
      <p:sp>
        <p:nvSpPr>
          <p:cNvPr id="29" name="Shape 27"/>
          <p:cNvSpPr/>
          <p:nvPr/>
        </p:nvSpPr>
        <p:spPr>
          <a:xfrm>
            <a:off x="3108960" y="4352544"/>
            <a:ext cx="2182856" cy="292608"/>
          </a:xfrm>
          <a:prstGeom prst="rect">
            <a:avLst/>
          </a:prstGeom>
          <a:solidFill>
            <a:srgbClr val="8C3A2B"/>
          </a:solidFill>
          <a:ln/>
        </p:spPr>
      </p:sp>
      <p:sp>
        <p:nvSpPr>
          <p:cNvPr id="30" name="Text 28"/>
          <p:cNvSpPr txBox="1"/>
          <p:nvPr/>
        </p:nvSpPr>
        <p:spPr>
          <a:xfrm>
            <a:off x="5364968" y="4334256"/>
            <a:ext cx="512064" cy="292608"/>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3.20</a:t>
            </a:r>
            <a:endParaRPr lang="en-US" sz="1000" dirty="0"/>
          </a:p>
        </p:txBody>
      </p:sp>
      <p:sp>
        <p:nvSpPr>
          <p:cNvPr id="31" name="Text 29"/>
          <p:cNvSpPr txBox="1"/>
          <p:nvPr/>
        </p:nvSpPr>
        <p:spPr>
          <a:xfrm>
            <a:off x="777240" y="4809744"/>
            <a:ext cx="2203704" cy="292608"/>
          </a:xfrm>
          <a:prstGeom prst="rect">
            <a:avLst/>
          </a:prstGeom>
          <a:noFill/>
          <a:ln/>
        </p:spPr>
        <p:txBody>
          <a:bodyPr wrap="square" lIns="0" tIns="0" rIns="0" bIns="0" rtlCol="0" anchor="ctr"/>
          <a:lstStyle/>
          <a:p>
            <a:pPr algn="r" indent="0" marL="0">
              <a:buNone/>
            </a:pPr>
            <a:r>
              <a:rPr lang="en-US" sz="1100" dirty="0">
                <a:solidFill>
                  <a:srgbClr val="2B2B31"/>
                </a:solidFill>
                <a:latin typeface="Calibri" pitchFamily="34" charset="0"/>
                <a:ea typeface="Calibri" pitchFamily="34" charset="-122"/>
                <a:cs typeface="Calibri" pitchFamily="34" charset="-120"/>
              </a:rPr>
              <a:t>Çekim</a:t>
            </a:r>
            <a:endParaRPr lang="en-US" sz="1100" dirty="0"/>
          </a:p>
        </p:txBody>
      </p:sp>
      <p:sp>
        <p:nvSpPr>
          <p:cNvPr id="32" name="Shape 30"/>
          <p:cNvSpPr/>
          <p:nvPr/>
        </p:nvSpPr>
        <p:spPr>
          <a:xfrm>
            <a:off x="3108960" y="4828032"/>
            <a:ext cx="1964570" cy="292608"/>
          </a:xfrm>
          <a:prstGeom prst="rect">
            <a:avLst/>
          </a:prstGeom>
          <a:solidFill>
            <a:srgbClr val="8C3A2B"/>
          </a:solidFill>
          <a:ln/>
        </p:spPr>
      </p:sp>
      <p:sp>
        <p:nvSpPr>
          <p:cNvPr id="33" name="Text 31"/>
          <p:cNvSpPr txBox="1"/>
          <p:nvPr/>
        </p:nvSpPr>
        <p:spPr>
          <a:xfrm>
            <a:off x="5146682" y="4809744"/>
            <a:ext cx="512064" cy="292608"/>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2.88</a:t>
            </a:r>
            <a:endParaRPr lang="en-US" sz="1000" dirty="0"/>
          </a:p>
        </p:txBody>
      </p:sp>
      <p:sp>
        <p:nvSpPr>
          <p:cNvPr id="34" name="Text 32"/>
          <p:cNvSpPr txBox="1"/>
          <p:nvPr/>
        </p:nvSpPr>
        <p:spPr>
          <a:xfrm>
            <a:off x="777240" y="5285232"/>
            <a:ext cx="2203704" cy="292608"/>
          </a:xfrm>
          <a:prstGeom prst="rect">
            <a:avLst/>
          </a:prstGeom>
          <a:noFill/>
          <a:ln/>
        </p:spPr>
        <p:txBody>
          <a:bodyPr wrap="square" lIns="0" tIns="0" rIns="0" bIns="0" rtlCol="0" anchor="ctr"/>
          <a:lstStyle/>
          <a:p>
            <a:pPr algn="r" indent="0" marL="0">
              <a:buNone/>
            </a:pPr>
            <a:r>
              <a:rPr lang="en-US" sz="1100" dirty="0">
                <a:solidFill>
                  <a:srgbClr val="2B2B31"/>
                </a:solidFill>
                <a:latin typeface="Calibri" pitchFamily="34" charset="0"/>
                <a:ea typeface="Calibri" pitchFamily="34" charset="-122"/>
                <a:cs typeface="Calibri" pitchFamily="34" charset="-120"/>
              </a:rPr>
              <a:t>Organizasyonel ihtiyaçlar</a:t>
            </a:r>
            <a:endParaRPr lang="en-US" sz="1100" dirty="0"/>
          </a:p>
        </p:txBody>
      </p:sp>
      <p:sp>
        <p:nvSpPr>
          <p:cNvPr id="35" name="Shape 33"/>
          <p:cNvSpPr/>
          <p:nvPr/>
        </p:nvSpPr>
        <p:spPr>
          <a:xfrm>
            <a:off x="3108960" y="5303520"/>
            <a:ext cx="1937284" cy="292608"/>
          </a:xfrm>
          <a:prstGeom prst="rect">
            <a:avLst/>
          </a:prstGeom>
          <a:solidFill>
            <a:srgbClr val="8C3A2B"/>
          </a:solidFill>
          <a:ln/>
        </p:spPr>
      </p:sp>
      <p:sp>
        <p:nvSpPr>
          <p:cNvPr id="36" name="Text 34"/>
          <p:cNvSpPr txBox="1"/>
          <p:nvPr/>
        </p:nvSpPr>
        <p:spPr>
          <a:xfrm>
            <a:off x="5119396" y="5285232"/>
            <a:ext cx="512064" cy="292608"/>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2.84</a:t>
            </a:r>
            <a:endParaRPr lang="en-US" sz="1000" dirty="0"/>
          </a:p>
        </p:txBody>
      </p:sp>
      <p:sp>
        <p:nvSpPr>
          <p:cNvPr id="37" name="Shape 35"/>
          <p:cNvSpPr/>
          <p:nvPr/>
        </p:nvSpPr>
        <p:spPr>
          <a:xfrm>
            <a:off x="3108960" y="2779776"/>
            <a:ext cx="0" cy="2871216"/>
          </a:xfrm>
          <a:prstGeom prst="line">
            <a:avLst/>
          </a:prstGeom>
          <a:noFill/>
          <a:ln w="12700">
            <a:solidFill>
              <a:srgbClr val="C9C9CF"/>
            </a:solidFill>
            <a:prstDash val="solid"/>
          </a:ln>
        </p:spPr>
      </p:sp>
      <p:sp>
        <p:nvSpPr>
          <p:cNvPr id="38" name="Shape 36"/>
          <p:cNvSpPr/>
          <p:nvPr/>
        </p:nvSpPr>
        <p:spPr>
          <a:xfrm>
            <a:off x="5271351" y="2706624"/>
            <a:ext cx="0" cy="2980944"/>
          </a:xfrm>
          <a:prstGeom prst="line">
            <a:avLst/>
          </a:prstGeom>
          <a:noFill/>
          <a:ln w="12700">
            <a:solidFill>
              <a:srgbClr val="16161A"/>
            </a:solidFill>
            <a:prstDash val="dash"/>
          </a:ln>
        </p:spPr>
      </p:sp>
      <p:sp>
        <p:nvSpPr>
          <p:cNvPr id="39" name="Text 37"/>
          <p:cNvSpPr txBox="1"/>
          <p:nvPr/>
        </p:nvSpPr>
        <p:spPr>
          <a:xfrm>
            <a:off x="4082631" y="5724144"/>
            <a:ext cx="2377440" cy="274320"/>
          </a:xfrm>
          <a:prstGeom prst="rect">
            <a:avLst/>
          </a:prstGeom>
          <a:noFill/>
          <a:ln/>
        </p:spPr>
        <p:txBody>
          <a:bodyPr wrap="square" lIns="0" tIns="0" rIns="0" bIns="0" rtlCol="0" anchor="ctr"/>
          <a:lstStyle/>
          <a:p>
            <a:pPr algn="ctr" indent="0" marL="0">
              <a:lnSpc>
                <a:spcPts val="1200"/>
              </a:lnSpc>
              <a:buNone/>
            </a:pPr>
            <a:r>
              <a:rPr lang="en-US" sz="850" b="1" dirty="0">
                <a:solidFill>
                  <a:srgbClr val="16161A"/>
                </a:solidFill>
                <a:latin typeface="Calibri" pitchFamily="34" charset="0"/>
                <a:ea typeface="Calibri" pitchFamily="34" charset="-122"/>
                <a:cs typeface="Calibri" pitchFamily="34" charset="-120"/>
              </a:rPr>
              <a:t>faz ortalaması 3,17</a:t>
            </a:r>
            <a:endParaRPr lang="en-US" sz="850" dirty="0"/>
          </a:p>
        </p:txBody>
      </p:sp>
      <p:sp>
        <p:nvSpPr>
          <p:cNvPr id="40" name="Text 38"/>
          <p:cNvSpPr txBox="1"/>
          <p:nvPr/>
        </p:nvSpPr>
        <p:spPr>
          <a:xfrm>
            <a:off x="777240" y="6053328"/>
            <a:ext cx="6309360" cy="274320"/>
          </a:xfrm>
          <a:prstGeom prst="rect">
            <a:avLst/>
          </a:prstGeom>
          <a:noFill/>
          <a:ln/>
        </p:spPr>
        <p:txBody>
          <a:bodyPr wrap="square" lIns="0" tIns="0" rIns="0" bIns="0" rtlCol="0" anchor="ctr"/>
          <a:lstStyle/>
          <a:p>
            <a:pPr algn="l" indent="0" marL="0">
              <a:lnSpc>
                <a:spcPts val="1200"/>
              </a:lnSpc>
              <a:buNone/>
            </a:pPr>
            <a:r>
              <a:rPr lang="en-US" sz="900" i="1" dirty="0">
                <a:solidFill>
                  <a:srgbClr val="A6A6AC"/>
                </a:solidFill>
                <a:latin typeface="Calibri" pitchFamily="34" charset="0"/>
                <a:ea typeface="Calibri" pitchFamily="34" charset="-122"/>
                <a:cs typeface="Calibri" pitchFamily="34" charset="-120"/>
              </a:rPr>
              <a:t>Ölçek: 1 = hiç katılmıyorum, 5 = tamamen katılıyorum. n = 30 proje, 4 değerlendirici.</a:t>
            </a:r>
            <a:endParaRPr lang="en-US" sz="900" dirty="0"/>
          </a:p>
        </p:txBody>
      </p:sp>
      <p:sp>
        <p:nvSpPr>
          <p:cNvPr id="41" name="Text 39"/>
          <p:cNvSpPr txBox="1"/>
          <p:nvPr/>
        </p:nvSpPr>
        <p:spPr>
          <a:xfrm>
            <a:off x="7406640" y="2350008"/>
            <a:ext cx="1300277"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BUNDAN NE ÇIKARIYORUZ</a:t>
            </a:r>
            <a:endParaRPr lang="en-US" sz="900" dirty="0"/>
          </a:p>
        </p:txBody>
      </p:sp>
      <p:sp>
        <p:nvSpPr>
          <p:cNvPr id="42" name="Shape 40"/>
          <p:cNvSpPr/>
          <p:nvPr/>
        </p:nvSpPr>
        <p:spPr>
          <a:xfrm>
            <a:off x="8780069" y="2468880"/>
            <a:ext cx="2631643" cy="0"/>
          </a:xfrm>
          <a:prstGeom prst="line">
            <a:avLst/>
          </a:prstGeom>
          <a:noFill/>
          <a:ln w="9525">
            <a:solidFill>
              <a:srgbClr val="EDEDF0"/>
            </a:solidFill>
            <a:prstDash val="solid"/>
          </a:ln>
        </p:spPr>
      </p:sp>
      <p:sp>
        <p:nvSpPr>
          <p:cNvPr id="43" name="Shape 41"/>
          <p:cNvSpPr/>
          <p:nvPr/>
        </p:nvSpPr>
        <p:spPr>
          <a:xfrm>
            <a:off x="7461504" y="2761488"/>
            <a:ext cx="109728" cy="109728"/>
          </a:xfrm>
          <a:prstGeom prst="ellipse">
            <a:avLst/>
          </a:prstGeom>
          <a:solidFill>
            <a:srgbClr val="8C3A2B"/>
          </a:solidFill>
          <a:ln w="12700">
            <a:solidFill>
              <a:srgbClr val="8C3A2B"/>
            </a:solidFill>
            <a:prstDash val="solid"/>
          </a:ln>
        </p:spPr>
      </p:sp>
      <p:sp>
        <p:nvSpPr>
          <p:cNvPr id="44" name="Text 42"/>
          <p:cNvSpPr txBox="1"/>
          <p:nvPr/>
        </p:nvSpPr>
        <p:spPr>
          <a:xfrm>
            <a:off x="7717536" y="2697480"/>
            <a:ext cx="3694176"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En zayıf iki modül</a:t>
            </a:r>
            <a:endParaRPr lang="en-US" sz="1300" dirty="0"/>
          </a:p>
        </p:txBody>
      </p:sp>
      <p:sp>
        <p:nvSpPr>
          <p:cNvPr id="45" name="Text 43"/>
          <p:cNvSpPr txBox="1"/>
          <p:nvPr/>
        </p:nvSpPr>
        <p:spPr>
          <a:xfrm>
            <a:off x="7717536" y="2971800"/>
            <a:ext cx="3694176" cy="603504"/>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Çekim ve organizasyonel ihtiyaçlar. Biri perakende ve pazarlama bilgisi, diğeri insan ölçüsü ve ergonomi istiyor.</a:t>
            </a:r>
            <a:endParaRPr lang="en-US" sz="1050" dirty="0"/>
          </a:p>
        </p:txBody>
      </p:sp>
      <p:sp>
        <p:nvSpPr>
          <p:cNvPr id="46" name="Shape 44"/>
          <p:cNvSpPr/>
          <p:nvPr/>
        </p:nvSpPr>
        <p:spPr>
          <a:xfrm>
            <a:off x="7461504" y="3694176"/>
            <a:ext cx="109728" cy="109728"/>
          </a:xfrm>
          <a:prstGeom prst="ellipse">
            <a:avLst/>
          </a:prstGeom>
          <a:solidFill>
            <a:srgbClr val="8C3A2B"/>
          </a:solidFill>
          <a:ln w="12700">
            <a:solidFill>
              <a:srgbClr val="8C3A2B"/>
            </a:solidFill>
            <a:prstDash val="solid"/>
          </a:ln>
        </p:spPr>
      </p:sp>
      <p:sp>
        <p:nvSpPr>
          <p:cNvPr id="47" name="Text 45"/>
          <p:cNvSpPr txBox="1"/>
          <p:nvPr/>
        </p:nvSpPr>
        <p:spPr>
          <a:xfrm>
            <a:off x="7717536" y="3630168"/>
            <a:ext cx="3694176"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Analiz fazı daha güçlü</a:t>
            </a:r>
            <a:endParaRPr lang="en-US" sz="1300" dirty="0"/>
          </a:p>
        </p:txBody>
      </p:sp>
      <p:sp>
        <p:nvSpPr>
          <p:cNvPr id="48" name="Text 46"/>
          <p:cNvSpPr txBox="1"/>
          <p:nvPr/>
        </p:nvSpPr>
        <p:spPr>
          <a:xfrm>
            <a:off x="7717536" y="3904488"/>
            <a:ext cx="3694176" cy="603504"/>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Analiz ve konsept fazı ortalaması 3,60; somutlaştırma ve detay fazı 3,17. Fikir kuruluyor, mekâna dönüşmüyor.</a:t>
            </a:r>
            <a:endParaRPr lang="en-US" sz="1050" dirty="0"/>
          </a:p>
        </p:txBody>
      </p:sp>
      <p:sp>
        <p:nvSpPr>
          <p:cNvPr id="49" name="Shape 47"/>
          <p:cNvSpPr/>
          <p:nvPr/>
        </p:nvSpPr>
        <p:spPr>
          <a:xfrm>
            <a:off x="7461504" y="4626864"/>
            <a:ext cx="109728" cy="109728"/>
          </a:xfrm>
          <a:prstGeom prst="ellipse">
            <a:avLst/>
          </a:prstGeom>
          <a:solidFill>
            <a:srgbClr val="8C3A2B"/>
          </a:solidFill>
          <a:ln w="12700">
            <a:solidFill>
              <a:srgbClr val="8C3A2B"/>
            </a:solidFill>
            <a:prstDash val="solid"/>
          </a:ln>
        </p:spPr>
      </p:sp>
      <p:sp>
        <p:nvSpPr>
          <p:cNvPr id="50" name="Text 48"/>
          <p:cNvSpPr txBox="1"/>
          <p:nvPr/>
        </p:nvSpPr>
        <p:spPr>
          <a:xfrm>
            <a:off x="7717536" y="4562856"/>
            <a:ext cx="3694176"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En düşük tek ifade</a:t>
            </a:r>
            <a:endParaRPr lang="en-US" sz="1300" dirty="0"/>
          </a:p>
        </p:txBody>
      </p:sp>
      <p:sp>
        <p:nvSpPr>
          <p:cNvPr id="51" name="Text 49"/>
          <p:cNvSpPr txBox="1"/>
          <p:nvPr/>
        </p:nvSpPr>
        <p:spPr>
          <a:xfrm>
            <a:off x="7717536" y="4837176"/>
            <a:ext cx="3694176" cy="603504"/>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“Mağaza içi yönlendirme öğeleri etkili kullanılmış” — ortalama 2,49. Wayfinding ayrı bir başlık olarak çalışılacak.</a:t>
            </a:r>
            <a:endParaRPr lang="en-US" sz="1050" dirty="0"/>
          </a:p>
        </p:txBody>
      </p:sp>
      <p:sp>
        <p:nvSpPr>
          <p:cNvPr id="52" name="Shape 50"/>
          <p:cNvSpPr/>
          <p:nvPr/>
        </p:nvSpPr>
        <p:spPr>
          <a:xfrm>
            <a:off x="7406640" y="5614416"/>
            <a:ext cx="4005072" cy="585216"/>
          </a:xfrm>
          <a:prstGeom prst="rect">
            <a:avLst/>
          </a:prstGeom>
          <a:solidFill>
            <a:srgbClr val="F6EAE6"/>
          </a:solidFill>
          <a:ln w="15875">
            <a:solidFill>
              <a:srgbClr val="8C3A2B"/>
            </a:solidFill>
            <a:prstDash val="solid"/>
          </a:ln>
        </p:spPr>
      </p:sp>
      <p:sp>
        <p:nvSpPr>
          <p:cNvPr id="53" name="Text 51"/>
          <p:cNvSpPr txBox="1"/>
          <p:nvPr/>
        </p:nvSpPr>
        <p:spPr>
          <a:xfrm>
            <a:off x="7589520" y="5669280"/>
            <a:ext cx="3639312" cy="512064"/>
          </a:xfrm>
          <a:prstGeom prst="rect">
            <a:avLst/>
          </a:prstGeom>
          <a:noFill/>
          <a:ln/>
        </p:spPr>
        <p:txBody>
          <a:bodyPr wrap="square" lIns="0" tIns="0" rIns="0" bIns="0" rtlCol="0" anchor="ctr"/>
          <a:lstStyle/>
          <a:p>
            <a:pPr algn="l" indent="0" marL="0">
              <a:lnSpc>
                <a:spcPts val="1300"/>
              </a:lnSpc>
              <a:buNone/>
            </a:pPr>
            <a:r>
              <a:rPr lang="en-US" sz="1050" dirty="0">
                <a:solidFill>
                  <a:srgbClr val="8C3A2B"/>
                </a:solidFill>
                <a:latin typeface="Cambria" pitchFamily="34" charset="0"/>
                <a:ea typeface="Cambria" pitchFamily="34" charset="-122"/>
                <a:cs typeface="Cambria" pitchFamily="34" charset="-120"/>
              </a:rPr>
              <a:t>Bu yüzden 7., 8. ve 10. haftalarda vitrin, ergonomi ve malzeme–ışık atölyeleri yapılacak.</a:t>
            </a:r>
            <a:endParaRPr lang="en-US" sz="1050" dirty="0"/>
          </a:p>
        </p:txBody>
      </p:sp>
      <p:sp>
        <p:nvSpPr>
          <p:cNvPr id="54" name="Shape 52"/>
          <p:cNvSpPr/>
          <p:nvPr/>
        </p:nvSpPr>
        <p:spPr>
          <a:xfrm>
            <a:off x="7086600" y="2468880"/>
            <a:ext cx="0" cy="3749040"/>
          </a:xfrm>
          <a:prstGeom prst="line">
            <a:avLst/>
          </a:prstGeom>
          <a:noFill/>
          <a:ln w="9525">
            <a:solidFill>
              <a:srgbClr val="C9C9CF"/>
            </a:solidFill>
            <a:prstDash val="solid"/>
          </a:ln>
        </p:spPr>
      </p:sp>
      <p:sp>
        <p:nvSpPr>
          <p:cNvPr id="55" name="Text 53"/>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Veri: Bükülmez vd. (2025), Tablo 2 ve Tablo 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10400" b="1" dirty="0">
                <a:solidFill>
                  <a:srgbClr val="8C3A2B"/>
                </a:solidFill>
                <a:latin typeface="Cambria" pitchFamily="34" charset="0"/>
                <a:ea typeface="Cambria" pitchFamily="34" charset="-122"/>
                <a:cs typeface="Cambria" pitchFamily="34" charset="-120"/>
              </a:rPr>
              <a:t>V</a:t>
            </a:r>
            <a:endParaRPr lang="en-US" sz="104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200" b="1" dirty="0">
                <a:solidFill>
                  <a:srgbClr val="FFFFFF"/>
                </a:solidFill>
                <a:latin typeface="Cambria" pitchFamily="34" charset="0"/>
                <a:ea typeface="Cambria" pitchFamily="34" charset="-122"/>
                <a:cs typeface="Cambria" pitchFamily="34" charset="-120"/>
              </a:rPr>
              <a:t>Anahtar kelimeler nasıl belirlenir?</a:t>
            </a:r>
            <a:endParaRPr lang="en-US" sz="32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Araştırmanın onlarca sıfatından ayakta kalan üç kelime, tasarımın bütün kararlarını sınar.</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 · ANAHTAR KELİME</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Üç aşamalı eleme</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Anahtar kelime, markayı tarif eden onlarca sıfatın içinden ayakta kalanıdır. Seçim rastgele değil; üç elemeden geçer. Sonunda elde üç kelime kalmalıdır — daha fazlası tasarımı dağıtır, daha azı yönlendirmez.</a:t>
            </a:r>
            <a:endParaRPr lang="en-US" sz="1350" dirty="0"/>
          </a:p>
        </p:txBody>
      </p:sp>
      <p:sp>
        <p:nvSpPr>
          <p:cNvPr id="7" name="Shape 5"/>
          <p:cNvSpPr/>
          <p:nvPr/>
        </p:nvSpPr>
        <p:spPr>
          <a:xfrm>
            <a:off x="1339596" y="2377440"/>
            <a:ext cx="9509760" cy="603504"/>
          </a:xfrm>
          <a:prstGeom prst="rect">
            <a:avLst/>
          </a:prstGeom>
          <a:ln w="9525">
            <a:solidFill>
              <a:srgbClr val="C9C9CF"/>
            </a:solidFill>
            <a:prstDash val="solid"/>
          </a:ln>
        </p:spPr>
      </p:sp>
      <p:sp>
        <p:nvSpPr>
          <p:cNvPr id="8" name="Text 6"/>
          <p:cNvSpPr txBox="1"/>
          <p:nvPr/>
        </p:nvSpPr>
        <p:spPr>
          <a:xfrm>
            <a:off x="1522476" y="2441448"/>
            <a:ext cx="914400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Markayla ilgili bütün sıfatlar</a:t>
            </a:r>
            <a:endParaRPr lang="en-US" sz="1400" dirty="0"/>
          </a:p>
        </p:txBody>
      </p:sp>
      <p:sp>
        <p:nvSpPr>
          <p:cNvPr id="9" name="Text 7"/>
          <p:cNvSpPr txBox="1"/>
          <p:nvPr/>
        </p:nvSpPr>
        <p:spPr>
          <a:xfrm>
            <a:off x="1522476" y="2715768"/>
            <a:ext cx="9144000" cy="237744"/>
          </a:xfrm>
          <a:prstGeom prst="rect">
            <a:avLst/>
          </a:prstGeom>
          <a:noFill/>
          <a:ln/>
        </p:spPr>
        <p:txBody>
          <a:bodyPr wrap="square" lIns="0" tIns="0" rIns="0" bIns="0" rtlCol="0" anchor="ctr"/>
          <a:lstStyle/>
          <a:p>
            <a:pPr algn="ctr" indent="0" marL="0">
              <a:buNone/>
            </a:pPr>
            <a:r>
              <a:rPr lang="en-US" sz="1000" dirty="0">
                <a:solidFill>
                  <a:srgbClr val="7A7A82"/>
                </a:solidFill>
                <a:latin typeface="Calibri" pitchFamily="34" charset="0"/>
                <a:ea typeface="Calibri" pitchFamily="34" charset="-122"/>
                <a:cs typeface="Calibri" pitchFamily="34" charset="-120"/>
              </a:rPr>
              <a:t>araştırmadan çıkan ham liste · 20–30 kelime</a:t>
            </a:r>
            <a:endParaRPr lang="en-US" sz="1000" dirty="0"/>
          </a:p>
        </p:txBody>
      </p:sp>
      <p:sp>
        <p:nvSpPr>
          <p:cNvPr id="10" name="Shape 8"/>
          <p:cNvSpPr/>
          <p:nvPr/>
        </p:nvSpPr>
        <p:spPr>
          <a:xfrm>
            <a:off x="909828" y="2560320"/>
            <a:ext cx="237744" cy="237744"/>
          </a:xfrm>
          <a:prstGeom prst="ellipse">
            <a:avLst/>
          </a:prstGeom>
          <a:solidFill>
            <a:srgbClr val="8C3A2B"/>
          </a:solidFill>
          <a:ln w="12700">
            <a:solidFill>
              <a:srgbClr val="8C3A2B"/>
            </a:solidFill>
            <a:prstDash val="solid"/>
          </a:ln>
        </p:spPr>
      </p:sp>
      <p:sp>
        <p:nvSpPr>
          <p:cNvPr id="11" name="Text 9"/>
          <p:cNvSpPr txBox="1"/>
          <p:nvPr/>
        </p:nvSpPr>
        <p:spPr>
          <a:xfrm>
            <a:off x="909828" y="2560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2" name="Shape 10"/>
          <p:cNvSpPr/>
          <p:nvPr/>
        </p:nvSpPr>
        <p:spPr>
          <a:xfrm>
            <a:off x="6094476" y="3017520"/>
            <a:ext cx="0" cy="237744"/>
          </a:xfrm>
          <a:prstGeom prst="line">
            <a:avLst/>
          </a:prstGeom>
          <a:noFill/>
          <a:ln w="17780">
            <a:solidFill>
              <a:srgbClr val="8C3A2B"/>
            </a:solidFill>
            <a:prstDash val="solid"/>
            <a:tailEnd type="triangle"/>
          </a:ln>
        </p:spPr>
      </p:sp>
      <p:sp>
        <p:nvSpPr>
          <p:cNvPr id="13" name="Shape 11"/>
          <p:cNvSpPr/>
          <p:nvPr/>
        </p:nvSpPr>
        <p:spPr>
          <a:xfrm>
            <a:off x="2482596" y="3291840"/>
            <a:ext cx="7223760" cy="603504"/>
          </a:xfrm>
          <a:prstGeom prst="rect">
            <a:avLst/>
          </a:prstGeom>
          <a:ln w="9525">
            <a:solidFill>
              <a:srgbClr val="C9C9CF"/>
            </a:solidFill>
            <a:prstDash val="solid"/>
          </a:ln>
        </p:spPr>
      </p:sp>
      <p:sp>
        <p:nvSpPr>
          <p:cNvPr id="14" name="Text 12"/>
          <p:cNvSpPr txBox="1"/>
          <p:nvPr/>
        </p:nvSpPr>
        <p:spPr>
          <a:xfrm>
            <a:off x="2665476" y="3355848"/>
            <a:ext cx="685800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Rakiplerin söyleyemeyecekleri</a:t>
            </a:r>
            <a:endParaRPr lang="en-US" sz="1400" dirty="0"/>
          </a:p>
        </p:txBody>
      </p:sp>
      <p:sp>
        <p:nvSpPr>
          <p:cNvPr id="15" name="Text 13"/>
          <p:cNvSpPr txBox="1"/>
          <p:nvPr/>
        </p:nvSpPr>
        <p:spPr>
          <a:xfrm>
            <a:off x="2665476" y="3630168"/>
            <a:ext cx="6858000" cy="237744"/>
          </a:xfrm>
          <a:prstGeom prst="rect">
            <a:avLst/>
          </a:prstGeom>
          <a:noFill/>
          <a:ln/>
        </p:spPr>
        <p:txBody>
          <a:bodyPr wrap="square" lIns="0" tIns="0" rIns="0" bIns="0" rtlCol="0" anchor="ctr"/>
          <a:lstStyle/>
          <a:p>
            <a:pPr algn="ctr" indent="0" marL="0">
              <a:buNone/>
            </a:pPr>
            <a:r>
              <a:rPr lang="en-US" sz="1000" dirty="0">
                <a:solidFill>
                  <a:srgbClr val="7A7A82"/>
                </a:solidFill>
                <a:latin typeface="Calibri" pitchFamily="34" charset="0"/>
                <a:ea typeface="Calibri" pitchFamily="34" charset="-122"/>
                <a:cs typeface="Calibri" pitchFamily="34" charset="-120"/>
              </a:rPr>
              <a:t>herkesin söylediği sıfatlar elenir</a:t>
            </a:r>
            <a:endParaRPr lang="en-US" sz="1000" dirty="0"/>
          </a:p>
        </p:txBody>
      </p:sp>
      <p:sp>
        <p:nvSpPr>
          <p:cNvPr id="16" name="Shape 14"/>
          <p:cNvSpPr/>
          <p:nvPr/>
        </p:nvSpPr>
        <p:spPr>
          <a:xfrm>
            <a:off x="2052828" y="3474720"/>
            <a:ext cx="237744" cy="237744"/>
          </a:xfrm>
          <a:prstGeom prst="ellipse">
            <a:avLst/>
          </a:prstGeom>
          <a:solidFill>
            <a:srgbClr val="8C3A2B"/>
          </a:solidFill>
          <a:ln w="12700">
            <a:solidFill>
              <a:srgbClr val="8C3A2B"/>
            </a:solidFill>
            <a:prstDash val="solid"/>
          </a:ln>
        </p:spPr>
      </p:sp>
      <p:sp>
        <p:nvSpPr>
          <p:cNvPr id="17" name="Text 15"/>
          <p:cNvSpPr txBox="1"/>
          <p:nvPr/>
        </p:nvSpPr>
        <p:spPr>
          <a:xfrm>
            <a:off x="2052828" y="34747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8" name="Shape 16"/>
          <p:cNvSpPr/>
          <p:nvPr/>
        </p:nvSpPr>
        <p:spPr>
          <a:xfrm>
            <a:off x="6094476" y="3931920"/>
            <a:ext cx="0" cy="237744"/>
          </a:xfrm>
          <a:prstGeom prst="line">
            <a:avLst/>
          </a:prstGeom>
          <a:noFill/>
          <a:ln w="17780">
            <a:solidFill>
              <a:srgbClr val="8C3A2B"/>
            </a:solidFill>
            <a:prstDash val="solid"/>
            <a:tailEnd type="triangle"/>
          </a:ln>
        </p:spPr>
      </p:sp>
      <p:sp>
        <p:nvSpPr>
          <p:cNvPr id="19" name="Shape 17"/>
          <p:cNvSpPr/>
          <p:nvPr/>
        </p:nvSpPr>
        <p:spPr>
          <a:xfrm>
            <a:off x="3625596" y="4206240"/>
            <a:ext cx="4937760" cy="603504"/>
          </a:xfrm>
          <a:prstGeom prst="rect">
            <a:avLst/>
          </a:prstGeom>
          <a:ln w="9525">
            <a:solidFill>
              <a:srgbClr val="C9C9CF"/>
            </a:solidFill>
            <a:prstDash val="solid"/>
          </a:ln>
        </p:spPr>
      </p:sp>
      <p:sp>
        <p:nvSpPr>
          <p:cNvPr id="20" name="Text 18"/>
          <p:cNvSpPr txBox="1"/>
          <p:nvPr/>
        </p:nvSpPr>
        <p:spPr>
          <a:xfrm>
            <a:off x="3808476" y="4270248"/>
            <a:ext cx="4572000" cy="274320"/>
          </a:xfrm>
          <a:prstGeom prst="rect">
            <a:avLst/>
          </a:prstGeom>
          <a:noFill/>
          <a:ln/>
        </p:spPr>
        <p:txBody>
          <a:bodyPr wrap="square" lIns="0" tIns="0" rIns="0" bIns="0" rtlCol="0" anchor="ctr"/>
          <a:lstStyle/>
          <a:p>
            <a:pPr algn="ctr" indent="0" marL="0">
              <a:buNone/>
            </a:pPr>
            <a:r>
              <a:rPr lang="en-US" sz="1400" b="1" dirty="0">
                <a:solidFill>
                  <a:srgbClr val="16161A"/>
                </a:solidFill>
                <a:latin typeface="Cambria" pitchFamily="34" charset="0"/>
                <a:ea typeface="Cambria" pitchFamily="34" charset="-122"/>
                <a:cs typeface="Cambria" pitchFamily="34" charset="-120"/>
              </a:rPr>
              <a:t>Mekânda karşılığı olanlar</a:t>
            </a:r>
            <a:endParaRPr lang="en-US" sz="1400" dirty="0"/>
          </a:p>
        </p:txBody>
      </p:sp>
      <p:sp>
        <p:nvSpPr>
          <p:cNvPr id="21" name="Text 19"/>
          <p:cNvSpPr txBox="1"/>
          <p:nvPr/>
        </p:nvSpPr>
        <p:spPr>
          <a:xfrm>
            <a:off x="3808476" y="4544568"/>
            <a:ext cx="4572000" cy="237744"/>
          </a:xfrm>
          <a:prstGeom prst="rect">
            <a:avLst/>
          </a:prstGeom>
          <a:noFill/>
          <a:ln/>
        </p:spPr>
        <p:txBody>
          <a:bodyPr wrap="square" lIns="0" tIns="0" rIns="0" bIns="0" rtlCol="0" anchor="ctr"/>
          <a:lstStyle/>
          <a:p>
            <a:pPr algn="ctr" indent="0" marL="0">
              <a:buNone/>
            </a:pPr>
            <a:r>
              <a:rPr lang="en-US" sz="1000" dirty="0">
                <a:solidFill>
                  <a:srgbClr val="7A7A82"/>
                </a:solidFill>
                <a:latin typeface="Calibri" pitchFamily="34" charset="0"/>
                <a:ea typeface="Calibri" pitchFamily="34" charset="-122"/>
                <a:cs typeface="Calibri" pitchFamily="34" charset="-120"/>
              </a:rPr>
              <a:t>bir ölçüye, malzemeye, ilişkiye çevrilebilenler kalır</a:t>
            </a:r>
            <a:endParaRPr lang="en-US" sz="1000" dirty="0"/>
          </a:p>
        </p:txBody>
      </p:sp>
      <p:sp>
        <p:nvSpPr>
          <p:cNvPr id="22" name="Shape 20"/>
          <p:cNvSpPr/>
          <p:nvPr/>
        </p:nvSpPr>
        <p:spPr>
          <a:xfrm>
            <a:off x="3195828" y="4389120"/>
            <a:ext cx="237744" cy="237744"/>
          </a:xfrm>
          <a:prstGeom prst="ellipse">
            <a:avLst/>
          </a:prstGeom>
          <a:solidFill>
            <a:srgbClr val="8C3A2B"/>
          </a:solidFill>
          <a:ln w="12700">
            <a:solidFill>
              <a:srgbClr val="8C3A2B"/>
            </a:solidFill>
            <a:prstDash val="solid"/>
          </a:ln>
        </p:spPr>
      </p:sp>
      <p:sp>
        <p:nvSpPr>
          <p:cNvPr id="23" name="Text 21"/>
          <p:cNvSpPr txBox="1"/>
          <p:nvPr/>
        </p:nvSpPr>
        <p:spPr>
          <a:xfrm>
            <a:off x="3195828" y="43891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4" name="Shape 22"/>
          <p:cNvSpPr/>
          <p:nvPr/>
        </p:nvSpPr>
        <p:spPr>
          <a:xfrm>
            <a:off x="6094476" y="4846320"/>
            <a:ext cx="0" cy="237744"/>
          </a:xfrm>
          <a:prstGeom prst="line">
            <a:avLst/>
          </a:prstGeom>
          <a:noFill/>
          <a:ln w="17780">
            <a:solidFill>
              <a:srgbClr val="8C3A2B"/>
            </a:solidFill>
            <a:prstDash val="solid"/>
            <a:tailEnd type="triangle"/>
          </a:ln>
        </p:spPr>
      </p:sp>
      <p:sp>
        <p:nvSpPr>
          <p:cNvPr id="25" name="Shape 23"/>
          <p:cNvSpPr/>
          <p:nvPr/>
        </p:nvSpPr>
        <p:spPr>
          <a:xfrm>
            <a:off x="4082796" y="5120640"/>
            <a:ext cx="4023360" cy="603504"/>
          </a:xfrm>
          <a:prstGeom prst="rect">
            <a:avLst/>
          </a:prstGeom>
          <a:solidFill>
            <a:srgbClr val="F6EAE6"/>
          </a:solidFill>
          <a:ln w="15875">
            <a:solidFill>
              <a:srgbClr val="8C3A2B"/>
            </a:solidFill>
            <a:prstDash val="solid"/>
          </a:ln>
        </p:spPr>
      </p:sp>
      <p:sp>
        <p:nvSpPr>
          <p:cNvPr id="26" name="Text 24"/>
          <p:cNvSpPr txBox="1"/>
          <p:nvPr/>
        </p:nvSpPr>
        <p:spPr>
          <a:xfrm>
            <a:off x="4265676" y="5184648"/>
            <a:ext cx="3657600" cy="274320"/>
          </a:xfrm>
          <a:prstGeom prst="rect">
            <a:avLst/>
          </a:prstGeom>
          <a:noFill/>
          <a:ln/>
        </p:spPr>
        <p:txBody>
          <a:bodyPr wrap="square" lIns="0" tIns="0" rIns="0" bIns="0" rtlCol="0" anchor="ctr"/>
          <a:lstStyle/>
          <a:p>
            <a:pPr algn="ctr" indent="0" marL="0">
              <a:buNone/>
            </a:pPr>
            <a:r>
              <a:rPr lang="en-US" sz="1600" b="1" dirty="0">
                <a:solidFill>
                  <a:srgbClr val="8C3A2B"/>
                </a:solidFill>
                <a:latin typeface="Cambria" pitchFamily="34" charset="0"/>
                <a:ea typeface="Cambria" pitchFamily="34" charset="-122"/>
                <a:cs typeface="Cambria" pitchFamily="34" charset="-120"/>
              </a:rPr>
              <a:t>ÜÇ ANAHTAR KELİME</a:t>
            </a:r>
            <a:endParaRPr lang="en-US" sz="1600" dirty="0"/>
          </a:p>
        </p:txBody>
      </p:sp>
      <p:sp>
        <p:nvSpPr>
          <p:cNvPr id="27" name="Text 25"/>
          <p:cNvSpPr txBox="1"/>
          <p:nvPr/>
        </p:nvSpPr>
        <p:spPr>
          <a:xfrm>
            <a:off x="4265676" y="5458968"/>
            <a:ext cx="3657600" cy="237744"/>
          </a:xfrm>
          <a:prstGeom prst="rect">
            <a:avLst/>
          </a:prstGeom>
          <a:noFill/>
          <a:ln/>
        </p:spPr>
        <p:txBody>
          <a:bodyPr wrap="square" lIns="0" tIns="0" rIns="0" bIns="0" rtlCol="0" anchor="ctr"/>
          <a:lstStyle/>
          <a:p>
            <a:pPr algn="ctr" indent="0" marL="0">
              <a:buNone/>
            </a:pPr>
            <a:r>
              <a:rPr lang="en-US" sz="1000" dirty="0">
                <a:solidFill>
                  <a:srgbClr val="8C3A2B"/>
                </a:solidFill>
                <a:latin typeface="Calibri" pitchFamily="34" charset="0"/>
                <a:ea typeface="Calibri" pitchFamily="34" charset="-122"/>
                <a:cs typeface="Calibri" pitchFamily="34" charset="-120"/>
              </a:rPr>
              <a:t>tasarımın her kararını sınayan üç sıfat</a:t>
            </a:r>
            <a:endParaRPr lang="en-US" sz="1000" dirty="0"/>
          </a:p>
        </p:txBody>
      </p:sp>
      <p:sp>
        <p:nvSpPr>
          <p:cNvPr id="28" name="Text 26"/>
          <p:cNvSpPr txBox="1"/>
          <p:nvPr/>
        </p:nvSpPr>
        <p:spPr>
          <a:xfrm>
            <a:off x="777240" y="5577840"/>
            <a:ext cx="777240" cy="274320"/>
          </a:xfrm>
          <a:prstGeom prst="rect">
            <a:avLst/>
          </a:prstGeom>
          <a:noFill/>
          <a:ln/>
        </p:spPr>
        <p:txBody>
          <a:bodyPr wrap="square" lIns="0" tIns="0" rIns="0" bIns="0" rtlCol="0" anchor="ctr"/>
          <a:lstStyle/>
          <a:p>
            <a:pPr indent="0" marL="0">
              <a:buNone/>
            </a:pPr>
            <a:r>
              <a:rPr lang="en-US" sz="1000" b="1" spc="80" kern="0" dirty="0">
                <a:solidFill>
                  <a:srgbClr val="8C3A2B"/>
                </a:solidFill>
                <a:latin typeface="Calibri" pitchFamily="34" charset="0"/>
                <a:ea typeface="Calibri" pitchFamily="34" charset="-122"/>
                <a:cs typeface="Calibri" pitchFamily="34" charset="-120"/>
              </a:rPr>
              <a:t>1 → 2</a:t>
            </a:r>
            <a:endParaRPr lang="en-US" sz="1000" dirty="0"/>
          </a:p>
        </p:txBody>
      </p:sp>
      <p:sp>
        <p:nvSpPr>
          <p:cNvPr id="29" name="Text 27"/>
          <p:cNvSpPr txBox="1"/>
          <p:nvPr/>
        </p:nvSpPr>
        <p:spPr>
          <a:xfrm>
            <a:off x="1600200" y="5577840"/>
            <a:ext cx="2697480" cy="512064"/>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Rakibin da söyleyebileceği her sıfat çıkar.</a:t>
            </a:r>
            <a:endParaRPr lang="en-US" sz="1050" dirty="0"/>
          </a:p>
        </p:txBody>
      </p:sp>
      <p:sp>
        <p:nvSpPr>
          <p:cNvPr id="30" name="Text 28"/>
          <p:cNvSpPr txBox="1"/>
          <p:nvPr/>
        </p:nvSpPr>
        <p:spPr>
          <a:xfrm>
            <a:off x="4389120" y="5577840"/>
            <a:ext cx="777240" cy="274320"/>
          </a:xfrm>
          <a:prstGeom prst="rect">
            <a:avLst/>
          </a:prstGeom>
          <a:noFill/>
          <a:ln/>
        </p:spPr>
        <p:txBody>
          <a:bodyPr wrap="square" lIns="0" tIns="0" rIns="0" bIns="0" rtlCol="0" anchor="ctr"/>
          <a:lstStyle/>
          <a:p>
            <a:pPr indent="0" marL="0">
              <a:buNone/>
            </a:pPr>
            <a:r>
              <a:rPr lang="en-US" sz="1000" b="1" spc="80" kern="0" dirty="0">
                <a:solidFill>
                  <a:srgbClr val="8C3A2B"/>
                </a:solidFill>
                <a:latin typeface="Calibri" pitchFamily="34" charset="0"/>
                <a:ea typeface="Calibri" pitchFamily="34" charset="-122"/>
                <a:cs typeface="Calibri" pitchFamily="34" charset="-120"/>
              </a:rPr>
              <a:t>2 → 3</a:t>
            </a:r>
            <a:endParaRPr lang="en-US" sz="1000" dirty="0"/>
          </a:p>
        </p:txBody>
      </p:sp>
      <p:sp>
        <p:nvSpPr>
          <p:cNvPr id="31" name="Text 29"/>
          <p:cNvSpPr txBox="1"/>
          <p:nvPr/>
        </p:nvSpPr>
        <p:spPr>
          <a:xfrm>
            <a:off x="5212080" y="5577840"/>
            <a:ext cx="2697480" cy="512064"/>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Bir ölçüye çevrilemeyen her sıfat çıkar.</a:t>
            </a:r>
            <a:endParaRPr lang="en-US" sz="1050" dirty="0"/>
          </a:p>
        </p:txBody>
      </p:sp>
      <p:sp>
        <p:nvSpPr>
          <p:cNvPr id="32" name="Text 30"/>
          <p:cNvSpPr txBox="1"/>
          <p:nvPr/>
        </p:nvSpPr>
        <p:spPr>
          <a:xfrm>
            <a:off x="8001000" y="5577840"/>
            <a:ext cx="777240" cy="274320"/>
          </a:xfrm>
          <a:prstGeom prst="rect">
            <a:avLst/>
          </a:prstGeom>
          <a:noFill/>
          <a:ln/>
        </p:spPr>
        <p:txBody>
          <a:bodyPr wrap="square" lIns="0" tIns="0" rIns="0" bIns="0" rtlCol="0" anchor="ctr"/>
          <a:lstStyle/>
          <a:p>
            <a:pPr indent="0" marL="0">
              <a:buNone/>
            </a:pPr>
            <a:r>
              <a:rPr lang="en-US" sz="1000" b="1" spc="80" kern="0" dirty="0">
                <a:solidFill>
                  <a:srgbClr val="8C3A2B"/>
                </a:solidFill>
                <a:latin typeface="Calibri" pitchFamily="34" charset="0"/>
                <a:ea typeface="Calibri" pitchFamily="34" charset="-122"/>
                <a:cs typeface="Calibri" pitchFamily="34" charset="-120"/>
              </a:rPr>
              <a:t>3 → üç</a:t>
            </a:r>
            <a:endParaRPr lang="en-US" sz="1000" dirty="0"/>
          </a:p>
        </p:txBody>
      </p:sp>
      <p:sp>
        <p:nvSpPr>
          <p:cNvPr id="33" name="Text 31"/>
          <p:cNvSpPr txBox="1"/>
          <p:nvPr/>
        </p:nvSpPr>
        <p:spPr>
          <a:xfrm>
            <a:off x="8823960" y="5577840"/>
            <a:ext cx="2697480" cy="512064"/>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Kalanlardan birbirini tekrar edenler birleşir.</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 · ANAHTAR KELİME</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Kelime sınavı</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Öğrenci paftalarında en sık görülen anahtar kelimeler, hiçbir markayı diğerinden ayırmayan kelimelerdir. Bir sıfatın anahtar kelime sayılabilmesi için tek bir sınav vardır.</a:t>
            </a:r>
            <a:endParaRPr lang="en-US" sz="1350" dirty="0"/>
          </a:p>
        </p:txBody>
      </p:sp>
      <p:sp>
        <p:nvSpPr>
          <p:cNvPr id="7" name="Text 5"/>
          <p:cNvSpPr txBox="1"/>
          <p:nvPr/>
        </p:nvSpPr>
        <p:spPr>
          <a:xfrm>
            <a:off x="777240" y="2258568"/>
            <a:ext cx="1016813" cy="237744"/>
          </a:xfrm>
          <a:prstGeom prst="rect">
            <a:avLst/>
          </a:prstGeom>
          <a:noFill/>
          <a:ln/>
        </p:spPr>
        <p:txBody>
          <a:bodyPr wrap="square" lIns="0" tIns="0" rIns="0" bIns="0" rtlCol="0" anchor="ctr"/>
          <a:lstStyle/>
          <a:p>
            <a:pPr indent="0" marL="0">
              <a:buNone/>
            </a:pPr>
            <a:r>
              <a:rPr lang="en-US" sz="900" b="1" spc="170" kern="0" dirty="0">
                <a:solidFill>
                  <a:srgbClr val="7A7A82"/>
                </a:solidFill>
                <a:latin typeface="Calibri" pitchFamily="34" charset="0"/>
                <a:ea typeface="Calibri" pitchFamily="34" charset="-122"/>
                <a:cs typeface="Calibri" pitchFamily="34" charset="-120"/>
              </a:rPr>
              <a:t>SINAVDA KALANLAR</a:t>
            </a:r>
            <a:endParaRPr lang="en-US" sz="900" dirty="0"/>
          </a:p>
        </p:txBody>
      </p:sp>
      <p:sp>
        <p:nvSpPr>
          <p:cNvPr id="8" name="Shape 6"/>
          <p:cNvSpPr/>
          <p:nvPr/>
        </p:nvSpPr>
        <p:spPr>
          <a:xfrm>
            <a:off x="1867205" y="2377440"/>
            <a:ext cx="3939235" cy="0"/>
          </a:xfrm>
          <a:prstGeom prst="line">
            <a:avLst/>
          </a:prstGeom>
          <a:noFill/>
          <a:ln w="9525">
            <a:solidFill>
              <a:srgbClr val="EDEDF0"/>
            </a:solidFill>
            <a:prstDash val="solid"/>
          </a:ln>
        </p:spPr>
      </p:sp>
      <p:sp>
        <p:nvSpPr>
          <p:cNvPr id="9" name="Text 7"/>
          <p:cNvSpPr txBox="1"/>
          <p:nvPr/>
        </p:nvSpPr>
        <p:spPr>
          <a:xfrm>
            <a:off x="777240" y="2651760"/>
            <a:ext cx="1737360" cy="274320"/>
          </a:xfrm>
          <a:prstGeom prst="rect">
            <a:avLst/>
          </a:prstGeom>
          <a:noFill/>
          <a:ln/>
        </p:spPr>
        <p:txBody>
          <a:bodyPr wrap="square" lIns="0" tIns="0" rIns="0" bIns="0" rtlCol="0" anchor="ctr"/>
          <a:lstStyle/>
          <a:p>
            <a:pPr indent="0" marL="0">
              <a:buNone/>
            </a:pPr>
            <a:r>
              <a:rPr lang="en-US" sz="1400" strike="sngStrike" dirty="0">
                <a:solidFill>
                  <a:srgbClr val="A6A6AC"/>
                </a:solidFill>
                <a:latin typeface="Cambria" pitchFamily="34" charset="0"/>
                <a:ea typeface="Cambria" pitchFamily="34" charset="-122"/>
                <a:cs typeface="Cambria" pitchFamily="34" charset="-120"/>
              </a:rPr>
              <a:t>Kaliteli</a:t>
            </a:r>
            <a:endParaRPr lang="en-US" sz="1400" dirty="0"/>
          </a:p>
        </p:txBody>
      </p:sp>
      <p:sp>
        <p:nvSpPr>
          <p:cNvPr id="10" name="Text 8"/>
          <p:cNvSpPr txBox="1"/>
          <p:nvPr/>
        </p:nvSpPr>
        <p:spPr>
          <a:xfrm>
            <a:off x="2560320" y="2679192"/>
            <a:ext cx="3246120" cy="320040"/>
          </a:xfrm>
          <a:prstGeom prst="rect">
            <a:avLst/>
          </a:prstGeom>
          <a:noFill/>
          <a:ln/>
        </p:spPr>
        <p:txBody>
          <a:bodyPr wrap="square" lIns="0" tIns="0" rIns="0" bIns="0" rtlCol="0" anchor="ctr"/>
          <a:lstStyle/>
          <a:p>
            <a:pPr indent="0" marL="0">
              <a:buNone/>
            </a:pPr>
            <a:r>
              <a:rPr lang="en-US" sz="1000" dirty="0">
                <a:solidFill>
                  <a:srgbClr val="A6A6AC"/>
                </a:solidFill>
                <a:latin typeface="Calibri" pitchFamily="34" charset="0"/>
                <a:ea typeface="Calibri" pitchFamily="34" charset="-122"/>
                <a:cs typeface="Calibri" pitchFamily="34" charset="-120"/>
              </a:rPr>
              <a:t>hiçbir marka kalitesiz olmak istemez</a:t>
            </a:r>
            <a:endParaRPr lang="en-US" sz="1000" dirty="0"/>
          </a:p>
        </p:txBody>
      </p:sp>
      <p:sp>
        <p:nvSpPr>
          <p:cNvPr id="11" name="Text 9"/>
          <p:cNvSpPr txBox="1"/>
          <p:nvPr/>
        </p:nvSpPr>
        <p:spPr>
          <a:xfrm>
            <a:off x="777240" y="3108960"/>
            <a:ext cx="1737360" cy="274320"/>
          </a:xfrm>
          <a:prstGeom prst="rect">
            <a:avLst/>
          </a:prstGeom>
          <a:noFill/>
          <a:ln/>
        </p:spPr>
        <p:txBody>
          <a:bodyPr wrap="square" lIns="0" tIns="0" rIns="0" bIns="0" rtlCol="0" anchor="ctr"/>
          <a:lstStyle/>
          <a:p>
            <a:pPr indent="0" marL="0">
              <a:buNone/>
            </a:pPr>
            <a:r>
              <a:rPr lang="en-US" sz="1400" strike="sngStrike" dirty="0">
                <a:solidFill>
                  <a:srgbClr val="A6A6AC"/>
                </a:solidFill>
                <a:latin typeface="Cambria" pitchFamily="34" charset="0"/>
                <a:ea typeface="Cambria" pitchFamily="34" charset="-122"/>
                <a:cs typeface="Cambria" pitchFamily="34" charset="-120"/>
              </a:rPr>
              <a:t>Modern</a:t>
            </a:r>
            <a:endParaRPr lang="en-US" sz="1400" dirty="0"/>
          </a:p>
        </p:txBody>
      </p:sp>
      <p:sp>
        <p:nvSpPr>
          <p:cNvPr id="12" name="Text 10"/>
          <p:cNvSpPr txBox="1"/>
          <p:nvPr/>
        </p:nvSpPr>
        <p:spPr>
          <a:xfrm>
            <a:off x="2560320" y="3136392"/>
            <a:ext cx="3246120" cy="320040"/>
          </a:xfrm>
          <a:prstGeom prst="rect">
            <a:avLst/>
          </a:prstGeom>
          <a:noFill/>
          <a:ln/>
        </p:spPr>
        <p:txBody>
          <a:bodyPr wrap="square" lIns="0" tIns="0" rIns="0" bIns="0" rtlCol="0" anchor="ctr"/>
          <a:lstStyle/>
          <a:p>
            <a:pPr indent="0" marL="0">
              <a:buNone/>
            </a:pPr>
            <a:r>
              <a:rPr lang="en-US" sz="1000" dirty="0">
                <a:solidFill>
                  <a:srgbClr val="A6A6AC"/>
                </a:solidFill>
                <a:latin typeface="Calibri" pitchFamily="34" charset="0"/>
                <a:ea typeface="Calibri" pitchFamily="34" charset="-122"/>
                <a:cs typeface="Calibri" pitchFamily="34" charset="-120"/>
              </a:rPr>
              <a:t>hangi modernlik: tarih mi, tavır mı?</a:t>
            </a:r>
            <a:endParaRPr lang="en-US" sz="1000" dirty="0"/>
          </a:p>
        </p:txBody>
      </p:sp>
      <p:sp>
        <p:nvSpPr>
          <p:cNvPr id="13" name="Text 11"/>
          <p:cNvSpPr txBox="1"/>
          <p:nvPr/>
        </p:nvSpPr>
        <p:spPr>
          <a:xfrm>
            <a:off x="777240" y="3566160"/>
            <a:ext cx="1737360" cy="274320"/>
          </a:xfrm>
          <a:prstGeom prst="rect">
            <a:avLst/>
          </a:prstGeom>
          <a:noFill/>
          <a:ln/>
        </p:spPr>
        <p:txBody>
          <a:bodyPr wrap="square" lIns="0" tIns="0" rIns="0" bIns="0" rtlCol="0" anchor="ctr"/>
          <a:lstStyle/>
          <a:p>
            <a:pPr indent="0" marL="0">
              <a:buNone/>
            </a:pPr>
            <a:r>
              <a:rPr lang="en-US" sz="1400" strike="sngStrike" dirty="0">
                <a:solidFill>
                  <a:srgbClr val="A6A6AC"/>
                </a:solidFill>
                <a:latin typeface="Cambria" pitchFamily="34" charset="0"/>
                <a:ea typeface="Cambria" pitchFamily="34" charset="-122"/>
                <a:cs typeface="Cambria" pitchFamily="34" charset="-120"/>
              </a:rPr>
              <a:t>Özel</a:t>
            </a:r>
            <a:endParaRPr lang="en-US" sz="1400" dirty="0"/>
          </a:p>
        </p:txBody>
      </p:sp>
      <p:sp>
        <p:nvSpPr>
          <p:cNvPr id="14" name="Text 12"/>
          <p:cNvSpPr txBox="1"/>
          <p:nvPr/>
        </p:nvSpPr>
        <p:spPr>
          <a:xfrm>
            <a:off x="2560320" y="3593592"/>
            <a:ext cx="3246120" cy="320040"/>
          </a:xfrm>
          <a:prstGeom prst="rect">
            <a:avLst/>
          </a:prstGeom>
          <a:noFill/>
          <a:ln/>
        </p:spPr>
        <p:txBody>
          <a:bodyPr wrap="square" lIns="0" tIns="0" rIns="0" bIns="0" rtlCol="0" anchor="ctr"/>
          <a:lstStyle/>
          <a:p>
            <a:pPr indent="0" marL="0">
              <a:buNone/>
            </a:pPr>
            <a:r>
              <a:rPr lang="en-US" sz="1000" dirty="0">
                <a:solidFill>
                  <a:srgbClr val="A6A6AC"/>
                </a:solidFill>
                <a:latin typeface="Calibri" pitchFamily="34" charset="0"/>
                <a:ea typeface="Calibri" pitchFamily="34" charset="-122"/>
                <a:cs typeface="Calibri" pitchFamily="34" charset="-120"/>
              </a:rPr>
              <a:t>kime göre, neye göre özel?</a:t>
            </a:r>
            <a:endParaRPr lang="en-US" sz="1000" dirty="0"/>
          </a:p>
        </p:txBody>
      </p:sp>
      <p:sp>
        <p:nvSpPr>
          <p:cNvPr id="15" name="Text 13"/>
          <p:cNvSpPr txBox="1"/>
          <p:nvPr/>
        </p:nvSpPr>
        <p:spPr>
          <a:xfrm>
            <a:off x="777240" y="4023360"/>
            <a:ext cx="1737360" cy="274320"/>
          </a:xfrm>
          <a:prstGeom prst="rect">
            <a:avLst/>
          </a:prstGeom>
          <a:noFill/>
          <a:ln/>
        </p:spPr>
        <p:txBody>
          <a:bodyPr wrap="square" lIns="0" tIns="0" rIns="0" bIns="0" rtlCol="0" anchor="ctr"/>
          <a:lstStyle/>
          <a:p>
            <a:pPr indent="0" marL="0">
              <a:buNone/>
            </a:pPr>
            <a:r>
              <a:rPr lang="en-US" sz="1400" strike="sngStrike" dirty="0">
                <a:solidFill>
                  <a:srgbClr val="A6A6AC"/>
                </a:solidFill>
                <a:latin typeface="Cambria" pitchFamily="34" charset="0"/>
                <a:ea typeface="Cambria" pitchFamily="34" charset="-122"/>
                <a:cs typeface="Cambria" pitchFamily="34" charset="-120"/>
              </a:rPr>
              <a:t>Şık</a:t>
            </a:r>
            <a:endParaRPr lang="en-US" sz="1400" dirty="0"/>
          </a:p>
        </p:txBody>
      </p:sp>
      <p:sp>
        <p:nvSpPr>
          <p:cNvPr id="16" name="Text 14"/>
          <p:cNvSpPr txBox="1"/>
          <p:nvPr/>
        </p:nvSpPr>
        <p:spPr>
          <a:xfrm>
            <a:off x="2560320" y="4050792"/>
            <a:ext cx="3246120" cy="320040"/>
          </a:xfrm>
          <a:prstGeom prst="rect">
            <a:avLst/>
          </a:prstGeom>
          <a:noFill/>
          <a:ln/>
        </p:spPr>
        <p:txBody>
          <a:bodyPr wrap="square" lIns="0" tIns="0" rIns="0" bIns="0" rtlCol="0" anchor="ctr"/>
          <a:lstStyle/>
          <a:p>
            <a:pPr indent="0" marL="0">
              <a:buNone/>
            </a:pPr>
            <a:r>
              <a:rPr lang="en-US" sz="1000" dirty="0">
                <a:solidFill>
                  <a:srgbClr val="A6A6AC"/>
                </a:solidFill>
                <a:latin typeface="Calibri" pitchFamily="34" charset="0"/>
                <a:ea typeface="Calibri" pitchFamily="34" charset="-122"/>
                <a:cs typeface="Calibri" pitchFamily="34" charset="-120"/>
              </a:rPr>
              <a:t>bir ölçüye çevrilemez</a:t>
            </a:r>
            <a:endParaRPr lang="en-US" sz="1000" dirty="0"/>
          </a:p>
        </p:txBody>
      </p:sp>
      <p:sp>
        <p:nvSpPr>
          <p:cNvPr id="17" name="Text 15"/>
          <p:cNvSpPr txBox="1"/>
          <p:nvPr/>
        </p:nvSpPr>
        <p:spPr>
          <a:xfrm>
            <a:off x="777240" y="4480560"/>
            <a:ext cx="1737360" cy="274320"/>
          </a:xfrm>
          <a:prstGeom prst="rect">
            <a:avLst/>
          </a:prstGeom>
          <a:noFill/>
          <a:ln/>
        </p:spPr>
        <p:txBody>
          <a:bodyPr wrap="square" lIns="0" tIns="0" rIns="0" bIns="0" rtlCol="0" anchor="ctr"/>
          <a:lstStyle/>
          <a:p>
            <a:pPr indent="0" marL="0">
              <a:buNone/>
            </a:pPr>
            <a:r>
              <a:rPr lang="en-US" sz="1400" strike="sngStrike" dirty="0">
                <a:solidFill>
                  <a:srgbClr val="A6A6AC"/>
                </a:solidFill>
                <a:latin typeface="Cambria" pitchFamily="34" charset="0"/>
                <a:ea typeface="Cambria" pitchFamily="34" charset="-122"/>
                <a:cs typeface="Cambria" pitchFamily="34" charset="-120"/>
              </a:rPr>
              <a:t>Müşteri odaklı</a:t>
            </a:r>
            <a:endParaRPr lang="en-US" sz="1400" dirty="0"/>
          </a:p>
        </p:txBody>
      </p:sp>
      <p:sp>
        <p:nvSpPr>
          <p:cNvPr id="18" name="Text 16"/>
          <p:cNvSpPr txBox="1"/>
          <p:nvPr/>
        </p:nvSpPr>
        <p:spPr>
          <a:xfrm>
            <a:off x="2560320" y="4507992"/>
            <a:ext cx="3246120" cy="320040"/>
          </a:xfrm>
          <a:prstGeom prst="rect">
            <a:avLst/>
          </a:prstGeom>
          <a:noFill/>
          <a:ln/>
        </p:spPr>
        <p:txBody>
          <a:bodyPr wrap="square" lIns="0" tIns="0" rIns="0" bIns="0" rtlCol="0" anchor="ctr"/>
          <a:lstStyle/>
          <a:p>
            <a:pPr indent="0" marL="0">
              <a:buNone/>
            </a:pPr>
            <a:r>
              <a:rPr lang="en-US" sz="1000" dirty="0">
                <a:solidFill>
                  <a:srgbClr val="A6A6AC"/>
                </a:solidFill>
                <a:latin typeface="Calibri" pitchFamily="34" charset="0"/>
                <a:ea typeface="Calibri" pitchFamily="34" charset="-122"/>
                <a:cs typeface="Calibri" pitchFamily="34" charset="-120"/>
              </a:rPr>
              <a:t>bir mekân kararı üretmez</a:t>
            </a:r>
            <a:endParaRPr lang="en-US" sz="1000" dirty="0"/>
          </a:p>
        </p:txBody>
      </p:sp>
      <p:sp>
        <p:nvSpPr>
          <p:cNvPr id="19" name="Text 17"/>
          <p:cNvSpPr txBox="1"/>
          <p:nvPr/>
        </p:nvSpPr>
        <p:spPr>
          <a:xfrm>
            <a:off x="777240" y="4937760"/>
            <a:ext cx="1737360" cy="274320"/>
          </a:xfrm>
          <a:prstGeom prst="rect">
            <a:avLst/>
          </a:prstGeom>
          <a:noFill/>
          <a:ln/>
        </p:spPr>
        <p:txBody>
          <a:bodyPr wrap="square" lIns="0" tIns="0" rIns="0" bIns="0" rtlCol="0" anchor="ctr"/>
          <a:lstStyle/>
          <a:p>
            <a:pPr indent="0" marL="0">
              <a:buNone/>
            </a:pPr>
            <a:r>
              <a:rPr lang="en-US" sz="1400" strike="sngStrike" dirty="0">
                <a:solidFill>
                  <a:srgbClr val="A6A6AC"/>
                </a:solidFill>
                <a:latin typeface="Cambria" pitchFamily="34" charset="0"/>
                <a:ea typeface="Cambria" pitchFamily="34" charset="-122"/>
                <a:cs typeface="Cambria" pitchFamily="34" charset="-120"/>
              </a:rPr>
              <a:t>Samimi</a:t>
            </a:r>
            <a:endParaRPr lang="en-US" sz="1400" dirty="0"/>
          </a:p>
        </p:txBody>
      </p:sp>
      <p:sp>
        <p:nvSpPr>
          <p:cNvPr id="20" name="Text 18"/>
          <p:cNvSpPr txBox="1"/>
          <p:nvPr/>
        </p:nvSpPr>
        <p:spPr>
          <a:xfrm>
            <a:off x="2560320" y="4965192"/>
            <a:ext cx="3246120" cy="320040"/>
          </a:xfrm>
          <a:prstGeom prst="rect">
            <a:avLst/>
          </a:prstGeom>
          <a:noFill/>
          <a:ln/>
        </p:spPr>
        <p:txBody>
          <a:bodyPr wrap="square" lIns="0" tIns="0" rIns="0" bIns="0" rtlCol="0" anchor="ctr"/>
          <a:lstStyle/>
          <a:p>
            <a:pPr indent="0" marL="0">
              <a:buNone/>
            </a:pPr>
            <a:r>
              <a:rPr lang="en-US" sz="1000" dirty="0">
                <a:solidFill>
                  <a:srgbClr val="A6A6AC"/>
                </a:solidFill>
                <a:latin typeface="Calibri" pitchFamily="34" charset="0"/>
                <a:ea typeface="Calibri" pitchFamily="34" charset="-122"/>
                <a:cs typeface="Calibri" pitchFamily="34" charset="-120"/>
              </a:rPr>
              <a:t>ölçüsü yok; herkes iddia eder</a:t>
            </a:r>
            <a:endParaRPr lang="en-US" sz="1000" dirty="0"/>
          </a:p>
        </p:txBody>
      </p:sp>
      <p:sp>
        <p:nvSpPr>
          <p:cNvPr id="21" name="Text 19"/>
          <p:cNvSpPr txBox="1"/>
          <p:nvPr/>
        </p:nvSpPr>
        <p:spPr>
          <a:xfrm>
            <a:off x="6382512" y="2258568"/>
            <a:ext cx="960120"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SINAVI GEÇENLER</a:t>
            </a:r>
            <a:endParaRPr lang="en-US" sz="900" dirty="0"/>
          </a:p>
        </p:txBody>
      </p:sp>
      <p:sp>
        <p:nvSpPr>
          <p:cNvPr id="22" name="Shape 20"/>
          <p:cNvSpPr/>
          <p:nvPr/>
        </p:nvSpPr>
        <p:spPr>
          <a:xfrm>
            <a:off x="7415784" y="2377440"/>
            <a:ext cx="3995928" cy="0"/>
          </a:xfrm>
          <a:prstGeom prst="line">
            <a:avLst/>
          </a:prstGeom>
          <a:noFill/>
          <a:ln w="9525">
            <a:solidFill>
              <a:srgbClr val="EBD7D1"/>
            </a:solidFill>
            <a:prstDash val="solid"/>
          </a:ln>
        </p:spPr>
      </p:sp>
      <p:sp>
        <p:nvSpPr>
          <p:cNvPr id="23" name="Text 21"/>
          <p:cNvSpPr txBox="1"/>
          <p:nvPr/>
        </p:nvSpPr>
        <p:spPr>
          <a:xfrm>
            <a:off x="6382512" y="2651760"/>
            <a:ext cx="114300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Ham</a:t>
            </a:r>
            <a:endParaRPr lang="en-US" sz="1400" dirty="0"/>
          </a:p>
        </p:txBody>
      </p:sp>
      <p:sp>
        <p:nvSpPr>
          <p:cNvPr id="24" name="Text 22"/>
          <p:cNvSpPr txBox="1"/>
          <p:nvPr/>
        </p:nvSpPr>
        <p:spPr>
          <a:xfrm>
            <a:off x="7571232" y="2679192"/>
            <a:ext cx="1371600"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 işlenmiş</a:t>
            </a:r>
            <a:endParaRPr lang="en-US" sz="1000" dirty="0"/>
          </a:p>
        </p:txBody>
      </p:sp>
      <p:sp>
        <p:nvSpPr>
          <p:cNvPr id="25" name="Text 23"/>
          <p:cNvSpPr txBox="1"/>
          <p:nvPr/>
        </p:nvSpPr>
        <p:spPr>
          <a:xfrm>
            <a:off x="9034272" y="2679192"/>
            <a:ext cx="2377440" cy="274320"/>
          </a:xfrm>
          <a:prstGeom prst="rect">
            <a:avLst/>
          </a:prstGeom>
          <a:noFill/>
          <a:ln/>
        </p:spPr>
        <p:txBody>
          <a:bodyPr wrap="square" lIns="0" tIns="0" rIns="0" bIns="0" rtlCol="0" anchor="ctr"/>
          <a:lstStyle/>
          <a:p>
            <a:pPr indent="0" marL="0">
              <a:buNone/>
            </a:pPr>
            <a:r>
              <a:rPr lang="en-US" sz="1000" dirty="0">
                <a:solidFill>
                  <a:srgbClr val="8C3A2B"/>
                </a:solidFill>
                <a:latin typeface="Calibri" pitchFamily="34" charset="0"/>
                <a:ea typeface="Calibri" pitchFamily="34" charset="-122"/>
                <a:cs typeface="Calibri" pitchFamily="34" charset="-120"/>
              </a:rPr>
              <a:t>yüzey, birleşim, bitiş</a:t>
            </a:r>
            <a:endParaRPr lang="en-US" sz="1000" dirty="0"/>
          </a:p>
        </p:txBody>
      </p:sp>
      <p:sp>
        <p:nvSpPr>
          <p:cNvPr id="26" name="Text 24"/>
          <p:cNvSpPr txBox="1"/>
          <p:nvPr/>
        </p:nvSpPr>
        <p:spPr>
          <a:xfrm>
            <a:off x="6382512" y="3108960"/>
            <a:ext cx="114300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Yavaş</a:t>
            </a:r>
            <a:endParaRPr lang="en-US" sz="1400" dirty="0"/>
          </a:p>
        </p:txBody>
      </p:sp>
      <p:sp>
        <p:nvSpPr>
          <p:cNvPr id="27" name="Text 25"/>
          <p:cNvSpPr txBox="1"/>
          <p:nvPr/>
        </p:nvSpPr>
        <p:spPr>
          <a:xfrm>
            <a:off x="7571232" y="3136392"/>
            <a:ext cx="1371600"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 hızlı</a:t>
            </a:r>
            <a:endParaRPr lang="en-US" sz="1000" dirty="0"/>
          </a:p>
        </p:txBody>
      </p:sp>
      <p:sp>
        <p:nvSpPr>
          <p:cNvPr id="28" name="Text 26"/>
          <p:cNvSpPr txBox="1"/>
          <p:nvPr/>
        </p:nvSpPr>
        <p:spPr>
          <a:xfrm>
            <a:off x="9034272" y="3136392"/>
            <a:ext cx="2377440" cy="274320"/>
          </a:xfrm>
          <a:prstGeom prst="rect">
            <a:avLst/>
          </a:prstGeom>
          <a:noFill/>
          <a:ln/>
        </p:spPr>
        <p:txBody>
          <a:bodyPr wrap="square" lIns="0" tIns="0" rIns="0" bIns="0" rtlCol="0" anchor="ctr"/>
          <a:lstStyle/>
          <a:p>
            <a:pPr indent="0" marL="0">
              <a:buNone/>
            </a:pPr>
            <a:r>
              <a:rPr lang="en-US" sz="1000" dirty="0">
                <a:solidFill>
                  <a:srgbClr val="8C3A2B"/>
                </a:solidFill>
                <a:latin typeface="Calibri" pitchFamily="34" charset="0"/>
                <a:ea typeface="Calibri" pitchFamily="34" charset="-122"/>
                <a:cs typeface="Calibri" pitchFamily="34" charset="-120"/>
              </a:rPr>
              <a:t>dolaşım, kalma süresi</a:t>
            </a:r>
            <a:endParaRPr lang="en-US" sz="1000" dirty="0"/>
          </a:p>
        </p:txBody>
      </p:sp>
      <p:sp>
        <p:nvSpPr>
          <p:cNvPr id="29" name="Text 27"/>
          <p:cNvSpPr txBox="1"/>
          <p:nvPr/>
        </p:nvSpPr>
        <p:spPr>
          <a:xfrm>
            <a:off x="6382512" y="3566160"/>
            <a:ext cx="114300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Yoğun</a:t>
            </a:r>
            <a:endParaRPr lang="en-US" sz="1400" dirty="0"/>
          </a:p>
        </p:txBody>
      </p:sp>
      <p:sp>
        <p:nvSpPr>
          <p:cNvPr id="30" name="Text 28"/>
          <p:cNvSpPr txBox="1"/>
          <p:nvPr/>
        </p:nvSpPr>
        <p:spPr>
          <a:xfrm>
            <a:off x="7571232" y="3593592"/>
            <a:ext cx="1371600"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 seyrek</a:t>
            </a:r>
            <a:endParaRPr lang="en-US" sz="1000" dirty="0"/>
          </a:p>
        </p:txBody>
      </p:sp>
      <p:sp>
        <p:nvSpPr>
          <p:cNvPr id="31" name="Text 29"/>
          <p:cNvSpPr txBox="1"/>
          <p:nvPr/>
        </p:nvSpPr>
        <p:spPr>
          <a:xfrm>
            <a:off x="9034272" y="3593592"/>
            <a:ext cx="2377440" cy="274320"/>
          </a:xfrm>
          <a:prstGeom prst="rect">
            <a:avLst/>
          </a:prstGeom>
          <a:noFill/>
          <a:ln/>
        </p:spPr>
        <p:txBody>
          <a:bodyPr wrap="square" lIns="0" tIns="0" rIns="0" bIns="0" rtlCol="0" anchor="ctr"/>
          <a:lstStyle/>
          <a:p>
            <a:pPr indent="0" marL="0">
              <a:buNone/>
            </a:pPr>
            <a:r>
              <a:rPr lang="en-US" sz="1000" dirty="0">
                <a:solidFill>
                  <a:srgbClr val="8C3A2B"/>
                </a:solidFill>
                <a:latin typeface="Calibri" pitchFamily="34" charset="0"/>
                <a:ea typeface="Calibri" pitchFamily="34" charset="-122"/>
                <a:cs typeface="Calibri" pitchFamily="34" charset="-120"/>
              </a:rPr>
              <a:t>teşhir sıklığı, ürün/m²</a:t>
            </a:r>
            <a:endParaRPr lang="en-US" sz="1000" dirty="0"/>
          </a:p>
        </p:txBody>
      </p:sp>
      <p:sp>
        <p:nvSpPr>
          <p:cNvPr id="32" name="Text 30"/>
          <p:cNvSpPr txBox="1"/>
          <p:nvPr/>
        </p:nvSpPr>
        <p:spPr>
          <a:xfrm>
            <a:off x="6382512" y="4023360"/>
            <a:ext cx="114300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Gizli</a:t>
            </a:r>
            <a:endParaRPr lang="en-US" sz="1400" dirty="0"/>
          </a:p>
        </p:txBody>
      </p:sp>
      <p:sp>
        <p:nvSpPr>
          <p:cNvPr id="33" name="Text 31"/>
          <p:cNvSpPr txBox="1"/>
          <p:nvPr/>
        </p:nvSpPr>
        <p:spPr>
          <a:xfrm>
            <a:off x="7571232" y="4050792"/>
            <a:ext cx="1371600"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 açık</a:t>
            </a:r>
            <a:endParaRPr lang="en-US" sz="1000" dirty="0"/>
          </a:p>
        </p:txBody>
      </p:sp>
      <p:sp>
        <p:nvSpPr>
          <p:cNvPr id="34" name="Text 32"/>
          <p:cNvSpPr txBox="1"/>
          <p:nvPr/>
        </p:nvSpPr>
        <p:spPr>
          <a:xfrm>
            <a:off x="9034272" y="4050792"/>
            <a:ext cx="2377440" cy="274320"/>
          </a:xfrm>
          <a:prstGeom prst="rect">
            <a:avLst/>
          </a:prstGeom>
          <a:noFill/>
          <a:ln/>
        </p:spPr>
        <p:txBody>
          <a:bodyPr wrap="square" lIns="0" tIns="0" rIns="0" bIns="0" rtlCol="0" anchor="ctr"/>
          <a:lstStyle/>
          <a:p>
            <a:pPr indent="0" marL="0">
              <a:buNone/>
            </a:pPr>
            <a:r>
              <a:rPr lang="en-US" sz="1000" dirty="0">
                <a:solidFill>
                  <a:srgbClr val="8C3A2B"/>
                </a:solidFill>
                <a:latin typeface="Calibri" pitchFamily="34" charset="0"/>
                <a:ea typeface="Calibri" pitchFamily="34" charset="-122"/>
                <a:cs typeface="Calibri" pitchFamily="34" charset="-120"/>
              </a:rPr>
              <a:t>görüş hattı, katman</a:t>
            </a:r>
            <a:endParaRPr lang="en-US" sz="1000" dirty="0"/>
          </a:p>
        </p:txBody>
      </p:sp>
      <p:sp>
        <p:nvSpPr>
          <p:cNvPr id="35" name="Text 33"/>
          <p:cNvSpPr txBox="1"/>
          <p:nvPr/>
        </p:nvSpPr>
        <p:spPr>
          <a:xfrm>
            <a:off x="6382512" y="4480560"/>
            <a:ext cx="114300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Törensel</a:t>
            </a:r>
            <a:endParaRPr lang="en-US" sz="1400" dirty="0"/>
          </a:p>
        </p:txBody>
      </p:sp>
      <p:sp>
        <p:nvSpPr>
          <p:cNvPr id="36" name="Text 34"/>
          <p:cNvSpPr txBox="1"/>
          <p:nvPr/>
        </p:nvSpPr>
        <p:spPr>
          <a:xfrm>
            <a:off x="7571232" y="4507992"/>
            <a:ext cx="1371600"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 gündelik</a:t>
            </a:r>
            <a:endParaRPr lang="en-US" sz="1000" dirty="0"/>
          </a:p>
        </p:txBody>
      </p:sp>
      <p:sp>
        <p:nvSpPr>
          <p:cNvPr id="37" name="Text 35"/>
          <p:cNvSpPr txBox="1"/>
          <p:nvPr/>
        </p:nvSpPr>
        <p:spPr>
          <a:xfrm>
            <a:off x="9034272" y="4507992"/>
            <a:ext cx="2377440" cy="274320"/>
          </a:xfrm>
          <a:prstGeom prst="rect">
            <a:avLst/>
          </a:prstGeom>
          <a:noFill/>
          <a:ln/>
        </p:spPr>
        <p:txBody>
          <a:bodyPr wrap="square" lIns="0" tIns="0" rIns="0" bIns="0" rtlCol="0" anchor="ctr"/>
          <a:lstStyle/>
          <a:p>
            <a:pPr indent="0" marL="0">
              <a:buNone/>
            </a:pPr>
            <a:r>
              <a:rPr lang="en-US" sz="1000" dirty="0">
                <a:solidFill>
                  <a:srgbClr val="8C3A2B"/>
                </a:solidFill>
                <a:latin typeface="Calibri" pitchFamily="34" charset="0"/>
                <a:ea typeface="Calibri" pitchFamily="34" charset="-122"/>
                <a:cs typeface="Calibri" pitchFamily="34" charset="-120"/>
              </a:rPr>
              <a:t>kasa, paketleme, veda</a:t>
            </a:r>
            <a:endParaRPr lang="en-US" sz="1000" dirty="0"/>
          </a:p>
        </p:txBody>
      </p:sp>
      <p:sp>
        <p:nvSpPr>
          <p:cNvPr id="38" name="Text 36"/>
          <p:cNvSpPr txBox="1"/>
          <p:nvPr/>
        </p:nvSpPr>
        <p:spPr>
          <a:xfrm>
            <a:off x="6382512" y="4937760"/>
            <a:ext cx="114300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Sert</a:t>
            </a:r>
            <a:endParaRPr lang="en-US" sz="1400" dirty="0"/>
          </a:p>
        </p:txBody>
      </p:sp>
      <p:sp>
        <p:nvSpPr>
          <p:cNvPr id="39" name="Text 37"/>
          <p:cNvSpPr txBox="1"/>
          <p:nvPr/>
        </p:nvSpPr>
        <p:spPr>
          <a:xfrm>
            <a:off x="7571232" y="4965192"/>
            <a:ext cx="1371600" cy="274320"/>
          </a:xfrm>
          <a:prstGeom prst="rect">
            <a:avLst/>
          </a:prstGeom>
          <a:noFill/>
          <a:ln/>
        </p:spPr>
        <p:txBody>
          <a:bodyPr wrap="square" lIns="0" tIns="0" rIns="0" bIns="0" rtlCol="0" anchor="ctr"/>
          <a:lstStyle/>
          <a:p>
            <a:pPr indent="0" marL="0">
              <a:buNone/>
            </a:pPr>
            <a:r>
              <a:rPr lang="en-US" sz="1000" i="1" dirty="0">
                <a:solidFill>
                  <a:srgbClr val="7A7A82"/>
                </a:solidFill>
                <a:latin typeface="Calibri" pitchFamily="34" charset="0"/>
                <a:ea typeface="Calibri" pitchFamily="34" charset="-122"/>
                <a:cs typeface="Calibri" pitchFamily="34" charset="-120"/>
              </a:rPr>
              <a:t>↔ yumuşak</a:t>
            </a:r>
            <a:endParaRPr lang="en-US" sz="1000" dirty="0"/>
          </a:p>
        </p:txBody>
      </p:sp>
      <p:sp>
        <p:nvSpPr>
          <p:cNvPr id="40" name="Text 38"/>
          <p:cNvSpPr txBox="1"/>
          <p:nvPr/>
        </p:nvSpPr>
        <p:spPr>
          <a:xfrm>
            <a:off x="9034272" y="4965192"/>
            <a:ext cx="2377440" cy="274320"/>
          </a:xfrm>
          <a:prstGeom prst="rect">
            <a:avLst/>
          </a:prstGeom>
          <a:noFill/>
          <a:ln/>
        </p:spPr>
        <p:txBody>
          <a:bodyPr wrap="square" lIns="0" tIns="0" rIns="0" bIns="0" rtlCol="0" anchor="ctr"/>
          <a:lstStyle/>
          <a:p>
            <a:pPr indent="0" marL="0">
              <a:buNone/>
            </a:pPr>
            <a:r>
              <a:rPr lang="en-US" sz="1000" dirty="0">
                <a:solidFill>
                  <a:srgbClr val="8C3A2B"/>
                </a:solidFill>
                <a:latin typeface="Calibri" pitchFamily="34" charset="0"/>
                <a:ea typeface="Calibri" pitchFamily="34" charset="-122"/>
                <a:cs typeface="Calibri" pitchFamily="34" charset="-120"/>
              </a:rPr>
              <a:t>malzeme, akustik, ışık</a:t>
            </a:r>
            <a:endParaRPr lang="en-US" sz="1000" dirty="0"/>
          </a:p>
        </p:txBody>
      </p:sp>
      <p:sp>
        <p:nvSpPr>
          <p:cNvPr id="41" name="Text 39"/>
          <p:cNvSpPr txBox="1"/>
          <p:nvPr/>
        </p:nvSpPr>
        <p:spPr>
          <a:xfrm>
            <a:off x="7571232" y="2432304"/>
            <a:ext cx="1371600" cy="274320"/>
          </a:xfrm>
          <a:prstGeom prst="rect">
            <a:avLst/>
          </a:prstGeom>
          <a:noFill/>
          <a:ln/>
        </p:spPr>
        <p:txBody>
          <a:bodyPr wrap="square" lIns="0" tIns="0" rIns="0" bIns="0" rtlCol="0" anchor="ctr"/>
          <a:lstStyle/>
          <a:p>
            <a:pPr algn="l" indent="0" marL="0">
              <a:lnSpc>
                <a:spcPts val="1200"/>
              </a:lnSpc>
              <a:buNone/>
            </a:pPr>
            <a:r>
              <a:rPr lang="en-US" sz="800" b="1" spc="130" kern="0" dirty="0">
                <a:solidFill>
                  <a:srgbClr val="A6A6AC"/>
                </a:solidFill>
                <a:latin typeface="Calibri" pitchFamily="34" charset="0"/>
                <a:ea typeface="Calibri" pitchFamily="34" charset="-122"/>
                <a:cs typeface="Calibri" pitchFamily="34" charset="-120"/>
              </a:rPr>
              <a:t>ZITTI</a:t>
            </a:r>
            <a:endParaRPr lang="en-US" sz="800" dirty="0"/>
          </a:p>
        </p:txBody>
      </p:sp>
      <p:sp>
        <p:nvSpPr>
          <p:cNvPr id="42" name="Text 40"/>
          <p:cNvSpPr txBox="1"/>
          <p:nvPr/>
        </p:nvSpPr>
        <p:spPr>
          <a:xfrm>
            <a:off x="9034272" y="2432304"/>
            <a:ext cx="2377440" cy="274320"/>
          </a:xfrm>
          <a:prstGeom prst="rect">
            <a:avLst/>
          </a:prstGeom>
          <a:noFill/>
          <a:ln/>
        </p:spPr>
        <p:txBody>
          <a:bodyPr wrap="square" lIns="0" tIns="0" rIns="0" bIns="0" rtlCol="0" anchor="ctr"/>
          <a:lstStyle/>
          <a:p>
            <a:pPr algn="l" indent="0" marL="0">
              <a:lnSpc>
                <a:spcPts val="1200"/>
              </a:lnSpc>
              <a:buNone/>
            </a:pPr>
            <a:r>
              <a:rPr lang="en-US" sz="800" b="1" spc="130" kern="0" dirty="0">
                <a:solidFill>
                  <a:srgbClr val="A6A6AC"/>
                </a:solidFill>
                <a:latin typeface="Calibri" pitchFamily="34" charset="0"/>
                <a:ea typeface="Calibri" pitchFamily="34" charset="-122"/>
                <a:cs typeface="Calibri" pitchFamily="34" charset="-120"/>
              </a:rPr>
              <a:t>MEKÂNDA NEYİ DEĞİŞTİRİR</a:t>
            </a:r>
            <a:endParaRPr lang="en-US" sz="800" dirty="0"/>
          </a:p>
        </p:txBody>
      </p:sp>
      <p:sp>
        <p:nvSpPr>
          <p:cNvPr id="43" name="Shape 41"/>
          <p:cNvSpPr/>
          <p:nvPr/>
        </p:nvSpPr>
        <p:spPr>
          <a:xfrm>
            <a:off x="5961888" y="2340864"/>
            <a:ext cx="0" cy="3054096"/>
          </a:xfrm>
          <a:prstGeom prst="line">
            <a:avLst/>
          </a:prstGeom>
          <a:noFill/>
          <a:ln w="9525">
            <a:solidFill>
              <a:srgbClr val="C9C9CF"/>
            </a:solidFill>
            <a:prstDash val="solid"/>
          </a:ln>
        </p:spPr>
      </p:sp>
      <p:sp>
        <p:nvSpPr>
          <p:cNvPr id="44" name="Shape 42"/>
          <p:cNvSpPr/>
          <p:nvPr/>
        </p:nvSpPr>
        <p:spPr>
          <a:xfrm>
            <a:off x="777240" y="5504688"/>
            <a:ext cx="10634472" cy="640080"/>
          </a:xfrm>
          <a:prstGeom prst="rect">
            <a:avLst/>
          </a:prstGeom>
          <a:solidFill>
            <a:srgbClr val="F6EAE6"/>
          </a:solidFill>
          <a:ln w="15875">
            <a:solidFill>
              <a:srgbClr val="8C3A2B"/>
            </a:solidFill>
            <a:prstDash val="solid"/>
          </a:ln>
        </p:spPr>
      </p:sp>
      <p:sp>
        <p:nvSpPr>
          <p:cNvPr id="45" name="Text 43"/>
          <p:cNvSpPr txBox="1"/>
          <p:nvPr/>
        </p:nvSpPr>
        <p:spPr>
          <a:xfrm>
            <a:off x="1005840" y="5614416"/>
            <a:ext cx="10149840" cy="420624"/>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SINAV:  Bu sıfatın zıttını bilinçli olarak seçen bir marka olabilir mi?   Olamıyorsa, o sıfat anahtar kelime değildir.</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10400" b="1" dirty="0">
                <a:solidFill>
                  <a:srgbClr val="8C3A2B"/>
                </a:solidFill>
                <a:latin typeface="Cambria" pitchFamily="34" charset="0"/>
                <a:ea typeface="Cambria" pitchFamily="34" charset="-122"/>
                <a:cs typeface="Cambria" pitchFamily="34" charset="-120"/>
              </a:rPr>
              <a:t>VI</a:t>
            </a:r>
            <a:endParaRPr lang="en-US" sz="104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Kelimeler mekâna nasıl dönüşür?</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Bir tasarım kararının savunulabilmesi, nereden geldiğinin gösterilebilmesine bağlıdır.</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 · ÇEVİRİ</a:t>
            </a:r>
            <a:endParaRPr lang="en-US" sz="900" dirty="0"/>
          </a:p>
        </p:txBody>
      </p:sp>
      <p:sp>
        <p:nvSpPr>
          <p:cNvPr id="3" name="Text 1"/>
          <p:cNvSpPr txBox="1"/>
          <p:nvPr/>
        </p:nvSpPr>
        <p:spPr>
          <a:xfrm>
            <a:off x="777240" y="749808"/>
            <a:ext cx="10424160" cy="676656"/>
          </a:xfrm>
          <a:prstGeom prst="rect">
            <a:avLst/>
          </a:prstGeom>
          <a:noFill/>
          <a:ln/>
        </p:spPr>
        <p:txBody>
          <a:bodyPr wrap="square" lIns="0" tIns="0" rIns="0" bIns="0" rtlCol="0" anchor="ctr"/>
          <a:lstStyle/>
          <a:p>
            <a:pPr indent="0" marL="0">
              <a:lnSpc>
                <a:spcPts val="3300"/>
              </a:lnSpc>
              <a:buNone/>
            </a:pPr>
            <a:r>
              <a:rPr lang="en-US" sz="2800" b="1" dirty="0">
                <a:solidFill>
                  <a:srgbClr val="8C3A2B"/>
                </a:solidFill>
                <a:latin typeface="Cambria" pitchFamily="34" charset="0"/>
                <a:ea typeface="Cambria" pitchFamily="34" charset="-122"/>
                <a:cs typeface="Cambria" pitchFamily="34" charset="-120"/>
              </a:rPr>
              <a:t>Çeviri zinciri: beş halka</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29</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Aşağıdaki zincir, marka anahtarındaki bir bileşenin hangi basamaklardan geçerek çizilebilir bir karara dönüştüğünü gösterir. Bir halka atlandığında karar dayanaksız kalır.</a:t>
            </a:r>
            <a:endParaRPr lang="en-US" sz="1350" dirty="0"/>
          </a:p>
        </p:txBody>
      </p:sp>
      <p:sp>
        <p:nvSpPr>
          <p:cNvPr id="7" name="Shape 5"/>
          <p:cNvSpPr/>
          <p:nvPr/>
        </p:nvSpPr>
        <p:spPr>
          <a:xfrm>
            <a:off x="777240" y="2395728"/>
            <a:ext cx="1965960" cy="1298448"/>
          </a:xfrm>
          <a:prstGeom prst="rect">
            <a:avLst/>
          </a:prstGeom>
          <a:ln w="9525">
            <a:solidFill>
              <a:srgbClr val="C9C9CF"/>
            </a:solidFill>
            <a:prstDash val="solid"/>
          </a:ln>
        </p:spPr>
      </p:sp>
      <p:sp>
        <p:nvSpPr>
          <p:cNvPr id="8" name="Shape 6"/>
          <p:cNvSpPr/>
          <p:nvPr/>
        </p:nvSpPr>
        <p:spPr>
          <a:xfrm>
            <a:off x="914400" y="2532888"/>
            <a:ext cx="237744" cy="237744"/>
          </a:xfrm>
          <a:prstGeom prst="ellipse">
            <a:avLst/>
          </a:prstGeom>
          <a:solidFill>
            <a:srgbClr val="16161A"/>
          </a:solidFill>
          <a:ln w="12700">
            <a:solidFill>
              <a:srgbClr val="16161A"/>
            </a:solidFill>
            <a:prstDash val="solid"/>
          </a:ln>
        </p:spPr>
      </p:sp>
      <p:sp>
        <p:nvSpPr>
          <p:cNvPr id="9" name="Text 7"/>
          <p:cNvSpPr txBox="1"/>
          <p:nvPr/>
        </p:nvSpPr>
        <p:spPr>
          <a:xfrm>
            <a:off x="914400" y="25328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 name="Text 8"/>
          <p:cNvSpPr txBox="1"/>
          <p:nvPr/>
        </p:nvSpPr>
        <p:spPr>
          <a:xfrm>
            <a:off x="905256" y="2871216"/>
            <a:ext cx="1709928" cy="457200"/>
          </a:xfrm>
          <a:prstGeom prst="rect">
            <a:avLst/>
          </a:prstGeom>
          <a:noFill/>
          <a:ln/>
        </p:spPr>
        <p:txBody>
          <a:bodyPr wrap="square" lIns="0" tIns="0" rIns="0" bIns="0" rtlCol="0" anchor="ctr"/>
          <a:lstStyle/>
          <a:p>
            <a:pPr indent="0" marL="0">
              <a:lnSpc>
                <a:spcPts val="1600"/>
              </a:lnSpc>
              <a:buNone/>
            </a:pPr>
            <a:r>
              <a:rPr lang="en-US" sz="1350" b="1" dirty="0">
                <a:solidFill>
                  <a:srgbClr val="16161A"/>
                </a:solidFill>
                <a:latin typeface="Cambria" pitchFamily="34" charset="0"/>
                <a:ea typeface="Cambria" pitchFamily="34" charset="-122"/>
                <a:cs typeface="Cambria" pitchFamily="34" charset="-120"/>
              </a:rPr>
              <a:t>Bileşen</a:t>
            </a:r>
            <a:endParaRPr lang="en-US" sz="1350" dirty="0"/>
          </a:p>
        </p:txBody>
      </p:sp>
      <p:sp>
        <p:nvSpPr>
          <p:cNvPr id="11" name="Text 9"/>
          <p:cNvSpPr txBox="1"/>
          <p:nvPr/>
        </p:nvSpPr>
        <p:spPr>
          <a:xfrm>
            <a:off x="905256" y="3310128"/>
            <a:ext cx="1709928" cy="347472"/>
          </a:xfrm>
          <a:prstGeom prst="rect">
            <a:avLst/>
          </a:prstGeom>
          <a:noFill/>
          <a:ln/>
        </p:spPr>
        <p:txBody>
          <a:bodyPr wrap="square" lIns="0" tIns="0" rIns="0" bIns="0" rtlCol="0" anchor="ctr"/>
          <a:lstStyle/>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marka anahtarından</a:t>
            </a:r>
            <a:endParaRPr lang="en-US" sz="900" dirty="0"/>
          </a:p>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bir başlık</a:t>
            </a:r>
            <a:endParaRPr lang="en-US" sz="900" dirty="0"/>
          </a:p>
        </p:txBody>
      </p:sp>
      <p:sp>
        <p:nvSpPr>
          <p:cNvPr id="12" name="Shape 10"/>
          <p:cNvSpPr/>
          <p:nvPr/>
        </p:nvSpPr>
        <p:spPr>
          <a:xfrm>
            <a:off x="2770632" y="3044952"/>
            <a:ext cx="146304" cy="0"/>
          </a:xfrm>
          <a:prstGeom prst="line">
            <a:avLst/>
          </a:prstGeom>
          <a:noFill/>
          <a:ln w="17780">
            <a:solidFill>
              <a:srgbClr val="8C3A2B"/>
            </a:solidFill>
            <a:prstDash val="solid"/>
            <a:tailEnd type="triangle"/>
          </a:ln>
        </p:spPr>
      </p:sp>
      <p:sp>
        <p:nvSpPr>
          <p:cNvPr id="13" name="Shape 11"/>
          <p:cNvSpPr/>
          <p:nvPr/>
        </p:nvSpPr>
        <p:spPr>
          <a:xfrm>
            <a:off x="2944368" y="2395728"/>
            <a:ext cx="1965960" cy="1298448"/>
          </a:xfrm>
          <a:prstGeom prst="rect">
            <a:avLst/>
          </a:prstGeom>
          <a:ln w="9525">
            <a:solidFill>
              <a:srgbClr val="C9C9CF"/>
            </a:solidFill>
            <a:prstDash val="solid"/>
          </a:ln>
        </p:spPr>
      </p:sp>
      <p:sp>
        <p:nvSpPr>
          <p:cNvPr id="14" name="Shape 12"/>
          <p:cNvSpPr/>
          <p:nvPr/>
        </p:nvSpPr>
        <p:spPr>
          <a:xfrm>
            <a:off x="3081528" y="2532888"/>
            <a:ext cx="237744" cy="237744"/>
          </a:xfrm>
          <a:prstGeom prst="ellipse">
            <a:avLst/>
          </a:prstGeom>
          <a:solidFill>
            <a:srgbClr val="16161A"/>
          </a:solidFill>
          <a:ln w="12700">
            <a:solidFill>
              <a:srgbClr val="16161A"/>
            </a:solidFill>
            <a:prstDash val="solid"/>
          </a:ln>
        </p:spPr>
      </p:sp>
      <p:sp>
        <p:nvSpPr>
          <p:cNvPr id="15" name="Text 13"/>
          <p:cNvSpPr txBox="1"/>
          <p:nvPr/>
        </p:nvSpPr>
        <p:spPr>
          <a:xfrm>
            <a:off x="3081528" y="25328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6" name="Text 14"/>
          <p:cNvSpPr txBox="1"/>
          <p:nvPr/>
        </p:nvSpPr>
        <p:spPr>
          <a:xfrm>
            <a:off x="3072384" y="2871216"/>
            <a:ext cx="1709928" cy="457200"/>
          </a:xfrm>
          <a:prstGeom prst="rect">
            <a:avLst/>
          </a:prstGeom>
          <a:noFill/>
          <a:ln/>
        </p:spPr>
        <p:txBody>
          <a:bodyPr wrap="square" lIns="0" tIns="0" rIns="0" bIns="0" rtlCol="0" anchor="ctr"/>
          <a:lstStyle/>
          <a:p>
            <a:pPr indent="0" marL="0">
              <a:lnSpc>
                <a:spcPts val="1600"/>
              </a:lnSpc>
              <a:buNone/>
            </a:pPr>
            <a:r>
              <a:rPr lang="en-US" sz="1350" b="1" dirty="0">
                <a:solidFill>
                  <a:srgbClr val="16161A"/>
                </a:solidFill>
                <a:latin typeface="Cambria" pitchFamily="34" charset="0"/>
                <a:ea typeface="Cambria" pitchFamily="34" charset="-122"/>
                <a:cs typeface="Cambria" pitchFamily="34" charset="-120"/>
              </a:rPr>
              <a:t>Anahtar kelime</a:t>
            </a:r>
            <a:endParaRPr lang="en-US" sz="1350" dirty="0"/>
          </a:p>
        </p:txBody>
      </p:sp>
      <p:sp>
        <p:nvSpPr>
          <p:cNvPr id="17" name="Text 15"/>
          <p:cNvSpPr txBox="1"/>
          <p:nvPr/>
        </p:nvSpPr>
        <p:spPr>
          <a:xfrm>
            <a:off x="3072384" y="3310128"/>
            <a:ext cx="1709928" cy="347472"/>
          </a:xfrm>
          <a:prstGeom prst="rect">
            <a:avLst/>
          </a:prstGeom>
          <a:noFill/>
          <a:ln/>
        </p:spPr>
        <p:txBody>
          <a:bodyPr wrap="square" lIns="0" tIns="0" rIns="0" bIns="0" rtlCol="0" anchor="ctr"/>
          <a:lstStyle/>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tek sıfata</a:t>
            </a:r>
            <a:endParaRPr lang="en-US" sz="900" dirty="0"/>
          </a:p>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indirge</a:t>
            </a:r>
            <a:endParaRPr lang="en-US" sz="900" dirty="0"/>
          </a:p>
        </p:txBody>
      </p:sp>
      <p:sp>
        <p:nvSpPr>
          <p:cNvPr id="18" name="Shape 16"/>
          <p:cNvSpPr/>
          <p:nvPr/>
        </p:nvSpPr>
        <p:spPr>
          <a:xfrm>
            <a:off x="4937760" y="3044952"/>
            <a:ext cx="146304" cy="0"/>
          </a:xfrm>
          <a:prstGeom prst="line">
            <a:avLst/>
          </a:prstGeom>
          <a:noFill/>
          <a:ln w="17780">
            <a:solidFill>
              <a:srgbClr val="8C3A2B"/>
            </a:solidFill>
            <a:prstDash val="solid"/>
            <a:tailEnd type="triangle"/>
          </a:ln>
        </p:spPr>
      </p:sp>
      <p:sp>
        <p:nvSpPr>
          <p:cNvPr id="19" name="Shape 17"/>
          <p:cNvSpPr/>
          <p:nvPr/>
        </p:nvSpPr>
        <p:spPr>
          <a:xfrm>
            <a:off x="5111496" y="2395728"/>
            <a:ext cx="1965960" cy="1298448"/>
          </a:xfrm>
          <a:prstGeom prst="rect">
            <a:avLst/>
          </a:prstGeom>
          <a:ln w="9525">
            <a:solidFill>
              <a:srgbClr val="C9C9CF"/>
            </a:solidFill>
            <a:prstDash val="solid"/>
          </a:ln>
        </p:spPr>
      </p:sp>
      <p:sp>
        <p:nvSpPr>
          <p:cNvPr id="20" name="Shape 18"/>
          <p:cNvSpPr/>
          <p:nvPr/>
        </p:nvSpPr>
        <p:spPr>
          <a:xfrm>
            <a:off x="5248656" y="2532888"/>
            <a:ext cx="237744" cy="237744"/>
          </a:xfrm>
          <a:prstGeom prst="ellipse">
            <a:avLst/>
          </a:prstGeom>
          <a:solidFill>
            <a:srgbClr val="16161A"/>
          </a:solidFill>
          <a:ln w="12700">
            <a:solidFill>
              <a:srgbClr val="16161A"/>
            </a:solidFill>
            <a:prstDash val="solid"/>
          </a:ln>
        </p:spPr>
      </p:sp>
      <p:sp>
        <p:nvSpPr>
          <p:cNvPr id="21" name="Text 19"/>
          <p:cNvSpPr txBox="1"/>
          <p:nvPr/>
        </p:nvSpPr>
        <p:spPr>
          <a:xfrm>
            <a:off x="5248656" y="25328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20"/>
          <p:cNvSpPr txBox="1"/>
          <p:nvPr/>
        </p:nvSpPr>
        <p:spPr>
          <a:xfrm>
            <a:off x="5239512" y="2871216"/>
            <a:ext cx="1709928" cy="457200"/>
          </a:xfrm>
          <a:prstGeom prst="rect">
            <a:avLst/>
          </a:prstGeom>
          <a:noFill/>
          <a:ln/>
        </p:spPr>
        <p:txBody>
          <a:bodyPr wrap="square" lIns="0" tIns="0" rIns="0" bIns="0" rtlCol="0" anchor="ctr"/>
          <a:lstStyle/>
          <a:p>
            <a:pPr indent="0" marL="0">
              <a:lnSpc>
                <a:spcPts val="1600"/>
              </a:lnSpc>
              <a:buNone/>
            </a:pPr>
            <a:r>
              <a:rPr lang="en-US" sz="1350" b="1" dirty="0">
                <a:solidFill>
                  <a:srgbClr val="16161A"/>
                </a:solidFill>
                <a:latin typeface="Cambria" pitchFamily="34" charset="0"/>
                <a:ea typeface="Cambria" pitchFamily="34" charset="-122"/>
                <a:cs typeface="Cambria" pitchFamily="34" charset="-120"/>
              </a:rPr>
              <a:t>Yolculuk anı</a:t>
            </a:r>
            <a:endParaRPr lang="en-US" sz="1350" dirty="0"/>
          </a:p>
        </p:txBody>
      </p:sp>
      <p:sp>
        <p:nvSpPr>
          <p:cNvPr id="23" name="Text 21"/>
          <p:cNvSpPr txBox="1"/>
          <p:nvPr/>
        </p:nvSpPr>
        <p:spPr>
          <a:xfrm>
            <a:off x="5239512" y="3310128"/>
            <a:ext cx="1709928" cy="347472"/>
          </a:xfrm>
          <a:prstGeom prst="rect">
            <a:avLst/>
          </a:prstGeom>
          <a:noFill/>
          <a:ln/>
        </p:spPr>
        <p:txBody>
          <a:bodyPr wrap="square" lIns="0" tIns="0" rIns="0" bIns="0" rtlCol="0" anchor="ctr"/>
          <a:lstStyle/>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bu kelime hangi</a:t>
            </a:r>
            <a:endParaRPr lang="en-US" sz="900" dirty="0"/>
          </a:p>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modülde sınanıyor</a:t>
            </a:r>
            <a:endParaRPr lang="en-US" sz="900" dirty="0"/>
          </a:p>
        </p:txBody>
      </p:sp>
      <p:sp>
        <p:nvSpPr>
          <p:cNvPr id="24" name="Shape 22"/>
          <p:cNvSpPr/>
          <p:nvPr/>
        </p:nvSpPr>
        <p:spPr>
          <a:xfrm>
            <a:off x="7104888" y="3044952"/>
            <a:ext cx="146304" cy="0"/>
          </a:xfrm>
          <a:prstGeom prst="line">
            <a:avLst/>
          </a:prstGeom>
          <a:noFill/>
          <a:ln w="17780">
            <a:solidFill>
              <a:srgbClr val="8C3A2B"/>
            </a:solidFill>
            <a:prstDash val="solid"/>
            <a:tailEnd type="triangle"/>
          </a:ln>
        </p:spPr>
      </p:sp>
      <p:sp>
        <p:nvSpPr>
          <p:cNvPr id="25" name="Shape 23"/>
          <p:cNvSpPr/>
          <p:nvPr/>
        </p:nvSpPr>
        <p:spPr>
          <a:xfrm>
            <a:off x="7278624" y="2395728"/>
            <a:ext cx="1965960" cy="1298448"/>
          </a:xfrm>
          <a:prstGeom prst="rect">
            <a:avLst/>
          </a:prstGeom>
          <a:ln w="9525">
            <a:solidFill>
              <a:srgbClr val="C9C9CF"/>
            </a:solidFill>
            <a:prstDash val="solid"/>
          </a:ln>
        </p:spPr>
      </p:sp>
      <p:sp>
        <p:nvSpPr>
          <p:cNvPr id="26" name="Shape 24"/>
          <p:cNvSpPr/>
          <p:nvPr/>
        </p:nvSpPr>
        <p:spPr>
          <a:xfrm>
            <a:off x="7415784" y="2532888"/>
            <a:ext cx="237744" cy="237744"/>
          </a:xfrm>
          <a:prstGeom prst="ellipse">
            <a:avLst/>
          </a:prstGeom>
          <a:solidFill>
            <a:srgbClr val="16161A"/>
          </a:solidFill>
          <a:ln w="12700">
            <a:solidFill>
              <a:srgbClr val="16161A"/>
            </a:solidFill>
            <a:prstDash val="solid"/>
          </a:ln>
        </p:spPr>
      </p:sp>
      <p:sp>
        <p:nvSpPr>
          <p:cNvPr id="27" name="Text 25"/>
          <p:cNvSpPr txBox="1"/>
          <p:nvPr/>
        </p:nvSpPr>
        <p:spPr>
          <a:xfrm>
            <a:off x="7415784" y="25328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8" name="Text 26"/>
          <p:cNvSpPr txBox="1"/>
          <p:nvPr/>
        </p:nvSpPr>
        <p:spPr>
          <a:xfrm>
            <a:off x="7406640" y="2871216"/>
            <a:ext cx="1709928" cy="457200"/>
          </a:xfrm>
          <a:prstGeom prst="rect">
            <a:avLst/>
          </a:prstGeom>
          <a:noFill/>
          <a:ln/>
        </p:spPr>
        <p:txBody>
          <a:bodyPr wrap="square" lIns="0" tIns="0" rIns="0" bIns="0" rtlCol="0" anchor="ctr"/>
          <a:lstStyle/>
          <a:p>
            <a:pPr indent="0" marL="0">
              <a:lnSpc>
                <a:spcPts val="1600"/>
              </a:lnSpc>
              <a:buNone/>
            </a:pPr>
            <a:r>
              <a:rPr lang="en-US" sz="1350" b="1" dirty="0">
                <a:solidFill>
                  <a:srgbClr val="16161A"/>
                </a:solidFill>
                <a:latin typeface="Cambria" pitchFamily="34" charset="0"/>
                <a:ea typeface="Cambria" pitchFamily="34" charset="-122"/>
                <a:cs typeface="Cambria" pitchFamily="34" charset="-120"/>
              </a:rPr>
              <a:t>Mekânsal ilke</a:t>
            </a:r>
            <a:endParaRPr lang="en-US" sz="1350" dirty="0"/>
          </a:p>
        </p:txBody>
      </p:sp>
      <p:sp>
        <p:nvSpPr>
          <p:cNvPr id="29" name="Text 27"/>
          <p:cNvSpPr txBox="1"/>
          <p:nvPr/>
        </p:nvSpPr>
        <p:spPr>
          <a:xfrm>
            <a:off x="7406640" y="3310128"/>
            <a:ext cx="1709928" cy="347472"/>
          </a:xfrm>
          <a:prstGeom prst="rect">
            <a:avLst/>
          </a:prstGeom>
          <a:noFill/>
          <a:ln/>
        </p:spPr>
        <p:txBody>
          <a:bodyPr wrap="square" lIns="0" tIns="0" rIns="0" bIns="0" rtlCol="0" anchor="ctr"/>
          <a:lstStyle/>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o anı kuran</a:t>
            </a:r>
            <a:endParaRPr lang="en-US" sz="900" dirty="0"/>
          </a:p>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genel kural</a:t>
            </a:r>
            <a:endParaRPr lang="en-US" sz="900" dirty="0"/>
          </a:p>
        </p:txBody>
      </p:sp>
      <p:sp>
        <p:nvSpPr>
          <p:cNvPr id="30" name="Shape 28"/>
          <p:cNvSpPr/>
          <p:nvPr/>
        </p:nvSpPr>
        <p:spPr>
          <a:xfrm>
            <a:off x="9272016" y="3044952"/>
            <a:ext cx="146304" cy="0"/>
          </a:xfrm>
          <a:prstGeom prst="line">
            <a:avLst/>
          </a:prstGeom>
          <a:noFill/>
          <a:ln w="17780">
            <a:solidFill>
              <a:srgbClr val="8C3A2B"/>
            </a:solidFill>
            <a:prstDash val="solid"/>
            <a:tailEnd type="triangle"/>
          </a:ln>
        </p:spPr>
      </p:sp>
      <p:sp>
        <p:nvSpPr>
          <p:cNvPr id="31" name="Shape 29"/>
          <p:cNvSpPr/>
          <p:nvPr/>
        </p:nvSpPr>
        <p:spPr>
          <a:xfrm>
            <a:off x="9445752" y="2395728"/>
            <a:ext cx="1965960" cy="1298448"/>
          </a:xfrm>
          <a:prstGeom prst="rect">
            <a:avLst/>
          </a:prstGeom>
          <a:solidFill>
            <a:srgbClr val="F6EAE6"/>
          </a:solidFill>
          <a:ln w="15875">
            <a:solidFill>
              <a:srgbClr val="8C3A2B"/>
            </a:solidFill>
            <a:prstDash val="solid"/>
          </a:ln>
        </p:spPr>
      </p:sp>
      <p:sp>
        <p:nvSpPr>
          <p:cNvPr id="32" name="Shape 30"/>
          <p:cNvSpPr/>
          <p:nvPr/>
        </p:nvSpPr>
        <p:spPr>
          <a:xfrm>
            <a:off x="9582912" y="2532888"/>
            <a:ext cx="237744" cy="237744"/>
          </a:xfrm>
          <a:prstGeom prst="ellipse">
            <a:avLst/>
          </a:prstGeom>
          <a:solidFill>
            <a:srgbClr val="8C3A2B"/>
          </a:solidFill>
          <a:ln w="12700">
            <a:solidFill>
              <a:srgbClr val="8C3A2B"/>
            </a:solidFill>
            <a:prstDash val="solid"/>
          </a:ln>
        </p:spPr>
      </p:sp>
      <p:sp>
        <p:nvSpPr>
          <p:cNvPr id="33" name="Text 31"/>
          <p:cNvSpPr txBox="1"/>
          <p:nvPr/>
        </p:nvSpPr>
        <p:spPr>
          <a:xfrm>
            <a:off x="9582912" y="25328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4" name="Text 32"/>
          <p:cNvSpPr txBox="1"/>
          <p:nvPr/>
        </p:nvSpPr>
        <p:spPr>
          <a:xfrm>
            <a:off x="9573768" y="2871216"/>
            <a:ext cx="1709928" cy="457200"/>
          </a:xfrm>
          <a:prstGeom prst="rect">
            <a:avLst/>
          </a:prstGeom>
          <a:noFill/>
          <a:ln/>
        </p:spPr>
        <p:txBody>
          <a:bodyPr wrap="square" lIns="0" tIns="0" rIns="0" bIns="0" rtlCol="0" anchor="ctr"/>
          <a:lstStyle/>
          <a:p>
            <a:pPr indent="0" marL="0">
              <a:lnSpc>
                <a:spcPts val="1600"/>
              </a:lnSpc>
              <a:buNone/>
            </a:pPr>
            <a:r>
              <a:rPr lang="en-US" sz="1350" b="1" dirty="0">
                <a:solidFill>
                  <a:srgbClr val="8C3A2B"/>
                </a:solidFill>
                <a:latin typeface="Cambria" pitchFamily="34" charset="0"/>
                <a:ea typeface="Cambria" pitchFamily="34" charset="-122"/>
                <a:cs typeface="Cambria" pitchFamily="34" charset="-120"/>
              </a:rPr>
              <a:t>Mekânsal öğe</a:t>
            </a:r>
            <a:endParaRPr lang="en-US" sz="1350" dirty="0"/>
          </a:p>
        </p:txBody>
      </p:sp>
      <p:sp>
        <p:nvSpPr>
          <p:cNvPr id="35" name="Text 33"/>
          <p:cNvSpPr txBox="1"/>
          <p:nvPr/>
        </p:nvSpPr>
        <p:spPr>
          <a:xfrm>
            <a:off x="9573768" y="3310128"/>
            <a:ext cx="1709928" cy="347472"/>
          </a:xfrm>
          <a:prstGeom prst="rect">
            <a:avLst/>
          </a:prstGeom>
          <a:noFill/>
          <a:ln/>
        </p:spPr>
        <p:txBody>
          <a:bodyPr wrap="square" lIns="0" tIns="0" rIns="0" bIns="0" rtlCol="0" anchor="ctr"/>
          <a:lstStyle/>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çizilebilir</a:t>
            </a:r>
            <a:endParaRPr lang="en-US" sz="900" dirty="0"/>
          </a:p>
          <a:p>
            <a:pPr indent="0" marL="0">
              <a:lnSpc>
                <a:spcPts val="1100"/>
              </a:lnSpc>
              <a:buNone/>
            </a:pPr>
            <a:r>
              <a:rPr lang="en-US" sz="900" dirty="0">
                <a:solidFill>
                  <a:srgbClr val="7A7A82"/>
                </a:solidFill>
                <a:latin typeface="Calibri" pitchFamily="34" charset="0"/>
                <a:ea typeface="Calibri" pitchFamily="34" charset="-122"/>
                <a:cs typeface="Calibri" pitchFamily="34" charset="-120"/>
              </a:rPr>
              <a:t>karar</a:t>
            </a:r>
            <a:endParaRPr lang="en-US" sz="900" dirty="0"/>
          </a:p>
        </p:txBody>
      </p:sp>
      <p:sp>
        <p:nvSpPr>
          <p:cNvPr id="36" name="Text 34"/>
          <p:cNvSpPr txBox="1"/>
          <p:nvPr/>
        </p:nvSpPr>
        <p:spPr>
          <a:xfrm>
            <a:off x="777240" y="3922776"/>
            <a:ext cx="1243584"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AYNI ZİNCİR, ÖRNEKLE</a:t>
            </a:r>
            <a:endParaRPr lang="en-US" sz="900" dirty="0"/>
          </a:p>
        </p:txBody>
      </p:sp>
      <p:sp>
        <p:nvSpPr>
          <p:cNvPr id="37" name="Shape 35"/>
          <p:cNvSpPr/>
          <p:nvPr/>
        </p:nvSpPr>
        <p:spPr>
          <a:xfrm>
            <a:off x="2093976" y="4041648"/>
            <a:ext cx="9317736" cy="0"/>
          </a:xfrm>
          <a:prstGeom prst="line">
            <a:avLst/>
          </a:prstGeom>
          <a:noFill/>
          <a:ln w="9525">
            <a:solidFill>
              <a:srgbClr val="EDEDF0"/>
            </a:solidFill>
            <a:prstDash val="solid"/>
          </a:ln>
        </p:spPr>
      </p:sp>
      <p:sp>
        <p:nvSpPr>
          <p:cNvPr id="38" name="Text 36"/>
          <p:cNvSpPr txBox="1"/>
          <p:nvPr/>
        </p:nvSpPr>
        <p:spPr>
          <a:xfrm>
            <a:off x="795528" y="4224528"/>
            <a:ext cx="1929384" cy="731520"/>
          </a:xfrm>
          <a:prstGeom prst="rect">
            <a:avLst/>
          </a:prstGeom>
          <a:noFill/>
          <a:ln/>
        </p:spPr>
        <p:txBody>
          <a:bodyPr wrap="square" lIns="0" tIns="0" rIns="0" bIns="0" rtlCol="0" anchor="ctr"/>
          <a:lstStyle/>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Değerler:</a:t>
            </a:r>
            <a:endParaRPr lang="en-US" sz="1150" dirty="0"/>
          </a:p>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öğretmeyi seviyor</a:t>
            </a:r>
            <a:endParaRPr lang="en-US" sz="1150" dirty="0"/>
          </a:p>
        </p:txBody>
      </p:sp>
      <p:sp>
        <p:nvSpPr>
          <p:cNvPr id="39" name="Text 37"/>
          <p:cNvSpPr txBox="1"/>
          <p:nvPr/>
        </p:nvSpPr>
        <p:spPr>
          <a:xfrm>
            <a:off x="2962656" y="4224528"/>
            <a:ext cx="1929384" cy="731520"/>
          </a:xfrm>
          <a:prstGeom prst="rect">
            <a:avLst/>
          </a:prstGeom>
          <a:noFill/>
          <a:ln/>
        </p:spPr>
        <p:txBody>
          <a:bodyPr wrap="square" lIns="0" tIns="0" rIns="0" bIns="0" rtlCol="0" anchor="ctr"/>
          <a:lstStyle/>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Şeffaf</a:t>
            </a:r>
            <a:endParaRPr lang="en-US" sz="1150" dirty="0"/>
          </a:p>
        </p:txBody>
      </p:sp>
      <p:sp>
        <p:nvSpPr>
          <p:cNvPr id="40" name="Text 38"/>
          <p:cNvSpPr txBox="1"/>
          <p:nvPr/>
        </p:nvSpPr>
        <p:spPr>
          <a:xfrm>
            <a:off x="5129784" y="4224528"/>
            <a:ext cx="1929384" cy="731520"/>
          </a:xfrm>
          <a:prstGeom prst="rect">
            <a:avLst/>
          </a:prstGeom>
          <a:noFill/>
          <a:ln/>
        </p:spPr>
        <p:txBody>
          <a:bodyPr wrap="square" lIns="0" tIns="0" rIns="0" bIns="0" rtlCol="0" anchor="ctr"/>
          <a:lstStyle/>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Çekim +</a:t>
            </a:r>
            <a:endParaRPr lang="en-US" sz="1150" dirty="0"/>
          </a:p>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Ürün ve hizmetler</a:t>
            </a:r>
            <a:endParaRPr lang="en-US" sz="1150" dirty="0"/>
          </a:p>
        </p:txBody>
      </p:sp>
      <p:sp>
        <p:nvSpPr>
          <p:cNvPr id="41" name="Text 39"/>
          <p:cNvSpPr txBox="1"/>
          <p:nvPr/>
        </p:nvSpPr>
        <p:spPr>
          <a:xfrm>
            <a:off x="7296912" y="4224528"/>
            <a:ext cx="1929384" cy="731520"/>
          </a:xfrm>
          <a:prstGeom prst="rect">
            <a:avLst/>
          </a:prstGeom>
          <a:noFill/>
          <a:ln/>
        </p:spPr>
        <p:txBody>
          <a:bodyPr wrap="square" lIns="0" tIns="0" rIns="0" bIns="0" rtlCol="0" anchor="ctr"/>
          <a:lstStyle/>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Üretim satış alanından</a:t>
            </a:r>
            <a:endParaRPr lang="en-US" sz="1150" dirty="0"/>
          </a:p>
          <a:p>
            <a:pPr indent="0" marL="0">
              <a:lnSpc>
                <a:spcPts val="1500"/>
              </a:lnSpc>
              <a:buNone/>
            </a:pPr>
            <a:r>
              <a:rPr lang="en-US" sz="1150" i="1" dirty="0">
                <a:solidFill>
                  <a:srgbClr val="2B2B31"/>
                </a:solidFill>
                <a:latin typeface="Cambria" pitchFamily="34" charset="0"/>
                <a:ea typeface="Cambria" pitchFamily="34" charset="-122"/>
                <a:cs typeface="Cambria" pitchFamily="34" charset="-120"/>
              </a:rPr>
              <a:t>görülebilir olmalı</a:t>
            </a:r>
            <a:endParaRPr lang="en-US" sz="1150" dirty="0"/>
          </a:p>
        </p:txBody>
      </p:sp>
      <p:sp>
        <p:nvSpPr>
          <p:cNvPr id="42" name="Text 40"/>
          <p:cNvSpPr txBox="1"/>
          <p:nvPr/>
        </p:nvSpPr>
        <p:spPr>
          <a:xfrm>
            <a:off x="9464040" y="4224528"/>
            <a:ext cx="1929384" cy="731520"/>
          </a:xfrm>
          <a:prstGeom prst="rect">
            <a:avLst/>
          </a:prstGeom>
          <a:noFill/>
          <a:ln/>
        </p:spPr>
        <p:txBody>
          <a:bodyPr wrap="square" lIns="0" tIns="0" rIns="0" bIns="0" rtlCol="0" anchor="ctr"/>
          <a:lstStyle/>
          <a:p>
            <a:pPr indent="0" marL="0">
              <a:lnSpc>
                <a:spcPts val="1500"/>
              </a:lnSpc>
              <a:buNone/>
            </a:pPr>
            <a:r>
              <a:rPr lang="en-US" sz="1150" i="1" dirty="0">
                <a:solidFill>
                  <a:srgbClr val="8C3A2B"/>
                </a:solidFill>
                <a:latin typeface="Cambria" pitchFamily="34" charset="0"/>
                <a:ea typeface="Cambria" pitchFamily="34" charset="-122"/>
                <a:cs typeface="Cambria" pitchFamily="34" charset="-120"/>
              </a:rPr>
              <a:t>Kavurma makinesi vitrine</a:t>
            </a:r>
            <a:endParaRPr lang="en-US" sz="1150" dirty="0"/>
          </a:p>
          <a:p>
            <a:pPr indent="0" marL="0">
              <a:lnSpc>
                <a:spcPts val="1500"/>
              </a:lnSpc>
              <a:buNone/>
            </a:pPr>
            <a:r>
              <a:rPr lang="en-US" sz="1150" i="1" dirty="0">
                <a:solidFill>
                  <a:srgbClr val="8C3A2B"/>
                </a:solidFill>
                <a:latin typeface="Cambria" pitchFamily="34" charset="0"/>
                <a:ea typeface="Cambria" pitchFamily="34" charset="-122"/>
                <a:cs typeface="Cambria" pitchFamily="34" charset="-120"/>
              </a:rPr>
              <a:t>bakan camlı nişte</a:t>
            </a:r>
            <a:endParaRPr lang="en-US" sz="1150" dirty="0"/>
          </a:p>
        </p:txBody>
      </p:sp>
      <p:sp>
        <p:nvSpPr>
          <p:cNvPr id="43" name="Shape 41"/>
          <p:cNvSpPr/>
          <p:nvPr/>
        </p:nvSpPr>
        <p:spPr>
          <a:xfrm>
            <a:off x="777240" y="5120640"/>
            <a:ext cx="10634472" cy="0"/>
          </a:xfrm>
          <a:prstGeom prst="line">
            <a:avLst/>
          </a:prstGeom>
          <a:noFill/>
          <a:ln w="9525">
            <a:solidFill>
              <a:srgbClr val="C9C9CF"/>
            </a:solidFill>
            <a:prstDash val="solid"/>
          </a:ln>
        </p:spPr>
      </p:sp>
      <p:sp>
        <p:nvSpPr>
          <p:cNvPr id="44" name="Text 42"/>
          <p:cNvSpPr txBox="1"/>
          <p:nvPr/>
        </p:nvSpPr>
        <p:spPr>
          <a:xfrm>
            <a:off x="777240" y="5285232"/>
            <a:ext cx="10634472" cy="548640"/>
          </a:xfrm>
          <a:prstGeom prst="rect">
            <a:avLst/>
          </a:prstGeom>
          <a:noFill/>
          <a:ln/>
        </p:spPr>
        <p:txBody>
          <a:bodyPr wrap="square" lIns="0" tIns="0" rIns="0" bIns="0" rtlCol="0" anchor="ctr"/>
          <a:lstStyle/>
          <a:p>
            <a:pPr algn="l" indent="0" marL="0">
              <a:lnSpc>
                <a:spcPts val="1700"/>
              </a:lnSpc>
              <a:buNone/>
            </a:pPr>
            <a:r>
              <a:rPr lang="en-US" sz="1250" dirty="0">
                <a:solidFill>
                  <a:srgbClr val="2B2B31"/>
                </a:solidFill>
                <a:latin typeface="Cambria" pitchFamily="34" charset="0"/>
                <a:ea typeface="Cambria" pitchFamily="34" charset="-122"/>
                <a:cs typeface="Cambria" pitchFamily="34" charset="-120"/>
              </a:rPr>
              <a:t>Aynı zincir müşteri tarafından da kurulur: gözlenen davranış → o davranışın yarattığı ihtiyaç → mekânsal ilke → öğe. İki zincir aynı kararda buluşmuyorsa, ya marka ya müşteri yanlış okunmuştur.</a:t>
            </a:r>
            <a:endParaRPr lang="en-US" sz="1250" dirty="0"/>
          </a:p>
        </p:txBody>
      </p:sp>
      <p:sp>
        <p:nvSpPr>
          <p:cNvPr id="45" name="Text 43"/>
          <p:cNvSpPr txBox="1"/>
          <p:nvPr/>
        </p:nvSpPr>
        <p:spPr>
          <a:xfrm>
            <a:off x="777240" y="5925312"/>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Konsept jürisinde her öğrenciden en az üç tam zincir istenecek.</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 · ÇEVİRİ</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Üç kelime, altı modül: karşılık matrisi</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Üç anahtar kelime, altı modülün her birinde bir karşılık üretmek zorundadır. Aşağıdaki bağlantılar kahve markası örneğinden; boş kalan kesişimler tasarımın henüz cevaplamadığı yerlerdir.</a:t>
            </a:r>
            <a:endParaRPr lang="en-US" sz="1350" dirty="0"/>
          </a:p>
        </p:txBody>
      </p:sp>
      <p:sp>
        <p:nvSpPr>
          <p:cNvPr id="7" name="Shape 5"/>
          <p:cNvSpPr/>
          <p:nvPr/>
        </p:nvSpPr>
        <p:spPr>
          <a:xfrm>
            <a:off x="2313432" y="2615184"/>
            <a:ext cx="2048256" cy="0"/>
          </a:xfrm>
          <a:prstGeom prst="line">
            <a:avLst/>
          </a:prstGeom>
          <a:noFill/>
          <a:ln w="12700">
            <a:solidFill>
              <a:srgbClr val="EBD7D1"/>
            </a:solidFill>
            <a:prstDash val="solid"/>
          </a:ln>
        </p:spPr>
      </p:sp>
      <p:sp>
        <p:nvSpPr>
          <p:cNvPr id="8" name="Shape 6"/>
          <p:cNvSpPr/>
          <p:nvPr/>
        </p:nvSpPr>
        <p:spPr>
          <a:xfrm>
            <a:off x="2313432" y="2615184"/>
            <a:ext cx="2048256" cy="1133856"/>
          </a:xfrm>
          <a:prstGeom prst="line">
            <a:avLst/>
          </a:prstGeom>
          <a:noFill/>
          <a:ln w="12700">
            <a:solidFill>
              <a:srgbClr val="EBD7D1"/>
            </a:solidFill>
            <a:prstDash val="solid"/>
          </a:ln>
        </p:spPr>
      </p:sp>
      <p:sp>
        <p:nvSpPr>
          <p:cNvPr id="9" name="Shape 7"/>
          <p:cNvSpPr/>
          <p:nvPr/>
        </p:nvSpPr>
        <p:spPr>
          <a:xfrm>
            <a:off x="2313432" y="2615184"/>
            <a:ext cx="2048256" cy="1700784"/>
          </a:xfrm>
          <a:prstGeom prst="line">
            <a:avLst/>
          </a:prstGeom>
          <a:noFill/>
          <a:ln w="12700">
            <a:solidFill>
              <a:srgbClr val="EBD7D1"/>
            </a:solidFill>
            <a:prstDash val="solid"/>
          </a:ln>
        </p:spPr>
      </p:sp>
      <p:sp>
        <p:nvSpPr>
          <p:cNvPr id="10" name="Shape 8"/>
          <p:cNvSpPr/>
          <p:nvPr/>
        </p:nvSpPr>
        <p:spPr>
          <a:xfrm>
            <a:off x="2313432" y="3182112"/>
            <a:ext cx="2048256" cy="0"/>
          </a:xfrm>
          <a:prstGeom prst="line">
            <a:avLst/>
          </a:prstGeom>
          <a:noFill/>
          <a:ln w="12700">
            <a:solidFill>
              <a:srgbClr val="EBD7D1"/>
            </a:solidFill>
            <a:prstDash val="solid"/>
          </a:ln>
        </p:spPr>
      </p:sp>
      <p:sp>
        <p:nvSpPr>
          <p:cNvPr id="11" name="Shape 9"/>
          <p:cNvSpPr/>
          <p:nvPr/>
        </p:nvSpPr>
        <p:spPr>
          <a:xfrm>
            <a:off x="2313432" y="3182112"/>
            <a:ext cx="2048256" cy="1700784"/>
          </a:xfrm>
          <a:prstGeom prst="line">
            <a:avLst/>
          </a:prstGeom>
          <a:noFill/>
          <a:ln w="12700">
            <a:solidFill>
              <a:srgbClr val="EBD7D1"/>
            </a:solidFill>
            <a:prstDash val="solid"/>
          </a:ln>
        </p:spPr>
      </p:sp>
      <p:sp>
        <p:nvSpPr>
          <p:cNvPr id="12" name="Shape 10"/>
          <p:cNvSpPr/>
          <p:nvPr/>
        </p:nvSpPr>
        <p:spPr>
          <a:xfrm>
            <a:off x="2313432" y="3182112"/>
            <a:ext cx="2048256" cy="2267712"/>
          </a:xfrm>
          <a:prstGeom prst="line">
            <a:avLst/>
          </a:prstGeom>
          <a:noFill/>
          <a:ln w="12700">
            <a:solidFill>
              <a:srgbClr val="EBD7D1"/>
            </a:solidFill>
            <a:prstDash val="solid"/>
          </a:ln>
        </p:spPr>
      </p:sp>
      <p:sp>
        <p:nvSpPr>
          <p:cNvPr id="13" name="Shape 11"/>
          <p:cNvSpPr/>
          <p:nvPr/>
        </p:nvSpPr>
        <p:spPr>
          <a:xfrm>
            <a:off x="2313432" y="3182112"/>
            <a:ext cx="2048256" cy="566928"/>
          </a:xfrm>
          <a:prstGeom prst="line">
            <a:avLst/>
          </a:prstGeom>
          <a:noFill/>
          <a:ln w="12700">
            <a:solidFill>
              <a:srgbClr val="EBD7D1"/>
            </a:solidFill>
            <a:prstDash val="solid"/>
          </a:ln>
        </p:spPr>
      </p:sp>
      <p:sp>
        <p:nvSpPr>
          <p:cNvPr id="14" name="Shape 12"/>
          <p:cNvSpPr/>
          <p:nvPr/>
        </p:nvSpPr>
        <p:spPr>
          <a:xfrm>
            <a:off x="2313432" y="3749040"/>
            <a:ext cx="2048256" cy="0"/>
          </a:xfrm>
          <a:prstGeom prst="line">
            <a:avLst/>
          </a:prstGeom>
          <a:noFill/>
          <a:ln w="12700">
            <a:solidFill>
              <a:srgbClr val="EBD7D1"/>
            </a:solidFill>
            <a:prstDash val="solid"/>
          </a:ln>
        </p:spPr>
      </p:sp>
      <p:sp>
        <p:nvSpPr>
          <p:cNvPr id="15" name="Shape 13"/>
          <p:cNvSpPr/>
          <p:nvPr/>
        </p:nvSpPr>
        <p:spPr>
          <a:xfrm>
            <a:off x="2313432" y="3749040"/>
            <a:ext cx="2048256" cy="1133856"/>
          </a:xfrm>
          <a:prstGeom prst="line">
            <a:avLst/>
          </a:prstGeom>
          <a:noFill/>
          <a:ln w="12700">
            <a:solidFill>
              <a:srgbClr val="EBD7D1"/>
            </a:solidFill>
            <a:prstDash val="solid"/>
          </a:ln>
        </p:spPr>
      </p:sp>
      <p:sp>
        <p:nvSpPr>
          <p:cNvPr id="16" name="Shape 14"/>
          <p:cNvSpPr/>
          <p:nvPr/>
        </p:nvSpPr>
        <p:spPr>
          <a:xfrm>
            <a:off x="777240" y="2468880"/>
            <a:ext cx="1463040" cy="292608"/>
          </a:xfrm>
          <a:prstGeom prst="rect">
            <a:avLst/>
          </a:prstGeom>
          <a:solidFill>
            <a:srgbClr val="F6EAE6"/>
          </a:solidFill>
          <a:ln w="15875">
            <a:solidFill>
              <a:srgbClr val="8C3A2B"/>
            </a:solidFill>
            <a:prstDash val="solid"/>
          </a:ln>
        </p:spPr>
      </p:sp>
      <p:sp>
        <p:nvSpPr>
          <p:cNvPr id="17" name="Text 15"/>
          <p:cNvSpPr txBox="1"/>
          <p:nvPr/>
        </p:nvSpPr>
        <p:spPr>
          <a:xfrm>
            <a:off x="850392" y="2468880"/>
            <a:ext cx="1316736" cy="292608"/>
          </a:xfrm>
          <a:prstGeom prst="rect">
            <a:avLst/>
          </a:prstGeom>
          <a:noFill/>
          <a:ln/>
        </p:spPr>
        <p:txBody>
          <a:bodyPr wrap="square" lIns="0" tIns="0" rIns="0" bIns="0" rtlCol="0" anchor="ctr"/>
          <a:lstStyle/>
          <a:p>
            <a:pPr algn="ctr" indent="0" marL="0">
              <a:buNone/>
            </a:pPr>
            <a:r>
              <a:rPr lang="en-US" sz="1200" b="1" dirty="0">
                <a:solidFill>
                  <a:srgbClr val="8C3A2B"/>
                </a:solidFill>
                <a:latin typeface="Cambria" pitchFamily="34" charset="0"/>
                <a:ea typeface="Cambria" pitchFamily="34" charset="-122"/>
                <a:cs typeface="Cambria" pitchFamily="34" charset="-120"/>
              </a:rPr>
              <a:t>ŞEFFAF</a:t>
            </a:r>
            <a:endParaRPr lang="en-US" sz="1200" dirty="0"/>
          </a:p>
        </p:txBody>
      </p:sp>
      <p:sp>
        <p:nvSpPr>
          <p:cNvPr id="18" name="Shape 16"/>
          <p:cNvSpPr/>
          <p:nvPr/>
        </p:nvSpPr>
        <p:spPr>
          <a:xfrm>
            <a:off x="777240" y="3035808"/>
            <a:ext cx="1463040" cy="292608"/>
          </a:xfrm>
          <a:prstGeom prst="rect">
            <a:avLst/>
          </a:prstGeom>
          <a:solidFill>
            <a:srgbClr val="F6EAE6"/>
          </a:solidFill>
          <a:ln w="15875">
            <a:solidFill>
              <a:srgbClr val="8C3A2B"/>
            </a:solidFill>
            <a:prstDash val="solid"/>
          </a:ln>
        </p:spPr>
      </p:sp>
      <p:sp>
        <p:nvSpPr>
          <p:cNvPr id="19" name="Text 17"/>
          <p:cNvSpPr txBox="1"/>
          <p:nvPr/>
        </p:nvSpPr>
        <p:spPr>
          <a:xfrm>
            <a:off x="850392" y="3035808"/>
            <a:ext cx="1316736" cy="292608"/>
          </a:xfrm>
          <a:prstGeom prst="rect">
            <a:avLst/>
          </a:prstGeom>
          <a:noFill/>
          <a:ln/>
        </p:spPr>
        <p:txBody>
          <a:bodyPr wrap="square" lIns="0" tIns="0" rIns="0" bIns="0" rtlCol="0" anchor="ctr"/>
          <a:lstStyle/>
          <a:p>
            <a:pPr algn="ctr" indent="0" marL="0">
              <a:buNone/>
            </a:pPr>
            <a:r>
              <a:rPr lang="en-US" sz="1200" b="1" dirty="0">
                <a:solidFill>
                  <a:srgbClr val="8C3A2B"/>
                </a:solidFill>
                <a:latin typeface="Cambria" pitchFamily="34" charset="0"/>
                <a:ea typeface="Cambria" pitchFamily="34" charset="-122"/>
                <a:cs typeface="Cambria" pitchFamily="34" charset="-120"/>
              </a:rPr>
              <a:t>SABIRLI</a:t>
            </a:r>
            <a:endParaRPr lang="en-US" sz="1200" dirty="0"/>
          </a:p>
        </p:txBody>
      </p:sp>
      <p:sp>
        <p:nvSpPr>
          <p:cNvPr id="20" name="Shape 18"/>
          <p:cNvSpPr/>
          <p:nvPr/>
        </p:nvSpPr>
        <p:spPr>
          <a:xfrm>
            <a:off x="777240" y="3602736"/>
            <a:ext cx="1463040" cy="292608"/>
          </a:xfrm>
          <a:prstGeom prst="rect">
            <a:avLst/>
          </a:prstGeom>
          <a:solidFill>
            <a:srgbClr val="F6EAE6"/>
          </a:solidFill>
          <a:ln w="15875">
            <a:solidFill>
              <a:srgbClr val="8C3A2B"/>
            </a:solidFill>
            <a:prstDash val="solid"/>
          </a:ln>
        </p:spPr>
      </p:sp>
      <p:sp>
        <p:nvSpPr>
          <p:cNvPr id="21" name="Text 19"/>
          <p:cNvSpPr txBox="1"/>
          <p:nvPr/>
        </p:nvSpPr>
        <p:spPr>
          <a:xfrm>
            <a:off x="850392" y="3602736"/>
            <a:ext cx="1316736" cy="292608"/>
          </a:xfrm>
          <a:prstGeom prst="rect">
            <a:avLst/>
          </a:prstGeom>
          <a:noFill/>
          <a:ln/>
        </p:spPr>
        <p:txBody>
          <a:bodyPr wrap="square" lIns="0" tIns="0" rIns="0" bIns="0" rtlCol="0" anchor="ctr"/>
          <a:lstStyle/>
          <a:p>
            <a:pPr algn="ctr" indent="0" marL="0">
              <a:buNone/>
            </a:pPr>
            <a:r>
              <a:rPr lang="en-US" sz="1200" b="1" dirty="0">
                <a:solidFill>
                  <a:srgbClr val="8C3A2B"/>
                </a:solidFill>
                <a:latin typeface="Cambria" pitchFamily="34" charset="0"/>
                <a:ea typeface="Cambria" pitchFamily="34" charset="-122"/>
                <a:cs typeface="Cambria" pitchFamily="34" charset="-120"/>
              </a:rPr>
              <a:t>HAM</a:t>
            </a:r>
            <a:endParaRPr lang="en-US" sz="1200" dirty="0"/>
          </a:p>
        </p:txBody>
      </p:sp>
      <p:sp>
        <p:nvSpPr>
          <p:cNvPr id="22" name="Text 20"/>
          <p:cNvSpPr txBox="1"/>
          <p:nvPr/>
        </p:nvSpPr>
        <p:spPr>
          <a:xfrm>
            <a:off x="4434840" y="2468880"/>
            <a:ext cx="6949440"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Çekim — kavurma makinesi vitrinden görünür</a:t>
            </a:r>
            <a:endParaRPr lang="en-US" sz="1100" dirty="0"/>
          </a:p>
        </p:txBody>
      </p:sp>
      <p:sp>
        <p:nvSpPr>
          <p:cNvPr id="23" name="Shape 21"/>
          <p:cNvSpPr/>
          <p:nvPr/>
        </p:nvSpPr>
        <p:spPr>
          <a:xfrm>
            <a:off x="4265676" y="2574036"/>
            <a:ext cx="82296" cy="82296"/>
          </a:xfrm>
          <a:prstGeom prst="ellipse">
            <a:avLst/>
          </a:prstGeom>
          <a:solidFill>
            <a:srgbClr val="8C3A2B"/>
          </a:solidFill>
          <a:ln w="12700">
            <a:solidFill>
              <a:srgbClr val="8C3A2B"/>
            </a:solidFill>
            <a:prstDash val="solid"/>
          </a:ln>
        </p:spPr>
      </p:sp>
      <p:sp>
        <p:nvSpPr>
          <p:cNvPr id="24" name="Text 22"/>
          <p:cNvSpPr txBox="1"/>
          <p:nvPr/>
        </p:nvSpPr>
        <p:spPr>
          <a:xfrm>
            <a:off x="4434840" y="3035808"/>
            <a:ext cx="6949440"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Eşik — koku eşikte karşılar, kapı ağırdır</a:t>
            </a:r>
            <a:endParaRPr lang="en-US" sz="1100" dirty="0"/>
          </a:p>
        </p:txBody>
      </p:sp>
      <p:sp>
        <p:nvSpPr>
          <p:cNvPr id="25" name="Shape 23"/>
          <p:cNvSpPr/>
          <p:nvPr/>
        </p:nvSpPr>
        <p:spPr>
          <a:xfrm>
            <a:off x="4265676" y="3140964"/>
            <a:ext cx="82296" cy="82296"/>
          </a:xfrm>
          <a:prstGeom prst="ellipse">
            <a:avLst/>
          </a:prstGeom>
          <a:solidFill>
            <a:srgbClr val="8C3A2B"/>
          </a:solidFill>
          <a:ln w="12700">
            <a:solidFill>
              <a:srgbClr val="8C3A2B"/>
            </a:solidFill>
            <a:prstDash val="solid"/>
          </a:ln>
        </p:spPr>
      </p:sp>
      <p:sp>
        <p:nvSpPr>
          <p:cNvPr id="26" name="Text 24"/>
          <p:cNvSpPr txBox="1"/>
          <p:nvPr/>
        </p:nvSpPr>
        <p:spPr>
          <a:xfrm>
            <a:off x="4434840" y="3602736"/>
            <a:ext cx="6949440"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Ürün ve hizmetler — açık kavanoz, tartım tezgâhı</a:t>
            </a:r>
            <a:endParaRPr lang="en-US" sz="1100" dirty="0"/>
          </a:p>
        </p:txBody>
      </p:sp>
      <p:sp>
        <p:nvSpPr>
          <p:cNvPr id="27" name="Shape 25"/>
          <p:cNvSpPr/>
          <p:nvPr/>
        </p:nvSpPr>
        <p:spPr>
          <a:xfrm>
            <a:off x="4265676" y="3707892"/>
            <a:ext cx="82296" cy="82296"/>
          </a:xfrm>
          <a:prstGeom prst="ellipse">
            <a:avLst/>
          </a:prstGeom>
          <a:solidFill>
            <a:srgbClr val="8C3A2B"/>
          </a:solidFill>
          <a:ln w="12700">
            <a:solidFill>
              <a:srgbClr val="8C3A2B"/>
            </a:solidFill>
            <a:prstDash val="solid"/>
          </a:ln>
        </p:spPr>
      </p:sp>
      <p:sp>
        <p:nvSpPr>
          <p:cNvPr id="28" name="Text 26"/>
          <p:cNvSpPr txBox="1"/>
          <p:nvPr/>
        </p:nvSpPr>
        <p:spPr>
          <a:xfrm>
            <a:off x="4434840" y="4169664"/>
            <a:ext cx="6949440"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Organizasyonel — depo camlı, stok görünür</a:t>
            </a:r>
            <a:endParaRPr lang="en-US" sz="1100" dirty="0"/>
          </a:p>
        </p:txBody>
      </p:sp>
      <p:sp>
        <p:nvSpPr>
          <p:cNvPr id="29" name="Shape 27"/>
          <p:cNvSpPr/>
          <p:nvPr/>
        </p:nvSpPr>
        <p:spPr>
          <a:xfrm>
            <a:off x="4265676" y="4274820"/>
            <a:ext cx="82296" cy="82296"/>
          </a:xfrm>
          <a:prstGeom prst="ellipse">
            <a:avLst/>
          </a:prstGeom>
          <a:solidFill>
            <a:srgbClr val="8C3A2B"/>
          </a:solidFill>
          <a:ln w="12700">
            <a:solidFill>
              <a:srgbClr val="8C3A2B"/>
            </a:solidFill>
            <a:prstDash val="solid"/>
          </a:ln>
        </p:spPr>
      </p:sp>
      <p:sp>
        <p:nvSpPr>
          <p:cNvPr id="30" name="Text 28"/>
          <p:cNvSpPr txBox="1"/>
          <p:nvPr/>
        </p:nvSpPr>
        <p:spPr>
          <a:xfrm>
            <a:off x="4434840" y="4736592"/>
            <a:ext cx="6949440"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Yönelme — rota kavurmadan tartıma akar</a:t>
            </a:r>
            <a:endParaRPr lang="en-US" sz="1100" dirty="0"/>
          </a:p>
        </p:txBody>
      </p:sp>
      <p:sp>
        <p:nvSpPr>
          <p:cNvPr id="31" name="Shape 29"/>
          <p:cNvSpPr/>
          <p:nvPr/>
        </p:nvSpPr>
        <p:spPr>
          <a:xfrm>
            <a:off x="4265676" y="4841748"/>
            <a:ext cx="82296" cy="82296"/>
          </a:xfrm>
          <a:prstGeom prst="ellipse">
            <a:avLst/>
          </a:prstGeom>
          <a:solidFill>
            <a:srgbClr val="8C3A2B"/>
          </a:solidFill>
          <a:ln w="12700">
            <a:solidFill>
              <a:srgbClr val="8C3A2B"/>
            </a:solidFill>
            <a:prstDash val="solid"/>
          </a:ln>
        </p:spPr>
      </p:sp>
      <p:sp>
        <p:nvSpPr>
          <p:cNvPr id="32" name="Text 30"/>
          <p:cNvSpPr txBox="1"/>
          <p:nvPr/>
        </p:nvSpPr>
        <p:spPr>
          <a:xfrm>
            <a:off x="4434840" y="5303520"/>
            <a:ext cx="6949440"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Gezinme — bekleyene oturma ve tadım noktası</a:t>
            </a:r>
            <a:endParaRPr lang="en-US" sz="1100" dirty="0"/>
          </a:p>
        </p:txBody>
      </p:sp>
      <p:sp>
        <p:nvSpPr>
          <p:cNvPr id="33" name="Shape 31"/>
          <p:cNvSpPr/>
          <p:nvPr/>
        </p:nvSpPr>
        <p:spPr>
          <a:xfrm>
            <a:off x="4265676" y="5408676"/>
            <a:ext cx="82296" cy="82296"/>
          </a:xfrm>
          <a:prstGeom prst="ellipse">
            <a:avLst/>
          </a:prstGeom>
          <a:solidFill>
            <a:srgbClr val="8C3A2B"/>
          </a:solidFill>
          <a:ln w="12700">
            <a:solidFill>
              <a:srgbClr val="8C3A2B"/>
            </a:solidFill>
            <a:prstDash val="solid"/>
          </a:ln>
        </p:spPr>
      </p:sp>
      <p:sp>
        <p:nvSpPr>
          <p:cNvPr id="34" name="Text 32"/>
          <p:cNvSpPr txBox="1"/>
          <p:nvPr/>
        </p:nvSpPr>
        <p:spPr>
          <a:xfrm>
            <a:off x="777240" y="2231136"/>
            <a:ext cx="146304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ANAHTAR KELİME</a:t>
            </a:r>
            <a:endParaRPr lang="en-US" sz="850" dirty="0"/>
          </a:p>
        </p:txBody>
      </p:sp>
      <p:sp>
        <p:nvSpPr>
          <p:cNvPr id="35" name="Text 33"/>
          <p:cNvSpPr txBox="1"/>
          <p:nvPr/>
        </p:nvSpPr>
        <p:spPr>
          <a:xfrm>
            <a:off x="4434840" y="2231136"/>
            <a:ext cx="694944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MODÜLDEKİ KARŞILIĞI</a:t>
            </a:r>
            <a:endParaRPr lang="en-US" sz="850" dirty="0"/>
          </a:p>
        </p:txBody>
      </p:sp>
      <p:sp>
        <p:nvSpPr>
          <p:cNvPr id="36" name="Shape 34"/>
          <p:cNvSpPr/>
          <p:nvPr/>
        </p:nvSpPr>
        <p:spPr>
          <a:xfrm>
            <a:off x="777240" y="5705856"/>
            <a:ext cx="10634472" cy="0"/>
          </a:xfrm>
          <a:prstGeom prst="line">
            <a:avLst/>
          </a:prstGeom>
          <a:noFill/>
          <a:ln w="9525">
            <a:solidFill>
              <a:srgbClr val="C9C9CF"/>
            </a:solidFill>
            <a:prstDash val="solid"/>
          </a:ln>
        </p:spPr>
      </p:sp>
      <p:sp>
        <p:nvSpPr>
          <p:cNvPr id="37" name="Text 35"/>
          <p:cNvSpPr txBox="1"/>
          <p:nvPr/>
        </p:nvSpPr>
        <p:spPr>
          <a:xfrm>
            <a:off x="777240" y="5852160"/>
            <a:ext cx="10634472" cy="411480"/>
          </a:xfrm>
          <a:prstGeom prst="rect">
            <a:avLst/>
          </a:prstGeom>
          <a:noFill/>
          <a:ln/>
        </p:spPr>
        <p:txBody>
          <a:bodyPr wrap="square" lIns="0" tIns="0" rIns="0" bIns="0" rtlCol="0" anchor="ctr"/>
          <a:lstStyle/>
          <a:p>
            <a:pPr algn="l" indent="0" marL="0">
              <a:lnSpc>
                <a:spcPts val="1200"/>
              </a:lnSpc>
              <a:buNone/>
            </a:pPr>
            <a:r>
              <a:rPr lang="en-US" sz="1250" i="1" dirty="0">
                <a:solidFill>
                  <a:srgbClr val="8C3A2B"/>
                </a:solidFill>
                <a:latin typeface="Cambria" pitchFamily="34" charset="0"/>
                <a:ea typeface="Cambria" pitchFamily="34" charset="-122"/>
                <a:cs typeface="Cambria" pitchFamily="34" charset="-120"/>
              </a:rPr>
              <a:t>Bir kelime hiçbir modülde karşılık bulamıyorsa anahtar kelime değildir; bir modül hiçbir kelimeden karşılık almıyorsa o modül tasarlanmamıştır.</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7800" b="1" dirty="0">
                <a:solidFill>
                  <a:srgbClr val="8C3A2B"/>
                </a:solidFill>
                <a:latin typeface="Cambria" pitchFamily="34" charset="0"/>
                <a:ea typeface="Cambria" pitchFamily="34" charset="-122"/>
                <a:cs typeface="Cambria" pitchFamily="34" charset="-120"/>
              </a:rPr>
              <a:t>VII</a:t>
            </a:r>
            <a:endParaRPr lang="en-US" sz="78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Bir marka nasıl mağazaya dönüşür?</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Bütün araçlar tek bir akışın parçası. İşte o akışın tamamı.</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 · BÜTÜN SÜREÇ</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700" b="1" dirty="0">
                <a:solidFill>
                  <a:srgbClr val="16161A"/>
                </a:solidFill>
                <a:latin typeface="Cambria" pitchFamily="34" charset="0"/>
                <a:ea typeface="Cambria" pitchFamily="34" charset="-122"/>
                <a:cs typeface="Cambria" pitchFamily="34" charset="-120"/>
              </a:rPr>
              <a:t>Bir marka nasıl mağazaya dönüşür?</a:t>
            </a:r>
            <a:endParaRPr lang="en-US" sz="27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Bugüne kadar anlatılan her araç bu akışın bir halkasıdır. Üstteki şerit ne yapıldığını, alttaki satır çıktının ne olduğunu gösterir.</a:t>
            </a:r>
            <a:endParaRPr lang="en-US" sz="1350" dirty="0"/>
          </a:p>
        </p:txBody>
      </p:sp>
      <p:sp>
        <p:nvSpPr>
          <p:cNvPr id="7" name="Shape 5"/>
          <p:cNvSpPr/>
          <p:nvPr/>
        </p:nvSpPr>
        <p:spPr>
          <a:xfrm>
            <a:off x="777240" y="2286000"/>
            <a:ext cx="3456432" cy="310896"/>
          </a:xfrm>
          <a:prstGeom prst="rect">
            <a:avLst/>
          </a:prstGeom>
          <a:solidFill>
            <a:srgbClr val="F6EAE6"/>
          </a:solidFill>
          <a:ln/>
        </p:spPr>
      </p:sp>
      <p:sp>
        <p:nvSpPr>
          <p:cNvPr id="8" name="Text 6"/>
          <p:cNvSpPr txBox="1"/>
          <p:nvPr/>
        </p:nvSpPr>
        <p:spPr>
          <a:xfrm>
            <a:off x="777240" y="2286000"/>
            <a:ext cx="3456432" cy="310896"/>
          </a:xfrm>
          <a:prstGeom prst="rect">
            <a:avLst/>
          </a:prstGeom>
          <a:noFill/>
          <a:ln/>
        </p:spPr>
        <p:txBody>
          <a:bodyPr wrap="square" lIns="0" tIns="0" rIns="0" bIns="0" rtlCol="0" anchor="ctr"/>
          <a:lstStyle/>
          <a:p>
            <a:pPr algn="ctr" indent="0" marL="0">
              <a:buNone/>
            </a:pPr>
            <a:r>
              <a:rPr lang="en-US" sz="950" b="1" spc="200" kern="0" dirty="0">
                <a:solidFill>
                  <a:srgbClr val="8C3A2B"/>
                </a:solidFill>
                <a:latin typeface="Calibri" pitchFamily="34" charset="0"/>
                <a:ea typeface="Calibri" pitchFamily="34" charset="-122"/>
                <a:cs typeface="Calibri" pitchFamily="34" charset="-120"/>
              </a:rPr>
              <a:t>ARAŞTIRMA</a:t>
            </a:r>
            <a:endParaRPr lang="en-US" sz="950" dirty="0"/>
          </a:p>
        </p:txBody>
      </p:sp>
      <p:sp>
        <p:nvSpPr>
          <p:cNvPr id="9" name="Shape 7"/>
          <p:cNvSpPr/>
          <p:nvPr/>
        </p:nvSpPr>
        <p:spPr>
          <a:xfrm>
            <a:off x="777240" y="2779776"/>
            <a:ext cx="3456432" cy="621792"/>
          </a:xfrm>
          <a:prstGeom prst="rect">
            <a:avLst/>
          </a:prstGeom>
          <a:ln w="9525">
            <a:solidFill>
              <a:srgbClr val="C9C9CF"/>
            </a:solidFill>
            <a:prstDash val="solid"/>
          </a:ln>
        </p:spPr>
      </p:sp>
      <p:sp>
        <p:nvSpPr>
          <p:cNvPr id="10" name="Shape 8"/>
          <p:cNvSpPr/>
          <p:nvPr/>
        </p:nvSpPr>
        <p:spPr>
          <a:xfrm>
            <a:off x="941832" y="2962656"/>
            <a:ext cx="256032" cy="256032"/>
          </a:xfrm>
          <a:prstGeom prst="ellipse">
            <a:avLst/>
          </a:prstGeom>
          <a:solidFill>
            <a:srgbClr val="8C3A2B"/>
          </a:solidFill>
          <a:ln w="12700">
            <a:solidFill>
              <a:srgbClr val="8C3A2B"/>
            </a:solidFill>
            <a:prstDash val="solid"/>
          </a:ln>
        </p:spPr>
      </p:sp>
      <p:sp>
        <p:nvSpPr>
          <p:cNvPr id="11" name="Text 9"/>
          <p:cNvSpPr txBox="1"/>
          <p:nvPr/>
        </p:nvSpPr>
        <p:spPr>
          <a:xfrm>
            <a:off x="941832" y="296265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2" name="Text 10"/>
          <p:cNvSpPr txBox="1"/>
          <p:nvPr/>
        </p:nvSpPr>
        <p:spPr>
          <a:xfrm>
            <a:off x="1344168" y="2779776"/>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Kimlik okuma</a:t>
            </a:r>
            <a:endParaRPr lang="en-US" sz="1400" dirty="0"/>
          </a:p>
        </p:txBody>
      </p:sp>
      <p:sp>
        <p:nvSpPr>
          <p:cNvPr id="13" name="Shape 11"/>
          <p:cNvSpPr/>
          <p:nvPr/>
        </p:nvSpPr>
        <p:spPr>
          <a:xfrm>
            <a:off x="2505456" y="3419856"/>
            <a:ext cx="0" cy="128016"/>
          </a:xfrm>
          <a:prstGeom prst="line">
            <a:avLst/>
          </a:prstGeom>
          <a:noFill/>
          <a:ln w="15240">
            <a:solidFill>
              <a:srgbClr val="8C3A2B"/>
            </a:solidFill>
            <a:prstDash val="solid"/>
            <a:tailEnd type="triangle"/>
          </a:ln>
        </p:spPr>
      </p:sp>
      <p:sp>
        <p:nvSpPr>
          <p:cNvPr id="14" name="Shape 12"/>
          <p:cNvSpPr/>
          <p:nvPr/>
        </p:nvSpPr>
        <p:spPr>
          <a:xfrm>
            <a:off x="777240" y="3566160"/>
            <a:ext cx="3456432" cy="621792"/>
          </a:xfrm>
          <a:prstGeom prst="rect">
            <a:avLst/>
          </a:prstGeom>
          <a:ln w="9525">
            <a:solidFill>
              <a:srgbClr val="C9C9CF"/>
            </a:solidFill>
            <a:prstDash val="solid"/>
          </a:ln>
        </p:spPr>
      </p:sp>
      <p:sp>
        <p:nvSpPr>
          <p:cNvPr id="15" name="Shape 13"/>
          <p:cNvSpPr/>
          <p:nvPr/>
        </p:nvSpPr>
        <p:spPr>
          <a:xfrm>
            <a:off x="941832" y="3749040"/>
            <a:ext cx="256032" cy="256032"/>
          </a:xfrm>
          <a:prstGeom prst="ellipse">
            <a:avLst/>
          </a:prstGeom>
          <a:solidFill>
            <a:srgbClr val="8C3A2B"/>
          </a:solidFill>
          <a:ln w="12700">
            <a:solidFill>
              <a:srgbClr val="8C3A2B"/>
            </a:solidFill>
            <a:prstDash val="solid"/>
          </a:ln>
        </p:spPr>
      </p:sp>
      <p:sp>
        <p:nvSpPr>
          <p:cNvPr id="16" name="Text 14"/>
          <p:cNvSpPr txBox="1"/>
          <p:nvPr/>
        </p:nvSpPr>
        <p:spPr>
          <a:xfrm>
            <a:off x="941832" y="374904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7" name="Text 15"/>
          <p:cNvSpPr txBox="1"/>
          <p:nvPr/>
        </p:nvSpPr>
        <p:spPr>
          <a:xfrm>
            <a:off x="1344168" y="3566160"/>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Marka anahtarı</a:t>
            </a:r>
            <a:endParaRPr lang="en-US" sz="1400" dirty="0"/>
          </a:p>
        </p:txBody>
      </p:sp>
      <p:sp>
        <p:nvSpPr>
          <p:cNvPr id="18" name="Shape 16"/>
          <p:cNvSpPr/>
          <p:nvPr/>
        </p:nvSpPr>
        <p:spPr>
          <a:xfrm>
            <a:off x="2505456" y="4206240"/>
            <a:ext cx="0" cy="128016"/>
          </a:xfrm>
          <a:prstGeom prst="line">
            <a:avLst/>
          </a:prstGeom>
          <a:noFill/>
          <a:ln w="15240">
            <a:solidFill>
              <a:srgbClr val="8C3A2B"/>
            </a:solidFill>
            <a:prstDash val="solid"/>
            <a:tailEnd type="triangle"/>
          </a:ln>
        </p:spPr>
      </p:sp>
      <p:sp>
        <p:nvSpPr>
          <p:cNvPr id="19" name="Shape 17"/>
          <p:cNvSpPr/>
          <p:nvPr/>
        </p:nvSpPr>
        <p:spPr>
          <a:xfrm>
            <a:off x="777240" y="4352544"/>
            <a:ext cx="3456432" cy="621792"/>
          </a:xfrm>
          <a:prstGeom prst="rect">
            <a:avLst/>
          </a:prstGeom>
          <a:ln w="9525">
            <a:solidFill>
              <a:srgbClr val="C9C9CF"/>
            </a:solidFill>
            <a:prstDash val="solid"/>
          </a:ln>
        </p:spPr>
      </p:sp>
      <p:sp>
        <p:nvSpPr>
          <p:cNvPr id="20" name="Shape 18"/>
          <p:cNvSpPr/>
          <p:nvPr/>
        </p:nvSpPr>
        <p:spPr>
          <a:xfrm>
            <a:off x="941832" y="4535424"/>
            <a:ext cx="256032" cy="256032"/>
          </a:xfrm>
          <a:prstGeom prst="ellipse">
            <a:avLst/>
          </a:prstGeom>
          <a:solidFill>
            <a:srgbClr val="8C3A2B"/>
          </a:solidFill>
          <a:ln w="12700">
            <a:solidFill>
              <a:srgbClr val="8C3A2B"/>
            </a:solidFill>
            <a:prstDash val="solid"/>
          </a:ln>
        </p:spPr>
      </p:sp>
      <p:sp>
        <p:nvSpPr>
          <p:cNvPr id="21" name="Text 19"/>
          <p:cNvSpPr txBox="1"/>
          <p:nvPr/>
        </p:nvSpPr>
        <p:spPr>
          <a:xfrm>
            <a:off x="941832" y="45354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2" name="Text 20"/>
          <p:cNvSpPr txBox="1"/>
          <p:nvPr/>
        </p:nvSpPr>
        <p:spPr>
          <a:xfrm>
            <a:off x="1344168" y="4352544"/>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Persona</a:t>
            </a:r>
            <a:endParaRPr lang="en-US" sz="1400" dirty="0"/>
          </a:p>
        </p:txBody>
      </p:sp>
      <p:sp>
        <p:nvSpPr>
          <p:cNvPr id="23" name="Shape 21"/>
          <p:cNvSpPr/>
          <p:nvPr/>
        </p:nvSpPr>
        <p:spPr>
          <a:xfrm>
            <a:off x="4270248" y="3977640"/>
            <a:ext cx="201168" cy="0"/>
          </a:xfrm>
          <a:prstGeom prst="line">
            <a:avLst/>
          </a:prstGeom>
          <a:noFill/>
          <a:ln w="20320">
            <a:solidFill>
              <a:srgbClr val="8C3A2B"/>
            </a:solidFill>
            <a:prstDash val="solid"/>
            <a:tailEnd type="triangle"/>
          </a:ln>
        </p:spPr>
      </p:sp>
      <p:sp>
        <p:nvSpPr>
          <p:cNvPr id="24" name="Shape 22"/>
          <p:cNvSpPr/>
          <p:nvPr/>
        </p:nvSpPr>
        <p:spPr>
          <a:xfrm>
            <a:off x="777240" y="5212080"/>
            <a:ext cx="3456432" cy="0"/>
          </a:xfrm>
          <a:prstGeom prst="line">
            <a:avLst/>
          </a:prstGeom>
          <a:noFill/>
          <a:ln w="15875">
            <a:solidFill>
              <a:srgbClr val="8C3A2B"/>
            </a:solidFill>
            <a:prstDash val="solid"/>
          </a:ln>
        </p:spPr>
      </p:sp>
      <p:sp>
        <p:nvSpPr>
          <p:cNvPr id="25" name="Text 23"/>
          <p:cNvSpPr txBox="1"/>
          <p:nvPr/>
        </p:nvSpPr>
        <p:spPr>
          <a:xfrm>
            <a:off x="777240" y="5285232"/>
            <a:ext cx="3456432" cy="219456"/>
          </a:xfrm>
          <a:prstGeom prst="rect">
            <a:avLst/>
          </a:prstGeom>
          <a:noFill/>
          <a:ln/>
        </p:spPr>
        <p:txBody>
          <a:bodyPr wrap="square" lIns="0" tIns="0" rIns="0" bIns="0" rtlCol="0" anchor="ctr"/>
          <a:lstStyle/>
          <a:p>
            <a:pPr indent="0" marL="0">
              <a:buNone/>
            </a:pPr>
            <a:r>
              <a:rPr lang="en-US" sz="800" b="1" spc="150" kern="0" dirty="0">
                <a:solidFill>
                  <a:srgbClr val="A6A6AC"/>
                </a:solidFill>
                <a:latin typeface="Calibri" pitchFamily="34" charset="0"/>
                <a:ea typeface="Calibri" pitchFamily="34" charset="-122"/>
                <a:cs typeface="Calibri" pitchFamily="34" charset="-120"/>
              </a:rPr>
              <a:t>ÇIKTI</a:t>
            </a:r>
            <a:endParaRPr lang="en-US" sz="800" dirty="0"/>
          </a:p>
        </p:txBody>
      </p:sp>
      <p:sp>
        <p:nvSpPr>
          <p:cNvPr id="26" name="Text 24"/>
          <p:cNvSpPr txBox="1"/>
          <p:nvPr/>
        </p:nvSpPr>
        <p:spPr>
          <a:xfrm>
            <a:off x="777240" y="5504688"/>
            <a:ext cx="3456432"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3 aday marka · 8 bileşen · 3 persona</a:t>
            </a:r>
            <a:endParaRPr lang="en-US" sz="1050" dirty="0"/>
          </a:p>
        </p:txBody>
      </p:sp>
      <p:sp>
        <p:nvSpPr>
          <p:cNvPr id="27" name="Shape 25"/>
          <p:cNvSpPr/>
          <p:nvPr/>
        </p:nvSpPr>
        <p:spPr>
          <a:xfrm>
            <a:off x="4507992" y="2286000"/>
            <a:ext cx="3456432" cy="310896"/>
          </a:xfrm>
          <a:prstGeom prst="rect">
            <a:avLst/>
          </a:prstGeom>
          <a:solidFill>
            <a:srgbClr val="F6EAE6"/>
          </a:solidFill>
          <a:ln/>
        </p:spPr>
      </p:sp>
      <p:sp>
        <p:nvSpPr>
          <p:cNvPr id="28" name="Text 26"/>
          <p:cNvSpPr txBox="1"/>
          <p:nvPr/>
        </p:nvSpPr>
        <p:spPr>
          <a:xfrm>
            <a:off x="4507992" y="2286000"/>
            <a:ext cx="3456432" cy="310896"/>
          </a:xfrm>
          <a:prstGeom prst="rect">
            <a:avLst/>
          </a:prstGeom>
          <a:noFill/>
          <a:ln/>
        </p:spPr>
        <p:txBody>
          <a:bodyPr wrap="square" lIns="0" tIns="0" rIns="0" bIns="0" rtlCol="0" anchor="ctr"/>
          <a:lstStyle/>
          <a:p>
            <a:pPr algn="ctr" indent="0" marL="0">
              <a:buNone/>
            </a:pPr>
            <a:r>
              <a:rPr lang="en-US" sz="950" b="1" spc="200" kern="0" dirty="0">
                <a:solidFill>
                  <a:srgbClr val="8C3A2B"/>
                </a:solidFill>
                <a:latin typeface="Calibri" pitchFamily="34" charset="0"/>
                <a:ea typeface="Calibri" pitchFamily="34" charset="-122"/>
                <a:cs typeface="Calibri" pitchFamily="34" charset="-120"/>
              </a:rPr>
              <a:t>ÇEVİRİ</a:t>
            </a:r>
            <a:endParaRPr lang="en-US" sz="950" dirty="0"/>
          </a:p>
        </p:txBody>
      </p:sp>
      <p:sp>
        <p:nvSpPr>
          <p:cNvPr id="29" name="Shape 27"/>
          <p:cNvSpPr/>
          <p:nvPr/>
        </p:nvSpPr>
        <p:spPr>
          <a:xfrm>
            <a:off x="4507992" y="2779776"/>
            <a:ext cx="3456432" cy="621792"/>
          </a:xfrm>
          <a:prstGeom prst="rect">
            <a:avLst/>
          </a:prstGeom>
          <a:ln w="9525">
            <a:solidFill>
              <a:srgbClr val="C9C9CF"/>
            </a:solidFill>
            <a:prstDash val="solid"/>
          </a:ln>
        </p:spPr>
      </p:sp>
      <p:sp>
        <p:nvSpPr>
          <p:cNvPr id="30" name="Shape 28"/>
          <p:cNvSpPr/>
          <p:nvPr/>
        </p:nvSpPr>
        <p:spPr>
          <a:xfrm>
            <a:off x="4672584" y="2962656"/>
            <a:ext cx="256032" cy="256032"/>
          </a:xfrm>
          <a:prstGeom prst="ellipse">
            <a:avLst/>
          </a:prstGeom>
          <a:solidFill>
            <a:srgbClr val="8C3A2B"/>
          </a:solidFill>
          <a:ln w="12700">
            <a:solidFill>
              <a:srgbClr val="8C3A2B"/>
            </a:solidFill>
            <a:prstDash val="solid"/>
          </a:ln>
        </p:spPr>
      </p:sp>
      <p:sp>
        <p:nvSpPr>
          <p:cNvPr id="31" name="Text 29"/>
          <p:cNvSpPr txBox="1"/>
          <p:nvPr/>
        </p:nvSpPr>
        <p:spPr>
          <a:xfrm>
            <a:off x="4672584" y="296265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2" name="Text 30"/>
          <p:cNvSpPr txBox="1"/>
          <p:nvPr/>
        </p:nvSpPr>
        <p:spPr>
          <a:xfrm>
            <a:off x="5074920" y="2779776"/>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Yolculuk haritası</a:t>
            </a:r>
            <a:endParaRPr lang="en-US" sz="1400" dirty="0"/>
          </a:p>
        </p:txBody>
      </p:sp>
      <p:sp>
        <p:nvSpPr>
          <p:cNvPr id="33" name="Shape 31"/>
          <p:cNvSpPr/>
          <p:nvPr/>
        </p:nvSpPr>
        <p:spPr>
          <a:xfrm>
            <a:off x="6236208" y="3419856"/>
            <a:ext cx="0" cy="128016"/>
          </a:xfrm>
          <a:prstGeom prst="line">
            <a:avLst/>
          </a:prstGeom>
          <a:noFill/>
          <a:ln w="15240">
            <a:solidFill>
              <a:srgbClr val="8C3A2B"/>
            </a:solidFill>
            <a:prstDash val="solid"/>
            <a:tailEnd type="triangle"/>
          </a:ln>
        </p:spPr>
      </p:sp>
      <p:sp>
        <p:nvSpPr>
          <p:cNvPr id="34" name="Shape 32"/>
          <p:cNvSpPr/>
          <p:nvPr/>
        </p:nvSpPr>
        <p:spPr>
          <a:xfrm>
            <a:off x="4507992" y="3566160"/>
            <a:ext cx="3456432" cy="621792"/>
          </a:xfrm>
          <a:prstGeom prst="rect">
            <a:avLst/>
          </a:prstGeom>
          <a:ln w="9525">
            <a:solidFill>
              <a:srgbClr val="C9C9CF"/>
            </a:solidFill>
            <a:prstDash val="solid"/>
          </a:ln>
        </p:spPr>
      </p:sp>
      <p:sp>
        <p:nvSpPr>
          <p:cNvPr id="35" name="Shape 33"/>
          <p:cNvSpPr/>
          <p:nvPr/>
        </p:nvSpPr>
        <p:spPr>
          <a:xfrm>
            <a:off x="4672584" y="3749040"/>
            <a:ext cx="256032" cy="256032"/>
          </a:xfrm>
          <a:prstGeom prst="ellipse">
            <a:avLst/>
          </a:prstGeom>
          <a:solidFill>
            <a:srgbClr val="8C3A2B"/>
          </a:solidFill>
          <a:ln w="12700">
            <a:solidFill>
              <a:srgbClr val="8C3A2B"/>
            </a:solidFill>
            <a:prstDash val="solid"/>
          </a:ln>
        </p:spPr>
      </p:sp>
      <p:sp>
        <p:nvSpPr>
          <p:cNvPr id="36" name="Text 34"/>
          <p:cNvSpPr txBox="1"/>
          <p:nvPr/>
        </p:nvSpPr>
        <p:spPr>
          <a:xfrm>
            <a:off x="4672584" y="374904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txBox="1"/>
          <p:nvPr/>
        </p:nvSpPr>
        <p:spPr>
          <a:xfrm>
            <a:off x="5074920" y="3566160"/>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Anahtar kelime</a:t>
            </a:r>
            <a:endParaRPr lang="en-US" sz="1400" dirty="0"/>
          </a:p>
        </p:txBody>
      </p:sp>
      <p:sp>
        <p:nvSpPr>
          <p:cNvPr id="38" name="Shape 36"/>
          <p:cNvSpPr/>
          <p:nvPr/>
        </p:nvSpPr>
        <p:spPr>
          <a:xfrm>
            <a:off x="6236208" y="4206240"/>
            <a:ext cx="0" cy="128016"/>
          </a:xfrm>
          <a:prstGeom prst="line">
            <a:avLst/>
          </a:prstGeom>
          <a:noFill/>
          <a:ln w="15240">
            <a:solidFill>
              <a:srgbClr val="8C3A2B"/>
            </a:solidFill>
            <a:prstDash val="solid"/>
            <a:tailEnd type="triangle"/>
          </a:ln>
        </p:spPr>
      </p:sp>
      <p:sp>
        <p:nvSpPr>
          <p:cNvPr id="39" name="Shape 37"/>
          <p:cNvSpPr/>
          <p:nvPr/>
        </p:nvSpPr>
        <p:spPr>
          <a:xfrm>
            <a:off x="4507992" y="4352544"/>
            <a:ext cx="3456432" cy="621792"/>
          </a:xfrm>
          <a:prstGeom prst="rect">
            <a:avLst/>
          </a:prstGeom>
          <a:ln w="9525">
            <a:solidFill>
              <a:srgbClr val="C9C9CF"/>
            </a:solidFill>
            <a:prstDash val="solid"/>
          </a:ln>
        </p:spPr>
      </p:sp>
      <p:sp>
        <p:nvSpPr>
          <p:cNvPr id="40" name="Shape 38"/>
          <p:cNvSpPr/>
          <p:nvPr/>
        </p:nvSpPr>
        <p:spPr>
          <a:xfrm>
            <a:off x="4672584" y="4535424"/>
            <a:ext cx="256032" cy="256032"/>
          </a:xfrm>
          <a:prstGeom prst="ellipse">
            <a:avLst/>
          </a:prstGeom>
          <a:solidFill>
            <a:srgbClr val="8C3A2B"/>
          </a:solidFill>
          <a:ln w="12700">
            <a:solidFill>
              <a:srgbClr val="8C3A2B"/>
            </a:solidFill>
            <a:prstDash val="solid"/>
          </a:ln>
        </p:spPr>
      </p:sp>
      <p:sp>
        <p:nvSpPr>
          <p:cNvPr id="41" name="Text 39"/>
          <p:cNvSpPr txBox="1"/>
          <p:nvPr/>
        </p:nvSpPr>
        <p:spPr>
          <a:xfrm>
            <a:off x="4672584" y="45354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2" name="Text 40"/>
          <p:cNvSpPr txBox="1"/>
          <p:nvPr/>
        </p:nvSpPr>
        <p:spPr>
          <a:xfrm>
            <a:off x="5074920" y="4352544"/>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Mekânsal ilke</a:t>
            </a:r>
            <a:endParaRPr lang="en-US" sz="1400" dirty="0"/>
          </a:p>
        </p:txBody>
      </p:sp>
      <p:sp>
        <p:nvSpPr>
          <p:cNvPr id="43" name="Shape 41"/>
          <p:cNvSpPr/>
          <p:nvPr/>
        </p:nvSpPr>
        <p:spPr>
          <a:xfrm>
            <a:off x="8001000" y="3977640"/>
            <a:ext cx="201168" cy="0"/>
          </a:xfrm>
          <a:prstGeom prst="line">
            <a:avLst/>
          </a:prstGeom>
          <a:noFill/>
          <a:ln w="20320">
            <a:solidFill>
              <a:srgbClr val="8C3A2B"/>
            </a:solidFill>
            <a:prstDash val="solid"/>
            <a:tailEnd type="triangle"/>
          </a:ln>
        </p:spPr>
      </p:sp>
      <p:sp>
        <p:nvSpPr>
          <p:cNvPr id="44" name="Shape 42"/>
          <p:cNvSpPr/>
          <p:nvPr/>
        </p:nvSpPr>
        <p:spPr>
          <a:xfrm>
            <a:off x="4507992" y="5212080"/>
            <a:ext cx="3456432" cy="0"/>
          </a:xfrm>
          <a:prstGeom prst="line">
            <a:avLst/>
          </a:prstGeom>
          <a:noFill/>
          <a:ln w="15875">
            <a:solidFill>
              <a:srgbClr val="8C3A2B"/>
            </a:solidFill>
            <a:prstDash val="solid"/>
          </a:ln>
        </p:spPr>
      </p:sp>
      <p:sp>
        <p:nvSpPr>
          <p:cNvPr id="45" name="Text 43"/>
          <p:cNvSpPr txBox="1"/>
          <p:nvPr/>
        </p:nvSpPr>
        <p:spPr>
          <a:xfrm>
            <a:off x="4507992" y="5285232"/>
            <a:ext cx="3456432" cy="219456"/>
          </a:xfrm>
          <a:prstGeom prst="rect">
            <a:avLst/>
          </a:prstGeom>
          <a:noFill/>
          <a:ln/>
        </p:spPr>
        <p:txBody>
          <a:bodyPr wrap="square" lIns="0" tIns="0" rIns="0" bIns="0" rtlCol="0" anchor="ctr"/>
          <a:lstStyle/>
          <a:p>
            <a:pPr indent="0" marL="0">
              <a:buNone/>
            </a:pPr>
            <a:r>
              <a:rPr lang="en-US" sz="800" b="1" spc="150" kern="0" dirty="0">
                <a:solidFill>
                  <a:srgbClr val="A6A6AC"/>
                </a:solidFill>
                <a:latin typeface="Calibri" pitchFamily="34" charset="0"/>
                <a:ea typeface="Calibri" pitchFamily="34" charset="-122"/>
                <a:cs typeface="Calibri" pitchFamily="34" charset="-120"/>
              </a:rPr>
              <a:t>ÇIKTI</a:t>
            </a:r>
            <a:endParaRPr lang="en-US" sz="800" dirty="0"/>
          </a:p>
        </p:txBody>
      </p:sp>
      <p:sp>
        <p:nvSpPr>
          <p:cNvPr id="46" name="Text 44"/>
          <p:cNvSpPr txBox="1"/>
          <p:nvPr/>
        </p:nvSpPr>
        <p:spPr>
          <a:xfrm>
            <a:off x="4507992" y="5504688"/>
            <a:ext cx="3456432"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6 modül · 3 kelime · 3 ilke</a:t>
            </a:r>
            <a:endParaRPr lang="en-US" sz="1050" dirty="0"/>
          </a:p>
        </p:txBody>
      </p:sp>
      <p:sp>
        <p:nvSpPr>
          <p:cNvPr id="47" name="Shape 45"/>
          <p:cNvSpPr/>
          <p:nvPr/>
        </p:nvSpPr>
        <p:spPr>
          <a:xfrm>
            <a:off x="8238744" y="2286000"/>
            <a:ext cx="3456432" cy="310896"/>
          </a:xfrm>
          <a:prstGeom prst="rect">
            <a:avLst/>
          </a:prstGeom>
          <a:solidFill>
            <a:srgbClr val="8C3A2B"/>
          </a:solidFill>
          <a:ln/>
        </p:spPr>
      </p:sp>
      <p:sp>
        <p:nvSpPr>
          <p:cNvPr id="48" name="Text 46"/>
          <p:cNvSpPr txBox="1"/>
          <p:nvPr/>
        </p:nvSpPr>
        <p:spPr>
          <a:xfrm>
            <a:off x="8238744" y="2286000"/>
            <a:ext cx="3456432" cy="310896"/>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Calibri" pitchFamily="34" charset="0"/>
                <a:ea typeface="Calibri" pitchFamily="34" charset="-122"/>
                <a:cs typeface="Calibri" pitchFamily="34" charset="-120"/>
              </a:rPr>
              <a:t>TASARIM</a:t>
            </a:r>
            <a:endParaRPr lang="en-US" sz="950" dirty="0"/>
          </a:p>
        </p:txBody>
      </p:sp>
      <p:sp>
        <p:nvSpPr>
          <p:cNvPr id="49" name="Shape 47"/>
          <p:cNvSpPr/>
          <p:nvPr/>
        </p:nvSpPr>
        <p:spPr>
          <a:xfrm>
            <a:off x="8238744" y="2779776"/>
            <a:ext cx="3456432" cy="621792"/>
          </a:xfrm>
          <a:prstGeom prst="rect">
            <a:avLst/>
          </a:prstGeom>
          <a:ln w="9525">
            <a:solidFill>
              <a:srgbClr val="C9C9CF"/>
            </a:solidFill>
            <a:prstDash val="solid"/>
          </a:ln>
        </p:spPr>
      </p:sp>
      <p:sp>
        <p:nvSpPr>
          <p:cNvPr id="50" name="Shape 48"/>
          <p:cNvSpPr/>
          <p:nvPr/>
        </p:nvSpPr>
        <p:spPr>
          <a:xfrm>
            <a:off x="8403336" y="2962656"/>
            <a:ext cx="256032" cy="256032"/>
          </a:xfrm>
          <a:prstGeom prst="ellipse">
            <a:avLst/>
          </a:prstGeom>
          <a:solidFill>
            <a:srgbClr val="8C3A2B"/>
          </a:solidFill>
          <a:ln w="12700">
            <a:solidFill>
              <a:srgbClr val="8C3A2B"/>
            </a:solidFill>
            <a:prstDash val="solid"/>
          </a:ln>
        </p:spPr>
      </p:sp>
      <p:sp>
        <p:nvSpPr>
          <p:cNvPr id="51" name="Text 49"/>
          <p:cNvSpPr txBox="1"/>
          <p:nvPr/>
        </p:nvSpPr>
        <p:spPr>
          <a:xfrm>
            <a:off x="8403336" y="296265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52" name="Text 50"/>
          <p:cNvSpPr txBox="1"/>
          <p:nvPr/>
        </p:nvSpPr>
        <p:spPr>
          <a:xfrm>
            <a:off x="8805672" y="2779776"/>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Mekânsal program</a:t>
            </a:r>
            <a:endParaRPr lang="en-US" sz="1400" dirty="0"/>
          </a:p>
        </p:txBody>
      </p:sp>
      <p:sp>
        <p:nvSpPr>
          <p:cNvPr id="53" name="Shape 51"/>
          <p:cNvSpPr/>
          <p:nvPr/>
        </p:nvSpPr>
        <p:spPr>
          <a:xfrm>
            <a:off x="9966960" y="3419856"/>
            <a:ext cx="0" cy="128016"/>
          </a:xfrm>
          <a:prstGeom prst="line">
            <a:avLst/>
          </a:prstGeom>
          <a:noFill/>
          <a:ln w="15240">
            <a:solidFill>
              <a:srgbClr val="8C3A2B"/>
            </a:solidFill>
            <a:prstDash val="solid"/>
            <a:tailEnd type="triangle"/>
          </a:ln>
        </p:spPr>
      </p:sp>
      <p:sp>
        <p:nvSpPr>
          <p:cNvPr id="54" name="Shape 52"/>
          <p:cNvSpPr/>
          <p:nvPr/>
        </p:nvSpPr>
        <p:spPr>
          <a:xfrm>
            <a:off x="8238744" y="3566160"/>
            <a:ext cx="3456432" cy="621792"/>
          </a:xfrm>
          <a:prstGeom prst="rect">
            <a:avLst/>
          </a:prstGeom>
          <a:ln w="9525">
            <a:solidFill>
              <a:srgbClr val="C9C9CF"/>
            </a:solidFill>
            <a:prstDash val="solid"/>
          </a:ln>
        </p:spPr>
      </p:sp>
      <p:sp>
        <p:nvSpPr>
          <p:cNvPr id="55" name="Shape 53"/>
          <p:cNvSpPr/>
          <p:nvPr/>
        </p:nvSpPr>
        <p:spPr>
          <a:xfrm>
            <a:off x="8403336" y="3749040"/>
            <a:ext cx="256032" cy="256032"/>
          </a:xfrm>
          <a:prstGeom prst="ellipse">
            <a:avLst/>
          </a:prstGeom>
          <a:solidFill>
            <a:srgbClr val="8C3A2B"/>
          </a:solidFill>
          <a:ln w="12700">
            <a:solidFill>
              <a:srgbClr val="8C3A2B"/>
            </a:solidFill>
            <a:prstDash val="solid"/>
          </a:ln>
        </p:spPr>
      </p:sp>
      <p:sp>
        <p:nvSpPr>
          <p:cNvPr id="56" name="Text 54"/>
          <p:cNvSpPr txBox="1"/>
          <p:nvPr/>
        </p:nvSpPr>
        <p:spPr>
          <a:xfrm>
            <a:off x="8403336" y="374904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57" name="Text 55"/>
          <p:cNvSpPr txBox="1"/>
          <p:nvPr/>
        </p:nvSpPr>
        <p:spPr>
          <a:xfrm>
            <a:off x="8805672" y="3566160"/>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Konsept</a:t>
            </a:r>
            <a:endParaRPr lang="en-US" sz="1400" dirty="0"/>
          </a:p>
        </p:txBody>
      </p:sp>
      <p:sp>
        <p:nvSpPr>
          <p:cNvPr id="58" name="Shape 56"/>
          <p:cNvSpPr/>
          <p:nvPr/>
        </p:nvSpPr>
        <p:spPr>
          <a:xfrm>
            <a:off x="9966960" y="4206240"/>
            <a:ext cx="0" cy="128016"/>
          </a:xfrm>
          <a:prstGeom prst="line">
            <a:avLst/>
          </a:prstGeom>
          <a:noFill/>
          <a:ln w="15240">
            <a:solidFill>
              <a:srgbClr val="8C3A2B"/>
            </a:solidFill>
            <a:prstDash val="solid"/>
            <a:tailEnd type="triangle"/>
          </a:ln>
        </p:spPr>
      </p:sp>
      <p:sp>
        <p:nvSpPr>
          <p:cNvPr id="59" name="Shape 57"/>
          <p:cNvSpPr/>
          <p:nvPr/>
        </p:nvSpPr>
        <p:spPr>
          <a:xfrm>
            <a:off x="8238744" y="4352544"/>
            <a:ext cx="3456432" cy="621792"/>
          </a:xfrm>
          <a:prstGeom prst="rect">
            <a:avLst/>
          </a:prstGeom>
          <a:ln w="9525">
            <a:solidFill>
              <a:srgbClr val="C9C9CF"/>
            </a:solidFill>
            <a:prstDash val="solid"/>
          </a:ln>
        </p:spPr>
      </p:sp>
      <p:sp>
        <p:nvSpPr>
          <p:cNvPr id="60" name="Shape 58"/>
          <p:cNvSpPr/>
          <p:nvPr/>
        </p:nvSpPr>
        <p:spPr>
          <a:xfrm>
            <a:off x="8403336" y="4535424"/>
            <a:ext cx="256032" cy="256032"/>
          </a:xfrm>
          <a:prstGeom prst="ellipse">
            <a:avLst/>
          </a:prstGeom>
          <a:solidFill>
            <a:srgbClr val="8C3A2B"/>
          </a:solidFill>
          <a:ln w="12700">
            <a:solidFill>
              <a:srgbClr val="8C3A2B"/>
            </a:solidFill>
            <a:prstDash val="solid"/>
          </a:ln>
        </p:spPr>
      </p:sp>
      <p:sp>
        <p:nvSpPr>
          <p:cNvPr id="61" name="Text 59"/>
          <p:cNvSpPr txBox="1"/>
          <p:nvPr/>
        </p:nvSpPr>
        <p:spPr>
          <a:xfrm>
            <a:off x="8403336" y="45354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62" name="Text 60"/>
          <p:cNvSpPr txBox="1"/>
          <p:nvPr/>
        </p:nvSpPr>
        <p:spPr>
          <a:xfrm>
            <a:off x="8805672" y="4352544"/>
            <a:ext cx="2743200" cy="621792"/>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Detay</a:t>
            </a:r>
            <a:endParaRPr lang="en-US" sz="1400" dirty="0"/>
          </a:p>
        </p:txBody>
      </p:sp>
      <p:sp>
        <p:nvSpPr>
          <p:cNvPr id="63" name="Shape 61"/>
          <p:cNvSpPr/>
          <p:nvPr/>
        </p:nvSpPr>
        <p:spPr>
          <a:xfrm>
            <a:off x="8238744" y="5212080"/>
            <a:ext cx="3456432" cy="0"/>
          </a:xfrm>
          <a:prstGeom prst="line">
            <a:avLst/>
          </a:prstGeom>
          <a:noFill/>
          <a:ln w="15875">
            <a:solidFill>
              <a:srgbClr val="8C3A2B"/>
            </a:solidFill>
            <a:prstDash val="solid"/>
          </a:ln>
        </p:spPr>
      </p:sp>
      <p:sp>
        <p:nvSpPr>
          <p:cNvPr id="64" name="Text 62"/>
          <p:cNvSpPr txBox="1"/>
          <p:nvPr/>
        </p:nvSpPr>
        <p:spPr>
          <a:xfrm>
            <a:off x="8238744" y="5285232"/>
            <a:ext cx="3456432" cy="219456"/>
          </a:xfrm>
          <a:prstGeom prst="rect">
            <a:avLst/>
          </a:prstGeom>
          <a:noFill/>
          <a:ln/>
        </p:spPr>
        <p:txBody>
          <a:bodyPr wrap="square" lIns="0" tIns="0" rIns="0" bIns="0" rtlCol="0" anchor="ctr"/>
          <a:lstStyle/>
          <a:p>
            <a:pPr indent="0" marL="0">
              <a:buNone/>
            </a:pPr>
            <a:r>
              <a:rPr lang="en-US" sz="800" b="1" spc="150" kern="0" dirty="0">
                <a:solidFill>
                  <a:srgbClr val="A6A6AC"/>
                </a:solidFill>
                <a:latin typeface="Calibri" pitchFamily="34" charset="0"/>
                <a:ea typeface="Calibri" pitchFamily="34" charset="-122"/>
                <a:cs typeface="Calibri" pitchFamily="34" charset="-120"/>
              </a:rPr>
              <a:t>ÇIKTI</a:t>
            </a:r>
            <a:endParaRPr lang="en-US" sz="800" dirty="0"/>
          </a:p>
        </p:txBody>
      </p:sp>
      <p:sp>
        <p:nvSpPr>
          <p:cNvPr id="65" name="Text 63"/>
          <p:cNvSpPr txBox="1"/>
          <p:nvPr/>
        </p:nvSpPr>
        <p:spPr>
          <a:xfrm>
            <a:off x="8238744" y="5504688"/>
            <a:ext cx="3456432"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m² dağılımı · 1/100 · 1/50 ve 1/20</a:t>
            </a:r>
            <a:endParaRPr lang="en-US" sz="1050" dirty="0"/>
          </a:p>
        </p:txBody>
      </p:sp>
      <p:sp>
        <p:nvSpPr>
          <p:cNvPr id="66" name="Text 64"/>
          <p:cNvSpPr txBox="1"/>
          <p:nvPr/>
        </p:nvSpPr>
        <p:spPr>
          <a:xfrm>
            <a:off x="777240" y="5925312"/>
            <a:ext cx="10634472" cy="411480"/>
          </a:xfrm>
          <a:prstGeom prst="rect">
            <a:avLst/>
          </a:prstGeom>
          <a:noFill/>
          <a:ln/>
        </p:spPr>
        <p:txBody>
          <a:bodyPr wrap="square" lIns="0" tIns="0" rIns="0" bIns="0" rtlCol="0" anchor="ctr"/>
          <a:lstStyle/>
          <a:p>
            <a:pPr algn="l" indent="0" marL="0">
              <a:lnSpc>
                <a:spcPts val="1200"/>
              </a:lnSpc>
              <a:buNone/>
            </a:pPr>
            <a:r>
              <a:rPr lang="en-US" sz="1250" i="1" dirty="0">
                <a:solidFill>
                  <a:srgbClr val="8C3A2B"/>
                </a:solidFill>
                <a:latin typeface="Cambria" pitchFamily="34" charset="0"/>
                <a:ea typeface="Cambria" pitchFamily="34" charset="-122"/>
                <a:cs typeface="Cambria" pitchFamily="34" charset="-120"/>
              </a:rPr>
              <a:t>Dokuz adımın hiçbiri atlanamaz. Her adımın çıktısı bir sonrakinin girdisidir; atlanan adım en son çizimde eksik olarak geri döner.</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 · BÜTÜN SÜREÇ</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Üç faz, on dört hafta</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Stüdyo, perakende tasarım süreç modeline göre üç fazda kurgulanır (Quartier vd., 2017). Bizim on dört haftamız da bu üç fazı izliyor; her fazın sonunda bir jüri var.</a:t>
            </a:r>
            <a:endParaRPr lang="en-US" sz="1350" dirty="0"/>
          </a:p>
        </p:txBody>
      </p:sp>
      <p:sp>
        <p:nvSpPr>
          <p:cNvPr id="7" name="Shape 5"/>
          <p:cNvSpPr/>
          <p:nvPr/>
        </p:nvSpPr>
        <p:spPr>
          <a:xfrm>
            <a:off x="777240" y="2322576"/>
            <a:ext cx="365760" cy="365760"/>
          </a:xfrm>
          <a:prstGeom prst="ellipse">
            <a:avLst/>
          </a:prstGeom>
          <a:solidFill>
            <a:srgbClr val="8C3A2B"/>
          </a:solidFill>
          <a:ln w="12700">
            <a:solidFill>
              <a:srgbClr val="8C3A2B"/>
            </a:solidFill>
            <a:prstDash val="solid"/>
          </a:ln>
        </p:spPr>
      </p:sp>
      <p:sp>
        <p:nvSpPr>
          <p:cNvPr id="8" name="Text 6"/>
          <p:cNvSpPr txBox="1"/>
          <p:nvPr/>
        </p:nvSpPr>
        <p:spPr>
          <a:xfrm>
            <a:off x="777240" y="23225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44168" y="2286000"/>
            <a:ext cx="3749040" cy="274320"/>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ANALİZ VE KONSEPT TASARIMI</a:t>
            </a:r>
            <a:endParaRPr lang="en-US" sz="1450" dirty="0"/>
          </a:p>
        </p:txBody>
      </p:sp>
      <p:sp>
        <p:nvSpPr>
          <p:cNvPr id="10" name="Text 8"/>
          <p:cNvSpPr txBox="1"/>
          <p:nvPr/>
        </p:nvSpPr>
        <p:spPr>
          <a:xfrm>
            <a:off x="1344168" y="2560320"/>
            <a:ext cx="3749040" cy="237744"/>
          </a:xfrm>
          <a:prstGeom prst="rect">
            <a:avLst/>
          </a:prstGeom>
          <a:noFill/>
          <a:ln/>
        </p:spPr>
        <p:txBody>
          <a:bodyPr wrap="square" lIns="0" tIns="0" rIns="0" bIns="0" rtlCol="0" anchor="ctr"/>
          <a:lstStyle/>
          <a:p>
            <a:pPr indent="0" marL="0">
              <a:buNone/>
            </a:pPr>
            <a:r>
              <a:rPr lang="en-US" sz="1000" dirty="0">
                <a:solidFill>
                  <a:srgbClr val="7A7A82"/>
                </a:solidFill>
                <a:latin typeface="Calibri" pitchFamily="34" charset="0"/>
                <a:ea typeface="Calibri" pitchFamily="34" charset="-122"/>
                <a:cs typeface="Calibri" pitchFamily="34" charset="-120"/>
              </a:rPr>
              <a:t>1–6. hafta</a:t>
            </a:r>
            <a:endParaRPr lang="en-US" sz="1000" dirty="0"/>
          </a:p>
        </p:txBody>
      </p:sp>
      <p:sp>
        <p:nvSpPr>
          <p:cNvPr id="11" name="Shape 9"/>
          <p:cNvSpPr/>
          <p:nvPr/>
        </p:nvSpPr>
        <p:spPr>
          <a:xfrm>
            <a:off x="1344168" y="2852928"/>
            <a:ext cx="1828800" cy="237744"/>
          </a:xfrm>
          <a:prstGeom prst="roundRect">
            <a:avLst>
              <a:gd name="adj" fmla="val 50000"/>
            </a:avLst>
          </a:prstGeom>
          <a:solidFill>
            <a:srgbClr val="F6EAE6"/>
          </a:solidFill>
          <a:ln w="12700">
            <a:solidFill>
              <a:srgbClr val="8C3A2B"/>
            </a:solidFill>
            <a:prstDash val="solid"/>
          </a:ln>
        </p:spPr>
      </p:sp>
      <p:sp>
        <p:nvSpPr>
          <p:cNvPr id="12" name="Text 10"/>
          <p:cNvSpPr txBox="1"/>
          <p:nvPr/>
        </p:nvSpPr>
        <p:spPr>
          <a:xfrm>
            <a:off x="1399032" y="2852928"/>
            <a:ext cx="1719072" cy="237744"/>
          </a:xfrm>
          <a:prstGeom prst="rect">
            <a:avLst/>
          </a:prstGeom>
          <a:noFill/>
          <a:ln/>
        </p:spPr>
        <p:txBody>
          <a:bodyPr wrap="square" lIns="0" tIns="0" rIns="0" bIns="0" rtlCol="0" anchor="ctr"/>
          <a:lstStyle/>
          <a:p>
            <a:pPr algn="ctr" indent="0" marL="0">
              <a:buNone/>
            </a:pPr>
            <a:r>
              <a:rPr lang="en-US" sz="850" b="1" dirty="0">
                <a:solidFill>
                  <a:srgbClr val="8C3A2B"/>
                </a:solidFill>
                <a:latin typeface="Calibri" pitchFamily="34" charset="0"/>
                <a:ea typeface="Calibri" pitchFamily="34" charset="-122"/>
                <a:cs typeface="Calibri" pitchFamily="34" charset="-120"/>
              </a:rPr>
              <a:t>VİZE 1 · 6. hafta</a:t>
            </a:r>
            <a:endParaRPr lang="en-US" sz="850" dirty="0"/>
          </a:p>
        </p:txBody>
      </p:sp>
      <p:sp>
        <p:nvSpPr>
          <p:cNvPr id="13" name="Text 11"/>
          <p:cNvSpPr txBox="1"/>
          <p:nvPr/>
        </p:nvSpPr>
        <p:spPr>
          <a:xfrm>
            <a:off x="5532120" y="2304288"/>
            <a:ext cx="5879592" cy="100584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Alan, marka, persona ve müşteri deneyiminin kapsamlı analizi; diyagram, haritalama, mekânsal program, anahtar kelime, matris, hikâye panosu, senaryo, fotomontaj ve kolaj. Senaryonun ilk mekânsal çözümlere dönüşmesi ve 1/100 teknik çizimle sunulması.</a:t>
            </a:r>
            <a:endParaRPr lang="en-US" sz="1050" dirty="0"/>
          </a:p>
        </p:txBody>
      </p:sp>
      <p:sp>
        <p:nvSpPr>
          <p:cNvPr id="14" name="Shape 12"/>
          <p:cNvSpPr/>
          <p:nvPr/>
        </p:nvSpPr>
        <p:spPr>
          <a:xfrm>
            <a:off x="777240" y="3310128"/>
            <a:ext cx="10634472" cy="0"/>
          </a:xfrm>
          <a:prstGeom prst="line">
            <a:avLst/>
          </a:prstGeom>
          <a:noFill/>
          <a:ln w="6350">
            <a:solidFill>
              <a:srgbClr val="EDEDF0"/>
            </a:solidFill>
            <a:prstDash val="solid"/>
          </a:ln>
        </p:spPr>
      </p:sp>
      <p:sp>
        <p:nvSpPr>
          <p:cNvPr id="15" name="Shape 13"/>
          <p:cNvSpPr/>
          <p:nvPr/>
        </p:nvSpPr>
        <p:spPr>
          <a:xfrm>
            <a:off x="777240" y="3547872"/>
            <a:ext cx="365760" cy="365760"/>
          </a:xfrm>
          <a:prstGeom prst="ellipse">
            <a:avLst/>
          </a:prstGeom>
          <a:solidFill>
            <a:srgbClr val="8C3A2B"/>
          </a:solidFill>
          <a:ln w="12700">
            <a:solidFill>
              <a:srgbClr val="8C3A2B"/>
            </a:solidFill>
            <a:prstDash val="solid"/>
          </a:ln>
        </p:spPr>
      </p:sp>
      <p:sp>
        <p:nvSpPr>
          <p:cNvPr id="16" name="Text 14"/>
          <p:cNvSpPr txBox="1"/>
          <p:nvPr/>
        </p:nvSpPr>
        <p:spPr>
          <a:xfrm>
            <a:off x="777240" y="35478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344168" y="3511296"/>
            <a:ext cx="3749040" cy="274320"/>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SOMUTLAŞTIRMA TASARIMI</a:t>
            </a:r>
            <a:endParaRPr lang="en-US" sz="1450" dirty="0"/>
          </a:p>
        </p:txBody>
      </p:sp>
      <p:sp>
        <p:nvSpPr>
          <p:cNvPr id="18" name="Text 16"/>
          <p:cNvSpPr txBox="1"/>
          <p:nvPr/>
        </p:nvSpPr>
        <p:spPr>
          <a:xfrm>
            <a:off x="1344168" y="3785616"/>
            <a:ext cx="3749040" cy="237744"/>
          </a:xfrm>
          <a:prstGeom prst="rect">
            <a:avLst/>
          </a:prstGeom>
          <a:noFill/>
          <a:ln/>
        </p:spPr>
        <p:txBody>
          <a:bodyPr wrap="square" lIns="0" tIns="0" rIns="0" bIns="0" rtlCol="0" anchor="ctr"/>
          <a:lstStyle/>
          <a:p>
            <a:pPr indent="0" marL="0">
              <a:buNone/>
            </a:pPr>
            <a:r>
              <a:rPr lang="en-US" sz="1000" dirty="0">
                <a:solidFill>
                  <a:srgbClr val="7A7A82"/>
                </a:solidFill>
                <a:latin typeface="Calibri" pitchFamily="34" charset="0"/>
                <a:ea typeface="Calibri" pitchFamily="34" charset="-122"/>
                <a:cs typeface="Calibri" pitchFamily="34" charset="-120"/>
              </a:rPr>
              <a:t>7–11. hafta</a:t>
            </a:r>
            <a:endParaRPr lang="en-US" sz="1000" dirty="0"/>
          </a:p>
        </p:txBody>
      </p:sp>
      <p:sp>
        <p:nvSpPr>
          <p:cNvPr id="19" name="Shape 17"/>
          <p:cNvSpPr/>
          <p:nvPr/>
        </p:nvSpPr>
        <p:spPr>
          <a:xfrm>
            <a:off x="1344168" y="4078224"/>
            <a:ext cx="1828800" cy="237744"/>
          </a:xfrm>
          <a:prstGeom prst="roundRect">
            <a:avLst>
              <a:gd name="adj" fmla="val 50000"/>
            </a:avLst>
          </a:prstGeom>
          <a:solidFill>
            <a:srgbClr val="F6EAE6"/>
          </a:solidFill>
          <a:ln w="12700">
            <a:solidFill>
              <a:srgbClr val="8C3A2B"/>
            </a:solidFill>
            <a:prstDash val="solid"/>
          </a:ln>
        </p:spPr>
      </p:sp>
      <p:sp>
        <p:nvSpPr>
          <p:cNvPr id="20" name="Text 18"/>
          <p:cNvSpPr txBox="1"/>
          <p:nvPr/>
        </p:nvSpPr>
        <p:spPr>
          <a:xfrm>
            <a:off x="1399032" y="4078224"/>
            <a:ext cx="1719072" cy="237744"/>
          </a:xfrm>
          <a:prstGeom prst="rect">
            <a:avLst/>
          </a:prstGeom>
          <a:noFill/>
          <a:ln/>
        </p:spPr>
        <p:txBody>
          <a:bodyPr wrap="square" lIns="0" tIns="0" rIns="0" bIns="0" rtlCol="0" anchor="ctr"/>
          <a:lstStyle/>
          <a:p>
            <a:pPr algn="ctr" indent="0" marL="0">
              <a:buNone/>
            </a:pPr>
            <a:r>
              <a:rPr lang="en-US" sz="850" b="1" dirty="0">
                <a:solidFill>
                  <a:srgbClr val="8C3A2B"/>
                </a:solidFill>
                <a:latin typeface="Calibri" pitchFamily="34" charset="0"/>
                <a:ea typeface="Calibri" pitchFamily="34" charset="-122"/>
                <a:cs typeface="Calibri" pitchFamily="34" charset="-120"/>
              </a:rPr>
              <a:t>VİZE 2 · 11. hafta</a:t>
            </a:r>
            <a:endParaRPr lang="en-US" sz="850" dirty="0"/>
          </a:p>
        </p:txBody>
      </p:sp>
      <p:sp>
        <p:nvSpPr>
          <p:cNvPr id="21" name="Text 19"/>
          <p:cNvSpPr txBox="1"/>
          <p:nvPr/>
        </p:nvSpPr>
        <p:spPr>
          <a:xfrm>
            <a:off x="5532120" y="3529584"/>
            <a:ext cx="5879592" cy="100584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Konseptin bütünlüklü ve rafine bir tasarıma çevrilmesi. Vize 1 çizimlerinin geliştirilmesi, 1/50 teknik çizimler ve 3B görselleştirmeler; strüktür, malzeme ve aydınlatma çözümlerinin tanımlanması.</a:t>
            </a:r>
            <a:endParaRPr lang="en-US" sz="1050" dirty="0"/>
          </a:p>
        </p:txBody>
      </p:sp>
      <p:sp>
        <p:nvSpPr>
          <p:cNvPr id="22" name="Shape 20"/>
          <p:cNvSpPr/>
          <p:nvPr/>
        </p:nvSpPr>
        <p:spPr>
          <a:xfrm>
            <a:off x="777240" y="4535424"/>
            <a:ext cx="10634472" cy="0"/>
          </a:xfrm>
          <a:prstGeom prst="line">
            <a:avLst/>
          </a:prstGeom>
          <a:noFill/>
          <a:ln w="6350">
            <a:solidFill>
              <a:srgbClr val="EDEDF0"/>
            </a:solidFill>
            <a:prstDash val="solid"/>
          </a:ln>
        </p:spPr>
      </p:sp>
      <p:sp>
        <p:nvSpPr>
          <p:cNvPr id="23" name="Shape 21"/>
          <p:cNvSpPr/>
          <p:nvPr/>
        </p:nvSpPr>
        <p:spPr>
          <a:xfrm>
            <a:off x="777240" y="4773168"/>
            <a:ext cx="365760" cy="365760"/>
          </a:xfrm>
          <a:prstGeom prst="ellipse">
            <a:avLst/>
          </a:prstGeom>
          <a:solidFill>
            <a:srgbClr val="8C3A2B"/>
          </a:solidFill>
          <a:ln w="12700">
            <a:solidFill>
              <a:srgbClr val="8C3A2B"/>
            </a:solidFill>
            <a:prstDash val="solid"/>
          </a:ln>
        </p:spPr>
      </p:sp>
      <p:sp>
        <p:nvSpPr>
          <p:cNvPr id="24" name="Text 22"/>
          <p:cNvSpPr txBox="1"/>
          <p:nvPr/>
        </p:nvSpPr>
        <p:spPr>
          <a:xfrm>
            <a:off x="777240" y="47731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5" name="Text 23"/>
          <p:cNvSpPr txBox="1"/>
          <p:nvPr/>
        </p:nvSpPr>
        <p:spPr>
          <a:xfrm>
            <a:off x="1344168" y="4736592"/>
            <a:ext cx="3749040" cy="274320"/>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DETAY TASARIMI</a:t>
            </a:r>
            <a:endParaRPr lang="en-US" sz="1450" dirty="0"/>
          </a:p>
        </p:txBody>
      </p:sp>
      <p:sp>
        <p:nvSpPr>
          <p:cNvPr id="26" name="Text 24"/>
          <p:cNvSpPr txBox="1"/>
          <p:nvPr/>
        </p:nvSpPr>
        <p:spPr>
          <a:xfrm>
            <a:off x="1344168" y="5010912"/>
            <a:ext cx="3749040" cy="237744"/>
          </a:xfrm>
          <a:prstGeom prst="rect">
            <a:avLst/>
          </a:prstGeom>
          <a:noFill/>
          <a:ln/>
        </p:spPr>
        <p:txBody>
          <a:bodyPr wrap="square" lIns="0" tIns="0" rIns="0" bIns="0" rtlCol="0" anchor="ctr"/>
          <a:lstStyle/>
          <a:p>
            <a:pPr indent="0" marL="0">
              <a:buNone/>
            </a:pPr>
            <a:r>
              <a:rPr lang="en-US" sz="1000" dirty="0">
                <a:solidFill>
                  <a:srgbClr val="7A7A82"/>
                </a:solidFill>
                <a:latin typeface="Calibri" pitchFamily="34" charset="0"/>
                <a:ea typeface="Calibri" pitchFamily="34" charset="-122"/>
                <a:cs typeface="Calibri" pitchFamily="34" charset="-120"/>
              </a:rPr>
              <a:t>12–14. hafta</a:t>
            </a:r>
            <a:endParaRPr lang="en-US" sz="1000" dirty="0"/>
          </a:p>
        </p:txBody>
      </p:sp>
      <p:sp>
        <p:nvSpPr>
          <p:cNvPr id="27" name="Shape 25"/>
          <p:cNvSpPr/>
          <p:nvPr/>
        </p:nvSpPr>
        <p:spPr>
          <a:xfrm>
            <a:off x="1344168" y="5303520"/>
            <a:ext cx="1828800" cy="237744"/>
          </a:xfrm>
          <a:prstGeom prst="roundRect">
            <a:avLst>
              <a:gd name="adj" fmla="val 50000"/>
            </a:avLst>
          </a:prstGeom>
          <a:solidFill>
            <a:srgbClr val="F6EAE6"/>
          </a:solidFill>
          <a:ln w="12700">
            <a:solidFill>
              <a:srgbClr val="8C3A2B"/>
            </a:solidFill>
            <a:prstDash val="solid"/>
          </a:ln>
        </p:spPr>
      </p:sp>
      <p:sp>
        <p:nvSpPr>
          <p:cNvPr id="28" name="Text 26"/>
          <p:cNvSpPr txBox="1"/>
          <p:nvPr/>
        </p:nvSpPr>
        <p:spPr>
          <a:xfrm>
            <a:off x="1399032" y="5303520"/>
            <a:ext cx="1719072" cy="237744"/>
          </a:xfrm>
          <a:prstGeom prst="rect">
            <a:avLst/>
          </a:prstGeom>
          <a:noFill/>
          <a:ln/>
        </p:spPr>
        <p:txBody>
          <a:bodyPr wrap="square" lIns="0" tIns="0" rIns="0" bIns="0" rtlCol="0" anchor="ctr"/>
          <a:lstStyle/>
          <a:p>
            <a:pPr algn="ctr" indent="0" marL="0">
              <a:buNone/>
            </a:pPr>
            <a:r>
              <a:rPr lang="en-US" sz="850" b="1" dirty="0">
                <a:solidFill>
                  <a:srgbClr val="8C3A2B"/>
                </a:solidFill>
                <a:latin typeface="Calibri" pitchFamily="34" charset="0"/>
                <a:ea typeface="Calibri" pitchFamily="34" charset="-122"/>
                <a:cs typeface="Calibri" pitchFamily="34" charset="-120"/>
              </a:rPr>
              <a:t>FİNAL · ayrı hafta</a:t>
            </a:r>
            <a:endParaRPr lang="en-US" sz="850" dirty="0"/>
          </a:p>
        </p:txBody>
      </p:sp>
      <p:sp>
        <p:nvSpPr>
          <p:cNvPr id="29" name="Text 27"/>
          <p:cNvSpPr txBox="1"/>
          <p:nvPr/>
        </p:nvSpPr>
        <p:spPr>
          <a:xfrm>
            <a:off x="5532120" y="4754880"/>
            <a:ext cx="5879592" cy="100584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Tamamlanmış işin bütün olarak değerlendirilmesi. 1/50 plan, kesit, tavan planı ve cephe görünüşleri; seçilen bir bölgeden 1/20 kısmi plan ve kesit. Dönem boyunca gösterilen gelişim de değerlendirmeye girer.</a:t>
            </a:r>
            <a:endParaRPr lang="en-US" sz="1050" dirty="0"/>
          </a:p>
        </p:txBody>
      </p:sp>
      <p:sp>
        <p:nvSpPr>
          <p:cNvPr id="30" name="Text 28"/>
          <p:cNvSpPr txBox="1"/>
          <p:nvPr/>
        </p:nvSpPr>
        <p:spPr>
          <a:xfrm>
            <a:off x="777240" y="6016752"/>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Birinci fazın kalitesi diğer ikisini belirler: ölçümler, analiz fazında güçlü olan projelerin detay fazında da güçlü kaldığını gösteriyor.</a:t>
            </a:r>
            <a:endParaRPr lang="en-US" sz="1200" dirty="0"/>
          </a:p>
        </p:txBody>
      </p:sp>
      <p:sp>
        <p:nvSpPr>
          <p:cNvPr id="31" name="Text 29"/>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Quartier vd. (2017) süreç modeli; faz içerikleri Bükülmez vd. (2025), Tablo 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7800" b="1" dirty="0">
                <a:solidFill>
                  <a:srgbClr val="8C3A2B"/>
                </a:solidFill>
                <a:latin typeface="Cambria" pitchFamily="34" charset="0"/>
                <a:ea typeface="Cambria" pitchFamily="34" charset="-122"/>
                <a:cs typeface="Cambria" pitchFamily="34" charset="-120"/>
              </a:rPr>
              <a:t>VIII</a:t>
            </a:r>
            <a:endParaRPr lang="en-US" sz="78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Proje brifi ve beklentiler</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Ne tasarlayacaksınız, ne teslim edeceksiniz, jüri neye bakacak?</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VIII · BRİF</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Proje tanımı</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777240" y="1664208"/>
            <a:ext cx="10634472" cy="86868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Küçük ve yerel bir markanın ilk fiziksel mekânını tasarlayacaksınız. Mekân verilidir: Mersin Marina'da bir ticari birim. Kabuk — taşıyıcı, cephe hattı, kot — değiştirilemez; iç bölünme, tavan, zemin, cephe dolgusu ve vitrin sizindir.</a:t>
            </a:r>
            <a:endParaRPr lang="en-US" sz="1400" dirty="0"/>
          </a:p>
        </p:txBody>
      </p:sp>
      <p:sp>
        <p:nvSpPr>
          <p:cNvPr id="7" name="Text 5"/>
          <p:cNvSpPr txBox="1"/>
          <p:nvPr/>
        </p:nvSpPr>
        <p:spPr>
          <a:xfrm>
            <a:off x="777240" y="2532888"/>
            <a:ext cx="676656"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VERİLENLER</a:t>
            </a:r>
            <a:endParaRPr lang="en-US" sz="900" dirty="0"/>
          </a:p>
        </p:txBody>
      </p:sp>
      <p:sp>
        <p:nvSpPr>
          <p:cNvPr id="8" name="Shape 6"/>
          <p:cNvSpPr/>
          <p:nvPr/>
        </p:nvSpPr>
        <p:spPr>
          <a:xfrm>
            <a:off x="1527048" y="2651760"/>
            <a:ext cx="4279392" cy="0"/>
          </a:xfrm>
          <a:prstGeom prst="line">
            <a:avLst/>
          </a:prstGeom>
          <a:noFill/>
          <a:ln w="9525">
            <a:solidFill>
              <a:srgbClr val="EDEDF0"/>
            </a:solidFill>
            <a:prstDash val="solid"/>
          </a:ln>
        </p:spPr>
      </p:sp>
      <p:sp>
        <p:nvSpPr>
          <p:cNvPr id="9" name="Text 7"/>
          <p:cNvSpPr txBox="1"/>
          <p:nvPr/>
        </p:nvSpPr>
        <p:spPr>
          <a:xfrm>
            <a:off x="777240" y="2926080"/>
            <a:ext cx="13716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Mekân</a:t>
            </a:r>
            <a:endParaRPr lang="en-US" sz="1300" dirty="0"/>
          </a:p>
        </p:txBody>
      </p:sp>
      <p:sp>
        <p:nvSpPr>
          <p:cNvPr id="10" name="Text 8"/>
          <p:cNvSpPr txBox="1"/>
          <p:nvPr/>
        </p:nvSpPr>
        <p:spPr>
          <a:xfrm>
            <a:off x="2194560" y="2944368"/>
            <a:ext cx="3611880"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Mersin Marina'da bir ticari birim</a:t>
            </a:r>
            <a:endParaRPr lang="en-US" sz="1100" dirty="0"/>
          </a:p>
        </p:txBody>
      </p:sp>
      <p:sp>
        <p:nvSpPr>
          <p:cNvPr id="11" name="Shape 9"/>
          <p:cNvSpPr/>
          <p:nvPr/>
        </p:nvSpPr>
        <p:spPr>
          <a:xfrm>
            <a:off x="777240" y="3291840"/>
            <a:ext cx="5029200" cy="0"/>
          </a:xfrm>
          <a:prstGeom prst="line">
            <a:avLst/>
          </a:prstGeom>
          <a:noFill/>
          <a:ln w="6350">
            <a:solidFill>
              <a:srgbClr val="EDEDF0"/>
            </a:solidFill>
            <a:prstDash val="solid"/>
          </a:ln>
        </p:spPr>
      </p:sp>
      <p:sp>
        <p:nvSpPr>
          <p:cNvPr id="12" name="Text 10"/>
          <p:cNvSpPr txBox="1"/>
          <p:nvPr/>
        </p:nvSpPr>
        <p:spPr>
          <a:xfrm>
            <a:off x="777240" y="3383280"/>
            <a:ext cx="13716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Kabuk</a:t>
            </a:r>
            <a:endParaRPr lang="en-US" sz="1300" dirty="0"/>
          </a:p>
        </p:txBody>
      </p:sp>
      <p:sp>
        <p:nvSpPr>
          <p:cNvPr id="13" name="Text 11"/>
          <p:cNvSpPr txBox="1"/>
          <p:nvPr/>
        </p:nvSpPr>
        <p:spPr>
          <a:xfrm>
            <a:off x="2194560" y="3401568"/>
            <a:ext cx="3611880"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taşıyıcı, cephe hattı ve kot verili</a:t>
            </a:r>
            <a:endParaRPr lang="en-US" sz="1100" dirty="0"/>
          </a:p>
        </p:txBody>
      </p:sp>
      <p:sp>
        <p:nvSpPr>
          <p:cNvPr id="14" name="Shape 12"/>
          <p:cNvSpPr/>
          <p:nvPr/>
        </p:nvSpPr>
        <p:spPr>
          <a:xfrm>
            <a:off x="777240" y="3749040"/>
            <a:ext cx="5029200" cy="0"/>
          </a:xfrm>
          <a:prstGeom prst="line">
            <a:avLst/>
          </a:prstGeom>
          <a:noFill/>
          <a:ln w="6350">
            <a:solidFill>
              <a:srgbClr val="EDEDF0"/>
            </a:solidFill>
            <a:prstDash val="solid"/>
          </a:ln>
        </p:spPr>
      </p:sp>
      <p:sp>
        <p:nvSpPr>
          <p:cNvPr id="15" name="Text 13"/>
          <p:cNvSpPr txBox="1"/>
          <p:nvPr/>
        </p:nvSpPr>
        <p:spPr>
          <a:xfrm>
            <a:off x="777240" y="3840480"/>
            <a:ext cx="13716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Alan ziyareti</a:t>
            </a:r>
            <a:endParaRPr lang="en-US" sz="1300" dirty="0"/>
          </a:p>
        </p:txBody>
      </p:sp>
      <p:sp>
        <p:nvSpPr>
          <p:cNvPr id="16" name="Text 14"/>
          <p:cNvSpPr txBox="1"/>
          <p:nvPr/>
        </p:nvSpPr>
        <p:spPr>
          <a:xfrm>
            <a:off x="2194560" y="3858768"/>
            <a:ext cx="3611880"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2. hafta, hep birlikte</a:t>
            </a:r>
            <a:endParaRPr lang="en-US" sz="1100" dirty="0"/>
          </a:p>
        </p:txBody>
      </p:sp>
      <p:sp>
        <p:nvSpPr>
          <p:cNvPr id="17" name="Shape 15"/>
          <p:cNvSpPr/>
          <p:nvPr/>
        </p:nvSpPr>
        <p:spPr>
          <a:xfrm>
            <a:off x="777240" y="4206240"/>
            <a:ext cx="5029200" cy="0"/>
          </a:xfrm>
          <a:prstGeom prst="line">
            <a:avLst/>
          </a:prstGeom>
          <a:noFill/>
          <a:ln w="6350">
            <a:solidFill>
              <a:srgbClr val="EDEDF0"/>
            </a:solidFill>
            <a:prstDash val="solid"/>
          </a:ln>
        </p:spPr>
      </p:sp>
      <p:sp>
        <p:nvSpPr>
          <p:cNvPr id="18" name="Text 16"/>
          <p:cNvSpPr txBox="1"/>
          <p:nvPr/>
        </p:nvSpPr>
        <p:spPr>
          <a:xfrm>
            <a:off x="777240" y="4297680"/>
            <a:ext cx="13716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Marka</a:t>
            </a:r>
            <a:endParaRPr lang="en-US" sz="1300" dirty="0"/>
          </a:p>
        </p:txBody>
      </p:sp>
      <p:sp>
        <p:nvSpPr>
          <p:cNvPr id="19" name="Text 17"/>
          <p:cNvSpPr txBox="1"/>
          <p:nvPr/>
        </p:nvSpPr>
        <p:spPr>
          <a:xfrm>
            <a:off x="2194560" y="4315968"/>
            <a:ext cx="3611880"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sizin bulacağınız küçük, yerel marka</a:t>
            </a:r>
            <a:endParaRPr lang="en-US" sz="1100" dirty="0"/>
          </a:p>
        </p:txBody>
      </p:sp>
      <p:sp>
        <p:nvSpPr>
          <p:cNvPr id="20" name="Shape 18"/>
          <p:cNvSpPr/>
          <p:nvPr/>
        </p:nvSpPr>
        <p:spPr>
          <a:xfrm>
            <a:off x="777240" y="4663440"/>
            <a:ext cx="5029200" cy="0"/>
          </a:xfrm>
          <a:prstGeom prst="line">
            <a:avLst/>
          </a:prstGeom>
          <a:noFill/>
          <a:ln w="6350">
            <a:solidFill>
              <a:srgbClr val="EDEDF0"/>
            </a:solidFill>
            <a:prstDash val="solid"/>
          </a:ln>
        </p:spPr>
      </p:sp>
      <p:sp>
        <p:nvSpPr>
          <p:cNvPr id="21" name="Text 19"/>
          <p:cNvSpPr txBox="1"/>
          <p:nvPr/>
        </p:nvSpPr>
        <p:spPr>
          <a:xfrm>
            <a:off x="777240" y="4754880"/>
            <a:ext cx="1371600" cy="274320"/>
          </a:xfrm>
          <a:prstGeom prst="rect">
            <a:avLst/>
          </a:prstGeom>
          <a:noFill/>
          <a:ln/>
        </p:spPr>
        <p:txBody>
          <a:bodyPr wrap="square" lIns="0" tIns="0" rIns="0" bIns="0" rtlCol="0" anchor="ctr"/>
          <a:lstStyle/>
          <a:p>
            <a:pPr indent="0" marL="0">
              <a:buNone/>
            </a:pPr>
            <a:r>
              <a:rPr lang="en-US" sz="1300" b="1" dirty="0">
                <a:solidFill>
                  <a:srgbClr val="16161A"/>
                </a:solidFill>
                <a:latin typeface="Cambria" pitchFamily="34" charset="0"/>
                <a:ea typeface="Cambria" pitchFamily="34" charset="-122"/>
                <a:cs typeface="Cambria" pitchFamily="34" charset="-120"/>
              </a:rPr>
              <a:t>Ölçek</a:t>
            </a:r>
            <a:endParaRPr lang="en-US" sz="1300" dirty="0"/>
          </a:p>
        </p:txBody>
      </p:sp>
      <p:sp>
        <p:nvSpPr>
          <p:cNvPr id="22" name="Text 20"/>
          <p:cNvSpPr txBox="1"/>
          <p:nvPr/>
        </p:nvSpPr>
        <p:spPr>
          <a:xfrm>
            <a:off x="2194560" y="4773168"/>
            <a:ext cx="3611880" cy="274320"/>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bireysel proje</a:t>
            </a:r>
            <a:endParaRPr lang="en-US" sz="1100" dirty="0"/>
          </a:p>
        </p:txBody>
      </p:sp>
      <p:sp>
        <p:nvSpPr>
          <p:cNvPr id="23" name="Text 21"/>
          <p:cNvSpPr txBox="1"/>
          <p:nvPr/>
        </p:nvSpPr>
        <p:spPr>
          <a:xfrm>
            <a:off x="6382512" y="2532888"/>
            <a:ext cx="2150669"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MARİNA BİR AVM DEĞİLDİR — ALTI KISIT</a:t>
            </a:r>
            <a:endParaRPr lang="en-US" sz="900" dirty="0"/>
          </a:p>
        </p:txBody>
      </p:sp>
      <p:sp>
        <p:nvSpPr>
          <p:cNvPr id="24" name="Shape 22"/>
          <p:cNvSpPr/>
          <p:nvPr/>
        </p:nvSpPr>
        <p:spPr>
          <a:xfrm>
            <a:off x="8606333" y="2651760"/>
            <a:ext cx="2805379" cy="0"/>
          </a:xfrm>
          <a:prstGeom prst="line">
            <a:avLst/>
          </a:prstGeom>
          <a:noFill/>
          <a:ln w="9525">
            <a:solidFill>
              <a:srgbClr val="EBD7D1"/>
            </a:solidFill>
            <a:prstDash val="solid"/>
          </a:ln>
        </p:spPr>
      </p:sp>
      <p:sp>
        <p:nvSpPr>
          <p:cNvPr id="25" name="Shape 23"/>
          <p:cNvSpPr/>
          <p:nvPr/>
        </p:nvSpPr>
        <p:spPr>
          <a:xfrm>
            <a:off x="6359652" y="2948940"/>
            <a:ext cx="210312" cy="210312"/>
          </a:xfrm>
          <a:prstGeom prst="ellipse">
            <a:avLst/>
          </a:prstGeom>
          <a:solidFill>
            <a:srgbClr val="8C3A2B"/>
          </a:solidFill>
          <a:ln w="12700">
            <a:solidFill>
              <a:srgbClr val="8C3A2B"/>
            </a:solidFill>
            <a:prstDash val="solid"/>
          </a:ln>
        </p:spPr>
      </p:sp>
      <p:sp>
        <p:nvSpPr>
          <p:cNvPr id="26" name="Text 24"/>
          <p:cNvSpPr txBox="1"/>
          <p:nvPr/>
        </p:nvSpPr>
        <p:spPr>
          <a:xfrm>
            <a:off x="6359652" y="2948940"/>
            <a:ext cx="210312" cy="21031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25"/>
          <p:cNvSpPr txBox="1"/>
          <p:nvPr/>
        </p:nvSpPr>
        <p:spPr>
          <a:xfrm>
            <a:off x="6693408" y="2916936"/>
            <a:ext cx="4718304"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Açık hava: yaya dış mekândan gelir, hava şartlarına açıktır.</a:t>
            </a:r>
            <a:endParaRPr lang="en-US" sz="1050" dirty="0"/>
          </a:p>
        </p:txBody>
      </p:sp>
      <p:sp>
        <p:nvSpPr>
          <p:cNvPr id="28" name="Shape 26"/>
          <p:cNvSpPr/>
          <p:nvPr/>
        </p:nvSpPr>
        <p:spPr>
          <a:xfrm>
            <a:off x="6359652" y="3378708"/>
            <a:ext cx="210312" cy="210312"/>
          </a:xfrm>
          <a:prstGeom prst="ellipse">
            <a:avLst/>
          </a:prstGeom>
          <a:solidFill>
            <a:srgbClr val="8C3A2B"/>
          </a:solidFill>
          <a:ln w="12700">
            <a:solidFill>
              <a:srgbClr val="8C3A2B"/>
            </a:solidFill>
            <a:prstDash val="solid"/>
          </a:ln>
        </p:spPr>
      </p:sp>
      <p:sp>
        <p:nvSpPr>
          <p:cNvPr id="29" name="Text 27"/>
          <p:cNvSpPr txBox="1"/>
          <p:nvPr/>
        </p:nvSpPr>
        <p:spPr>
          <a:xfrm>
            <a:off x="6359652" y="3378708"/>
            <a:ext cx="210312" cy="21031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8"/>
          <p:cNvSpPr txBox="1"/>
          <p:nvPr/>
        </p:nvSpPr>
        <p:spPr>
          <a:xfrm>
            <a:off x="6693408" y="3346704"/>
            <a:ext cx="4718304"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Mevsimsellik: yaz ve kış yoğunluğu birbirine benzemez.</a:t>
            </a:r>
            <a:endParaRPr lang="en-US" sz="1050" dirty="0"/>
          </a:p>
        </p:txBody>
      </p:sp>
      <p:sp>
        <p:nvSpPr>
          <p:cNvPr id="31" name="Shape 29"/>
          <p:cNvSpPr/>
          <p:nvPr/>
        </p:nvSpPr>
        <p:spPr>
          <a:xfrm>
            <a:off x="6359652" y="3808476"/>
            <a:ext cx="210312" cy="210312"/>
          </a:xfrm>
          <a:prstGeom prst="ellipse">
            <a:avLst/>
          </a:prstGeom>
          <a:solidFill>
            <a:srgbClr val="8C3A2B"/>
          </a:solidFill>
          <a:ln w="12700">
            <a:solidFill>
              <a:srgbClr val="8C3A2B"/>
            </a:solidFill>
            <a:prstDash val="solid"/>
          </a:ln>
        </p:spPr>
      </p:sp>
      <p:sp>
        <p:nvSpPr>
          <p:cNvPr id="32" name="Text 30"/>
          <p:cNvSpPr txBox="1"/>
          <p:nvPr/>
        </p:nvSpPr>
        <p:spPr>
          <a:xfrm>
            <a:off x="6359652" y="3808476"/>
            <a:ext cx="210312" cy="21031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3" name="Text 31"/>
          <p:cNvSpPr txBox="1"/>
          <p:nvPr/>
        </p:nvSpPr>
        <p:spPr>
          <a:xfrm>
            <a:off x="6693408" y="3776472"/>
            <a:ext cx="4718304"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Deniz ve tuz: malzeme seçimi korozyona dayanmak zorunda.</a:t>
            </a:r>
            <a:endParaRPr lang="en-US" sz="1050" dirty="0"/>
          </a:p>
        </p:txBody>
      </p:sp>
      <p:sp>
        <p:nvSpPr>
          <p:cNvPr id="34" name="Shape 32"/>
          <p:cNvSpPr/>
          <p:nvPr/>
        </p:nvSpPr>
        <p:spPr>
          <a:xfrm>
            <a:off x="6359652" y="4238244"/>
            <a:ext cx="210312" cy="210312"/>
          </a:xfrm>
          <a:prstGeom prst="ellipse">
            <a:avLst/>
          </a:prstGeom>
          <a:solidFill>
            <a:srgbClr val="8C3A2B"/>
          </a:solidFill>
          <a:ln w="12700">
            <a:solidFill>
              <a:srgbClr val="8C3A2B"/>
            </a:solidFill>
            <a:prstDash val="solid"/>
          </a:ln>
        </p:spPr>
      </p:sp>
      <p:sp>
        <p:nvSpPr>
          <p:cNvPr id="35" name="Text 33"/>
          <p:cNvSpPr txBox="1"/>
          <p:nvPr/>
        </p:nvSpPr>
        <p:spPr>
          <a:xfrm>
            <a:off x="6359652" y="4238244"/>
            <a:ext cx="210312" cy="21031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34"/>
          <p:cNvSpPr txBox="1"/>
          <p:nvPr/>
        </p:nvSpPr>
        <p:spPr>
          <a:xfrm>
            <a:off x="6693408" y="4206240"/>
            <a:ext cx="4718304"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Akşam kullanımı: gece cephesi ve aydınlatma ayrı tasarlanır.</a:t>
            </a:r>
            <a:endParaRPr lang="en-US" sz="1050" dirty="0"/>
          </a:p>
        </p:txBody>
      </p:sp>
      <p:sp>
        <p:nvSpPr>
          <p:cNvPr id="37" name="Shape 35"/>
          <p:cNvSpPr/>
          <p:nvPr/>
        </p:nvSpPr>
        <p:spPr>
          <a:xfrm>
            <a:off x="6359652" y="4668012"/>
            <a:ext cx="210312" cy="210312"/>
          </a:xfrm>
          <a:prstGeom prst="ellipse">
            <a:avLst/>
          </a:prstGeom>
          <a:solidFill>
            <a:srgbClr val="8C3A2B"/>
          </a:solidFill>
          <a:ln w="12700">
            <a:solidFill>
              <a:srgbClr val="8C3A2B"/>
            </a:solidFill>
            <a:prstDash val="solid"/>
          </a:ln>
        </p:spPr>
      </p:sp>
      <p:sp>
        <p:nvSpPr>
          <p:cNvPr id="38" name="Text 36"/>
          <p:cNvSpPr txBox="1"/>
          <p:nvPr/>
        </p:nvSpPr>
        <p:spPr>
          <a:xfrm>
            <a:off x="6359652" y="4668012"/>
            <a:ext cx="210312" cy="21031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9" name="Text 37"/>
          <p:cNvSpPr txBox="1"/>
          <p:nvPr/>
        </p:nvSpPr>
        <p:spPr>
          <a:xfrm>
            <a:off x="6693408" y="4636008"/>
            <a:ext cx="4718304"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Karma kullanıcı: tekne sahibi, turist, yerel halk bir arada.</a:t>
            </a:r>
            <a:endParaRPr lang="en-US" sz="1050" dirty="0"/>
          </a:p>
        </p:txBody>
      </p:sp>
      <p:sp>
        <p:nvSpPr>
          <p:cNvPr id="40" name="Shape 38"/>
          <p:cNvSpPr/>
          <p:nvPr/>
        </p:nvSpPr>
        <p:spPr>
          <a:xfrm>
            <a:off x="6359652" y="5097780"/>
            <a:ext cx="210312" cy="210312"/>
          </a:xfrm>
          <a:prstGeom prst="ellipse">
            <a:avLst/>
          </a:prstGeom>
          <a:solidFill>
            <a:srgbClr val="8C3A2B"/>
          </a:solidFill>
          <a:ln w="12700">
            <a:solidFill>
              <a:srgbClr val="8C3A2B"/>
            </a:solidFill>
            <a:prstDash val="solid"/>
          </a:ln>
        </p:spPr>
      </p:sp>
      <p:sp>
        <p:nvSpPr>
          <p:cNvPr id="41" name="Text 39"/>
          <p:cNvSpPr txBox="1"/>
          <p:nvPr/>
        </p:nvSpPr>
        <p:spPr>
          <a:xfrm>
            <a:off x="6359652" y="5097780"/>
            <a:ext cx="210312" cy="21031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42" name="Text 40"/>
          <p:cNvSpPr txBox="1"/>
          <p:nvPr/>
        </p:nvSpPr>
        <p:spPr>
          <a:xfrm>
            <a:off x="6693408" y="5065776"/>
            <a:ext cx="4718304" cy="365760"/>
          </a:xfrm>
          <a:prstGeom prst="rect">
            <a:avLst/>
          </a:prstGeom>
          <a:noFill/>
          <a:ln/>
        </p:spPr>
        <p:txBody>
          <a:bodyPr wrap="square" lIns="0" tIns="0" rIns="0" bIns="0" rtlCol="0" anchor="ctr"/>
          <a:lstStyle/>
          <a:p>
            <a:pPr indent="0" marL="0">
              <a:lnSpc>
                <a:spcPts val="1300"/>
              </a:lnSpc>
              <a:buNone/>
            </a:pPr>
            <a:r>
              <a:rPr lang="en-US" sz="1050" dirty="0">
                <a:solidFill>
                  <a:srgbClr val="2B2B31"/>
                </a:solidFill>
                <a:latin typeface="Calibri" pitchFamily="34" charset="0"/>
                <a:ea typeface="Calibri" pitchFamily="34" charset="-122"/>
                <a:cs typeface="Calibri" pitchFamily="34" charset="-120"/>
              </a:rPr>
              <a:t>Görünürlük: cephe uzaktan ve yandan okunmak durumunda.</a:t>
            </a:r>
            <a:endParaRPr lang="en-US" sz="1050" dirty="0"/>
          </a:p>
        </p:txBody>
      </p:sp>
      <p:sp>
        <p:nvSpPr>
          <p:cNvPr id="43" name="Shape 41"/>
          <p:cNvSpPr/>
          <p:nvPr/>
        </p:nvSpPr>
        <p:spPr>
          <a:xfrm>
            <a:off x="5961888" y="2615184"/>
            <a:ext cx="0" cy="2916936"/>
          </a:xfrm>
          <a:prstGeom prst="line">
            <a:avLst/>
          </a:prstGeom>
          <a:noFill/>
          <a:ln w="9525">
            <a:solidFill>
              <a:srgbClr val="C9C9CF"/>
            </a:solidFill>
            <a:prstDash val="solid"/>
          </a:ln>
        </p:spPr>
      </p:sp>
      <p:sp>
        <p:nvSpPr>
          <p:cNvPr id="44" name="Text 42"/>
          <p:cNvSpPr txBox="1"/>
          <p:nvPr/>
        </p:nvSpPr>
        <p:spPr>
          <a:xfrm>
            <a:off x="777240" y="5687568"/>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7A7A82"/>
                </a:solidFill>
                <a:latin typeface="Cambria" pitchFamily="34" charset="0"/>
                <a:ea typeface="Cambria" pitchFamily="34" charset="-122"/>
                <a:cs typeface="Cambria" pitchFamily="34" charset="-120"/>
              </a:rPr>
              <a:t>Alanın kesin m²'si, kat sayısı, tavan yüksekliği ve cephe uzunluğu 2. hafta alan ziyaretinde ölçülerek verilecek.</a:t>
            </a:r>
            <a:endParaRPr lang="en-US" sz="1200" dirty="0"/>
          </a:p>
        </p:txBody>
      </p:sp>
      <p:sp>
        <p:nvSpPr>
          <p:cNvPr id="45" name="Text 43"/>
          <p:cNvSpPr txBox="1"/>
          <p:nvPr/>
        </p:nvSpPr>
        <p:spPr>
          <a:xfrm>
            <a:off x="777240" y="6364224"/>
            <a:ext cx="9966960" cy="274320"/>
          </a:xfrm>
          <a:prstGeom prst="rect">
            <a:avLst/>
          </a:prstGeom>
          <a:noFill/>
          <a:ln/>
        </p:spPr>
        <p:txBody>
          <a:bodyPr wrap="square" lIns="0" tIns="0" rIns="0" bIns="0" rtlCol="0" anchor="ctr"/>
          <a:lstStyle/>
          <a:p>
            <a:pPr indent="0" marL="0">
              <a:lnSpc>
                <a:spcPts val="1000"/>
              </a:lnSpc>
              <a:buNone/>
            </a:pPr>
            <a:r>
              <a:rPr lang="en-US" sz="800" i="1" dirty="0">
                <a:solidFill>
                  <a:srgbClr val="A6A6AC"/>
                </a:solidFill>
                <a:latin typeface="Calibri" pitchFamily="34" charset="0"/>
                <a:ea typeface="Calibri" pitchFamily="34" charset="-122"/>
                <a:cs typeface="Calibri" pitchFamily="34" charset="-120"/>
              </a:rPr>
              <a:t>Görsel önerisi — Mersin Marina'dan cephe ve yaya akışı fotoğrafı — bu slaydın altına şerit hâlinde konabilir.</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VIII · BRİF</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Tasarlamak zorunda olduğunuz alanlar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Aşağıdaki liste bağlayıcıdır. Mekânın büyüklüğü ne olursa olsun bu işlevlerin hepsi çözülmüş olmak zorundadır. Nerede olacakları size, hepsinin bulunması bize aittir.</a:t>
            </a:r>
            <a:endParaRPr lang="en-US" sz="1400" dirty="0"/>
          </a:p>
        </p:txBody>
      </p:sp>
      <p:sp>
        <p:nvSpPr>
          <p:cNvPr id="7" name="Text 5"/>
          <p:cNvSpPr txBox="1"/>
          <p:nvPr/>
        </p:nvSpPr>
        <p:spPr>
          <a:xfrm>
            <a:off x="777240" y="2185416"/>
            <a:ext cx="1697126"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ÖN ALAN — müşterinin gördüğü</a:t>
            </a:r>
            <a:endParaRPr lang="en-US" sz="900" dirty="0"/>
          </a:p>
        </p:txBody>
      </p:sp>
      <p:sp>
        <p:nvSpPr>
          <p:cNvPr id="8" name="Shape 6"/>
          <p:cNvSpPr/>
          <p:nvPr/>
        </p:nvSpPr>
        <p:spPr>
          <a:xfrm>
            <a:off x="2547518" y="2304288"/>
            <a:ext cx="8864194" cy="0"/>
          </a:xfrm>
          <a:prstGeom prst="line">
            <a:avLst/>
          </a:prstGeom>
          <a:noFill/>
          <a:ln w="9525">
            <a:solidFill>
              <a:srgbClr val="EBD7D1"/>
            </a:solidFill>
            <a:prstDash val="solid"/>
          </a:ln>
        </p:spPr>
      </p:sp>
      <p:sp>
        <p:nvSpPr>
          <p:cNvPr id="9" name="Shape 7"/>
          <p:cNvSpPr/>
          <p:nvPr/>
        </p:nvSpPr>
        <p:spPr>
          <a:xfrm>
            <a:off x="809244" y="2592324"/>
            <a:ext cx="100584" cy="100584"/>
          </a:xfrm>
          <a:prstGeom prst="ellipse">
            <a:avLst/>
          </a:prstGeom>
          <a:solidFill>
            <a:srgbClr val="8C3A2B"/>
          </a:solidFill>
          <a:ln w="12700">
            <a:solidFill>
              <a:srgbClr val="8C3A2B"/>
            </a:solidFill>
            <a:prstDash val="solid"/>
          </a:ln>
        </p:spPr>
      </p:sp>
      <p:sp>
        <p:nvSpPr>
          <p:cNvPr id="10" name="Text 8"/>
          <p:cNvSpPr txBox="1"/>
          <p:nvPr/>
        </p:nvSpPr>
        <p:spPr>
          <a:xfrm>
            <a:off x="1051560" y="2505456"/>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Vitrin ve cephe</a:t>
            </a:r>
            <a:endParaRPr lang="en-US" sz="1100" dirty="0"/>
          </a:p>
        </p:txBody>
      </p:sp>
      <p:sp>
        <p:nvSpPr>
          <p:cNvPr id="11" name="Shape 9"/>
          <p:cNvSpPr/>
          <p:nvPr/>
        </p:nvSpPr>
        <p:spPr>
          <a:xfrm>
            <a:off x="4354068" y="2592324"/>
            <a:ext cx="100584" cy="100584"/>
          </a:xfrm>
          <a:prstGeom prst="ellipse">
            <a:avLst/>
          </a:prstGeom>
          <a:solidFill>
            <a:srgbClr val="8C3A2B"/>
          </a:solidFill>
          <a:ln w="12700">
            <a:solidFill>
              <a:srgbClr val="8C3A2B"/>
            </a:solidFill>
            <a:prstDash val="solid"/>
          </a:ln>
        </p:spPr>
      </p:sp>
      <p:sp>
        <p:nvSpPr>
          <p:cNvPr id="12" name="Text 10"/>
          <p:cNvSpPr txBox="1"/>
          <p:nvPr/>
        </p:nvSpPr>
        <p:spPr>
          <a:xfrm>
            <a:off x="4596384" y="2505456"/>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Giriş ve eşik (dekompresyon)</a:t>
            </a:r>
            <a:endParaRPr lang="en-US" sz="1100" dirty="0"/>
          </a:p>
        </p:txBody>
      </p:sp>
      <p:sp>
        <p:nvSpPr>
          <p:cNvPr id="13" name="Shape 11"/>
          <p:cNvSpPr/>
          <p:nvPr/>
        </p:nvSpPr>
        <p:spPr>
          <a:xfrm>
            <a:off x="7898892" y="2592324"/>
            <a:ext cx="100584" cy="100584"/>
          </a:xfrm>
          <a:prstGeom prst="ellipse">
            <a:avLst/>
          </a:prstGeom>
          <a:solidFill>
            <a:srgbClr val="8C3A2B"/>
          </a:solidFill>
          <a:ln w="12700">
            <a:solidFill>
              <a:srgbClr val="8C3A2B"/>
            </a:solidFill>
            <a:prstDash val="solid"/>
          </a:ln>
        </p:spPr>
      </p:sp>
      <p:sp>
        <p:nvSpPr>
          <p:cNvPr id="14" name="Text 12"/>
          <p:cNvSpPr txBox="1"/>
          <p:nvPr/>
        </p:nvSpPr>
        <p:spPr>
          <a:xfrm>
            <a:off x="8141208" y="2505456"/>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Teşhir alanları</a:t>
            </a:r>
            <a:endParaRPr lang="en-US" sz="1100" dirty="0"/>
          </a:p>
        </p:txBody>
      </p:sp>
      <p:sp>
        <p:nvSpPr>
          <p:cNvPr id="15" name="Shape 13"/>
          <p:cNvSpPr/>
          <p:nvPr/>
        </p:nvSpPr>
        <p:spPr>
          <a:xfrm>
            <a:off x="809244" y="2976372"/>
            <a:ext cx="100584" cy="100584"/>
          </a:xfrm>
          <a:prstGeom prst="ellipse">
            <a:avLst/>
          </a:prstGeom>
          <a:solidFill>
            <a:srgbClr val="8C3A2B"/>
          </a:solidFill>
          <a:ln w="12700">
            <a:solidFill>
              <a:srgbClr val="8C3A2B"/>
            </a:solidFill>
            <a:prstDash val="solid"/>
          </a:ln>
        </p:spPr>
      </p:sp>
      <p:sp>
        <p:nvSpPr>
          <p:cNvPr id="16" name="Text 14"/>
          <p:cNvSpPr txBox="1"/>
          <p:nvPr/>
        </p:nvSpPr>
        <p:spPr>
          <a:xfrm>
            <a:off x="1051560" y="2889504"/>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Etkileşim ve deneme</a:t>
            </a:r>
            <a:endParaRPr lang="en-US" sz="1100" dirty="0"/>
          </a:p>
        </p:txBody>
      </p:sp>
      <p:sp>
        <p:nvSpPr>
          <p:cNvPr id="17" name="Shape 15"/>
          <p:cNvSpPr/>
          <p:nvPr/>
        </p:nvSpPr>
        <p:spPr>
          <a:xfrm>
            <a:off x="4354068" y="2976372"/>
            <a:ext cx="100584" cy="100584"/>
          </a:xfrm>
          <a:prstGeom prst="ellipse">
            <a:avLst/>
          </a:prstGeom>
          <a:solidFill>
            <a:srgbClr val="8C3A2B"/>
          </a:solidFill>
          <a:ln w="12700">
            <a:solidFill>
              <a:srgbClr val="8C3A2B"/>
            </a:solidFill>
            <a:prstDash val="solid"/>
          </a:ln>
        </p:spPr>
      </p:sp>
      <p:sp>
        <p:nvSpPr>
          <p:cNvPr id="18" name="Text 16"/>
          <p:cNvSpPr txBox="1"/>
          <p:nvPr/>
        </p:nvSpPr>
        <p:spPr>
          <a:xfrm>
            <a:off x="4596384" y="2889504"/>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Deneme kabini (ürün gerektiriyorsa)</a:t>
            </a:r>
            <a:endParaRPr lang="en-US" sz="1100" dirty="0"/>
          </a:p>
        </p:txBody>
      </p:sp>
      <p:sp>
        <p:nvSpPr>
          <p:cNvPr id="19" name="Shape 17"/>
          <p:cNvSpPr/>
          <p:nvPr/>
        </p:nvSpPr>
        <p:spPr>
          <a:xfrm>
            <a:off x="7898892" y="2976372"/>
            <a:ext cx="100584" cy="100584"/>
          </a:xfrm>
          <a:prstGeom prst="ellipse">
            <a:avLst/>
          </a:prstGeom>
          <a:solidFill>
            <a:srgbClr val="8C3A2B"/>
          </a:solidFill>
          <a:ln w="12700">
            <a:solidFill>
              <a:srgbClr val="8C3A2B"/>
            </a:solidFill>
            <a:prstDash val="solid"/>
          </a:ln>
        </p:spPr>
      </p:sp>
      <p:sp>
        <p:nvSpPr>
          <p:cNvPr id="20" name="Text 18"/>
          <p:cNvSpPr txBox="1"/>
          <p:nvPr/>
        </p:nvSpPr>
        <p:spPr>
          <a:xfrm>
            <a:off x="8141208" y="2889504"/>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Oturma ve bekleme</a:t>
            </a:r>
            <a:endParaRPr lang="en-US" sz="1100" dirty="0"/>
          </a:p>
        </p:txBody>
      </p:sp>
      <p:sp>
        <p:nvSpPr>
          <p:cNvPr id="21" name="Text 19"/>
          <p:cNvSpPr txBox="1"/>
          <p:nvPr/>
        </p:nvSpPr>
        <p:spPr>
          <a:xfrm>
            <a:off x="777240" y="3429000"/>
            <a:ext cx="506578"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KESİŞİM</a:t>
            </a:r>
            <a:endParaRPr lang="en-US" sz="900" dirty="0"/>
          </a:p>
        </p:txBody>
      </p:sp>
      <p:sp>
        <p:nvSpPr>
          <p:cNvPr id="22" name="Shape 20"/>
          <p:cNvSpPr/>
          <p:nvPr/>
        </p:nvSpPr>
        <p:spPr>
          <a:xfrm>
            <a:off x="1356970" y="3547872"/>
            <a:ext cx="10054742" cy="0"/>
          </a:xfrm>
          <a:prstGeom prst="line">
            <a:avLst/>
          </a:prstGeom>
          <a:noFill/>
          <a:ln w="9525">
            <a:solidFill>
              <a:srgbClr val="EBD7D1"/>
            </a:solidFill>
            <a:prstDash val="solid"/>
          </a:ln>
        </p:spPr>
      </p:sp>
      <p:sp>
        <p:nvSpPr>
          <p:cNvPr id="23" name="Shape 21"/>
          <p:cNvSpPr/>
          <p:nvPr/>
        </p:nvSpPr>
        <p:spPr>
          <a:xfrm>
            <a:off x="809244" y="3835908"/>
            <a:ext cx="100584" cy="100584"/>
          </a:xfrm>
          <a:prstGeom prst="ellipse">
            <a:avLst/>
          </a:prstGeom>
          <a:solidFill>
            <a:srgbClr val="8C3A2B"/>
          </a:solidFill>
          <a:ln w="12700">
            <a:solidFill>
              <a:srgbClr val="8C3A2B"/>
            </a:solidFill>
            <a:prstDash val="solid"/>
          </a:ln>
        </p:spPr>
      </p:sp>
      <p:sp>
        <p:nvSpPr>
          <p:cNvPr id="24" name="Text 22"/>
          <p:cNvSpPr txBox="1"/>
          <p:nvPr/>
        </p:nvSpPr>
        <p:spPr>
          <a:xfrm>
            <a:off x="1051560" y="3749040"/>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Kasa ve paketleme</a:t>
            </a:r>
            <a:endParaRPr lang="en-US" sz="1100" dirty="0"/>
          </a:p>
        </p:txBody>
      </p:sp>
      <p:sp>
        <p:nvSpPr>
          <p:cNvPr id="25" name="Shape 23"/>
          <p:cNvSpPr/>
          <p:nvPr/>
        </p:nvSpPr>
        <p:spPr>
          <a:xfrm>
            <a:off x="4354068" y="3835908"/>
            <a:ext cx="100584" cy="100584"/>
          </a:xfrm>
          <a:prstGeom prst="ellipse">
            <a:avLst/>
          </a:prstGeom>
          <a:solidFill>
            <a:srgbClr val="8C3A2B"/>
          </a:solidFill>
          <a:ln w="12700">
            <a:solidFill>
              <a:srgbClr val="8C3A2B"/>
            </a:solidFill>
            <a:prstDash val="solid"/>
          </a:ln>
        </p:spPr>
      </p:sp>
      <p:sp>
        <p:nvSpPr>
          <p:cNvPr id="26" name="Text 24"/>
          <p:cNvSpPr txBox="1"/>
          <p:nvPr/>
        </p:nvSpPr>
        <p:spPr>
          <a:xfrm>
            <a:off x="4596384" y="3749040"/>
            <a:ext cx="3197352"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Kasa arkası yönetim</a:t>
            </a:r>
            <a:endParaRPr lang="en-US" sz="1100" dirty="0"/>
          </a:p>
        </p:txBody>
      </p:sp>
      <p:sp>
        <p:nvSpPr>
          <p:cNvPr id="27" name="Text 25"/>
          <p:cNvSpPr txBox="1"/>
          <p:nvPr/>
        </p:nvSpPr>
        <p:spPr>
          <a:xfrm>
            <a:off x="777240" y="4288536"/>
            <a:ext cx="1923898" cy="237744"/>
          </a:xfrm>
          <a:prstGeom prst="rect">
            <a:avLst/>
          </a:prstGeom>
          <a:noFill/>
          <a:ln/>
        </p:spPr>
        <p:txBody>
          <a:bodyPr wrap="square" lIns="0" tIns="0" rIns="0" bIns="0" rtlCol="0" anchor="ctr"/>
          <a:lstStyle/>
          <a:p>
            <a:pPr indent="0" marL="0">
              <a:buNone/>
            </a:pPr>
            <a:r>
              <a:rPr lang="en-US" sz="900" b="1" spc="170" kern="0" dirty="0">
                <a:solidFill>
                  <a:srgbClr val="7A7A82"/>
                </a:solidFill>
                <a:latin typeface="Calibri" pitchFamily="34" charset="0"/>
                <a:ea typeface="Calibri" pitchFamily="34" charset="-122"/>
                <a:cs typeface="Calibri" pitchFamily="34" charset="-120"/>
              </a:rPr>
              <a:t>ARKA ALAN — işletmenin çalıştığı</a:t>
            </a:r>
            <a:endParaRPr lang="en-US" sz="900" dirty="0"/>
          </a:p>
        </p:txBody>
      </p:sp>
      <p:sp>
        <p:nvSpPr>
          <p:cNvPr id="28" name="Shape 26"/>
          <p:cNvSpPr/>
          <p:nvPr/>
        </p:nvSpPr>
        <p:spPr>
          <a:xfrm>
            <a:off x="2774290" y="4407408"/>
            <a:ext cx="8637422" cy="0"/>
          </a:xfrm>
          <a:prstGeom prst="line">
            <a:avLst/>
          </a:prstGeom>
          <a:noFill/>
          <a:ln w="9525">
            <a:solidFill>
              <a:srgbClr val="EDEDF0"/>
            </a:solidFill>
            <a:prstDash val="solid"/>
          </a:ln>
        </p:spPr>
      </p:sp>
      <p:sp>
        <p:nvSpPr>
          <p:cNvPr id="29" name="Shape 27"/>
          <p:cNvSpPr/>
          <p:nvPr/>
        </p:nvSpPr>
        <p:spPr>
          <a:xfrm>
            <a:off x="809244" y="4695444"/>
            <a:ext cx="100584" cy="100584"/>
          </a:xfrm>
          <a:prstGeom prst="ellipse">
            <a:avLst/>
          </a:prstGeom>
          <a:solidFill>
            <a:srgbClr val="B9B9C0"/>
          </a:solidFill>
          <a:ln w="12700">
            <a:solidFill>
              <a:srgbClr val="B9B9C0"/>
            </a:solidFill>
            <a:prstDash val="solid"/>
          </a:ln>
        </p:spPr>
      </p:sp>
      <p:sp>
        <p:nvSpPr>
          <p:cNvPr id="30" name="Text 28"/>
          <p:cNvSpPr txBox="1"/>
          <p:nvPr/>
        </p:nvSpPr>
        <p:spPr>
          <a:xfrm>
            <a:off x="1051560" y="4608576"/>
            <a:ext cx="2311146"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Mal kabul</a:t>
            </a:r>
            <a:endParaRPr lang="en-US" sz="1100" dirty="0"/>
          </a:p>
        </p:txBody>
      </p:sp>
      <p:sp>
        <p:nvSpPr>
          <p:cNvPr id="31" name="Shape 29"/>
          <p:cNvSpPr/>
          <p:nvPr/>
        </p:nvSpPr>
        <p:spPr>
          <a:xfrm>
            <a:off x="3467862" y="4695444"/>
            <a:ext cx="100584" cy="100584"/>
          </a:xfrm>
          <a:prstGeom prst="ellipse">
            <a:avLst/>
          </a:prstGeom>
          <a:solidFill>
            <a:srgbClr val="B9B9C0"/>
          </a:solidFill>
          <a:ln w="12700">
            <a:solidFill>
              <a:srgbClr val="B9B9C0"/>
            </a:solidFill>
            <a:prstDash val="solid"/>
          </a:ln>
        </p:spPr>
      </p:sp>
      <p:sp>
        <p:nvSpPr>
          <p:cNvPr id="32" name="Text 30"/>
          <p:cNvSpPr txBox="1"/>
          <p:nvPr/>
        </p:nvSpPr>
        <p:spPr>
          <a:xfrm>
            <a:off x="3710178" y="4608576"/>
            <a:ext cx="2311146"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Depo (m² gerekçeli)</a:t>
            </a:r>
            <a:endParaRPr lang="en-US" sz="1100" dirty="0"/>
          </a:p>
        </p:txBody>
      </p:sp>
      <p:sp>
        <p:nvSpPr>
          <p:cNvPr id="33" name="Shape 31"/>
          <p:cNvSpPr/>
          <p:nvPr/>
        </p:nvSpPr>
        <p:spPr>
          <a:xfrm>
            <a:off x="6126480" y="4695444"/>
            <a:ext cx="100584" cy="100584"/>
          </a:xfrm>
          <a:prstGeom prst="ellipse">
            <a:avLst/>
          </a:prstGeom>
          <a:solidFill>
            <a:srgbClr val="B9B9C0"/>
          </a:solidFill>
          <a:ln w="12700">
            <a:solidFill>
              <a:srgbClr val="B9B9C0"/>
            </a:solidFill>
            <a:prstDash val="solid"/>
          </a:ln>
        </p:spPr>
      </p:sp>
      <p:sp>
        <p:nvSpPr>
          <p:cNvPr id="34" name="Text 32"/>
          <p:cNvSpPr txBox="1"/>
          <p:nvPr/>
        </p:nvSpPr>
        <p:spPr>
          <a:xfrm>
            <a:off x="6368796" y="4608576"/>
            <a:ext cx="2311146"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Personel alanı ve WC</a:t>
            </a:r>
            <a:endParaRPr lang="en-US" sz="1100" dirty="0"/>
          </a:p>
        </p:txBody>
      </p:sp>
      <p:sp>
        <p:nvSpPr>
          <p:cNvPr id="35" name="Shape 33"/>
          <p:cNvSpPr/>
          <p:nvPr/>
        </p:nvSpPr>
        <p:spPr>
          <a:xfrm>
            <a:off x="8785098" y="4695444"/>
            <a:ext cx="100584" cy="100584"/>
          </a:xfrm>
          <a:prstGeom prst="ellipse">
            <a:avLst/>
          </a:prstGeom>
          <a:solidFill>
            <a:srgbClr val="B9B9C0"/>
          </a:solidFill>
          <a:ln w="12700">
            <a:solidFill>
              <a:srgbClr val="B9B9C0"/>
            </a:solidFill>
            <a:prstDash val="solid"/>
          </a:ln>
        </p:spPr>
      </p:sp>
      <p:sp>
        <p:nvSpPr>
          <p:cNvPr id="36" name="Text 34"/>
          <p:cNvSpPr txBox="1"/>
          <p:nvPr/>
        </p:nvSpPr>
        <p:spPr>
          <a:xfrm>
            <a:off x="9027414" y="4608576"/>
            <a:ext cx="2311146" cy="292608"/>
          </a:xfrm>
          <a:prstGeom prst="rect">
            <a:avLst/>
          </a:prstGeom>
          <a:noFill/>
          <a:ln/>
        </p:spPr>
        <p:txBody>
          <a:bodyPr wrap="square" lIns="0" tIns="0" rIns="0" bIns="0" rtlCol="0" anchor="ctr"/>
          <a:lstStyle/>
          <a:p>
            <a:pPr indent="0" marL="0">
              <a:buNone/>
            </a:pPr>
            <a:r>
              <a:rPr lang="en-US" sz="1100" dirty="0">
                <a:solidFill>
                  <a:srgbClr val="2B2B31"/>
                </a:solidFill>
                <a:latin typeface="Calibri" pitchFamily="34" charset="0"/>
                <a:ea typeface="Calibri" pitchFamily="34" charset="-122"/>
                <a:cs typeface="Calibri" pitchFamily="34" charset="-120"/>
              </a:rPr>
              <a:t>Servis rotası</a:t>
            </a:r>
            <a:endParaRPr lang="en-US" sz="1100" dirty="0"/>
          </a:p>
        </p:txBody>
      </p:sp>
      <p:sp>
        <p:nvSpPr>
          <p:cNvPr id="37" name="Shape 35"/>
          <p:cNvSpPr/>
          <p:nvPr/>
        </p:nvSpPr>
        <p:spPr>
          <a:xfrm>
            <a:off x="777240" y="5120640"/>
            <a:ext cx="10634472" cy="1042416"/>
          </a:xfrm>
          <a:prstGeom prst="rect">
            <a:avLst/>
          </a:prstGeom>
          <a:solidFill>
            <a:srgbClr val="F6EAE6"/>
          </a:solidFill>
          <a:ln w="15875">
            <a:solidFill>
              <a:srgbClr val="8C3A2B"/>
            </a:solidFill>
            <a:prstDash val="solid"/>
          </a:ln>
        </p:spPr>
      </p:sp>
      <p:sp>
        <p:nvSpPr>
          <p:cNvPr id="38" name="Text 36"/>
          <p:cNvSpPr txBox="1"/>
          <p:nvPr/>
        </p:nvSpPr>
        <p:spPr>
          <a:xfrm>
            <a:off x="1005840" y="5230368"/>
            <a:ext cx="10149840" cy="237744"/>
          </a:xfrm>
          <a:prstGeom prst="rect">
            <a:avLst/>
          </a:prstGeom>
          <a:noFill/>
          <a:ln/>
        </p:spPr>
        <p:txBody>
          <a:bodyPr wrap="square" lIns="0" tIns="0" rIns="0" bIns="0" rtlCol="0" anchor="ctr"/>
          <a:lstStyle/>
          <a:p>
            <a:pPr indent="0" marL="0">
              <a:buNone/>
            </a:pPr>
            <a:r>
              <a:rPr lang="en-US" sz="900" b="1" spc="160" kern="0" dirty="0">
                <a:solidFill>
                  <a:srgbClr val="8C3A2B"/>
                </a:solidFill>
                <a:latin typeface="Calibri" pitchFamily="34" charset="0"/>
                <a:ea typeface="Calibri" pitchFamily="34" charset="-122"/>
                <a:cs typeface="Calibri" pitchFamily="34" charset="-120"/>
              </a:rPr>
              <a:t>DUYUSAL VURGU — BU DERSİN AYIRT EDİCİ TALEBİ</a:t>
            </a:r>
            <a:endParaRPr lang="en-US" sz="900" dirty="0"/>
          </a:p>
        </p:txBody>
      </p:sp>
      <p:sp>
        <p:nvSpPr>
          <p:cNvPr id="39" name="Text 37"/>
          <p:cNvSpPr txBox="1"/>
          <p:nvPr/>
        </p:nvSpPr>
        <p:spPr>
          <a:xfrm>
            <a:off x="1005840" y="5468112"/>
            <a:ext cx="10149840" cy="621792"/>
          </a:xfrm>
          <a:prstGeom prst="rect">
            <a:avLst/>
          </a:prstGeom>
          <a:noFill/>
          <a:ln/>
        </p:spPr>
        <p:txBody>
          <a:bodyPr wrap="square" lIns="0" tIns="0" rIns="0" bIns="0" rtlCol="0" anchor="ctr"/>
          <a:lstStyle/>
          <a:p>
            <a:pPr indent="0" marL="0">
              <a:lnSpc>
                <a:spcPts val="1600"/>
              </a:lnSpc>
              <a:buNone/>
            </a:pPr>
            <a:r>
              <a:rPr lang="en-US" sz="1250" dirty="0">
                <a:solidFill>
                  <a:srgbClr val="8C3A2B"/>
                </a:solidFill>
                <a:latin typeface="Cambria" pitchFamily="34" charset="0"/>
                <a:ea typeface="Cambria" pitchFamily="34" charset="-122"/>
                <a:cs typeface="Cambria" pitchFamily="34" charset="-120"/>
              </a:rPr>
              <a:t>Beş duyunun her biri için en az bir bilinçli karar vermeniz ve bunu Duyu × Yolculuk Matrisi'nde göstermeniz bekleniyor. Ayrıca üç “imza an” tanımlayacaksınız. Depo m²’si de gerekçeli olmak zorunda: ürünün ölçüsü, stok devir hızı ve mevsimsellik üzerinden hesaplanır.</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VIII · TESLİMLER</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Üç teslim, üç paket</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777240" y="1664208"/>
            <a:ext cx="10634472" cy="45720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Her jüride ne getireceğiniz baştan belli. Aşağıdaki paketler asgari koşuldur; eksik teslim jüriye giremez.</a:t>
            </a:r>
            <a:endParaRPr lang="en-US" sz="1400" dirty="0"/>
          </a:p>
        </p:txBody>
      </p:sp>
      <p:sp>
        <p:nvSpPr>
          <p:cNvPr id="7" name="Shape 5"/>
          <p:cNvSpPr/>
          <p:nvPr/>
        </p:nvSpPr>
        <p:spPr>
          <a:xfrm>
            <a:off x="777240" y="2240280"/>
            <a:ext cx="3291840" cy="329184"/>
          </a:xfrm>
          <a:prstGeom prst="rect">
            <a:avLst/>
          </a:prstGeom>
          <a:solidFill>
            <a:srgbClr val="F6EAE6"/>
          </a:solidFill>
          <a:ln/>
        </p:spPr>
      </p:sp>
      <p:sp>
        <p:nvSpPr>
          <p:cNvPr id="8" name="Text 6"/>
          <p:cNvSpPr txBox="1"/>
          <p:nvPr/>
        </p:nvSpPr>
        <p:spPr>
          <a:xfrm>
            <a:off x="923544" y="2240280"/>
            <a:ext cx="2468880" cy="329184"/>
          </a:xfrm>
          <a:prstGeom prst="rect">
            <a:avLst/>
          </a:prstGeom>
          <a:noFill/>
          <a:ln/>
        </p:spPr>
        <p:txBody>
          <a:bodyPr wrap="square" lIns="0" tIns="0" rIns="0" bIns="0" rtlCol="0" anchor="ctr"/>
          <a:lstStyle/>
          <a:p>
            <a:pPr indent="0" marL="0">
              <a:buNone/>
            </a:pPr>
            <a:r>
              <a:rPr lang="en-US" sz="950" b="1" spc="140" kern="0" dirty="0">
                <a:solidFill>
                  <a:srgbClr val="8C3A2B"/>
                </a:solidFill>
                <a:latin typeface="Calibri" pitchFamily="34" charset="0"/>
                <a:ea typeface="Calibri" pitchFamily="34" charset="-122"/>
                <a:cs typeface="Calibri" pitchFamily="34" charset="-120"/>
              </a:rPr>
              <a:t>VİZE 1 · 6. HAFTA</a:t>
            </a:r>
            <a:endParaRPr lang="en-US" sz="950" dirty="0"/>
          </a:p>
        </p:txBody>
      </p:sp>
      <p:sp>
        <p:nvSpPr>
          <p:cNvPr id="9" name="Text 7"/>
          <p:cNvSpPr txBox="1"/>
          <p:nvPr/>
        </p:nvSpPr>
        <p:spPr>
          <a:xfrm>
            <a:off x="3355848" y="2240280"/>
            <a:ext cx="566928" cy="329184"/>
          </a:xfrm>
          <a:prstGeom prst="rect">
            <a:avLst/>
          </a:prstGeom>
          <a:noFill/>
          <a:ln/>
        </p:spPr>
        <p:txBody>
          <a:bodyPr wrap="square" lIns="0" tIns="0" rIns="0" bIns="0" rtlCol="0" anchor="ctr"/>
          <a:lstStyle/>
          <a:p>
            <a:pPr algn="r" indent="0" marL="0">
              <a:buNone/>
            </a:pPr>
            <a:r>
              <a:rPr lang="en-US" sz="1300" b="1" dirty="0">
                <a:solidFill>
                  <a:srgbClr val="8C3A2B"/>
                </a:solidFill>
                <a:latin typeface="Cambria" pitchFamily="34" charset="0"/>
                <a:ea typeface="Cambria" pitchFamily="34" charset="-122"/>
                <a:cs typeface="Cambria" pitchFamily="34" charset="-120"/>
              </a:rPr>
              <a:t>%25</a:t>
            </a:r>
            <a:endParaRPr lang="en-US" sz="1300" dirty="0"/>
          </a:p>
        </p:txBody>
      </p:sp>
      <p:sp>
        <p:nvSpPr>
          <p:cNvPr id="10" name="Text 8"/>
          <p:cNvSpPr txBox="1"/>
          <p:nvPr/>
        </p:nvSpPr>
        <p:spPr>
          <a:xfrm>
            <a:off x="777240" y="2642616"/>
            <a:ext cx="3291840"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Analiz ve Konsept</a:t>
            </a:r>
            <a:endParaRPr lang="en-US" sz="1500" dirty="0"/>
          </a:p>
        </p:txBody>
      </p:sp>
      <p:sp>
        <p:nvSpPr>
          <p:cNvPr id="11" name="Shape 9"/>
          <p:cNvSpPr/>
          <p:nvPr/>
        </p:nvSpPr>
        <p:spPr>
          <a:xfrm>
            <a:off x="804672" y="3090672"/>
            <a:ext cx="91440" cy="91440"/>
          </a:xfrm>
          <a:prstGeom prst="ellipse">
            <a:avLst/>
          </a:prstGeom>
          <a:solidFill>
            <a:srgbClr val="B9B9C0"/>
          </a:solidFill>
          <a:ln w="12700">
            <a:solidFill>
              <a:srgbClr val="B9B9C0"/>
            </a:solidFill>
            <a:prstDash val="solid"/>
          </a:ln>
        </p:spPr>
      </p:sp>
      <p:sp>
        <p:nvSpPr>
          <p:cNvPr id="12" name="Text 10"/>
          <p:cNvSpPr txBox="1"/>
          <p:nvPr/>
        </p:nvSpPr>
        <p:spPr>
          <a:xfrm>
            <a:off x="1033272" y="2990088"/>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Marka anahtarı (8 başlık) + kanıt</a:t>
            </a:r>
            <a:endParaRPr lang="en-US" sz="1000" dirty="0"/>
          </a:p>
        </p:txBody>
      </p:sp>
      <p:sp>
        <p:nvSpPr>
          <p:cNvPr id="13" name="Shape 11"/>
          <p:cNvSpPr/>
          <p:nvPr/>
        </p:nvSpPr>
        <p:spPr>
          <a:xfrm>
            <a:off x="804672" y="3511296"/>
            <a:ext cx="91440" cy="91440"/>
          </a:xfrm>
          <a:prstGeom prst="ellipse">
            <a:avLst/>
          </a:prstGeom>
          <a:solidFill>
            <a:srgbClr val="B9B9C0"/>
          </a:solidFill>
          <a:ln w="12700">
            <a:solidFill>
              <a:srgbClr val="B9B9C0"/>
            </a:solidFill>
            <a:prstDash val="solid"/>
          </a:ln>
        </p:spPr>
      </p:sp>
      <p:sp>
        <p:nvSpPr>
          <p:cNvPr id="14" name="Text 12"/>
          <p:cNvSpPr txBox="1"/>
          <p:nvPr/>
        </p:nvSpPr>
        <p:spPr>
          <a:xfrm>
            <a:off x="1033272" y="3410712"/>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3 persona, biri ana persona</a:t>
            </a:r>
            <a:endParaRPr lang="en-US" sz="1000" dirty="0"/>
          </a:p>
        </p:txBody>
      </p:sp>
      <p:sp>
        <p:nvSpPr>
          <p:cNvPr id="15" name="Shape 13"/>
          <p:cNvSpPr/>
          <p:nvPr/>
        </p:nvSpPr>
        <p:spPr>
          <a:xfrm>
            <a:off x="804672" y="3931920"/>
            <a:ext cx="91440" cy="91440"/>
          </a:xfrm>
          <a:prstGeom prst="ellipse">
            <a:avLst/>
          </a:prstGeom>
          <a:solidFill>
            <a:srgbClr val="B9B9C0"/>
          </a:solidFill>
          <a:ln w="12700">
            <a:solidFill>
              <a:srgbClr val="B9B9C0"/>
            </a:solidFill>
            <a:prstDash val="solid"/>
          </a:ln>
        </p:spPr>
      </p:sp>
      <p:sp>
        <p:nvSpPr>
          <p:cNvPr id="16" name="Text 14"/>
          <p:cNvSpPr txBox="1"/>
          <p:nvPr/>
        </p:nvSpPr>
        <p:spPr>
          <a:xfrm>
            <a:off x="1033272" y="3831336"/>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Müşteri yolculuğu haritası — 6 modül</a:t>
            </a:r>
            <a:endParaRPr lang="en-US" sz="1000" dirty="0"/>
          </a:p>
        </p:txBody>
      </p:sp>
      <p:sp>
        <p:nvSpPr>
          <p:cNvPr id="17" name="Shape 15"/>
          <p:cNvSpPr/>
          <p:nvPr/>
        </p:nvSpPr>
        <p:spPr>
          <a:xfrm>
            <a:off x="804672" y="4352544"/>
            <a:ext cx="91440" cy="91440"/>
          </a:xfrm>
          <a:prstGeom prst="ellipse">
            <a:avLst/>
          </a:prstGeom>
          <a:solidFill>
            <a:srgbClr val="B9B9C0"/>
          </a:solidFill>
          <a:ln w="12700">
            <a:solidFill>
              <a:srgbClr val="B9B9C0"/>
            </a:solidFill>
            <a:prstDash val="solid"/>
          </a:ln>
        </p:spPr>
      </p:sp>
      <p:sp>
        <p:nvSpPr>
          <p:cNvPr id="18" name="Text 16"/>
          <p:cNvSpPr txBox="1"/>
          <p:nvPr/>
        </p:nvSpPr>
        <p:spPr>
          <a:xfrm>
            <a:off x="1033272" y="4251960"/>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3 anahtar kelime + karşılık matrisi</a:t>
            </a:r>
            <a:endParaRPr lang="en-US" sz="1000" dirty="0"/>
          </a:p>
        </p:txBody>
      </p:sp>
      <p:sp>
        <p:nvSpPr>
          <p:cNvPr id="19" name="Shape 17"/>
          <p:cNvSpPr/>
          <p:nvPr/>
        </p:nvSpPr>
        <p:spPr>
          <a:xfrm>
            <a:off x="804672" y="4773168"/>
            <a:ext cx="91440" cy="91440"/>
          </a:xfrm>
          <a:prstGeom prst="ellipse">
            <a:avLst/>
          </a:prstGeom>
          <a:solidFill>
            <a:srgbClr val="B9B9C0"/>
          </a:solidFill>
          <a:ln w="12700">
            <a:solidFill>
              <a:srgbClr val="B9B9C0"/>
            </a:solidFill>
            <a:prstDash val="solid"/>
          </a:ln>
        </p:spPr>
      </p:sp>
      <p:sp>
        <p:nvSpPr>
          <p:cNvPr id="20" name="Text 18"/>
          <p:cNvSpPr txBox="1"/>
          <p:nvPr/>
        </p:nvSpPr>
        <p:spPr>
          <a:xfrm>
            <a:off x="1033272" y="4672584"/>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Mekân analizi ve mekânsal program</a:t>
            </a:r>
            <a:endParaRPr lang="en-US" sz="1000" dirty="0"/>
          </a:p>
        </p:txBody>
      </p:sp>
      <p:sp>
        <p:nvSpPr>
          <p:cNvPr id="21" name="Shape 19"/>
          <p:cNvSpPr/>
          <p:nvPr/>
        </p:nvSpPr>
        <p:spPr>
          <a:xfrm>
            <a:off x="804672" y="5193792"/>
            <a:ext cx="91440" cy="91440"/>
          </a:xfrm>
          <a:prstGeom prst="ellipse">
            <a:avLst/>
          </a:prstGeom>
          <a:solidFill>
            <a:srgbClr val="B9B9C0"/>
          </a:solidFill>
          <a:ln w="12700">
            <a:solidFill>
              <a:srgbClr val="B9B9C0"/>
            </a:solidFill>
            <a:prstDash val="solid"/>
          </a:ln>
        </p:spPr>
      </p:sp>
      <p:sp>
        <p:nvSpPr>
          <p:cNvPr id="22" name="Text 20"/>
          <p:cNvSpPr txBox="1"/>
          <p:nvPr/>
        </p:nvSpPr>
        <p:spPr>
          <a:xfrm>
            <a:off x="1033272" y="5093208"/>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Konsept panosu, senaryo, kolaj</a:t>
            </a:r>
            <a:endParaRPr lang="en-US" sz="1000" dirty="0"/>
          </a:p>
        </p:txBody>
      </p:sp>
      <p:sp>
        <p:nvSpPr>
          <p:cNvPr id="23" name="Shape 21"/>
          <p:cNvSpPr/>
          <p:nvPr/>
        </p:nvSpPr>
        <p:spPr>
          <a:xfrm>
            <a:off x="804672" y="5614416"/>
            <a:ext cx="91440" cy="91440"/>
          </a:xfrm>
          <a:prstGeom prst="ellipse">
            <a:avLst/>
          </a:prstGeom>
          <a:solidFill>
            <a:srgbClr val="B9B9C0"/>
          </a:solidFill>
          <a:ln w="12700">
            <a:solidFill>
              <a:srgbClr val="B9B9C0"/>
            </a:solidFill>
            <a:prstDash val="solid"/>
          </a:ln>
        </p:spPr>
      </p:sp>
      <p:sp>
        <p:nvSpPr>
          <p:cNvPr id="24" name="Text 22"/>
          <p:cNvSpPr txBox="1"/>
          <p:nvPr/>
        </p:nvSpPr>
        <p:spPr>
          <a:xfrm>
            <a:off x="1033272" y="5513832"/>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1/100 plan (zoning) ve 1 kesit</a:t>
            </a:r>
            <a:endParaRPr lang="en-US" sz="1000" dirty="0"/>
          </a:p>
        </p:txBody>
      </p:sp>
      <p:sp>
        <p:nvSpPr>
          <p:cNvPr id="25" name="Shape 23"/>
          <p:cNvSpPr/>
          <p:nvPr/>
        </p:nvSpPr>
        <p:spPr>
          <a:xfrm>
            <a:off x="4453128" y="2240280"/>
            <a:ext cx="3291840" cy="329184"/>
          </a:xfrm>
          <a:prstGeom prst="rect">
            <a:avLst/>
          </a:prstGeom>
          <a:solidFill>
            <a:srgbClr val="F6EAE6"/>
          </a:solidFill>
          <a:ln/>
        </p:spPr>
      </p:sp>
      <p:sp>
        <p:nvSpPr>
          <p:cNvPr id="26" name="Text 24"/>
          <p:cNvSpPr txBox="1"/>
          <p:nvPr/>
        </p:nvSpPr>
        <p:spPr>
          <a:xfrm>
            <a:off x="4599432" y="2240280"/>
            <a:ext cx="2468880" cy="329184"/>
          </a:xfrm>
          <a:prstGeom prst="rect">
            <a:avLst/>
          </a:prstGeom>
          <a:noFill/>
          <a:ln/>
        </p:spPr>
        <p:txBody>
          <a:bodyPr wrap="square" lIns="0" tIns="0" rIns="0" bIns="0" rtlCol="0" anchor="ctr"/>
          <a:lstStyle/>
          <a:p>
            <a:pPr indent="0" marL="0">
              <a:buNone/>
            </a:pPr>
            <a:r>
              <a:rPr lang="en-US" sz="950" b="1" spc="140" kern="0" dirty="0">
                <a:solidFill>
                  <a:srgbClr val="8C3A2B"/>
                </a:solidFill>
                <a:latin typeface="Calibri" pitchFamily="34" charset="0"/>
                <a:ea typeface="Calibri" pitchFamily="34" charset="-122"/>
                <a:cs typeface="Calibri" pitchFamily="34" charset="-120"/>
              </a:rPr>
              <a:t>VİZE 2 · 11. HAFTA</a:t>
            </a:r>
            <a:endParaRPr lang="en-US" sz="950" dirty="0"/>
          </a:p>
        </p:txBody>
      </p:sp>
      <p:sp>
        <p:nvSpPr>
          <p:cNvPr id="27" name="Text 25"/>
          <p:cNvSpPr txBox="1"/>
          <p:nvPr/>
        </p:nvSpPr>
        <p:spPr>
          <a:xfrm>
            <a:off x="7031736" y="2240280"/>
            <a:ext cx="566928" cy="329184"/>
          </a:xfrm>
          <a:prstGeom prst="rect">
            <a:avLst/>
          </a:prstGeom>
          <a:noFill/>
          <a:ln/>
        </p:spPr>
        <p:txBody>
          <a:bodyPr wrap="square" lIns="0" tIns="0" rIns="0" bIns="0" rtlCol="0" anchor="ctr"/>
          <a:lstStyle/>
          <a:p>
            <a:pPr algn="r" indent="0" marL="0">
              <a:buNone/>
            </a:pPr>
            <a:r>
              <a:rPr lang="en-US" sz="1300" b="1" dirty="0">
                <a:solidFill>
                  <a:srgbClr val="8C3A2B"/>
                </a:solidFill>
                <a:latin typeface="Cambria" pitchFamily="34" charset="0"/>
                <a:ea typeface="Cambria" pitchFamily="34" charset="-122"/>
                <a:cs typeface="Cambria" pitchFamily="34" charset="-120"/>
              </a:rPr>
              <a:t>%25</a:t>
            </a:r>
            <a:endParaRPr lang="en-US" sz="1300" dirty="0"/>
          </a:p>
        </p:txBody>
      </p:sp>
      <p:sp>
        <p:nvSpPr>
          <p:cNvPr id="28" name="Text 26"/>
          <p:cNvSpPr txBox="1"/>
          <p:nvPr/>
        </p:nvSpPr>
        <p:spPr>
          <a:xfrm>
            <a:off x="4453128" y="2642616"/>
            <a:ext cx="3291840"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Somutlaştırma</a:t>
            </a:r>
            <a:endParaRPr lang="en-US" sz="1500" dirty="0"/>
          </a:p>
        </p:txBody>
      </p:sp>
      <p:sp>
        <p:nvSpPr>
          <p:cNvPr id="29" name="Shape 27"/>
          <p:cNvSpPr/>
          <p:nvPr/>
        </p:nvSpPr>
        <p:spPr>
          <a:xfrm>
            <a:off x="4480560" y="3090672"/>
            <a:ext cx="91440" cy="91440"/>
          </a:xfrm>
          <a:prstGeom prst="ellipse">
            <a:avLst/>
          </a:prstGeom>
          <a:solidFill>
            <a:srgbClr val="B9B9C0"/>
          </a:solidFill>
          <a:ln w="12700">
            <a:solidFill>
              <a:srgbClr val="B9B9C0"/>
            </a:solidFill>
            <a:prstDash val="solid"/>
          </a:ln>
        </p:spPr>
      </p:sp>
      <p:sp>
        <p:nvSpPr>
          <p:cNvPr id="30" name="Text 28"/>
          <p:cNvSpPr txBox="1"/>
          <p:nvPr/>
        </p:nvSpPr>
        <p:spPr>
          <a:xfrm>
            <a:off x="4709160" y="2990088"/>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Revize konsept</a:t>
            </a:r>
            <a:endParaRPr lang="en-US" sz="1000" dirty="0"/>
          </a:p>
        </p:txBody>
      </p:sp>
      <p:sp>
        <p:nvSpPr>
          <p:cNvPr id="31" name="Shape 29"/>
          <p:cNvSpPr/>
          <p:nvPr/>
        </p:nvSpPr>
        <p:spPr>
          <a:xfrm>
            <a:off x="4480560" y="3511296"/>
            <a:ext cx="91440" cy="91440"/>
          </a:xfrm>
          <a:prstGeom prst="ellipse">
            <a:avLst/>
          </a:prstGeom>
          <a:solidFill>
            <a:srgbClr val="B9B9C0"/>
          </a:solidFill>
          <a:ln w="12700">
            <a:solidFill>
              <a:srgbClr val="B9B9C0"/>
            </a:solidFill>
            <a:prstDash val="solid"/>
          </a:ln>
        </p:spPr>
      </p:sp>
      <p:sp>
        <p:nvSpPr>
          <p:cNvPr id="32" name="Text 30"/>
          <p:cNvSpPr txBox="1"/>
          <p:nvPr/>
        </p:nvSpPr>
        <p:spPr>
          <a:xfrm>
            <a:off x="4709160" y="3410712"/>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1/50 tam set: plan, min. 2 kesit, cephe</a:t>
            </a:r>
            <a:endParaRPr lang="en-US" sz="1000" dirty="0"/>
          </a:p>
        </p:txBody>
      </p:sp>
      <p:sp>
        <p:nvSpPr>
          <p:cNvPr id="33" name="Shape 31"/>
          <p:cNvSpPr/>
          <p:nvPr/>
        </p:nvSpPr>
        <p:spPr>
          <a:xfrm>
            <a:off x="4480560" y="3931920"/>
            <a:ext cx="91440" cy="91440"/>
          </a:xfrm>
          <a:prstGeom prst="ellipse">
            <a:avLst/>
          </a:prstGeom>
          <a:solidFill>
            <a:srgbClr val="B9B9C0"/>
          </a:solidFill>
          <a:ln w="12700">
            <a:solidFill>
              <a:srgbClr val="B9B9C0"/>
            </a:solidFill>
            <a:prstDash val="solid"/>
          </a:ln>
        </p:spPr>
      </p:sp>
      <p:sp>
        <p:nvSpPr>
          <p:cNvPr id="34" name="Text 32"/>
          <p:cNvSpPr txBox="1"/>
          <p:nvPr/>
        </p:nvSpPr>
        <p:spPr>
          <a:xfrm>
            <a:off x="4709160" y="3831336"/>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1/50 tavan ve aydınlatma planı</a:t>
            </a:r>
            <a:endParaRPr lang="en-US" sz="1000" dirty="0"/>
          </a:p>
        </p:txBody>
      </p:sp>
      <p:sp>
        <p:nvSpPr>
          <p:cNvPr id="35" name="Shape 33"/>
          <p:cNvSpPr/>
          <p:nvPr/>
        </p:nvSpPr>
        <p:spPr>
          <a:xfrm>
            <a:off x="4480560" y="4352544"/>
            <a:ext cx="91440" cy="91440"/>
          </a:xfrm>
          <a:prstGeom prst="ellipse">
            <a:avLst/>
          </a:prstGeom>
          <a:solidFill>
            <a:srgbClr val="B9B9C0"/>
          </a:solidFill>
          <a:ln w="12700">
            <a:solidFill>
              <a:srgbClr val="B9B9C0"/>
            </a:solidFill>
            <a:prstDash val="solid"/>
          </a:ln>
        </p:spPr>
      </p:sp>
      <p:sp>
        <p:nvSpPr>
          <p:cNvPr id="36" name="Text 34"/>
          <p:cNvSpPr txBox="1"/>
          <p:nvPr/>
        </p:nvSpPr>
        <p:spPr>
          <a:xfrm>
            <a:off x="4709160" y="4251960"/>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Arka ofis ve kasa çözümü</a:t>
            </a:r>
            <a:endParaRPr lang="en-US" sz="1000" dirty="0"/>
          </a:p>
        </p:txBody>
      </p:sp>
      <p:sp>
        <p:nvSpPr>
          <p:cNvPr id="37" name="Shape 35"/>
          <p:cNvSpPr/>
          <p:nvPr/>
        </p:nvSpPr>
        <p:spPr>
          <a:xfrm>
            <a:off x="4480560" y="4773168"/>
            <a:ext cx="91440" cy="91440"/>
          </a:xfrm>
          <a:prstGeom prst="ellipse">
            <a:avLst/>
          </a:prstGeom>
          <a:solidFill>
            <a:srgbClr val="B9B9C0"/>
          </a:solidFill>
          <a:ln w="12700">
            <a:solidFill>
              <a:srgbClr val="B9B9C0"/>
            </a:solidFill>
            <a:prstDash val="solid"/>
          </a:ln>
        </p:spPr>
      </p:sp>
      <p:sp>
        <p:nvSpPr>
          <p:cNvPr id="38" name="Text 36"/>
          <p:cNvSpPr txBox="1"/>
          <p:nvPr/>
        </p:nvSpPr>
        <p:spPr>
          <a:xfrm>
            <a:off x="4709160" y="4672584"/>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Yönlendirme şeması</a:t>
            </a:r>
            <a:endParaRPr lang="en-US" sz="1000" dirty="0"/>
          </a:p>
        </p:txBody>
      </p:sp>
      <p:sp>
        <p:nvSpPr>
          <p:cNvPr id="39" name="Shape 37"/>
          <p:cNvSpPr/>
          <p:nvPr/>
        </p:nvSpPr>
        <p:spPr>
          <a:xfrm>
            <a:off x="4480560" y="5193792"/>
            <a:ext cx="91440" cy="91440"/>
          </a:xfrm>
          <a:prstGeom prst="ellipse">
            <a:avLst/>
          </a:prstGeom>
          <a:solidFill>
            <a:srgbClr val="B9B9C0"/>
          </a:solidFill>
          <a:ln w="12700">
            <a:solidFill>
              <a:srgbClr val="B9B9C0"/>
            </a:solidFill>
            <a:prstDash val="solid"/>
          </a:ln>
        </p:spPr>
      </p:sp>
      <p:sp>
        <p:nvSpPr>
          <p:cNvPr id="40" name="Text 38"/>
          <p:cNvSpPr txBox="1"/>
          <p:nvPr/>
        </p:nvSpPr>
        <p:spPr>
          <a:xfrm>
            <a:off x="4709160" y="5093208"/>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Fiziksel malzeme paneli</a:t>
            </a:r>
            <a:endParaRPr lang="en-US" sz="1000" dirty="0"/>
          </a:p>
        </p:txBody>
      </p:sp>
      <p:sp>
        <p:nvSpPr>
          <p:cNvPr id="41" name="Shape 39"/>
          <p:cNvSpPr/>
          <p:nvPr/>
        </p:nvSpPr>
        <p:spPr>
          <a:xfrm>
            <a:off x="4480560" y="5614416"/>
            <a:ext cx="91440" cy="91440"/>
          </a:xfrm>
          <a:prstGeom prst="ellipse">
            <a:avLst/>
          </a:prstGeom>
          <a:solidFill>
            <a:srgbClr val="B9B9C0"/>
          </a:solidFill>
          <a:ln w="12700">
            <a:solidFill>
              <a:srgbClr val="B9B9C0"/>
            </a:solidFill>
            <a:prstDash val="solid"/>
          </a:ln>
        </p:spPr>
      </p:sp>
      <p:sp>
        <p:nvSpPr>
          <p:cNvPr id="42" name="Text 40"/>
          <p:cNvSpPr txBox="1"/>
          <p:nvPr/>
        </p:nvSpPr>
        <p:spPr>
          <a:xfrm>
            <a:off x="4709160" y="5513832"/>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Min. 3 iç mekân 3B görseli</a:t>
            </a:r>
            <a:endParaRPr lang="en-US" sz="1000" dirty="0"/>
          </a:p>
        </p:txBody>
      </p:sp>
      <p:sp>
        <p:nvSpPr>
          <p:cNvPr id="43" name="Shape 41"/>
          <p:cNvSpPr/>
          <p:nvPr/>
        </p:nvSpPr>
        <p:spPr>
          <a:xfrm>
            <a:off x="8129016" y="2240280"/>
            <a:ext cx="3291840" cy="329184"/>
          </a:xfrm>
          <a:prstGeom prst="rect">
            <a:avLst/>
          </a:prstGeom>
          <a:solidFill>
            <a:srgbClr val="8C3A2B"/>
          </a:solidFill>
          <a:ln/>
        </p:spPr>
      </p:sp>
      <p:sp>
        <p:nvSpPr>
          <p:cNvPr id="44" name="Text 42"/>
          <p:cNvSpPr txBox="1"/>
          <p:nvPr/>
        </p:nvSpPr>
        <p:spPr>
          <a:xfrm>
            <a:off x="8275320" y="2240280"/>
            <a:ext cx="2468880" cy="329184"/>
          </a:xfrm>
          <a:prstGeom prst="rect">
            <a:avLst/>
          </a:prstGeom>
          <a:noFill/>
          <a:ln/>
        </p:spPr>
        <p:txBody>
          <a:bodyPr wrap="square" lIns="0" tIns="0" rIns="0" bIns="0" rtlCol="0" anchor="ctr"/>
          <a:lstStyle/>
          <a:p>
            <a:pPr indent="0" marL="0">
              <a:buNone/>
            </a:pPr>
            <a:r>
              <a:rPr lang="en-US" sz="950" b="1" spc="140" kern="0" dirty="0">
                <a:solidFill>
                  <a:srgbClr val="FFFFFF"/>
                </a:solidFill>
                <a:latin typeface="Calibri" pitchFamily="34" charset="0"/>
                <a:ea typeface="Calibri" pitchFamily="34" charset="-122"/>
                <a:cs typeface="Calibri" pitchFamily="34" charset="-120"/>
              </a:rPr>
              <a:t>FİNAL · AYRI HAFTA</a:t>
            </a:r>
            <a:endParaRPr lang="en-US" sz="950" dirty="0"/>
          </a:p>
        </p:txBody>
      </p:sp>
      <p:sp>
        <p:nvSpPr>
          <p:cNvPr id="45" name="Text 43"/>
          <p:cNvSpPr txBox="1"/>
          <p:nvPr/>
        </p:nvSpPr>
        <p:spPr>
          <a:xfrm>
            <a:off x="10707624" y="2240280"/>
            <a:ext cx="566928" cy="329184"/>
          </a:xfrm>
          <a:prstGeom prst="rect">
            <a:avLst/>
          </a:prstGeom>
          <a:noFill/>
          <a:ln/>
        </p:spPr>
        <p:txBody>
          <a:bodyPr wrap="square" lIns="0" tIns="0" rIns="0" bIns="0" rtlCol="0" anchor="ctr"/>
          <a:lstStyle/>
          <a:p>
            <a:pPr algn="r" indent="0" marL="0">
              <a:buNone/>
            </a:pPr>
            <a:r>
              <a:rPr lang="en-US" sz="1300" b="1" dirty="0">
                <a:solidFill>
                  <a:srgbClr val="FFFFFF"/>
                </a:solidFill>
                <a:latin typeface="Cambria" pitchFamily="34" charset="0"/>
                <a:ea typeface="Cambria" pitchFamily="34" charset="-122"/>
                <a:cs typeface="Cambria" pitchFamily="34" charset="-120"/>
              </a:rPr>
              <a:t>%30</a:t>
            </a:r>
            <a:endParaRPr lang="en-US" sz="1300" dirty="0"/>
          </a:p>
        </p:txBody>
      </p:sp>
      <p:sp>
        <p:nvSpPr>
          <p:cNvPr id="46" name="Text 44"/>
          <p:cNvSpPr txBox="1"/>
          <p:nvPr/>
        </p:nvSpPr>
        <p:spPr>
          <a:xfrm>
            <a:off x="8129016" y="2642616"/>
            <a:ext cx="3291840"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Detay</a:t>
            </a:r>
            <a:endParaRPr lang="en-US" sz="1500" dirty="0"/>
          </a:p>
        </p:txBody>
      </p:sp>
      <p:sp>
        <p:nvSpPr>
          <p:cNvPr id="47" name="Shape 45"/>
          <p:cNvSpPr/>
          <p:nvPr/>
        </p:nvSpPr>
        <p:spPr>
          <a:xfrm>
            <a:off x="8156448" y="3090672"/>
            <a:ext cx="91440" cy="91440"/>
          </a:xfrm>
          <a:prstGeom prst="ellipse">
            <a:avLst/>
          </a:prstGeom>
          <a:solidFill>
            <a:srgbClr val="8C3A2B"/>
          </a:solidFill>
          <a:ln w="12700">
            <a:solidFill>
              <a:srgbClr val="8C3A2B"/>
            </a:solidFill>
            <a:prstDash val="solid"/>
          </a:ln>
        </p:spPr>
      </p:sp>
      <p:sp>
        <p:nvSpPr>
          <p:cNvPr id="48" name="Text 46"/>
          <p:cNvSpPr txBox="1"/>
          <p:nvPr/>
        </p:nvSpPr>
        <p:spPr>
          <a:xfrm>
            <a:off x="8385048" y="2990088"/>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Analiz–konsept özeti, matris, imza anlar</a:t>
            </a:r>
            <a:endParaRPr lang="en-US" sz="1000" dirty="0"/>
          </a:p>
        </p:txBody>
      </p:sp>
      <p:sp>
        <p:nvSpPr>
          <p:cNvPr id="49" name="Shape 47"/>
          <p:cNvSpPr/>
          <p:nvPr/>
        </p:nvSpPr>
        <p:spPr>
          <a:xfrm>
            <a:off x="8156448" y="3511296"/>
            <a:ext cx="91440" cy="91440"/>
          </a:xfrm>
          <a:prstGeom prst="ellipse">
            <a:avLst/>
          </a:prstGeom>
          <a:solidFill>
            <a:srgbClr val="8C3A2B"/>
          </a:solidFill>
          <a:ln w="12700">
            <a:solidFill>
              <a:srgbClr val="8C3A2B"/>
            </a:solidFill>
            <a:prstDash val="solid"/>
          </a:ln>
        </p:spPr>
      </p:sp>
      <p:sp>
        <p:nvSpPr>
          <p:cNvPr id="50" name="Text 48"/>
          <p:cNvSpPr txBox="1"/>
          <p:nvPr/>
        </p:nvSpPr>
        <p:spPr>
          <a:xfrm>
            <a:off x="8385048" y="3410712"/>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1/50 plan, min. 2 kesit, cephe, tavan planı</a:t>
            </a:r>
            <a:endParaRPr lang="en-US" sz="1000" dirty="0"/>
          </a:p>
        </p:txBody>
      </p:sp>
      <p:sp>
        <p:nvSpPr>
          <p:cNvPr id="51" name="Shape 49"/>
          <p:cNvSpPr/>
          <p:nvPr/>
        </p:nvSpPr>
        <p:spPr>
          <a:xfrm>
            <a:off x="8156448" y="3931920"/>
            <a:ext cx="91440" cy="91440"/>
          </a:xfrm>
          <a:prstGeom prst="ellipse">
            <a:avLst/>
          </a:prstGeom>
          <a:solidFill>
            <a:srgbClr val="8C3A2B"/>
          </a:solidFill>
          <a:ln w="12700">
            <a:solidFill>
              <a:srgbClr val="8C3A2B"/>
            </a:solidFill>
            <a:prstDash val="solid"/>
          </a:ln>
        </p:spPr>
      </p:sp>
      <p:sp>
        <p:nvSpPr>
          <p:cNvPr id="52" name="Text 50"/>
          <p:cNvSpPr txBox="1"/>
          <p:nvPr/>
        </p:nvSpPr>
        <p:spPr>
          <a:xfrm>
            <a:off x="8385048" y="3831336"/>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1/20 kısmi plan ve kesit</a:t>
            </a:r>
            <a:endParaRPr lang="en-US" sz="1000" dirty="0"/>
          </a:p>
        </p:txBody>
      </p:sp>
      <p:sp>
        <p:nvSpPr>
          <p:cNvPr id="53" name="Shape 51"/>
          <p:cNvSpPr/>
          <p:nvPr/>
        </p:nvSpPr>
        <p:spPr>
          <a:xfrm>
            <a:off x="8156448" y="4352544"/>
            <a:ext cx="91440" cy="91440"/>
          </a:xfrm>
          <a:prstGeom prst="ellipse">
            <a:avLst/>
          </a:prstGeom>
          <a:solidFill>
            <a:srgbClr val="8C3A2B"/>
          </a:solidFill>
          <a:ln w="12700">
            <a:solidFill>
              <a:srgbClr val="8C3A2B"/>
            </a:solidFill>
            <a:prstDash val="solid"/>
          </a:ln>
        </p:spPr>
      </p:sp>
      <p:sp>
        <p:nvSpPr>
          <p:cNvPr id="54" name="Text 52"/>
          <p:cNvSpPr txBox="1"/>
          <p:nvPr/>
        </p:nvSpPr>
        <p:spPr>
          <a:xfrm>
            <a:off x="8385048" y="4251960"/>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Min. 1 adet 1/10–1/5 teşhir detayı</a:t>
            </a:r>
            <a:endParaRPr lang="en-US" sz="1000" dirty="0"/>
          </a:p>
        </p:txBody>
      </p:sp>
      <p:sp>
        <p:nvSpPr>
          <p:cNvPr id="55" name="Shape 53"/>
          <p:cNvSpPr/>
          <p:nvPr/>
        </p:nvSpPr>
        <p:spPr>
          <a:xfrm>
            <a:off x="8156448" y="4773168"/>
            <a:ext cx="91440" cy="91440"/>
          </a:xfrm>
          <a:prstGeom prst="ellipse">
            <a:avLst/>
          </a:prstGeom>
          <a:solidFill>
            <a:srgbClr val="8C3A2B"/>
          </a:solidFill>
          <a:ln w="12700">
            <a:solidFill>
              <a:srgbClr val="8C3A2B"/>
            </a:solidFill>
            <a:prstDash val="solid"/>
          </a:ln>
        </p:spPr>
      </p:sp>
      <p:sp>
        <p:nvSpPr>
          <p:cNvPr id="56" name="Text 54"/>
          <p:cNvSpPr txBox="1"/>
          <p:nvPr/>
        </p:nvSpPr>
        <p:spPr>
          <a:xfrm>
            <a:off x="8385048" y="4672584"/>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Malzeme paneli ve lejant</a:t>
            </a:r>
            <a:endParaRPr lang="en-US" sz="1000" dirty="0"/>
          </a:p>
        </p:txBody>
      </p:sp>
      <p:sp>
        <p:nvSpPr>
          <p:cNvPr id="57" name="Shape 55"/>
          <p:cNvSpPr/>
          <p:nvPr/>
        </p:nvSpPr>
        <p:spPr>
          <a:xfrm>
            <a:off x="8156448" y="5193792"/>
            <a:ext cx="91440" cy="91440"/>
          </a:xfrm>
          <a:prstGeom prst="ellipse">
            <a:avLst/>
          </a:prstGeom>
          <a:solidFill>
            <a:srgbClr val="8C3A2B"/>
          </a:solidFill>
          <a:ln w="12700">
            <a:solidFill>
              <a:srgbClr val="8C3A2B"/>
            </a:solidFill>
            <a:prstDash val="solid"/>
          </a:ln>
        </p:spPr>
      </p:sp>
      <p:sp>
        <p:nvSpPr>
          <p:cNvPr id="58" name="Text 56"/>
          <p:cNvSpPr txBox="1"/>
          <p:nvPr/>
        </p:nvSpPr>
        <p:spPr>
          <a:xfrm>
            <a:off x="8385048" y="5093208"/>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Min. 5 iç mekân + 1 gece cephesi görseli</a:t>
            </a:r>
            <a:endParaRPr lang="en-US" sz="1000" dirty="0"/>
          </a:p>
        </p:txBody>
      </p:sp>
      <p:sp>
        <p:nvSpPr>
          <p:cNvPr id="59" name="Shape 57"/>
          <p:cNvSpPr/>
          <p:nvPr/>
        </p:nvSpPr>
        <p:spPr>
          <a:xfrm>
            <a:off x="8156448" y="5614416"/>
            <a:ext cx="91440" cy="91440"/>
          </a:xfrm>
          <a:prstGeom prst="ellipse">
            <a:avLst/>
          </a:prstGeom>
          <a:solidFill>
            <a:srgbClr val="8C3A2B"/>
          </a:solidFill>
          <a:ln w="12700">
            <a:solidFill>
              <a:srgbClr val="8C3A2B"/>
            </a:solidFill>
            <a:prstDash val="solid"/>
          </a:ln>
        </p:spPr>
      </p:sp>
      <p:sp>
        <p:nvSpPr>
          <p:cNvPr id="60" name="Text 58"/>
          <p:cNvSpPr txBox="1"/>
          <p:nvPr/>
        </p:nvSpPr>
        <p:spPr>
          <a:xfrm>
            <a:off x="8385048" y="5513832"/>
            <a:ext cx="3035808" cy="402336"/>
          </a:xfrm>
          <a:prstGeom prst="rect">
            <a:avLst/>
          </a:prstGeom>
          <a:noFill/>
          <a:ln/>
        </p:spPr>
        <p:txBody>
          <a:bodyPr wrap="square" lIns="0" tIns="0" rIns="0" bIns="0" rtlCol="0" anchor="ctr"/>
          <a:lstStyle/>
          <a:p>
            <a:pPr indent="0" marL="0">
              <a:lnSpc>
                <a:spcPts val="1250"/>
              </a:lnSpc>
              <a:buNone/>
            </a:pPr>
            <a:r>
              <a:rPr lang="en-US" sz="1000" dirty="0">
                <a:solidFill>
                  <a:srgbClr val="2B2B31"/>
                </a:solidFill>
                <a:latin typeface="Calibri" pitchFamily="34" charset="0"/>
                <a:ea typeface="Calibri" pitchFamily="34" charset="-122"/>
                <a:cs typeface="Calibri" pitchFamily="34" charset="-120"/>
              </a:rPr>
              <a:t>Fiziksel maket, erişilebilirlik notu</a:t>
            </a:r>
            <a:endParaRPr lang="en-US" sz="1000" dirty="0"/>
          </a:p>
        </p:txBody>
      </p:sp>
      <p:sp>
        <p:nvSpPr>
          <p:cNvPr id="61" name="Text 59"/>
          <p:cNvSpPr txBox="1"/>
          <p:nvPr/>
        </p:nvSpPr>
        <p:spPr>
          <a:xfrm>
            <a:off x="777240" y="5870448"/>
            <a:ext cx="10634472" cy="41148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Ayrıca 3. haftada araştırma sunumu (%10) ve yarıyıl boyunca stüdyo süreç performansı (%10) değerlendirilir. Jüriye katılım ve sözlü sunum zorunludur.</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VIII · DEĞERLENDİRME</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Jüri neyi ölçüyor? Yirmi bir ifade</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38</a:t>
            </a:r>
            <a:endParaRPr lang="en-US" sz="900" dirty="0"/>
          </a:p>
        </p:txBody>
      </p:sp>
      <p:sp>
        <p:nvSpPr>
          <p:cNvPr id="6" name="Text 4"/>
          <p:cNvSpPr txBox="1"/>
          <p:nvPr/>
        </p:nvSpPr>
        <p:spPr>
          <a:xfrm>
            <a:off x="777240" y="1664208"/>
            <a:ext cx="10634472" cy="512064"/>
          </a:xfrm>
          <a:prstGeom prst="rect">
            <a:avLst/>
          </a:prstGeom>
          <a:noFill/>
          <a:ln/>
        </p:spPr>
        <p:txBody>
          <a:bodyPr wrap="square" lIns="0" tIns="0" rIns="0" bIns="0" rtlCol="0" anchor="ctr"/>
          <a:lstStyle/>
          <a:p>
            <a:pPr indent="0" marL="0">
              <a:lnSpc>
                <a:spcPts val="2200"/>
              </a:lnSpc>
              <a:buNone/>
            </a:pPr>
            <a:r>
              <a:rPr lang="en-US" sz="1300" dirty="0">
                <a:solidFill>
                  <a:srgbClr val="2B2B31"/>
                </a:solidFill>
                <a:latin typeface="Cambria" pitchFamily="34" charset="0"/>
                <a:ea typeface="Cambria" pitchFamily="34" charset="-122"/>
                <a:cs typeface="Cambria" pitchFamily="34" charset="-120"/>
              </a:rPr>
              <a:t>Aşağıdaki ifadeler, aynı çerçevenin uygulandığı stüdyoda projelerin yeniden puanlanmasında kullanıldı. Her ifade 1–5 arası puanlanır. Sizin projeniz de bu ifadelerle okunacak.</a:t>
            </a:r>
            <a:endParaRPr lang="en-US" sz="1300" dirty="0"/>
          </a:p>
        </p:txBody>
      </p:sp>
      <p:sp>
        <p:nvSpPr>
          <p:cNvPr id="7" name="Text 5"/>
          <p:cNvSpPr txBox="1"/>
          <p:nvPr/>
        </p:nvSpPr>
        <p:spPr>
          <a:xfrm>
            <a:off x="777240" y="2212848"/>
            <a:ext cx="257860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MARKA ANALİZİ</a:t>
            </a:r>
            <a:endParaRPr lang="en-US" sz="850" dirty="0"/>
          </a:p>
        </p:txBody>
      </p:sp>
      <p:sp>
        <p:nvSpPr>
          <p:cNvPr id="8" name="Text 6"/>
          <p:cNvSpPr txBox="1"/>
          <p:nvPr/>
        </p:nvSpPr>
        <p:spPr>
          <a:xfrm>
            <a:off x="3355848" y="2212848"/>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1</a:t>
            </a:r>
            <a:endParaRPr lang="en-US" sz="800" dirty="0"/>
          </a:p>
        </p:txBody>
      </p:sp>
      <p:sp>
        <p:nvSpPr>
          <p:cNvPr id="9" name="Shape 7"/>
          <p:cNvSpPr/>
          <p:nvPr/>
        </p:nvSpPr>
        <p:spPr>
          <a:xfrm>
            <a:off x="777240" y="2423160"/>
            <a:ext cx="3310128" cy="0"/>
          </a:xfrm>
          <a:prstGeom prst="line">
            <a:avLst/>
          </a:prstGeom>
          <a:noFill/>
          <a:ln w="10795">
            <a:solidFill>
              <a:srgbClr val="EBD7D1"/>
            </a:solidFill>
            <a:prstDash val="solid"/>
          </a:ln>
        </p:spPr>
      </p:sp>
      <p:sp>
        <p:nvSpPr>
          <p:cNvPr id="10" name="Text 8"/>
          <p:cNvSpPr txBox="1"/>
          <p:nvPr/>
        </p:nvSpPr>
        <p:spPr>
          <a:xfrm>
            <a:off x="777240" y="2514600"/>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a:t>
            </a:r>
            <a:endParaRPr lang="en-US" sz="800" dirty="0"/>
          </a:p>
        </p:txBody>
      </p:sp>
      <p:sp>
        <p:nvSpPr>
          <p:cNvPr id="11" name="Text 9"/>
          <p:cNvSpPr txBox="1"/>
          <p:nvPr/>
        </p:nvSpPr>
        <p:spPr>
          <a:xfrm>
            <a:off x="1051560" y="2487168"/>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Markanın hedefleri projede doğru belirlenmiş.</a:t>
            </a:r>
            <a:endParaRPr lang="en-US" sz="900" dirty="0"/>
          </a:p>
        </p:txBody>
      </p:sp>
      <p:sp>
        <p:nvSpPr>
          <p:cNvPr id="12" name="Text 10"/>
          <p:cNvSpPr txBox="1"/>
          <p:nvPr/>
        </p:nvSpPr>
        <p:spPr>
          <a:xfrm>
            <a:off x="777240" y="2852928"/>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2</a:t>
            </a:r>
            <a:endParaRPr lang="en-US" sz="800" dirty="0"/>
          </a:p>
        </p:txBody>
      </p:sp>
      <p:sp>
        <p:nvSpPr>
          <p:cNvPr id="13" name="Text 11"/>
          <p:cNvSpPr txBox="1"/>
          <p:nvPr/>
        </p:nvSpPr>
        <p:spPr>
          <a:xfrm>
            <a:off x="1051560" y="2825496"/>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Analiz edilen marka kimliği proje alanının kimliğiyle uyumlu.</a:t>
            </a:r>
            <a:endParaRPr lang="en-US" sz="900" dirty="0"/>
          </a:p>
        </p:txBody>
      </p:sp>
      <p:sp>
        <p:nvSpPr>
          <p:cNvPr id="14" name="Text 12"/>
          <p:cNvSpPr txBox="1"/>
          <p:nvPr/>
        </p:nvSpPr>
        <p:spPr>
          <a:xfrm>
            <a:off x="777240" y="3191256"/>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3</a:t>
            </a:r>
            <a:endParaRPr lang="en-US" sz="800" dirty="0"/>
          </a:p>
        </p:txBody>
      </p:sp>
      <p:sp>
        <p:nvSpPr>
          <p:cNvPr id="15" name="Text 13"/>
          <p:cNvSpPr txBox="1"/>
          <p:nvPr/>
        </p:nvSpPr>
        <p:spPr>
          <a:xfrm>
            <a:off x="1051560" y="3163824"/>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Geliştirilen konsept, seçilen markanın kimliğiyle örtüşüyor.</a:t>
            </a:r>
            <a:endParaRPr lang="en-US" sz="900" dirty="0"/>
          </a:p>
        </p:txBody>
      </p:sp>
      <p:sp>
        <p:nvSpPr>
          <p:cNvPr id="16" name="Text 14"/>
          <p:cNvSpPr txBox="1"/>
          <p:nvPr/>
        </p:nvSpPr>
        <p:spPr>
          <a:xfrm>
            <a:off x="777240" y="3703320"/>
            <a:ext cx="257860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PERSONA</a:t>
            </a:r>
            <a:endParaRPr lang="en-US" sz="850" dirty="0"/>
          </a:p>
        </p:txBody>
      </p:sp>
      <p:sp>
        <p:nvSpPr>
          <p:cNvPr id="17" name="Text 15"/>
          <p:cNvSpPr txBox="1"/>
          <p:nvPr/>
        </p:nvSpPr>
        <p:spPr>
          <a:xfrm>
            <a:off x="3355848" y="3703320"/>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1</a:t>
            </a:r>
            <a:endParaRPr lang="en-US" sz="800" dirty="0"/>
          </a:p>
        </p:txBody>
      </p:sp>
      <p:sp>
        <p:nvSpPr>
          <p:cNvPr id="18" name="Shape 16"/>
          <p:cNvSpPr/>
          <p:nvPr/>
        </p:nvSpPr>
        <p:spPr>
          <a:xfrm>
            <a:off x="777240" y="3913632"/>
            <a:ext cx="3310128" cy="0"/>
          </a:xfrm>
          <a:prstGeom prst="line">
            <a:avLst/>
          </a:prstGeom>
          <a:noFill/>
          <a:ln w="10795">
            <a:solidFill>
              <a:srgbClr val="EBD7D1"/>
            </a:solidFill>
            <a:prstDash val="solid"/>
          </a:ln>
        </p:spPr>
      </p:sp>
      <p:sp>
        <p:nvSpPr>
          <p:cNvPr id="19" name="Text 17"/>
          <p:cNvSpPr txBox="1"/>
          <p:nvPr/>
        </p:nvSpPr>
        <p:spPr>
          <a:xfrm>
            <a:off x="777240" y="4005072"/>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4</a:t>
            </a:r>
            <a:endParaRPr lang="en-US" sz="800" dirty="0"/>
          </a:p>
        </p:txBody>
      </p:sp>
      <p:sp>
        <p:nvSpPr>
          <p:cNvPr id="20" name="Text 18"/>
          <p:cNvSpPr txBox="1"/>
          <p:nvPr/>
        </p:nvSpPr>
        <p:spPr>
          <a:xfrm>
            <a:off x="1051560" y="3977640"/>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Markanın ana hedefi ile projenin personası uyumlu.</a:t>
            </a:r>
            <a:endParaRPr lang="en-US" sz="900" dirty="0"/>
          </a:p>
        </p:txBody>
      </p:sp>
      <p:sp>
        <p:nvSpPr>
          <p:cNvPr id="21" name="Text 19"/>
          <p:cNvSpPr txBox="1"/>
          <p:nvPr/>
        </p:nvSpPr>
        <p:spPr>
          <a:xfrm>
            <a:off x="777240" y="4343400"/>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5</a:t>
            </a:r>
            <a:endParaRPr lang="en-US" sz="800" dirty="0"/>
          </a:p>
        </p:txBody>
      </p:sp>
      <p:sp>
        <p:nvSpPr>
          <p:cNvPr id="22" name="Text 20"/>
          <p:cNvSpPr txBox="1"/>
          <p:nvPr/>
        </p:nvSpPr>
        <p:spPr>
          <a:xfrm>
            <a:off x="1051560" y="4315968"/>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Mağaza tasarımı personanın duyusal ve işlevsel ihtiyaçlarına cevap veriyor.</a:t>
            </a:r>
            <a:endParaRPr lang="en-US" sz="900" dirty="0"/>
          </a:p>
        </p:txBody>
      </p:sp>
      <p:sp>
        <p:nvSpPr>
          <p:cNvPr id="23" name="Text 21"/>
          <p:cNvSpPr txBox="1"/>
          <p:nvPr/>
        </p:nvSpPr>
        <p:spPr>
          <a:xfrm>
            <a:off x="777240" y="4855464"/>
            <a:ext cx="257860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ÇEKİM</a:t>
            </a:r>
            <a:endParaRPr lang="en-US" sz="850" dirty="0"/>
          </a:p>
        </p:txBody>
      </p:sp>
      <p:sp>
        <p:nvSpPr>
          <p:cNvPr id="24" name="Text 22"/>
          <p:cNvSpPr txBox="1"/>
          <p:nvPr/>
        </p:nvSpPr>
        <p:spPr>
          <a:xfrm>
            <a:off x="3355848" y="4855464"/>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2</a:t>
            </a:r>
            <a:endParaRPr lang="en-US" sz="800" dirty="0"/>
          </a:p>
        </p:txBody>
      </p:sp>
      <p:sp>
        <p:nvSpPr>
          <p:cNvPr id="25" name="Shape 23"/>
          <p:cNvSpPr/>
          <p:nvPr/>
        </p:nvSpPr>
        <p:spPr>
          <a:xfrm>
            <a:off x="777240" y="5065776"/>
            <a:ext cx="3310128" cy="0"/>
          </a:xfrm>
          <a:prstGeom prst="line">
            <a:avLst/>
          </a:prstGeom>
          <a:noFill/>
          <a:ln w="10795">
            <a:solidFill>
              <a:srgbClr val="EBD7D1"/>
            </a:solidFill>
            <a:prstDash val="solid"/>
          </a:ln>
        </p:spPr>
      </p:sp>
      <p:sp>
        <p:nvSpPr>
          <p:cNvPr id="26" name="Text 24"/>
          <p:cNvSpPr txBox="1"/>
          <p:nvPr/>
        </p:nvSpPr>
        <p:spPr>
          <a:xfrm>
            <a:off x="777240" y="5157216"/>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6</a:t>
            </a:r>
            <a:endParaRPr lang="en-US" sz="800" dirty="0"/>
          </a:p>
        </p:txBody>
      </p:sp>
      <p:sp>
        <p:nvSpPr>
          <p:cNvPr id="27" name="Text 25"/>
          <p:cNvSpPr txBox="1"/>
          <p:nvPr/>
        </p:nvSpPr>
        <p:spPr>
          <a:xfrm>
            <a:off x="1051560" y="5129784"/>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Vitrin tasarımı marka kimliğini yansıtıyor.</a:t>
            </a:r>
            <a:endParaRPr lang="en-US" sz="900" dirty="0"/>
          </a:p>
        </p:txBody>
      </p:sp>
      <p:sp>
        <p:nvSpPr>
          <p:cNvPr id="28" name="Text 26"/>
          <p:cNvSpPr txBox="1"/>
          <p:nvPr/>
        </p:nvSpPr>
        <p:spPr>
          <a:xfrm>
            <a:off x="777240" y="5495544"/>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7</a:t>
            </a:r>
            <a:endParaRPr lang="en-US" sz="800" dirty="0"/>
          </a:p>
        </p:txBody>
      </p:sp>
      <p:sp>
        <p:nvSpPr>
          <p:cNvPr id="29" name="Text 27"/>
          <p:cNvSpPr txBox="1"/>
          <p:nvPr/>
        </p:nvSpPr>
        <p:spPr>
          <a:xfrm>
            <a:off x="1051560" y="5468112"/>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Vitrin tasarımı benzerlerinden ayrışıyor.</a:t>
            </a:r>
            <a:endParaRPr lang="en-US" sz="900" dirty="0"/>
          </a:p>
        </p:txBody>
      </p:sp>
      <p:sp>
        <p:nvSpPr>
          <p:cNvPr id="30" name="Text 28"/>
          <p:cNvSpPr txBox="1"/>
          <p:nvPr/>
        </p:nvSpPr>
        <p:spPr>
          <a:xfrm>
            <a:off x="777240" y="5833872"/>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8</a:t>
            </a:r>
            <a:endParaRPr lang="en-US" sz="800" dirty="0"/>
          </a:p>
        </p:txBody>
      </p:sp>
      <p:sp>
        <p:nvSpPr>
          <p:cNvPr id="31" name="Text 29"/>
          <p:cNvSpPr txBox="1"/>
          <p:nvPr/>
        </p:nvSpPr>
        <p:spPr>
          <a:xfrm>
            <a:off x="1051560" y="5806440"/>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Vitrin tasarımı kullanıcı için ilgi çekici.</a:t>
            </a:r>
            <a:endParaRPr lang="en-US" sz="900" dirty="0"/>
          </a:p>
        </p:txBody>
      </p:sp>
      <p:sp>
        <p:nvSpPr>
          <p:cNvPr id="32" name="Text 30"/>
          <p:cNvSpPr txBox="1"/>
          <p:nvPr/>
        </p:nvSpPr>
        <p:spPr>
          <a:xfrm>
            <a:off x="777240" y="6172200"/>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9</a:t>
            </a:r>
            <a:endParaRPr lang="en-US" sz="800" dirty="0"/>
          </a:p>
        </p:txBody>
      </p:sp>
      <p:sp>
        <p:nvSpPr>
          <p:cNvPr id="33" name="Text 31"/>
          <p:cNvSpPr txBox="1"/>
          <p:nvPr/>
        </p:nvSpPr>
        <p:spPr>
          <a:xfrm>
            <a:off x="1051560" y="6144768"/>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Mağazanın atmosferi (renk, malzeme, doku, mobilya) marka kimliğiyle örtüşüyor.</a:t>
            </a:r>
            <a:endParaRPr lang="en-US" sz="900" dirty="0"/>
          </a:p>
        </p:txBody>
      </p:sp>
      <p:sp>
        <p:nvSpPr>
          <p:cNvPr id="34" name="Text 32"/>
          <p:cNvSpPr txBox="1"/>
          <p:nvPr/>
        </p:nvSpPr>
        <p:spPr>
          <a:xfrm>
            <a:off x="4370832" y="2212848"/>
            <a:ext cx="257860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EŞİK</a:t>
            </a:r>
            <a:endParaRPr lang="en-US" sz="850" dirty="0"/>
          </a:p>
        </p:txBody>
      </p:sp>
      <p:sp>
        <p:nvSpPr>
          <p:cNvPr id="35" name="Text 33"/>
          <p:cNvSpPr txBox="1"/>
          <p:nvPr/>
        </p:nvSpPr>
        <p:spPr>
          <a:xfrm>
            <a:off x="6949440" y="2212848"/>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2</a:t>
            </a:r>
            <a:endParaRPr lang="en-US" sz="800" dirty="0"/>
          </a:p>
        </p:txBody>
      </p:sp>
      <p:sp>
        <p:nvSpPr>
          <p:cNvPr id="36" name="Shape 34"/>
          <p:cNvSpPr/>
          <p:nvPr/>
        </p:nvSpPr>
        <p:spPr>
          <a:xfrm>
            <a:off x="4370832" y="2423160"/>
            <a:ext cx="3310128" cy="0"/>
          </a:xfrm>
          <a:prstGeom prst="line">
            <a:avLst/>
          </a:prstGeom>
          <a:noFill/>
          <a:ln w="10795">
            <a:solidFill>
              <a:srgbClr val="EBD7D1"/>
            </a:solidFill>
            <a:prstDash val="solid"/>
          </a:ln>
        </p:spPr>
      </p:sp>
      <p:sp>
        <p:nvSpPr>
          <p:cNvPr id="37" name="Text 35"/>
          <p:cNvSpPr txBox="1"/>
          <p:nvPr/>
        </p:nvSpPr>
        <p:spPr>
          <a:xfrm>
            <a:off x="4370832" y="2514600"/>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10</a:t>
            </a:r>
            <a:endParaRPr lang="en-US" sz="800" dirty="0"/>
          </a:p>
        </p:txBody>
      </p:sp>
      <p:sp>
        <p:nvSpPr>
          <p:cNvPr id="38" name="Text 36"/>
          <p:cNvSpPr txBox="1"/>
          <p:nvPr/>
        </p:nvSpPr>
        <p:spPr>
          <a:xfrm>
            <a:off x="4645152" y="2487168"/>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Giriş–çıkış alanları kullanıcının duyusal ihtiyaçlarını karşılıyor.</a:t>
            </a:r>
            <a:endParaRPr lang="en-US" sz="900" dirty="0"/>
          </a:p>
        </p:txBody>
      </p:sp>
      <p:sp>
        <p:nvSpPr>
          <p:cNvPr id="39" name="Text 37"/>
          <p:cNvSpPr txBox="1"/>
          <p:nvPr/>
        </p:nvSpPr>
        <p:spPr>
          <a:xfrm>
            <a:off x="4370832" y="2852928"/>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11</a:t>
            </a:r>
            <a:endParaRPr lang="en-US" sz="800" dirty="0"/>
          </a:p>
        </p:txBody>
      </p:sp>
      <p:sp>
        <p:nvSpPr>
          <p:cNvPr id="40" name="Text 38"/>
          <p:cNvSpPr txBox="1"/>
          <p:nvPr/>
        </p:nvSpPr>
        <p:spPr>
          <a:xfrm>
            <a:off x="4645152" y="2825496"/>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Kullanıcı giriş ve çıkış alanları birbirini destekliyor.</a:t>
            </a:r>
            <a:endParaRPr lang="en-US" sz="900" dirty="0"/>
          </a:p>
        </p:txBody>
      </p:sp>
      <p:sp>
        <p:nvSpPr>
          <p:cNvPr id="41" name="Text 39"/>
          <p:cNvSpPr txBox="1"/>
          <p:nvPr/>
        </p:nvSpPr>
        <p:spPr>
          <a:xfrm>
            <a:off x="4370832" y="3364992"/>
            <a:ext cx="257860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ÜRÜN VE HİZMETLER</a:t>
            </a:r>
            <a:endParaRPr lang="en-US" sz="850" dirty="0"/>
          </a:p>
        </p:txBody>
      </p:sp>
      <p:sp>
        <p:nvSpPr>
          <p:cNvPr id="42" name="Text 40"/>
          <p:cNvSpPr txBox="1"/>
          <p:nvPr/>
        </p:nvSpPr>
        <p:spPr>
          <a:xfrm>
            <a:off x="6949440" y="3364992"/>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2</a:t>
            </a:r>
            <a:endParaRPr lang="en-US" sz="800" dirty="0"/>
          </a:p>
        </p:txBody>
      </p:sp>
      <p:sp>
        <p:nvSpPr>
          <p:cNvPr id="43" name="Shape 41"/>
          <p:cNvSpPr/>
          <p:nvPr/>
        </p:nvSpPr>
        <p:spPr>
          <a:xfrm>
            <a:off x="4370832" y="3575304"/>
            <a:ext cx="3310128" cy="0"/>
          </a:xfrm>
          <a:prstGeom prst="line">
            <a:avLst/>
          </a:prstGeom>
          <a:noFill/>
          <a:ln w="10795">
            <a:solidFill>
              <a:srgbClr val="EBD7D1"/>
            </a:solidFill>
            <a:prstDash val="solid"/>
          </a:ln>
        </p:spPr>
      </p:sp>
      <p:sp>
        <p:nvSpPr>
          <p:cNvPr id="44" name="Text 42"/>
          <p:cNvSpPr txBox="1"/>
          <p:nvPr/>
        </p:nvSpPr>
        <p:spPr>
          <a:xfrm>
            <a:off x="4370832" y="3666744"/>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12</a:t>
            </a:r>
            <a:endParaRPr lang="en-US" sz="800" dirty="0"/>
          </a:p>
        </p:txBody>
      </p:sp>
      <p:sp>
        <p:nvSpPr>
          <p:cNvPr id="45" name="Text 43"/>
          <p:cNvSpPr txBox="1"/>
          <p:nvPr/>
        </p:nvSpPr>
        <p:spPr>
          <a:xfrm>
            <a:off x="4645152" y="3639312"/>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Mağaza içi yönlendirme öğeleri etkili kullanılmış.</a:t>
            </a:r>
            <a:endParaRPr lang="en-US" sz="900" dirty="0"/>
          </a:p>
        </p:txBody>
      </p:sp>
      <p:sp>
        <p:nvSpPr>
          <p:cNvPr id="46" name="Text 44"/>
          <p:cNvSpPr txBox="1"/>
          <p:nvPr/>
        </p:nvSpPr>
        <p:spPr>
          <a:xfrm>
            <a:off x="4370832" y="4005072"/>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13</a:t>
            </a:r>
            <a:endParaRPr lang="en-US" sz="800" dirty="0"/>
          </a:p>
        </p:txBody>
      </p:sp>
      <p:sp>
        <p:nvSpPr>
          <p:cNvPr id="47" name="Text 45"/>
          <p:cNvSpPr txBox="1"/>
          <p:nvPr/>
        </p:nvSpPr>
        <p:spPr>
          <a:xfrm>
            <a:off x="4645152" y="3977640"/>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Ürün yerleşimi ve teşhiri (ölçü, malzeme, detay) işlevsel gereklere cevap veriyor.</a:t>
            </a:r>
            <a:endParaRPr lang="en-US" sz="900" dirty="0"/>
          </a:p>
        </p:txBody>
      </p:sp>
      <p:sp>
        <p:nvSpPr>
          <p:cNvPr id="48" name="Text 46"/>
          <p:cNvSpPr txBox="1"/>
          <p:nvPr/>
        </p:nvSpPr>
        <p:spPr>
          <a:xfrm>
            <a:off x="4370832" y="4343400"/>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14</a:t>
            </a:r>
            <a:endParaRPr lang="en-US" sz="800" dirty="0"/>
          </a:p>
        </p:txBody>
      </p:sp>
      <p:sp>
        <p:nvSpPr>
          <p:cNvPr id="49" name="Text 47"/>
          <p:cNvSpPr txBox="1"/>
          <p:nvPr/>
        </p:nvSpPr>
        <p:spPr>
          <a:xfrm>
            <a:off x="4645152" y="4315968"/>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Dinlenme ve bekleme noktaları (yeri, kapladığı alan) işlevsel gereklere cevap veriyor.</a:t>
            </a:r>
            <a:endParaRPr lang="en-US" sz="900" dirty="0"/>
          </a:p>
        </p:txBody>
      </p:sp>
      <p:sp>
        <p:nvSpPr>
          <p:cNvPr id="50" name="Text 48"/>
          <p:cNvSpPr txBox="1"/>
          <p:nvPr/>
        </p:nvSpPr>
        <p:spPr>
          <a:xfrm>
            <a:off x="4370832" y="4855464"/>
            <a:ext cx="257860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ORGANİZASYONEL İHTİYAÇLAR</a:t>
            </a:r>
            <a:endParaRPr lang="en-US" sz="850" dirty="0"/>
          </a:p>
        </p:txBody>
      </p:sp>
      <p:sp>
        <p:nvSpPr>
          <p:cNvPr id="51" name="Text 49"/>
          <p:cNvSpPr txBox="1"/>
          <p:nvPr/>
        </p:nvSpPr>
        <p:spPr>
          <a:xfrm>
            <a:off x="6949440" y="4855464"/>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2</a:t>
            </a:r>
            <a:endParaRPr lang="en-US" sz="800" dirty="0"/>
          </a:p>
        </p:txBody>
      </p:sp>
      <p:sp>
        <p:nvSpPr>
          <p:cNvPr id="52" name="Shape 50"/>
          <p:cNvSpPr/>
          <p:nvPr/>
        </p:nvSpPr>
        <p:spPr>
          <a:xfrm>
            <a:off x="4370832" y="5065776"/>
            <a:ext cx="3310128" cy="0"/>
          </a:xfrm>
          <a:prstGeom prst="line">
            <a:avLst/>
          </a:prstGeom>
          <a:noFill/>
          <a:ln w="10795">
            <a:solidFill>
              <a:srgbClr val="EBD7D1"/>
            </a:solidFill>
            <a:prstDash val="solid"/>
          </a:ln>
        </p:spPr>
      </p:sp>
      <p:sp>
        <p:nvSpPr>
          <p:cNvPr id="53" name="Text 51"/>
          <p:cNvSpPr txBox="1"/>
          <p:nvPr/>
        </p:nvSpPr>
        <p:spPr>
          <a:xfrm>
            <a:off x="4370832" y="5157216"/>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15</a:t>
            </a:r>
            <a:endParaRPr lang="en-US" sz="800" dirty="0"/>
          </a:p>
        </p:txBody>
      </p:sp>
      <p:sp>
        <p:nvSpPr>
          <p:cNvPr id="54" name="Text 52"/>
          <p:cNvSpPr txBox="1"/>
          <p:nvPr/>
        </p:nvSpPr>
        <p:spPr>
          <a:xfrm>
            <a:off x="4645152" y="5129784"/>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Kasa alanı (yeri, kapladığı alan) işlevsel gereklere cevap veriyor.</a:t>
            </a:r>
            <a:endParaRPr lang="en-US" sz="900" dirty="0"/>
          </a:p>
        </p:txBody>
      </p:sp>
      <p:sp>
        <p:nvSpPr>
          <p:cNvPr id="55" name="Text 53"/>
          <p:cNvSpPr txBox="1"/>
          <p:nvPr/>
        </p:nvSpPr>
        <p:spPr>
          <a:xfrm>
            <a:off x="4370832" y="5495544"/>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16</a:t>
            </a:r>
            <a:endParaRPr lang="en-US" sz="800" dirty="0"/>
          </a:p>
        </p:txBody>
      </p:sp>
      <p:sp>
        <p:nvSpPr>
          <p:cNvPr id="56" name="Text 54"/>
          <p:cNvSpPr txBox="1"/>
          <p:nvPr/>
        </p:nvSpPr>
        <p:spPr>
          <a:xfrm>
            <a:off x="4645152" y="5468112"/>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Kasa arkası yönetim alanı mekânsal gereklere cevap veriyor.</a:t>
            </a:r>
            <a:endParaRPr lang="en-US" sz="900" dirty="0"/>
          </a:p>
        </p:txBody>
      </p:sp>
      <p:sp>
        <p:nvSpPr>
          <p:cNvPr id="57" name="Text 55"/>
          <p:cNvSpPr txBox="1"/>
          <p:nvPr/>
        </p:nvSpPr>
        <p:spPr>
          <a:xfrm>
            <a:off x="4370832" y="5833872"/>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17</a:t>
            </a:r>
            <a:endParaRPr lang="en-US" sz="800" dirty="0"/>
          </a:p>
        </p:txBody>
      </p:sp>
      <p:sp>
        <p:nvSpPr>
          <p:cNvPr id="58" name="Text 56"/>
          <p:cNvSpPr txBox="1"/>
          <p:nvPr/>
        </p:nvSpPr>
        <p:spPr>
          <a:xfrm>
            <a:off x="4645152" y="5806440"/>
            <a:ext cx="303580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Depo alanı, ürün ve hizmetler düşünüldüğünde mekânsal gereklere (m², yerleşim) cevap veriyor.</a:t>
            </a:r>
            <a:endParaRPr lang="en-US" sz="900" dirty="0"/>
          </a:p>
        </p:txBody>
      </p:sp>
      <p:sp>
        <p:nvSpPr>
          <p:cNvPr id="59" name="Text 57"/>
          <p:cNvSpPr txBox="1"/>
          <p:nvPr/>
        </p:nvSpPr>
        <p:spPr>
          <a:xfrm>
            <a:off x="7964424" y="2212848"/>
            <a:ext cx="271576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YÖNELME</a:t>
            </a:r>
            <a:endParaRPr lang="en-US" sz="850" dirty="0"/>
          </a:p>
        </p:txBody>
      </p:sp>
      <p:sp>
        <p:nvSpPr>
          <p:cNvPr id="60" name="Text 58"/>
          <p:cNvSpPr txBox="1"/>
          <p:nvPr/>
        </p:nvSpPr>
        <p:spPr>
          <a:xfrm>
            <a:off x="10680192" y="2212848"/>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2</a:t>
            </a:r>
            <a:endParaRPr lang="en-US" sz="800" dirty="0"/>
          </a:p>
        </p:txBody>
      </p:sp>
      <p:sp>
        <p:nvSpPr>
          <p:cNvPr id="61" name="Shape 59"/>
          <p:cNvSpPr/>
          <p:nvPr/>
        </p:nvSpPr>
        <p:spPr>
          <a:xfrm>
            <a:off x="7964424" y="2423160"/>
            <a:ext cx="3447288" cy="0"/>
          </a:xfrm>
          <a:prstGeom prst="line">
            <a:avLst/>
          </a:prstGeom>
          <a:noFill/>
          <a:ln w="10795">
            <a:solidFill>
              <a:srgbClr val="EBD7D1"/>
            </a:solidFill>
            <a:prstDash val="solid"/>
          </a:ln>
        </p:spPr>
      </p:sp>
      <p:sp>
        <p:nvSpPr>
          <p:cNvPr id="62" name="Text 60"/>
          <p:cNvSpPr txBox="1"/>
          <p:nvPr/>
        </p:nvSpPr>
        <p:spPr>
          <a:xfrm>
            <a:off x="7964424" y="2514600"/>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18</a:t>
            </a:r>
            <a:endParaRPr lang="en-US" sz="800" dirty="0"/>
          </a:p>
        </p:txBody>
      </p:sp>
      <p:sp>
        <p:nvSpPr>
          <p:cNvPr id="63" name="Text 61"/>
          <p:cNvSpPr txBox="1"/>
          <p:nvPr/>
        </p:nvSpPr>
        <p:spPr>
          <a:xfrm>
            <a:off x="8238744" y="2487168"/>
            <a:ext cx="317296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Mağazadaki dolaşım servis için uygun.</a:t>
            </a:r>
            <a:endParaRPr lang="en-US" sz="900" dirty="0"/>
          </a:p>
        </p:txBody>
      </p:sp>
      <p:sp>
        <p:nvSpPr>
          <p:cNvPr id="64" name="Text 62"/>
          <p:cNvSpPr txBox="1"/>
          <p:nvPr/>
        </p:nvSpPr>
        <p:spPr>
          <a:xfrm>
            <a:off x="7964424" y="2852928"/>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19</a:t>
            </a:r>
            <a:endParaRPr lang="en-US" sz="800" dirty="0"/>
          </a:p>
        </p:txBody>
      </p:sp>
      <p:sp>
        <p:nvSpPr>
          <p:cNvPr id="65" name="Text 63"/>
          <p:cNvSpPr txBox="1"/>
          <p:nvPr/>
        </p:nvSpPr>
        <p:spPr>
          <a:xfrm>
            <a:off x="8238744" y="2825496"/>
            <a:ext cx="317296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Mağazadaki dolaşım kullanıcılar için uygun.</a:t>
            </a:r>
            <a:endParaRPr lang="en-US" sz="900" dirty="0"/>
          </a:p>
        </p:txBody>
      </p:sp>
      <p:sp>
        <p:nvSpPr>
          <p:cNvPr id="66" name="Text 64"/>
          <p:cNvSpPr txBox="1"/>
          <p:nvPr/>
        </p:nvSpPr>
        <p:spPr>
          <a:xfrm>
            <a:off x="7964424" y="3364992"/>
            <a:ext cx="2715768" cy="219456"/>
          </a:xfrm>
          <a:prstGeom prst="rect">
            <a:avLst/>
          </a:prstGeom>
          <a:noFill/>
          <a:ln/>
        </p:spPr>
        <p:txBody>
          <a:bodyPr wrap="square" lIns="0" tIns="0" rIns="0" bIns="0" rtlCol="0" anchor="ctr"/>
          <a:lstStyle/>
          <a:p>
            <a:pPr indent="0" marL="0">
              <a:buNone/>
            </a:pPr>
            <a:r>
              <a:rPr lang="en-US" sz="850" b="1" spc="130" kern="0" dirty="0">
                <a:solidFill>
                  <a:srgbClr val="8C3A2B"/>
                </a:solidFill>
                <a:latin typeface="Calibri" pitchFamily="34" charset="0"/>
                <a:ea typeface="Calibri" pitchFamily="34" charset="-122"/>
                <a:cs typeface="Calibri" pitchFamily="34" charset="-120"/>
              </a:rPr>
              <a:t>GEZİNME</a:t>
            </a:r>
            <a:endParaRPr lang="en-US" sz="850" dirty="0"/>
          </a:p>
        </p:txBody>
      </p:sp>
      <p:sp>
        <p:nvSpPr>
          <p:cNvPr id="67" name="Text 65"/>
          <p:cNvSpPr txBox="1"/>
          <p:nvPr/>
        </p:nvSpPr>
        <p:spPr>
          <a:xfrm>
            <a:off x="10680192" y="3364992"/>
            <a:ext cx="731520" cy="219456"/>
          </a:xfrm>
          <a:prstGeom prst="rect">
            <a:avLst/>
          </a:prstGeom>
          <a:noFill/>
          <a:ln/>
        </p:spPr>
        <p:txBody>
          <a:bodyPr wrap="square" lIns="0" tIns="0" rIns="0" bIns="0" rtlCol="0" anchor="ctr"/>
          <a:lstStyle/>
          <a:p>
            <a:pPr algn="r" indent="0" marL="0">
              <a:buNone/>
            </a:pPr>
            <a:r>
              <a:rPr lang="en-US" sz="800" i="1" dirty="0">
                <a:solidFill>
                  <a:srgbClr val="A6A6AC"/>
                </a:solidFill>
                <a:latin typeface="Calibri" pitchFamily="34" charset="0"/>
                <a:ea typeface="Calibri" pitchFamily="34" charset="-122"/>
                <a:cs typeface="Calibri" pitchFamily="34" charset="-120"/>
              </a:rPr>
              <a:t>vize 2</a:t>
            </a:r>
            <a:endParaRPr lang="en-US" sz="800" dirty="0"/>
          </a:p>
        </p:txBody>
      </p:sp>
      <p:sp>
        <p:nvSpPr>
          <p:cNvPr id="68" name="Shape 66"/>
          <p:cNvSpPr/>
          <p:nvPr/>
        </p:nvSpPr>
        <p:spPr>
          <a:xfrm>
            <a:off x="7964424" y="3575304"/>
            <a:ext cx="3447288" cy="0"/>
          </a:xfrm>
          <a:prstGeom prst="line">
            <a:avLst/>
          </a:prstGeom>
          <a:noFill/>
          <a:ln w="10795">
            <a:solidFill>
              <a:srgbClr val="EBD7D1"/>
            </a:solidFill>
            <a:prstDash val="solid"/>
          </a:ln>
        </p:spPr>
      </p:sp>
      <p:sp>
        <p:nvSpPr>
          <p:cNvPr id="69" name="Text 67"/>
          <p:cNvSpPr txBox="1"/>
          <p:nvPr/>
        </p:nvSpPr>
        <p:spPr>
          <a:xfrm>
            <a:off x="7964424" y="3666744"/>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20</a:t>
            </a:r>
            <a:endParaRPr lang="en-US" sz="800" dirty="0"/>
          </a:p>
        </p:txBody>
      </p:sp>
      <p:sp>
        <p:nvSpPr>
          <p:cNvPr id="70" name="Text 68"/>
          <p:cNvSpPr txBox="1"/>
          <p:nvPr/>
        </p:nvSpPr>
        <p:spPr>
          <a:xfrm>
            <a:off x="8238744" y="3639312"/>
            <a:ext cx="317296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Tasarımda konsepte göre dijital deneyim alanları oluşturulmuş.</a:t>
            </a:r>
            <a:endParaRPr lang="en-US" sz="900" dirty="0"/>
          </a:p>
        </p:txBody>
      </p:sp>
      <p:sp>
        <p:nvSpPr>
          <p:cNvPr id="71" name="Text 69"/>
          <p:cNvSpPr txBox="1"/>
          <p:nvPr/>
        </p:nvSpPr>
        <p:spPr>
          <a:xfrm>
            <a:off x="7964424" y="4005072"/>
            <a:ext cx="237744" cy="201168"/>
          </a:xfrm>
          <a:prstGeom prst="rect">
            <a:avLst/>
          </a:prstGeom>
          <a:noFill/>
          <a:ln/>
        </p:spPr>
        <p:txBody>
          <a:bodyPr wrap="square" lIns="0" tIns="0" rIns="0" bIns="0" rtlCol="0" anchor="ctr"/>
          <a:lstStyle/>
          <a:p>
            <a:pPr indent="0" marL="0">
              <a:buNone/>
            </a:pPr>
            <a:r>
              <a:rPr lang="en-US" sz="800" b="1" dirty="0">
                <a:solidFill>
                  <a:srgbClr val="8C3A2B"/>
                </a:solidFill>
                <a:latin typeface="Calibri" pitchFamily="34" charset="0"/>
                <a:ea typeface="Calibri" pitchFamily="34" charset="-122"/>
                <a:cs typeface="Calibri" pitchFamily="34" charset="-120"/>
              </a:rPr>
              <a:t>21</a:t>
            </a:r>
            <a:endParaRPr lang="en-US" sz="800" dirty="0"/>
          </a:p>
        </p:txBody>
      </p:sp>
      <p:sp>
        <p:nvSpPr>
          <p:cNvPr id="72" name="Text 70"/>
          <p:cNvSpPr txBox="1"/>
          <p:nvPr/>
        </p:nvSpPr>
        <p:spPr>
          <a:xfrm>
            <a:off x="8238744" y="3977640"/>
            <a:ext cx="3172968" cy="310896"/>
          </a:xfrm>
          <a:prstGeom prst="rect">
            <a:avLst/>
          </a:prstGeom>
          <a:noFill/>
          <a:ln/>
        </p:spPr>
        <p:txBody>
          <a:bodyPr wrap="square" lIns="0" tIns="0" rIns="0" bIns="0" rtlCol="0" anchor="ctr"/>
          <a:lstStyle/>
          <a:p>
            <a:pPr indent="0" marL="0">
              <a:lnSpc>
                <a:spcPts val="1100"/>
              </a:lnSpc>
              <a:buNone/>
            </a:pPr>
            <a:r>
              <a:rPr lang="en-US" sz="900" dirty="0">
                <a:solidFill>
                  <a:srgbClr val="2B2B31"/>
                </a:solidFill>
                <a:latin typeface="Calibri" pitchFamily="34" charset="0"/>
                <a:ea typeface="Calibri" pitchFamily="34" charset="-122"/>
                <a:cs typeface="Calibri" pitchFamily="34" charset="-120"/>
              </a:rPr>
              <a:t>Tasarımda konsepte göre fiziksel deneyim alanları oluşturulmuş.</a:t>
            </a:r>
            <a:endParaRPr lang="en-US" sz="900" dirty="0"/>
          </a:p>
        </p:txBody>
      </p:sp>
      <p:sp>
        <p:nvSpPr>
          <p:cNvPr id="73" name="Shape 71"/>
          <p:cNvSpPr/>
          <p:nvPr/>
        </p:nvSpPr>
        <p:spPr>
          <a:xfrm>
            <a:off x="7964424" y="4645152"/>
            <a:ext cx="3447288" cy="1371600"/>
          </a:xfrm>
          <a:prstGeom prst="rect">
            <a:avLst/>
          </a:prstGeom>
          <a:solidFill>
            <a:srgbClr val="F6EAE6"/>
          </a:solidFill>
          <a:ln w="15875">
            <a:solidFill>
              <a:srgbClr val="8C3A2B"/>
            </a:solidFill>
            <a:prstDash val="solid"/>
          </a:ln>
        </p:spPr>
      </p:sp>
      <p:sp>
        <p:nvSpPr>
          <p:cNvPr id="74" name="Text 72"/>
          <p:cNvSpPr txBox="1"/>
          <p:nvPr/>
        </p:nvSpPr>
        <p:spPr>
          <a:xfrm>
            <a:off x="8147304" y="4791456"/>
            <a:ext cx="3081528" cy="1097280"/>
          </a:xfrm>
          <a:prstGeom prst="rect">
            <a:avLst/>
          </a:prstGeom>
          <a:noFill/>
          <a:ln/>
        </p:spPr>
        <p:txBody>
          <a:bodyPr wrap="square" lIns="0" tIns="0" rIns="0" bIns="0" rtlCol="0" anchor="ctr"/>
          <a:lstStyle/>
          <a:p>
            <a:pPr algn="l" indent="0" marL="0">
              <a:lnSpc>
                <a:spcPts val="1400"/>
              </a:lnSpc>
              <a:buNone/>
            </a:pPr>
            <a:r>
              <a:rPr lang="en-US" sz="1050" dirty="0">
                <a:solidFill>
                  <a:srgbClr val="8C3A2B"/>
                </a:solidFill>
                <a:latin typeface="Cambria" pitchFamily="34" charset="0"/>
                <a:ea typeface="Cambria" pitchFamily="34" charset="-122"/>
                <a:cs typeface="Cambria" pitchFamily="34" charset="-120"/>
              </a:rPr>
              <a:t>Bu ifadeler kritiklerde soru olarak da kullanılacak. Kendi projenize yirmi birini tek tek sorun: “katılmıyorum” dediğiniz her ifade, o hafta çalışılacak konudur.</a:t>
            </a:r>
            <a:endParaRPr lang="en-US" sz="1050" dirty="0"/>
          </a:p>
        </p:txBody>
      </p:sp>
      <p:sp>
        <p:nvSpPr>
          <p:cNvPr id="75" name="Text 73"/>
          <p:cNvSpPr txBox="1"/>
          <p:nvPr/>
        </p:nvSpPr>
        <p:spPr>
          <a:xfrm>
            <a:off x="777240" y="6364224"/>
            <a:ext cx="7772400" cy="274320"/>
          </a:xfrm>
          <a:prstGeom prst="rect">
            <a:avLst/>
          </a:prstGeom>
          <a:noFill/>
          <a:ln/>
        </p:spPr>
        <p:txBody>
          <a:bodyPr wrap="square" lIns="0" tIns="0" rIns="0" bIns="0" rtlCol="0" anchor="ctr"/>
          <a:lstStyle/>
          <a:p>
            <a:pPr indent="0" marL="0">
              <a:buNone/>
            </a:pPr>
            <a:r>
              <a:rPr lang="en-US" sz="850" i="1" dirty="0">
                <a:solidFill>
                  <a:srgbClr val="A6A6AC"/>
                </a:solidFill>
                <a:latin typeface="Calibri" pitchFamily="34" charset="0"/>
                <a:ea typeface="Calibri" pitchFamily="34" charset="-122"/>
                <a:cs typeface="Calibri" pitchFamily="34" charset="-120"/>
              </a:rPr>
              <a:t>Bükülmez vd. (2025), Tablo 1: CJM Değerlendirme Çerçevesi — Türkçeye çevrilmiş ve bu dersin teslimlerine uyarlanmış hâli.</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VIII · DEĞERLENDİRME</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Hangi modül hangi yetkinliği istiyor?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Modüller farklı bilgi alanları gerektirir. Aşağıdaki bağlantılar, hangi modülde zorlanıyorsanız hangi alanda çalışmanız gerektiğini gösteriyor (Quartier vd., 2020 yetkinlik çerçevesi).</a:t>
            </a:r>
            <a:endParaRPr lang="en-US" sz="1350" dirty="0"/>
          </a:p>
        </p:txBody>
      </p:sp>
      <p:sp>
        <p:nvSpPr>
          <p:cNvPr id="7" name="Shape 5"/>
          <p:cNvSpPr/>
          <p:nvPr/>
        </p:nvSpPr>
        <p:spPr>
          <a:xfrm>
            <a:off x="3502152" y="2633472"/>
            <a:ext cx="1133856" cy="0"/>
          </a:xfrm>
          <a:prstGeom prst="line">
            <a:avLst/>
          </a:prstGeom>
          <a:noFill/>
          <a:ln w="12700">
            <a:solidFill>
              <a:srgbClr val="EBD7D1"/>
            </a:solidFill>
            <a:prstDash val="solid"/>
          </a:ln>
        </p:spPr>
      </p:sp>
      <p:sp>
        <p:nvSpPr>
          <p:cNvPr id="8" name="Shape 6"/>
          <p:cNvSpPr/>
          <p:nvPr/>
        </p:nvSpPr>
        <p:spPr>
          <a:xfrm>
            <a:off x="3502152" y="2633472"/>
            <a:ext cx="1133856" cy="603504"/>
          </a:xfrm>
          <a:prstGeom prst="line">
            <a:avLst/>
          </a:prstGeom>
          <a:noFill/>
          <a:ln w="12700">
            <a:solidFill>
              <a:srgbClr val="EBD7D1"/>
            </a:solidFill>
            <a:prstDash val="solid"/>
          </a:ln>
        </p:spPr>
      </p:sp>
      <p:sp>
        <p:nvSpPr>
          <p:cNvPr id="9" name="Shape 7"/>
          <p:cNvSpPr/>
          <p:nvPr/>
        </p:nvSpPr>
        <p:spPr>
          <a:xfrm>
            <a:off x="3502152" y="3236976"/>
            <a:ext cx="1133856" cy="0"/>
          </a:xfrm>
          <a:prstGeom prst="line">
            <a:avLst/>
          </a:prstGeom>
          <a:noFill/>
          <a:ln w="12700">
            <a:solidFill>
              <a:srgbClr val="EBD7D1"/>
            </a:solidFill>
            <a:prstDash val="solid"/>
          </a:ln>
        </p:spPr>
      </p:sp>
      <p:sp>
        <p:nvSpPr>
          <p:cNvPr id="10" name="Shape 8"/>
          <p:cNvSpPr/>
          <p:nvPr/>
        </p:nvSpPr>
        <p:spPr>
          <a:xfrm>
            <a:off x="3502152" y="3236976"/>
            <a:ext cx="1133856" cy="603504"/>
          </a:xfrm>
          <a:prstGeom prst="line">
            <a:avLst/>
          </a:prstGeom>
          <a:noFill/>
          <a:ln w="12700">
            <a:solidFill>
              <a:srgbClr val="EBD7D1"/>
            </a:solidFill>
            <a:prstDash val="solid"/>
          </a:ln>
        </p:spPr>
      </p:sp>
      <p:sp>
        <p:nvSpPr>
          <p:cNvPr id="11" name="Shape 9"/>
          <p:cNvSpPr/>
          <p:nvPr/>
        </p:nvSpPr>
        <p:spPr>
          <a:xfrm>
            <a:off x="3502152" y="3840480"/>
            <a:ext cx="1133856" cy="603504"/>
          </a:xfrm>
          <a:prstGeom prst="line">
            <a:avLst/>
          </a:prstGeom>
          <a:noFill/>
          <a:ln w="12700">
            <a:solidFill>
              <a:srgbClr val="EBD7D1"/>
            </a:solidFill>
            <a:prstDash val="solid"/>
          </a:ln>
        </p:spPr>
      </p:sp>
      <p:sp>
        <p:nvSpPr>
          <p:cNvPr id="12" name="Shape 10"/>
          <p:cNvSpPr/>
          <p:nvPr/>
        </p:nvSpPr>
        <p:spPr>
          <a:xfrm>
            <a:off x="3502152" y="4443984"/>
            <a:ext cx="1133856" cy="603504"/>
          </a:xfrm>
          <a:prstGeom prst="line">
            <a:avLst/>
          </a:prstGeom>
          <a:noFill/>
          <a:ln w="12700">
            <a:solidFill>
              <a:srgbClr val="EBD7D1"/>
            </a:solidFill>
            <a:prstDash val="solid"/>
          </a:ln>
        </p:spPr>
      </p:sp>
      <p:sp>
        <p:nvSpPr>
          <p:cNvPr id="13" name="Shape 11"/>
          <p:cNvSpPr/>
          <p:nvPr/>
        </p:nvSpPr>
        <p:spPr>
          <a:xfrm>
            <a:off x="3502152" y="5047488"/>
            <a:ext cx="1133856" cy="603504"/>
          </a:xfrm>
          <a:prstGeom prst="line">
            <a:avLst/>
          </a:prstGeom>
          <a:noFill/>
          <a:ln w="12700">
            <a:solidFill>
              <a:srgbClr val="EBD7D1"/>
            </a:solidFill>
            <a:prstDash val="solid"/>
          </a:ln>
        </p:spPr>
      </p:sp>
      <p:sp>
        <p:nvSpPr>
          <p:cNvPr id="14" name="Shape 12"/>
          <p:cNvSpPr/>
          <p:nvPr/>
        </p:nvSpPr>
        <p:spPr>
          <a:xfrm>
            <a:off x="777240" y="2487168"/>
            <a:ext cx="2651760" cy="292608"/>
          </a:xfrm>
          <a:prstGeom prst="rect">
            <a:avLst/>
          </a:prstGeom>
          <a:solidFill>
            <a:srgbClr val="F6EAE6"/>
          </a:solidFill>
          <a:ln w="15875">
            <a:solidFill>
              <a:srgbClr val="8C3A2B"/>
            </a:solidFill>
            <a:prstDash val="solid"/>
          </a:ln>
        </p:spPr>
      </p:sp>
      <p:sp>
        <p:nvSpPr>
          <p:cNvPr id="15" name="Text 13"/>
          <p:cNvSpPr txBox="1"/>
          <p:nvPr/>
        </p:nvSpPr>
        <p:spPr>
          <a:xfrm>
            <a:off x="850392" y="2487168"/>
            <a:ext cx="2505456" cy="292608"/>
          </a:xfrm>
          <a:prstGeom prst="rect">
            <a:avLst/>
          </a:prstGeom>
          <a:noFill/>
          <a:ln/>
        </p:spPr>
        <p:txBody>
          <a:bodyPr wrap="square" lIns="0" tIns="0" rIns="0" bIns="0" rtlCol="0" anchor="ctr"/>
          <a:lstStyle/>
          <a:p>
            <a:pPr algn="ctr" indent="0" marL="0">
              <a:buNone/>
            </a:pPr>
            <a:r>
              <a:rPr lang="en-US" sz="950" b="1" dirty="0">
                <a:solidFill>
                  <a:srgbClr val="8C3A2B"/>
                </a:solidFill>
                <a:latin typeface="Cambria" pitchFamily="34" charset="0"/>
                <a:ea typeface="Cambria" pitchFamily="34" charset="-122"/>
                <a:cs typeface="Cambria" pitchFamily="34" charset="-120"/>
              </a:rPr>
              <a:t>Marka analizi</a:t>
            </a:r>
            <a:endParaRPr lang="en-US" sz="950" dirty="0"/>
          </a:p>
        </p:txBody>
      </p:sp>
      <p:sp>
        <p:nvSpPr>
          <p:cNvPr id="16" name="Shape 14"/>
          <p:cNvSpPr/>
          <p:nvPr/>
        </p:nvSpPr>
        <p:spPr>
          <a:xfrm>
            <a:off x="777240" y="3090672"/>
            <a:ext cx="2651760" cy="292608"/>
          </a:xfrm>
          <a:prstGeom prst="rect">
            <a:avLst/>
          </a:prstGeom>
          <a:solidFill>
            <a:srgbClr val="F6EAE6"/>
          </a:solidFill>
          <a:ln w="15875">
            <a:solidFill>
              <a:srgbClr val="8C3A2B"/>
            </a:solidFill>
            <a:prstDash val="solid"/>
          </a:ln>
        </p:spPr>
      </p:sp>
      <p:sp>
        <p:nvSpPr>
          <p:cNvPr id="17" name="Text 15"/>
          <p:cNvSpPr txBox="1"/>
          <p:nvPr/>
        </p:nvSpPr>
        <p:spPr>
          <a:xfrm>
            <a:off x="850392" y="3090672"/>
            <a:ext cx="2505456" cy="292608"/>
          </a:xfrm>
          <a:prstGeom prst="rect">
            <a:avLst/>
          </a:prstGeom>
          <a:noFill/>
          <a:ln/>
        </p:spPr>
        <p:txBody>
          <a:bodyPr wrap="square" lIns="0" tIns="0" rIns="0" bIns="0" rtlCol="0" anchor="ctr"/>
          <a:lstStyle/>
          <a:p>
            <a:pPr algn="ctr" indent="0" marL="0">
              <a:buNone/>
            </a:pPr>
            <a:r>
              <a:rPr lang="en-US" sz="950" b="1" dirty="0">
                <a:solidFill>
                  <a:srgbClr val="8C3A2B"/>
                </a:solidFill>
                <a:latin typeface="Cambria" pitchFamily="34" charset="0"/>
                <a:ea typeface="Cambria" pitchFamily="34" charset="-122"/>
                <a:cs typeface="Cambria" pitchFamily="34" charset="-120"/>
              </a:rPr>
              <a:t>Persona</a:t>
            </a:r>
            <a:endParaRPr lang="en-US" sz="950" dirty="0"/>
          </a:p>
        </p:txBody>
      </p:sp>
      <p:sp>
        <p:nvSpPr>
          <p:cNvPr id="18" name="Shape 16"/>
          <p:cNvSpPr/>
          <p:nvPr/>
        </p:nvSpPr>
        <p:spPr>
          <a:xfrm>
            <a:off x="777240" y="3694176"/>
            <a:ext cx="2651760" cy="292608"/>
          </a:xfrm>
          <a:prstGeom prst="rect">
            <a:avLst/>
          </a:prstGeom>
          <a:solidFill>
            <a:srgbClr val="F6EAE6"/>
          </a:solidFill>
          <a:ln w="15875">
            <a:solidFill>
              <a:srgbClr val="8C3A2B"/>
            </a:solidFill>
            <a:prstDash val="solid"/>
          </a:ln>
        </p:spPr>
      </p:sp>
      <p:sp>
        <p:nvSpPr>
          <p:cNvPr id="19" name="Text 17"/>
          <p:cNvSpPr txBox="1"/>
          <p:nvPr/>
        </p:nvSpPr>
        <p:spPr>
          <a:xfrm>
            <a:off x="850392" y="3694176"/>
            <a:ext cx="2505456" cy="292608"/>
          </a:xfrm>
          <a:prstGeom prst="rect">
            <a:avLst/>
          </a:prstGeom>
          <a:noFill/>
          <a:ln/>
        </p:spPr>
        <p:txBody>
          <a:bodyPr wrap="square" lIns="0" tIns="0" rIns="0" bIns="0" rtlCol="0" anchor="ctr"/>
          <a:lstStyle/>
          <a:p>
            <a:pPr algn="ctr" indent="0" marL="0">
              <a:buNone/>
            </a:pPr>
            <a:r>
              <a:rPr lang="en-US" sz="950" b="1" dirty="0">
                <a:solidFill>
                  <a:srgbClr val="8C3A2B"/>
                </a:solidFill>
                <a:latin typeface="Cambria" pitchFamily="34" charset="0"/>
                <a:ea typeface="Cambria" pitchFamily="34" charset="-122"/>
                <a:cs typeface="Cambria" pitchFamily="34" charset="-120"/>
              </a:rPr>
              <a:t>Çekim</a:t>
            </a:r>
            <a:endParaRPr lang="en-US" sz="950" dirty="0"/>
          </a:p>
        </p:txBody>
      </p:sp>
      <p:sp>
        <p:nvSpPr>
          <p:cNvPr id="20" name="Shape 18"/>
          <p:cNvSpPr/>
          <p:nvPr/>
        </p:nvSpPr>
        <p:spPr>
          <a:xfrm>
            <a:off x="777240" y="4297680"/>
            <a:ext cx="2651760" cy="292608"/>
          </a:xfrm>
          <a:prstGeom prst="rect">
            <a:avLst/>
          </a:prstGeom>
          <a:solidFill>
            <a:srgbClr val="F6EAE6"/>
          </a:solidFill>
          <a:ln w="15875">
            <a:solidFill>
              <a:srgbClr val="8C3A2B"/>
            </a:solidFill>
            <a:prstDash val="solid"/>
          </a:ln>
        </p:spPr>
      </p:sp>
      <p:sp>
        <p:nvSpPr>
          <p:cNvPr id="21" name="Text 19"/>
          <p:cNvSpPr txBox="1"/>
          <p:nvPr/>
        </p:nvSpPr>
        <p:spPr>
          <a:xfrm>
            <a:off x="850392" y="4297680"/>
            <a:ext cx="2505456" cy="292608"/>
          </a:xfrm>
          <a:prstGeom prst="rect">
            <a:avLst/>
          </a:prstGeom>
          <a:noFill/>
          <a:ln/>
        </p:spPr>
        <p:txBody>
          <a:bodyPr wrap="square" lIns="0" tIns="0" rIns="0" bIns="0" rtlCol="0" anchor="ctr"/>
          <a:lstStyle/>
          <a:p>
            <a:pPr algn="ctr" indent="0" marL="0">
              <a:buNone/>
            </a:pPr>
            <a:r>
              <a:rPr lang="en-US" sz="950" b="1" dirty="0">
                <a:solidFill>
                  <a:srgbClr val="8C3A2B"/>
                </a:solidFill>
                <a:latin typeface="Cambria" pitchFamily="34" charset="0"/>
                <a:ea typeface="Cambria" pitchFamily="34" charset="-122"/>
                <a:cs typeface="Cambria" pitchFamily="34" charset="-120"/>
              </a:rPr>
              <a:t>Eşik · Ürün · Organizasyon · Yönelme</a:t>
            </a:r>
            <a:endParaRPr lang="en-US" sz="950" dirty="0"/>
          </a:p>
        </p:txBody>
      </p:sp>
      <p:sp>
        <p:nvSpPr>
          <p:cNvPr id="22" name="Shape 20"/>
          <p:cNvSpPr/>
          <p:nvPr/>
        </p:nvSpPr>
        <p:spPr>
          <a:xfrm>
            <a:off x="777240" y="4901184"/>
            <a:ext cx="2651760" cy="292608"/>
          </a:xfrm>
          <a:prstGeom prst="rect">
            <a:avLst/>
          </a:prstGeom>
          <a:solidFill>
            <a:srgbClr val="F6EAE6"/>
          </a:solidFill>
          <a:ln w="15875">
            <a:solidFill>
              <a:srgbClr val="8C3A2B"/>
            </a:solidFill>
            <a:prstDash val="solid"/>
          </a:ln>
        </p:spPr>
      </p:sp>
      <p:sp>
        <p:nvSpPr>
          <p:cNvPr id="23" name="Text 21"/>
          <p:cNvSpPr txBox="1"/>
          <p:nvPr/>
        </p:nvSpPr>
        <p:spPr>
          <a:xfrm>
            <a:off x="850392" y="4901184"/>
            <a:ext cx="2505456" cy="292608"/>
          </a:xfrm>
          <a:prstGeom prst="rect">
            <a:avLst/>
          </a:prstGeom>
          <a:noFill/>
          <a:ln/>
        </p:spPr>
        <p:txBody>
          <a:bodyPr wrap="square" lIns="0" tIns="0" rIns="0" bIns="0" rtlCol="0" anchor="ctr"/>
          <a:lstStyle/>
          <a:p>
            <a:pPr algn="ctr" indent="0" marL="0">
              <a:buNone/>
            </a:pPr>
            <a:r>
              <a:rPr lang="en-US" sz="950" b="1" dirty="0">
                <a:solidFill>
                  <a:srgbClr val="8C3A2B"/>
                </a:solidFill>
                <a:latin typeface="Cambria" pitchFamily="34" charset="0"/>
                <a:ea typeface="Cambria" pitchFamily="34" charset="-122"/>
                <a:cs typeface="Cambria" pitchFamily="34" charset="-120"/>
              </a:rPr>
              <a:t>Gezinme</a:t>
            </a:r>
            <a:endParaRPr lang="en-US" sz="950" dirty="0"/>
          </a:p>
        </p:txBody>
      </p:sp>
      <p:sp>
        <p:nvSpPr>
          <p:cNvPr id="24" name="Text 22"/>
          <p:cNvSpPr txBox="1"/>
          <p:nvPr/>
        </p:nvSpPr>
        <p:spPr>
          <a:xfrm>
            <a:off x="4709160" y="2487168"/>
            <a:ext cx="6675120" cy="292608"/>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Markalaşma — marka ve marka iletişimi bilgisi</a:t>
            </a:r>
            <a:endParaRPr lang="en-US" sz="1050" dirty="0"/>
          </a:p>
        </p:txBody>
      </p:sp>
      <p:sp>
        <p:nvSpPr>
          <p:cNvPr id="25" name="Shape 23"/>
          <p:cNvSpPr/>
          <p:nvPr/>
        </p:nvSpPr>
        <p:spPr>
          <a:xfrm>
            <a:off x="4539996" y="2592324"/>
            <a:ext cx="82296" cy="82296"/>
          </a:xfrm>
          <a:prstGeom prst="ellipse">
            <a:avLst/>
          </a:prstGeom>
          <a:solidFill>
            <a:srgbClr val="8C3A2B"/>
          </a:solidFill>
          <a:ln w="12700">
            <a:solidFill>
              <a:srgbClr val="8C3A2B"/>
            </a:solidFill>
            <a:prstDash val="solid"/>
          </a:ln>
        </p:spPr>
      </p:sp>
      <p:sp>
        <p:nvSpPr>
          <p:cNvPr id="26" name="Text 24"/>
          <p:cNvSpPr txBox="1"/>
          <p:nvPr/>
        </p:nvSpPr>
        <p:spPr>
          <a:xfrm>
            <a:off x="4709160" y="3090672"/>
            <a:ext cx="6675120" cy="292608"/>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Sosyo-kültürel bilimler — psikoloji, sosyoloji, felsefe</a:t>
            </a:r>
            <a:endParaRPr lang="en-US" sz="1050" dirty="0"/>
          </a:p>
        </p:txBody>
      </p:sp>
      <p:sp>
        <p:nvSpPr>
          <p:cNvPr id="27" name="Shape 25"/>
          <p:cNvSpPr/>
          <p:nvPr/>
        </p:nvSpPr>
        <p:spPr>
          <a:xfrm>
            <a:off x="4539996" y="3195828"/>
            <a:ext cx="82296" cy="82296"/>
          </a:xfrm>
          <a:prstGeom prst="ellipse">
            <a:avLst/>
          </a:prstGeom>
          <a:solidFill>
            <a:srgbClr val="8C3A2B"/>
          </a:solidFill>
          <a:ln w="12700">
            <a:solidFill>
              <a:srgbClr val="8C3A2B"/>
            </a:solidFill>
            <a:prstDash val="solid"/>
          </a:ln>
        </p:spPr>
      </p:sp>
      <p:sp>
        <p:nvSpPr>
          <p:cNvPr id="28" name="Text 26"/>
          <p:cNvSpPr txBox="1"/>
          <p:nvPr/>
        </p:nvSpPr>
        <p:spPr>
          <a:xfrm>
            <a:off x="4709160" y="3694176"/>
            <a:ext cx="6675120" cy="292608"/>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Araştırma — hedef kitle, tüketici davranışı, yolculuk analizi, trend okuma</a:t>
            </a:r>
            <a:endParaRPr lang="en-US" sz="1050" dirty="0"/>
          </a:p>
        </p:txBody>
      </p:sp>
      <p:sp>
        <p:nvSpPr>
          <p:cNvPr id="29" name="Shape 27"/>
          <p:cNvSpPr/>
          <p:nvPr/>
        </p:nvSpPr>
        <p:spPr>
          <a:xfrm>
            <a:off x="4539996" y="3799332"/>
            <a:ext cx="82296" cy="82296"/>
          </a:xfrm>
          <a:prstGeom prst="ellipse">
            <a:avLst/>
          </a:prstGeom>
          <a:solidFill>
            <a:srgbClr val="8C3A2B"/>
          </a:solidFill>
          <a:ln w="12700">
            <a:solidFill>
              <a:srgbClr val="8C3A2B"/>
            </a:solidFill>
            <a:prstDash val="solid"/>
          </a:ln>
        </p:spPr>
      </p:sp>
      <p:sp>
        <p:nvSpPr>
          <p:cNvPr id="30" name="Text 28"/>
          <p:cNvSpPr txBox="1"/>
          <p:nvPr/>
        </p:nvSpPr>
        <p:spPr>
          <a:xfrm>
            <a:off x="4709160" y="4297680"/>
            <a:ext cx="6675120" cy="292608"/>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Pazarlama ve strateji — perakende pazarlaması, mağaza içi operasyon, koku pazarlaması</a:t>
            </a:r>
            <a:endParaRPr lang="en-US" sz="1050" dirty="0"/>
          </a:p>
        </p:txBody>
      </p:sp>
      <p:sp>
        <p:nvSpPr>
          <p:cNvPr id="31" name="Shape 29"/>
          <p:cNvSpPr/>
          <p:nvPr/>
        </p:nvSpPr>
        <p:spPr>
          <a:xfrm>
            <a:off x="4539996" y="4402836"/>
            <a:ext cx="82296" cy="82296"/>
          </a:xfrm>
          <a:prstGeom prst="ellipse">
            <a:avLst/>
          </a:prstGeom>
          <a:solidFill>
            <a:srgbClr val="8C3A2B"/>
          </a:solidFill>
          <a:ln w="12700">
            <a:solidFill>
              <a:srgbClr val="8C3A2B"/>
            </a:solidFill>
            <a:prstDash val="solid"/>
          </a:ln>
        </p:spPr>
      </p:sp>
      <p:sp>
        <p:nvSpPr>
          <p:cNvPr id="32" name="Text 30"/>
          <p:cNvSpPr txBox="1"/>
          <p:nvPr/>
        </p:nvSpPr>
        <p:spPr>
          <a:xfrm>
            <a:off x="4709160" y="4901184"/>
            <a:ext cx="6675120" cy="292608"/>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Tasarım ve tasarım eylemi — mobilya ve yapı teknolojileri, teknik çizim, CAD/3B, mevzuat, insan ölçüsü ve ergonomi</a:t>
            </a:r>
            <a:endParaRPr lang="en-US" sz="1050" dirty="0"/>
          </a:p>
        </p:txBody>
      </p:sp>
      <p:sp>
        <p:nvSpPr>
          <p:cNvPr id="33" name="Shape 31"/>
          <p:cNvSpPr/>
          <p:nvPr/>
        </p:nvSpPr>
        <p:spPr>
          <a:xfrm>
            <a:off x="4539996" y="5006340"/>
            <a:ext cx="82296" cy="82296"/>
          </a:xfrm>
          <a:prstGeom prst="ellipse">
            <a:avLst/>
          </a:prstGeom>
          <a:solidFill>
            <a:srgbClr val="8C3A2B"/>
          </a:solidFill>
          <a:ln w="12700">
            <a:solidFill>
              <a:srgbClr val="8C3A2B"/>
            </a:solidFill>
            <a:prstDash val="solid"/>
          </a:ln>
        </p:spPr>
      </p:sp>
      <p:sp>
        <p:nvSpPr>
          <p:cNvPr id="34" name="Text 32"/>
          <p:cNvSpPr txBox="1"/>
          <p:nvPr/>
        </p:nvSpPr>
        <p:spPr>
          <a:xfrm>
            <a:off x="4709160" y="5504688"/>
            <a:ext cx="6675120" cy="292608"/>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Çok kanallılık ve dijital — dijital gelişmeler ve dijital çözümlerin işleyişi</a:t>
            </a:r>
            <a:endParaRPr lang="en-US" sz="1050" dirty="0"/>
          </a:p>
        </p:txBody>
      </p:sp>
      <p:sp>
        <p:nvSpPr>
          <p:cNvPr id="35" name="Shape 33"/>
          <p:cNvSpPr/>
          <p:nvPr/>
        </p:nvSpPr>
        <p:spPr>
          <a:xfrm>
            <a:off x="4539996" y="5609844"/>
            <a:ext cx="82296" cy="82296"/>
          </a:xfrm>
          <a:prstGeom prst="ellipse">
            <a:avLst/>
          </a:prstGeom>
          <a:solidFill>
            <a:srgbClr val="8C3A2B"/>
          </a:solidFill>
          <a:ln w="12700">
            <a:solidFill>
              <a:srgbClr val="8C3A2B"/>
            </a:solidFill>
            <a:prstDash val="solid"/>
          </a:ln>
        </p:spPr>
      </p:sp>
      <p:sp>
        <p:nvSpPr>
          <p:cNvPr id="36" name="Text 34"/>
          <p:cNvSpPr txBox="1"/>
          <p:nvPr/>
        </p:nvSpPr>
        <p:spPr>
          <a:xfrm>
            <a:off x="777240" y="2249424"/>
            <a:ext cx="265176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MODÜL</a:t>
            </a:r>
            <a:endParaRPr lang="en-US" sz="850" dirty="0"/>
          </a:p>
        </p:txBody>
      </p:sp>
      <p:sp>
        <p:nvSpPr>
          <p:cNvPr id="37" name="Text 35"/>
          <p:cNvSpPr txBox="1"/>
          <p:nvPr/>
        </p:nvSpPr>
        <p:spPr>
          <a:xfrm>
            <a:off x="4709160" y="2249424"/>
            <a:ext cx="667512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GEREKTİRDİĞİ YETKİNLİK ALANI</a:t>
            </a:r>
            <a:endParaRPr lang="en-US" sz="850" dirty="0"/>
          </a:p>
        </p:txBody>
      </p:sp>
      <p:sp>
        <p:nvSpPr>
          <p:cNvPr id="38" name="Shape 36"/>
          <p:cNvSpPr/>
          <p:nvPr/>
        </p:nvSpPr>
        <p:spPr>
          <a:xfrm>
            <a:off x="777240" y="5907024"/>
            <a:ext cx="10634472" cy="0"/>
          </a:xfrm>
          <a:prstGeom prst="line">
            <a:avLst/>
          </a:prstGeom>
          <a:noFill/>
          <a:ln w="9525">
            <a:solidFill>
              <a:srgbClr val="C9C9CF"/>
            </a:solidFill>
            <a:prstDash val="solid"/>
          </a:ln>
        </p:spPr>
      </p:sp>
      <p:sp>
        <p:nvSpPr>
          <p:cNvPr id="39" name="Text 37"/>
          <p:cNvSpPr txBox="1"/>
          <p:nvPr/>
        </p:nvSpPr>
        <p:spPr>
          <a:xfrm>
            <a:off x="777240" y="6035040"/>
            <a:ext cx="10634472" cy="320040"/>
          </a:xfrm>
          <a:prstGeom prst="rect">
            <a:avLst/>
          </a:prstGeom>
          <a:noFill/>
          <a:ln/>
        </p:spPr>
        <p:txBody>
          <a:bodyPr wrap="square" lIns="0" tIns="0" rIns="0" bIns="0" rtlCol="0" anchor="ctr"/>
          <a:lstStyle/>
          <a:p>
            <a:pPr algn="l" indent="0" marL="0">
              <a:lnSpc>
                <a:spcPts val="1200"/>
              </a:lnSpc>
              <a:buNone/>
            </a:pPr>
            <a:r>
              <a:rPr lang="en-US" sz="1200" i="1" dirty="0">
                <a:solidFill>
                  <a:srgbClr val="8C3A2B"/>
                </a:solidFill>
                <a:latin typeface="Cambria" pitchFamily="34" charset="0"/>
                <a:ea typeface="Cambria" pitchFamily="34" charset="-122"/>
                <a:cs typeface="Cambria" pitchFamily="34" charset="-120"/>
              </a:rPr>
              <a:t>Dört modül aynı yetkinliği paylaşıyor: tasarım ve tasarım eylemi. Projenin ağırlık merkezi orada.</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VIII · DEĞERLENDİRME</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Ağırlıklar ve sekiz boyut</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350" dirty="0">
                <a:solidFill>
                  <a:srgbClr val="2B2B31"/>
                </a:solidFill>
                <a:latin typeface="Cambria" pitchFamily="34" charset="0"/>
                <a:ea typeface="Cambria" pitchFamily="34" charset="-122"/>
                <a:cs typeface="Cambria" pitchFamily="34" charset="-120"/>
              </a:rPr>
              <a:t>Not, beş kalemden ve her jüride sekiz boyuttan oluşur. Boyutların ağırlığı jüriye göre değişir: analiz fazında marka ve konsept, sonrasında mekânsal çözüm ve teknik ağırlık kazanır.</a:t>
            </a:r>
            <a:endParaRPr lang="en-US" sz="1350" dirty="0"/>
          </a:p>
        </p:txBody>
      </p:sp>
      <p:sp>
        <p:nvSpPr>
          <p:cNvPr id="7" name="Text 5"/>
          <p:cNvSpPr txBox="1"/>
          <p:nvPr/>
        </p:nvSpPr>
        <p:spPr>
          <a:xfrm>
            <a:off x="777240" y="2276856"/>
            <a:ext cx="1356970"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DÖNEM NOTUNUN DAĞILIMI</a:t>
            </a:r>
            <a:endParaRPr lang="en-US" sz="900" dirty="0"/>
          </a:p>
        </p:txBody>
      </p:sp>
      <p:sp>
        <p:nvSpPr>
          <p:cNvPr id="8" name="Shape 6"/>
          <p:cNvSpPr/>
          <p:nvPr/>
        </p:nvSpPr>
        <p:spPr>
          <a:xfrm>
            <a:off x="2207362" y="2395728"/>
            <a:ext cx="9204350" cy="0"/>
          </a:xfrm>
          <a:prstGeom prst="line">
            <a:avLst/>
          </a:prstGeom>
          <a:noFill/>
          <a:ln w="9525">
            <a:solidFill>
              <a:srgbClr val="EDEDF0"/>
            </a:solidFill>
            <a:prstDash val="solid"/>
          </a:ln>
        </p:spPr>
      </p:sp>
      <p:sp>
        <p:nvSpPr>
          <p:cNvPr id="9" name="Shape 7"/>
          <p:cNvSpPr/>
          <p:nvPr/>
        </p:nvSpPr>
        <p:spPr>
          <a:xfrm>
            <a:off x="777240" y="2615184"/>
            <a:ext cx="1026871" cy="402336"/>
          </a:xfrm>
          <a:prstGeom prst="rect">
            <a:avLst/>
          </a:prstGeom>
          <a:solidFill>
            <a:srgbClr val="F6EAE6"/>
          </a:solidFill>
          <a:ln/>
        </p:spPr>
      </p:sp>
      <p:sp>
        <p:nvSpPr>
          <p:cNvPr id="10" name="Text 8"/>
          <p:cNvSpPr txBox="1"/>
          <p:nvPr/>
        </p:nvSpPr>
        <p:spPr>
          <a:xfrm>
            <a:off x="777240" y="2615184"/>
            <a:ext cx="1026871" cy="402336"/>
          </a:xfrm>
          <a:prstGeom prst="rect">
            <a:avLst/>
          </a:prstGeom>
          <a:noFill/>
          <a:ln/>
        </p:spPr>
        <p:txBody>
          <a:bodyPr wrap="square" lIns="0" tIns="0" rIns="0" bIns="0" rtlCol="0" anchor="ctr"/>
          <a:lstStyle/>
          <a:p>
            <a:pPr algn="ctr" indent="0" marL="0">
              <a:buNone/>
            </a:pPr>
            <a:r>
              <a:rPr lang="en-US" sz="1400" b="1" dirty="0">
                <a:solidFill>
                  <a:srgbClr val="8C3A2B"/>
                </a:solidFill>
                <a:latin typeface="Cambria" pitchFamily="34" charset="0"/>
                <a:ea typeface="Cambria" pitchFamily="34" charset="-122"/>
                <a:cs typeface="Cambria" pitchFamily="34" charset="-120"/>
              </a:rPr>
              <a:t>%10</a:t>
            </a:r>
            <a:endParaRPr lang="en-US" sz="1400" dirty="0"/>
          </a:p>
        </p:txBody>
      </p:sp>
      <p:sp>
        <p:nvSpPr>
          <p:cNvPr id="11" name="Text 9"/>
          <p:cNvSpPr txBox="1"/>
          <p:nvPr/>
        </p:nvSpPr>
        <p:spPr>
          <a:xfrm>
            <a:off x="777240" y="3072384"/>
            <a:ext cx="1026871" cy="457200"/>
          </a:xfrm>
          <a:prstGeom prst="rect">
            <a:avLst/>
          </a:prstGeom>
          <a:noFill/>
          <a:ln/>
        </p:spPr>
        <p:txBody>
          <a:bodyPr wrap="square" lIns="0" tIns="0" rIns="0" bIns="0" rtlCol="0" anchor="ctr"/>
          <a:lstStyle/>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Araştırma sunumu</a:t>
            </a:r>
            <a:endParaRPr lang="en-US" sz="950" dirty="0"/>
          </a:p>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3. hafta</a:t>
            </a:r>
            <a:endParaRPr lang="en-US" sz="950" dirty="0"/>
          </a:p>
        </p:txBody>
      </p:sp>
      <p:sp>
        <p:nvSpPr>
          <p:cNvPr id="12" name="Shape 10"/>
          <p:cNvSpPr/>
          <p:nvPr/>
        </p:nvSpPr>
        <p:spPr>
          <a:xfrm>
            <a:off x="1840687" y="2615184"/>
            <a:ext cx="2622042" cy="402336"/>
          </a:xfrm>
          <a:prstGeom prst="rect">
            <a:avLst/>
          </a:prstGeom>
          <a:solidFill>
            <a:srgbClr val="F6EAE6"/>
          </a:solidFill>
          <a:ln/>
        </p:spPr>
      </p:sp>
      <p:sp>
        <p:nvSpPr>
          <p:cNvPr id="13" name="Text 11"/>
          <p:cNvSpPr txBox="1"/>
          <p:nvPr/>
        </p:nvSpPr>
        <p:spPr>
          <a:xfrm>
            <a:off x="1840687" y="2615184"/>
            <a:ext cx="2622042" cy="402336"/>
          </a:xfrm>
          <a:prstGeom prst="rect">
            <a:avLst/>
          </a:prstGeom>
          <a:noFill/>
          <a:ln/>
        </p:spPr>
        <p:txBody>
          <a:bodyPr wrap="square" lIns="0" tIns="0" rIns="0" bIns="0" rtlCol="0" anchor="ctr"/>
          <a:lstStyle/>
          <a:p>
            <a:pPr algn="ctr" indent="0" marL="0">
              <a:buNone/>
            </a:pPr>
            <a:r>
              <a:rPr lang="en-US" sz="1400" b="1" dirty="0">
                <a:solidFill>
                  <a:srgbClr val="8C3A2B"/>
                </a:solidFill>
                <a:latin typeface="Cambria" pitchFamily="34" charset="0"/>
                <a:ea typeface="Cambria" pitchFamily="34" charset="-122"/>
                <a:cs typeface="Cambria" pitchFamily="34" charset="-120"/>
              </a:rPr>
              <a:t>%25</a:t>
            </a:r>
            <a:endParaRPr lang="en-US" sz="1400" dirty="0"/>
          </a:p>
        </p:txBody>
      </p:sp>
      <p:sp>
        <p:nvSpPr>
          <p:cNvPr id="14" name="Text 12"/>
          <p:cNvSpPr txBox="1"/>
          <p:nvPr/>
        </p:nvSpPr>
        <p:spPr>
          <a:xfrm>
            <a:off x="1840687" y="3072384"/>
            <a:ext cx="2622042" cy="457200"/>
          </a:xfrm>
          <a:prstGeom prst="rect">
            <a:avLst/>
          </a:prstGeom>
          <a:noFill/>
          <a:ln/>
        </p:spPr>
        <p:txBody>
          <a:bodyPr wrap="square" lIns="0" tIns="0" rIns="0" bIns="0" rtlCol="0" anchor="ctr"/>
          <a:lstStyle/>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Vize 1</a:t>
            </a:r>
            <a:endParaRPr lang="en-US" sz="950" dirty="0"/>
          </a:p>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6. hafta</a:t>
            </a:r>
            <a:endParaRPr lang="en-US" sz="950" dirty="0"/>
          </a:p>
        </p:txBody>
      </p:sp>
      <p:sp>
        <p:nvSpPr>
          <p:cNvPr id="15" name="Shape 13"/>
          <p:cNvSpPr/>
          <p:nvPr/>
        </p:nvSpPr>
        <p:spPr>
          <a:xfrm>
            <a:off x="4499305" y="2615184"/>
            <a:ext cx="2622042" cy="402336"/>
          </a:xfrm>
          <a:prstGeom prst="rect">
            <a:avLst/>
          </a:prstGeom>
          <a:solidFill>
            <a:srgbClr val="F6EAE6"/>
          </a:solidFill>
          <a:ln/>
        </p:spPr>
      </p:sp>
      <p:sp>
        <p:nvSpPr>
          <p:cNvPr id="16" name="Text 14"/>
          <p:cNvSpPr txBox="1"/>
          <p:nvPr/>
        </p:nvSpPr>
        <p:spPr>
          <a:xfrm>
            <a:off x="4499305" y="2615184"/>
            <a:ext cx="2622042" cy="402336"/>
          </a:xfrm>
          <a:prstGeom prst="rect">
            <a:avLst/>
          </a:prstGeom>
          <a:noFill/>
          <a:ln/>
        </p:spPr>
        <p:txBody>
          <a:bodyPr wrap="square" lIns="0" tIns="0" rIns="0" bIns="0" rtlCol="0" anchor="ctr"/>
          <a:lstStyle/>
          <a:p>
            <a:pPr algn="ctr" indent="0" marL="0">
              <a:buNone/>
            </a:pPr>
            <a:r>
              <a:rPr lang="en-US" sz="1400" b="1" dirty="0">
                <a:solidFill>
                  <a:srgbClr val="8C3A2B"/>
                </a:solidFill>
                <a:latin typeface="Cambria" pitchFamily="34" charset="0"/>
                <a:ea typeface="Cambria" pitchFamily="34" charset="-122"/>
                <a:cs typeface="Cambria" pitchFamily="34" charset="-120"/>
              </a:rPr>
              <a:t>%25</a:t>
            </a:r>
            <a:endParaRPr lang="en-US" sz="1400" dirty="0"/>
          </a:p>
        </p:txBody>
      </p:sp>
      <p:sp>
        <p:nvSpPr>
          <p:cNvPr id="17" name="Text 15"/>
          <p:cNvSpPr txBox="1"/>
          <p:nvPr/>
        </p:nvSpPr>
        <p:spPr>
          <a:xfrm>
            <a:off x="4499305" y="3072384"/>
            <a:ext cx="2622042" cy="457200"/>
          </a:xfrm>
          <a:prstGeom prst="rect">
            <a:avLst/>
          </a:prstGeom>
          <a:noFill/>
          <a:ln/>
        </p:spPr>
        <p:txBody>
          <a:bodyPr wrap="square" lIns="0" tIns="0" rIns="0" bIns="0" rtlCol="0" anchor="ctr"/>
          <a:lstStyle/>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Vize 2</a:t>
            </a:r>
            <a:endParaRPr lang="en-US" sz="950" dirty="0"/>
          </a:p>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11. hafta</a:t>
            </a:r>
            <a:endParaRPr lang="en-US" sz="950" dirty="0"/>
          </a:p>
        </p:txBody>
      </p:sp>
      <p:sp>
        <p:nvSpPr>
          <p:cNvPr id="18" name="Shape 16"/>
          <p:cNvSpPr/>
          <p:nvPr/>
        </p:nvSpPr>
        <p:spPr>
          <a:xfrm>
            <a:off x="7157923" y="2615184"/>
            <a:ext cx="3153766" cy="402336"/>
          </a:xfrm>
          <a:prstGeom prst="rect">
            <a:avLst/>
          </a:prstGeom>
          <a:solidFill>
            <a:srgbClr val="8C3A2B"/>
          </a:solidFill>
          <a:ln/>
        </p:spPr>
      </p:sp>
      <p:sp>
        <p:nvSpPr>
          <p:cNvPr id="19" name="Text 17"/>
          <p:cNvSpPr txBox="1"/>
          <p:nvPr/>
        </p:nvSpPr>
        <p:spPr>
          <a:xfrm>
            <a:off x="7157923" y="2615184"/>
            <a:ext cx="315376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%30</a:t>
            </a:r>
            <a:endParaRPr lang="en-US" sz="1400" dirty="0"/>
          </a:p>
        </p:txBody>
      </p:sp>
      <p:sp>
        <p:nvSpPr>
          <p:cNvPr id="20" name="Text 18"/>
          <p:cNvSpPr txBox="1"/>
          <p:nvPr/>
        </p:nvSpPr>
        <p:spPr>
          <a:xfrm>
            <a:off x="7157923" y="3072384"/>
            <a:ext cx="3153766" cy="457200"/>
          </a:xfrm>
          <a:prstGeom prst="rect">
            <a:avLst/>
          </a:prstGeom>
          <a:noFill/>
          <a:ln/>
        </p:spPr>
        <p:txBody>
          <a:bodyPr wrap="square" lIns="0" tIns="0" rIns="0" bIns="0" rtlCol="0" anchor="ctr"/>
          <a:lstStyle/>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Final</a:t>
            </a:r>
            <a:endParaRPr lang="en-US" sz="950" dirty="0"/>
          </a:p>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ayrı hafta</a:t>
            </a:r>
            <a:endParaRPr lang="en-US" sz="950" dirty="0"/>
          </a:p>
        </p:txBody>
      </p:sp>
      <p:sp>
        <p:nvSpPr>
          <p:cNvPr id="21" name="Shape 19"/>
          <p:cNvSpPr/>
          <p:nvPr/>
        </p:nvSpPr>
        <p:spPr>
          <a:xfrm>
            <a:off x="10348265" y="2615184"/>
            <a:ext cx="1026871" cy="402336"/>
          </a:xfrm>
          <a:prstGeom prst="rect">
            <a:avLst/>
          </a:prstGeom>
          <a:solidFill>
            <a:srgbClr val="F6EAE6"/>
          </a:solidFill>
          <a:ln/>
        </p:spPr>
      </p:sp>
      <p:sp>
        <p:nvSpPr>
          <p:cNvPr id="22" name="Text 20"/>
          <p:cNvSpPr txBox="1"/>
          <p:nvPr/>
        </p:nvSpPr>
        <p:spPr>
          <a:xfrm>
            <a:off x="10348265" y="2615184"/>
            <a:ext cx="1026871" cy="402336"/>
          </a:xfrm>
          <a:prstGeom prst="rect">
            <a:avLst/>
          </a:prstGeom>
          <a:noFill/>
          <a:ln/>
        </p:spPr>
        <p:txBody>
          <a:bodyPr wrap="square" lIns="0" tIns="0" rIns="0" bIns="0" rtlCol="0" anchor="ctr"/>
          <a:lstStyle/>
          <a:p>
            <a:pPr algn="ctr" indent="0" marL="0">
              <a:buNone/>
            </a:pPr>
            <a:r>
              <a:rPr lang="en-US" sz="1400" b="1" dirty="0">
                <a:solidFill>
                  <a:srgbClr val="8C3A2B"/>
                </a:solidFill>
                <a:latin typeface="Cambria" pitchFamily="34" charset="0"/>
                <a:ea typeface="Cambria" pitchFamily="34" charset="-122"/>
                <a:cs typeface="Cambria" pitchFamily="34" charset="-120"/>
              </a:rPr>
              <a:t>%10</a:t>
            </a:r>
            <a:endParaRPr lang="en-US" sz="1400" dirty="0"/>
          </a:p>
        </p:txBody>
      </p:sp>
      <p:sp>
        <p:nvSpPr>
          <p:cNvPr id="23" name="Text 21"/>
          <p:cNvSpPr txBox="1"/>
          <p:nvPr/>
        </p:nvSpPr>
        <p:spPr>
          <a:xfrm>
            <a:off x="10348265" y="3072384"/>
            <a:ext cx="1026871" cy="457200"/>
          </a:xfrm>
          <a:prstGeom prst="rect">
            <a:avLst/>
          </a:prstGeom>
          <a:noFill/>
          <a:ln/>
        </p:spPr>
        <p:txBody>
          <a:bodyPr wrap="square" lIns="0" tIns="0" rIns="0" bIns="0" rtlCol="0" anchor="ctr"/>
          <a:lstStyle/>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Süreç</a:t>
            </a:r>
            <a:endParaRPr lang="en-US" sz="950" dirty="0"/>
          </a:p>
          <a:p>
            <a:pPr algn="ctr" indent="0" marL="0">
              <a:lnSpc>
                <a:spcPts val="1150"/>
              </a:lnSpc>
              <a:buNone/>
            </a:pPr>
            <a:r>
              <a:rPr lang="en-US" sz="950" dirty="0">
                <a:solidFill>
                  <a:srgbClr val="7A7A82"/>
                </a:solidFill>
                <a:latin typeface="Calibri" pitchFamily="34" charset="0"/>
                <a:ea typeface="Calibri" pitchFamily="34" charset="-122"/>
                <a:cs typeface="Calibri" pitchFamily="34" charset="-120"/>
              </a:rPr>
              <a:t>performansı</a:t>
            </a:r>
            <a:endParaRPr lang="en-US" sz="950" dirty="0"/>
          </a:p>
        </p:txBody>
      </p:sp>
      <p:sp>
        <p:nvSpPr>
          <p:cNvPr id="24" name="Text 22"/>
          <p:cNvSpPr txBox="1"/>
          <p:nvPr/>
        </p:nvSpPr>
        <p:spPr>
          <a:xfrm>
            <a:off x="777240" y="3630168"/>
            <a:ext cx="1923898"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HER JÜRİDE PUANLANAN SEKİZ BOYUT</a:t>
            </a:r>
            <a:endParaRPr lang="en-US" sz="900" dirty="0"/>
          </a:p>
        </p:txBody>
      </p:sp>
      <p:sp>
        <p:nvSpPr>
          <p:cNvPr id="25" name="Shape 23"/>
          <p:cNvSpPr/>
          <p:nvPr/>
        </p:nvSpPr>
        <p:spPr>
          <a:xfrm>
            <a:off x="2774290" y="3749040"/>
            <a:ext cx="8637422" cy="0"/>
          </a:xfrm>
          <a:prstGeom prst="line">
            <a:avLst/>
          </a:prstGeom>
          <a:noFill/>
          <a:ln w="9525">
            <a:solidFill>
              <a:srgbClr val="EDEDF0"/>
            </a:solidFill>
            <a:prstDash val="solid"/>
          </a:ln>
        </p:spPr>
      </p:sp>
      <p:sp>
        <p:nvSpPr>
          <p:cNvPr id="26" name="Text 24"/>
          <p:cNvSpPr txBox="1"/>
          <p:nvPr/>
        </p:nvSpPr>
        <p:spPr>
          <a:xfrm>
            <a:off x="777240" y="3950208"/>
            <a:ext cx="4754880" cy="274320"/>
          </a:xfrm>
          <a:prstGeom prst="rect">
            <a:avLst/>
          </a:prstGeom>
          <a:noFill/>
          <a:ln/>
        </p:spPr>
        <p:txBody>
          <a:bodyPr wrap="square" lIns="0" tIns="0" rIns="0" bIns="0" rtlCol="0" anchor="ctr"/>
          <a:lstStyle/>
          <a:p>
            <a:pPr algn="l"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BOYUT</a:t>
            </a:r>
            <a:endParaRPr lang="en-US" sz="850" dirty="0"/>
          </a:p>
        </p:txBody>
      </p:sp>
      <p:sp>
        <p:nvSpPr>
          <p:cNvPr id="27" name="Text 25"/>
          <p:cNvSpPr txBox="1"/>
          <p:nvPr/>
        </p:nvSpPr>
        <p:spPr>
          <a:xfrm>
            <a:off x="6035040" y="3950208"/>
            <a:ext cx="1097280" cy="274320"/>
          </a:xfrm>
          <a:prstGeom prst="rect">
            <a:avLst/>
          </a:prstGeom>
          <a:noFill/>
          <a:ln/>
        </p:spPr>
        <p:txBody>
          <a:bodyPr wrap="square" lIns="0" tIns="0" rIns="0" bIns="0" rtlCol="0" anchor="ctr"/>
          <a:lstStyle/>
          <a:p>
            <a:pPr algn="ctr"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VİZE 1</a:t>
            </a:r>
            <a:endParaRPr lang="en-US" sz="850" dirty="0"/>
          </a:p>
        </p:txBody>
      </p:sp>
      <p:sp>
        <p:nvSpPr>
          <p:cNvPr id="28" name="Text 26"/>
          <p:cNvSpPr txBox="1"/>
          <p:nvPr/>
        </p:nvSpPr>
        <p:spPr>
          <a:xfrm>
            <a:off x="7269480" y="3950208"/>
            <a:ext cx="1097280" cy="274320"/>
          </a:xfrm>
          <a:prstGeom prst="rect">
            <a:avLst/>
          </a:prstGeom>
          <a:noFill/>
          <a:ln/>
        </p:spPr>
        <p:txBody>
          <a:bodyPr wrap="square" lIns="0" tIns="0" rIns="0" bIns="0" rtlCol="0" anchor="ctr"/>
          <a:lstStyle/>
          <a:p>
            <a:pPr algn="ctr"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VİZE 2</a:t>
            </a:r>
            <a:endParaRPr lang="en-US" sz="850" dirty="0"/>
          </a:p>
        </p:txBody>
      </p:sp>
      <p:sp>
        <p:nvSpPr>
          <p:cNvPr id="29" name="Text 27"/>
          <p:cNvSpPr txBox="1"/>
          <p:nvPr/>
        </p:nvSpPr>
        <p:spPr>
          <a:xfrm>
            <a:off x="8503920" y="3950208"/>
            <a:ext cx="1097280" cy="274320"/>
          </a:xfrm>
          <a:prstGeom prst="rect">
            <a:avLst/>
          </a:prstGeom>
          <a:noFill/>
          <a:ln/>
        </p:spPr>
        <p:txBody>
          <a:bodyPr wrap="square" lIns="0" tIns="0" rIns="0" bIns="0" rtlCol="0" anchor="ctr"/>
          <a:lstStyle/>
          <a:p>
            <a:pPr algn="ctr" indent="0" marL="0">
              <a:lnSpc>
                <a:spcPts val="1200"/>
              </a:lnSpc>
              <a:buNone/>
            </a:pPr>
            <a:r>
              <a:rPr lang="en-US" sz="850" b="1" spc="140" kern="0" dirty="0">
                <a:solidFill>
                  <a:srgbClr val="A6A6AC"/>
                </a:solidFill>
                <a:latin typeface="Calibri" pitchFamily="34" charset="0"/>
                <a:ea typeface="Calibri" pitchFamily="34" charset="-122"/>
                <a:cs typeface="Calibri" pitchFamily="34" charset="-120"/>
              </a:rPr>
              <a:t>FİNAL</a:t>
            </a:r>
            <a:endParaRPr lang="en-US" sz="850" dirty="0"/>
          </a:p>
        </p:txBody>
      </p:sp>
      <p:sp>
        <p:nvSpPr>
          <p:cNvPr id="30" name="Shape 28"/>
          <p:cNvSpPr/>
          <p:nvPr/>
        </p:nvSpPr>
        <p:spPr>
          <a:xfrm>
            <a:off x="777240" y="4169664"/>
            <a:ext cx="8915400" cy="0"/>
          </a:xfrm>
          <a:prstGeom prst="line">
            <a:avLst/>
          </a:prstGeom>
          <a:noFill/>
          <a:ln w="11430">
            <a:solidFill>
              <a:srgbClr val="C9C9CF"/>
            </a:solidFill>
            <a:prstDash val="solid"/>
          </a:ln>
        </p:spPr>
      </p:sp>
      <p:sp>
        <p:nvSpPr>
          <p:cNvPr id="31" name="Text 29"/>
          <p:cNvSpPr txBox="1"/>
          <p:nvPr/>
        </p:nvSpPr>
        <p:spPr>
          <a:xfrm>
            <a:off x="777240" y="4242816"/>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Marka ve kullanıcı analizi</a:t>
            </a:r>
            <a:endParaRPr lang="en-US" sz="1050" dirty="0"/>
          </a:p>
        </p:txBody>
      </p:sp>
      <p:sp>
        <p:nvSpPr>
          <p:cNvPr id="32" name="Text 30"/>
          <p:cNvSpPr txBox="1"/>
          <p:nvPr/>
        </p:nvSpPr>
        <p:spPr>
          <a:xfrm>
            <a:off x="6035040" y="4242816"/>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%30</a:t>
            </a:r>
            <a:endParaRPr lang="en-US" sz="1050" dirty="0"/>
          </a:p>
        </p:txBody>
      </p:sp>
      <p:sp>
        <p:nvSpPr>
          <p:cNvPr id="33" name="Text 31"/>
          <p:cNvSpPr txBox="1"/>
          <p:nvPr/>
        </p:nvSpPr>
        <p:spPr>
          <a:xfrm>
            <a:off x="7269480" y="4242816"/>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%10</a:t>
            </a:r>
            <a:endParaRPr lang="en-US" sz="1050" dirty="0"/>
          </a:p>
        </p:txBody>
      </p:sp>
      <p:sp>
        <p:nvSpPr>
          <p:cNvPr id="34" name="Text 32"/>
          <p:cNvSpPr txBox="1"/>
          <p:nvPr/>
        </p:nvSpPr>
        <p:spPr>
          <a:xfrm>
            <a:off x="8503920" y="4242816"/>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%10</a:t>
            </a:r>
            <a:endParaRPr lang="en-US" sz="1050" dirty="0"/>
          </a:p>
        </p:txBody>
      </p:sp>
      <p:sp>
        <p:nvSpPr>
          <p:cNvPr id="35" name="Shape 33"/>
          <p:cNvSpPr/>
          <p:nvPr/>
        </p:nvSpPr>
        <p:spPr>
          <a:xfrm>
            <a:off x="777240" y="4480560"/>
            <a:ext cx="8915400" cy="0"/>
          </a:xfrm>
          <a:prstGeom prst="line">
            <a:avLst/>
          </a:prstGeom>
          <a:noFill/>
          <a:ln w="5080">
            <a:solidFill>
              <a:srgbClr val="EDEDF0"/>
            </a:solidFill>
            <a:prstDash val="solid"/>
          </a:ln>
        </p:spPr>
      </p:sp>
      <p:sp>
        <p:nvSpPr>
          <p:cNvPr id="36" name="Text 34"/>
          <p:cNvSpPr txBox="1"/>
          <p:nvPr/>
        </p:nvSpPr>
        <p:spPr>
          <a:xfrm>
            <a:off x="777240" y="4498848"/>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Konsept gücü ve tutarlılığı</a:t>
            </a:r>
            <a:endParaRPr lang="en-US" sz="1050" dirty="0"/>
          </a:p>
        </p:txBody>
      </p:sp>
      <p:sp>
        <p:nvSpPr>
          <p:cNvPr id="37" name="Text 35"/>
          <p:cNvSpPr txBox="1"/>
          <p:nvPr/>
        </p:nvSpPr>
        <p:spPr>
          <a:xfrm>
            <a:off x="6035040" y="4498848"/>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%30</a:t>
            </a:r>
            <a:endParaRPr lang="en-US" sz="1050" dirty="0"/>
          </a:p>
        </p:txBody>
      </p:sp>
      <p:sp>
        <p:nvSpPr>
          <p:cNvPr id="38" name="Text 36"/>
          <p:cNvSpPr txBox="1"/>
          <p:nvPr/>
        </p:nvSpPr>
        <p:spPr>
          <a:xfrm>
            <a:off x="7269480" y="4498848"/>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39" name="Text 37"/>
          <p:cNvSpPr txBox="1"/>
          <p:nvPr/>
        </p:nvSpPr>
        <p:spPr>
          <a:xfrm>
            <a:off x="8503920" y="4498848"/>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40" name="Shape 38"/>
          <p:cNvSpPr/>
          <p:nvPr/>
        </p:nvSpPr>
        <p:spPr>
          <a:xfrm>
            <a:off x="777240" y="4736592"/>
            <a:ext cx="8915400" cy="0"/>
          </a:xfrm>
          <a:prstGeom prst="line">
            <a:avLst/>
          </a:prstGeom>
          <a:noFill/>
          <a:ln w="5080">
            <a:solidFill>
              <a:srgbClr val="EDEDF0"/>
            </a:solidFill>
            <a:prstDash val="solid"/>
          </a:ln>
        </p:spPr>
      </p:sp>
      <p:sp>
        <p:nvSpPr>
          <p:cNvPr id="41" name="Text 39"/>
          <p:cNvSpPr txBox="1"/>
          <p:nvPr/>
        </p:nvSpPr>
        <p:spPr>
          <a:xfrm>
            <a:off x="777240" y="4754880"/>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Mekânsal kurgu ve program</a:t>
            </a:r>
            <a:endParaRPr lang="en-US" sz="1050" dirty="0"/>
          </a:p>
        </p:txBody>
      </p:sp>
      <p:sp>
        <p:nvSpPr>
          <p:cNvPr id="42" name="Text 40"/>
          <p:cNvSpPr txBox="1"/>
          <p:nvPr/>
        </p:nvSpPr>
        <p:spPr>
          <a:xfrm>
            <a:off x="6035040" y="4754880"/>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%20</a:t>
            </a:r>
            <a:endParaRPr lang="en-US" sz="1050" dirty="0"/>
          </a:p>
        </p:txBody>
      </p:sp>
      <p:sp>
        <p:nvSpPr>
          <p:cNvPr id="43" name="Text 41"/>
          <p:cNvSpPr txBox="1"/>
          <p:nvPr/>
        </p:nvSpPr>
        <p:spPr>
          <a:xfrm>
            <a:off x="7269480" y="4754880"/>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%20</a:t>
            </a:r>
            <a:endParaRPr lang="en-US" sz="1050" dirty="0"/>
          </a:p>
        </p:txBody>
      </p:sp>
      <p:sp>
        <p:nvSpPr>
          <p:cNvPr id="44" name="Text 42"/>
          <p:cNvSpPr txBox="1"/>
          <p:nvPr/>
        </p:nvSpPr>
        <p:spPr>
          <a:xfrm>
            <a:off x="8503920" y="4754880"/>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45" name="Shape 43"/>
          <p:cNvSpPr/>
          <p:nvPr/>
        </p:nvSpPr>
        <p:spPr>
          <a:xfrm>
            <a:off x="777240" y="4992624"/>
            <a:ext cx="8915400" cy="0"/>
          </a:xfrm>
          <a:prstGeom prst="line">
            <a:avLst/>
          </a:prstGeom>
          <a:noFill/>
          <a:ln w="5080">
            <a:solidFill>
              <a:srgbClr val="EDEDF0"/>
            </a:solidFill>
            <a:prstDash val="solid"/>
          </a:ln>
        </p:spPr>
      </p:sp>
      <p:sp>
        <p:nvSpPr>
          <p:cNvPr id="46" name="Text 44"/>
          <p:cNvSpPr txBox="1"/>
          <p:nvPr/>
        </p:nvSpPr>
        <p:spPr>
          <a:xfrm>
            <a:off x="777240" y="5010912"/>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Çekim ve eşik</a:t>
            </a:r>
            <a:endParaRPr lang="en-US" sz="1050" dirty="0"/>
          </a:p>
        </p:txBody>
      </p:sp>
      <p:sp>
        <p:nvSpPr>
          <p:cNvPr id="47" name="Text 45"/>
          <p:cNvSpPr txBox="1"/>
          <p:nvPr/>
        </p:nvSpPr>
        <p:spPr>
          <a:xfrm>
            <a:off x="6035040" y="5010912"/>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%5</a:t>
            </a:r>
            <a:endParaRPr lang="en-US" sz="1050" dirty="0"/>
          </a:p>
        </p:txBody>
      </p:sp>
      <p:sp>
        <p:nvSpPr>
          <p:cNvPr id="48" name="Text 46"/>
          <p:cNvSpPr txBox="1"/>
          <p:nvPr/>
        </p:nvSpPr>
        <p:spPr>
          <a:xfrm>
            <a:off x="7269480" y="5010912"/>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49" name="Text 47"/>
          <p:cNvSpPr txBox="1"/>
          <p:nvPr/>
        </p:nvSpPr>
        <p:spPr>
          <a:xfrm>
            <a:off x="8503920" y="5010912"/>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%10</a:t>
            </a:r>
            <a:endParaRPr lang="en-US" sz="1050" dirty="0"/>
          </a:p>
        </p:txBody>
      </p:sp>
      <p:sp>
        <p:nvSpPr>
          <p:cNvPr id="50" name="Shape 48"/>
          <p:cNvSpPr/>
          <p:nvPr/>
        </p:nvSpPr>
        <p:spPr>
          <a:xfrm>
            <a:off x="777240" y="5248656"/>
            <a:ext cx="8915400" cy="0"/>
          </a:xfrm>
          <a:prstGeom prst="line">
            <a:avLst/>
          </a:prstGeom>
          <a:noFill/>
          <a:ln w="5080">
            <a:solidFill>
              <a:srgbClr val="EDEDF0"/>
            </a:solidFill>
            <a:prstDash val="solid"/>
          </a:ln>
        </p:spPr>
      </p:sp>
      <p:sp>
        <p:nvSpPr>
          <p:cNvPr id="51" name="Text 49"/>
          <p:cNvSpPr txBox="1"/>
          <p:nvPr/>
        </p:nvSpPr>
        <p:spPr>
          <a:xfrm>
            <a:off x="777240" y="5266944"/>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Organizasyonel çözüm</a:t>
            </a:r>
            <a:endParaRPr lang="en-US" sz="1050" dirty="0"/>
          </a:p>
        </p:txBody>
      </p:sp>
      <p:sp>
        <p:nvSpPr>
          <p:cNvPr id="52" name="Text 50"/>
          <p:cNvSpPr txBox="1"/>
          <p:nvPr/>
        </p:nvSpPr>
        <p:spPr>
          <a:xfrm>
            <a:off x="6035040" y="5266944"/>
            <a:ext cx="1097280" cy="237744"/>
          </a:xfrm>
          <a:prstGeom prst="rect">
            <a:avLst/>
          </a:prstGeom>
          <a:noFill/>
          <a:ln/>
        </p:spPr>
        <p:txBody>
          <a:bodyPr wrap="square" lIns="0" tIns="0" rIns="0" bIns="0" rtlCol="0" anchor="ctr"/>
          <a:lstStyle/>
          <a:p>
            <a:pPr algn="ctr" indent="0" marL="0">
              <a:buNone/>
            </a:pPr>
            <a:r>
              <a:rPr lang="en-US" sz="1050" dirty="0">
                <a:solidFill>
                  <a:srgbClr val="A6A6AC"/>
                </a:solidFill>
                <a:latin typeface="Calibri" pitchFamily="34" charset="0"/>
                <a:ea typeface="Calibri" pitchFamily="34" charset="-122"/>
                <a:cs typeface="Calibri" pitchFamily="34" charset="-120"/>
              </a:rPr>
              <a:t>—</a:t>
            </a:r>
            <a:endParaRPr lang="en-US" sz="1050" dirty="0"/>
          </a:p>
        </p:txBody>
      </p:sp>
      <p:sp>
        <p:nvSpPr>
          <p:cNvPr id="53" name="Text 51"/>
          <p:cNvSpPr txBox="1"/>
          <p:nvPr/>
        </p:nvSpPr>
        <p:spPr>
          <a:xfrm>
            <a:off x="7269480" y="5266944"/>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54" name="Text 52"/>
          <p:cNvSpPr txBox="1"/>
          <p:nvPr/>
        </p:nvSpPr>
        <p:spPr>
          <a:xfrm>
            <a:off x="8503920" y="5266944"/>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55" name="Shape 53"/>
          <p:cNvSpPr/>
          <p:nvPr/>
        </p:nvSpPr>
        <p:spPr>
          <a:xfrm>
            <a:off x="777240" y="5504688"/>
            <a:ext cx="8915400" cy="0"/>
          </a:xfrm>
          <a:prstGeom prst="line">
            <a:avLst/>
          </a:prstGeom>
          <a:noFill/>
          <a:ln w="5080">
            <a:solidFill>
              <a:srgbClr val="EDEDF0"/>
            </a:solidFill>
            <a:prstDash val="solid"/>
          </a:ln>
        </p:spPr>
      </p:sp>
      <p:sp>
        <p:nvSpPr>
          <p:cNvPr id="56" name="Text 54"/>
          <p:cNvSpPr txBox="1"/>
          <p:nvPr/>
        </p:nvSpPr>
        <p:spPr>
          <a:xfrm>
            <a:off x="777240" y="5522976"/>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Atmosfer ve duyusal katman</a:t>
            </a:r>
            <a:endParaRPr lang="en-US" sz="1050" dirty="0"/>
          </a:p>
        </p:txBody>
      </p:sp>
      <p:sp>
        <p:nvSpPr>
          <p:cNvPr id="57" name="Text 55"/>
          <p:cNvSpPr txBox="1"/>
          <p:nvPr/>
        </p:nvSpPr>
        <p:spPr>
          <a:xfrm>
            <a:off x="6035040" y="5522976"/>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%5</a:t>
            </a:r>
            <a:endParaRPr lang="en-US" sz="1050" dirty="0"/>
          </a:p>
        </p:txBody>
      </p:sp>
      <p:sp>
        <p:nvSpPr>
          <p:cNvPr id="58" name="Text 56"/>
          <p:cNvSpPr txBox="1"/>
          <p:nvPr/>
        </p:nvSpPr>
        <p:spPr>
          <a:xfrm>
            <a:off x="7269480" y="5522976"/>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59" name="Text 57"/>
          <p:cNvSpPr txBox="1"/>
          <p:nvPr/>
        </p:nvSpPr>
        <p:spPr>
          <a:xfrm>
            <a:off x="8503920" y="5522976"/>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60" name="Shape 58"/>
          <p:cNvSpPr/>
          <p:nvPr/>
        </p:nvSpPr>
        <p:spPr>
          <a:xfrm>
            <a:off x="777240" y="5760720"/>
            <a:ext cx="8915400" cy="0"/>
          </a:xfrm>
          <a:prstGeom prst="line">
            <a:avLst/>
          </a:prstGeom>
          <a:noFill/>
          <a:ln w="5080">
            <a:solidFill>
              <a:srgbClr val="EDEDF0"/>
            </a:solidFill>
            <a:prstDash val="solid"/>
          </a:ln>
        </p:spPr>
      </p:sp>
      <p:sp>
        <p:nvSpPr>
          <p:cNvPr id="61" name="Text 59"/>
          <p:cNvSpPr txBox="1"/>
          <p:nvPr/>
        </p:nvSpPr>
        <p:spPr>
          <a:xfrm>
            <a:off x="777240" y="5779008"/>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Teknik çözüm ve detay</a:t>
            </a:r>
            <a:endParaRPr lang="en-US" sz="1050" dirty="0"/>
          </a:p>
        </p:txBody>
      </p:sp>
      <p:sp>
        <p:nvSpPr>
          <p:cNvPr id="62" name="Text 60"/>
          <p:cNvSpPr txBox="1"/>
          <p:nvPr/>
        </p:nvSpPr>
        <p:spPr>
          <a:xfrm>
            <a:off x="6035040" y="5779008"/>
            <a:ext cx="1097280" cy="237744"/>
          </a:xfrm>
          <a:prstGeom prst="rect">
            <a:avLst/>
          </a:prstGeom>
          <a:noFill/>
          <a:ln/>
        </p:spPr>
        <p:txBody>
          <a:bodyPr wrap="square" lIns="0" tIns="0" rIns="0" bIns="0" rtlCol="0" anchor="ctr"/>
          <a:lstStyle/>
          <a:p>
            <a:pPr algn="ctr" indent="0" marL="0">
              <a:buNone/>
            </a:pPr>
            <a:r>
              <a:rPr lang="en-US" sz="1050" dirty="0">
                <a:solidFill>
                  <a:srgbClr val="A6A6AC"/>
                </a:solidFill>
                <a:latin typeface="Calibri" pitchFamily="34" charset="0"/>
                <a:ea typeface="Calibri" pitchFamily="34" charset="-122"/>
                <a:cs typeface="Calibri" pitchFamily="34" charset="-120"/>
              </a:rPr>
              <a:t>—</a:t>
            </a:r>
            <a:endParaRPr lang="en-US" sz="1050" dirty="0"/>
          </a:p>
        </p:txBody>
      </p:sp>
      <p:sp>
        <p:nvSpPr>
          <p:cNvPr id="63" name="Text 61"/>
          <p:cNvSpPr txBox="1"/>
          <p:nvPr/>
        </p:nvSpPr>
        <p:spPr>
          <a:xfrm>
            <a:off x="7269480" y="5779008"/>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%5</a:t>
            </a:r>
            <a:endParaRPr lang="en-US" sz="1050" dirty="0"/>
          </a:p>
        </p:txBody>
      </p:sp>
      <p:sp>
        <p:nvSpPr>
          <p:cNvPr id="64" name="Text 62"/>
          <p:cNvSpPr txBox="1"/>
          <p:nvPr/>
        </p:nvSpPr>
        <p:spPr>
          <a:xfrm>
            <a:off x="8503920" y="5779008"/>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%15</a:t>
            </a:r>
            <a:endParaRPr lang="en-US" sz="1050" dirty="0"/>
          </a:p>
        </p:txBody>
      </p:sp>
      <p:sp>
        <p:nvSpPr>
          <p:cNvPr id="65" name="Shape 63"/>
          <p:cNvSpPr/>
          <p:nvPr/>
        </p:nvSpPr>
        <p:spPr>
          <a:xfrm>
            <a:off x="777240" y="6016752"/>
            <a:ext cx="8915400" cy="0"/>
          </a:xfrm>
          <a:prstGeom prst="line">
            <a:avLst/>
          </a:prstGeom>
          <a:noFill/>
          <a:ln w="5080">
            <a:solidFill>
              <a:srgbClr val="EDEDF0"/>
            </a:solidFill>
            <a:prstDash val="solid"/>
          </a:ln>
        </p:spPr>
      </p:sp>
      <p:sp>
        <p:nvSpPr>
          <p:cNvPr id="66" name="Text 64"/>
          <p:cNvSpPr txBox="1"/>
          <p:nvPr/>
        </p:nvSpPr>
        <p:spPr>
          <a:xfrm>
            <a:off x="777240" y="6035040"/>
            <a:ext cx="5029200" cy="237744"/>
          </a:xfrm>
          <a:prstGeom prst="rect">
            <a:avLst/>
          </a:prstGeom>
          <a:noFill/>
          <a:ln/>
        </p:spPr>
        <p:txBody>
          <a:bodyPr wrap="square" lIns="0" tIns="0" rIns="0" bIns="0" rtlCol="0" anchor="ctr"/>
          <a:lstStyle/>
          <a:p>
            <a:pPr indent="0" marL="0">
              <a:buNone/>
            </a:pPr>
            <a:r>
              <a:rPr lang="en-US" sz="1050" dirty="0">
                <a:solidFill>
                  <a:srgbClr val="2B2B31"/>
                </a:solidFill>
                <a:latin typeface="Calibri" pitchFamily="34" charset="0"/>
                <a:ea typeface="Calibri" pitchFamily="34" charset="-122"/>
                <a:cs typeface="Calibri" pitchFamily="34" charset="-120"/>
              </a:rPr>
              <a:t>Sunum ve anlatım</a:t>
            </a:r>
            <a:endParaRPr lang="en-US" sz="1050" dirty="0"/>
          </a:p>
        </p:txBody>
      </p:sp>
      <p:sp>
        <p:nvSpPr>
          <p:cNvPr id="67" name="Text 65"/>
          <p:cNvSpPr txBox="1"/>
          <p:nvPr/>
        </p:nvSpPr>
        <p:spPr>
          <a:xfrm>
            <a:off x="6035040" y="6035040"/>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%10</a:t>
            </a:r>
            <a:endParaRPr lang="en-US" sz="1050" dirty="0"/>
          </a:p>
        </p:txBody>
      </p:sp>
      <p:sp>
        <p:nvSpPr>
          <p:cNvPr id="68" name="Text 66"/>
          <p:cNvSpPr txBox="1"/>
          <p:nvPr/>
        </p:nvSpPr>
        <p:spPr>
          <a:xfrm>
            <a:off x="7269480" y="6035040"/>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%5</a:t>
            </a:r>
            <a:endParaRPr lang="en-US" sz="1050" dirty="0"/>
          </a:p>
        </p:txBody>
      </p:sp>
      <p:sp>
        <p:nvSpPr>
          <p:cNvPr id="69" name="Text 67"/>
          <p:cNvSpPr txBox="1"/>
          <p:nvPr/>
        </p:nvSpPr>
        <p:spPr>
          <a:xfrm>
            <a:off x="8503920" y="6035040"/>
            <a:ext cx="1097280" cy="237744"/>
          </a:xfrm>
          <a:prstGeom prst="rect">
            <a:avLst/>
          </a:prstGeom>
          <a:noFill/>
          <a:ln/>
        </p:spPr>
        <p:txBody>
          <a:bodyPr wrap="square" lIns="0" tIns="0" rIns="0" bIns="0" rtlCol="0" anchor="ctr"/>
          <a:lstStyle/>
          <a:p>
            <a:pPr algn="ctr" indent="0" marL="0">
              <a:buNone/>
            </a:pPr>
            <a:r>
              <a:rPr lang="en-US" sz="1050" b="1" dirty="0">
                <a:solidFill>
                  <a:srgbClr val="8C3A2B"/>
                </a:solidFill>
                <a:latin typeface="Calibri" pitchFamily="34" charset="0"/>
                <a:ea typeface="Calibri" pitchFamily="34" charset="-122"/>
                <a:cs typeface="Calibri" pitchFamily="34" charset="-120"/>
              </a:rPr>
              <a:t>%5</a:t>
            </a:r>
            <a:endParaRPr lang="en-US" sz="1050" dirty="0"/>
          </a:p>
        </p:txBody>
      </p:sp>
      <p:sp>
        <p:nvSpPr>
          <p:cNvPr id="70" name="Shape 68"/>
          <p:cNvSpPr/>
          <p:nvPr/>
        </p:nvSpPr>
        <p:spPr>
          <a:xfrm>
            <a:off x="10012680" y="4206240"/>
            <a:ext cx="1399032" cy="2011680"/>
          </a:xfrm>
          <a:prstGeom prst="rect">
            <a:avLst/>
          </a:prstGeom>
          <a:solidFill>
            <a:srgbClr val="F6EAE6"/>
          </a:solidFill>
          <a:ln w="15875">
            <a:solidFill>
              <a:srgbClr val="8C3A2B"/>
            </a:solidFill>
            <a:prstDash val="solid"/>
          </a:ln>
        </p:spPr>
      </p:sp>
      <p:sp>
        <p:nvSpPr>
          <p:cNvPr id="71" name="Text 69"/>
          <p:cNvSpPr txBox="1"/>
          <p:nvPr/>
        </p:nvSpPr>
        <p:spPr>
          <a:xfrm>
            <a:off x="10149840" y="4370832"/>
            <a:ext cx="1143000" cy="1371600"/>
          </a:xfrm>
          <a:prstGeom prst="rect">
            <a:avLst/>
          </a:prstGeom>
          <a:noFill/>
          <a:ln/>
        </p:spPr>
        <p:txBody>
          <a:bodyPr wrap="square" lIns="0" tIns="0" rIns="0" bIns="0" rtlCol="0" anchor="ctr"/>
          <a:lstStyle/>
          <a:p>
            <a:pPr algn="l" indent="0" marL="0">
              <a:lnSpc>
                <a:spcPts val="1300"/>
              </a:lnSpc>
              <a:buNone/>
            </a:pPr>
            <a:r>
              <a:rPr lang="en-US" sz="1000" dirty="0">
                <a:solidFill>
                  <a:srgbClr val="8C3A2B"/>
                </a:solidFill>
                <a:latin typeface="Cambria" pitchFamily="34" charset="0"/>
                <a:ea typeface="Cambria" pitchFamily="34" charset="-122"/>
                <a:cs typeface="Cambria" pitchFamily="34" charset="-120"/>
              </a:rPr>
              <a:t>Ağırlık kayması tesadüf değil: fikir önce, mekân sonra, detay en son ölçülür.</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353312"/>
            <a:ext cx="3108960" cy="1627632"/>
          </a:xfrm>
          <a:prstGeom prst="rect">
            <a:avLst/>
          </a:prstGeom>
          <a:noFill/>
          <a:ln/>
        </p:spPr>
        <p:txBody>
          <a:bodyPr wrap="square" lIns="0" tIns="0" rIns="0" bIns="0" rtlCol="0" anchor="ctr"/>
          <a:lstStyle/>
          <a:p>
            <a:pPr indent="0" marL="0">
              <a:buNone/>
            </a:pPr>
            <a:r>
              <a:rPr lang="en-US" sz="10400" b="1" dirty="0">
                <a:solidFill>
                  <a:srgbClr val="8C3A2B"/>
                </a:solidFill>
                <a:latin typeface="Cambria" pitchFamily="34" charset="0"/>
                <a:ea typeface="Cambria" pitchFamily="34" charset="-122"/>
                <a:cs typeface="Cambria" pitchFamily="34" charset="-120"/>
              </a:rPr>
              <a:t>IX</a:t>
            </a:r>
            <a:endParaRPr lang="en-US" sz="10400" dirty="0"/>
          </a:p>
        </p:txBody>
      </p:sp>
      <p:sp>
        <p:nvSpPr>
          <p:cNvPr id="4" name="Text 2"/>
          <p:cNvSpPr txBox="1"/>
          <p:nvPr/>
        </p:nvSpPr>
        <p:spPr>
          <a:xfrm>
            <a:off x="777240" y="3063240"/>
            <a:ext cx="10424160" cy="109728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Bugün ve bu hafta</a:t>
            </a:r>
            <a:endParaRPr lang="en-US" sz="3800" dirty="0"/>
          </a:p>
        </p:txBody>
      </p:sp>
      <p:sp>
        <p:nvSpPr>
          <p:cNvPr id="5" name="Shape 3"/>
          <p:cNvSpPr/>
          <p:nvPr/>
        </p:nvSpPr>
        <p:spPr>
          <a:xfrm>
            <a:off x="777240" y="4315968"/>
            <a:ext cx="2011680" cy="0"/>
          </a:xfrm>
          <a:prstGeom prst="line">
            <a:avLst/>
          </a:prstGeom>
          <a:noFill/>
          <a:ln w="25400">
            <a:solidFill>
              <a:srgbClr val="8C3A2B"/>
            </a:solidFill>
            <a:prstDash val="solid"/>
          </a:ln>
        </p:spPr>
      </p:sp>
      <p:sp>
        <p:nvSpPr>
          <p:cNvPr id="6" name="Text 4"/>
          <p:cNvSpPr txBox="1"/>
          <p:nvPr/>
        </p:nvSpPr>
        <p:spPr>
          <a:xfrm>
            <a:off x="777240" y="4526280"/>
            <a:ext cx="9692640" cy="914400"/>
          </a:xfrm>
          <a:prstGeom prst="rect">
            <a:avLst/>
          </a:prstGeom>
          <a:noFill/>
          <a:ln/>
        </p:spPr>
        <p:txBody>
          <a:bodyPr wrap="square" lIns="0" tIns="0" rIns="0" bIns="0" rtlCol="0" anchor="ctr"/>
          <a:lstStyle/>
          <a:p>
            <a:pPr indent="0" marL="0">
              <a:lnSpc>
                <a:spcPts val="2700"/>
              </a:lnSpc>
              <a:buNone/>
            </a:pPr>
            <a:r>
              <a:rPr lang="en-US" sz="1900" i="1" dirty="0">
                <a:solidFill>
                  <a:srgbClr val="B9B9C0"/>
                </a:solidFill>
                <a:latin typeface="Cambria" pitchFamily="34" charset="0"/>
                <a:ea typeface="Cambria" pitchFamily="34" charset="-122"/>
                <a:cs typeface="Cambria" pitchFamily="34" charset="-120"/>
              </a:rPr>
              <a:t>Öğrendiğimiz araçları aynı gün içinde bir mağaza üzerinde deneyeceğiz.</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IX · BUGÜN</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Birinci çalışma: bir mağazayı okumak</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42</a:t>
            </a:r>
            <a:endParaRPr lang="en-US" sz="900" dirty="0"/>
          </a:p>
        </p:txBody>
      </p:sp>
      <p:sp>
        <p:nvSpPr>
          <p:cNvPr id="6" name="Text 4"/>
          <p:cNvSpPr txBox="1"/>
          <p:nvPr/>
        </p:nvSpPr>
        <p:spPr>
          <a:xfrm>
            <a:off x="777240" y="1664208"/>
            <a:ext cx="10634472" cy="603504"/>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Her birinize bir mağaza görseli verilecek: onu altı başlık altında okuyup üç anahtar kelime çıkaracaksınız. Markayı tanımıyorsunuz, yalnızca gördüğünüzden hareket edeceksiniz.</a:t>
            </a:r>
            <a:endParaRPr lang="en-US" sz="1400" dirty="0"/>
          </a:p>
        </p:txBody>
      </p:sp>
      <p:sp>
        <p:nvSpPr>
          <p:cNvPr id="7" name="Shape 5"/>
          <p:cNvSpPr/>
          <p:nvPr/>
        </p:nvSpPr>
        <p:spPr>
          <a:xfrm>
            <a:off x="777240" y="2450592"/>
            <a:ext cx="3291840" cy="0"/>
          </a:xfrm>
          <a:prstGeom prst="line">
            <a:avLst/>
          </a:prstGeom>
          <a:noFill/>
          <a:ln w="15875">
            <a:solidFill>
              <a:srgbClr val="8C3A2B"/>
            </a:solidFill>
            <a:prstDash val="solid"/>
          </a:ln>
        </p:spPr>
      </p:sp>
      <p:sp>
        <p:nvSpPr>
          <p:cNvPr id="8" name="Shape 6"/>
          <p:cNvSpPr/>
          <p:nvPr/>
        </p:nvSpPr>
        <p:spPr>
          <a:xfrm>
            <a:off x="795528" y="2615184"/>
            <a:ext cx="256032" cy="256032"/>
          </a:xfrm>
          <a:prstGeom prst="ellipse">
            <a:avLst/>
          </a:prstGeom>
          <a:solidFill>
            <a:srgbClr val="8C3A2B"/>
          </a:solidFill>
          <a:ln w="12700">
            <a:solidFill>
              <a:srgbClr val="8C3A2B"/>
            </a:solidFill>
            <a:prstDash val="solid"/>
          </a:ln>
        </p:spPr>
      </p:sp>
      <p:sp>
        <p:nvSpPr>
          <p:cNvPr id="9" name="Text 7"/>
          <p:cNvSpPr txBox="1"/>
          <p:nvPr/>
        </p:nvSpPr>
        <p:spPr>
          <a:xfrm>
            <a:off x="795528" y="26151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0" name="Text 8"/>
          <p:cNvSpPr txBox="1"/>
          <p:nvPr/>
        </p:nvSpPr>
        <p:spPr>
          <a:xfrm>
            <a:off x="1179576" y="2596896"/>
            <a:ext cx="2889504"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Marka</a:t>
            </a:r>
            <a:endParaRPr lang="en-US" sz="1500" dirty="0"/>
          </a:p>
        </p:txBody>
      </p:sp>
      <p:sp>
        <p:nvSpPr>
          <p:cNvPr id="11" name="Text 9"/>
          <p:cNvSpPr txBox="1"/>
          <p:nvPr/>
        </p:nvSpPr>
        <p:spPr>
          <a:xfrm>
            <a:off x="1179576" y="2907792"/>
            <a:ext cx="2834640" cy="457200"/>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Bu mekân hangi markayı anlatıyor? Nasıl bir tavrı var?</a:t>
            </a:r>
            <a:endParaRPr lang="en-US" sz="1050" dirty="0"/>
          </a:p>
        </p:txBody>
      </p:sp>
      <p:sp>
        <p:nvSpPr>
          <p:cNvPr id="12" name="Shape 10"/>
          <p:cNvSpPr/>
          <p:nvPr/>
        </p:nvSpPr>
        <p:spPr>
          <a:xfrm>
            <a:off x="4453128" y="2450592"/>
            <a:ext cx="3291840" cy="0"/>
          </a:xfrm>
          <a:prstGeom prst="line">
            <a:avLst/>
          </a:prstGeom>
          <a:noFill/>
          <a:ln w="15875">
            <a:solidFill>
              <a:srgbClr val="8C3A2B"/>
            </a:solidFill>
            <a:prstDash val="solid"/>
          </a:ln>
        </p:spPr>
      </p:sp>
      <p:sp>
        <p:nvSpPr>
          <p:cNvPr id="13" name="Shape 11"/>
          <p:cNvSpPr/>
          <p:nvPr/>
        </p:nvSpPr>
        <p:spPr>
          <a:xfrm>
            <a:off x="4471416" y="2615184"/>
            <a:ext cx="256032" cy="256032"/>
          </a:xfrm>
          <a:prstGeom prst="ellipse">
            <a:avLst/>
          </a:prstGeom>
          <a:solidFill>
            <a:srgbClr val="8C3A2B"/>
          </a:solidFill>
          <a:ln w="12700">
            <a:solidFill>
              <a:srgbClr val="8C3A2B"/>
            </a:solidFill>
            <a:prstDash val="solid"/>
          </a:ln>
        </p:spPr>
      </p:sp>
      <p:sp>
        <p:nvSpPr>
          <p:cNvPr id="14" name="Text 12"/>
          <p:cNvSpPr txBox="1"/>
          <p:nvPr/>
        </p:nvSpPr>
        <p:spPr>
          <a:xfrm>
            <a:off x="4471416" y="26151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5" name="Text 13"/>
          <p:cNvSpPr txBox="1"/>
          <p:nvPr/>
        </p:nvSpPr>
        <p:spPr>
          <a:xfrm>
            <a:off x="4855464" y="2596896"/>
            <a:ext cx="2889504"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Kullanıcı</a:t>
            </a:r>
            <a:endParaRPr lang="en-US" sz="1500" dirty="0"/>
          </a:p>
        </p:txBody>
      </p:sp>
      <p:sp>
        <p:nvSpPr>
          <p:cNvPr id="16" name="Text 14"/>
          <p:cNvSpPr txBox="1"/>
          <p:nvPr/>
        </p:nvSpPr>
        <p:spPr>
          <a:xfrm>
            <a:off x="4855464" y="2907792"/>
            <a:ext cx="2834640" cy="457200"/>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Burada kim rahat eder, kim etmez?</a:t>
            </a:r>
            <a:endParaRPr lang="en-US" sz="1050" dirty="0"/>
          </a:p>
        </p:txBody>
      </p:sp>
      <p:sp>
        <p:nvSpPr>
          <p:cNvPr id="17" name="Shape 15"/>
          <p:cNvSpPr/>
          <p:nvPr/>
        </p:nvSpPr>
        <p:spPr>
          <a:xfrm>
            <a:off x="8129016" y="2450592"/>
            <a:ext cx="3291840" cy="0"/>
          </a:xfrm>
          <a:prstGeom prst="line">
            <a:avLst/>
          </a:prstGeom>
          <a:noFill/>
          <a:ln w="15875">
            <a:solidFill>
              <a:srgbClr val="8C3A2B"/>
            </a:solidFill>
            <a:prstDash val="solid"/>
          </a:ln>
        </p:spPr>
      </p:sp>
      <p:sp>
        <p:nvSpPr>
          <p:cNvPr id="18" name="Shape 16"/>
          <p:cNvSpPr/>
          <p:nvPr/>
        </p:nvSpPr>
        <p:spPr>
          <a:xfrm>
            <a:off x="8147304" y="2615184"/>
            <a:ext cx="256032" cy="256032"/>
          </a:xfrm>
          <a:prstGeom prst="ellipse">
            <a:avLst/>
          </a:prstGeom>
          <a:solidFill>
            <a:srgbClr val="8C3A2B"/>
          </a:solidFill>
          <a:ln w="12700">
            <a:solidFill>
              <a:srgbClr val="8C3A2B"/>
            </a:solidFill>
            <a:prstDash val="solid"/>
          </a:ln>
        </p:spPr>
      </p:sp>
      <p:sp>
        <p:nvSpPr>
          <p:cNvPr id="19" name="Text 17"/>
          <p:cNvSpPr txBox="1"/>
          <p:nvPr/>
        </p:nvSpPr>
        <p:spPr>
          <a:xfrm>
            <a:off x="8147304" y="26151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0" name="Text 18"/>
          <p:cNvSpPr txBox="1"/>
          <p:nvPr/>
        </p:nvSpPr>
        <p:spPr>
          <a:xfrm>
            <a:off x="8531352" y="2596896"/>
            <a:ext cx="2889504"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Ürün</a:t>
            </a:r>
            <a:endParaRPr lang="en-US" sz="1500" dirty="0"/>
          </a:p>
        </p:txBody>
      </p:sp>
      <p:sp>
        <p:nvSpPr>
          <p:cNvPr id="21" name="Text 19"/>
          <p:cNvSpPr txBox="1"/>
          <p:nvPr/>
        </p:nvSpPr>
        <p:spPr>
          <a:xfrm>
            <a:off x="8531352" y="2907792"/>
            <a:ext cx="2834640" cy="457200"/>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Ne satılıyor; ürün nasıl korunuyor, nasıl sunuluyor?</a:t>
            </a:r>
            <a:endParaRPr lang="en-US" sz="1050" dirty="0"/>
          </a:p>
        </p:txBody>
      </p:sp>
      <p:sp>
        <p:nvSpPr>
          <p:cNvPr id="22" name="Shape 20"/>
          <p:cNvSpPr/>
          <p:nvPr/>
        </p:nvSpPr>
        <p:spPr>
          <a:xfrm>
            <a:off x="777240" y="3685032"/>
            <a:ext cx="3291840" cy="0"/>
          </a:xfrm>
          <a:prstGeom prst="line">
            <a:avLst/>
          </a:prstGeom>
          <a:noFill/>
          <a:ln w="15875">
            <a:solidFill>
              <a:srgbClr val="8C3A2B"/>
            </a:solidFill>
            <a:prstDash val="solid"/>
          </a:ln>
        </p:spPr>
      </p:sp>
      <p:sp>
        <p:nvSpPr>
          <p:cNvPr id="23" name="Shape 21"/>
          <p:cNvSpPr/>
          <p:nvPr/>
        </p:nvSpPr>
        <p:spPr>
          <a:xfrm>
            <a:off x="795528" y="3849624"/>
            <a:ext cx="256032" cy="256032"/>
          </a:xfrm>
          <a:prstGeom prst="ellipse">
            <a:avLst/>
          </a:prstGeom>
          <a:solidFill>
            <a:srgbClr val="8C3A2B"/>
          </a:solidFill>
          <a:ln w="12700">
            <a:solidFill>
              <a:srgbClr val="8C3A2B"/>
            </a:solidFill>
            <a:prstDash val="solid"/>
          </a:ln>
        </p:spPr>
      </p:sp>
      <p:sp>
        <p:nvSpPr>
          <p:cNvPr id="24" name="Text 22"/>
          <p:cNvSpPr txBox="1"/>
          <p:nvPr/>
        </p:nvSpPr>
        <p:spPr>
          <a:xfrm>
            <a:off x="795528" y="38496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25" name="Text 23"/>
          <p:cNvSpPr txBox="1"/>
          <p:nvPr/>
        </p:nvSpPr>
        <p:spPr>
          <a:xfrm>
            <a:off x="1179576" y="3831336"/>
            <a:ext cx="2889504"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Davranış</a:t>
            </a:r>
            <a:endParaRPr lang="en-US" sz="1500" dirty="0"/>
          </a:p>
        </p:txBody>
      </p:sp>
      <p:sp>
        <p:nvSpPr>
          <p:cNvPr id="26" name="Text 24"/>
          <p:cNvSpPr txBox="1"/>
          <p:nvPr/>
        </p:nvSpPr>
        <p:spPr>
          <a:xfrm>
            <a:off x="1179576" y="4142232"/>
            <a:ext cx="2834640" cy="457200"/>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Müşteri burada ne yapıyor: bakıyor, dokunuyor, bekliyor?</a:t>
            </a:r>
            <a:endParaRPr lang="en-US" sz="1050" dirty="0"/>
          </a:p>
        </p:txBody>
      </p:sp>
      <p:sp>
        <p:nvSpPr>
          <p:cNvPr id="27" name="Shape 25"/>
          <p:cNvSpPr/>
          <p:nvPr/>
        </p:nvSpPr>
        <p:spPr>
          <a:xfrm>
            <a:off x="4453128" y="3685032"/>
            <a:ext cx="3291840" cy="0"/>
          </a:xfrm>
          <a:prstGeom prst="line">
            <a:avLst/>
          </a:prstGeom>
          <a:noFill/>
          <a:ln w="15875">
            <a:solidFill>
              <a:srgbClr val="8C3A2B"/>
            </a:solidFill>
            <a:prstDash val="solid"/>
          </a:ln>
        </p:spPr>
      </p:sp>
      <p:sp>
        <p:nvSpPr>
          <p:cNvPr id="28" name="Shape 26"/>
          <p:cNvSpPr/>
          <p:nvPr/>
        </p:nvSpPr>
        <p:spPr>
          <a:xfrm>
            <a:off x="4471416" y="3849624"/>
            <a:ext cx="256032" cy="256032"/>
          </a:xfrm>
          <a:prstGeom prst="ellipse">
            <a:avLst/>
          </a:prstGeom>
          <a:solidFill>
            <a:srgbClr val="8C3A2B"/>
          </a:solidFill>
          <a:ln w="12700">
            <a:solidFill>
              <a:srgbClr val="8C3A2B"/>
            </a:solidFill>
            <a:prstDash val="solid"/>
          </a:ln>
        </p:spPr>
      </p:sp>
      <p:sp>
        <p:nvSpPr>
          <p:cNvPr id="29" name="Text 27"/>
          <p:cNvSpPr txBox="1"/>
          <p:nvPr/>
        </p:nvSpPr>
        <p:spPr>
          <a:xfrm>
            <a:off x="4471416" y="38496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0" name="Text 28"/>
          <p:cNvSpPr txBox="1"/>
          <p:nvPr/>
        </p:nvSpPr>
        <p:spPr>
          <a:xfrm>
            <a:off x="4855464" y="3831336"/>
            <a:ext cx="2889504"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Duyular</a:t>
            </a:r>
            <a:endParaRPr lang="en-US" sz="1500" dirty="0"/>
          </a:p>
        </p:txBody>
      </p:sp>
      <p:sp>
        <p:nvSpPr>
          <p:cNvPr id="31" name="Text 29"/>
          <p:cNvSpPr txBox="1"/>
          <p:nvPr/>
        </p:nvSpPr>
        <p:spPr>
          <a:xfrm>
            <a:off x="4855464" y="4142232"/>
            <a:ext cx="2834640" cy="457200"/>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Hangi duyulara sesleniyor; hangileri sessiz bırakılmış?</a:t>
            </a:r>
            <a:endParaRPr lang="en-US" sz="1050" dirty="0"/>
          </a:p>
        </p:txBody>
      </p:sp>
      <p:sp>
        <p:nvSpPr>
          <p:cNvPr id="32" name="Shape 30"/>
          <p:cNvSpPr/>
          <p:nvPr/>
        </p:nvSpPr>
        <p:spPr>
          <a:xfrm>
            <a:off x="8129016" y="3685032"/>
            <a:ext cx="3291840" cy="0"/>
          </a:xfrm>
          <a:prstGeom prst="line">
            <a:avLst/>
          </a:prstGeom>
          <a:noFill/>
          <a:ln w="15875">
            <a:solidFill>
              <a:srgbClr val="8C3A2B"/>
            </a:solidFill>
            <a:prstDash val="solid"/>
          </a:ln>
        </p:spPr>
      </p:sp>
      <p:sp>
        <p:nvSpPr>
          <p:cNvPr id="33" name="Shape 31"/>
          <p:cNvSpPr/>
          <p:nvPr/>
        </p:nvSpPr>
        <p:spPr>
          <a:xfrm>
            <a:off x="8147304" y="3849624"/>
            <a:ext cx="256032" cy="256032"/>
          </a:xfrm>
          <a:prstGeom prst="ellipse">
            <a:avLst/>
          </a:prstGeom>
          <a:solidFill>
            <a:srgbClr val="8C3A2B"/>
          </a:solidFill>
          <a:ln w="12700">
            <a:solidFill>
              <a:srgbClr val="8C3A2B"/>
            </a:solidFill>
            <a:prstDash val="solid"/>
          </a:ln>
        </p:spPr>
      </p:sp>
      <p:sp>
        <p:nvSpPr>
          <p:cNvPr id="34" name="Text 32"/>
          <p:cNvSpPr txBox="1"/>
          <p:nvPr/>
        </p:nvSpPr>
        <p:spPr>
          <a:xfrm>
            <a:off x="8147304" y="38496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35" name="Text 33"/>
          <p:cNvSpPr txBox="1"/>
          <p:nvPr/>
        </p:nvSpPr>
        <p:spPr>
          <a:xfrm>
            <a:off x="8531352" y="3831336"/>
            <a:ext cx="2889504" cy="274320"/>
          </a:xfrm>
          <a:prstGeom prst="rect">
            <a:avLst/>
          </a:prstGeom>
          <a:noFill/>
          <a:ln/>
        </p:spPr>
        <p:txBody>
          <a:bodyPr wrap="square" lIns="0" tIns="0" rIns="0" bIns="0" rtlCol="0" anchor="ctr"/>
          <a:lstStyle/>
          <a:p>
            <a:pPr indent="0" marL="0">
              <a:buNone/>
            </a:pPr>
            <a:r>
              <a:rPr lang="en-US" sz="1500" b="1" dirty="0">
                <a:solidFill>
                  <a:srgbClr val="16161A"/>
                </a:solidFill>
                <a:latin typeface="Cambria" pitchFamily="34" charset="0"/>
                <a:ea typeface="Cambria" pitchFamily="34" charset="-122"/>
                <a:cs typeface="Cambria" pitchFamily="34" charset="-120"/>
              </a:rPr>
              <a:t>Atmosfer</a:t>
            </a:r>
            <a:endParaRPr lang="en-US" sz="1500" dirty="0"/>
          </a:p>
        </p:txBody>
      </p:sp>
      <p:sp>
        <p:nvSpPr>
          <p:cNvPr id="36" name="Text 34"/>
          <p:cNvSpPr txBox="1"/>
          <p:nvPr/>
        </p:nvSpPr>
        <p:spPr>
          <a:xfrm>
            <a:off x="8531352" y="4142232"/>
            <a:ext cx="2834640" cy="457200"/>
          </a:xfrm>
          <a:prstGeom prst="rect">
            <a:avLst/>
          </a:prstGeom>
          <a:noFill/>
          <a:ln/>
        </p:spPr>
        <p:txBody>
          <a:bodyPr wrap="square" lIns="0" tIns="0" rIns="0" bIns="0" rtlCol="0" anchor="ctr"/>
          <a:lstStyle/>
          <a:p>
            <a:pPr indent="0" marL="0">
              <a:lnSpc>
                <a:spcPts val="1300"/>
              </a:lnSpc>
              <a:buNone/>
            </a:pPr>
            <a:r>
              <a:rPr lang="en-US" sz="1050" dirty="0">
                <a:solidFill>
                  <a:srgbClr val="7A7A82"/>
                </a:solidFill>
                <a:latin typeface="Calibri" pitchFamily="34" charset="0"/>
                <a:ea typeface="Calibri" pitchFamily="34" charset="-122"/>
                <a:cs typeface="Calibri" pitchFamily="34" charset="-120"/>
              </a:rPr>
              <a:t>Işık, renk, malzeme, yoğunluk nasıl bir his kuruyor?</a:t>
            </a:r>
            <a:endParaRPr lang="en-US" sz="1050" dirty="0"/>
          </a:p>
        </p:txBody>
      </p:sp>
      <p:sp>
        <p:nvSpPr>
          <p:cNvPr id="37" name="Shape 35"/>
          <p:cNvSpPr/>
          <p:nvPr/>
        </p:nvSpPr>
        <p:spPr>
          <a:xfrm>
            <a:off x="777240" y="4956048"/>
            <a:ext cx="10634472" cy="713232"/>
          </a:xfrm>
          <a:prstGeom prst="rect">
            <a:avLst/>
          </a:prstGeom>
          <a:solidFill>
            <a:srgbClr val="F6EAE6"/>
          </a:solidFill>
          <a:ln w="15875">
            <a:solidFill>
              <a:srgbClr val="8C3A2B"/>
            </a:solidFill>
            <a:prstDash val="solid"/>
          </a:ln>
        </p:spPr>
      </p:sp>
      <p:sp>
        <p:nvSpPr>
          <p:cNvPr id="38" name="Text 36"/>
          <p:cNvSpPr txBox="1"/>
          <p:nvPr/>
        </p:nvSpPr>
        <p:spPr>
          <a:xfrm>
            <a:off x="1005840" y="5065776"/>
            <a:ext cx="731520" cy="256032"/>
          </a:xfrm>
          <a:prstGeom prst="rect">
            <a:avLst/>
          </a:prstGeom>
          <a:noFill/>
          <a:ln/>
        </p:spPr>
        <p:txBody>
          <a:bodyPr wrap="square" lIns="0" tIns="0" rIns="0" bIns="0" rtlCol="0" anchor="ctr"/>
          <a:lstStyle/>
          <a:p>
            <a:pPr indent="0" marL="0">
              <a:buNone/>
            </a:pPr>
            <a:r>
              <a:rPr lang="en-US" sz="950" b="1" spc="150" kern="0" dirty="0">
                <a:solidFill>
                  <a:srgbClr val="8C3A2B"/>
                </a:solidFill>
                <a:latin typeface="Calibri" pitchFamily="34" charset="0"/>
                <a:ea typeface="Calibri" pitchFamily="34" charset="-122"/>
                <a:cs typeface="Calibri" pitchFamily="34" charset="-120"/>
              </a:rPr>
              <a:t>ÇIKTI</a:t>
            </a:r>
            <a:endParaRPr lang="en-US" sz="950" dirty="0"/>
          </a:p>
        </p:txBody>
      </p:sp>
      <p:sp>
        <p:nvSpPr>
          <p:cNvPr id="39" name="Text 37"/>
          <p:cNvSpPr txBox="1"/>
          <p:nvPr/>
        </p:nvSpPr>
        <p:spPr>
          <a:xfrm>
            <a:off x="1828800" y="5074920"/>
            <a:ext cx="9326880" cy="457200"/>
          </a:xfrm>
          <a:prstGeom prst="rect">
            <a:avLst/>
          </a:prstGeom>
          <a:noFill/>
          <a:ln/>
        </p:spPr>
        <p:txBody>
          <a:bodyPr wrap="square" lIns="0" tIns="0" rIns="0" bIns="0" rtlCol="0" anchor="ctr"/>
          <a:lstStyle/>
          <a:p>
            <a:pPr indent="0" marL="0">
              <a:buNone/>
            </a:pPr>
            <a:r>
              <a:rPr lang="en-US" sz="1500" b="1" dirty="0">
                <a:solidFill>
                  <a:srgbClr val="8C3A2B"/>
                </a:solidFill>
                <a:latin typeface="Cambria" pitchFamily="34" charset="0"/>
                <a:ea typeface="Cambria" pitchFamily="34" charset="-122"/>
                <a:cs typeface="Cambria" pitchFamily="34" charset="-120"/>
              </a:rPr>
              <a:t>Üç anahtar kelime — ve her kelimenin yanında görselde onu gösteren kanıt.</a:t>
            </a:r>
            <a:endParaRPr lang="en-US" sz="1500" dirty="0"/>
          </a:p>
        </p:txBody>
      </p:sp>
      <p:sp>
        <p:nvSpPr>
          <p:cNvPr id="40" name="Text 38"/>
          <p:cNvSpPr txBox="1"/>
          <p:nvPr/>
        </p:nvSpPr>
        <p:spPr>
          <a:xfrm>
            <a:off x="777240" y="5779008"/>
            <a:ext cx="10634472" cy="365760"/>
          </a:xfrm>
          <a:prstGeom prst="rect">
            <a:avLst/>
          </a:prstGeom>
          <a:noFill/>
          <a:ln/>
        </p:spPr>
        <p:txBody>
          <a:bodyPr wrap="square" lIns="0" tIns="0" rIns="0" bIns="0" rtlCol="0" anchor="ctr"/>
          <a:lstStyle/>
          <a:p>
            <a:pPr algn="l" indent="0" marL="0">
              <a:lnSpc>
                <a:spcPts val="1200"/>
              </a:lnSpc>
              <a:buNone/>
            </a:pPr>
            <a:r>
              <a:rPr lang="en-US" sz="1200" i="1" dirty="0">
                <a:solidFill>
                  <a:srgbClr val="7A7A82"/>
                </a:solidFill>
                <a:latin typeface="Cambria" pitchFamily="34" charset="0"/>
                <a:ea typeface="Cambria" pitchFamily="34" charset="-122"/>
                <a:cs typeface="Cambria" pitchFamily="34" charset="-120"/>
              </a:rPr>
              <a:t>Süre: 45 dakika · bireysel · kâğıt dağıtılacak. Kelime tek başına değersiz, kanıtla birlikte değerli.</a:t>
            </a:r>
            <a:endParaRPr lang="en-US" sz="1200" dirty="0"/>
          </a:p>
        </p:txBody>
      </p:sp>
      <p:sp>
        <p:nvSpPr>
          <p:cNvPr id="41" name="Text 39"/>
          <p:cNvSpPr txBox="1"/>
          <p:nvPr/>
        </p:nvSpPr>
        <p:spPr>
          <a:xfrm>
            <a:off x="777240" y="6364224"/>
            <a:ext cx="9966960" cy="274320"/>
          </a:xfrm>
          <a:prstGeom prst="rect">
            <a:avLst/>
          </a:prstGeom>
          <a:noFill/>
          <a:ln/>
        </p:spPr>
        <p:txBody>
          <a:bodyPr wrap="square" lIns="0" tIns="0" rIns="0" bIns="0" rtlCol="0" anchor="ctr"/>
          <a:lstStyle/>
          <a:p>
            <a:pPr indent="0" marL="0">
              <a:lnSpc>
                <a:spcPts val="1000"/>
              </a:lnSpc>
              <a:buNone/>
            </a:pPr>
            <a:r>
              <a:rPr lang="en-US" sz="800" i="1" dirty="0">
                <a:solidFill>
                  <a:srgbClr val="A6A6AC"/>
                </a:solidFill>
                <a:latin typeface="Calibri" pitchFamily="34" charset="0"/>
                <a:ea typeface="Calibri" pitchFamily="34" charset="-122"/>
                <a:cs typeface="Calibri" pitchFamily="34" charset="-120"/>
              </a:rPr>
              <a:t>Görsel önerisi — dört mağaza görseli bu slaytın ardına tam sayfa olarak eklenebilir.</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IX · BUGÜN</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İkinci çalışma: aynı mağaza, farklı okumalar</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43</a:t>
            </a:r>
            <a:endParaRPr lang="en-US" sz="900" dirty="0"/>
          </a:p>
        </p:txBody>
      </p:sp>
      <p:sp>
        <p:nvSpPr>
          <p:cNvPr id="6" name="Text 4"/>
          <p:cNvSpPr txBox="1"/>
          <p:nvPr/>
        </p:nvSpPr>
        <p:spPr>
          <a:xfrm>
            <a:off x="777240" y="1664208"/>
            <a:ext cx="10634472" cy="603504"/>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Aynı görseli okuyanlar bir grup olacak. Kelimelerin tutmadığını göreceksiniz — bu bir hata değil, çalışmanın asıl konusu. Aynı mekânın farklı okunması, hangi mesajın net verildiğini gösterir.</a:t>
            </a:r>
            <a:endParaRPr lang="en-US" sz="1400" dirty="0"/>
          </a:p>
        </p:txBody>
      </p:sp>
      <p:sp>
        <p:nvSpPr>
          <p:cNvPr id="7" name="Shape 5"/>
          <p:cNvSpPr/>
          <p:nvPr/>
        </p:nvSpPr>
        <p:spPr>
          <a:xfrm>
            <a:off x="777240" y="2450592"/>
            <a:ext cx="3291840" cy="2103120"/>
          </a:xfrm>
          <a:prstGeom prst="rect">
            <a:avLst/>
          </a:prstGeom>
          <a:ln w="9525">
            <a:solidFill>
              <a:srgbClr val="C9C9CF"/>
            </a:solidFill>
            <a:prstDash val="solid"/>
          </a:ln>
        </p:spPr>
      </p:sp>
      <p:sp>
        <p:nvSpPr>
          <p:cNvPr id="8" name="Shape 6"/>
          <p:cNvSpPr/>
          <p:nvPr/>
        </p:nvSpPr>
        <p:spPr>
          <a:xfrm>
            <a:off x="1014984" y="2688336"/>
            <a:ext cx="292608" cy="292608"/>
          </a:xfrm>
          <a:prstGeom prst="ellipse">
            <a:avLst/>
          </a:prstGeom>
          <a:solidFill>
            <a:srgbClr val="16161A"/>
          </a:solidFill>
          <a:ln w="12700">
            <a:solidFill>
              <a:srgbClr val="16161A"/>
            </a:solidFill>
            <a:prstDash val="solid"/>
          </a:ln>
        </p:spPr>
      </p:sp>
      <p:sp>
        <p:nvSpPr>
          <p:cNvPr id="9" name="Text 7"/>
          <p:cNvSpPr txBox="1"/>
          <p:nvPr/>
        </p:nvSpPr>
        <p:spPr>
          <a:xfrm>
            <a:off x="1014984" y="26883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78408" y="3127248"/>
            <a:ext cx="2889504" cy="292608"/>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Ortak olanı bulun</a:t>
            </a:r>
            <a:endParaRPr lang="en-US" sz="1550" dirty="0"/>
          </a:p>
        </p:txBody>
      </p:sp>
      <p:sp>
        <p:nvSpPr>
          <p:cNvPr id="11" name="Text 9"/>
          <p:cNvSpPr txBox="1"/>
          <p:nvPr/>
        </p:nvSpPr>
        <p:spPr>
          <a:xfrm>
            <a:off x="978408" y="3456432"/>
            <a:ext cx="2889504" cy="749808"/>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Grubun çoğunun yazdığı kelimeler mekânın net söylediği şeydir.</a:t>
            </a:r>
            <a:endParaRPr lang="en-US" sz="1050" dirty="0"/>
          </a:p>
        </p:txBody>
      </p:sp>
      <p:sp>
        <p:nvSpPr>
          <p:cNvPr id="12" name="Shape 10"/>
          <p:cNvSpPr/>
          <p:nvPr/>
        </p:nvSpPr>
        <p:spPr>
          <a:xfrm>
            <a:off x="978408" y="4224528"/>
            <a:ext cx="2889504" cy="0"/>
          </a:xfrm>
          <a:prstGeom prst="line">
            <a:avLst/>
          </a:prstGeom>
          <a:noFill/>
          <a:ln w="9525">
            <a:solidFill>
              <a:srgbClr val="EDEDF0"/>
            </a:solidFill>
            <a:prstDash val="solid"/>
          </a:ln>
        </p:spPr>
      </p:sp>
      <p:sp>
        <p:nvSpPr>
          <p:cNvPr id="13" name="Text 11"/>
          <p:cNvSpPr txBox="1"/>
          <p:nvPr/>
        </p:nvSpPr>
        <p:spPr>
          <a:xfrm>
            <a:off x="978408" y="4279392"/>
            <a:ext cx="2889504" cy="237744"/>
          </a:xfrm>
          <a:prstGeom prst="rect">
            <a:avLst/>
          </a:prstGeom>
          <a:noFill/>
          <a:ln/>
        </p:spPr>
        <p:txBody>
          <a:bodyPr wrap="square" lIns="0" tIns="0" rIns="0" bIns="0" rtlCol="0" anchor="ctr"/>
          <a:lstStyle/>
          <a:p>
            <a:pPr indent="0" marL="0">
              <a:buNone/>
            </a:pPr>
            <a:r>
              <a:rPr lang="en-US" sz="950" b="1" dirty="0">
                <a:solidFill>
                  <a:srgbClr val="7A7A82"/>
                </a:solidFill>
                <a:latin typeface="Calibri" pitchFamily="34" charset="0"/>
                <a:ea typeface="Calibri" pitchFamily="34" charset="-122"/>
                <a:cs typeface="Calibri" pitchFamily="34" charset="-120"/>
              </a:rPr>
              <a:t>markanın güçlü sinyalleri</a:t>
            </a:r>
            <a:endParaRPr lang="en-US" sz="950" dirty="0"/>
          </a:p>
        </p:txBody>
      </p:sp>
      <p:sp>
        <p:nvSpPr>
          <p:cNvPr id="14" name="Shape 12"/>
          <p:cNvSpPr/>
          <p:nvPr/>
        </p:nvSpPr>
        <p:spPr>
          <a:xfrm>
            <a:off x="4453128" y="2450592"/>
            <a:ext cx="3291840" cy="2103120"/>
          </a:xfrm>
          <a:prstGeom prst="rect">
            <a:avLst/>
          </a:prstGeom>
          <a:ln w="9525">
            <a:solidFill>
              <a:srgbClr val="C9C9CF"/>
            </a:solidFill>
            <a:prstDash val="solid"/>
          </a:ln>
        </p:spPr>
      </p:sp>
      <p:sp>
        <p:nvSpPr>
          <p:cNvPr id="15" name="Shape 13"/>
          <p:cNvSpPr/>
          <p:nvPr/>
        </p:nvSpPr>
        <p:spPr>
          <a:xfrm>
            <a:off x="4690872" y="2688336"/>
            <a:ext cx="292608" cy="292608"/>
          </a:xfrm>
          <a:prstGeom prst="ellipse">
            <a:avLst/>
          </a:prstGeom>
          <a:solidFill>
            <a:srgbClr val="16161A"/>
          </a:solidFill>
          <a:ln w="12700">
            <a:solidFill>
              <a:srgbClr val="16161A"/>
            </a:solidFill>
            <a:prstDash val="solid"/>
          </a:ln>
        </p:spPr>
      </p:sp>
      <p:sp>
        <p:nvSpPr>
          <p:cNvPr id="16" name="Text 14"/>
          <p:cNvSpPr txBox="1"/>
          <p:nvPr/>
        </p:nvSpPr>
        <p:spPr>
          <a:xfrm>
            <a:off x="4690872" y="26883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7" name="Text 15"/>
          <p:cNvSpPr txBox="1"/>
          <p:nvPr/>
        </p:nvSpPr>
        <p:spPr>
          <a:xfrm>
            <a:off x="4654296" y="3127248"/>
            <a:ext cx="2889504" cy="292608"/>
          </a:xfrm>
          <a:prstGeom prst="rect">
            <a:avLst/>
          </a:prstGeom>
          <a:noFill/>
          <a:ln/>
        </p:spPr>
        <p:txBody>
          <a:bodyPr wrap="square" lIns="0" tIns="0" rIns="0" bIns="0" rtlCol="0" anchor="ctr"/>
          <a:lstStyle/>
          <a:p>
            <a:pPr indent="0" marL="0">
              <a:buNone/>
            </a:pPr>
            <a:r>
              <a:rPr lang="en-US" sz="1550" b="1" dirty="0">
                <a:solidFill>
                  <a:srgbClr val="16161A"/>
                </a:solidFill>
                <a:latin typeface="Cambria" pitchFamily="34" charset="0"/>
                <a:ea typeface="Cambria" pitchFamily="34" charset="-122"/>
                <a:cs typeface="Cambria" pitchFamily="34" charset="-120"/>
              </a:rPr>
              <a:t>Ayrışanı tartışın</a:t>
            </a:r>
            <a:endParaRPr lang="en-US" sz="1550" dirty="0"/>
          </a:p>
        </p:txBody>
      </p:sp>
      <p:sp>
        <p:nvSpPr>
          <p:cNvPr id="18" name="Text 16"/>
          <p:cNvSpPr txBox="1"/>
          <p:nvPr/>
        </p:nvSpPr>
        <p:spPr>
          <a:xfrm>
            <a:off x="4654296" y="3456432"/>
            <a:ext cx="2889504" cy="749808"/>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Yalnız bir kişinin gördüğü şey ya derin bir okuma ya da bir yanlış anlamadır; hangisi olduğuna kanıta bakarak karar verin.</a:t>
            </a:r>
            <a:endParaRPr lang="en-US" sz="1050" dirty="0"/>
          </a:p>
        </p:txBody>
      </p:sp>
      <p:sp>
        <p:nvSpPr>
          <p:cNvPr id="19" name="Shape 17"/>
          <p:cNvSpPr/>
          <p:nvPr/>
        </p:nvSpPr>
        <p:spPr>
          <a:xfrm>
            <a:off x="4654296" y="4224528"/>
            <a:ext cx="2889504" cy="0"/>
          </a:xfrm>
          <a:prstGeom prst="line">
            <a:avLst/>
          </a:prstGeom>
          <a:noFill/>
          <a:ln w="9525">
            <a:solidFill>
              <a:srgbClr val="EDEDF0"/>
            </a:solidFill>
            <a:prstDash val="solid"/>
          </a:ln>
        </p:spPr>
      </p:sp>
      <p:sp>
        <p:nvSpPr>
          <p:cNvPr id="20" name="Text 18"/>
          <p:cNvSpPr txBox="1"/>
          <p:nvPr/>
        </p:nvSpPr>
        <p:spPr>
          <a:xfrm>
            <a:off x="4654296" y="4279392"/>
            <a:ext cx="2889504" cy="237744"/>
          </a:xfrm>
          <a:prstGeom prst="rect">
            <a:avLst/>
          </a:prstGeom>
          <a:noFill/>
          <a:ln/>
        </p:spPr>
        <p:txBody>
          <a:bodyPr wrap="square" lIns="0" tIns="0" rIns="0" bIns="0" rtlCol="0" anchor="ctr"/>
          <a:lstStyle/>
          <a:p>
            <a:pPr indent="0" marL="0">
              <a:buNone/>
            </a:pPr>
            <a:r>
              <a:rPr lang="en-US" sz="950" b="1" dirty="0">
                <a:solidFill>
                  <a:srgbClr val="7A7A82"/>
                </a:solidFill>
                <a:latin typeface="Calibri" pitchFamily="34" charset="0"/>
                <a:ea typeface="Calibri" pitchFamily="34" charset="-122"/>
                <a:cs typeface="Calibri" pitchFamily="34" charset="-120"/>
              </a:rPr>
              <a:t>mekânın belirsiz kaldığı yer</a:t>
            </a:r>
            <a:endParaRPr lang="en-US" sz="950" dirty="0"/>
          </a:p>
        </p:txBody>
      </p:sp>
      <p:sp>
        <p:nvSpPr>
          <p:cNvPr id="21" name="Shape 19"/>
          <p:cNvSpPr/>
          <p:nvPr/>
        </p:nvSpPr>
        <p:spPr>
          <a:xfrm>
            <a:off x="8129016" y="2450592"/>
            <a:ext cx="3291840" cy="2103120"/>
          </a:xfrm>
          <a:prstGeom prst="rect">
            <a:avLst/>
          </a:prstGeom>
          <a:solidFill>
            <a:srgbClr val="F6EAE6"/>
          </a:solidFill>
          <a:ln w="15875">
            <a:solidFill>
              <a:srgbClr val="8C3A2B"/>
            </a:solidFill>
            <a:prstDash val="solid"/>
          </a:ln>
        </p:spPr>
      </p:sp>
      <p:sp>
        <p:nvSpPr>
          <p:cNvPr id="22" name="Shape 20"/>
          <p:cNvSpPr/>
          <p:nvPr/>
        </p:nvSpPr>
        <p:spPr>
          <a:xfrm>
            <a:off x="8366760" y="2688336"/>
            <a:ext cx="292608" cy="292608"/>
          </a:xfrm>
          <a:prstGeom prst="ellipse">
            <a:avLst/>
          </a:prstGeom>
          <a:solidFill>
            <a:srgbClr val="8C3A2B"/>
          </a:solidFill>
          <a:ln w="12700">
            <a:solidFill>
              <a:srgbClr val="8C3A2B"/>
            </a:solidFill>
            <a:prstDash val="solid"/>
          </a:ln>
        </p:spPr>
      </p:sp>
      <p:sp>
        <p:nvSpPr>
          <p:cNvPr id="23" name="Text 21"/>
          <p:cNvSpPr txBox="1"/>
          <p:nvPr/>
        </p:nvSpPr>
        <p:spPr>
          <a:xfrm>
            <a:off x="8366760" y="26883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4" name="Text 22"/>
          <p:cNvSpPr txBox="1"/>
          <p:nvPr/>
        </p:nvSpPr>
        <p:spPr>
          <a:xfrm>
            <a:off x="8330184" y="3127248"/>
            <a:ext cx="2889504" cy="292608"/>
          </a:xfrm>
          <a:prstGeom prst="rect">
            <a:avLst/>
          </a:prstGeom>
          <a:noFill/>
          <a:ln/>
        </p:spPr>
        <p:txBody>
          <a:bodyPr wrap="square" lIns="0" tIns="0" rIns="0" bIns="0" rtlCol="0" anchor="ctr"/>
          <a:lstStyle/>
          <a:p>
            <a:pPr indent="0" marL="0">
              <a:buNone/>
            </a:pPr>
            <a:r>
              <a:rPr lang="en-US" sz="1550" b="1" dirty="0">
                <a:solidFill>
                  <a:srgbClr val="8C3A2B"/>
                </a:solidFill>
                <a:latin typeface="Cambria" pitchFamily="34" charset="0"/>
                <a:ea typeface="Cambria" pitchFamily="34" charset="-122"/>
                <a:cs typeface="Cambria" pitchFamily="34" charset="-120"/>
              </a:rPr>
              <a:t>Eksiği adlandırın</a:t>
            </a:r>
            <a:endParaRPr lang="en-US" sz="1550" dirty="0"/>
          </a:p>
        </p:txBody>
      </p:sp>
      <p:sp>
        <p:nvSpPr>
          <p:cNvPr id="25" name="Text 23"/>
          <p:cNvSpPr txBox="1"/>
          <p:nvPr/>
        </p:nvSpPr>
        <p:spPr>
          <a:xfrm>
            <a:off x="8330184" y="3456432"/>
            <a:ext cx="2889504" cy="749808"/>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Hiç kimsenin yazmadığı ama mekânda olması gereken bir şey var mı?</a:t>
            </a:r>
            <a:endParaRPr lang="en-US" sz="1050" dirty="0"/>
          </a:p>
        </p:txBody>
      </p:sp>
      <p:sp>
        <p:nvSpPr>
          <p:cNvPr id="26" name="Shape 24"/>
          <p:cNvSpPr/>
          <p:nvPr/>
        </p:nvSpPr>
        <p:spPr>
          <a:xfrm>
            <a:off x="8330184" y="4224528"/>
            <a:ext cx="2889504" cy="0"/>
          </a:xfrm>
          <a:prstGeom prst="line">
            <a:avLst/>
          </a:prstGeom>
          <a:noFill/>
          <a:ln w="9525">
            <a:solidFill>
              <a:srgbClr val="8C3A2B"/>
            </a:solidFill>
            <a:prstDash val="solid"/>
          </a:ln>
        </p:spPr>
      </p:sp>
      <p:sp>
        <p:nvSpPr>
          <p:cNvPr id="27" name="Text 25"/>
          <p:cNvSpPr txBox="1"/>
          <p:nvPr/>
        </p:nvSpPr>
        <p:spPr>
          <a:xfrm>
            <a:off x="8330184" y="4279392"/>
            <a:ext cx="2889504" cy="237744"/>
          </a:xfrm>
          <a:prstGeom prst="rect">
            <a:avLst/>
          </a:prstGeom>
          <a:noFill/>
          <a:ln/>
        </p:spPr>
        <p:txBody>
          <a:bodyPr wrap="square" lIns="0" tIns="0" rIns="0" bIns="0" rtlCol="0" anchor="ctr"/>
          <a:lstStyle/>
          <a:p>
            <a:pPr indent="0" marL="0">
              <a:buNone/>
            </a:pPr>
            <a:r>
              <a:rPr lang="en-US" sz="950" b="1" dirty="0">
                <a:solidFill>
                  <a:srgbClr val="8C3A2B"/>
                </a:solidFill>
                <a:latin typeface="Calibri" pitchFamily="34" charset="0"/>
                <a:ea typeface="Calibri" pitchFamily="34" charset="-122"/>
                <a:cs typeface="Calibri" pitchFamily="34" charset="-120"/>
              </a:rPr>
              <a:t>tasarım fırsatı burada</a:t>
            </a:r>
            <a:endParaRPr lang="en-US" sz="950" dirty="0"/>
          </a:p>
        </p:txBody>
      </p:sp>
      <p:sp>
        <p:nvSpPr>
          <p:cNvPr id="28" name="Text 26"/>
          <p:cNvSpPr txBox="1"/>
          <p:nvPr/>
        </p:nvSpPr>
        <p:spPr>
          <a:xfrm>
            <a:off x="777240" y="4745736"/>
            <a:ext cx="790042" cy="237744"/>
          </a:xfrm>
          <a:prstGeom prst="rect">
            <a:avLst/>
          </a:prstGeom>
          <a:noFill/>
          <a:ln/>
        </p:spPr>
        <p:txBody>
          <a:bodyPr wrap="square" lIns="0" tIns="0" rIns="0" bIns="0" rtlCol="0" anchor="ctr"/>
          <a:lstStyle/>
          <a:p>
            <a:pPr indent="0" marL="0">
              <a:buNone/>
            </a:pPr>
            <a:r>
              <a:rPr lang="en-US" sz="900" b="1" spc="170" kern="0" dirty="0">
                <a:solidFill>
                  <a:srgbClr val="A6A6AC"/>
                </a:solidFill>
                <a:latin typeface="Calibri" pitchFamily="34" charset="0"/>
                <a:ea typeface="Calibri" pitchFamily="34" charset="-122"/>
                <a:cs typeface="Calibri" pitchFamily="34" charset="-120"/>
              </a:rPr>
              <a:t>GRUP ÇIKTISI</a:t>
            </a:r>
            <a:endParaRPr lang="en-US" sz="900" dirty="0"/>
          </a:p>
        </p:txBody>
      </p:sp>
      <p:sp>
        <p:nvSpPr>
          <p:cNvPr id="29" name="Shape 27"/>
          <p:cNvSpPr/>
          <p:nvPr/>
        </p:nvSpPr>
        <p:spPr>
          <a:xfrm>
            <a:off x="1640434" y="4864608"/>
            <a:ext cx="9771278" cy="0"/>
          </a:xfrm>
          <a:prstGeom prst="line">
            <a:avLst/>
          </a:prstGeom>
          <a:noFill/>
          <a:ln w="9525">
            <a:solidFill>
              <a:srgbClr val="EDEDF0"/>
            </a:solidFill>
            <a:prstDash val="solid"/>
          </a:ln>
        </p:spPr>
      </p:sp>
      <p:sp>
        <p:nvSpPr>
          <p:cNvPr id="30" name="Text 28"/>
          <p:cNvSpPr txBox="1"/>
          <p:nvPr/>
        </p:nvSpPr>
        <p:spPr>
          <a:xfrm>
            <a:off x="777240" y="5047488"/>
            <a:ext cx="10634472" cy="640080"/>
          </a:xfrm>
          <a:prstGeom prst="rect">
            <a:avLst/>
          </a:prstGeom>
          <a:noFill/>
          <a:ln/>
        </p:spPr>
        <p:txBody>
          <a:bodyPr wrap="square" lIns="0" tIns="0" rIns="0" bIns="0" rtlCol="0" anchor="ctr"/>
          <a:lstStyle/>
          <a:p>
            <a:pPr algn="l" indent="0" marL="0">
              <a:lnSpc>
                <a:spcPts val="1800"/>
              </a:lnSpc>
              <a:buNone/>
            </a:pPr>
            <a:r>
              <a:rPr lang="en-US" sz="1300" dirty="0">
                <a:solidFill>
                  <a:srgbClr val="2B2B31"/>
                </a:solidFill>
                <a:latin typeface="Cambria" pitchFamily="34" charset="0"/>
                <a:ea typeface="Cambria" pitchFamily="34" charset="-122"/>
                <a:cs typeface="Cambria" pitchFamily="34" charset="-120"/>
              </a:rPr>
              <a:t>Tek bir A3 sayfa: ortak kelimeler, ayrışan kelimeler ve grubun ortak cümlesi — “Bu mağaza şunu söylüyor ama şunu söyleyemiyor.” Her grup beş dakikada anlatacak.</a:t>
            </a:r>
            <a:endParaRPr lang="en-US" sz="1300" dirty="0"/>
          </a:p>
        </p:txBody>
      </p:sp>
      <p:sp>
        <p:nvSpPr>
          <p:cNvPr id="31" name="Text 29"/>
          <p:cNvSpPr txBox="1"/>
          <p:nvPr/>
        </p:nvSpPr>
        <p:spPr>
          <a:xfrm>
            <a:off x="777240" y="5806440"/>
            <a:ext cx="10634472" cy="365760"/>
          </a:xfrm>
          <a:prstGeom prst="rect">
            <a:avLst/>
          </a:prstGeom>
          <a:noFill/>
          <a:ln/>
        </p:spPr>
        <p:txBody>
          <a:bodyPr wrap="square" lIns="0" tIns="0" rIns="0" bIns="0" rtlCol="0" anchor="ctr"/>
          <a:lstStyle/>
          <a:p>
            <a:pPr algn="l" indent="0" marL="0">
              <a:lnSpc>
                <a:spcPts val="1200"/>
              </a:lnSpc>
              <a:buNone/>
            </a:pPr>
            <a:r>
              <a:rPr lang="en-US" sz="1150" i="1" dirty="0">
                <a:solidFill>
                  <a:srgbClr val="8C3A2B"/>
                </a:solidFill>
                <a:latin typeface="Cambria" pitchFamily="34" charset="0"/>
                <a:ea typeface="Cambria" pitchFamily="34" charset="-122"/>
                <a:cs typeface="Cambria" pitchFamily="34" charset="-120"/>
              </a:rPr>
              <a:t>Süre: 60 dakika çalışma + 30 dakika sunum · 4–5 kişilik gruplar · Uzlaşma beklenmiyor: anlaşmazlığın kendisi veridir.</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IX · ÖDEV</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Haftaya: üç aday marka</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777240" y="1664208"/>
            <a:ext cx="10634472" cy="566928"/>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Önümüzdeki hafta için üç aday marka bulup her biri için bir araştırma paftası hazırlayacaksınız. Üçünü de araştıracaksınız; hangisiyle devam edeceğinize kritikte birlikte karar vereceğiz.</a:t>
            </a:r>
            <a:endParaRPr lang="en-US" sz="1400" dirty="0"/>
          </a:p>
        </p:txBody>
      </p:sp>
      <p:sp>
        <p:nvSpPr>
          <p:cNvPr id="7" name="Text 5"/>
          <p:cNvSpPr txBox="1"/>
          <p:nvPr/>
        </p:nvSpPr>
        <p:spPr>
          <a:xfrm>
            <a:off x="777240" y="2441448"/>
            <a:ext cx="1130198" cy="237744"/>
          </a:xfrm>
          <a:prstGeom prst="rect">
            <a:avLst/>
          </a:prstGeom>
          <a:noFill/>
          <a:ln/>
        </p:spPr>
        <p:txBody>
          <a:bodyPr wrap="square" lIns="0" tIns="0" rIns="0" bIns="0" rtlCol="0" anchor="ctr"/>
          <a:lstStyle/>
          <a:p>
            <a:pPr indent="0" marL="0">
              <a:buNone/>
            </a:pPr>
            <a:r>
              <a:rPr lang="en-US" sz="900" b="1" spc="170" kern="0" dirty="0">
                <a:solidFill>
                  <a:srgbClr val="8C3A2B"/>
                </a:solidFill>
                <a:latin typeface="Calibri" pitchFamily="34" charset="0"/>
                <a:ea typeface="Calibri" pitchFamily="34" charset="-122"/>
                <a:cs typeface="Calibri" pitchFamily="34" charset="-120"/>
              </a:rPr>
              <a:t>MARKA NASIL OLMALI</a:t>
            </a:r>
            <a:endParaRPr lang="en-US" sz="900" dirty="0"/>
          </a:p>
        </p:txBody>
      </p:sp>
      <p:sp>
        <p:nvSpPr>
          <p:cNvPr id="8" name="Shape 6"/>
          <p:cNvSpPr/>
          <p:nvPr/>
        </p:nvSpPr>
        <p:spPr>
          <a:xfrm>
            <a:off x="1980590" y="2560320"/>
            <a:ext cx="3825850" cy="0"/>
          </a:xfrm>
          <a:prstGeom prst="line">
            <a:avLst/>
          </a:prstGeom>
          <a:noFill/>
          <a:ln w="9525">
            <a:solidFill>
              <a:srgbClr val="EBD7D1"/>
            </a:solidFill>
            <a:prstDash val="solid"/>
          </a:ln>
        </p:spPr>
      </p:sp>
      <p:sp>
        <p:nvSpPr>
          <p:cNvPr id="9" name="Shape 7"/>
          <p:cNvSpPr/>
          <p:nvPr/>
        </p:nvSpPr>
        <p:spPr>
          <a:xfrm>
            <a:off x="809244" y="2939796"/>
            <a:ext cx="100584" cy="100584"/>
          </a:xfrm>
          <a:prstGeom prst="ellipse">
            <a:avLst/>
          </a:prstGeom>
          <a:solidFill>
            <a:srgbClr val="8C3A2B"/>
          </a:solidFill>
          <a:ln w="12700">
            <a:solidFill>
              <a:srgbClr val="8C3A2B"/>
            </a:solidFill>
            <a:prstDash val="solid"/>
          </a:ln>
        </p:spPr>
      </p:sp>
      <p:sp>
        <p:nvSpPr>
          <p:cNvPr id="10" name="Text 8"/>
          <p:cNvSpPr txBox="1"/>
          <p:nvPr/>
        </p:nvSpPr>
        <p:spPr>
          <a:xfrm>
            <a:off x="1069848" y="2852928"/>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Küçük ve yerel — tercihen tek dükkânlı ya da hiç dükkânı olmayan</a:t>
            </a:r>
            <a:endParaRPr lang="en-US" sz="1150" dirty="0"/>
          </a:p>
        </p:txBody>
      </p:sp>
      <p:sp>
        <p:nvSpPr>
          <p:cNvPr id="11" name="Shape 9"/>
          <p:cNvSpPr/>
          <p:nvPr/>
        </p:nvSpPr>
        <p:spPr>
          <a:xfrm>
            <a:off x="809244" y="3470148"/>
            <a:ext cx="100584" cy="100584"/>
          </a:xfrm>
          <a:prstGeom prst="ellipse">
            <a:avLst/>
          </a:prstGeom>
          <a:solidFill>
            <a:srgbClr val="8C3A2B"/>
          </a:solidFill>
          <a:ln w="12700">
            <a:solidFill>
              <a:srgbClr val="8C3A2B"/>
            </a:solidFill>
            <a:prstDash val="solid"/>
          </a:ln>
        </p:spPr>
      </p:sp>
      <p:sp>
        <p:nvSpPr>
          <p:cNvPr id="12" name="Text 10"/>
          <p:cNvSpPr txBox="1"/>
          <p:nvPr/>
        </p:nvSpPr>
        <p:spPr>
          <a:xfrm>
            <a:off x="1069848" y="3383280"/>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Yerleşik bir tasarım dili olmayan; mağazası varsa da kimliksiz</a:t>
            </a:r>
            <a:endParaRPr lang="en-US" sz="1150" dirty="0"/>
          </a:p>
        </p:txBody>
      </p:sp>
      <p:sp>
        <p:nvSpPr>
          <p:cNvPr id="13" name="Shape 11"/>
          <p:cNvSpPr/>
          <p:nvPr/>
        </p:nvSpPr>
        <p:spPr>
          <a:xfrm>
            <a:off x="809244" y="4000500"/>
            <a:ext cx="100584" cy="100584"/>
          </a:xfrm>
          <a:prstGeom prst="ellipse">
            <a:avLst/>
          </a:prstGeom>
          <a:solidFill>
            <a:srgbClr val="8C3A2B"/>
          </a:solidFill>
          <a:ln w="12700">
            <a:solidFill>
              <a:srgbClr val="8C3A2B"/>
            </a:solidFill>
            <a:prstDash val="solid"/>
          </a:ln>
        </p:spPr>
      </p:sp>
      <p:sp>
        <p:nvSpPr>
          <p:cNvPr id="14" name="Text 12"/>
          <p:cNvSpPr txBox="1"/>
          <p:nvPr/>
        </p:nvSpPr>
        <p:spPr>
          <a:xfrm>
            <a:off x="1069848" y="3913632"/>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Ürünü somut ve elle tutulur — depolama ve teşhir sorunu olan</a:t>
            </a:r>
            <a:endParaRPr lang="en-US" sz="1150" dirty="0"/>
          </a:p>
        </p:txBody>
      </p:sp>
      <p:sp>
        <p:nvSpPr>
          <p:cNvPr id="15" name="Shape 13"/>
          <p:cNvSpPr/>
          <p:nvPr/>
        </p:nvSpPr>
        <p:spPr>
          <a:xfrm>
            <a:off x="809244" y="4530852"/>
            <a:ext cx="100584" cy="100584"/>
          </a:xfrm>
          <a:prstGeom prst="ellipse">
            <a:avLst/>
          </a:prstGeom>
          <a:solidFill>
            <a:srgbClr val="8C3A2B"/>
          </a:solidFill>
          <a:ln w="12700">
            <a:solidFill>
              <a:srgbClr val="8C3A2B"/>
            </a:solidFill>
            <a:prstDash val="solid"/>
          </a:ln>
        </p:spPr>
      </p:sp>
      <p:sp>
        <p:nvSpPr>
          <p:cNvPr id="16" name="Text 14"/>
          <p:cNvSpPr txBox="1"/>
          <p:nvPr/>
        </p:nvSpPr>
        <p:spPr>
          <a:xfrm>
            <a:off x="1069848" y="4443984"/>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Ulaşabileceğiniz bir sahibi ya da çalışanı olan</a:t>
            </a:r>
            <a:endParaRPr lang="en-US" sz="1150" dirty="0"/>
          </a:p>
        </p:txBody>
      </p:sp>
      <p:sp>
        <p:nvSpPr>
          <p:cNvPr id="17" name="Shape 15"/>
          <p:cNvSpPr/>
          <p:nvPr/>
        </p:nvSpPr>
        <p:spPr>
          <a:xfrm>
            <a:off x="809244" y="5061204"/>
            <a:ext cx="100584" cy="100584"/>
          </a:xfrm>
          <a:prstGeom prst="ellipse">
            <a:avLst/>
          </a:prstGeom>
          <a:solidFill>
            <a:srgbClr val="8C3A2B"/>
          </a:solidFill>
          <a:ln w="12700">
            <a:solidFill>
              <a:srgbClr val="8C3A2B"/>
            </a:solidFill>
            <a:prstDash val="solid"/>
          </a:ln>
        </p:spPr>
      </p:sp>
      <p:sp>
        <p:nvSpPr>
          <p:cNvPr id="18" name="Text 16"/>
          <p:cNvSpPr txBox="1"/>
          <p:nvPr/>
        </p:nvSpPr>
        <p:spPr>
          <a:xfrm>
            <a:off x="1069848" y="4974336"/>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Hakkında konuşulacak bir hikâyesi bulunan</a:t>
            </a:r>
            <a:endParaRPr lang="en-US" sz="1150" dirty="0"/>
          </a:p>
        </p:txBody>
      </p:sp>
      <p:sp>
        <p:nvSpPr>
          <p:cNvPr id="19" name="Text 17"/>
          <p:cNvSpPr txBox="1"/>
          <p:nvPr/>
        </p:nvSpPr>
        <p:spPr>
          <a:xfrm>
            <a:off x="6382512" y="2441448"/>
            <a:ext cx="1243584" cy="237744"/>
          </a:xfrm>
          <a:prstGeom prst="rect">
            <a:avLst/>
          </a:prstGeom>
          <a:noFill/>
          <a:ln/>
        </p:spPr>
        <p:txBody>
          <a:bodyPr wrap="square" lIns="0" tIns="0" rIns="0" bIns="0" rtlCol="0" anchor="ctr"/>
          <a:lstStyle/>
          <a:p>
            <a:pPr indent="0" marL="0">
              <a:buNone/>
            </a:pPr>
            <a:r>
              <a:rPr lang="en-US" sz="900" b="1" spc="170" kern="0" dirty="0">
                <a:solidFill>
                  <a:srgbClr val="7A7A82"/>
                </a:solidFill>
                <a:latin typeface="Calibri" pitchFamily="34" charset="0"/>
                <a:ea typeface="Calibri" pitchFamily="34" charset="-122"/>
                <a:cs typeface="Calibri" pitchFamily="34" charset="-120"/>
              </a:rPr>
              <a:t>MARKA NASIL OLMAMALI</a:t>
            </a:r>
            <a:endParaRPr lang="en-US" sz="900" dirty="0"/>
          </a:p>
        </p:txBody>
      </p:sp>
      <p:sp>
        <p:nvSpPr>
          <p:cNvPr id="20" name="Shape 18"/>
          <p:cNvSpPr/>
          <p:nvPr/>
        </p:nvSpPr>
        <p:spPr>
          <a:xfrm>
            <a:off x="7699248" y="2560320"/>
            <a:ext cx="3712464" cy="0"/>
          </a:xfrm>
          <a:prstGeom prst="line">
            <a:avLst/>
          </a:prstGeom>
          <a:noFill/>
          <a:ln w="9525">
            <a:solidFill>
              <a:srgbClr val="EDEDF0"/>
            </a:solidFill>
            <a:prstDash val="solid"/>
          </a:ln>
        </p:spPr>
      </p:sp>
      <p:sp>
        <p:nvSpPr>
          <p:cNvPr id="21" name="Text 19"/>
          <p:cNvSpPr txBox="1"/>
          <p:nvPr/>
        </p:nvSpPr>
        <p:spPr>
          <a:xfrm>
            <a:off x="6382512" y="2852928"/>
            <a:ext cx="256032" cy="274320"/>
          </a:xfrm>
          <a:prstGeom prst="rect">
            <a:avLst/>
          </a:prstGeom>
          <a:noFill/>
          <a:ln/>
        </p:spPr>
        <p:txBody>
          <a:bodyPr wrap="square" lIns="0" tIns="0" rIns="0" bIns="0" rtlCol="0" anchor="ctr"/>
          <a:lstStyle/>
          <a:p>
            <a:pPr indent="0" marL="0">
              <a:buNone/>
            </a:pPr>
            <a:r>
              <a:rPr lang="en-US" sz="1200" dirty="0">
                <a:solidFill>
                  <a:srgbClr val="A6A6AC"/>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6675120" y="2852928"/>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A6A6AC"/>
                </a:solidFill>
                <a:latin typeface="Calibri" pitchFamily="34" charset="0"/>
                <a:ea typeface="Calibri" pitchFamily="34" charset="-122"/>
                <a:cs typeface="Calibri" pitchFamily="34" charset="-120"/>
              </a:rPr>
              <a:t>Tasarım dili zaten belirlenmiş büyük markalar</a:t>
            </a:r>
            <a:endParaRPr lang="en-US" sz="1150" dirty="0"/>
          </a:p>
        </p:txBody>
      </p:sp>
      <p:sp>
        <p:nvSpPr>
          <p:cNvPr id="23" name="Text 21"/>
          <p:cNvSpPr txBox="1"/>
          <p:nvPr/>
        </p:nvSpPr>
        <p:spPr>
          <a:xfrm>
            <a:off x="6382512" y="3383280"/>
            <a:ext cx="256032" cy="274320"/>
          </a:xfrm>
          <a:prstGeom prst="rect">
            <a:avLst/>
          </a:prstGeom>
          <a:noFill/>
          <a:ln/>
        </p:spPr>
        <p:txBody>
          <a:bodyPr wrap="square" lIns="0" tIns="0" rIns="0" bIns="0" rtlCol="0" anchor="ctr"/>
          <a:lstStyle/>
          <a:p>
            <a:pPr indent="0" marL="0">
              <a:buNone/>
            </a:pPr>
            <a:r>
              <a:rPr lang="en-US" sz="1200" dirty="0">
                <a:solidFill>
                  <a:srgbClr val="A6A6AC"/>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6675120" y="3383280"/>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A6A6AC"/>
                </a:solidFill>
                <a:latin typeface="Calibri" pitchFamily="34" charset="0"/>
                <a:ea typeface="Calibri" pitchFamily="34" charset="-122"/>
                <a:cs typeface="Calibri" pitchFamily="34" charset="-120"/>
              </a:rPr>
              <a:t>Yalnızca hizmet satan, ürünü olmayan işler</a:t>
            </a:r>
            <a:endParaRPr lang="en-US" sz="1150" dirty="0"/>
          </a:p>
        </p:txBody>
      </p:sp>
      <p:sp>
        <p:nvSpPr>
          <p:cNvPr id="25" name="Text 23"/>
          <p:cNvSpPr txBox="1"/>
          <p:nvPr/>
        </p:nvSpPr>
        <p:spPr>
          <a:xfrm>
            <a:off x="6382512" y="3913632"/>
            <a:ext cx="256032" cy="274320"/>
          </a:xfrm>
          <a:prstGeom prst="rect">
            <a:avLst/>
          </a:prstGeom>
          <a:noFill/>
          <a:ln/>
        </p:spPr>
        <p:txBody>
          <a:bodyPr wrap="square" lIns="0" tIns="0" rIns="0" bIns="0" rtlCol="0" anchor="ctr"/>
          <a:lstStyle/>
          <a:p>
            <a:pPr indent="0" marL="0">
              <a:buNone/>
            </a:pPr>
            <a:r>
              <a:rPr lang="en-US" sz="1200" dirty="0">
                <a:solidFill>
                  <a:srgbClr val="A6A6AC"/>
                </a:solidFill>
                <a:latin typeface="Calibri" pitchFamily="34" charset="0"/>
                <a:ea typeface="Calibri" pitchFamily="34" charset="-122"/>
                <a:cs typeface="Calibri" pitchFamily="34" charset="-120"/>
              </a:rPr>
              <a:t>—</a:t>
            </a:r>
            <a:endParaRPr lang="en-US" sz="1200" dirty="0"/>
          </a:p>
        </p:txBody>
      </p:sp>
      <p:sp>
        <p:nvSpPr>
          <p:cNvPr id="26" name="Text 24"/>
          <p:cNvSpPr txBox="1"/>
          <p:nvPr/>
        </p:nvSpPr>
        <p:spPr>
          <a:xfrm>
            <a:off x="6675120" y="3913632"/>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A6A6AC"/>
                </a:solidFill>
                <a:latin typeface="Calibri" pitchFamily="34" charset="0"/>
                <a:ea typeface="Calibri" pitchFamily="34" charset="-122"/>
                <a:cs typeface="Calibri" pitchFamily="34" charset="-120"/>
              </a:rPr>
              <a:t>Hakkında yalnızca internetten bilgi bulabileceğiniz markalar</a:t>
            </a:r>
            <a:endParaRPr lang="en-US" sz="1150" dirty="0"/>
          </a:p>
        </p:txBody>
      </p:sp>
      <p:sp>
        <p:nvSpPr>
          <p:cNvPr id="27" name="Text 25"/>
          <p:cNvSpPr txBox="1"/>
          <p:nvPr/>
        </p:nvSpPr>
        <p:spPr>
          <a:xfrm>
            <a:off x="6382512" y="4443984"/>
            <a:ext cx="256032" cy="274320"/>
          </a:xfrm>
          <a:prstGeom prst="rect">
            <a:avLst/>
          </a:prstGeom>
          <a:noFill/>
          <a:ln/>
        </p:spPr>
        <p:txBody>
          <a:bodyPr wrap="square" lIns="0" tIns="0" rIns="0" bIns="0" rtlCol="0" anchor="ctr"/>
          <a:lstStyle/>
          <a:p>
            <a:pPr indent="0" marL="0">
              <a:buNone/>
            </a:pPr>
            <a:r>
              <a:rPr lang="en-US" sz="1200" dirty="0">
                <a:solidFill>
                  <a:srgbClr val="A6A6AC"/>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6675120" y="4443984"/>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A6A6AC"/>
                </a:solidFill>
                <a:latin typeface="Calibri" pitchFamily="34" charset="0"/>
                <a:ea typeface="Calibri" pitchFamily="34" charset="-122"/>
                <a:cs typeface="Calibri" pitchFamily="34" charset="-120"/>
              </a:rPr>
              <a:t>Kendi hayalinizde kurduğunuz, var olmayan markalar</a:t>
            </a:r>
            <a:endParaRPr lang="en-US" sz="1150" dirty="0"/>
          </a:p>
        </p:txBody>
      </p:sp>
      <p:sp>
        <p:nvSpPr>
          <p:cNvPr id="29" name="Text 27"/>
          <p:cNvSpPr txBox="1"/>
          <p:nvPr/>
        </p:nvSpPr>
        <p:spPr>
          <a:xfrm>
            <a:off x="6382512" y="4974336"/>
            <a:ext cx="256032" cy="274320"/>
          </a:xfrm>
          <a:prstGeom prst="rect">
            <a:avLst/>
          </a:prstGeom>
          <a:noFill/>
          <a:ln/>
        </p:spPr>
        <p:txBody>
          <a:bodyPr wrap="square" lIns="0" tIns="0" rIns="0" bIns="0" rtlCol="0" anchor="ctr"/>
          <a:lstStyle/>
          <a:p>
            <a:pPr indent="0" marL="0">
              <a:buNone/>
            </a:pPr>
            <a:r>
              <a:rPr lang="en-US" sz="1200" dirty="0">
                <a:solidFill>
                  <a:srgbClr val="A6A6AC"/>
                </a:solidFill>
                <a:latin typeface="Calibri" pitchFamily="34" charset="0"/>
                <a:ea typeface="Calibri" pitchFamily="34" charset="-122"/>
                <a:cs typeface="Calibri" pitchFamily="34" charset="-120"/>
              </a:rPr>
              <a:t>—</a:t>
            </a:r>
            <a:endParaRPr lang="en-US" sz="1200" dirty="0"/>
          </a:p>
        </p:txBody>
      </p:sp>
      <p:sp>
        <p:nvSpPr>
          <p:cNvPr id="30" name="Text 28"/>
          <p:cNvSpPr txBox="1"/>
          <p:nvPr/>
        </p:nvSpPr>
        <p:spPr>
          <a:xfrm>
            <a:off x="6675120" y="4974336"/>
            <a:ext cx="4736592" cy="457200"/>
          </a:xfrm>
          <a:prstGeom prst="rect">
            <a:avLst/>
          </a:prstGeom>
          <a:noFill/>
          <a:ln/>
        </p:spPr>
        <p:txBody>
          <a:bodyPr wrap="square" lIns="0" tIns="0" rIns="0" bIns="0" rtlCol="0" anchor="ctr"/>
          <a:lstStyle/>
          <a:p>
            <a:pPr indent="0" marL="0">
              <a:lnSpc>
                <a:spcPts val="1450"/>
              </a:lnSpc>
              <a:buNone/>
            </a:pPr>
            <a:r>
              <a:rPr lang="en-US" sz="1150" dirty="0">
                <a:solidFill>
                  <a:srgbClr val="A6A6AC"/>
                </a:solidFill>
                <a:latin typeface="Calibri" pitchFamily="34" charset="0"/>
                <a:ea typeface="Calibri" pitchFamily="34" charset="-122"/>
                <a:cs typeface="Calibri" pitchFamily="34" charset="-120"/>
              </a:rPr>
              <a:t>Geçen dönem başka bir derste çalıştığınız markalar</a:t>
            </a:r>
            <a:endParaRPr lang="en-US" sz="1150" dirty="0"/>
          </a:p>
        </p:txBody>
      </p:sp>
      <p:sp>
        <p:nvSpPr>
          <p:cNvPr id="31" name="Shape 29"/>
          <p:cNvSpPr/>
          <p:nvPr/>
        </p:nvSpPr>
        <p:spPr>
          <a:xfrm>
            <a:off x="5961888" y="2523744"/>
            <a:ext cx="0" cy="3054096"/>
          </a:xfrm>
          <a:prstGeom prst="line">
            <a:avLst/>
          </a:prstGeom>
          <a:noFill/>
          <a:ln w="9525">
            <a:solidFill>
              <a:srgbClr val="C9C9CF"/>
            </a:solidFill>
            <a:prstDash val="solid"/>
          </a:ln>
        </p:spPr>
      </p:sp>
      <p:sp>
        <p:nvSpPr>
          <p:cNvPr id="32" name="Text 30"/>
          <p:cNvSpPr txBox="1"/>
          <p:nvPr/>
        </p:nvSpPr>
        <p:spPr>
          <a:xfrm>
            <a:off x="777240" y="5715000"/>
            <a:ext cx="10634472" cy="365760"/>
          </a:xfrm>
          <a:prstGeom prst="rect">
            <a:avLst/>
          </a:prstGeom>
          <a:noFill/>
          <a:ln/>
        </p:spPr>
        <p:txBody>
          <a:bodyPr wrap="square" lIns="0" tIns="0" rIns="0" bIns="0" rtlCol="0" anchor="ctr"/>
          <a:lstStyle/>
          <a:p>
            <a:pPr algn="l" indent="0" marL="0">
              <a:lnSpc>
                <a:spcPts val="1200"/>
              </a:lnSpc>
              <a:buNone/>
            </a:pPr>
            <a:r>
              <a:rPr lang="en-US" sz="1250" i="1" dirty="0">
                <a:solidFill>
                  <a:srgbClr val="8C3A2B"/>
                </a:solidFill>
                <a:latin typeface="Cambria" pitchFamily="34" charset="0"/>
                <a:ea typeface="Cambria" pitchFamily="34" charset="-122"/>
                <a:cs typeface="Cambria" pitchFamily="34" charset="-120"/>
              </a:rPr>
              <a:t>En iyi adaylar çoğu zaman tanıdığınız birinin işidir: bir üretici, bir atölye, bir aile dükkânı. Mersin ve Çukurova'ya özgü kategorileri düşünün.</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IX · ÖDEV</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Araştırma paftasının yedi bölümü</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777240" y="1664208"/>
            <a:ext cx="10634472" cy="548640"/>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Her marka için A4 dikey bir pafta hazırlayacaksınız. İlk dördü araştırma, son üçü araştırmanın mekâna çevrilmesi. Son üç bölüm doldurulmadan pafta tamamlanmış sayılmaz.</a:t>
            </a:r>
            <a:endParaRPr lang="en-US" sz="1400" dirty="0"/>
          </a:p>
        </p:txBody>
      </p:sp>
      <p:sp>
        <p:nvSpPr>
          <p:cNvPr id="7" name="Shape 5"/>
          <p:cNvSpPr/>
          <p:nvPr/>
        </p:nvSpPr>
        <p:spPr>
          <a:xfrm>
            <a:off x="777240" y="2487168"/>
            <a:ext cx="292608" cy="292608"/>
          </a:xfrm>
          <a:prstGeom prst="ellipse">
            <a:avLst/>
          </a:prstGeom>
          <a:solidFill>
            <a:srgbClr val="16161A"/>
          </a:solidFill>
          <a:ln w="12700">
            <a:solidFill>
              <a:srgbClr val="16161A"/>
            </a:solidFill>
            <a:prstDash val="solid"/>
          </a:ln>
        </p:spPr>
      </p:sp>
      <p:sp>
        <p:nvSpPr>
          <p:cNvPr id="8" name="Text 6"/>
          <p:cNvSpPr txBox="1"/>
          <p:nvPr/>
        </p:nvSpPr>
        <p:spPr>
          <a:xfrm>
            <a:off x="777240" y="248716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1289304" y="2468880"/>
            <a:ext cx="3749040" cy="292608"/>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Marka künyesi</a:t>
            </a:r>
            <a:endParaRPr lang="en-US" sz="1450" dirty="0"/>
          </a:p>
        </p:txBody>
      </p:sp>
      <p:sp>
        <p:nvSpPr>
          <p:cNvPr id="10" name="Text 8"/>
          <p:cNvSpPr txBox="1"/>
          <p:nvPr/>
        </p:nvSpPr>
        <p:spPr>
          <a:xfrm>
            <a:off x="4937760" y="2505456"/>
            <a:ext cx="4754880" cy="274320"/>
          </a:xfrm>
          <a:prstGeom prst="rect">
            <a:avLst/>
          </a:prstGeom>
          <a:noFill/>
          <a:ln/>
        </p:spPr>
        <p:txBody>
          <a:bodyPr wrap="square" lIns="0" tIns="0" rIns="0" bIns="0" rtlCol="0" anchor="ctr"/>
          <a:lstStyle/>
          <a:p>
            <a:pPr indent="0" marL="0">
              <a:buNone/>
            </a:pPr>
            <a:r>
              <a:rPr lang="en-US" sz="1100" dirty="0">
                <a:solidFill>
                  <a:srgbClr val="7A7A82"/>
                </a:solidFill>
                <a:latin typeface="Calibri" pitchFamily="34" charset="0"/>
                <a:ea typeface="Calibri" pitchFamily="34" charset="-122"/>
                <a:cs typeface="Calibri" pitchFamily="34" charset="-120"/>
              </a:rPr>
              <a:t>adı, yeri, kuruluş, sahibi, nasıl satıyor</a:t>
            </a:r>
            <a:endParaRPr lang="en-US" sz="1100" dirty="0"/>
          </a:p>
        </p:txBody>
      </p:sp>
      <p:sp>
        <p:nvSpPr>
          <p:cNvPr id="11" name="Shape 9"/>
          <p:cNvSpPr/>
          <p:nvPr/>
        </p:nvSpPr>
        <p:spPr>
          <a:xfrm>
            <a:off x="1289304" y="2852928"/>
            <a:ext cx="8494776" cy="0"/>
          </a:xfrm>
          <a:prstGeom prst="line">
            <a:avLst/>
          </a:prstGeom>
          <a:noFill/>
          <a:ln w="6350">
            <a:solidFill>
              <a:srgbClr val="EDEDF0"/>
            </a:solidFill>
            <a:prstDash val="solid"/>
          </a:ln>
        </p:spPr>
      </p:sp>
      <p:sp>
        <p:nvSpPr>
          <p:cNvPr id="12" name="Shape 10"/>
          <p:cNvSpPr/>
          <p:nvPr/>
        </p:nvSpPr>
        <p:spPr>
          <a:xfrm>
            <a:off x="777240" y="2980944"/>
            <a:ext cx="292608" cy="292608"/>
          </a:xfrm>
          <a:prstGeom prst="ellipse">
            <a:avLst/>
          </a:prstGeom>
          <a:solidFill>
            <a:srgbClr val="16161A"/>
          </a:solidFill>
          <a:ln w="12700">
            <a:solidFill>
              <a:srgbClr val="16161A"/>
            </a:solidFill>
            <a:prstDash val="solid"/>
          </a:ln>
        </p:spPr>
      </p:sp>
      <p:sp>
        <p:nvSpPr>
          <p:cNvPr id="13" name="Text 11"/>
          <p:cNvSpPr txBox="1"/>
          <p:nvPr/>
        </p:nvSpPr>
        <p:spPr>
          <a:xfrm>
            <a:off x="777240" y="298094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4" name="Text 12"/>
          <p:cNvSpPr txBox="1"/>
          <p:nvPr/>
        </p:nvSpPr>
        <p:spPr>
          <a:xfrm>
            <a:off x="1289304" y="2962656"/>
            <a:ext cx="3749040" cy="292608"/>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Ürün</a:t>
            </a:r>
            <a:endParaRPr lang="en-US" sz="1450" dirty="0"/>
          </a:p>
        </p:txBody>
      </p:sp>
      <p:sp>
        <p:nvSpPr>
          <p:cNvPr id="15" name="Text 13"/>
          <p:cNvSpPr txBox="1"/>
          <p:nvPr/>
        </p:nvSpPr>
        <p:spPr>
          <a:xfrm>
            <a:off x="4937760" y="2999232"/>
            <a:ext cx="4754880" cy="274320"/>
          </a:xfrm>
          <a:prstGeom prst="rect">
            <a:avLst/>
          </a:prstGeom>
          <a:noFill/>
          <a:ln/>
        </p:spPr>
        <p:txBody>
          <a:bodyPr wrap="square" lIns="0" tIns="0" rIns="0" bIns="0" rtlCol="0" anchor="ctr"/>
          <a:lstStyle/>
          <a:p>
            <a:pPr indent="0" marL="0">
              <a:buNone/>
            </a:pPr>
            <a:r>
              <a:rPr lang="en-US" sz="1100" dirty="0">
                <a:solidFill>
                  <a:srgbClr val="7A7A82"/>
                </a:solidFill>
                <a:latin typeface="Calibri" pitchFamily="34" charset="0"/>
                <a:ea typeface="Calibri" pitchFamily="34" charset="-122"/>
                <a:cs typeface="Calibri" pitchFamily="34" charset="-120"/>
              </a:rPr>
              <a:t>ne satılıyor, kaç çeşit, ölçüleri, kırılgan mı</a:t>
            </a:r>
            <a:endParaRPr lang="en-US" sz="1100" dirty="0"/>
          </a:p>
        </p:txBody>
      </p:sp>
      <p:sp>
        <p:nvSpPr>
          <p:cNvPr id="16" name="Shape 14"/>
          <p:cNvSpPr/>
          <p:nvPr/>
        </p:nvSpPr>
        <p:spPr>
          <a:xfrm>
            <a:off x="1289304" y="3346704"/>
            <a:ext cx="8494776" cy="0"/>
          </a:xfrm>
          <a:prstGeom prst="line">
            <a:avLst/>
          </a:prstGeom>
          <a:noFill/>
          <a:ln w="6350">
            <a:solidFill>
              <a:srgbClr val="EDEDF0"/>
            </a:solidFill>
            <a:prstDash val="solid"/>
          </a:ln>
        </p:spPr>
      </p:sp>
      <p:sp>
        <p:nvSpPr>
          <p:cNvPr id="17" name="Shape 15"/>
          <p:cNvSpPr/>
          <p:nvPr/>
        </p:nvSpPr>
        <p:spPr>
          <a:xfrm>
            <a:off x="777240" y="3474720"/>
            <a:ext cx="292608" cy="292608"/>
          </a:xfrm>
          <a:prstGeom prst="ellipse">
            <a:avLst/>
          </a:prstGeom>
          <a:solidFill>
            <a:srgbClr val="16161A"/>
          </a:solidFill>
          <a:ln w="12700">
            <a:solidFill>
              <a:srgbClr val="16161A"/>
            </a:solidFill>
            <a:prstDash val="solid"/>
          </a:ln>
        </p:spPr>
      </p:sp>
      <p:sp>
        <p:nvSpPr>
          <p:cNvPr id="18" name="Text 16"/>
          <p:cNvSpPr txBox="1"/>
          <p:nvPr/>
        </p:nvSpPr>
        <p:spPr>
          <a:xfrm>
            <a:off x="777240" y="347472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9" name="Text 17"/>
          <p:cNvSpPr txBox="1"/>
          <p:nvPr/>
        </p:nvSpPr>
        <p:spPr>
          <a:xfrm>
            <a:off x="1289304" y="3456432"/>
            <a:ext cx="3749040" cy="292608"/>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Ürünle ilişki ve depolama</a:t>
            </a:r>
            <a:endParaRPr lang="en-US" sz="1450" dirty="0"/>
          </a:p>
        </p:txBody>
      </p:sp>
      <p:sp>
        <p:nvSpPr>
          <p:cNvPr id="20" name="Text 18"/>
          <p:cNvSpPr txBox="1"/>
          <p:nvPr/>
        </p:nvSpPr>
        <p:spPr>
          <a:xfrm>
            <a:off x="4937760" y="3493008"/>
            <a:ext cx="4754880" cy="274320"/>
          </a:xfrm>
          <a:prstGeom prst="rect">
            <a:avLst/>
          </a:prstGeom>
          <a:noFill/>
          <a:ln/>
        </p:spPr>
        <p:txBody>
          <a:bodyPr wrap="square" lIns="0" tIns="0" rIns="0" bIns="0" rtlCol="0" anchor="ctr"/>
          <a:lstStyle/>
          <a:p>
            <a:pPr indent="0" marL="0">
              <a:buNone/>
            </a:pPr>
            <a:r>
              <a:rPr lang="en-US" sz="1100" dirty="0">
                <a:solidFill>
                  <a:srgbClr val="7A7A82"/>
                </a:solidFill>
                <a:latin typeface="Calibri" pitchFamily="34" charset="0"/>
                <a:ea typeface="Calibri" pitchFamily="34" charset="-122"/>
                <a:cs typeface="Calibri" pitchFamily="34" charset="-120"/>
              </a:rPr>
              <a:t>müşteri ürünle ne yapıyor, stok nasıl duruyor</a:t>
            </a:r>
            <a:endParaRPr lang="en-US" sz="1100" dirty="0"/>
          </a:p>
        </p:txBody>
      </p:sp>
      <p:sp>
        <p:nvSpPr>
          <p:cNvPr id="21" name="Shape 19"/>
          <p:cNvSpPr/>
          <p:nvPr/>
        </p:nvSpPr>
        <p:spPr>
          <a:xfrm>
            <a:off x="1289304" y="3840480"/>
            <a:ext cx="8494776" cy="0"/>
          </a:xfrm>
          <a:prstGeom prst="line">
            <a:avLst/>
          </a:prstGeom>
          <a:noFill/>
          <a:ln w="6350">
            <a:solidFill>
              <a:srgbClr val="EDEDF0"/>
            </a:solidFill>
            <a:prstDash val="solid"/>
          </a:ln>
        </p:spPr>
      </p:sp>
      <p:sp>
        <p:nvSpPr>
          <p:cNvPr id="22" name="Shape 20"/>
          <p:cNvSpPr/>
          <p:nvPr/>
        </p:nvSpPr>
        <p:spPr>
          <a:xfrm>
            <a:off x="777240" y="3968496"/>
            <a:ext cx="292608" cy="292608"/>
          </a:xfrm>
          <a:prstGeom prst="ellipse">
            <a:avLst/>
          </a:prstGeom>
          <a:solidFill>
            <a:srgbClr val="16161A"/>
          </a:solidFill>
          <a:ln w="12700">
            <a:solidFill>
              <a:srgbClr val="16161A"/>
            </a:solidFill>
            <a:prstDash val="solid"/>
          </a:ln>
        </p:spPr>
      </p:sp>
      <p:sp>
        <p:nvSpPr>
          <p:cNvPr id="23" name="Text 21"/>
          <p:cNvSpPr txBox="1"/>
          <p:nvPr/>
        </p:nvSpPr>
        <p:spPr>
          <a:xfrm>
            <a:off x="777240" y="396849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4" name="Text 22"/>
          <p:cNvSpPr txBox="1"/>
          <p:nvPr/>
        </p:nvSpPr>
        <p:spPr>
          <a:xfrm>
            <a:off x="1289304" y="3950208"/>
            <a:ext cx="3749040" cy="292608"/>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Kullanıcı</a:t>
            </a:r>
            <a:endParaRPr lang="en-US" sz="1450" dirty="0"/>
          </a:p>
        </p:txBody>
      </p:sp>
      <p:sp>
        <p:nvSpPr>
          <p:cNvPr id="25" name="Text 23"/>
          <p:cNvSpPr txBox="1"/>
          <p:nvPr/>
        </p:nvSpPr>
        <p:spPr>
          <a:xfrm>
            <a:off x="4937760" y="3986784"/>
            <a:ext cx="4754880" cy="274320"/>
          </a:xfrm>
          <a:prstGeom prst="rect">
            <a:avLst/>
          </a:prstGeom>
          <a:noFill/>
          <a:ln/>
        </p:spPr>
        <p:txBody>
          <a:bodyPr wrap="square" lIns="0" tIns="0" rIns="0" bIns="0" rtlCol="0" anchor="ctr"/>
          <a:lstStyle/>
          <a:p>
            <a:pPr indent="0" marL="0">
              <a:buNone/>
            </a:pPr>
            <a:r>
              <a:rPr lang="en-US" sz="1100" dirty="0">
                <a:solidFill>
                  <a:srgbClr val="7A7A82"/>
                </a:solidFill>
                <a:latin typeface="Calibri" pitchFamily="34" charset="0"/>
                <a:ea typeface="Calibri" pitchFamily="34" charset="-122"/>
                <a:cs typeface="Calibri" pitchFamily="34" charset="-120"/>
              </a:rPr>
              <a:t>kim geliyor, ne yapıyor, neden rahatsız oluyor</a:t>
            </a:r>
            <a:endParaRPr lang="en-US" sz="1100" dirty="0"/>
          </a:p>
        </p:txBody>
      </p:sp>
      <p:sp>
        <p:nvSpPr>
          <p:cNvPr id="26" name="Shape 24"/>
          <p:cNvSpPr/>
          <p:nvPr/>
        </p:nvSpPr>
        <p:spPr>
          <a:xfrm>
            <a:off x="1289304" y="4334256"/>
            <a:ext cx="8494776" cy="0"/>
          </a:xfrm>
          <a:prstGeom prst="line">
            <a:avLst/>
          </a:prstGeom>
          <a:noFill/>
          <a:ln w="6350">
            <a:solidFill>
              <a:srgbClr val="EDEDF0"/>
            </a:solidFill>
            <a:prstDash val="solid"/>
          </a:ln>
        </p:spPr>
      </p:sp>
      <p:sp>
        <p:nvSpPr>
          <p:cNvPr id="27" name="Shape 25"/>
          <p:cNvSpPr/>
          <p:nvPr/>
        </p:nvSpPr>
        <p:spPr>
          <a:xfrm>
            <a:off x="777240" y="4462272"/>
            <a:ext cx="292608" cy="292608"/>
          </a:xfrm>
          <a:prstGeom prst="ellipse">
            <a:avLst/>
          </a:prstGeom>
          <a:solidFill>
            <a:srgbClr val="8C3A2B"/>
          </a:solidFill>
          <a:ln w="12700">
            <a:solidFill>
              <a:srgbClr val="8C3A2B"/>
            </a:solidFill>
            <a:prstDash val="solid"/>
          </a:ln>
        </p:spPr>
      </p:sp>
      <p:sp>
        <p:nvSpPr>
          <p:cNvPr id="28" name="Text 26"/>
          <p:cNvSpPr txBox="1"/>
          <p:nvPr/>
        </p:nvSpPr>
        <p:spPr>
          <a:xfrm>
            <a:off x="777240" y="446227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1289304" y="4443984"/>
            <a:ext cx="3749040" cy="292608"/>
          </a:xfrm>
          <a:prstGeom prst="rect">
            <a:avLst/>
          </a:prstGeom>
          <a:noFill/>
          <a:ln/>
        </p:spPr>
        <p:txBody>
          <a:bodyPr wrap="square" lIns="0" tIns="0" rIns="0" bIns="0" rtlCol="0" anchor="ctr"/>
          <a:lstStyle/>
          <a:p>
            <a:pPr indent="0" marL="0">
              <a:buNone/>
            </a:pPr>
            <a:r>
              <a:rPr lang="en-US" sz="1450" b="1" dirty="0">
                <a:solidFill>
                  <a:srgbClr val="8C3A2B"/>
                </a:solidFill>
                <a:latin typeface="Cambria" pitchFamily="34" charset="0"/>
                <a:ea typeface="Cambria" pitchFamily="34" charset="-122"/>
                <a:cs typeface="Cambria" pitchFamily="34" charset="-120"/>
              </a:rPr>
              <a:t>Marka dili ve anahtar kelimeler</a:t>
            </a:r>
            <a:endParaRPr lang="en-US" sz="1450" dirty="0"/>
          </a:p>
        </p:txBody>
      </p:sp>
      <p:sp>
        <p:nvSpPr>
          <p:cNvPr id="30" name="Text 28"/>
          <p:cNvSpPr txBox="1"/>
          <p:nvPr/>
        </p:nvSpPr>
        <p:spPr>
          <a:xfrm>
            <a:off x="4937760" y="4480560"/>
            <a:ext cx="4754880" cy="274320"/>
          </a:xfrm>
          <a:prstGeom prst="rect">
            <a:avLst/>
          </a:prstGeom>
          <a:noFill/>
          <a:ln/>
        </p:spPr>
        <p:txBody>
          <a:bodyPr wrap="square" lIns="0" tIns="0" rIns="0" bIns="0" rtlCol="0" anchor="ctr"/>
          <a:lstStyle/>
          <a:p>
            <a:pPr indent="0" marL="0">
              <a:buNone/>
            </a:pPr>
            <a:r>
              <a:rPr lang="en-US" sz="1100" dirty="0">
                <a:solidFill>
                  <a:srgbClr val="8C3A2B"/>
                </a:solidFill>
                <a:latin typeface="Calibri" pitchFamily="34" charset="0"/>
                <a:ea typeface="Calibri" pitchFamily="34" charset="-122"/>
                <a:cs typeface="Calibri" pitchFamily="34" charset="-120"/>
              </a:rPr>
              <a:t>üç kelime ve her birinin kanıtı</a:t>
            </a:r>
            <a:endParaRPr lang="en-US" sz="1100" dirty="0"/>
          </a:p>
        </p:txBody>
      </p:sp>
      <p:sp>
        <p:nvSpPr>
          <p:cNvPr id="31" name="Shape 29"/>
          <p:cNvSpPr/>
          <p:nvPr/>
        </p:nvSpPr>
        <p:spPr>
          <a:xfrm>
            <a:off x="1289304" y="4828032"/>
            <a:ext cx="8494776" cy="0"/>
          </a:xfrm>
          <a:prstGeom prst="line">
            <a:avLst/>
          </a:prstGeom>
          <a:noFill/>
          <a:ln w="6350">
            <a:solidFill>
              <a:srgbClr val="EDEDF0"/>
            </a:solidFill>
            <a:prstDash val="solid"/>
          </a:ln>
        </p:spPr>
      </p:sp>
      <p:sp>
        <p:nvSpPr>
          <p:cNvPr id="32" name="Shape 30"/>
          <p:cNvSpPr/>
          <p:nvPr/>
        </p:nvSpPr>
        <p:spPr>
          <a:xfrm>
            <a:off x="777240" y="4956048"/>
            <a:ext cx="292608" cy="292608"/>
          </a:xfrm>
          <a:prstGeom prst="ellipse">
            <a:avLst/>
          </a:prstGeom>
          <a:solidFill>
            <a:srgbClr val="8C3A2B"/>
          </a:solidFill>
          <a:ln w="12700">
            <a:solidFill>
              <a:srgbClr val="8C3A2B"/>
            </a:solidFill>
            <a:prstDash val="solid"/>
          </a:ln>
        </p:spPr>
      </p:sp>
      <p:sp>
        <p:nvSpPr>
          <p:cNvPr id="33" name="Text 31"/>
          <p:cNvSpPr txBox="1"/>
          <p:nvPr/>
        </p:nvSpPr>
        <p:spPr>
          <a:xfrm>
            <a:off x="777240" y="495604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4" name="Text 32"/>
          <p:cNvSpPr txBox="1"/>
          <p:nvPr/>
        </p:nvSpPr>
        <p:spPr>
          <a:xfrm>
            <a:off x="1289304" y="4937760"/>
            <a:ext cx="3749040" cy="292608"/>
          </a:xfrm>
          <a:prstGeom prst="rect">
            <a:avLst/>
          </a:prstGeom>
          <a:noFill/>
          <a:ln/>
        </p:spPr>
        <p:txBody>
          <a:bodyPr wrap="square" lIns="0" tIns="0" rIns="0" bIns="0" rtlCol="0" anchor="ctr"/>
          <a:lstStyle/>
          <a:p>
            <a:pPr indent="0" marL="0">
              <a:buNone/>
            </a:pPr>
            <a:r>
              <a:rPr lang="en-US" sz="1450" b="1" dirty="0">
                <a:solidFill>
                  <a:srgbClr val="8C3A2B"/>
                </a:solidFill>
                <a:latin typeface="Cambria" pitchFamily="34" charset="0"/>
                <a:ea typeface="Cambria" pitchFamily="34" charset="-122"/>
                <a:cs typeface="Cambria" pitchFamily="34" charset="-120"/>
              </a:rPr>
              <a:t>Mekânsal karşılık</a:t>
            </a:r>
            <a:endParaRPr lang="en-US" sz="1450" dirty="0"/>
          </a:p>
        </p:txBody>
      </p:sp>
      <p:sp>
        <p:nvSpPr>
          <p:cNvPr id="35" name="Text 33"/>
          <p:cNvSpPr txBox="1"/>
          <p:nvPr/>
        </p:nvSpPr>
        <p:spPr>
          <a:xfrm>
            <a:off x="4937760" y="4974336"/>
            <a:ext cx="4754880" cy="274320"/>
          </a:xfrm>
          <a:prstGeom prst="rect">
            <a:avLst/>
          </a:prstGeom>
          <a:noFill/>
          <a:ln/>
        </p:spPr>
        <p:txBody>
          <a:bodyPr wrap="square" lIns="0" tIns="0" rIns="0" bIns="0" rtlCol="0" anchor="ctr"/>
          <a:lstStyle/>
          <a:p>
            <a:pPr indent="0" marL="0">
              <a:buNone/>
            </a:pPr>
            <a:r>
              <a:rPr lang="en-US" sz="1100" dirty="0">
                <a:solidFill>
                  <a:srgbClr val="8C3A2B"/>
                </a:solidFill>
                <a:latin typeface="Calibri" pitchFamily="34" charset="0"/>
                <a:ea typeface="Calibri" pitchFamily="34" charset="-122"/>
                <a:cs typeface="Calibri" pitchFamily="34" charset="-120"/>
              </a:rPr>
              <a:t>her kelimenin karşılığı bir ilke ve bir öğe</a:t>
            </a:r>
            <a:endParaRPr lang="en-US" sz="1100" dirty="0"/>
          </a:p>
        </p:txBody>
      </p:sp>
      <p:sp>
        <p:nvSpPr>
          <p:cNvPr id="36" name="Shape 34"/>
          <p:cNvSpPr/>
          <p:nvPr/>
        </p:nvSpPr>
        <p:spPr>
          <a:xfrm>
            <a:off x="1289304" y="5321808"/>
            <a:ext cx="8494776" cy="0"/>
          </a:xfrm>
          <a:prstGeom prst="line">
            <a:avLst/>
          </a:prstGeom>
          <a:noFill/>
          <a:ln w="6350">
            <a:solidFill>
              <a:srgbClr val="EDEDF0"/>
            </a:solidFill>
            <a:prstDash val="solid"/>
          </a:ln>
        </p:spPr>
      </p:sp>
      <p:sp>
        <p:nvSpPr>
          <p:cNvPr id="37" name="Shape 35"/>
          <p:cNvSpPr/>
          <p:nvPr/>
        </p:nvSpPr>
        <p:spPr>
          <a:xfrm>
            <a:off x="777240" y="5449824"/>
            <a:ext cx="292608" cy="292608"/>
          </a:xfrm>
          <a:prstGeom prst="ellipse">
            <a:avLst/>
          </a:prstGeom>
          <a:solidFill>
            <a:srgbClr val="8C3A2B"/>
          </a:solidFill>
          <a:ln w="12700">
            <a:solidFill>
              <a:srgbClr val="8C3A2B"/>
            </a:solidFill>
            <a:prstDash val="solid"/>
          </a:ln>
        </p:spPr>
      </p:sp>
      <p:sp>
        <p:nvSpPr>
          <p:cNvPr id="38" name="Text 36"/>
          <p:cNvSpPr txBox="1"/>
          <p:nvPr/>
        </p:nvSpPr>
        <p:spPr>
          <a:xfrm>
            <a:off x="777240" y="544982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9" name="Text 37"/>
          <p:cNvSpPr txBox="1"/>
          <p:nvPr/>
        </p:nvSpPr>
        <p:spPr>
          <a:xfrm>
            <a:off x="1289304" y="5431536"/>
            <a:ext cx="3749040" cy="292608"/>
          </a:xfrm>
          <a:prstGeom prst="rect">
            <a:avLst/>
          </a:prstGeom>
          <a:noFill/>
          <a:ln/>
        </p:spPr>
        <p:txBody>
          <a:bodyPr wrap="square" lIns="0" tIns="0" rIns="0" bIns="0" rtlCol="0" anchor="ctr"/>
          <a:lstStyle/>
          <a:p>
            <a:pPr indent="0" marL="0">
              <a:buNone/>
            </a:pPr>
            <a:r>
              <a:rPr lang="en-US" sz="1450" b="1" dirty="0">
                <a:solidFill>
                  <a:srgbClr val="8C3A2B"/>
                </a:solidFill>
                <a:latin typeface="Cambria" pitchFamily="34" charset="0"/>
                <a:ea typeface="Cambria" pitchFamily="34" charset="-122"/>
                <a:cs typeface="Cambria" pitchFamily="34" charset="-120"/>
              </a:rPr>
              <a:t>Uygunluk değerlendirmesi</a:t>
            </a:r>
            <a:endParaRPr lang="en-US" sz="1450" dirty="0"/>
          </a:p>
        </p:txBody>
      </p:sp>
      <p:sp>
        <p:nvSpPr>
          <p:cNvPr id="40" name="Text 38"/>
          <p:cNvSpPr txBox="1"/>
          <p:nvPr/>
        </p:nvSpPr>
        <p:spPr>
          <a:xfrm>
            <a:off x="4937760" y="5468112"/>
            <a:ext cx="4754880" cy="274320"/>
          </a:xfrm>
          <a:prstGeom prst="rect">
            <a:avLst/>
          </a:prstGeom>
          <a:noFill/>
          <a:ln/>
        </p:spPr>
        <p:txBody>
          <a:bodyPr wrap="square" lIns="0" tIns="0" rIns="0" bIns="0" rtlCol="0" anchor="ctr"/>
          <a:lstStyle/>
          <a:p>
            <a:pPr indent="0" marL="0">
              <a:buNone/>
            </a:pPr>
            <a:r>
              <a:rPr lang="en-US" sz="1100" dirty="0">
                <a:solidFill>
                  <a:srgbClr val="8C3A2B"/>
                </a:solidFill>
                <a:latin typeface="Calibri" pitchFamily="34" charset="0"/>
                <a:ea typeface="Calibri" pitchFamily="34" charset="-122"/>
                <a:cs typeface="Calibri" pitchFamily="34" charset="-120"/>
              </a:rPr>
              <a:t>bu marka proje için neden uygun</a:t>
            </a:r>
            <a:endParaRPr lang="en-US" sz="1100" dirty="0"/>
          </a:p>
        </p:txBody>
      </p:sp>
      <p:sp>
        <p:nvSpPr>
          <p:cNvPr id="41" name="Shape 39"/>
          <p:cNvSpPr/>
          <p:nvPr/>
        </p:nvSpPr>
        <p:spPr>
          <a:xfrm>
            <a:off x="10058400" y="2468880"/>
            <a:ext cx="0" cy="1901952"/>
          </a:xfrm>
          <a:prstGeom prst="line">
            <a:avLst/>
          </a:prstGeom>
          <a:noFill/>
          <a:ln w="12700">
            <a:solidFill>
              <a:srgbClr val="C9C9CF"/>
            </a:solidFill>
            <a:prstDash val="solid"/>
          </a:ln>
        </p:spPr>
      </p:sp>
      <p:sp>
        <p:nvSpPr>
          <p:cNvPr id="42" name="Text 40"/>
          <p:cNvSpPr txBox="1"/>
          <p:nvPr/>
        </p:nvSpPr>
        <p:spPr>
          <a:xfrm>
            <a:off x="10186416" y="3127248"/>
            <a:ext cx="1225296" cy="274320"/>
          </a:xfrm>
          <a:prstGeom prst="rect">
            <a:avLst/>
          </a:prstGeom>
          <a:noFill/>
          <a:ln/>
        </p:spPr>
        <p:txBody>
          <a:bodyPr wrap="square" lIns="0" tIns="0" rIns="0" bIns="0" rtlCol="0" anchor="ctr"/>
          <a:lstStyle/>
          <a:p>
            <a:pPr algn="l" indent="0" marL="0">
              <a:lnSpc>
                <a:spcPts val="1200"/>
              </a:lnSpc>
              <a:buNone/>
            </a:pPr>
            <a:r>
              <a:rPr lang="en-US" sz="850" b="1" spc="130" kern="0" dirty="0">
                <a:solidFill>
                  <a:srgbClr val="7A7A82"/>
                </a:solidFill>
                <a:latin typeface="Calibri" pitchFamily="34" charset="0"/>
                <a:ea typeface="Calibri" pitchFamily="34" charset="-122"/>
                <a:cs typeface="Calibri" pitchFamily="34" charset="-120"/>
              </a:rPr>
              <a:t>ARAŞTIRMA</a:t>
            </a:r>
            <a:endParaRPr lang="en-US" sz="850" dirty="0"/>
          </a:p>
        </p:txBody>
      </p:sp>
      <p:sp>
        <p:nvSpPr>
          <p:cNvPr id="43" name="Shape 41"/>
          <p:cNvSpPr/>
          <p:nvPr/>
        </p:nvSpPr>
        <p:spPr>
          <a:xfrm>
            <a:off x="10058400" y="4443984"/>
            <a:ext cx="0" cy="1371600"/>
          </a:xfrm>
          <a:prstGeom prst="line">
            <a:avLst/>
          </a:prstGeom>
          <a:noFill/>
          <a:ln w="17780">
            <a:solidFill>
              <a:srgbClr val="8C3A2B"/>
            </a:solidFill>
            <a:prstDash val="solid"/>
          </a:ln>
        </p:spPr>
      </p:sp>
      <p:sp>
        <p:nvSpPr>
          <p:cNvPr id="44" name="Text 42"/>
          <p:cNvSpPr txBox="1"/>
          <p:nvPr/>
        </p:nvSpPr>
        <p:spPr>
          <a:xfrm>
            <a:off x="10186416" y="4956048"/>
            <a:ext cx="1225296" cy="274320"/>
          </a:xfrm>
          <a:prstGeom prst="rect">
            <a:avLst/>
          </a:prstGeom>
          <a:noFill/>
          <a:ln/>
        </p:spPr>
        <p:txBody>
          <a:bodyPr wrap="square" lIns="0" tIns="0" rIns="0" bIns="0" rtlCol="0" anchor="ctr"/>
          <a:lstStyle/>
          <a:p>
            <a:pPr algn="l" indent="0" marL="0">
              <a:lnSpc>
                <a:spcPts val="1200"/>
              </a:lnSpc>
              <a:buNone/>
            </a:pPr>
            <a:r>
              <a:rPr lang="en-US" sz="850" b="1" spc="130" kern="0" dirty="0">
                <a:solidFill>
                  <a:srgbClr val="8C3A2B"/>
                </a:solidFill>
                <a:latin typeface="Calibri" pitchFamily="34" charset="0"/>
                <a:ea typeface="Calibri" pitchFamily="34" charset="-122"/>
                <a:cs typeface="Calibri" pitchFamily="34" charset="-120"/>
              </a:rPr>
              <a:t>ÇEVİRİ</a:t>
            </a:r>
            <a:endParaRPr lang="en-US" sz="850" dirty="0"/>
          </a:p>
        </p:txBody>
      </p:sp>
      <p:sp>
        <p:nvSpPr>
          <p:cNvPr id="45" name="Shape 43"/>
          <p:cNvSpPr/>
          <p:nvPr/>
        </p:nvSpPr>
        <p:spPr>
          <a:xfrm>
            <a:off x="777240" y="5632704"/>
            <a:ext cx="9144000" cy="566928"/>
          </a:xfrm>
          <a:prstGeom prst="rect">
            <a:avLst/>
          </a:prstGeom>
          <a:solidFill>
            <a:srgbClr val="F6EAE6"/>
          </a:solidFill>
          <a:ln w="15875">
            <a:solidFill>
              <a:srgbClr val="8C3A2B"/>
            </a:solidFill>
            <a:prstDash val="solid"/>
          </a:ln>
        </p:spPr>
      </p:sp>
      <p:sp>
        <p:nvSpPr>
          <p:cNvPr id="46" name="Text 44"/>
          <p:cNvSpPr txBox="1"/>
          <p:nvPr/>
        </p:nvSpPr>
        <p:spPr>
          <a:xfrm>
            <a:off x="996696" y="5715000"/>
            <a:ext cx="8686800" cy="411480"/>
          </a:xfrm>
          <a:prstGeom prst="rect">
            <a:avLst/>
          </a:prstGeom>
          <a:noFill/>
          <a:ln/>
        </p:spPr>
        <p:txBody>
          <a:bodyPr wrap="square" lIns="0" tIns="0" rIns="0" bIns="0" rtlCol="0" anchor="ctr"/>
          <a:lstStyle/>
          <a:p>
            <a:pPr indent="0" marL="0">
              <a:buNone/>
            </a:pPr>
            <a:r>
              <a:rPr lang="en-US" sz="1250" b="1" dirty="0">
                <a:solidFill>
                  <a:srgbClr val="8C3A2B"/>
                </a:solidFill>
                <a:latin typeface="Cambria" pitchFamily="34" charset="0"/>
                <a:ea typeface="Cambria" pitchFamily="34" charset="-122"/>
                <a:cs typeface="Cambria" pitchFamily="34" charset="-120"/>
              </a:rPr>
              <a:t>Teslim: üç pafta, A4 dikey, çıktı. Fotoğraf ve el çizimi serbest; kopyala-yapıştır marka metni kabul edilmez.</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IX · SONRAKİ HAFTALAR</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Önümüzdeki üç hafta</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46</a:t>
            </a:r>
            <a:endParaRPr lang="en-US" sz="900" dirty="0"/>
          </a:p>
        </p:txBody>
      </p:sp>
      <p:sp>
        <p:nvSpPr>
          <p:cNvPr id="6" name="Text 4"/>
          <p:cNvSpPr txBox="1"/>
          <p:nvPr/>
        </p:nvSpPr>
        <p:spPr>
          <a:xfrm>
            <a:off x="777240" y="1664208"/>
            <a:ext cx="10634472" cy="512064"/>
          </a:xfrm>
          <a:prstGeom prst="rect">
            <a:avLst/>
          </a:prstGeom>
          <a:noFill/>
          <a:ln/>
        </p:spPr>
        <p:txBody>
          <a:bodyPr wrap="square" lIns="0" tIns="0" rIns="0" bIns="0" rtlCol="0" anchor="ctr"/>
          <a:lstStyle/>
          <a:p>
            <a:pPr indent="0" marL="0">
              <a:lnSpc>
                <a:spcPts val="2200"/>
              </a:lnSpc>
              <a:buNone/>
            </a:pPr>
            <a:r>
              <a:rPr lang="en-US" sz="1400" dirty="0">
                <a:solidFill>
                  <a:srgbClr val="2B2B31"/>
                </a:solidFill>
                <a:latin typeface="Cambria" pitchFamily="34" charset="0"/>
                <a:ea typeface="Cambria" pitchFamily="34" charset="-122"/>
                <a:cs typeface="Cambria" pitchFamily="34" charset="-120"/>
              </a:rPr>
              <a:t>Bugün öğrendiğiniz araçlar önümüzdeki haftalarda sırayla kullanılacak. Her hafta bir öncekinin üstüne biniyor; bir hafta eksik kalırsa sonraki hafta boşa gidiyor.</a:t>
            </a:r>
            <a:endParaRPr lang="en-US" sz="1400" dirty="0"/>
          </a:p>
        </p:txBody>
      </p:sp>
      <p:sp>
        <p:nvSpPr>
          <p:cNvPr id="7" name="Shape 5"/>
          <p:cNvSpPr/>
          <p:nvPr/>
        </p:nvSpPr>
        <p:spPr>
          <a:xfrm>
            <a:off x="777240" y="2395728"/>
            <a:ext cx="3291840" cy="2487168"/>
          </a:xfrm>
          <a:prstGeom prst="rect">
            <a:avLst/>
          </a:prstGeom>
          <a:solidFill>
            <a:srgbClr val="F6EAE6"/>
          </a:solidFill>
          <a:ln w="15875">
            <a:solidFill>
              <a:srgbClr val="8C3A2B"/>
            </a:solidFill>
            <a:prstDash val="solid"/>
          </a:ln>
        </p:spPr>
      </p:sp>
      <p:sp>
        <p:nvSpPr>
          <p:cNvPr id="8" name="Text 6"/>
          <p:cNvSpPr txBox="1"/>
          <p:nvPr/>
        </p:nvSpPr>
        <p:spPr>
          <a:xfrm>
            <a:off x="978408" y="2578608"/>
            <a:ext cx="2889504" cy="256032"/>
          </a:xfrm>
          <a:prstGeom prst="rect">
            <a:avLst/>
          </a:prstGeom>
          <a:noFill/>
          <a:ln/>
        </p:spPr>
        <p:txBody>
          <a:bodyPr wrap="square" lIns="0" tIns="0" rIns="0" bIns="0" rtlCol="0" anchor="ctr"/>
          <a:lstStyle/>
          <a:p>
            <a:pPr indent="0" marL="0">
              <a:buNone/>
            </a:pPr>
            <a:r>
              <a:rPr lang="en-US" sz="1000" b="1" spc="180" kern="0" dirty="0">
                <a:solidFill>
                  <a:srgbClr val="8C3A2B"/>
                </a:solidFill>
                <a:latin typeface="Calibri" pitchFamily="34" charset="0"/>
                <a:ea typeface="Calibri" pitchFamily="34" charset="-122"/>
                <a:cs typeface="Calibri" pitchFamily="34" charset="-120"/>
              </a:rPr>
              <a:t>2. HAFTA</a:t>
            </a:r>
            <a:endParaRPr lang="en-US" sz="1000" dirty="0"/>
          </a:p>
        </p:txBody>
      </p:sp>
      <p:sp>
        <p:nvSpPr>
          <p:cNvPr id="9" name="Text 7"/>
          <p:cNvSpPr txBox="1"/>
          <p:nvPr/>
        </p:nvSpPr>
        <p:spPr>
          <a:xfrm>
            <a:off x="978408" y="2871216"/>
            <a:ext cx="2889504" cy="749808"/>
          </a:xfrm>
          <a:prstGeom prst="rect">
            <a:avLst/>
          </a:prstGeom>
          <a:noFill/>
          <a:ln/>
        </p:spPr>
        <p:txBody>
          <a:bodyPr wrap="square" lIns="0" tIns="0" rIns="0" bIns="0" rtlCol="0" anchor="ctr"/>
          <a:lstStyle/>
          <a:p>
            <a:pPr indent="0" marL="0">
              <a:lnSpc>
                <a:spcPts val="1900"/>
              </a:lnSpc>
              <a:buNone/>
            </a:pPr>
            <a:r>
              <a:rPr lang="en-US" sz="1500" b="1" dirty="0">
                <a:solidFill>
                  <a:srgbClr val="8C3A2B"/>
                </a:solidFill>
                <a:latin typeface="Cambria" pitchFamily="34" charset="0"/>
                <a:ea typeface="Cambria" pitchFamily="34" charset="-122"/>
                <a:cs typeface="Cambria" pitchFamily="34" charset="-120"/>
              </a:rPr>
              <a:t>Alan ziyareti ve marka seçimi</a:t>
            </a:r>
            <a:endParaRPr lang="en-US" sz="1500" dirty="0"/>
          </a:p>
        </p:txBody>
      </p:sp>
      <p:sp>
        <p:nvSpPr>
          <p:cNvPr id="10" name="Text 8"/>
          <p:cNvSpPr txBox="1"/>
          <p:nvPr/>
        </p:nvSpPr>
        <p:spPr>
          <a:xfrm>
            <a:off x="978408" y="3675888"/>
            <a:ext cx="2889504" cy="86868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Mersin Marina'daki proje alanını yerinde göreceğiz; ölçüler verilecek. Aynı gün üç adaydan biri seçilecek ve deneyim araştırmasına başlanacak.</a:t>
            </a:r>
            <a:endParaRPr lang="en-US" sz="1050" dirty="0"/>
          </a:p>
        </p:txBody>
      </p:sp>
      <p:sp>
        <p:nvSpPr>
          <p:cNvPr id="11" name="Shape 9"/>
          <p:cNvSpPr/>
          <p:nvPr/>
        </p:nvSpPr>
        <p:spPr>
          <a:xfrm>
            <a:off x="978408" y="4535424"/>
            <a:ext cx="2889504" cy="0"/>
          </a:xfrm>
          <a:prstGeom prst="line">
            <a:avLst/>
          </a:prstGeom>
          <a:noFill/>
          <a:ln w="9525">
            <a:solidFill>
              <a:srgbClr val="8C3A2B"/>
            </a:solidFill>
            <a:prstDash val="solid"/>
          </a:ln>
        </p:spPr>
      </p:sp>
      <p:sp>
        <p:nvSpPr>
          <p:cNvPr id="12" name="Text 10"/>
          <p:cNvSpPr txBox="1"/>
          <p:nvPr/>
        </p:nvSpPr>
        <p:spPr>
          <a:xfrm>
            <a:off x="978408" y="4590288"/>
            <a:ext cx="2889504" cy="237744"/>
          </a:xfrm>
          <a:prstGeom prst="rect">
            <a:avLst/>
          </a:prstGeom>
          <a:noFill/>
          <a:ln/>
        </p:spPr>
        <p:txBody>
          <a:bodyPr wrap="square" lIns="0" tIns="0" rIns="0" bIns="0" rtlCol="0" anchor="ctr"/>
          <a:lstStyle/>
          <a:p>
            <a:pPr indent="0" marL="0">
              <a:buNone/>
            </a:pPr>
            <a:r>
              <a:rPr lang="en-US" sz="950" b="1" dirty="0">
                <a:solidFill>
                  <a:srgbClr val="8C3A2B"/>
                </a:solidFill>
                <a:latin typeface="Calibri" pitchFamily="34" charset="0"/>
                <a:ea typeface="Calibri" pitchFamily="34" charset="-122"/>
                <a:cs typeface="Calibri" pitchFamily="34" charset="-120"/>
              </a:rPr>
              <a:t>yanınızda: üç pafta</a:t>
            </a:r>
            <a:endParaRPr lang="en-US" sz="950" dirty="0"/>
          </a:p>
        </p:txBody>
      </p:sp>
      <p:sp>
        <p:nvSpPr>
          <p:cNvPr id="13" name="Shape 11"/>
          <p:cNvSpPr/>
          <p:nvPr/>
        </p:nvSpPr>
        <p:spPr>
          <a:xfrm>
            <a:off x="4142232" y="3639312"/>
            <a:ext cx="237744" cy="0"/>
          </a:xfrm>
          <a:prstGeom prst="line">
            <a:avLst/>
          </a:prstGeom>
          <a:noFill/>
          <a:ln w="15875">
            <a:solidFill>
              <a:srgbClr val="C9C9CF"/>
            </a:solidFill>
            <a:prstDash val="solid"/>
            <a:tailEnd type="triangle"/>
          </a:ln>
        </p:spPr>
      </p:sp>
      <p:sp>
        <p:nvSpPr>
          <p:cNvPr id="14" name="Shape 12"/>
          <p:cNvSpPr/>
          <p:nvPr/>
        </p:nvSpPr>
        <p:spPr>
          <a:xfrm>
            <a:off x="4453128" y="2395728"/>
            <a:ext cx="3291840" cy="2487168"/>
          </a:xfrm>
          <a:prstGeom prst="rect">
            <a:avLst/>
          </a:prstGeom>
          <a:ln w="9525">
            <a:solidFill>
              <a:srgbClr val="C9C9CF"/>
            </a:solidFill>
            <a:prstDash val="solid"/>
          </a:ln>
        </p:spPr>
      </p:sp>
      <p:sp>
        <p:nvSpPr>
          <p:cNvPr id="15" name="Text 13"/>
          <p:cNvSpPr txBox="1"/>
          <p:nvPr/>
        </p:nvSpPr>
        <p:spPr>
          <a:xfrm>
            <a:off x="4654296" y="2578608"/>
            <a:ext cx="2889504" cy="256032"/>
          </a:xfrm>
          <a:prstGeom prst="rect">
            <a:avLst/>
          </a:prstGeom>
          <a:noFill/>
          <a:ln/>
        </p:spPr>
        <p:txBody>
          <a:bodyPr wrap="square" lIns="0" tIns="0" rIns="0" bIns="0" rtlCol="0" anchor="ctr"/>
          <a:lstStyle/>
          <a:p>
            <a:pPr indent="0" marL="0">
              <a:buNone/>
            </a:pPr>
            <a:r>
              <a:rPr lang="en-US" sz="1000" b="1" spc="180" kern="0" dirty="0">
                <a:solidFill>
                  <a:srgbClr val="7A7A82"/>
                </a:solidFill>
                <a:latin typeface="Calibri" pitchFamily="34" charset="0"/>
                <a:ea typeface="Calibri" pitchFamily="34" charset="-122"/>
                <a:cs typeface="Calibri" pitchFamily="34" charset="-120"/>
              </a:rPr>
              <a:t>3. HAFTA</a:t>
            </a:r>
            <a:endParaRPr lang="en-US" sz="1000" dirty="0"/>
          </a:p>
        </p:txBody>
      </p:sp>
      <p:sp>
        <p:nvSpPr>
          <p:cNvPr id="16" name="Text 14"/>
          <p:cNvSpPr txBox="1"/>
          <p:nvPr/>
        </p:nvSpPr>
        <p:spPr>
          <a:xfrm>
            <a:off x="4654296" y="2871216"/>
            <a:ext cx="2889504" cy="749808"/>
          </a:xfrm>
          <a:prstGeom prst="rect">
            <a:avLst/>
          </a:prstGeom>
          <a:noFill/>
          <a:ln/>
        </p:spPr>
        <p:txBody>
          <a:bodyPr wrap="square" lIns="0" tIns="0" rIns="0" bIns="0" rtlCol="0" anchor="ctr"/>
          <a:lstStyle/>
          <a:p>
            <a:pPr indent="0" marL="0">
              <a:lnSpc>
                <a:spcPts val="1900"/>
              </a:lnSpc>
              <a:buNone/>
            </a:pPr>
            <a:r>
              <a:rPr lang="en-US" sz="1500" b="1" dirty="0">
                <a:solidFill>
                  <a:srgbClr val="16161A"/>
                </a:solidFill>
                <a:latin typeface="Cambria" pitchFamily="34" charset="0"/>
                <a:ea typeface="Cambria" pitchFamily="34" charset="-122"/>
                <a:cs typeface="Cambria" pitchFamily="34" charset="-120"/>
              </a:rPr>
              <a:t>Marka anahtarı, persona, araştırma sunumu</a:t>
            </a:r>
            <a:endParaRPr lang="en-US" sz="1500" dirty="0"/>
          </a:p>
        </p:txBody>
      </p:sp>
      <p:sp>
        <p:nvSpPr>
          <p:cNvPr id="17" name="Text 15"/>
          <p:cNvSpPr txBox="1"/>
          <p:nvPr/>
        </p:nvSpPr>
        <p:spPr>
          <a:xfrm>
            <a:off x="4654296" y="3675888"/>
            <a:ext cx="2889504" cy="86868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Seçilen marka için sekiz başlıklı marka anahtarı doldurulacak; üç persona ve yolculuk haritası çıkarılacak. Araştırma sunumu yapılacak (%10).</a:t>
            </a:r>
            <a:endParaRPr lang="en-US" sz="1050" dirty="0"/>
          </a:p>
        </p:txBody>
      </p:sp>
      <p:sp>
        <p:nvSpPr>
          <p:cNvPr id="18" name="Shape 16"/>
          <p:cNvSpPr/>
          <p:nvPr/>
        </p:nvSpPr>
        <p:spPr>
          <a:xfrm>
            <a:off x="4654296" y="4535424"/>
            <a:ext cx="2889504" cy="0"/>
          </a:xfrm>
          <a:prstGeom prst="line">
            <a:avLst/>
          </a:prstGeom>
          <a:noFill/>
          <a:ln w="9525">
            <a:solidFill>
              <a:srgbClr val="EDEDF0"/>
            </a:solidFill>
            <a:prstDash val="solid"/>
          </a:ln>
        </p:spPr>
      </p:sp>
      <p:sp>
        <p:nvSpPr>
          <p:cNvPr id="19" name="Text 17"/>
          <p:cNvSpPr txBox="1"/>
          <p:nvPr/>
        </p:nvSpPr>
        <p:spPr>
          <a:xfrm>
            <a:off x="4654296" y="4590288"/>
            <a:ext cx="2889504" cy="237744"/>
          </a:xfrm>
          <a:prstGeom prst="rect">
            <a:avLst/>
          </a:prstGeom>
          <a:noFill/>
          <a:ln/>
        </p:spPr>
        <p:txBody>
          <a:bodyPr wrap="square" lIns="0" tIns="0" rIns="0" bIns="0" rtlCol="0" anchor="ctr"/>
          <a:lstStyle/>
          <a:p>
            <a:pPr indent="0" marL="0">
              <a:buNone/>
            </a:pPr>
            <a:r>
              <a:rPr lang="en-US" sz="950" b="1" dirty="0">
                <a:solidFill>
                  <a:srgbClr val="7A7A82"/>
                </a:solidFill>
                <a:latin typeface="Calibri" pitchFamily="34" charset="0"/>
                <a:ea typeface="Calibri" pitchFamily="34" charset="-122"/>
                <a:cs typeface="Calibri" pitchFamily="34" charset="-120"/>
              </a:rPr>
              <a:t>yanınızda: görüşme ve gözlem notları</a:t>
            </a:r>
            <a:endParaRPr lang="en-US" sz="950" dirty="0"/>
          </a:p>
        </p:txBody>
      </p:sp>
      <p:sp>
        <p:nvSpPr>
          <p:cNvPr id="20" name="Shape 18"/>
          <p:cNvSpPr/>
          <p:nvPr/>
        </p:nvSpPr>
        <p:spPr>
          <a:xfrm>
            <a:off x="7818120" y="3639312"/>
            <a:ext cx="237744" cy="0"/>
          </a:xfrm>
          <a:prstGeom prst="line">
            <a:avLst/>
          </a:prstGeom>
          <a:noFill/>
          <a:ln w="15875">
            <a:solidFill>
              <a:srgbClr val="C9C9CF"/>
            </a:solidFill>
            <a:prstDash val="solid"/>
            <a:tailEnd type="triangle"/>
          </a:ln>
        </p:spPr>
      </p:sp>
      <p:sp>
        <p:nvSpPr>
          <p:cNvPr id="21" name="Shape 19"/>
          <p:cNvSpPr/>
          <p:nvPr/>
        </p:nvSpPr>
        <p:spPr>
          <a:xfrm>
            <a:off x="8129016" y="2395728"/>
            <a:ext cx="3291840" cy="2487168"/>
          </a:xfrm>
          <a:prstGeom prst="rect">
            <a:avLst/>
          </a:prstGeom>
          <a:ln w="9525">
            <a:solidFill>
              <a:srgbClr val="C9C9CF"/>
            </a:solidFill>
            <a:prstDash val="solid"/>
          </a:ln>
        </p:spPr>
      </p:sp>
      <p:sp>
        <p:nvSpPr>
          <p:cNvPr id="22" name="Text 20"/>
          <p:cNvSpPr txBox="1"/>
          <p:nvPr/>
        </p:nvSpPr>
        <p:spPr>
          <a:xfrm>
            <a:off x="8330184" y="2578608"/>
            <a:ext cx="2889504" cy="256032"/>
          </a:xfrm>
          <a:prstGeom prst="rect">
            <a:avLst/>
          </a:prstGeom>
          <a:noFill/>
          <a:ln/>
        </p:spPr>
        <p:txBody>
          <a:bodyPr wrap="square" lIns="0" tIns="0" rIns="0" bIns="0" rtlCol="0" anchor="ctr"/>
          <a:lstStyle/>
          <a:p>
            <a:pPr indent="0" marL="0">
              <a:buNone/>
            </a:pPr>
            <a:r>
              <a:rPr lang="en-US" sz="1000" b="1" spc="180" kern="0" dirty="0">
                <a:solidFill>
                  <a:srgbClr val="7A7A82"/>
                </a:solidFill>
                <a:latin typeface="Calibri" pitchFamily="34" charset="0"/>
                <a:ea typeface="Calibri" pitchFamily="34" charset="-122"/>
                <a:cs typeface="Calibri" pitchFamily="34" charset="-120"/>
              </a:rPr>
              <a:t>4. HAFTA</a:t>
            </a:r>
            <a:endParaRPr lang="en-US" sz="1000" dirty="0"/>
          </a:p>
        </p:txBody>
      </p:sp>
      <p:sp>
        <p:nvSpPr>
          <p:cNvPr id="23" name="Text 21"/>
          <p:cNvSpPr txBox="1"/>
          <p:nvPr/>
        </p:nvSpPr>
        <p:spPr>
          <a:xfrm>
            <a:off x="8330184" y="2871216"/>
            <a:ext cx="2889504" cy="749808"/>
          </a:xfrm>
          <a:prstGeom prst="rect">
            <a:avLst/>
          </a:prstGeom>
          <a:noFill/>
          <a:ln/>
        </p:spPr>
        <p:txBody>
          <a:bodyPr wrap="square" lIns="0" tIns="0" rIns="0" bIns="0" rtlCol="0" anchor="ctr"/>
          <a:lstStyle/>
          <a:p>
            <a:pPr indent="0" marL="0">
              <a:lnSpc>
                <a:spcPts val="1900"/>
              </a:lnSpc>
              <a:buNone/>
            </a:pPr>
            <a:r>
              <a:rPr lang="en-US" sz="1500" b="1" dirty="0">
                <a:solidFill>
                  <a:srgbClr val="16161A"/>
                </a:solidFill>
                <a:latin typeface="Cambria" pitchFamily="34" charset="0"/>
                <a:ea typeface="Cambria" pitchFamily="34" charset="-122"/>
                <a:cs typeface="Cambria" pitchFamily="34" charset="-120"/>
              </a:rPr>
              <a:t>Anahtar kelime, matris ve ilk mekânsal karşılıklar</a:t>
            </a:r>
            <a:endParaRPr lang="en-US" sz="1500" dirty="0"/>
          </a:p>
        </p:txBody>
      </p:sp>
      <p:sp>
        <p:nvSpPr>
          <p:cNvPr id="24" name="Text 22"/>
          <p:cNvSpPr txBox="1"/>
          <p:nvPr/>
        </p:nvSpPr>
        <p:spPr>
          <a:xfrm>
            <a:off x="8330184" y="3675888"/>
            <a:ext cx="2889504" cy="868680"/>
          </a:xfrm>
          <a:prstGeom prst="rect">
            <a:avLst/>
          </a:prstGeom>
          <a:noFill/>
          <a:ln/>
        </p:spPr>
        <p:txBody>
          <a:bodyPr wrap="square" lIns="0" tIns="0" rIns="0" bIns="0" rtlCol="0" anchor="ctr"/>
          <a:lstStyle/>
          <a:p>
            <a:pPr indent="0" marL="0">
              <a:lnSpc>
                <a:spcPts val="1350"/>
              </a:lnSpc>
              <a:buNone/>
            </a:pPr>
            <a:r>
              <a:rPr lang="en-US" sz="1050" dirty="0">
                <a:solidFill>
                  <a:srgbClr val="2B2B31"/>
                </a:solidFill>
                <a:latin typeface="Calibri" pitchFamily="34" charset="0"/>
                <a:ea typeface="Calibri" pitchFamily="34" charset="-122"/>
                <a:cs typeface="Calibri" pitchFamily="34" charset="-120"/>
              </a:rPr>
              <a:t>Üç anahtar kelime kesinleşecek; altı modülün her biri için karşılık matrisi kurulacak. Mekânsal program ve zoning çalışılacak.</a:t>
            </a:r>
            <a:endParaRPr lang="en-US" sz="1050" dirty="0"/>
          </a:p>
        </p:txBody>
      </p:sp>
      <p:sp>
        <p:nvSpPr>
          <p:cNvPr id="25" name="Shape 23"/>
          <p:cNvSpPr/>
          <p:nvPr/>
        </p:nvSpPr>
        <p:spPr>
          <a:xfrm>
            <a:off x="8330184" y="4535424"/>
            <a:ext cx="2889504" cy="0"/>
          </a:xfrm>
          <a:prstGeom prst="line">
            <a:avLst/>
          </a:prstGeom>
          <a:noFill/>
          <a:ln w="9525">
            <a:solidFill>
              <a:srgbClr val="EDEDF0"/>
            </a:solidFill>
            <a:prstDash val="solid"/>
          </a:ln>
        </p:spPr>
      </p:sp>
      <p:sp>
        <p:nvSpPr>
          <p:cNvPr id="26" name="Text 24"/>
          <p:cNvSpPr txBox="1"/>
          <p:nvPr/>
        </p:nvSpPr>
        <p:spPr>
          <a:xfrm>
            <a:off x="8330184" y="4590288"/>
            <a:ext cx="2889504" cy="237744"/>
          </a:xfrm>
          <a:prstGeom prst="rect">
            <a:avLst/>
          </a:prstGeom>
          <a:noFill/>
          <a:ln/>
        </p:spPr>
        <p:txBody>
          <a:bodyPr wrap="square" lIns="0" tIns="0" rIns="0" bIns="0" rtlCol="0" anchor="ctr"/>
          <a:lstStyle/>
          <a:p>
            <a:pPr indent="0" marL="0">
              <a:buNone/>
            </a:pPr>
            <a:r>
              <a:rPr lang="en-US" sz="950" b="1" dirty="0">
                <a:solidFill>
                  <a:srgbClr val="7A7A82"/>
                </a:solidFill>
                <a:latin typeface="Calibri" pitchFamily="34" charset="0"/>
                <a:ea typeface="Calibri" pitchFamily="34" charset="-122"/>
                <a:cs typeface="Calibri" pitchFamily="34" charset="-120"/>
              </a:rPr>
              <a:t>yanınızda: çeviri zinciri</a:t>
            </a:r>
            <a:endParaRPr lang="en-US" sz="950" dirty="0"/>
          </a:p>
        </p:txBody>
      </p:sp>
      <p:sp>
        <p:nvSpPr>
          <p:cNvPr id="27" name="Text 25"/>
          <p:cNvSpPr txBox="1"/>
          <p:nvPr/>
        </p:nvSpPr>
        <p:spPr>
          <a:xfrm>
            <a:off x="777240" y="5102352"/>
            <a:ext cx="10634472" cy="457200"/>
          </a:xfrm>
          <a:prstGeom prst="rect">
            <a:avLst/>
          </a:prstGeom>
          <a:noFill/>
          <a:ln/>
        </p:spPr>
        <p:txBody>
          <a:bodyPr wrap="square" lIns="0" tIns="0" rIns="0" bIns="0" rtlCol="0" anchor="ctr"/>
          <a:lstStyle/>
          <a:p>
            <a:pPr algn="l" indent="0" marL="0">
              <a:lnSpc>
                <a:spcPts val="1800"/>
              </a:lnSpc>
              <a:buNone/>
            </a:pPr>
            <a:r>
              <a:rPr lang="en-US" sz="1300" dirty="0">
                <a:solidFill>
                  <a:srgbClr val="2B2B31"/>
                </a:solidFill>
                <a:latin typeface="Cambria" pitchFamily="34" charset="0"/>
                <a:ea typeface="Cambria" pitchFamily="34" charset="-122"/>
                <a:cs typeface="Cambria" pitchFamily="34" charset="-120"/>
              </a:rPr>
              <a:t>Dördüncü haftanın sonunda elinizde savunulabilir bir konsept olacak: üç kelime, altı modülde karşılıkları ve bunları doğuran araştırma.</a:t>
            </a:r>
            <a:endParaRPr lang="en-US" sz="1300" dirty="0"/>
          </a:p>
        </p:txBody>
      </p:sp>
      <p:sp>
        <p:nvSpPr>
          <p:cNvPr id="28" name="Text 26"/>
          <p:cNvSpPr txBox="1"/>
          <p:nvPr/>
        </p:nvSpPr>
        <p:spPr>
          <a:xfrm>
            <a:off x="777240" y="5760720"/>
            <a:ext cx="10634472"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Araştırma, tasarımın öncesinde yapılan bir ödev değil; tasarımın kendisinin başladığı yerdir.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57200"/>
            <a:ext cx="9601200" cy="237744"/>
          </a:xfrm>
          <a:prstGeom prst="rect">
            <a:avLst/>
          </a:prstGeom>
          <a:noFill/>
          <a:ln/>
        </p:spPr>
        <p:txBody>
          <a:bodyPr wrap="square" lIns="0" tIns="0" rIns="0" bIns="0" rtlCol="0" anchor="ctr"/>
          <a:lstStyle/>
          <a:p>
            <a:pPr indent="0" marL="0">
              <a:buNone/>
            </a:pPr>
            <a:r>
              <a:rPr lang="en-US" sz="900" b="1" spc="280" kern="0" dirty="0">
                <a:solidFill>
                  <a:srgbClr val="7A7A82"/>
                </a:solidFill>
                <a:latin typeface="Calibri" pitchFamily="34" charset="0"/>
                <a:ea typeface="Calibri" pitchFamily="34" charset="-122"/>
                <a:cs typeface="Calibri" pitchFamily="34" charset="-120"/>
              </a:rPr>
              <a:t>KAYNAKÇA</a:t>
            </a:r>
            <a:endParaRPr lang="en-US" sz="900" dirty="0"/>
          </a:p>
        </p:txBody>
      </p:sp>
      <p:sp>
        <p:nvSpPr>
          <p:cNvPr id="3" name="Text 1"/>
          <p:cNvSpPr txBox="1"/>
          <p:nvPr/>
        </p:nvSpPr>
        <p:spPr>
          <a:xfrm>
            <a:off x="777240" y="768096"/>
            <a:ext cx="10424160" cy="658368"/>
          </a:xfrm>
          <a:prstGeom prst="rect">
            <a:avLst/>
          </a:prstGeom>
          <a:noFill/>
          <a:ln/>
        </p:spPr>
        <p:txBody>
          <a:bodyPr wrap="square" lIns="0" tIns="0" rIns="0" bIns="0" rtlCol="0" anchor="ctr"/>
          <a:lstStyle/>
          <a:p>
            <a:pPr indent="0" marL="0">
              <a:lnSpc>
                <a:spcPts val="3300"/>
              </a:lnSpc>
              <a:buNone/>
            </a:pPr>
            <a:r>
              <a:rPr lang="en-US" sz="2800" b="1" dirty="0">
                <a:solidFill>
                  <a:srgbClr val="16161A"/>
                </a:solidFill>
                <a:latin typeface="Cambria" pitchFamily="34" charset="0"/>
                <a:ea typeface="Cambria" pitchFamily="34" charset="-122"/>
                <a:cs typeface="Cambria" pitchFamily="34" charset="-120"/>
              </a:rPr>
              <a:t>Okuma listesi</a:t>
            </a:r>
            <a:endParaRPr lang="en-US" sz="2800" dirty="0"/>
          </a:p>
        </p:txBody>
      </p:sp>
      <p:sp>
        <p:nvSpPr>
          <p:cNvPr id="4" name="Shape 2"/>
          <p:cNvSpPr/>
          <p:nvPr/>
        </p:nvSpPr>
        <p:spPr>
          <a:xfrm>
            <a:off x="777240" y="1490472"/>
            <a:ext cx="1371600" cy="0"/>
          </a:xfrm>
          <a:prstGeom prst="line">
            <a:avLst/>
          </a:prstGeom>
          <a:noFill/>
          <a:ln w="22225">
            <a:solidFill>
              <a:srgbClr val="8C3A2B"/>
            </a:solidFill>
            <a:prstDash val="solid"/>
          </a:ln>
        </p:spPr>
      </p:sp>
      <p:sp>
        <p:nvSpPr>
          <p:cNvPr id="5" name="Text 3"/>
          <p:cNvSpPr txBox="1"/>
          <p:nvPr/>
        </p:nvSpPr>
        <p:spPr>
          <a:xfrm>
            <a:off x="10972800" y="6364224"/>
            <a:ext cx="438912" cy="237744"/>
          </a:xfrm>
          <a:prstGeom prst="rect">
            <a:avLst/>
          </a:prstGeom>
          <a:noFill/>
          <a:ln/>
        </p:spPr>
        <p:txBody>
          <a:bodyPr wrap="square" lIns="0" tIns="0" rIns="0" bIns="0" rtlCol="0" anchor="ctr"/>
          <a:lstStyle/>
          <a:p>
            <a:pPr algn="r" indent="0" marL="0">
              <a:buNone/>
            </a:pPr>
            <a:r>
              <a:rPr lang="en-US" sz="900" dirty="0">
                <a:solidFill>
                  <a:srgbClr val="A6A6AC"/>
                </a:solidFill>
                <a:latin typeface="Calibri" pitchFamily="34" charset="0"/>
                <a:ea typeface="Calibri" pitchFamily="34" charset="-122"/>
                <a:cs typeface="Calibri" pitchFamily="34" charset="-120"/>
              </a:rPr>
              <a:t>47</a:t>
            </a:r>
            <a:endParaRPr lang="en-US" sz="900" dirty="0"/>
          </a:p>
        </p:txBody>
      </p:sp>
      <p:sp>
        <p:nvSpPr>
          <p:cNvPr id="6" name="Text 4"/>
          <p:cNvSpPr txBox="1"/>
          <p:nvPr/>
        </p:nvSpPr>
        <p:spPr>
          <a:xfrm>
            <a:off x="777240" y="1627632"/>
            <a:ext cx="10634472" cy="585216"/>
          </a:xfrm>
          <a:prstGeom prst="rect">
            <a:avLst/>
          </a:prstGeom>
          <a:noFill/>
          <a:ln/>
        </p:spPr>
        <p:txBody>
          <a:bodyPr wrap="square" lIns="0" tIns="0" rIns="0" bIns="0" rtlCol="0" anchor="ctr"/>
          <a:lstStyle/>
          <a:p>
            <a:pPr indent="0" marL="0">
              <a:lnSpc>
                <a:spcPts val="2200"/>
              </a:lnSpc>
              <a:buNone/>
            </a:pPr>
            <a:r>
              <a:rPr lang="en-US" sz="1300" dirty="0">
                <a:solidFill>
                  <a:srgbClr val="2B2B31"/>
                </a:solidFill>
                <a:latin typeface="Cambria" pitchFamily="34" charset="0"/>
                <a:ea typeface="Cambria" pitchFamily="34" charset="-122"/>
                <a:cs typeface="Cambria" pitchFamily="34" charset="-120"/>
              </a:rPr>
              <a:t>Aşağıdaki kaynaklar sunumda geçen kavramların dayandığı çalışmalardır. İlk dördü bu haftanın ödevini yaparken doğrudan işinize yarayacak.</a:t>
            </a:r>
            <a:endParaRPr lang="en-US" sz="1300" dirty="0"/>
          </a:p>
        </p:txBody>
      </p:sp>
      <p:sp>
        <p:nvSpPr>
          <p:cNvPr id="7" name="Shape 5"/>
          <p:cNvSpPr/>
          <p:nvPr/>
        </p:nvSpPr>
        <p:spPr>
          <a:xfrm>
            <a:off x="777240" y="2322576"/>
            <a:ext cx="146304" cy="0"/>
          </a:xfrm>
          <a:prstGeom prst="line">
            <a:avLst/>
          </a:prstGeom>
          <a:noFill/>
          <a:ln w="12700">
            <a:solidFill>
              <a:srgbClr val="8C3A2B"/>
            </a:solidFill>
            <a:prstDash val="solid"/>
          </a:ln>
        </p:spPr>
      </p:sp>
      <p:sp>
        <p:nvSpPr>
          <p:cNvPr id="8" name="Text 6"/>
          <p:cNvSpPr txBox="1"/>
          <p:nvPr/>
        </p:nvSpPr>
        <p:spPr>
          <a:xfrm>
            <a:off x="777240" y="2386584"/>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Bükülmez, P. S., Sunar, T. &amp; Kuloğlu, N. (2025). Retail Design Competencies: A Framework for Integrating Brand Key Analysis and Customer Journey Mapping. The International Journal of Design Education.</a:t>
            </a:r>
            <a:endParaRPr lang="en-US" sz="950" dirty="0"/>
          </a:p>
        </p:txBody>
      </p:sp>
      <p:sp>
        <p:nvSpPr>
          <p:cNvPr id="9" name="Shape 7"/>
          <p:cNvSpPr/>
          <p:nvPr/>
        </p:nvSpPr>
        <p:spPr>
          <a:xfrm>
            <a:off x="777240" y="2980944"/>
            <a:ext cx="146304" cy="0"/>
          </a:xfrm>
          <a:prstGeom prst="line">
            <a:avLst/>
          </a:prstGeom>
          <a:noFill/>
          <a:ln w="12700">
            <a:solidFill>
              <a:srgbClr val="8C3A2B"/>
            </a:solidFill>
            <a:prstDash val="solid"/>
          </a:ln>
        </p:spPr>
      </p:sp>
      <p:sp>
        <p:nvSpPr>
          <p:cNvPr id="10" name="Text 8"/>
          <p:cNvSpPr txBox="1"/>
          <p:nvPr/>
        </p:nvSpPr>
        <p:spPr>
          <a:xfrm>
            <a:off x="777240" y="3044952"/>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Stickdorn, M., Hormess, M., Lawrence, A. &amp; Schneider, J. (2018). This Is Service Design Doing. O'Reilly.</a:t>
            </a:r>
            <a:endParaRPr lang="en-US" sz="950" dirty="0"/>
          </a:p>
        </p:txBody>
      </p:sp>
      <p:sp>
        <p:nvSpPr>
          <p:cNvPr id="11" name="Shape 9"/>
          <p:cNvSpPr/>
          <p:nvPr/>
        </p:nvSpPr>
        <p:spPr>
          <a:xfrm>
            <a:off x="777240" y="3639312"/>
            <a:ext cx="146304" cy="0"/>
          </a:xfrm>
          <a:prstGeom prst="line">
            <a:avLst/>
          </a:prstGeom>
          <a:noFill/>
          <a:ln w="12700">
            <a:solidFill>
              <a:srgbClr val="8C3A2B"/>
            </a:solidFill>
            <a:prstDash val="solid"/>
          </a:ln>
        </p:spPr>
      </p:sp>
      <p:sp>
        <p:nvSpPr>
          <p:cNvPr id="12" name="Text 10"/>
          <p:cNvSpPr txBox="1"/>
          <p:nvPr/>
        </p:nvSpPr>
        <p:spPr>
          <a:xfrm>
            <a:off x="777240" y="3703320"/>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Wheeler, A. (2017). Designing Brand Identity (5. baskı). Wiley.</a:t>
            </a:r>
            <a:endParaRPr lang="en-US" sz="950" dirty="0"/>
          </a:p>
        </p:txBody>
      </p:sp>
      <p:sp>
        <p:nvSpPr>
          <p:cNvPr id="13" name="Shape 11"/>
          <p:cNvSpPr/>
          <p:nvPr/>
        </p:nvSpPr>
        <p:spPr>
          <a:xfrm>
            <a:off x="777240" y="4297680"/>
            <a:ext cx="146304" cy="0"/>
          </a:xfrm>
          <a:prstGeom prst="line">
            <a:avLst/>
          </a:prstGeom>
          <a:noFill/>
          <a:ln w="12700">
            <a:solidFill>
              <a:srgbClr val="8C3A2B"/>
            </a:solidFill>
            <a:prstDash val="solid"/>
          </a:ln>
        </p:spPr>
      </p:sp>
      <p:sp>
        <p:nvSpPr>
          <p:cNvPr id="14" name="Text 12"/>
          <p:cNvSpPr txBox="1"/>
          <p:nvPr/>
        </p:nvSpPr>
        <p:spPr>
          <a:xfrm>
            <a:off x="777240" y="4361688"/>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Micheaux, A. &amp; Bosio, B. (2019). Customer Journey Mapping as a New Way to Teach Data-Driven Marketing. Journal of Marketing Education, 41(2), 127–140.</a:t>
            </a:r>
            <a:endParaRPr lang="en-US" sz="950" dirty="0"/>
          </a:p>
        </p:txBody>
      </p:sp>
      <p:sp>
        <p:nvSpPr>
          <p:cNvPr id="15" name="Shape 13"/>
          <p:cNvSpPr/>
          <p:nvPr/>
        </p:nvSpPr>
        <p:spPr>
          <a:xfrm>
            <a:off x="777240" y="4956048"/>
            <a:ext cx="146304" cy="0"/>
          </a:xfrm>
          <a:prstGeom prst="line">
            <a:avLst/>
          </a:prstGeom>
          <a:noFill/>
          <a:ln w="12700">
            <a:solidFill>
              <a:srgbClr val="8C3A2B"/>
            </a:solidFill>
            <a:prstDash val="solid"/>
          </a:ln>
        </p:spPr>
      </p:sp>
      <p:sp>
        <p:nvSpPr>
          <p:cNvPr id="16" name="Text 14"/>
          <p:cNvSpPr txBox="1"/>
          <p:nvPr/>
        </p:nvSpPr>
        <p:spPr>
          <a:xfrm>
            <a:off x="777240" y="5020056"/>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Stein, A. &amp; Ramaseshan, B. (2016). Towards the Identification of Customer Experience Touch Point Elements. Journal of Retailing and Consumer Services, 30, 8–19.</a:t>
            </a:r>
            <a:endParaRPr lang="en-US" sz="950" dirty="0"/>
          </a:p>
        </p:txBody>
      </p:sp>
      <p:sp>
        <p:nvSpPr>
          <p:cNvPr id="17" name="Shape 15"/>
          <p:cNvSpPr/>
          <p:nvPr/>
        </p:nvSpPr>
        <p:spPr>
          <a:xfrm>
            <a:off x="777240" y="5614416"/>
            <a:ext cx="146304" cy="0"/>
          </a:xfrm>
          <a:prstGeom prst="line">
            <a:avLst/>
          </a:prstGeom>
          <a:noFill/>
          <a:ln w="12700">
            <a:solidFill>
              <a:srgbClr val="8C3A2B"/>
            </a:solidFill>
            <a:prstDash val="solid"/>
          </a:ln>
        </p:spPr>
      </p:sp>
      <p:sp>
        <p:nvSpPr>
          <p:cNvPr id="18" name="Text 16"/>
          <p:cNvSpPr txBox="1"/>
          <p:nvPr/>
        </p:nvSpPr>
        <p:spPr>
          <a:xfrm>
            <a:off x="777240" y="5678424"/>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Lemon, K. N. &amp; Verhoef, P. C. (2016). Understanding Customer Experience Throughout the Customer Journey. Journal of Marketing, 80(6), 69–96.</a:t>
            </a:r>
            <a:endParaRPr lang="en-US" sz="950" dirty="0"/>
          </a:p>
        </p:txBody>
      </p:sp>
      <p:sp>
        <p:nvSpPr>
          <p:cNvPr id="19" name="Shape 17"/>
          <p:cNvSpPr/>
          <p:nvPr/>
        </p:nvSpPr>
        <p:spPr>
          <a:xfrm>
            <a:off x="6382512" y="2322576"/>
            <a:ext cx="146304" cy="0"/>
          </a:xfrm>
          <a:prstGeom prst="line">
            <a:avLst/>
          </a:prstGeom>
          <a:noFill/>
          <a:ln w="12700">
            <a:solidFill>
              <a:srgbClr val="8C3A2B"/>
            </a:solidFill>
            <a:prstDash val="solid"/>
          </a:ln>
        </p:spPr>
      </p:sp>
      <p:sp>
        <p:nvSpPr>
          <p:cNvPr id="20" name="Text 18"/>
          <p:cNvSpPr txBox="1"/>
          <p:nvPr/>
        </p:nvSpPr>
        <p:spPr>
          <a:xfrm>
            <a:off x="6382512" y="2386584"/>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Zomerdijk, L. G. &amp; Voss, C. A. (2010). Service Design for Experience-Centric Services. Journal of Service Research, 13(1), 67–82.</a:t>
            </a:r>
            <a:endParaRPr lang="en-US" sz="950" dirty="0"/>
          </a:p>
        </p:txBody>
      </p:sp>
      <p:sp>
        <p:nvSpPr>
          <p:cNvPr id="21" name="Shape 19"/>
          <p:cNvSpPr/>
          <p:nvPr/>
        </p:nvSpPr>
        <p:spPr>
          <a:xfrm>
            <a:off x="6382512" y="2980944"/>
            <a:ext cx="146304" cy="0"/>
          </a:xfrm>
          <a:prstGeom prst="line">
            <a:avLst/>
          </a:prstGeom>
          <a:noFill/>
          <a:ln w="12700">
            <a:solidFill>
              <a:srgbClr val="8C3A2B"/>
            </a:solidFill>
            <a:prstDash val="solid"/>
          </a:ln>
        </p:spPr>
      </p:sp>
      <p:sp>
        <p:nvSpPr>
          <p:cNvPr id="22" name="Text 20"/>
          <p:cNvSpPr txBox="1"/>
          <p:nvPr/>
        </p:nvSpPr>
        <p:spPr>
          <a:xfrm>
            <a:off x="6382512" y="3044952"/>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Quartier, K., Claes, S. &amp; Vanrie, J. (2020). A Comprehensive Competence Framework for (Future) Retail Design and Retail Design Education. Eindhoven: Design Research Society.</a:t>
            </a:r>
            <a:endParaRPr lang="en-US" sz="950" dirty="0"/>
          </a:p>
        </p:txBody>
      </p:sp>
      <p:sp>
        <p:nvSpPr>
          <p:cNvPr id="23" name="Shape 21"/>
          <p:cNvSpPr/>
          <p:nvPr/>
        </p:nvSpPr>
        <p:spPr>
          <a:xfrm>
            <a:off x="6382512" y="3639312"/>
            <a:ext cx="146304" cy="0"/>
          </a:xfrm>
          <a:prstGeom prst="line">
            <a:avLst/>
          </a:prstGeom>
          <a:noFill/>
          <a:ln w="12700">
            <a:solidFill>
              <a:srgbClr val="8C3A2B"/>
            </a:solidFill>
            <a:prstDash val="solid"/>
          </a:ln>
        </p:spPr>
      </p:sp>
      <p:sp>
        <p:nvSpPr>
          <p:cNvPr id="24" name="Text 22"/>
          <p:cNvSpPr txBox="1"/>
          <p:nvPr/>
        </p:nvSpPr>
        <p:spPr>
          <a:xfrm>
            <a:off x="6382512" y="3703320"/>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Petermans, A., Janssens, W. &amp; Van Cleempoel, K. (2013). A Holistic Framework for Conceptualizing Customer Experiences in Retail Environments. International Journal of Design, 7(2), 1–18.</a:t>
            </a:r>
            <a:endParaRPr lang="en-US" sz="950" dirty="0"/>
          </a:p>
        </p:txBody>
      </p:sp>
      <p:sp>
        <p:nvSpPr>
          <p:cNvPr id="25" name="Shape 23"/>
          <p:cNvSpPr/>
          <p:nvPr/>
        </p:nvSpPr>
        <p:spPr>
          <a:xfrm>
            <a:off x="6382512" y="4297680"/>
            <a:ext cx="146304" cy="0"/>
          </a:xfrm>
          <a:prstGeom prst="line">
            <a:avLst/>
          </a:prstGeom>
          <a:noFill/>
          <a:ln w="12700">
            <a:solidFill>
              <a:srgbClr val="8C3A2B"/>
            </a:solidFill>
            <a:prstDash val="solid"/>
          </a:ln>
        </p:spPr>
      </p:sp>
      <p:sp>
        <p:nvSpPr>
          <p:cNvPr id="26" name="Text 24"/>
          <p:cNvSpPr txBox="1"/>
          <p:nvPr/>
        </p:nvSpPr>
        <p:spPr>
          <a:xfrm>
            <a:off x="6382512" y="4361688"/>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Chasanidou, D., Gasparini, A. &amp; Lee, E. (2015). Design Thinking Methods and Tools for Innovation. HCI International.</a:t>
            </a:r>
            <a:endParaRPr lang="en-US" sz="950" dirty="0"/>
          </a:p>
        </p:txBody>
      </p:sp>
      <p:sp>
        <p:nvSpPr>
          <p:cNvPr id="27" name="Shape 25"/>
          <p:cNvSpPr/>
          <p:nvPr/>
        </p:nvSpPr>
        <p:spPr>
          <a:xfrm>
            <a:off x="6382512" y="4956048"/>
            <a:ext cx="146304" cy="0"/>
          </a:xfrm>
          <a:prstGeom prst="line">
            <a:avLst/>
          </a:prstGeom>
          <a:noFill/>
          <a:ln w="12700">
            <a:solidFill>
              <a:srgbClr val="8C3A2B"/>
            </a:solidFill>
            <a:prstDash val="solid"/>
          </a:ln>
        </p:spPr>
      </p:sp>
      <p:sp>
        <p:nvSpPr>
          <p:cNvPr id="28" name="Text 26"/>
          <p:cNvSpPr txBox="1"/>
          <p:nvPr/>
        </p:nvSpPr>
        <p:spPr>
          <a:xfrm>
            <a:off x="6382512" y="5020056"/>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Kotler, P. (1973). Atmospherics as a Marketing Tool. Journal of Retailing, 49(4), 48–64.</a:t>
            </a:r>
            <a:endParaRPr lang="en-US" sz="950" dirty="0"/>
          </a:p>
        </p:txBody>
      </p:sp>
      <p:sp>
        <p:nvSpPr>
          <p:cNvPr id="29" name="Shape 27"/>
          <p:cNvSpPr/>
          <p:nvPr/>
        </p:nvSpPr>
        <p:spPr>
          <a:xfrm>
            <a:off x="6382512" y="5614416"/>
            <a:ext cx="146304" cy="0"/>
          </a:xfrm>
          <a:prstGeom prst="line">
            <a:avLst/>
          </a:prstGeom>
          <a:noFill/>
          <a:ln w="12700">
            <a:solidFill>
              <a:srgbClr val="8C3A2B"/>
            </a:solidFill>
            <a:prstDash val="solid"/>
          </a:ln>
        </p:spPr>
      </p:sp>
      <p:sp>
        <p:nvSpPr>
          <p:cNvPr id="30" name="Text 28"/>
          <p:cNvSpPr txBox="1"/>
          <p:nvPr/>
        </p:nvSpPr>
        <p:spPr>
          <a:xfrm>
            <a:off x="6382512" y="5678424"/>
            <a:ext cx="5029200" cy="585216"/>
          </a:xfrm>
          <a:prstGeom prst="rect">
            <a:avLst/>
          </a:prstGeom>
          <a:noFill/>
          <a:ln/>
        </p:spPr>
        <p:txBody>
          <a:bodyPr wrap="square" lIns="0" tIns="0" rIns="0" bIns="0" rtlCol="0" anchor="ctr"/>
          <a:lstStyle/>
          <a:p>
            <a:pPr indent="0" marL="0">
              <a:lnSpc>
                <a:spcPts val="1200"/>
              </a:lnSpc>
              <a:buNone/>
            </a:pPr>
            <a:r>
              <a:rPr lang="en-US" sz="950" dirty="0">
                <a:solidFill>
                  <a:srgbClr val="2B2B31"/>
                </a:solidFill>
                <a:latin typeface="Calibri" pitchFamily="34" charset="0"/>
                <a:ea typeface="Calibri" pitchFamily="34" charset="-122"/>
                <a:cs typeface="Calibri" pitchFamily="34" charset="-120"/>
              </a:rPr>
              <a:t>Kahneman, D. &amp; Fredrickson, B. L. (1993). When More Pain Is Preferred to Less: Adding a Better End. Psychological Science, 4(6), 401–405.</a:t>
            </a:r>
            <a:endParaRPr lang="en-US" sz="950" dirty="0"/>
          </a:p>
        </p:txBody>
      </p:sp>
      <p:sp>
        <p:nvSpPr>
          <p:cNvPr id="31" name="Shape 29"/>
          <p:cNvSpPr/>
          <p:nvPr/>
        </p:nvSpPr>
        <p:spPr>
          <a:xfrm>
            <a:off x="5961888" y="2267712"/>
            <a:ext cx="0" cy="3950208"/>
          </a:xfrm>
          <a:prstGeom prst="line">
            <a:avLst/>
          </a:prstGeom>
          <a:noFill/>
          <a:ln w="7620">
            <a:solidFill>
              <a:srgbClr val="EDEDF0"/>
            </a:solidFill>
            <a:prstDash val="solid"/>
          </a:ln>
        </p:spPr>
      </p:sp>
      <p:sp>
        <p:nvSpPr>
          <p:cNvPr id="32" name="Text 30"/>
          <p:cNvSpPr txBox="1"/>
          <p:nvPr/>
        </p:nvSpPr>
        <p:spPr>
          <a:xfrm>
            <a:off x="777240" y="6309360"/>
            <a:ext cx="9509760" cy="274320"/>
          </a:xfrm>
          <a:prstGeom prst="rect">
            <a:avLst/>
          </a:prstGeom>
          <a:noFill/>
          <a:ln/>
        </p:spPr>
        <p:txBody>
          <a:bodyPr wrap="square" lIns="0" tIns="0" rIns="0" bIns="0" rtlCol="0" anchor="ctr"/>
          <a:lstStyle/>
          <a:p>
            <a:pPr algn="l" indent="0" marL="0">
              <a:lnSpc>
                <a:spcPts val="1200"/>
              </a:lnSpc>
              <a:buNone/>
            </a:pPr>
            <a:r>
              <a:rPr lang="en-US" sz="950" i="1" dirty="0">
                <a:solidFill>
                  <a:srgbClr val="A6A6AC"/>
                </a:solidFill>
                <a:latin typeface="Calibri" pitchFamily="34" charset="0"/>
                <a:ea typeface="Calibri" pitchFamily="34" charset="-122"/>
                <a:cs typeface="Calibri" pitchFamily="34" charset="-120"/>
              </a:rPr>
              <a:t>Tam künyeler ve ek okumalar ders klasöründeki kaynakça belgesinde.</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6161A"/>
        </a:solidFill>
      </p:bgPr>
    </p:bg>
    <p:spTree>
      <p:nvGrpSpPr>
        <p:cNvPr id="1" name=""/>
        <p:cNvGrpSpPr/>
        <p:nvPr/>
      </p:nvGrpSpPr>
      <p:grpSpPr>
        <a:xfrm>
          <a:off x="0" y="0"/>
          <a:ext cx="0" cy="0"/>
          <a:chOff x="0" y="0"/>
          <a:chExt cx="0" cy="0"/>
        </a:xfrm>
      </p:grpSpPr>
      <p:sp>
        <p:nvSpPr>
          <p:cNvPr id="2" name="Shape 0"/>
          <p:cNvSpPr/>
          <p:nvPr/>
        </p:nvSpPr>
        <p:spPr>
          <a:xfrm>
            <a:off x="777240" y="1234440"/>
            <a:ext cx="10634472" cy="0"/>
          </a:xfrm>
          <a:prstGeom prst="line">
            <a:avLst/>
          </a:prstGeom>
          <a:noFill/>
          <a:ln w="12700">
            <a:solidFill>
              <a:srgbClr val="3A3A42"/>
            </a:solidFill>
            <a:prstDash val="solid"/>
          </a:ln>
        </p:spPr>
      </p:sp>
      <p:sp>
        <p:nvSpPr>
          <p:cNvPr id="3" name="Text 1"/>
          <p:cNvSpPr txBox="1"/>
          <p:nvPr/>
        </p:nvSpPr>
        <p:spPr>
          <a:xfrm>
            <a:off x="777240" y="1920240"/>
            <a:ext cx="10424160" cy="2286000"/>
          </a:xfrm>
          <a:prstGeom prst="rect">
            <a:avLst/>
          </a:prstGeom>
          <a:noFill/>
          <a:ln/>
        </p:spPr>
        <p:txBody>
          <a:bodyPr wrap="square" lIns="0" tIns="0" rIns="0" bIns="0" rtlCol="0" anchor="ctr"/>
          <a:lstStyle/>
          <a:p>
            <a:pPr indent="0" marL="0">
              <a:lnSpc>
                <a:spcPts val="4600"/>
              </a:lnSpc>
              <a:buNone/>
            </a:pPr>
            <a:r>
              <a:rPr lang="en-US" sz="3000" i="1" dirty="0">
                <a:solidFill>
                  <a:srgbClr val="FFFFFF"/>
                </a:solidFill>
                <a:latin typeface="Cambria" pitchFamily="34" charset="0"/>
                <a:ea typeface="Cambria" pitchFamily="34" charset="-122"/>
                <a:cs typeface="Cambria" pitchFamily="34" charset="-120"/>
              </a:rPr>
              <a:t>Bir mağazayı tasarlamadan önce</a:t>
            </a:r>
            <a:endParaRPr lang="en-US" sz="3000" dirty="0"/>
          </a:p>
          <a:p>
            <a:pPr indent="0" marL="0">
              <a:lnSpc>
                <a:spcPts val="4600"/>
              </a:lnSpc>
              <a:buNone/>
            </a:pPr>
            <a:r>
              <a:rPr lang="en-US" sz="3000" i="1" dirty="0">
                <a:solidFill>
                  <a:srgbClr val="FFFFFF"/>
                </a:solidFill>
                <a:latin typeface="Cambria" pitchFamily="34" charset="0"/>
                <a:ea typeface="Cambria" pitchFamily="34" charset="-122"/>
                <a:cs typeface="Cambria" pitchFamily="34" charset="-120"/>
              </a:rPr>
              <a:t>iki şeyi bilmek gerekir:</a:t>
            </a:r>
            <a:endParaRPr lang="en-US" sz="3000" dirty="0"/>
          </a:p>
          <a:p>
            <a:pPr indent="0" marL="0">
              <a:lnSpc>
                <a:spcPts val="4600"/>
              </a:lnSpc>
              <a:buNone/>
            </a:pPr>
            <a:r>
              <a:rPr lang="en-US" sz="3000" i="1" dirty="0">
                <a:solidFill>
                  <a:srgbClr val="FFFFFF"/>
                </a:solidFill>
                <a:latin typeface="Cambria" pitchFamily="34" charset="0"/>
                <a:ea typeface="Cambria" pitchFamily="34" charset="-122"/>
                <a:cs typeface="Cambria" pitchFamily="34" charset="-120"/>
              </a:rPr>
              <a:t>marka ne söylüyor, müşteri ne yapıyor.</a:t>
            </a:r>
            <a:endParaRPr lang="en-US" sz="3000" dirty="0"/>
          </a:p>
        </p:txBody>
      </p:sp>
      <p:sp>
        <p:nvSpPr>
          <p:cNvPr id="4" name="Shape 2"/>
          <p:cNvSpPr/>
          <p:nvPr/>
        </p:nvSpPr>
        <p:spPr>
          <a:xfrm>
            <a:off x="777240" y="4526280"/>
            <a:ext cx="2194560" cy="0"/>
          </a:xfrm>
          <a:prstGeom prst="line">
            <a:avLst/>
          </a:prstGeom>
          <a:noFill/>
          <a:ln w="25400">
            <a:solidFill>
              <a:srgbClr val="8C3A2B"/>
            </a:solidFill>
            <a:prstDash val="solid"/>
          </a:ln>
        </p:spPr>
      </p:sp>
      <p:sp>
        <p:nvSpPr>
          <p:cNvPr id="5" name="Text 3"/>
          <p:cNvSpPr txBox="1"/>
          <p:nvPr/>
        </p:nvSpPr>
        <p:spPr>
          <a:xfrm>
            <a:off x="777240" y="4754880"/>
            <a:ext cx="10424160" cy="329184"/>
          </a:xfrm>
          <a:prstGeom prst="rect">
            <a:avLst/>
          </a:prstGeom>
          <a:noFill/>
          <a:ln/>
        </p:spPr>
        <p:txBody>
          <a:bodyPr wrap="square" lIns="0" tIns="0" rIns="0" bIns="0" rtlCol="0" anchor="ctr"/>
          <a:lstStyle/>
          <a:p>
            <a:pPr indent="0" marL="0">
              <a:buNone/>
            </a:pPr>
            <a:r>
              <a:rPr lang="en-US" sz="1300" dirty="0">
                <a:solidFill>
                  <a:srgbClr val="B9B9C0"/>
                </a:solidFill>
                <a:latin typeface="Calibri" pitchFamily="34" charset="0"/>
                <a:ea typeface="Calibri" pitchFamily="34" charset="-122"/>
                <a:cs typeface="Calibri" pitchFamily="34" charset="-120"/>
              </a:rPr>
              <a:t>Bugünün çalışması: mağaza okuma kâğıdı</a:t>
            </a:r>
            <a:endParaRPr lang="en-US" sz="1300" dirty="0"/>
          </a:p>
        </p:txBody>
      </p:sp>
      <p:sp>
        <p:nvSpPr>
          <p:cNvPr id="6" name="Text 4"/>
          <p:cNvSpPr txBox="1"/>
          <p:nvPr/>
        </p:nvSpPr>
        <p:spPr>
          <a:xfrm>
            <a:off x="777240" y="5047488"/>
            <a:ext cx="10424160" cy="329184"/>
          </a:xfrm>
          <a:prstGeom prst="rect">
            <a:avLst/>
          </a:prstGeom>
          <a:noFill/>
          <a:ln/>
        </p:spPr>
        <p:txBody>
          <a:bodyPr wrap="square" lIns="0" tIns="0" rIns="0" bIns="0" rtlCol="0" anchor="ctr"/>
          <a:lstStyle/>
          <a:p>
            <a:pPr indent="0" marL="0">
              <a:buNone/>
            </a:pPr>
            <a:r>
              <a:rPr lang="en-US" sz="1300" dirty="0">
                <a:solidFill>
                  <a:srgbClr val="B9B9C0"/>
                </a:solidFill>
                <a:latin typeface="Calibri" pitchFamily="34" charset="0"/>
                <a:ea typeface="Calibri" pitchFamily="34" charset="-122"/>
                <a:cs typeface="Calibri" pitchFamily="34" charset="-120"/>
              </a:rPr>
              <a:t>Haftaya: üç aday marka, üç A4 araştırma paftası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Marka Anahtarı ve Müşteri Deneyimi Araştırması</dc:title>
  <dc:subject>PptxGenJS Presentation</dc:subject>
  <dc:creator>PptxGenJS</dc:creator>
  <cp:lastModifiedBy>PptxGenJS</cp:lastModifiedBy>
  <cp:revision>1</cp:revision>
  <dcterms:created xsi:type="dcterms:W3CDTF">2026-09-17T18:04:53Z</dcterms:created>
  <dcterms:modified xsi:type="dcterms:W3CDTF">2026-09-17T18:04:53Z</dcterms:modified>
</cp:coreProperties>
</file>