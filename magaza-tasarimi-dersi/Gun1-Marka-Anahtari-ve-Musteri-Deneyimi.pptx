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günün başında açık bırakın; öğrenci sekiz saatin neye gittiğini görsün.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soruyu tahtaya da yazın: kim konuşuyor, kim dinliyor. Tüm dönem bu ikisine döneceğiz.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Küçük markalarda bu katman çoğu zaman sahibinin kafasındadır; öğrenci onu görüşerek çıkarmak zorunda.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Dönem boyunca kritiklerde bu dört kutuyu sorun: hangi adımdasın, bir öncekini yaptın mı?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Unilever kökeni önemli değil; önemli olan şablonun neden işe yaradığı. Kanıt vurgusunu tekrarlayın.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Öğrenciye: önce en üst sıradan başla. Öz'ü ilk yazan öğrenci genellikle klişeye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öğrencinin görüşme sorularını hazırlarken kullanacağı kontrol listesidir.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sekizli, öğrencinin paftasında da aynen bulunacak.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 sütun, kritiklerde 'bu karar nereden geliyor' sorusunun cevap listesidir.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 cümlesi zaten bir mekânsal talimat: üretimin görünür olması. Bunu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Çıkış anının önemi bu dersin sık tekrarlanan vurgularından biri olacak.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Müşteri–müşteri teması çoğu öğrencinin atladığı başlık: kalabalık ve mahremiyet bir tasarım konusudur.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hafta alan ziyaretinde öğrenciler kendi markalarına benzer bir mağazada bu haritayı dolduracak.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Öğrenciden persona isterken bu kuralı tekrarlayın; aksi hâlde stok fotoğraflı künyeler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hafta alan ziyaretinde en az iki yöntemi uygulamalarını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Sorun listesi en değerli çıktı: tasarım problemi oradan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Konsept jürisinde her öğrenciden en az üç zincir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Huninin genişlikleri kasıtlı: ham listenin uzun olması iyidir, eleme sert olmalıdır.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sınavı öğrenciler birbirine uygulasın; kritik süresini çok kısaltır.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Gruplar oluşurken masaları yeniden dizmek için on dakika ayırın.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Kanıt zorunluluğunu vurgulayın: kelime tek başına değersiz, kanıtla birlikte değerli.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Uzlaşma istemeyin. Anlaşmazlığın kendisi veri: mekânın belirsiz kaldığı yeri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Mersin ve Çukurova'ya özgü kategorileri hatırlatın: narenciye, baharat, deniz malzemesi, tekstil atölyeleri.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Paftanın boş şablonu ders sonunda dağıtılacak.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cümlesi bu: araştırma tasarımın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234440"/>
            <a:ext cx="10424160" cy="274320"/>
          </a:xfrm>
          <a:prstGeom prst="rect">
            <a:avLst/>
          </a:prstGeom>
          <a:noFill/>
          <a:ln/>
        </p:spPr>
        <p:txBody>
          <a:bodyPr wrap="square" lIns="0" tIns="0" rIns="0" bIns="0" rtlCol="0" anchor="ctr"/>
          <a:lstStyle/>
          <a:p>
            <a:pPr indent="0" marL="0">
              <a:buNone/>
            </a:pPr>
            <a:r>
              <a:rPr lang="en-US" sz="1100" b="1" spc="300" kern="0" dirty="0">
                <a:solidFill>
                  <a:srgbClr val="8C3A2B"/>
                </a:solidFill>
                <a:latin typeface="Calibri" pitchFamily="34" charset="0"/>
                <a:ea typeface="Calibri" pitchFamily="34" charset="-122"/>
                <a:cs typeface="Calibri" pitchFamily="34" charset="-120"/>
              </a:rPr>
              <a:t>İÇ MİMARLIK · MAĞAZA TASARIMI STÜDYOSU · 1. HAFTA</a:t>
            </a:r>
            <a:endParaRPr lang="en-US" sz="1100" dirty="0"/>
          </a:p>
        </p:txBody>
      </p:sp>
      <p:sp>
        <p:nvSpPr>
          <p:cNvPr id="3" name="Text 1"/>
          <p:cNvSpPr txBox="1"/>
          <p:nvPr/>
        </p:nvSpPr>
        <p:spPr>
          <a:xfrm>
            <a:off x="777240" y="1828800"/>
            <a:ext cx="10424160" cy="1920240"/>
          </a:xfrm>
          <a:prstGeom prst="rect">
            <a:avLst/>
          </a:prstGeom>
          <a:noFill/>
          <a:ln/>
        </p:spPr>
        <p:txBody>
          <a:bodyPr wrap="square" lIns="0" tIns="0" rIns="0" bIns="0" rtlCol="0" anchor="ctr"/>
          <a:lstStyle/>
          <a:p>
            <a:pPr indent="0" marL="0">
              <a:lnSpc>
                <a:spcPts val="5800"/>
              </a:lnSpc>
              <a:buNone/>
            </a:pPr>
            <a:r>
              <a:rPr lang="en-US" sz="4600" b="1" dirty="0">
                <a:solidFill>
                  <a:srgbClr val="FFFFFF"/>
                </a:solidFill>
                <a:latin typeface="Cambria" pitchFamily="34" charset="0"/>
                <a:ea typeface="Cambria" pitchFamily="34" charset="-122"/>
                <a:cs typeface="Cambria" pitchFamily="34" charset="-120"/>
              </a:rPr>
              <a:t>Marka Anahtarı ve</a:t>
            </a:r>
            <a:endParaRPr lang="en-US" sz="4600" dirty="0"/>
          </a:p>
          <a:p>
            <a:pPr indent="0" marL="0">
              <a:lnSpc>
                <a:spcPts val="5800"/>
              </a:lnSpc>
              <a:buNone/>
            </a:pPr>
            <a:r>
              <a:rPr lang="en-US" sz="4600" b="1" dirty="0">
                <a:solidFill>
                  <a:srgbClr val="FFFFFF"/>
                </a:solidFill>
                <a:latin typeface="Cambria" pitchFamily="34" charset="0"/>
                <a:ea typeface="Cambria" pitchFamily="34" charset="-122"/>
                <a:cs typeface="Cambria" pitchFamily="34" charset="-120"/>
              </a:rPr>
              <a:t>Müşteri Deneyimi Araştırması</a:t>
            </a:r>
            <a:endParaRPr lang="en-US" sz="4600" dirty="0"/>
          </a:p>
        </p:txBody>
      </p:sp>
      <p:sp>
        <p:nvSpPr>
          <p:cNvPr id="4" name="Shape 2"/>
          <p:cNvSpPr/>
          <p:nvPr/>
        </p:nvSpPr>
        <p:spPr>
          <a:xfrm>
            <a:off x="777240" y="3977640"/>
            <a:ext cx="2377440" cy="0"/>
          </a:xfrm>
          <a:prstGeom prst="line">
            <a:avLst/>
          </a:prstGeom>
          <a:noFill/>
          <a:ln w="25400">
            <a:solidFill>
              <a:srgbClr val="8C3A2B"/>
            </a:solidFill>
            <a:prstDash val="solid"/>
          </a:ln>
        </p:spPr>
      </p:sp>
      <p:sp>
        <p:nvSpPr>
          <p:cNvPr id="5" name="Text 3"/>
          <p:cNvSpPr txBox="1"/>
          <p:nvPr/>
        </p:nvSpPr>
        <p:spPr>
          <a:xfrm>
            <a:off x="777240" y="4251960"/>
            <a:ext cx="8961120" cy="822960"/>
          </a:xfrm>
          <a:prstGeom prst="rect">
            <a:avLst/>
          </a:prstGeom>
          <a:noFill/>
          <a:ln/>
        </p:spPr>
        <p:txBody>
          <a:bodyPr wrap="square" lIns="0" tIns="0" rIns="0" bIns="0" rtlCol="0" anchor="ctr"/>
          <a:lstStyle/>
          <a:p>
            <a:pPr indent="0" marL="0">
              <a:lnSpc>
                <a:spcPts val="2600"/>
              </a:lnSpc>
              <a:buNone/>
            </a:pPr>
            <a:r>
              <a:rPr lang="en-US" sz="1700" dirty="0">
                <a:solidFill>
                  <a:srgbClr val="B9B9C0"/>
                </a:solidFill>
                <a:latin typeface="Cambria" pitchFamily="34" charset="0"/>
                <a:ea typeface="Cambria" pitchFamily="34" charset="-122"/>
                <a:cs typeface="Cambria" pitchFamily="34" charset="-120"/>
              </a:rPr>
              <a:t>Bir markayı mekâna çevirmenin ilk adımı: markayı ve müşterisini</a:t>
            </a:r>
            <a:endParaRPr lang="en-US" sz="1700" dirty="0"/>
          </a:p>
          <a:p>
            <a:pPr indent="0" marL="0">
              <a:lnSpc>
                <a:spcPts val="2600"/>
              </a:lnSpc>
              <a:buNone/>
            </a:pPr>
            <a:r>
              <a:rPr lang="en-US" sz="1700" dirty="0">
                <a:solidFill>
                  <a:srgbClr val="B9B9C0"/>
                </a:solidFill>
                <a:latin typeface="Cambria" pitchFamily="34" charset="0"/>
                <a:ea typeface="Cambria" pitchFamily="34" charset="-122"/>
                <a:cs typeface="Cambria" pitchFamily="34" charset="-120"/>
              </a:rPr>
              <a:t>okunabilir hâle getirmek.</a:t>
            </a:r>
            <a:endParaRPr lang="en-US" sz="1700" dirty="0"/>
          </a:p>
        </p:txBody>
      </p:sp>
      <p:sp>
        <p:nvSpPr>
          <p:cNvPr id="6" name="Text 4"/>
          <p:cNvSpPr txBox="1"/>
          <p:nvPr/>
        </p:nvSpPr>
        <p:spPr>
          <a:xfrm>
            <a:off x="777240" y="5943600"/>
            <a:ext cx="10424160" cy="274320"/>
          </a:xfrm>
          <a:prstGeom prst="rect">
            <a:avLst/>
          </a:prstGeom>
          <a:noFill/>
          <a:ln/>
        </p:spPr>
        <p:txBody>
          <a:bodyPr wrap="square" lIns="0" tIns="0" rIns="0" bIns="0" rtlCol="0" anchor="ctr"/>
          <a:lstStyle/>
          <a:p>
            <a:pPr indent="0" marL="0">
              <a:buNone/>
            </a:pPr>
            <a:r>
              <a:rPr lang="en-US" sz="1050" spc="160" kern="0" dirty="0">
                <a:solidFill>
                  <a:srgbClr val="7A7A82"/>
                </a:solidFill>
                <a:latin typeface="Calibri" pitchFamily="34" charset="0"/>
                <a:ea typeface="Calibri" pitchFamily="34" charset="-122"/>
                <a:cs typeface="Calibri" pitchFamily="34" charset="-120"/>
              </a:rPr>
              <a:t>Brand Key Mapping  ·  Customer Experience Research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BUGÜN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Bugün ne yapacağız</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a:t>
            </a:r>
            <a:endParaRPr lang="en-US" sz="950" dirty="0"/>
          </a:p>
        </p:txBody>
      </p:sp>
      <p:sp>
        <p:nvSpPr>
          <p:cNvPr id="5" name="Text 3"/>
          <p:cNvSpPr txBox="1"/>
          <p:nvPr/>
        </p:nvSpPr>
        <p:spPr>
          <a:xfrm>
            <a:off x="777240" y="1572768"/>
            <a:ext cx="10634472" cy="914400"/>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Bugünün sekiz saati üç işe ayrılıyor: dersin çerçevesini anlamak, bir markayı mekâna çeviren araçları öğrenmek ve bu araçları aynı gün içinde bir mağaza üzerinde denemek. Gün sonunda herkesin elinde doldurulmuş bir analiz kâğıdı ve önümüzdeki haftanın ödevi olacak.</a:t>
            </a:r>
            <a:endParaRPr lang="en-US" sz="1450" dirty="0"/>
          </a:p>
        </p:txBody>
      </p:sp>
      <p:sp>
        <p:nvSpPr>
          <p:cNvPr id="6" name="Shape 4"/>
          <p:cNvSpPr/>
          <p:nvPr/>
        </p:nvSpPr>
        <p:spPr>
          <a:xfrm>
            <a:off x="777240" y="2697480"/>
            <a:ext cx="1938528" cy="1371600"/>
          </a:xfrm>
          <a:prstGeom prst="rect">
            <a:avLst/>
          </a:prstGeom>
          <a:ln w="9525">
            <a:solidFill>
              <a:srgbClr val="C9C9CF"/>
            </a:solidFill>
            <a:prstDash val="solid"/>
          </a:ln>
        </p:spPr>
      </p:sp>
      <p:sp>
        <p:nvSpPr>
          <p:cNvPr id="7" name="Text 5"/>
          <p:cNvSpPr txBox="1"/>
          <p:nvPr/>
        </p:nvSpPr>
        <p:spPr>
          <a:xfrm>
            <a:off x="923544" y="3081528"/>
            <a:ext cx="1645920" cy="365760"/>
          </a:xfrm>
          <a:prstGeom prst="rect">
            <a:avLst/>
          </a:prstGeom>
          <a:noFill/>
          <a:ln/>
        </p:spPr>
        <p:txBody>
          <a:bodyPr wrap="square" lIns="0" tIns="0" rIns="0" bIns="0" rtlCol="0" anchor="ctr"/>
          <a:lstStyle/>
          <a:p>
            <a:pPr indent="0" marL="0">
              <a:lnSpc>
                <a:spcPts val="1700"/>
              </a:lnSpc>
              <a:buNone/>
            </a:pPr>
            <a:r>
              <a:rPr lang="en-US" sz="1400" b="1" dirty="0">
                <a:solidFill>
                  <a:srgbClr val="16161A"/>
                </a:solidFill>
                <a:latin typeface="Cambria" pitchFamily="34" charset="0"/>
                <a:ea typeface="Cambria" pitchFamily="34" charset="-122"/>
                <a:cs typeface="Cambria" pitchFamily="34" charset="-120"/>
              </a:rPr>
              <a:t>Proje brifi</a:t>
            </a:r>
            <a:endParaRPr lang="en-US" sz="1400" dirty="0"/>
          </a:p>
        </p:txBody>
      </p:sp>
      <p:sp>
        <p:nvSpPr>
          <p:cNvPr id="8" name="Text 6"/>
          <p:cNvSpPr txBox="1"/>
          <p:nvPr/>
        </p:nvSpPr>
        <p:spPr>
          <a:xfrm>
            <a:off x="923544" y="3465576"/>
            <a:ext cx="1645920" cy="548640"/>
          </a:xfrm>
          <a:prstGeom prst="rect">
            <a:avLst/>
          </a:prstGeom>
          <a:noFill/>
          <a:ln/>
        </p:spPr>
        <p:txBody>
          <a:bodyPr wrap="square" lIns="0" tIns="0" rIns="0" bIns="0" rtlCol="0" anchor="ctr"/>
          <a:lstStyle/>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Ders akışı, teslimler,</a:t>
            </a:r>
            <a:endParaRPr lang="en-US" sz="950" dirty="0"/>
          </a:p>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değerlendirme ölçütleri</a:t>
            </a:r>
            <a:endParaRPr lang="en-US" sz="950" dirty="0"/>
          </a:p>
        </p:txBody>
      </p:sp>
      <p:sp>
        <p:nvSpPr>
          <p:cNvPr id="9" name="Shape 7"/>
          <p:cNvSpPr/>
          <p:nvPr/>
        </p:nvSpPr>
        <p:spPr>
          <a:xfrm>
            <a:off x="914400" y="2843784"/>
            <a:ext cx="219456" cy="219456"/>
          </a:xfrm>
          <a:prstGeom prst="ellipse">
            <a:avLst/>
          </a:prstGeom>
          <a:solidFill>
            <a:srgbClr val="7A7A82"/>
          </a:solidFill>
          <a:ln w="12700">
            <a:solidFill>
              <a:srgbClr val="7A7A82"/>
            </a:solidFill>
            <a:prstDash val="solid"/>
          </a:ln>
        </p:spPr>
      </p:sp>
      <p:sp>
        <p:nvSpPr>
          <p:cNvPr id="10" name="Text 8"/>
          <p:cNvSpPr txBox="1"/>
          <p:nvPr/>
        </p:nvSpPr>
        <p:spPr>
          <a:xfrm>
            <a:off x="914400" y="284378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1" name="Shape 9"/>
          <p:cNvSpPr/>
          <p:nvPr/>
        </p:nvSpPr>
        <p:spPr>
          <a:xfrm>
            <a:off x="2743200" y="3383280"/>
            <a:ext cx="182880" cy="0"/>
          </a:xfrm>
          <a:prstGeom prst="line">
            <a:avLst/>
          </a:prstGeom>
          <a:noFill/>
          <a:ln w="12700">
            <a:solidFill>
              <a:srgbClr val="C9C9CF"/>
            </a:solidFill>
            <a:prstDash val="solid"/>
          </a:ln>
        </p:spPr>
      </p:sp>
      <p:sp>
        <p:nvSpPr>
          <p:cNvPr id="12" name="Shape 10"/>
          <p:cNvSpPr/>
          <p:nvPr/>
        </p:nvSpPr>
        <p:spPr>
          <a:xfrm>
            <a:off x="2953512" y="2697480"/>
            <a:ext cx="1938528" cy="1371600"/>
          </a:xfrm>
          <a:prstGeom prst="rect">
            <a:avLst/>
          </a:prstGeom>
          <a:ln w="9525">
            <a:solidFill>
              <a:srgbClr val="C9C9CF"/>
            </a:solidFill>
            <a:prstDash val="solid"/>
          </a:ln>
        </p:spPr>
      </p:sp>
      <p:sp>
        <p:nvSpPr>
          <p:cNvPr id="13" name="Text 11"/>
          <p:cNvSpPr txBox="1"/>
          <p:nvPr/>
        </p:nvSpPr>
        <p:spPr>
          <a:xfrm>
            <a:off x="3099816" y="3081528"/>
            <a:ext cx="1645920" cy="365760"/>
          </a:xfrm>
          <a:prstGeom prst="rect">
            <a:avLst/>
          </a:prstGeom>
          <a:noFill/>
          <a:ln/>
        </p:spPr>
        <p:txBody>
          <a:bodyPr wrap="square" lIns="0" tIns="0" rIns="0" bIns="0" rtlCol="0" anchor="ctr"/>
          <a:lstStyle/>
          <a:p>
            <a:pPr indent="0" marL="0">
              <a:lnSpc>
                <a:spcPts val="1700"/>
              </a:lnSpc>
              <a:buNone/>
            </a:pPr>
            <a:r>
              <a:rPr lang="en-US" sz="1400" b="1" dirty="0">
                <a:solidFill>
                  <a:srgbClr val="16161A"/>
                </a:solidFill>
                <a:latin typeface="Cambria" pitchFamily="34" charset="0"/>
                <a:ea typeface="Cambria" pitchFamily="34" charset="-122"/>
                <a:cs typeface="Cambria" pitchFamily="34" charset="-120"/>
              </a:rPr>
              <a:t>Teorik anlatım</a:t>
            </a:r>
            <a:endParaRPr lang="en-US" sz="1400" dirty="0"/>
          </a:p>
        </p:txBody>
      </p:sp>
      <p:sp>
        <p:nvSpPr>
          <p:cNvPr id="14" name="Text 12"/>
          <p:cNvSpPr txBox="1"/>
          <p:nvPr/>
        </p:nvSpPr>
        <p:spPr>
          <a:xfrm>
            <a:off x="3099816" y="3465576"/>
            <a:ext cx="1645920" cy="548640"/>
          </a:xfrm>
          <a:prstGeom prst="rect">
            <a:avLst/>
          </a:prstGeom>
          <a:noFill/>
          <a:ln/>
        </p:spPr>
        <p:txBody>
          <a:bodyPr wrap="square" lIns="0" tIns="0" rIns="0" bIns="0" rtlCol="0" anchor="ctr"/>
          <a:lstStyle/>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Marka anahtarı ve</a:t>
            </a:r>
            <a:endParaRPr lang="en-US" sz="950" dirty="0"/>
          </a:p>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deneyim araştırması</a:t>
            </a:r>
            <a:endParaRPr lang="en-US" sz="950" dirty="0"/>
          </a:p>
        </p:txBody>
      </p:sp>
      <p:sp>
        <p:nvSpPr>
          <p:cNvPr id="15" name="Shape 13"/>
          <p:cNvSpPr/>
          <p:nvPr/>
        </p:nvSpPr>
        <p:spPr>
          <a:xfrm>
            <a:off x="3090672" y="2843784"/>
            <a:ext cx="219456" cy="219456"/>
          </a:xfrm>
          <a:prstGeom prst="ellipse">
            <a:avLst/>
          </a:prstGeom>
          <a:solidFill>
            <a:srgbClr val="7A7A82"/>
          </a:solidFill>
          <a:ln w="12700">
            <a:solidFill>
              <a:srgbClr val="7A7A82"/>
            </a:solidFill>
            <a:prstDash val="solid"/>
          </a:ln>
        </p:spPr>
      </p:sp>
      <p:sp>
        <p:nvSpPr>
          <p:cNvPr id="16" name="Text 14"/>
          <p:cNvSpPr txBox="1"/>
          <p:nvPr/>
        </p:nvSpPr>
        <p:spPr>
          <a:xfrm>
            <a:off x="3090672" y="284378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7" name="Shape 15"/>
          <p:cNvSpPr/>
          <p:nvPr/>
        </p:nvSpPr>
        <p:spPr>
          <a:xfrm>
            <a:off x="4919472" y="3383280"/>
            <a:ext cx="182880" cy="0"/>
          </a:xfrm>
          <a:prstGeom prst="line">
            <a:avLst/>
          </a:prstGeom>
          <a:noFill/>
          <a:ln w="12700">
            <a:solidFill>
              <a:srgbClr val="C9C9CF"/>
            </a:solidFill>
            <a:prstDash val="solid"/>
          </a:ln>
        </p:spPr>
      </p:sp>
      <p:sp>
        <p:nvSpPr>
          <p:cNvPr id="18" name="Shape 16"/>
          <p:cNvSpPr/>
          <p:nvPr/>
        </p:nvSpPr>
        <p:spPr>
          <a:xfrm>
            <a:off x="5129784" y="2697480"/>
            <a:ext cx="1938528" cy="1371600"/>
          </a:xfrm>
          <a:prstGeom prst="rect">
            <a:avLst/>
          </a:prstGeom>
          <a:solidFill>
            <a:srgbClr val="F6EAE6"/>
          </a:solidFill>
          <a:ln w="15875">
            <a:solidFill>
              <a:srgbClr val="8C3A2B"/>
            </a:solidFill>
            <a:prstDash val="solid"/>
          </a:ln>
        </p:spPr>
      </p:sp>
      <p:sp>
        <p:nvSpPr>
          <p:cNvPr id="19" name="Text 17"/>
          <p:cNvSpPr txBox="1"/>
          <p:nvPr/>
        </p:nvSpPr>
        <p:spPr>
          <a:xfrm>
            <a:off x="5276088" y="3081528"/>
            <a:ext cx="1645920" cy="365760"/>
          </a:xfrm>
          <a:prstGeom prst="rect">
            <a:avLst/>
          </a:prstGeom>
          <a:noFill/>
          <a:ln/>
        </p:spPr>
        <p:txBody>
          <a:bodyPr wrap="square" lIns="0" tIns="0" rIns="0" bIns="0" rtlCol="0" anchor="ctr"/>
          <a:lstStyle/>
          <a:p>
            <a:pPr indent="0" marL="0">
              <a:lnSpc>
                <a:spcPts val="1700"/>
              </a:lnSpc>
              <a:buNone/>
            </a:pPr>
            <a:r>
              <a:rPr lang="en-US" sz="1400" b="1" dirty="0">
                <a:solidFill>
                  <a:srgbClr val="8C3A2B"/>
                </a:solidFill>
                <a:latin typeface="Cambria" pitchFamily="34" charset="0"/>
                <a:ea typeface="Cambria" pitchFamily="34" charset="-122"/>
                <a:cs typeface="Cambria" pitchFamily="34" charset="-120"/>
              </a:rPr>
              <a:t>Mağaza okuma</a:t>
            </a:r>
            <a:endParaRPr lang="en-US" sz="1400" dirty="0"/>
          </a:p>
        </p:txBody>
      </p:sp>
      <p:sp>
        <p:nvSpPr>
          <p:cNvPr id="20" name="Text 18"/>
          <p:cNvSpPr txBox="1"/>
          <p:nvPr/>
        </p:nvSpPr>
        <p:spPr>
          <a:xfrm>
            <a:off x="5276088" y="3465576"/>
            <a:ext cx="1645920" cy="548640"/>
          </a:xfrm>
          <a:prstGeom prst="rect">
            <a:avLst/>
          </a:prstGeom>
          <a:noFill/>
          <a:ln/>
        </p:spPr>
        <p:txBody>
          <a:bodyPr wrap="square" lIns="0" tIns="0" rIns="0" bIns="0" rtlCol="0" anchor="ctr"/>
          <a:lstStyle/>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Verilen görsel üzerinden</a:t>
            </a:r>
            <a:endParaRPr lang="en-US" sz="950" dirty="0"/>
          </a:p>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bireysel analiz</a:t>
            </a:r>
            <a:endParaRPr lang="en-US" sz="950" dirty="0"/>
          </a:p>
        </p:txBody>
      </p:sp>
      <p:sp>
        <p:nvSpPr>
          <p:cNvPr id="21" name="Shape 19"/>
          <p:cNvSpPr/>
          <p:nvPr/>
        </p:nvSpPr>
        <p:spPr>
          <a:xfrm>
            <a:off x="5266944" y="2843784"/>
            <a:ext cx="219456" cy="219456"/>
          </a:xfrm>
          <a:prstGeom prst="ellipse">
            <a:avLst/>
          </a:prstGeom>
          <a:solidFill>
            <a:srgbClr val="8C3A2B"/>
          </a:solidFill>
          <a:ln w="12700">
            <a:solidFill>
              <a:srgbClr val="8C3A2B"/>
            </a:solidFill>
            <a:prstDash val="solid"/>
          </a:ln>
        </p:spPr>
      </p:sp>
      <p:sp>
        <p:nvSpPr>
          <p:cNvPr id="22" name="Text 20"/>
          <p:cNvSpPr txBox="1"/>
          <p:nvPr/>
        </p:nvSpPr>
        <p:spPr>
          <a:xfrm>
            <a:off x="5266944" y="284378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3" name="Shape 21"/>
          <p:cNvSpPr/>
          <p:nvPr/>
        </p:nvSpPr>
        <p:spPr>
          <a:xfrm>
            <a:off x="7095744" y="3383280"/>
            <a:ext cx="182880" cy="0"/>
          </a:xfrm>
          <a:prstGeom prst="line">
            <a:avLst/>
          </a:prstGeom>
          <a:noFill/>
          <a:ln w="12700">
            <a:solidFill>
              <a:srgbClr val="C9C9CF"/>
            </a:solidFill>
            <a:prstDash val="solid"/>
          </a:ln>
        </p:spPr>
      </p:sp>
      <p:sp>
        <p:nvSpPr>
          <p:cNvPr id="24" name="Shape 22"/>
          <p:cNvSpPr/>
          <p:nvPr/>
        </p:nvSpPr>
        <p:spPr>
          <a:xfrm>
            <a:off x="7306056" y="2697480"/>
            <a:ext cx="1938528" cy="1371600"/>
          </a:xfrm>
          <a:prstGeom prst="rect">
            <a:avLst/>
          </a:prstGeom>
          <a:solidFill>
            <a:srgbClr val="F6EAE6"/>
          </a:solidFill>
          <a:ln w="15875">
            <a:solidFill>
              <a:srgbClr val="8C3A2B"/>
            </a:solidFill>
            <a:prstDash val="solid"/>
          </a:ln>
        </p:spPr>
      </p:sp>
      <p:sp>
        <p:nvSpPr>
          <p:cNvPr id="25" name="Text 23"/>
          <p:cNvSpPr txBox="1"/>
          <p:nvPr/>
        </p:nvSpPr>
        <p:spPr>
          <a:xfrm>
            <a:off x="7452360" y="3081528"/>
            <a:ext cx="1645920" cy="365760"/>
          </a:xfrm>
          <a:prstGeom prst="rect">
            <a:avLst/>
          </a:prstGeom>
          <a:noFill/>
          <a:ln/>
        </p:spPr>
        <p:txBody>
          <a:bodyPr wrap="square" lIns="0" tIns="0" rIns="0" bIns="0" rtlCol="0" anchor="ctr"/>
          <a:lstStyle/>
          <a:p>
            <a:pPr indent="0" marL="0">
              <a:lnSpc>
                <a:spcPts val="1700"/>
              </a:lnSpc>
              <a:buNone/>
            </a:pPr>
            <a:r>
              <a:rPr lang="en-US" sz="1400" b="1" dirty="0">
                <a:solidFill>
                  <a:srgbClr val="8C3A2B"/>
                </a:solidFill>
                <a:latin typeface="Cambria" pitchFamily="34" charset="0"/>
                <a:ea typeface="Cambria" pitchFamily="34" charset="-122"/>
                <a:cs typeface="Cambria" pitchFamily="34" charset="-120"/>
              </a:rPr>
              <a:t>Grup tartışması</a:t>
            </a:r>
            <a:endParaRPr lang="en-US" sz="1400" dirty="0"/>
          </a:p>
        </p:txBody>
      </p:sp>
      <p:sp>
        <p:nvSpPr>
          <p:cNvPr id="26" name="Text 24"/>
          <p:cNvSpPr txBox="1"/>
          <p:nvPr/>
        </p:nvSpPr>
        <p:spPr>
          <a:xfrm>
            <a:off x="7452360" y="3465576"/>
            <a:ext cx="1645920" cy="548640"/>
          </a:xfrm>
          <a:prstGeom prst="rect">
            <a:avLst/>
          </a:prstGeom>
          <a:noFill/>
          <a:ln/>
        </p:spPr>
        <p:txBody>
          <a:bodyPr wrap="square" lIns="0" tIns="0" rIns="0" bIns="0" rtlCol="0" anchor="ctr"/>
          <a:lstStyle/>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Aynı mağazayı okuyanların</a:t>
            </a:r>
            <a:endParaRPr lang="en-US" sz="950" dirty="0"/>
          </a:p>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farklarını karşılaştırma</a:t>
            </a:r>
            <a:endParaRPr lang="en-US" sz="950" dirty="0"/>
          </a:p>
        </p:txBody>
      </p:sp>
      <p:sp>
        <p:nvSpPr>
          <p:cNvPr id="27" name="Shape 25"/>
          <p:cNvSpPr/>
          <p:nvPr/>
        </p:nvSpPr>
        <p:spPr>
          <a:xfrm>
            <a:off x="7443216" y="2843784"/>
            <a:ext cx="219456" cy="219456"/>
          </a:xfrm>
          <a:prstGeom prst="ellipse">
            <a:avLst/>
          </a:prstGeom>
          <a:solidFill>
            <a:srgbClr val="8C3A2B"/>
          </a:solidFill>
          <a:ln w="12700">
            <a:solidFill>
              <a:srgbClr val="8C3A2B"/>
            </a:solidFill>
            <a:prstDash val="solid"/>
          </a:ln>
        </p:spPr>
      </p:sp>
      <p:sp>
        <p:nvSpPr>
          <p:cNvPr id="28" name="Text 26"/>
          <p:cNvSpPr txBox="1"/>
          <p:nvPr/>
        </p:nvSpPr>
        <p:spPr>
          <a:xfrm>
            <a:off x="7443216" y="284378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9" name="Shape 27"/>
          <p:cNvSpPr/>
          <p:nvPr/>
        </p:nvSpPr>
        <p:spPr>
          <a:xfrm>
            <a:off x="9272016" y="3383280"/>
            <a:ext cx="182880" cy="0"/>
          </a:xfrm>
          <a:prstGeom prst="line">
            <a:avLst/>
          </a:prstGeom>
          <a:noFill/>
          <a:ln w="12700">
            <a:solidFill>
              <a:srgbClr val="C9C9CF"/>
            </a:solidFill>
            <a:prstDash val="solid"/>
          </a:ln>
        </p:spPr>
      </p:sp>
      <p:sp>
        <p:nvSpPr>
          <p:cNvPr id="30" name="Shape 28"/>
          <p:cNvSpPr/>
          <p:nvPr/>
        </p:nvSpPr>
        <p:spPr>
          <a:xfrm>
            <a:off x="9482328" y="2697480"/>
            <a:ext cx="1938528" cy="1371600"/>
          </a:xfrm>
          <a:prstGeom prst="rect">
            <a:avLst/>
          </a:prstGeom>
          <a:ln w="9525">
            <a:solidFill>
              <a:srgbClr val="C9C9CF"/>
            </a:solidFill>
            <a:prstDash val="solid"/>
          </a:ln>
        </p:spPr>
      </p:sp>
      <p:sp>
        <p:nvSpPr>
          <p:cNvPr id="31" name="Text 29"/>
          <p:cNvSpPr txBox="1"/>
          <p:nvPr/>
        </p:nvSpPr>
        <p:spPr>
          <a:xfrm>
            <a:off x="9628632" y="3081528"/>
            <a:ext cx="1645920" cy="365760"/>
          </a:xfrm>
          <a:prstGeom prst="rect">
            <a:avLst/>
          </a:prstGeom>
          <a:noFill/>
          <a:ln/>
        </p:spPr>
        <p:txBody>
          <a:bodyPr wrap="square" lIns="0" tIns="0" rIns="0" bIns="0" rtlCol="0" anchor="ctr"/>
          <a:lstStyle/>
          <a:p>
            <a:pPr indent="0" marL="0">
              <a:lnSpc>
                <a:spcPts val="1700"/>
              </a:lnSpc>
              <a:buNone/>
            </a:pPr>
            <a:r>
              <a:rPr lang="en-US" sz="1400" b="1" dirty="0">
                <a:solidFill>
                  <a:srgbClr val="16161A"/>
                </a:solidFill>
                <a:latin typeface="Cambria" pitchFamily="34" charset="0"/>
                <a:ea typeface="Cambria" pitchFamily="34" charset="-122"/>
                <a:cs typeface="Cambria" pitchFamily="34" charset="-120"/>
              </a:rPr>
              <a:t>Ödevin verilmesi</a:t>
            </a:r>
            <a:endParaRPr lang="en-US" sz="1400" dirty="0"/>
          </a:p>
        </p:txBody>
      </p:sp>
      <p:sp>
        <p:nvSpPr>
          <p:cNvPr id="32" name="Text 30"/>
          <p:cNvSpPr txBox="1"/>
          <p:nvPr/>
        </p:nvSpPr>
        <p:spPr>
          <a:xfrm>
            <a:off x="9628632" y="3465576"/>
            <a:ext cx="1645920" cy="548640"/>
          </a:xfrm>
          <a:prstGeom prst="rect">
            <a:avLst/>
          </a:prstGeom>
          <a:noFill/>
          <a:ln/>
        </p:spPr>
        <p:txBody>
          <a:bodyPr wrap="square" lIns="0" tIns="0" rIns="0" bIns="0" rtlCol="0" anchor="ctr"/>
          <a:lstStyle/>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Üç aday marka ve</a:t>
            </a:r>
            <a:endParaRPr lang="en-US" sz="950" dirty="0"/>
          </a:p>
          <a:p>
            <a:pPr indent="0" marL="0">
              <a:lnSpc>
                <a:spcPts val="1200"/>
              </a:lnSpc>
              <a:buNone/>
            </a:pPr>
            <a:r>
              <a:rPr lang="en-US" sz="950" dirty="0">
                <a:solidFill>
                  <a:srgbClr val="7A7A82"/>
                </a:solidFill>
                <a:latin typeface="Calibri" pitchFamily="34" charset="0"/>
                <a:ea typeface="Calibri" pitchFamily="34" charset="-122"/>
                <a:cs typeface="Calibri" pitchFamily="34" charset="-120"/>
              </a:rPr>
              <a:t>araştırma paftası</a:t>
            </a:r>
            <a:endParaRPr lang="en-US" sz="950" dirty="0"/>
          </a:p>
        </p:txBody>
      </p:sp>
      <p:sp>
        <p:nvSpPr>
          <p:cNvPr id="33" name="Shape 31"/>
          <p:cNvSpPr/>
          <p:nvPr/>
        </p:nvSpPr>
        <p:spPr>
          <a:xfrm>
            <a:off x="9619488" y="2843784"/>
            <a:ext cx="219456" cy="219456"/>
          </a:xfrm>
          <a:prstGeom prst="ellipse">
            <a:avLst/>
          </a:prstGeom>
          <a:solidFill>
            <a:srgbClr val="7A7A82"/>
          </a:solidFill>
          <a:ln w="12700">
            <a:solidFill>
              <a:srgbClr val="7A7A82"/>
            </a:solidFill>
            <a:prstDash val="solid"/>
          </a:ln>
        </p:spPr>
      </p:sp>
      <p:sp>
        <p:nvSpPr>
          <p:cNvPr id="34" name="Text 32"/>
          <p:cNvSpPr txBox="1"/>
          <p:nvPr/>
        </p:nvSpPr>
        <p:spPr>
          <a:xfrm>
            <a:off x="9619488" y="284378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35" name="Text 33"/>
          <p:cNvSpPr txBox="1"/>
          <p:nvPr/>
        </p:nvSpPr>
        <p:spPr>
          <a:xfrm>
            <a:off x="777240" y="4270248"/>
            <a:ext cx="10424160" cy="274320"/>
          </a:xfrm>
          <a:prstGeom prst="rect">
            <a:avLst/>
          </a:prstGeom>
          <a:noFill/>
          <a:ln/>
        </p:spPr>
        <p:txBody>
          <a:bodyPr wrap="square" lIns="0" tIns="0" rIns="0" bIns="0" rtlCol="0" anchor="ctr"/>
          <a:lstStyle/>
          <a:p>
            <a:pPr algn="l" indent="0" marL="0">
              <a:lnSpc>
                <a:spcPts val="1200"/>
              </a:lnSpc>
              <a:buNone/>
            </a:pPr>
            <a:r>
              <a:rPr lang="en-US" sz="1100" i="1" dirty="0">
                <a:solidFill>
                  <a:srgbClr val="A6A6AC"/>
                </a:solidFill>
                <a:latin typeface="Calibri" pitchFamily="34" charset="0"/>
                <a:ea typeface="Calibri" pitchFamily="34" charset="-122"/>
                <a:cs typeface="Calibri" pitchFamily="34" charset="-120"/>
              </a:rPr>
              <a:t>İlk iki adım dinleyerek, son üç adım yaparak geçecek.</a:t>
            </a:r>
            <a:endParaRPr lang="en-US" sz="1100" dirty="0"/>
          </a:p>
        </p:txBody>
      </p:sp>
      <p:sp>
        <p:nvSpPr>
          <p:cNvPr id="36" name="Text 34"/>
          <p:cNvSpPr txBox="1"/>
          <p:nvPr/>
        </p:nvSpPr>
        <p:spPr>
          <a:xfrm>
            <a:off x="777240" y="4892040"/>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GÜN SONUNDA ELİNİZDE OLACAKLAR</a:t>
            </a:r>
            <a:endParaRPr lang="en-US" sz="900" dirty="0"/>
          </a:p>
        </p:txBody>
      </p:sp>
      <p:sp>
        <p:nvSpPr>
          <p:cNvPr id="37" name="Shape 35"/>
          <p:cNvSpPr/>
          <p:nvPr/>
        </p:nvSpPr>
        <p:spPr>
          <a:xfrm>
            <a:off x="813816" y="5184648"/>
            <a:ext cx="91440" cy="91440"/>
          </a:xfrm>
          <a:prstGeom prst="ellipse">
            <a:avLst/>
          </a:prstGeom>
          <a:solidFill>
            <a:srgbClr val="8C3A2B"/>
          </a:solidFill>
          <a:ln w="12700">
            <a:solidFill>
              <a:srgbClr val="8C3A2B"/>
            </a:solidFill>
            <a:prstDash val="solid"/>
          </a:ln>
        </p:spPr>
      </p:sp>
      <p:sp>
        <p:nvSpPr>
          <p:cNvPr id="38" name="Text 36"/>
          <p:cNvSpPr txBox="1"/>
          <p:nvPr/>
        </p:nvSpPr>
        <p:spPr>
          <a:xfrm>
            <a:off x="1069848" y="5102352"/>
            <a:ext cx="10058400" cy="274320"/>
          </a:xfrm>
          <a:prstGeom prst="rect">
            <a:avLst/>
          </a:prstGeom>
          <a:noFill/>
          <a:ln/>
        </p:spPr>
        <p:txBody>
          <a:bodyPr wrap="square" lIns="0" tIns="0" rIns="0" bIns="0" rtlCol="0" anchor="ctr"/>
          <a:lstStyle/>
          <a:p>
            <a:pPr algn="l" indent="0" marL="0">
              <a:lnSpc>
                <a:spcPts val="1200"/>
              </a:lnSpc>
              <a:buNone/>
            </a:pPr>
            <a:r>
              <a:rPr lang="en-US" sz="1200" dirty="0">
                <a:solidFill>
                  <a:srgbClr val="2B2B31"/>
                </a:solidFill>
                <a:latin typeface="Cambria" pitchFamily="34" charset="0"/>
                <a:ea typeface="Cambria" pitchFamily="34" charset="-122"/>
                <a:cs typeface="Cambria" pitchFamily="34" charset="-120"/>
              </a:rPr>
              <a:t>Doldurulmuş bir mağaza okuma kâğıdı ve üç anahtar kelime</a:t>
            </a:r>
            <a:endParaRPr lang="en-US" sz="1200" dirty="0"/>
          </a:p>
        </p:txBody>
      </p:sp>
      <p:sp>
        <p:nvSpPr>
          <p:cNvPr id="39" name="Shape 37"/>
          <p:cNvSpPr/>
          <p:nvPr/>
        </p:nvSpPr>
        <p:spPr>
          <a:xfrm>
            <a:off x="813816" y="5513832"/>
            <a:ext cx="91440" cy="91440"/>
          </a:xfrm>
          <a:prstGeom prst="ellipse">
            <a:avLst/>
          </a:prstGeom>
          <a:solidFill>
            <a:srgbClr val="8C3A2B"/>
          </a:solidFill>
          <a:ln w="12700">
            <a:solidFill>
              <a:srgbClr val="8C3A2B"/>
            </a:solidFill>
            <a:prstDash val="solid"/>
          </a:ln>
        </p:spPr>
      </p:sp>
      <p:sp>
        <p:nvSpPr>
          <p:cNvPr id="40" name="Text 38"/>
          <p:cNvSpPr txBox="1"/>
          <p:nvPr/>
        </p:nvSpPr>
        <p:spPr>
          <a:xfrm>
            <a:off x="1069848" y="5431536"/>
            <a:ext cx="10058400" cy="274320"/>
          </a:xfrm>
          <a:prstGeom prst="rect">
            <a:avLst/>
          </a:prstGeom>
          <a:noFill/>
          <a:ln/>
        </p:spPr>
        <p:txBody>
          <a:bodyPr wrap="square" lIns="0" tIns="0" rIns="0" bIns="0" rtlCol="0" anchor="ctr"/>
          <a:lstStyle/>
          <a:p>
            <a:pPr algn="l" indent="0" marL="0">
              <a:lnSpc>
                <a:spcPts val="1200"/>
              </a:lnSpc>
              <a:buNone/>
            </a:pPr>
            <a:r>
              <a:rPr lang="en-US" sz="1200" dirty="0">
                <a:solidFill>
                  <a:srgbClr val="2B2B31"/>
                </a:solidFill>
                <a:latin typeface="Cambria" pitchFamily="34" charset="0"/>
                <a:ea typeface="Cambria" pitchFamily="34" charset="-122"/>
                <a:cs typeface="Cambria" pitchFamily="34" charset="-120"/>
              </a:rPr>
              <a:t>Kendi seçtiğiniz mağazanın grup tartışmasından çıkan notlar</a:t>
            </a:r>
            <a:endParaRPr lang="en-US" sz="1200" dirty="0"/>
          </a:p>
        </p:txBody>
      </p:sp>
      <p:sp>
        <p:nvSpPr>
          <p:cNvPr id="41" name="Shape 39"/>
          <p:cNvSpPr/>
          <p:nvPr/>
        </p:nvSpPr>
        <p:spPr>
          <a:xfrm>
            <a:off x="813816" y="5843016"/>
            <a:ext cx="91440" cy="91440"/>
          </a:xfrm>
          <a:prstGeom prst="ellipse">
            <a:avLst/>
          </a:prstGeom>
          <a:solidFill>
            <a:srgbClr val="8C3A2B"/>
          </a:solidFill>
          <a:ln w="12700">
            <a:solidFill>
              <a:srgbClr val="8C3A2B"/>
            </a:solidFill>
            <a:prstDash val="solid"/>
          </a:ln>
        </p:spPr>
      </p:sp>
      <p:sp>
        <p:nvSpPr>
          <p:cNvPr id="42" name="Text 40"/>
          <p:cNvSpPr txBox="1"/>
          <p:nvPr/>
        </p:nvSpPr>
        <p:spPr>
          <a:xfrm>
            <a:off x="1069848" y="5760720"/>
            <a:ext cx="10058400" cy="274320"/>
          </a:xfrm>
          <a:prstGeom prst="rect">
            <a:avLst/>
          </a:prstGeom>
          <a:noFill/>
          <a:ln/>
        </p:spPr>
        <p:txBody>
          <a:bodyPr wrap="square" lIns="0" tIns="0" rIns="0" bIns="0" rtlCol="0" anchor="ctr"/>
          <a:lstStyle/>
          <a:p>
            <a:pPr algn="l" indent="0" marL="0">
              <a:lnSpc>
                <a:spcPts val="1200"/>
              </a:lnSpc>
              <a:buNone/>
            </a:pPr>
            <a:r>
              <a:rPr lang="en-US" sz="1200" dirty="0">
                <a:solidFill>
                  <a:srgbClr val="2B2B31"/>
                </a:solidFill>
                <a:latin typeface="Cambria" pitchFamily="34" charset="0"/>
                <a:ea typeface="Cambria" pitchFamily="34" charset="-122"/>
                <a:cs typeface="Cambria" pitchFamily="34" charset="-120"/>
              </a:rPr>
              <a:t>Önümüzdeki hafta teslim edilecek marka araştırması paftası</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ÇERÇEVE</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Bu dersin cevapladığı iki soru</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a:t>
            </a:r>
            <a:endParaRPr lang="en-US" sz="950" dirty="0"/>
          </a:p>
        </p:txBody>
      </p:sp>
      <p:sp>
        <p:nvSpPr>
          <p:cNvPr id="5" name="Text 3"/>
          <p:cNvSpPr txBox="1"/>
          <p:nvPr/>
        </p:nvSpPr>
        <p:spPr>
          <a:xfrm>
            <a:off x="777240" y="1600200"/>
            <a:ext cx="10634472" cy="86868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Bir mağaza tasarımı iki ayrı bilgiden doğar. Birincisi markanın kendisidir: ne olduğunu, neyi vaat ettiğini, hangi sözcüklerle konuştuğunu bilmeden onun mekânını kuramayız. İkincisi müşteridir: mağazaya nasıl geldiğini, içeride ne yaptığını, nerede karar verdiğini bilmeden o mekânın işleyip işlemediğini söyleyemeyiz.</a:t>
            </a:r>
            <a:endParaRPr lang="en-US" sz="1500" dirty="0"/>
          </a:p>
        </p:txBody>
      </p:sp>
      <p:sp>
        <p:nvSpPr>
          <p:cNvPr id="6" name="Shape 4"/>
          <p:cNvSpPr/>
          <p:nvPr/>
        </p:nvSpPr>
        <p:spPr>
          <a:xfrm>
            <a:off x="2862072" y="2587752"/>
            <a:ext cx="2231136" cy="2231136"/>
          </a:xfrm>
          <a:prstGeom prst="ellipse">
            <a:avLst/>
          </a:prstGeom>
          <a:ln w="19050">
            <a:solidFill>
              <a:srgbClr val="8C3A2B"/>
            </a:solidFill>
            <a:prstDash val="solid"/>
          </a:ln>
        </p:spPr>
      </p:sp>
      <p:sp>
        <p:nvSpPr>
          <p:cNvPr id="7" name="Shape 5"/>
          <p:cNvSpPr/>
          <p:nvPr/>
        </p:nvSpPr>
        <p:spPr>
          <a:xfrm>
            <a:off x="7095744" y="2587752"/>
            <a:ext cx="2231136" cy="2231136"/>
          </a:xfrm>
          <a:prstGeom prst="ellipse">
            <a:avLst/>
          </a:prstGeom>
          <a:ln w="19050">
            <a:solidFill>
              <a:srgbClr val="16161A"/>
            </a:solidFill>
            <a:prstDash val="solid"/>
          </a:ln>
        </p:spPr>
      </p:sp>
      <p:sp>
        <p:nvSpPr>
          <p:cNvPr id="8" name="Text 6"/>
          <p:cNvSpPr txBox="1"/>
          <p:nvPr/>
        </p:nvSpPr>
        <p:spPr>
          <a:xfrm>
            <a:off x="2862072" y="3136392"/>
            <a:ext cx="1227125" cy="274320"/>
          </a:xfrm>
          <a:prstGeom prst="rect">
            <a:avLst/>
          </a:prstGeom>
          <a:noFill/>
          <a:ln/>
        </p:spPr>
        <p:txBody>
          <a:bodyPr wrap="square" lIns="0" tIns="0" rIns="0" bIns="0" rtlCol="0" anchor="ctr"/>
          <a:lstStyle/>
          <a:p>
            <a:pPr algn="ctr" indent="0" marL="0">
              <a:buNone/>
            </a:pPr>
            <a:r>
              <a:rPr lang="en-US" sz="1000" b="1" spc="160" kern="0" dirty="0">
                <a:solidFill>
                  <a:srgbClr val="8C3A2B"/>
                </a:solidFill>
                <a:latin typeface="Calibri" pitchFamily="34" charset="0"/>
                <a:ea typeface="Calibri" pitchFamily="34" charset="-122"/>
                <a:cs typeface="Calibri" pitchFamily="34" charset="-120"/>
              </a:rPr>
              <a:t>MARKA</a:t>
            </a:r>
            <a:endParaRPr lang="en-US" sz="1000" dirty="0"/>
          </a:p>
        </p:txBody>
      </p:sp>
      <p:sp>
        <p:nvSpPr>
          <p:cNvPr id="9" name="Text 7"/>
          <p:cNvSpPr txBox="1"/>
          <p:nvPr/>
        </p:nvSpPr>
        <p:spPr>
          <a:xfrm>
            <a:off x="2770632" y="3447288"/>
            <a:ext cx="1450238" cy="457200"/>
          </a:xfrm>
          <a:prstGeom prst="rect">
            <a:avLst/>
          </a:prstGeom>
          <a:noFill/>
          <a:ln/>
        </p:spPr>
        <p:txBody>
          <a:bodyPr wrap="square" lIns="0" tIns="0" rIns="0" bIns="0" rtlCol="0" anchor="ctr"/>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Kim konuşuyor?</a:t>
            </a:r>
            <a:endParaRPr lang="en-US" sz="1400" dirty="0"/>
          </a:p>
        </p:txBody>
      </p:sp>
      <p:sp>
        <p:nvSpPr>
          <p:cNvPr id="10" name="Text 8"/>
          <p:cNvSpPr txBox="1"/>
          <p:nvPr/>
        </p:nvSpPr>
        <p:spPr>
          <a:xfrm>
            <a:off x="8099755" y="3136392"/>
            <a:ext cx="1227125" cy="274320"/>
          </a:xfrm>
          <a:prstGeom prst="rect">
            <a:avLst/>
          </a:prstGeom>
          <a:noFill/>
          <a:ln/>
        </p:spPr>
        <p:txBody>
          <a:bodyPr wrap="square" lIns="0" tIns="0" rIns="0" bIns="0" rtlCol="0" anchor="ctr"/>
          <a:lstStyle/>
          <a:p>
            <a:pPr algn="ctr" indent="0" marL="0">
              <a:buNone/>
            </a:pPr>
            <a:r>
              <a:rPr lang="en-US" sz="1000" b="1" spc="160" kern="0" dirty="0">
                <a:solidFill>
                  <a:srgbClr val="16161A"/>
                </a:solidFill>
                <a:latin typeface="Calibri" pitchFamily="34" charset="0"/>
                <a:ea typeface="Calibri" pitchFamily="34" charset="-122"/>
                <a:cs typeface="Calibri" pitchFamily="34" charset="-120"/>
              </a:rPr>
              <a:t>MÜŞTERİ</a:t>
            </a:r>
            <a:endParaRPr lang="en-US" sz="1000" dirty="0"/>
          </a:p>
        </p:txBody>
      </p:sp>
      <p:sp>
        <p:nvSpPr>
          <p:cNvPr id="11" name="Text 9"/>
          <p:cNvSpPr txBox="1"/>
          <p:nvPr/>
        </p:nvSpPr>
        <p:spPr>
          <a:xfrm>
            <a:off x="7988198" y="3447288"/>
            <a:ext cx="1450238" cy="457200"/>
          </a:xfrm>
          <a:prstGeom prst="rect">
            <a:avLst/>
          </a:prstGeom>
          <a:noFill/>
          <a:ln/>
        </p:spPr>
        <p:txBody>
          <a:bodyPr wrap="square" lIns="0" tIns="0" rIns="0" bIns="0" rtlCol="0" anchor="ctr"/>
          <a:lstStyle/>
          <a:p>
            <a:pPr algn="ctr" indent="0" marL="0">
              <a:lnSpc>
                <a:spcPts val="1700"/>
              </a:lnSpc>
              <a:buNone/>
            </a:pPr>
            <a:r>
              <a:rPr lang="en-US" sz="1400" b="1" dirty="0">
                <a:solidFill>
                  <a:srgbClr val="16161A"/>
                </a:solidFill>
                <a:latin typeface="Cambria" pitchFamily="34" charset="0"/>
                <a:ea typeface="Cambria" pitchFamily="34" charset="-122"/>
                <a:cs typeface="Cambria" pitchFamily="34" charset="-120"/>
              </a:rPr>
              <a:t>Kim dinliyor?</a:t>
            </a:r>
            <a:endParaRPr lang="en-US" sz="1400" dirty="0"/>
          </a:p>
        </p:txBody>
      </p:sp>
      <p:sp>
        <p:nvSpPr>
          <p:cNvPr id="12" name="Shape 10"/>
          <p:cNvSpPr/>
          <p:nvPr/>
        </p:nvSpPr>
        <p:spPr>
          <a:xfrm>
            <a:off x="5308092" y="2916936"/>
            <a:ext cx="1572768" cy="1572768"/>
          </a:xfrm>
          <a:prstGeom prst="ellipse">
            <a:avLst/>
          </a:prstGeom>
          <a:solidFill>
            <a:srgbClr val="F6EAE6"/>
          </a:solidFill>
          <a:ln w="15875">
            <a:solidFill>
              <a:srgbClr val="8C3A2B"/>
            </a:solidFill>
            <a:prstDash val="solid"/>
          </a:ln>
        </p:spPr>
      </p:sp>
      <p:sp>
        <p:nvSpPr>
          <p:cNvPr id="13" name="Text 11"/>
          <p:cNvSpPr txBox="1"/>
          <p:nvPr/>
        </p:nvSpPr>
        <p:spPr>
          <a:xfrm>
            <a:off x="5308092" y="3447288"/>
            <a:ext cx="1572768" cy="502920"/>
          </a:xfrm>
          <a:prstGeom prst="rect">
            <a:avLst/>
          </a:prstGeom>
          <a:noFill/>
          <a:ln/>
        </p:spPr>
        <p:txBody>
          <a:bodyPr wrap="square" lIns="0" tIns="0" rIns="0" bIns="0" rtlCol="0" anchor="ctr"/>
          <a:lstStyle/>
          <a:p>
            <a:pPr algn="ctr" indent="0" marL="0">
              <a:buNone/>
            </a:pPr>
            <a:r>
              <a:rPr lang="en-US" sz="1500" b="1" dirty="0">
                <a:solidFill>
                  <a:srgbClr val="8C3A2B"/>
                </a:solidFill>
                <a:latin typeface="Cambria" pitchFamily="34" charset="0"/>
                <a:ea typeface="Cambria" pitchFamily="34" charset="-122"/>
                <a:cs typeface="Cambria" pitchFamily="34" charset="-120"/>
              </a:rPr>
              <a:t>MEKÂN</a:t>
            </a:r>
            <a:endParaRPr lang="en-US" sz="1500" dirty="0"/>
          </a:p>
        </p:txBody>
      </p:sp>
      <p:sp>
        <p:nvSpPr>
          <p:cNvPr id="14" name="Text 12"/>
          <p:cNvSpPr txBox="1"/>
          <p:nvPr/>
        </p:nvSpPr>
        <p:spPr>
          <a:xfrm>
            <a:off x="777240" y="5074920"/>
            <a:ext cx="2926080" cy="274320"/>
          </a:xfrm>
          <a:prstGeom prst="rect">
            <a:avLst/>
          </a:prstGeom>
          <a:noFill/>
          <a:ln/>
        </p:spPr>
        <p:txBody>
          <a:bodyPr wrap="square" lIns="0" tIns="0" rIns="0" bIns="0" rtlCol="0" anchor="ctr"/>
          <a:lstStyle/>
          <a:p>
            <a:pPr algn="l" indent="0" marL="0">
              <a:lnSpc>
                <a:spcPts val="1200"/>
              </a:lnSpc>
              <a:buNone/>
            </a:pPr>
            <a:r>
              <a:rPr lang="en-US" sz="950" b="1" dirty="0">
                <a:solidFill>
                  <a:srgbClr val="8C3A2B"/>
                </a:solidFill>
                <a:latin typeface="Calibri" pitchFamily="34" charset="0"/>
                <a:ea typeface="Calibri" pitchFamily="34" charset="-122"/>
                <a:cs typeface="Calibri" pitchFamily="34" charset="-120"/>
              </a:rPr>
              <a:t>MARKA ANAHTARI</a:t>
            </a:r>
            <a:endParaRPr lang="en-US" sz="950" dirty="0"/>
          </a:p>
        </p:txBody>
      </p:sp>
      <p:sp>
        <p:nvSpPr>
          <p:cNvPr id="15" name="Text 13"/>
          <p:cNvSpPr txBox="1"/>
          <p:nvPr/>
        </p:nvSpPr>
        <p:spPr>
          <a:xfrm>
            <a:off x="777240" y="5303520"/>
            <a:ext cx="3108960" cy="548640"/>
          </a:xfrm>
          <a:prstGeom prst="rect">
            <a:avLst/>
          </a:prstGeom>
          <a:noFill/>
          <a:ln/>
        </p:spPr>
        <p:txBody>
          <a:bodyPr wrap="square" lIns="0" tIns="0" rIns="0" bIns="0" rtlCol="0" anchor="ctr"/>
          <a:lstStyle/>
          <a:p>
            <a:pPr algn="l" indent="0" marL="0">
              <a:lnSpc>
                <a:spcPts val="1350"/>
              </a:lnSpc>
              <a:buNone/>
            </a:pPr>
            <a:r>
              <a:rPr lang="en-US" sz="1100" dirty="0">
                <a:solidFill>
                  <a:srgbClr val="7A7A82"/>
                </a:solidFill>
                <a:latin typeface="Calibri" pitchFamily="34" charset="0"/>
                <a:ea typeface="Calibri" pitchFamily="34" charset="-122"/>
                <a:cs typeface="Calibri" pitchFamily="34" charset="-120"/>
              </a:rPr>
              <a:t>Markanın ne olduğunu dokuz başlıkta tarif eden bir çerçeve.</a:t>
            </a:r>
            <a:endParaRPr lang="en-US" sz="1100" dirty="0"/>
          </a:p>
        </p:txBody>
      </p:sp>
      <p:sp>
        <p:nvSpPr>
          <p:cNvPr id="16" name="Text 14"/>
          <p:cNvSpPr txBox="1"/>
          <p:nvPr/>
        </p:nvSpPr>
        <p:spPr>
          <a:xfrm>
            <a:off x="8503920" y="5074920"/>
            <a:ext cx="2926080" cy="274320"/>
          </a:xfrm>
          <a:prstGeom prst="rect">
            <a:avLst/>
          </a:prstGeom>
          <a:noFill/>
          <a:ln/>
        </p:spPr>
        <p:txBody>
          <a:bodyPr wrap="square" lIns="0" tIns="0" rIns="0" bIns="0" rtlCol="0" anchor="ctr"/>
          <a:lstStyle/>
          <a:p>
            <a:pPr algn="l" indent="0" marL="0">
              <a:lnSpc>
                <a:spcPts val="1200"/>
              </a:lnSpc>
              <a:buNone/>
            </a:pPr>
            <a:r>
              <a:rPr lang="en-US" sz="950" b="1" dirty="0">
                <a:solidFill>
                  <a:srgbClr val="16161A"/>
                </a:solidFill>
                <a:latin typeface="Calibri" pitchFamily="34" charset="0"/>
                <a:ea typeface="Calibri" pitchFamily="34" charset="-122"/>
                <a:cs typeface="Calibri" pitchFamily="34" charset="-120"/>
              </a:rPr>
              <a:t>DENEYİM ARAŞTIRMASI</a:t>
            </a:r>
            <a:endParaRPr lang="en-US" sz="950" dirty="0"/>
          </a:p>
        </p:txBody>
      </p:sp>
      <p:sp>
        <p:nvSpPr>
          <p:cNvPr id="17" name="Text 15"/>
          <p:cNvSpPr txBox="1"/>
          <p:nvPr/>
        </p:nvSpPr>
        <p:spPr>
          <a:xfrm>
            <a:off x="8503920" y="5303520"/>
            <a:ext cx="2926080" cy="548640"/>
          </a:xfrm>
          <a:prstGeom prst="rect">
            <a:avLst/>
          </a:prstGeom>
          <a:noFill/>
          <a:ln/>
        </p:spPr>
        <p:txBody>
          <a:bodyPr wrap="square" lIns="0" tIns="0" rIns="0" bIns="0" rtlCol="0" anchor="ctr"/>
          <a:lstStyle/>
          <a:p>
            <a:pPr algn="l" indent="0" marL="0">
              <a:lnSpc>
                <a:spcPts val="1350"/>
              </a:lnSpc>
              <a:buNone/>
            </a:pPr>
            <a:r>
              <a:rPr lang="en-US" sz="1100" dirty="0">
                <a:solidFill>
                  <a:srgbClr val="7A7A82"/>
                </a:solidFill>
                <a:latin typeface="Calibri" pitchFamily="34" charset="0"/>
                <a:ea typeface="Calibri" pitchFamily="34" charset="-122"/>
                <a:cs typeface="Calibri" pitchFamily="34" charset="-120"/>
              </a:rPr>
              <a:t>Müşterinin yolculuğunu ve temas noktalarını haritalayan yöntemler.</a:t>
            </a:r>
            <a:endParaRPr lang="en-US" sz="1100" dirty="0"/>
          </a:p>
        </p:txBody>
      </p:sp>
      <p:sp>
        <p:nvSpPr>
          <p:cNvPr id="18" name="Text 16"/>
          <p:cNvSpPr txBox="1"/>
          <p:nvPr/>
        </p:nvSpPr>
        <p:spPr>
          <a:xfrm>
            <a:off x="4480560" y="5806440"/>
            <a:ext cx="3291840" cy="274320"/>
          </a:xfrm>
          <a:prstGeom prst="rect">
            <a:avLst/>
          </a:prstGeom>
          <a:noFill/>
          <a:ln/>
        </p:spPr>
        <p:txBody>
          <a:bodyPr wrap="square" lIns="0" tIns="0" rIns="0" bIns="0" rtlCol="0" anchor="ctr"/>
          <a:lstStyle/>
          <a:p>
            <a:pPr algn="ctr" indent="0" marL="0">
              <a:lnSpc>
                <a:spcPts val="1200"/>
              </a:lnSpc>
              <a:buNone/>
            </a:pPr>
            <a:r>
              <a:rPr lang="en-US" sz="1200" i="1" dirty="0">
                <a:solidFill>
                  <a:srgbClr val="8C3A2B"/>
                </a:solidFill>
                <a:latin typeface="Cambria" pitchFamily="34" charset="0"/>
                <a:ea typeface="Cambria" pitchFamily="34" charset="-122"/>
                <a:cs typeface="Cambria" pitchFamily="34" charset="-120"/>
              </a:rPr>
              <a:t>Tasarım bu ikisinin kesişiminde başlar.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Marka neden tasarımın verisidir?</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Logo bir işaret; marka ise bir vaat. Tasarımcı vaadi mekâna çevirir.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 · MARKA</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Marka görünenden ibaret değildir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4</a:t>
            </a:r>
            <a:endParaRPr lang="en-US" sz="950" dirty="0"/>
          </a:p>
        </p:txBody>
      </p:sp>
      <p:sp>
        <p:nvSpPr>
          <p:cNvPr id="5" name="Text 3"/>
          <p:cNvSpPr txBox="1"/>
          <p:nvPr/>
        </p:nvSpPr>
        <p:spPr>
          <a:xfrm>
            <a:off x="777240" y="1600200"/>
            <a:ext cx="10634472" cy="82296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Bir markanın görünen yüzü küçüktür: adı, logosu, renkleri, ambalajı. Bunlar markayı tanıtır ama açıklamaz. Altında, çoğu zaman yazılı bile olmayan bir katman vardır — markanın neye inandığı, kime seslendiği, neyi vaat ettiği. Tasarımcının malzemesi bu alt katmandır (Wheeler, 2017).</a:t>
            </a:r>
            <a:endParaRPr lang="en-US" sz="1500" dirty="0"/>
          </a:p>
        </p:txBody>
      </p:sp>
      <p:sp>
        <p:nvSpPr>
          <p:cNvPr id="6" name="Shape 4"/>
          <p:cNvSpPr/>
          <p:nvPr/>
        </p:nvSpPr>
        <p:spPr>
          <a:xfrm>
            <a:off x="1371600" y="3767328"/>
            <a:ext cx="5486400" cy="0"/>
          </a:xfrm>
          <a:prstGeom prst="line">
            <a:avLst/>
          </a:prstGeom>
          <a:noFill/>
          <a:ln w="12700">
            <a:solidFill>
              <a:srgbClr val="7A7A82"/>
            </a:solidFill>
            <a:prstDash val="dash"/>
          </a:ln>
        </p:spPr>
      </p:sp>
      <p:sp>
        <p:nvSpPr>
          <p:cNvPr id="7" name="Text 5"/>
          <p:cNvSpPr txBox="1"/>
          <p:nvPr/>
        </p:nvSpPr>
        <p:spPr>
          <a:xfrm>
            <a:off x="1371600" y="3474720"/>
            <a:ext cx="2011680" cy="274320"/>
          </a:xfrm>
          <a:prstGeom prst="rect">
            <a:avLst/>
          </a:prstGeom>
          <a:noFill/>
          <a:ln/>
        </p:spPr>
        <p:txBody>
          <a:bodyPr wrap="square" lIns="0" tIns="0" rIns="0" bIns="0" rtlCol="0" anchor="ctr"/>
          <a:lstStyle/>
          <a:p>
            <a:pPr algn="l" indent="0" marL="0">
              <a:lnSpc>
                <a:spcPts val="1200"/>
              </a:lnSpc>
              <a:buNone/>
            </a:pPr>
            <a:r>
              <a:rPr lang="en-US" sz="900" b="1" dirty="0">
                <a:solidFill>
                  <a:srgbClr val="7A7A82"/>
                </a:solidFill>
                <a:latin typeface="Calibri" pitchFamily="34" charset="0"/>
                <a:ea typeface="Calibri" pitchFamily="34" charset="-122"/>
                <a:cs typeface="Calibri" pitchFamily="34" charset="-120"/>
              </a:rPr>
              <a:t>görünen</a:t>
            </a:r>
            <a:endParaRPr lang="en-US" sz="900" dirty="0"/>
          </a:p>
        </p:txBody>
      </p:sp>
      <p:sp>
        <p:nvSpPr>
          <p:cNvPr id="8" name="Text 6"/>
          <p:cNvSpPr txBox="1"/>
          <p:nvPr/>
        </p:nvSpPr>
        <p:spPr>
          <a:xfrm>
            <a:off x="1371600" y="3803904"/>
            <a:ext cx="2011680" cy="274320"/>
          </a:xfrm>
          <a:prstGeom prst="rect">
            <a:avLst/>
          </a:prstGeom>
          <a:noFill/>
          <a:ln/>
        </p:spPr>
        <p:txBody>
          <a:bodyPr wrap="square" lIns="0" tIns="0" rIns="0" bIns="0" rtlCol="0" anchor="ctr"/>
          <a:lstStyle/>
          <a:p>
            <a:pPr algn="l" indent="0" marL="0">
              <a:lnSpc>
                <a:spcPts val="1200"/>
              </a:lnSpc>
              <a:buNone/>
            </a:pPr>
            <a:r>
              <a:rPr lang="en-US" sz="900" b="1" dirty="0">
                <a:solidFill>
                  <a:srgbClr val="8C3A2B"/>
                </a:solidFill>
                <a:latin typeface="Calibri" pitchFamily="34" charset="0"/>
                <a:ea typeface="Calibri" pitchFamily="34" charset="-122"/>
                <a:cs typeface="Calibri" pitchFamily="34" charset="-120"/>
              </a:rPr>
              <a:t>görünmeyen</a:t>
            </a:r>
            <a:endParaRPr lang="en-US" sz="900" dirty="0"/>
          </a:p>
        </p:txBody>
      </p:sp>
      <p:sp>
        <p:nvSpPr>
          <p:cNvPr id="9" name="Shape 7"/>
          <p:cNvSpPr/>
          <p:nvPr/>
        </p:nvSpPr>
        <p:spPr>
          <a:xfrm>
            <a:off x="2752344" y="3072384"/>
            <a:ext cx="621792" cy="621792"/>
          </a:xfrm>
          <a:prstGeom prst="ellipse">
            <a:avLst/>
          </a:prstGeom>
          <a:ln w="12700">
            <a:solidFill>
              <a:srgbClr val="C9C9CF"/>
            </a:solidFill>
            <a:prstDash val="solid"/>
          </a:ln>
        </p:spPr>
      </p:sp>
      <p:sp>
        <p:nvSpPr>
          <p:cNvPr id="10" name="Text 8"/>
          <p:cNvSpPr txBox="1"/>
          <p:nvPr/>
        </p:nvSpPr>
        <p:spPr>
          <a:xfrm>
            <a:off x="2606040" y="2788920"/>
            <a:ext cx="914400" cy="237744"/>
          </a:xfrm>
          <a:prstGeom prst="rect">
            <a:avLst/>
          </a:prstGeom>
          <a:noFill/>
          <a:ln/>
        </p:spPr>
        <p:txBody>
          <a:bodyPr wrap="square" lIns="0" tIns="0" rIns="0" bIns="0" rtlCol="0" anchor="ctr"/>
          <a:lstStyle/>
          <a:p>
            <a:pPr algn="ctr" indent="0" marL="0">
              <a:buNone/>
            </a:pPr>
            <a:r>
              <a:rPr lang="en-US" sz="900" dirty="0">
                <a:solidFill>
                  <a:srgbClr val="7A7A82"/>
                </a:solidFill>
                <a:latin typeface="Calibri" pitchFamily="34" charset="0"/>
                <a:ea typeface="Calibri" pitchFamily="34" charset="-122"/>
                <a:cs typeface="Calibri" pitchFamily="34" charset="-120"/>
              </a:rPr>
              <a:t>Logo</a:t>
            </a:r>
            <a:endParaRPr lang="en-US" sz="900" dirty="0"/>
          </a:p>
        </p:txBody>
      </p:sp>
      <p:sp>
        <p:nvSpPr>
          <p:cNvPr id="11" name="Shape 9"/>
          <p:cNvSpPr/>
          <p:nvPr/>
        </p:nvSpPr>
        <p:spPr>
          <a:xfrm>
            <a:off x="3685032" y="3072384"/>
            <a:ext cx="621792" cy="621792"/>
          </a:xfrm>
          <a:prstGeom prst="ellipse">
            <a:avLst/>
          </a:prstGeom>
          <a:ln w="12700">
            <a:solidFill>
              <a:srgbClr val="C9C9CF"/>
            </a:solidFill>
            <a:prstDash val="solid"/>
          </a:ln>
        </p:spPr>
      </p:sp>
      <p:sp>
        <p:nvSpPr>
          <p:cNvPr id="12" name="Text 10"/>
          <p:cNvSpPr txBox="1"/>
          <p:nvPr/>
        </p:nvSpPr>
        <p:spPr>
          <a:xfrm>
            <a:off x="3538728" y="2788920"/>
            <a:ext cx="914400" cy="237744"/>
          </a:xfrm>
          <a:prstGeom prst="rect">
            <a:avLst/>
          </a:prstGeom>
          <a:noFill/>
          <a:ln/>
        </p:spPr>
        <p:txBody>
          <a:bodyPr wrap="square" lIns="0" tIns="0" rIns="0" bIns="0" rtlCol="0" anchor="ctr"/>
          <a:lstStyle/>
          <a:p>
            <a:pPr algn="ctr" indent="0" marL="0">
              <a:buNone/>
            </a:pPr>
            <a:r>
              <a:rPr lang="en-US" sz="900" dirty="0">
                <a:solidFill>
                  <a:srgbClr val="7A7A82"/>
                </a:solidFill>
                <a:latin typeface="Calibri" pitchFamily="34" charset="0"/>
                <a:ea typeface="Calibri" pitchFamily="34" charset="-122"/>
                <a:cs typeface="Calibri" pitchFamily="34" charset="-120"/>
              </a:rPr>
              <a:t>Renk</a:t>
            </a:r>
            <a:endParaRPr lang="en-US" sz="900" dirty="0"/>
          </a:p>
        </p:txBody>
      </p:sp>
      <p:sp>
        <p:nvSpPr>
          <p:cNvPr id="13" name="Shape 11"/>
          <p:cNvSpPr/>
          <p:nvPr/>
        </p:nvSpPr>
        <p:spPr>
          <a:xfrm>
            <a:off x="4617720" y="3072384"/>
            <a:ext cx="621792" cy="621792"/>
          </a:xfrm>
          <a:prstGeom prst="ellipse">
            <a:avLst/>
          </a:prstGeom>
          <a:ln w="12700">
            <a:solidFill>
              <a:srgbClr val="C9C9CF"/>
            </a:solidFill>
            <a:prstDash val="solid"/>
          </a:ln>
        </p:spPr>
      </p:sp>
      <p:sp>
        <p:nvSpPr>
          <p:cNvPr id="14" name="Text 12"/>
          <p:cNvSpPr txBox="1"/>
          <p:nvPr/>
        </p:nvSpPr>
        <p:spPr>
          <a:xfrm>
            <a:off x="4471416" y="2788920"/>
            <a:ext cx="914400" cy="237744"/>
          </a:xfrm>
          <a:prstGeom prst="rect">
            <a:avLst/>
          </a:prstGeom>
          <a:noFill/>
          <a:ln/>
        </p:spPr>
        <p:txBody>
          <a:bodyPr wrap="square" lIns="0" tIns="0" rIns="0" bIns="0" rtlCol="0" anchor="ctr"/>
          <a:lstStyle/>
          <a:p>
            <a:pPr algn="ctr" indent="0" marL="0">
              <a:buNone/>
            </a:pPr>
            <a:r>
              <a:rPr lang="en-US" sz="900" dirty="0">
                <a:solidFill>
                  <a:srgbClr val="7A7A82"/>
                </a:solidFill>
                <a:latin typeface="Calibri" pitchFamily="34" charset="0"/>
                <a:ea typeface="Calibri" pitchFamily="34" charset="-122"/>
                <a:cs typeface="Calibri" pitchFamily="34" charset="-120"/>
              </a:rPr>
              <a:t>Ambalaj</a:t>
            </a:r>
            <a:endParaRPr lang="en-US" sz="900" dirty="0"/>
          </a:p>
        </p:txBody>
      </p:sp>
      <p:sp>
        <p:nvSpPr>
          <p:cNvPr id="15" name="Shape 13"/>
          <p:cNvSpPr/>
          <p:nvPr/>
        </p:nvSpPr>
        <p:spPr>
          <a:xfrm>
            <a:off x="5550408" y="3072384"/>
            <a:ext cx="621792" cy="621792"/>
          </a:xfrm>
          <a:prstGeom prst="ellipse">
            <a:avLst/>
          </a:prstGeom>
          <a:ln w="12700">
            <a:solidFill>
              <a:srgbClr val="C9C9CF"/>
            </a:solidFill>
            <a:prstDash val="solid"/>
          </a:ln>
        </p:spPr>
      </p:sp>
      <p:sp>
        <p:nvSpPr>
          <p:cNvPr id="16" name="Text 14"/>
          <p:cNvSpPr txBox="1"/>
          <p:nvPr/>
        </p:nvSpPr>
        <p:spPr>
          <a:xfrm>
            <a:off x="5404104" y="2788920"/>
            <a:ext cx="914400" cy="237744"/>
          </a:xfrm>
          <a:prstGeom prst="rect">
            <a:avLst/>
          </a:prstGeom>
          <a:noFill/>
          <a:ln/>
        </p:spPr>
        <p:txBody>
          <a:bodyPr wrap="square" lIns="0" tIns="0" rIns="0" bIns="0" rtlCol="0" anchor="ctr"/>
          <a:lstStyle/>
          <a:p>
            <a:pPr algn="ctr" indent="0" marL="0">
              <a:buNone/>
            </a:pPr>
            <a:r>
              <a:rPr lang="en-US" sz="900" dirty="0">
                <a:solidFill>
                  <a:srgbClr val="7A7A82"/>
                </a:solidFill>
                <a:latin typeface="Calibri" pitchFamily="34" charset="0"/>
                <a:ea typeface="Calibri" pitchFamily="34" charset="-122"/>
                <a:cs typeface="Calibri" pitchFamily="34" charset="-120"/>
              </a:rPr>
              <a:t>İsim</a:t>
            </a:r>
            <a:endParaRPr lang="en-US" sz="900" dirty="0"/>
          </a:p>
        </p:txBody>
      </p:sp>
      <p:sp>
        <p:nvSpPr>
          <p:cNvPr id="17" name="Shape 15"/>
          <p:cNvSpPr/>
          <p:nvPr/>
        </p:nvSpPr>
        <p:spPr>
          <a:xfrm>
            <a:off x="1737360" y="4114800"/>
            <a:ext cx="1783080" cy="502920"/>
          </a:xfrm>
          <a:prstGeom prst="rect">
            <a:avLst/>
          </a:prstGeom>
          <a:solidFill>
            <a:srgbClr val="F6EAE6"/>
          </a:solidFill>
          <a:ln w="15875">
            <a:solidFill>
              <a:srgbClr val="8C3A2B"/>
            </a:solidFill>
            <a:prstDash val="solid"/>
          </a:ln>
        </p:spPr>
      </p:sp>
      <p:sp>
        <p:nvSpPr>
          <p:cNvPr id="18" name="Text 16"/>
          <p:cNvSpPr txBox="1"/>
          <p:nvPr/>
        </p:nvSpPr>
        <p:spPr>
          <a:xfrm>
            <a:off x="1773936" y="4114800"/>
            <a:ext cx="1709928" cy="502920"/>
          </a:xfrm>
          <a:prstGeom prst="rect">
            <a:avLst/>
          </a:prstGeom>
          <a:noFill/>
          <a:ln/>
        </p:spPr>
        <p:txBody>
          <a:bodyPr wrap="square" lIns="0" tIns="0" rIns="0" bIns="0" rtlCol="0" anchor="ctr"/>
          <a:lstStyle/>
          <a:p>
            <a:pPr algn="ctr" indent="0" marL="0">
              <a:lnSpc>
                <a:spcPts val="1100"/>
              </a:lnSpc>
              <a:buNone/>
            </a:pPr>
            <a:r>
              <a:rPr lang="en-US" sz="1200" dirty="0">
                <a:solidFill>
                  <a:srgbClr val="8C3A2B"/>
                </a:solidFill>
                <a:latin typeface="Calibri" pitchFamily="34" charset="0"/>
                <a:ea typeface="Calibri" pitchFamily="34" charset="-122"/>
                <a:cs typeface="Calibri" pitchFamily="34" charset="-120"/>
              </a:rPr>
              <a:t>İnanç</a:t>
            </a:r>
            <a:endParaRPr lang="en-US" sz="1200" dirty="0"/>
          </a:p>
        </p:txBody>
      </p:sp>
      <p:sp>
        <p:nvSpPr>
          <p:cNvPr id="19" name="Text 17"/>
          <p:cNvSpPr txBox="1"/>
          <p:nvPr/>
        </p:nvSpPr>
        <p:spPr>
          <a:xfrm>
            <a:off x="1737360" y="4681728"/>
            <a:ext cx="1783080" cy="457200"/>
          </a:xfrm>
          <a:prstGeom prst="rect">
            <a:avLst/>
          </a:prstGeom>
          <a:noFill/>
          <a:ln/>
        </p:spPr>
        <p:txBody>
          <a:bodyPr wrap="square" lIns="0" tIns="0" rIns="0" bIns="0" rtlCol="0" anchor="ctr"/>
          <a:lstStyle/>
          <a:p>
            <a:pPr algn="ctr" indent="0" marL="0">
              <a:lnSpc>
                <a:spcPts val="1150"/>
              </a:lnSpc>
              <a:buNone/>
            </a:pPr>
            <a:r>
              <a:rPr lang="en-US" sz="950" dirty="0">
                <a:solidFill>
                  <a:srgbClr val="7A7A82"/>
                </a:solidFill>
                <a:latin typeface="Calibri" pitchFamily="34" charset="0"/>
                <a:ea typeface="Calibri" pitchFamily="34" charset="-122"/>
                <a:cs typeface="Calibri" pitchFamily="34" charset="-120"/>
              </a:rPr>
              <a:t>Marka neye değer veriyor?</a:t>
            </a:r>
            <a:endParaRPr lang="en-US" sz="950" dirty="0"/>
          </a:p>
        </p:txBody>
      </p:sp>
      <p:sp>
        <p:nvSpPr>
          <p:cNvPr id="20" name="Shape 18"/>
          <p:cNvSpPr/>
          <p:nvPr/>
        </p:nvSpPr>
        <p:spPr>
          <a:xfrm>
            <a:off x="2624328" y="3767328"/>
            <a:ext cx="0" cy="347472"/>
          </a:xfrm>
          <a:prstGeom prst="line">
            <a:avLst/>
          </a:prstGeom>
          <a:noFill/>
          <a:ln w="12700">
            <a:solidFill>
              <a:srgbClr val="8C3A2B"/>
            </a:solidFill>
            <a:prstDash val="solid"/>
          </a:ln>
        </p:spPr>
      </p:sp>
      <p:sp>
        <p:nvSpPr>
          <p:cNvPr id="21" name="Shape 19"/>
          <p:cNvSpPr/>
          <p:nvPr/>
        </p:nvSpPr>
        <p:spPr>
          <a:xfrm>
            <a:off x="3730752" y="4114800"/>
            <a:ext cx="1783080" cy="502920"/>
          </a:xfrm>
          <a:prstGeom prst="rect">
            <a:avLst/>
          </a:prstGeom>
          <a:solidFill>
            <a:srgbClr val="F6EAE6"/>
          </a:solidFill>
          <a:ln w="15875">
            <a:solidFill>
              <a:srgbClr val="8C3A2B"/>
            </a:solidFill>
            <a:prstDash val="solid"/>
          </a:ln>
        </p:spPr>
      </p:sp>
      <p:sp>
        <p:nvSpPr>
          <p:cNvPr id="22" name="Text 20"/>
          <p:cNvSpPr txBox="1"/>
          <p:nvPr/>
        </p:nvSpPr>
        <p:spPr>
          <a:xfrm>
            <a:off x="3767328" y="4114800"/>
            <a:ext cx="1709928" cy="502920"/>
          </a:xfrm>
          <a:prstGeom prst="rect">
            <a:avLst/>
          </a:prstGeom>
          <a:noFill/>
          <a:ln/>
        </p:spPr>
        <p:txBody>
          <a:bodyPr wrap="square" lIns="0" tIns="0" rIns="0" bIns="0" rtlCol="0" anchor="ctr"/>
          <a:lstStyle/>
          <a:p>
            <a:pPr algn="ctr" indent="0" marL="0">
              <a:lnSpc>
                <a:spcPts val="1100"/>
              </a:lnSpc>
              <a:buNone/>
            </a:pPr>
            <a:r>
              <a:rPr lang="en-US" sz="1200" dirty="0">
                <a:solidFill>
                  <a:srgbClr val="8C3A2B"/>
                </a:solidFill>
                <a:latin typeface="Calibri" pitchFamily="34" charset="0"/>
                <a:ea typeface="Calibri" pitchFamily="34" charset="-122"/>
                <a:cs typeface="Calibri" pitchFamily="34" charset="-120"/>
              </a:rPr>
              <a:t>Vaat</a:t>
            </a:r>
            <a:endParaRPr lang="en-US" sz="1200" dirty="0"/>
          </a:p>
        </p:txBody>
      </p:sp>
      <p:sp>
        <p:nvSpPr>
          <p:cNvPr id="23" name="Text 21"/>
          <p:cNvSpPr txBox="1"/>
          <p:nvPr/>
        </p:nvSpPr>
        <p:spPr>
          <a:xfrm>
            <a:off x="3730752" y="4681728"/>
            <a:ext cx="1783080" cy="457200"/>
          </a:xfrm>
          <a:prstGeom prst="rect">
            <a:avLst/>
          </a:prstGeom>
          <a:noFill/>
          <a:ln/>
        </p:spPr>
        <p:txBody>
          <a:bodyPr wrap="square" lIns="0" tIns="0" rIns="0" bIns="0" rtlCol="0" anchor="ctr"/>
          <a:lstStyle/>
          <a:p>
            <a:pPr algn="ctr" indent="0" marL="0">
              <a:lnSpc>
                <a:spcPts val="1150"/>
              </a:lnSpc>
              <a:buNone/>
            </a:pPr>
            <a:r>
              <a:rPr lang="en-US" sz="950" dirty="0">
                <a:solidFill>
                  <a:srgbClr val="7A7A82"/>
                </a:solidFill>
                <a:latin typeface="Calibri" pitchFamily="34" charset="0"/>
                <a:ea typeface="Calibri" pitchFamily="34" charset="-122"/>
                <a:cs typeface="Calibri" pitchFamily="34" charset="-120"/>
              </a:rPr>
              <a:t>Müşteriye ne söz veriyor?</a:t>
            </a:r>
            <a:endParaRPr lang="en-US" sz="950" dirty="0"/>
          </a:p>
        </p:txBody>
      </p:sp>
      <p:sp>
        <p:nvSpPr>
          <p:cNvPr id="24" name="Shape 22"/>
          <p:cNvSpPr/>
          <p:nvPr/>
        </p:nvSpPr>
        <p:spPr>
          <a:xfrm>
            <a:off x="4617720" y="3767328"/>
            <a:ext cx="0" cy="347472"/>
          </a:xfrm>
          <a:prstGeom prst="line">
            <a:avLst/>
          </a:prstGeom>
          <a:noFill/>
          <a:ln w="12700">
            <a:solidFill>
              <a:srgbClr val="8C3A2B"/>
            </a:solidFill>
            <a:prstDash val="solid"/>
          </a:ln>
        </p:spPr>
      </p:sp>
      <p:sp>
        <p:nvSpPr>
          <p:cNvPr id="25" name="Shape 23"/>
          <p:cNvSpPr/>
          <p:nvPr/>
        </p:nvSpPr>
        <p:spPr>
          <a:xfrm>
            <a:off x="5724144" y="4114800"/>
            <a:ext cx="1783080" cy="502920"/>
          </a:xfrm>
          <a:prstGeom prst="rect">
            <a:avLst/>
          </a:prstGeom>
          <a:solidFill>
            <a:srgbClr val="F6EAE6"/>
          </a:solidFill>
          <a:ln w="15875">
            <a:solidFill>
              <a:srgbClr val="8C3A2B"/>
            </a:solidFill>
            <a:prstDash val="solid"/>
          </a:ln>
        </p:spPr>
      </p:sp>
      <p:sp>
        <p:nvSpPr>
          <p:cNvPr id="26" name="Text 24"/>
          <p:cNvSpPr txBox="1"/>
          <p:nvPr/>
        </p:nvSpPr>
        <p:spPr>
          <a:xfrm>
            <a:off x="5760720" y="4114800"/>
            <a:ext cx="1709928" cy="502920"/>
          </a:xfrm>
          <a:prstGeom prst="rect">
            <a:avLst/>
          </a:prstGeom>
          <a:noFill/>
          <a:ln/>
        </p:spPr>
        <p:txBody>
          <a:bodyPr wrap="square" lIns="0" tIns="0" rIns="0" bIns="0" rtlCol="0" anchor="ctr"/>
          <a:lstStyle/>
          <a:p>
            <a:pPr algn="ctr" indent="0" marL="0">
              <a:lnSpc>
                <a:spcPts val="1100"/>
              </a:lnSpc>
              <a:buNone/>
            </a:pPr>
            <a:r>
              <a:rPr lang="en-US" sz="1200" dirty="0">
                <a:solidFill>
                  <a:srgbClr val="8C3A2B"/>
                </a:solidFill>
                <a:latin typeface="Calibri" pitchFamily="34" charset="0"/>
                <a:ea typeface="Calibri" pitchFamily="34" charset="-122"/>
                <a:cs typeface="Calibri" pitchFamily="34" charset="-120"/>
              </a:rPr>
              <a:t>Ton</a:t>
            </a:r>
            <a:endParaRPr lang="en-US" sz="1200" dirty="0"/>
          </a:p>
        </p:txBody>
      </p:sp>
      <p:sp>
        <p:nvSpPr>
          <p:cNvPr id="27" name="Text 25"/>
          <p:cNvSpPr txBox="1"/>
          <p:nvPr/>
        </p:nvSpPr>
        <p:spPr>
          <a:xfrm>
            <a:off x="5724144" y="4681728"/>
            <a:ext cx="1783080" cy="457200"/>
          </a:xfrm>
          <a:prstGeom prst="rect">
            <a:avLst/>
          </a:prstGeom>
          <a:noFill/>
          <a:ln/>
        </p:spPr>
        <p:txBody>
          <a:bodyPr wrap="square" lIns="0" tIns="0" rIns="0" bIns="0" rtlCol="0" anchor="ctr"/>
          <a:lstStyle/>
          <a:p>
            <a:pPr algn="ctr" indent="0" marL="0">
              <a:lnSpc>
                <a:spcPts val="1150"/>
              </a:lnSpc>
              <a:buNone/>
            </a:pPr>
            <a:r>
              <a:rPr lang="en-US" sz="950" dirty="0">
                <a:solidFill>
                  <a:srgbClr val="7A7A82"/>
                </a:solidFill>
                <a:latin typeface="Calibri" pitchFamily="34" charset="0"/>
                <a:ea typeface="Calibri" pitchFamily="34" charset="-122"/>
                <a:cs typeface="Calibri" pitchFamily="34" charset="-120"/>
              </a:rPr>
              <a:t>Nasıl konuşuyor?</a:t>
            </a:r>
            <a:endParaRPr lang="en-US" sz="950" dirty="0"/>
          </a:p>
        </p:txBody>
      </p:sp>
      <p:sp>
        <p:nvSpPr>
          <p:cNvPr id="28" name="Shape 26"/>
          <p:cNvSpPr/>
          <p:nvPr/>
        </p:nvSpPr>
        <p:spPr>
          <a:xfrm>
            <a:off x="6611112" y="3767328"/>
            <a:ext cx="0" cy="347472"/>
          </a:xfrm>
          <a:prstGeom prst="line">
            <a:avLst/>
          </a:prstGeom>
          <a:noFill/>
          <a:ln w="12700">
            <a:solidFill>
              <a:srgbClr val="8C3A2B"/>
            </a:solidFill>
            <a:prstDash val="solid"/>
          </a:ln>
        </p:spPr>
      </p:sp>
      <p:sp>
        <p:nvSpPr>
          <p:cNvPr id="29" name="Shape 27"/>
          <p:cNvSpPr/>
          <p:nvPr/>
        </p:nvSpPr>
        <p:spPr>
          <a:xfrm>
            <a:off x="7717536" y="4114800"/>
            <a:ext cx="1783080" cy="502920"/>
          </a:xfrm>
          <a:prstGeom prst="rect">
            <a:avLst/>
          </a:prstGeom>
          <a:solidFill>
            <a:srgbClr val="F6EAE6"/>
          </a:solidFill>
          <a:ln w="15875">
            <a:solidFill>
              <a:srgbClr val="8C3A2B"/>
            </a:solidFill>
            <a:prstDash val="solid"/>
          </a:ln>
        </p:spPr>
      </p:sp>
      <p:sp>
        <p:nvSpPr>
          <p:cNvPr id="30" name="Text 28"/>
          <p:cNvSpPr txBox="1"/>
          <p:nvPr/>
        </p:nvSpPr>
        <p:spPr>
          <a:xfrm>
            <a:off x="7754112" y="4114800"/>
            <a:ext cx="1709928" cy="502920"/>
          </a:xfrm>
          <a:prstGeom prst="rect">
            <a:avLst/>
          </a:prstGeom>
          <a:noFill/>
          <a:ln/>
        </p:spPr>
        <p:txBody>
          <a:bodyPr wrap="square" lIns="0" tIns="0" rIns="0" bIns="0" rtlCol="0" anchor="ctr"/>
          <a:lstStyle/>
          <a:p>
            <a:pPr algn="ctr" indent="0" marL="0">
              <a:lnSpc>
                <a:spcPts val="1100"/>
              </a:lnSpc>
              <a:buNone/>
            </a:pPr>
            <a:r>
              <a:rPr lang="en-US" sz="1200" dirty="0">
                <a:solidFill>
                  <a:srgbClr val="8C3A2B"/>
                </a:solidFill>
                <a:latin typeface="Calibri" pitchFamily="34" charset="0"/>
                <a:ea typeface="Calibri" pitchFamily="34" charset="-122"/>
                <a:cs typeface="Calibri" pitchFamily="34" charset="-120"/>
              </a:rPr>
              <a:t>Topluluk</a:t>
            </a:r>
            <a:endParaRPr lang="en-US" sz="1200" dirty="0"/>
          </a:p>
        </p:txBody>
      </p:sp>
      <p:sp>
        <p:nvSpPr>
          <p:cNvPr id="31" name="Text 29"/>
          <p:cNvSpPr txBox="1"/>
          <p:nvPr/>
        </p:nvSpPr>
        <p:spPr>
          <a:xfrm>
            <a:off x="7717536" y="4681728"/>
            <a:ext cx="1783080" cy="457200"/>
          </a:xfrm>
          <a:prstGeom prst="rect">
            <a:avLst/>
          </a:prstGeom>
          <a:noFill/>
          <a:ln/>
        </p:spPr>
        <p:txBody>
          <a:bodyPr wrap="square" lIns="0" tIns="0" rIns="0" bIns="0" rtlCol="0" anchor="ctr"/>
          <a:lstStyle/>
          <a:p>
            <a:pPr algn="ctr" indent="0" marL="0">
              <a:lnSpc>
                <a:spcPts val="1150"/>
              </a:lnSpc>
              <a:buNone/>
            </a:pPr>
            <a:r>
              <a:rPr lang="en-US" sz="950" dirty="0">
                <a:solidFill>
                  <a:srgbClr val="7A7A82"/>
                </a:solidFill>
                <a:latin typeface="Calibri" pitchFamily="34" charset="0"/>
                <a:ea typeface="Calibri" pitchFamily="34" charset="-122"/>
                <a:cs typeface="Calibri" pitchFamily="34" charset="-120"/>
              </a:rPr>
              <a:t>Kime sesleniyor?</a:t>
            </a:r>
            <a:endParaRPr lang="en-US" sz="950" dirty="0"/>
          </a:p>
        </p:txBody>
      </p:sp>
      <p:sp>
        <p:nvSpPr>
          <p:cNvPr id="32" name="Shape 30"/>
          <p:cNvSpPr/>
          <p:nvPr/>
        </p:nvSpPr>
        <p:spPr>
          <a:xfrm>
            <a:off x="8604504" y="3767328"/>
            <a:ext cx="0" cy="347472"/>
          </a:xfrm>
          <a:prstGeom prst="line">
            <a:avLst/>
          </a:prstGeom>
          <a:noFill/>
          <a:ln w="12700">
            <a:solidFill>
              <a:srgbClr val="8C3A2B"/>
            </a:solidFill>
            <a:prstDash val="solid"/>
          </a:ln>
        </p:spPr>
      </p:sp>
      <p:sp>
        <p:nvSpPr>
          <p:cNvPr id="33" name="Shape 31"/>
          <p:cNvSpPr/>
          <p:nvPr/>
        </p:nvSpPr>
        <p:spPr>
          <a:xfrm>
            <a:off x="9710928" y="4114800"/>
            <a:ext cx="1783080" cy="502920"/>
          </a:xfrm>
          <a:prstGeom prst="rect">
            <a:avLst/>
          </a:prstGeom>
          <a:solidFill>
            <a:srgbClr val="F6EAE6"/>
          </a:solidFill>
          <a:ln w="15875">
            <a:solidFill>
              <a:srgbClr val="8C3A2B"/>
            </a:solidFill>
            <a:prstDash val="solid"/>
          </a:ln>
        </p:spPr>
      </p:sp>
      <p:sp>
        <p:nvSpPr>
          <p:cNvPr id="34" name="Text 32"/>
          <p:cNvSpPr txBox="1"/>
          <p:nvPr/>
        </p:nvSpPr>
        <p:spPr>
          <a:xfrm>
            <a:off x="9747504" y="4114800"/>
            <a:ext cx="1709928" cy="502920"/>
          </a:xfrm>
          <a:prstGeom prst="rect">
            <a:avLst/>
          </a:prstGeom>
          <a:noFill/>
          <a:ln/>
        </p:spPr>
        <p:txBody>
          <a:bodyPr wrap="square" lIns="0" tIns="0" rIns="0" bIns="0" rtlCol="0" anchor="ctr"/>
          <a:lstStyle/>
          <a:p>
            <a:pPr algn="ctr" indent="0" marL="0">
              <a:lnSpc>
                <a:spcPts val="1100"/>
              </a:lnSpc>
              <a:buNone/>
            </a:pPr>
            <a:r>
              <a:rPr lang="en-US" sz="1200" dirty="0">
                <a:solidFill>
                  <a:srgbClr val="8C3A2B"/>
                </a:solidFill>
                <a:latin typeface="Calibri" pitchFamily="34" charset="0"/>
                <a:ea typeface="Calibri" pitchFamily="34" charset="-122"/>
                <a:cs typeface="Calibri" pitchFamily="34" charset="-120"/>
              </a:rPr>
              <a:t>Ritüel</a:t>
            </a:r>
            <a:endParaRPr lang="en-US" sz="1200" dirty="0"/>
          </a:p>
        </p:txBody>
      </p:sp>
      <p:sp>
        <p:nvSpPr>
          <p:cNvPr id="35" name="Text 33"/>
          <p:cNvSpPr txBox="1"/>
          <p:nvPr/>
        </p:nvSpPr>
        <p:spPr>
          <a:xfrm>
            <a:off x="9710928" y="4681728"/>
            <a:ext cx="1783080" cy="457200"/>
          </a:xfrm>
          <a:prstGeom prst="rect">
            <a:avLst/>
          </a:prstGeom>
          <a:noFill/>
          <a:ln/>
        </p:spPr>
        <p:txBody>
          <a:bodyPr wrap="square" lIns="0" tIns="0" rIns="0" bIns="0" rtlCol="0" anchor="ctr"/>
          <a:lstStyle/>
          <a:p>
            <a:pPr algn="ctr" indent="0" marL="0">
              <a:lnSpc>
                <a:spcPts val="1150"/>
              </a:lnSpc>
              <a:buNone/>
            </a:pPr>
            <a:r>
              <a:rPr lang="en-US" sz="950" dirty="0">
                <a:solidFill>
                  <a:srgbClr val="7A7A82"/>
                </a:solidFill>
                <a:latin typeface="Calibri" pitchFamily="34" charset="0"/>
                <a:ea typeface="Calibri" pitchFamily="34" charset="-122"/>
                <a:cs typeface="Calibri" pitchFamily="34" charset="-120"/>
              </a:rPr>
              <a:t>Hangi alışkanlığı kuruyor?</a:t>
            </a:r>
            <a:endParaRPr lang="en-US" sz="950" dirty="0"/>
          </a:p>
        </p:txBody>
      </p:sp>
      <p:sp>
        <p:nvSpPr>
          <p:cNvPr id="36" name="Shape 34"/>
          <p:cNvSpPr/>
          <p:nvPr/>
        </p:nvSpPr>
        <p:spPr>
          <a:xfrm>
            <a:off x="10597896" y="3767328"/>
            <a:ext cx="0" cy="347472"/>
          </a:xfrm>
          <a:prstGeom prst="line">
            <a:avLst/>
          </a:prstGeom>
          <a:noFill/>
          <a:ln w="12700">
            <a:solidFill>
              <a:srgbClr val="8C3A2B"/>
            </a:solidFill>
            <a:prstDash val="solid"/>
          </a:ln>
        </p:spPr>
      </p:sp>
      <p:sp>
        <p:nvSpPr>
          <p:cNvPr id="37" name="Text 35"/>
          <p:cNvSpPr txBox="1"/>
          <p:nvPr/>
        </p:nvSpPr>
        <p:spPr>
          <a:xfrm>
            <a:off x="777240" y="5623560"/>
            <a:ext cx="10424160" cy="365760"/>
          </a:xfrm>
          <a:prstGeom prst="rect">
            <a:avLst/>
          </a:prstGeom>
          <a:noFill/>
          <a:ln/>
        </p:spPr>
        <p:txBody>
          <a:bodyPr wrap="square" lIns="0" tIns="0" rIns="0" bIns="0" rtlCol="0" anchor="ctr"/>
          <a:lstStyle/>
          <a:p>
            <a:pPr algn="l" indent="0" marL="0">
              <a:lnSpc>
                <a:spcPts val="1200"/>
              </a:lnSpc>
              <a:buNone/>
            </a:pPr>
            <a:r>
              <a:rPr lang="en-US" sz="1300" i="1" dirty="0">
                <a:solidFill>
                  <a:srgbClr val="8C3A2B"/>
                </a:solidFill>
                <a:latin typeface="Cambria" pitchFamily="34" charset="0"/>
                <a:ea typeface="Cambria" pitchFamily="34" charset="-122"/>
                <a:cs typeface="Cambria" pitchFamily="34" charset="-120"/>
              </a:rPr>
              <a:t>Öğrencinin ilk işi bu alt katmanı yazıya dökmektir. Yazılamayan bir marka mekâna da çevrilemez.</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 · MARKA</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Markadan mekâna: dört adım</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5</a:t>
            </a:r>
            <a:endParaRPr lang="en-US" sz="950" dirty="0"/>
          </a:p>
        </p:txBody>
      </p:sp>
      <p:sp>
        <p:nvSpPr>
          <p:cNvPr id="5" name="Text 3"/>
          <p:cNvSpPr txBox="1"/>
          <p:nvPr/>
        </p:nvSpPr>
        <p:spPr>
          <a:xfrm>
            <a:off x="777240" y="1600200"/>
            <a:ext cx="10634472" cy="914400"/>
          </a:xfrm>
          <a:prstGeom prst="rect">
            <a:avLst/>
          </a:prstGeom>
          <a:noFill/>
          <a:ln/>
        </p:spPr>
        <p:txBody>
          <a:bodyPr wrap="square" lIns="0" tIns="0" rIns="0" bIns="0" rtlCol="0" anchor="ctr"/>
          <a:lstStyle/>
          <a:p>
            <a:pPr indent="0" marL="0">
              <a:lnSpc>
                <a:spcPts val="2300"/>
              </a:lnSpc>
              <a:buNone/>
            </a:pPr>
            <a:r>
              <a:rPr lang="en-US" sz="1500" dirty="0">
                <a:solidFill>
                  <a:srgbClr val="2B2B31"/>
                </a:solidFill>
                <a:latin typeface="Cambria" pitchFamily="34" charset="0"/>
                <a:ea typeface="Cambria" pitchFamily="34" charset="-122"/>
                <a:cs typeface="Cambria" pitchFamily="34" charset="-120"/>
              </a:rPr>
              <a:t>Marka ile mekân arasında tek bir sıçrama yoktur; arada iki ara durak bulunur. Öğrencilerin en sık yaptığı hata bu duraklara uğramadan doğrudan görsele atlamaktır — o durumda tasarım markanın değil, tasarımcının beğenisinin ürünü olur.</a:t>
            </a:r>
            <a:endParaRPr lang="en-US" sz="1500" dirty="0"/>
          </a:p>
        </p:txBody>
      </p:sp>
      <p:sp>
        <p:nvSpPr>
          <p:cNvPr id="6" name="Shape 4"/>
          <p:cNvSpPr/>
          <p:nvPr/>
        </p:nvSpPr>
        <p:spPr>
          <a:xfrm>
            <a:off x="868680" y="2743200"/>
            <a:ext cx="2240280" cy="1234440"/>
          </a:xfrm>
          <a:prstGeom prst="rect">
            <a:avLst/>
          </a:prstGeom>
          <a:ln w="9525">
            <a:solidFill>
              <a:srgbClr val="C9C9CF"/>
            </a:solidFill>
            <a:prstDash val="solid"/>
          </a:ln>
        </p:spPr>
      </p:sp>
      <p:sp>
        <p:nvSpPr>
          <p:cNvPr id="7" name="Text 5"/>
          <p:cNvSpPr txBox="1"/>
          <p:nvPr/>
        </p:nvSpPr>
        <p:spPr>
          <a:xfrm>
            <a:off x="1033272" y="2889504"/>
            <a:ext cx="1911096" cy="566928"/>
          </a:xfrm>
          <a:prstGeom prst="rect">
            <a:avLst/>
          </a:prstGeom>
          <a:noFill/>
          <a:ln/>
        </p:spPr>
        <p:txBody>
          <a:bodyPr wrap="square" lIns="0" tIns="0" rIns="0" bIns="0" rtlCol="0" anchor="ctr"/>
          <a:lstStyle/>
          <a:p>
            <a:pPr indent="0" marL="0">
              <a:lnSpc>
                <a:spcPts val="1900"/>
              </a:lnSpc>
              <a:buNone/>
            </a:pPr>
            <a:r>
              <a:rPr lang="en-US" sz="1600" b="1" dirty="0">
                <a:solidFill>
                  <a:srgbClr val="16161A"/>
                </a:solidFill>
                <a:latin typeface="Cambria" pitchFamily="34" charset="0"/>
                <a:ea typeface="Cambria" pitchFamily="34" charset="-122"/>
                <a:cs typeface="Cambria" pitchFamily="34" charset="-120"/>
              </a:rPr>
              <a:t>Marka</a:t>
            </a:r>
            <a:endParaRPr lang="en-US" sz="1600" dirty="0"/>
          </a:p>
        </p:txBody>
      </p:sp>
      <p:sp>
        <p:nvSpPr>
          <p:cNvPr id="8" name="Text 6"/>
          <p:cNvSpPr txBox="1"/>
          <p:nvPr/>
        </p:nvSpPr>
        <p:spPr>
          <a:xfrm>
            <a:off x="1033272" y="3456432"/>
            <a:ext cx="1911096" cy="438912"/>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Ne olduğunu</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yazıyla tarif et</a:t>
            </a:r>
            <a:endParaRPr lang="en-US" sz="1000" dirty="0"/>
          </a:p>
        </p:txBody>
      </p:sp>
      <p:sp>
        <p:nvSpPr>
          <p:cNvPr id="9" name="Text 7"/>
          <p:cNvSpPr txBox="1"/>
          <p:nvPr/>
        </p:nvSpPr>
        <p:spPr>
          <a:xfrm>
            <a:off x="868680" y="4105656"/>
            <a:ext cx="2240280" cy="274320"/>
          </a:xfrm>
          <a:prstGeom prst="rect">
            <a:avLst/>
          </a:prstGeom>
          <a:noFill/>
          <a:ln/>
        </p:spPr>
        <p:txBody>
          <a:bodyPr wrap="square" lIns="0" tIns="0" rIns="0" bIns="0" rtlCol="0" anchor="ctr"/>
          <a:lstStyle/>
          <a:p>
            <a:pPr algn="l" indent="0" marL="0">
              <a:lnSpc>
                <a:spcPts val="1200"/>
              </a:lnSpc>
              <a:buNone/>
            </a:pPr>
            <a:r>
              <a:rPr lang="en-US" sz="900" i="1" dirty="0">
                <a:solidFill>
                  <a:srgbClr val="A6A6AC"/>
                </a:solidFill>
                <a:latin typeface="Calibri" pitchFamily="34" charset="0"/>
                <a:ea typeface="Calibri" pitchFamily="34" charset="-122"/>
                <a:cs typeface="Calibri" pitchFamily="34" charset="-120"/>
              </a:rPr>
              <a:t>marka anahtarı</a:t>
            </a:r>
            <a:endParaRPr lang="en-US" sz="900" dirty="0"/>
          </a:p>
        </p:txBody>
      </p:sp>
      <p:sp>
        <p:nvSpPr>
          <p:cNvPr id="10" name="Shape 8"/>
          <p:cNvSpPr/>
          <p:nvPr/>
        </p:nvSpPr>
        <p:spPr>
          <a:xfrm>
            <a:off x="3191256" y="3360420"/>
            <a:ext cx="402336" cy="0"/>
          </a:xfrm>
          <a:prstGeom prst="line">
            <a:avLst/>
          </a:prstGeom>
          <a:noFill/>
          <a:ln w="19050">
            <a:solidFill>
              <a:srgbClr val="8C3A2B"/>
            </a:solidFill>
            <a:prstDash val="solid"/>
            <a:tailEnd type="triangle"/>
          </a:ln>
        </p:spPr>
      </p:sp>
      <p:sp>
        <p:nvSpPr>
          <p:cNvPr id="11" name="Shape 9"/>
          <p:cNvSpPr/>
          <p:nvPr/>
        </p:nvSpPr>
        <p:spPr>
          <a:xfrm>
            <a:off x="3675888" y="2743200"/>
            <a:ext cx="2240280" cy="1234440"/>
          </a:xfrm>
          <a:prstGeom prst="rect">
            <a:avLst/>
          </a:prstGeom>
          <a:ln w="9525">
            <a:solidFill>
              <a:srgbClr val="C9C9CF"/>
            </a:solidFill>
            <a:prstDash val="solid"/>
          </a:ln>
        </p:spPr>
      </p:sp>
      <p:sp>
        <p:nvSpPr>
          <p:cNvPr id="12" name="Text 10"/>
          <p:cNvSpPr txBox="1"/>
          <p:nvPr/>
        </p:nvSpPr>
        <p:spPr>
          <a:xfrm>
            <a:off x="3840480" y="2889504"/>
            <a:ext cx="1911096" cy="566928"/>
          </a:xfrm>
          <a:prstGeom prst="rect">
            <a:avLst/>
          </a:prstGeom>
          <a:noFill/>
          <a:ln/>
        </p:spPr>
        <p:txBody>
          <a:bodyPr wrap="square" lIns="0" tIns="0" rIns="0" bIns="0" rtlCol="0" anchor="ctr"/>
          <a:lstStyle/>
          <a:p>
            <a:pPr indent="0" marL="0">
              <a:lnSpc>
                <a:spcPts val="1900"/>
              </a:lnSpc>
              <a:buNone/>
            </a:pPr>
            <a:r>
              <a:rPr lang="en-US" sz="1600" b="1" dirty="0">
                <a:solidFill>
                  <a:srgbClr val="16161A"/>
                </a:solidFill>
                <a:latin typeface="Cambria" pitchFamily="34" charset="0"/>
                <a:ea typeface="Cambria" pitchFamily="34" charset="-122"/>
                <a:cs typeface="Cambria" pitchFamily="34" charset="-120"/>
              </a:rPr>
              <a:t>Anahtar</a:t>
            </a:r>
            <a:endParaRPr lang="en-US" sz="1600" dirty="0"/>
          </a:p>
          <a:p>
            <a:pPr indent="0" marL="0">
              <a:lnSpc>
                <a:spcPts val="1900"/>
              </a:lnSpc>
              <a:buNone/>
            </a:pPr>
            <a:r>
              <a:rPr lang="en-US" sz="1600" b="1" dirty="0">
                <a:solidFill>
                  <a:srgbClr val="16161A"/>
                </a:solidFill>
                <a:latin typeface="Cambria" pitchFamily="34" charset="0"/>
                <a:ea typeface="Cambria" pitchFamily="34" charset="-122"/>
                <a:cs typeface="Cambria" pitchFamily="34" charset="-120"/>
              </a:rPr>
              <a:t>kelime</a:t>
            </a:r>
            <a:endParaRPr lang="en-US" sz="1600" dirty="0"/>
          </a:p>
        </p:txBody>
      </p:sp>
      <p:sp>
        <p:nvSpPr>
          <p:cNvPr id="13" name="Text 11"/>
          <p:cNvSpPr txBox="1"/>
          <p:nvPr/>
        </p:nvSpPr>
        <p:spPr>
          <a:xfrm>
            <a:off x="3840480" y="3456432"/>
            <a:ext cx="1911096" cy="438912"/>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Üç sıfata</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indirge</a:t>
            </a:r>
            <a:endParaRPr lang="en-US" sz="1000" dirty="0"/>
          </a:p>
        </p:txBody>
      </p:sp>
      <p:sp>
        <p:nvSpPr>
          <p:cNvPr id="14" name="Text 12"/>
          <p:cNvSpPr txBox="1"/>
          <p:nvPr/>
        </p:nvSpPr>
        <p:spPr>
          <a:xfrm>
            <a:off x="3675888" y="4105656"/>
            <a:ext cx="2240280" cy="274320"/>
          </a:xfrm>
          <a:prstGeom prst="rect">
            <a:avLst/>
          </a:prstGeom>
          <a:noFill/>
          <a:ln/>
        </p:spPr>
        <p:txBody>
          <a:bodyPr wrap="square" lIns="0" tIns="0" rIns="0" bIns="0" rtlCol="0" anchor="ctr"/>
          <a:lstStyle/>
          <a:p>
            <a:pPr algn="l" indent="0" marL="0">
              <a:lnSpc>
                <a:spcPts val="1200"/>
              </a:lnSpc>
              <a:buNone/>
            </a:pPr>
            <a:r>
              <a:rPr lang="en-US" sz="900" i="1" dirty="0">
                <a:solidFill>
                  <a:srgbClr val="A6A6AC"/>
                </a:solidFill>
                <a:latin typeface="Calibri" pitchFamily="34" charset="0"/>
                <a:ea typeface="Calibri" pitchFamily="34" charset="-122"/>
                <a:cs typeface="Calibri" pitchFamily="34" charset="-120"/>
              </a:rPr>
              <a:t>ayırt edici olanı seç</a:t>
            </a:r>
            <a:endParaRPr lang="en-US" sz="900" dirty="0"/>
          </a:p>
        </p:txBody>
      </p:sp>
      <p:sp>
        <p:nvSpPr>
          <p:cNvPr id="15" name="Shape 13"/>
          <p:cNvSpPr/>
          <p:nvPr/>
        </p:nvSpPr>
        <p:spPr>
          <a:xfrm>
            <a:off x="5998464" y="3360420"/>
            <a:ext cx="402336" cy="0"/>
          </a:xfrm>
          <a:prstGeom prst="line">
            <a:avLst/>
          </a:prstGeom>
          <a:noFill/>
          <a:ln w="19050">
            <a:solidFill>
              <a:srgbClr val="8C3A2B"/>
            </a:solidFill>
            <a:prstDash val="solid"/>
            <a:tailEnd type="triangle"/>
          </a:ln>
        </p:spPr>
      </p:sp>
      <p:sp>
        <p:nvSpPr>
          <p:cNvPr id="16" name="Shape 14"/>
          <p:cNvSpPr/>
          <p:nvPr/>
        </p:nvSpPr>
        <p:spPr>
          <a:xfrm>
            <a:off x="6483096" y="2743200"/>
            <a:ext cx="2240280" cy="1234440"/>
          </a:xfrm>
          <a:prstGeom prst="rect">
            <a:avLst/>
          </a:prstGeom>
          <a:ln w="9525">
            <a:solidFill>
              <a:srgbClr val="C9C9CF"/>
            </a:solidFill>
            <a:prstDash val="solid"/>
          </a:ln>
        </p:spPr>
      </p:sp>
      <p:sp>
        <p:nvSpPr>
          <p:cNvPr id="17" name="Text 15"/>
          <p:cNvSpPr txBox="1"/>
          <p:nvPr/>
        </p:nvSpPr>
        <p:spPr>
          <a:xfrm>
            <a:off x="6647688" y="2889504"/>
            <a:ext cx="1911096" cy="566928"/>
          </a:xfrm>
          <a:prstGeom prst="rect">
            <a:avLst/>
          </a:prstGeom>
          <a:noFill/>
          <a:ln/>
        </p:spPr>
        <p:txBody>
          <a:bodyPr wrap="square" lIns="0" tIns="0" rIns="0" bIns="0" rtlCol="0" anchor="ctr"/>
          <a:lstStyle/>
          <a:p>
            <a:pPr indent="0" marL="0">
              <a:lnSpc>
                <a:spcPts val="1900"/>
              </a:lnSpc>
              <a:buNone/>
            </a:pPr>
            <a:r>
              <a:rPr lang="en-US" sz="1600" b="1" dirty="0">
                <a:solidFill>
                  <a:srgbClr val="16161A"/>
                </a:solidFill>
                <a:latin typeface="Cambria" pitchFamily="34" charset="0"/>
                <a:ea typeface="Cambria" pitchFamily="34" charset="-122"/>
                <a:cs typeface="Cambria" pitchFamily="34" charset="-120"/>
              </a:rPr>
              <a:t>Tasarım</a:t>
            </a:r>
            <a:endParaRPr lang="en-US" sz="1600" dirty="0"/>
          </a:p>
          <a:p>
            <a:pPr indent="0" marL="0">
              <a:lnSpc>
                <a:spcPts val="1900"/>
              </a:lnSpc>
              <a:buNone/>
            </a:pPr>
            <a:r>
              <a:rPr lang="en-US" sz="1600" b="1" dirty="0">
                <a:solidFill>
                  <a:srgbClr val="16161A"/>
                </a:solidFill>
                <a:latin typeface="Cambria" pitchFamily="34" charset="0"/>
                <a:ea typeface="Cambria" pitchFamily="34" charset="-122"/>
                <a:cs typeface="Cambria" pitchFamily="34" charset="-120"/>
              </a:rPr>
              <a:t>ilkesi</a:t>
            </a:r>
            <a:endParaRPr lang="en-US" sz="1600" dirty="0"/>
          </a:p>
        </p:txBody>
      </p:sp>
      <p:sp>
        <p:nvSpPr>
          <p:cNvPr id="18" name="Text 16"/>
          <p:cNvSpPr txBox="1"/>
          <p:nvPr/>
        </p:nvSpPr>
        <p:spPr>
          <a:xfrm>
            <a:off x="6647688" y="3456432"/>
            <a:ext cx="1911096" cy="438912"/>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Her kelimeyi bir</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mekânsal kurala çevir</a:t>
            </a:r>
            <a:endParaRPr lang="en-US" sz="1000" dirty="0"/>
          </a:p>
        </p:txBody>
      </p:sp>
      <p:sp>
        <p:nvSpPr>
          <p:cNvPr id="19" name="Text 17"/>
          <p:cNvSpPr txBox="1"/>
          <p:nvPr/>
        </p:nvSpPr>
        <p:spPr>
          <a:xfrm>
            <a:off x="6483096" y="4105656"/>
            <a:ext cx="2240280" cy="274320"/>
          </a:xfrm>
          <a:prstGeom prst="rect">
            <a:avLst/>
          </a:prstGeom>
          <a:noFill/>
          <a:ln/>
        </p:spPr>
        <p:txBody>
          <a:bodyPr wrap="square" lIns="0" tIns="0" rIns="0" bIns="0" rtlCol="0" anchor="ctr"/>
          <a:lstStyle/>
          <a:p>
            <a:pPr algn="l" indent="0" marL="0">
              <a:lnSpc>
                <a:spcPts val="1200"/>
              </a:lnSpc>
              <a:buNone/>
            </a:pPr>
            <a:r>
              <a:rPr lang="en-US" sz="900" i="1" dirty="0">
                <a:solidFill>
                  <a:srgbClr val="A6A6AC"/>
                </a:solidFill>
                <a:latin typeface="Calibri" pitchFamily="34" charset="0"/>
                <a:ea typeface="Calibri" pitchFamily="34" charset="-122"/>
                <a:cs typeface="Calibri" pitchFamily="34" charset="-120"/>
              </a:rPr>
              <a:t>ölçü, ilişki, hiyerarşi</a:t>
            </a:r>
            <a:endParaRPr lang="en-US" sz="900" dirty="0"/>
          </a:p>
        </p:txBody>
      </p:sp>
      <p:sp>
        <p:nvSpPr>
          <p:cNvPr id="20" name="Shape 18"/>
          <p:cNvSpPr/>
          <p:nvPr/>
        </p:nvSpPr>
        <p:spPr>
          <a:xfrm>
            <a:off x="8805672" y="3360420"/>
            <a:ext cx="402336" cy="0"/>
          </a:xfrm>
          <a:prstGeom prst="line">
            <a:avLst/>
          </a:prstGeom>
          <a:noFill/>
          <a:ln w="19050">
            <a:solidFill>
              <a:srgbClr val="8C3A2B"/>
            </a:solidFill>
            <a:prstDash val="solid"/>
            <a:tailEnd type="triangle"/>
          </a:ln>
        </p:spPr>
      </p:sp>
      <p:sp>
        <p:nvSpPr>
          <p:cNvPr id="21" name="Shape 19"/>
          <p:cNvSpPr/>
          <p:nvPr/>
        </p:nvSpPr>
        <p:spPr>
          <a:xfrm>
            <a:off x="9290304" y="2743200"/>
            <a:ext cx="2240280" cy="1234440"/>
          </a:xfrm>
          <a:prstGeom prst="rect">
            <a:avLst/>
          </a:prstGeom>
          <a:solidFill>
            <a:srgbClr val="F6EAE6"/>
          </a:solidFill>
          <a:ln w="15875">
            <a:solidFill>
              <a:srgbClr val="8C3A2B"/>
            </a:solidFill>
            <a:prstDash val="solid"/>
          </a:ln>
        </p:spPr>
      </p:sp>
      <p:sp>
        <p:nvSpPr>
          <p:cNvPr id="22" name="Text 20"/>
          <p:cNvSpPr txBox="1"/>
          <p:nvPr/>
        </p:nvSpPr>
        <p:spPr>
          <a:xfrm>
            <a:off x="9454896" y="2889504"/>
            <a:ext cx="1911096" cy="566928"/>
          </a:xfrm>
          <a:prstGeom prst="rect">
            <a:avLst/>
          </a:prstGeom>
          <a:noFill/>
          <a:ln/>
        </p:spPr>
        <p:txBody>
          <a:bodyPr wrap="square" lIns="0" tIns="0" rIns="0" bIns="0" rtlCol="0" anchor="ctr"/>
          <a:lstStyle/>
          <a:p>
            <a:pPr indent="0" marL="0">
              <a:lnSpc>
                <a:spcPts val="1900"/>
              </a:lnSpc>
              <a:buNone/>
            </a:pPr>
            <a:r>
              <a:rPr lang="en-US" sz="1600" b="1" dirty="0">
                <a:solidFill>
                  <a:srgbClr val="8C3A2B"/>
                </a:solidFill>
                <a:latin typeface="Cambria" pitchFamily="34" charset="0"/>
                <a:ea typeface="Cambria" pitchFamily="34" charset="-122"/>
                <a:cs typeface="Cambria" pitchFamily="34" charset="-120"/>
              </a:rPr>
              <a:t>Mekânsal</a:t>
            </a:r>
            <a:endParaRPr lang="en-US" sz="1600" dirty="0"/>
          </a:p>
          <a:p>
            <a:pPr indent="0" marL="0">
              <a:lnSpc>
                <a:spcPts val="1900"/>
              </a:lnSpc>
              <a:buNone/>
            </a:pPr>
            <a:r>
              <a:rPr lang="en-US" sz="1600" b="1" dirty="0">
                <a:solidFill>
                  <a:srgbClr val="8C3A2B"/>
                </a:solidFill>
                <a:latin typeface="Cambria" pitchFamily="34" charset="0"/>
                <a:ea typeface="Cambria" pitchFamily="34" charset="-122"/>
                <a:cs typeface="Cambria" pitchFamily="34" charset="-120"/>
              </a:rPr>
              <a:t>öğe</a:t>
            </a:r>
            <a:endParaRPr lang="en-US" sz="1600" dirty="0"/>
          </a:p>
        </p:txBody>
      </p:sp>
      <p:sp>
        <p:nvSpPr>
          <p:cNvPr id="23" name="Text 21"/>
          <p:cNvSpPr txBox="1"/>
          <p:nvPr/>
        </p:nvSpPr>
        <p:spPr>
          <a:xfrm>
            <a:off x="9454896" y="3456432"/>
            <a:ext cx="1911096" cy="438912"/>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İlkeyi bir malzeme,</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ışık, eleman yap</a:t>
            </a:r>
            <a:endParaRPr lang="en-US" sz="1000" dirty="0"/>
          </a:p>
        </p:txBody>
      </p:sp>
      <p:sp>
        <p:nvSpPr>
          <p:cNvPr id="24" name="Text 22"/>
          <p:cNvSpPr txBox="1"/>
          <p:nvPr/>
        </p:nvSpPr>
        <p:spPr>
          <a:xfrm>
            <a:off x="9290304" y="4105656"/>
            <a:ext cx="2240280" cy="274320"/>
          </a:xfrm>
          <a:prstGeom prst="rect">
            <a:avLst/>
          </a:prstGeom>
          <a:noFill/>
          <a:ln/>
        </p:spPr>
        <p:txBody>
          <a:bodyPr wrap="square" lIns="0" tIns="0" rIns="0" bIns="0" rtlCol="0" anchor="ctr"/>
          <a:lstStyle/>
          <a:p>
            <a:pPr algn="l" indent="0" marL="0">
              <a:lnSpc>
                <a:spcPts val="1200"/>
              </a:lnSpc>
              <a:buNone/>
            </a:pPr>
            <a:r>
              <a:rPr lang="en-US" sz="900" i="1" dirty="0">
                <a:solidFill>
                  <a:srgbClr val="A6A6AC"/>
                </a:solidFill>
                <a:latin typeface="Calibri" pitchFamily="34" charset="0"/>
                <a:ea typeface="Calibri" pitchFamily="34" charset="-122"/>
                <a:cs typeface="Calibri" pitchFamily="34" charset="-120"/>
              </a:rPr>
              <a:t>çizilebilir karar</a:t>
            </a:r>
            <a:endParaRPr lang="en-US" sz="900" dirty="0"/>
          </a:p>
        </p:txBody>
      </p:sp>
      <p:sp>
        <p:nvSpPr>
          <p:cNvPr id="25" name="Shape 23"/>
          <p:cNvSpPr/>
          <p:nvPr/>
        </p:nvSpPr>
        <p:spPr>
          <a:xfrm>
            <a:off x="868680" y="4709160"/>
            <a:ext cx="10469880" cy="0"/>
          </a:xfrm>
          <a:prstGeom prst="line">
            <a:avLst/>
          </a:prstGeom>
          <a:noFill/>
          <a:ln w="9525">
            <a:solidFill>
              <a:srgbClr val="C9C9CF"/>
            </a:solidFill>
            <a:prstDash val="solid"/>
          </a:ln>
        </p:spPr>
      </p:sp>
      <p:sp>
        <p:nvSpPr>
          <p:cNvPr id="26" name="Text 24"/>
          <p:cNvSpPr txBox="1"/>
          <p:nvPr/>
        </p:nvSpPr>
        <p:spPr>
          <a:xfrm>
            <a:off x="777240" y="4846320"/>
            <a:ext cx="5029200" cy="274320"/>
          </a:xfrm>
          <a:prstGeom prst="rect">
            <a:avLst/>
          </a:prstGeom>
          <a:noFill/>
          <a:ln/>
        </p:spPr>
        <p:txBody>
          <a:bodyPr wrap="square" lIns="0" tIns="0" rIns="0" bIns="0" rtlCol="0" anchor="ctr"/>
          <a:lstStyle/>
          <a:p>
            <a:pPr algn="l" indent="0" marL="0">
              <a:lnSpc>
                <a:spcPts val="1200"/>
              </a:lnSpc>
              <a:buNone/>
            </a:pPr>
            <a:r>
              <a:rPr lang="en-US" sz="1200" b="1" dirty="0">
                <a:solidFill>
                  <a:srgbClr val="8C3A2B"/>
                </a:solidFill>
                <a:latin typeface="Cambria" pitchFamily="34" charset="0"/>
                <a:ea typeface="Cambria" pitchFamily="34" charset="-122"/>
                <a:cs typeface="Cambria" pitchFamily="34" charset="-120"/>
              </a:rPr>
              <a:t>Bugünün konusu ilk iki adım.</a:t>
            </a:r>
            <a:endParaRPr lang="en-US" sz="1200" dirty="0"/>
          </a:p>
        </p:txBody>
      </p:sp>
      <p:sp>
        <p:nvSpPr>
          <p:cNvPr id="27" name="Text 25"/>
          <p:cNvSpPr txBox="1"/>
          <p:nvPr/>
        </p:nvSpPr>
        <p:spPr>
          <a:xfrm>
            <a:off x="777240" y="5120640"/>
            <a:ext cx="5029200" cy="548640"/>
          </a:xfrm>
          <a:prstGeom prst="rect">
            <a:avLst/>
          </a:prstGeom>
          <a:noFill/>
          <a:ln/>
        </p:spPr>
        <p:txBody>
          <a:bodyPr wrap="square" lIns="0" tIns="0" rIns="0" bIns="0" rtlCol="0" anchor="ctr"/>
          <a:lstStyle/>
          <a:p>
            <a:pPr algn="l" indent="0" marL="0">
              <a:lnSpc>
                <a:spcPts val="1400"/>
              </a:lnSpc>
              <a:buNone/>
            </a:pPr>
            <a:r>
              <a:rPr lang="en-US" sz="1100" dirty="0">
                <a:solidFill>
                  <a:srgbClr val="7A7A82"/>
                </a:solidFill>
                <a:latin typeface="Calibri" pitchFamily="34" charset="0"/>
                <a:ea typeface="Calibri" pitchFamily="34" charset="-122"/>
                <a:cs typeface="Calibri" pitchFamily="34" charset="-120"/>
              </a:rPr>
              <a:t>Marka anahtarı ve deneyim araştırması, markayı yazıya ve sonra anahtar kelimeye çeviren araçlardır.</a:t>
            </a:r>
            <a:endParaRPr lang="en-US" sz="1100" dirty="0"/>
          </a:p>
        </p:txBody>
      </p:sp>
      <p:sp>
        <p:nvSpPr>
          <p:cNvPr id="28" name="Text 26"/>
          <p:cNvSpPr txBox="1"/>
          <p:nvPr/>
        </p:nvSpPr>
        <p:spPr>
          <a:xfrm>
            <a:off x="6382512" y="4846320"/>
            <a:ext cx="5029200" cy="274320"/>
          </a:xfrm>
          <a:prstGeom prst="rect">
            <a:avLst/>
          </a:prstGeom>
          <a:noFill/>
          <a:ln/>
        </p:spPr>
        <p:txBody>
          <a:bodyPr wrap="square" lIns="0" tIns="0" rIns="0" bIns="0" rtlCol="0" anchor="ctr"/>
          <a:lstStyle/>
          <a:p>
            <a:pPr algn="l" indent="0" marL="0">
              <a:lnSpc>
                <a:spcPts val="1200"/>
              </a:lnSpc>
              <a:buNone/>
            </a:pPr>
            <a:r>
              <a:rPr lang="en-US" sz="1200" b="1" dirty="0">
                <a:solidFill>
                  <a:srgbClr val="16161A"/>
                </a:solidFill>
                <a:latin typeface="Cambria" pitchFamily="34" charset="0"/>
                <a:ea typeface="Cambria" pitchFamily="34" charset="-122"/>
                <a:cs typeface="Cambria" pitchFamily="34" charset="-120"/>
              </a:rPr>
              <a:t>Son iki adım önümüzdeki haftaların işi.</a:t>
            </a:r>
            <a:endParaRPr lang="en-US" sz="1200" dirty="0"/>
          </a:p>
        </p:txBody>
      </p:sp>
      <p:sp>
        <p:nvSpPr>
          <p:cNvPr id="29" name="Text 27"/>
          <p:cNvSpPr txBox="1"/>
          <p:nvPr/>
        </p:nvSpPr>
        <p:spPr>
          <a:xfrm>
            <a:off x="6382512" y="5120640"/>
            <a:ext cx="5029200" cy="548640"/>
          </a:xfrm>
          <a:prstGeom prst="rect">
            <a:avLst/>
          </a:prstGeom>
          <a:noFill/>
          <a:ln/>
        </p:spPr>
        <p:txBody>
          <a:bodyPr wrap="square" lIns="0" tIns="0" rIns="0" bIns="0" rtlCol="0" anchor="ctr"/>
          <a:lstStyle/>
          <a:p>
            <a:pPr algn="l" indent="0" marL="0">
              <a:lnSpc>
                <a:spcPts val="1400"/>
              </a:lnSpc>
              <a:buNone/>
            </a:pPr>
            <a:r>
              <a:rPr lang="en-US" sz="1100" dirty="0">
                <a:solidFill>
                  <a:srgbClr val="7A7A82"/>
                </a:solidFill>
                <a:latin typeface="Calibri" pitchFamily="34" charset="0"/>
                <a:ea typeface="Calibri" pitchFamily="34" charset="-122"/>
                <a:cs typeface="Calibri" pitchFamily="34" charset="-120"/>
              </a:rPr>
              <a:t>Konsept jürisine kadar her anahtar kelimenin karşılığı bir mekânsal kararla verilmiş olacak.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II</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Marka Anahtarı</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Bir markayı dokuz başlıkta okunabilir hâle getiren çerçeve.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Marka anahtarı nedir, nereden gelir?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7</a:t>
            </a:r>
            <a:endParaRPr lang="en-US" sz="950" dirty="0"/>
          </a:p>
        </p:txBody>
      </p:sp>
      <p:sp>
        <p:nvSpPr>
          <p:cNvPr id="5" name="Text 3"/>
          <p:cNvSpPr txBox="1"/>
          <p:nvPr/>
        </p:nvSpPr>
        <p:spPr>
          <a:xfrm>
            <a:off x="777240" y="1627632"/>
            <a:ext cx="5029200" cy="21488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Marka anahtarı (brand key), 1990'larda Unilever'in marka yönetimi için geliştirdiği bir şablondur. Amacı basittir: bir markayı sezgiyle değil, belirli başlıklar altında tarif etmek. Başlıklar rekabet ortamından başlar, hedef kitleye ve müşterinin ihtiyacına geçer, faydalar ve değerler üzerinden markanın özüne varır (Wheeler, 2017; Micheaux &amp; Bosio, 2019).</a:t>
            </a:r>
            <a:endParaRPr lang="en-US" sz="1400" dirty="0"/>
          </a:p>
        </p:txBody>
      </p:sp>
      <p:sp>
        <p:nvSpPr>
          <p:cNvPr id="6" name="Text 4"/>
          <p:cNvSpPr txBox="1"/>
          <p:nvPr/>
        </p:nvSpPr>
        <p:spPr>
          <a:xfrm>
            <a:off x="6382512" y="1627632"/>
            <a:ext cx="5029200" cy="21488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Pazarlamada doğmuş olsa da tasarım eğitiminde yaygın biçimde kullanılır; çünkü çıktısı bir slogan değil, birbirine bağlı bir dizi ifadedir. Bu ifadeler mekânsal kararlara çevrilebilecek kadar somuttur.</a:t>
            </a:r>
            <a:endParaRPr lang="en-US" sz="1400" dirty="0"/>
          </a:p>
        </p:txBody>
      </p:sp>
      <p:sp>
        <p:nvSpPr>
          <p:cNvPr id="7" name="Shape 5"/>
          <p:cNvSpPr/>
          <p:nvPr/>
        </p:nvSpPr>
        <p:spPr>
          <a:xfrm>
            <a:off x="777240" y="3977640"/>
            <a:ext cx="10634472" cy="0"/>
          </a:xfrm>
          <a:prstGeom prst="line">
            <a:avLst/>
          </a:prstGeom>
          <a:noFill/>
          <a:ln w="9525">
            <a:solidFill>
              <a:srgbClr val="C9C9CF"/>
            </a:solidFill>
            <a:prstDash val="solid"/>
          </a:ln>
        </p:spPr>
      </p:sp>
      <p:sp>
        <p:nvSpPr>
          <p:cNvPr id="8" name="Text 6"/>
          <p:cNvSpPr txBox="1"/>
          <p:nvPr/>
        </p:nvSpPr>
        <p:spPr>
          <a:xfrm>
            <a:off x="777240" y="4114800"/>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STÜDYODA NEDEN İŞE YARAR</a:t>
            </a:r>
            <a:endParaRPr lang="en-US" sz="900" dirty="0"/>
          </a:p>
        </p:txBody>
      </p:sp>
      <p:sp>
        <p:nvSpPr>
          <p:cNvPr id="9" name="Shape 7"/>
          <p:cNvSpPr/>
          <p:nvPr/>
        </p:nvSpPr>
        <p:spPr>
          <a:xfrm>
            <a:off x="809244" y="4494276"/>
            <a:ext cx="100584" cy="100584"/>
          </a:xfrm>
          <a:prstGeom prst="ellipse">
            <a:avLst/>
          </a:prstGeom>
          <a:solidFill>
            <a:srgbClr val="8C3A2B"/>
          </a:solidFill>
          <a:ln w="12700">
            <a:solidFill>
              <a:srgbClr val="8C3A2B"/>
            </a:solidFill>
            <a:prstDash val="solid"/>
          </a:ln>
        </p:spPr>
      </p:sp>
      <p:sp>
        <p:nvSpPr>
          <p:cNvPr id="10" name="Text 8"/>
          <p:cNvSpPr txBox="1"/>
          <p:nvPr/>
        </p:nvSpPr>
        <p:spPr>
          <a:xfrm>
            <a:off x="1051560" y="4407408"/>
            <a:ext cx="301752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Ortak bir dil kurar</a:t>
            </a:r>
            <a:endParaRPr lang="en-US" sz="1350" dirty="0"/>
          </a:p>
        </p:txBody>
      </p:sp>
      <p:sp>
        <p:nvSpPr>
          <p:cNvPr id="11" name="Text 9"/>
          <p:cNvSpPr txBox="1"/>
          <p:nvPr/>
        </p:nvSpPr>
        <p:spPr>
          <a:xfrm>
            <a:off x="1051560" y="4700016"/>
            <a:ext cx="3017520" cy="73152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Jüride "hoşuma gitti" yerine hangi bileşenin karşılığı olduğu konuşulur.</a:t>
            </a:r>
            <a:endParaRPr lang="en-US" sz="1100" dirty="0"/>
          </a:p>
        </p:txBody>
      </p:sp>
      <p:sp>
        <p:nvSpPr>
          <p:cNvPr id="12" name="Shape 10"/>
          <p:cNvSpPr/>
          <p:nvPr/>
        </p:nvSpPr>
        <p:spPr>
          <a:xfrm>
            <a:off x="4485132" y="4494276"/>
            <a:ext cx="100584" cy="100584"/>
          </a:xfrm>
          <a:prstGeom prst="ellipse">
            <a:avLst/>
          </a:prstGeom>
          <a:solidFill>
            <a:srgbClr val="8C3A2B"/>
          </a:solidFill>
          <a:ln w="12700">
            <a:solidFill>
              <a:srgbClr val="8C3A2B"/>
            </a:solidFill>
            <a:prstDash val="solid"/>
          </a:ln>
        </p:spPr>
      </p:sp>
      <p:sp>
        <p:nvSpPr>
          <p:cNvPr id="13" name="Text 11"/>
          <p:cNvSpPr txBox="1"/>
          <p:nvPr/>
        </p:nvSpPr>
        <p:spPr>
          <a:xfrm>
            <a:off x="4727448" y="4407408"/>
            <a:ext cx="301752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Boşlukları gösterir</a:t>
            </a:r>
            <a:endParaRPr lang="en-US" sz="1350" dirty="0"/>
          </a:p>
        </p:txBody>
      </p:sp>
      <p:sp>
        <p:nvSpPr>
          <p:cNvPr id="14" name="Text 12"/>
          <p:cNvSpPr txBox="1"/>
          <p:nvPr/>
        </p:nvSpPr>
        <p:spPr>
          <a:xfrm>
            <a:off x="4727448" y="4700016"/>
            <a:ext cx="3017520" cy="73152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Doldurulamayan başlık, araştırmanın eksik kaldığı yerdir.</a:t>
            </a:r>
            <a:endParaRPr lang="en-US" sz="1100" dirty="0"/>
          </a:p>
        </p:txBody>
      </p:sp>
      <p:sp>
        <p:nvSpPr>
          <p:cNvPr id="15" name="Shape 13"/>
          <p:cNvSpPr/>
          <p:nvPr/>
        </p:nvSpPr>
        <p:spPr>
          <a:xfrm>
            <a:off x="8161020" y="4494276"/>
            <a:ext cx="100584" cy="100584"/>
          </a:xfrm>
          <a:prstGeom prst="ellipse">
            <a:avLst/>
          </a:prstGeom>
          <a:solidFill>
            <a:srgbClr val="8C3A2B"/>
          </a:solidFill>
          <a:ln w="12700">
            <a:solidFill>
              <a:srgbClr val="8C3A2B"/>
            </a:solidFill>
            <a:prstDash val="solid"/>
          </a:ln>
        </p:spPr>
      </p:sp>
      <p:sp>
        <p:nvSpPr>
          <p:cNvPr id="16" name="Text 14"/>
          <p:cNvSpPr txBox="1"/>
          <p:nvPr/>
        </p:nvSpPr>
        <p:spPr>
          <a:xfrm>
            <a:off x="8403336" y="4407408"/>
            <a:ext cx="301752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Küçük markaya uygundur</a:t>
            </a:r>
            <a:endParaRPr lang="en-US" sz="1350" dirty="0"/>
          </a:p>
        </p:txBody>
      </p:sp>
      <p:sp>
        <p:nvSpPr>
          <p:cNvPr id="17" name="Text 15"/>
          <p:cNvSpPr txBox="1"/>
          <p:nvPr/>
        </p:nvSpPr>
        <p:spPr>
          <a:xfrm>
            <a:off x="8403336" y="4700016"/>
            <a:ext cx="3017520" cy="73152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Kurumsal kimliği olmayan markada bu şablon kimliğin kendisini üretir.</a:t>
            </a:r>
            <a:endParaRPr lang="en-US" sz="1100" dirty="0"/>
          </a:p>
        </p:txBody>
      </p:sp>
      <p:sp>
        <p:nvSpPr>
          <p:cNvPr id="18" name="Text 16"/>
          <p:cNvSpPr txBox="1"/>
          <p:nvPr/>
        </p:nvSpPr>
        <p:spPr>
          <a:xfrm>
            <a:off x="777240" y="5623560"/>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8C3A2B"/>
                </a:solidFill>
                <a:latin typeface="Cambria" pitchFamily="34" charset="0"/>
                <a:ea typeface="Cambria" pitchFamily="34" charset="-122"/>
                <a:cs typeface="Cambria" pitchFamily="34" charset="-120"/>
              </a:rPr>
              <a:t>Marka anahtarı bir dolduralım-geçelim formu değildir; her satırı bir kanıta dayanmalıdır.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Dokuz bileşen ve birbirine bağlanışı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8</a:t>
            </a:r>
            <a:endParaRPr lang="en-US" sz="950" dirty="0"/>
          </a:p>
        </p:txBody>
      </p:sp>
      <p:sp>
        <p:nvSpPr>
          <p:cNvPr id="5" name="Text 3"/>
          <p:cNvSpPr txBox="1"/>
          <p:nvPr/>
        </p:nvSpPr>
        <p:spPr>
          <a:xfrm>
            <a:off x="777240" y="1554480"/>
            <a:ext cx="10634472" cy="5486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Bileşenler bir liste değil, daralan bir hunidir: dışarıdan içeriye doğru okunur ve her kat bir öncekinden beslenir. En sondaki öz, kendi başına yazılamaz; yukarıdaki sekiz kutunun sonucudur.</a:t>
            </a:r>
            <a:endParaRPr lang="en-US" sz="1400" dirty="0"/>
          </a:p>
        </p:txBody>
      </p:sp>
      <p:sp>
        <p:nvSpPr>
          <p:cNvPr id="6" name="Shape 4"/>
          <p:cNvSpPr/>
          <p:nvPr/>
        </p:nvSpPr>
        <p:spPr>
          <a:xfrm>
            <a:off x="896112" y="2286000"/>
            <a:ext cx="2926080" cy="566928"/>
          </a:xfrm>
          <a:prstGeom prst="rect">
            <a:avLst/>
          </a:prstGeom>
          <a:ln w="9525">
            <a:solidFill>
              <a:srgbClr val="C9C9CF"/>
            </a:solidFill>
            <a:prstDash val="solid"/>
          </a:ln>
        </p:spPr>
      </p:sp>
      <p:sp>
        <p:nvSpPr>
          <p:cNvPr id="7" name="Text 5"/>
          <p:cNvSpPr txBox="1"/>
          <p:nvPr/>
        </p:nvSpPr>
        <p:spPr>
          <a:xfrm>
            <a:off x="932688" y="2286000"/>
            <a:ext cx="2852928" cy="566928"/>
          </a:xfrm>
          <a:prstGeom prst="rect">
            <a:avLst/>
          </a:prstGeom>
          <a:noFill/>
          <a:ln/>
        </p:spPr>
        <p:txBody>
          <a:bodyPr wrap="square" lIns="0" tIns="0" rIns="0" bIns="0" rtlCol="0" anchor="ctr"/>
          <a:lstStyle/>
          <a:p>
            <a:pPr algn="ctr" indent="0" marL="0">
              <a:lnSpc>
                <a:spcPts val="1100"/>
              </a:lnSpc>
              <a:buNone/>
            </a:pPr>
            <a:r>
              <a:rPr lang="en-US" sz="1200" dirty="0">
                <a:solidFill>
                  <a:srgbClr val="2B2B31"/>
                </a:solidFill>
                <a:latin typeface="Calibri" pitchFamily="34" charset="0"/>
                <a:ea typeface="Calibri" pitchFamily="34" charset="-122"/>
                <a:cs typeface="Calibri" pitchFamily="34" charset="-120"/>
              </a:rPr>
              <a:t>Kök güç</a:t>
            </a:r>
            <a:endParaRPr lang="en-US" sz="1200" dirty="0"/>
          </a:p>
        </p:txBody>
      </p:sp>
      <p:sp>
        <p:nvSpPr>
          <p:cNvPr id="8" name="Text 6"/>
          <p:cNvSpPr txBox="1"/>
          <p:nvPr/>
        </p:nvSpPr>
        <p:spPr>
          <a:xfrm>
            <a:off x="896112" y="2889504"/>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markanın geldiği yer</a:t>
            </a:r>
            <a:endParaRPr lang="en-US" sz="900" dirty="0"/>
          </a:p>
        </p:txBody>
      </p:sp>
      <p:sp>
        <p:nvSpPr>
          <p:cNvPr id="9" name="Shape 7"/>
          <p:cNvSpPr/>
          <p:nvPr/>
        </p:nvSpPr>
        <p:spPr>
          <a:xfrm>
            <a:off x="2359152" y="3090672"/>
            <a:ext cx="0" cy="36576"/>
          </a:xfrm>
          <a:prstGeom prst="line">
            <a:avLst/>
          </a:prstGeom>
          <a:noFill/>
          <a:ln w="12700">
            <a:solidFill>
              <a:srgbClr val="C9C9CF"/>
            </a:solidFill>
            <a:prstDash val="solid"/>
          </a:ln>
        </p:spPr>
      </p:sp>
      <p:sp>
        <p:nvSpPr>
          <p:cNvPr id="10" name="Shape 8"/>
          <p:cNvSpPr/>
          <p:nvPr/>
        </p:nvSpPr>
        <p:spPr>
          <a:xfrm>
            <a:off x="4599432" y="2286000"/>
            <a:ext cx="2926080" cy="566928"/>
          </a:xfrm>
          <a:prstGeom prst="rect">
            <a:avLst/>
          </a:prstGeom>
          <a:ln w="9525">
            <a:solidFill>
              <a:srgbClr val="C9C9CF"/>
            </a:solidFill>
            <a:prstDash val="solid"/>
          </a:ln>
        </p:spPr>
      </p:sp>
      <p:sp>
        <p:nvSpPr>
          <p:cNvPr id="11" name="Text 9"/>
          <p:cNvSpPr txBox="1"/>
          <p:nvPr/>
        </p:nvSpPr>
        <p:spPr>
          <a:xfrm>
            <a:off x="4636008" y="2286000"/>
            <a:ext cx="2852928" cy="566928"/>
          </a:xfrm>
          <a:prstGeom prst="rect">
            <a:avLst/>
          </a:prstGeom>
          <a:noFill/>
          <a:ln/>
        </p:spPr>
        <p:txBody>
          <a:bodyPr wrap="square" lIns="0" tIns="0" rIns="0" bIns="0" rtlCol="0" anchor="ctr"/>
          <a:lstStyle/>
          <a:p>
            <a:pPr algn="ctr" indent="0" marL="0">
              <a:lnSpc>
                <a:spcPts val="1100"/>
              </a:lnSpc>
              <a:buNone/>
            </a:pPr>
            <a:r>
              <a:rPr lang="en-US" sz="1200" dirty="0">
                <a:solidFill>
                  <a:srgbClr val="2B2B31"/>
                </a:solidFill>
                <a:latin typeface="Calibri" pitchFamily="34" charset="0"/>
                <a:ea typeface="Calibri" pitchFamily="34" charset="-122"/>
                <a:cs typeface="Calibri" pitchFamily="34" charset="-120"/>
              </a:rPr>
              <a:t>Rekabet ortamı</a:t>
            </a:r>
            <a:endParaRPr lang="en-US" sz="1200" dirty="0"/>
          </a:p>
        </p:txBody>
      </p:sp>
      <p:sp>
        <p:nvSpPr>
          <p:cNvPr id="12" name="Text 10"/>
          <p:cNvSpPr txBox="1"/>
          <p:nvPr/>
        </p:nvSpPr>
        <p:spPr>
          <a:xfrm>
            <a:off x="4599432" y="2889504"/>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kiminle karşılaştırılıyor</a:t>
            </a:r>
            <a:endParaRPr lang="en-US" sz="900" dirty="0"/>
          </a:p>
        </p:txBody>
      </p:sp>
      <p:sp>
        <p:nvSpPr>
          <p:cNvPr id="13" name="Shape 11"/>
          <p:cNvSpPr/>
          <p:nvPr/>
        </p:nvSpPr>
        <p:spPr>
          <a:xfrm>
            <a:off x="6062472" y="3090672"/>
            <a:ext cx="0" cy="36576"/>
          </a:xfrm>
          <a:prstGeom prst="line">
            <a:avLst/>
          </a:prstGeom>
          <a:noFill/>
          <a:ln w="12700">
            <a:solidFill>
              <a:srgbClr val="C9C9CF"/>
            </a:solidFill>
            <a:prstDash val="solid"/>
          </a:ln>
        </p:spPr>
      </p:sp>
      <p:sp>
        <p:nvSpPr>
          <p:cNvPr id="14" name="Shape 12"/>
          <p:cNvSpPr/>
          <p:nvPr/>
        </p:nvSpPr>
        <p:spPr>
          <a:xfrm>
            <a:off x="8302752" y="2286000"/>
            <a:ext cx="2926080" cy="566928"/>
          </a:xfrm>
          <a:prstGeom prst="rect">
            <a:avLst/>
          </a:prstGeom>
          <a:ln w="9525">
            <a:solidFill>
              <a:srgbClr val="C9C9CF"/>
            </a:solidFill>
            <a:prstDash val="solid"/>
          </a:ln>
        </p:spPr>
      </p:sp>
      <p:sp>
        <p:nvSpPr>
          <p:cNvPr id="15" name="Text 13"/>
          <p:cNvSpPr txBox="1"/>
          <p:nvPr/>
        </p:nvSpPr>
        <p:spPr>
          <a:xfrm>
            <a:off x="8339328" y="2286000"/>
            <a:ext cx="2852928" cy="566928"/>
          </a:xfrm>
          <a:prstGeom prst="rect">
            <a:avLst/>
          </a:prstGeom>
          <a:noFill/>
          <a:ln/>
        </p:spPr>
        <p:txBody>
          <a:bodyPr wrap="square" lIns="0" tIns="0" rIns="0" bIns="0" rtlCol="0" anchor="ctr"/>
          <a:lstStyle/>
          <a:p>
            <a:pPr algn="ctr" indent="0" marL="0">
              <a:lnSpc>
                <a:spcPts val="1100"/>
              </a:lnSpc>
              <a:buNone/>
            </a:pPr>
            <a:r>
              <a:rPr lang="en-US" sz="1200" dirty="0">
                <a:solidFill>
                  <a:srgbClr val="2B2B31"/>
                </a:solidFill>
                <a:latin typeface="Calibri" pitchFamily="34" charset="0"/>
                <a:ea typeface="Calibri" pitchFamily="34" charset="-122"/>
                <a:cs typeface="Calibri" pitchFamily="34" charset="-120"/>
              </a:rPr>
              <a:t>Hedef kitle</a:t>
            </a:r>
            <a:endParaRPr lang="en-US" sz="1200" dirty="0"/>
          </a:p>
        </p:txBody>
      </p:sp>
      <p:sp>
        <p:nvSpPr>
          <p:cNvPr id="16" name="Text 14"/>
          <p:cNvSpPr txBox="1"/>
          <p:nvPr/>
        </p:nvSpPr>
        <p:spPr>
          <a:xfrm>
            <a:off x="8302752" y="2889504"/>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kime sesleniyor</a:t>
            </a:r>
            <a:endParaRPr lang="en-US" sz="900" dirty="0"/>
          </a:p>
        </p:txBody>
      </p:sp>
      <p:sp>
        <p:nvSpPr>
          <p:cNvPr id="17" name="Shape 15"/>
          <p:cNvSpPr/>
          <p:nvPr/>
        </p:nvSpPr>
        <p:spPr>
          <a:xfrm>
            <a:off x="9765792" y="3090672"/>
            <a:ext cx="0" cy="36576"/>
          </a:xfrm>
          <a:prstGeom prst="line">
            <a:avLst/>
          </a:prstGeom>
          <a:noFill/>
          <a:ln w="12700">
            <a:solidFill>
              <a:srgbClr val="C9C9CF"/>
            </a:solidFill>
            <a:prstDash val="solid"/>
          </a:ln>
        </p:spPr>
      </p:sp>
      <p:sp>
        <p:nvSpPr>
          <p:cNvPr id="18" name="Shape 16"/>
          <p:cNvSpPr/>
          <p:nvPr/>
        </p:nvSpPr>
        <p:spPr>
          <a:xfrm>
            <a:off x="1399032" y="3127248"/>
            <a:ext cx="4206240" cy="566928"/>
          </a:xfrm>
          <a:prstGeom prst="rect">
            <a:avLst/>
          </a:prstGeom>
          <a:ln w="9525">
            <a:solidFill>
              <a:srgbClr val="C9C9CF"/>
            </a:solidFill>
            <a:prstDash val="solid"/>
          </a:ln>
        </p:spPr>
      </p:sp>
      <p:sp>
        <p:nvSpPr>
          <p:cNvPr id="19" name="Text 17"/>
          <p:cNvSpPr txBox="1"/>
          <p:nvPr/>
        </p:nvSpPr>
        <p:spPr>
          <a:xfrm>
            <a:off x="1435608" y="3127248"/>
            <a:ext cx="4133088" cy="566928"/>
          </a:xfrm>
          <a:prstGeom prst="rect">
            <a:avLst/>
          </a:prstGeom>
          <a:noFill/>
          <a:ln/>
        </p:spPr>
        <p:txBody>
          <a:bodyPr wrap="square" lIns="0" tIns="0" rIns="0" bIns="0" rtlCol="0" anchor="ctr"/>
          <a:lstStyle/>
          <a:p>
            <a:pPr algn="ctr" indent="0" marL="0">
              <a:lnSpc>
                <a:spcPts val="1100"/>
              </a:lnSpc>
              <a:buNone/>
            </a:pPr>
            <a:r>
              <a:rPr lang="en-US" sz="1200" dirty="0">
                <a:solidFill>
                  <a:srgbClr val="2B2B31"/>
                </a:solidFill>
                <a:latin typeface="Calibri" pitchFamily="34" charset="0"/>
                <a:ea typeface="Calibri" pitchFamily="34" charset="-122"/>
                <a:cs typeface="Calibri" pitchFamily="34" charset="-120"/>
              </a:rPr>
              <a:t>İçgörü</a:t>
            </a:r>
            <a:endParaRPr lang="en-US" sz="1200" dirty="0"/>
          </a:p>
        </p:txBody>
      </p:sp>
      <p:sp>
        <p:nvSpPr>
          <p:cNvPr id="20" name="Text 18"/>
          <p:cNvSpPr txBox="1"/>
          <p:nvPr/>
        </p:nvSpPr>
        <p:spPr>
          <a:xfrm>
            <a:off x="1399032" y="3730752"/>
            <a:ext cx="420624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müşterinin dile getirmediği ihtiyaç</a:t>
            </a:r>
            <a:endParaRPr lang="en-US" sz="900" dirty="0"/>
          </a:p>
        </p:txBody>
      </p:sp>
      <p:sp>
        <p:nvSpPr>
          <p:cNvPr id="21" name="Shape 19"/>
          <p:cNvSpPr/>
          <p:nvPr/>
        </p:nvSpPr>
        <p:spPr>
          <a:xfrm>
            <a:off x="3502152" y="3931920"/>
            <a:ext cx="0" cy="36576"/>
          </a:xfrm>
          <a:prstGeom prst="line">
            <a:avLst/>
          </a:prstGeom>
          <a:noFill/>
          <a:ln w="12700">
            <a:solidFill>
              <a:srgbClr val="C9C9CF"/>
            </a:solidFill>
            <a:prstDash val="solid"/>
          </a:ln>
        </p:spPr>
      </p:sp>
      <p:sp>
        <p:nvSpPr>
          <p:cNvPr id="22" name="Shape 20"/>
          <p:cNvSpPr/>
          <p:nvPr/>
        </p:nvSpPr>
        <p:spPr>
          <a:xfrm>
            <a:off x="6611112" y="3127248"/>
            <a:ext cx="4206240" cy="566928"/>
          </a:xfrm>
          <a:prstGeom prst="rect">
            <a:avLst/>
          </a:prstGeom>
          <a:ln w="9525">
            <a:solidFill>
              <a:srgbClr val="C9C9CF"/>
            </a:solidFill>
            <a:prstDash val="solid"/>
          </a:ln>
        </p:spPr>
      </p:sp>
      <p:sp>
        <p:nvSpPr>
          <p:cNvPr id="23" name="Text 21"/>
          <p:cNvSpPr txBox="1"/>
          <p:nvPr/>
        </p:nvSpPr>
        <p:spPr>
          <a:xfrm>
            <a:off x="6647688" y="3127248"/>
            <a:ext cx="4133088" cy="566928"/>
          </a:xfrm>
          <a:prstGeom prst="rect">
            <a:avLst/>
          </a:prstGeom>
          <a:noFill/>
          <a:ln/>
        </p:spPr>
        <p:txBody>
          <a:bodyPr wrap="square" lIns="0" tIns="0" rIns="0" bIns="0" rtlCol="0" anchor="ctr"/>
          <a:lstStyle/>
          <a:p>
            <a:pPr algn="ctr" indent="0" marL="0">
              <a:lnSpc>
                <a:spcPts val="1100"/>
              </a:lnSpc>
              <a:buNone/>
            </a:pPr>
            <a:r>
              <a:rPr lang="en-US" sz="1200" dirty="0">
                <a:solidFill>
                  <a:srgbClr val="2B2B31"/>
                </a:solidFill>
                <a:latin typeface="Calibri" pitchFamily="34" charset="0"/>
                <a:ea typeface="Calibri" pitchFamily="34" charset="-122"/>
                <a:cs typeface="Calibri" pitchFamily="34" charset="-120"/>
              </a:rPr>
              <a:t>Faydalar</a:t>
            </a:r>
            <a:endParaRPr lang="en-US" sz="1200" dirty="0"/>
          </a:p>
        </p:txBody>
      </p:sp>
      <p:sp>
        <p:nvSpPr>
          <p:cNvPr id="24" name="Text 22"/>
          <p:cNvSpPr txBox="1"/>
          <p:nvPr/>
        </p:nvSpPr>
        <p:spPr>
          <a:xfrm>
            <a:off x="6611112" y="3730752"/>
            <a:ext cx="420624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işlevsel ve duygusal karşılık</a:t>
            </a:r>
            <a:endParaRPr lang="en-US" sz="900" dirty="0"/>
          </a:p>
        </p:txBody>
      </p:sp>
      <p:sp>
        <p:nvSpPr>
          <p:cNvPr id="25" name="Shape 23"/>
          <p:cNvSpPr/>
          <p:nvPr/>
        </p:nvSpPr>
        <p:spPr>
          <a:xfrm>
            <a:off x="8714232" y="3931920"/>
            <a:ext cx="0" cy="36576"/>
          </a:xfrm>
          <a:prstGeom prst="line">
            <a:avLst/>
          </a:prstGeom>
          <a:noFill/>
          <a:ln w="12700">
            <a:solidFill>
              <a:srgbClr val="C9C9CF"/>
            </a:solidFill>
            <a:prstDash val="solid"/>
          </a:ln>
        </p:spPr>
      </p:sp>
      <p:sp>
        <p:nvSpPr>
          <p:cNvPr id="26" name="Shape 24"/>
          <p:cNvSpPr/>
          <p:nvPr/>
        </p:nvSpPr>
        <p:spPr>
          <a:xfrm>
            <a:off x="896112" y="3968496"/>
            <a:ext cx="2926080" cy="566928"/>
          </a:xfrm>
          <a:prstGeom prst="rect">
            <a:avLst/>
          </a:prstGeom>
          <a:ln w="9525">
            <a:solidFill>
              <a:srgbClr val="C9C9CF"/>
            </a:solidFill>
            <a:prstDash val="solid"/>
          </a:ln>
        </p:spPr>
      </p:sp>
      <p:sp>
        <p:nvSpPr>
          <p:cNvPr id="27" name="Text 25"/>
          <p:cNvSpPr txBox="1"/>
          <p:nvPr/>
        </p:nvSpPr>
        <p:spPr>
          <a:xfrm>
            <a:off x="932688" y="3968496"/>
            <a:ext cx="2852928" cy="566928"/>
          </a:xfrm>
          <a:prstGeom prst="rect">
            <a:avLst/>
          </a:prstGeom>
          <a:noFill/>
          <a:ln/>
        </p:spPr>
        <p:txBody>
          <a:bodyPr wrap="square" lIns="0" tIns="0" rIns="0" bIns="0" rtlCol="0" anchor="ctr"/>
          <a:lstStyle/>
          <a:p>
            <a:pPr algn="ctr" indent="0" marL="0">
              <a:lnSpc>
                <a:spcPts val="1100"/>
              </a:lnSpc>
              <a:buNone/>
            </a:pPr>
            <a:r>
              <a:rPr lang="en-US" sz="1100" dirty="0">
                <a:solidFill>
                  <a:srgbClr val="2B2B31"/>
                </a:solidFill>
                <a:latin typeface="Calibri" pitchFamily="34" charset="0"/>
                <a:ea typeface="Calibri" pitchFamily="34" charset="-122"/>
                <a:cs typeface="Calibri" pitchFamily="34" charset="-120"/>
              </a:rPr>
              <a:t>Değerler ve kişilik</a:t>
            </a:r>
            <a:endParaRPr lang="en-US" sz="1100" dirty="0"/>
          </a:p>
        </p:txBody>
      </p:sp>
      <p:sp>
        <p:nvSpPr>
          <p:cNvPr id="28" name="Text 26"/>
          <p:cNvSpPr txBox="1"/>
          <p:nvPr/>
        </p:nvSpPr>
        <p:spPr>
          <a:xfrm>
            <a:off x="896112" y="4572000"/>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nasıl biri</a:t>
            </a:r>
            <a:endParaRPr lang="en-US" sz="900" dirty="0"/>
          </a:p>
        </p:txBody>
      </p:sp>
      <p:sp>
        <p:nvSpPr>
          <p:cNvPr id="29" name="Shape 27"/>
          <p:cNvSpPr/>
          <p:nvPr/>
        </p:nvSpPr>
        <p:spPr>
          <a:xfrm>
            <a:off x="2359152" y="4773168"/>
            <a:ext cx="0" cy="36576"/>
          </a:xfrm>
          <a:prstGeom prst="line">
            <a:avLst/>
          </a:prstGeom>
          <a:noFill/>
          <a:ln w="12700">
            <a:solidFill>
              <a:srgbClr val="C9C9CF"/>
            </a:solidFill>
            <a:prstDash val="solid"/>
          </a:ln>
        </p:spPr>
      </p:sp>
      <p:sp>
        <p:nvSpPr>
          <p:cNvPr id="30" name="Shape 28"/>
          <p:cNvSpPr/>
          <p:nvPr/>
        </p:nvSpPr>
        <p:spPr>
          <a:xfrm>
            <a:off x="4599432" y="3968496"/>
            <a:ext cx="2926080" cy="566928"/>
          </a:xfrm>
          <a:prstGeom prst="rect">
            <a:avLst/>
          </a:prstGeom>
          <a:ln w="9525">
            <a:solidFill>
              <a:srgbClr val="C9C9CF"/>
            </a:solidFill>
            <a:prstDash val="solid"/>
          </a:ln>
        </p:spPr>
      </p:sp>
      <p:sp>
        <p:nvSpPr>
          <p:cNvPr id="31" name="Text 29"/>
          <p:cNvSpPr txBox="1"/>
          <p:nvPr/>
        </p:nvSpPr>
        <p:spPr>
          <a:xfrm>
            <a:off x="4636008" y="3968496"/>
            <a:ext cx="2852928" cy="566928"/>
          </a:xfrm>
          <a:prstGeom prst="rect">
            <a:avLst/>
          </a:prstGeom>
          <a:noFill/>
          <a:ln/>
        </p:spPr>
        <p:txBody>
          <a:bodyPr wrap="square" lIns="0" tIns="0" rIns="0" bIns="0" rtlCol="0" anchor="ctr"/>
          <a:lstStyle/>
          <a:p>
            <a:pPr algn="ctr" indent="0" marL="0">
              <a:lnSpc>
                <a:spcPts val="1100"/>
              </a:lnSpc>
              <a:buNone/>
            </a:pPr>
            <a:r>
              <a:rPr lang="en-US" sz="1100" dirty="0">
                <a:solidFill>
                  <a:srgbClr val="2B2B31"/>
                </a:solidFill>
                <a:latin typeface="Calibri" pitchFamily="34" charset="0"/>
                <a:ea typeface="Calibri" pitchFamily="34" charset="-122"/>
                <a:cs typeface="Calibri" pitchFamily="34" charset="-120"/>
              </a:rPr>
              <a:t>İnanma nedeni</a:t>
            </a:r>
            <a:endParaRPr lang="en-US" sz="1100" dirty="0"/>
          </a:p>
        </p:txBody>
      </p:sp>
      <p:sp>
        <p:nvSpPr>
          <p:cNvPr id="32" name="Text 30"/>
          <p:cNvSpPr txBox="1"/>
          <p:nvPr/>
        </p:nvSpPr>
        <p:spPr>
          <a:xfrm>
            <a:off x="4599432" y="4572000"/>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kanıt</a:t>
            </a:r>
            <a:endParaRPr lang="en-US" sz="900" dirty="0"/>
          </a:p>
        </p:txBody>
      </p:sp>
      <p:sp>
        <p:nvSpPr>
          <p:cNvPr id="33" name="Shape 31"/>
          <p:cNvSpPr/>
          <p:nvPr/>
        </p:nvSpPr>
        <p:spPr>
          <a:xfrm>
            <a:off x="6062472" y="4773168"/>
            <a:ext cx="0" cy="36576"/>
          </a:xfrm>
          <a:prstGeom prst="line">
            <a:avLst/>
          </a:prstGeom>
          <a:noFill/>
          <a:ln w="12700">
            <a:solidFill>
              <a:srgbClr val="C9C9CF"/>
            </a:solidFill>
            <a:prstDash val="solid"/>
          </a:ln>
        </p:spPr>
      </p:sp>
      <p:sp>
        <p:nvSpPr>
          <p:cNvPr id="34" name="Shape 32"/>
          <p:cNvSpPr/>
          <p:nvPr/>
        </p:nvSpPr>
        <p:spPr>
          <a:xfrm>
            <a:off x="8302752" y="3968496"/>
            <a:ext cx="2926080" cy="566928"/>
          </a:xfrm>
          <a:prstGeom prst="rect">
            <a:avLst/>
          </a:prstGeom>
          <a:ln w="9525">
            <a:solidFill>
              <a:srgbClr val="C9C9CF"/>
            </a:solidFill>
            <a:prstDash val="solid"/>
          </a:ln>
        </p:spPr>
      </p:sp>
      <p:sp>
        <p:nvSpPr>
          <p:cNvPr id="35" name="Text 33"/>
          <p:cNvSpPr txBox="1"/>
          <p:nvPr/>
        </p:nvSpPr>
        <p:spPr>
          <a:xfrm>
            <a:off x="8339328" y="3968496"/>
            <a:ext cx="2852928" cy="566928"/>
          </a:xfrm>
          <a:prstGeom prst="rect">
            <a:avLst/>
          </a:prstGeom>
          <a:noFill/>
          <a:ln/>
        </p:spPr>
        <p:txBody>
          <a:bodyPr wrap="square" lIns="0" tIns="0" rIns="0" bIns="0" rtlCol="0" anchor="ctr"/>
          <a:lstStyle/>
          <a:p>
            <a:pPr algn="ctr" indent="0" marL="0">
              <a:lnSpc>
                <a:spcPts val="1100"/>
              </a:lnSpc>
              <a:buNone/>
            </a:pPr>
            <a:r>
              <a:rPr lang="en-US" sz="1100" dirty="0">
                <a:solidFill>
                  <a:srgbClr val="2B2B31"/>
                </a:solidFill>
                <a:latin typeface="Calibri" pitchFamily="34" charset="0"/>
                <a:ea typeface="Calibri" pitchFamily="34" charset="-122"/>
                <a:cs typeface="Calibri" pitchFamily="34" charset="-120"/>
              </a:rPr>
              <a:t>Ayırt edici güç</a:t>
            </a:r>
            <a:endParaRPr lang="en-US" sz="1100" dirty="0"/>
          </a:p>
        </p:txBody>
      </p:sp>
      <p:sp>
        <p:nvSpPr>
          <p:cNvPr id="36" name="Text 34"/>
          <p:cNvSpPr txBox="1"/>
          <p:nvPr/>
        </p:nvSpPr>
        <p:spPr>
          <a:xfrm>
            <a:off x="8302752" y="4572000"/>
            <a:ext cx="2926080" cy="274320"/>
          </a:xfrm>
          <a:prstGeom prst="rect">
            <a:avLst/>
          </a:prstGeom>
          <a:noFill/>
          <a:ln/>
        </p:spPr>
        <p:txBody>
          <a:bodyPr wrap="square" lIns="0" tIns="0" rIns="0" bIns="0" rtlCol="0" anchor="ctr"/>
          <a:lstStyle/>
          <a:p>
            <a:pPr algn="ctr" indent="0" marL="0">
              <a:lnSpc>
                <a:spcPts val="1200"/>
              </a:lnSpc>
              <a:buNone/>
            </a:pPr>
            <a:r>
              <a:rPr lang="en-US" sz="900" dirty="0">
                <a:solidFill>
                  <a:srgbClr val="A6A6AC"/>
                </a:solidFill>
                <a:latin typeface="Calibri" pitchFamily="34" charset="0"/>
                <a:ea typeface="Calibri" pitchFamily="34" charset="-122"/>
                <a:cs typeface="Calibri" pitchFamily="34" charset="-120"/>
              </a:rPr>
              <a:t>tek farkı</a:t>
            </a:r>
            <a:endParaRPr lang="en-US" sz="900" dirty="0"/>
          </a:p>
        </p:txBody>
      </p:sp>
      <p:sp>
        <p:nvSpPr>
          <p:cNvPr id="37" name="Shape 35"/>
          <p:cNvSpPr/>
          <p:nvPr/>
        </p:nvSpPr>
        <p:spPr>
          <a:xfrm>
            <a:off x="9765792" y="4773168"/>
            <a:ext cx="0" cy="36576"/>
          </a:xfrm>
          <a:prstGeom prst="line">
            <a:avLst/>
          </a:prstGeom>
          <a:noFill/>
          <a:ln w="12700">
            <a:solidFill>
              <a:srgbClr val="C9C9CF"/>
            </a:solidFill>
            <a:prstDash val="solid"/>
          </a:ln>
        </p:spPr>
      </p:sp>
      <p:sp>
        <p:nvSpPr>
          <p:cNvPr id="38" name="Shape 36"/>
          <p:cNvSpPr/>
          <p:nvPr/>
        </p:nvSpPr>
        <p:spPr>
          <a:xfrm>
            <a:off x="4023360" y="4809744"/>
            <a:ext cx="4114800" cy="603504"/>
          </a:xfrm>
          <a:prstGeom prst="rect">
            <a:avLst/>
          </a:prstGeom>
          <a:solidFill>
            <a:srgbClr val="F6EAE6"/>
          </a:solidFill>
          <a:ln w="15875">
            <a:solidFill>
              <a:srgbClr val="8C3A2B"/>
            </a:solidFill>
            <a:prstDash val="solid"/>
          </a:ln>
        </p:spPr>
      </p:sp>
      <p:sp>
        <p:nvSpPr>
          <p:cNvPr id="39" name="Text 37"/>
          <p:cNvSpPr txBox="1"/>
          <p:nvPr/>
        </p:nvSpPr>
        <p:spPr>
          <a:xfrm>
            <a:off x="4059936" y="4809744"/>
            <a:ext cx="4041648" cy="603504"/>
          </a:xfrm>
          <a:prstGeom prst="rect">
            <a:avLst/>
          </a:prstGeom>
          <a:noFill/>
          <a:ln/>
        </p:spPr>
        <p:txBody>
          <a:bodyPr wrap="square" lIns="0" tIns="0" rIns="0" bIns="0" rtlCol="0" anchor="ctr"/>
          <a:lstStyle/>
          <a:p>
            <a:pPr algn="ctr" indent="0" marL="0">
              <a:lnSpc>
                <a:spcPts val="1100"/>
              </a:lnSpc>
              <a:buNone/>
            </a:pPr>
            <a:r>
              <a:rPr lang="en-US" sz="1300" dirty="0">
                <a:solidFill>
                  <a:srgbClr val="8C3A2B"/>
                </a:solidFill>
                <a:latin typeface="Calibri" pitchFamily="34" charset="0"/>
                <a:ea typeface="Calibri" pitchFamily="34" charset="-122"/>
                <a:cs typeface="Calibri" pitchFamily="34" charset="-120"/>
              </a:rPr>
              <a:t>ÖZ  —  markanın tek cümlesi</a:t>
            </a:r>
            <a:endParaRPr lang="en-US" sz="1300" dirty="0"/>
          </a:p>
        </p:txBody>
      </p:sp>
      <p:sp>
        <p:nvSpPr>
          <p:cNvPr id="40" name="Text 38"/>
          <p:cNvSpPr txBox="1"/>
          <p:nvPr/>
        </p:nvSpPr>
        <p:spPr>
          <a:xfrm>
            <a:off x="777240" y="5623560"/>
            <a:ext cx="10424160" cy="365760"/>
          </a:xfrm>
          <a:prstGeom prst="rect">
            <a:avLst/>
          </a:prstGeom>
          <a:noFill/>
          <a:ln/>
        </p:spPr>
        <p:txBody>
          <a:bodyPr wrap="square" lIns="0" tIns="0" rIns="0" bIns="0" rtlCol="0" anchor="ctr"/>
          <a:lstStyle/>
          <a:p>
            <a:pPr algn="l" indent="0" marL="0">
              <a:lnSpc>
                <a:spcPts val="1200"/>
              </a:lnSpc>
              <a:buNone/>
            </a:pPr>
            <a:r>
              <a:rPr lang="en-US" sz="1200" i="1" dirty="0">
                <a:solidFill>
                  <a:srgbClr val="8C3A2B"/>
                </a:solidFill>
                <a:latin typeface="Cambria" pitchFamily="34" charset="0"/>
                <a:ea typeface="Cambria" pitchFamily="34" charset="-122"/>
                <a:cs typeface="Cambria" pitchFamily="34" charset="-120"/>
              </a:rPr>
              <a:t>Huninin yönü önemlidir: öz yukarıdan aşağı doğru üretilir, aşağıdan yukarı uydurulmaz (Micheaux &amp; Bosio, 2019).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Bileşenler ne soruyor?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9</a:t>
            </a:r>
            <a:endParaRPr lang="en-US" sz="950" dirty="0"/>
          </a:p>
        </p:txBody>
      </p:sp>
      <p:sp>
        <p:nvSpPr>
          <p:cNvPr id="5" name="Text 3"/>
          <p:cNvSpPr txBox="1"/>
          <p:nvPr/>
        </p:nvSpPr>
        <p:spPr>
          <a:xfrm>
            <a:off x="777240" y="1554480"/>
            <a:ext cx="10634472" cy="5486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Her bileşen, cevabı bir cümleyle verilebilecek tek bir soruya karşılık gelir. Cevaplar markadan, müşteriden ve rakiplerden toplanan bilgiye dayanmalı; tahminle doldurulan bir satır sonraki bütün adımları bozar.</a:t>
            </a:r>
            <a:endParaRPr lang="en-US" sz="1400" dirty="0"/>
          </a:p>
        </p:txBody>
      </p:sp>
      <p:sp>
        <p:nvSpPr>
          <p:cNvPr id="6" name="Shape 4"/>
          <p:cNvSpPr/>
          <p:nvPr/>
        </p:nvSpPr>
        <p:spPr>
          <a:xfrm>
            <a:off x="818388" y="2363724"/>
            <a:ext cx="100584" cy="100584"/>
          </a:xfrm>
          <a:prstGeom prst="ellipse">
            <a:avLst/>
          </a:prstGeom>
          <a:solidFill>
            <a:srgbClr val="8C3A2B"/>
          </a:solidFill>
          <a:ln w="12700">
            <a:solidFill>
              <a:srgbClr val="8C3A2B"/>
            </a:solidFill>
            <a:prstDash val="solid"/>
          </a:ln>
        </p:spPr>
      </p:sp>
      <p:sp>
        <p:nvSpPr>
          <p:cNvPr id="7" name="Text 5"/>
          <p:cNvSpPr txBox="1"/>
          <p:nvPr/>
        </p:nvSpPr>
        <p:spPr>
          <a:xfrm>
            <a:off x="1078992" y="2286000"/>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Kök güç</a:t>
            </a:r>
            <a:endParaRPr lang="en-US" sz="1400" dirty="0"/>
          </a:p>
        </p:txBody>
      </p:sp>
      <p:sp>
        <p:nvSpPr>
          <p:cNvPr id="8" name="Text 6"/>
          <p:cNvSpPr txBox="1"/>
          <p:nvPr/>
        </p:nvSpPr>
        <p:spPr>
          <a:xfrm>
            <a:off x="1078992" y="2560320"/>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Marka nereden geliyor; kim, neden kurmuş?</a:t>
            </a:r>
            <a:endParaRPr lang="en-US" sz="1100" dirty="0"/>
          </a:p>
        </p:txBody>
      </p:sp>
      <p:sp>
        <p:nvSpPr>
          <p:cNvPr id="9" name="Shape 7"/>
          <p:cNvSpPr/>
          <p:nvPr/>
        </p:nvSpPr>
        <p:spPr>
          <a:xfrm>
            <a:off x="818388" y="3076956"/>
            <a:ext cx="100584" cy="100584"/>
          </a:xfrm>
          <a:prstGeom prst="ellipse">
            <a:avLst/>
          </a:prstGeom>
          <a:solidFill>
            <a:srgbClr val="8C3A2B"/>
          </a:solidFill>
          <a:ln w="12700">
            <a:solidFill>
              <a:srgbClr val="8C3A2B"/>
            </a:solidFill>
            <a:prstDash val="solid"/>
          </a:ln>
        </p:spPr>
      </p:sp>
      <p:sp>
        <p:nvSpPr>
          <p:cNvPr id="10" name="Text 8"/>
          <p:cNvSpPr txBox="1"/>
          <p:nvPr/>
        </p:nvSpPr>
        <p:spPr>
          <a:xfrm>
            <a:off x="1078992" y="2999232"/>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Rekabet ortamı</a:t>
            </a:r>
            <a:endParaRPr lang="en-US" sz="1400" dirty="0"/>
          </a:p>
        </p:txBody>
      </p:sp>
      <p:sp>
        <p:nvSpPr>
          <p:cNvPr id="11" name="Text 9"/>
          <p:cNvSpPr txBox="1"/>
          <p:nvPr/>
        </p:nvSpPr>
        <p:spPr>
          <a:xfrm>
            <a:off x="1078992" y="3273552"/>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Müşteri bu markayı hangi seçeneklerle yan yana koyuyor?</a:t>
            </a:r>
            <a:endParaRPr lang="en-US" sz="1100" dirty="0"/>
          </a:p>
        </p:txBody>
      </p:sp>
      <p:sp>
        <p:nvSpPr>
          <p:cNvPr id="12" name="Shape 10"/>
          <p:cNvSpPr/>
          <p:nvPr/>
        </p:nvSpPr>
        <p:spPr>
          <a:xfrm>
            <a:off x="818388" y="3790188"/>
            <a:ext cx="100584" cy="100584"/>
          </a:xfrm>
          <a:prstGeom prst="ellipse">
            <a:avLst/>
          </a:prstGeom>
          <a:solidFill>
            <a:srgbClr val="8C3A2B"/>
          </a:solidFill>
          <a:ln w="12700">
            <a:solidFill>
              <a:srgbClr val="8C3A2B"/>
            </a:solidFill>
            <a:prstDash val="solid"/>
          </a:ln>
        </p:spPr>
      </p:sp>
      <p:sp>
        <p:nvSpPr>
          <p:cNvPr id="13" name="Text 11"/>
          <p:cNvSpPr txBox="1"/>
          <p:nvPr/>
        </p:nvSpPr>
        <p:spPr>
          <a:xfrm>
            <a:off x="1078992" y="3712464"/>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Hedef kitle</a:t>
            </a:r>
            <a:endParaRPr lang="en-US" sz="1400" dirty="0"/>
          </a:p>
        </p:txBody>
      </p:sp>
      <p:sp>
        <p:nvSpPr>
          <p:cNvPr id="14" name="Text 12"/>
          <p:cNvSpPr txBox="1"/>
          <p:nvPr/>
        </p:nvSpPr>
        <p:spPr>
          <a:xfrm>
            <a:off x="1078992" y="3986784"/>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Kime sesleniyor; yaşla değil davranışla tarif edilebilir mi?</a:t>
            </a:r>
            <a:endParaRPr lang="en-US" sz="1100" dirty="0"/>
          </a:p>
        </p:txBody>
      </p:sp>
      <p:sp>
        <p:nvSpPr>
          <p:cNvPr id="15" name="Shape 13"/>
          <p:cNvSpPr/>
          <p:nvPr/>
        </p:nvSpPr>
        <p:spPr>
          <a:xfrm>
            <a:off x="818388" y="4503420"/>
            <a:ext cx="100584" cy="100584"/>
          </a:xfrm>
          <a:prstGeom prst="ellipse">
            <a:avLst/>
          </a:prstGeom>
          <a:solidFill>
            <a:srgbClr val="8C3A2B"/>
          </a:solidFill>
          <a:ln w="12700">
            <a:solidFill>
              <a:srgbClr val="8C3A2B"/>
            </a:solidFill>
            <a:prstDash val="solid"/>
          </a:ln>
        </p:spPr>
      </p:sp>
      <p:sp>
        <p:nvSpPr>
          <p:cNvPr id="16" name="Text 14"/>
          <p:cNvSpPr txBox="1"/>
          <p:nvPr/>
        </p:nvSpPr>
        <p:spPr>
          <a:xfrm>
            <a:off x="1078992" y="4425696"/>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İçgörü</a:t>
            </a:r>
            <a:endParaRPr lang="en-US" sz="1400" dirty="0"/>
          </a:p>
        </p:txBody>
      </p:sp>
      <p:sp>
        <p:nvSpPr>
          <p:cNvPr id="17" name="Text 15"/>
          <p:cNvSpPr txBox="1"/>
          <p:nvPr/>
        </p:nvSpPr>
        <p:spPr>
          <a:xfrm>
            <a:off x="1078992" y="4700016"/>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Müşterinin dile getirmediği ama yaşadığı gerçek ne?</a:t>
            </a:r>
            <a:endParaRPr lang="en-US" sz="1100" dirty="0"/>
          </a:p>
        </p:txBody>
      </p:sp>
      <p:sp>
        <p:nvSpPr>
          <p:cNvPr id="18" name="Shape 16"/>
          <p:cNvSpPr/>
          <p:nvPr/>
        </p:nvSpPr>
        <p:spPr>
          <a:xfrm>
            <a:off x="818388" y="5216652"/>
            <a:ext cx="100584" cy="100584"/>
          </a:xfrm>
          <a:prstGeom prst="ellipse">
            <a:avLst/>
          </a:prstGeom>
          <a:solidFill>
            <a:srgbClr val="8C3A2B"/>
          </a:solidFill>
          <a:ln w="12700">
            <a:solidFill>
              <a:srgbClr val="8C3A2B"/>
            </a:solidFill>
            <a:prstDash val="solid"/>
          </a:ln>
        </p:spPr>
      </p:sp>
      <p:sp>
        <p:nvSpPr>
          <p:cNvPr id="19" name="Text 17"/>
          <p:cNvSpPr txBox="1"/>
          <p:nvPr/>
        </p:nvSpPr>
        <p:spPr>
          <a:xfrm>
            <a:off x="1078992" y="5138928"/>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Faydalar</a:t>
            </a:r>
            <a:endParaRPr lang="en-US" sz="1400" dirty="0"/>
          </a:p>
        </p:txBody>
      </p:sp>
      <p:sp>
        <p:nvSpPr>
          <p:cNvPr id="20" name="Text 18"/>
          <p:cNvSpPr txBox="1"/>
          <p:nvPr/>
        </p:nvSpPr>
        <p:spPr>
          <a:xfrm>
            <a:off x="1078992" y="5413248"/>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Ürün ne işe yarıyor, insanı ne hissettiriyor?</a:t>
            </a:r>
            <a:endParaRPr lang="en-US" sz="1100" dirty="0"/>
          </a:p>
        </p:txBody>
      </p:sp>
      <p:sp>
        <p:nvSpPr>
          <p:cNvPr id="21" name="Shape 19"/>
          <p:cNvSpPr/>
          <p:nvPr/>
        </p:nvSpPr>
        <p:spPr>
          <a:xfrm>
            <a:off x="6423660" y="2363724"/>
            <a:ext cx="100584" cy="100584"/>
          </a:xfrm>
          <a:prstGeom prst="ellipse">
            <a:avLst/>
          </a:prstGeom>
          <a:solidFill>
            <a:srgbClr val="8C3A2B"/>
          </a:solidFill>
          <a:ln w="12700">
            <a:solidFill>
              <a:srgbClr val="8C3A2B"/>
            </a:solidFill>
            <a:prstDash val="solid"/>
          </a:ln>
        </p:spPr>
      </p:sp>
      <p:sp>
        <p:nvSpPr>
          <p:cNvPr id="22" name="Text 20"/>
          <p:cNvSpPr txBox="1"/>
          <p:nvPr/>
        </p:nvSpPr>
        <p:spPr>
          <a:xfrm>
            <a:off x="6684264" y="2286000"/>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Değerler ve kişilik</a:t>
            </a:r>
            <a:endParaRPr lang="en-US" sz="1400" dirty="0"/>
          </a:p>
        </p:txBody>
      </p:sp>
      <p:sp>
        <p:nvSpPr>
          <p:cNvPr id="23" name="Text 21"/>
          <p:cNvSpPr txBox="1"/>
          <p:nvPr/>
        </p:nvSpPr>
        <p:spPr>
          <a:xfrm>
            <a:off x="6684264" y="2560320"/>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Bu marka bir insan olsa nasıl biri olurdu?</a:t>
            </a:r>
            <a:endParaRPr lang="en-US" sz="1100" dirty="0"/>
          </a:p>
        </p:txBody>
      </p:sp>
      <p:sp>
        <p:nvSpPr>
          <p:cNvPr id="24" name="Shape 22"/>
          <p:cNvSpPr/>
          <p:nvPr/>
        </p:nvSpPr>
        <p:spPr>
          <a:xfrm>
            <a:off x="6423660" y="3076956"/>
            <a:ext cx="100584" cy="100584"/>
          </a:xfrm>
          <a:prstGeom prst="ellipse">
            <a:avLst/>
          </a:prstGeom>
          <a:solidFill>
            <a:srgbClr val="8C3A2B"/>
          </a:solidFill>
          <a:ln w="12700">
            <a:solidFill>
              <a:srgbClr val="8C3A2B"/>
            </a:solidFill>
            <a:prstDash val="solid"/>
          </a:ln>
        </p:spPr>
      </p:sp>
      <p:sp>
        <p:nvSpPr>
          <p:cNvPr id="25" name="Text 23"/>
          <p:cNvSpPr txBox="1"/>
          <p:nvPr/>
        </p:nvSpPr>
        <p:spPr>
          <a:xfrm>
            <a:off x="6684264" y="2999232"/>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İnanma nedeni</a:t>
            </a:r>
            <a:endParaRPr lang="en-US" sz="1400" dirty="0"/>
          </a:p>
        </p:txBody>
      </p:sp>
      <p:sp>
        <p:nvSpPr>
          <p:cNvPr id="26" name="Text 24"/>
          <p:cNvSpPr txBox="1"/>
          <p:nvPr/>
        </p:nvSpPr>
        <p:spPr>
          <a:xfrm>
            <a:off x="6684264" y="3273552"/>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Vaadin doğru olduğunu gösteren somut kanıt ne?</a:t>
            </a:r>
            <a:endParaRPr lang="en-US" sz="1100" dirty="0"/>
          </a:p>
        </p:txBody>
      </p:sp>
      <p:sp>
        <p:nvSpPr>
          <p:cNvPr id="27" name="Shape 25"/>
          <p:cNvSpPr/>
          <p:nvPr/>
        </p:nvSpPr>
        <p:spPr>
          <a:xfrm>
            <a:off x="6423660" y="3790188"/>
            <a:ext cx="100584" cy="100584"/>
          </a:xfrm>
          <a:prstGeom prst="ellipse">
            <a:avLst/>
          </a:prstGeom>
          <a:solidFill>
            <a:srgbClr val="8C3A2B"/>
          </a:solidFill>
          <a:ln w="12700">
            <a:solidFill>
              <a:srgbClr val="8C3A2B"/>
            </a:solidFill>
            <a:prstDash val="solid"/>
          </a:ln>
        </p:spPr>
      </p:sp>
      <p:sp>
        <p:nvSpPr>
          <p:cNvPr id="28" name="Text 26"/>
          <p:cNvSpPr txBox="1"/>
          <p:nvPr/>
        </p:nvSpPr>
        <p:spPr>
          <a:xfrm>
            <a:off x="6684264" y="3712464"/>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Ayırt edici güç</a:t>
            </a:r>
            <a:endParaRPr lang="en-US" sz="1400" dirty="0"/>
          </a:p>
        </p:txBody>
      </p:sp>
      <p:sp>
        <p:nvSpPr>
          <p:cNvPr id="29" name="Text 27"/>
          <p:cNvSpPr txBox="1"/>
          <p:nvPr/>
        </p:nvSpPr>
        <p:spPr>
          <a:xfrm>
            <a:off x="6684264" y="3986784"/>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Rakiplerin söyleyemeyeceği tek şey ne?</a:t>
            </a:r>
            <a:endParaRPr lang="en-US" sz="1100" dirty="0"/>
          </a:p>
        </p:txBody>
      </p:sp>
      <p:sp>
        <p:nvSpPr>
          <p:cNvPr id="30" name="Shape 28"/>
          <p:cNvSpPr/>
          <p:nvPr/>
        </p:nvSpPr>
        <p:spPr>
          <a:xfrm>
            <a:off x="6423660" y="4503420"/>
            <a:ext cx="100584" cy="100584"/>
          </a:xfrm>
          <a:prstGeom prst="ellipse">
            <a:avLst/>
          </a:prstGeom>
          <a:solidFill>
            <a:srgbClr val="8C3A2B"/>
          </a:solidFill>
          <a:ln w="12700">
            <a:solidFill>
              <a:srgbClr val="8C3A2B"/>
            </a:solidFill>
            <a:prstDash val="solid"/>
          </a:ln>
        </p:spPr>
      </p:sp>
      <p:sp>
        <p:nvSpPr>
          <p:cNvPr id="31" name="Text 29"/>
          <p:cNvSpPr txBox="1"/>
          <p:nvPr/>
        </p:nvSpPr>
        <p:spPr>
          <a:xfrm>
            <a:off x="6684264" y="4425696"/>
            <a:ext cx="4727448" cy="256032"/>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Öz</a:t>
            </a:r>
            <a:endParaRPr lang="en-US" sz="1400" dirty="0"/>
          </a:p>
        </p:txBody>
      </p:sp>
      <p:sp>
        <p:nvSpPr>
          <p:cNvPr id="32" name="Text 30"/>
          <p:cNvSpPr txBox="1"/>
          <p:nvPr/>
        </p:nvSpPr>
        <p:spPr>
          <a:xfrm>
            <a:off x="6684264" y="4700016"/>
            <a:ext cx="4727448" cy="402336"/>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Hepsini tek cümlede toplarsak ne kalır?</a:t>
            </a:r>
            <a:endParaRPr lang="en-US" sz="1100" dirty="0"/>
          </a:p>
        </p:txBody>
      </p:sp>
      <p:sp>
        <p:nvSpPr>
          <p:cNvPr id="33" name="Shape 31"/>
          <p:cNvSpPr/>
          <p:nvPr/>
        </p:nvSpPr>
        <p:spPr>
          <a:xfrm>
            <a:off x="5989320" y="2240280"/>
            <a:ext cx="0" cy="3520440"/>
          </a:xfrm>
          <a:prstGeom prst="line">
            <a:avLst/>
          </a:prstGeom>
          <a:noFill/>
          <a:ln w="9525">
            <a:solidFill>
              <a:srgbClr val="C9C9C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Stüdyo için uyarlanmış hâli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10</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Pazarlama kökenli şablon iç mimarlık stüdyosunda olduğu gibi kullanılmaz. Bazı başlıklar küçük ve yeni bir markada karşılıksız kalır; buna karşılık mekâna doğrudan çevrilebilecek iki başlık şablonda yoktur. Aşağıdaki uyarlama, tasarım stüdyolarında yaygın biçimde kullanılan hâlidir.</a:t>
            </a:r>
            <a:endParaRPr lang="en-US" sz="1400" dirty="0"/>
          </a:p>
        </p:txBody>
      </p:sp>
      <p:sp>
        <p:nvSpPr>
          <p:cNvPr id="6" name="Text 4"/>
          <p:cNvSpPr txBox="1"/>
          <p:nvPr/>
        </p:nvSpPr>
        <p:spPr>
          <a:xfrm>
            <a:off x="777240" y="2487168"/>
            <a:ext cx="5029200" cy="274320"/>
          </a:xfrm>
          <a:prstGeom prst="rect">
            <a:avLst/>
          </a:prstGeom>
          <a:noFill/>
          <a:ln/>
        </p:spPr>
        <p:txBody>
          <a:bodyPr wrap="square" lIns="0" tIns="0" rIns="0" bIns="0" rtlCol="0" anchor="ctr"/>
          <a:lstStyle/>
          <a:p>
            <a:pPr algn="l" indent="0" marL="0">
              <a:lnSpc>
                <a:spcPts val="1200"/>
              </a:lnSpc>
              <a:buNone/>
            </a:pPr>
            <a:r>
              <a:rPr lang="en-US" sz="900" b="1" dirty="0">
                <a:solidFill>
                  <a:srgbClr val="7A7A82"/>
                </a:solidFill>
                <a:latin typeface="Calibri" pitchFamily="34" charset="0"/>
                <a:ea typeface="Calibri" pitchFamily="34" charset="-122"/>
                <a:cs typeface="Calibri" pitchFamily="34" charset="-120"/>
              </a:rPr>
              <a:t>ÇIKARILANLAR</a:t>
            </a:r>
            <a:endParaRPr lang="en-US" sz="900" dirty="0"/>
          </a:p>
        </p:txBody>
      </p:sp>
      <p:sp>
        <p:nvSpPr>
          <p:cNvPr id="7" name="Text 5"/>
          <p:cNvSpPr txBox="1"/>
          <p:nvPr/>
        </p:nvSpPr>
        <p:spPr>
          <a:xfrm>
            <a:off x="777240" y="2788920"/>
            <a:ext cx="274320" cy="237744"/>
          </a:xfrm>
          <a:prstGeom prst="rect">
            <a:avLst/>
          </a:prstGeom>
          <a:noFill/>
          <a:ln/>
        </p:spPr>
        <p:txBody>
          <a:bodyPr wrap="square" lIns="0" tIns="0" rIns="0" bIns="0" rtlCol="0" anchor="ctr"/>
          <a:lstStyle/>
          <a:p>
            <a:pPr indent="0" marL="0">
              <a:buNone/>
            </a:pPr>
            <a:r>
              <a:rPr lang="en-US" sz="1300" dirty="0">
                <a:solidFill>
                  <a:srgbClr val="7A7A82"/>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069848" y="2788920"/>
            <a:ext cx="4736592" cy="256032"/>
          </a:xfrm>
          <a:prstGeom prst="rect">
            <a:avLst/>
          </a:prstGeom>
          <a:noFill/>
          <a:ln/>
        </p:spPr>
        <p:txBody>
          <a:bodyPr wrap="square" lIns="0" tIns="0" rIns="0" bIns="0" rtlCol="0" anchor="ctr"/>
          <a:lstStyle/>
          <a:p>
            <a:pPr indent="0" marL="0">
              <a:buNone/>
            </a:pPr>
            <a:r>
              <a:rPr lang="en-US" sz="1350" b="1" dirty="0">
                <a:solidFill>
                  <a:srgbClr val="7A7A82"/>
                </a:solidFill>
                <a:latin typeface="Cambria" pitchFamily="34" charset="0"/>
                <a:ea typeface="Cambria" pitchFamily="34" charset="-122"/>
                <a:cs typeface="Cambria" pitchFamily="34" charset="-120"/>
              </a:rPr>
              <a:t>İçgörü</a:t>
            </a:r>
            <a:endParaRPr lang="en-US" sz="1350" dirty="0"/>
          </a:p>
        </p:txBody>
      </p:sp>
      <p:sp>
        <p:nvSpPr>
          <p:cNvPr id="9" name="Text 7"/>
          <p:cNvSpPr txBox="1"/>
          <p:nvPr/>
        </p:nvSpPr>
        <p:spPr>
          <a:xfrm>
            <a:off x="1069848" y="3044952"/>
            <a:ext cx="4736592" cy="347472"/>
          </a:xfrm>
          <a:prstGeom prst="rect">
            <a:avLst/>
          </a:prstGeom>
          <a:noFill/>
          <a:ln/>
        </p:spPr>
        <p:txBody>
          <a:bodyPr wrap="square" lIns="0" tIns="0" rIns="0" bIns="0" rtlCol="0" anchor="ctr"/>
          <a:lstStyle/>
          <a:p>
            <a:pPr indent="0" marL="0">
              <a:lnSpc>
                <a:spcPts val="1300"/>
              </a:lnSpc>
              <a:buNone/>
            </a:pPr>
            <a:r>
              <a:rPr lang="en-US" sz="1050" dirty="0">
                <a:solidFill>
                  <a:srgbClr val="A6A6AC"/>
                </a:solidFill>
                <a:latin typeface="Calibri" pitchFamily="34" charset="0"/>
                <a:ea typeface="Calibri" pitchFamily="34" charset="-122"/>
                <a:cs typeface="Calibri" pitchFamily="34" charset="-120"/>
              </a:rPr>
              <a:t>yeni markada henüz ölçülmüş bir müşteri verisi yok</a:t>
            </a:r>
            <a:endParaRPr lang="en-US" sz="1050" dirty="0"/>
          </a:p>
        </p:txBody>
      </p:sp>
      <p:sp>
        <p:nvSpPr>
          <p:cNvPr id="10" name="Text 8"/>
          <p:cNvSpPr txBox="1"/>
          <p:nvPr/>
        </p:nvSpPr>
        <p:spPr>
          <a:xfrm>
            <a:off x="777240" y="3410712"/>
            <a:ext cx="274320" cy="237744"/>
          </a:xfrm>
          <a:prstGeom prst="rect">
            <a:avLst/>
          </a:prstGeom>
          <a:noFill/>
          <a:ln/>
        </p:spPr>
        <p:txBody>
          <a:bodyPr wrap="square" lIns="0" tIns="0" rIns="0" bIns="0" rtlCol="0" anchor="ctr"/>
          <a:lstStyle/>
          <a:p>
            <a:pPr indent="0" marL="0">
              <a:buNone/>
            </a:pPr>
            <a:r>
              <a:rPr lang="en-US" sz="1300" dirty="0">
                <a:solidFill>
                  <a:srgbClr val="7A7A82"/>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069848" y="3410712"/>
            <a:ext cx="4736592" cy="256032"/>
          </a:xfrm>
          <a:prstGeom prst="rect">
            <a:avLst/>
          </a:prstGeom>
          <a:noFill/>
          <a:ln/>
        </p:spPr>
        <p:txBody>
          <a:bodyPr wrap="square" lIns="0" tIns="0" rIns="0" bIns="0" rtlCol="0" anchor="ctr"/>
          <a:lstStyle/>
          <a:p>
            <a:pPr indent="0" marL="0">
              <a:buNone/>
            </a:pPr>
            <a:r>
              <a:rPr lang="en-US" sz="1350" b="1" dirty="0">
                <a:solidFill>
                  <a:srgbClr val="7A7A82"/>
                </a:solidFill>
                <a:latin typeface="Cambria" pitchFamily="34" charset="0"/>
                <a:ea typeface="Cambria" pitchFamily="34" charset="-122"/>
                <a:cs typeface="Cambria" pitchFamily="34" charset="-120"/>
              </a:rPr>
              <a:t>İnanma nedeni</a:t>
            </a:r>
            <a:endParaRPr lang="en-US" sz="1350" dirty="0"/>
          </a:p>
        </p:txBody>
      </p:sp>
      <p:sp>
        <p:nvSpPr>
          <p:cNvPr id="12" name="Text 10"/>
          <p:cNvSpPr txBox="1"/>
          <p:nvPr/>
        </p:nvSpPr>
        <p:spPr>
          <a:xfrm>
            <a:off x="1069848" y="3666744"/>
            <a:ext cx="4736592" cy="347472"/>
          </a:xfrm>
          <a:prstGeom prst="rect">
            <a:avLst/>
          </a:prstGeom>
          <a:noFill/>
          <a:ln/>
        </p:spPr>
        <p:txBody>
          <a:bodyPr wrap="square" lIns="0" tIns="0" rIns="0" bIns="0" rtlCol="0" anchor="ctr"/>
          <a:lstStyle/>
          <a:p>
            <a:pPr indent="0" marL="0">
              <a:lnSpc>
                <a:spcPts val="1300"/>
              </a:lnSpc>
              <a:buNone/>
            </a:pPr>
            <a:r>
              <a:rPr lang="en-US" sz="1050" dirty="0">
                <a:solidFill>
                  <a:srgbClr val="A6A6AC"/>
                </a:solidFill>
                <a:latin typeface="Calibri" pitchFamily="34" charset="0"/>
                <a:ea typeface="Calibri" pitchFamily="34" charset="-122"/>
                <a:cs typeface="Calibri" pitchFamily="34" charset="-120"/>
              </a:rPr>
              <a:t>kanıt çoğu zaman markanın kendi hikâyesiyle örtüşüyor</a:t>
            </a:r>
            <a:endParaRPr lang="en-US" sz="1050" dirty="0"/>
          </a:p>
        </p:txBody>
      </p:sp>
      <p:sp>
        <p:nvSpPr>
          <p:cNvPr id="13" name="Text 11"/>
          <p:cNvSpPr txBox="1"/>
          <p:nvPr/>
        </p:nvSpPr>
        <p:spPr>
          <a:xfrm>
            <a:off x="777240" y="4032504"/>
            <a:ext cx="274320" cy="237744"/>
          </a:xfrm>
          <a:prstGeom prst="rect">
            <a:avLst/>
          </a:prstGeom>
          <a:noFill/>
          <a:ln/>
        </p:spPr>
        <p:txBody>
          <a:bodyPr wrap="square" lIns="0" tIns="0" rIns="0" bIns="0" rtlCol="0" anchor="ctr"/>
          <a:lstStyle/>
          <a:p>
            <a:pPr indent="0" marL="0">
              <a:buNone/>
            </a:pPr>
            <a:r>
              <a:rPr lang="en-US" sz="1300" dirty="0">
                <a:solidFill>
                  <a:srgbClr val="7A7A82"/>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069848" y="4032504"/>
            <a:ext cx="4736592" cy="256032"/>
          </a:xfrm>
          <a:prstGeom prst="rect">
            <a:avLst/>
          </a:prstGeom>
          <a:noFill/>
          <a:ln/>
        </p:spPr>
        <p:txBody>
          <a:bodyPr wrap="square" lIns="0" tIns="0" rIns="0" bIns="0" rtlCol="0" anchor="ctr"/>
          <a:lstStyle/>
          <a:p>
            <a:pPr indent="0" marL="0">
              <a:buNone/>
            </a:pPr>
            <a:r>
              <a:rPr lang="en-US" sz="1350" b="1" dirty="0">
                <a:solidFill>
                  <a:srgbClr val="7A7A82"/>
                </a:solidFill>
                <a:latin typeface="Cambria" pitchFamily="34" charset="0"/>
                <a:ea typeface="Cambria" pitchFamily="34" charset="-122"/>
                <a:cs typeface="Cambria" pitchFamily="34" charset="-120"/>
              </a:rPr>
              <a:t>Ayırt edici güç</a:t>
            </a:r>
            <a:endParaRPr lang="en-US" sz="1350" dirty="0"/>
          </a:p>
        </p:txBody>
      </p:sp>
      <p:sp>
        <p:nvSpPr>
          <p:cNvPr id="15" name="Text 13"/>
          <p:cNvSpPr txBox="1"/>
          <p:nvPr/>
        </p:nvSpPr>
        <p:spPr>
          <a:xfrm>
            <a:off x="1069848" y="4288536"/>
            <a:ext cx="4736592" cy="347472"/>
          </a:xfrm>
          <a:prstGeom prst="rect">
            <a:avLst/>
          </a:prstGeom>
          <a:noFill/>
          <a:ln/>
        </p:spPr>
        <p:txBody>
          <a:bodyPr wrap="square" lIns="0" tIns="0" rIns="0" bIns="0" rtlCol="0" anchor="ctr"/>
          <a:lstStyle/>
          <a:p>
            <a:pPr indent="0" marL="0">
              <a:lnSpc>
                <a:spcPts val="1300"/>
              </a:lnSpc>
              <a:buNone/>
            </a:pPr>
            <a:r>
              <a:rPr lang="en-US" sz="1050" dirty="0">
                <a:solidFill>
                  <a:srgbClr val="A6A6AC"/>
                </a:solidFill>
                <a:latin typeface="Calibri" pitchFamily="34" charset="0"/>
                <a:ea typeface="Calibri" pitchFamily="34" charset="-122"/>
                <a:cs typeface="Calibri" pitchFamily="34" charset="-120"/>
              </a:rPr>
              <a:t>değerler ve kişilik başlığının içinde eriyor</a:t>
            </a:r>
            <a:endParaRPr lang="en-US" sz="1050" dirty="0"/>
          </a:p>
        </p:txBody>
      </p:sp>
      <p:sp>
        <p:nvSpPr>
          <p:cNvPr id="16" name="Text 14"/>
          <p:cNvSpPr txBox="1"/>
          <p:nvPr/>
        </p:nvSpPr>
        <p:spPr>
          <a:xfrm>
            <a:off x="6382512" y="2487168"/>
            <a:ext cx="5029200" cy="274320"/>
          </a:xfrm>
          <a:prstGeom prst="rect">
            <a:avLst/>
          </a:prstGeom>
          <a:noFill/>
          <a:ln/>
        </p:spPr>
        <p:txBody>
          <a:bodyPr wrap="square" lIns="0" tIns="0" rIns="0" bIns="0" rtlCol="0" anchor="ctr"/>
          <a:lstStyle/>
          <a:p>
            <a:pPr algn="l" indent="0" marL="0">
              <a:lnSpc>
                <a:spcPts val="1200"/>
              </a:lnSpc>
              <a:buNone/>
            </a:pPr>
            <a:r>
              <a:rPr lang="en-US" sz="900" b="1" dirty="0">
                <a:solidFill>
                  <a:srgbClr val="8C3A2B"/>
                </a:solidFill>
                <a:latin typeface="Calibri" pitchFamily="34" charset="0"/>
                <a:ea typeface="Calibri" pitchFamily="34" charset="-122"/>
                <a:cs typeface="Calibri" pitchFamily="34" charset="-120"/>
              </a:rPr>
              <a:t>EKLENENLER</a:t>
            </a:r>
            <a:endParaRPr lang="en-US" sz="900" dirty="0"/>
          </a:p>
        </p:txBody>
      </p:sp>
      <p:sp>
        <p:nvSpPr>
          <p:cNvPr id="17" name="Text 15"/>
          <p:cNvSpPr txBox="1"/>
          <p:nvPr/>
        </p:nvSpPr>
        <p:spPr>
          <a:xfrm>
            <a:off x="6382512" y="2788920"/>
            <a:ext cx="274320" cy="237744"/>
          </a:xfrm>
          <a:prstGeom prst="rect">
            <a:avLst/>
          </a:prstGeom>
          <a:noFill/>
          <a:ln/>
        </p:spPr>
        <p:txBody>
          <a:bodyPr wrap="square" lIns="0" tIns="0" rIns="0" bIns="0" rtlCol="0" anchor="ctr"/>
          <a:lstStyle/>
          <a:p>
            <a:pPr indent="0" marL="0">
              <a:buNone/>
            </a:pPr>
            <a:r>
              <a:rPr lang="en-US" sz="1300" b="1" dirty="0">
                <a:solidFill>
                  <a:srgbClr val="8C3A2B"/>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6675120" y="2788920"/>
            <a:ext cx="4736592" cy="256032"/>
          </a:xfrm>
          <a:prstGeom prst="rect">
            <a:avLst/>
          </a:prstGeom>
          <a:noFill/>
          <a:ln/>
        </p:spPr>
        <p:txBody>
          <a:bodyPr wrap="square" lIns="0" tIns="0" rIns="0" bIns="0" rtlCol="0" anchor="ctr"/>
          <a:lstStyle/>
          <a:p>
            <a:pPr indent="0" marL="0">
              <a:buNone/>
            </a:pPr>
            <a:r>
              <a:rPr lang="en-US" sz="1350" b="1" dirty="0">
                <a:solidFill>
                  <a:srgbClr val="8C3A2B"/>
                </a:solidFill>
                <a:latin typeface="Cambria" pitchFamily="34" charset="0"/>
                <a:ea typeface="Cambria" pitchFamily="34" charset="-122"/>
                <a:cs typeface="Cambria" pitchFamily="34" charset="-120"/>
              </a:rPr>
              <a:t>Hedefler ve misyon</a:t>
            </a:r>
            <a:endParaRPr lang="en-US" sz="1350" dirty="0"/>
          </a:p>
        </p:txBody>
      </p:sp>
      <p:sp>
        <p:nvSpPr>
          <p:cNvPr id="19" name="Text 17"/>
          <p:cNvSpPr txBox="1"/>
          <p:nvPr/>
        </p:nvSpPr>
        <p:spPr>
          <a:xfrm>
            <a:off x="6675120" y="3044952"/>
            <a:ext cx="4736592"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markanın beş yıl sonra nerede olmak istediği — mekânın esnekliğini belirler</a:t>
            </a:r>
            <a:endParaRPr lang="en-US" sz="1050" dirty="0"/>
          </a:p>
        </p:txBody>
      </p:sp>
      <p:sp>
        <p:nvSpPr>
          <p:cNvPr id="20" name="Text 18"/>
          <p:cNvSpPr txBox="1"/>
          <p:nvPr/>
        </p:nvSpPr>
        <p:spPr>
          <a:xfrm>
            <a:off x="6382512" y="3410712"/>
            <a:ext cx="274320" cy="237744"/>
          </a:xfrm>
          <a:prstGeom prst="rect">
            <a:avLst/>
          </a:prstGeom>
          <a:noFill/>
          <a:ln/>
        </p:spPr>
        <p:txBody>
          <a:bodyPr wrap="square" lIns="0" tIns="0" rIns="0" bIns="0" rtlCol="0" anchor="ctr"/>
          <a:lstStyle/>
          <a:p>
            <a:pPr indent="0" marL="0">
              <a:buNone/>
            </a:pPr>
            <a:r>
              <a:rPr lang="en-US" sz="1300" b="1" dirty="0">
                <a:solidFill>
                  <a:srgbClr val="8C3A2B"/>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6675120" y="3410712"/>
            <a:ext cx="4736592" cy="256032"/>
          </a:xfrm>
          <a:prstGeom prst="rect">
            <a:avLst/>
          </a:prstGeom>
          <a:noFill/>
          <a:ln/>
        </p:spPr>
        <p:txBody>
          <a:bodyPr wrap="square" lIns="0" tIns="0" rIns="0" bIns="0" rtlCol="0" anchor="ctr"/>
          <a:lstStyle/>
          <a:p>
            <a:pPr indent="0" marL="0">
              <a:buNone/>
            </a:pPr>
            <a:r>
              <a:rPr lang="en-US" sz="1350" b="1" dirty="0">
                <a:solidFill>
                  <a:srgbClr val="8C3A2B"/>
                </a:solidFill>
                <a:latin typeface="Cambria" pitchFamily="34" charset="0"/>
                <a:ea typeface="Cambria" pitchFamily="34" charset="-122"/>
                <a:cs typeface="Cambria" pitchFamily="34" charset="-120"/>
              </a:rPr>
              <a:t>Görünüm</a:t>
            </a:r>
            <a:endParaRPr lang="en-US" sz="1350" dirty="0"/>
          </a:p>
        </p:txBody>
      </p:sp>
      <p:sp>
        <p:nvSpPr>
          <p:cNvPr id="22" name="Text 20"/>
          <p:cNvSpPr txBox="1"/>
          <p:nvPr/>
        </p:nvSpPr>
        <p:spPr>
          <a:xfrm>
            <a:off x="6675120" y="3666744"/>
            <a:ext cx="4736592"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markanın malzemesi, rengi, dokusu, biçim dili</a:t>
            </a:r>
            <a:endParaRPr lang="en-US" sz="1050" dirty="0"/>
          </a:p>
        </p:txBody>
      </p:sp>
      <p:sp>
        <p:nvSpPr>
          <p:cNvPr id="23" name="Text 21"/>
          <p:cNvSpPr txBox="1"/>
          <p:nvPr/>
        </p:nvSpPr>
        <p:spPr>
          <a:xfrm>
            <a:off x="6382512" y="4032504"/>
            <a:ext cx="274320" cy="237744"/>
          </a:xfrm>
          <a:prstGeom prst="rect">
            <a:avLst/>
          </a:prstGeom>
          <a:noFill/>
          <a:ln/>
        </p:spPr>
        <p:txBody>
          <a:bodyPr wrap="square" lIns="0" tIns="0" rIns="0" bIns="0" rtlCol="0" anchor="ctr"/>
          <a:lstStyle/>
          <a:p>
            <a:pPr indent="0" marL="0">
              <a:buNone/>
            </a:pPr>
            <a:r>
              <a:rPr lang="en-US" sz="1300" b="1" dirty="0">
                <a:solidFill>
                  <a:srgbClr val="8C3A2B"/>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6675120" y="4032504"/>
            <a:ext cx="4736592" cy="256032"/>
          </a:xfrm>
          <a:prstGeom prst="rect">
            <a:avLst/>
          </a:prstGeom>
          <a:noFill/>
          <a:ln/>
        </p:spPr>
        <p:txBody>
          <a:bodyPr wrap="square" lIns="0" tIns="0" rIns="0" bIns="0" rtlCol="0" anchor="ctr"/>
          <a:lstStyle/>
          <a:p>
            <a:pPr indent="0" marL="0">
              <a:buNone/>
            </a:pPr>
            <a:r>
              <a:rPr lang="en-US" sz="1350" b="1" dirty="0">
                <a:solidFill>
                  <a:srgbClr val="8C3A2B"/>
                </a:solidFill>
                <a:latin typeface="Cambria" pitchFamily="34" charset="0"/>
                <a:ea typeface="Cambria" pitchFamily="34" charset="-122"/>
                <a:cs typeface="Cambria" pitchFamily="34" charset="-120"/>
              </a:rPr>
              <a:t>İletişim dili</a:t>
            </a:r>
            <a:endParaRPr lang="en-US" sz="1350" dirty="0"/>
          </a:p>
        </p:txBody>
      </p:sp>
      <p:sp>
        <p:nvSpPr>
          <p:cNvPr id="25" name="Text 23"/>
          <p:cNvSpPr txBox="1"/>
          <p:nvPr/>
        </p:nvSpPr>
        <p:spPr>
          <a:xfrm>
            <a:off x="6675120" y="4288536"/>
            <a:ext cx="4736592"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nasıl konuştuğu: yazısı, tabelası, sesi, sessizliği</a:t>
            </a:r>
            <a:endParaRPr lang="en-US" sz="1050" dirty="0"/>
          </a:p>
        </p:txBody>
      </p:sp>
      <p:sp>
        <p:nvSpPr>
          <p:cNvPr id="26" name="Shape 24"/>
          <p:cNvSpPr/>
          <p:nvPr/>
        </p:nvSpPr>
        <p:spPr>
          <a:xfrm>
            <a:off x="777240" y="4864608"/>
            <a:ext cx="10634472" cy="0"/>
          </a:xfrm>
          <a:prstGeom prst="line">
            <a:avLst/>
          </a:prstGeom>
          <a:noFill/>
          <a:ln w="9525">
            <a:solidFill>
              <a:srgbClr val="C9C9CF"/>
            </a:solidFill>
            <a:prstDash val="solid"/>
          </a:ln>
        </p:spPr>
      </p:sp>
      <p:sp>
        <p:nvSpPr>
          <p:cNvPr id="27" name="Text 25"/>
          <p:cNvSpPr txBox="1"/>
          <p:nvPr/>
        </p:nvSpPr>
        <p:spPr>
          <a:xfrm>
            <a:off x="777240" y="5010912"/>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STÜDYODA DOLDURULACAK SEKİZ BAŞLIK</a:t>
            </a:r>
            <a:endParaRPr lang="en-US" sz="900" dirty="0"/>
          </a:p>
        </p:txBody>
      </p:sp>
      <p:sp>
        <p:nvSpPr>
          <p:cNvPr id="28" name="Shape 26"/>
          <p:cNvSpPr/>
          <p:nvPr/>
        </p:nvSpPr>
        <p:spPr>
          <a:xfrm>
            <a:off x="777240" y="5285232"/>
            <a:ext cx="1207008" cy="566928"/>
          </a:xfrm>
          <a:prstGeom prst="rect">
            <a:avLst/>
          </a:prstGeom>
          <a:ln w="9525">
            <a:solidFill>
              <a:srgbClr val="C9C9CF"/>
            </a:solidFill>
            <a:prstDash val="solid"/>
          </a:ln>
        </p:spPr>
      </p:sp>
      <p:sp>
        <p:nvSpPr>
          <p:cNvPr id="29" name="Text 27"/>
          <p:cNvSpPr txBox="1"/>
          <p:nvPr/>
        </p:nvSpPr>
        <p:spPr>
          <a:xfrm>
            <a:off x="813816"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Kök güç</a:t>
            </a:r>
            <a:endParaRPr lang="en-US" sz="900" dirty="0"/>
          </a:p>
        </p:txBody>
      </p:sp>
      <p:sp>
        <p:nvSpPr>
          <p:cNvPr id="30" name="Shape 28"/>
          <p:cNvSpPr/>
          <p:nvPr/>
        </p:nvSpPr>
        <p:spPr>
          <a:xfrm>
            <a:off x="2116836" y="5285232"/>
            <a:ext cx="1207008" cy="566928"/>
          </a:xfrm>
          <a:prstGeom prst="rect">
            <a:avLst/>
          </a:prstGeom>
          <a:ln w="9525">
            <a:solidFill>
              <a:srgbClr val="C9C9CF"/>
            </a:solidFill>
            <a:prstDash val="solid"/>
          </a:ln>
        </p:spPr>
      </p:sp>
      <p:sp>
        <p:nvSpPr>
          <p:cNvPr id="31" name="Text 29"/>
          <p:cNvSpPr txBox="1"/>
          <p:nvPr/>
        </p:nvSpPr>
        <p:spPr>
          <a:xfrm>
            <a:off x="2153412"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Rekabet ortamı</a:t>
            </a:r>
            <a:endParaRPr lang="en-US" sz="900" dirty="0"/>
          </a:p>
        </p:txBody>
      </p:sp>
      <p:sp>
        <p:nvSpPr>
          <p:cNvPr id="32" name="Shape 30"/>
          <p:cNvSpPr/>
          <p:nvPr/>
        </p:nvSpPr>
        <p:spPr>
          <a:xfrm>
            <a:off x="3456432" y="5285232"/>
            <a:ext cx="1207008" cy="566928"/>
          </a:xfrm>
          <a:prstGeom prst="rect">
            <a:avLst/>
          </a:prstGeom>
          <a:ln w="9525">
            <a:solidFill>
              <a:srgbClr val="C9C9CF"/>
            </a:solidFill>
            <a:prstDash val="solid"/>
          </a:ln>
        </p:spPr>
      </p:sp>
      <p:sp>
        <p:nvSpPr>
          <p:cNvPr id="33" name="Text 31"/>
          <p:cNvSpPr txBox="1"/>
          <p:nvPr/>
        </p:nvSpPr>
        <p:spPr>
          <a:xfrm>
            <a:off x="3493008"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Hedef kitle</a:t>
            </a:r>
            <a:endParaRPr lang="en-US" sz="900" dirty="0"/>
          </a:p>
        </p:txBody>
      </p:sp>
      <p:sp>
        <p:nvSpPr>
          <p:cNvPr id="34" name="Shape 32"/>
          <p:cNvSpPr/>
          <p:nvPr/>
        </p:nvSpPr>
        <p:spPr>
          <a:xfrm>
            <a:off x="4796028" y="5285232"/>
            <a:ext cx="1207008" cy="566928"/>
          </a:xfrm>
          <a:prstGeom prst="rect">
            <a:avLst/>
          </a:prstGeom>
          <a:ln w="9525">
            <a:solidFill>
              <a:srgbClr val="C9C9CF"/>
            </a:solidFill>
            <a:prstDash val="solid"/>
          </a:ln>
        </p:spPr>
      </p:sp>
      <p:sp>
        <p:nvSpPr>
          <p:cNvPr id="35" name="Text 33"/>
          <p:cNvSpPr txBox="1"/>
          <p:nvPr/>
        </p:nvSpPr>
        <p:spPr>
          <a:xfrm>
            <a:off x="4832604"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Hedefler ve misyon</a:t>
            </a:r>
            <a:endParaRPr lang="en-US" sz="900" dirty="0"/>
          </a:p>
        </p:txBody>
      </p:sp>
      <p:sp>
        <p:nvSpPr>
          <p:cNvPr id="36" name="Shape 34"/>
          <p:cNvSpPr/>
          <p:nvPr/>
        </p:nvSpPr>
        <p:spPr>
          <a:xfrm>
            <a:off x="6135624" y="5285232"/>
            <a:ext cx="1207008" cy="566928"/>
          </a:xfrm>
          <a:prstGeom prst="rect">
            <a:avLst/>
          </a:prstGeom>
          <a:ln w="9525">
            <a:solidFill>
              <a:srgbClr val="C9C9CF"/>
            </a:solidFill>
            <a:prstDash val="solid"/>
          </a:ln>
        </p:spPr>
      </p:sp>
      <p:sp>
        <p:nvSpPr>
          <p:cNvPr id="37" name="Text 35"/>
          <p:cNvSpPr txBox="1"/>
          <p:nvPr/>
        </p:nvSpPr>
        <p:spPr>
          <a:xfrm>
            <a:off x="6172200"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Faydalar</a:t>
            </a:r>
            <a:endParaRPr lang="en-US" sz="900" dirty="0"/>
          </a:p>
        </p:txBody>
      </p:sp>
      <p:sp>
        <p:nvSpPr>
          <p:cNvPr id="38" name="Shape 36"/>
          <p:cNvSpPr/>
          <p:nvPr/>
        </p:nvSpPr>
        <p:spPr>
          <a:xfrm>
            <a:off x="7475220" y="5285232"/>
            <a:ext cx="1207008" cy="566928"/>
          </a:xfrm>
          <a:prstGeom prst="rect">
            <a:avLst/>
          </a:prstGeom>
          <a:ln w="9525">
            <a:solidFill>
              <a:srgbClr val="C9C9CF"/>
            </a:solidFill>
            <a:prstDash val="solid"/>
          </a:ln>
        </p:spPr>
      </p:sp>
      <p:sp>
        <p:nvSpPr>
          <p:cNvPr id="39" name="Text 37"/>
          <p:cNvSpPr txBox="1"/>
          <p:nvPr/>
        </p:nvSpPr>
        <p:spPr>
          <a:xfrm>
            <a:off x="7511796"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Değerler ve kişilik</a:t>
            </a:r>
            <a:endParaRPr lang="en-US" sz="900" dirty="0"/>
          </a:p>
        </p:txBody>
      </p:sp>
      <p:sp>
        <p:nvSpPr>
          <p:cNvPr id="40" name="Shape 38"/>
          <p:cNvSpPr/>
          <p:nvPr/>
        </p:nvSpPr>
        <p:spPr>
          <a:xfrm>
            <a:off x="8814816" y="5285232"/>
            <a:ext cx="1207008" cy="566928"/>
          </a:xfrm>
          <a:prstGeom prst="rect">
            <a:avLst/>
          </a:prstGeom>
          <a:ln w="9525">
            <a:solidFill>
              <a:srgbClr val="C9C9CF"/>
            </a:solidFill>
            <a:prstDash val="solid"/>
          </a:ln>
        </p:spPr>
      </p:sp>
      <p:sp>
        <p:nvSpPr>
          <p:cNvPr id="41" name="Text 39"/>
          <p:cNvSpPr txBox="1"/>
          <p:nvPr/>
        </p:nvSpPr>
        <p:spPr>
          <a:xfrm>
            <a:off x="8851392"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2B2B31"/>
                </a:solidFill>
                <a:latin typeface="Calibri" pitchFamily="34" charset="0"/>
                <a:ea typeface="Calibri" pitchFamily="34" charset="-122"/>
                <a:cs typeface="Calibri" pitchFamily="34" charset="-120"/>
              </a:rPr>
              <a:t>Görünüm ve iletişim dili</a:t>
            </a:r>
            <a:endParaRPr lang="en-US" sz="900" dirty="0"/>
          </a:p>
        </p:txBody>
      </p:sp>
      <p:sp>
        <p:nvSpPr>
          <p:cNvPr id="42" name="Shape 40"/>
          <p:cNvSpPr/>
          <p:nvPr/>
        </p:nvSpPr>
        <p:spPr>
          <a:xfrm>
            <a:off x="10154412" y="5285232"/>
            <a:ext cx="1207008" cy="566928"/>
          </a:xfrm>
          <a:prstGeom prst="rect">
            <a:avLst/>
          </a:prstGeom>
          <a:solidFill>
            <a:srgbClr val="F6EAE6"/>
          </a:solidFill>
          <a:ln w="15875">
            <a:solidFill>
              <a:srgbClr val="8C3A2B"/>
            </a:solidFill>
            <a:prstDash val="solid"/>
          </a:ln>
        </p:spPr>
      </p:sp>
      <p:sp>
        <p:nvSpPr>
          <p:cNvPr id="43" name="Text 41"/>
          <p:cNvSpPr txBox="1"/>
          <p:nvPr/>
        </p:nvSpPr>
        <p:spPr>
          <a:xfrm>
            <a:off x="10190988" y="5285232"/>
            <a:ext cx="1133856" cy="566928"/>
          </a:xfrm>
          <a:prstGeom prst="rect">
            <a:avLst/>
          </a:prstGeom>
          <a:noFill/>
          <a:ln/>
        </p:spPr>
        <p:txBody>
          <a:bodyPr wrap="square" lIns="0" tIns="0" rIns="0" bIns="0" rtlCol="0" anchor="ctr"/>
          <a:lstStyle/>
          <a:p>
            <a:pPr algn="ctr" indent="0" marL="0">
              <a:lnSpc>
                <a:spcPts val="1100"/>
              </a:lnSpc>
              <a:buNone/>
            </a:pPr>
            <a:r>
              <a:rPr lang="en-US" sz="900" dirty="0">
                <a:solidFill>
                  <a:srgbClr val="8C3A2B"/>
                </a:solidFill>
                <a:latin typeface="Calibri" pitchFamily="34" charset="0"/>
                <a:ea typeface="Calibri" pitchFamily="34" charset="-122"/>
                <a:cs typeface="Calibri" pitchFamily="34" charset="-120"/>
              </a:rPr>
              <a:t>Öz</a:t>
            </a:r>
            <a:endParaRPr lang="en-US" sz="900" dirty="0"/>
          </a:p>
        </p:txBody>
      </p:sp>
      <p:sp>
        <p:nvSpPr>
          <p:cNvPr id="44" name="Text 42"/>
          <p:cNvSpPr txBox="1"/>
          <p:nvPr/>
        </p:nvSpPr>
        <p:spPr>
          <a:xfrm>
            <a:off x="777240" y="5989320"/>
            <a:ext cx="10424160" cy="320040"/>
          </a:xfrm>
          <a:prstGeom prst="rect">
            <a:avLst/>
          </a:prstGeom>
          <a:noFill/>
          <a:ln/>
        </p:spPr>
        <p:txBody>
          <a:bodyPr wrap="square" lIns="0" tIns="0" rIns="0" bIns="0" rtlCol="0" anchor="ctr"/>
          <a:lstStyle/>
          <a:p>
            <a:pPr algn="l" indent="0" marL="0">
              <a:lnSpc>
                <a:spcPts val="1200"/>
              </a:lnSpc>
              <a:buNone/>
            </a:pPr>
            <a:r>
              <a:rPr lang="en-US" sz="1150" i="1" dirty="0">
                <a:solidFill>
                  <a:srgbClr val="8C3A2B"/>
                </a:solidFill>
                <a:latin typeface="Cambria" pitchFamily="34" charset="0"/>
                <a:ea typeface="Cambria" pitchFamily="34" charset="-122"/>
                <a:cs typeface="Cambria" pitchFamily="34" charset="-120"/>
              </a:rPr>
              <a:t>Son iki başlık — görünüm ve iletişim dili — mekâna en doğrudan çevrilen bileşenlerdir.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Bileşenlerin mekânsal karşılığı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11</a:t>
            </a:r>
            <a:endParaRPr lang="en-US" sz="950" dirty="0"/>
          </a:p>
        </p:txBody>
      </p:sp>
      <p:sp>
        <p:nvSpPr>
          <p:cNvPr id="5" name="Text 3"/>
          <p:cNvSpPr txBox="1"/>
          <p:nvPr/>
        </p:nvSpPr>
        <p:spPr>
          <a:xfrm>
            <a:off x="777240" y="1554480"/>
            <a:ext cx="10634472" cy="60350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Her bileşen mekânda farklı bir ölçekte iş görür; kimi bütün kurguyu belirler, kimi tek bir detayda karşılık bulur. Bileşeni doğru ölçeğe bağlamak, hangi kararın nereden geldiğini açıklayabilmektir.</a:t>
            </a:r>
            <a:endParaRPr lang="en-US" sz="1400" dirty="0"/>
          </a:p>
        </p:txBody>
      </p:sp>
      <p:sp>
        <p:nvSpPr>
          <p:cNvPr id="6" name="Text 4"/>
          <p:cNvSpPr txBox="1"/>
          <p:nvPr/>
        </p:nvSpPr>
        <p:spPr>
          <a:xfrm>
            <a:off x="777240" y="2084832"/>
            <a:ext cx="2286000" cy="274320"/>
          </a:xfrm>
          <a:prstGeom prst="rect">
            <a:avLst/>
          </a:prstGeom>
          <a:noFill/>
          <a:ln/>
        </p:spPr>
        <p:txBody>
          <a:bodyPr wrap="square" lIns="0" tIns="0" rIns="0" bIns="0" rtlCol="0" anchor="ctr"/>
          <a:lstStyle/>
          <a:p>
            <a:pPr algn="l" indent="0" marL="0">
              <a:lnSpc>
                <a:spcPts val="1200"/>
              </a:lnSpc>
              <a:buNone/>
            </a:pPr>
            <a:r>
              <a:rPr lang="en-US" sz="850" b="1" dirty="0">
                <a:solidFill>
                  <a:srgbClr val="A6A6AC"/>
                </a:solidFill>
                <a:latin typeface="Calibri" pitchFamily="34" charset="0"/>
                <a:ea typeface="Calibri" pitchFamily="34" charset="-122"/>
                <a:cs typeface="Calibri" pitchFamily="34" charset="-120"/>
              </a:rPr>
              <a:t>BİLEŞEN</a:t>
            </a:r>
            <a:endParaRPr lang="en-US" sz="850" dirty="0"/>
          </a:p>
        </p:txBody>
      </p:sp>
      <p:sp>
        <p:nvSpPr>
          <p:cNvPr id="7" name="Text 5"/>
          <p:cNvSpPr txBox="1"/>
          <p:nvPr/>
        </p:nvSpPr>
        <p:spPr>
          <a:xfrm>
            <a:off x="3246120" y="2084832"/>
            <a:ext cx="2286000" cy="274320"/>
          </a:xfrm>
          <a:prstGeom prst="rect">
            <a:avLst/>
          </a:prstGeom>
          <a:noFill/>
          <a:ln/>
        </p:spPr>
        <p:txBody>
          <a:bodyPr wrap="square" lIns="0" tIns="0" rIns="0" bIns="0" rtlCol="0" anchor="ctr"/>
          <a:lstStyle/>
          <a:p>
            <a:pPr algn="l" indent="0" marL="0">
              <a:lnSpc>
                <a:spcPts val="1200"/>
              </a:lnSpc>
              <a:buNone/>
            </a:pPr>
            <a:r>
              <a:rPr lang="en-US" sz="850" b="1" dirty="0">
                <a:solidFill>
                  <a:srgbClr val="A6A6AC"/>
                </a:solidFill>
                <a:latin typeface="Calibri" pitchFamily="34" charset="0"/>
                <a:ea typeface="Calibri" pitchFamily="34" charset="-122"/>
                <a:cs typeface="Calibri" pitchFamily="34" charset="-120"/>
              </a:rPr>
              <a:t>ÖLÇEK</a:t>
            </a:r>
            <a:endParaRPr lang="en-US" sz="850" dirty="0"/>
          </a:p>
        </p:txBody>
      </p:sp>
      <p:sp>
        <p:nvSpPr>
          <p:cNvPr id="8" name="Text 6"/>
          <p:cNvSpPr txBox="1"/>
          <p:nvPr/>
        </p:nvSpPr>
        <p:spPr>
          <a:xfrm>
            <a:off x="5715000" y="2084832"/>
            <a:ext cx="4572000" cy="274320"/>
          </a:xfrm>
          <a:prstGeom prst="rect">
            <a:avLst/>
          </a:prstGeom>
          <a:noFill/>
          <a:ln/>
        </p:spPr>
        <p:txBody>
          <a:bodyPr wrap="square" lIns="0" tIns="0" rIns="0" bIns="0" rtlCol="0" anchor="ctr"/>
          <a:lstStyle/>
          <a:p>
            <a:pPr algn="l" indent="0" marL="0">
              <a:lnSpc>
                <a:spcPts val="1200"/>
              </a:lnSpc>
              <a:buNone/>
            </a:pPr>
            <a:r>
              <a:rPr lang="en-US" sz="850" b="1" dirty="0">
                <a:solidFill>
                  <a:srgbClr val="A6A6AC"/>
                </a:solidFill>
                <a:latin typeface="Calibri" pitchFamily="34" charset="0"/>
                <a:ea typeface="Calibri" pitchFamily="34" charset="-122"/>
                <a:cs typeface="Calibri" pitchFamily="34" charset="-120"/>
              </a:rPr>
              <a:t>MEKÂNDA NEYİ BELİRLER</a:t>
            </a:r>
            <a:endParaRPr lang="en-US" sz="850" dirty="0"/>
          </a:p>
        </p:txBody>
      </p:sp>
      <p:sp>
        <p:nvSpPr>
          <p:cNvPr id="9" name="Shape 7"/>
          <p:cNvSpPr/>
          <p:nvPr/>
        </p:nvSpPr>
        <p:spPr>
          <a:xfrm>
            <a:off x="777240" y="2286000"/>
            <a:ext cx="10634472" cy="0"/>
          </a:xfrm>
          <a:prstGeom prst="line">
            <a:avLst/>
          </a:prstGeom>
          <a:noFill/>
          <a:ln w="9525">
            <a:solidFill>
              <a:srgbClr val="C9C9CF"/>
            </a:solidFill>
            <a:prstDash val="solid"/>
          </a:ln>
        </p:spPr>
      </p:sp>
      <p:sp>
        <p:nvSpPr>
          <p:cNvPr id="10" name="Text 8"/>
          <p:cNvSpPr txBox="1"/>
          <p:nvPr/>
        </p:nvSpPr>
        <p:spPr>
          <a:xfrm>
            <a:off x="777240" y="23317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Hedef kitle</a:t>
            </a:r>
            <a:endParaRPr lang="en-US" sz="1300" dirty="0"/>
          </a:p>
        </p:txBody>
      </p:sp>
      <p:sp>
        <p:nvSpPr>
          <p:cNvPr id="11" name="Text 9"/>
          <p:cNvSpPr txBox="1"/>
          <p:nvPr/>
        </p:nvSpPr>
        <p:spPr>
          <a:xfrm>
            <a:off x="3246120" y="23500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kurgu ölçeği</a:t>
            </a:r>
            <a:endParaRPr lang="en-US" sz="1000" dirty="0"/>
          </a:p>
        </p:txBody>
      </p:sp>
      <p:sp>
        <p:nvSpPr>
          <p:cNvPr id="12" name="Shape 10"/>
          <p:cNvSpPr/>
          <p:nvPr/>
        </p:nvSpPr>
        <p:spPr>
          <a:xfrm>
            <a:off x="5230368" y="2459736"/>
            <a:ext cx="329184" cy="0"/>
          </a:xfrm>
          <a:prstGeom prst="line">
            <a:avLst/>
          </a:prstGeom>
          <a:noFill/>
          <a:ln w="12700">
            <a:solidFill>
              <a:srgbClr val="C9C9CF"/>
            </a:solidFill>
            <a:prstDash val="solid"/>
            <a:tailEnd type="triangle"/>
          </a:ln>
        </p:spPr>
      </p:sp>
      <p:sp>
        <p:nvSpPr>
          <p:cNvPr id="13" name="Text 11"/>
          <p:cNvSpPr txBox="1"/>
          <p:nvPr/>
        </p:nvSpPr>
        <p:spPr>
          <a:xfrm>
            <a:off x="5715000" y="23408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dolaşım hızı, kalma süresi, oturma ihtiyacı</a:t>
            </a:r>
            <a:endParaRPr lang="en-US" sz="1150" dirty="0"/>
          </a:p>
        </p:txBody>
      </p:sp>
      <p:sp>
        <p:nvSpPr>
          <p:cNvPr id="14" name="Shape 12"/>
          <p:cNvSpPr/>
          <p:nvPr/>
        </p:nvSpPr>
        <p:spPr>
          <a:xfrm>
            <a:off x="777240" y="2706624"/>
            <a:ext cx="10634472" cy="0"/>
          </a:xfrm>
          <a:prstGeom prst="line">
            <a:avLst/>
          </a:prstGeom>
          <a:noFill/>
          <a:ln w="6350">
            <a:solidFill>
              <a:srgbClr val="EFEFF2"/>
            </a:solidFill>
            <a:prstDash val="solid"/>
          </a:ln>
        </p:spPr>
      </p:sp>
      <p:sp>
        <p:nvSpPr>
          <p:cNvPr id="15" name="Text 13"/>
          <p:cNvSpPr txBox="1"/>
          <p:nvPr/>
        </p:nvSpPr>
        <p:spPr>
          <a:xfrm>
            <a:off x="777240" y="27889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Hedefler ve misyon</a:t>
            </a:r>
            <a:endParaRPr lang="en-US" sz="1300" dirty="0"/>
          </a:p>
        </p:txBody>
      </p:sp>
      <p:sp>
        <p:nvSpPr>
          <p:cNvPr id="16" name="Text 14"/>
          <p:cNvSpPr txBox="1"/>
          <p:nvPr/>
        </p:nvSpPr>
        <p:spPr>
          <a:xfrm>
            <a:off x="3246120" y="28072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kurgu ölçeği</a:t>
            </a:r>
            <a:endParaRPr lang="en-US" sz="1000" dirty="0"/>
          </a:p>
        </p:txBody>
      </p:sp>
      <p:sp>
        <p:nvSpPr>
          <p:cNvPr id="17" name="Shape 15"/>
          <p:cNvSpPr/>
          <p:nvPr/>
        </p:nvSpPr>
        <p:spPr>
          <a:xfrm>
            <a:off x="5230368" y="2916936"/>
            <a:ext cx="329184" cy="0"/>
          </a:xfrm>
          <a:prstGeom prst="line">
            <a:avLst/>
          </a:prstGeom>
          <a:noFill/>
          <a:ln w="12700">
            <a:solidFill>
              <a:srgbClr val="C9C9CF"/>
            </a:solidFill>
            <a:prstDash val="solid"/>
            <a:tailEnd type="triangle"/>
          </a:ln>
        </p:spPr>
      </p:sp>
      <p:sp>
        <p:nvSpPr>
          <p:cNvPr id="18" name="Text 16"/>
          <p:cNvSpPr txBox="1"/>
          <p:nvPr/>
        </p:nvSpPr>
        <p:spPr>
          <a:xfrm>
            <a:off x="5715000" y="27980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esneklik, değişebilir teşhir, büyümeye açık plan</a:t>
            </a:r>
            <a:endParaRPr lang="en-US" sz="1150" dirty="0"/>
          </a:p>
        </p:txBody>
      </p:sp>
      <p:sp>
        <p:nvSpPr>
          <p:cNvPr id="19" name="Shape 17"/>
          <p:cNvSpPr/>
          <p:nvPr/>
        </p:nvSpPr>
        <p:spPr>
          <a:xfrm>
            <a:off x="777240" y="3163824"/>
            <a:ext cx="10634472" cy="0"/>
          </a:xfrm>
          <a:prstGeom prst="line">
            <a:avLst/>
          </a:prstGeom>
          <a:noFill/>
          <a:ln w="6350">
            <a:solidFill>
              <a:srgbClr val="EFEFF2"/>
            </a:solidFill>
            <a:prstDash val="solid"/>
          </a:ln>
        </p:spPr>
      </p:sp>
      <p:sp>
        <p:nvSpPr>
          <p:cNvPr id="20" name="Text 18"/>
          <p:cNvSpPr txBox="1"/>
          <p:nvPr/>
        </p:nvSpPr>
        <p:spPr>
          <a:xfrm>
            <a:off x="777240" y="32461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Rekabet ortamı</a:t>
            </a:r>
            <a:endParaRPr lang="en-US" sz="1300" dirty="0"/>
          </a:p>
        </p:txBody>
      </p:sp>
      <p:sp>
        <p:nvSpPr>
          <p:cNvPr id="21" name="Text 19"/>
          <p:cNvSpPr txBox="1"/>
          <p:nvPr/>
        </p:nvSpPr>
        <p:spPr>
          <a:xfrm>
            <a:off x="3246120" y="32644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cephe ölçeği</a:t>
            </a:r>
            <a:endParaRPr lang="en-US" sz="1000" dirty="0"/>
          </a:p>
        </p:txBody>
      </p:sp>
      <p:sp>
        <p:nvSpPr>
          <p:cNvPr id="22" name="Shape 20"/>
          <p:cNvSpPr/>
          <p:nvPr/>
        </p:nvSpPr>
        <p:spPr>
          <a:xfrm>
            <a:off x="5230368" y="3374136"/>
            <a:ext cx="329184" cy="0"/>
          </a:xfrm>
          <a:prstGeom prst="line">
            <a:avLst/>
          </a:prstGeom>
          <a:noFill/>
          <a:ln w="12700">
            <a:solidFill>
              <a:srgbClr val="C9C9CF"/>
            </a:solidFill>
            <a:prstDash val="solid"/>
            <a:tailEnd type="triangle"/>
          </a:ln>
        </p:spPr>
      </p:sp>
      <p:sp>
        <p:nvSpPr>
          <p:cNvPr id="23" name="Text 21"/>
          <p:cNvSpPr txBox="1"/>
          <p:nvPr/>
        </p:nvSpPr>
        <p:spPr>
          <a:xfrm>
            <a:off x="5715000" y="32552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vitrinin sokakta nasıl ayrıştığı, tabelanın tonu</a:t>
            </a:r>
            <a:endParaRPr lang="en-US" sz="1150" dirty="0"/>
          </a:p>
        </p:txBody>
      </p:sp>
      <p:sp>
        <p:nvSpPr>
          <p:cNvPr id="24" name="Shape 22"/>
          <p:cNvSpPr/>
          <p:nvPr/>
        </p:nvSpPr>
        <p:spPr>
          <a:xfrm>
            <a:off x="777240" y="3621024"/>
            <a:ext cx="10634472" cy="0"/>
          </a:xfrm>
          <a:prstGeom prst="line">
            <a:avLst/>
          </a:prstGeom>
          <a:noFill/>
          <a:ln w="6350">
            <a:solidFill>
              <a:srgbClr val="EFEFF2"/>
            </a:solidFill>
            <a:prstDash val="solid"/>
          </a:ln>
        </p:spPr>
      </p:sp>
      <p:sp>
        <p:nvSpPr>
          <p:cNvPr id="25" name="Text 23"/>
          <p:cNvSpPr txBox="1"/>
          <p:nvPr/>
        </p:nvSpPr>
        <p:spPr>
          <a:xfrm>
            <a:off x="777240" y="37033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Faydalar</a:t>
            </a:r>
            <a:endParaRPr lang="en-US" sz="1300" dirty="0"/>
          </a:p>
        </p:txBody>
      </p:sp>
      <p:sp>
        <p:nvSpPr>
          <p:cNvPr id="26" name="Text 24"/>
          <p:cNvSpPr txBox="1"/>
          <p:nvPr/>
        </p:nvSpPr>
        <p:spPr>
          <a:xfrm>
            <a:off x="3246120" y="37216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teşhir ölçeği</a:t>
            </a:r>
            <a:endParaRPr lang="en-US" sz="1000" dirty="0"/>
          </a:p>
        </p:txBody>
      </p:sp>
      <p:sp>
        <p:nvSpPr>
          <p:cNvPr id="27" name="Shape 25"/>
          <p:cNvSpPr/>
          <p:nvPr/>
        </p:nvSpPr>
        <p:spPr>
          <a:xfrm>
            <a:off x="5230368" y="3831336"/>
            <a:ext cx="329184" cy="0"/>
          </a:xfrm>
          <a:prstGeom prst="line">
            <a:avLst/>
          </a:prstGeom>
          <a:noFill/>
          <a:ln w="12700">
            <a:solidFill>
              <a:srgbClr val="C9C9CF"/>
            </a:solidFill>
            <a:prstDash val="solid"/>
            <a:tailEnd type="triangle"/>
          </a:ln>
        </p:spPr>
      </p:sp>
      <p:sp>
        <p:nvSpPr>
          <p:cNvPr id="28" name="Text 26"/>
          <p:cNvSpPr txBox="1"/>
          <p:nvPr/>
        </p:nvSpPr>
        <p:spPr>
          <a:xfrm>
            <a:off x="5715000" y="37124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ürüne dokunma izni, deneme alanı, ürün yoğunluğu</a:t>
            </a:r>
            <a:endParaRPr lang="en-US" sz="1150" dirty="0"/>
          </a:p>
        </p:txBody>
      </p:sp>
      <p:sp>
        <p:nvSpPr>
          <p:cNvPr id="29" name="Shape 27"/>
          <p:cNvSpPr/>
          <p:nvPr/>
        </p:nvSpPr>
        <p:spPr>
          <a:xfrm>
            <a:off x="777240" y="4078224"/>
            <a:ext cx="10634472" cy="0"/>
          </a:xfrm>
          <a:prstGeom prst="line">
            <a:avLst/>
          </a:prstGeom>
          <a:noFill/>
          <a:ln w="6350">
            <a:solidFill>
              <a:srgbClr val="EFEFF2"/>
            </a:solidFill>
            <a:prstDash val="solid"/>
          </a:ln>
        </p:spPr>
      </p:sp>
      <p:sp>
        <p:nvSpPr>
          <p:cNvPr id="30" name="Text 28"/>
          <p:cNvSpPr txBox="1"/>
          <p:nvPr/>
        </p:nvSpPr>
        <p:spPr>
          <a:xfrm>
            <a:off x="777240" y="41605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Değerler ve kişilik</a:t>
            </a:r>
            <a:endParaRPr lang="en-US" sz="1300" dirty="0"/>
          </a:p>
        </p:txBody>
      </p:sp>
      <p:sp>
        <p:nvSpPr>
          <p:cNvPr id="31" name="Text 29"/>
          <p:cNvSpPr txBox="1"/>
          <p:nvPr/>
        </p:nvSpPr>
        <p:spPr>
          <a:xfrm>
            <a:off x="3246120" y="41788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atmosfer ölçeği</a:t>
            </a:r>
            <a:endParaRPr lang="en-US" sz="1000" dirty="0"/>
          </a:p>
        </p:txBody>
      </p:sp>
      <p:sp>
        <p:nvSpPr>
          <p:cNvPr id="32" name="Shape 30"/>
          <p:cNvSpPr/>
          <p:nvPr/>
        </p:nvSpPr>
        <p:spPr>
          <a:xfrm>
            <a:off x="5230368" y="4288536"/>
            <a:ext cx="329184" cy="0"/>
          </a:xfrm>
          <a:prstGeom prst="line">
            <a:avLst/>
          </a:prstGeom>
          <a:noFill/>
          <a:ln w="12700">
            <a:solidFill>
              <a:srgbClr val="C9C9CF"/>
            </a:solidFill>
            <a:prstDash val="solid"/>
            <a:tailEnd type="triangle"/>
          </a:ln>
        </p:spPr>
      </p:sp>
      <p:sp>
        <p:nvSpPr>
          <p:cNvPr id="33" name="Text 31"/>
          <p:cNvSpPr txBox="1"/>
          <p:nvPr/>
        </p:nvSpPr>
        <p:spPr>
          <a:xfrm>
            <a:off x="5715000" y="41696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ışık sıcaklığı, ses düzeyi, malzeme sertliği</a:t>
            </a:r>
            <a:endParaRPr lang="en-US" sz="1150" dirty="0"/>
          </a:p>
        </p:txBody>
      </p:sp>
      <p:sp>
        <p:nvSpPr>
          <p:cNvPr id="34" name="Shape 32"/>
          <p:cNvSpPr/>
          <p:nvPr/>
        </p:nvSpPr>
        <p:spPr>
          <a:xfrm>
            <a:off x="777240" y="4535424"/>
            <a:ext cx="10634472" cy="0"/>
          </a:xfrm>
          <a:prstGeom prst="line">
            <a:avLst/>
          </a:prstGeom>
          <a:noFill/>
          <a:ln w="6350">
            <a:solidFill>
              <a:srgbClr val="EFEFF2"/>
            </a:solidFill>
            <a:prstDash val="solid"/>
          </a:ln>
        </p:spPr>
      </p:sp>
      <p:sp>
        <p:nvSpPr>
          <p:cNvPr id="35" name="Text 33"/>
          <p:cNvSpPr txBox="1"/>
          <p:nvPr/>
        </p:nvSpPr>
        <p:spPr>
          <a:xfrm>
            <a:off x="777240" y="46177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Görünüm</a:t>
            </a:r>
            <a:endParaRPr lang="en-US" sz="1300" dirty="0"/>
          </a:p>
        </p:txBody>
      </p:sp>
      <p:sp>
        <p:nvSpPr>
          <p:cNvPr id="36" name="Text 34"/>
          <p:cNvSpPr txBox="1"/>
          <p:nvPr/>
        </p:nvSpPr>
        <p:spPr>
          <a:xfrm>
            <a:off x="3246120" y="46360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malzeme ölçeği</a:t>
            </a:r>
            <a:endParaRPr lang="en-US" sz="1000" dirty="0"/>
          </a:p>
        </p:txBody>
      </p:sp>
      <p:sp>
        <p:nvSpPr>
          <p:cNvPr id="37" name="Shape 35"/>
          <p:cNvSpPr/>
          <p:nvPr/>
        </p:nvSpPr>
        <p:spPr>
          <a:xfrm>
            <a:off x="5230368" y="4745736"/>
            <a:ext cx="329184" cy="0"/>
          </a:xfrm>
          <a:prstGeom prst="line">
            <a:avLst/>
          </a:prstGeom>
          <a:noFill/>
          <a:ln w="12700">
            <a:solidFill>
              <a:srgbClr val="C9C9CF"/>
            </a:solidFill>
            <a:prstDash val="solid"/>
            <a:tailEnd type="triangle"/>
          </a:ln>
        </p:spPr>
      </p:sp>
      <p:sp>
        <p:nvSpPr>
          <p:cNvPr id="38" name="Text 36"/>
          <p:cNvSpPr txBox="1"/>
          <p:nvPr/>
        </p:nvSpPr>
        <p:spPr>
          <a:xfrm>
            <a:off x="5715000" y="46268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yüzey, renk, doku, birleşim detayı</a:t>
            </a:r>
            <a:endParaRPr lang="en-US" sz="1150" dirty="0"/>
          </a:p>
        </p:txBody>
      </p:sp>
      <p:sp>
        <p:nvSpPr>
          <p:cNvPr id="39" name="Shape 37"/>
          <p:cNvSpPr/>
          <p:nvPr/>
        </p:nvSpPr>
        <p:spPr>
          <a:xfrm>
            <a:off x="777240" y="4992624"/>
            <a:ext cx="10634472" cy="0"/>
          </a:xfrm>
          <a:prstGeom prst="line">
            <a:avLst/>
          </a:prstGeom>
          <a:noFill/>
          <a:ln w="6350">
            <a:solidFill>
              <a:srgbClr val="EFEFF2"/>
            </a:solidFill>
            <a:prstDash val="solid"/>
          </a:ln>
        </p:spPr>
      </p:sp>
      <p:sp>
        <p:nvSpPr>
          <p:cNvPr id="40" name="Text 38"/>
          <p:cNvSpPr txBox="1"/>
          <p:nvPr/>
        </p:nvSpPr>
        <p:spPr>
          <a:xfrm>
            <a:off x="777240" y="5074920"/>
            <a:ext cx="2331720" cy="274320"/>
          </a:xfrm>
          <a:prstGeom prst="rect">
            <a:avLst/>
          </a:prstGeom>
          <a:noFill/>
          <a:ln/>
        </p:spPr>
        <p:txBody>
          <a:bodyPr wrap="square" lIns="0" tIns="0" rIns="0" bIns="0" rtlCol="0" anchor="ctr"/>
          <a:lstStyle/>
          <a:p>
            <a:pPr indent="0" marL="0">
              <a:buNone/>
            </a:pPr>
            <a:r>
              <a:rPr lang="en-US" sz="1300" b="1" dirty="0">
                <a:solidFill>
                  <a:srgbClr val="16161A"/>
                </a:solidFill>
                <a:latin typeface="Cambria" pitchFamily="34" charset="0"/>
                <a:ea typeface="Cambria" pitchFamily="34" charset="-122"/>
                <a:cs typeface="Cambria" pitchFamily="34" charset="-120"/>
              </a:rPr>
              <a:t>İletişim dili</a:t>
            </a:r>
            <a:endParaRPr lang="en-US" sz="1300" dirty="0"/>
          </a:p>
        </p:txBody>
      </p:sp>
      <p:sp>
        <p:nvSpPr>
          <p:cNvPr id="41" name="Text 39"/>
          <p:cNvSpPr txBox="1"/>
          <p:nvPr/>
        </p:nvSpPr>
        <p:spPr>
          <a:xfrm>
            <a:off x="3246120" y="5093208"/>
            <a:ext cx="2286000" cy="274320"/>
          </a:xfrm>
          <a:prstGeom prst="rect">
            <a:avLst/>
          </a:prstGeom>
          <a:noFill/>
          <a:ln/>
        </p:spPr>
        <p:txBody>
          <a:bodyPr wrap="square" lIns="0" tIns="0" rIns="0" bIns="0" rtlCol="0" anchor="ctr"/>
          <a:lstStyle/>
          <a:p>
            <a:pPr indent="0" marL="0">
              <a:buNone/>
            </a:pPr>
            <a:r>
              <a:rPr lang="en-US" sz="1000" i="1" dirty="0">
                <a:solidFill>
                  <a:srgbClr val="7A7A82"/>
                </a:solidFill>
                <a:latin typeface="Calibri" pitchFamily="34" charset="0"/>
                <a:ea typeface="Calibri" pitchFamily="34" charset="-122"/>
                <a:cs typeface="Calibri" pitchFamily="34" charset="-120"/>
              </a:rPr>
              <a:t>detay ölçeği</a:t>
            </a:r>
            <a:endParaRPr lang="en-US" sz="1000" dirty="0"/>
          </a:p>
        </p:txBody>
      </p:sp>
      <p:sp>
        <p:nvSpPr>
          <p:cNvPr id="42" name="Shape 40"/>
          <p:cNvSpPr/>
          <p:nvPr/>
        </p:nvSpPr>
        <p:spPr>
          <a:xfrm>
            <a:off x="5230368" y="5202936"/>
            <a:ext cx="329184" cy="0"/>
          </a:xfrm>
          <a:prstGeom prst="line">
            <a:avLst/>
          </a:prstGeom>
          <a:noFill/>
          <a:ln w="12700">
            <a:solidFill>
              <a:srgbClr val="C9C9CF"/>
            </a:solidFill>
            <a:prstDash val="solid"/>
            <a:tailEnd type="triangle"/>
          </a:ln>
        </p:spPr>
      </p:sp>
      <p:sp>
        <p:nvSpPr>
          <p:cNvPr id="43" name="Text 41"/>
          <p:cNvSpPr txBox="1"/>
          <p:nvPr/>
        </p:nvSpPr>
        <p:spPr>
          <a:xfrm>
            <a:off x="5715000" y="5084064"/>
            <a:ext cx="566928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yazı karakteri, yönlendirme, etiket, ambalaj</a:t>
            </a:r>
            <a:endParaRPr lang="en-US" sz="1150" dirty="0"/>
          </a:p>
        </p:txBody>
      </p:sp>
      <p:sp>
        <p:nvSpPr>
          <p:cNvPr id="44" name="Shape 42"/>
          <p:cNvSpPr/>
          <p:nvPr/>
        </p:nvSpPr>
        <p:spPr>
          <a:xfrm>
            <a:off x="777240" y="5449824"/>
            <a:ext cx="10634472" cy="0"/>
          </a:xfrm>
          <a:prstGeom prst="line">
            <a:avLst/>
          </a:prstGeom>
          <a:noFill/>
          <a:ln w="6350">
            <a:solidFill>
              <a:srgbClr val="EFEFF2"/>
            </a:solidFill>
            <a:prstDash val="solid"/>
          </a:ln>
        </p:spPr>
      </p:sp>
      <p:sp>
        <p:nvSpPr>
          <p:cNvPr id="45" name="Text 43"/>
          <p:cNvSpPr txBox="1"/>
          <p:nvPr/>
        </p:nvSpPr>
        <p:spPr>
          <a:xfrm>
            <a:off x="777240" y="5532120"/>
            <a:ext cx="2331720" cy="274320"/>
          </a:xfrm>
          <a:prstGeom prst="rect">
            <a:avLst/>
          </a:prstGeom>
          <a:noFill/>
          <a:ln/>
        </p:spPr>
        <p:txBody>
          <a:bodyPr wrap="square" lIns="0" tIns="0" rIns="0" bIns="0" rtlCol="0" anchor="ctr"/>
          <a:lstStyle/>
          <a:p>
            <a:pPr indent="0" marL="0">
              <a:buNone/>
            </a:pPr>
            <a:r>
              <a:rPr lang="en-US" sz="1300" b="1" dirty="0">
                <a:solidFill>
                  <a:srgbClr val="8C3A2B"/>
                </a:solidFill>
                <a:latin typeface="Cambria" pitchFamily="34" charset="0"/>
                <a:ea typeface="Cambria" pitchFamily="34" charset="-122"/>
                <a:cs typeface="Cambria" pitchFamily="34" charset="-120"/>
              </a:rPr>
              <a:t>Öz</a:t>
            </a:r>
            <a:endParaRPr lang="en-US" sz="1300" dirty="0"/>
          </a:p>
        </p:txBody>
      </p:sp>
      <p:sp>
        <p:nvSpPr>
          <p:cNvPr id="46" name="Text 44"/>
          <p:cNvSpPr txBox="1"/>
          <p:nvPr/>
        </p:nvSpPr>
        <p:spPr>
          <a:xfrm>
            <a:off x="3246120" y="5550408"/>
            <a:ext cx="2286000" cy="274320"/>
          </a:xfrm>
          <a:prstGeom prst="rect">
            <a:avLst/>
          </a:prstGeom>
          <a:noFill/>
          <a:ln/>
        </p:spPr>
        <p:txBody>
          <a:bodyPr wrap="square" lIns="0" tIns="0" rIns="0" bIns="0" rtlCol="0" anchor="ctr"/>
          <a:lstStyle/>
          <a:p>
            <a:pPr indent="0" marL="0">
              <a:buNone/>
            </a:pPr>
            <a:r>
              <a:rPr lang="en-US" sz="1000" i="1" dirty="0">
                <a:solidFill>
                  <a:srgbClr val="8C3A2B"/>
                </a:solidFill>
                <a:latin typeface="Calibri" pitchFamily="34" charset="0"/>
                <a:ea typeface="Calibri" pitchFamily="34" charset="-122"/>
                <a:cs typeface="Calibri" pitchFamily="34" charset="-120"/>
              </a:rPr>
              <a:t>hepsinin sınavı</a:t>
            </a:r>
            <a:endParaRPr lang="en-US" sz="1000" dirty="0"/>
          </a:p>
        </p:txBody>
      </p:sp>
      <p:sp>
        <p:nvSpPr>
          <p:cNvPr id="47" name="Shape 45"/>
          <p:cNvSpPr/>
          <p:nvPr/>
        </p:nvSpPr>
        <p:spPr>
          <a:xfrm>
            <a:off x="5230368" y="5660136"/>
            <a:ext cx="329184" cy="0"/>
          </a:xfrm>
          <a:prstGeom prst="line">
            <a:avLst/>
          </a:prstGeom>
          <a:noFill/>
          <a:ln w="12700">
            <a:solidFill>
              <a:srgbClr val="8C3A2B"/>
            </a:solidFill>
            <a:prstDash val="solid"/>
            <a:tailEnd type="triangle"/>
          </a:ln>
        </p:spPr>
      </p:sp>
      <p:sp>
        <p:nvSpPr>
          <p:cNvPr id="48" name="Text 46"/>
          <p:cNvSpPr txBox="1"/>
          <p:nvPr/>
        </p:nvSpPr>
        <p:spPr>
          <a:xfrm>
            <a:off x="5715000" y="5541264"/>
            <a:ext cx="5669280" cy="292608"/>
          </a:xfrm>
          <a:prstGeom prst="rect">
            <a:avLst/>
          </a:prstGeom>
          <a:noFill/>
          <a:ln/>
        </p:spPr>
        <p:txBody>
          <a:bodyPr wrap="square" lIns="0" tIns="0" rIns="0" bIns="0" rtlCol="0" anchor="ctr"/>
          <a:lstStyle/>
          <a:p>
            <a:pPr indent="0" marL="0">
              <a:buNone/>
            </a:pPr>
            <a:r>
              <a:rPr lang="en-US" sz="1150" dirty="0">
                <a:solidFill>
                  <a:srgbClr val="8C3A2B"/>
                </a:solidFill>
                <a:latin typeface="Calibri" pitchFamily="34" charset="0"/>
                <a:ea typeface="Calibri" pitchFamily="34" charset="-122"/>
                <a:cs typeface="Calibri" pitchFamily="34" charset="-120"/>
              </a:rPr>
              <a:t>her karar bu cümleyle sınanır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 · MARKA ANAHTARI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Örnek: küçük bir kavurma-kahve markası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12</a:t>
            </a:r>
            <a:endParaRPr lang="en-US" sz="950" dirty="0"/>
          </a:p>
        </p:txBody>
      </p:sp>
      <p:sp>
        <p:nvSpPr>
          <p:cNvPr id="5" name="Text 3"/>
          <p:cNvSpPr txBox="1"/>
          <p:nvPr/>
        </p:nvSpPr>
        <p:spPr>
          <a:xfrm>
            <a:off x="777240" y="1554480"/>
            <a:ext cx="10634472" cy="60350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Aşağıdaki örnek, sizin bulacağınız türden bir markadan üretildi: tek dükkânlı, kendi çekirdeğini kavuran, henüz tasarım dili olmayan bir kahveci. Doldurulmuş bir anahtarın ne kadar somut olabileceğini göstermek için.</a:t>
            </a:r>
            <a:endParaRPr lang="en-US" sz="1400" dirty="0"/>
          </a:p>
        </p:txBody>
      </p:sp>
      <p:sp>
        <p:nvSpPr>
          <p:cNvPr id="6" name="Text 4"/>
          <p:cNvSpPr txBox="1"/>
          <p:nvPr/>
        </p:nvSpPr>
        <p:spPr>
          <a:xfrm>
            <a:off x="777240" y="2377440"/>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Kök güç</a:t>
            </a:r>
            <a:endParaRPr lang="en-US" sz="950" dirty="0"/>
          </a:p>
        </p:txBody>
      </p:sp>
      <p:sp>
        <p:nvSpPr>
          <p:cNvPr id="7" name="Text 5"/>
          <p:cNvSpPr txBox="1"/>
          <p:nvPr/>
        </p:nvSpPr>
        <p:spPr>
          <a:xfrm>
            <a:off x="777240" y="2615184"/>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Kurucusu gıda mühendisi; kavurma eğrisini kendi yazıyor.</a:t>
            </a:r>
            <a:endParaRPr lang="en-US" sz="1300" dirty="0"/>
          </a:p>
        </p:txBody>
      </p:sp>
      <p:sp>
        <p:nvSpPr>
          <p:cNvPr id="8" name="Text 6"/>
          <p:cNvSpPr txBox="1"/>
          <p:nvPr/>
        </p:nvSpPr>
        <p:spPr>
          <a:xfrm>
            <a:off x="777240" y="3127248"/>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Rekabet ortamı</a:t>
            </a:r>
            <a:endParaRPr lang="en-US" sz="950" dirty="0"/>
          </a:p>
        </p:txBody>
      </p:sp>
      <p:sp>
        <p:nvSpPr>
          <p:cNvPr id="9" name="Text 7"/>
          <p:cNvSpPr txBox="1"/>
          <p:nvPr/>
        </p:nvSpPr>
        <p:spPr>
          <a:xfrm>
            <a:off x="777240" y="3364992"/>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Zincir kahveciler değil, semtteki üç küçük kavurucu.</a:t>
            </a:r>
            <a:endParaRPr lang="en-US" sz="1300" dirty="0"/>
          </a:p>
        </p:txBody>
      </p:sp>
      <p:sp>
        <p:nvSpPr>
          <p:cNvPr id="10" name="Text 8"/>
          <p:cNvSpPr txBox="1"/>
          <p:nvPr/>
        </p:nvSpPr>
        <p:spPr>
          <a:xfrm>
            <a:off x="777240" y="3877056"/>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Hedef kitle</a:t>
            </a:r>
            <a:endParaRPr lang="en-US" sz="950" dirty="0"/>
          </a:p>
        </p:txBody>
      </p:sp>
      <p:sp>
        <p:nvSpPr>
          <p:cNvPr id="11" name="Text 9"/>
          <p:cNvSpPr txBox="1"/>
          <p:nvPr/>
        </p:nvSpPr>
        <p:spPr>
          <a:xfrm>
            <a:off x="777240" y="4114800"/>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Kahveyi tarif ederek soran, bekleyebilen, soru soran müşteri.</a:t>
            </a:r>
            <a:endParaRPr lang="en-US" sz="1300" dirty="0"/>
          </a:p>
        </p:txBody>
      </p:sp>
      <p:sp>
        <p:nvSpPr>
          <p:cNvPr id="12" name="Text 10"/>
          <p:cNvSpPr txBox="1"/>
          <p:nvPr/>
        </p:nvSpPr>
        <p:spPr>
          <a:xfrm>
            <a:off x="777240" y="4626864"/>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Hedefler</a:t>
            </a:r>
            <a:endParaRPr lang="en-US" sz="950" dirty="0"/>
          </a:p>
        </p:txBody>
      </p:sp>
      <p:sp>
        <p:nvSpPr>
          <p:cNvPr id="13" name="Text 11"/>
          <p:cNvSpPr txBox="1"/>
          <p:nvPr/>
        </p:nvSpPr>
        <p:spPr>
          <a:xfrm>
            <a:off x="777240" y="4864608"/>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İki yıl içinde kavurmayı müşteriye gösterebilecek ikinci bir dükkân.</a:t>
            </a:r>
            <a:endParaRPr lang="en-US" sz="1300" dirty="0"/>
          </a:p>
        </p:txBody>
      </p:sp>
      <p:sp>
        <p:nvSpPr>
          <p:cNvPr id="14" name="Text 12"/>
          <p:cNvSpPr txBox="1"/>
          <p:nvPr/>
        </p:nvSpPr>
        <p:spPr>
          <a:xfrm>
            <a:off x="6382512" y="2377440"/>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Faydalar</a:t>
            </a:r>
            <a:endParaRPr lang="en-US" sz="950" dirty="0"/>
          </a:p>
        </p:txBody>
      </p:sp>
      <p:sp>
        <p:nvSpPr>
          <p:cNvPr id="15" name="Text 13"/>
          <p:cNvSpPr txBox="1"/>
          <p:nvPr/>
        </p:nvSpPr>
        <p:spPr>
          <a:xfrm>
            <a:off x="6382512" y="2615184"/>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Taze kavrulmuş çekirdek; ne aldığını anlama duygusu.</a:t>
            </a:r>
            <a:endParaRPr lang="en-US" sz="1300" dirty="0"/>
          </a:p>
        </p:txBody>
      </p:sp>
      <p:sp>
        <p:nvSpPr>
          <p:cNvPr id="16" name="Text 14"/>
          <p:cNvSpPr txBox="1"/>
          <p:nvPr/>
        </p:nvSpPr>
        <p:spPr>
          <a:xfrm>
            <a:off x="6382512" y="3127248"/>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Değerler</a:t>
            </a:r>
            <a:endParaRPr lang="en-US" sz="950" dirty="0"/>
          </a:p>
        </p:txBody>
      </p:sp>
      <p:sp>
        <p:nvSpPr>
          <p:cNvPr id="17" name="Text 15"/>
          <p:cNvSpPr txBox="1"/>
          <p:nvPr/>
        </p:nvSpPr>
        <p:spPr>
          <a:xfrm>
            <a:off x="6382512" y="3364992"/>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Meraklı, sabırlı, gösterişsiz; öğretmeyi seviyor.</a:t>
            </a:r>
            <a:endParaRPr lang="en-US" sz="1300" dirty="0"/>
          </a:p>
        </p:txBody>
      </p:sp>
      <p:sp>
        <p:nvSpPr>
          <p:cNvPr id="18" name="Text 16"/>
          <p:cNvSpPr txBox="1"/>
          <p:nvPr/>
        </p:nvSpPr>
        <p:spPr>
          <a:xfrm>
            <a:off x="6382512" y="3877056"/>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Görünüm</a:t>
            </a:r>
            <a:endParaRPr lang="en-US" sz="950" dirty="0"/>
          </a:p>
        </p:txBody>
      </p:sp>
      <p:sp>
        <p:nvSpPr>
          <p:cNvPr id="19" name="Text 17"/>
          <p:cNvSpPr txBox="1"/>
          <p:nvPr/>
        </p:nvSpPr>
        <p:spPr>
          <a:xfrm>
            <a:off x="6382512" y="4114800"/>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Ham metal, açık ahşap, cam kavanoz; boyasız yüzeyler.</a:t>
            </a:r>
            <a:endParaRPr lang="en-US" sz="1300" dirty="0"/>
          </a:p>
        </p:txBody>
      </p:sp>
      <p:sp>
        <p:nvSpPr>
          <p:cNvPr id="20" name="Text 18"/>
          <p:cNvSpPr txBox="1"/>
          <p:nvPr/>
        </p:nvSpPr>
        <p:spPr>
          <a:xfrm>
            <a:off x="6382512" y="4626864"/>
            <a:ext cx="5029200" cy="237744"/>
          </a:xfrm>
          <a:prstGeom prst="rect">
            <a:avLst/>
          </a:prstGeom>
          <a:noFill/>
          <a:ln/>
        </p:spPr>
        <p:txBody>
          <a:bodyPr wrap="square" lIns="0" tIns="0" rIns="0" bIns="0" rtlCol="0" anchor="ctr"/>
          <a:lstStyle/>
          <a:p>
            <a:pPr indent="0" marL="0">
              <a:buNone/>
            </a:pPr>
            <a:r>
              <a:rPr lang="en-US" sz="950" b="1" spc="130" kern="0" dirty="0">
                <a:solidFill>
                  <a:srgbClr val="8C3A2B"/>
                </a:solidFill>
                <a:latin typeface="Calibri" pitchFamily="34" charset="0"/>
                <a:ea typeface="Calibri" pitchFamily="34" charset="-122"/>
                <a:cs typeface="Calibri" pitchFamily="34" charset="-120"/>
              </a:rPr>
              <a:t>İletişim dili</a:t>
            </a:r>
            <a:endParaRPr lang="en-US" sz="950" dirty="0"/>
          </a:p>
        </p:txBody>
      </p:sp>
      <p:sp>
        <p:nvSpPr>
          <p:cNvPr id="21" name="Text 19"/>
          <p:cNvSpPr txBox="1"/>
          <p:nvPr/>
        </p:nvSpPr>
        <p:spPr>
          <a:xfrm>
            <a:off x="6382512" y="4864608"/>
            <a:ext cx="5029200" cy="45720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El yazısı etiket, tarih ve rakım yazan fiş, az söz.</a:t>
            </a:r>
            <a:endParaRPr lang="en-US" sz="1300" dirty="0"/>
          </a:p>
        </p:txBody>
      </p:sp>
      <p:sp>
        <p:nvSpPr>
          <p:cNvPr id="22" name="Shape 20"/>
          <p:cNvSpPr/>
          <p:nvPr/>
        </p:nvSpPr>
        <p:spPr>
          <a:xfrm>
            <a:off x="777240" y="5440680"/>
            <a:ext cx="10634472" cy="658368"/>
          </a:xfrm>
          <a:prstGeom prst="rect">
            <a:avLst/>
          </a:prstGeom>
          <a:solidFill>
            <a:srgbClr val="F6EAE6"/>
          </a:solidFill>
          <a:ln w="15875">
            <a:solidFill>
              <a:srgbClr val="8C3A2B"/>
            </a:solidFill>
            <a:prstDash val="solid"/>
          </a:ln>
        </p:spPr>
      </p:sp>
      <p:sp>
        <p:nvSpPr>
          <p:cNvPr id="23" name="Text 21"/>
          <p:cNvSpPr txBox="1"/>
          <p:nvPr/>
        </p:nvSpPr>
        <p:spPr>
          <a:xfrm>
            <a:off x="978408" y="5559552"/>
            <a:ext cx="548640" cy="274320"/>
          </a:xfrm>
          <a:prstGeom prst="rect">
            <a:avLst/>
          </a:prstGeom>
          <a:noFill/>
          <a:ln/>
        </p:spPr>
        <p:txBody>
          <a:bodyPr wrap="square" lIns="0" tIns="0" rIns="0" bIns="0" rtlCol="0" anchor="ctr"/>
          <a:lstStyle/>
          <a:p>
            <a:pPr indent="0" marL="0">
              <a:buNone/>
            </a:pPr>
            <a:r>
              <a:rPr lang="en-US" sz="950" b="1" spc="140" kern="0" dirty="0">
                <a:solidFill>
                  <a:srgbClr val="8C3A2B"/>
                </a:solidFill>
                <a:latin typeface="Calibri" pitchFamily="34" charset="0"/>
                <a:ea typeface="Calibri" pitchFamily="34" charset="-122"/>
                <a:cs typeface="Calibri" pitchFamily="34" charset="-120"/>
              </a:rPr>
              <a:t>ÖZ</a:t>
            </a:r>
            <a:endParaRPr lang="en-US" sz="950" dirty="0"/>
          </a:p>
        </p:txBody>
      </p:sp>
      <p:sp>
        <p:nvSpPr>
          <p:cNvPr id="24" name="Text 22"/>
          <p:cNvSpPr txBox="1"/>
          <p:nvPr/>
        </p:nvSpPr>
        <p:spPr>
          <a:xfrm>
            <a:off x="1645920" y="5532120"/>
            <a:ext cx="9509760" cy="411480"/>
          </a:xfrm>
          <a:prstGeom prst="rect">
            <a:avLst/>
          </a:prstGeom>
          <a:noFill/>
          <a:ln/>
        </p:spPr>
        <p:txBody>
          <a:bodyPr wrap="square" lIns="0" tIns="0" rIns="0" bIns="0" rtlCol="0" anchor="ctr"/>
          <a:lstStyle/>
          <a:p>
            <a:pPr indent="0" marL="0">
              <a:buNone/>
            </a:pPr>
            <a:r>
              <a:rPr lang="en-US" sz="1700" b="1" i="1" dirty="0">
                <a:solidFill>
                  <a:srgbClr val="8C3A2B"/>
                </a:solidFill>
                <a:latin typeface="Cambria" pitchFamily="34" charset="0"/>
                <a:ea typeface="Cambria" pitchFamily="34" charset="-122"/>
                <a:cs typeface="Cambria" pitchFamily="34" charset="-120"/>
              </a:rPr>
              <a:t>"Kahveyi saklamayan, gösteren dükkân."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9200" b="1" dirty="0">
                <a:solidFill>
                  <a:srgbClr val="8C3A2B"/>
                </a:solidFill>
                <a:latin typeface="Cambria" pitchFamily="34" charset="0"/>
                <a:ea typeface="Cambria" pitchFamily="34" charset="-122"/>
                <a:cs typeface="Cambria" pitchFamily="34" charset="-120"/>
              </a:rPr>
              <a:t>III</a:t>
            </a:r>
            <a:endParaRPr lang="en-US" sz="92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Müşteri Deneyimi Araştırması</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Mağazayı tasarlamadan önce, insanın mağazayla ne yaptığını öğrenmek.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Deneyim mağazadan önce başlar, sonra biter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14</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50" dirty="0">
                <a:solidFill>
                  <a:srgbClr val="2B2B31"/>
                </a:solidFill>
                <a:latin typeface="Cambria" pitchFamily="34" charset="0"/>
                <a:ea typeface="Cambria" pitchFamily="34" charset="-122"/>
                <a:cs typeface="Cambria" pitchFamily="34" charset="-120"/>
              </a:rPr>
              <a:t>Müşteri deneyimi kapıdan girip çıkma süresinden ibaret değildir: öncesi, anı ve sonrası olmak üzere üç evrede kurulur ve her evrede ayrı temas noktaları vardır (Lemon &amp; Verhoef, 2016). İç mimarlık ortadaki evrenin tamamından, diğer ikisinin ise mekâna bakan ucundan sorumludur.</a:t>
            </a:r>
            <a:endParaRPr lang="en-US" sz="1450" dirty="0"/>
          </a:p>
        </p:txBody>
      </p:sp>
      <p:sp>
        <p:nvSpPr>
          <p:cNvPr id="6" name="Shape 4"/>
          <p:cNvSpPr/>
          <p:nvPr/>
        </p:nvSpPr>
        <p:spPr>
          <a:xfrm>
            <a:off x="777240" y="2743200"/>
            <a:ext cx="3291840" cy="1143000"/>
          </a:xfrm>
          <a:prstGeom prst="rect">
            <a:avLst/>
          </a:prstGeom>
          <a:ln w="9525">
            <a:solidFill>
              <a:srgbClr val="C9C9CF"/>
            </a:solidFill>
            <a:prstDash val="solid"/>
          </a:ln>
        </p:spPr>
      </p:sp>
      <p:sp>
        <p:nvSpPr>
          <p:cNvPr id="7" name="Text 5"/>
          <p:cNvSpPr txBox="1"/>
          <p:nvPr/>
        </p:nvSpPr>
        <p:spPr>
          <a:xfrm>
            <a:off x="960120" y="2907792"/>
            <a:ext cx="2926080" cy="274320"/>
          </a:xfrm>
          <a:prstGeom prst="rect">
            <a:avLst/>
          </a:prstGeom>
          <a:noFill/>
          <a:ln/>
        </p:spPr>
        <p:txBody>
          <a:bodyPr wrap="square" lIns="0" tIns="0" rIns="0" bIns="0" rtlCol="0" anchor="ctr"/>
          <a:lstStyle/>
          <a:p>
            <a:pPr indent="0" marL="0">
              <a:buNone/>
            </a:pPr>
            <a:r>
              <a:rPr lang="en-US" sz="1000" b="1" spc="180" kern="0" dirty="0">
                <a:solidFill>
                  <a:srgbClr val="7A7A82"/>
                </a:solidFill>
                <a:latin typeface="Calibri" pitchFamily="34" charset="0"/>
                <a:ea typeface="Calibri" pitchFamily="34" charset="-122"/>
                <a:cs typeface="Calibri" pitchFamily="34" charset="-120"/>
              </a:rPr>
              <a:t>ÖNCE</a:t>
            </a:r>
            <a:endParaRPr lang="en-US" sz="1000" dirty="0"/>
          </a:p>
        </p:txBody>
      </p:sp>
      <p:sp>
        <p:nvSpPr>
          <p:cNvPr id="8" name="Text 6"/>
          <p:cNvSpPr txBox="1"/>
          <p:nvPr/>
        </p:nvSpPr>
        <p:spPr>
          <a:xfrm>
            <a:off x="960120" y="3200400"/>
            <a:ext cx="2926080" cy="54864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Duyma, arama, karşılaştırma,</a:t>
            </a:r>
            <a:endParaRPr lang="en-US" sz="1300" dirty="0"/>
          </a:p>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yola çıkma</a:t>
            </a:r>
            <a:endParaRPr lang="en-US" sz="1300" dirty="0"/>
          </a:p>
        </p:txBody>
      </p:sp>
      <p:sp>
        <p:nvSpPr>
          <p:cNvPr id="9" name="Shape 7"/>
          <p:cNvSpPr/>
          <p:nvPr/>
        </p:nvSpPr>
        <p:spPr>
          <a:xfrm>
            <a:off x="4123944" y="3314700"/>
            <a:ext cx="274320" cy="0"/>
          </a:xfrm>
          <a:prstGeom prst="line">
            <a:avLst/>
          </a:prstGeom>
          <a:noFill/>
          <a:ln w="15875">
            <a:solidFill>
              <a:srgbClr val="C9C9CF"/>
            </a:solidFill>
            <a:prstDash val="solid"/>
            <a:tailEnd type="triangle"/>
          </a:ln>
        </p:spPr>
      </p:sp>
      <p:sp>
        <p:nvSpPr>
          <p:cNvPr id="10" name="Shape 8"/>
          <p:cNvSpPr/>
          <p:nvPr/>
        </p:nvSpPr>
        <p:spPr>
          <a:xfrm>
            <a:off x="4453128" y="2743200"/>
            <a:ext cx="3291840" cy="1143000"/>
          </a:xfrm>
          <a:prstGeom prst="rect">
            <a:avLst/>
          </a:prstGeom>
          <a:solidFill>
            <a:srgbClr val="F6EAE6"/>
          </a:solidFill>
          <a:ln w="15875">
            <a:solidFill>
              <a:srgbClr val="8C3A2B"/>
            </a:solidFill>
            <a:prstDash val="solid"/>
          </a:ln>
        </p:spPr>
      </p:sp>
      <p:sp>
        <p:nvSpPr>
          <p:cNvPr id="11" name="Text 9"/>
          <p:cNvSpPr txBox="1"/>
          <p:nvPr/>
        </p:nvSpPr>
        <p:spPr>
          <a:xfrm>
            <a:off x="4636008" y="2907792"/>
            <a:ext cx="2926080" cy="274320"/>
          </a:xfrm>
          <a:prstGeom prst="rect">
            <a:avLst/>
          </a:prstGeom>
          <a:noFill/>
          <a:ln/>
        </p:spPr>
        <p:txBody>
          <a:bodyPr wrap="square" lIns="0" tIns="0" rIns="0" bIns="0" rtlCol="0" anchor="ctr"/>
          <a:lstStyle/>
          <a:p>
            <a:pPr indent="0" marL="0">
              <a:buNone/>
            </a:pPr>
            <a:r>
              <a:rPr lang="en-US" sz="1000" b="1" spc="180" kern="0" dirty="0">
                <a:solidFill>
                  <a:srgbClr val="8C3A2B"/>
                </a:solidFill>
                <a:latin typeface="Calibri" pitchFamily="34" charset="0"/>
                <a:ea typeface="Calibri" pitchFamily="34" charset="-122"/>
                <a:cs typeface="Calibri" pitchFamily="34" charset="-120"/>
              </a:rPr>
              <a:t>SIRASINDA</a:t>
            </a:r>
            <a:endParaRPr lang="en-US" sz="1000" dirty="0"/>
          </a:p>
        </p:txBody>
      </p:sp>
      <p:sp>
        <p:nvSpPr>
          <p:cNvPr id="12" name="Text 10"/>
          <p:cNvSpPr txBox="1"/>
          <p:nvPr/>
        </p:nvSpPr>
        <p:spPr>
          <a:xfrm>
            <a:off x="4636008" y="3200400"/>
            <a:ext cx="2926080" cy="548640"/>
          </a:xfrm>
          <a:prstGeom prst="rect">
            <a:avLst/>
          </a:prstGeom>
          <a:noFill/>
          <a:ln/>
        </p:spPr>
        <p:txBody>
          <a:bodyPr wrap="square" lIns="0" tIns="0" rIns="0" bIns="0" rtlCol="0" anchor="ctr"/>
          <a:lstStyle/>
          <a:p>
            <a:pPr indent="0" marL="0">
              <a:lnSpc>
                <a:spcPts val="1650"/>
              </a:lnSpc>
              <a:buNone/>
            </a:pPr>
            <a:r>
              <a:rPr lang="en-US" sz="1300" dirty="0">
                <a:solidFill>
                  <a:srgbClr val="8C3A2B"/>
                </a:solidFill>
                <a:latin typeface="Cambria" pitchFamily="34" charset="0"/>
                <a:ea typeface="Cambria" pitchFamily="34" charset="-122"/>
                <a:cs typeface="Cambria" pitchFamily="34" charset="-120"/>
              </a:rPr>
              <a:t>Bulma, girme, gezinme, deneme,</a:t>
            </a:r>
            <a:endParaRPr lang="en-US" sz="1300" dirty="0"/>
          </a:p>
          <a:p>
            <a:pPr indent="0" marL="0">
              <a:lnSpc>
                <a:spcPts val="1650"/>
              </a:lnSpc>
              <a:buNone/>
            </a:pPr>
            <a:r>
              <a:rPr lang="en-US" sz="1300" dirty="0">
                <a:solidFill>
                  <a:srgbClr val="8C3A2B"/>
                </a:solidFill>
                <a:latin typeface="Cambria" pitchFamily="34" charset="0"/>
                <a:ea typeface="Cambria" pitchFamily="34" charset="-122"/>
                <a:cs typeface="Cambria" pitchFamily="34" charset="-120"/>
              </a:rPr>
              <a:t>sorma, satın alma</a:t>
            </a:r>
            <a:endParaRPr lang="en-US" sz="1300" dirty="0"/>
          </a:p>
        </p:txBody>
      </p:sp>
      <p:sp>
        <p:nvSpPr>
          <p:cNvPr id="13" name="Shape 11"/>
          <p:cNvSpPr/>
          <p:nvPr/>
        </p:nvSpPr>
        <p:spPr>
          <a:xfrm>
            <a:off x="7799832" y="3314700"/>
            <a:ext cx="274320" cy="0"/>
          </a:xfrm>
          <a:prstGeom prst="line">
            <a:avLst/>
          </a:prstGeom>
          <a:noFill/>
          <a:ln w="15875">
            <a:solidFill>
              <a:srgbClr val="C9C9CF"/>
            </a:solidFill>
            <a:prstDash val="solid"/>
            <a:tailEnd type="triangle"/>
          </a:ln>
        </p:spPr>
      </p:sp>
      <p:sp>
        <p:nvSpPr>
          <p:cNvPr id="14" name="Shape 12"/>
          <p:cNvSpPr/>
          <p:nvPr/>
        </p:nvSpPr>
        <p:spPr>
          <a:xfrm>
            <a:off x="8129016" y="2743200"/>
            <a:ext cx="3291840" cy="1143000"/>
          </a:xfrm>
          <a:prstGeom prst="rect">
            <a:avLst/>
          </a:prstGeom>
          <a:ln w="9525">
            <a:solidFill>
              <a:srgbClr val="C9C9CF"/>
            </a:solidFill>
            <a:prstDash val="solid"/>
          </a:ln>
        </p:spPr>
      </p:sp>
      <p:sp>
        <p:nvSpPr>
          <p:cNvPr id="15" name="Text 13"/>
          <p:cNvSpPr txBox="1"/>
          <p:nvPr/>
        </p:nvSpPr>
        <p:spPr>
          <a:xfrm>
            <a:off x="8311896" y="2907792"/>
            <a:ext cx="2926080" cy="274320"/>
          </a:xfrm>
          <a:prstGeom prst="rect">
            <a:avLst/>
          </a:prstGeom>
          <a:noFill/>
          <a:ln/>
        </p:spPr>
        <p:txBody>
          <a:bodyPr wrap="square" lIns="0" tIns="0" rIns="0" bIns="0" rtlCol="0" anchor="ctr"/>
          <a:lstStyle/>
          <a:p>
            <a:pPr indent="0" marL="0">
              <a:buNone/>
            </a:pPr>
            <a:r>
              <a:rPr lang="en-US" sz="1000" b="1" spc="180" kern="0" dirty="0">
                <a:solidFill>
                  <a:srgbClr val="7A7A82"/>
                </a:solidFill>
                <a:latin typeface="Calibri" pitchFamily="34" charset="0"/>
                <a:ea typeface="Calibri" pitchFamily="34" charset="-122"/>
                <a:cs typeface="Calibri" pitchFamily="34" charset="-120"/>
              </a:rPr>
              <a:t>SONRA</a:t>
            </a:r>
            <a:endParaRPr lang="en-US" sz="1000" dirty="0"/>
          </a:p>
        </p:txBody>
      </p:sp>
      <p:sp>
        <p:nvSpPr>
          <p:cNvPr id="16" name="Text 14"/>
          <p:cNvSpPr txBox="1"/>
          <p:nvPr/>
        </p:nvSpPr>
        <p:spPr>
          <a:xfrm>
            <a:off x="8311896" y="3200400"/>
            <a:ext cx="2926080" cy="548640"/>
          </a:xfrm>
          <a:prstGeom prst="rect">
            <a:avLst/>
          </a:prstGeom>
          <a:noFill/>
          <a:ln/>
        </p:spPr>
        <p:txBody>
          <a:bodyPr wrap="square" lIns="0" tIns="0" rIns="0" bIns="0" rtlCol="0" anchor="ctr"/>
          <a:lstStyle/>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Kullanma, paylaşma, geri gelme,</a:t>
            </a:r>
            <a:endParaRPr lang="en-US" sz="1300" dirty="0"/>
          </a:p>
          <a:p>
            <a:pPr indent="0" marL="0">
              <a:lnSpc>
                <a:spcPts val="1650"/>
              </a:lnSpc>
              <a:buNone/>
            </a:pPr>
            <a:r>
              <a:rPr lang="en-US" sz="1300" dirty="0">
                <a:solidFill>
                  <a:srgbClr val="2B2B31"/>
                </a:solidFill>
                <a:latin typeface="Cambria" pitchFamily="34" charset="0"/>
                <a:ea typeface="Cambria" pitchFamily="34" charset="-122"/>
                <a:cs typeface="Cambria" pitchFamily="34" charset="-120"/>
              </a:rPr>
              <a:t>iade</a:t>
            </a:r>
            <a:endParaRPr lang="en-US" sz="1300" dirty="0"/>
          </a:p>
        </p:txBody>
      </p:sp>
      <p:sp>
        <p:nvSpPr>
          <p:cNvPr id="17" name="Shape 15"/>
          <p:cNvSpPr/>
          <p:nvPr/>
        </p:nvSpPr>
        <p:spPr>
          <a:xfrm>
            <a:off x="777240" y="4160520"/>
            <a:ext cx="10634472" cy="0"/>
          </a:xfrm>
          <a:prstGeom prst="line">
            <a:avLst/>
          </a:prstGeom>
          <a:noFill/>
          <a:ln w="15875">
            <a:solidFill>
              <a:srgbClr val="8C3A2B"/>
            </a:solidFill>
            <a:prstDash val="solid"/>
          </a:ln>
        </p:spPr>
      </p:sp>
      <p:sp>
        <p:nvSpPr>
          <p:cNvPr id="18" name="Text 16"/>
          <p:cNvSpPr txBox="1"/>
          <p:nvPr/>
        </p:nvSpPr>
        <p:spPr>
          <a:xfrm>
            <a:off x="777240" y="4224528"/>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8C3A2B"/>
                </a:solidFill>
                <a:latin typeface="Calibri" pitchFamily="34" charset="0"/>
                <a:ea typeface="Calibri" pitchFamily="34" charset="-122"/>
                <a:cs typeface="Calibri" pitchFamily="34" charset="-120"/>
              </a:rPr>
              <a:t>İÇ MİMARLIĞIN SORUMLULUK ALANI</a:t>
            </a:r>
            <a:endParaRPr lang="en-US" sz="900" dirty="0"/>
          </a:p>
        </p:txBody>
      </p:sp>
      <p:sp>
        <p:nvSpPr>
          <p:cNvPr id="19" name="Text 17"/>
          <p:cNvSpPr txBox="1"/>
          <p:nvPr/>
        </p:nvSpPr>
        <p:spPr>
          <a:xfrm>
            <a:off x="777240" y="4526280"/>
            <a:ext cx="3291840" cy="256032"/>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Öncenin ucu</a:t>
            </a:r>
            <a:endParaRPr lang="en-US" sz="1350" dirty="0"/>
          </a:p>
        </p:txBody>
      </p:sp>
      <p:sp>
        <p:nvSpPr>
          <p:cNvPr id="20" name="Text 18"/>
          <p:cNvSpPr txBox="1"/>
          <p:nvPr/>
        </p:nvSpPr>
        <p:spPr>
          <a:xfrm>
            <a:off x="777240" y="4800600"/>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Vitrin ve cephe: mağazayı sokakta görünür ve okunur kılmak.</a:t>
            </a:r>
            <a:endParaRPr lang="en-US" sz="1100" dirty="0"/>
          </a:p>
        </p:txBody>
      </p:sp>
      <p:sp>
        <p:nvSpPr>
          <p:cNvPr id="21" name="Text 19"/>
          <p:cNvSpPr txBox="1"/>
          <p:nvPr/>
        </p:nvSpPr>
        <p:spPr>
          <a:xfrm>
            <a:off x="4453128" y="4526280"/>
            <a:ext cx="3291840" cy="256032"/>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Sırası boyunca</a:t>
            </a:r>
            <a:endParaRPr lang="en-US" sz="1350" dirty="0"/>
          </a:p>
        </p:txBody>
      </p:sp>
      <p:sp>
        <p:nvSpPr>
          <p:cNvPr id="22" name="Text 20"/>
          <p:cNvSpPr txBox="1"/>
          <p:nvPr/>
        </p:nvSpPr>
        <p:spPr>
          <a:xfrm>
            <a:off x="4453128" y="4800600"/>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Eşik, dolaşım, teşhir, deneme, kasa: deneyimin tamamı.</a:t>
            </a:r>
            <a:endParaRPr lang="en-US" sz="1100" dirty="0"/>
          </a:p>
        </p:txBody>
      </p:sp>
      <p:sp>
        <p:nvSpPr>
          <p:cNvPr id="23" name="Text 21"/>
          <p:cNvSpPr txBox="1"/>
          <p:nvPr/>
        </p:nvSpPr>
        <p:spPr>
          <a:xfrm>
            <a:off x="8129016" y="4526280"/>
            <a:ext cx="3291840" cy="256032"/>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Sonranın ucu</a:t>
            </a:r>
            <a:endParaRPr lang="en-US" sz="1350" dirty="0"/>
          </a:p>
        </p:txBody>
      </p:sp>
      <p:sp>
        <p:nvSpPr>
          <p:cNvPr id="24" name="Text 22"/>
          <p:cNvSpPr txBox="1"/>
          <p:nvPr/>
        </p:nvSpPr>
        <p:spPr>
          <a:xfrm>
            <a:off x="8129016" y="4800600"/>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7A7A82"/>
                </a:solidFill>
                <a:latin typeface="Calibri" pitchFamily="34" charset="0"/>
                <a:ea typeface="Calibri" pitchFamily="34" charset="-122"/>
                <a:cs typeface="Calibri" pitchFamily="34" charset="-120"/>
              </a:rPr>
              <a:t>Çıkış anı, iade ve teslim noktası: hatırlanan son izlenim.</a:t>
            </a:r>
            <a:endParaRPr lang="en-US" sz="1100" dirty="0"/>
          </a:p>
        </p:txBody>
      </p:sp>
      <p:sp>
        <p:nvSpPr>
          <p:cNvPr id="25" name="Text 23"/>
          <p:cNvSpPr txBox="1"/>
          <p:nvPr/>
        </p:nvSpPr>
        <p:spPr>
          <a:xfrm>
            <a:off x="777240" y="5623560"/>
            <a:ext cx="10424160" cy="457200"/>
          </a:xfrm>
          <a:prstGeom prst="rect">
            <a:avLst/>
          </a:prstGeom>
          <a:noFill/>
          <a:ln/>
        </p:spPr>
        <p:txBody>
          <a:bodyPr wrap="square" lIns="0" tIns="0" rIns="0" bIns="0" rtlCol="0" anchor="ctr"/>
          <a:lstStyle/>
          <a:p>
            <a:pPr algn="l" indent="0" marL="0">
              <a:lnSpc>
                <a:spcPts val="1600"/>
              </a:lnSpc>
              <a:buNone/>
            </a:pPr>
            <a:r>
              <a:rPr lang="en-US" sz="1200" i="1" dirty="0">
                <a:solidFill>
                  <a:srgbClr val="8C3A2B"/>
                </a:solidFill>
                <a:latin typeface="Cambria" pitchFamily="34" charset="0"/>
                <a:ea typeface="Cambria" pitchFamily="34" charset="-122"/>
                <a:cs typeface="Cambria" pitchFamily="34" charset="-120"/>
              </a:rPr>
              <a:t>Deneyimin en çok hatırlanan iki anı, en yoğun an ve bitiş anıdır (Kahneman &amp; Fredrickson). Çıkışı tasarlamayan mağaza, hatırlanma şansını harcar.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Temas noktalarının yedi türü</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15</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Müşteri mağazayla tek bir biçimde temas etmez. Perakende deneyimi üzerine yapılan ölçümlerde temas noktaları yedi başlık altında toplanıyor (Stein &amp; Ramaseshan, 2016). Bunlardan üçü doğrudan tasarımın konusudur; kalan dördü tasarımın barındırmak zorunda olduğu şeylerdir.</a:t>
            </a:r>
            <a:endParaRPr lang="en-US" sz="1400" dirty="0"/>
          </a:p>
        </p:txBody>
      </p:sp>
      <p:sp>
        <p:nvSpPr>
          <p:cNvPr id="6" name="Shape 4"/>
          <p:cNvSpPr/>
          <p:nvPr/>
        </p:nvSpPr>
        <p:spPr>
          <a:xfrm>
            <a:off x="777240" y="2487168"/>
            <a:ext cx="2395728" cy="960120"/>
          </a:xfrm>
          <a:prstGeom prst="rect">
            <a:avLst/>
          </a:prstGeom>
          <a:solidFill>
            <a:srgbClr val="F6EAE6"/>
          </a:solidFill>
          <a:ln w="15875">
            <a:solidFill>
              <a:srgbClr val="8C3A2B"/>
            </a:solidFill>
            <a:prstDash val="solid"/>
          </a:ln>
        </p:spPr>
      </p:sp>
      <p:sp>
        <p:nvSpPr>
          <p:cNvPr id="7" name="Text 5"/>
          <p:cNvSpPr txBox="1"/>
          <p:nvPr/>
        </p:nvSpPr>
        <p:spPr>
          <a:xfrm>
            <a:off x="941832" y="2633472"/>
            <a:ext cx="2066544"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Atmosferik</a:t>
            </a:r>
            <a:endParaRPr lang="en-US" sz="1400" dirty="0"/>
          </a:p>
        </p:txBody>
      </p:sp>
      <p:sp>
        <p:nvSpPr>
          <p:cNvPr id="8" name="Text 6"/>
          <p:cNvSpPr txBox="1"/>
          <p:nvPr/>
        </p:nvSpPr>
        <p:spPr>
          <a:xfrm>
            <a:off x="941832" y="2926080"/>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8C3A2B"/>
                </a:solidFill>
                <a:latin typeface="Calibri" pitchFamily="34" charset="0"/>
                <a:ea typeface="Calibri" pitchFamily="34" charset="-122"/>
                <a:cs typeface="Calibri" pitchFamily="34" charset="-120"/>
              </a:rPr>
              <a:t>ışık, ses, koku, malzeme, sıcaklık</a:t>
            </a:r>
            <a:endParaRPr lang="en-US" sz="1000" dirty="0"/>
          </a:p>
        </p:txBody>
      </p:sp>
      <p:sp>
        <p:nvSpPr>
          <p:cNvPr id="9" name="Shape 7"/>
          <p:cNvSpPr/>
          <p:nvPr/>
        </p:nvSpPr>
        <p:spPr>
          <a:xfrm>
            <a:off x="3520440" y="2487168"/>
            <a:ext cx="2395728" cy="960120"/>
          </a:xfrm>
          <a:prstGeom prst="rect">
            <a:avLst/>
          </a:prstGeom>
          <a:solidFill>
            <a:srgbClr val="F6EAE6"/>
          </a:solidFill>
          <a:ln w="15875">
            <a:solidFill>
              <a:srgbClr val="8C3A2B"/>
            </a:solidFill>
            <a:prstDash val="solid"/>
          </a:ln>
        </p:spPr>
      </p:sp>
      <p:sp>
        <p:nvSpPr>
          <p:cNvPr id="10" name="Text 8"/>
          <p:cNvSpPr txBox="1"/>
          <p:nvPr/>
        </p:nvSpPr>
        <p:spPr>
          <a:xfrm>
            <a:off x="3685032" y="2633472"/>
            <a:ext cx="2066544"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Teknolojik</a:t>
            </a:r>
            <a:endParaRPr lang="en-US" sz="1400" dirty="0"/>
          </a:p>
        </p:txBody>
      </p:sp>
      <p:sp>
        <p:nvSpPr>
          <p:cNvPr id="11" name="Text 9"/>
          <p:cNvSpPr txBox="1"/>
          <p:nvPr/>
        </p:nvSpPr>
        <p:spPr>
          <a:xfrm>
            <a:off x="3685032" y="2926080"/>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8C3A2B"/>
                </a:solidFill>
                <a:latin typeface="Calibri" pitchFamily="34" charset="0"/>
                <a:ea typeface="Calibri" pitchFamily="34" charset="-122"/>
                <a:cs typeface="Calibri" pitchFamily="34" charset="-120"/>
              </a:rPr>
              <a:t>ekran, uygulama, kiosk, ödeme</a:t>
            </a:r>
            <a:endParaRPr lang="en-US" sz="1000" dirty="0"/>
          </a:p>
        </p:txBody>
      </p:sp>
      <p:sp>
        <p:nvSpPr>
          <p:cNvPr id="12" name="Shape 10"/>
          <p:cNvSpPr/>
          <p:nvPr/>
        </p:nvSpPr>
        <p:spPr>
          <a:xfrm>
            <a:off x="6263640" y="2487168"/>
            <a:ext cx="2395728" cy="960120"/>
          </a:xfrm>
          <a:prstGeom prst="rect">
            <a:avLst/>
          </a:prstGeom>
          <a:solidFill>
            <a:srgbClr val="F6EAE6"/>
          </a:solidFill>
          <a:ln w="15875">
            <a:solidFill>
              <a:srgbClr val="8C3A2B"/>
            </a:solidFill>
            <a:prstDash val="solid"/>
          </a:ln>
        </p:spPr>
      </p:sp>
      <p:sp>
        <p:nvSpPr>
          <p:cNvPr id="13" name="Text 11"/>
          <p:cNvSpPr txBox="1"/>
          <p:nvPr/>
        </p:nvSpPr>
        <p:spPr>
          <a:xfrm>
            <a:off x="6428232" y="2633472"/>
            <a:ext cx="2066544"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İletişimsel</a:t>
            </a:r>
            <a:endParaRPr lang="en-US" sz="1400" dirty="0"/>
          </a:p>
        </p:txBody>
      </p:sp>
      <p:sp>
        <p:nvSpPr>
          <p:cNvPr id="14" name="Text 12"/>
          <p:cNvSpPr txBox="1"/>
          <p:nvPr/>
        </p:nvSpPr>
        <p:spPr>
          <a:xfrm>
            <a:off x="6428232" y="2926080"/>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8C3A2B"/>
                </a:solidFill>
                <a:latin typeface="Calibri" pitchFamily="34" charset="0"/>
                <a:ea typeface="Calibri" pitchFamily="34" charset="-122"/>
                <a:cs typeface="Calibri" pitchFamily="34" charset="-120"/>
              </a:rPr>
              <a:t>tabela, etiket, yönlendirme, fiyat</a:t>
            </a:r>
            <a:endParaRPr lang="en-US" sz="1000" dirty="0"/>
          </a:p>
        </p:txBody>
      </p:sp>
      <p:sp>
        <p:nvSpPr>
          <p:cNvPr id="15" name="Shape 13"/>
          <p:cNvSpPr/>
          <p:nvPr/>
        </p:nvSpPr>
        <p:spPr>
          <a:xfrm>
            <a:off x="9006840" y="2487168"/>
            <a:ext cx="2395728" cy="960120"/>
          </a:xfrm>
          <a:prstGeom prst="rect">
            <a:avLst/>
          </a:prstGeom>
          <a:ln w="9525">
            <a:solidFill>
              <a:srgbClr val="C9C9CF"/>
            </a:solidFill>
            <a:prstDash val="solid"/>
          </a:ln>
        </p:spPr>
      </p:sp>
      <p:sp>
        <p:nvSpPr>
          <p:cNvPr id="16" name="Text 14"/>
          <p:cNvSpPr txBox="1"/>
          <p:nvPr/>
        </p:nvSpPr>
        <p:spPr>
          <a:xfrm>
            <a:off x="9171432" y="2633472"/>
            <a:ext cx="2066544" cy="274320"/>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Süreçle ilgili</a:t>
            </a:r>
            <a:endParaRPr lang="en-US" sz="1400" dirty="0"/>
          </a:p>
        </p:txBody>
      </p:sp>
      <p:sp>
        <p:nvSpPr>
          <p:cNvPr id="17" name="Text 15"/>
          <p:cNvSpPr txBox="1"/>
          <p:nvPr/>
        </p:nvSpPr>
        <p:spPr>
          <a:xfrm>
            <a:off x="9171432" y="2926080"/>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sıra, bekleme, kasa, iade akışı</a:t>
            </a:r>
            <a:endParaRPr lang="en-US" sz="1000" dirty="0"/>
          </a:p>
        </p:txBody>
      </p:sp>
      <p:sp>
        <p:nvSpPr>
          <p:cNvPr id="18" name="Shape 16"/>
          <p:cNvSpPr/>
          <p:nvPr/>
        </p:nvSpPr>
        <p:spPr>
          <a:xfrm>
            <a:off x="777240" y="3831336"/>
            <a:ext cx="2395728" cy="960120"/>
          </a:xfrm>
          <a:prstGeom prst="rect">
            <a:avLst/>
          </a:prstGeom>
          <a:ln w="9525">
            <a:solidFill>
              <a:srgbClr val="C9C9CF"/>
            </a:solidFill>
            <a:prstDash val="solid"/>
          </a:ln>
        </p:spPr>
      </p:sp>
      <p:sp>
        <p:nvSpPr>
          <p:cNvPr id="19" name="Text 17"/>
          <p:cNvSpPr txBox="1"/>
          <p:nvPr/>
        </p:nvSpPr>
        <p:spPr>
          <a:xfrm>
            <a:off x="941832" y="3977640"/>
            <a:ext cx="2066544" cy="274320"/>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Çalışan–müşteri</a:t>
            </a:r>
            <a:endParaRPr lang="en-US" sz="1400" dirty="0"/>
          </a:p>
        </p:txBody>
      </p:sp>
      <p:sp>
        <p:nvSpPr>
          <p:cNvPr id="20" name="Text 18"/>
          <p:cNvSpPr txBox="1"/>
          <p:nvPr/>
        </p:nvSpPr>
        <p:spPr>
          <a:xfrm>
            <a:off x="941832" y="4270248"/>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karşılama, danışma, birebir ilgi</a:t>
            </a:r>
            <a:endParaRPr lang="en-US" sz="1000" dirty="0"/>
          </a:p>
        </p:txBody>
      </p:sp>
      <p:sp>
        <p:nvSpPr>
          <p:cNvPr id="21" name="Shape 19"/>
          <p:cNvSpPr/>
          <p:nvPr/>
        </p:nvSpPr>
        <p:spPr>
          <a:xfrm>
            <a:off x="3520440" y="3831336"/>
            <a:ext cx="2395728" cy="960120"/>
          </a:xfrm>
          <a:prstGeom prst="rect">
            <a:avLst/>
          </a:prstGeom>
          <a:ln w="9525">
            <a:solidFill>
              <a:srgbClr val="C9C9CF"/>
            </a:solidFill>
            <a:prstDash val="solid"/>
          </a:ln>
        </p:spPr>
      </p:sp>
      <p:sp>
        <p:nvSpPr>
          <p:cNvPr id="22" name="Text 20"/>
          <p:cNvSpPr txBox="1"/>
          <p:nvPr/>
        </p:nvSpPr>
        <p:spPr>
          <a:xfrm>
            <a:off x="3685032" y="3977640"/>
            <a:ext cx="2066544" cy="274320"/>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Müşteri–müşteri</a:t>
            </a:r>
            <a:endParaRPr lang="en-US" sz="1400" dirty="0"/>
          </a:p>
        </p:txBody>
      </p:sp>
      <p:sp>
        <p:nvSpPr>
          <p:cNvPr id="23" name="Text 21"/>
          <p:cNvSpPr txBox="1"/>
          <p:nvPr/>
        </p:nvSpPr>
        <p:spPr>
          <a:xfrm>
            <a:off x="3685032" y="4270248"/>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kalabalık, mahremiyet, başkasının bakışı</a:t>
            </a:r>
            <a:endParaRPr lang="en-US" sz="1000" dirty="0"/>
          </a:p>
        </p:txBody>
      </p:sp>
      <p:sp>
        <p:nvSpPr>
          <p:cNvPr id="24" name="Shape 22"/>
          <p:cNvSpPr/>
          <p:nvPr/>
        </p:nvSpPr>
        <p:spPr>
          <a:xfrm>
            <a:off x="6263640" y="3831336"/>
            <a:ext cx="2395728" cy="960120"/>
          </a:xfrm>
          <a:prstGeom prst="rect">
            <a:avLst/>
          </a:prstGeom>
          <a:ln w="9525">
            <a:solidFill>
              <a:srgbClr val="C9C9CF"/>
            </a:solidFill>
            <a:prstDash val="solid"/>
          </a:ln>
        </p:spPr>
      </p:sp>
      <p:sp>
        <p:nvSpPr>
          <p:cNvPr id="25" name="Text 23"/>
          <p:cNvSpPr txBox="1"/>
          <p:nvPr/>
        </p:nvSpPr>
        <p:spPr>
          <a:xfrm>
            <a:off x="6428232" y="3977640"/>
            <a:ext cx="2066544" cy="274320"/>
          </a:xfrm>
          <a:prstGeom prst="rect">
            <a:avLst/>
          </a:prstGeom>
          <a:noFill/>
          <a:ln/>
        </p:spPr>
        <p:txBody>
          <a:bodyPr wrap="square" lIns="0" tIns="0" rIns="0" bIns="0" rtlCol="0" anchor="ctr"/>
          <a:lstStyle/>
          <a:p>
            <a:pPr indent="0" marL="0">
              <a:buNone/>
            </a:pPr>
            <a:r>
              <a:rPr lang="en-US" sz="1400" b="1" dirty="0">
                <a:solidFill>
                  <a:srgbClr val="16161A"/>
                </a:solidFill>
                <a:latin typeface="Cambria" pitchFamily="34" charset="0"/>
                <a:ea typeface="Cambria" pitchFamily="34" charset="-122"/>
                <a:cs typeface="Cambria" pitchFamily="34" charset="-120"/>
              </a:rPr>
              <a:t>Ürünle etkileşim</a:t>
            </a:r>
            <a:endParaRPr lang="en-US" sz="1400" dirty="0"/>
          </a:p>
        </p:txBody>
      </p:sp>
      <p:sp>
        <p:nvSpPr>
          <p:cNvPr id="26" name="Text 24"/>
          <p:cNvSpPr txBox="1"/>
          <p:nvPr/>
        </p:nvSpPr>
        <p:spPr>
          <a:xfrm>
            <a:off x="6428232" y="4270248"/>
            <a:ext cx="2066544" cy="45720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dokunma, deneme, tartma, koklama</a:t>
            </a:r>
            <a:endParaRPr lang="en-US" sz="1000" dirty="0"/>
          </a:p>
        </p:txBody>
      </p:sp>
      <p:sp>
        <p:nvSpPr>
          <p:cNvPr id="27" name="Text 25"/>
          <p:cNvSpPr txBox="1"/>
          <p:nvPr/>
        </p:nvSpPr>
        <p:spPr>
          <a:xfrm>
            <a:off x="9006840" y="4105656"/>
            <a:ext cx="2377440" cy="731520"/>
          </a:xfrm>
          <a:prstGeom prst="rect">
            <a:avLst/>
          </a:prstGeom>
          <a:noFill/>
          <a:ln/>
        </p:spPr>
        <p:txBody>
          <a:bodyPr wrap="square" lIns="0" tIns="0" rIns="0" bIns="0" rtlCol="0" anchor="ctr"/>
          <a:lstStyle/>
          <a:p>
            <a:pPr algn="l" indent="0" marL="0">
              <a:lnSpc>
                <a:spcPts val="1500"/>
              </a:lnSpc>
              <a:buNone/>
            </a:pPr>
            <a:r>
              <a:rPr lang="en-US" sz="1100" i="1" dirty="0">
                <a:solidFill>
                  <a:srgbClr val="8C3A2B"/>
                </a:solidFill>
                <a:latin typeface="Cambria" pitchFamily="34" charset="0"/>
                <a:ea typeface="Cambria" pitchFamily="34" charset="-122"/>
                <a:cs typeface="Cambria" pitchFamily="34" charset="-120"/>
              </a:rPr>
              <a:t>İlk üçü tasarımcının</a:t>
            </a:r>
            <a:endParaRPr lang="en-US" sz="1100" dirty="0"/>
          </a:p>
          <a:p>
            <a:pPr algn="l" indent="0" marL="0">
              <a:lnSpc>
                <a:spcPts val="1500"/>
              </a:lnSpc>
              <a:buNone/>
            </a:pPr>
            <a:r>
              <a:rPr lang="en-US" sz="1100" i="1" dirty="0">
                <a:solidFill>
                  <a:srgbClr val="8C3A2B"/>
                </a:solidFill>
                <a:latin typeface="Cambria" pitchFamily="34" charset="0"/>
                <a:ea typeface="Cambria" pitchFamily="34" charset="-122"/>
                <a:cs typeface="Cambria" pitchFamily="34" charset="-120"/>
              </a:rPr>
              <a:t>doğrudan kurduğu</a:t>
            </a:r>
            <a:endParaRPr lang="en-US" sz="1100" dirty="0"/>
          </a:p>
          <a:p>
            <a:pPr algn="l" indent="0" marL="0">
              <a:lnSpc>
                <a:spcPts val="1500"/>
              </a:lnSpc>
              <a:buNone/>
            </a:pPr>
            <a:r>
              <a:rPr lang="en-US" sz="1100" i="1" dirty="0">
                <a:solidFill>
                  <a:srgbClr val="8C3A2B"/>
                </a:solidFill>
                <a:latin typeface="Cambria" pitchFamily="34" charset="0"/>
                <a:ea typeface="Cambria" pitchFamily="34" charset="-122"/>
                <a:cs typeface="Cambria" pitchFamily="34" charset="-120"/>
              </a:rPr>
              <a:t>temas noktalarıdır.</a:t>
            </a:r>
            <a:endParaRPr lang="en-US" sz="1100" dirty="0"/>
          </a:p>
        </p:txBody>
      </p:sp>
      <p:sp>
        <p:nvSpPr>
          <p:cNvPr id="28" name="Shape 26"/>
          <p:cNvSpPr/>
          <p:nvPr/>
        </p:nvSpPr>
        <p:spPr>
          <a:xfrm>
            <a:off x="8778240" y="3831336"/>
            <a:ext cx="0" cy="960120"/>
          </a:xfrm>
          <a:prstGeom prst="line">
            <a:avLst/>
          </a:prstGeom>
          <a:noFill/>
          <a:ln w="9525">
            <a:solidFill>
              <a:srgbClr val="C9C9CF"/>
            </a:solidFill>
            <a:prstDash val="solid"/>
          </a:ln>
        </p:spPr>
      </p:sp>
      <p:sp>
        <p:nvSpPr>
          <p:cNvPr id="29" name="Text 27"/>
          <p:cNvSpPr txBox="1"/>
          <p:nvPr/>
        </p:nvSpPr>
        <p:spPr>
          <a:xfrm>
            <a:off x="777240" y="5623560"/>
            <a:ext cx="10424160" cy="411480"/>
          </a:xfrm>
          <a:prstGeom prst="rect">
            <a:avLst/>
          </a:prstGeom>
          <a:noFill/>
          <a:ln/>
        </p:spPr>
        <p:txBody>
          <a:bodyPr wrap="square" lIns="0" tIns="0" rIns="0" bIns="0" rtlCol="0" anchor="ctr"/>
          <a:lstStyle/>
          <a:p>
            <a:pPr algn="l" indent="0" marL="0">
              <a:lnSpc>
                <a:spcPts val="1600"/>
              </a:lnSpc>
              <a:buNone/>
            </a:pPr>
            <a:r>
              <a:rPr lang="en-US" sz="1200" dirty="0">
                <a:solidFill>
                  <a:srgbClr val="2B2B31"/>
                </a:solidFill>
                <a:latin typeface="Cambria" pitchFamily="34" charset="0"/>
                <a:ea typeface="Cambria" pitchFamily="34" charset="-122"/>
                <a:cs typeface="Cambria" pitchFamily="34" charset="-120"/>
              </a:rPr>
              <a:t>Ölçümler, atmosferik ve çalışan temas noktalarının marka sadakatine en güçlü katkıyı yaptığını gösteriyor (Stein &amp; Ramaseshan, 2016).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Müşteri yolculuğu haritası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16</a:t>
            </a:r>
            <a:endParaRPr lang="en-US" sz="950" dirty="0"/>
          </a:p>
        </p:txBody>
      </p:sp>
      <p:sp>
        <p:nvSpPr>
          <p:cNvPr id="5" name="Text 3"/>
          <p:cNvSpPr txBox="1"/>
          <p:nvPr/>
        </p:nvSpPr>
        <p:spPr>
          <a:xfrm>
            <a:off x="777240" y="1554480"/>
            <a:ext cx="10634472" cy="658368"/>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Yolculuk haritası, müşterinin markayla karşılaşmasını sıralı anlara böler. Her an için üç şey yazılır: müşteri ne yapıyor, ne hissediyor, hangi temas noktasıyla karşılaşıyor. Aşağıdaki sekiz andan altısı doğrudan mekânda geçer.</a:t>
            </a:r>
            <a:endParaRPr lang="en-US" sz="1400" dirty="0"/>
          </a:p>
        </p:txBody>
      </p:sp>
      <p:sp>
        <p:nvSpPr>
          <p:cNvPr id="6" name="Shape 4"/>
          <p:cNvSpPr/>
          <p:nvPr/>
        </p:nvSpPr>
        <p:spPr>
          <a:xfrm>
            <a:off x="822960" y="3063240"/>
            <a:ext cx="10515600" cy="0"/>
          </a:xfrm>
          <a:prstGeom prst="line">
            <a:avLst/>
          </a:prstGeom>
          <a:noFill/>
          <a:ln w="12700">
            <a:solidFill>
              <a:srgbClr val="C9C9CF"/>
            </a:solidFill>
            <a:prstDash val="solid"/>
          </a:ln>
        </p:spPr>
      </p:sp>
      <p:sp>
        <p:nvSpPr>
          <p:cNvPr id="7" name="Shape 5"/>
          <p:cNvSpPr/>
          <p:nvPr/>
        </p:nvSpPr>
        <p:spPr>
          <a:xfrm>
            <a:off x="1078992" y="2999232"/>
            <a:ext cx="128016" cy="128016"/>
          </a:xfrm>
          <a:prstGeom prst="ellipse">
            <a:avLst/>
          </a:prstGeom>
          <a:solidFill>
            <a:srgbClr val="B9B9C0"/>
          </a:solidFill>
          <a:ln w="12700">
            <a:solidFill>
              <a:srgbClr val="B9B9C0"/>
            </a:solidFill>
            <a:prstDash val="solid"/>
          </a:ln>
        </p:spPr>
      </p:sp>
      <p:sp>
        <p:nvSpPr>
          <p:cNvPr id="8" name="Text 6"/>
          <p:cNvSpPr txBox="1"/>
          <p:nvPr/>
        </p:nvSpPr>
        <p:spPr>
          <a:xfrm>
            <a:off x="429768" y="2724912"/>
            <a:ext cx="1426464" cy="256032"/>
          </a:xfrm>
          <a:prstGeom prst="rect">
            <a:avLst/>
          </a:prstGeom>
          <a:noFill/>
          <a:ln/>
        </p:spPr>
        <p:txBody>
          <a:bodyPr wrap="square" lIns="0" tIns="0" rIns="0" bIns="0" rtlCol="0" anchor="ctr"/>
          <a:lstStyle/>
          <a:p>
            <a:pPr algn="ctr" indent="0" marL="0">
              <a:buNone/>
            </a:pPr>
            <a:r>
              <a:rPr lang="en-US" sz="1050" b="1" dirty="0">
                <a:solidFill>
                  <a:srgbClr val="7A7A82"/>
                </a:solidFill>
                <a:latin typeface="Calibri" pitchFamily="34" charset="0"/>
                <a:ea typeface="Calibri" pitchFamily="34" charset="-122"/>
                <a:cs typeface="Calibri" pitchFamily="34" charset="-120"/>
              </a:rPr>
              <a:t>Duyma</a:t>
            </a:r>
            <a:endParaRPr lang="en-US" sz="1050" dirty="0"/>
          </a:p>
        </p:txBody>
      </p:sp>
      <p:sp>
        <p:nvSpPr>
          <p:cNvPr id="9" name="Shape 7"/>
          <p:cNvSpPr/>
          <p:nvPr/>
        </p:nvSpPr>
        <p:spPr>
          <a:xfrm>
            <a:off x="2496312" y="2999232"/>
            <a:ext cx="128016" cy="128016"/>
          </a:xfrm>
          <a:prstGeom prst="ellipse">
            <a:avLst/>
          </a:prstGeom>
          <a:solidFill>
            <a:srgbClr val="B9B9C0"/>
          </a:solidFill>
          <a:ln w="12700">
            <a:solidFill>
              <a:srgbClr val="B9B9C0"/>
            </a:solidFill>
            <a:prstDash val="solid"/>
          </a:ln>
        </p:spPr>
      </p:sp>
      <p:sp>
        <p:nvSpPr>
          <p:cNvPr id="10" name="Text 8"/>
          <p:cNvSpPr txBox="1"/>
          <p:nvPr/>
        </p:nvSpPr>
        <p:spPr>
          <a:xfrm>
            <a:off x="1847088" y="2724912"/>
            <a:ext cx="1426464" cy="256032"/>
          </a:xfrm>
          <a:prstGeom prst="rect">
            <a:avLst/>
          </a:prstGeom>
          <a:noFill/>
          <a:ln/>
        </p:spPr>
        <p:txBody>
          <a:bodyPr wrap="square" lIns="0" tIns="0" rIns="0" bIns="0" rtlCol="0" anchor="ctr"/>
          <a:lstStyle/>
          <a:p>
            <a:pPr algn="ctr" indent="0" marL="0">
              <a:buNone/>
            </a:pPr>
            <a:r>
              <a:rPr lang="en-US" sz="1050" b="1" dirty="0">
                <a:solidFill>
                  <a:srgbClr val="7A7A82"/>
                </a:solidFill>
                <a:latin typeface="Calibri" pitchFamily="34" charset="0"/>
                <a:ea typeface="Calibri" pitchFamily="34" charset="-122"/>
                <a:cs typeface="Calibri" pitchFamily="34" charset="-120"/>
              </a:rPr>
              <a:t>Yola çıkma</a:t>
            </a:r>
            <a:endParaRPr lang="en-US" sz="1050" dirty="0"/>
          </a:p>
        </p:txBody>
      </p:sp>
      <p:sp>
        <p:nvSpPr>
          <p:cNvPr id="11" name="Shape 9"/>
          <p:cNvSpPr/>
          <p:nvPr/>
        </p:nvSpPr>
        <p:spPr>
          <a:xfrm>
            <a:off x="3886200" y="2971800"/>
            <a:ext cx="182880" cy="182880"/>
          </a:xfrm>
          <a:prstGeom prst="ellipse">
            <a:avLst/>
          </a:prstGeom>
          <a:solidFill>
            <a:srgbClr val="8C3A2B"/>
          </a:solidFill>
          <a:ln w="12700">
            <a:solidFill>
              <a:srgbClr val="8C3A2B"/>
            </a:solidFill>
            <a:prstDash val="solid"/>
          </a:ln>
        </p:spPr>
      </p:sp>
      <p:sp>
        <p:nvSpPr>
          <p:cNvPr id="12" name="Text 10"/>
          <p:cNvSpPr txBox="1"/>
          <p:nvPr/>
        </p:nvSpPr>
        <p:spPr>
          <a:xfrm>
            <a:off x="326440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Bulma</a:t>
            </a:r>
            <a:endParaRPr lang="en-US" sz="1050" dirty="0"/>
          </a:p>
        </p:txBody>
      </p:sp>
      <p:sp>
        <p:nvSpPr>
          <p:cNvPr id="13" name="Shape 11"/>
          <p:cNvSpPr/>
          <p:nvPr/>
        </p:nvSpPr>
        <p:spPr>
          <a:xfrm>
            <a:off x="3977640" y="3172968"/>
            <a:ext cx="0" cy="256032"/>
          </a:xfrm>
          <a:prstGeom prst="line">
            <a:avLst/>
          </a:prstGeom>
          <a:noFill/>
          <a:ln w="12700">
            <a:solidFill>
              <a:srgbClr val="8C3A2B"/>
            </a:solidFill>
            <a:prstDash val="solid"/>
          </a:ln>
        </p:spPr>
      </p:sp>
      <p:sp>
        <p:nvSpPr>
          <p:cNvPr id="14" name="Shape 12"/>
          <p:cNvSpPr/>
          <p:nvPr/>
        </p:nvSpPr>
        <p:spPr>
          <a:xfrm>
            <a:off x="5303520" y="2971800"/>
            <a:ext cx="182880" cy="182880"/>
          </a:xfrm>
          <a:prstGeom prst="ellipse">
            <a:avLst/>
          </a:prstGeom>
          <a:solidFill>
            <a:srgbClr val="8C3A2B"/>
          </a:solidFill>
          <a:ln w="12700">
            <a:solidFill>
              <a:srgbClr val="8C3A2B"/>
            </a:solidFill>
            <a:prstDash val="solid"/>
          </a:ln>
        </p:spPr>
      </p:sp>
      <p:sp>
        <p:nvSpPr>
          <p:cNvPr id="15" name="Text 13"/>
          <p:cNvSpPr txBox="1"/>
          <p:nvPr/>
        </p:nvSpPr>
        <p:spPr>
          <a:xfrm>
            <a:off x="468172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Eşik</a:t>
            </a:r>
            <a:endParaRPr lang="en-US" sz="1050" dirty="0"/>
          </a:p>
        </p:txBody>
      </p:sp>
      <p:sp>
        <p:nvSpPr>
          <p:cNvPr id="16" name="Shape 14"/>
          <p:cNvSpPr/>
          <p:nvPr/>
        </p:nvSpPr>
        <p:spPr>
          <a:xfrm>
            <a:off x="5394960" y="3172968"/>
            <a:ext cx="0" cy="256032"/>
          </a:xfrm>
          <a:prstGeom prst="line">
            <a:avLst/>
          </a:prstGeom>
          <a:noFill/>
          <a:ln w="12700">
            <a:solidFill>
              <a:srgbClr val="8C3A2B"/>
            </a:solidFill>
            <a:prstDash val="solid"/>
          </a:ln>
        </p:spPr>
      </p:sp>
      <p:sp>
        <p:nvSpPr>
          <p:cNvPr id="17" name="Shape 15"/>
          <p:cNvSpPr/>
          <p:nvPr/>
        </p:nvSpPr>
        <p:spPr>
          <a:xfrm>
            <a:off x="6720840" y="2971800"/>
            <a:ext cx="182880" cy="182880"/>
          </a:xfrm>
          <a:prstGeom prst="ellipse">
            <a:avLst/>
          </a:prstGeom>
          <a:solidFill>
            <a:srgbClr val="8C3A2B"/>
          </a:solidFill>
          <a:ln w="12700">
            <a:solidFill>
              <a:srgbClr val="8C3A2B"/>
            </a:solidFill>
            <a:prstDash val="solid"/>
          </a:ln>
        </p:spPr>
      </p:sp>
      <p:sp>
        <p:nvSpPr>
          <p:cNvPr id="18" name="Text 16"/>
          <p:cNvSpPr txBox="1"/>
          <p:nvPr/>
        </p:nvSpPr>
        <p:spPr>
          <a:xfrm>
            <a:off x="609904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Gezinme</a:t>
            </a:r>
            <a:endParaRPr lang="en-US" sz="1050" dirty="0"/>
          </a:p>
        </p:txBody>
      </p:sp>
      <p:sp>
        <p:nvSpPr>
          <p:cNvPr id="19" name="Shape 17"/>
          <p:cNvSpPr/>
          <p:nvPr/>
        </p:nvSpPr>
        <p:spPr>
          <a:xfrm>
            <a:off x="6812280" y="3172968"/>
            <a:ext cx="0" cy="256032"/>
          </a:xfrm>
          <a:prstGeom prst="line">
            <a:avLst/>
          </a:prstGeom>
          <a:noFill/>
          <a:ln w="12700">
            <a:solidFill>
              <a:srgbClr val="8C3A2B"/>
            </a:solidFill>
            <a:prstDash val="solid"/>
          </a:ln>
        </p:spPr>
      </p:sp>
      <p:sp>
        <p:nvSpPr>
          <p:cNvPr id="20" name="Shape 18"/>
          <p:cNvSpPr/>
          <p:nvPr/>
        </p:nvSpPr>
        <p:spPr>
          <a:xfrm>
            <a:off x="8138160" y="2971800"/>
            <a:ext cx="182880" cy="182880"/>
          </a:xfrm>
          <a:prstGeom prst="ellipse">
            <a:avLst/>
          </a:prstGeom>
          <a:solidFill>
            <a:srgbClr val="8C3A2B"/>
          </a:solidFill>
          <a:ln w="12700">
            <a:solidFill>
              <a:srgbClr val="8C3A2B"/>
            </a:solidFill>
            <a:prstDash val="solid"/>
          </a:ln>
        </p:spPr>
      </p:sp>
      <p:sp>
        <p:nvSpPr>
          <p:cNvPr id="21" name="Text 19"/>
          <p:cNvSpPr txBox="1"/>
          <p:nvPr/>
        </p:nvSpPr>
        <p:spPr>
          <a:xfrm>
            <a:off x="751636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Deneme</a:t>
            </a:r>
            <a:endParaRPr lang="en-US" sz="1050" dirty="0"/>
          </a:p>
        </p:txBody>
      </p:sp>
      <p:sp>
        <p:nvSpPr>
          <p:cNvPr id="22" name="Shape 20"/>
          <p:cNvSpPr/>
          <p:nvPr/>
        </p:nvSpPr>
        <p:spPr>
          <a:xfrm>
            <a:off x="8229600" y="3172968"/>
            <a:ext cx="0" cy="256032"/>
          </a:xfrm>
          <a:prstGeom prst="line">
            <a:avLst/>
          </a:prstGeom>
          <a:noFill/>
          <a:ln w="12700">
            <a:solidFill>
              <a:srgbClr val="8C3A2B"/>
            </a:solidFill>
            <a:prstDash val="solid"/>
          </a:ln>
        </p:spPr>
      </p:sp>
      <p:sp>
        <p:nvSpPr>
          <p:cNvPr id="23" name="Shape 21"/>
          <p:cNvSpPr/>
          <p:nvPr/>
        </p:nvSpPr>
        <p:spPr>
          <a:xfrm>
            <a:off x="9555480" y="2971800"/>
            <a:ext cx="182880" cy="182880"/>
          </a:xfrm>
          <a:prstGeom prst="ellipse">
            <a:avLst/>
          </a:prstGeom>
          <a:solidFill>
            <a:srgbClr val="8C3A2B"/>
          </a:solidFill>
          <a:ln w="12700">
            <a:solidFill>
              <a:srgbClr val="8C3A2B"/>
            </a:solidFill>
            <a:prstDash val="solid"/>
          </a:ln>
        </p:spPr>
      </p:sp>
      <p:sp>
        <p:nvSpPr>
          <p:cNvPr id="24" name="Text 22"/>
          <p:cNvSpPr txBox="1"/>
          <p:nvPr/>
        </p:nvSpPr>
        <p:spPr>
          <a:xfrm>
            <a:off x="893368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Satın alma</a:t>
            </a:r>
            <a:endParaRPr lang="en-US" sz="1050" dirty="0"/>
          </a:p>
        </p:txBody>
      </p:sp>
      <p:sp>
        <p:nvSpPr>
          <p:cNvPr id="25" name="Shape 23"/>
          <p:cNvSpPr/>
          <p:nvPr/>
        </p:nvSpPr>
        <p:spPr>
          <a:xfrm>
            <a:off x="9646920" y="3172968"/>
            <a:ext cx="0" cy="256032"/>
          </a:xfrm>
          <a:prstGeom prst="line">
            <a:avLst/>
          </a:prstGeom>
          <a:noFill/>
          <a:ln w="12700">
            <a:solidFill>
              <a:srgbClr val="8C3A2B"/>
            </a:solidFill>
            <a:prstDash val="solid"/>
          </a:ln>
        </p:spPr>
      </p:sp>
      <p:sp>
        <p:nvSpPr>
          <p:cNvPr id="26" name="Shape 24"/>
          <p:cNvSpPr/>
          <p:nvPr/>
        </p:nvSpPr>
        <p:spPr>
          <a:xfrm>
            <a:off x="10972800" y="2971800"/>
            <a:ext cx="182880" cy="182880"/>
          </a:xfrm>
          <a:prstGeom prst="ellipse">
            <a:avLst/>
          </a:prstGeom>
          <a:solidFill>
            <a:srgbClr val="8C3A2B"/>
          </a:solidFill>
          <a:ln w="12700">
            <a:solidFill>
              <a:srgbClr val="8C3A2B"/>
            </a:solidFill>
            <a:prstDash val="solid"/>
          </a:ln>
        </p:spPr>
      </p:sp>
      <p:sp>
        <p:nvSpPr>
          <p:cNvPr id="27" name="Text 25"/>
          <p:cNvSpPr txBox="1"/>
          <p:nvPr/>
        </p:nvSpPr>
        <p:spPr>
          <a:xfrm>
            <a:off x="10351008" y="2724912"/>
            <a:ext cx="1426464" cy="256032"/>
          </a:xfrm>
          <a:prstGeom prst="rect">
            <a:avLst/>
          </a:prstGeom>
          <a:noFill/>
          <a:ln/>
        </p:spPr>
        <p:txBody>
          <a:bodyPr wrap="square" lIns="0" tIns="0" rIns="0" bIns="0" rtlCol="0" anchor="ctr"/>
          <a:lstStyle/>
          <a:p>
            <a:pPr algn="ctr" indent="0" marL="0">
              <a:buNone/>
            </a:pPr>
            <a:r>
              <a:rPr lang="en-US" sz="1050" b="1" dirty="0">
                <a:solidFill>
                  <a:srgbClr val="8C3A2B"/>
                </a:solidFill>
                <a:latin typeface="Calibri" pitchFamily="34" charset="0"/>
                <a:ea typeface="Calibri" pitchFamily="34" charset="-122"/>
                <a:cs typeface="Calibri" pitchFamily="34" charset="-120"/>
              </a:rPr>
              <a:t>Ayrılma</a:t>
            </a:r>
            <a:endParaRPr lang="en-US" sz="1050" dirty="0"/>
          </a:p>
        </p:txBody>
      </p:sp>
      <p:sp>
        <p:nvSpPr>
          <p:cNvPr id="28" name="Shape 26"/>
          <p:cNvSpPr/>
          <p:nvPr/>
        </p:nvSpPr>
        <p:spPr>
          <a:xfrm>
            <a:off x="11064240" y="3172968"/>
            <a:ext cx="0" cy="256032"/>
          </a:xfrm>
          <a:prstGeom prst="line">
            <a:avLst/>
          </a:prstGeom>
          <a:noFill/>
          <a:ln w="12700">
            <a:solidFill>
              <a:srgbClr val="8C3A2B"/>
            </a:solidFill>
            <a:prstDash val="solid"/>
          </a:ln>
        </p:spPr>
      </p:sp>
      <p:sp>
        <p:nvSpPr>
          <p:cNvPr id="29" name="Text 27"/>
          <p:cNvSpPr txBox="1"/>
          <p:nvPr/>
        </p:nvSpPr>
        <p:spPr>
          <a:xfrm>
            <a:off x="777240" y="3310128"/>
            <a:ext cx="2011680" cy="274320"/>
          </a:xfrm>
          <a:prstGeom prst="rect">
            <a:avLst/>
          </a:prstGeom>
          <a:noFill/>
          <a:ln/>
        </p:spPr>
        <p:txBody>
          <a:bodyPr wrap="square" lIns="0" tIns="0" rIns="0" bIns="0" rtlCol="0" anchor="ctr"/>
          <a:lstStyle/>
          <a:p>
            <a:pPr algn="l" indent="0" marL="0">
              <a:lnSpc>
                <a:spcPts val="1200"/>
              </a:lnSpc>
              <a:buNone/>
            </a:pPr>
            <a:r>
              <a:rPr lang="en-US" sz="900" i="1" dirty="0">
                <a:solidFill>
                  <a:srgbClr val="A6A6AC"/>
                </a:solidFill>
                <a:latin typeface="Calibri" pitchFamily="34" charset="0"/>
                <a:ea typeface="Calibri" pitchFamily="34" charset="-122"/>
                <a:cs typeface="Calibri" pitchFamily="34" charset="-120"/>
              </a:rPr>
              <a:t>mekân dışında</a:t>
            </a:r>
            <a:endParaRPr lang="en-US" sz="900" dirty="0"/>
          </a:p>
        </p:txBody>
      </p:sp>
      <p:sp>
        <p:nvSpPr>
          <p:cNvPr id="30" name="Shape 28"/>
          <p:cNvSpPr/>
          <p:nvPr/>
        </p:nvSpPr>
        <p:spPr>
          <a:xfrm>
            <a:off x="2926080" y="2606040"/>
            <a:ext cx="0" cy="1005840"/>
          </a:xfrm>
          <a:prstGeom prst="line">
            <a:avLst/>
          </a:prstGeom>
          <a:noFill/>
          <a:ln w="9525">
            <a:solidFill>
              <a:srgbClr val="7A7A82"/>
            </a:solidFill>
            <a:prstDash val="dash"/>
          </a:ln>
        </p:spPr>
      </p:sp>
      <p:sp>
        <p:nvSpPr>
          <p:cNvPr id="31" name="Text 29"/>
          <p:cNvSpPr txBox="1"/>
          <p:nvPr/>
        </p:nvSpPr>
        <p:spPr>
          <a:xfrm>
            <a:off x="3063240" y="3584448"/>
            <a:ext cx="3657600" cy="274320"/>
          </a:xfrm>
          <a:prstGeom prst="rect">
            <a:avLst/>
          </a:prstGeom>
          <a:noFill/>
          <a:ln/>
        </p:spPr>
        <p:txBody>
          <a:bodyPr wrap="square" lIns="0" tIns="0" rIns="0" bIns="0" rtlCol="0" anchor="ctr"/>
          <a:lstStyle/>
          <a:p>
            <a:pPr algn="l" indent="0" marL="0">
              <a:lnSpc>
                <a:spcPts val="1200"/>
              </a:lnSpc>
              <a:buNone/>
            </a:pPr>
            <a:r>
              <a:rPr lang="en-US" sz="950" i="1" dirty="0">
                <a:solidFill>
                  <a:srgbClr val="8C3A2B"/>
                </a:solidFill>
                <a:latin typeface="Calibri" pitchFamily="34" charset="0"/>
                <a:ea typeface="Calibri" pitchFamily="34" charset="-122"/>
                <a:cs typeface="Calibri" pitchFamily="34" charset="-120"/>
              </a:rPr>
              <a:t>buradan sonrası iç mimarlığın alanı</a:t>
            </a:r>
            <a:endParaRPr lang="en-US" sz="950" dirty="0"/>
          </a:p>
        </p:txBody>
      </p:sp>
      <p:sp>
        <p:nvSpPr>
          <p:cNvPr id="32" name="Shape 30"/>
          <p:cNvSpPr/>
          <p:nvPr/>
        </p:nvSpPr>
        <p:spPr>
          <a:xfrm>
            <a:off x="777240" y="4160520"/>
            <a:ext cx="3291840" cy="0"/>
          </a:xfrm>
          <a:prstGeom prst="line">
            <a:avLst/>
          </a:prstGeom>
          <a:noFill/>
          <a:ln w="15875">
            <a:solidFill>
              <a:srgbClr val="8C3A2B"/>
            </a:solidFill>
            <a:prstDash val="solid"/>
          </a:ln>
        </p:spPr>
      </p:sp>
      <p:sp>
        <p:nvSpPr>
          <p:cNvPr id="33" name="Text 31"/>
          <p:cNvSpPr txBox="1"/>
          <p:nvPr/>
        </p:nvSpPr>
        <p:spPr>
          <a:xfrm>
            <a:off x="777240" y="4251960"/>
            <a:ext cx="3291840" cy="256032"/>
          </a:xfrm>
          <a:prstGeom prst="rect">
            <a:avLst/>
          </a:prstGeom>
          <a:noFill/>
          <a:ln/>
        </p:spPr>
        <p:txBody>
          <a:bodyPr wrap="square" lIns="0" tIns="0" rIns="0" bIns="0" rtlCol="0" anchor="ctr"/>
          <a:lstStyle/>
          <a:p>
            <a:pPr indent="0" marL="0">
              <a:buNone/>
            </a:pPr>
            <a:r>
              <a:rPr lang="en-US" sz="950" b="1" spc="150" kern="0" dirty="0">
                <a:solidFill>
                  <a:srgbClr val="8C3A2B"/>
                </a:solidFill>
                <a:latin typeface="Calibri" pitchFamily="34" charset="0"/>
                <a:ea typeface="Calibri" pitchFamily="34" charset="-122"/>
                <a:cs typeface="Calibri" pitchFamily="34" charset="-120"/>
              </a:rPr>
              <a:t>NE YAPIYOR</a:t>
            </a:r>
            <a:endParaRPr lang="en-US" sz="950" dirty="0"/>
          </a:p>
        </p:txBody>
      </p:sp>
      <p:sp>
        <p:nvSpPr>
          <p:cNvPr id="34" name="Text 32"/>
          <p:cNvSpPr txBox="1"/>
          <p:nvPr/>
        </p:nvSpPr>
        <p:spPr>
          <a:xfrm>
            <a:off x="777240" y="4526280"/>
            <a:ext cx="3291840" cy="777240"/>
          </a:xfrm>
          <a:prstGeom prst="rect">
            <a:avLst/>
          </a:prstGeom>
          <a:noFill/>
          <a:ln/>
        </p:spPr>
        <p:txBody>
          <a:bodyPr wrap="square" lIns="0" tIns="0" rIns="0" bIns="0" rtlCol="0" anchor="ctr"/>
          <a:lstStyle/>
          <a:p>
            <a:pPr indent="0" marL="0">
              <a:lnSpc>
                <a:spcPts val="1650"/>
              </a:lnSpc>
              <a:buNone/>
            </a:pPr>
            <a:r>
              <a:rPr lang="en-US" sz="1250" dirty="0">
                <a:solidFill>
                  <a:srgbClr val="2B2B31"/>
                </a:solidFill>
                <a:latin typeface="Cambria" pitchFamily="34" charset="0"/>
                <a:ea typeface="Cambria" pitchFamily="34" charset="-122"/>
                <a:cs typeface="Cambria" pitchFamily="34" charset="-120"/>
              </a:rPr>
              <a:t>Gözlemlenebilen davranış: duruyor, dokunuyor, soruyor, geri dönüyor.</a:t>
            </a:r>
            <a:endParaRPr lang="en-US" sz="1250" dirty="0"/>
          </a:p>
        </p:txBody>
      </p:sp>
      <p:sp>
        <p:nvSpPr>
          <p:cNvPr id="35" name="Shape 33"/>
          <p:cNvSpPr/>
          <p:nvPr/>
        </p:nvSpPr>
        <p:spPr>
          <a:xfrm>
            <a:off x="4453128" y="4160520"/>
            <a:ext cx="3291840" cy="0"/>
          </a:xfrm>
          <a:prstGeom prst="line">
            <a:avLst/>
          </a:prstGeom>
          <a:noFill/>
          <a:ln w="15875">
            <a:solidFill>
              <a:srgbClr val="8C3A2B"/>
            </a:solidFill>
            <a:prstDash val="solid"/>
          </a:ln>
        </p:spPr>
      </p:sp>
      <p:sp>
        <p:nvSpPr>
          <p:cNvPr id="36" name="Text 34"/>
          <p:cNvSpPr txBox="1"/>
          <p:nvPr/>
        </p:nvSpPr>
        <p:spPr>
          <a:xfrm>
            <a:off x="4453128" y="4251960"/>
            <a:ext cx="3291840" cy="256032"/>
          </a:xfrm>
          <a:prstGeom prst="rect">
            <a:avLst/>
          </a:prstGeom>
          <a:noFill/>
          <a:ln/>
        </p:spPr>
        <p:txBody>
          <a:bodyPr wrap="square" lIns="0" tIns="0" rIns="0" bIns="0" rtlCol="0" anchor="ctr"/>
          <a:lstStyle/>
          <a:p>
            <a:pPr indent="0" marL="0">
              <a:buNone/>
            </a:pPr>
            <a:r>
              <a:rPr lang="en-US" sz="950" b="1" spc="150" kern="0" dirty="0">
                <a:solidFill>
                  <a:srgbClr val="8C3A2B"/>
                </a:solidFill>
                <a:latin typeface="Calibri" pitchFamily="34" charset="0"/>
                <a:ea typeface="Calibri" pitchFamily="34" charset="-122"/>
                <a:cs typeface="Calibri" pitchFamily="34" charset="-120"/>
              </a:rPr>
              <a:t>NE HİSSEDİYOR</a:t>
            </a:r>
            <a:endParaRPr lang="en-US" sz="950" dirty="0"/>
          </a:p>
        </p:txBody>
      </p:sp>
      <p:sp>
        <p:nvSpPr>
          <p:cNvPr id="37" name="Text 35"/>
          <p:cNvSpPr txBox="1"/>
          <p:nvPr/>
        </p:nvSpPr>
        <p:spPr>
          <a:xfrm>
            <a:off x="4453128" y="4526280"/>
            <a:ext cx="3291840" cy="777240"/>
          </a:xfrm>
          <a:prstGeom prst="rect">
            <a:avLst/>
          </a:prstGeom>
          <a:noFill/>
          <a:ln/>
        </p:spPr>
        <p:txBody>
          <a:bodyPr wrap="square" lIns="0" tIns="0" rIns="0" bIns="0" rtlCol="0" anchor="ctr"/>
          <a:lstStyle/>
          <a:p>
            <a:pPr indent="0" marL="0">
              <a:lnSpc>
                <a:spcPts val="1650"/>
              </a:lnSpc>
              <a:buNone/>
            </a:pPr>
            <a:r>
              <a:rPr lang="en-US" sz="1250" dirty="0">
                <a:solidFill>
                  <a:srgbClr val="2B2B31"/>
                </a:solidFill>
                <a:latin typeface="Cambria" pitchFamily="34" charset="0"/>
                <a:ea typeface="Cambria" pitchFamily="34" charset="-122"/>
                <a:cs typeface="Cambria" pitchFamily="34" charset="-120"/>
              </a:rPr>
              <a:t>Merak, tereddüt, sıkılma, güven, aceleyle çıkma isteği.</a:t>
            </a:r>
            <a:endParaRPr lang="en-US" sz="1250" dirty="0"/>
          </a:p>
        </p:txBody>
      </p:sp>
      <p:sp>
        <p:nvSpPr>
          <p:cNvPr id="38" name="Shape 36"/>
          <p:cNvSpPr/>
          <p:nvPr/>
        </p:nvSpPr>
        <p:spPr>
          <a:xfrm>
            <a:off x="8129016" y="4160520"/>
            <a:ext cx="3291840" cy="0"/>
          </a:xfrm>
          <a:prstGeom prst="line">
            <a:avLst/>
          </a:prstGeom>
          <a:noFill/>
          <a:ln w="15875">
            <a:solidFill>
              <a:srgbClr val="8C3A2B"/>
            </a:solidFill>
            <a:prstDash val="solid"/>
          </a:ln>
        </p:spPr>
      </p:sp>
      <p:sp>
        <p:nvSpPr>
          <p:cNvPr id="39" name="Text 37"/>
          <p:cNvSpPr txBox="1"/>
          <p:nvPr/>
        </p:nvSpPr>
        <p:spPr>
          <a:xfrm>
            <a:off x="8129016" y="4251960"/>
            <a:ext cx="3291840" cy="256032"/>
          </a:xfrm>
          <a:prstGeom prst="rect">
            <a:avLst/>
          </a:prstGeom>
          <a:noFill/>
          <a:ln/>
        </p:spPr>
        <p:txBody>
          <a:bodyPr wrap="square" lIns="0" tIns="0" rIns="0" bIns="0" rtlCol="0" anchor="ctr"/>
          <a:lstStyle/>
          <a:p>
            <a:pPr indent="0" marL="0">
              <a:buNone/>
            </a:pPr>
            <a:r>
              <a:rPr lang="en-US" sz="950" b="1" spc="150" kern="0" dirty="0">
                <a:solidFill>
                  <a:srgbClr val="8C3A2B"/>
                </a:solidFill>
                <a:latin typeface="Calibri" pitchFamily="34" charset="0"/>
                <a:ea typeface="Calibri" pitchFamily="34" charset="-122"/>
                <a:cs typeface="Calibri" pitchFamily="34" charset="-120"/>
              </a:rPr>
              <a:t>NEYLE KARŞILAŞIYOR</a:t>
            </a:r>
            <a:endParaRPr lang="en-US" sz="950" dirty="0"/>
          </a:p>
        </p:txBody>
      </p:sp>
      <p:sp>
        <p:nvSpPr>
          <p:cNvPr id="40" name="Text 38"/>
          <p:cNvSpPr txBox="1"/>
          <p:nvPr/>
        </p:nvSpPr>
        <p:spPr>
          <a:xfrm>
            <a:off x="8129016" y="4526280"/>
            <a:ext cx="3291840" cy="777240"/>
          </a:xfrm>
          <a:prstGeom prst="rect">
            <a:avLst/>
          </a:prstGeom>
          <a:noFill/>
          <a:ln/>
        </p:spPr>
        <p:txBody>
          <a:bodyPr wrap="square" lIns="0" tIns="0" rIns="0" bIns="0" rtlCol="0" anchor="ctr"/>
          <a:lstStyle/>
          <a:p>
            <a:pPr indent="0" marL="0">
              <a:lnSpc>
                <a:spcPts val="1650"/>
              </a:lnSpc>
              <a:buNone/>
            </a:pPr>
            <a:r>
              <a:rPr lang="en-US" sz="1250" dirty="0">
                <a:solidFill>
                  <a:srgbClr val="2B2B31"/>
                </a:solidFill>
                <a:latin typeface="Cambria" pitchFamily="34" charset="0"/>
                <a:ea typeface="Cambria" pitchFamily="34" charset="-122"/>
                <a:cs typeface="Cambria" pitchFamily="34" charset="-120"/>
              </a:rPr>
              <a:t>O anda devrede olan temas noktası: vitrin, tabela, çalışan, kasa.</a:t>
            </a:r>
            <a:endParaRPr lang="en-US" sz="1250" dirty="0"/>
          </a:p>
        </p:txBody>
      </p:sp>
      <p:sp>
        <p:nvSpPr>
          <p:cNvPr id="41" name="Text 39"/>
          <p:cNvSpPr txBox="1"/>
          <p:nvPr/>
        </p:nvSpPr>
        <p:spPr>
          <a:xfrm>
            <a:off x="777240" y="5577840"/>
            <a:ext cx="10424160" cy="365760"/>
          </a:xfrm>
          <a:prstGeom prst="rect">
            <a:avLst/>
          </a:prstGeom>
          <a:noFill/>
          <a:ln/>
        </p:spPr>
        <p:txBody>
          <a:bodyPr wrap="square" lIns="0" tIns="0" rIns="0" bIns="0" rtlCol="0" anchor="ctr"/>
          <a:lstStyle/>
          <a:p>
            <a:pPr algn="l" indent="0" marL="0">
              <a:lnSpc>
                <a:spcPts val="1200"/>
              </a:lnSpc>
              <a:buNone/>
            </a:pPr>
            <a:r>
              <a:rPr lang="en-US" sz="1200" i="1" dirty="0">
                <a:solidFill>
                  <a:srgbClr val="8C3A2B"/>
                </a:solidFill>
                <a:latin typeface="Cambria" pitchFamily="34" charset="0"/>
                <a:ea typeface="Cambria" pitchFamily="34" charset="-122"/>
                <a:cs typeface="Cambria" pitchFamily="34" charset="-120"/>
              </a:rPr>
              <a:t>Haritanın işe yaraması için her sütunun gözleme dayanması gerekir; hayal edilen bir yolculuk mekânı da hayalî kılar.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Persona: demografi değil davranış</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17</a:t>
            </a:r>
            <a:endParaRPr lang="en-US" sz="950" dirty="0"/>
          </a:p>
        </p:txBody>
      </p:sp>
      <p:sp>
        <p:nvSpPr>
          <p:cNvPr id="5" name="Text 3"/>
          <p:cNvSpPr txBox="1"/>
          <p:nvPr/>
        </p:nvSpPr>
        <p:spPr>
          <a:xfrm>
            <a:off x="777240" y="1554480"/>
            <a:ext cx="10634472" cy="658368"/>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Persona, hedef kitleyi tek bir kurgusal kişide somutlaştırma aracıdır. En sık yapılan hata onu demografik bir künyeye indirgemektir; yaş ve gelir bir mekân kararı üretmez. İşe yarayan persona, kişinin ne yaptığını anlatır.</a:t>
            </a:r>
            <a:endParaRPr lang="en-US" sz="1400" dirty="0"/>
          </a:p>
        </p:txBody>
      </p:sp>
      <p:sp>
        <p:nvSpPr>
          <p:cNvPr id="6" name="Shape 4"/>
          <p:cNvSpPr/>
          <p:nvPr/>
        </p:nvSpPr>
        <p:spPr>
          <a:xfrm>
            <a:off x="777240" y="2423160"/>
            <a:ext cx="5029200" cy="2971800"/>
          </a:xfrm>
          <a:prstGeom prst="rect">
            <a:avLst/>
          </a:prstGeom>
          <a:ln w="9525">
            <a:solidFill>
              <a:srgbClr val="C9C9CF"/>
            </a:solidFill>
            <a:prstDash val="solid"/>
          </a:ln>
        </p:spPr>
      </p:sp>
      <p:sp>
        <p:nvSpPr>
          <p:cNvPr id="7" name="Text 5"/>
          <p:cNvSpPr txBox="1"/>
          <p:nvPr/>
        </p:nvSpPr>
        <p:spPr>
          <a:xfrm>
            <a:off x="996696" y="2606040"/>
            <a:ext cx="4572000" cy="274320"/>
          </a:xfrm>
          <a:prstGeom prst="rect">
            <a:avLst/>
          </a:prstGeom>
          <a:noFill/>
          <a:ln/>
        </p:spPr>
        <p:txBody>
          <a:bodyPr wrap="square" lIns="0" tIns="0" rIns="0" bIns="0" rtlCol="0" anchor="ctr"/>
          <a:lstStyle/>
          <a:p>
            <a:pPr algn="l" indent="0" marL="0">
              <a:lnSpc>
                <a:spcPts val="1200"/>
              </a:lnSpc>
              <a:buNone/>
            </a:pPr>
            <a:r>
              <a:rPr lang="en-US" sz="950" b="1" dirty="0">
                <a:solidFill>
                  <a:srgbClr val="7A7A82"/>
                </a:solidFill>
                <a:latin typeface="Calibri" pitchFamily="34" charset="0"/>
                <a:ea typeface="Calibri" pitchFamily="34" charset="-122"/>
                <a:cs typeface="Calibri" pitchFamily="34" charset="-120"/>
              </a:rPr>
              <a:t>İŞE YARAMAYAN</a:t>
            </a:r>
            <a:endParaRPr lang="en-US" sz="950" dirty="0"/>
          </a:p>
        </p:txBody>
      </p:sp>
      <p:sp>
        <p:nvSpPr>
          <p:cNvPr id="8" name="Text 6"/>
          <p:cNvSpPr txBox="1"/>
          <p:nvPr/>
        </p:nvSpPr>
        <p:spPr>
          <a:xfrm>
            <a:off x="996696" y="2944368"/>
            <a:ext cx="4572000" cy="292608"/>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  28 yaşında</a:t>
            </a:r>
            <a:endParaRPr lang="en-US" sz="1200" dirty="0"/>
          </a:p>
        </p:txBody>
      </p:sp>
      <p:sp>
        <p:nvSpPr>
          <p:cNvPr id="9" name="Text 7"/>
          <p:cNvSpPr txBox="1"/>
          <p:nvPr/>
        </p:nvSpPr>
        <p:spPr>
          <a:xfrm>
            <a:off x="996696" y="3346704"/>
            <a:ext cx="4572000" cy="292608"/>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  Üniversite mezunu</a:t>
            </a:r>
            <a:endParaRPr lang="en-US" sz="1200" dirty="0"/>
          </a:p>
        </p:txBody>
      </p:sp>
      <p:sp>
        <p:nvSpPr>
          <p:cNvPr id="10" name="Text 8"/>
          <p:cNvSpPr txBox="1"/>
          <p:nvPr/>
        </p:nvSpPr>
        <p:spPr>
          <a:xfrm>
            <a:off x="996696" y="3749040"/>
            <a:ext cx="4572000" cy="292608"/>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  Orta-üst gelir grubu</a:t>
            </a:r>
            <a:endParaRPr lang="en-US" sz="1200" dirty="0"/>
          </a:p>
        </p:txBody>
      </p:sp>
      <p:sp>
        <p:nvSpPr>
          <p:cNvPr id="11" name="Text 9"/>
          <p:cNvSpPr txBox="1"/>
          <p:nvPr/>
        </p:nvSpPr>
        <p:spPr>
          <a:xfrm>
            <a:off x="996696" y="4151376"/>
            <a:ext cx="4572000" cy="292608"/>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  Sosyal medyayı aktif kullanıyor</a:t>
            </a:r>
            <a:endParaRPr lang="en-US" sz="1200" dirty="0"/>
          </a:p>
        </p:txBody>
      </p:sp>
      <p:sp>
        <p:nvSpPr>
          <p:cNvPr id="12" name="Text 10"/>
          <p:cNvSpPr txBox="1"/>
          <p:nvPr/>
        </p:nvSpPr>
        <p:spPr>
          <a:xfrm>
            <a:off x="996696" y="4553712"/>
            <a:ext cx="4572000" cy="292608"/>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  Kaliteye önem veriyor</a:t>
            </a:r>
            <a:endParaRPr lang="en-US" sz="1200" dirty="0"/>
          </a:p>
        </p:txBody>
      </p:sp>
      <p:sp>
        <p:nvSpPr>
          <p:cNvPr id="13" name="Text 11"/>
          <p:cNvSpPr txBox="1"/>
          <p:nvPr/>
        </p:nvSpPr>
        <p:spPr>
          <a:xfrm>
            <a:off x="996696" y="5029200"/>
            <a:ext cx="4572000" cy="457200"/>
          </a:xfrm>
          <a:prstGeom prst="rect">
            <a:avLst/>
          </a:prstGeom>
          <a:noFill/>
          <a:ln/>
        </p:spPr>
        <p:txBody>
          <a:bodyPr wrap="square" lIns="0" tIns="0" rIns="0" bIns="0" rtlCol="0" anchor="ctr"/>
          <a:lstStyle/>
          <a:p>
            <a:pPr algn="l" indent="0" marL="0">
              <a:lnSpc>
                <a:spcPts val="1350"/>
              </a:lnSpc>
              <a:buNone/>
            </a:pPr>
            <a:r>
              <a:rPr lang="en-US" sz="1050" i="1" dirty="0">
                <a:solidFill>
                  <a:srgbClr val="7A7A82"/>
                </a:solidFill>
                <a:latin typeface="Calibri" pitchFamily="34" charset="0"/>
                <a:ea typeface="Calibri" pitchFamily="34" charset="-122"/>
                <a:cs typeface="Calibri" pitchFamily="34" charset="-120"/>
              </a:rPr>
              <a:t>Hiçbiri bir rafın yüksekliğini,</a:t>
            </a:r>
            <a:endParaRPr lang="en-US" sz="1050" dirty="0"/>
          </a:p>
          <a:p>
            <a:pPr algn="l" indent="0" marL="0">
              <a:lnSpc>
                <a:spcPts val="1350"/>
              </a:lnSpc>
              <a:buNone/>
            </a:pPr>
            <a:r>
              <a:rPr lang="en-US" sz="1050" i="1" dirty="0">
                <a:solidFill>
                  <a:srgbClr val="7A7A82"/>
                </a:solidFill>
                <a:latin typeface="Calibri" pitchFamily="34" charset="0"/>
                <a:ea typeface="Calibri" pitchFamily="34" charset="-122"/>
                <a:cs typeface="Calibri" pitchFamily="34" charset="-120"/>
              </a:rPr>
              <a:t>bir koridorun genişliğini değiştirmez.</a:t>
            </a:r>
            <a:endParaRPr lang="en-US" sz="1050" dirty="0"/>
          </a:p>
        </p:txBody>
      </p:sp>
      <p:sp>
        <p:nvSpPr>
          <p:cNvPr id="14" name="Shape 12"/>
          <p:cNvSpPr/>
          <p:nvPr/>
        </p:nvSpPr>
        <p:spPr>
          <a:xfrm>
            <a:off x="6382512" y="2423160"/>
            <a:ext cx="5029200" cy="2971800"/>
          </a:xfrm>
          <a:prstGeom prst="rect">
            <a:avLst/>
          </a:prstGeom>
          <a:solidFill>
            <a:srgbClr val="F6EAE6"/>
          </a:solidFill>
          <a:ln w="15875">
            <a:solidFill>
              <a:srgbClr val="8C3A2B"/>
            </a:solidFill>
            <a:prstDash val="solid"/>
          </a:ln>
        </p:spPr>
      </p:sp>
      <p:sp>
        <p:nvSpPr>
          <p:cNvPr id="15" name="Text 13"/>
          <p:cNvSpPr txBox="1"/>
          <p:nvPr/>
        </p:nvSpPr>
        <p:spPr>
          <a:xfrm>
            <a:off x="6601968" y="2606040"/>
            <a:ext cx="4572000" cy="274320"/>
          </a:xfrm>
          <a:prstGeom prst="rect">
            <a:avLst/>
          </a:prstGeom>
          <a:noFill/>
          <a:ln/>
        </p:spPr>
        <p:txBody>
          <a:bodyPr wrap="square" lIns="0" tIns="0" rIns="0" bIns="0" rtlCol="0" anchor="ctr"/>
          <a:lstStyle/>
          <a:p>
            <a:pPr algn="l" indent="0" marL="0">
              <a:lnSpc>
                <a:spcPts val="1200"/>
              </a:lnSpc>
              <a:buNone/>
            </a:pPr>
            <a:r>
              <a:rPr lang="en-US" sz="950" b="1" dirty="0">
                <a:solidFill>
                  <a:srgbClr val="8C3A2B"/>
                </a:solidFill>
                <a:latin typeface="Calibri" pitchFamily="34" charset="0"/>
                <a:ea typeface="Calibri" pitchFamily="34" charset="-122"/>
                <a:cs typeface="Calibri" pitchFamily="34" charset="-120"/>
              </a:rPr>
              <a:t>İŞE YARAYAN</a:t>
            </a:r>
            <a:endParaRPr lang="en-US" sz="950" dirty="0"/>
          </a:p>
        </p:txBody>
      </p:sp>
      <p:sp>
        <p:nvSpPr>
          <p:cNvPr id="16" name="Text 14"/>
          <p:cNvSpPr txBox="1"/>
          <p:nvPr/>
        </p:nvSpPr>
        <p:spPr>
          <a:xfrm>
            <a:off x="6601968" y="2944368"/>
            <a:ext cx="4572000" cy="292608"/>
          </a:xfrm>
          <a:prstGeom prst="rect">
            <a:avLst/>
          </a:prstGeom>
          <a:noFill/>
          <a:ln/>
        </p:spPr>
        <p:txBody>
          <a:bodyPr wrap="square" lIns="0" tIns="0" rIns="0" bIns="0" rtlCol="0" anchor="ctr"/>
          <a:lstStyle/>
          <a:p>
            <a:pPr indent="0" marL="0">
              <a:buNone/>
            </a:pPr>
            <a:r>
              <a:rPr lang="en-US" sz="1200" dirty="0">
                <a:solidFill>
                  <a:srgbClr val="2B2B31"/>
                </a:solidFill>
                <a:latin typeface="Calibri" pitchFamily="34" charset="0"/>
                <a:ea typeface="Calibri" pitchFamily="34" charset="-122"/>
                <a:cs typeface="Calibri" pitchFamily="34" charset="-120"/>
              </a:rPr>
              <a:t>·  İşten çıkınca uğruyor, on dakikası var</a:t>
            </a:r>
            <a:endParaRPr lang="en-US" sz="1200" dirty="0"/>
          </a:p>
        </p:txBody>
      </p:sp>
      <p:sp>
        <p:nvSpPr>
          <p:cNvPr id="17" name="Text 15"/>
          <p:cNvSpPr txBox="1"/>
          <p:nvPr/>
        </p:nvSpPr>
        <p:spPr>
          <a:xfrm>
            <a:off x="6601968" y="3346704"/>
            <a:ext cx="4572000" cy="292608"/>
          </a:xfrm>
          <a:prstGeom prst="rect">
            <a:avLst/>
          </a:prstGeom>
          <a:noFill/>
          <a:ln/>
        </p:spPr>
        <p:txBody>
          <a:bodyPr wrap="square" lIns="0" tIns="0" rIns="0" bIns="0" rtlCol="0" anchor="ctr"/>
          <a:lstStyle/>
          <a:p>
            <a:pPr indent="0" marL="0">
              <a:buNone/>
            </a:pPr>
            <a:r>
              <a:rPr lang="en-US" sz="1200" dirty="0">
                <a:solidFill>
                  <a:srgbClr val="2B2B31"/>
                </a:solidFill>
                <a:latin typeface="Calibri" pitchFamily="34" charset="0"/>
                <a:ea typeface="Calibri" pitchFamily="34" charset="-122"/>
                <a:cs typeface="Calibri" pitchFamily="34" charset="-120"/>
              </a:rPr>
              <a:t>·  Ürünü eline almadan karar vermiyor</a:t>
            </a:r>
            <a:endParaRPr lang="en-US" sz="1200" dirty="0"/>
          </a:p>
        </p:txBody>
      </p:sp>
      <p:sp>
        <p:nvSpPr>
          <p:cNvPr id="18" name="Text 16"/>
          <p:cNvSpPr txBox="1"/>
          <p:nvPr/>
        </p:nvSpPr>
        <p:spPr>
          <a:xfrm>
            <a:off x="6601968" y="3749040"/>
            <a:ext cx="4572000" cy="292608"/>
          </a:xfrm>
          <a:prstGeom prst="rect">
            <a:avLst/>
          </a:prstGeom>
          <a:noFill/>
          <a:ln/>
        </p:spPr>
        <p:txBody>
          <a:bodyPr wrap="square" lIns="0" tIns="0" rIns="0" bIns="0" rtlCol="0" anchor="ctr"/>
          <a:lstStyle/>
          <a:p>
            <a:pPr indent="0" marL="0">
              <a:buNone/>
            </a:pPr>
            <a:r>
              <a:rPr lang="en-US" sz="1200" dirty="0">
                <a:solidFill>
                  <a:srgbClr val="2B2B31"/>
                </a:solidFill>
                <a:latin typeface="Calibri" pitchFamily="34" charset="0"/>
                <a:ea typeface="Calibri" pitchFamily="34" charset="-122"/>
                <a:cs typeface="Calibri" pitchFamily="34" charset="-120"/>
              </a:rPr>
              <a:t>·  Soru sormayı sevmiyor, etiketten okuyor</a:t>
            </a:r>
            <a:endParaRPr lang="en-US" sz="1200" dirty="0"/>
          </a:p>
        </p:txBody>
      </p:sp>
      <p:sp>
        <p:nvSpPr>
          <p:cNvPr id="19" name="Text 17"/>
          <p:cNvSpPr txBox="1"/>
          <p:nvPr/>
        </p:nvSpPr>
        <p:spPr>
          <a:xfrm>
            <a:off x="6601968" y="4151376"/>
            <a:ext cx="4572000" cy="292608"/>
          </a:xfrm>
          <a:prstGeom prst="rect">
            <a:avLst/>
          </a:prstGeom>
          <a:noFill/>
          <a:ln/>
        </p:spPr>
        <p:txBody>
          <a:bodyPr wrap="square" lIns="0" tIns="0" rIns="0" bIns="0" rtlCol="0" anchor="ctr"/>
          <a:lstStyle/>
          <a:p>
            <a:pPr indent="0" marL="0">
              <a:buNone/>
            </a:pPr>
            <a:r>
              <a:rPr lang="en-US" sz="1200" dirty="0">
                <a:solidFill>
                  <a:srgbClr val="2B2B31"/>
                </a:solidFill>
                <a:latin typeface="Calibri" pitchFamily="34" charset="0"/>
                <a:ea typeface="Calibri" pitchFamily="34" charset="-122"/>
                <a:cs typeface="Calibri" pitchFamily="34" charset="-120"/>
              </a:rPr>
              <a:t>·  Yanında çocuk ya da poşetle geliyor</a:t>
            </a:r>
            <a:endParaRPr lang="en-US" sz="1200" dirty="0"/>
          </a:p>
        </p:txBody>
      </p:sp>
      <p:sp>
        <p:nvSpPr>
          <p:cNvPr id="20" name="Text 18"/>
          <p:cNvSpPr txBox="1"/>
          <p:nvPr/>
        </p:nvSpPr>
        <p:spPr>
          <a:xfrm>
            <a:off x="6601968" y="4553712"/>
            <a:ext cx="4572000" cy="292608"/>
          </a:xfrm>
          <a:prstGeom prst="rect">
            <a:avLst/>
          </a:prstGeom>
          <a:noFill/>
          <a:ln/>
        </p:spPr>
        <p:txBody>
          <a:bodyPr wrap="square" lIns="0" tIns="0" rIns="0" bIns="0" rtlCol="0" anchor="ctr"/>
          <a:lstStyle/>
          <a:p>
            <a:pPr indent="0" marL="0">
              <a:buNone/>
            </a:pPr>
            <a:r>
              <a:rPr lang="en-US" sz="1200" dirty="0">
                <a:solidFill>
                  <a:srgbClr val="2B2B31"/>
                </a:solidFill>
                <a:latin typeface="Calibri" pitchFamily="34" charset="0"/>
                <a:ea typeface="Calibri" pitchFamily="34" charset="-122"/>
                <a:cs typeface="Calibri" pitchFamily="34" charset="-120"/>
              </a:rPr>
              <a:t>·  Aynı ürünü ikinci kez almaya geliyor</a:t>
            </a:r>
            <a:endParaRPr lang="en-US" sz="1200" dirty="0"/>
          </a:p>
        </p:txBody>
      </p:sp>
      <p:sp>
        <p:nvSpPr>
          <p:cNvPr id="21" name="Text 19"/>
          <p:cNvSpPr txBox="1"/>
          <p:nvPr/>
        </p:nvSpPr>
        <p:spPr>
          <a:xfrm>
            <a:off x="6601968" y="5029200"/>
            <a:ext cx="4572000" cy="457200"/>
          </a:xfrm>
          <a:prstGeom prst="rect">
            <a:avLst/>
          </a:prstGeom>
          <a:noFill/>
          <a:ln/>
        </p:spPr>
        <p:txBody>
          <a:bodyPr wrap="square" lIns="0" tIns="0" rIns="0" bIns="0" rtlCol="0" anchor="ctr"/>
          <a:lstStyle/>
          <a:p>
            <a:pPr algn="l" indent="0" marL="0">
              <a:lnSpc>
                <a:spcPts val="1350"/>
              </a:lnSpc>
              <a:buNone/>
            </a:pPr>
            <a:r>
              <a:rPr lang="en-US" sz="1050" i="1" dirty="0">
                <a:solidFill>
                  <a:srgbClr val="8C3A2B"/>
                </a:solidFill>
                <a:latin typeface="Calibri" pitchFamily="34" charset="0"/>
                <a:ea typeface="Calibri" pitchFamily="34" charset="-122"/>
                <a:cs typeface="Calibri" pitchFamily="34" charset="-120"/>
              </a:rPr>
              <a:t>Her biri bir mekânsal karara çevrilebilir:</a:t>
            </a:r>
            <a:endParaRPr lang="en-US" sz="1050" dirty="0"/>
          </a:p>
          <a:p>
            <a:pPr algn="l" indent="0" marL="0">
              <a:lnSpc>
                <a:spcPts val="1350"/>
              </a:lnSpc>
              <a:buNone/>
            </a:pPr>
            <a:r>
              <a:rPr lang="en-US" sz="1050" i="1" dirty="0">
                <a:solidFill>
                  <a:srgbClr val="8C3A2B"/>
                </a:solidFill>
                <a:latin typeface="Calibri" pitchFamily="34" charset="0"/>
                <a:ea typeface="Calibri" pitchFamily="34" charset="-122"/>
                <a:cs typeface="Calibri" pitchFamily="34" charset="-120"/>
              </a:rPr>
              <a:t>süre, erişim, etiket, alan, tekrar.</a:t>
            </a:r>
            <a:endParaRPr lang="en-US" sz="1050" dirty="0"/>
          </a:p>
        </p:txBody>
      </p:sp>
      <p:sp>
        <p:nvSpPr>
          <p:cNvPr id="22" name="Text 20"/>
          <p:cNvSpPr txBox="1"/>
          <p:nvPr/>
        </p:nvSpPr>
        <p:spPr>
          <a:xfrm>
            <a:off x="777240" y="5669280"/>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8C3A2B"/>
                </a:solidFill>
                <a:latin typeface="Cambria" pitchFamily="34" charset="0"/>
                <a:ea typeface="Cambria" pitchFamily="34" charset="-122"/>
                <a:cs typeface="Cambria" pitchFamily="34" charset="-120"/>
              </a:rPr>
              <a:t>Kural: bir persona maddesi bir tasarım kararını değiştirmiyorsa, o madde personaya ait değildir.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Üç araştırma yöntemi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18</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Deneyim araştırması anket doldurtmak değildir; gözleme dayanır. Hizmet tasarımı literatüründe bu iş için üç temel yöntem kullanılır (Stickdorn vd., 2018). Üçü de bir öğrencinin tek başına, bir hafta içinde uygulayabileceği yöntemlerdir.</a:t>
            </a:r>
            <a:endParaRPr lang="en-US" sz="1400" dirty="0"/>
          </a:p>
        </p:txBody>
      </p:sp>
      <p:sp>
        <p:nvSpPr>
          <p:cNvPr id="6" name="Shape 4"/>
          <p:cNvSpPr/>
          <p:nvPr/>
        </p:nvSpPr>
        <p:spPr>
          <a:xfrm>
            <a:off x="777240" y="2468880"/>
            <a:ext cx="3291840" cy="2377440"/>
          </a:xfrm>
          <a:prstGeom prst="rect">
            <a:avLst/>
          </a:prstGeom>
          <a:ln w="9525">
            <a:solidFill>
              <a:srgbClr val="C9C9CF"/>
            </a:solidFill>
            <a:prstDash val="solid"/>
          </a:ln>
        </p:spPr>
      </p:sp>
      <p:sp>
        <p:nvSpPr>
          <p:cNvPr id="7" name="Shape 5"/>
          <p:cNvSpPr/>
          <p:nvPr/>
        </p:nvSpPr>
        <p:spPr>
          <a:xfrm>
            <a:off x="1024128" y="2715768"/>
            <a:ext cx="274320" cy="274320"/>
          </a:xfrm>
          <a:prstGeom prst="ellipse">
            <a:avLst/>
          </a:prstGeom>
          <a:solidFill>
            <a:srgbClr val="16161A"/>
          </a:solidFill>
          <a:ln w="12700">
            <a:solidFill>
              <a:srgbClr val="16161A"/>
            </a:solidFill>
            <a:prstDash val="solid"/>
          </a:ln>
        </p:spPr>
      </p:sp>
      <p:sp>
        <p:nvSpPr>
          <p:cNvPr id="8" name="Text 6"/>
          <p:cNvSpPr txBox="1"/>
          <p:nvPr/>
        </p:nvSpPr>
        <p:spPr>
          <a:xfrm>
            <a:off x="1024128"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9" name="Text 7"/>
          <p:cNvSpPr txBox="1"/>
          <p:nvPr/>
        </p:nvSpPr>
        <p:spPr>
          <a:xfrm>
            <a:off x="978408" y="3127248"/>
            <a:ext cx="2889504" cy="292608"/>
          </a:xfrm>
          <a:prstGeom prst="rect">
            <a:avLst/>
          </a:prstGeom>
          <a:noFill/>
          <a:ln/>
        </p:spPr>
        <p:txBody>
          <a:bodyPr wrap="square" lIns="0" tIns="0" rIns="0" bIns="0" rtlCol="0" anchor="ctr"/>
          <a:lstStyle/>
          <a:p>
            <a:pPr indent="0" marL="0">
              <a:buNone/>
            </a:pPr>
            <a:r>
              <a:rPr lang="en-US" sz="1550" b="1" dirty="0">
                <a:solidFill>
                  <a:srgbClr val="16161A"/>
                </a:solidFill>
                <a:latin typeface="Cambria" pitchFamily="34" charset="0"/>
                <a:ea typeface="Cambria" pitchFamily="34" charset="-122"/>
                <a:cs typeface="Cambria" pitchFamily="34" charset="-120"/>
              </a:rPr>
              <a:t>Hizmet safarisi</a:t>
            </a:r>
            <a:endParaRPr lang="en-US" sz="1550" dirty="0"/>
          </a:p>
        </p:txBody>
      </p:sp>
      <p:sp>
        <p:nvSpPr>
          <p:cNvPr id="10" name="Text 8"/>
          <p:cNvSpPr txBox="1"/>
          <p:nvPr/>
        </p:nvSpPr>
        <p:spPr>
          <a:xfrm>
            <a:off x="978408" y="3419856"/>
            <a:ext cx="2889504" cy="219456"/>
          </a:xfrm>
          <a:prstGeom prst="rect">
            <a:avLst/>
          </a:prstGeom>
          <a:noFill/>
          <a:ln/>
        </p:spPr>
        <p:txBody>
          <a:bodyPr wrap="square" lIns="0" tIns="0" rIns="0" bIns="0" rtlCol="0" anchor="ctr"/>
          <a:lstStyle/>
          <a:p>
            <a:pPr indent="0" marL="0">
              <a:buNone/>
            </a:pPr>
            <a:r>
              <a:rPr lang="en-US" sz="900" i="1" dirty="0">
                <a:solidFill>
                  <a:srgbClr val="A6A6AC"/>
                </a:solidFill>
                <a:latin typeface="Calibri" pitchFamily="34" charset="0"/>
                <a:ea typeface="Calibri" pitchFamily="34" charset="-122"/>
                <a:cs typeface="Calibri" pitchFamily="34" charset="-120"/>
              </a:rPr>
              <a:t>service safari</a:t>
            </a:r>
            <a:endParaRPr lang="en-US" sz="900" dirty="0"/>
          </a:p>
        </p:txBody>
      </p:sp>
      <p:sp>
        <p:nvSpPr>
          <p:cNvPr id="11" name="Text 9"/>
          <p:cNvSpPr txBox="1"/>
          <p:nvPr/>
        </p:nvSpPr>
        <p:spPr>
          <a:xfrm>
            <a:off x="978408" y="3694176"/>
            <a:ext cx="2889504" cy="77724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Araştırmacı müşteri gibi davranır: mağazaya gider, alışverişi baştan sona yaşar, her adımda ne hissettiğini not eder.</a:t>
            </a:r>
            <a:endParaRPr lang="en-US" sz="1050" dirty="0"/>
          </a:p>
        </p:txBody>
      </p:sp>
      <p:sp>
        <p:nvSpPr>
          <p:cNvPr id="12" name="Text 10"/>
          <p:cNvSpPr txBox="1"/>
          <p:nvPr/>
        </p:nvSpPr>
        <p:spPr>
          <a:xfrm>
            <a:off x="978408" y="4462272"/>
            <a:ext cx="2889504" cy="329184"/>
          </a:xfrm>
          <a:prstGeom prst="rect">
            <a:avLst/>
          </a:prstGeom>
          <a:noFill/>
          <a:ln/>
        </p:spPr>
        <p:txBody>
          <a:bodyPr wrap="square" lIns="0" tIns="0" rIns="0" bIns="0" rtlCol="0" anchor="ctr"/>
          <a:lstStyle/>
          <a:p>
            <a:pPr indent="0" marL="0">
              <a:lnSpc>
                <a:spcPts val="1150"/>
              </a:lnSpc>
              <a:buNone/>
            </a:pPr>
            <a:r>
              <a:rPr lang="en-US" sz="900" dirty="0">
                <a:solidFill>
                  <a:srgbClr val="7A7A82"/>
                </a:solidFill>
                <a:latin typeface="Calibri" pitchFamily="34" charset="0"/>
                <a:ea typeface="Calibri" pitchFamily="34" charset="-122"/>
                <a:cs typeface="Calibri" pitchFamily="34" charset="-120"/>
              </a:rPr>
              <a:t>ne zaman: kendi markanıza</a:t>
            </a:r>
            <a:endParaRPr lang="en-US" sz="900" dirty="0"/>
          </a:p>
          <a:p>
            <a:pPr indent="0" marL="0">
              <a:lnSpc>
                <a:spcPts val="1150"/>
              </a:lnSpc>
              <a:buNone/>
            </a:pPr>
            <a:r>
              <a:rPr lang="en-US" sz="900" dirty="0">
                <a:solidFill>
                  <a:srgbClr val="7A7A82"/>
                </a:solidFill>
                <a:latin typeface="Calibri" pitchFamily="34" charset="0"/>
                <a:ea typeface="Calibri" pitchFamily="34" charset="-122"/>
                <a:cs typeface="Calibri" pitchFamily="34" charset="-120"/>
              </a:rPr>
              <a:t>benzer bir mağazada</a:t>
            </a:r>
            <a:endParaRPr lang="en-US" sz="900" dirty="0"/>
          </a:p>
        </p:txBody>
      </p:sp>
      <p:sp>
        <p:nvSpPr>
          <p:cNvPr id="13" name="Shape 11"/>
          <p:cNvSpPr/>
          <p:nvPr/>
        </p:nvSpPr>
        <p:spPr>
          <a:xfrm>
            <a:off x="4453128" y="2468880"/>
            <a:ext cx="3291840" cy="2377440"/>
          </a:xfrm>
          <a:prstGeom prst="rect">
            <a:avLst/>
          </a:prstGeom>
          <a:solidFill>
            <a:srgbClr val="F6EAE6"/>
          </a:solidFill>
          <a:ln w="15875">
            <a:solidFill>
              <a:srgbClr val="8C3A2B"/>
            </a:solidFill>
            <a:prstDash val="solid"/>
          </a:ln>
        </p:spPr>
      </p:sp>
      <p:sp>
        <p:nvSpPr>
          <p:cNvPr id="14" name="Shape 12"/>
          <p:cNvSpPr/>
          <p:nvPr/>
        </p:nvSpPr>
        <p:spPr>
          <a:xfrm>
            <a:off x="4700016" y="2715768"/>
            <a:ext cx="274320" cy="274320"/>
          </a:xfrm>
          <a:prstGeom prst="ellipse">
            <a:avLst/>
          </a:prstGeom>
          <a:solidFill>
            <a:srgbClr val="8C3A2B"/>
          </a:solidFill>
          <a:ln w="12700">
            <a:solidFill>
              <a:srgbClr val="8C3A2B"/>
            </a:solidFill>
            <a:prstDash val="solid"/>
          </a:ln>
        </p:spPr>
      </p:sp>
      <p:sp>
        <p:nvSpPr>
          <p:cNvPr id="15" name="Text 13"/>
          <p:cNvSpPr txBox="1"/>
          <p:nvPr/>
        </p:nvSpPr>
        <p:spPr>
          <a:xfrm>
            <a:off x="4700016"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6" name="Text 14"/>
          <p:cNvSpPr txBox="1"/>
          <p:nvPr/>
        </p:nvSpPr>
        <p:spPr>
          <a:xfrm>
            <a:off x="4654296" y="3127248"/>
            <a:ext cx="2889504" cy="292608"/>
          </a:xfrm>
          <a:prstGeom prst="rect">
            <a:avLst/>
          </a:prstGeom>
          <a:noFill/>
          <a:ln/>
        </p:spPr>
        <p:txBody>
          <a:bodyPr wrap="square" lIns="0" tIns="0" rIns="0" bIns="0" rtlCol="0" anchor="ctr"/>
          <a:lstStyle/>
          <a:p>
            <a:pPr indent="0" marL="0">
              <a:buNone/>
            </a:pPr>
            <a:r>
              <a:rPr lang="en-US" sz="1550" b="1" dirty="0">
                <a:solidFill>
                  <a:srgbClr val="8C3A2B"/>
                </a:solidFill>
                <a:latin typeface="Cambria" pitchFamily="34" charset="0"/>
                <a:ea typeface="Cambria" pitchFamily="34" charset="-122"/>
                <a:cs typeface="Cambria" pitchFamily="34" charset="-120"/>
              </a:rPr>
              <a:t>Yerinde gözlem</a:t>
            </a:r>
            <a:endParaRPr lang="en-US" sz="1550" dirty="0"/>
          </a:p>
        </p:txBody>
      </p:sp>
      <p:sp>
        <p:nvSpPr>
          <p:cNvPr id="17" name="Text 15"/>
          <p:cNvSpPr txBox="1"/>
          <p:nvPr/>
        </p:nvSpPr>
        <p:spPr>
          <a:xfrm>
            <a:off x="4654296" y="3419856"/>
            <a:ext cx="2889504" cy="219456"/>
          </a:xfrm>
          <a:prstGeom prst="rect">
            <a:avLst/>
          </a:prstGeom>
          <a:noFill/>
          <a:ln/>
        </p:spPr>
        <p:txBody>
          <a:bodyPr wrap="square" lIns="0" tIns="0" rIns="0" bIns="0" rtlCol="0" anchor="ctr"/>
          <a:lstStyle/>
          <a:p>
            <a:pPr indent="0" marL="0">
              <a:buNone/>
            </a:pPr>
            <a:r>
              <a:rPr lang="en-US" sz="900" i="1" dirty="0">
                <a:solidFill>
                  <a:srgbClr val="A6A6AC"/>
                </a:solidFill>
                <a:latin typeface="Calibri" pitchFamily="34" charset="0"/>
                <a:ea typeface="Calibri" pitchFamily="34" charset="-122"/>
                <a:cs typeface="Calibri" pitchFamily="34" charset="-120"/>
              </a:rPr>
              <a:t>mobile ethnography</a:t>
            </a:r>
            <a:endParaRPr lang="en-US" sz="900" dirty="0"/>
          </a:p>
        </p:txBody>
      </p:sp>
      <p:sp>
        <p:nvSpPr>
          <p:cNvPr id="18" name="Text 16"/>
          <p:cNvSpPr txBox="1"/>
          <p:nvPr/>
        </p:nvSpPr>
        <p:spPr>
          <a:xfrm>
            <a:off x="4654296" y="3694176"/>
            <a:ext cx="2889504" cy="77724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Mağazada durup insanları izler; nereye baktıklarını, nerede durakladıklarını, neye dokunduklarını kaydeder.</a:t>
            </a:r>
            <a:endParaRPr lang="en-US" sz="1050" dirty="0"/>
          </a:p>
        </p:txBody>
      </p:sp>
      <p:sp>
        <p:nvSpPr>
          <p:cNvPr id="19" name="Text 17"/>
          <p:cNvSpPr txBox="1"/>
          <p:nvPr/>
        </p:nvSpPr>
        <p:spPr>
          <a:xfrm>
            <a:off x="4654296" y="4462272"/>
            <a:ext cx="2889504" cy="329184"/>
          </a:xfrm>
          <a:prstGeom prst="rect">
            <a:avLst/>
          </a:prstGeom>
          <a:noFill/>
          <a:ln/>
        </p:spPr>
        <p:txBody>
          <a:bodyPr wrap="square" lIns="0" tIns="0" rIns="0" bIns="0" rtlCol="0" anchor="ctr"/>
          <a:lstStyle/>
          <a:p>
            <a:pPr indent="0" marL="0">
              <a:lnSpc>
                <a:spcPts val="1150"/>
              </a:lnSpc>
              <a:buNone/>
            </a:pPr>
            <a:r>
              <a:rPr lang="en-US" sz="900" dirty="0">
                <a:solidFill>
                  <a:srgbClr val="8C3A2B"/>
                </a:solidFill>
                <a:latin typeface="Calibri" pitchFamily="34" charset="0"/>
                <a:ea typeface="Calibri" pitchFamily="34" charset="-122"/>
                <a:cs typeface="Calibri" pitchFamily="34" charset="-120"/>
              </a:rPr>
              <a:t>ne zaman: yoğun ve</a:t>
            </a:r>
            <a:endParaRPr lang="en-US" sz="900" dirty="0"/>
          </a:p>
          <a:p>
            <a:pPr indent="0" marL="0">
              <a:lnSpc>
                <a:spcPts val="1150"/>
              </a:lnSpc>
              <a:buNone/>
            </a:pPr>
            <a:r>
              <a:rPr lang="en-US" sz="900" dirty="0">
                <a:solidFill>
                  <a:srgbClr val="8C3A2B"/>
                </a:solidFill>
                <a:latin typeface="Calibri" pitchFamily="34" charset="0"/>
                <a:ea typeface="Calibri" pitchFamily="34" charset="-122"/>
                <a:cs typeface="Calibri" pitchFamily="34" charset="-120"/>
              </a:rPr>
              <a:t>sakin iki farklı saatte</a:t>
            </a:r>
            <a:endParaRPr lang="en-US" sz="900" dirty="0"/>
          </a:p>
        </p:txBody>
      </p:sp>
      <p:sp>
        <p:nvSpPr>
          <p:cNvPr id="20" name="Shape 18"/>
          <p:cNvSpPr/>
          <p:nvPr/>
        </p:nvSpPr>
        <p:spPr>
          <a:xfrm>
            <a:off x="8129016" y="2468880"/>
            <a:ext cx="3291840" cy="2377440"/>
          </a:xfrm>
          <a:prstGeom prst="rect">
            <a:avLst/>
          </a:prstGeom>
          <a:ln w="9525">
            <a:solidFill>
              <a:srgbClr val="C9C9CF"/>
            </a:solidFill>
            <a:prstDash val="solid"/>
          </a:ln>
        </p:spPr>
      </p:sp>
      <p:sp>
        <p:nvSpPr>
          <p:cNvPr id="21" name="Shape 19"/>
          <p:cNvSpPr/>
          <p:nvPr/>
        </p:nvSpPr>
        <p:spPr>
          <a:xfrm>
            <a:off x="8375904" y="2715768"/>
            <a:ext cx="274320" cy="274320"/>
          </a:xfrm>
          <a:prstGeom prst="ellipse">
            <a:avLst/>
          </a:prstGeom>
          <a:solidFill>
            <a:srgbClr val="16161A"/>
          </a:solidFill>
          <a:ln w="12700">
            <a:solidFill>
              <a:srgbClr val="16161A"/>
            </a:solidFill>
            <a:prstDash val="solid"/>
          </a:ln>
        </p:spPr>
      </p:sp>
      <p:sp>
        <p:nvSpPr>
          <p:cNvPr id="22" name="Text 20"/>
          <p:cNvSpPr txBox="1"/>
          <p:nvPr/>
        </p:nvSpPr>
        <p:spPr>
          <a:xfrm>
            <a:off x="8375904"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3" name="Text 21"/>
          <p:cNvSpPr txBox="1"/>
          <p:nvPr/>
        </p:nvSpPr>
        <p:spPr>
          <a:xfrm>
            <a:off x="8330184" y="3127248"/>
            <a:ext cx="2889504" cy="292608"/>
          </a:xfrm>
          <a:prstGeom prst="rect">
            <a:avLst/>
          </a:prstGeom>
          <a:noFill/>
          <a:ln/>
        </p:spPr>
        <p:txBody>
          <a:bodyPr wrap="square" lIns="0" tIns="0" rIns="0" bIns="0" rtlCol="0" anchor="ctr"/>
          <a:lstStyle/>
          <a:p>
            <a:pPr indent="0" marL="0">
              <a:buNone/>
            </a:pPr>
            <a:r>
              <a:rPr lang="en-US" sz="1550" b="1" dirty="0">
                <a:solidFill>
                  <a:srgbClr val="16161A"/>
                </a:solidFill>
                <a:latin typeface="Cambria" pitchFamily="34" charset="0"/>
                <a:ea typeface="Cambria" pitchFamily="34" charset="-122"/>
                <a:cs typeface="Cambria" pitchFamily="34" charset="-120"/>
              </a:rPr>
              <a:t>Bağlamsal görüşme</a:t>
            </a:r>
            <a:endParaRPr lang="en-US" sz="1550" dirty="0"/>
          </a:p>
        </p:txBody>
      </p:sp>
      <p:sp>
        <p:nvSpPr>
          <p:cNvPr id="24" name="Text 22"/>
          <p:cNvSpPr txBox="1"/>
          <p:nvPr/>
        </p:nvSpPr>
        <p:spPr>
          <a:xfrm>
            <a:off x="8330184" y="3419856"/>
            <a:ext cx="2889504" cy="219456"/>
          </a:xfrm>
          <a:prstGeom prst="rect">
            <a:avLst/>
          </a:prstGeom>
          <a:noFill/>
          <a:ln/>
        </p:spPr>
        <p:txBody>
          <a:bodyPr wrap="square" lIns="0" tIns="0" rIns="0" bIns="0" rtlCol="0" anchor="ctr"/>
          <a:lstStyle/>
          <a:p>
            <a:pPr indent="0" marL="0">
              <a:buNone/>
            </a:pPr>
            <a:r>
              <a:rPr lang="en-US" sz="900" i="1" dirty="0">
                <a:solidFill>
                  <a:srgbClr val="A6A6AC"/>
                </a:solidFill>
                <a:latin typeface="Calibri" pitchFamily="34" charset="0"/>
                <a:ea typeface="Calibri" pitchFamily="34" charset="-122"/>
                <a:cs typeface="Calibri" pitchFamily="34" charset="-120"/>
              </a:rPr>
              <a:t>contextual interview</a:t>
            </a:r>
            <a:endParaRPr lang="en-US" sz="900" dirty="0"/>
          </a:p>
        </p:txBody>
      </p:sp>
      <p:sp>
        <p:nvSpPr>
          <p:cNvPr id="25" name="Text 23"/>
          <p:cNvSpPr txBox="1"/>
          <p:nvPr/>
        </p:nvSpPr>
        <p:spPr>
          <a:xfrm>
            <a:off x="8330184" y="3694176"/>
            <a:ext cx="2889504" cy="77724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Müşteriyle ya da marka sahibiyle mağazanın içinde konuşulur; sorular yaşanan ana bağlı olduğu için cevaplar somuttur.</a:t>
            </a:r>
            <a:endParaRPr lang="en-US" sz="1050" dirty="0"/>
          </a:p>
        </p:txBody>
      </p:sp>
      <p:sp>
        <p:nvSpPr>
          <p:cNvPr id="26" name="Text 24"/>
          <p:cNvSpPr txBox="1"/>
          <p:nvPr/>
        </p:nvSpPr>
        <p:spPr>
          <a:xfrm>
            <a:off x="8330184" y="4462272"/>
            <a:ext cx="2889504" cy="329184"/>
          </a:xfrm>
          <a:prstGeom prst="rect">
            <a:avLst/>
          </a:prstGeom>
          <a:noFill/>
          <a:ln/>
        </p:spPr>
        <p:txBody>
          <a:bodyPr wrap="square" lIns="0" tIns="0" rIns="0" bIns="0" rtlCol="0" anchor="ctr"/>
          <a:lstStyle/>
          <a:p>
            <a:pPr indent="0" marL="0">
              <a:lnSpc>
                <a:spcPts val="1150"/>
              </a:lnSpc>
              <a:buNone/>
            </a:pPr>
            <a:r>
              <a:rPr lang="en-US" sz="900" dirty="0">
                <a:solidFill>
                  <a:srgbClr val="7A7A82"/>
                </a:solidFill>
                <a:latin typeface="Calibri" pitchFamily="34" charset="0"/>
                <a:ea typeface="Calibri" pitchFamily="34" charset="-122"/>
                <a:cs typeface="Calibri" pitchFamily="34" charset="-120"/>
              </a:rPr>
              <a:t>ne zaman: alışveriş</a:t>
            </a:r>
            <a:endParaRPr lang="en-US" sz="900" dirty="0"/>
          </a:p>
          <a:p>
            <a:pPr indent="0" marL="0">
              <a:lnSpc>
                <a:spcPts val="1150"/>
              </a:lnSpc>
              <a:buNone/>
            </a:pPr>
            <a:r>
              <a:rPr lang="en-US" sz="900" dirty="0">
                <a:solidFill>
                  <a:srgbClr val="7A7A82"/>
                </a:solidFill>
                <a:latin typeface="Calibri" pitchFamily="34" charset="0"/>
                <a:ea typeface="Calibri" pitchFamily="34" charset="-122"/>
                <a:cs typeface="Calibri" pitchFamily="34" charset="-120"/>
              </a:rPr>
              <a:t>biter bitmez</a:t>
            </a:r>
            <a:endParaRPr lang="en-US" sz="900" dirty="0"/>
          </a:p>
        </p:txBody>
      </p:sp>
      <p:sp>
        <p:nvSpPr>
          <p:cNvPr id="27" name="Text 25"/>
          <p:cNvSpPr txBox="1"/>
          <p:nvPr/>
        </p:nvSpPr>
        <p:spPr>
          <a:xfrm>
            <a:off x="777240" y="5074920"/>
            <a:ext cx="10424160" cy="411480"/>
          </a:xfrm>
          <a:prstGeom prst="rect">
            <a:avLst/>
          </a:prstGeom>
          <a:noFill/>
          <a:ln/>
        </p:spPr>
        <p:txBody>
          <a:bodyPr wrap="square" lIns="0" tIns="0" rIns="0" bIns="0" rtlCol="0" anchor="ctr"/>
          <a:lstStyle/>
          <a:p>
            <a:pPr algn="l" indent="0" marL="0">
              <a:lnSpc>
                <a:spcPts val="1700"/>
              </a:lnSpc>
              <a:buNone/>
            </a:pPr>
            <a:r>
              <a:rPr lang="en-US" sz="1250" dirty="0">
                <a:solidFill>
                  <a:srgbClr val="2B2B31"/>
                </a:solidFill>
                <a:latin typeface="Cambria" pitchFamily="34" charset="0"/>
                <a:ea typeface="Cambria" pitchFamily="34" charset="-122"/>
                <a:cs typeface="Cambria" pitchFamily="34" charset="-120"/>
              </a:rPr>
              <a:t>Üçü birlikte kullanıldığında birbirini doğrular: safari neyi hissettiğinizi, gözlem insanların gerçekte ne yaptığını, görüşme ise nedenini verir.</a:t>
            </a:r>
            <a:endParaRPr lang="en-US" sz="1250" dirty="0"/>
          </a:p>
        </p:txBody>
      </p:sp>
      <p:sp>
        <p:nvSpPr>
          <p:cNvPr id="28" name="Text 26"/>
          <p:cNvSpPr txBox="1"/>
          <p:nvPr/>
        </p:nvSpPr>
        <p:spPr>
          <a:xfrm>
            <a:off x="777240" y="5623560"/>
            <a:ext cx="10424160" cy="365760"/>
          </a:xfrm>
          <a:prstGeom prst="rect">
            <a:avLst/>
          </a:prstGeom>
          <a:noFill/>
          <a:ln/>
        </p:spPr>
        <p:txBody>
          <a:bodyPr wrap="square" lIns="0" tIns="0" rIns="0" bIns="0" rtlCol="0" anchor="ctr"/>
          <a:lstStyle/>
          <a:p>
            <a:pPr algn="l" indent="0" marL="0">
              <a:lnSpc>
                <a:spcPts val="1200"/>
              </a:lnSpc>
              <a:buNone/>
            </a:pPr>
            <a:r>
              <a:rPr lang="en-US" sz="1200" i="1" dirty="0">
                <a:solidFill>
                  <a:srgbClr val="8C3A2B"/>
                </a:solidFill>
                <a:latin typeface="Cambria" pitchFamily="34" charset="0"/>
                <a:ea typeface="Cambria" pitchFamily="34" charset="-122"/>
                <a:cs typeface="Cambria" pitchFamily="34" charset="-120"/>
              </a:rPr>
              <a:t>Her yöntemin çıktısı yazıya ve fotoğrafa dökülmeli; hatırlanan gözlem, gözlem sayılmaz.</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III · DENEYİM</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Hangi yöntem, yolculuğun hangi anında?</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19</a:t>
            </a:r>
            <a:endParaRPr lang="en-US" sz="950" dirty="0"/>
          </a:p>
        </p:txBody>
      </p:sp>
      <p:sp>
        <p:nvSpPr>
          <p:cNvPr id="5" name="Text 3"/>
          <p:cNvSpPr txBox="1"/>
          <p:nvPr/>
        </p:nvSpPr>
        <p:spPr>
          <a:xfrm>
            <a:off x="777240" y="1554480"/>
            <a:ext cx="10634472" cy="621792"/>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Yöntemler yolculuğun her anında aynı şeyi vermez. Aşağıdaki şema, hangi anı anlamak için hangi yöntemin işe yaradığını gösteriyor.</a:t>
            </a:r>
            <a:endParaRPr lang="en-US" sz="1400" dirty="0"/>
          </a:p>
        </p:txBody>
      </p:sp>
      <p:sp>
        <p:nvSpPr>
          <p:cNvPr id="6" name="Text 4"/>
          <p:cNvSpPr txBox="1"/>
          <p:nvPr/>
        </p:nvSpPr>
        <p:spPr>
          <a:xfrm>
            <a:off x="258775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Bulma</a:t>
            </a:r>
            <a:endParaRPr lang="en-US" sz="950" dirty="0"/>
          </a:p>
        </p:txBody>
      </p:sp>
      <p:sp>
        <p:nvSpPr>
          <p:cNvPr id="7" name="Shape 5"/>
          <p:cNvSpPr/>
          <p:nvPr/>
        </p:nvSpPr>
        <p:spPr>
          <a:xfrm>
            <a:off x="3246120" y="2615184"/>
            <a:ext cx="0" cy="2002536"/>
          </a:xfrm>
          <a:prstGeom prst="line">
            <a:avLst/>
          </a:prstGeom>
          <a:noFill/>
          <a:ln w="9525">
            <a:solidFill>
              <a:srgbClr val="EDEDF0"/>
            </a:solidFill>
            <a:prstDash val="solid"/>
          </a:ln>
        </p:spPr>
      </p:sp>
      <p:sp>
        <p:nvSpPr>
          <p:cNvPr id="8" name="Text 6"/>
          <p:cNvSpPr txBox="1"/>
          <p:nvPr/>
        </p:nvSpPr>
        <p:spPr>
          <a:xfrm>
            <a:off x="414223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Eşik</a:t>
            </a:r>
            <a:endParaRPr lang="en-US" sz="950" dirty="0"/>
          </a:p>
        </p:txBody>
      </p:sp>
      <p:sp>
        <p:nvSpPr>
          <p:cNvPr id="9" name="Shape 7"/>
          <p:cNvSpPr/>
          <p:nvPr/>
        </p:nvSpPr>
        <p:spPr>
          <a:xfrm>
            <a:off x="4800600" y="2615184"/>
            <a:ext cx="0" cy="2002536"/>
          </a:xfrm>
          <a:prstGeom prst="line">
            <a:avLst/>
          </a:prstGeom>
          <a:noFill/>
          <a:ln w="9525">
            <a:solidFill>
              <a:srgbClr val="EDEDF0"/>
            </a:solidFill>
            <a:prstDash val="solid"/>
          </a:ln>
        </p:spPr>
      </p:sp>
      <p:sp>
        <p:nvSpPr>
          <p:cNvPr id="10" name="Text 8"/>
          <p:cNvSpPr txBox="1"/>
          <p:nvPr/>
        </p:nvSpPr>
        <p:spPr>
          <a:xfrm>
            <a:off x="569671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Gezinme</a:t>
            </a:r>
            <a:endParaRPr lang="en-US" sz="950" dirty="0"/>
          </a:p>
        </p:txBody>
      </p:sp>
      <p:sp>
        <p:nvSpPr>
          <p:cNvPr id="11" name="Shape 9"/>
          <p:cNvSpPr/>
          <p:nvPr/>
        </p:nvSpPr>
        <p:spPr>
          <a:xfrm>
            <a:off x="6355080" y="2615184"/>
            <a:ext cx="0" cy="2002536"/>
          </a:xfrm>
          <a:prstGeom prst="line">
            <a:avLst/>
          </a:prstGeom>
          <a:noFill/>
          <a:ln w="9525">
            <a:solidFill>
              <a:srgbClr val="EDEDF0"/>
            </a:solidFill>
            <a:prstDash val="solid"/>
          </a:ln>
        </p:spPr>
      </p:sp>
      <p:sp>
        <p:nvSpPr>
          <p:cNvPr id="12" name="Text 10"/>
          <p:cNvSpPr txBox="1"/>
          <p:nvPr/>
        </p:nvSpPr>
        <p:spPr>
          <a:xfrm>
            <a:off x="725119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Deneme</a:t>
            </a:r>
            <a:endParaRPr lang="en-US" sz="950" dirty="0"/>
          </a:p>
        </p:txBody>
      </p:sp>
      <p:sp>
        <p:nvSpPr>
          <p:cNvPr id="13" name="Shape 11"/>
          <p:cNvSpPr/>
          <p:nvPr/>
        </p:nvSpPr>
        <p:spPr>
          <a:xfrm>
            <a:off x="7909560" y="2615184"/>
            <a:ext cx="0" cy="2002536"/>
          </a:xfrm>
          <a:prstGeom prst="line">
            <a:avLst/>
          </a:prstGeom>
          <a:noFill/>
          <a:ln w="9525">
            <a:solidFill>
              <a:srgbClr val="EDEDF0"/>
            </a:solidFill>
            <a:prstDash val="solid"/>
          </a:ln>
        </p:spPr>
      </p:sp>
      <p:sp>
        <p:nvSpPr>
          <p:cNvPr id="14" name="Text 12"/>
          <p:cNvSpPr txBox="1"/>
          <p:nvPr/>
        </p:nvSpPr>
        <p:spPr>
          <a:xfrm>
            <a:off x="880567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Satın alma</a:t>
            </a:r>
            <a:endParaRPr lang="en-US" sz="950" dirty="0"/>
          </a:p>
        </p:txBody>
      </p:sp>
      <p:sp>
        <p:nvSpPr>
          <p:cNvPr id="15" name="Shape 13"/>
          <p:cNvSpPr/>
          <p:nvPr/>
        </p:nvSpPr>
        <p:spPr>
          <a:xfrm>
            <a:off x="9464040" y="2615184"/>
            <a:ext cx="0" cy="2002536"/>
          </a:xfrm>
          <a:prstGeom prst="line">
            <a:avLst/>
          </a:prstGeom>
          <a:noFill/>
          <a:ln w="9525">
            <a:solidFill>
              <a:srgbClr val="EDEDF0"/>
            </a:solidFill>
            <a:prstDash val="solid"/>
          </a:ln>
        </p:spPr>
      </p:sp>
      <p:sp>
        <p:nvSpPr>
          <p:cNvPr id="16" name="Text 14"/>
          <p:cNvSpPr txBox="1"/>
          <p:nvPr/>
        </p:nvSpPr>
        <p:spPr>
          <a:xfrm>
            <a:off x="10360152" y="2286000"/>
            <a:ext cx="1316736" cy="256032"/>
          </a:xfrm>
          <a:prstGeom prst="rect">
            <a:avLst/>
          </a:prstGeom>
          <a:noFill/>
          <a:ln/>
        </p:spPr>
        <p:txBody>
          <a:bodyPr wrap="square" lIns="0" tIns="0" rIns="0" bIns="0" rtlCol="0" anchor="ctr"/>
          <a:lstStyle/>
          <a:p>
            <a:pPr algn="ctr" indent="0" marL="0">
              <a:buNone/>
            </a:pPr>
            <a:r>
              <a:rPr lang="en-US" sz="950" b="1" dirty="0">
                <a:solidFill>
                  <a:srgbClr val="7A7A82"/>
                </a:solidFill>
                <a:latin typeface="Calibri" pitchFamily="34" charset="0"/>
                <a:ea typeface="Calibri" pitchFamily="34" charset="-122"/>
                <a:cs typeface="Calibri" pitchFamily="34" charset="-120"/>
              </a:rPr>
              <a:t>Ayrılma</a:t>
            </a:r>
            <a:endParaRPr lang="en-US" sz="950" dirty="0"/>
          </a:p>
        </p:txBody>
      </p:sp>
      <p:sp>
        <p:nvSpPr>
          <p:cNvPr id="17" name="Shape 15"/>
          <p:cNvSpPr/>
          <p:nvPr/>
        </p:nvSpPr>
        <p:spPr>
          <a:xfrm>
            <a:off x="11018520" y="2615184"/>
            <a:ext cx="0" cy="2002536"/>
          </a:xfrm>
          <a:prstGeom prst="line">
            <a:avLst/>
          </a:prstGeom>
          <a:noFill/>
          <a:ln w="9525">
            <a:solidFill>
              <a:srgbClr val="EDEDF0"/>
            </a:solidFill>
            <a:prstDash val="solid"/>
          </a:ln>
        </p:spPr>
      </p:sp>
      <p:sp>
        <p:nvSpPr>
          <p:cNvPr id="18" name="Shape 16"/>
          <p:cNvSpPr/>
          <p:nvPr/>
        </p:nvSpPr>
        <p:spPr>
          <a:xfrm>
            <a:off x="2926080" y="2615184"/>
            <a:ext cx="8366760" cy="0"/>
          </a:xfrm>
          <a:prstGeom prst="line">
            <a:avLst/>
          </a:prstGeom>
          <a:noFill/>
          <a:ln w="12700">
            <a:solidFill>
              <a:srgbClr val="C9C9CF"/>
            </a:solidFill>
            <a:prstDash val="solid"/>
          </a:ln>
        </p:spPr>
      </p:sp>
      <p:sp>
        <p:nvSpPr>
          <p:cNvPr id="19" name="Text 17"/>
          <p:cNvSpPr txBox="1"/>
          <p:nvPr/>
        </p:nvSpPr>
        <p:spPr>
          <a:xfrm>
            <a:off x="777240" y="2935224"/>
            <a:ext cx="228600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Hizmet safarisi</a:t>
            </a:r>
            <a:endParaRPr lang="en-US" sz="1400" dirty="0"/>
          </a:p>
        </p:txBody>
      </p:sp>
      <p:sp>
        <p:nvSpPr>
          <p:cNvPr id="20" name="Shape 18"/>
          <p:cNvSpPr/>
          <p:nvPr/>
        </p:nvSpPr>
        <p:spPr>
          <a:xfrm>
            <a:off x="3246120" y="3081528"/>
            <a:ext cx="7772400" cy="0"/>
          </a:xfrm>
          <a:prstGeom prst="line">
            <a:avLst/>
          </a:prstGeom>
          <a:noFill/>
          <a:ln w="22225">
            <a:solidFill>
              <a:srgbClr val="8C3A2B"/>
            </a:solidFill>
            <a:prstDash val="solid"/>
          </a:ln>
        </p:spPr>
      </p:sp>
      <p:sp>
        <p:nvSpPr>
          <p:cNvPr id="21" name="Shape 19"/>
          <p:cNvSpPr/>
          <p:nvPr/>
        </p:nvSpPr>
        <p:spPr>
          <a:xfrm>
            <a:off x="3168396" y="3003804"/>
            <a:ext cx="155448" cy="155448"/>
          </a:xfrm>
          <a:prstGeom prst="ellipse">
            <a:avLst/>
          </a:prstGeom>
          <a:solidFill>
            <a:srgbClr val="8C3A2B"/>
          </a:solidFill>
          <a:ln w="12700">
            <a:solidFill>
              <a:srgbClr val="8C3A2B"/>
            </a:solidFill>
            <a:prstDash val="solid"/>
          </a:ln>
        </p:spPr>
      </p:sp>
      <p:sp>
        <p:nvSpPr>
          <p:cNvPr id="22" name="Shape 20"/>
          <p:cNvSpPr/>
          <p:nvPr/>
        </p:nvSpPr>
        <p:spPr>
          <a:xfrm>
            <a:off x="10940796" y="3003804"/>
            <a:ext cx="155448" cy="155448"/>
          </a:xfrm>
          <a:prstGeom prst="ellipse">
            <a:avLst/>
          </a:prstGeom>
          <a:solidFill>
            <a:srgbClr val="8C3A2B"/>
          </a:solidFill>
          <a:ln w="12700">
            <a:solidFill>
              <a:srgbClr val="8C3A2B"/>
            </a:solidFill>
            <a:prstDash val="solid"/>
          </a:ln>
        </p:spPr>
      </p:sp>
      <p:sp>
        <p:nvSpPr>
          <p:cNvPr id="23" name="Text 21"/>
          <p:cNvSpPr txBox="1"/>
          <p:nvPr/>
        </p:nvSpPr>
        <p:spPr>
          <a:xfrm>
            <a:off x="777240" y="3246120"/>
            <a:ext cx="2377440" cy="384048"/>
          </a:xfrm>
          <a:prstGeom prst="rect">
            <a:avLst/>
          </a:prstGeom>
          <a:noFill/>
          <a:ln/>
        </p:spPr>
        <p:txBody>
          <a:bodyPr wrap="square" lIns="0" tIns="0" rIns="0" bIns="0" rtlCol="0" anchor="ctr"/>
          <a:lstStyle/>
          <a:p>
            <a:pPr indent="0" marL="0">
              <a:lnSpc>
                <a:spcPts val="1100"/>
              </a:lnSpc>
              <a:buNone/>
            </a:pPr>
            <a:r>
              <a:rPr lang="en-US" sz="900" dirty="0">
                <a:solidFill>
                  <a:srgbClr val="7A7A82"/>
                </a:solidFill>
                <a:latin typeface="Calibri" pitchFamily="34" charset="0"/>
                <a:ea typeface="Calibri" pitchFamily="34" charset="-122"/>
                <a:cs typeface="Calibri" pitchFamily="34" charset="-120"/>
              </a:rPr>
              <a:t>yolculuğun tamamını kendi üzerinizde yaşarsınız</a:t>
            </a:r>
            <a:endParaRPr lang="en-US" sz="900" dirty="0"/>
          </a:p>
        </p:txBody>
      </p:sp>
      <p:sp>
        <p:nvSpPr>
          <p:cNvPr id="24" name="Text 22"/>
          <p:cNvSpPr txBox="1"/>
          <p:nvPr/>
        </p:nvSpPr>
        <p:spPr>
          <a:xfrm>
            <a:off x="777240" y="3502152"/>
            <a:ext cx="228600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Yerinde gözlem</a:t>
            </a:r>
            <a:endParaRPr lang="en-US" sz="1400" dirty="0"/>
          </a:p>
        </p:txBody>
      </p:sp>
      <p:sp>
        <p:nvSpPr>
          <p:cNvPr id="25" name="Shape 23"/>
          <p:cNvSpPr/>
          <p:nvPr/>
        </p:nvSpPr>
        <p:spPr>
          <a:xfrm>
            <a:off x="4800600" y="3648456"/>
            <a:ext cx="3108960" cy="0"/>
          </a:xfrm>
          <a:prstGeom prst="line">
            <a:avLst/>
          </a:prstGeom>
          <a:noFill/>
          <a:ln w="22225">
            <a:solidFill>
              <a:srgbClr val="8C3A2B"/>
            </a:solidFill>
            <a:prstDash val="solid"/>
          </a:ln>
        </p:spPr>
      </p:sp>
      <p:sp>
        <p:nvSpPr>
          <p:cNvPr id="26" name="Shape 24"/>
          <p:cNvSpPr/>
          <p:nvPr/>
        </p:nvSpPr>
        <p:spPr>
          <a:xfrm>
            <a:off x="4722876" y="3570732"/>
            <a:ext cx="155448" cy="155448"/>
          </a:xfrm>
          <a:prstGeom prst="ellipse">
            <a:avLst/>
          </a:prstGeom>
          <a:solidFill>
            <a:srgbClr val="8C3A2B"/>
          </a:solidFill>
          <a:ln w="12700">
            <a:solidFill>
              <a:srgbClr val="8C3A2B"/>
            </a:solidFill>
            <a:prstDash val="solid"/>
          </a:ln>
        </p:spPr>
      </p:sp>
      <p:sp>
        <p:nvSpPr>
          <p:cNvPr id="27" name="Shape 25"/>
          <p:cNvSpPr/>
          <p:nvPr/>
        </p:nvSpPr>
        <p:spPr>
          <a:xfrm>
            <a:off x="7831836" y="3570732"/>
            <a:ext cx="155448" cy="155448"/>
          </a:xfrm>
          <a:prstGeom prst="ellipse">
            <a:avLst/>
          </a:prstGeom>
          <a:solidFill>
            <a:srgbClr val="8C3A2B"/>
          </a:solidFill>
          <a:ln w="12700">
            <a:solidFill>
              <a:srgbClr val="8C3A2B"/>
            </a:solidFill>
            <a:prstDash val="solid"/>
          </a:ln>
        </p:spPr>
      </p:sp>
      <p:sp>
        <p:nvSpPr>
          <p:cNvPr id="28" name="Text 26"/>
          <p:cNvSpPr txBox="1"/>
          <p:nvPr/>
        </p:nvSpPr>
        <p:spPr>
          <a:xfrm>
            <a:off x="777240" y="3813048"/>
            <a:ext cx="2377440" cy="384048"/>
          </a:xfrm>
          <a:prstGeom prst="rect">
            <a:avLst/>
          </a:prstGeom>
          <a:noFill/>
          <a:ln/>
        </p:spPr>
        <p:txBody>
          <a:bodyPr wrap="square" lIns="0" tIns="0" rIns="0" bIns="0" rtlCol="0" anchor="ctr"/>
          <a:lstStyle/>
          <a:p>
            <a:pPr indent="0" marL="0">
              <a:lnSpc>
                <a:spcPts val="1100"/>
              </a:lnSpc>
              <a:buNone/>
            </a:pPr>
            <a:r>
              <a:rPr lang="en-US" sz="900" dirty="0">
                <a:solidFill>
                  <a:srgbClr val="7A7A82"/>
                </a:solidFill>
                <a:latin typeface="Calibri" pitchFamily="34" charset="0"/>
                <a:ea typeface="Calibri" pitchFamily="34" charset="-122"/>
                <a:cs typeface="Calibri" pitchFamily="34" charset="-120"/>
              </a:rPr>
              <a:t>eşikte duraklama, gezinme rotası, dokunma anı</a:t>
            </a:r>
            <a:endParaRPr lang="en-US" sz="900" dirty="0"/>
          </a:p>
        </p:txBody>
      </p:sp>
      <p:sp>
        <p:nvSpPr>
          <p:cNvPr id="29" name="Text 27"/>
          <p:cNvSpPr txBox="1"/>
          <p:nvPr/>
        </p:nvSpPr>
        <p:spPr>
          <a:xfrm>
            <a:off x="777240" y="4069080"/>
            <a:ext cx="2286000" cy="27432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Bağlamsal görüşme</a:t>
            </a:r>
            <a:endParaRPr lang="en-US" sz="1400" dirty="0"/>
          </a:p>
        </p:txBody>
      </p:sp>
      <p:sp>
        <p:nvSpPr>
          <p:cNvPr id="30" name="Shape 28"/>
          <p:cNvSpPr/>
          <p:nvPr/>
        </p:nvSpPr>
        <p:spPr>
          <a:xfrm>
            <a:off x="7909560" y="4215384"/>
            <a:ext cx="3108960" cy="0"/>
          </a:xfrm>
          <a:prstGeom prst="line">
            <a:avLst/>
          </a:prstGeom>
          <a:noFill/>
          <a:ln w="22225">
            <a:solidFill>
              <a:srgbClr val="8C3A2B"/>
            </a:solidFill>
            <a:prstDash val="solid"/>
          </a:ln>
        </p:spPr>
      </p:sp>
      <p:sp>
        <p:nvSpPr>
          <p:cNvPr id="31" name="Shape 29"/>
          <p:cNvSpPr/>
          <p:nvPr/>
        </p:nvSpPr>
        <p:spPr>
          <a:xfrm>
            <a:off x="7831836" y="4137660"/>
            <a:ext cx="155448" cy="155448"/>
          </a:xfrm>
          <a:prstGeom prst="ellipse">
            <a:avLst/>
          </a:prstGeom>
          <a:solidFill>
            <a:srgbClr val="8C3A2B"/>
          </a:solidFill>
          <a:ln w="12700">
            <a:solidFill>
              <a:srgbClr val="8C3A2B"/>
            </a:solidFill>
            <a:prstDash val="solid"/>
          </a:ln>
        </p:spPr>
      </p:sp>
      <p:sp>
        <p:nvSpPr>
          <p:cNvPr id="32" name="Shape 30"/>
          <p:cNvSpPr/>
          <p:nvPr/>
        </p:nvSpPr>
        <p:spPr>
          <a:xfrm>
            <a:off x="10940796" y="4137660"/>
            <a:ext cx="155448" cy="155448"/>
          </a:xfrm>
          <a:prstGeom prst="ellipse">
            <a:avLst/>
          </a:prstGeom>
          <a:solidFill>
            <a:srgbClr val="8C3A2B"/>
          </a:solidFill>
          <a:ln w="12700">
            <a:solidFill>
              <a:srgbClr val="8C3A2B"/>
            </a:solidFill>
            <a:prstDash val="solid"/>
          </a:ln>
        </p:spPr>
      </p:sp>
      <p:sp>
        <p:nvSpPr>
          <p:cNvPr id="33" name="Text 31"/>
          <p:cNvSpPr txBox="1"/>
          <p:nvPr/>
        </p:nvSpPr>
        <p:spPr>
          <a:xfrm>
            <a:off x="777240" y="4379976"/>
            <a:ext cx="2377440" cy="384048"/>
          </a:xfrm>
          <a:prstGeom prst="rect">
            <a:avLst/>
          </a:prstGeom>
          <a:noFill/>
          <a:ln/>
        </p:spPr>
        <p:txBody>
          <a:bodyPr wrap="square" lIns="0" tIns="0" rIns="0" bIns="0" rtlCol="0" anchor="ctr"/>
          <a:lstStyle/>
          <a:p>
            <a:pPr indent="0" marL="0">
              <a:lnSpc>
                <a:spcPts val="1100"/>
              </a:lnSpc>
              <a:buNone/>
            </a:pPr>
            <a:r>
              <a:rPr lang="en-US" sz="900" dirty="0">
                <a:solidFill>
                  <a:srgbClr val="7A7A82"/>
                </a:solidFill>
                <a:latin typeface="Calibri" pitchFamily="34" charset="0"/>
                <a:ea typeface="Calibri" pitchFamily="34" charset="-122"/>
                <a:cs typeface="Calibri" pitchFamily="34" charset="-120"/>
              </a:rPr>
              <a:t>denemeden sonra verilen karar ve çıkış izlenimi</a:t>
            </a:r>
            <a:endParaRPr lang="en-US" sz="900" dirty="0"/>
          </a:p>
        </p:txBody>
      </p:sp>
      <p:sp>
        <p:nvSpPr>
          <p:cNvPr id="34" name="Text 32"/>
          <p:cNvSpPr txBox="1"/>
          <p:nvPr/>
        </p:nvSpPr>
        <p:spPr>
          <a:xfrm>
            <a:off x="777240" y="4846320"/>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ARAŞTIRMANIN ÇIKTISI</a:t>
            </a:r>
            <a:endParaRPr lang="en-US" sz="900" dirty="0"/>
          </a:p>
        </p:txBody>
      </p:sp>
      <p:sp>
        <p:nvSpPr>
          <p:cNvPr id="35" name="Shape 33"/>
          <p:cNvSpPr/>
          <p:nvPr/>
        </p:nvSpPr>
        <p:spPr>
          <a:xfrm>
            <a:off x="809244" y="5234940"/>
            <a:ext cx="100584" cy="100584"/>
          </a:xfrm>
          <a:prstGeom prst="ellipse">
            <a:avLst/>
          </a:prstGeom>
          <a:solidFill>
            <a:srgbClr val="8C3A2B"/>
          </a:solidFill>
          <a:ln w="12700">
            <a:solidFill>
              <a:srgbClr val="8C3A2B"/>
            </a:solidFill>
            <a:prstDash val="solid"/>
          </a:ln>
        </p:spPr>
      </p:sp>
      <p:sp>
        <p:nvSpPr>
          <p:cNvPr id="36" name="Text 34"/>
          <p:cNvSpPr txBox="1"/>
          <p:nvPr/>
        </p:nvSpPr>
        <p:spPr>
          <a:xfrm>
            <a:off x="1069848" y="5148072"/>
            <a:ext cx="320040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Yolculuk haritası</a:t>
            </a:r>
            <a:endParaRPr lang="en-US" sz="1350" dirty="0"/>
          </a:p>
        </p:txBody>
      </p:sp>
      <p:sp>
        <p:nvSpPr>
          <p:cNvPr id="37" name="Text 35"/>
          <p:cNvSpPr txBox="1"/>
          <p:nvPr/>
        </p:nvSpPr>
        <p:spPr>
          <a:xfrm>
            <a:off x="1069848" y="5440680"/>
            <a:ext cx="3200400"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sekiz an, her an için üç satır</a:t>
            </a:r>
            <a:endParaRPr lang="en-US" sz="1050" dirty="0"/>
          </a:p>
        </p:txBody>
      </p:sp>
      <p:sp>
        <p:nvSpPr>
          <p:cNvPr id="38" name="Shape 36"/>
          <p:cNvSpPr/>
          <p:nvPr/>
        </p:nvSpPr>
        <p:spPr>
          <a:xfrm>
            <a:off x="4421124" y="5234940"/>
            <a:ext cx="100584" cy="100584"/>
          </a:xfrm>
          <a:prstGeom prst="ellipse">
            <a:avLst/>
          </a:prstGeom>
          <a:solidFill>
            <a:srgbClr val="8C3A2B"/>
          </a:solidFill>
          <a:ln w="12700">
            <a:solidFill>
              <a:srgbClr val="8C3A2B"/>
            </a:solidFill>
            <a:prstDash val="solid"/>
          </a:ln>
        </p:spPr>
      </p:sp>
      <p:sp>
        <p:nvSpPr>
          <p:cNvPr id="39" name="Text 37"/>
          <p:cNvSpPr txBox="1"/>
          <p:nvPr/>
        </p:nvSpPr>
        <p:spPr>
          <a:xfrm>
            <a:off x="4681728" y="5148072"/>
            <a:ext cx="320040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Persona</a:t>
            </a:r>
            <a:endParaRPr lang="en-US" sz="1350" dirty="0"/>
          </a:p>
        </p:txBody>
      </p:sp>
      <p:sp>
        <p:nvSpPr>
          <p:cNvPr id="40" name="Text 38"/>
          <p:cNvSpPr txBox="1"/>
          <p:nvPr/>
        </p:nvSpPr>
        <p:spPr>
          <a:xfrm>
            <a:off x="4681728" y="5440680"/>
            <a:ext cx="3200400"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davranışla tarif edilmiş tek kişi</a:t>
            </a:r>
            <a:endParaRPr lang="en-US" sz="1050" dirty="0"/>
          </a:p>
        </p:txBody>
      </p:sp>
      <p:sp>
        <p:nvSpPr>
          <p:cNvPr id="41" name="Shape 39"/>
          <p:cNvSpPr/>
          <p:nvPr/>
        </p:nvSpPr>
        <p:spPr>
          <a:xfrm>
            <a:off x="8033004" y="5234940"/>
            <a:ext cx="100584" cy="100584"/>
          </a:xfrm>
          <a:prstGeom prst="ellipse">
            <a:avLst/>
          </a:prstGeom>
          <a:solidFill>
            <a:srgbClr val="8C3A2B"/>
          </a:solidFill>
          <a:ln w="12700">
            <a:solidFill>
              <a:srgbClr val="8C3A2B"/>
            </a:solidFill>
            <a:prstDash val="solid"/>
          </a:ln>
        </p:spPr>
      </p:sp>
      <p:sp>
        <p:nvSpPr>
          <p:cNvPr id="42" name="Text 40"/>
          <p:cNvSpPr txBox="1"/>
          <p:nvPr/>
        </p:nvSpPr>
        <p:spPr>
          <a:xfrm>
            <a:off x="8293608" y="5148072"/>
            <a:ext cx="3200400" cy="274320"/>
          </a:xfrm>
          <a:prstGeom prst="rect">
            <a:avLst/>
          </a:prstGeom>
          <a:noFill/>
          <a:ln/>
        </p:spPr>
        <p:txBody>
          <a:bodyPr wrap="square" lIns="0" tIns="0" rIns="0" bIns="0" rtlCol="0" anchor="ctr"/>
          <a:lstStyle/>
          <a:p>
            <a:pPr indent="0" marL="0">
              <a:buNone/>
            </a:pPr>
            <a:r>
              <a:rPr lang="en-US" sz="1350" b="1" dirty="0">
                <a:solidFill>
                  <a:srgbClr val="16161A"/>
                </a:solidFill>
                <a:latin typeface="Cambria" pitchFamily="34" charset="0"/>
                <a:ea typeface="Cambria" pitchFamily="34" charset="-122"/>
                <a:cs typeface="Cambria" pitchFamily="34" charset="-120"/>
              </a:rPr>
              <a:t>Sorun listesi</a:t>
            </a:r>
            <a:endParaRPr lang="en-US" sz="1350" dirty="0"/>
          </a:p>
        </p:txBody>
      </p:sp>
      <p:sp>
        <p:nvSpPr>
          <p:cNvPr id="43" name="Text 41"/>
          <p:cNvSpPr txBox="1"/>
          <p:nvPr/>
        </p:nvSpPr>
        <p:spPr>
          <a:xfrm>
            <a:off x="8293608" y="5440680"/>
            <a:ext cx="3200400" cy="365760"/>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gözlemlenen tereddüt ve tıkanma anları</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IV</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İkisini birleştirmek</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Marka ne diyor, müşteri ne yapıyor — tasarım kararı ikisinin kesiştiği yerde doğar.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ÇEVİRİ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Çeviri zinciri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21</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Bir tasarım kararının savunulabilir olması, nereden geldiğinin gösterilebilmesine bağlıdır. Aşağıdaki zincir, marka anahtarındaki bir bileşenin hangi basamaklardan geçerek çizilebilir bir karara dönüştüğünü gösterir. Zincirin bir halkası atlandığında karar dayanaksız kalır.</a:t>
            </a:r>
            <a:endParaRPr lang="en-US" sz="1400" dirty="0"/>
          </a:p>
        </p:txBody>
      </p:sp>
      <p:sp>
        <p:nvSpPr>
          <p:cNvPr id="6" name="Shape 4"/>
          <p:cNvSpPr/>
          <p:nvPr/>
        </p:nvSpPr>
        <p:spPr>
          <a:xfrm>
            <a:off x="777240" y="2514600"/>
            <a:ext cx="2423160" cy="1417320"/>
          </a:xfrm>
          <a:prstGeom prst="rect">
            <a:avLst/>
          </a:prstGeom>
          <a:ln w="9525">
            <a:solidFill>
              <a:srgbClr val="C9C9CF"/>
            </a:solidFill>
            <a:prstDash val="solid"/>
          </a:ln>
        </p:spPr>
      </p:sp>
      <p:sp>
        <p:nvSpPr>
          <p:cNvPr id="7" name="Text 5"/>
          <p:cNvSpPr txBox="1"/>
          <p:nvPr/>
        </p:nvSpPr>
        <p:spPr>
          <a:xfrm>
            <a:off x="941832" y="2679192"/>
            <a:ext cx="2093976" cy="566928"/>
          </a:xfrm>
          <a:prstGeom prst="rect">
            <a:avLst/>
          </a:prstGeom>
          <a:noFill/>
          <a:ln/>
        </p:spPr>
        <p:txBody>
          <a:bodyPr wrap="square" lIns="0" tIns="0" rIns="0" bIns="0" rtlCol="0" anchor="ctr"/>
          <a:lstStyle/>
          <a:p>
            <a:pPr indent="0" marL="0">
              <a:lnSpc>
                <a:spcPts val="1800"/>
              </a:lnSpc>
              <a:buNone/>
            </a:pPr>
            <a:r>
              <a:rPr lang="en-US" sz="1500" b="1" dirty="0">
                <a:solidFill>
                  <a:srgbClr val="16161A"/>
                </a:solidFill>
                <a:latin typeface="Cambria" pitchFamily="34" charset="0"/>
                <a:ea typeface="Cambria" pitchFamily="34" charset="-122"/>
                <a:cs typeface="Cambria" pitchFamily="34" charset="-120"/>
              </a:rPr>
              <a:t>Bileşen</a:t>
            </a:r>
            <a:endParaRPr lang="en-US" sz="1500" dirty="0"/>
          </a:p>
        </p:txBody>
      </p:sp>
      <p:sp>
        <p:nvSpPr>
          <p:cNvPr id="8" name="Text 6"/>
          <p:cNvSpPr txBox="1"/>
          <p:nvPr/>
        </p:nvSpPr>
        <p:spPr>
          <a:xfrm>
            <a:off x="941832" y="3264408"/>
            <a:ext cx="2093976" cy="54864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Marka anahtarından</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bir başlık</a:t>
            </a:r>
            <a:endParaRPr lang="en-US" sz="1000" dirty="0"/>
          </a:p>
        </p:txBody>
      </p:sp>
      <p:sp>
        <p:nvSpPr>
          <p:cNvPr id="9" name="Shape 7"/>
          <p:cNvSpPr/>
          <p:nvPr/>
        </p:nvSpPr>
        <p:spPr>
          <a:xfrm>
            <a:off x="3246120" y="3223260"/>
            <a:ext cx="228600" cy="0"/>
          </a:xfrm>
          <a:prstGeom prst="line">
            <a:avLst/>
          </a:prstGeom>
          <a:noFill/>
          <a:ln w="19050">
            <a:solidFill>
              <a:srgbClr val="8C3A2B"/>
            </a:solidFill>
            <a:prstDash val="solid"/>
            <a:tailEnd type="triangle"/>
          </a:ln>
        </p:spPr>
      </p:sp>
      <p:sp>
        <p:nvSpPr>
          <p:cNvPr id="10" name="Shape 8"/>
          <p:cNvSpPr/>
          <p:nvPr/>
        </p:nvSpPr>
        <p:spPr>
          <a:xfrm>
            <a:off x="3520440" y="2514600"/>
            <a:ext cx="2423160" cy="1417320"/>
          </a:xfrm>
          <a:prstGeom prst="rect">
            <a:avLst/>
          </a:prstGeom>
          <a:ln w="9525">
            <a:solidFill>
              <a:srgbClr val="C9C9CF"/>
            </a:solidFill>
            <a:prstDash val="solid"/>
          </a:ln>
        </p:spPr>
      </p:sp>
      <p:sp>
        <p:nvSpPr>
          <p:cNvPr id="11" name="Text 9"/>
          <p:cNvSpPr txBox="1"/>
          <p:nvPr/>
        </p:nvSpPr>
        <p:spPr>
          <a:xfrm>
            <a:off x="3685032" y="2679192"/>
            <a:ext cx="2093976" cy="566928"/>
          </a:xfrm>
          <a:prstGeom prst="rect">
            <a:avLst/>
          </a:prstGeom>
          <a:noFill/>
          <a:ln/>
        </p:spPr>
        <p:txBody>
          <a:bodyPr wrap="square" lIns="0" tIns="0" rIns="0" bIns="0" rtlCol="0" anchor="ctr"/>
          <a:lstStyle/>
          <a:p>
            <a:pPr indent="0" marL="0">
              <a:lnSpc>
                <a:spcPts val="1800"/>
              </a:lnSpc>
              <a:buNone/>
            </a:pPr>
            <a:r>
              <a:rPr lang="en-US" sz="1500" b="1" dirty="0">
                <a:solidFill>
                  <a:srgbClr val="16161A"/>
                </a:solidFill>
                <a:latin typeface="Cambria" pitchFamily="34" charset="0"/>
                <a:ea typeface="Cambria" pitchFamily="34" charset="-122"/>
                <a:cs typeface="Cambria" pitchFamily="34" charset="-120"/>
              </a:rPr>
              <a:t>Anahtar</a:t>
            </a:r>
            <a:endParaRPr lang="en-US" sz="1500" dirty="0"/>
          </a:p>
          <a:p>
            <a:pPr indent="0" marL="0">
              <a:lnSpc>
                <a:spcPts val="1800"/>
              </a:lnSpc>
              <a:buNone/>
            </a:pPr>
            <a:r>
              <a:rPr lang="en-US" sz="1500" b="1" dirty="0">
                <a:solidFill>
                  <a:srgbClr val="16161A"/>
                </a:solidFill>
                <a:latin typeface="Cambria" pitchFamily="34" charset="0"/>
                <a:ea typeface="Cambria" pitchFamily="34" charset="-122"/>
                <a:cs typeface="Cambria" pitchFamily="34" charset="-120"/>
              </a:rPr>
              <a:t>kelime</a:t>
            </a:r>
            <a:endParaRPr lang="en-US" sz="1500" dirty="0"/>
          </a:p>
        </p:txBody>
      </p:sp>
      <p:sp>
        <p:nvSpPr>
          <p:cNvPr id="12" name="Text 10"/>
          <p:cNvSpPr txBox="1"/>
          <p:nvPr/>
        </p:nvSpPr>
        <p:spPr>
          <a:xfrm>
            <a:off x="3685032" y="3264408"/>
            <a:ext cx="2093976" cy="54864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Bileşeni tek sıfata</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indirge</a:t>
            </a:r>
            <a:endParaRPr lang="en-US" sz="1000" dirty="0"/>
          </a:p>
        </p:txBody>
      </p:sp>
      <p:sp>
        <p:nvSpPr>
          <p:cNvPr id="13" name="Shape 11"/>
          <p:cNvSpPr/>
          <p:nvPr/>
        </p:nvSpPr>
        <p:spPr>
          <a:xfrm>
            <a:off x="5989320" y="3223260"/>
            <a:ext cx="228600" cy="0"/>
          </a:xfrm>
          <a:prstGeom prst="line">
            <a:avLst/>
          </a:prstGeom>
          <a:noFill/>
          <a:ln w="19050">
            <a:solidFill>
              <a:srgbClr val="8C3A2B"/>
            </a:solidFill>
            <a:prstDash val="solid"/>
            <a:tailEnd type="triangle"/>
          </a:ln>
        </p:spPr>
      </p:sp>
      <p:sp>
        <p:nvSpPr>
          <p:cNvPr id="14" name="Shape 12"/>
          <p:cNvSpPr/>
          <p:nvPr/>
        </p:nvSpPr>
        <p:spPr>
          <a:xfrm>
            <a:off x="6263640" y="2514600"/>
            <a:ext cx="2423160" cy="1417320"/>
          </a:xfrm>
          <a:prstGeom prst="rect">
            <a:avLst/>
          </a:prstGeom>
          <a:ln w="9525">
            <a:solidFill>
              <a:srgbClr val="C9C9CF"/>
            </a:solidFill>
            <a:prstDash val="solid"/>
          </a:ln>
        </p:spPr>
      </p:sp>
      <p:sp>
        <p:nvSpPr>
          <p:cNvPr id="15" name="Text 13"/>
          <p:cNvSpPr txBox="1"/>
          <p:nvPr/>
        </p:nvSpPr>
        <p:spPr>
          <a:xfrm>
            <a:off x="6428232" y="2679192"/>
            <a:ext cx="2093976" cy="566928"/>
          </a:xfrm>
          <a:prstGeom prst="rect">
            <a:avLst/>
          </a:prstGeom>
          <a:noFill/>
          <a:ln/>
        </p:spPr>
        <p:txBody>
          <a:bodyPr wrap="square" lIns="0" tIns="0" rIns="0" bIns="0" rtlCol="0" anchor="ctr"/>
          <a:lstStyle/>
          <a:p>
            <a:pPr indent="0" marL="0">
              <a:lnSpc>
                <a:spcPts val="1800"/>
              </a:lnSpc>
              <a:buNone/>
            </a:pPr>
            <a:r>
              <a:rPr lang="en-US" sz="1500" b="1" dirty="0">
                <a:solidFill>
                  <a:srgbClr val="16161A"/>
                </a:solidFill>
                <a:latin typeface="Cambria" pitchFamily="34" charset="0"/>
                <a:ea typeface="Cambria" pitchFamily="34" charset="-122"/>
                <a:cs typeface="Cambria" pitchFamily="34" charset="-120"/>
              </a:rPr>
              <a:t>Yolculuk anı</a:t>
            </a:r>
            <a:endParaRPr lang="en-US" sz="1500" dirty="0"/>
          </a:p>
        </p:txBody>
      </p:sp>
      <p:sp>
        <p:nvSpPr>
          <p:cNvPr id="16" name="Text 14"/>
          <p:cNvSpPr txBox="1"/>
          <p:nvPr/>
        </p:nvSpPr>
        <p:spPr>
          <a:xfrm>
            <a:off x="6428232" y="3264408"/>
            <a:ext cx="2093976" cy="54864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Bu kelime hangi anda</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sınanıyor?</a:t>
            </a:r>
            <a:endParaRPr lang="en-US" sz="1000" dirty="0"/>
          </a:p>
        </p:txBody>
      </p:sp>
      <p:sp>
        <p:nvSpPr>
          <p:cNvPr id="17" name="Shape 15"/>
          <p:cNvSpPr/>
          <p:nvPr/>
        </p:nvSpPr>
        <p:spPr>
          <a:xfrm>
            <a:off x="8732520" y="3223260"/>
            <a:ext cx="228600" cy="0"/>
          </a:xfrm>
          <a:prstGeom prst="line">
            <a:avLst/>
          </a:prstGeom>
          <a:noFill/>
          <a:ln w="19050">
            <a:solidFill>
              <a:srgbClr val="8C3A2B"/>
            </a:solidFill>
            <a:prstDash val="solid"/>
            <a:tailEnd type="triangle"/>
          </a:ln>
        </p:spPr>
      </p:sp>
      <p:sp>
        <p:nvSpPr>
          <p:cNvPr id="18" name="Shape 16"/>
          <p:cNvSpPr/>
          <p:nvPr/>
        </p:nvSpPr>
        <p:spPr>
          <a:xfrm>
            <a:off x="9006840" y="2514600"/>
            <a:ext cx="2423160" cy="1417320"/>
          </a:xfrm>
          <a:prstGeom prst="rect">
            <a:avLst/>
          </a:prstGeom>
          <a:solidFill>
            <a:srgbClr val="F6EAE6"/>
          </a:solidFill>
          <a:ln w="15875">
            <a:solidFill>
              <a:srgbClr val="8C3A2B"/>
            </a:solidFill>
            <a:prstDash val="solid"/>
          </a:ln>
        </p:spPr>
      </p:sp>
      <p:sp>
        <p:nvSpPr>
          <p:cNvPr id="19" name="Text 17"/>
          <p:cNvSpPr txBox="1"/>
          <p:nvPr/>
        </p:nvSpPr>
        <p:spPr>
          <a:xfrm>
            <a:off x="9171432" y="2679192"/>
            <a:ext cx="2093976" cy="566928"/>
          </a:xfrm>
          <a:prstGeom prst="rect">
            <a:avLst/>
          </a:prstGeom>
          <a:noFill/>
          <a:ln/>
        </p:spPr>
        <p:txBody>
          <a:bodyPr wrap="square" lIns="0" tIns="0" rIns="0" bIns="0" rtlCol="0" anchor="ctr"/>
          <a:lstStyle/>
          <a:p>
            <a:pPr indent="0" marL="0">
              <a:lnSpc>
                <a:spcPts val="1800"/>
              </a:lnSpc>
              <a:buNone/>
            </a:pPr>
            <a:r>
              <a:rPr lang="en-US" sz="1500" b="1" dirty="0">
                <a:solidFill>
                  <a:srgbClr val="8C3A2B"/>
                </a:solidFill>
                <a:latin typeface="Cambria" pitchFamily="34" charset="0"/>
                <a:ea typeface="Cambria" pitchFamily="34" charset="-122"/>
                <a:cs typeface="Cambria" pitchFamily="34" charset="-120"/>
              </a:rPr>
              <a:t>Mekânsal</a:t>
            </a:r>
            <a:endParaRPr lang="en-US" sz="1500" dirty="0"/>
          </a:p>
          <a:p>
            <a:pPr indent="0" marL="0">
              <a:lnSpc>
                <a:spcPts val="1800"/>
              </a:lnSpc>
              <a:buNone/>
            </a:pPr>
            <a:r>
              <a:rPr lang="en-US" sz="1500" b="1" dirty="0">
                <a:solidFill>
                  <a:srgbClr val="8C3A2B"/>
                </a:solidFill>
                <a:latin typeface="Cambria" pitchFamily="34" charset="0"/>
                <a:ea typeface="Cambria" pitchFamily="34" charset="-122"/>
                <a:cs typeface="Cambria" pitchFamily="34" charset="-120"/>
              </a:rPr>
              <a:t>karar</a:t>
            </a:r>
            <a:endParaRPr lang="en-US" sz="1500" dirty="0"/>
          </a:p>
        </p:txBody>
      </p:sp>
      <p:sp>
        <p:nvSpPr>
          <p:cNvPr id="20" name="Text 18"/>
          <p:cNvSpPr txBox="1"/>
          <p:nvPr/>
        </p:nvSpPr>
        <p:spPr>
          <a:xfrm>
            <a:off x="9171432" y="3264408"/>
            <a:ext cx="2093976" cy="548640"/>
          </a:xfrm>
          <a:prstGeom prst="rect">
            <a:avLst/>
          </a:prstGeom>
          <a:noFill/>
          <a:ln/>
        </p:spPr>
        <p:txBody>
          <a:bodyPr wrap="square" lIns="0" tIns="0" rIns="0" bIns="0" rtlCol="0" anchor="ctr"/>
          <a:lstStyle/>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O anı kuran somut</a:t>
            </a:r>
            <a:endParaRPr lang="en-US" sz="1000" dirty="0"/>
          </a:p>
          <a:p>
            <a:pPr indent="0" marL="0">
              <a:lnSpc>
                <a:spcPts val="1250"/>
              </a:lnSpc>
              <a:buNone/>
            </a:pPr>
            <a:r>
              <a:rPr lang="en-US" sz="1000" dirty="0">
                <a:solidFill>
                  <a:srgbClr val="7A7A82"/>
                </a:solidFill>
                <a:latin typeface="Calibri" pitchFamily="34" charset="0"/>
                <a:ea typeface="Calibri" pitchFamily="34" charset="-122"/>
                <a:cs typeface="Calibri" pitchFamily="34" charset="-120"/>
              </a:rPr>
              <a:t>tasarım kararı</a:t>
            </a:r>
            <a:endParaRPr lang="en-US" sz="1000" dirty="0"/>
          </a:p>
        </p:txBody>
      </p:sp>
      <p:sp>
        <p:nvSpPr>
          <p:cNvPr id="21" name="Text 19"/>
          <p:cNvSpPr txBox="1"/>
          <p:nvPr/>
        </p:nvSpPr>
        <p:spPr>
          <a:xfrm>
            <a:off x="777240" y="4160520"/>
            <a:ext cx="2103120" cy="274320"/>
          </a:xfrm>
          <a:prstGeom prst="rect">
            <a:avLst/>
          </a:prstGeom>
          <a:noFill/>
          <a:ln/>
        </p:spPr>
        <p:txBody>
          <a:bodyPr wrap="square" lIns="0" tIns="0" rIns="0" bIns="0" rtlCol="0" anchor="ctr"/>
          <a:lstStyle/>
          <a:p>
            <a:pPr algn="l" indent="0" marL="0">
              <a:lnSpc>
                <a:spcPts val="1200"/>
              </a:lnSpc>
              <a:buNone/>
            </a:pPr>
            <a:r>
              <a:rPr lang="en-US" sz="850" b="1" dirty="0">
                <a:solidFill>
                  <a:srgbClr val="A6A6AC"/>
                </a:solidFill>
                <a:latin typeface="Calibri" pitchFamily="34" charset="0"/>
                <a:ea typeface="Calibri" pitchFamily="34" charset="-122"/>
                <a:cs typeface="Calibri" pitchFamily="34" charset="-120"/>
              </a:rPr>
              <a:t>ÖRNEK</a:t>
            </a:r>
            <a:endParaRPr lang="en-US" sz="850" dirty="0"/>
          </a:p>
        </p:txBody>
      </p:sp>
      <p:sp>
        <p:nvSpPr>
          <p:cNvPr id="22" name="Text 20"/>
          <p:cNvSpPr txBox="1"/>
          <p:nvPr/>
        </p:nvSpPr>
        <p:spPr>
          <a:xfrm>
            <a:off x="795528" y="4389120"/>
            <a:ext cx="2386584" cy="566928"/>
          </a:xfrm>
          <a:prstGeom prst="rect">
            <a:avLst/>
          </a:prstGeom>
          <a:noFill/>
          <a:ln/>
        </p:spPr>
        <p:txBody>
          <a:bodyPr wrap="square" lIns="0" tIns="0" rIns="0" bIns="0" rtlCol="0" anchor="ctr"/>
          <a:lstStyle/>
          <a:p>
            <a:pPr indent="0" marL="0">
              <a:lnSpc>
                <a:spcPts val="1500"/>
              </a:lnSpc>
              <a:buNone/>
            </a:pPr>
            <a:r>
              <a:rPr lang="en-US" sz="1200" i="1" dirty="0">
                <a:solidFill>
                  <a:srgbClr val="2B2B31"/>
                </a:solidFill>
                <a:latin typeface="Cambria" pitchFamily="34" charset="0"/>
                <a:ea typeface="Cambria" pitchFamily="34" charset="-122"/>
                <a:cs typeface="Cambria" pitchFamily="34" charset="-120"/>
              </a:rPr>
              <a:t>Değerler: öğretmeyi seviyor</a:t>
            </a:r>
            <a:endParaRPr lang="en-US" sz="1200" dirty="0"/>
          </a:p>
        </p:txBody>
      </p:sp>
      <p:sp>
        <p:nvSpPr>
          <p:cNvPr id="23" name="Text 21"/>
          <p:cNvSpPr txBox="1"/>
          <p:nvPr/>
        </p:nvSpPr>
        <p:spPr>
          <a:xfrm>
            <a:off x="3538728" y="4389120"/>
            <a:ext cx="2386584" cy="566928"/>
          </a:xfrm>
          <a:prstGeom prst="rect">
            <a:avLst/>
          </a:prstGeom>
          <a:noFill/>
          <a:ln/>
        </p:spPr>
        <p:txBody>
          <a:bodyPr wrap="square" lIns="0" tIns="0" rIns="0" bIns="0" rtlCol="0" anchor="ctr"/>
          <a:lstStyle/>
          <a:p>
            <a:pPr indent="0" marL="0">
              <a:lnSpc>
                <a:spcPts val="1500"/>
              </a:lnSpc>
              <a:buNone/>
            </a:pPr>
            <a:r>
              <a:rPr lang="en-US" sz="1200" i="1" dirty="0">
                <a:solidFill>
                  <a:srgbClr val="2B2B31"/>
                </a:solidFill>
                <a:latin typeface="Cambria" pitchFamily="34" charset="0"/>
                <a:ea typeface="Cambria" pitchFamily="34" charset="-122"/>
                <a:cs typeface="Cambria" pitchFamily="34" charset="-120"/>
              </a:rPr>
              <a:t>Şeffaflık</a:t>
            </a:r>
            <a:endParaRPr lang="en-US" sz="1200" dirty="0"/>
          </a:p>
        </p:txBody>
      </p:sp>
      <p:sp>
        <p:nvSpPr>
          <p:cNvPr id="24" name="Text 22"/>
          <p:cNvSpPr txBox="1"/>
          <p:nvPr/>
        </p:nvSpPr>
        <p:spPr>
          <a:xfrm>
            <a:off x="6281928" y="4389120"/>
            <a:ext cx="2386584" cy="566928"/>
          </a:xfrm>
          <a:prstGeom prst="rect">
            <a:avLst/>
          </a:prstGeom>
          <a:noFill/>
          <a:ln/>
        </p:spPr>
        <p:txBody>
          <a:bodyPr wrap="square" lIns="0" tIns="0" rIns="0" bIns="0" rtlCol="0" anchor="ctr"/>
          <a:lstStyle/>
          <a:p>
            <a:pPr indent="0" marL="0">
              <a:lnSpc>
                <a:spcPts val="1500"/>
              </a:lnSpc>
              <a:buNone/>
            </a:pPr>
            <a:r>
              <a:rPr lang="en-US" sz="1200" i="1" dirty="0">
                <a:solidFill>
                  <a:srgbClr val="2B2B31"/>
                </a:solidFill>
                <a:latin typeface="Cambria" pitchFamily="34" charset="0"/>
                <a:ea typeface="Cambria" pitchFamily="34" charset="-122"/>
                <a:cs typeface="Cambria" pitchFamily="34" charset="-120"/>
              </a:rPr>
              <a:t>Gezinme ve bekleme anı</a:t>
            </a:r>
            <a:endParaRPr lang="en-US" sz="1200" dirty="0"/>
          </a:p>
        </p:txBody>
      </p:sp>
      <p:sp>
        <p:nvSpPr>
          <p:cNvPr id="25" name="Text 23"/>
          <p:cNvSpPr txBox="1"/>
          <p:nvPr/>
        </p:nvSpPr>
        <p:spPr>
          <a:xfrm>
            <a:off x="9025128" y="4389120"/>
            <a:ext cx="2386584" cy="566928"/>
          </a:xfrm>
          <a:prstGeom prst="rect">
            <a:avLst/>
          </a:prstGeom>
          <a:noFill/>
          <a:ln/>
        </p:spPr>
        <p:txBody>
          <a:bodyPr wrap="square" lIns="0" tIns="0" rIns="0" bIns="0" rtlCol="0" anchor="ctr"/>
          <a:lstStyle/>
          <a:p>
            <a:pPr indent="0" marL="0">
              <a:lnSpc>
                <a:spcPts val="1500"/>
              </a:lnSpc>
              <a:buNone/>
            </a:pPr>
            <a:r>
              <a:rPr lang="en-US" sz="1200" i="1" dirty="0">
                <a:solidFill>
                  <a:srgbClr val="8C3A2B"/>
                </a:solidFill>
                <a:latin typeface="Cambria" pitchFamily="34" charset="0"/>
                <a:ea typeface="Cambria" pitchFamily="34" charset="-122"/>
                <a:cs typeface="Cambria" pitchFamily="34" charset="-120"/>
              </a:rPr>
              <a:t>Kavurma makinesi satış</a:t>
            </a:r>
            <a:endParaRPr lang="en-US" sz="1200" dirty="0"/>
          </a:p>
          <a:p>
            <a:pPr indent="0" marL="0">
              <a:lnSpc>
                <a:spcPts val="1500"/>
              </a:lnSpc>
              <a:buNone/>
            </a:pPr>
            <a:r>
              <a:rPr lang="en-US" sz="1200" i="1" dirty="0">
                <a:solidFill>
                  <a:srgbClr val="8C3A2B"/>
                </a:solidFill>
                <a:latin typeface="Cambria" pitchFamily="34" charset="0"/>
                <a:ea typeface="Cambria" pitchFamily="34" charset="-122"/>
                <a:cs typeface="Cambria" pitchFamily="34" charset="-120"/>
              </a:rPr>
              <a:t>alanına bakıyor</a:t>
            </a:r>
            <a:endParaRPr lang="en-US" sz="1200" dirty="0"/>
          </a:p>
        </p:txBody>
      </p:sp>
      <p:sp>
        <p:nvSpPr>
          <p:cNvPr id="26" name="Shape 24"/>
          <p:cNvSpPr/>
          <p:nvPr/>
        </p:nvSpPr>
        <p:spPr>
          <a:xfrm>
            <a:off x="777240" y="5029200"/>
            <a:ext cx="10634472" cy="0"/>
          </a:xfrm>
          <a:prstGeom prst="line">
            <a:avLst/>
          </a:prstGeom>
          <a:noFill/>
          <a:ln w="9525">
            <a:solidFill>
              <a:srgbClr val="C9C9CF"/>
            </a:solidFill>
            <a:prstDash val="solid"/>
          </a:ln>
        </p:spPr>
      </p:sp>
      <p:sp>
        <p:nvSpPr>
          <p:cNvPr id="27" name="Text 25"/>
          <p:cNvSpPr txBox="1"/>
          <p:nvPr/>
        </p:nvSpPr>
        <p:spPr>
          <a:xfrm>
            <a:off x="777240" y="5193792"/>
            <a:ext cx="10424160" cy="548640"/>
          </a:xfrm>
          <a:prstGeom prst="rect">
            <a:avLst/>
          </a:prstGeom>
          <a:noFill/>
          <a:ln/>
        </p:spPr>
        <p:txBody>
          <a:bodyPr wrap="square" lIns="0" tIns="0" rIns="0" bIns="0" rtlCol="0" anchor="ctr"/>
          <a:lstStyle/>
          <a:p>
            <a:pPr algn="l" indent="0" marL="0">
              <a:lnSpc>
                <a:spcPts val="1700"/>
              </a:lnSpc>
              <a:buNone/>
            </a:pPr>
            <a:r>
              <a:rPr lang="en-US" sz="1250" dirty="0">
                <a:solidFill>
                  <a:srgbClr val="2B2B31"/>
                </a:solidFill>
                <a:latin typeface="Cambria" pitchFamily="34" charset="0"/>
                <a:ea typeface="Cambria" pitchFamily="34" charset="-122"/>
                <a:cs typeface="Cambria" pitchFamily="34" charset="-120"/>
              </a:rPr>
              <a:t>Aynı zincir müşteri tarafından da kurulur: gözlenen bir davranış → o davranışın yarattığı ihtiyaç → mekânsal karar. İki zincir aynı kararda buluşmuyorsa, ya marka ya müşteri yanlış okunmuştur.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ÇEVİRİ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Anahtar kelime nasıl seçilir?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22</a:t>
            </a:r>
            <a:endParaRPr lang="en-US" sz="950" dirty="0"/>
          </a:p>
        </p:txBody>
      </p:sp>
      <p:sp>
        <p:nvSpPr>
          <p:cNvPr id="5" name="Text 3"/>
          <p:cNvSpPr txBox="1"/>
          <p:nvPr/>
        </p:nvSpPr>
        <p:spPr>
          <a:xfrm>
            <a:off x="777240" y="1554480"/>
            <a:ext cx="10634472" cy="658368"/>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Anahtar kelime, markayı tarif eden onlarca sıfatın içinden ayakta kalanıdır. Seçim rastgele değildir; üç elemeden geçer. Sonunda elde üç kelime kalmalıdır — daha fazlası tasarımı dağıtır, daha azı yönlendirmez.</a:t>
            </a:r>
            <a:endParaRPr lang="en-US" sz="1400" dirty="0"/>
          </a:p>
        </p:txBody>
      </p:sp>
      <p:sp>
        <p:nvSpPr>
          <p:cNvPr id="6" name="Shape 4"/>
          <p:cNvSpPr/>
          <p:nvPr/>
        </p:nvSpPr>
        <p:spPr>
          <a:xfrm>
            <a:off x="1248156" y="2377440"/>
            <a:ext cx="9692640" cy="603504"/>
          </a:xfrm>
          <a:prstGeom prst="rect">
            <a:avLst/>
          </a:prstGeom>
          <a:ln w="9525">
            <a:solidFill>
              <a:srgbClr val="C9C9CF"/>
            </a:solidFill>
            <a:prstDash val="solid"/>
          </a:ln>
        </p:spPr>
      </p:sp>
      <p:sp>
        <p:nvSpPr>
          <p:cNvPr id="7" name="Text 5"/>
          <p:cNvSpPr txBox="1"/>
          <p:nvPr/>
        </p:nvSpPr>
        <p:spPr>
          <a:xfrm>
            <a:off x="1431036" y="2450592"/>
            <a:ext cx="9326880" cy="274320"/>
          </a:xfrm>
          <a:prstGeom prst="rect">
            <a:avLst/>
          </a:prstGeom>
          <a:noFill/>
          <a:ln/>
        </p:spPr>
        <p:txBody>
          <a:bodyPr wrap="square" lIns="0" tIns="0" rIns="0" bIns="0" rtlCol="0" anchor="ctr"/>
          <a:lstStyle/>
          <a:p>
            <a:pPr algn="ctr" indent="0" marL="0">
              <a:buNone/>
            </a:pPr>
            <a:r>
              <a:rPr lang="en-US" sz="1400" b="1" dirty="0">
                <a:solidFill>
                  <a:srgbClr val="16161A"/>
                </a:solidFill>
                <a:latin typeface="Cambria" pitchFamily="34" charset="0"/>
                <a:ea typeface="Cambria" pitchFamily="34" charset="-122"/>
                <a:cs typeface="Cambria" pitchFamily="34" charset="-120"/>
              </a:rPr>
              <a:t>Markayla ilgili bütün sıfatlar</a:t>
            </a:r>
            <a:endParaRPr lang="en-US" sz="1400" dirty="0"/>
          </a:p>
        </p:txBody>
      </p:sp>
      <p:sp>
        <p:nvSpPr>
          <p:cNvPr id="8" name="Text 6"/>
          <p:cNvSpPr txBox="1"/>
          <p:nvPr/>
        </p:nvSpPr>
        <p:spPr>
          <a:xfrm>
            <a:off x="1431036" y="2724912"/>
            <a:ext cx="9326880" cy="237744"/>
          </a:xfrm>
          <a:prstGeom prst="rect">
            <a:avLst/>
          </a:prstGeom>
          <a:noFill/>
          <a:ln/>
        </p:spPr>
        <p:txBody>
          <a:bodyPr wrap="square" lIns="0" tIns="0" rIns="0" bIns="0" rtlCol="0" anchor="ctr"/>
          <a:lstStyle/>
          <a:p>
            <a:pPr algn="ctr" indent="0" marL="0">
              <a:buNone/>
            </a:pPr>
            <a:r>
              <a:rPr lang="en-US" sz="1000" dirty="0">
                <a:solidFill>
                  <a:srgbClr val="7A7A82"/>
                </a:solidFill>
                <a:latin typeface="Calibri" pitchFamily="34" charset="0"/>
                <a:ea typeface="Calibri" pitchFamily="34" charset="-122"/>
                <a:cs typeface="Calibri" pitchFamily="34" charset="-120"/>
              </a:rPr>
              <a:t>araştırmadan çıkan ham liste, 20–30 kelime</a:t>
            </a:r>
            <a:endParaRPr lang="en-US" sz="1000" dirty="0"/>
          </a:p>
        </p:txBody>
      </p:sp>
      <p:sp>
        <p:nvSpPr>
          <p:cNvPr id="9" name="Shape 7"/>
          <p:cNvSpPr/>
          <p:nvPr/>
        </p:nvSpPr>
        <p:spPr>
          <a:xfrm>
            <a:off x="6094476" y="3017520"/>
            <a:ext cx="0" cy="228600"/>
          </a:xfrm>
          <a:prstGeom prst="line">
            <a:avLst/>
          </a:prstGeom>
          <a:noFill/>
          <a:ln w="19050">
            <a:solidFill>
              <a:srgbClr val="8C3A2B"/>
            </a:solidFill>
            <a:prstDash val="solid"/>
            <a:tailEnd type="triangle"/>
          </a:ln>
        </p:spPr>
      </p:sp>
      <p:sp>
        <p:nvSpPr>
          <p:cNvPr id="10" name="Shape 8"/>
          <p:cNvSpPr/>
          <p:nvPr/>
        </p:nvSpPr>
        <p:spPr>
          <a:xfrm>
            <a:off x="2528316" y="3291840"/>
            <a:ext cx="7132320" cy="603504"/>
          </a:xfrm>
          <a:prstGeom prst="rect">
            <a:avLst/>
          </a:prstGeom>
          <a:ln w="9525">
            <a:solidFill>
              <a:srgbClr val="C9C9CF"/>
            </a:solidFill>
            <a:prstDash val="solid"/>
          </a:ln>
        </p:spPr>
      </p:sp>
      <p:sp>
        <p:nvSpPr>
          <p:cNvPr id="11" name="Text 9"/>
          <p:cNvSpPr txBox="1"/>
          <p:nvPr/>
        </p:nvSpPr>
        <p:spPr>
          <a:xfrm>
            <a:off x="2711196" y="3364992"/>
            <a:ext cx="6766560" cy="274320"/>
          </a:xfrm>
          <a:prstGeom prst="rect">
            <a:avLst/>
          </a:prstGeom>
          <a:noFill/>
          <a:ln/>
        </p:spPr>
        <p:txBody>
          <a:bodyPr wrap="square" lIns="0" tIns="0" rIns="0" bIns="0" rtlCol="0" anchor="ctr"/>
          <a:lstStyle/>
          <a:p>
            <a:pPr algn="ctr" indent="0" marL="0">
              <a:buNone/>
            </a:pPr>
            <a:r>
              <a:rPr lang="en-US" sz="1400" b="1" dirty="0">
                <a:solidFill>
                  <a:srgbClr val="16161A"/>
                </a:solidFill>
                <a:latin typeface="Cambria" pitchFamily="34" charset="0"/>
                <a:ea typeface="Cambria" pitchFamily="34" charset="-122"/>
                <a:cs typeface="Cambria" pitchFamily="34" charset="-120"/>
              </a:rPr>
              <a:t>Rakiplerin söyleyemeyecekleri</a:t>
            </a:r>
            <a:endParaRPr lang="en-US" sz="1400" dirty="0"/>
          </a:p>
        </p:txBody>
      </p:sp>
      <p:sp>
        <p:nvSpPr>
          <p:cNvPr id="12" name="Text 10"/>
          <p:cNvSpPr txBox="1"/>
          <p:nvPr/>
        </p:nvSpPr>
        <p:spPr>
          <a:xfrm>
            <a:off x="2711196" y="3639312"/>
            <a:ext cx="6766560" cy="237744"/>
          </a:xfrm>
          <a:prstGeom prst="rect">
            <a:avLst/>
          </a:prstGeom>
          <a:noFill/>
          <a:ln/>
        </p:spPr>
        <p:txBody>
          <a:bodyPr wrap="square" lIns="0" tIns="0" rIns="0" bIns="0" rtlCol="0" anchor="ctr"/>
          <a:lstStyle/>
          <a:p>
            <a:pPr algn="ctr" indent="0" marL="0">
              <a:buNone/>
            </a:pPr>
            <a:r>
              <a:rPr lang="en-US" sz="1000" dirty="0">
                <a:solidFill>
                  <a:srgbClr val="7A7A82"/>
                </a:solidFill>
                <a:latin typeface="Calibri" pitchFamily="34" charset="0"/>
                <a:ea typeface="Calibri" pitchFamily="34" charset="-122"/>
                <a:cs typeface="Calibri" pitchFamily="34" charset="-120"/>
              </a:rPr>
              <a:t>herkesin söylediği sıfatlar elenir</a:t>
            </a:r>
            <a:endParaRPr lang="en-US" sz="1000" dirty="0"/>
          </a:p>
        </p:txBody>
      </p:sp>
      <p:sp>
        <p:nvSpPr>
          <p:cNvPr id="13" name="Shape 11"/>
          <p:cNvSpPr/>
          <p:nvPr/>
        </p:nvSpPr>
        <p:spPr>
          <a:xfrm>
            <a:off x="6094476" y="3931920"/>
            <a:ext cx="0" cy="228600"/>
          </a:xfrm>
          <a:prstGeom prst="line">
            <a:avLst/>
          </a:prstGeom>
          <a:noFill/>
          <a:ln w="19050">
            <a:solidFill>
              <a:srgbClr val="8C3A2B"/>
            </a:solidFill>
            <a:prstDash val="solid"/>
            <a:tailEnd type="triangle"/>
          </a:ln>
        </p:spPr>
      </p:sp>
      <p:sp>
        <p:nvSpPr>
          <p:cNvPr id="14" name="Shape 12"/>
          <p:cNvSpPr/>
          <p:nvPr/>
        </p:nvSpPr>
        <p:spPr>
          <a:xfrm>
            <a:off x="3808476" y="4206240"/>
            <a:ext cx="4572000" cy="603504"/>
          </a:xfrm>
          <a:prstGeom prst="rect">
            <a:avLst/>
          </a:prstGeom>
          <a:ln w="9525">
            <a:solidFill>
              <a:srgbClr val="C9C9CF"/>
            </a:solidFill>
            <a:prstDash val="solid"/>
          </a:ln>
        </p:spPr>
      </p:sp>
      <p:sp>
        <p:nvSpPr>
          <p:cNvPr id="15" name="Text 13"/>
          <p:cNvSpPr txBox="1"/>
          <p:nvPr/>
        </p:nvSpPr>
        <p:spPr>
          <a:xfrm>
            <a:off x="3991356" y="4279392"/>
            <a:ext cx="4206240" cy="274320"/>
          </a:xfrm>
          <a:prstGeom prst="rect">
            <a:avLst/>
          </a:prstGeom>
          <a:noFill/>
          <a:ln/>
        </p:spPr>
        <p:txBody>
          <a:bodyPr wrap="square" lIns="0" tIns="0" rIns="0" bIns="0" rtlCol="0" anchor="ctr"/>
          <a:lstStyle/>
          <a:p>
            <a:pPr algn="ctr" indent="0" marL="0">
              <a:buNone/>
            </a:pPr>
            <a:r>
              <a:rPr lang="en-US" sz="1400" b="1" dirty="0">
                <a:solidFill>
                  <a:srgbClr val="16161A"/>
                </a:solidFill>
                <a:latin typeface="Cambria" pitchFamily="34" charset="0"/>
                <a:ea typeface="Cambria" pitchFamily="34" charset="-122"/>
                <a:cs typeface="Cambria" pitchFamily="34" charset="-120"/>
              </a:rPr>
              <a:t>Mekânda karşılığı olanlar</a:t>
            </a:r>
            <a:endParaRPr lang="en-US" sz="1400" dirty="0"/>
          </a:p>
        </p:txBody>
      </p:sp>
      <p:sp>
        <p:nvSpPr>
          <p:cNvPr id="16" name="Text 14"/>
          <p:cNvSpPr txBox="1"/>
          <p:nvPr/>
        </p:nvSpPr>
        <p:spPr>
          <a:xfrm>
            <a:off x="3991356" y="4553712"/>
            <a:ext cx="4206240" cy="237744"/>
          </a:xfrm>
          <a:prstGeom prst="rect">
            <a:avLst/>
          </a:prstGeom>
          <a:noFill/>
          <a:ln/>
        </p:spPr>
        <p:txBody>
          <a:bodyPr wrap="square" lIns="0" tIns="0" rIns="0" bIns="0" rtlCol="0" anchor="ctr"/>
          <a:lstStyle/>
          <a:p>
            <a:pPr algn="ctr" indent="0" marL="0">
              <a:buNone/>
            </a:pPr>
            <a:r>
              <a:rPr lang="en-US" sz="1000" dirty="0">
                <a:solidFill>
                  <a:srgbClr val="7A7A82"/>
                </a:solidFill>
                <a:latin typeface="Calibri" pitchFamily="34" charset="0"/>
                <a:ea typeface="Calibri" pitchFamily="34" charset="-122"/>
                <a:cs typeface="Calibri" pitchFamily="34" charset="-120"/>
              </a:rPr>
              <a:t>bir ölçüye, malzemeye, ilişkiye çevrilebilenler kalır</a:t>
            </a:r>
            <a:endParaRPr lang="en-US" sz="1000" dirty="0"/>
          </a:p>
        </p:txBody>
      </p:sp>
      <p:sp>
        <p:nvSpPr>
          <p:cNvPr id="17" name="Shape 15"/>
          <p:cNvSpPr/>
          <p:nvPr/>
        </p:nvSpPr>
        <p:spPr>
          <a:xfrm>
            <a:off x="6094476" y="4846320"/>
            <a:ext cx="0" cy="228600"/>
          </a:xfrm>
          <a:prstGeom prst="line">
            <a:avLst/>
          </a:prstGeom>
          <a:noFill/>
          <a:ln w="19050">
            <a:solidFill>
              <a:srgbClr val="8C3A2B"/>
            </a:solidFill>
            <a:prstDash val="solid"/>
            <a:tailEnd type="triangle"/>
          </a:ln>
        </p:spPr>
      </p:sp>
      <p:sp>
        <p:nvSpPr>
          <p:cNvPr id="18" name="Shape 16"/>
          <p:cNvSpPr/>
          <p:nvPr/>
        </p:nvSpPr>
        <p:spPr>
          <a:xfrm>
            <a:off x="4082796" y="5120640"/>
            <a:ext cx="4023360" cy="603504"/>
          </a:xfrm>
          <a:prstGeom prst="rect">
            <a:avLst/>
          </a:prstGeom>
          <a:solidFill>
            <a:srgbClr val="F6EAE6"/>
          </a:solidFill>
          <a:ln w="15875">
            <a:solidFill>
              <a:srgbClr val="8C3A2B"/>
            </a:solidFill>
            <a:prstDash val="solid"/>
          </a:ln>
        </p:spPr>
      </p:sp>
      <p:sp>
        <p:nvSpPr>
          <p:cNvPr id="19" name="Text 17"/>
          <p:cNvSpPr txBox="1"/>
          <p:nvPr/>
        </p:nvSpPr>
        <p:spPr>
          <a:xfrm>
            <a:off x="4265676" y="5193792"/>
            <a:ext cx="3657600" cy="274320"/>
          </a:xfrm>
          <a:prstGeom prst="rect">
            <a:avLst/>
          </a:prstGeom>
          <a:noFill/>
          <a:ln/>
        </p:spPr>
        <p:txBody>
          <a:bodyPr wrap="square" lIns="0" tIns="0" rIns="0" bIns="0" rtlCol="0" anchor="ctr"/>
          <a:lstStyle/>
          <a:p>
            <a:pPr algn="ctr" indent="0" marL="0">
              <a:buNone/>
            </a:pPr>
            <a:r>
              <a:rPr lang="en-US" sz="1600" b="1" dirty="0">
                <a:solidFill>
                  <a:srgbClr val="8C3A2B"/>
                </a:solidFill>
                <a:latin typeface="Cambria" pitchFamily="34" charset="0"/>
                <a:ea typeface="Cambria" pitchFamily="34" charset="-122"/>
                <a:cs typeface="Cambria" pitchFamily="34" charset="-120"/>
              </a:rPr>
              <a:t>ÜÇ ANAHTAR KELİME</a:t>
            </a:r>
            <a:endParaRPr lang="en-US" sz="1600" dirty="0"/>
          </a:p>
        </p:txBody>
      </p:sp>
      <p:sp>
        <p:nvSpPr>
          <p:cNvPr id="20" name="Text 18"/>
          <p:cNvSpPr txBox="1"/>
          <p:nvPr/>
        </p:nvSpPr>
        <p:spPr>
          <a:xfrm>
            <a:off x="4265676" y="5468112"/>
            <a:ext cx="3657600" cy="237744"/>
          </a:xfrm>
          <a:prstGeom prst="rect">
            <a:avLst/>
          </a:prstGeom>
          <a:noFill/>
          <a:ln/>
        </p:spPr>
        <p:txBody>
          <a:bodyPr wrap="square" lIns="0" tIns="0" rIns="0" bIns="0" rtlCol="0" anchor="ctr"/>
          <a:lstStyle/>
          <a:p>
            <a:pPr algn="ctr" indent="0" marL="0">
              <a:buNone/>
            </a:pPr>
            <a:r>
              <a:rPr lang="en-US" sz="1000" dirty="0">
                <a:solidFill>
                  <a:srgbClr val="8C3A2B"/>
                </a:solidFill>
                <a:latin typeface="Calibri" pitchFamily="34" charset="0"/>
                <a:ea typeface="Calibri" pitchFamily="34" charset="-122"/>
                <a:cs typeface="Calibri" pitchFamily="34" charset="-120"/>
              </a:rPr>
              <a:t>tasarımın her kararını sınayan üç sıfat</a:t>
            </a:r>
            <a:endParaRPr lang="en-US" sz="1000" dirty="0"/>
          </a:p>
        </p:txBody>
      </p:sp>
      <p:sp>
        <p:nvSpPr>
          <p:cNvPr id="21" name="Text 19"/>
          <p:cNvSpPr txBox="1"/>
          <p:nvPr/>
        </p:nvSpPr>
        <p:spPr>
          <a:xfrm>
            <a:off x="777240" y="5760720"/>
            <a:ext cx="10424160" cy="365760"/>
          </a:xfrm>
          <a:prstGeom prst="rect">
            <a:avLst/>
          </a:prstGeom>
          <a:noFill/>
          <a:ln/>
        </p:spPr>
        <p:txBody>
          <a:bodyPr wrap="square" lIns="0" tIns="0" rIns="0" bIns="0" rtlCol="0" anchor="ctr"/>
          <a:lstStyle/>
          <a:p>
            <a:pPr algn="ctr" indent="0" marL="0">
              <a:lnSpc>
                <a:spcPts val="1200"/>
              </a:lnSpc>
              <a:buNone/>
            </a:pPr>
            <a:r>
              <a:rPr lang="en-US" sz="1300" i="1" dirty="0">
                <a:solidFill>
                  <a:srgbClr val="8C3A2B"/>
                </a:solidFill>
                <a:latin typeface="Cambria" pitchFamily="34" charset="0"/>
                <a:ea typeface="Cambria" pitchFamily="34" charset="-122"/>
                <a:cs typeface="Cambria" pitchFamily="34" charset="-120"/>
              </a:rPr>
              <a:t>Eleme ölçütü hep aynıdır: bu kelime bir mekânsal kararı değiştiriyor mu?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IV · ÇEVİRİ</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Kaçınılması gereken kelimeler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23</a:t>
            </a:r>
            <a:endParaRPr lang="en-US" sz="950" dirty="0"/>
          </a:p>
        </p:txBody>
      </p:sp>
      <p:sp>
        <p:nvSpPr>
          <p:cNvPr id="5" name="Text 3"/>
          <p:cNvSpPr txBox="1"/>
          <p:nvPr/>
        </p:nvSpPr>
        <p:spPr>
          <a:xfrm>
            <a:off x="777240" y="1554480"/>
            <a:ext cx="10634472" cy="658368"/>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Öğrenci paftalarında en sık görülen anahtar kelimeler, hiçbir markayı diğerinden ayırmayan kelimelerdir. Bir sıfatın anahtar kelime sayılabilmesi için basit bir sınav vardır: zıttını bir marka isteyebilir mi?</a:t>
            </a:r>
            <a:endParaRPr lang="en-US" sz="1400" dirty="0"/>
          </a:p>
        </p:txBody>
      </p:sp>
      <p:sp>
        <p:nvSpPr>
          <p:cNvPr id="6" name="Text 4"/>
          <p:cNvSpPr txBox="1"/>
          <p:nvPr/>
        </p:nvSpPr>
        <p:spPr>
          <a:xfrm>
            <a:off x="777240" y="2395728"/>
            <a:ext cx="5029200" cy="274320"/>
          </a:xfrm>
          <a:prstGeom prst="rect">
            <a:avLst/>
          </a:prstGeom>
          <a:noFill/>
          <a:ln/>
        </p:spPr>
        <p:txBody>
          <a:bodyPr wrap="square" lIns="0" tIns="0" rIns="0" bIns="0" rtlCol="0" anchor="ctr"/>
          <a:lstStyle/>
          <a:p>
            <a:pPr algn="l" indent="0" marL="0">
              <a:lnSpc>
                <a:spcPts val="1200"/>
              </a:lnSpc>
              <a:buNone/>
            </a:pPr>
            <a:r>
              <a:rPr lang="en-US" sz="950" b="1" dirty="0">
                <a:solidFill>
                  <a:srgbClr val="7A7A82"/>
                </a:solidFill>
                <a:latin typeface="Calibri" pitchFamily="34" charset="0"/>
                <a:ea typeface="Calibri" pitchFamily="34" charset="-122"/>
                <a:cs typeface="Calibri" pitchFamily="34" charset="-120"/>
              </a:rPr>
              <a:t>SINAVDA KALANLAR</a:t>
            </a:r>
            <a:endParaRPr lang="en-US" sz="950" dirty="0"/>
          </a:p>
        </p:txBody>
      </p:sp>
      <p:sp>
        <p:nvSpPr>
          <p:cNvPr id="7" name="Text 5"/>
          <p:cNvSpPr txBox="1"/>
          <p:nvPr/>
        </p:nvSpPr>
        <p:spPr>
          <a:xfrm>
            <a:off x="777240" y="2724912"/>
            <a:ext cx="1920240" cy="274320"/>
          </a:xfrm>
          <a:prstGeom prst="rect">
            <a:avLst/>
          </a:prstGeom>
          <a:noFill/>
          <a:ln/>
        </p:spPr>
        <p:txBody>
          <a:bodyPr wrap="square" lIns="0" tIns="0" rIns="0" bIns="0" rtlCol="0" anchor="ctr"/>
          <a:lstStyle/>
          <a:p>
            <a:pPr indent="0" marL="0">
              <a:buNone/>
            </a:pPr>
            <a:r>
              <a:rPr lang="en-US" sz="1450" strike="sngStrike" dirty="0">
                <a:solidFill>
                  <a:srgbClr val="A6A6AC"/>
                </a:solidFill>
                <a:latin typeface="Cambria" pitchFamily="34" charset="0"/>
                <a:ea typeface="Cambria" pitchFamily="34" charset="-122"/>
                <a:cs typeface="Cambria" pitchFamily="34" charset="-120"/>
              </a:rPr>
              <a:t>Kaliteli</a:t>
            </a:r>
            <a:endParaRPr lang="en-US" sz="1450" dirty="0"/>
          </a:p>
        </p:txBody>
      </p:sp>
      <p:sp>
        <p:nvSpPr>
          <p:cNvPr id="8" name="Text 6"/>
          <p:cNvSpPr txBox="1"/>
          <p:nvPr/>
        </p:nvSpPr>
        <p:spPr>
          <a:xfrm>
            <a:off x="2743200" y="2752344"/>
            <a:ext cx="3063240" cy="411480"/>
          </a:xfrm>
          <a:prstGeom prst="rect">
            <a:avLst/>
          </a:prstGeom>
          <a:noFill/>
          <a:ln/>
        </p:spPr>
        <p:txBody>
          <a:bodyPr wrap="square" lIns="0" tIns="0" rIns="0" bIns="0" rtlCol="0" anchor="ctr"/>
          <a:lstStyle/>
          <a:p>
            <a:pPr indent="0" marL="0">
              <a:lnSpc>
                <a:spcPts val="1250"/>
              </a:lnSpc>
              <a:buNone/>
            </a:pPr>
            <a:r>
              <a:rPr lang="en-US" sz="1000" dirty="0">
                <a:solidFill>
                  <a:srgbClr val="A6A6AC"/>
                </a:solidFill>
                <a:latin typeface="Calibri" pitchFamily="34" charset="0"/>
                <a:ea typeface="Calibri" pitchFamily="34" charset="-122"/>
                <a:cs typeface="Calibri" pitchFamily="34" charset="-120"/>
              </a:rPr>
              <a:t>hiçbir marka kalitesiz olmak istemez</a:t>
            </a:r>
            <a:endParaRPr lang="en-US" sz="1000" dirty="0"/>
          </a:p>
        </p:txBody>
      </p:sp>
      <p:sp>
        <p:nvSpPr>
          <p:cNvPr id="9" name="Text 7"/>
          <p:cNvSpPr txBox="1"/>
          <p:nvPr/>
        </p:nvSpPr>
        <p:spPr>
          <a:xfrm>
            <a:off x="777240" y="3273552"/>
            <a:ext cx="1920240" cy="274320"/>
          </a:xfrm>
          <a:prstGeom prst="rect">
            <a:avLst/>
          </a:prstGeom>
          <a:noFill/>
          <a:ln/>
        </p:spPr>
        <p:txBody>
          <a:bodyPr wrap="square" lIns="0" tIns="0" rIns="0" bIns="0" rtlCol="0" anchor="ctr"/>
          <a:lstStyle/>
          <a:p>
            <a:pPr indent="0" marL="0">
              <a:buNone/>
            </a:pPr>
            <a:r>
              <a:rPr lang="en-US" sz="1450" strike="sngStrike" dirty="0">
                <a:solidFill>
                  <a:srgbClr val="A6A6AC"/>
                </a:solidFill>
                <a:latin typeface="Cambria" pitchFamily="34" charset="0"/>
                <a:ea typeface="Cambria" pitchFamily="34" charset="-122"/>
                <a:cs typeface="Cambria" pitchFamily="34" charset="-120"/>
              </a:rPr>
              <a:t>Modern</a:t>
            </a:r>
            <a:endParaRPr lang="en-US" sz="1450" dirty="0"/>
          </a:p>
        </p:txBody>
      </p:sp>
      <p:sp>
        <p:nvSpPr>
          <p:cNvPr id="10" name="Text 8"/>
          <p:cNvSpPr txBox="1"/>
          <p:nvPr/>
        </p:nvSpPr>
        <p:spPr>
          <a:xfrm>
            <a:off x="2743200" y="3300984"/>
            <a:ext cx="3063240" cy="411480"/>
          </a:xfrm>
          <a:prstGeom prst="rect">
            <a:avLst/>
          </a:prstGeom>
          <a:noFill/>
          <a:ln/>
        </p:spPr>
        <p:txBody>
          <a:bodyPr wrap="square" lIns="0" tIns="0" rIns="0" bIns="0" rtlCol="0" anchor="ctr"/>
          <a:lstStyle/>
          <a:p>
            <a:pPr indent="0" marL="0">
              <a:lnSpc>
                <a:spcPts val="1250"/>
              </a:lnSpc>
              <a:buNone/>
            </a:pPr>
            <a:r>
              <a:rPr lang="en-US" sz="1000" dirty="0">
                <a:solidFill>
                  <a:srgbClr val="A6A6AC"/>
                </a:solidFill>
                <a:latin typeface="Calibri" pitchFamily="34" charset="0"/>
                <a:ea typeface="Calibri" pitchFamily="34" charset="-122"/>
                <a:cs typeface="Calibri" pitchFamily="34" charset="-120"/>
              </a:rPr>
              <a:t>hangi modernlik? tarih mi, tavır mı?</a:t>
            </a:r>
            <a:endParaRPr lang="en-US" sz="1000" dirty="0"/>
          </a:p>
        </p:txBody>
      </p:sp>
      <p:sp>
        <p:nvSpPr>
          <p:cNvPr id="11" name="Text 9"/>
          <p:cNvSpPr txBox="1"/>
          <p:nvPr/>
        </p:nvSpPr>
        <p:spPr>
          <a:xfrm>
            <a:off x="777240" y="3822192"/>
            <a:ext cx="1920240" cy="274320"/>
          </a:xfrm>
          <a:prstGeom prst="rect">
            <a:avLst/>
          </a:prstGeom>
          <a:noFill/>
          <a:ln/>
        </p:spPr>
        <p:txBody>
          <a:bodyPr wrap="square" lIns="0" tIns="0" rIns="0" bIns="0" rtlCol="0" anchor="ctr"/>
          <a:lstStyle/>
          <a:p>
            <a:pPr indent="0" marL="0">
              <a:buNone/>
            </a:pPr>
            <a:r>
              <a:rPr lang="en-US" sz="1450" strike="sngStrike" dirty="0">
                <a:solidFill>
                  <a:srgbClr val="A6A6AC"/>
                </a:solidFill>
                <a:latin typeface="Cambria" pitchFamily="34" charset="0"/>
                <a:ea typeface="Cambria" pitchFamily="34" charset="-122"/>
                <a:cs typeface="Cambria" pitchFamily="34" charset="-120"/>
              </a:rPr>
              <a:t>Özel</a:t>
            </a:r>
            <a:endParaRPr lang="en-US" sz="1450" dirty="0"/>
          </a:p>
        </p:txBody>
      </p:sp>
      <p:sp>
        <p:nvSpPr>
          <p:cNvPr id="12" name="Text 10"/>
          <p:cNvSpPr txBox="1"/>
          <p:nvPr/>
        </p:nvSpPr>
        <p:spPr>
          <a:xfrm>
            <a:off x="2743200" y="3849624"/>
            <a:ext cx="3063240" cy="411480"/>
          </a:xfrm>
          <a:prstGeom prst="rect">
            <a:avLst/>
          </a:prstGeom>
          <a:noFill/>
          <a:ln/>
        </p:spPr>
        <p:txBody>
          <a:bodyPr wrap="square" lIns="0" tIns="0" rIns="0" bIns="0" rtlCol="0" anchor="ctr"/>
          <a:lstStyle/>
          <a:p>
            <a:pPr indent="0" marL="0">
              <a:lnSpc>
                <a:spcPts val="1250"/>
              </a:lnSpc>
              <a:buNone/>
            </a:pPr>
            <a:r>
              <a:rPr lang="en-US" sz="1000" dirty="0">
                <a:solidFill>
                  <a:srgbClr val="A6A6AC"/>
                </a:solidFill>
                <a:latin typeface="Calibri" pitchFamily="34" charset="0"/>
                <a:ea typeface="Calibri" pitchFamily="34" charset="-122"/>
                <a:cs typeface="Calibri" pitchFamily="34" charset="-120"/>
              </a:rPr>
              <a:t>kime göre, neye göre özel?</a:t>
            </a:r>
            <a:endParaRPr lang="en-US" sz="1000" dirty="0"/>
          </a:p>
        </p:txBody>
      </p:sp>
      <p:sp>
        <p:nvSpPr>
          <p:cNvPr id="13" name="Text 11"/>
          <p:cNvSpPr txBox="1"/>
          <p:nvPr/>
        </p:nvSpPr>
        <p:spPr>
          <a:xfrm>
            <a:off x="777240" y="4370832"/>
            <a:ext cx="1920240" cy="274320"/>
          </a:xfrm>
          <a:prstGeom prst="rect">
            <a:avLst/>
          </a:prstGeom>
          <a:noFill/>
          <a:ln/>
        </p:spPr>
        <p:txBody>
          <a:bodyPr wrap="square" lIns="0" tIns="0" rIns="0" bIns="0" rtlCol="0" anchor="ctr"/>
          <a:lstStyle/>
          <a:p>
            <a:pPr indent="0" marL="0">
              <a:buNone/>
            </a:pPr>
            <a:r>
              <a:rPr lang="en-US" sz="1450" strike="sngStrike" dirty="0">
                <a:solidFill>
                  <a:srgbClr val="A6A6AC"/>
                </a:solidFill>
                <a:latin typeface="Cambria" pitchFamily="34" charset="0"/>
                <a:ea typeface="Cambria" pitchFamily="34" charset="-122"/>
                <a:cs typeface="Cambria" pitchFamily="34" charset="-120"/>
              </a:rPr>
              <a:t>Şık</a:t>
            </a:r>
            <a:endParaRPr lang="en-US" sz="1450" dirty="0"/>
          </a:p>
        </p:txBody>
      </p:sp>
      <p:sp>
        <p:nvSpPr>
          <p:cNvPr id="14" name="Text 12"/>
          <p:cNvSpPr txBox="1"/>
          <p:nvPr/>
        </p:nvSpPr>
        <p:spPr>
          <a:xfrm>
            <a:off x="2743200" y="4398264"/>
            <a:ext cx="3063240" cy="411480"/>
          </a:xfrm>
          <a:prstGeom prst="rect">
            <a:avLst/>
          </a:prstGeom>
          <a:noFill/>
          <a:ln/>
        </p:spPr>
        <p:txBody>
          <a:bodyPr wrap="square" lIns="0" tIns="0" rIns="0" bIns="0" rtlCol="0" anchor="ctr"/>
          <a:lstStyle/>
          <a:p>
            <a:pPr indent="0" marL="0">
              <a:lnSpc>
                <a:spcPts val="1250"/>
              </a:lnSpc>
              <a:buNone/>
            </a:pPr>
            <a:r>
              <a:rPr lang="en-US" sz="1000" dirty="0">
                <a:solidFill>
                  <a:srgbClr val="A6A6AC"/>
                </a:solidFill>
                <a:latin typeface="Calibri" pitchFamily="34" charset="0"/>
                <a:ea typeface="Calibri" pitchFamily="34" charset="-122"/>
                <a:cs typeface="Calibri" pitchFamily="34" charset="-120"/>
              </a:rPr>
              <a:t>ölçüye çevrilemez</a:t>
            </a:r>
            <a:endParaRPr lang="en-US" sz="1000" dirty="0"/>
          </a:p>
        </p:txBody>
      </p:sp>
      <p:sp>
        <p:nvSpPr>
          <p:cNvPr id="15" name="Text 13"/>
          <p:cNvSpPr txBox="1"/>
          <p:nvPr/>
        </p:nvSpPr>
        <p:spPr>
          <a:xfrm>
            <a:off x="777240" y="4919472"/>
            <a:ext cx="1920240" cy="274320"/>
          </a:xfrm>
          <a:prstGeom prst="rect">
            <a:avLst/>
          </a:prstGeom>
          <a:noFill/>
          <a:ln/>
        </p:spPr>
        <p:txBody>
          <a:bodyPr wrap="square" lIns="0" tIns="0" rIns="0" bIns="0" rtlCol="0" anchor="ctr"/>
          <a:lstStyle/>
          <a:p>
            <a:pPr indent="0" marL="0">
              <a:buNone/>
            </a:pPr>
            <a:r>
              <a:rPr lang="en-US" sz="1450" strike="sngStrike" dirty="0">
                <a:solidFill>
                  <a:srgbClr val="A6A6AC"/>
                </a:solidFill>
                <a:latin typeface="Cambria" pitchFamily="34" charset="0"/>
                <a:ea typeface="Cambria" pitchFamily="34" charset="-122"/>
                <a:cs typeface="Cambria" pitchFamily="34" charset="-120"/>
              </a:rPr>
              <a:t>Müşteri odaklı</a:t>
            </a:r>
            <a:endParaRPr lang="en-US" sz="1450" dirty="0"/>
          </a:p>
        </p:txBody>
      </p:sp>
      <p:sp>
        <p:nvSpPr>
          <p:cNvPr id="16" name="Text 14"/>
          <p:cNvSpPr txBox="1"/>
          <p:nvPr/>
        </p:nvSpPr>
        <p:spPr>
          <a:xfrm>
            <a:off x="2743200" y="4946904"/>
            <a:ext cx="3063240" cy="411480"/>
          </a:xfrm>
          <a:prstGeom prst="rect">
            <a:avLst/>
          </a:prstGeom>
          <a:noFill/>
          <a:ln/>
        </p:spPr>
        <p:txBody>
          <a:bodyPr wrap="square" lIns="0" tIns="0" rIns="0" bIns="0" rtlCol="0" anchor="ctr"/>
          <a:lstStyle/>
          <a:p>
            <a:pPr indent="0" marL="0">
              <a:lnSpc>
                <a:spcPts val="1250"/>
              </a:lnSpc>
              <a:buNone/>
            </a:pPr>
            <a:r>
              <a:rPr lang="en-US" sz="1000" dirty="0">
                <a:solidFill>
                  <a:srgbClr val="A6A6AC"/>
                </a:solidFill>
                <a:latin typeface="Calibri" pitchFamily="34" charset="0"/>
                <a:ea typeface="Calibri" pitchFamily="34" charset="-122"/>
                <a:cs typeface="Calibri" pitchFamily="34" charset="-120"/>
              </a:rPr>
              <a:t>bir mekân kararı üretmez</a:t>
            </a:r>
            <a:endParaRPr lang="en-US" sz="1000" dirty="0"/>
          </a:p>
        </p:txBody>
      </p:sp>
      <p:sp>
        <p:nvSpPr>
          <p:cNvPr id="17" name="Text 15"/>
          <p:cNvSpPr txBox="1"/>
          <p:nvPr/>
        </p:nvSpPr>
        <p:spPr>
          <a:xfrm>
            <a:off x="6382512" y="2395728"/>
            <a:ext cx="5029200" cy="274320"/>
          </a:xfrm>
          <a:prstGeom prst="rect">
            <a:avLst/>
          </a:prstGeom>
          <a:noFill/>
          <a:ln/>
        </p:spPr>
        <p:txBody>
          <a:bodyPr wrap="square" lIns="0" tIns="0" rIns="0" bIns="0" rtlCol="0" anchor="ctr"/>
          <a:lstStyle/>
          <a:p>
            <a:pPr algn="l" indent="0" marL="0">
              <a:lnSpc>
                <a:spcPts val="1200"/>
              </a:lnSpc>
              <a:buNone/>
            </a:pPr>
            <a:r>
              <a:rPr lang="en-US" sz="950" b="1" dirty="0">
                <a:solidFill>
                  <a:srgbClr val="8C3A2B"/>
                </a:solidFill>
                <a:latin typeface="Calibri" pitchFamily="34" charset="0"/>
                <a:ea typeface="Calibri" pitchFamily="34" charset="-122"/>
                <a:cs typeface="Calibri" pitchFamily="34" charset="-120"/>
              </a:rPr>
              <a:t>SINAVI GEÇENLER</a:t>
            </a:r>
            <a:endParaRPr lang="en-US" sz="950" dirty="0"/>
          </a:p>
        </p:txBody>
      </p:sp>
      <p:sp>
        <p:nvSpPr>
          <p:cNvPr id="18" name="Text 16"/>
          <p:cNvSpPr txBox="1"/>
          <p:nvPr/>
        </p:nvSpPr>
        <p:spPr>
          <a:xfrm>
            <a:off x="6382512" y="2724912"/>
            <a:ext cx="1508760" cy="274320"/>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Ham</a:t>
            </a:r>
            <a:endParaRPr lang="en-US" sz="1450" dirty="0"/>
          </a:p>
        </p:txBody>
      </p:sp>
      <p:sp>
        <p:nvSpPr>
          <p:cNvPr id="19" name="Text 17"/>
          <p:cNvSpPr txBox="1"/>
          <p:nvPr/>
        </p:nvSpPr>
        <p:spPr>
          <a:xfrm>
            <a:off x="7936992" y="2752344"/>
            <a:ext cx="3474720" cy="411480"/>
          </a:xfrm>
          <a:prstGeom prst="rect">
            <a:avLst/>
          </a:prstGeom>
          <a:noFill/>
          <a:ln/>
        </p:spPr>
        <p:txBody>
          <a:bodyPr wrap="square" lIns="0" tIns="0" rIns="0" bIns="0" rtlCol="0" anchor="ctr"/>
          <a:lstStyle/>
          <a:p>
            <a:pPr indent="0" marL="0">
              <a:lnSpc>
                <a:spcPts val="1250"/>
              </a:lnSpc>
              <a:buNone/>
            </a:pPr>
            <a:r>
              <a:rPr lang="en-US" sz="1000" dirty="0">
                <a:solidFill>
                  <a:srgbClr val="2B2B31"/>
                </a:solidFill>
                <a:latin typeface="Calibri" pitchFamily="34" charset="0"/>
                <a:ea typeface="Calibri" pitchFamily="34" charset="-122"/>
                <a:cs typeface="Calibri" pitchFamily="34" charset="-120"/>
              </a:rPr>
              <a:t>zıttı işlenmiş — ikisi de tercih edilebilir</a:t>
            </a:r>
            <a:endParaRPr lang="en-US" sz="1000" dirty="0"/>
          </a:p>
        </p:txBody>
      </p:sp>
      <p:sp>
        <p:nvSpPr>
          <p:cNvPr id="20" name="Text 18"/>
          <p:cNvSpPr txBox="1"/>
          <p:nvPr/>
        </p:nvSpPr>
        <p:spPr>
          <a:xfrm>
            <a:off x="6382512" y="3273552"/>
            <a:ext cx="1508760" cy="274320"/>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Yavaş</a:t>
            </a:r>
            <a:endParaRPr lang="en-US" sz="1450" dirty="0"/>
          </a:p>
        </p:txBody>
      </p:sp>
      <p:sp>
        <p:nvSpPr>
          <p:cNvPr id="21" name="Text 19"/>
          <p:cNvSpPr txBox="1"/>
          <p:nvPr/>
        </p:nvSpPr>
        <p:spPr>
          <a:xfrm>
            <a:off x="7936992" y="3300984"/>
            <a:ext cx="3474720" cy="411480"/>
          </a:xfrm>
          <a:prstGeom prst="rect">
            <a:avLst/>
          </a:prstGeom>
          <a:noFill/>
          <a:ln/>
        </p:spPr>
        <p:txBody>
          <a:bodyPr wrap="square" lIns="0" tIns="0" rIns="0" bIns="0" rtlCol="0" anchor="ctr"/>
          <a:lstStyle/>
          <a:p>
            <a:pPr indent="0" marL="0">
              <a:lnSpc>
                <a:spcPts val="1250"/>
              </a:lnSpc>
              <a:buNone/>
            </a:pPr>
            <a:r>
              <a:rPr lang="en-US" sz="1000" dirty="0">
                <a:solidFill>
                  <a:srgbClr val="2B2B31"/>
                </a:solidFill>
                <a:latin typeface="Calibri" pitchFamily="34" charset="0"/>
                <a:ea typeface="Calibri" pitchFamily="34" charset="-122"/>
                <a:cs typeface="Calibri" pitchFamily="34" charset="-120"/>
              </a:rPr>
              <a:t>zıttı hızlı — dolaşımı doğrudan etkiler</a:t>
            </a:r>
            <a:endParaRPr lang="en-US" sz="1000" dirty="0"/>
          </a:p>
        </p:txBody>
      </p:sp>
      <p:sp>
        <p:nvSpPr>
          <p:cNvPr id="22" name="Text 20"/>
          <p:cNvSpPr txBox="1"/>
          <p:nvPr/>
        </p:nvSpPr>
        <p:spPr>
          <a:xfrm>
            <a:off x="6382512" y="3822192"/>
            <a:ext cx="1508760" cy="274320"/>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Yoğun</a:t>
            </a:r>
            <a:endParaRPr lang="en-US" sz="1450" dirty="0"/>
          </a:p>
        </p:txBody>
      </p:sp>
      <p:sp>
        <p:nvSpPr>
          <p:cNvPr id="23" name="Text 21"/>
          <p:cNvSpPr txBox="1"/>
          <p:nvPr/>
        </p:nvSpPr>
        <p:spPr>
          <a:xfrm>
            <a:off x="7936992" y="3849624"/>
            <a:ext cx="3474720" cy="411480"/>
          </a:xfrm>
          <a:prstGeom prst="rect">
            <a:avLst/>
          </a:prstGeom>
          <a:noFill/>
          <a:ln/>
        </p:spPr>
        <p:txBody>
          <a:bodyPr wrap="square" lIns="0" tIns="0" rIns="0" bIns="0" rtlCol="0" anchor="ctr"/>
          <a:lstStyle/>
          <a:p>
            <a:pPr indent="0" marL="0">
              <a:lnSpc>
                <a:spcPts val="1250"/>
              </a:lnSpc>
              <a:buNone/>
            </a:pPr>
            <a:r>
              <a:rPr lang="en-US" sz="1000" dirty="0">
                <a:solidFill>
                  <a:srgbClr val="2B2B31"/>
                </a:solidFill>
                <a:latin typeface="Calibri" pitchFamily="34" charset="0"/>
                <a:ea typeface="Calibri" pitchFamily="34" charset="-122"/>
                <a:cs typeface="Calibri" pitchFamily="34" charset="-120"/>
              </a:rPr>
              <a:t>zıttı seyrek — teşhir sıklığını belirler</a:t>
            </a:r>
            <a:endParaRPr lang="en-US" sz="1000" dirty="0"/>
          </a:p>
        </p:txBody>
      </p:sp>
      <p:sp>
        <p:nvSpPr>
          <p:cNvPr id="24" name="Text 22"/>
          <p:cNvSpPr txBox="1"/>
          <p:nvPr/>
        </p:nvSpPr>
        <p:spPr>
          <a:xfrm>
            <a:off x="6382512" y="4370832"/>
            <a:ext cx="1508760" cy="274320"/>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Gizli</a:t>
            </a:r>
            <a:endParaRPr lang="en-US" sz="1450" dirty="0"/>
          </a:p>
        </p:txBody>
      </p:sp>
      <p:sp>
        <p:nvSpPr>
          <p:cNvPr id="25" name="Text 23"/>
          <p:cNvSpPr txBox="1"/>
          <p:nvPr/>
        </p:nvSpPr>
        <p:spPr>
          <a:xfrm>
            <a:off x="7936992" y="4398264"/>
            <a:ext cx="3474720" cy="411480"/>
          </a:xfrm>
          <a:prstGeom prst="rect">
            <a:avLst/>
          </a:prstGeom>
          <a:noFill/>
          <a:ln/>
        </p:spPr>
        <p:txBody>
          <a:bodyPr wrap="square" lIns="0" tIns="0" rIns="0" bIns="0" rtlCol="0" anchor="ctr"/>
          <a:lstStyle/>
          <a:p>
            <a:pPr indent="0" marL="0">
              <a:lnSpc>
                <a:spcPts val="1250"/>
              </a:lnSpc>
              <a:buNone/>
            </a:pPr>
            <a:r>
              <a:rPr lang="en-US" sz="1000" dirty="0">
                <a:solidFill>
                  <a:srgbClr val="2B2B31"/>
                </a:solidFill>
                <a:latin typeface="Calibri" pitchFamily="34" charset="0"/>
                <a:ea typeface="Calibri" pitchFamily="34" charset="-122"/>
                <a:cs typeface="Calibri" pitchFamily="34" charset="-120"/>
              </a:rPr>
              <a:t>zıttı açık — görüş hatlarını kurar</a:t>
            </a:r>
            <a:endParaRPr lang="en-US" sz="1000" dirty="0"/>
          </a:p>
        </p:txBody>
      </p:sp>
      <p:sp>
        <p:nvSpPr>
          <p:cNvPr id="26" name="Text 24"/>
          <p:cNvSpPr txBox="1"/>
          <p:nvPr/>
        </p:nvSpPr>
        <p:spPr>
          <a:xfrm>
            <a:off x="6382512" y="4919472"/>
            <a:ext cx="1508760" cy="274320"/>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Törensel</a:t>
            </a:r>
            <a:endParaRPr lang="en-US" sz="1450" dirty="0"/>
          </a:p>
        </p:txBody>
      </p:sp>
      <p:sp>
        <p:nvSpPr>
          <p:cNvPr id="27" name="Text 25"/>
          <p:cNvSpPr txBox="1"/>
          <p:nvPr/>
        </p:nvSpPr>
        <p:spPr>
          <a:xfrm>
            <a:off x="7936992" y="4946904"/>
            <a:ext cx="3474720" cy="411480"/>
          </a:xfrm>
          <a:prstGeom prst="rect">
            <a:avLst/>
          </a:prstGeom>
          <a:noFill/>
          <a:ln/>
        </p:spPr>
        <p:txBody>
          <a:bodyPr wrap="square" lIns="0" tIns="0" rIns="0" bIns="0" rtlCol="0" anchor="ctr"/>
          <a:lstStyle/>
          <a:p>
            <a:pPr indent="0" marL="0">
              <a:lnSpc>
                <a:spcPts val="1250"/>
              </a:lnSpc>
              <a:buNone/>
            </a:pPr>
            <a:r>
              <a:rPr lang="en-US" sz="1000" dirty="0">
                <a:solidFill>
                  <a:srgbClr val="2B2B31"/>
                </a:solidFill>
                <a:latin typeface="Calibri" pitchFamily="34" charset="0"/>
                <a:ea typeface="Calibri" pitchFamily="34" charset="-122"/>
                <a:cs typeface="Calibri" pitchFamily="34" charset="-120"/>
              </a:rPr>
              <a:t>zıttı gündelik — kasa ve paketlemeyi değiştirir</a:t>
            </a:r>
            <a:endParaRPr lang="en-US" sz="1000" dirty="0"/>
          </a:p>
        </p:txBody>
      </p:sp>
      <p:sp>
        <p:nvSpPr>
          <p:cNvPr id="28" name="Shape 26"/>
          <p:cNvSpPr/>
          <p:nvPr/>
        </p:nvSpPr>
        <p:spPr>
          <a:xfrm>
            <a:off x="5989320" y="2377440"/>
            <a:ext cx="0" cy="3154680"/>
          </a:xfrm>
          <a:prstGeom prst="line">
            <a:avLst/>
          </a:prstGeom>
          <a:noFill/>
          <a:ln w="9525">
            <a:solidFill>
              <a:srgbClr val="C9C9CF"/>
            </a:solidFill>
            <a:prstDash val="solid"/>
          </a:ln>
        </p:spPr>
      </p:sp>
      <p:sp>
        <p:nvSpPr>
          <p:cNvPr id="29" name="Shape 27"/>
          <p:cNvSpPr/>
          <p:nvPr/>
        </p:nvSpPr>
        <p:spPr>
          <a:xfrm>
            <a:off x="777240" y="5623560"/>
            <a:ext cx="10634472" cy="566928"/>
          </a:xfrm>
          <a:prstGeom prst="rect">
            <a:avLst/>
          </a:prstGeom>
          <a:solidFill>
            <a:srgbClr val="F6EAE6"/>
          </a:solidFill>
          <a:ln w="15875">
            <a:solidFill>
              <a:srgbClr val="8C3A2B"/>
            </a:solidFill>
            <a:prstDash val="solid"/>
          </a:ln>
        </p:spPr>
      </p:sp>
      <p:sp>
        <p:nvSpPr>
          <p:cNvPr id="30" name="Text 28"/>
          <p:cNvSpPr txBox="1"/>
          <p:nvPr/>
        </p:nvSpPr>
        <p:spPr>
          <a:xfrm>
            <a:off x="1005840" y="5705856"/>
            <a:ext cx="10149840" cy="41148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SINAV:  Bu sıfatın zıttını bilinçli olarak seçen bir marka olabilir mi?  Olamıyorsa, o sıfat anahtar kelime değildir.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1371600"/>
            <a:ext cx="3108960" cy="2377440"/>
          </a:xfrm>
          <a:prstGeom prst="rect">
            <a:avLst/>
          </a:prstGeom>
          <a:noFill/>
          <a:ln/>
        </p:spPr>
        <p:txBody>
          <a:bodyPr wrap="square" lIns="0" tIns="0" rIns="0" bIns="0" rtlCol="0" anchor="ctr"/>
          <a:lstStyle/>
          <a:p>
            <a:pPr indent="0" marL="0">
              <a:buNone/>
            </a:pPr>
            <a:r>
              <a:rPr lang="en-US" sz="13000" b="1" dirty="0">
                <a:solidFill>
                  <a:srgbClr val="8C3A2B"/>
                </a:solidFill>
                <a:latin typeface="Cambria" pitchFamily="34" charset="0"/>
                <a:ea typeface="Cambria" pitchFamily="34" charset="-122"/>
                <a:cs typeface="Cambria" pitchFamily="34" charset="-120"/>
              </a:rPr>
              <a:t>V</a:t>
            </a:r>
            <a:endParaRPr lang="en-US" sz="13000" dirty="0"/>
          </a:p>
        </p:txBody>
      </p:sp>
      <p:sp>
        <p:nvSpPr>
          <p:cNvPr id="3" name="Text 1"/>
          <p:cNvSpPr txBox="1"/>
          <p:nvPr/>
        </p:nvSpPr>
        <p:spPr>
          <a:xfrm>
            <a:off x="777240" y="3611880"/>
            <a:ext cx="10424160" cy="132588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Bugün ve bu hafta</a:t>
            </a:r>
            <a:endParaRPr lang="en-US" sz="4000" dirty="0"/>
          </a:p>
        </p:txBody>
      </p:sp>
      <p:sp>
        <p:nvSpPr>
          <p:cNvPr id="4" name="Text 2"/>
          <p:cNvSpPr txBox="1"/>
          <p:nvPr/>
        </p:nvSpPr>
        <p:spPr>
          <a:xfrm>
            <a:off x="777240" y="5029200"/>
            <a:ext cx="9509760" cy="822960"/>
          </a:xfrm>
          <a:prstGeom prst="rect">
            <a:avLst/>
          </a:prstGeom>
          <a:noFill/>
          <a:ln/>
        </p:spPr>
        <p:txBody>
          <a:bodyPr wrap="square" lIns="0" tIns="0" rIns="0" bIns="0" rtlCol="0" anchor="ctr"/>
          <a:lstStyle/>
          <a:p>
            <a:pPr indent="0" marL="0">
              <a:lnSpc>
                <a:spcPts val="2200"/>
              </a:lnSpc>
              <a:buNone/>
            </a:pPr>
            <a:r>
              <a:rPr lang="en-US" sz="1500" dirty="0">
                <a:solidFill>
                  <a:srgbClr val="B9B9C0"/>
                </a:solidFill>
                <a:latin typeface="Calibri" pitchFamily="34" charset="0"/>
                <a:ea typeface="Calibri" pitchFamily="34" charset="-122"/>
                <a:cs typeface="Calibri" pitchFamily="34" charset="-120"/>
              </a:rPr>
              <a:t>Öğrendiğimiz araçları aynı gün içinde bir mağaza üzerinde deneyeceğiz.</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BUGÜN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Günün akışı</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25</a:t>
            </a:r>
            <a:endParaRPr lang="en-US" sz="950" dirty="0"/>
          </a:p>
        </p:txBody>
      </p:sp>
      <p:sp>
        <p:nvSpPr>
          <p:cNvPr id="5" name="Text 3"/>
          <p:cNvSpPr txBox="1"/>
          <p:nvPr/>
        </p:nvSpPr>
        <p:spPr>
          <a:xfrm>
            <a:off x="777240" y="1554480"/>
            <a:ext cx="10634472" cy="5486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Kalan saatlerde iki çalışma yapacağız: önce herkes tek başına bir mağaza görselini okuyacak, sonra aynı görseli okuyanlar bir araya gelip farklarını karşılaştıracak.</a:t>
            </a:r>
            <a:endParaRPr lang="en-US" sz="1400" dirty="0"/>
          </a:p>
        </p:txBody>
      </p:sp>
      <p:sp>
        <p:nvSpPr>
          <p:cNvPr id="6" name="Shape 4"/>
          <p:cNvSpPr/>
          <p:nvPr/>
        </p:nvSpPr>
        <p:spPr>
          <a:xfrm>
            <a:off x="777240" y="2286000"/>
            <a:ext cx="10634472" cy="0"/>
          </a:xfrm>
          <a:prstGeom prst="line">
            <a:avLst/>
          </a:prstGeom>
          <a:noFill/>
          <a:ln w="12700">
            <a:solidFill>
              <a:srgbClr val="C9C9CF"/>
            </a:solidFill>
            <a:prstDash val="solid"/>
          </a:ln>
        </p:spPr>
      </p:sp>
      <p:sp>
        <p:nvSpPr>
          <p:cNvPr id="7" name="Text 5"/>
          <p:cNvSpPr txBox="1"/>
          <p:nvPr/>
        </p:nvSpPr>
        <p:spPr>
          <a:xfrm>
            <a:off x="777240" y="2368296"/>
            <a:ext cx="1371600" cy="274320"/>
          </a:xfrm>
          <a:prstGeom prst="rect">
            <a:avLst/>
          </a:prstGeom>
          <a:noFill/>
          <a:ln/>
        </p:spPr>
        <p:txBody>
          <a:bodyPr wrap="square" lIns="0" tIns="0" rIns="0" bIns="0" rtlCol="0" anchor="ctr"/>
          <a:lstStyle/>
          <a:p>
            <a:pPr indent="0" marL="0">
              <a:buNone/>
            </a:pPr>
            <a:r>
              <a:rPr lang="en-US" sz="1100" b="1" spc="80" kern="0" dirty="0">
                <a:solidFill>
                  <a:srgbClr val="7A7A82"/>
                </a:solidFill>
                <a:latin typeface="Calibri" pitchFamily="34" charset="0"/>
                <a:ea typeface="Calibri" pitchFamily="34" charset="-122"/>
                <a:cs typeface="Calibri" pitchFamily="34" charset="-120"/>
              </a:rPr>
              <a:t>1. saat</a:t>
            </a:r>
            <a:endParaRPr lang="en-US" sz="1100" dirty="0"/>
          </a:p>
        </p:txBody>
      </p:sp>
      <p:sp>
        <p:nvSpPr>
          <p:cNvPr id="8" name="Shape 6"/>
          <p:cNvSpPr/>
          <p:nvPr/>
        </p:nvSpPr>
        <p:spPr>
          <a:xfrm>
            <a:off x="2327148" y="2436876"/>
            <a:ext cx="100584" cy="100584"/>
          </a:xfrm>
          <a:prstGeom prst="ellipse">
            <a:avLst/>
          </a:prstGeom>
          <a:solidFill>
            <a:srgbClr val="B9B9C0"/>
          </a:solidFill>
          <a:ln w="12700">
            <a:solidFill>
              <a:srgbClr val="B9B9C0"/>
            </a:solidFill>
            <a:prstDash val="solid"/>
          </a:ln>
        </p:spPr>
      </p:sp>
      <p:sp>
        <p:nvSpPr>
          <p:cNvPr id="9" name="Text 7"/>
          <p:cNvSpPr txBox="1"/>
          <p:nvPr/>
        </p:nvSpPr>
        <p:spPr>
          <a:xfrm>
            <a:off x="2697480" y="2331720"/>
            <a:ext cx="2926080" cy="292608"/>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Proje brifi</a:t>
            </a:r>
            <a:endParaRPr lang="en-US" sz="1500" dirty="0"/>
          </a:p>
        </p:txBody>
      </p:sp>
      <p:sp>
        <p:nvSpPr>
          <p:cNvPr id="10" name="Text 8"/>
          <p:cNvSpPr txBox="1"/>
          <p:nvPr/>
        </p:nvSpPr>
        <p:spPr>
          <a:xfrm>
            <a:off x="5806440" y="2368296"/>
            <a:ext cx="5577840" cy="292608"/>
          </a:xfrm>
          <a:prstGeom prst="rect">
            <a:avLst/>
          </a:prstGeom>
          <a:noFill/>
          <a:ln/>
        </p:spPr>
        <p:txBody>
          <a:bodyPr wrap="square" lIns="0" tIns="0" rIns="0" bIns="0" rtlCol="0" anchor="ctr"/>
          <a:lstStyle/>
          <a:p>
            <a:pPr indent="0" marL="0">
              <a:buNone/>
            </a:pPr>
            <a:r>
              <a:rPr lang="en-US" sz="1150" dirty="0">
                <a:solidFill>
                  <a:srgbClr val="7A7A82"/>
                </a:solidFill>
                <a:latin typeface="Calibri" pitchFamily="34" charset="0"/>
                <a:ea typeface="Calibri" pitchFamily="34" charset="-122"/>
                <a:cs typeface="Calibri" pitchFamily="34" charset="-120"/>
              </a:rPr>
              <a:t>Ders akışı, teslim takvimi, değerlendirme</a:t>
            </a:r>
            <a:endParaRPr lang="en-US" sz="1150" dirty="0"/>
          </a:p>
        </p:txBody>
      </p:sp>
      <p:sp>
        <p:nvSpPr>
          <p:cNvPr id="11" name="Shape 9"/>
          <p:cNvSpPr/>
          <p:nvPr/>
        </p:nvSpPr>
        <p:spPr>
          <a:xfrm>
            <a:off x="777240" y="2779776"/>
            <a:ext cx="10634472" cy="0"/>
          </a:xfrm>
          <a:prstGeom prst="line">
            <a:avLst/>
          </a:prstGeom>
          <a:noFill/>
          <a:ln w="6350">
            <a:solidFill>
              <a:srgbClr val="EFEFF2"/>
            </a:solidFill>
            <a:prstDash val="solid"/>
          </a:ln>
        </p:spPr>
      </p:sp>
      <p:sp>
        <p:nvSpPr>
          <p:cNvPr id="12" name="Text 10"/>
          <p:cNvSpPr txBox="1"/>
          <p:nvPr/>
        </p:nvSpPr>
        <p:spPr>
          <a:xfrm>
            <a:off x="777240" y="2935224"/>
            <a:ext cx="1371600" cy="274320"/>
          </a:xfrm>
          <a:prstGeom prst="rect">
            <a:avLst/>
          </a:prstGeom>
          <a:noFill/>
          <a:ln/>
        </p:spPr>
        <p:txBody>
          <a:bodyPr wrap="square" lIns="0" tIns="0" rIns="0" bIns="0" rtlCol="0" anchor="ctr"/>
          <a:lstStyle/>
          <a:p>
            <a:pPr indent="0" marL="0">
              <a:buNone/>
            </a:pPr>
            <a:r>
              <a:rPr lang="en-US" sz="1100" b="1" spc="80" kern="0" dirty="0">
                <a:solidFill>
                  <a:srgbClr val="7A7A82"/>
                </a:solidFill>
                <a:latin typeface="Calibri" pitchFamily="34" charset="0"/>
                <a:ea typeface="Calibri" pitchFamily="34" charset="-122"/>
                <a:cs typeface="Calibri" pitchFamily="34" charset="-120"/>
              </a:rPr>
              <a:t>2–3. saat</a:t>
            </a:r>
            <a:endParaRPr lang="en-US" sz="1100" dirty="0"/>
          </a:p>
        </p:txBody>
      </p:sp>
      <p:sp>
        <p:nvSpPr>
          <p:cNvPr id="13" name="Shape 11"/>
          <p:cNvSpPr/>
          <p:nvPr/>
        </p:nvSpPr>
        <p:spPr>
          <a:xfrm>
            <a:off x="2327148" y="3003804"/>
            <a:ext cx="100584" cy="100584"/>
          </a:xfrm>
          <a:prstGeom prst="ellipse">
            <a:avLst/>
          </a:prstGeom>
          <a:solidFill>
            <a:srgbClr val="B9B9C0"/>
          </a:solidFill>
          <a:ln w="12700">
            <a:solidFill>
              <a:srgbClr val="B9B9C0"/>
            </a:solidFill>
            <a:prstDash val="solid"/>
          </a:ln>
        </p:spPr>
      </p:sp>
      <p:sp>
        <p:nvSpPr>
          <p:cNvPr id="14" name="Text 12"/>
          <p:cNvSpPr txBox="1"/>
          <p:nvPr/>
        </p:nvSpPr>
        <p:spPr>
          <a:xfrm>
            <a:off x="2697480" y="2898648"/>
            <a:ext cx="2926080" cy="292608"/>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Bu sunum</a:t>
            </a:r>
            <a:endParaRPr lang="en-US" sz="1500" dirty="0"/>
          </a:p>
        </p:txBody>
      </p:sp>
      <p:sp>
        <p:nvSpPr>
          <p:cNvPr id="15" name="Text 13"/>
          <p:cNvSpPr txBox="1"/>
          <p:nvPr/>
        </p:nvSpPr>
        <p:spPr>
          <a:xfrm>
            <a:off x="5806440" y="2935224"/>
            <a:ext cx="5577840" cy="292608"/>
          </a:xfrm>
          <a:prstGeom prst="rect">
            <a:avLst/>
          </a:prstGeom>
          <a:noFill/>
          <a:ln/>
        </p:spPr>
        <p:txBody>
          <a:bodyPr wrap="square" lIns="0" tIns="0" rIns="0" bIns="0" rtlCol="0" anchor="ctr"/>
          <a:lstStyle/>
          <a:p>
            <a:pPr indent="0" marL="0">
              <a:buNone/>
            </a:pPr>
            <a:r>
              <a:rPr lang="en-US" sz="1150" dirty="0">
                <a:solidFill>
                  <a:srgbClr val="7A7A82"/>
                </a:solidFill>
                <a:latin typeface="Calibri" pitchFamily="34" charset="0"/>
                <a:ea typeface="Calibri" pitchFamily="34" charset="-122"/>
                <a:cs typeface="Calibri" pitchFamily="34" charset="-120"/>
              </a:rPr>
              <a:t>Marka anahtarı ve deneyim araştırması</a:t>
            </a:r>
            <a:endParaRPr lang="en-US" sz="1150" dirty="0"/>
          </a:p>
        </p:txBody>
      </p:sp>
      <p:sp>
        <p:nvSpPr>
          <p:cNvPr id="16" name="Shape 14"/>
          <p:cNvSpPr/>
          <p:nvPr/>
        </p:nvSpPr>
        <p:spPr>
          <a:xfrm>
            <a:off x="777240" y="3346704"/>
            <a:ext cx="10634472" cy="0"/>
          </a:xfrm>
          <a:prstGeom prst="line">
            <a:avLst/>
          </a:prstGeom>
          <a:noFill/>
          <a:ln w="6350">
            <a:solidFill>
              <a:srgbClr val="EFEFF2"/>
            </a:solidFill>
            <a:prstDash val="solid"/>
          </a:ln>
        </p:spPr>
      </p:sp>
      <p:sp>
        <p:nvSpPr>
          <p:cNvPr id="17" name="Text 15"/>
          <p:cNvSpPr txBox="1"/>
          <p:nvPr/>
        </p:nvSpPr>
        <p:spPr>
          <a:xfrm>
            <a:off x="777240" y="3502152"/>
            <a:ext cx="1371600" cy="274320"/>
          </a:xfrm>
          <a:prstGeom prst="rect">
            <a:avLst/>
          </a:prstGeom>
          <a:noFill/>
          <a:ln/>
        </p:spPr>
        <p:txBody>
          <a:bodyPr wrap="square" lIns="0" tIns="0" rIns="0" bIns="0" rtlCol="0" anchor="ctr"/>
          <a:lstStyle/>
          <a:p>
            <a:pPr indent="0" marL="0">
              <a:buNone/>
            </a:pPr>
            <a:r>
              <a:rPr lang="en-US" sz="1100" b="1" spc="80" kern="0" dirty="0">
                <a:solidFill>
                  <a:srgbClr val="8C3A2B"/>
                </a:solidFill>
                <a:latin typeface="Calibri" pitchFamily="34" charset="0"/>
                <a:ea typeface="Calibri" pitchFamily="34" charset="-122"/>
                <a:cs typeface="Calibri" pitchFamily="34" charset="-120"/>
              </a:rPr>
              <a:t>4. saat</a:t>
            </a:r>
            <a:endParaRPr lang="en-US" sz="1100" dirty="0"/>
          </a:p>
        </p:txBody>
      </p:sp>
      <p:sp>
        <p:nvSpPr>
          <p:cNvPr id="18" name="Shape 16"/>
          <p:cNvSpPr/>
          <p:nvPr/>
        </p:nvSpPr>
        <p:spPr>
          <a:xfrm>
            <a:off x="2304288" y="3547872"/>
            <a:ext cx="146304" cy="146304"/>
          </a:xfrm>
          <a:prstGeom prst="ellipse">
            <a:avLst/>
          </a:prstGeom>
          <a:solidFill>
            <a:srgbClr val="8C3A2B"/>
          </a:solidFill>
          <a:ln w="12700">
            <a:solidFill>
              <a:srgbClr val="8C3A2B"/>
            </a:solidFill>
            <a:prstDash val="solid"/>
          </a:ln>
        </p:spPr>
      </p:sp>
      <p:sp>
        <p:nvSpPr>
          <p:cNvPr id="19" name="Text 17"/>
          <p:cNvSpPr txBox="1"/>
          <p:nvPr/>
        </p:nvSpPr>
        <p:spPr>
          <a:xfrm>
            <a:off x="2697480" y="3465576"/>
            <a:ext cx="2926080" cy="292608"/>
          </a:xfrm>
          <a:prstGeom prst="rect">
            <a:avLst/>
          </a:prstGeom>
          <a:noFill/>
          <a:ln/>
        </p:spPr>
        <p:txBody>
          <a:bodyPr wrap="square" lIns="0" tIns="0" rIns="0" bIns="0" rtlCol="0" anchor="ctr"/>
          <a:lstStyle/>
          <a:p>
            <a:pPr indent="0" marL="0">
              <a:buNone/>
            </a:pPr>
            <a:r>
              <a:rPr lang="en-US" sz="1500" b="1" dirty="0">
                <a:solidFill>
                  <a:srgbClr val="8C3A2B"/>
                </a:solidFill>
                <a:latin typeface="Cambria" pitchFamily="34" charset="0"/>
                <a:ea typeface="Cambria" pitchFamily="34" charset="-122"/>
                <a:cs typeface="Cambria" pitchFamily="34" charset="-120"/>
              </a:rPr>
              <a:t>Mağaza okuma</a:t>
            </a:r>
            <a:endParaRPr lang="en-US" sz="1500" dirty="0"/>
          </a:p>
        </p:txBody>
      </p:sp>
      <p:sp>
        <p:nvSpPr>
          <p:cNvPr id="20" name="Text 18"/>
          <p:cNvSpPr txBox="1"/>
          <p:nvPr/>
        </p:nvSpPr>
        <p:spPr>
          <a:xfrm>
            <a:off x="5806440" y="3502152"/>
            <a:ext cx="557784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Bireysel analiz kâğıdı — dört görselden biri</a:t>
            </a:r>
            <a:endParaRPr lang="en-US" sz="1150" dirty="0"/>
          </a:p>
        </p:txBody>
      </p:sp>
      <p:sp>
        <p:nvSpPr>
          <p:cNvPr id="21" name="Shape 19"/>
          <p:cNvSpPr/>
          <p:nvPr/>
        </p:nvSpPr>
        <p:spPr>
          <a:xfrm>
            <a:off x="777240" y="3913632"/>
            <a:ext cx="10634472" cy="0"/>
          </a:xfrm>
          <a:prstGeom prst="line">
            <a:avLst/>
          </a:prstGeom>
          <a:noFill/>
          <a:ln w="6350">
            <a:solidFill>
              <a:srgbClr val="EFEFF2"/>
            </a:solidFill>
            <a:prstDash val="solid"/>
          </a:ln>
        </p:spPr>
      </p:sp>
      <p:sp>
        <p:nvSpPr>
          <p:cNvPr id="22" name="Text 20"/>
          <p:cNvSpPr txBox="1"/>
          <p:nvPr/>
        </p:nvSpPr>
        <p:spPr>
          <a:xfrm>
            <a:off x="777240" y="4069080"/>
            <a:ext cx="1371600" cy="274320"/>
          </a:xfrm>
          <a:prstGeom prst="rect">
            <a:avLst/>
          </a:prstGeom>
          <a:noFill/>
          <a:ln/>
        </p:spPr>
        <p:txBody>
          <a:bodyPr wrap="square" lIns="0" tIns="0" rIns="0" bIns="0" rtlCol="0" anchor="ctr"/>
          <a:lstStyle/>
          <a:p>
            <a:pPr indent="0" marL="0">
              <a:buNone/>
            </a:pPr>
            <a:r>
              <a:rPr lang="en-US" sz="1100" b="1" spc="80" kern="0" dirty="0">
                <a:solidFill>
                  <a:srgbClr val="8C3A2B"/>
                </a:solidFill>
                <a:latin typeface="Calibri" pitchFamily="34" charset="0"/>
                <a:ea typeface="Calibri" pitchFamily="34" charset="-122"/>
                <a:cs typeface="Calibri" pitchFamily="34" charset="-120"/>
              </a:rPr>
              <a:t>5. saat</a:t>
            </a:r>
            <a:endParaRPr lang="en-US" sz="1100" dirty="0"/>
          </a:p>
        </p:txBody>
      </p:sp>
      <p:sp>
        <p:nvSpPr>
          <p:cNvPr id="23" name="Shape 21"/>
          <p:cNvSpPr/>
          <p:nvPr/>
        </p:nvSpPr>
        <p:spPr>
          <a:xfrm>
            <a:off x="2304288" y="4114800"/>
            <a:ext cx="146304" cy="146304"/>
          </a:xfrm>
          <a:prstGeom prst="ellipse">
            <a:avLst/>
          </a:prstGeom>
          <a:solidFill>
            <a:srgbClr val="8C3A2B"/>
          </a:solidFill>
          <a:ln w="12700">
            <a:solidFill>
              <a:srgbClr val="8C3A2B"/>
            </a:solidFill>
            <a:prstDash val="solid"/>
          </a:ln>
        </p:spPr>
      </p:sp>
      <p:sp>
        <p:nvSpPr>
          <p:cNvPr id="24" name="Text 22"/>
          <p:cNvSpPr txBox="1"/>
          <p:nvPr/>
        </p:nvSpPr>
        <p:spPr>
          <a:xfrm>
            <a:off x="2697480" y="4032504"/>
            <a:ext cx="2926080" cy="292608"/>
          </a:xfrm>
          <a:prstGeom prst="rect">
            <a:avLst/>
          </a:prstGeom>
          <a:noFill/>
          <a:ln/>
        </p:spPr>
        <p:txBody>
          <a:bodyPr wrap="square" lIns="0" tIns="0" rIns="0" bIns="0" rtlCol="0" anchor="ctr"/>
          <a:lstStyle/>
          <a:p>
            <a:pPr indent="0" marL="0">
              <a:buNone/>
            </a:pPr>
            <a:r>
              <a:rPr lang="en-US" sz="1500" b="1" dirty="0">
                <a:solidFill>
                  <a:srgbClr val="8C3A2B"/>
                </a:solidFill>
                <a:latin typeface="Cambria" pitchFamily="34" charset="0"/>
                <a:ea typeface="Cambria" pitchFamily="34" charset="-122"/>
                <a:cs typeface="Cambria" pitchFamily="34" charset="-120"/>
              </a:rPr>
              <a:t>Grup oluşturma</a:t>
            </a:r>
            <a:endParaRPr lang="en-US" sz="1500" dirty="0"/>
          </a:p>
        </p:txBody>
      </p:sp>
      <p:sp>
        <p:nvSpPr>
          <p:cNvPr id="25" name="Text 23"/>
          <p:cNvSpPr txBox="1"/>
          <p:nvPr/>
        </p:nvSpPr>
        <p:spPr>
          <a:xfrm>
            <a:off x="5806440" y="4069080"/>
            <a:ext cx="557784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Aynı görseli okuyanlar bir araya gelir</a:t>
            </a:r>
            <a:endParaRPr lang="en-US" sz="1150" dirty="0"/>
          </a:p>
        </p:txBody>
      </p:sp>
      <p:sp>
        <p:nvSpPr>
          <p:cNvPr id="26" name="Shape 24"/>
          <p:cNvSpPr/>
          <p:nvPr/>
        </p:nvSpPr>
        <p:spPr>
          <a:xfrm>
            <a:off x="777240" y="4480560"/>
            <a:ext cx="10634472" cy="0"/>
          </a:xfrm>
          <a:prstGeom prst="line">
            <a:avLst/>
          </a:prstGeom>
          <a:noFill/>
          <a:ln w="6350">
            <a:solidFill>
              <a:srgbClr val="EFEFF2"/>
            </a:solidFill>
            <a:prstDash val="solid"/>
          </a:ln>
        </p:spPr>
      </p:sp>
      <p:sp>
        <p:nvSpPr>
          <p:cNvPr id="27" name="Text 25"/>
          <p:cNvSpPr txBox="1"/>
          <p:nvPr/>
        </p:nvSpPr>
        <p:spPr>
          <a:xfrm>
            <a:off x="777240" y="4636008"/>
            <a:ext cx="1371600" cy="274320"/>
          </a:xfrm>
          <a:prstGeom prst="rect">
            <a:avLst/>
          </a:prstGeom>
          <a:noFill/>
          <a:ln/>
        </p:spPr>
        <p:txBody>
          <a:bodyPr wrap="square" lIns="0" tIns="0" rIns="0" bIns="0" rtlCol="0" anchor="ctr"/>
          <a:lstStyle/>
          <a:p>
            <a:pPr indent="0" marL="0">
              <a:buNone/>
            </a:pPr>
            <a:r>
              <a:rPr lang="en-US" sz="1100" b="1" spc="80" kern="0" dirty="0">
                <a:solidFill>
                  <a:srgbClr val="8C3A2B"/>
                </a:solidFill>
                <a:latin typeface="Calibri" pitchFamily="34" charset="0"/>
                <a:ea typeface="Calibri" pitchFamily="34" charset="-122"/>
                <a:cs typeface="Calibri" pitchFamily="34" charset="-120"/>
              </a:rPr>
              <a:t>6–7. saat</a:t>
            </a:r>
            <a:endParaRPr lang="en-US" sz="1100" dirty="0"/>
          </a:p>
        </p:txBody>
      </p:sp>
      <p:sp>
        <p:nvSpPr>
          <p:cNvPr id="28" name="Shape 26"/>
          <p:cNvSpPr/>
          <p:nvPr/>
        </p:nvSpPr>
        <p:spPr>
          <a:xfrm>
            <a:off x="2304288" y="4681728"/>
            <a:ext cx="146304" cy="146304"/>
          </a:xfrm>
          <a:prstGeom prst="ellipse">
            <a:avLst/>
          </a:prstGeom>
          <a:solidFill>
            <a:srgbClr val="8C3A2B"/>
          </a:solidFill>
          <a:ln w="12700">
            <a:solidFill>
              <a:srgbClr val="8C3A2B"/>
            </a:solidFill>
            <a:prstDash val="solid"/>
          </a:ln>
        </p:spPr>
      </p:sp>
      <p:sp>
        <p:nvSpPr>
          <p:cNvPr id="29" name="Text 27"/>
          <p:cNvSpPr txBox="1"/>
          <p:nvPr/>
        </p:nvSpPr>
        <p:spPr>
          <a:xfrm>
            <a:off x="2697480" y="4599432"/>
            <a:ext cx="2926080" cy="292608"/>
          </a:xfrm>
          <a:prstGeom prst="rect">
            <a:avLst/>
          </a:prstGeom>
          <a:noFill/>
          <a:ln/>
        </p:spPr>
        <p:txBody>
          <a:bodyPr wrap="square" lIns="0" tIns="0" rIns="0" bIns="0" rtlCol="0" anchor="ctr"/>
          <a:lstStyle/>
          <a:p>
            <a:pPr indent="0" marL="0">
              <a:buNone/>
            </a:pPr>
            <a:r>
              <a:rPr lang="en-US" sz="1500" b="1" dirty="0">
                <a:solidFill>
                  <a:srgbClr val="8C3A2B"/>
                </a:solidFill>
                <a:latin typeface="Cambria" pitchFamily="34" charset="0"/>
                <a:ea typeface="Cambria" pitchFamily="34" charset="-122"/>
                <a:cs typeface="Cambria" pitchFamily="34" charset="-120"/>
              </a:rPr>
              <a:t>Grup çalışması</a:t>
            </a:r>
            <a:endParaRPr lang="en-US" sz="1500" dirty="0"/>
          </a:p>
        </p:txBody>
      </p:sp>
      <p:sp>
        <p:nvSpPr>
          <p:cNvPr id="30" name="Text 28"/>
          <p:cNvSpPr txBox="1"/>
          <p:nvPr/>
        </p:nvSpPr>
        <p:spPr>
          <a:xfrm>
            <a:off x="5806440" y="4636008"/>
            <a:ext cx="5577840" cy="292608"/>
          </a:xfrm>
          <a:prstGeom prst="rect">
            <a:avLst/>
          </a:prstGeom>
          <a:noFill/>
          <a:ln/>
        </p:spPr>
        <p:txBody>
          <a:bodyPr wrap="square" lIns="0" tIns="0" rIns="0" bIns="0" rtlCol="0" anchor="ctr"/>
          <a:lstStyle/>
          <a:p>
            <a:pPr indent="0" marL="0">
              <a:buNone/>
            </a:pPr>
            <a:r>
              <a:rPr lang="en-US" sz="1150" dirty="0">
                <a:solidFill>
                  <a:srgbClr val="2B2B31"/>
                </a:solidFill>
                <a:latin typeface="Calibri" pitchFamily="34" charset="0"/>
                <a:ea typeface="Calibri" pitchFamily="34" charset="-122"/>
                <a:cs typeface="Calibri" pitchFamily="34" charset="-120"/>
              </a:rPr>
              <a:t>Farkların karşılaştırılması, ortak sunum</a:t>
            </a:r>
            <a:endParaRPr lang="en-US" sz="1150" dirty="0"/>
          </a:p>
        </p:txBody>
      </p:sp>
      <p:sp>
        <p:nvSpPr>
          <p:cNvPr id="31" name="Shape 29"/>
          <p:cNvSpPr/>
          <p:nvPr/>
        </p:nvSpPr>
        <p:spPr>
          <a:xfrm>
            <a:off x="777240" y="5047488"/>
            <a:ext cx="10634472" cy="0"/>
          </a:xfrm>
          <a:prstGeom prst="line">
            <a:avLst/>
          </a:prstGeom>
          <a:noFill/>
          <a:ln w="6350">
            <a:solidFill>
              <a:srgbClr val="EFEFF2"/>
            </a:solidFill>
            <a:prstDash val="solid"/>
          </a:ln>
        </p:spPr>
      </p:sp>
      <p:sp>
        <p:nvSpPr>
          <p:cNvPr id="32" name="Text 30"/>
          <p:cNvSpPr txBox="1"/>
          <p:nvPr/>
        </p:nvSpPr>
        <p:spPr>
          <a:xfrm>
            <a:off x="777240" y="5202936"/>
            <a:ext cx="1371600" cy="274320"/>
          </a:xfrm>
          <a:prstGeom prst="rect">
            <a:avLst/>
          </a:prstGeom>
          <a:noFill/>
          <a:ln/>
        </p:spPr>
        <p:txBody>
          <a:bodyPr wrap="square" lIns="0" tIns="0" rIns="0" bIns="0" rtlCol="0" anchor="ctr"/>
          <a:lstStyle/>
          <a:p>
            <a:pPr indent="0" marL="0">
              <a:buNone/>
            </a:pPr>
            <a:r>
              <a:rPr lang="en-US" sz="1100" b="1" spc="80" kern="0" dirty="0">
                <a:solidFill>
                  <a:srgbClr val="7A7A82"/>
                </a:solidFill>
                <a:latin typeface="Calibri" pitchFamily="34" charset="0"/>
                <a:ea typeface="Calibri" pitchFamily="34" charset="-122"/>
                <a:cs typeface="Calibri" pitchFamily="34" charset="-120"/>
              </a:rPr>
              <a:t>8. saat</a:t>
            </a:r>
            <a:endParaRPr lang="en-US" sz="1100" dirty="0"/>
          </a:p>
        </p:txBody>
      </p:sp>
      <p:sp>
        <p:nvSpPr>
          <p:cNvPr id="33" name="Shape 31"/>
          <p:cNvSpPr/>
          <p:nvPr/>
        </p:nvSpPr>
        <p:spPr>
          <a:xfrm>
            <a:off x="2327148" y="5271516"/>
            <a:ext cx="100584" cy="100584"/>
          </a:xfrm>
          <a:prstGeom prst="ellipse">
            <a:avLst/>
          </a:prstGeom>
          <a:solidFill>
            <a:srgbClr val="B9B9C0"/>
          </a:solidFill>
          <a:ln w="12700">
            <a:solidFill>
              <a:srgbClr val="B9B9C0"/>
            </a:solidFill>
            <a:prstDash val="solid"/>
          </a:ln>
        </p:spPr>
      </p:sp>
      <p:sp>
        <p:nvSpPr>
          <p:cNvPr id="34" name="Text 32"/>
          <p:cNvSpPr txBox="1"/>
          <p:nvPr/>
        </p:nvSpPr>
        <p:spPr>
          <a:xfrm>
            <a:off x="2697480" y="5166360"/>
            <a:ext cx="2926080" cy="292608"/>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Ödevin verilmesi</a:t>
            </a:r>
            <a:endParaRPr lang="en-US" sz="1500" dirty="0"/>
          </a:p>
        </p:txBody>
      </p:sp>
      <p:sp>
        <p:nvSpPr>
          <p:cNvPr id="35" name="Text 33"/>
          <p:cNvSpPr txBox="1"/>
          <p:nvPr/>
        </p:nvSpPr>
        <p:spPr>
          <a:xfrm>
            <a:off x="5806440" y="5202936"/>
            <a:ext cx="5577840" cy="292608"/>
          </a:xfrm>
          <a:prstGeom prst="rect">
            <a:avLst/>
          </a:prstGeom>
          <a:noFill/>
          <a:ln/>
        </p:spPr>
        <p:txBody>
          <a:bodyPr wrap="square" lIns="0" tIns="0" rIns="0" bIns="0" rtlCol="0" anchor="ctr"/>
          <a:lstStyle/>
          <a:p>
            <a:pPr indent="0" marL="0">
              <a:buNone/>
            </a:pPr>
            <a:r>
              <a:rPr lang="en-US" sz="1150" dirty="0">
                <a:solidFill>
                  <a:srgbClr val="7A7A82"/>
                </a:solidFill>
                <a:latin typeface="Calibri" pitchFamily="34" charset="0"/>
                <a:ea typeface="Calibri" pitchFamily="34" charset="-122"/>
                <a:cs typeface="Calibri" pitchFamily="34" charset="-120"/>
              </a:rPr>
              <a:t>Üç aday marka ve araştırma paftası</a:t>
            </a:r>
            <a:endParaRPr lang="en-US" sz="1150" dirty="0"/>
          </a:p>
        </p:txBody>
      </p:sp>
      <p:sp>
        <p:nvSpPr>
          <p:cNvPr id="36" name="Shape 34"/>
          <p:cNvSpPr/>
          <p:nvPr/>
        </p:nvSpPr>
        <p:spPr>
          <a:xfrm>
            <a:off x="2377440" y="2487168"/>
            <a:ext cx="0" cy="2834640"/>
          </a:xfrm>
          <a:prstGeom prst="line">
            <a:avLst/>
          </a:prstGeom>
          <a:noFill/>
          <a:ln w="9525">
            <a:solidFill>
              <a:srgbClr val="C9C9CF"/>
            </a:solidFill>
            <a:prstDash val="solid"/>
          </a:ln>
        </p:spPr>
      </p:sp>
      <p:sp>
        <p:nvSpPr>
          <p:cNvPr id="37" name="Text 35"/>
          <p:cNvSpPr txBox="1"/>
          <p:nvPr/>
        </p:nvSpPr>
        <p:spPr>
          <a:xfrm>
            <a:off x="777240" y="5852160"/>
            <a:ext cx="10424160" cy="320040"/>
          </a:xfrm>
          <a:prstGeom prst="rect">
            <a:avLst/>
          </a:prstGeom>
          <a:noFill/>
          <a:ln/>
        </p:spPr>
        <p:txBody>
          <a:bodyPr wrap="square" lIns="0" tIns="0" rIns="0" bIns="0" rtlCol="0" anchor="ctr"/>
          <a:lstStyle/>
          <a:p>
            <a:pPr algn="l" indent="0" marL="0">
              <a:lnSpc>
                <a:spcPts val="1200"/>
              </a:lnSpc>
              <a:buNone/>
            </a:pPr>
            <a:r>
              <a:rPr lang="en-US" sz="1150" i="1" dirty="0">
                <a:solidFill>
                  <a:srgbClr val="A6A6AC"/>
                </a:solidFill>
                <a:latin typeface="Cambria" pitchFamily="34" charset="0"/>
                <a:ea typeface="Cambria" pitchFamily="34" charset="-122"/>
                <a:cs typeface="Cambria" pitchFamily="34" charset="-120"/>
              </a:rPr>
              <a:t>Öğle arası ve kısa molalar bu akışın içinde; saatler kesin değil, sıra kesindir.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BUGÜN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Birinci çalışma: bir mağazayı okumak</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26</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Her birinize bir mağaza görseli verilecek. Göreviniz o mağazayı altı başlık altında okumak ve sonunda üç anahtar kelime çıkarmak. Markayı tanımıyorsunuz; yalnızca gördüğünüzden hareket edeceksiniz. Amaç doğru cevabı bulmak değil, gördüğünüzü gerekçelendirebilmek.</a:t>
            </a:r>
            <a:endParaRPr lang="en-US" sz="1400" dirty="0"/>
          </a:p>
        </p:txBody>
      </p:sp>
      <p:sp>
        <p:nvSpPr>
          <p:cNvPr id="6" name="Shape 4"/>
          <p:cNvSpPr/>
          <p:nvPr/>
        </p:nvSpPr>
        <p:spPr>
          <a:xfrm>
            <a:off x="777240" y="2487168"/>
            <a:ext cx="3291840" cy="1024128"/>
          </a:xfrm>
          <a:prstGeom prst="rect">
            <a:avLst/>
          </a:prstGeom>
          <a:ln w="9525">
            <a:solidFill>
              <a:srgbClr val="C9C9CF"/>
            </a:solidFill>
            <a:prstDash val="solid"/>
          </a:ln>
        </p:spPr>
      </p:sp>
      <p:sp>
        <p:nvSpPr>
          <p:cNvPr id="7" name="Shape 5"/>
          <p:cNvSpPr/>
          <p:nvPr/>
        </p:nvSpPr>
        <p:spPr>
          <a:xfrm>
            <a:off x="960120" y="2670048"/>
            <a:ext cx="256032" cy="256032"/>
          </a:xfrm>
          <a:prstGeom prst="ellipse">
            <a:avLst/>
          </a:prstGeom>
          <a:solidFill>
            <a:srgbClr val="8C3A2B"/>
          </a:solidFill>
          <a:ln w="12700">
            <a:solidFill>
              <a:srgbClr val="8C3A2B"/>
            </a:solidFill>
            <a:prstDash val="solid"/>
          </a:ln>
        </p:spPr>
      </p:sp>
      <p:sp>
        <p:nvSpPr>
          <p:cNvPr id="8" name="Text 6"/>
          <p:cNvSpPr txBox="1"/>
          <p:nvPr/>
        </p:nvSpPr>
        <p:spPr>
          <a:xfrm>
            <a:off x="960120" y="2670048"/>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9" name="Text 7"/>
          <p:cNvSpPr txBox="1"/>
          <p:nvPr/>
        </p:nvSpPr>
        <p:spPr>
          <a:xfrm>
            <a:off x="1435608" y="2670048"/>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Marka</a:t>
            </a:r>
            <a:endParaRPr lang="en-US" sz="1500" dirty="0"/>
          </a:p>
        </p:txBody>
      </p:sp>
      <p:sp>
        <p:nvSpPr>
          <p:cNvPr id="10" name="Text 8"/>
          <p:cNvSpPr txBox="1"/>
          <p:nvPr/>
        </p:nvSpPr>
        <p:spPr>
          <a:xfrm>
            <a:off x="996696" y="3017520"/>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Bu mekân hangi markayı anlatıyor? Nasıl bir tavrı var?</a:t>
            </a:r>
            <a:endParaRPr lang="en-US" sz="1050" dirty="0"/>
          </a:p>
        </p:txBody>
      </p:sp>
      <p:sp>
        <p:nvSpPr>
          <p:cNvPr id="11" name="Shape 9"/>
          <p:cNvSpPr/>
          <p:nvPr/>
        </p:nvSpPr>
        <p:spPr>
          <a:xfrm>
            <a:off x="4453128" y="2487168"/>
            <a:ext cx="3291840" cy="1024128"/>
          </a:xfrm>
          <a:prstGeom prst="rect">
            <a:avLst/>
          </a:prstGeom>
          <a:ln w="9525">
            <a:solidFill>
              <a:srgbClr val="C9C9CF"/>
            </a:solidFill>
            <a:prstDash val="solid"/>
          </a:ln>
        </p:spPr>
      </p:sp>
      <p:sp>
        <p:nvSpPr>
          <p:cNvPr id="12" name="Shape 10"/>
          <p:cNvSpPr/>
          <p:nvPr/>
        </p:nvSpPr>
        <p:spPr>
          <a:xfrm>
            <a:off x="4636008" y="2670048"/>
            <a:ext cx="256032" cy="256032"/>
          </a:xfrm>
          <a:prstGeom prst="ellipse">
            <a:avLst/>
          </a:prstGeom>
          <a:solidFill>
            <a:srgbClr val="8C3A2B"/>
          </a:solidFill>
          <a:ln w="12700">
            <a:solidFill>
              <a:srgbClr val="8C3A2B"/>
            </a:solidFill>
            <a:prstDash val="solid"/>
          </a:ln>
        </p:spPr>
      </p:sp>
      <p:sp>
        <p:nvSpPr>
          <p:cNvPr id="13" name="Text 11"/>
          <p:cNvSpPr txBox="1"/>
          <p:nvPr/>
        </p:nvSpPr>
        <p:spPr>
          <a:xfrm>
            <a:off x="4636008" y="2670048"/>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4" name="Text 12"/>
          <p:cNvSpPr txBox="1"/>
          <p:nvPr/>
        </p:nvSpPr>
        <p:spPr>
          <a:xfrm>
            <a:off x="5111496" y="2670048"/>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Kullanıcı</a:t>
            </a:r>
            <a:endParaRPr lang="en-US" sz="1500" dirty="0"/>
          </a:p>
        </p:txBody>
      </p:sp>
      <p:sp>
        <p:nvSpPr>
          <p:cNvPr id="15" name="Text 13"/>
          <p:cNvSpPr txBox="1"/>
          <p:nvPr/>
        </p:nvSpPr>
        <p:spPr>
          <a:xfrm>
            <a:off x="4672584" y="3017520"/>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Burada kim rahat eder, kim etmez?</a:t>
            </a:r>
            <a:endParaRPr lang="en-US" sz="1050" dirty="0"/>
          </a:p>
        </p:txBody>
      </p:sp>
      <p:sp>
        <p:nvSpPr>
          <p:cNvPr id="16" name="Shape 14"/>
          <p:cNvSpPr/>
          <p:nvPr/>
        </p:nvSpPr>
        <p:spPr>
          <a:xfrm>
            <a:off x="8129016" y="2487168"/>
            <a:ext cx="3291840" cy="1024128"/>
          </a:xfrm>
          <a:prstGeom prst="rect">
            <a:avLst/>
          </a:prstGeom>
          <a:ln w="9525">
            <a:solidFill>
              <a:srgbClr val="C9C9CF"/>
            </a:solidFill>
            <a:prstDash val="solid"/>
          </a:ln>
        </p:spPr>
      </p:sp>
      <p:sp>
        <p:nvSpPr>
          <p:cNvPr id="17" name="Shape 15"/>
          <p:cNvSpPr/>
          <p:nvPr/>
        </p:nvSpPr>
        <p:spPr>
          <a:xfrm>
            <a:off x="8311896" y="2670048"/>
            <a:ext cx="256032" cy="256032"/>
          </a:xfrm>
          <a:prstGeom prst="ellipse">
            <a:avLst/>
          </a:prstGeom>
          <a:solidFill>
            <a:srgbClr val="8C3A2B"/>
          </a:solidFill>
          <a:ln w="12700">
            <a:solidFill>
              <a:srgbClr val="8C3A2B"/>
            </a:solidFill>
            <a:prstDash val="solid"/>
          </a:ln>
        </p:spPr>
      </p:sp>
      <p:sp>
        <p:nvSpPr>
          <p:cNvPr id="18" name="Text 16"/>
          <p:cNvSpPr txBox="1"/>
          <p:nvPr/>
        </p:nvSpPr>
        <p:spPr>
          <a:xfrm>
            <a:off x="8311896" y="2670048"/>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19" name="Text 17"/>
          <p:cNvSpPr txBox="1"/>
          <p:nvPr/>
        </p:nvSpPr>
        <p:spPr>
          <a:xfrm>
            <a:off x="8787384" y="2670048"/>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Ürün</a:t>
            </a:r>
            <a:endParaRPr lang="en-US" sz="1500" dirty="0"/>
          </a:p>
        </p:txBody>
      </p:sp>
      <p:sp>
        <p:nvSpPr>
          <p:cNvPr id="20" name="Text 18"/>
          <p:cNvSpPr txBox="1"/>
          <p:nvPr/>
        </p:nvSpPr>
        <p:spPr>
          <a:xfrm>
            <a:off x="8348472" y="3017520"/>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Ne satılıyor; ürün nasıl korunuyor, nasıl sunuluyor?</a:t>
            </a:r>
            <a:endParaRPr lang="en-US" sz="1050" dirty="0"/>
          </a:p>
        </p:txBody>
      </p:sp>
      <p:sp>
        <p:nvSpPr>
          <p:cNvPr id="21" name="Shape 19"/>
          <p:cNvSpPr/>
          <p:nvPr/>
        </p:nvSpPr>
        <p:spPr>
          <a:xfrm>
            <a:off x="777240" y="3803904"/>
            <a:ext cx="3291840" cy="1024128"/>
          </a:xfrm>
          <a:prstGeom prst="rect">
            <a:avLst/>
          </a:prstGeom>
          <a:ln w="9525">
            <a:solidFill>
              <a:srgbClr val="C9C9CF"/>
            </a:solidFill>
            <a:prstDash val="solid"/>
          </a:ln>
        </p:spPr>
      </p:sp>
      <p:sp>
        <p:nvSpPr>
          <p:cNvPr id="22" name="Shape 20"/>
          <p:cNvSpPr/>
          <p:nvPr/>
        </p:nvSpPr>
        <p:spPr>
          <a:xfrm>
            <a:off x="960120" y="3986784"/>
            <a:ext cx="256032" cy="256032"/>
          </a:xfrm>
          <a:prstGeom prst="ellipse">
            <a:avLst/>
          </a:prstGeom>
          <a:solidFill>
            <a:srgbClr val="8C3A2B"/>
          </a:solidFill>
          <a:ln w="12700">
            <a:solidFill>
              <a:srgbClr val="8C3A2B"/>
            </a:solidFill>
            <a:prstDash val="solid"/>
          </a:ln>
        </p:spPr>
      </p:sp>
      <p:sp>
        <p:nvSpPr>
          <p:cNvPr id="23" name="Text 21"/>
          <p:cNvSpPr txBox="1"/>
          <p:nvPr/>
        </p:nvSpPr>
        <p:spPr>
          <a:xfrm>
            <a:off x="960120" y="3986784"/>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4" name="Text 22"/>
          <p:cNvSpPr txBox="1"/>
          <p:nvPr/>
        </p:nvSpPr>
        <p:spPr>
          <a:xfrm>
            <a:off x="1435608" y="3986784"/>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Davranış</a:t>
            </a:r>
            <a:endParaRPr lang="en-US" sz="1500" dirty="0"/>
          </a:p>
        </p:txBody>
      </p:sp>
      <p:sp>
        <p:nvSpPr>
          <p:cNvPr id="25" name="Text 23"/>
          <p:cNvSpPr txBox="1"/>
          <p:nvPr/>
        </p:nvSpPr>
        <p:spPr>
          <a:xfrm>
            <a:off x="996696" y="4334256"/>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Müşteri burada ne yapıyor: bakıyor, dokunuyor, bekliyor?</a:t>
            </a:r>
            <a:endParaRPr lang="en-US" sz="1050" dirty="0"/>
          </a:p>
        </p:txBody>
      </p:sp>
      <p:sp>
        <p:nvSpPr>
          <p:cNvPr id="26" name="Shape 24"/>
          <p:cNvSpPr/>
          <p:nvPr/>
        </p:nvSpPr>
        <p:spPr>
          <a:xfrm>
            <a:off x="4453128" y="3803904"/>
            <a:ext cx="3291840" cy="1024128"/>
          </a:xfrm>
          <a:prstGeom prst="rect">
            <a:avLst/>
          </a:prstGeom>
          <a:ln w="9525">
            <a:solidFill>
              <a:srgbClr val="C9C9CF"/>
            </a:solidFill>
            <a:prstDash val="solid"/>
          </a:ln>
        </p:spPr>
      </p:sp>
      <p:sp>
        <p:nvSpPr>
          <p:cNvPr id="27" name="Shape 25"/>
          <p:cNvSpPr/>
          <p:nvPr/>
        </p:nvSpPr>
        <p:spPr>
          <a:xfrm>
            <a:off x="4636008" y="3986784"/>
            <a:ext cx="256032" cy="256032"/>
          </a:xfrm>
          <a:prstGeom prst="ellipse">
            <a:avLst/>
          </a:prstGeom>
          <a:solidFill>
            <a:srgbClr val="8C3A2B"/>
          </a:solidFill>
          <a:ln w="12700">
            <a:solidFill>
              <a:srgbClr val="8C3A2B"/>
            </a:solidFill>
            <a:prstDash val="solid"/>
          </a:ln>
        </p:spPr>
      </p:sp>
      <p:sp>
        <p:nvSpPr>
          <p:cNvPr id="28" name="Text 26"/>
          <p:cNvSpPr txBox="1"/>
          <p:nvPr/>
        </p:nvSpPr>
        <p:spPr>
          <a:xfrm>
            <a:off x="4636008" y="3986784"/>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29" name="Text 27"/>
          <p:cNvSpPr txBox="1"/>
          <p:nvPr/>
        </p:nvSpPr>
        <p:spPr>
          <a:xfrm>
            <a:off x="5111496" y="3986784"/>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Duyular</a:t>
            </a:r>
            <a:endParaRPr lang="en-US" sz="1500" dirty="0"/>
          </a:p>
        </p:txBody>
      </p:sp>
      <p:sp>
        <p:nvSpPr>
          <p:cNvPr id="30" name="Text 28"/>
          <p:cNvSpPr txBox="1"/>
          <p:nvPr/>
        </p:nvSpPr>
        <p:spPr>
          <a:xfrm>
            <a:off x="4672584" y="4334256"/>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Hangi duyulara sesleniyor; hangileri sessiz bırakılmış?</a:t>
            </a:r>
            <a:endParaRPr lang="en-US" sz="1050" dirty="0"/>
          </a:p>
        </p:txBody>
      </p:sp>
      <p:sp>
        <p:nvSpPr>
          <p:cNvPr id="31" name="Shape 29"/>
          <p:cNvSpPr/>
          <p:nvPr/>
        </p:nvSpPr>
        <p:spPr>
          <a:xfrm>
            <a:off x="8129016" y="3803904"/>
            <a:ext cx="3291840" cy="1024128"/>
          </a:xfrm>
          <a:prstGeom prst="rect">
            <a:avLst/>
          </a:prstGeom>
          <a:ln w="9525">
            <a:solidFill>
              <a:srgbClr val="C9C9CF"/>
            </a:solidFill>
            <a:prstDash val="solid"/>
          </a:ln>
        </p:spPr>
      </p:sp>
      <p:sp>
        <p:nvSpPr>
          <p:cNvPr id="32" name="Shape 30"/>
          <p:cNvSpPr/>
          <p:nvPr/>
        </p:nvSpPr>
        <p:spPr>
          <a:xfrm>
            <a:off x="8311896" y="3986784"/>
            <a:ext cx="256032" cy="256032"/>
          </a:xfrm>
          <a:prstGeom prst="ellipse">
            <a:avLst/>
          </a:prstGeom>
          <a:solidFill>
            <a:srgbClr val="8C3A2B"/>
          </a:solidFill>
          <a:ln w="12700">
            <a:solidFill>
              <a:srgbClr val="8C3A2B"/>
            </a:solidFill>
            <a:prstDash val="solid"/>
          </a:ln>
        </p:spPr>
      </p:sp>
      <p:sp>
        <p:nvSpPr>
          <p:cNvPr id="33" name="Text 31"/>
          <p:cNvSpPr txBox="1"/>
          <p:nvPr/>
        </p:nvSpPr>
        <p:spPr>
          <a:xfrm>
            <a:off x="8311896" y="3986784"/>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34" name="Text 32"/>
          <p:cNvSpPr txBox="1"/>
          <p:nvPr/>
        </p:nvSpPr>
        <p:spPr>
          <a:xfrm>
            <a:off x="8787384" y="3986784"/>
            <a:ext cx="2432304" cy="274320"/>
          </a:xfrm>
          <a:prstGeom prst="rect">
            <a:avLst/>
          </a:prstGeom>
          <a:noFill/>
          <a:ln/>
        </p:spPr>
        <p:txBody>
          <a:bodyPr wrap="square" lIns="0" tIns="0" rIns="0" bIns="0" rtlCol="0" anchor="ctr"/>
          <a:lstStyle/>
          <a:p>
            <a:pPr indent="0" marL="0">
              <a:buNone/>
            </a:pPr>
            <a:r>
              <a:rPr lang="en-US" sz="1500" b="1" dirty="0">
                <a:solidFill>
                  <a:srgbClr val="16161A"/>
                </a:solidFill>
                <a:latin typeface="Cambria" pitchFamily="34" charset="0"/>
                <a:ea typeface="Cambria" pitchFamily="34" charset="-122"/>
                <a:cs typeface="Cambria" pitchFamily="34" charset="-120"/>
              </a:rPr>
              <a:t>Atmosfer</a:t>
            </a:r>
            <a:endParaRPr lang="en-US" sz="1500" dirty="0"/>
          </a:p>
        </p:txBody>
      </p:sp>
      <p:sp>
        <p:nvSpPr>
          <p:cNvPr id="35" name="Text 33"/>
          <p:cNvSpPr txBox="1"/>
          <p:nvPr/>
        </p:nvSpPr>
        <p:spPr>
          <a:xfrm>
            <a:off x="8348472" y="4334256"/>
            <a:ext cx="2852928" cy="420624"/>
          </a:xfrm>
          <a:prstGeom prst="rect">
            <a:avLst/>
          </a:prstGeom>
          <a:noFill/>
          <a:ln/>
        </p:spPr>
        <p:txBody>
          <a:bodyPr wrap="square" lIns="0" tIns="0" rIns="0" bIns="0" rtlCol="0" anchor="ctr"/>
          <a:lstStyle/>
          <a:p>
            <a:pPr indent="0" marL="0">
              <a:lnSpc>
                <a:spcPts val="1300"/>
              </a:lnSpc>
              <a:buNone/>
            </a:pPr>
            <a:r>
              <a:rPr lang="en-US" sz="1050" dirty="0">
                <a:solidFill>
                  <a:srgbClr val="7A7A82"/>
                </a:solidFill>
                <a:latin typeface="Calibri" pitchFamily="34" charset="0"/>
                <a:ea typeface="Calibri" pitchFamily="34" charset="-122"/>
                <a:cs typeface="Calibri" pitchFamily="34" charset="-120"/>
              </a:rPr>
              <a:t>Işık, renk, malzeme, yoğunluk nasıl bir his kuruyor?</a:t>
            </a:r>
            <a:endParaRPr lang="en-US" sz="1050" dirty="0"/>
          </a:p>
        </p:txBody>
      </p:sp>
      <p:sp>
        <p:nvSpPr>
          <p:cNvPr id="36" name="Shape 34"/>
          <p:cNvSpPr/>
          <p:nvPr/>
        </p:nvSpPr>
        <p:spPr>
          <a:xfrm>
            <a:off x="777240" y="5257800"/>
            <a:ext cx="10634472" cy="731520"/>
          </a:xfrm>
          <a:prstGeom prst="rect">
            <a:avLst/>
          </a:prstGeom>
          <a:solidFill>
            <a:srgbClr val="F6EAE6"/>
          </a:solidFill>
          <a:ln w="15875">
            <a:solidFill>
              <a:srgbClr val="8C3A2B"/>
            </a:solidFill>
            <a:prstDash val="solid"/>
          </a:ln>
        </p:spPr>
      </p:sp>
      <p:sp>
        <p:nvSpPr>
          <p:cNvPr id="37" name="Text 35"/>
          <p:cNvSpPr txBox="1"/>
          <p:nvPr/>
        </p:nvSpPr>
        <p:spPr>
          <a:xfrm>
            <a:off x="1005840" y="5376672"/>
            <a:ext cx="731520" cy="256032"/>
          </a:xfrm>
          <a:prstGeom prst="rect">
            <a:avLst/>
          </a:prstGeom>
          <a:noFill/>
          <a:ln/>
        </p:spPr>
        <p:txBody>
          <a:bodyPr wrap="square" lIns="0" tIns="0" rIns="0" bIns="0" rtlCol="0" anchor="ctr"/>
          <a:lstStyle/>
          <a:p>
            <a:pPr indent="0" marL="0">
              <a:buNone/>
            </a:pPr>
            <a:r>
              <a:rPr lang="en-US" sz="950" b="1" spc="140" kern="0" dirty="0">
                <a:solidFill>
                  <a:srgbClr val="8C3A2B"/>
                </a:solidFill>
                <a:latin typeface="Calibri" pitchFamily="34" charset="0"/>
                <a:ea typeface="Calibri" pitchFamily="34" charset="-122"/>
                <a:cs typeface="Calibri" pitchFamily="34" charset="-120"/>
              </a:rPr>
              <a:t>ÇIKTI</a:t>
            </a:r>
            <a:endParaRPr lang="en-US" sz="950" dirty="0"/>
          </a:p>
        </p:txBody>
      </p:sp>
      <p:sp>
        <p:nvSpPr>
          <p:cNvPr id="38" name="Text 36"/>
          <p:cNvSpPr txBox="1"/>
          <p:nvPr/>
        </p:nvSpPr>
        <p:spPr>
          <a:xfrm>
            <a:off x="1783080" y="5394960"/>
            <a:ext cx="9326880" cy="457200"/>
          </a:xfrm>
          <a:prstGeom prst="rect">
            <a:avLst/>
          </a:prstGeom>
          <a:noFill/>
          <a:ln/>
        </p:spPr>
        <p:txBody>
          <a:bodyPr wrap="square" lIns="0" tIns="0" rIns="0" bIns="0" rtlCol="0" anchor="ctr"/>
          <a:lstStyle/>
          <a:p>
            <a:pPr indent="0" marL="0">
              <a:buNone/>
            </a:pPr>
            <a:r>
              <a:rPr lang="en-US" sz="1500" b="1" dirty="0">
                <a:solidFill>
                  <a:srgbClr val="8C3A2B"/>
                </a:solidFill>
                <a:latin typeface="Cambria" pitchFamily="34" charset="0"/>
                <a:ea typeface="Cambria" pitchFamily="34" charset="-122"/>
                <a:cs typeface="Cambria" pitchFamily="34" charset="-120"/>
              </a:rPr>
              <a:t>Üç anahtar kelime — ve her kelimenin yanında görselde onu gösteren kanıt.</a:t>
            </a:r>
            <a:endParaRPr lang="en-US" sz="1500" dirty="0"/>
          </a:p>
        </p:txBody>
      </p:sp>
      <p:sp>
        <p:nvSpPr>
          <p:cNvPr id="39" name="Text 37"/>
          <p:cNvSpPr txBox="1"/>
          <p:nvPr/>
        </p:nvSpPr>
        <p:spPr>
          <a:xfrm>
            <a:off x="777240" y="6080760"/>
            <a:ext cx="10424160" cy="274320"/>
          </a:xfrm>
          <a:prstGeom prst="rect">
            <a:avLst/>
          </a:prstGeom>
          <a:noFill/>
          <a:ln/>
        </p:spPr>
        <p:txBody>
          <a:bodyPr wrap="square" lIns="0" tIns="0" rIns="0" bIns="0" rtlCol="0" anchor="ctr"/>
          <a:lstStyle/>
          <a:p>
            <a:pPr algn="l" indent="0" marL="0">
              <a:lnSpc>
                <a:spcPts val="1200"/>
              </a:lnSpc>
              <a:buNone/>
            </a:pPr>
            <a:r>
              <a:rPr lang="en-US" sz="1100" dirty="0">
                <a:solidFill>
                  <a:srgbClr val="A6A6AC"/>
                </a:solidFill>
                <a:latin typeface="Calibri" pitchFamily="34" charset="0"/>
                <a:ea typeface="Calibri" pitchFamily="34" charset="-122"/>
                <a:cs typeface="Calibri" pitchFamily="34" charset="-120"/>
              </a:rPr>
              <a:t>Süre: 45 dakika · Bireysel · Kâğıt dağıtılacak</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BUGÜN</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İkinci çalışma: aynı mağaza, farklı okumalar</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27</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Aynı görseli okuyanlar bir grup olacak. Karşılaştırdığınızda üç kelimelerin tutmadığını göreceksiniz — bu bir hata değil, çalışmanın asıl konusu. Aynı mekânın farklı okunması, mekânın hangi mesajı net verdiğini ve hangisini veremediğini gösterir.</a:t>
            </a:r>
            <a:endParaRPr lang="en-US" sz="1400" dirty="0"/>
          </a:p>
        </p:txBody>
      </p:sp>
      <p:sp>
        <p:nvSpPr>
          <p:cNvPr id="6" name="Shape 4"/>
          <p:cNvSpPr/>
          <p:nvPr/>
        </p:nvSpPr>
        <p:spPr>
          <a:xfrm>
            <a:off x="777240" y="2487168"/>
            <a:ext cx="3291840" cy="2148840"/>
          </a:xfrm>
          <a:prstGeom prst="rect">
            <a:avLst/>
          </a:prstGeom>
          <a:ln w="9525">
            <a:solidFill>
              <a:srgbClr val="C9C9CF"/>
            </a:solidFill>
            <a:prstDash val="solid"/>
          </a:ln>
        </p:spPr>
      </p:sp>
      <p:sp>
        <p:nvSpPr>
          <p:cNvPr id="7" name="Shape 5"/>
          <p:cNvSpPr/>
          <p:nvPr/>
        </p:nvSpPr>
        <p:spPr>
          <a:xfrm>
            <a:off x="1005840" y="2715768"/>
            <a:ext cx="274320" cy="274320"/>
          </a:xfrm>
          <a:prstGeom prst="ellipse">
            <a:avLst/>
          </a:prstGeom>
          <a:solidFill>
            <a:srgbClr val="16161A"/>
          </a:solidFill>
          <a:ln w="12700">
            <a:solidFill>
              <a:srgbClr val="16161A"/>
            </a:solidFill>
            <a:prstDash val="solid"/>
          </a:ln>
        </p:spPr>
      </p:sp>
      <p:sp>
        <p:nvSpPr>
          <p:cNvPr id="8" name="Text 6"/>
          <p:cNvSpPr txBox="1"/>
          <p:nvPr/>
        </p:nvSpPr>
        <p:spPr>
          <a:xfrm>
            <a:off x="1005840"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9" name="Text 7"/>
          <p:cNvSpPr txBox="1"/>
          <p:nvPr/>
        </p:nvSpPr>
        <p:spPr>
          <a:xfrm>
            <a:off x="978408" y="3127248"/>
            <a:ext cx="2889504" cy="292608"/>
          </a:xfrm>
          <a:prstGeom prst="rect">
            <a:avLst/>
          </a:prstGeom>
          <a:noFill/>
          <a:ln/>
        </p:spPr>
        <p:txBody>
          <a:bodyPr wrap="square" lIns="0" tIns="0" rIns="0" bIns="0" rtlCol="0" anchor="ctr"/>
          <a:lstStyle/>
          <a:p>
            <a:pPr indent="0" marL="0">
              <a:buNone/>
            </a:pPr>
            <a:r>
              <a:rPr lang="en-US" sz="1550" b="1" dirty="0">
                <a:solidFill>
                  <a:srgbClr val="16161A"/>
                </a:solidFill>
                <a:latin typeface="Cambria" pitchFamily="34" charset="0"/>
                <a:ea typeface="Cambria" pitchFamily="34" charset="-122"/>
                <a:cs typeface="Cambria" pitchFamily="34" charset="-120"/>
              </a:rPr>
              <a:t>Ortak olanı bulun</a:t>
            </a:r>
            <a:endParaRPr lang="en-US" sz="1550" dirty="0"/>
          </a:p>
        </p:txBody>
      </p:sp>
      <p:sp>
        <p:nvSpPr>
          <p:cNvPr id="10" name="Text 8"/>
          <p:cNvSpPr txBox="1"/>
          <p:nvPr/>
        </p:nvSpPr>
        <p:spPr>
          <a:xfrm>
            <a:off x="978408" y="3456432"/>
            <a:ext cx="2889504" cy="8229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Grubun çoğunun yazdığı kelimeler mekânın net söylediği şeydir.</a:t>
            </a:r>
            <a:endParaRPr lang="en-US" sz="1050" dirty="0"/>
          </a:p>
        </p:txBody>
      </p:sp>
      <p:sp>
        <p:nvSpPr>
          <p:cNvPr id="11" name="Text 9"/>
          <p:cNvSpPr txBox="1"/>
          <p:nvPr/>
        </p:nvSpPr>
        <p:spPr>
          <a:xfrm>
            <a:off x="978408" y="4279392"/>
            <a:ext cx="2889504" cy="274320"/>
          </a:xfrm>
          <a:prstGeom prst="rect">
            <a:avLst/>
          </a:prstGeom>
          <a:noFill/>
          <a:ln/>
        </p:spPr>
        <p:txBody>
          <a:bodyPr wrap="square" lIns="0" tIns="0" rIns="0" bIns="0" rtlCol="0" anchor="ctr"/>
          <a:lstStyle/>
          <a:p>
            <a:pPr indent="0" marL="0">
              <a:buNone/>
            </a:pPr>
            <a:r>
              <a:rPr lang="en-US" sz="950" i="1" dirty="0">
                <a:solidFill>
                  <a:srgbClr val="7A7A82"/>
                </a:solidFill>
                <a:latin typeface="Calibri" pitchFamily="34" charset="0"/>
                <a:ea typeface="Calibri" pitchFamily="34" charset="-122"/>
                <a:cs typeface="Calibri" pitchFamily="34" charset="-120"/>
              </a:rPr>
              <a:t>bunlar markanın güçlü sinyalleri</a:t>
            </a:r>
            <a:endParaRPr lang="en-US" sz="950" dirty="0"/>
          </a:p>
        </p:txBody>
      </p:sp>
      <p:sp>
        <p:nvSpPr>
          <p:cNvPr id="12" name="Shape 10"/>
          <p:cNvSpPr/>
          <p:nvPr/>
        </p:nvSpPr>
        <p:spPr>
          <a:xfrm>
            <a:off x="4453128" y="2487168"/>
            <a:ext cx="3291840" cy="2148840"/>
          </a:xfrm>
          <a:prstGeom prst="rect">
            <a:avLst/>
          </a:prstGeom>
          <a:ln w="9525">
            <a:solidFill>
              <a:srgbClr val="C9C9CF"/>
            </a:solidFill>
            <a:prstDash val="solid"/>
          </a:ln>
        </p:spPr>
      </p:sp>
      <p:sp>
        <p:nvSpPr>
          <p:cNvPr id="13" name="Shape 11"/>
          <p:cNvSpPr/>
          <p:nvPr/>
        </p:nvSpPr>
        <p:spPr>
          <a:xfrm>
            <a:off x="4681728" y="2715768"/>
            <a:ext cx="274320" cy="274320"/>
          </a:xfrm>
          <a:prstGeom prst="ellipse">
            <a:avLst/>
          </a:prstGeom>
          <a:solidFill>
            <a:srgbClr val="16161A"/>
          </a:solidFill>
          <a:ln w="12700">
            <a:solidFill>
              <a:srgbClr val="16161A"/>
            </a:solidFill>
            <a:prstDash val="solid"/>
          </a:ln>
        </p:spPr>
      </p:sp>
      <p:sp>
        <p:nvSpPr>
          <p:cNvPr id="14" name="Text 12"/>
          <p:cNvSpPr txBox="1"/>
          <p:nvPr/>
        </p:nvSpPr>
        <p:spPr>
          <a:xfrm>
            <a:off x="4681728"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5" name="Text 13"/>
          <p:cNvSpPr txBox="1"/>
          <p:nvPr/>
        </p:nvSpPr>
        <p:spPr>
          <a:xfrm>
            <a:off x="4654296" y="3127248"/>
            <a:ext cx="2889504" cy="292608"/>
          </a:xfrm>
          <a:prstGeom prst="rect">
            <a:avLst/>
          </a:prstGeom>
          <a:noFill/>
          <a:ln/>
        </p:spPr>
        <p:txBody>
          <a:bodyPr wrap="square" lIns="0" tIns="0" rIns="0" bIns="0" rtlCol="0" anchor="ctr"/>
          <a:lstStyle/>
          <a:p>
            <a:pPr indent="0" marL="0">
              <a:buNone/>
            </a:pPr>
            <a:r>
              <a:rPr lang="en-US" sz="1550" b="1" dirty="0">
                <a:solidFill>
                  <a:srgbClr val="16161A"/>
                </a:solidFill>
                <a:latin typeface="Cambria" pitchFamily="34" charset="0"/>
                <a:ea typeface="Cambria" pitchFamily="34" charset="-122"/>
                <a:cs typeface="Cambria" pitchFamily="34" charset="-120"/>
              </a:rPr>
              <a:t>Ayrışanı tartışın</a:t>
            </a:r>
            <a:endParaRPr lang="en-US" sz="1550" dirty="0"/>
          </a:p>
        </p:txBody>
      </p:sp>
      <p:sp>
        <p:nvSpPr>
          <p:cNvPr id="16" name="Text 14"/>
          <p:cNvSpPr txBox="1"/>
          <p:nvPr/>
        </p:nvSpPr>
        <p:spPr>
          <a:xfrm>
            <a:off x="4654296" y="3456432"/>
            <a:ext cx="2889504" cy="8229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Yalnız bir kişinin gördüğü şey ya derin bir okuma ya da bir yanlış anlamadır; hangisi olduğuna kanıta bakarak karar verin.</a:t>
            </a:r>
            <a:endParaRPr lang="en-US" sz="1050" dirty="0"/>
          </a:p>
        </p:txBody>
      </p:sp>
      <p:sp>
        <p:nvSpPr>
          <p:cNvPr id="17" name="Text 15"/>
          <p:cNvSpPr txBox="1"/>
          <p:nvPr/>
        </p:nvSpPr>
        <p:spPr>
          <a:xfrm>
            <a:off x="4654296" y="4279392"/>
            <a:ext cx="2889504" cy="274320"/>
          </a:xfrm>
          <a:prstGeom prst="rect">
            <a:avLst/>
          </a:prstGeom>
          <a:noFill/>
          <a:ln/>
        </p:spPr>
        <p:txBody>
          <a:bodyPr wrap="square" lIns="0" tIns="0" rIns="0" bIns="0" rtlCol="0" anchor="ctr"/>
          <a:lstStyle/>
          <a:p>
            <a:pPr indent="0" marL="0">
              <a:buNone/>
            </a:pPr>
            <a:r>
              <a:rPr lang="en-US" sz="950" i="1" dirty="0">
                <a:solidFill>
                  <a:srgbClr val="7A7A82"/>
                </a:solidFill>
                <a:latin typeface="Calibri" pitchFamily="34" charset="0"/>
                <a:ea typeface="Calibri" pitchFamily="34" charset="-122"/>
                <a:cs typeface="Calibri" pitchFamily="34" charset="-120"/>
              </a:rPr>
              <a:t>burada mekân belirsiz kalmış</a:t>
            </a:r>
            <a:endParaRPr lang="en-US" sz="950" dirty="0"/>
          </a:p>
        </p:txBody>
      </p:sp>
      <p:sp>
        <p:nvSpPr>
          <p:cNvPr id="18" name="Shape 16"/>
          <p:cNvSpPr/>
          <p:nvPr/>
        </p:nvSpPr>
        <p:spPr>
          <a:xfrm>
            <a:off x="8129016" y="2487168"/>
            <a:ext cx="3291840" cy="2148840"/>
          </a:xfrm>
          <a:prstGeom prst="rect">
            <a:avLst/>
          </a:prstGeom>
          <a:solidFill>
            <a:srgbClr val="F6EAE6"/>
          </a:solidFill>
          <a:ln w="15875">
            <a:solidFill>
              <a:srgbClr val="8C3A2B"/>
            </a:solidFill>
            <a:prstDash val="solid"/>
          </a:ln>
        </p:spPr>
      </p:sp>
      <p:sp>
        <p:nvSpPr>
          <p:cNvPr id="19" name="Shape 17"/>
          <p:cNvSpPr/>
          <p:nvPr/>
        </p:nvSpPr>
        <p:spPr>
          <a:xfrm>
            <a:off x="8357616" y="2715768"/>
            <a:ext cx="274320" cy="274320"/>
          </a:xfrm>
          <a:prstGeom prst="ellipse">
            <a:avLst/>
          </a:prstGeom>
          <a:solidFill>
            <a:srgbClr val="8C3A2B"/>
          </a:solidFill>
          <a:ln w="12700">
            <a:solidFill>
              <a:srgbClr val="8C3A2B"/>
            </a:solidFill>
            <a:prstDash val="solid"/>
          </a:ln>
        </p:spPr>
      </p:sp>
      <p:sp>
        <p:nvSpPr>
          <p:cNvPr id="20" name="Text 18"/>
          <p:cNvSpPr txBox="1"/>
          <p:nvPr/>
        </p:nvSpPr>
        <p:spPr>
          <a:xfrm>
            <a:off x="8357616" y="2715768"/>
            <a:ext cx="2743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1" name="Text 19"/>
          <p:cNvSpPr txBox="1"/>
          <p:nvPr/>
        </p:nvSpPr>
        <p:spPr>
          <a:xfrm>
            <a:off x="8330184" y="3127248"/>
            <a:ext cx="2889504" cy="292608"/>
          </a:xfrm>
          <a:prstGeom prst="rect">
            <a:avLst/>
          </a:prstGeom>
          <a:noFill/>
          <a:ln/>
        </p:spPr>
        <p:txBody>
          <a:bodyPr wrap="square" lIns="0" tIns="0" rIns="0" bIns="0" rtlCol="0" anchor="ctr"/>
          <a:lstStyle/>
          <a:p>
            <a:pPr indent="0" marL="0">
              <a:buNone/>
            </a:pPr>
            <a:r>
              <a:rPr lang="en-US" sz="1550" b="1" dirty="0">
                <a:solidFill>
                  <a:srgbClr val="8C3A2B"/>
                </a:solidFill>
                <a:latin typeface="Cambria" pitchFamily="34" charset="0"/>
                <a:ea typeface="Cambria" pitchFamily="34" charset="-122"/>
                <a:cs typeface="Cambria" pitchFamily="34" charset="-120"/>
              </a:rPr>
              <a:t>Eksiği adlandırın</a:t>
            </a:r>
            <a:endParaRPr lang="en-US" sz="1550" dirty="0"/>
          </a:p>
        </p:txBody>
      </p:sp>
      <p:sp>
        <p:nvSpPr>
          <p:cNvPr id="22" name="Text 20"/>
          <p:cNvSpPr txBox="1"/>
          <p:nvPr/>
        </p:nvSpPr>
        <p:spPr>
          <a:xfrm>
            <a:off x="8330184" y="3456432"/>
            <a:ext cx="2889504" cy="8229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Hiç kimsenin yazmadığı ama mekânda olması gereken bir şey var mı?</a:t>
            </a:r>
            <a:endParaRPr lang="en-US" sz="1050" dirty="0"/>
          </a:p>
        </p:txBody>
      </p:sp>
      <p:sp>
        <p:nvSpPr>
          <p:cNvPr id="23" name="Text 21"/>
          <p:cNvSpPr txBox="1"/>
          <p:nvPr/>
        </p:nvSpPr>
        <p:spPr>
          <a:xfrm>
            <a:off x="8330184" y="4279392"/>
            <a:ext cx="2889504" cy="274320"/>
          </a:xfrm>
          <a:prstGeom prst="rect">
            <a:avLst/>
          </a:prstGeom>
          <a:noFill/>
          <a:ln/>
        </p:spPr>
        <p:txBody>
          <a:bodyPr wrap="square" lIns="0" tIns="0" rIns="0" bIns="0" rtlCol="0" anchor="ctr"/>
          <a:lstStyle/>
          <a:p>
            <a:pPr indent="0" marL="0">
              <a:buNone/>
            </a:pPr>
            <a:r>
              <a:rPr lang="en-US" sz="950" i="1" dirty="0">
                <a:solidFill>
                  <a:srgbClr val="8C3A2B"/>
                </a:solidFill>
                <a:latin typeface="Calibri" pitchFamily="34" charset="0"/>
                <a:ea typeface="Calibri" pitchFamily="34" charset="-122"/>
                <a:cs typeface="Calibri" pitchFamily="34" charset="-120"/>
              </a:rPr>
              <a:t>tasarım fırsatı burada</a:t>
            </a:r>
            <a:endParaRPr lang="en-US" sz="950" dirty="0"/>
          </a:p>
        </p:txBody>
      </p:sp>
      <p:sp>
        <p:nvSpPr>
          <p:cNvPr id="24" name="Text 22"/>
          <p:cNvSpPr txBox="1"/>
          <p:nvPr/>
        </p:nvSpPr>
        <p:spPr>
          <a:xfrm>
            <a:off x="777240" y="4892040"/>
            <a:ext cx="10424160" cy="274320"/>
          </a:xfrm>
          <a:prstGeom prst="rect">
            <a:avLst/>
          </a:prstGeom>
          <a:noFill/>
          <a:ln/>
        </p:spPr>
        <p:txBody>
          <a:bodyPr wrap="square" lIns="0" tIns="0" rIns="0" bIns="0" rtlCol="0" anchor="ctr"/>
          <a:lstStyle/>
          <a:p>
            <a:pPr algn="l" indent="0" marL="0">
              <a:lnSpc>
                <a:spcPts val="1200"/>
              </a:lnSpc>
              <a:buNone/>
            </a:pPr>
            <a:r>
              <a:rPr lang="en-US" sz="900" b="1" dirty="0">
                <a:solidFill>
                  <a:srgbClr val="A6A6AC"/>
                </a:solidFill>
                <a:latin typeface="Calibri" pitchFamily="34" charset="0"/>
                <a:ea typeface="Calibri" pitchFamily="34" charset="-122"/>
                <a:cs typeface="Calibri" pitchFamily="34" charset="-120"/>
              </a:rPr>
              <a:t>GRUP ÇIKTISI</a:t>
            </a:r>
            <a:endParaRPr lang="en-US" sz="900" dirty="0"/>
          </a:p>
        </p:txBody>
      </p:sp>
      <p:sp>
        <p:nvSpPr>
          <p:cNvPr id="25" name="Text 23"/>
          <p:cNvSpPr txBox="1"/>
          <p:nvPr/>
        </p:nvSpPr>
        <p:spPr>
          <a:xfrm>
            <a:off x="777240" y="5138928"/>
            <a:ext cx="10424160" cy="640080"/>
          </a:xfrm>
          <a:prstGeom prst="rect">
            <a:avLst/>
          </a:prstGeom>
          <a:noFill/>
          <a:ln/>
        </p:spPr>
        <p:txBody>
          <a:bodyPr wrap="square" lIns="0" tIns="0" rIns="0" bIns="0" rtlCol="0" anchor="ctr"/>
          <a:lstStyle/>
          <a:p>
            <a:pPr algn="l" indent="0" marL="0">
              <a:lnSpc>
                <a:spcPts val="1800"/>
              </a:lnSpc>
              <a:buNone/>
            </a:pPr>
            <a:r>
              <a:rPr lang="en-US" sz="1300" dirty="0">
                <a:solidFill>
                  <a:srgbClr val="2B2B31"/>
                </a:solidFill>
                <a:latin typeface="Cambria" pitchFamily="34" charset="0"/>
                <a:ea typeface="Cambria" pitchFamily="34" charset="-122"/>
                <a:cs typeface="Cambria" pitchFamily="34" charset="-120"/>
              </a:rPr>
              <a:t>Tek bir A3 sayfa: ortak kelimeler, ayrışan kelimeler ve grubun ortak cümlesi — "Bu mağaza şunu söylüyor ama şunu söyleyemiyor." Her grup beş dakikada anlatacak.</a:t>
            </a:r>
            <a:endParaRPr lang="en-US" sz="1300" dirty="0"/>
          </a:p>
        </p:txBody>
      </p:sp>
      <p:sp>
        <p:nvSpPr>
          <p:cNvPr id="26" name="Text 24"/>
          <p:cNvSpPr txBox="1"/>
          <p:nvPr/>
        </p:nvSpPr>
        <p:spPr>
          <a:xfrm>
            <a:off x="777240" y="5897880"/>
            <a:ext cx="10424160" cy="274320"/>
          </a:xfrm>
          <a:prstGeom prst="rect">
            <a:avLst/>
          </a:prstGeom>
          <a:noFill/>
          <a:ln/>
        </p:spPr>
        <p:txBody>
          <a:bodyPr wrap="square" lIns="0" tIns="0" rIns="0" bIns="0" rtlCol="0" anchor="ctr"/>
          <a:lstStyle/>
          <a:p>
            <a:pPr algn="l" indent="0" marL="0">
              <a:lnSpc>
                <a:spcPts val="1200"/>
              </a:lnSpc>
              <a:buNone/>
            </a:pPr>
            <a:r>
              <a:rPr lang="en-US" sz="1100" dirty="0">
                <a:solidFill>
                  <a:srgbClr val="A6A6AC"/>
                </a:solidFill>
                <a:latin typeface="Calibri" pitchFamily="34" charset="0"/>
                <a:ea typeface="Calibri" pitchFamily="34" charset="-122"/>
                <a:cs typeface="Calibri" pitchFamily="34" charset="-120"/>
              </a:rPr>
              <a:t>Süre: 60 dakika çalışma + 30 dakika sunum · 4–5 kişilik gruplar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ÖDEV</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Haftaya: üç aday marka</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28</a:t>
            </a:r>
            <a:endParaRPr lang="en-US" sz="950" dirty="0"/>
          </a:p>
        </p:txBody>
      </p:sp>
      <p:sp>
        <p:nvSpPr>
          <p:cNvPr id="5" name="Text 3"/>
          <p:cNvSpPr txBox="1"/>
          <p:nvPr/>
        </p:nvSpPr>
        <p:spPr>
          <a:xfrm>
            <a:off x="777240" y="1554480"/>
            <a:ext cx="10634472" cy="877824"/>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Önümüzdeki hafta için üç aday marka bulup her biri için bir araştırma paftası hazırlayacaksınız. Üçünü de araştıracaksınız; hangisiyle devam edeceğinize kritikte birlikte karar vereceğiz. Bu yüzden üçü de gerçekten araştırılmış olmalı.</a:t>
            </a:r>
            <a:endParaRPr lang="en-US" sz="1400" dirty="0"/>
          </a:p>
        </p:txBody>
      </p:sp>
      <p:sp>
        <p:nvSpPr>
          <p:cNvPr id="6" name="Text 4"/>
          <p:cNvSpPr txBox="1"/>
          <p:nvPr/>
        </p:nvSpPr>
        <p:spPr>
          <a:xfrm>
            <a:off x="777240" y="2542032"/>
            <a:ext cx="5029200" cy="274320"/>
          </a:xfrm>
          <a:prstGeom prst="rect">
            <a:avLst/>
          </a:prstGeom>
          <a:noFill/>
          <a:ln/>
        </p:spPr>
        <p:txBody>
          <a:bodyPr wrap="square" lIns="0" tIns="0" rIns="0" bIns="0" rtlCol="0" anchor="ctr"/>
          <a:lstStyle/>
          <a:p>
            <a:pPr algn="l" indent="0" marL="0">
              <a:lnSpc>
                <a:spcPts val="1200"/>
              </a:lnSpc>
              <a:buNone/>
            </a:pPr>
            <a:r>
              <a:rPr lang="en-US" sz="950" b="1" dirty="0">
                <a:solidFill>
                  <a:srgbClr val="8C3A2B"/>
                </a:solidFill>
                <a:latin typeface="Calibri" pitchFamily="34" charset="0"/>
                <a:ea typeface="Calibri" pitchFamily="34" charset="-122"/>
                <a:cs typeface="Calibri" pitchFamily="34" charset="-120"/>
              </a:rPr>
              <a:t>MARKA NASIL OLMALI</a:t>
            </a:r>
            <a:endParaRPr lang="en-US" sz="950" dirty="0"/>
          </a:p>
        </p:txBody>
      </p:sp>
      <p:sp>
        <p:nvSpPr>
          <p:cNvPr id="7" name="Shape 5"/>
          <p:cNvSpPr/>
          <p:nvPr/>
        </p:nvSpPr>
        <p:spPr>
          <a:xfrm>
            <a:off x="809244" y="2930652"/>
            <a:ext cx="100584" cy="100584"/>
          </a:xfrm>
          <a:prstGeom prst="ellipse">
            <a:avLst/>
          </a:prstGeom>
          <a:solidFill>
            <a:srgbClr val="8C3A2B"/>
          </a:solidFill>
          <a:ln w="12700">
            <a:solidFill>
              <a:srgbClr val="8C3A2B"/>
            </a:solidFill>
            <a:prstDash val="solid"/>
          </a:ln>
        </p:spPr>
      </p:sp>
      <p:sp>
        <p:nvSpPr>
          <p:cNvPr id="8" name="Text 6"/>
          <p:cNvSpPr txBox="1"/>
          <p:nvPr/>
        </p:nvSpPr>
        <p:spPr>
          <a:xfrm>
            <a:off x="1069848" y="285292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Küçük ve yerel — tercihen tek dükkânlı ya da hiç dükkânı olmayan</a:t>
            </a:r>
            <a:endParaRPr lang="en-US" sz="1150" dirty="0"/>
          </a:p>
        </p:txBody>
      </p:sp>
      <p:sp>
        <p:nvSpPr>
          <p:cNvPr id="9" name="Shape 7"/>
          <p:cNvSpPr/>
          <p:nvPr/>
        </p:nvSpPr>
        <p:spPr>
          <a:xfrm>
            <a:off x="809244" y="3479292"/>
            <a:ext cx="100584" cy="100584"/>
          </a:xfrm>
          <a:prstGeom prst="ellipse">
            <a:avLst/>
          </a:prstGeom>
          <a:solidFill>
            <a:srgbClr val="8C3A2B"/>
          </a:solidFill>
          <a:ln w="12700">
            <a:solidFill>
              <a:srgbClr val="8C3A2B"/>
            </a:solidFill>
            <a:prstDash val="solid"/>
          </a:ln>
        </p:spPr>
      </p:sp>
      <p:sp>
        <p:nvSpPr>
          <p:cNvPr id="10" name="Text 8"/>
          <p:cNvSpPr txBox="1"/>
          <p:nvPr/>
        </p:nvSpPr>
        <p:spPr>
          <a:xfrm>
            <a:off x="1069848" y="340156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Yerleşik bir tasarım dili olmayan; mağazası varsa da kimliksiz</a:t>
            </a:r>
            <a:endParaRPr lang="en-US" sz="1150" dirty="0"/>
          </a:p>
        </p:txBody>
      </p:sp>
      <p:sp>
        <p:nvSpPr>
          <p:cNvPr id="11" name="Shape 9"/>
          <p:cNvSpPr/>
          <p:nvPr/>
        </p:nvSpPr>
        <p:spPr>
          <a:xfrm>
            <a:off x="809244" y="4027932"/>
            <a:ext cx="100584" cy="100584"/>
          </a:xfrm>
          <a:prstGeom prst="ellipse">
            <a:avLst/>
          </a:prstGeom>
          <a:solidFill>
            <a:srgbClr val="8C3A2B"/>
          </a:solidFill>
          <a:ln w="12700">
            <a:solidFill>
              <a:srgbClr val="8C3A2B"/>
            </a:solidFill>
            <a:prstDash val="solid"/>
          </a:ln>
        </p:spPr>
      </p:sp>
      <p:sp>
        <p:nvSpPr>
          <p:cNvPr id="12" name="Text 10"/>
          <p:cNvSpPr txBox="1"/>
          <p:nvPr/>
        </p:nvSpPr>
        <p:spPr>
          <a:xfrm>
            <a:off x="1069848" y="395020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Ürünü somut ve elle tutulur — depolama ve teşhir sorunu olan</a:t>
            </a:r>
            <a:endParaRPr lang="en-US" sz="1150" dirty="0"/>
          </a:p>
        </p:txBody>
      </p:sp>
      <p:sp>
        <p:nvSpPr>
          <p:cNvPr id="13" name="Shape 11"/>
          <p:cNvSpPr/>
          <p:nvPr/>
        </p:nvSpPr>
        <p:spPr>
          <a:xfrm>
            <a:off x="809244" y="4576572"/>
            <a:ext cx="100584" cy="100584"/>
          </a:xfrm>
          <a:prstGeom prst="ellipse">
            <a:avLst/>
          </a:prstGeom>
          <a:solidFill>
            <a:srgbClr val="8C3A2B"/>
          </a:solidFill>
          <a:ln w="12700">
            <a:solidFill>
              <a:srgbClr val="8C3A2B"/>
            </a:solidFill>
            <a:prstDash val="solid"/>
          </a:ln>
        </p:spPr>
      </p:sp>
      <p:sp>
        <p:nvSpPr>
          <p:cNvPr id="14" name="Text 12"/>
          <p:cNvSpPr txBox="1"/>
          <p:nvPr/>
        </p:nvSpPr>
        <p:spPr>
          <a:xfrm>
            <a:off x="1069848" y="449884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Ulaşabileceğiniz bir sahibi ya da çalışanı olan</a:t>
            </a:r>
            <a:endParaRPr lang="en-US" sz="1150" dirty="0"/>
          </a:p>
        </p:txBody>
      </p:sp>
      <p:sp>
        <p:nvSpPr>
          <p:cNvPr id="15" name="Shape 13"/>
          <p:cNvSpPr/>
          <p:nvPr/>
        </p:nvSpPr>
        <p:spPr>
          <a:xfrm>
            <a:off x="809244" y="5125212"/>
            <a:ext cx="100584" cy="100584"/>
          </a:xfrm>
          <a:prstGeom prst="ellipse">
            <a:avLst/>
          </a:prstGeom>
          <a:solidFill>
            <a:srgbClr val="8C3A2B"/>
          </a:solidFill>
          <a:ln w="12700">
            <a:solidFill>
              <a:srgbClr val="8C3A2B"/>
            </a:solidFill>
            <a:prstDash val="solid"/>
          </a:ln>
        </p:spPr>
      </p:sp>
      <p:sp>
        <p:nvSpPr>
          <p:cNvPr id="16" name="Text 14"/>
          <p:cNvSpPr txBox="1"/>
          <p:nvPr/>
        </p:nvSpPr>
        <p:spPr>
          <a:xfrm>
            <a:off x="1069848" y="504748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2B2B31"/>
                </a:solidFill>
                <a:latin typeface="Calibri" pitchFamily="34" charset="0"/>
                <a:ea typeface="Calibri" pitchFamily="34" charset="-122"/>
                <a:cs typeface="Calibri" pitchFamily="34" charset="-120"/>
              </a:rPr>
              <a:t>Hakkında konuşulacak bir hikâyesi bulunan</a:t>
            </a:r>
            <a:endParaRPr lang="en-US" sz="1150" dirty="0"/>
          </a:p>
        </p:txBody>
      </p:sp>
      <p:sp>
        <p:nvSpPr>
          <p:cNvPr id="17" name="Text 15"/>
          <p:cNvSpPr txBox="1"/>
          <p:nvPr/>
        </p:nvSpPr>
        <p:spPr>
          <a:xfrm>
            <a:off x="6382512" y="2542032"/>
            <a:ext cx="5029200" cy="274320"/>
          </a:xfrm>
          <a:prstGeom prst="rect">
            <a:avLst/>
          </a:prstGeom>
          <a:noFill/>
          <a:ln/>
        </p:spPr>
        <p:txBody>
          <a:bodyPr wrap="square" lIns="0" tIns="0" rIns="0" bIns="0" rtlCol="0" anchor="ctr"/>
          <a:lstStyle/>
          <a:p>
            <a:pPr algn="l" indent="0" marL="0">
              <a:lnSpc>
                <a:spcPts val="1200"/>
              </a:lnSpc>
              <a:buNone/>
            </a:pPr>
            <a:r>
              <a:rPr lang="en-US" sz="950" b="1" dirty="0">
                <a:solidFill>
                  <a:srgbClr val="7A7A82"/>
                </a:solidFill>
                <a:latin typeface="Calibri" pitchFamily="34" charset="0"/>
                <a:ea typeface="Calibri" pitchFamily="34" charset="-122"/>
                <a:cs typeface="Calibri" pitchFamily="34" charset="-120"/>
              </a:rPr>
              <a:t>MARKA NASIL OLMAMALI</a:t>
            </a:r>
            <a:endParaRPr lang="en-US" sz="950" dirty="0"/>
          </a:p>
        </p:txBody>
      </p:sp>
      <p:sp>
        <p:nvSpPr>
          <p:cNvPr id="18" name="Text 16"/>
          <p:cNvSpPr txBox="1"/>
          <p:nvPr/>
        </p:nvSpPr>
        <p:spPr>
          <a:xfrm>
            <a:off x="6382512" y="2852928"/>
            <a:ext cx="256032" cy="274320"/>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6675120" y="285292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A6A6AC"/>
                </a:solidFill>
                <a:latin typeface="Calibri" pitchFamily="34" charset="0"/>
                <a:ea typeface="Calibri" pitchFamily="34" charset="-122"/>
                <a:cs typeface="Calibri" pitchFamily="34" charset="-120"/>
              </a:rPr>
              <a:t>Tasarım dili zaten belirlenmiş büyük markalar</a:t>
            </a:r>
            <a:endParaRPr lang="en-US" sz="1150" dirty="0"/>
          </a:p>
        </p:txBody>
      </p:sp>
      <p:sp>
        <p:nvSpPr>
          <p:cNvPr id="20" name="Text 18"/>
          <p:cNvSpPr txBox="1"/>
          <p:nvPr/>
        </p:nvSpPr>
        <p:spPr>
          <a:xfrm>
            <a:off x="6382512" y="3401568"/>
            <a:ext cx="256032" cy="274320"/>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6675120" y="340156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A6A6AC"/>
                </a:solidFill>
                <a:latin typeface="Calibri" pitchFamily="34" charset="0"/>
                <a:ea typeface="Calibri" pitchFamily="34" charset="-122"/>
                <a:cs typeface="Calibri" pitchFamily="34" charset="-120"/>
              </a:rPr>
              <a:t>Yalnızca hizmet satan, ürünü olmayan işler</a:t>
            </a:r>
            <a:endParaRPr lang="en-US" sz="1150" dirty="0"/>
          </a:p>
        </p:txBody>
      </p:sp>
      <p:sp>
        <p:nvSpPr>
          <p:cNvPr id="22" name="Text 20"/>
          <p:cNvSpPr txBox="1"/>
          <p:nvPr/>
        </p:nvSpPr>
        <p:spPr>
          <a:xfrm>
            <a:off x="6382512" y="3950208"/>
            <a:ext cx="256032" cy="274320"/>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a:t>
            </a:r>
            <a:endParaRPr lang="en-US" sz="1200" dirty="0"/>
          </a:p>
        </p:txBody>
      </p:sp>
      <p:sp>
        <p:nvSpPr>
          <p:cNvPr id="23" name="Text 21"/>
          <p:cNvSpPr txBox="1"/>
          <p:nvPr/>
        </p:nvSpPr>
        <p:spPr>
          <a:xfrm>
            <a:off x="6675120" y="395020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A6A6AC"/>
                </a:solidFill>
                <a:latin typeface="Calibri" pitchFamily="34" charset="0"/>
                <a:ea typeface="Calibri" pitchFamily="34" charset="-122"/>
                <a:cs typeface="Calibri" pitchFamily="34" charset="-120"/>
              </a:rPr>
              <a:t>Hakkında yalnızca internetten bilgi bulabileceğiniz markalar</a:t>
            </a:r>
            <a:endParaRPr lang="en-US" sz="1150" dirty="0"/>
          </a:p>
        </p:txBody>
      </p:sp>
      <p:sp>
        <p:nvSpPr>
          <p:cNvPr id="24" name="Text 22"/>
          <p:cNvSpPr txBox="1"/>
          <p:nvPr/>
        </p:nvSpPr>
        <p:spPr>
          <a:xfrm>
            <a:off x="6382512" y="4498848"/>
            <a:ext cx="256032" cy="274320"/>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6675120" y="449884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A6A6AC"/>
                </a:solidFill>
                <a:latin typeface="Calibri" pitchFamily="34" charset="0"/>
                <a:ea typeface="Calibri" pitchFamily="34" charset="-122"/>
                <a:cs typeface="Calibri" pitchFamily="34" charset="-120"/>
              </a:rPr>
              <a:t>Kendi hayalinizde kurduğunuz, var olmayan markalar</a:t>
            </a:r>
            <a:endParaRPr lang="en-US" sz="1150" dirty="0"/>
          </a:p>
        </p:txBody>
      </p:sp>
      <p:sp>
        <p:nvSpPr>
          <p:cNvPr id="26" name="Text 24"/>
          <p:cNvSpPr txBox="1"/>
          <p:nvPr/>
        </p:nvSpPr>
        <p:spPr>
          <a:xfrm>
            <a:off x="6382512" y="5047488"/>
            <a:ext cx="256032" cy="274320"/>
          </a:xfrm>
          <a:prstGeom prst="rect">
            <a:avLst/>
          </a:prstGeom>
          <a:noFill/>
          <a:ln/>
        </p:spPr>
        <p:txBody>
          <a:bodyPr wrap="square" lIns="0" tIns="0" rIns="0" bIns="0" rtlCol="0" anchor="ctr"/>
          <a:lstStyle/>
          <a:p>
            <a:pPr indent="0" marL="0">
              <a:buNone/>
            </a:pPr>
            <a:r>
              <a:rPr lang="en-US" sz="1200" dirty="0">
                <a:solidFill>
                  <a:srgbClr val="A6A6AC"/>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6675120" y="5047488"/>
            <a:ext cx="4736592" cy="457200"/>
          </a:xfrm>
          <a:prstGeom prst="rect">
            <a:avLst/>
          </a:prstGeom>
          <a:noFill/>
          <a:ln/>
        </p:spPr>
        <p:txBody>
          <a:bodyPr wrap="square" lIns="0" tIns="0" rIns="0" bIns="0" rtlCol="0" anchor="ctr"/>
          <a:lstStyle/>
          <a:p>
            <a:pPr indent="0" marL="0">
              <a:lnSpc>
                <a:spcPts val="1450"/>
              </a:lnSpc>
              <a:buNone/>
            </a:pPr>
            <a:r>
              <a:rPr lang="en-US" sz="1150" dirty="0">
                <a:solidFill>
                  <a:srgbClr val="A6A6AC"/>
                </a:solidFill>
                <a:latin typeface="Calibri" pitchFamily="34" charset="0"/>
                <a:ea typeface="Calibri" pitchFamily="34" charset="-122"/>
                <a:cs typeface="Calibri" pitchFamily="34" charset="-120"/>
              </a:rPr>
              <a:t>Geçen dönem başka bir derste çalıştığınız markalar</a:t>
            </a:r>
            <a:endParaRPr lang="en-US" sz="1150" dirty="0"/>
          </a:p>
        </p:txBody>
      </p:sp>
      <p:sp>
        <p:nvSpPr>
          <p:cNvPr id="28" name="Shape 26"/>
          <p:cNvSpPr/>
          <p:nvPr/>
        </p:nvSpPr>
        <p:spPr>
          <a:xfrm>
            <a:off x="5989320" y="2523744"/>
            <a:ext cx="0" cy="3054096"/>
          </a:xfrm>
          <a:prstGeom prst="line">
            <a:avLst/>
          </a:prstGeom>
          <a:noFill/>
          <a:ln w="9525">
            <a:solidFill>
              <a:srgbClr val="C9C9CF"/>
            </a:solidFill>
            <a:prstDash val="solid"/>
          </a:ln>
        </p:spPr>
      </p:sp>
      <p:sp>
        <p:nvSpPr>
          <p:cNvPr id="29" name="Text 27"/>
          <p:cNvSpPr txBox="1"/>
          <p:nvPr/>
        </p:nvSpPr>
        <p:spPr>
          <a:xfrm>
            <a:off x="777240" y="5715000"/>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8C3A2B"/>
                </a:solidFill>
                <a:latin typeface="Cambria" pitchFamily="34" charset="0"/>
                <a:ea typeface="Cambria" pitchFamily="34" charset="-122"/>
                <a:cs typeface="Cambria" pitchFamily="34" charset="-120"/>
              </a:rPr>
              <a:t>En iyi adaylar çoğu zaman tanıdığınız birinin işidir: bir üretici, bir atölye, bir aile dükkânı.</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ÖDEV</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Araştırma paftasının içeriği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29</a:t>
            </a:r>
            <a:endParaRPr lang="en-US" sz="950" dirty="0"/>
          </a:p>
        </p:txBody>
      </p:sp>
      <p:sp>
        <p:nvSpPr>
          <p:cNvPr id="5" name="Text 3"/>
          <p:cNvSpPr txBox="1"/>
          <p:nvPr/>
        </p:nvSpPr>
        <p:spPr>
          <a:xfrm>
            <a:off x="777240" y="1554480"/>
            <a:ext cx="10634472" cy="713232"/>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Her marka için A4 dikey bir pafta hazırlayacaksınız. Pafta yedi bölümden oluşuyor; ilk dördü araştırma, son üçü ise araştırmanın mekâna çevrilmesi. Son iki bölüm doldurulmadan pafta tamamlanmış sayılmaz.</a:t>
            </a:r>
            <a:endParaRPr lang="en-US" sz="1400" dirty="0"/>
          </a:p>
        </p:txBody>
      </p:sp>
      <p:sp>
        <p:nvSpPr>
          <p:cNvPr id="6" name="Shape 4"/>
          <p:cNvSpPr/>
          <p:nvPr/>
        </p:nvSpPr>
        <p:spPr>
          <a:xfrm>
            <a:off x="777240" y="2423160"/>
            <a:ext cx="256032" cy="256032"/>
          </a:xfrm>
          <a:prstGeom prst="ellipse">
            <a:avLst/>
          </a:prstGeom>
          <a:solidFill>
            <a:srgbClr val="16161A"/>
          </a:solidFill>
          <a:ln w="12700">
            <a:solidFill>
              <a:srgbClr val="16161A"/>
            </a:solidFill>
            <a:prstDash val="solid"/>
          </a:ln>
        </p:spPr>
      </p:sp>
      <p:sp>
        <p:nvSpPr>
          <p:cNvPr id="7" name="Text 5"/>
          <p:cNvSpPr txBox="1"/>
          <p:nvPr/>
        </p:nvSpPr>
        <p:spPr>
          <a:xfrm>
            <a:off x="777240" y="2423160"/>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8" name="Text 6"/>
          <p:cNvSpPr txBox="1"/>
          <p:nvPr/>
        </p:nvSpPr>
        <p:spPr>
          <a:xfrm>
            <a:off x="1216152" y="2395728"/>
            <a:ext cx="3520440" cy="292608"/>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Marka künyesi</a:t>
            </a:r>
            <a:endParaRPr lang="en-US" sz="1450" dirty="0"/>
          </a:p>
        </p:txBody>
      </p:sp>
      <p:sp>
        <p:nvSpPr>
          <p:cNvPr id="9" name="Text 7"/>
          <p:cNvSpPr txBox="1"/>
          <p:nvPr/>
        </p:nvSpPr>
        <p:spPr>
          <a:xfrm>
            <a:off x="4937760" y="2432304"/>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adı, yeri, kuruluş, sahibi, nasıl satıyor</a:t>
            </a:r>
            <a:endParaRPr lang="en-US" sz="1100" dirty="0"/>
          </a:p>
        </p:txBody>
      </p:sp>
      <p:sp>
        <p:nvSpPr>
          <p:cNvPr id="10" name="Shape 8"/>
          <p:cNvSpPr/>
          <p:nvPr/>
        </p:nvSpPr>
        <p:spPr>
          <a:xfrm>
            <a:off x="777240" y="2935224"/>
            <a:ext cx="256032" cy="256032"/>
          </a:xfrm>
          <a:prstGeom prst="ellipse">
            <a:avLst/>
          </a:prstGeom>
          <a:solidFill>
            <a:srgbClr val="16161A"/>
          </a:solidFill>
          <a:ln w="12700">
            <a:solidFill>
              <a:srgbClr val="16161A"/>
            </a:solidFill>
            <a:prstDash val="solid"/>
          </a:ln>
        </p:spPr>
      </p:sp>
      <p:sp>
        <p:nvSpPr>
          <p:cNvPr id="11" name="Text 9"/>
          <p:cNvSpPr txBox="1"/>
          <p:nvPr/>
        </p:nvSpPr>
        <p:spPr>
          <a:xfrm>
            <a:off x="777240" y="2935224"/>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2" name="Text 10"/>
          <p:cNvSpPr txBox="1"/>
          <p:nvPr/>
        </p:nvSpPr>
        <p:spPr>
          <a:xfrm>
            <a:off x="1216152" y="2907792"/>
            <a:ext cx="3520440" cy="292608"/>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Ürün</a:t>
            </a:r>
            <a:endParaRPr lang="en-US" sz="1450" dirty="0"/>
          </a:p>
        </p:txBody>
      </p:sp>
      <p:sp>
        <p:nvSpPr>
          <p:cNvPr id="13" name="Text 11"/>
          <p:cNvSpPr txBox="1"/>
          <p:nvPr/>
        </p:nvSpPr>
        <p:spPr>
          <a:xfrm>
            <a:off x="4937760" y="2944368"/>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ne satılıyor, kaç çeşit, ölçüleri, kırılgan mı</a:t>
            </a:r>
            <a:endParaRPr lang="en-US" sz="1100" dirty="0"/>
          </a:p>
        </p:txBody>
      </p:sp>
      <p:sp>
        <p:nvSpPr>
          <p:cNvPr id="14" name="Shape 12"/>
          <p:cNvSpPr/>
          <p:nvPr/>
        </p:nvSpPr>
        <p:spPr>
          <a:xfrm>
            <a:off x="777240" y="3447288"/>
            <a:ext cx="256032" cy="256032"/>
          </a:xfrm>
          <a:prstGeom prst="ellipse">
            <a:avLst/>
          </a:prstGeom>
          <a:solidFill>
            <a:srgbClr val="16161A"/>
          </a:solidFill>
          <a:ln w="12700">
            <a:solidFill>
              <a:srgbClr val="16161A"/>
            </a:solidFill>
            <a:prstDash val="solid"/>
          </a:ln>
        </p:spPr>
      </p:sp>
      <p:sp>
        <p:nvSpPr>
          <p:cNvPr id="15" name="Text 13"/>
          <p:cNvSpPr txBox="1"/>
          <p:nvPr/>
        </p:nvSpPr>
        <p:spPr>
          <a:xfrm>
            <a:off x="777240" y="3447288"/>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16" name="Text 14"/>
          <p:cNvSpPr txBox="1"/>
          <p:nvPr/>
        </p:nvSpPr>
        <p:spPr>
          <a:xfrm>
            <a:off x="1216152" y="3419856"/>
            <a:ext cx="3520440" cy="292608"/>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Ürünle ilişki ve depolama</a:t>
            </a:r>
            <a:endParaRPr lang="en-US" sz="1450" dirty="0"/>
          </a:p>
        </p:txBody>
      </p:sp>
      <p:sp>
        <p:nvSpPr>
          <p:cNvPr id="17" name="Text 15"/>
          <p:cNvSpPr txBox="1"/>
          <p:nvPr/>
        </p:nvSpPr>
        <p:spPr>
          <a:xfrm>
            <a:off x="4937760" y="3456432"/>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müşteri ürünle ne yapıyor, stok nasıl duruyor</a:t>
            </a:r>
            <a:endParaRPr lang="en-US" sz="1100" dirty="0"/>
          </a:p>
        </p:txBody>
      </p:sp>
      <p:sp>
        <p:nvSpPr>
          <p:cNvPr id="18" name="Shape 16"/>
          <p:cNvSpPr/>
          <p:nvPr/>
        </p:nvSpPr>
        <p:spPr>
          <a:xfrm>
            <a:off x="777240" y="3959352"/>
            <a:ext cx="256032" cy="256032"/>
          </a:xfrm>
          <a:prstGeom prst="ellipse">
            <a:avLst/>
          </a:prstGeom>
          <a:solidFill>
            <a:srgbClr val="16161A"/>
          </a:solidFill>
          <a:ln w="12700">
            <a:solidFill>
              <a:srgbClr val="16161A"/>
            </a:solidFill>
            <a:prstDash val="solid"/>
          </a:ln>
        </p:spPr>
      </p:sp>
      <p:sp>
        <p:nvSpPr>
          <p:cNvPr id="19" name="Text 17"/>
          <p:cNvSpPr txBox="1"/>
          <p:nvPr/>
        </p:nvSpPr>
        <p:spPr>
          <a:xfrm>
            <a:off x="777240" y="3959352"/>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0" name="Text 18"/>
          <p:cNvSpPr txBox="1"/>
          <p:nvPr/>
        </p:nvSpPr>
        <p:spPr>
          <a:xfrm>
            <a:off x="1216152" y="3931920"/>
            <a:ext cx="3520440" cy="292608"/>
          </a:xfrm>
          <a:prstGeom prst="rect">
            <a:avLst/>
          </a:prstGeom>
          <a:noFill/>
          <a:ln/>
        </p:spPr>
        <p:txBody>
          <a:bodyPr wrap="square" lIns="0" tIns="0" rIns="0" bIns="0" rtlCol="0" anchor="ctr"/>
          <a:lstStyle/>
          <a:p>
            <a:pPr indent="0" marL="0">
              <a:buNone/>
            </a:pPr>
            <a:r>
              <a:rPr lang="en-US" sz="1450" b="1" dirty="0">
                <a:solidFill>
                  <a:srgbClr val="16161A"/>
                </a:solidFill>
                <a:latin typeface="Cambria" pitchFamily="34" charset="0"/>
                <a:ea typeface="Cambria" pitchFamily="34" charset="-122"/>
                <a:cs typeface="Cambria" pitchFamily="34" charset="-120"/>
              </a:rPr>
              <a:t>Kullanıcı</a:t>
            </a:r>
            <a:endParaRPr lang="en-US" sz="1450" dirty="0"/>
          </a:p>
        </p:txBody>
      </p:sp>
      <p:sp>
        <p:nvSpPr>
          <p:cNvPr id="21" name="Text 19"/>
          <p:cNvSpPr txBox="1"/>
          <p:nvPr/>
        </p:nvSpPr>
        <p:spPr>
          <a:xfrm>
            <a:off x="4937760" y="3968496"/>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kim geliyor, ne yapıyor, neden rahatsız oluyor</a:t>
            </a:r>
            <a:endParaRPr lang="en-US" sz="1100" dirty="0"/>
          </a:p>
        </p:txBody>
      </p:sp>
      <p:sp>
        <p:nvSpPr>
          <p:cNvPr id="22" name="Shape 20"/>
          <p:cNvSpPr/>
          <p:nvPr/>
        </p:nvSpPr>
        <p:spPr>
          <a:xfrm>
            <a:off x="777240" y="4471416"/>
            <a:ext cx="256032" cy="256032"/>
          </a:xfrm>
          <a:prstGeom prst="ellipse">
            <a:avLst/>
          </a:prstGeom>
          <a:solidFill>
            <a:srgbClr val="8C3A2B"/>
          </a:solidFill>
          <a:ln w="12700">
            <a:solidFill>
              <a:srgbClr val="8C3A2B"/>
            </a:solidFill>
            <a:prstDash val="solid"/>
          </a:ln>
        </p:spPr>
      </p:sp>
      <p:sp>
        <p:nvSpPr>
          <p:cNvPr id="23" name="Text 21"/>
          <p:cNvSpPr txBox="1"/>
          <p:nvPr/>
        </p:nvSpPr>
        <p:spPr>
          <a:xfrm>
            <a:off x="777240" y="4471416"/>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24" name="Text 22"/>
          <p:cNvSpPr txBox="1"/>
          <p:nvPr/>
        </p:nvSpPr>
        <p:spPr>
          <a:xfrm>
            <a:off x="1216152" y="4443984"/>
            <a:ext cx="3520440" cy="292608"/>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Marka dili ve anahtar kelimeler</a:t>
            </a:r>
            <a:endParaRPr lang="en-US" sz="1450" dirty="0"/>
          </a:p>
        </p:txBody>
      </p:sp>
      <p:sp>
        <p:nvSpPr>
          <p:cNvPr id="25" name="Text 23"/>
          <p:cNvSpPr txBox="1"/>
          <p:nvPr/>
        </p:nvSpPr>
        <p:spPr>
          <a:xfrm>
            <a:off x="4937760" y="4480560"/>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üç kelime ve her birinin kanıtı</a:t>
            </a:r>
            <a:endParaRPr lang="en-US" sz="1100" dirty="0"/>
          </a:p>
        </p:txBody>
      </p:sp>
      <p:sp>
        <p:nvSpPr>
          <p:cNvPr id="26" name="Shape 24"/>
          <p:cNvSpPr/>
          <p:nvPr/>
        </p:nvSpPr>
        <p:spPr>
          <a:xfrm>
            <a:off x="777240" y="4983480"/>
            <a:ext cx="256032" cy="256032"/>
          </a:xfrm>
          <a:prstGeom prst="ellipse">
            <a:avLst/>
          </a:prstGeom>
          <a:solidFill>
            <a:srgbClr val="8C3A2B"/>
          </a:solidFill>
          <a:ln w="12700">
            <a:solidFill>
              <a:srgbClr val="8C3A2B"/>
            </a:solidFill>
            <a:prstDash val="solid"/>
          </a:ln>
        </p:spPr>
      </p:sp>
      <p:sp>
        <p:nvSpPr>
          <p:cNvPr id="27" name="Text 25"/>
          <p:cNvSpPr txBox="1"/>
          <p:nvPr/>
        </p:nvSpPr>
        <p:spPr>
          <a:xfrm>
            <a:off x="777240" y="4983480"/>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28" name="Text 26"/>
          <p:cNvSpPr txBox="1"/>
          <p:nvPr/>
        </p:nvSpPr>
        <p:spPr>
          <a:xfrm>
            <a:off x="1216152" y="4956048"/>
            <a:ext cx="3520440" cy="292608"/>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Mekânsal karşılık</a:t>
            </a:r>
            <a:endParaRPr lang="en-US" sz="1450" dirty="0"/>
          </a:p>
        </p:txBody>
      </p:sp>
      <p:sp>
        <p:nvSpPr>
          <p:cNvPr id="29" name="Text 27"/>
          <p:cNvSpPr txBox="1"/>
          <p:nvPr/>
        </p:nvSpPr>
        <p:spPr>
          <a:xfrm>
            <a:off x="4937760" y="4992624"/>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her kelimenin karşılığı bir ilke ve bir öğe</a:t>
            </a:r>
            <a:endParaRPr lang="en-US" sz="1100" dirty="0"/>
          </a:p>
        </p:txBody>
      </p:sp>
      <p:sp>
        <p:nvSpPr>
          <p:cNvPr id="30" name="Shape 28"/>
          <p:cNvSpPr/>
          <p:nvPr/>
        </p:nvSpPr>
        <p:spPr>
          <a:xfrm>
            <a:off x="777240" y="5495544"/>
            <a:ext cx="256032" cy="256032"/>
          </a:xfrm>
          <a:prstGeom prst="ellipse">
            <a:avLst/>
          </a:prstGeom>
          <a:solidFill>
            <a:srgbClr val="8C3A2B"/>
          </a:solidFill>
          <a:ln w="12700">
            <a:solidFill>
              <a:srgbClr val="8C3A2B"/>
            </a:solidFill>
            <a:prstDash val="solid"/>
          </a:ln>
        </p:spPr>
      </p:sp>
      <p:sp>
        <p:nvSpPr>
          <p:cNvPr id="31" name="Text 29"/>
          <p:cNvSpPr txBox="1"/>
          <p:nvPr/>
        </p:nvSpPr>
        <p:spPr>
          <a:xfrm>
            <a:off x="777240" y="5495544"/>
            <a:ext cx="2560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32" name="Text 30"/>
          <p:cNvSpPr txBox="1"/>
          <p:nvPr/>
        </p:nvSpPr>
        <p:spPr>
          <a:xfrm>
            <a:off x="1216152" y="5468112"/>
            <a:ext cx="3520440" cy="292608"/>
          </a:xfrm>
          <a:prstGeom prst="rect">
            <a:avLst/>
          </a:prstGeom>
          <a:noFill/>
          <a:ln/>
        </p:spPr>
        <p:txBody>
          <a:bodyPr wrap="square" lIns="0" tIns="0" rIns="0" bIns="0" rtlCol="0" anchor="ctr"/>
          <a:lstStyle/>
          <a:p>
            <a:pPr indent="0" marL="0">
              <a:buNone/>
            </a:pPr>
            <a:r>
              <a:rPr lang="en-US" sz="1450" b="1" dirty="0">
                <a:solidFill>
                  <a:srgbClr val="8C3A2B"/>
                </a:solidFill>
                <a:latin typeface="Cambria" pitchFamily="34" charset="0"/>
                <a:ea typeface="Cambria" pitchFamily="34" charset="-122"/>
                <a:cs typeface="Cambria" pitchFamily="34" charset="-120"/>
              </a:rPr>
              <a:t>Uygunluk değerlendirmesi</a:t>
            </a:r>
            <a:endParaRPr lang="en-US" sz="1450" dirty="0"/>
          </a:p>
        </p:txBody>
      </p:sp>
      <p:sp>
        <p:nvSpPr>
          <p:cNvPr id="33" name="Text 31"/>
          <p:cNvSpPr txBox="1"/>
          <p:nvPr/>
        </p:nvSpPr>
        <p:spPr>
          <a:xfrm>
            <a:off x="4937760" y="5504688"/>
            <a:ext cx="4937760" cy="274320"/>
          </a:xfrm>
          <a:prstGeom prst="rect">
            <a:avLst/>
          </a:prstGeom>
          <a:noFill/>
          <a:ln/>
        </p:spPr>
        <p:txBody>
          <a:bodyPr wrap="square" lIns="0" tIns="0" rIns="0" bIns="0" rtlCol="0" anchor="ctr"/>
          <a:lstStyle/>
          <a:p>
            <a:pPr indent="0" marL="0">
              <a:buNone/>
            </a:pPr>
            <a:r>
              <a:rPr lang="en-US" sz="1100" dirty="0">
                <a:solidFill>
                  <a:srgbClr val="7A7A82"/>
                </a:solidFill>
                <a:latin typeface="Calibri" pitchFamily="34" charset="0"/>
                <a:ea typeface="Calibri" pitchFamily="34" charset="-122"/>
                <a:cs typeface="Calibri" pitchFamily="34" charset="-120"/>
              </a:rPr>
              <a:t>bu marka proje için neden uygun</a:t>
            </a:r>
            <a:endParaRPr lang="en-US" sz="1100" dirty="0"/>
          </a:p>
        </p:txBody>
      </p:sp>
      <p:sp>
        <p:nvSpPr>
          <p:cNvPr id="34" name="Shape 32"/>
          <p:cNvSpPr/>
          <p:nvPr/>
        </p:nvSpPr>
        <p:spPr>
          <a:xfrm>
            <a:off x="10149840" y="2395728"/>
            <a:ext cx="0" cy="1938528"/>
          </a:xfrm>
          <a:prstGeom prst="line">
            <a:avLst/>
          </a:prstGeom>
          <a:noFill/>
          <a:ln w="12700">
            <a:solidFill>
              <a:srgbClr val="C9C9CF"/>
            </a:solidFill>
            <a:prstDash val="solid"/>
          </a:ln>
        </p:spPr>
      </p:sp>
      <p:sp>
        <p:nvSpPr>
          <p:cNvPr id="35" name="Text 33"/>
          <p:cNvSpPr txBox="1"/>
          <p:nvPr/>
        </p:nvSpPr>
        <p:spPr>
          <a:xfrm>
            <a:off x="10287000" y="2834640"/>
            <a:ext cx="1188720" cy="274320"/>
          </a:xfrm>
          <a:prstGeom prst="rect">
            <a:avLst/>
          </a:prstGeom>
          <a:noFill/>
          <a:ln/>
        </p:spPr>
        <p:txBody>
          <a:bodyPr wrap="square" lIns="0" tIns="0" rIns="0" bIns="0" rtlCol="0" anchor="ctr"/>
          <a:lstStyle/>
          <a:p>
            <a:pPr algn="l" indent="0" marL="0">
              <a:lnSpc>
                <a:spcPts val="1200"/>
              </a:lnSpc>
              <a:buNone/>
            </a:pPr>
            <a:r>
              <a:rPr lang="en-US" sz="850" b="1" dirty="0">
                <a:solidFill>
                  <a:srgbClr val="7A7A82"/>
                </a:solidFill>
                <a:latin typeface="Calibri" pitchFamily="34" charset="0"/>
                <a:ea typeface="Calibri" pitchFamily="34" charset="-122"/>
                <a:cs typeface="Calibri" pitchFamily="34" charset="-120"/>
              </a:rPr>
              <a:t>ARAŞTIRMA</a:t>
            </a:r>
            <a:endParaRPr lang="en-US" sz="850" dirty="0"/>
          </a:p>
        </p:txBody>
      </p:sp>
      <p:sp>
        <p:nvSpPr>
          <p:cNvPr id="36" name="Shape 34"/>
          <p:cNvSpPr/>
          <p:nvPr/>
        </p:nvSpPr>
        <p:spPr>
          <a:xfrm>
            <a:off x="10149840" y="4443984"/>
            <a:ext cx="0" cy="1426464"/>
          </a:xfrm>
          <a:prstGeom prst="line">
            <a:avLst/>
          </a:prstGeom>
          <a:noFill/>
          <a:ln w="15875">
            <a:solidFill>
              <a:srgbClr val="8C3A2B"/>
            </a:solidFill>
            <a:prstDash val="solid"/>
          </a:ln>
        </p:spPr>
      </p:sp>
      <p:sp>
        <p:nvSpPr>
          <p:cNvPr id="37" name="Text 35"/>
          <p:cNvSpPr txBox="1"/>
          <p:nvPr/>
        </p:nvSpPr>
        <p:spPr>
          <a:xfrm>
            <a:off x="10287000" y="4892040"/>
            <a:ext cx="1463040" cy="274320"/>
          </a:xfrm>
          <a:prstGeom prst="rect">
            <a:avLst/>
          </a:prstGeom>
          <a:noFill/>
          <a:ln/>
        </p:spPr>
        <p:txBody>
          <a:bodyPr wrap="square" lIns="0" tIns="0" rIns="0" bIns="0" rtlCol="0" anchor="ctr"/>
          <a:lstStyle/>
          <a:p>
            <a:pPr algn="l" indent="0" marL="0">
              <a:lnSpc>
                <a:spcPts val="1200"/>
              </a:lnSpc>
              <a:buNone/>
            </a:pPr>
            <a:r>
              <a:rPr lang="en-US" sz="850" b="1" dirty="0">
                <a:solidFill>
                  <a:srgbClr val="8C3A2B"/>
                </a:solidFill>
                <a:latin typeface="Calibri" pitchFamily="34" charset="0"/>
                <a:ea typeface="Calibri" pitchFamily="34" charset="-122"/>
                <a:cs typeface="Calibri" pitchFamily="34" charset="-120"/>
              </a:rPr>
              <a:t>ÇEVİRİ</a:t>
            </a:r>
            <a:endParaRPr lang="en-US" sz="850" dirty="0"/>
          </a:p>
        </p:txBody>
      </p:sp>
      <p:sp>
        <p:nvSpPr>
          <p:cNvPr id="38" name="Shape 36"/>
          <p:cNvSpPr/>
          <p:nvPr/>
        </p:nvSpPr>
        <p:spPr>
          <a:xfrm>
            <a:off x="777240" y="5577840"/>
            <a:ext cx="10634472" cy="0"/>
          </a:xfrm>
          <a:prstGeom prst="line">
            <a:avLst/>
          </a:prstGeom>
          <a:noFill/>
          <a:ln w="9525">
            <a:solidFill>
              <a:srgbClr val="C9C9CF"/>
            </a:solidFill>
            <a:prstDash val="solid"/>
          </a:ln>
        </p:spPr>
      </p:sp>
      <p:sp>
        <p:nvSpPr>
          <p:cNvPr id="39" name="Text 37"/>
          <p:cNvSpPr txBox="1"/>
          <p:nvPr/>
        </p:nvSpPr>
        <p:spPr>
          <a:xfrm>
            <a:off x="777240" y="5715000"/>
            <a:ext cx="10424160" cy="411480"/>
          </a:xfrm>
          <a:prstGeom prst="rect">
            <a:avLst/>
          </a:prstGeom>
          <a:noFill/>
          <a:ln/>
        </p:spPr>
        <p:txBody>
          <a:bodyPr wrap="square" lIns="0" tIns="0" rIns="0" bIns="0" rtlCol="0" anchor="ctr"/>
          <a:lstStyle/>
          <a:p>
            <a:pPr algn="l" indent="0" marL="0">
              <a:lnSpc>
                <a:spcPts val="1200"/>
              </a:lnSpc>
              <a:buNone/>
            </a:pPr>
            <a:r>
              <a:rPr lang="en-US" sz="1250" dirty="0">
                <a:solidFill>
                  <a:srgbClr val="2B2B31"/>
                </a:solidFill>
                <a:latin typeface="Cambria" pitchFamily="34" charset="0"/>
                <a:ea typeface="Cambria" pitchFamily="34" charset="-122"/>
                <a:cs typeface="Cambria" pitchFamily="34" charset="-120"/>
              </a:rPr>
              <a:t>Teslim: üç pafta, A4 dikey, çıktı olarak. Fotoğraf ve el çizimi serbest; kopyala-yapıştır marka metni kabul edilmez.</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V · ÖNÜMÜZDEKİ HAFTALAR</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Sonraki üç hafta ne olacak</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30</a:t>
            </a:r>
            <a:endParaRPr lang="en-US" sz="950" dirty="0"/>
          </a:p>
        </p:txBody>
      </p:sp>
      <p:sp>
        <p:nvSpPr>
          <p:cNvPr id="5" name="Text 3"/>
          <p:cNvSpPr txBox="1"/>
          <p:nvPr/>
        </p:nvSpPr>
        <p:spPr>
          <a:xfrm>
            <a:off x="777240" y="1554480"/>
            <a:ext cx="10634472" cy="548640"/>
          </a:xfrm>
          <a:prstGeom prst="rect">
            <a:avLst/>
          </a:prstGeom>
          <a:noFill/>
          <a:ln/>
        </p:spPr>
        <p:txBody>
          <a:bodyPr wrap="square" lIns="0" tIns="0" rIns="0" bIns="0" rtlCol="0" anchor="ctr"/>
          <a:lstStyle/>
          <a:p>
            <a:pPr indent="0" marL="0">
              <a:lnSpc>
                <a:spcPts val="2300"/>
              </a:lnSpc>
              <a:buNone/>
            </a:pPr>
            <a:r>
              <a:rPr lang="en-US" sz="1400" dirty="0">
                <a:solidFill>
                  <a:srgbClr val="2B2B31"/>
                </a:solidFill>
                <a:latin typeface="Cambria" pitchFamily="34" charset="0"/>
                <a:ea typeface="Cambria" pitchFamily="34" charset="-122"/>
                <a:cs typeface="Cambria" pitchFamily="34" charset="-120"/>
              </a:rPr>
              <a:t>Bugün öğrendiğiniz araçlar önümüzdeki haftalarda sırayla kullanılacak. Her hafta bir öncekinin üstüne biniyor; bir hafta eksik kalırsa sonraki hafta boşa gidiyor.</a:t>
            </a:r>
            <a:endParaRPr lang="en-US" sz="1400" dirty="0"/>
          </a:p>
        </p:txBody>
      </p:sp>
      <p:sp>
        <p:nvSpPr>
          <p:cNvPr id="6" name="Shape 4"/>
          <p:cNvSpPr/>
          <p:nvPr/>
        </p:nvSpPr>
        <p:spPr>
          <a:xfrm>
            <a:off x="777240" y="2377440"/>
            <a:ext cx="3291840" cy="2606040"/>
          </a:xfrm>
          <a:prstGeom prst="rect">
            <a:avLst/>
          </a:prstGeom>
          <a:solidFill>
            <a:srgbClr val="F6EAE6"/>
          </a:solidFill>
          <a:ln w="15875">
            <a:solidFill>
              <a:srgbClr val="8C3A2B"/>
            </a:solidFill>
            <a:prstDash val="solid"/>
          </a:ln>
        </p:spPr>
      </p:sp>
      <p:sp>
        <p:nvSpPr>
          <p:cNvPr id="7" name="Text 5"/>
          <p:cNvSpPr txBox="1"/>
          <p:nvPr/>
        </p:nvSpPr>
        <p:spPr>
          <a:xfrm>
            <a:off x="978408" y="2578608"/>
            <a:ext cx="2889504" cy="256032"/>
          </a:xfrm>
          <a:prstGeom prst="rect">
            <a:avLst/>
          </a:prstGeom>
          <a:noFill/>
          <a:ln/>
        </p:spPr>
        <p:txBody>
          <a:bodyPr wrap="square" lIns="0" tIns="0" rIns="0" bIns="0" rtlCol="0" anchor="ctr"/>
          <a:lstStyle/>
          <a:p>
            <a:pPr indent="0" marL="0">
              <a:buNone/>
            </a:pPr>
            <a:r>
              <a:rPr lang="en-US" sz="1000" b="1" spc="180" kern="0" dirty="0">
                <a:solidFill>
                  <a:srgbClr val="8C3A2B"/>
                </a:solidFill>
                <a:latin typeface="Calibri" pitchFamily="34" charset="0"/>
                <a:ea typeface="Calibri" pitchFamily="34" charset="-122"/>
                <a:cs typeface="Calibri" pitchFamily="34" charset="-120"/>
              </a:rPr>
              <a:t>2. HAFTA</a:t>
            </a:r>
            <a:endParaRPr lang="en-US" sz="1000" dirty="0"/>
          </a:p>
        </p:txBody>
      </p:sp>
      <p:sp>
        <p:nvSpPr>
          <p:cNvPr id="8" name="Text 6"/>
          <p:cNvSpPr txBox="1"/>
          <p:nvPr/>
        </p:nvSpPr>
        <p:spPr>
          <a:xfrm>
            <a:off x="978408" y="2889504"/>
            <a:ext cx="2889504" cy="566928"/>
          </a:xfrm>
          <a:prstGeom prst="rect">
            <a:avLst/>
          </a:prstGeom>
          <a:noFill/>
          <a:ln/>
        </p:spPr>
        <p:txBody>
          <a:bodyPr wrap="square" lIns="0" tIns="0" rIns="0" bIns="0" rtlCol="0" anchor="ctr"/>
          <a:lstStyle/>
          <a:p>
            <a:pPr indent="0" marL="0">
              <a:lnSpc>
                <a:spcPts val="2000"/>
              </a:lnSpc>
              <a:buNone/>
            </a:pPr>
            <a:r>
              <a:rPr lang="en-US" sz="1600" b="1" dirty="0">
                <a:solidFill>
                  <a:srgbClr val="8C3A2B"/>
                </a:solidFill>
                <a:latin typeface="Cambria" pitchFamily="34" charset="0"/>
                <a:ea typeface="Cambria" pitchFamily="34" charset="-122"/>
                <a:cs typeface="Cambria" pitchFamily="34" charset="-120"/>
              </a:rPr>
              <a:t>Alan ziyareti ve marka seçimi</a:t>
            </a:r>
            <a:endParaRPr lang="en-US" sz="1600" dirty="0"/>
          </a:p>
        </p:txBody>
      </p:sp>
      <p:sp>
        <p:nvSpPr>
          <p:cNvPr id="9" name="Text 7"/>
          <p:cNvSpPr txBox="1"/>
          <p:nvPr/>
        </p:nvSpPr>
        <p:spPr>
          <a:xfrm>
            <a:off x="978408" y="3529584"/>
            <a:ext cx="2889504" cy="10515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Proje alanını yerinde göreceğiz. Aynı gün üç adaydan biri seçilecek ve o marka için deneyim araştırmasına başlanacak.</a:t>
            </a:r>
            <a:endParaRPr lang="en-US" sz="1050" dirty="0"/>
          </a:p>
        </p:txBody>
      </p:sp>
      <p:sp>
        <p:nvSpPr>
          <p:cNvPr id="10" name="Text 8"/>
          <p:cNvSpPr txBox="1"/>
          <p:nvPr/>
        </p:nvSpPr>
        <p:spPr>
          <a:xfrm>
            <a:off x="978408" y="4590288"/>
            <a:ext cx="2889504" cy="274320"/>
          </a:xfrm>
          <a:prstGeom prst="rect">
            <a:avLst/>
          </a:prstGeom>
          <a:noFill/>
          <a:ln/>
        </p:spPr>
        <p:txBody>
          <a:bodyPr wrap="square" lIns="0" tIns="0" rIns="0" bIns="0" rtlCol="0" anchor="ctr"/>
          <a:lstStyle/>
          <a:p>
            <a:pPr indent="0" marL="0">
              <a:buNone/>
            </a:pPr>
            <a:r>
              <a:rPr lang="en-US" sz="950" i="1" dirty="0">
                <a:solidFill>
                  <a:srgbClr val="8C3A2B"/>
                </a:solidFill>
                <a:latin typeface="Calibri" pitchFamily="34" charset="0"/>
                <a:ea typeface="Calibri" pitchFamily="34" charset="-122"/>
                <a:cs typeface="Calibri" pitchFamily="34" charset="-120"/>
              </a:rPr>
              <a:t>yanınızda: üç pafta</a:t>
            </a:r>
            <a:endParaRPr lang="en-US" sz="950" dirty="0"/>
          </a:p>
        </p:txBody>
      </p:sp>
      <p:sp>
        <p:nvSpPr>
          <p:cNvPr id="11" name="Shape 9"/>
          <p:cNvSpPr/>
          <p:nvPr/>
        </p:nvSpPr>
        <p:spPr>
          <a:xfrm>
            <a:off x="4142232" y="3680460"/>
            <a:ext cx="237744" cy="0"/>
          </a:xfrm>
          <a:prstGeom prst="line">
            <a:avLst/>
          </a:prstGeom>
          <a:noFill/>
          <a:ln w="15875">
            <a:solidFill>
              <a:srgbClr val="C9C9CF"/>
            </a:solidFill>
            <a:prstDash val="solid"/>
            <a:tailEnd type="triangle"/>
          </a:ln>
        </p:spPr>
      </p:sp>
      <p:sp>
        <p:nvSpPr>
          <p:cNvPr id="12" name="Shape 10"/>
          <p:cNvSpPr/>
          <p:nvPr/>
        </p:nvSpPr>
        <p:spPr>
          <a:xfrm>
            <a:off x="4453128" y="2377440"/>
            <a:ext cx="3291840" cy="2606040"/>
          </a:xfrm>
          <a:prstGeom prst="rect">
            <a:avLst/>
          </a:prstGeom>
          <a:ln w="9525">
            <a:solidFill>
              <a:srgbClr val="C9C9CF"/>
            </a:solidFill>
            <a:prstDash val="solid"/>
          </a:ln>
        </p:spPr>
      </p:sp>
      <p:sp>
        <p:nvSpPr>
          <p:cNvPr id="13" name="Text 11"/>
          <p:cNvSpPr txBox="1"/>
          <p:nvPr/>
        </p:nvSpPr>
        <p:spPr>
          <a:xfrm>
            <a:off x="4654296" y="2578608"/>
            <a:ext cx="2889504" cy="256032"/>
          </a:xfrm>
          <a:prstGeom prst="rect">
            <a:avLst/>
          </a:prstGeom>
          <a:noFill/>
          <a:ln/>
        </p:spPr>
        <p:txBody>
          <a:bodyPr wrap="square" lIns="0" tIns="0" rIns="0" bIns="0" rtlCol="0" anchor="ctr"/>
          <a:lstStyle/>
          <a:p>
            <a:pPr indent="0" marL="0">
              <a:buNone/>
            </a:pPr>
            <a:r>
              <a:rPr lang="en-US" sz="1000" b="1" spc="180" kern="0" dirty="0">
                <a:solidFill>
                  <a:srgbClr val="7A7A82"/>
                </a:solidFill>
                <a:latin typeface="Calibri" pitchFamily="34" charset="0"/>
                <a:ea typeface="Calibri" pitchFamily="34" charset="-122"/>
                <a:cs typeface="Calibri" pitchFamily="34" charset="-120"/>
              </a:rPr>
              <a:t>3. HAFTA</a:t>
            </a:r>
            <a:endParaRPr lang="en-US" sz="1000" dirty="0"/>
          </a:p>
        </p:txBody>
      </p:sp>
      <p:sp>
        <p:nvSpPr>
          <p:cNvPr id="14" name="Text 12"/>
          <p:cNvSpPr txBox="1"/>
          <p:nvPr/>
        </p:nvSpPr>
        <p:spPr>
          <a:xfrm>
            <a:off x="4654296" y="2889504"/>
            <a:ext cx="2889504" cy="566928"/>
          </a:xfrm>
          <a:prstGeom prst="rect">
            <a:avLst/>
          </a:prstGeom>
          <a:noFill/>
          <a:ln/>
        </p:spPr>
        <p:txBody>
          <a:bodyPr wrap="square" lIns="0" tIns="0" rIns="0" bIns="0" rtlCol="0" anchor="ctr"/>
          <a:lstStyle/>
          <a:p>
            <a:pPr indent="0" marL="0">
              <a:lnSpc>
                <a:spcPts val="2000"/>
              </a:lnSpc>
              <a:buNone/>
            </a:pPr>
            <a:r>
              <a:rPr lang="en-US" sz="1600" b="1" dirty="0">
                <a:solidFill>
                  <a:srgbClr val="16161A"/>
                </a:solidFill>
                <a:latin typeface="Cambria" pitchFamily="34" charset="0"/>
                <a:ea typeface="Cambria" pitchFamily="34" charset="-122"/>
                <a:cs typeface="Cambria" pitchFamily="34" charset="-120"/>
              </a:rPr>
              <a:t>Marka anahtarı ve persona</a:t>
            </a:r>
            <a:endParaRPr lang="en-US" sz="1600" dirty="0"/>
          </a:p>
        </p:txBody>
      </p:sp>
      <p:sp>
        <p:nvSpPr>
          <p:cNvPr id="15" name="Text 13"/>
          <p:cNvSpPr txBox="1"/>
          <p:nvPr/>
        </p:nvSpPr>
        <p:spPr>
          <a:xfrm>
            <a:off x="4654296" y="3529584"/>
            <a:ext cx="2889504" cy="10515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Seçilen marka için sekiz başlıklı marka anahtarı doldurulacak; gözleme dayalı bir persona ve yolculuk haritası çıkarılacak.</a:t>
            </a:r>
            <a:endParaRPr lang="en-US" sz="1050" dirty="0"/>
          </a:p>
        </p:txBody>
      </p:sp>
      <p:sp>
        <p:nvSpPr>
          <p:cNvPr id="16" name="Text 14"/>
          <p:cNvSpPr txBox="1"/>
          <p:nvPr/>
        </p:nvSpPr>
        <p:spPr>
          <a:xfrm>
            <a:off x="4654296" y="4590288"/>
            <a:ext cx="2889504" cy="274320"/>
          </a:xfrm>
          <a:prstGeom prst="rect">
            <a:avLst/>
          </a:prstGeom>
          <a:noFill/>
          <a:ln/>
        </p:spPr>
        <p:txBody>
          <a:bodyPr wrap="square" lIns="0" tIns="0" rIns="0" bIns="0" rtlCol="0" anchor="ctr"/>
          <a:lstStyle/>
          <a:p>
            <a:pPr indent="0" marL="0">
              <a:buNone/>
            </a:pPr>
            <a:r>
              <a:rPr lang="en-US" sz="950" i="1" dirty="0">
                <a:solidFill>
                  <a:srgbClr val="A6A6AC"/>
                </a:solidFill>
                <a:latin typeface="Calibri" pitchFamily="34" charset="0"/>
                <a:ea typeface="Calibri" pitchFamily="34" charset="-122"/>
                <a:cs typeface="Calibri" pitchFamily="34" charset="-120"/>
              </a:rPr>
              <a:t>yanınızda: görüşme notları</a:t>
            </a:r>
            <a:endParaRPr lang="en-US" sz="950" dirty="0"/>
          </a:p>
        </p:txBody>
      </p:sp>
      <p:sp>
        <p:nvSpPr>
          <p:cNvPr id="17" name="Shape 15"/>
          <p:cNvSpPr/>
          <p:nvPr/>
        </p:nvSpPr>
        <p:spPr>
          <a:xfrm>
            <a:off x="7818120" y="3680460"/>
            <a:ext cx="237744" cy="0"/>
          </a:xfrm>
          <a:prstGeom prst="line">
            <a:avLst/>
          </a:prstGeom>
          <a:noFill/>
          <a:ln w="15875">
            <a:solidFill>
              <a:srgbClr val="C9C9CF"/>
            </a:solidFill>
            <a:prstDash val="solid"/>
            <a:tailEnd type="triangle"/>
          </a:ln>
        </p:spPr>
      </p:sp>
      <p:sp>
        <p:nvSpPr>
          <p:cNvPr id="18" name="Shape 16"/>
          <p:cNvSpPr/>
          <p:nvPr/>
        </p:nvSpPr>
        <p:spPr>
          <a:xfrm>
            <a:off x="8129016" y="2377440"/>
            <a:ext cx="3291840" cy="2606040"/>
          </a:xfrm>
          <a:prstGeom prst="rect">
            <a:avLst/>
          </a:prstGeom>
          <a:ln w="9525">
            <a:solidFill>
              <a:srgbClr val="C9C9CF"/>
            </a:solidFill>
            <a:prstDash val="solid"/>
          </a:ln>
        </p:spPr>
      </p:sp>
      <p:sp>
        <p:nvSpPr>
          <p:cNvPr id="19" name="Text 17"/>
          <p:cNvSpPr txBox="1"/>
          <p:nvPr/>
        </p:nvSpPr>
        <p:spPr>
          <a:xfrm>
            <a:off x="8330184" y="2578608"/>
            <a:ext cx="2889504" cy="256032"/>
          </a:xfrm>
          <a:prstGeom prst="rect">
            <a:avLst/>
          </a:prstGeom>
          <a:noFill/>
          <a:ln/>
        </p:spPr>
        <p:txBody>
          <a:bodyPr wrap="square" lIns="0" tIns="0" rIns="0" bIns="0" rtlCol="0" anchor="ctr"/>
          <a:lstStyle/>
          <a:p>
            <a:pPr indent="0" marL="0">
              <a:buNone/>
            </a:pPr>
            <a:r>
              <a:rPr lang="en-US" sz="1000" b="1" spc="180" kern="0" dirty="0">
                <a:solidFill>
                  <a:srgbClr val="7A7A82"/>
                </a:solidFill>
                <a:latin typeface="Calibri" pitchFamily="34" charset="0"/>
                <a:ea typeface="Calibri" pitchFamily="34" charset="-122"/>
                <a:cs typeface="Calibri" pitchFamily="34" charset="-120"/>
              </a:rPr>
              <a:t>4. HAFTA</a:t>
            </a:r>
            <a:endParaRPr lang="en-US" sz="1000" dirty="0"/>
          </a:p>
        </p:txBody>
      </p:sp>
      <p:sp>
        <p:nvSpPr>
          <p:cNvPr id="20" name="Text 18"/>
          <p:cNvSpPr txBox="1"/>
          <p:nvPr/>
        </p:nvSpPr>
        <p:spPr>
          <a:xfrm>
            <a:off x="8330184" y="2889504"/>
            <a:ext cx="2889504" cy="566928"/>
          </a:xfrm>
          <a:prstGeom prst="rect">
            <a:avLst/>
          </a:prstGeom>
          <a:noFill/>
          <a:ln/>
        </p:spPr>
        <p:txBody>
          <a:bodyPr wrap="square" lIns="0" tIns="0" rIns="0" bIns="0" rtlCol="0" anchor="ctr"/>
          <a:lstStyle/>
          <a:p>
            <a:pPr indent="0" marL="0">
              <a:lnSpc>
                <a:spcPts val="2000"/>
              </a:lnSpc>
              <a:buNone/>
            </a:pPr>
            <a:r>
              <a:rPr lang="en-US" sz="1600" b="1" dirty="0">
                <a:solidFill>
                  <a:srgbClr val="16161A"/>
                </a:solidFill>
                <a:latin typeface="Cambria" pitchFamily="34" charset="0"/>
                <a:ea typeface="Cambria" pitchFamily="34" charset="-122"/>
                <a:cs typeface="Cambria" pitchFamily="34" charset="-120"/>
              </a:rPr>
              <a:t>Anahtar kelime ve konsept</a:t>
            </a:r>
            <a:endParaRPr lang="en-US" sz="1600" dirty="0"/>
          </a:p>
        </p:txBody>
      </p:sp>
      <p:sp>
        <p:nvSpPr>
          <p:cNvPr id="21" name="Text 19"/>
          <p:cNvSpPr txBox="1"/>
          <p:nvPr/>
        </p:nvSpPr>
        <p:spPr>
          <a:xfrm>
            <a:off x="8330184" y="3529584"/>
            <a:ext cx="2889504" cy="1051560"/>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Üç anahtar kelime kesinleşecek ve her kelime için ilk mekânsal karşılıklar önerilecek. Konsept jürisine buradan gidilecek.</a:t>
            </a:r>
            <a:endParaRPr lang="en-US" sz="1050" dirty="0"/>
          </a:p>
        </p:txBody>
      </p:sp>
      <p:sp>
        <p:nvSpPr>
          <p:cNvPr id="22" name="Text 20"/>
          <p:cNvSpPr txBox="1"/>
          <p:nvPr/>
        </p:nvSpPr>
        <p:spPr>
          <a:xfrm>
            <a:off x="8330184" y="4590288"/>
            <a:ext cx="2889504" cy="274320"/>
          </a:xfrm>
          <a:prstGeom prst="rect">
            <a:avLst/>
          </a:prstGeom>
          <a:noFill/>
          <a:ln/>
        </p:spPr>
        <p:txBody>
          <a:bodyPr wrap="square" lIns="0" tIns="0" rIns="0" bIns="0" rtlCol="0" anchor="ctr"/>
          <a:lstStyle/>
          <a:p>
            <a:pPr indent="0" marL="0">
              <a:buNone/>
            </a:pPr>
            <a:r>
              <a:rPr lang="en-US" sz="950" i="1" dirty="0">
                <a:solidFill>
                  <a:srgbClr val="A6A6AC"/>
                </a:solidFill>
                <a:latin typeface="Calibri" pitchFamily="34" charset="0"/>
                <a:ea typeface="Calibri" pitchFamily="34" charset="-122"/>
                <a:cs typeface="Calibri" pitchFamily="34" charset="-120"/>
              </a:rPr>
              <a:t>yanınızda: çeviri zinciri</a:t>
            </a:r>
            <a:endParaRPr lang="en-US" sz="950" dirty="0"/>
          </a:p>
        </p:txBody>
      </p:sp>
      <p:sp>
        <p:nvSpPr>
          <p:cNvPr id="23" name="Text 21"/>
          <p:cNvSpPr txBox="1"/>
          <p:nvPr/>
        </p:nvSpPr>
        <p:spPr>
          <a:xfrm>
            <a:off x="777240" y="5257800"/>
            <a:ext cx="10424160" cy="457200"/>
          </a:xfrm>
          <a:prstGeom prst="rect">
            <a:avLst/>
          </a:prstGeom>
          <a:noFill/>
          <a:ln/>
        </p:spPr>
        <p:txBody>
          <a:bodyPr wrap="square" lIns="0" tIns="0" rIns="0" bIns="0" rtlCol="0" anchor="ctr"/>
          <a:lstStyle/>
          <a:p>
            <a:pPr algn="l" indent="0" marL="0">
              <a:lnSpc>
                <a:spcPts val="1800"/>
              </a:lnSpc>
              <a:buNone/>
            </a:pPr>
            <a:r>
              <a:rPr lang="en-US" sz="1300" dirty="0">
                <a:solidFill>
                  <a:srgbClr val="2B2B31"/>
                </a:solidFill>
                <a:latin typeface="Cambria" pitchFamily="34" charset="0"/>
                <a:ea typeface="Cambria" pitchFamily="34" charset="-122"/>
                <a:cs typeface="Cambria" pitchFamily="34" charset="-120"/>
              </a:rPr>
              <a:t>Dördüncü haftanın sonunda elinizde savunulabilir bir konsept olacak: üç kelime, üç mekânsal ilke ve bunları doğuran araştırma.</a:t>
            </a:r>
            <a:endParaRPr lang="en-US" sz="1300" dirty="0"/>
          </a:p>
        </p:txBody>
      </p:sp>
      <p:sp>
        <p:nvSpPr>
          <p:cNvPr id="24" name="Text 22"/>
          <p:cNvSpPr txBox="1"/>
          <p:nvPr/>
        </p:nvSpPr>
        <p:spPr>
          <a:xfrm>
            <a:off x="777240" y="5897880"/>
            <a:ext cx="10424160" cy="365760"/>
          </a:xfrm>
          <a:prstGeom prst="rect">
            <a:avLst/>
          </a:prstGeom>
          <a:noFill/>
          <a:ln/>
        </p:spPr>
        <p:txBody>
          <a:bodyPr wrap="square" lIns="0" tIns="0" rIns="0" bIns="0" rtlCol="0" anchor="ctr"/>
          <a:lstStyle/>
          <a:p>
            <a:pPr algn="l" indent="0" marL="0">
              <a:lnSpc>
                <a:spcPts val="1200"/>
              </a:lnSpc>
              <a:buNone/>
            </a:pPr>
            <a:r>
              <a:rPr lang="en-US" sz="1250" i="1" dirty="0">
                <a:solidFill>
                  <a:srgbClr val="8C3A2B"/>
                </a:solidFill>
                <a:latin typeface="Cambria" pitchFamily="34" charset="0"/>
                <a:ea typeface="Cambria" pitchFamily="34" charset="-122"/>
                <a:cs typeface="Cambria" pitchFamily="34" charset="-120"/>
              </a:rPr>
              <a:t>Araştırma, tasarımın öncesinde yapılan bir ödev değil; tasarımın kendisinin başladığı yerdir.</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777240" y="475488"/>
            <a:ext cx="9601200" cy="237744"/>
          </a:xfrm>
          <a:prstGeom prst="rect">
            <a:avLst/>
          </a:prstGeom>
          <a:noFill/>
          <a:ln/>
        </p:spPr>
        <p:txBody>
          <a:bodyPr wrap="square" lIns="0" tIns="0" rIns="0" bIns="0" rtlCol="0" anchor="ctr"/>
          <a:lstStyle/>
          <a:p>
            <a:pPr indent="0" marL="0">
              <a:buNone/>
            </a:pPr>
            <a:r>
              <a:rPr lang="en-US" sz="950" b="1" spc="260" kern="0" dirty="0">
                <a:solidFill>
                  <a:srgbClr val="7A7A82"/>
                </a:solidFill>
                <a:latin typeface="Calibri" pitchFamily="34" charset="0"/>
                <a:ea typeface="Calibri" pitchFamily="34" charset="-122"/>
                <a:cs typeface="Calibri" pitchFamily="34" charset="-120"/>
              </a:rPr>
              <a:t>KAYNAKÇA</a:t>
            </a:r>
            <a:endParaRPr lang="en-US" sz="950" dirty="0"/>
          </a:p>
        </p:txBody>
      </p:sp>
      <p:sp>
        <p:nvSpPr>
          <p:cNvPr id="3" name="Text 1"/>
          <p:cNvSpPr txBox="1"/>
          <p:nvPr/>
        </p:nvSpPr>
        <p:spPr>
          <a:xfrm>
            <a:off x="777240" y="822960"/>
            <a:ext cx="10424160" cy="731520"/>
          </a:xfrm>
          <a:prstGeom prst="rect">
            <a:avLst/>
          </a:prstGeom>
          <a:noFill/>
          <a:ln/>
        </p:spPr>
        <p:txBody>
          <a:bodyPr wrap="square" lIns="0" tIns="0" rIns="0" bIns="0" rtlCol="0" anchor="ctr"/>
          <a:lstStyle/>
          <a:p>
            <a:pPr indent="0" marL="0">
              <a:lnSpc>
                <a:spcPts val="3400"/>
              </a:lnSpc>
              <a:buNone/>
            </a:pPr>
            <a:r>
              <a:rPr lang="en-US" sz="2900" b="1" dirty="0">
                <a:solidFill>
                  <a:srgbClr val="16161A"/>
                </a:solidFill>
                <a:latin typeface="Cambria" pitchFamily="34" charset="0"/>
                <a:ea typeface="Cambria" pitchFamily="34" charset="-122"/>
                <a:cs typeface="Cambria" pitchFamily="34" charset="-120"/>
              </a:rPr>
              <a:t>Okuma listesi</a:t>
            </a:r>
            <a:endParaRPr lang="en-US" sz="2900" dirty="0"/>
          </a:p>
        </p:txBody>
      </p:sp>
      <p:sp>
        <p:nvSpPr>
          <p:cNvPr id="4" name="Text 2"/>
          <p:cNvSpPr txBox="1"/>
          <p:nvPr/>
        </p:nvSpPr>
        <p:spPr>
          <a:xfrm>
            <a:off x="10972800" y="6355080"/>
            <a:ext cx="438912" cy="237744"/>
          </a:xfrm>
          <a:prstGeom prst="rect">
            <a:avLst/>
          </a:prstGeom>
          <a:noFill/>
          <a:ln/>
        </p:spPr>
        <p:txBody>
          <a:bodyPr wrap="square" lIns="0" tIns="0" rIns="0" bIns="0" rtlCol="0" anchor="ctr"/>
          <a:lstStyle/>
          <a:p>
            <a:pPr algn="r" indent="0" marL="0">
              <a:buNone/>
            </a:pPr>
            <a:r>
              <a:rPr lang="en-US" sz="950" dirty="0">
                <a:solidFill>
                  <a:srgbClr val="A6A6AC"/>
                </a:solidFill>
                <a:latin typeface="Calibri" pitchFamily="34" charset="0"/>
                <a:ea typeface="Calibri" pitchFamily="34" charset="-122"/>
                <a:cs typeface="Calibri" pitchFamily="34" charset="-120"/>
              </a:rPr>
              <a:t>31</a:t>
            </a:r>
            <a:endParaRPr lang="en-US" sz="950" dirty="0"/>
          </a:p>
        </p:txBody>
      </p:sp>
      <p:sp>
        <p:nvSpPr>
          <p:cNvPr id="5" name="Text 3"/>
          <p:cNvSpPr txBox="1"/>
          <p:nvPr/>
        </p:nvSpPr>
        <p:spPr>
          <a:xfrm>
            <a:off x="777240" y="1536192"/>
            <a:ext cx="10634472" cy="640080"/>
          </a:xfrm>
          <a:prstGeom prst="rect">
            <a:avLst/>
          </a:prstGeom>
          <a:noFill/>
          <a:ln/>
        </p:spPr>
        <p:txBody>
          <a:bodyPr wrap="square" lIns="0" tIns="0" rIns="0" bIns="0" rtlCol="0" anchor="ctr"/>
          <a:lstStyle/>
          <a:p>
            <a:pPr indent="0" marL="0">
              <a:lnSpc>
                <a:spcPts val="2300"/>
              </a:lnSpc>
              <a:buNone/>
            </a:pPr>
            <a:r>
              <a:rPr lang="en-US" sz="1350" dirty="0">
                <a:solidFill>
                  <a:srgbClr val="2B2B31"/>
                </a:solidFill>
                <a:latin typeface="Cambria" pitchFamily="34" charset="0"/>
                <a:ea typeface="Cambria" pitchFamily="34" charset="-122"/>
                <a:cs typeface="Cambria" pitchFamily="34" charset="-120"/>
              </a:rPr>
              <a:t>Aşağıdaki kaynaklar sunumda geçen kavramların dayandığı çalışmalardır. İlk üçü bu haftanın ödevini yaparken doğrudan işinize yarayacak.</a:t>
            </a:r>
            <a:endParaRPr lang="en-US" sz="1350" dirty="0"/>
          </a:p>
        </p:txBody>
      </p:sp>
      <p:sp>
        <p:nvSpPr>
          <p:cNvPr id="6" name="Shape 4"/>
          <p:cNvSpPr/>
          <p:nvPr/>
        </p:nvSpPr>
        <p:spPr>
          <a:xfrm>
            <a:off x="777240" y="2212848"/>
            <a:ext cx="164592" cy="0"/>
          </a:xfrm>
          <a:prstGeom prst="line">
            <a:avLst/>
          </a:prstGeom>
          <a:noFill/>
          <a:ln w="12700">
            <a:solidFill>
              <a:srgbClr val="8C3A2B"/>
            </a:solidFill>
            <a:prstDash val="solid"/>
          </a:ln>
        </p:spPr>
      </p:sp>
      <p:sp>
        <p:nvSpPr>
          <p:cNvPr id="7" name="Text 5"/>
          <p:cNvSpPr txBox="1"/>
          <p:nvPr/>
        </p:nvSpPr>
        <p:spPr>
          <a:xfrm>
            <a:off x="777240" y="2286000"/>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Stickdorn, M., Hormess, M., Lawrence, A. &amp; Schneider, J. (2018). This Is Service Design Doing. O'Reilly.</a:t>
            </a:r>
            <a:endParaRPr lang="en-US" sz="1050" dirty="0"/>
          </a:p>
        </p:txBody>
      </p:sp>
      <p:sp>
        <p:nvSpPr>
          <p:cNvPr id="8" name="Shape 6"/>
          <p:cNvSpPr/>
          <p:nvPr/>
        </p:nvSpPr>
        <p:spPr>
          <a:xfrm>
            <a:off x="777240" y="2962656"/>
            <a:ext cx="164592" cy="0"/>
          </a:xfrm>
          <a:prstGeom prst="line">
            <a:avLst/>
          </a:prstGeom>
          <a:noFill/>
          <a:ln w="12700">
            <a:solidFill>
              <a:srgbClr val="8C3A2B"/>
            </a:solidFill>
            <a:prstDash val="solid"/>
          </a:ln>
        </p:spPr>
      </p:sp>
      <p:sp>
        <p:nvSpPr>
          <p:cNvPr id="9" name="Text 7"/>
          <p:cNvSpPr txBox="1"/>
          <p:nvPr/>
        </p:nvSpPr>
        <p:spPr>
          <a:xfrm>
            <a:off x="777240" y="3035808"/>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Lemon, K. N. &amp; Verhoef, P. C. (2016). Understanding Customer Experience Throughout the Customer Journey. Journal of Marketing, 80(6), 69–96.</a:t>
            </a:r>
            <a:endParaRPr lang="en-US" sz="1050" dirty="0"/>
          </a:p>
        </p:txBody>
      </p:sp>
      <p:sp>
        <p:nvSpPr>
          <p:cNvPr id="10" name="Shape 8"/>
          <p:cNvSpPr/>
          <p:nvPr/>
        </p:nvSpPr>
        <p:spPr>
          <a:xfrm>
            <a:off x="777240" y="3712464"/>
            <a:ext cx="164592" cy="0"/>
          </a:xfrm>
          <a:prstGeom prst="line">
            <a:avLst/>
          </a:prstGeom>
          <a:noFill/>
          <a:ln w="12700">
            <a:solidFill>
              <a:srgbClr val="8C3A2B"/>
            </a:solidFill>
            <a:prstDash val="solid"/>
          </a:ln>
        </p:spPr>
      </p:sp>
      <p:sp>
        <p:nvSpPr>
          <p:cNvPr id="11" name="Text 9"/>
          <p:cNvSpPr txBox="1"/>
          <p:nvPr/>
        </p:nvSpPr>
        <p:spPr>
          <a:xfrm>
            <a:off x="777240" y="3785616"/>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Stein, A. &amp; Ramaseshan, B. (2016). Towards the Identification of Customer Experience Touch Point Elements. Journal of Retailing and Consumer Services, 30, 8–19.</a:t>
            </a:r>
            <a:endParaRPr lang="en-US" sz="1050" dirty="0"/>
          </a:p>
        </p:txBody>
      </p:sp>
      <p:sp>
        <p:nvSpPr>
          <p:cNvPr id="12" name="Shape 10"/>
          <p:cNvSpPr/>
          <p:nvPr/>
        </p:nvSpPr>
        <p:spPr>
          <a:xfrm>
            <a:off x="777240" y="4462272"/>
            <a:ext cx="164592" cy="0"/>
          </a:xfrm>
          <a:prstGeom prst="line">
            <a:avLst/>
          </a:prstGeom>
          <a:noFill/>
          <a:ln w="12700">
            <a:solidFill>
              <a:srgbClr val="8C3A2B"/>
            </a:solidFill>
            <a:prstDash val="solid"/>
          </a:ln>
        </p:spPr>
      </p:sp>
      <p:sp>
        <p:nvSpPr>
          <p:cNvPr id="13" name="Text 11"/>
          <p:cNvSpPr txBox="1"/>
          <p:nvPr/>
        </p:nvSpPr>
        <p:spPr>
          <a:xfrm>
            <a:off x="777240" y="4535424"/>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Wheeler, A. (2017). Designing Brand Identity (5. baskı). Wiley.</a:t>
            </a:r>
            <a:endParaRPr lang="en-US" sz="1050" dirty="0"/>
          </a:p>
        </p:txBody>
      </p:sp>
      <p:sp>
        <p:nvSpPr>
          <p:cNvPr id="14" name="Shape 12"/>
          <p:cNvSpPr/>
          <p:nvPr/>
        </p:nvSpPr>
        <p:spPr>
          <a:xfrm>
            <a:off x="777240" y="5212080"/>
            <a:ext cx="164592" cy="0"/>
          </a:xfrm>
          <a:prstGeom prst="line">
            <a:avLst/>
          </a:prstGeom>
          <a:noFill/>
          <a:ln w="12700">
            <a:solidFill>
              <a:srgbClr val="8C3A2B"/>
            </a:solidFill>
            <a:prstDash val="solid"/>
          </a:ln>
        </p:spPr>
      </p:sp>
      <p:sp>
        <p:nvSpPr>
          <p:cNvPr id="15" name="Text 13"/>
          <p:cNvSpPr txBox="1"/>
          <p:nvPr/>
        </p:nvSpPr>
        <p:spPr>
          <a:xfrm>
            <a:off x="777240" y="5285232"/>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Micheaux, A. &amp; Bosio, B. (2019). Customer Journey Mapping as a New Way to Teach Data-Driven Marketing. Journal of Marketing Education, 41(2), 127–140.</a:t>
            </a:r>
            <a:endParaRPr lang="en-US" sz="1050" dirty="0"/>
          </a:p>
        </p:txBody>
      </p:sp>
      <p:sp>
        <p:nvSpPr>
          <p:cNvPr id="16" name="Shape 14"/>
          <p:cNvSpPr/>
          <p:nvPr/>
        </p:nvSpPr>
        <p:spPr>
          <a:xfrm>
            <a:off x="6382512" y="2212848"/>
            <a:ext cx="164592" cy="0"/>
          </a:xfrm>
          <a:prstGeom prst="line">
            <a:avLst/>
          </a:prstGeom>
          <a:noFill/>
          <a:ln w="12700">
            <a:solidFill>
              <a:srgbClr val="8C3A2B"/>
            </a:solidFill>
            <a:prstDash val="solid"/>
          </a:ln>
        </p:spPr>
      </p:sp>
      <p:sp>
        <p:nvSpPr>
          <p:cNvPr id="17" name="Text 15"/>
          <p:cNvSpPr txBox="1"/>
          <p:nvPr/>
        </p:nvSpPr>
        <p:spPr>
          <a:xfrm>
            <a:off x="6382512" y="2286000"/>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Kotler, P. (1973). Atmospherics as a Marketing Tool. Journal of Retailing, 49(4), 48–64.</a:t>
            </a:r>
            <a:endParaRPr lang="en-US" sz="1050" dirty="0"/>
          </a:p>
        </p:txBody>
      </p:sp>
      <p:sp>
        <p:nvSpPr>
          <p:cNvPr id="18" name="Shape 16"/>
          <p:cNvSpPr/>
          <p:nvPr/>
        </p:nvSpPr>
        <p:spPr>
          <a:xfrm>
            <a:off x="6382512" y="2962656"/>
            <a:ext cx="164592" cy="0"/>
          </a:xfrm>
          <a:prstGeom prst="line">
            <a:avLst/>
          </a:prstGeom>
          <a:noFill/>
          <a:ln w="12700">
            <a:solidFill>
              <a:srgbClr val="8C3A2B"/>
            </a:solidFill>
            <a:prstDash val="solid"/>
          </a:ln>
        </p:spPr>
      </p:sp>
      <p:sp>
        <p:nvSpPr>
          <p:cNvPr id="19" name="Text 17"/>
          <p:cNvSpPr txBox="1"/>
          <p:nvPr/>
        </p:nvSpPr>
        <p:spPr>
          <a:xfrm>
            <a:off x="6382512" y="3035808"/>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Lindström, M. (2005). Brand Sense: Sensory Secrets Behind the Stuff We Buy. Free Press.</a:t>
            </a:r>
            <a:endParaRPr lang="en-US" sz="1050" dirty="0"/>
          </a:p>
        </p:txBody>
      </p:sp>
      <p:sp>
        <p:nvSpPr>
          <p:cNvPr id="20" name="Shape 18"/>
          <p:cNvSpPr/>
          <p:nvPr/>
        </p:nvSpPr>
        <p:spPr>
          <a:xfrm>
            <a:off x="6382512" y="3712464"/>
            <a:ext cx="164592" cy="0"/>
          </a:xfrm>
          <a:prstGeom prst="line">
            <a:avLst/>
          </a:prstGeom>
          <a:noFill/>
          <a:ln w="12700">
            <a:solidFill>
              <a:srgbClr val="8C3A2B"/>
            </a:solidFill>
            <a:prstDash val="solid"/>
          </a:ln>
        </p:spPr>
      </p:sp>
      <p:sp>
        <p:nvSpPr>
          <p:cNvPr id="21" name="Text 19"/>
          <p:cNvSpPr txBox="1"/>
          <p:nvPr/>
        </p:nvSpPr>
        <p:spPr>
          <a:xfrm>
            <a:off x="6382512" y="3785616"/>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Kahneman, D. &amp; Fredrickson, B. L. (1993). When More Pain Is Preferred to Less: Adding a Better End. Psychological Science, 4(6), 401–405.</a:t>
            </a:r>
            <a:endParaRPr lang="en-US" sz="1050" dirty="0"/>
          </a:p>
        </p:txBody>
      </p:sp>
      <p:sp>
        <p:nvSpPr>
          <p:cNvPr id="22" name="Shape 20"/>
          <p:cNvSpPr/>
          <p:nvPr/>
        </p:nvSpPr>
        <p:spPr>
          <a:xfrm>
            <a:off x="6382512" y="4462272"/>
            <a:ext cx="164592" cy="0"/>
          </a:xfrm>
          <a:prstGeom prst="line">
            <a:avLst/>
          </a:prstGeom>
          <a:noFill/>
          <a:ln w="12700">
            <a:solidFill>
              <a:srgbClr val="8C3A2B"/>
            </a:solidFill>
            <a:prstDash val="solid"/>
          </a:ln>
        </p:spPr>
      </p:sp>
      <p:sp>
        <p:nvSpPr>
          <p:cNvPr id="23" name="Text 21"/>
          <p:cNvSpPr txBox="1"/>
          <p:nvPr/>
        </p:nvSpPr>
        <p:spPr>
          <a:xfrm>
            <a:off x="6382512" y="4535424"/>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Bükülmez, S. vd. (2025). Mağaza tasarımı stüdyosunda öğrenci performansının modüler değerlendirilmesi.</a:t>
            </a:r>
            <a:endParaRPr lang="en-US" sz="1050" dirty="0"/>
          </a:p>
        </p:txBody>
      </p:sp>
      <p:sp>
        <p:nvSpPr>
          <p:cNvPr id="24" name="Shape 22"/>
          <p:cNvSpPr/>
          <p:nvPr/>
        </p:nvSpPr>
        <p:spPr>
          <a:xfrm>
            <a:off x="6382512" y="5212080"/>
            <a:ext cx="164592" cy="0"/>
          </a:xfrm>
          <a:prstGeom prst="line">
            <a:avLst/>
          </a:prstGeom>
          <a:noFill/>
          <a:ln w="12700">
            <a:solidFill>
              <a:srgbClr val="8C3A2B"/>
            </a:solidFill>
            <a:prstDash val="solid"/>
          </a:ln>
        </p:spPr>
      </p:sp>
      <p:sp>
        <p:nvSpPr>
          <p:cNvPr id="25" name="Text 23"/>
          <p:cNvSpPr txBox="1"/>
          <p:nvPr/>
        </p:nvSpPr>
        <p:spPr>
          <a:xfrm>
            <a:off x="6382512" y="5285232"/>
            <a:ext cx="5029200" cy="658368"/>
          </a:xfrm>
          <a:prstGeom prst="rect">
            <a:avLst/>
          </a:prstGeom>
          <a:noFill/>
          <a:ln/>
        </p:spPr>
        <p:txBody>
          <a:bodyPr wrap="square" lIns="0" tIns="0" rIns="0" bIns="0" rtlCol="0" anchor="ctr"/>
          <a:lstStyle/>
          <a:p>
            <a:pPr indent="0" marL="0">
              <a:lnSpc>
                <a:spcPts val="1350"/>
              </a:lnSpc>
              <a:buNone/>
            </a:pPr>
            <a:r>
              <a:rPr lang="en-US" sz="1050" dirty="0">
                <a:solidFill>
                  <a:srgbClr val="2B2B31"/>
                </a:solidFill>
                <a:latin typeface="Calibri" pitchFamily="34" charset="0"/>
                <a:ea typeface="Calibri" pitchFamily="34" charset="-122"/>
                <a:cs typeface="Calibri" pitchFamily="34" charset="-120"/>
              </a:rPr>
              <a:t>Xi, X. &amp; Idris, M. Z. (2026). Omnichannel Fashion Retail Experience Design. (Baskıda.)</a:t>
            </a:r>
            <a:endParaRPr lang="en-US" sz="1050" dirty="0"/>
          </a:p>
        </p:txBody>
      </p:sp>
      <p:sp>
        <p:nvSpPr>
          <p:cNvPr id="26" name="Text 24"/>
          <p:cNvSpPr txBox="1"/>
          <p:nvPr/>
        </p:nvSpPr>
        <p:spPr>
          <a:xfrm>
            <a:off x="777240" y="6126480"/>
            <a:ext cx="10424160" cy="274320"/>
          </a:xfrm>
          <a:prstGeom prst="rect">
            <a:avLst/>
          </a:prstGeom>
          <a:noFill/>
          <a:ln/>
        </p:spPr>
        <p:txBody>
          <a:bodyPr wrap="square" lIns="0" tIns="0" rIns="0" bIns="0" rtlCol="0" anchor="ctr"/>
          <a:lstStyle/>
          <a:p>
            <a:pPr algn="l" indent="0" marL="0">
              <a:lnSpc>
                <a:spcPts val="1200"/>
              </a:lnSpc>
              <a:buNone/>
            </a:pPr>
            <a:r>
              <a:rPr lang="en-US" sz="1050" i="1" dirty="0">
                <a:solidFill>
                  <a:srgbClr val="A6A6AC"/>
                </a:solidFill>
                <a:latin typeface="Calibri" pitchFamily="34" charset="0"/>
                <a:ea typeface="Calibri" pitchFamily="34" charset="-122"/>
                <a:cs typeface="Calibri" pitchFamily="34" charset="-120"/>
              </a:rPr>
              <a:t>Tam künyeler ve ek okumalar ders klasöründeki kaynakça belgesinde.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61A"/>
        </a:solidFill>
      </p:bgPr>
    </p:bg>
    <p:spTree>
      <p:nvGrpSpPr>
        <p:cNvPr id="1" name=""/>
        <p:cNvGrpSpPr/>
        <p:nvPr/>
      </p:nvGrpSpPr>
      <p:grpSpPr>
        <a:xfrm>
          <a:off x="0" y="0"/>
          <a:ext cx="0" cy="0"/>
          <a:chOff x="0" y="0"/>
          <a:chExt cx="0" cy="0"/>
        </a:xfrm>
      </p:grpSpPr>
      <p:sp>
        <p:nvSpPr>
          <p:cNvPr id="2" name="Text 0"/>
          <p:cNvSpPr txBox="1"/>
          <p:nvPr/>
        </p:nvSpPr>
        <p:spPr>
          <a:xfrm>
            <a:off x="777240" y="2011680"/>
            <a:ext cx="10424160" cy="2377440"/>
          </a:xfrm>
          <a:prstGeom prst="rect">
            <a:avLst/>
          </a:prstGeom>
          <a:noFill/>
          <a:ln/>
        </p:spPr>
        <p:txBody>
          <a:bodyPr wrap="square" lIns="0" tIns="0" rIns="0" bIns="0" rtlCol="0" anchor="ctr"/>
          <a:lstStyle/>
          <a:p>
            <a:pPr indent="0" marL="0">
              <a:lnSpc>
                <a:spcPts val="4600"/>
              </a:lnSpc>
              <a:buNone/>
            </a:pPr>
            <a:r>
              <a:rPr lang="en-US" sz="3000" i="1" dirty="0">
                <a:solidFill>
                  <a:srgbClr val="FFFFFF"/>
                </a:solidFill>
                <a:latin typeface="Cambria" pitchFamily="34" charset="0"/>
                <a:ea typeface="Cambria" pitchFamily="34" charset="-122"/>
                <a:cs typeface="Cambria" pitchFamily="34" charset="-120"/>
              </a:rPr>
              <a:t>Bir mağazayı tasarlamadan önce</a:t>
            </a:r>
            <a:endParaRPr lang="en-US" sz="3000" dirty="0"/>
          </a:p>
          <a:p>
            <a:pPr indent="0" marL="0">
              <a:lnSpc>
                <a:spcPts val="4600"/>
              </a:lnSpc>
              <a:buNone/>
            </a:pPr>
            <a:r>
              <a:rPr lang="en-US" sz="3000" i="1" dirty="0">
                <a:solidFill>
                  <a:srgbClr val="FFFFFF"/>
                </a:solidFill>
                <a:latin typeface="Cambria" pitchFamily="34" charset="0"/>
                <a:ea typeface="Cambria" pitchFamily="34" charset="-122"/>
                <a:cs typeface="Cambria" pitchFamily="34" charset="-120"/>
              </a:rPr>
              <a:t>iki şeyi bilmek gerekir:</a:t>
            </a:r>
            <a:endParaRPr lang="en-US" sz="3000" dirty="0"/>
          </a:p>
          <a:p>
            <a:pPr indent="0" marL="0">
              <a:lnSpc>
                <a:spcPts val="4600"/>
              </a:lnSpc>
              <a:buNone/>
            </a:pPr>
            <a:r>
              <a:rPr lang="en-US" sz="3000" i="1" dirty="0">
                <a:solidFill>
                  <a:srgbClr val="FFFFFF"/>
                </a:solidFill>
                <a:latin typeface="Cambria" pitchFamily="34" charset="0"/>
                <a:ea typeface="Cambria" pitchFamily="34" charset="-122"/>
                <a:cs typeface="Cambria" pitchFamily="34" charset="-120"/>
              </a:rPr>
              <a:t>marka ne söylüyor, müşteri ne yapıyor.</a:t>
            </a:r>
            <a:endParaRPr lang="en-US" sz="3000" dirty="0"/>
          </a:p>
        </p:txBody>
      </p:sp>
      <p:sp>
        <p:nvSpPr>
          <p:cNvPr id="3" name="Shape 1"/>
          <p:cNvSpPr/>
          <p:nvPr/>
        </p:nvSpPr>
        <p:spPr>
          <a:xfrm>
            <a:off x="777240" y="4663440"/>
            <a:ext cx="2377440" cy="0"/>
          </a:xfrm>
          <a:prstGeom prst="line">
            <a:avLst/>
          </a:prstGeom>
          <a:noFill/>
          <a:ln w="25400">
            <a:solidFill>
              <a:srgbClr val="8C3A2B"/>
            </a:solidFill>
            <a:prstDash val="solid"/>
          </a:ln>
        </p:spPr>
      </p:sp>
      <p:sp>
        <p:nvSpPr>
          <p:cNvPr id="4" name="Text 2"/>
          <p:cNvSpPr txBox="1"/>
          <p:nvPr/>
        </p:nvSpPr>
        <p:spPr>
          <a:xfrm>
            <a:off x="777240" y="4892040"/>
            <a:ext cx="10424160" cy="365760"/>
          </a:xfrm>
          <a:prstGeom prst="rect">
            <a:avLst/>
          </a:prstGeom>
          <a:noFill/>
          <a:ln/>
        </p:spPr>
        <p:txBody>
          <a:bodyPr wrap="square" lIns="0" tIns="0" rIns="0" bIns="0" rtlCol="0" anchor="ctr"/>
          <a:lstStyle/>
          <a:p>
            <a:pPr indent="0" marL="0">
              <a:buNone/>
            </a:pPr>
            <a:r>
              <a:rPr lang="en-US" sz="1300" dirty="0">
                <a:solidFill>
                  <a:srgbClr val="B9B9C0"/>
                </a:solidFill>
                <a:latin typeface="Calibri" pitchFamily="34" charset="0"/>
                <a:ea typeface="Calibri" pitchFamily="34" charset="-122"/>
                <a:cs typeface="Calibri" pitchFamily="34" charset="-120"/>
              </a:rPr>
              <a:t>Bugünün çalışması: mağaza okuma kâğıdı  ·  Haftaya: üç aday marka, üç pafta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Marka Anahtarı ve Müşteri Deneyimi Araştırması</dc:title>
  <dc:subject>PptxGenJS Presentation</dc:subject>
  <dc:creator>PptxGenJS</dc:creator>
  <cp:lastModifiedBy>PptxGenJS</cp:lastModifiedBy>
  <cp:revision>1</cp:revision>
  <dcterms:created xsi:type="dcterms:W3CDTF">2026-09-17T17:22:33Z</dcterms:created>
  <dcterms:modified xsi:type="dcterms:W3CDTF">2026-09-17T17:22:33Z</dcterms:modified>
</cp:coreProperties>
</file>