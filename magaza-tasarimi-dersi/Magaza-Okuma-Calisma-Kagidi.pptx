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A3 basmak en iyisi; A4 de olur ama yazı alanı daralır. Her öğrenciye tek görsel verin, dört farklı görsel dolaşsın.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Grup başına bir kâğıt. Kalemi grupta en az konuşan kişiye verin — bu, baskın öğrencinin kâğıdı ele geçirmesini engeller.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sayfa öğrencilere dağıtılmaz.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Mağaza okuma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Verilen görseldeki mekândan markayı geri okuma çalışması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680960" y="31089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A6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SOYAD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8686800" y="530352"/>
            <a:ext cx="1828800" cy="0"/>
          </a:xfrm>
          <a:prstGeom prst="line">
            <a:avLst/>
          </a:prstGeom>
          <a:noFill/>
          <a:ln w="11430">
            <a:solidFill>
              <a:srgbClr val="7A7A8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607040" y="31089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A6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GÖRSEL NO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607040" y="530352"/>
            <a:ext cx="1033272" cy="0"/>
          </a:xfrm>
          <a:prstGeom prst="line">
            <a:avLst/>
          </a:prstGeom>
          <a:noFill/>
          <a:ln w="11430">
            <a:solidFill>
              <a:srgbClr val="7A7A8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987552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C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Önce ne GÖRDÜĞÜNÜ yaz, sonra ondan ne ÇIKARDIĞINI. Gerekçesiz çıkarım yapma.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325880"/>
            <a:ext cx="3383280" cy="1097280"/>
          </a:xfrm>
          <a:prstGeom prst="rect">
            <a:avLst/>
          </a:prstGeom>
          <a:ln w="11430">
            <a:solidFill>
              <a:srgbClr val="C9C9C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94944" y="1417320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8C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94944" y="1618488"/>
            <a:ext cx="3090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50" i="1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mekân hangi markaya ait olabilir? Ne vaat ediyor? Bunu hangi öğeden çıkardın?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94944" y="2258568"/>
            <a:ext cx="3090672" cy="0"/>
          </a:xfrm>
          <a:prstGeom prst="line">
            <a:avLst/>
          </a:prstGeom>
          <a:noFill/>
          <a:ln w="9525">
            <a:solidFill>
              <a:srgbClr val="E4E4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4944" y="2039112"/>
            <a:ext cx="3090672" cy="0"/>
          </a:xfrm>
          <a:prstGeom prst="line">
            <a:avLst/>
          </a:prstGeom>
          <a:noFill/>
          <a:ln w="9525">
            <a:solidFill>
              <a:srgbClr val="E4E4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4944" y="1819656"/>
            <a:ext cx="3090672" cy="0"/>
          </a:xfrm>
          <a:prstGeom prst="line">
            <a:avLst/>
          </a:prstGeom>
          <a:noFill/>
          <a:ln w="9525">
            <a:solidFill>
              <a:srgbClr val="E4E4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514600"/>
            <a:ext cx="3383280" cy="1097280"/>
          </a:xfrm>
          <a:prstGeom prst="rect">
            <a:avLst/>
          </a:prstGeom>
          <a:ln w="11430">
            <a:solidFill>
              <a:srgbClr val="C9C9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4944" y="2606040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8C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KULLANICI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694944" y="2807208"/>
            <a:ext cx="3090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50" i="1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 geliyor? Yanında kim var? Ne kadar zamanı var? Nelerden rahatsız olur?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94944" y="3447288"/>
            <a:ext cx="3090672" cy="0"/>
          </a:xfrm>
          <a:prstGeom prst="line">
            <a:avLst/>
          </a:prstGeom>
          <a:noFill/>
          <a:ln w="9525">
            <a:solidFill>
              <a:srgbClr val="E4E4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4944" y="3227832"/>
            <a:ext cx="3090672" cy="0"/>
          </a:xfrm>
          <a:prstGeom prst="line">
            <a:avLst/>
          </a:prstGeom>
          <a:noFill/>
          <a:ln w="9525">
            <a:solidFill>
              <a:srgbClr val="E4E4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" y="3008376"/>
            <a:ext cx="3090672" cy="0"/>
          </a:xfrm>
          <a:prstGeom prst="line">
            <a:avLst/>
          </a:prstGeom>
          <a:noFill/>
          <a:ln w="9525">
            <a:solidFill>
              <a:srgbClr val="E4E4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703320"/>
            <a:ext cx="3383280" cy="1097280"/>
          </a:xfrm>
          <a:prstGeom prst="rect">
            <a:avLst/>
          </a:prstGeom>
          <a:ln w="11430">
            <a:solidFill>
              <a:srgbClr val="C9C9C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4944" y="3794760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8C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94944" y="3995928"/>
            <a:ext cx="3090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50" i="1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satılıyor? Kaç çeşit? Dokunuluyor, deneniyor, koklanıyor mu? Fiyat segmenti?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94944" y="4636008"/>
            <a:ext cx="3090672" cy="0"/>
          </a:xfrm>
          <a:prstGeom prst="line">
            <a:avLst/>
          </a:prstGeom>
          <a:noFill/>
          <a:ln w="9525">
            <a:solidFill>
              <a:srgbClr val="E4E4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4944" y="4416552"/>
            <a:ext cx="3090672" cy="0"/>
          </a:xfrm>
          <a:prstGeom prst="line">
            <a:avLst/>
          </a:prstGeom>
          <a:noFill/>
          <a:ln w="9525">
            <a:solidFill>
              <a:srgbClr val="E4E4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4944" y="4197096"/>
            <a:ext cx="3090672" cy="0"/>
          </a:xfrm>
          <a:prstGeom prst="line">
            <a:avLst/>
          </a:prstGeom>
          <a:noFill/>
          <a:ln w="9525">
            <a:solidFill>
              <a:srgbClr val="E4E4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0" y="1325880"/>
            <a:ext cx="3383280" cy="1097280"/>
          </a:xfrm>
          <a:prstGeom prst="rect">
            <a:avLst/>
          </a:prstGeom>
          <a:ln w="11430">
            <a:solidFill>
              <a:srgbClr val="C9C9C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261104" y="1417320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8C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DAVRANIŞ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4261104" y="1618488"/>
            <a:ext cx="3090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50" i="1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Mekân insanı nereye yönlendiriyor? Nerede yavaşlatıyor, nerede hızlandırıyor?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261104" y="2258568"/>
            <a:ext cx="3090672" cy="0"/>
          </a:xfrm>
          <a:prstGeom prst="line">
            <a:avLst/>
          </a:prstGeom>
          <a:noFill/>
          <a:ln w="9525">
            <a:solidFill>
              <a:srgbClr val="E4E4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61104" y="2039112"/>
            <a:ext cx="3090672" cy="0"/>
          </a:xfrm>
          <a:prstGeom prst="line">
            <a:avLst/>
          </a:prstGeom>
          <a:noFill/>
          <a:ln w="9525">
            <a:solidFill>
              <a:srgbClr val="E4E4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61104" y="1819656"/>
            <a:ext cx="3090672" cy="0"/>
          </a:xfrm>
          <a:prstGeom prst="line">
            <a:avLst/>
          </a:prstGeom>
          <a:noFill/>
          <a:ln w="9525">
            <a:solidFill>
              <a:srgbClr val="E4E4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0" y="2514600"/>
            <a:ext cx="3383280" cy="1097280"/>
          </a:xfrm>
          <a:prstGeom prst="rect">
            <a:avLst/>
          </a:prstGeom>
          <a:ln w="11430">
            <a:solidFill>
              <a:srgbClr val="C9C9C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261104" y="2606040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8C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DUYULAR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4261104" y="2807208"/>
            <a:ext cx="3090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50" i="1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Hangi duyular devrede? Hangisi baskın? Hangisi hiç yok — ve bu bilinçli mi?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261104" y="3447288"/>
            <a:ext cx="3090672" cy="0"/>
          </a:xfrm>
          <a:prstGeom prst="line">
            <a:avLst/>
          </a:prstGeom>
          <a:noFill/>
          <a:ln w="9525">
            <a:solidFill>
              <a:srgbClr val="E4E4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261104" y="3227832"/>
            <a:ext cx="3090672" cy="0"/>
          </a:xfrm>
          <a:prstGeom prst="line">
            <a:avLst/>
          </a:prstGeom>
          <a:noFill/>
          <a:ln w="9525">
            <a:solidFill>
              <a:srgbClr val="E4E4E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261104" y="3008376"/>
            <a:ext cx="3090672" cy="0"/>
          </a:xfrm>
          <a:prstGeom prst="line">
            <a:avLst/>
          </a:prstGeom>
          <a:noFill/>
          <a:ln w="9525">
            <a:solidFill>
              <a:srgbClr val="E4E4E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114800" y="3703320"/>
            <a:ext cx="3383280" cy="1097280"/>
          </a:xfrm>
          <a:prstGeom prst="rect">
            <a:avLst/>
          </a:prstGeom>
          <a:ln w="11430">
            <a:solidFill>
              <a:srgbClr val="C9C9C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261104" y="3794760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8C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ATMOSFER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4261104" y="3995928"/>
            <a:ext cx="3090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50" i="1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Mekânın hissi: üç sıfat. Her sıfatı üreten somut tasarım kararı ne?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261104" y="4636008"/>
            <a:ext cx="3090672" cy="0"/>
          </a:xfrm>
          <a:prstGeom prst="line">
            <a:avLst/>
          </a:prstGeom>
          <a:noFill/>
          <a:ln w="9525">
            <a:solidFill>
              <a:srgbClr val="E4E4E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261104" y="4416552"/>
            <a:ext cx="3090672" cy="0"/>
          </a:xfrm>
          <a:prstGeom prst="line">
            <a:avLst/>
          </a:prstGeom>
          <a:noFill/>
          <a:ln w="9525">
            <a:solidFill>
              <a:srgbClr val="E4E4E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261104" y="4197096"/>
            <a:ext cx="3090672" cy="0"/>
          </a:xfrm>
          <a:prstGeom prst="line">
            <a:avLst/>
          </a:prstGeom>
          <a:noFill/>
          <a:ln w="9525">
            <a:solidFill>
              <a:srgbClr val="E4E4E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680960" y="1325880"/>
            <a:ext cx="3959352" cy="2286000"/>
          </a:xfrm>
          <a:prstGeom prst="rect">
            <a:avLst/>
          </a:prstGeom>
          <a:ln w="13970">
            <a:solidFill>
              <a:srgbClr val="7A7A82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827264" y="1417320"/>
            <a:ext cx="3666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8C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VE DOLAŞIM TAHMİNİ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7827264" y="1618488"/>
            <a:ext cx="3666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50" i="1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Görselden tahmin ettiğin planı çiz. Girişi, ana rotayı ve durma noktalarını okla göster.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7680960" y="3703320"/>
            <a:ext cx="3959352" cy="1097280"/>
          </a:xfrm>
          <a:prstGeom prst="rect">
            <a:avLst/>
          </a:prstGeom>
          <a:ln w="11430">
            <a:solidFill>
              <a:srgbClr val="C9C9CF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7827264" y="3794760"/>
            <a:ext cx="3666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8C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GÖRÜNMEYEN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7827264" y="3995928"/>
            <a:ext cx="3666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50" i="1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Depo, kasa arkası ve personel nerede olabilir? Görselde göremediğin ne var?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7827264" y="4636008"/>
            <a:ext cx="3666744" cy="0"/>
          </a:xfrm>
          <a:prstGeom prst="line">
            <a:avLst/>
          </a:prstGeom>
          <a:noFill/>
          <a:ln w="9525">
            <a:solidFill>
              <a:srgbClr val="E4E4E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827264" y="4416552"/>
            <a:ext cx="3666744" cy="0"/>
          </a:xfrm>
          <a:prstGeom prst="line">
            <a:avLst/>
          </a:prstGeom>
          <a:noFill/>
          <a:ln w="9525">
            <a:solidFill>
              <a:srgbClr val="E4E4E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827264" y="4197096"/>
            <a:ext cx="3666744" cy="0"/>
          </a:xfrm>
          <a:prstGeom prst="line">
            <a:avLst/>
          </a:prstGeom>
          <a:noFill/>
          <a:ln w="9525">
            <a:solidFill>
              <a:srgbClr val="E4E4E8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548640" y="498348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8C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 ANAHTAR KELİME</a:t>
            </a:r>
            <a:endParaRPr lang="en-US" sz="900" dirty="0"/>
          </a:p>
        </p:txBody>
      </p:sp>
      <p:sp>
        <p:nvSpPr>
          <p:cNvPr id="55" name="Text 53"/>
          <p:cNvSpPr txBox="1"/>
          <p:nvPr/>
        </p:nvSpPr>
        <p:spPr>
          <a:xfrm>
            <a:off x="2834640" y="4983480"/>
            <a:ext cx="8805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“kaliteli”, “modern”, “özel” kabul edilmez — her markaya uyar, hiçbir mekânsal karar üretmez.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48640" y="5257800"/>
            <a:ext cx="3538728" cy="960120"/>
          </a:xfrm>
          <a:prstGeom prst="rect">
            <a:avLst/>
          </a:prstGeom>
          <a:ln w="11430">
            <a:solidFill>
              <a:srgbClr val="C9C9CF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676656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6A6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58" name="Shape 56"/>
          <p:cNvSpPr/>
          <p:nvPr/>
        </p:nvSpPr>
        <p:spPr>
          <a:xfrm>
            <a:off x="1005840" y="5596128"/>
            <a:ext cx="2935224" cy="0"/>
          </a:xfrm>
          <a:prstGeom prst="line">
            <a:avLst/>
          </a:prstGeom>
          <a:noFill/>
          <a:ln w="11430">
            <a:solidFill>
              <a:srgbClr val="7A7A82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676656" y="566928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6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kanıt — görselde neye dayanıyor?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676656" y="6089904"/>
            <a:ext cx="3264408" cy="0"/>
          </a:xfrm>
          <a:prstGeom prst="line">
            <a:avLst/>
          </a:prstGeom>
          <a:noFill/>
          <a:ln w="9525">
            <a:solidFill>
              <a:srgbClr val="E4E4E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315968" y="5257800"/>
            <a:ext cx="3538728" cy="960120"/>
          </a:xfrm>
          <a:prstGeom prst="rect">
            <a:avLst/>
          </a:prstGeom>
          <a:ln w="11430">
            <a:solidFill>
              <a:srgbClr val="C9C9CF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4443984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6A6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63" name="Shape 61"/>
          <p:cNvSpPr/>
          <p:nvPr/>
        </p:nvSpPr>
        <p:spPr>
          <a:xfrm>
            <a:off x="4773168" y="5596128"/>
            <a:ext cx="2935224" cy="0"/>
          </a:xfrm>
          <a:prstGeom prst="line">
            <a:avLst/>
          </a:prstGeom>
          <a:noFill/>
          <a:ln w="11430">
            <a:solidFill>
              <a:srgbClr val="7A7A82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4443984" y="566928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6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kanıt — görselde neye dayanıyor?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4443984" y="6089904"/>
            <a:ext cx="3264408" cy="0"/>
          </a:xfrm>
          <a:prstGeom prst="line">
            <a:avLst/>
          </a:prstGeom>
          <a:noFill/>
          <a:ln w="9525">
            <a:solidFill>
              <a:srgbClr val="E4E4E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083296" y="5257800"/>
            <a:ext cx="3538728" cy="960120"/>
          </a:xfrm>
          <a:prstGeom prst="rect">
            <a:avLst/>
          </a:prstGeom>
          <a:ln w="11430">
            <a:solidFill>
              <a:srgbClr val="C9C9CF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8211312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6A6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68" name="Shape 66"/>
          <p:cNvSpPr/>
          <p:nvPr/>
        </p:nvSpPr>
        <p:spPr>
          <a:xfrm>
            <a:off x="8540496" y="5596128"/>
            <a:ext cx="2935224" cy="0"/>
          </a:xfrm>
          <a:prstGeom prst="line">
            <a:avLst/>
          </a:prstGeom>
          <a:noFill/>
          <a:ln w="11430">
            <a:solidFill>
              <a:srgbClr val="7A7A82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8211312" y="566928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6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kanıt — görselde neye dayanıyor?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8211312" y="6089904"/>
            <a:ext cx="3264408" cy="0"/>
          </a:xfrm>
          <a:prstGeom prst="line">
            <a:avLst/>
          </a:prstGeom>
          <a:noFill/>
          <a:ln w="9525">
            <a:solidFill>
              <a:srgbClr val="E4E4E8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548640" y="6345936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6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Mağaza Tasarımı  ·  Hafta 1 egzersizi  ·  Süre: 25 dakika, bireysel ve sessiz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Aynı görsel, dört okuma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 çalışması  ·  45 dakika  ·  Amaç uzlaşmak değil, ayrışmayı kullanmak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680960" y="31089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A6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GÖRSEL NO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8732520" y="530352"/>
            <a:ext cx="685800" cy="0"/>
          </a:xfrm>
          <a:prstGeom prst="line">
            <a:avLst/>
          </a:prstGeom>
          <a:noFill/>
          <a:ln w="11430">
            <a:solidFill>
              <a:srgbClr val="7A7A8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0" y="31089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A6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 ÜYELERİ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9601200" y="530352"/>
            <a:ext cx="2039112" cy="0"/>
          </a:xfrm>
          <a:prstGeom prst="line">
            <a:avLst/>
          </a:prstGeom>
          <a:noFill/>
          <a:ln w="11430">
            <a:solidFill>
              <a:srgbClr val="7A7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0" y="768096"/>
            <a:ext cx="2039112" cy="0"/>
          </a:xfrm>
          <a:prstGeom prst="line">
            <a:avLst/>
          </a:prstGeom>
          <a:noFill/>
          <a:ln w="9525">
            <a:solidFill>
              <a:srgbClr val="E4E4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024128"/>
            <a:ext cx="11091672" cy="1572768"/>
          </a:xfrm>
          <a:prstGeom prst="rect">
            <a:avLst/>
          </a:prstGeom>
          <a:ln w="11430">
            <a:solidFill>
              <a:srgbClr val="C9C9C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1097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113385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8C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AYRIŞMA HARİTASI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3931920" y="1133856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Dört kâğıdı yan yana koyun. Çözmeye çalışmayın — sadece nerede aynı, nerede farklı okuduğunuzu yazın.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142646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A6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DÖRDÜMÜZ DE AYNI ŞEYİ GÖRDÜK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1426464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8C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AYRI OKUDUĞUMUZ YERLER  —  ve her okumanın dayandığı kanıt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144768" y="1371600"/>
            <a:ext cx="0" cy="1133856"/>
          </a:xfrm>
          <a:prstGeom prst="line">
            <a:avLst/>
          </a:prstGeom>
          <a:noFill/>
          <a:ln w="11430">
            <a:solidFill>
              <a:srgbClr val="C9C9C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1828800"/>
            <a:ext cx="5166360" cy="0"/>
          </a:xfrm>
          <a:prstGeom prst="line">
            <a:avLst/>
          </a:prstGeom>
          <a:noFill/>
          <a:ln w="9525">
            <a:solidFill>
              <a:srgbClr val="E4E4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55080" y="1828800"/>
            <a:ext cx="5074920" cy="0"/>
          </a:xfrm>
          <a:prstGeom prst="line">
            <a:avLst/>
          </a:prstGeom>
          <a:noFill/>
          <a:ln w="9525">
            <a:solidFill>
              <a:srgbClr val="E4E4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2057400"/>
            <a:ext cx="5166360" cy="0"/>
          </a:xfrm>
          <a:prstGeom prst="line">
            <a:avLst/>
          </a:prstGeom>
          <a:noFill/>
          <a:ln w="9525">
            <a:solidFill>
              <a:srgbClr val="E4E4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55080" y="2057400"/>
            <a:ext cx="5074920" cy="0"/>
          </a:xfrm>
          <a:prstGeom prst="line">
            <a:avLst/>
          </a:prstGeom>
          <a:noFill/>
          <a:ln w="9525">
            <a:solidFill>
              <a:srgbClr val="E4E4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2286000"/>
            <a:ext cx="5166360" cy="0"/>
          </a:xfrm>
          <a:prstGeom prst="line">
            <a:avLst/>
          </a:prstGeom>
          <a:noFill/>
          <a:ln w="9525">
            <a:solidFill>
              <a:srgbClr val="E4E4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55080" y="2286000"/>
            <a:ext cx="5074920" cy="0"/>
          </a:xfrm>
          <a:prstGeom prst="line">
            <a:avLst/>
          </a:prstGeom>
          <a:noFill/>
          <a:ln w="9525">
            <a:solidFill>
              <a:srgbClr val="E4E4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2724912"/>
            <a:ext cx="6675120" cy="2286000"/>
          </a:xfrm>
          <a:prstGeom prst="rect">
            <a:avLst/>
          </a:prstGeom>
          <a:ln w="11430">
            <a:solidFill>
              <a:srgbClr val="C9C9C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27980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005840" y="283464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8C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İKİ KELİMEDEN ÜÇE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3090672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Dördünüzün kelimelerini birleştirin, sonra üçe indirin. Kanıtı olmayan kelime elenir.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334670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A6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HAVUZ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1554480" y="3511296"/>
            <a:ext cx="5440680" cy="0"/>
          </a:xfrm>
          <a:prstGeom prst="line">
            <a:avLst/>
          </a:prstGeom>
          <a:noFill/>
          <a:ln w="9525">
            <a:solidFill>
              <a:srgbClr val="E4E4E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7240" y="3694176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A6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051560" y="3913632"/>
            <a:ext cx="2148840" cy="0"/>
          </a:xfrm>
          <a:prstGeom prst="line">
            <a:avLst/>
          </a:prstGeom>
          <a:noFill/>
          <a:ln w="11430">
            <a:solidFill>
              <a:srgbClr val="7A7A8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310128" y="37124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A6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kanıt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794760" y="3913632"/>
            <a:ext cx="3200400" cy="0"/>
          </a:xfrm>
          <a:prstGeom prst="line">
            <a:avLst/>
          </a:prstGeom>
          <a:noFill/>
          <a:ln w="9525">
            <a:solidFill>
              <a:srgbClr val="E4E4E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77240" y="4114800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A6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051560" y="4334256"/>
            <a:ext cx="2148840" cy="0"/>
          </a:xfrm>
          <a:prstGeom prst="line">
            <a:avLst/>
          </a:prstGeom>
          <a:noFill/>
          <a:ln w="11430">
            <a:solidFill>
              <a:srgbClr val="7A7A8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310128" y="41330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A6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kanıt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3794760" y="4334256"/>
            <a:ext cx="3200400" cy="0"/>
          </a:xfrm>
          <a:prstGeom prst="line">
            <a:avLst/>
          </a:prstGeom>
          <a:noFill/>
          <a:ln w="9525">
            <a:solidFill>
              <a:srgbClr val="E4E4E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77240" y="4535424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A6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051560" y="4754880"/>
            <a:ext cx="2148840" cy="0"/>
          </a:xfrm>
          <a:prstGeom prst="line">
            <a:avLst/>
          </a:prstGeom>
          <a:noFill/>
          <a:ln w="11430">
            <a:solidFill>
              <a:srgbClr val="7A7A8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310128" y="455371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A6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kanıt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794760" y="4754880"/>
            <a:ext cx="3200400" cy="0"/>
          </a:xfrm>
          <a:prstGeom prst="line">
            <a:avLst/>
          </a:prstGeom>
          <a:noFill/>
          <a:ln w="9525">
            <a:solidFill>
              <a:srgbClr val="E4E4E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98080" y="2724912"/>
            <a:ext cx="4142232" cy="2286000"/>
          </a:xfrm>
          <a:prstGeom prst="rect">
            <a:avLst/>
          </a:prstGeom>
          <a:solidFill>
            <a:srgbClr val="F6EAE6"/>
          </a:solidFill>
          <a:ln w="13970">
            <a:solidFill>
              <a:srgbClr val="8C3A2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635240" y="27980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7955280" y="28346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8C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MÜDAHALE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7726680" y="3090672"/>
            <a:ext cx="3685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50" i="1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 kelimenizi daha güçlü kılmak için bu mekânda tek bir şeyi değiştirebilseydiniz, neyi değiştirirdiniz? Kaba eskiz + tek cümle. Çözüm değil, karar.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726680" y="4791456"/>
            <a:ext cx="3685032" cy="0"/>
          </a:xfrm>
          <a:prstGeom prst="line">
            <a:avLst/>
          </a:prstGeom>
          <a:noFill/>
          <a:ln w="11430">
            <a:solidFill>
              <a:srgbClr val="7A7A82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48640" y="51755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8C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SUNUMDA ANLATACAĞINIZ ÜÇ ŞEY  ·  4 DAKİKA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548640" y="5468112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822960" y="546811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tahmini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" y="568756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Dört eskizden hangisini seçtiniz ya da nasıl birleştirdiniz — ve neden.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4315968" y="5468112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4590288" y="546811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 kelime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4590288" y="568756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kelimenin görseldeki kanıtı. Elenen kelimelerden birini de söyleyin, neden elendi.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8083296" y="5468112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8357616" y="546811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müdahale</a:t>
            </a:r>
            <a:endParaRPr lang="en-US" sz="1000" dirty="0"/>
          </a:p>
        </p:txBody>
      </p:sp>
      <p:sp>
        <p:nvSpPr>
          <p:cNvPr id="54" name="Text 52"/>
          <p:cNvSpPr txBox="1"/>
          <p:nvPr/>
        </p:nvSpPr>
        <p:spPr>
          <a:xfrm>
            <a:off x="8357616" y="568756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değiştirdiniz, hangi kelimeyi güçlendirmek için.</a:t>
            </a:r>
            <a:endParaRPr lang="en-US" sz="900" dirty="0"/>
          </a:p>
        </p:txBody>
      </p:sp>
      <p:sp>
        <p:nvSpPr>
          <p:cNvPr id="55" name="Text 53"/>
          <p:cNvSpPr txBox="1"/>
          <p:nvPr/>
        </p:nvSpPr>
        <p:spPr>
          <a:xfrm>
            <a:off x="548640" y="6345936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C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Uzlaşmak zorunda değilsiniz. Ayrıştığınız bir konuyu sunumda açıkça söyleyin — “biz burada anlaşamadık, çünkü…”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Egzersizi yönetme notu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Mağaza okuma  ·  bireysel 35 dk + grup 45 dk + sunum 25 dk  =  ~105 dakika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8C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GÖRSEL SEÇİM KRİTERLERİ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12648" y="1508760"/>
            <a:ext cx="91440" cy="91440"/>
          </a:xfrm>
          <a:prstGeom prst="ellipse">
            <a:avLst/>
          </a:prstGeom>
          <a:solidFill>
            <a:srgbClr val="8C3A2B"/>
          </a:solidFill>
          <a:ln w="12700">
            <a:solidFill>
              <a:srgbClr val="8C3A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426464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2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Dördü birbirinden farklı olsun: biri yoğun ve ucuz, biri az ürünlü ve pahalı, biri üretimi görünür, biri koku ya da gıda ağırlıklı.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12648" y="2039112"/>
            <a:ext cx="91440" cy="91440"/>
          </a:xfrm>
          <a:prstGeom prst="ellipse">
            <a:avLst/>
          </a:prstGeom>
          <a:solidFill>
            <a:srgbClr val="8C3A2B"/>
          </a:solidFill>
          <a:ln w="12700">
            <a:solidFill>
              <a:srgbClr val="8C3A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1956816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2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Tanınmayan mağazalar seçin. Öğrenci Zara'yı tanırsa görseli okumaz, bildiğini yazar.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2648" y="2569464"/>
            <a:ext cx="91440" cy="91440"/>
          </a:xfrm>
          <a:prstGeom prst="ellipse">
            <a:avLst/>
          </a:prstGeom>
          <a:solidFill>
            <a:srgbClr val="8C3A2B"/>
          </a:solidFill>
          <a:ln w="12700">
            <a:solidFill>
              <a:srgbClr val="8C3A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2487168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2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Logoyu ve tabelayı kırpın. Marka adı görünmesin.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2648" y="3099816"/>
            <a:ext cx="91440" cy="91440"/>
          </a:xfrm>
          <a:prstGeom prst="ellipse">
            <a:avLst/>
          </a:prstGeom>
          <a:solidFill>
            <a:srgbClr val="8C3A2B"/>
          </a:solidFill>
          <a:ln w="12700">
            <a:solidFill>
              <a:srgbClr val="8C3A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3017520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2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 mekân görseli olsun, vitrin fotoğrafı değil; dolaşım okunabilsin.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2648" y="3630168"/>
            <a:ext cx="91440" cy="91440"/>
          </a:xfrm>
          <a:prstGeom prst="ellipse">
            <a:avLst/>
          </a:prstGeom>
          <a:solidFill>
            <a:srgbClr val="8C3A2B"/>
          </a:solidFill>
          <a:ln w="12700">
            <a:solidFill>
              <a:srgbClr val="8C3A2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3547872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2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Görselleri 1–4 numaralandırın; dağıtımı siz yapın, seçtirmeyin.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1207008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8C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AKIŞ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146304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C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dk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086600" y="1426464"/>
            <a:ext cx="45537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2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Yönerge. Beşinci bir görseli ekrana yansıtıp iki kutuyu sınıfla birlikte doldurun.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199339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C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dk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086600" y="1956816"/>
            <a:ext cx="45537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2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Bireysel ve sessiz. Konuşma yok, telefon yok, arama yok.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252374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C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dk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086600" y="2487168"/>
            <a:ext cx="45537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2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 çalışması: ayrışma haritası, on iki kelimeden üçe, tek müdahale.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309360" y="305409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C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dk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086600" y="3017520"/>
            <a:ext cx="45537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2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Dört grup sırayla anlatır — beşer dakika.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309360" y="35844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C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dk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7086600" y="3547872"/>
            <a:ext cx="45537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2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Kapanış sorusu: “Aynı mekân başka ne satabilirdi, ne satamazdı?”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4224528"/>
            <a:ext cx="11091672" cy="0"/>
          </a:xfrm>
          <a:prstGeom prst="line">
            <a:avLst/>
          </a:prstGeom>
          <a:noFill/>
          <a:ln w="12700">
            <a:solidFill>
              <a:srgbClr val="C9C9C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8640" y="4352544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8C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 AŞAMASINDA DİKKAT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4626864"/>
            <a:ext cx="5330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Uzlaşmaya zorlamayın.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4846320"/>
            <a:ext cx="5330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Dört okumayı ortalayan grup en değerli şeyi kaybeder. Ayrışmayı yazmaları yeter; çözmeleri gerekmiyor.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6309360" y="4626864"/>
            <a:ext cx="5330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Kalemi en az konuşana verin.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6309360" y="4846320"/>
            <a:ext cx="5330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Yoksa kâğıdı baskın öğrenci doldurur ve diğer üç okuma kaybolur.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376672"/>
            <a:ext cx="5330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“Kaliteli” çıkarsa hemen müdahale edin.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596128"/>
            <a:ext cx="5330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Havuzda böyle kelimeler olacak; elenme gerekçesini grup sözlü olarak kurmalı.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6309360" y="5376672"/>
            <a:ext cx="5330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Müdahale kutusunu küçük tutturun.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6309360" y="5596128"/>
            <a:ext cx="5330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7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Amaç tasarlamak değil, analizin bir karara bağlanabildiğini görmek. Tek cümle + kaba eskiz yeter.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6272784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8C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sık görülen hata kanıtsız çıkarımdır: “lüks bir marka” yazıp geçmek. Her çıkarımın yanında görseldeki dayanağını isteyin.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Mağaza okuma çalışma kâğıdı</dc:title>
  <dc:subject>PptxGenJS Presentation</dc:subject>
  <dc:creator>PptxGenJS</dc:creator>
  <cp:lastModifiedBy>PptxGenJS</cp:lastModifiedBy>
  <cp:revision>1</cp:revision>
  <dcterms:created xsi:type="dcterms:W3CDTF">2026-09-17T07:56:24Z</dcterms:created>
  <dcterms:modified xsi:type="dcterms:W3CDTF">2026-09-17T07:56:24Z</dcterms:modified>
</cp:coreProperties>
</file>