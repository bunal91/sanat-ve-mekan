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Açılış. Kendinizi ve dersin amacını 2 dakikada tanıtın. Uzun bir hoş geldiniz yapmayın — 3. bölümdeki açılış sorusuna hızlı geçin, sınıfı ilk 10 dakikada konuşturmak dönem boyunca stüdyo kültürünü kuruyor.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saatlik ilk gün için: sabah I–IV + IX (yaklaşık 2.5 saat, aralarla), öğleden sonra proje brifi ve mekân tanıtımı. V–VIII'i bugün açmayın, Hafta 2–3'e bırakın.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Slaytla değil bu soruyla başlayın. 5–7 cevap toplayın, tahtaya yazın. Sonra 'bunların hepsi tasarım kararı' diyerek dersin tezini kurun. Bu slayt dersin en önemli 10 dakikası.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Sekiz temayı tek tek okumayın, göz gezdirtin. Vurgu: 'bu derste sizden sadece güzel çizim değil, analiz ve gerekçe isteyeceğim.'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Öğrencilerin çoğu online alışverişle büyüdü. 'Sizi hâlâ mağazaya ne götürüyor?' diye sorun — cevaplar sağ sütunu kendiliğinden dolduruyor.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'işveren gerçekliği'ni gösteriyor. Öğrenciye: mezun olduğunuzda müşteriniz size bu soruları soracak. Güzel bulmak yetmeyecek, gerekçe isteyecek.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Tipolojileri hızlı geçin. Asıl mesaj alttaki koyu bant: bu dönem yapacakları şeyin ne olduğu.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 'deneyim tasarımı'nı yeni ve modaya dair bir şey sanıyor. 1973 tarihi bu algıyı kırıyor.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Kahve örneği herkeste karşılık buluyor. Soruyu Mersin'e bağlamak önemli — marina zaten bir 'deneyim' yerleşimi, öğrenci oraya tasarım yapacak.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'Core attraction' fikrini not aldırın — Vize 1'de her öğrenciye 'senin çekim çekirdeğin ne?' diye soracaksınız.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Marka Anahtarı'nı Hafta 2'de derinleştireceksiniz. Bugün sadece tanıtın ve alttaki soruyu vurgulayın — 'mekânsal karşılık' bu dersin anahtar ifadesi.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Slaytı hemen göstermeyin — önce boş tahtada sınıfla üretin, sonra slaytı 'biz ne bulduk' diye açın. Katılım çok daha yüksek oluyor.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öğrencilerin en çok itiraz ettiği yer olacak ('ben Nike yapmak istiyordum'). Üç gerekçeyi net verin. Yerel marka listesi vermeyin — bulma işi onların.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 persona derslerinde hep 'Ayşe, 28' yazıyor. Sağdaki örneği okutun ve sorun: hangisinden plan çizebilirsiniz?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Turuncu satır en önemlisi. Öğrenciler lüks marka seçip mekânı ürünle dolduruyor, sonra 'neden ucuz duruyor' diye şaşırıyor.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tabloyu öğrencilere çıktı olarak da verin. Dönem boyunca kritikte bu yedi başlığa dönüp duracaksınız.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slaydın içeriği Hafta 5 mikro-dersinde tekrar açılacak. Bugün sadece kavramları tanıtın.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slaytı sertçe vurgulayın. Aynı dersin ölçülmüş verisinde en zayıf başlık tam olarak bu ('organizasyonel ihtiyaçlar', 5 üzerinden 2.84). Hafta 8'de bir atölye günü buna ayrılacak.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Altı satırı okuyun ve 'beden'i vurgulayın — öğrenciler beş duyuyu sayıyor ama ısı, hava akımı ve kot farkını mekânsal bir duyu olarak düşünmüyor.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dersin en ayırt edici aracı. Boş matris şablonunu Hafta 3'te dağıtacaksınız. Vurgu: duyusal fikir mood board'da kalmayacak, çizime dönüşecek.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'Kabul edilmeyenler' listesini çıktı olarak da verin ve duvara asın. Dönem boyunca bu beş maddeyi göstererek kritik verebilirsiniz.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Hafta 9'da bu slayt tekrar açılacak. Bugün sadece kavram tanıtımı.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mesafe testi Hafta 7 atölyesinde çizilecek bir egzersiz. Bugün fikri ekin — özellikle gece meselesini, çünkü marina projesinde belirleyici.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Aydınlatmayı Hafta 10 atölyesinde derinleştireceksiniz. Bugün dört katman + kontrast oranı fikri yeterli.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Malzeme kısıtı slaydı bu projeye özel. Öğrenciler kapalı AVM mantığıyla malzeme seçiyor; marina bunu affetmez. Hafta 2 saha gezisinde mevcut dükkânların malzemelerinin nasıl yaşlandığına baktırın.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dokuz soruyu çıktı olarak verin. Her kritikte 'hangi soruyu henüz cevaplamadın' diye sorabilirsiniz. 5 ve 6 numaralı sorular ölçümde en zayıf çıkan alanlara denk geliyor.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Alan bilgilerini kendi rölövenizle doldurun. Görsel yerine marina vaziyet planını ve proje alanının fotoğraflarını koyun.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Hafta 2 saha gezisinde bu altı maddeyi elinize alın ve mevcut dükkânlar üzerinden tek tek gösterin. Hangi dükkân akşam çalışıyor, hangisinin malzemesi yıpranmış, hangisi promenaddan okunuyor?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listeyi çıktı olarak dağıtın. Her teslimde 'C grubunu gösterin' diye sorun.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Kurallar: jüriye katılım ve sözlü sunum zorunlu, geç teslim yok, maket zorunlu, kritiğe elinde işle gelmek zorunlu. Bunları burada net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Ödevi net verin ve şablonu aynı gün dağıtın. 'Üç aday' kuralı önemli — tek marka isterseniz öğrenci ilk aklına geleni seçiyor ve genelde çok büyük ya da çok boş bir marka çıkıyor.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 cümlesi. Yavaş okuyun, sonra soru alın.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Tüm listeyi öğrenciye vermeyin — sağ sütundaki 'ne zaman' sırasına göre parça parça verin.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0A242C"/>
          </a:solidFill>
          <a:ln w="12700">
            <a:solidFill>
              <a:srgbClr val="0A24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566160"/>
            <a:ext cx="3108960" cy="3108960"/>
          </a:xfrm>
          <a:prstGeom prst="ellipse">
            <a:avLst/>
          </a:prstGeom>
          <a:solidFill>
            <a:srgbClr val="4E7C8A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3444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MİMARLIK 3. SINIF  ·  PROJE STÜDYOSU  ·  14 HAFTA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91640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Mağaza Tasarımı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7432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Teorik Giriş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7947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Küçük bir markanın ilk fiziksel mekânı  —  Mersin Marina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6928" y="4526280"/>
            <a:ext cx="2377440" cy="32004"/>
          </a:xfrm>
          <a:prstGeom prst="rect">
            <a:avLst/>
          </a:prstGeom>
          <a:solidFill>
            <a:srgbClr val="D95A2B"/>
          </a:solidFill>
          <a:ln w="12700">
            <a:solidFill>
              <a:srgbClr val="D95A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48006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Dokuz bölüm  ·  Hafta 1–3 teorik anlatım  ·  Hafta 10 atölye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İÇERİK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sunumun haritası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72768"/>
          <a:ext cx="11055096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480560"/>
                <a:gridCol w="4160520"/>
                <a:gridCol w="1773936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TÜRKÇE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Retail Design?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Perakende tasarımı nedir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Shop to Experience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Dükkândan deneyime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+ Identity +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Marka, kimlik, mekân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1–2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Understanding the Customer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Kullanıcıyı anlamak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Behaviour &amp; Customer Journey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Mekânsal davranış ve müşteri yolculuğu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Atmosphere &amp; Multisensory Experience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Atmosfer ve çok duyulu deneyim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Product, Display &amp; Visual Merchandising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Ürün, teşhir ve görsel düzenleme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Light, Material, Color &amp; Sound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Işık, malzeme, renk, 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Makes a Good Retail Space?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İyi bir mağaza mekânını ne yapar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943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I–IV ve IX'u anlatacağız. V–VIII önümüzdeki iki hafta ve Hafta 10 atölyesinde açılacak.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4E7C8A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218688" y="1874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218688" y="228600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Retail Design?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218688" y="34930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Perakende tasarımı nedir?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18688" y="422452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242C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18688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Başlayalım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874520"/>
            <a:ext cx="9692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 bir ayda girip hiçbir şey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almadan çıktığınız bir mağaza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mı? Neden çıktınız?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48056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Cevapları tahtaya yazın. Genelde şunlar gelir: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4892040"/>
            <a:ext cx="1312164" cy="402336"/>
          </a:xfrm>
          <a:prstGeom prst="roundRect">
            <a:avLst>
              <a:gd name="adj" fmla="val 5000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892040"/>
            <a:ext cx="13121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Kalabalıktı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25396" y="4892040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25396" y="48920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arayacağımı bulamadım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32020" y="4892040"/>
            <a:ext cx="2176272" cy="402336"/>
          </a:xfrm>
          <a:prstGeom prst="roundRect">
            <a:avLst>
              <a:gd name="adj" fmla="val 5000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32020" y="489204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Görevli üstüme geldi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54596" y="4892040"/>
            <a:ext cx="1888236" cy="402336"/>
          </a:xfrm>
          <a:prstGeom prst="roundRect">
            <a:avLst>
              <a:gd name="adj" fmla="val 5000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54596" y="4892040"/>
            <a:ext cx="1888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Kimse ilgilenmedi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89136" y="4892040"/>
            <a:ext cx="1408176" cy="402336"/>
          </a:xfrm>
          <a:prstGeom prst="roundRect">
            <a:avLst>
              <a:gd name="adj" fmla="val 5000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89136" y="489204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Işık kötüydü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643616" y="4892040"/>
            <a:ext cx="1216152" cy="402336"/>
          </a:xfrm>
          <a:prstGeom prst="roundRect">
            <a:avLst>
              <a:gd name="adj" fmla="val 5000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43616" y="4892040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 vardı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62356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Bunların hepsi bir tasarım kararıdır.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PERAKENDE TASARIMI NEDİR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Perakende tasarımı nedir?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Ürünleri, hizmetleri ve markaları öne çıkaran fiziksel veya sanal ortamların tasarımı — markayla müşteri arasında kalıcı bir ilişki kurmayı hedefleyen, çok disiplinli bir uzmanlık alanı.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8803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Quartier (2017)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183880" y="1572768"/>
            <a:ext cx="3438144" cy="1600200"/>
          </a:xfrm>
          <a:prstGeom prst="roundRect">
            <a:avLst>
              <a:gd name="adj" fmla="val 4571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1624" y="1755648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"çok disiplinli"?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421624" y="2103120"/>
            <a:ext cx="29809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başına iç mimarlık değil. Markalama, pazarlama, psikoloji, lojistik, teknoloji ve kullanıcı deneyimi aynı anda devrede.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4290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Sekiz yetkinlik teması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40480"/>
            <a:ext cx="267004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" y="384048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64992" y="3840480"/>
            <a:ext cx="267004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384048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3840480"/>
            <a:ext cx="267004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2784" y="384048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Sosyo-kültürel bilimler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3840480"/>
            <a:ext cx="267004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70848" y="384048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Markalama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480560"/>
            <a:ext cx="267004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" y="448056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 ve strateji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4992" y="4480560"/>
            <a:ext cx="267004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448056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Omni-kanal ve dijital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3056" y="4480560"/>
            <a:ext cx="267004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72784" y="448056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İletişim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1120" y="4480560"/>
            <a:ext cx="2670048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70848" y="448056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Organizasyon ve yönetim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19379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Quartier, Claes &amp; Vanrie (2020) — 77 meta-yetkinlik, 8 tema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5623560"/>
            <a:ext cx="11055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ders sadece bir "çizim" dersi değil. Analiz, psikoloji ve strateji de içeriyor.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PERAKENDE TASARIMI NEDİR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İnternet varken fiziksel mağaza neden var?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Fiziksel mağazanın KAYBETTİĞİ savaş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9204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Çeşit ve stok genişliği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 erişim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 kolaylığı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58384" cy="1965960"/>
          </a:xfrm>
          <a:prstGeom prst="roundRect">
            <a:avLst>
              <a:gd name="adj" fmla="val 3721"/>
            </a:avLst>
          </a:prstGeom>
          <a:solidFill>
            <a:srgbClr val="FBE7DE"/>
          </a:solidFill>
          <a:ln w="12700">
            <a:solidFill>
              <a:srgbClr val="F0CBB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Fiziksel mağazanın KAZANDIĞI savaş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148840"/>
            <a:ext cx="48463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Dokunmak, denemek, koklamak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Danışmak ve güven kurmak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Anında sahiplenmek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Aidiyet ve topluluk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8404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Mağazanın işi artık sadece satmak değil: markayı üç boyutlu anlatmak.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5262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i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"Fiziksel mağazalar artık satın alma yolculuğunun son durağı olarak görülmemeli. Çevrimiçi ve fiziksel perakendenin güçlü yanları birleştiğinde bütünsel bir deneyim ortaya çıkar."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532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Retail Trends, I-AM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PERAKENDE TASARIMI NEDİR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NADİR BİR GERİ BİLDİRİM DÖNGÜSÜ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Mağaza tasarımı ölçülebilir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mimarlıkta çok az mekân tipinin performansı sayıyla ölçülür. Mağaza ölçülür — ve tasarım kararları bu sayıları doğrudan etkiler.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423160"/>
            <a:ext cx="11055096" cy="713232"/>
          </a:xfrm>
          <a:prstGeom prst="rect">
            <a:avLst/>
          </a:prstGeom>
          <a:solidFill>
            <a:srgbClr val="ED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4231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oranı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3584448" y="242316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Girenlerin kaçı satın alıyor?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24928" y="242316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Vitrin, eşik, yönlendirme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136392"/>
            <a:ext cx="110550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1363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Kalış süresi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313639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kadar kalıyor?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24928" y="313639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Oturma, dolaşım, deneyim alanı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849624"/>
            <a:ext cx="11055096" cy="713232"/>
          </a:xfrm>
          <a:prstGeom prst="rect">
            <a:avLst/>
          </a:prstGeom>
          <a:solidFill>
            <a:srgbClr val="ED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84962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 başına ciro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384962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verimli mi?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424928" y="384962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Teşhir yoğunluğu, plan tipi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562856"/>
            <a:ext cx="1105509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456285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 büyüklüğü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3584448" y="45628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ürün alıyor?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424928" y="456285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kurgusu, çapraz teşhir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5276088"/>
            <a:ext cx="11055096" cy="713232"/>
          </a:xfrm>
          <a:prstGeom prst="rect">
            <a:avLst/>
          </a:prstGeom>
          <a:solidFill>
            <a:srgbClr val="ED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" y="527608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 ziyaret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3584448" y="52760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geliyor mu?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24928" y="527608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Atmosfer, ilişki, hafıza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24928" y="21488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hangi tasarım kararı etkiliyor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PERAKENDE TASARIMI NEDİR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BİRİ FARKLI BİR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Mağaza tipolojileri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Amiral gemisi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76272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vitrini. Ciro değil, imaj hedefi. En büyük bütçe.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9704" y="182880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Konsept mağaza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489704" y="2176272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fikrin denendiği yer. Esnek, dönüşebilir.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36992" y="164592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74736" y="182880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şube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174736" y="2176272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Tekrarlanabilirlik esas. Kit-of-parts mantığı.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24612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42900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776472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Geçici, sökülebilir, hızlı kurulum. Olay yaratır.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324612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9704" y="342900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Shop-in-shop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489704" y="3776472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 bir mağazanın içinde ada. Sınır problemi.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36992" y="3246120"/>
            <a:ext cx="3538728" cy="1417320"/>
          </a:xfrm>
          <a:prstGeom prst="roundRect">
            <a:avLst>
              <a:gd name="adj" fmla="val 5161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74736" y="342900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Showroom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174736" y="3776472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yok, sipariş var. Teşhir + danışmanlık.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937760"/>
            <a:ext cx="11055096" cy="1051560"/>
          </a:xfrm>
          <a:prstGeom prst="roundRect">
            <a:avLst>
              <a:gd name="adj" fmla="val 8696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1248" y="50840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DÖNEM TASARLAYACAĞINIZ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5349240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Küçük bir markanın ilk konsept mağazası — kopyalanacak bir şablon yok.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PERAKENDE TASARIMI NEDİR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4E7C8A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3218688" y="1874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218688" y="228600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Shop to Experience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218688" y="34930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Dükkândan deneyime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18688" y="422452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242C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18688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KURUCU METİN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Atmosfer 50 yıldır biliniyor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"Atmospherics as a Marketing Tool"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762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 Kotler, Journal of Retailing, 1973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697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Kotler'in tezi: bir mekânın atmosferi, üründen bağımsız olarak satın alma kararını etkiler. Ürün aynı, mekân farklı — sonuç farklı.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703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atmosfer, iç mimarlığın alanıdır.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686800" y="1645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1973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686800" y="25420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Kotler'in makalesinin tarihi.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 bu, yeni bir moda değil —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yarım asırlık bir bilgi birikimi.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43484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elli yıl bu tezi üç ayrı çerçeveyle derinleştirdi: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4846320"/>
            <a:ext cx="475488" cy="475488"/>
          </a:xfrm>
          <a:prstGeom prst="ellipse">
            <a:avLst/>
          </a:prstGeom>
          <a:solidFill>
            <a:srgbClr val="4E7C8A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4846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25296" y="481888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Servicescape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25296" y="5111496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Bitner (1992) — fiziksel çevrenin üç boyutu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15968" y="4846320"/>
            <a:ext cx="475488" cy="475488"/>
          </a:xfrm>
          <a:prstGeom prst="ellipse">
            <a:avLst/>
          </a:prstGeom>
          <a:solidFill>
            <a:srgbClr val="4E7C8A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15968" y="4846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974336" y="481888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Uyaran–Tepki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974336" y="5111496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Mehrabian &amp; Russell (1974) — yaklaşma / kaçınma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65008" y="4846320"/>
            <a:ext cx="475488" cy="475488"/>
          </a:xfrm>
          <a:prstGeom prst="ellipse">
            <a:avLst/>
          </a:prstGeom>
          <a:solidFill>
            <a:srgbClr val="4E7C8A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65008" y="4846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723376" y="481888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 ekonomisi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723376" y="5111496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 &amp; Gilmore (1998) — deneyimin bedeli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DÜKKÂNDAN DENEYİME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 &amp; GILMORE, 1998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Deneyim ekonomisi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basamakta müşterinin ödemeye razı olduğu bedel artar. Aynı çekirdek, dört farklı fiyat.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2670048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2860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EMTİA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Kahve çekirdeği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3375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Çuvalda, kilo ile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9776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241548" y="31089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538728" y="2103120"/>
            <a:ext cx="2670048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21608" y="22860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260604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Paket kahve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21608" y="33375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Rafta, markalı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21608" y="39776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213348" y="31089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10528" y="2103120"/>
            <a:ext cx="2670048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08" y="22860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HİZMET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93408" y="260604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Kafede kahve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693408" y="33375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Pişirilip sunulan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93408" y="39776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40×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185148" y="310896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482328" y="2103120"/>
            <a:ext cx="2670048" cy="2514600"/>
          </a:xfrm>
          <a:prstGeom prst="roundRect">
            <a:avLst>
              <a:gd name="adj" fmla="val 3273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65208" y="228600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DENEYİM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665208" y="2606040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Mekânı için gidilen kahve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665208" y="33375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Hatırlanan, anlatılan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65208" y="397764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100×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47548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çarpanları temsilîdir — amaç oranı göstermek, kesin rakam vermek değil.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5212080"/>
            <a:ext cx="11055096" cy="841248"/>
          </a:xfrm>
          <a:prstGeom prst="roundRect">
            <a:avLst>
              <a:gd name="adj" fmla="val 10870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1248" y="534009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SINIFA SOR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41248" y="5577840"/>
            <a:ext cx="10506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Mersin'de sırf mekânı için gittiğiniz bir yer var mı? Orada tam olarak ne farklı?</a:t>
            </a:r>
            <a:endParaRPr lang="en-US" sz="16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DÜKKÂNDAN DENEYİME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MEHRABIAN &amp; RUSSELL · BITNER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Mekân insanı ya içeri çeker ya dışarı iter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Servicescape — Bitner, 1992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214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Fiziksel çevrenin üç boyutu: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50592"/>
            <a:ext cx="48920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Ortam koşulları — ısı, ışık, ses, koku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 ve işlev — yerleşim, ekipman, mobilya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İşaret ve semboller — tabela, dekor, malzeme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72768"/>
            <a:ext cx="535838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Uyaran → Organizma → Tepki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121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Mehrabian &amp; Russell, 1974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uyaranlar iki duyguyu tetikler — haz (pleasure) ve uyarılma (arousal). Bu ikisi de davranışa dönüşür: yaklaşma ya da kaçınma.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114800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4114800"/>
            <a:ext cx="10415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Nötr diye bir şey yok. Bir mekân ya çeker ya iter — hiçbir şey hissettirmemek de bir sonuçtur.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303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Mikunda'nın eklediği: her güçlü mekânın bir çekim çekirdeği (core attraction) vardır — insanın fotoğrafını çektiği, arkadaşına anlattığı, hatırladığı tek şey. Bu dönem herkesin projesinde bir tane olmalı.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DÜKKÂNDAN DENEYİME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0" b="1" dirty="0">
                <a:solidFill>
                  <a:srgbClr val="4E7C8A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9200" dirty="0"/>
          </a:p>
        </p:txBody>
      </p:sp>
      <p:sp>
        <p:nvSpPr>
          <p:cNvPr id="3" name="Text 1"/>
          <p:cNvSpPr txBox="1"/>
          <p:nvPr/>
        </p:nvSpPr>
        <p:spPr>
          <a:xfrm>
            <a:off x="3218688" y="1874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218688" y="228600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+ Identity + Space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218688" y="34930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Marka, kimlik, mekân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18688" y="422452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242C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18688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1–2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AYRIM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Marka logo değildir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Marka  =  bir vaat  +  bir kişilik  +  bir tutarlılık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240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 ise bu vaadin fiziksel kanıtıdır. Marka bir şey söylüyorsa, mekân onu ya doğrular ya yalanlar.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2608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Anahtarı — Brand Key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33375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337560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43784" y="33375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16936" y="3337560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kitle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20640" y="33375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93792" y="3337560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Hedefler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97496" y="33375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70648" y="3337560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Misyon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74352" y="333756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47504" y="3337560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041648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041648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Faydalar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43784" y="4041648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16936" y="4041648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Kişilik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120640" y="4041648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93792" y="4041648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97496" y="4041648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0648" y="4041648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İletişim dili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74352" y="4041648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47504" y="4041648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892040"/>
            <a:ext cx="11055096" cy="1097280"/>
          </a:xfrm>
          <a:prstGeom prst="roundRect">
            <a:avLst>
              <a:gd name="adj" fmla="val 8333"/>
            </a:avLst>
          </a:prstGeom>
          <a:solidFill>
            <a:srgbClr val="FBE7DE"/>
          </a:solidFill>
          <a:ln w="12700">
            <a:solidFill>
              <a:srgbClr val="F0CBB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50292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bileşenin mekânsal karşılığını sorun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53492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"Bu markanın kişiliği 'sakin ve mütevazı' ise — ışık kaç lux? Müzik var mı? Koridor kaç santim? Vitrinde kaç ürün duruyor?"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MARKA, KİMLİK, MEKÂN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EGZERSİZ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Marka değerini mekânsal karara çevirmek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Tahtada birlikte yapın. Bir marka özelliği alın, sınıfla mekânsal karşılıklarını çıkarın.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55096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5469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MARKA DEĞERİ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OLASI MEKÂNSAL KARAR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"Şeffaf üretim"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 atölye, cam bölme, üretim sürecinin görünürlüğü, mutfak/tezgâh mekânın ortasında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"El yapımı, her biri tek"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Ürünlerin tek tek sergilenmesi, düşük yoğunluk, vitrin dolabı, nokta aydınlatma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"Erişilebilir, herkes için"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yoğunluk, açık raf, serbest dolaşım, hızlı ve çok kasalı çıkış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"Yavaş, sakin"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Geniş koridor, düşük ışık kontrastı, oturma alanı, sessiz bölge, az ürün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"Denizle ilişkili"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Dışa açılan cephe, tuza dayanıklı malzeme, açık hava oturması, gün ışığı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satır bu dönemin mekânına özel: Mersin Marina açık hava bir yerleşim. Marka değeri ile bağlamın kesiştiği yer, projenin en güçlü fikri olabilir.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MARKA, KİMLİK, MEKÂN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KARARI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dönem neden küçük ve az bilinen bir marka?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03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1907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SEÇEMEZSİNİZ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E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· Zara · Nike · IKEA · Starbucks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dili zaten belirlenmiş. Bunları seçmek tasarım değil, taklittir.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9824" cy="1371600"/>
          </a:xfrm>
          <a:prstGeom prst="roundRect">
            <a:avLst>
              <a:gd name="adj" fmla="val 5333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28232" y="17190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SEÇECEKSİNİZ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28232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Fiziksel mağazası olmayan küçük bir marka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23957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Çevrimiçi satıyor, kimliği henüz mekâna dönüşmemiş. Mekânı siz kuracaksınız.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2004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gerekçe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11880"/>
            <a:ext cx="475488" cy="475488"/>
          </a:xfrm>
          <a:prstGeom prst="ellipse">
            <a:avLst/>
          </a:prstGeom>
          <a:solidFill>
            <a:srgbClr val="D95A2B"/>
          </a:solidFill>
          <a:ln w="12700">
            <a:solidFill>
              <a:srgbClr val="D95A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358444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Kopyalanacak dil yok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3877056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Markanın mekânsal karşılığını sıfırdan kurmak zorunda kalıyorsunuz. Dersin asıl becerisi bu.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15968" y="3611880"/>
            <a:ext cx="475488" cy="475488"/>
          </a:xfrm>
          <a:prstGeom prst="ellipse">
            <a:avLst/>
          </a:prstGeom>
          <a:solidFill>
            <a:srgbClr val="D95A2B"/>
          </a:solidFill>
          <a:ln w="12700">
            <a:solidFill>
              <a:srgbClr val="D95A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15968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74336" y="358444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gerçekten yapılıyor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974336" y="3877056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markada bilgi hazır. Küçük markada ürüne, dile, müşteri yorumuna bakmak zorundasınız.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65008" y="3611880"/>
            <a:ext cx="475488" cy="475488"/>
          </a:xfrm>
          <a:prstGeom prst="ellipse">
            <a:avLst/>
          </a:prstGeom>
          <a:solidFill>
            <a:srgbClr val="D95A2B"/>
          </a:solidFill>
          <a:ln w="12700">
            <a:solidFill>
              <a:srgbClr val="D95A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65008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723376" y="358444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 gerçekçi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8723376" y="3877056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mağazasını açan küçük bir marka, mezun olunca karşılaşacağınız işe benziyor.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5029200"/>
            <a:ext cx="11055096" cy="914400"/>
          </a:xfrm>
          <a:prstGeom prst="roundRect">
            <a:avLst>
              <a:gd name="adj" fmla="val 1000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6968" y="5029200"/>
            <a:ext cx="10415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Mersin ve Çukurova bağlamı size avantaj: narenciye ve gurme gıda, zeytinyağı, deniz ve tekne ekipmanı, yerel tekstil, seramik ve zanaat atölyeleri — hepsi mağazası olmayan küçük markalarla dolu.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MARKA, KİMLİK, MEKÂN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4E7C8A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3218688" y="1874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218688" y="228600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Customer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218688" y="34930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Kullanıcıyı anlamak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18688" y="422452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242C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18688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 PROFİLİ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bir demografi listesi değildir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İŞE YARAMAYAN PERSONA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8483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6E7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"Ayşe, 28, grafik tasarımcı, İstanbul'da yaşıyor, doğayı ve kahveyi seviyor."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Bundan hiçbir mekânsal karar çıkmaz.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72768"/>
            <a:ext cx="5358384" cy="2148840"/>
          </a:xfrm>
          <a:prstGeom prst="roundRect">
            <a:avLst>
              <a:gd name="adj" fmla="val 3404"/>
            </a:avLst>
          </a:prstGeom>
          <a:solidFill>
            <a:srgbClr val="FBE7DE"/>
          </a:solidFill>
          <a:ln w="12700">
            <a:solidFill>
              <a:srgbClr val="F0CBB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7556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İŞE YARAYAN PERSONA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08483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"45 dakikası var, yanında 4 yaşında çocuğu ve bebek arabası var, elinde iki poşet daha, hediye arıyor ve acelesi yok ama oturacak yer arıyor."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3108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Geniş koridor, oturma alanı, çocuğun oyalanacağı nokta, poşet koyacak yüzey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persona bir mekânsal talep üretmeli. Üretmiyorsa o persona işe yaramaz.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6177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yazarken cevaplanacak sorular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983480"/>
            <a:ext cx="2670048" cy="502920"/>
          </a:xfrm>
          <a:prstGeom prst="roundRect">
            <a:avLst>
              <a:gd name="adj" fmla="val 1272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98348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Markadan nasıl haberdar oldu?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64992" y="4983480"/>
            <a:ext cx="2670048" cy="502920"/>
          </a:xfrm>
          <a:prstGeom prst="roundRect">
            <a:avLst>
              <a:gd name="adj" fmla="val 1272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56432" y="498348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geliyor — belirli bir ürün, gezme, hediye?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4983480"/>
            <a:ext cx="2670048" cy="502920"/>
          </a:xfrm>
          <a:prstGeom prst="roundRect">
            <a:avLst>
              <a:gd name="adj" fmla="val 1272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4496" y="498348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Yanında kim var?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4983480"/>
            <a:ext cx="2670048" cy="502920"/>
          </a:xfrm>
          <a:prstGeom prst="roundRect">
            <a:avLst>
              <a:gd name="adj" fmla="val 1272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2560" y="498348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kadar zamanı var?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577840"/>
            <a:ext cx="2670048" cy="502920"/>
          </a:xfrm>
          <a:prstGeom prst="roundRect">
            <a:avLst>
              <a:gd name="adj" fmla="val 1272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557784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süreci: anında mı, karşılaştırarak mı?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5577840"/>
            <a:ext cx="2670048" cy="502920"/>
          </a:xfrm>
          <a:prstGeom prst="roundRect">
            <a:avLst>
              <a:gd name="adj" fmla="val 1272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6432" y="557784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Elinde ne var?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5577840"/>
            <a:ext cx="2670048" cy="502920"/>
          </a:xfrm>
          <a:prstGeom prst="roundRect">
            <a:avLst>
              <a:gd name="adj" fmla="val 1272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54496" y="557784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rahatsız olur?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61120" y="5577840"/>
            <a:ext cx="2670048" cy="502920"/>
          </a:xfrm>
          <a:prstGeom prst="roundRect">
            <a:avLst>
              <a:gd name="adj" fmla="val 1272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52560" y="557784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Çıkarken ne bekliyor?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KULLANICIYI ANLAMAK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 ATLANAN ADIM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Ürün analizi teşhirin ölçüsünü belirler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 derinliğini konsept değil, ürün belirler. Ürünü ölçmeden teşhir tasarlanamaz.</a:t>
            </a:r>
            <a:endParaRPr lang="en-US" sz="15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55096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6325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NEYE BAKACAKSINIZ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HANGİ TASARIM KARARINI BELİRLER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 ve ağırlık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 derinliği, modül ölçüsü, taşıyıcı ve askı seçimi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Kırılganlık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 raf mı, vitrin dolabı mı — dokunma izni var mı?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Çeşit sayısı (SKU)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 başına yoğunluk, depo büyüklüğü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Fiyat segmenti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Pahalı ürün = az ürün + çok boşluk. Yoğunluk ucuzluk sinyalidir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Stok devir hızı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 m²'si ve mal kabul sıklığı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Duyusal ilişki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Dokunuluyor / deneniyor / koklanıyor / tadılıyor mu?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57800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" y="5257800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Aynı 100 m²'ye 50 ürün mü koyalım, 500 ürün mü? — Cevap markada değil, fiyat segmentinde.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KULLANICIYI ANLAMAK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4E7C8A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218688" y="1874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218688" y="228600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Behaviour &amp; Customer Journey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3218688" y="34930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davranış ve müşteri yolculuğu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18688" y="422452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242C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18688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YEDİ AN, YEDİ TASARIM SORUSU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Müşteri yolculuğu</a:t>
            </a:r>
            <a:endParaRPr lang="en-US" sz="3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785469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MEKÂNSAL SORU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Cepheden ne görünüyor? 30 / 10 / 3 metreden ne okunuyor?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Girerken ne değişiyor — ışık, ses, koku, sıcaklık, zemin?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Yönelme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Nereye gideceğimi nasıl anlıyorum?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Gezinme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Ürünü nasıl tarıyorum? Ne kadar sürüyor?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Etkileşim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Dokunuyor muyum? Deniyor muyum? Kime soruyorum?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Satın alma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Kasa nerede? Kuyruk nerede? Poşetleme nerede?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Ayrılma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Çıkarken ne hissediyorum? Elimde ne var?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394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yedi an, dönem boyunca hem tasarım hem değerlendirme çerçeveniz. Vize ve final rubriğindeki başlıklar bunlar.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MEKÂNSAL DAVRANIŞ VE MÜŞTERİ YOLCULUĞU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HERKESİN BİLDİĞİ AMA ÖĞRENCİNİN ATLADIĞI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Mağaza planlamanın gramerleri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Dekompresyon bölgesi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30552"/>
            <a:ext cx="30815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Girişten sonraki ilk 2–4 metre. Müşteri hâlâ dışarıdan içeriye geçiş yapıyor — ışığa, sese, kokuya alışıyor.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Buraya değerli ürün konmaz. Konursa görülmez.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9704" y="17830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 duvarı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489704" y="2130552"/>
            <a:ext cx="30815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İnsanların büyük çoğunluğu girer girmez sağa yönelir. Sağdaki ilk büyük yüzey markanın ne olduğunu tek bakışta söylemeli.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ürün, en güçlü mesaj burada.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36992" y="1600200"/>
            <a:ext cx="3538728" cy="1920240"/>
          </a:xfrm>
          <a:prstGeom prst="roundRect">
            <a:avLst>
              <a:gd name="adj" fmla="val 381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74736" y="17830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 bant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174736" y="2130552"/>
            <a:ext cx="30815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Yerden yaklaşık 120–150 cm arası, göz hizası. Dikkatin yoğunlaştığı bant.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bandın üstü ve altı farklı iş görür — üstü işaret, altı stok.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79476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tipleri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160520"/>
            <a:ext cx="267004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2976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Izgara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590288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Süpermarket mantığı. Verimli, tahmin edilebilir, sıkıcı.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64992" y="4160520"/>
            <a:ext cx="267004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29584" y="42976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Serbest akış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29584" y="4590288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Butik mantığı. Keşif hissi yüksek, alan verimi düşük.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63056" y="4160520"/>
            <a:ext cx="267004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42976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 (loop)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4590288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Müşteriyi tüm mağazadan geçiren tek rota.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61120" y="4160520"/>
            <a:ext cx="267004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25712" y="429768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Çapraz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25712" y="4590288"/>
            <a:ext cx="2340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 yerleşim, görüş hatlarını uzatır, ürünü sürekli yeni gösterir.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Görüş hatları her plan tipinin üstünde: girişten bakınca mağazanın derinliği okunuyor mu? Okunmuyorsa müşteri içeri girmez.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MEKÂNSAL DAVRANIŞ VE MÜŞTERİ YOLCULUĞU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PERSONELİN GÜNÜ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Yolculuğun görünmeyen tarafı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mağaza sadece müşterinin gördüğü yer değildir. Ve stüdyoda en çok puan burada kaybediliyor.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1031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10312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Sabah açılış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4992" y="210312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11296" y="21031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13632" y="210312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kabul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63056" y="210312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1031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11696" y="210312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Depolama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0" y="210312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07424" y="210312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0" y="210312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tazeleme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297180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29718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297180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ve danışma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64992" y="297180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11296" y="29718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913632" y="297180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63056" y="297180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29718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711696" y="297180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961120" y="297180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07424" y="29718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509760" y="297180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Kapanış ve sayım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3931920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FBE7DE"/>
          </a:solidFill>
          <a:ln w="12700">
            <a:solidFill>
              <a:srgbClr val="F0CBB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6968" y="3931920"/>
            <a:ext cx="10415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Kural: personelin mal kabul rotası, müşterinin dolaşım rotasıyla kesişmemeli.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49834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Tasarlamak zorunda olduğunuz "arka" alanlar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" y="534924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4944" y="5349240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 ve kasa arkası yönetim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64992" y="534924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93008" y="5349240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 — satış alanının %15–25'i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63056" y="534924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91072" y="5349240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 soyunma, dinlenme, WC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961120" y="5349240"/>
            <a:ext cx="2670048" cy="658368"/>
          </a:xfrm>
          <a:prstGeom prst="roundRect">
            <a:avLst>
              <a:gd name="adj" fmla="val 9722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89136" y="5349240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kabul ve servis rotası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MEKÂNSAL DAVRANIŞ VE MÜŞTERİ YOLCULUĞU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4E7C8A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3218688" y="1874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218688" y="228600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Atmosphere &amp; Multisensory Experience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3218688" y="34930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 ve çok duyulu deneyim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18688" y="422452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242C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18688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3 + ATÖLYE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PALLASMAA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Mekânı beş duyuyla yaşıyoruz, ama göze tasarlıyoruz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i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"Mimarlığın gözün tekeline girmesi, bedeni ve diğer duyuları dışarıda bırakır."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487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Juhani Pallasmaa, Tenin Gözleri (2005)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2608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Mağaza, bu tekeli kırmak için en uygun laboratuvardır — çünkü duyusal tasarımın burada ticari bir karşılığı da var.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3566160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73075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Görme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4078224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Işık, renk, kontrast, görüş hattı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3566160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71416" y="373075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Dokunma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471416" y="4078224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Malzeme, doku, sıcaklık, zeminin sertliği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36992" y="3566160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56448" y="373075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İşitme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156448" y="4078224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Akustik, müzik, sessizlik, ürünün sesi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800600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96519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Koklama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5312664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Ürünün, malzemenin, bir tezgâhın kokusu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4800600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71416" y="496519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471416" y="5312664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Tadım, ikram, ağızda kalan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36992" y="4800600"/>
            <a:ext cx="3538728" cy="1051560"/>
          </a:xfrm>
          <a:prstGeom prst="roundRect">
            <a:avLst>
              <a:gd name="adj" fmla="val 695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56448" y="4965192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Beden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312664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Isı, hava akımı, kot farkı, hareket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 · ATMOSFER VE ÇOK DUYULU DENEYİM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DERSİN ANA ARACI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Duyu × Yolculuk Matrisi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hücre tek bir soruyu yanıtlar: bu anda bu duyuyu taşıyan somut tasarım kararı nedir?</a:t>
            </a:r>
            <a:endParaRPr lang="en-US" sz="14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55096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23160"/>
                <a:gridCol w="2423160"/>
                <a:gridCol w="2423160"/>
                <a:gridCol w="2414016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ÇEKİM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EŞİK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GEZİNME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ETKİLEŞİM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Koklama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 hattından dışarı sızan hafif kavurma kokusu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Ahşap ve mumun doğal kokusu — difüzör yok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Ürün açık kaplarda, koklanabilir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İMZA AN — koklama tezgâhı: 8 açık cam kavanoz, 90 cm, üstten nokta ışık → 1/10 detay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Gece cephesinde tek sıcak ışık lekesi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Dışarıdan içeriye kontrast düşüşü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Çuvalların rengi, kavurma tonları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E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Kavurma makinesinin görünürlüğü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47091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bir kahve kavurucusu için doldurulmuş iki satır. Gerçek matriste 6 duyu × 7 an vardır.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" y="5120640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" y="5257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— İMZA ANLAR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5486400"/>
            <a:ext cx="104150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hücre seçip "İmza An" ilan edeceksiniz. Bu üçü finalde 1/20 veya daha büyük ölçekte çizilmek zorunda.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 · ATMOSFER VE ÇOK DUYULU DENEYİM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 (2014)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Duyusal uyum ve kabul edilmeyenler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94960" cy="2395728"/>
          </a:xfrm>
          <a:prstGeom prst="roundRect">
            <a:avLst>
              <a:gd name="adj" fmla="val 3053"/>
            </a:avLst>
          </a:prstGeom>
          <a:solidFill>
            <a:srgbClr val="FBE7DE"/>
          </a:solidFill>
          <a:ln w="12700">
            <a:solidFill>
              <a:srgbClr val="F0CBB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Duyusal uyum — congruence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Birbiriyle uyumsuz duyusal ipuçları, hiç olmamasından daha kötü sonuç verir.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Uyumlu koku + müzik ikilisi memnuniyeti artırıyor; uyumsuz ikili değerlendirmeyi düşürüyor.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"havalı" katman eklemeyin — hepsi aynı hikâyeyi anlatmalı.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72768"/>
            <a:ext cx="5358384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Sakin bir eşik istiyorsanız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121408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orada yüksek tempolu müzik olamaz.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Güçlü bir koku olamaz.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Keskin bir ışık kontrastı olamaz.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3291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sütundaki hücreler çelişmemeli — matrisin üçüncü kuralı budur.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16052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derste kabul edilmeyenler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52628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2628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Duvara asılan ekran  =  "dijital deneyim" değil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87375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87375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Difüzör  =  koku tasarımı değil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22122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22122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Yeşil bitki duvarı + neon yazı + terrazzo  =  konsept değil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56869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56869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"Instagrammable köşe"  bir strateji değil, bir sonuçtur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91616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9161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board'da olup planda karşılığı olmayan hiçbir şey puan almaz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 · ATMOSFER VE ÇOK DUYULU DENEYİM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0" b="1" dirty="0">
                <a:solidFill>
                  <a:srgbClr val="4E7C8A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</a:t>
            </a:r>
            <a:endParaRPr lang="en-US" sz="9200" dirty="0"/>
          </a:p>
        </p:txBody>
      </p:sp>
      <p:sp>
        <p:nvSpPr>
          <p:cNvPr id="3" name="Text 1"/>
          <p:cNvSpPr txBox="1"/>
          <p:nvPr/>
        </p:nvSpPr>
        <p:spPr>
          <a:xfrm>
            <a:off x="3218688" y="1874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218688" y="228600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Product, Display &amp; Visual Merchandising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3218688" y="34930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Ürün, teşhir ve görsel düzenleme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18688" y="422452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242C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18688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9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TİPİ SİSTEMİ SEÇER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Teşhir sistemleri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38728" cy="1325880"/>
          </a:xfrm>
          <a:prstGeom prst="roundRect">
            <a:avLst>
              <a:gd name="adj" fmla="val 551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105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Duvar sistemi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57984"/>
            <a:ext cx="3081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 stok, dikey kullanım. Ray/panel ile esnek.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627632"/>
            <a:ext cx="3538728" cy="1325880"/>
          </a:xfrm>
          <a:prstGeom prst="roundRect">
            <a:avLst>
              <a:gd name="adj" fmla="val 551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9704" y="18105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(gondol)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489704" y="2157984"/>
            <a:ext cx="3081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Ortada durur, etrafından dolaşılır. Rotayı kurar.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36992" y="1627632"/>
            <a:ext cx="3538728" cy="1325880"/>
          </a:xfrm>
          <a:prstGeom prst="roundRect">
            <a:avLst>
              <a:gd name="adj" fmla="val 551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74736" y="18105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/ platform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174736" y="2157984"/>
            <a:ext cx="3081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çıkan az sayıda ürün. Dokunmayı davet eder.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127248"/>
            <a:ext cx="3538728" cy="1325880"/>
          </a:xfrm>
          <a:prstGeom prst="roundRect">
            <a:avLst>
              <a:gd name="adj" fmla="val 551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31012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 dolabı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657600"/>
            <a:ext cx="3081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Değerli veya kırılgan ürün. Dokunma izni yok.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51960" y="3127248"/>
            <a:ext cx="3538728" cy="1325880"/>
          </a:xfrm>
          <a:prstGeom prst="roundRect">
            <a:avLst>
              <a:gd name="adj" fmla="val 551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9704" y="331012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Manken / büst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489704" y="3657600"/>
            <a:ext cx="3081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 bedende gösterir. Tekstil ve aksesuar.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36992" y="3127248"/>
            <a:ext cx="3538728" cy="1325880"/>
          </a:xfrm>
          <a:prstGeom prst="roundRect">
            <a:avLst>
              <a:gd name="adj" fmla="val 5517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74736" y="331012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Asma sistem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174736" y="3657600"/>
            <a:ext cx="30815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Tavandan iner. Hafif ürün, esnek düzen.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6634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Sormanız gereken iki soru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5029200"/>
            <a:ext cx="475488" cy="475488"/>
          </a:xfrm>
          <a:prstGeom prst="ellipse">
            <a:avLst/>
          </a:prstGeom>
          <a:solidFill>
            <a:srgbClr val="4E7C8A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5029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25296" y="500176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 değişince ne değişiyor?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1225296" y="5294376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mobilya mı tasarlıyorsunuz, yoksa dönüşebilir bir sistem mi? Küçük marka için ikincisi genelde doğru.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5029200"/>
            <a:ext cx="475488" cy="475488"/>
          </a:xfrm>
          <a:prstGeom prst="ellipse">
            <a:avLst/>
          </a:prstGeom>
          <a:solidFill>
            <a:srgbClr val="4E7C8A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5029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22008" y="5001768"/>
            <a:ext cx="4700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Kampanya alanı var mı?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6922008" y="5294376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Markanın indirim, yeni ürün veya iş birliği anlarında kullanacağı esnek bir alan ayırdınız mı?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VII · ÜRÜN, TEŞHİR VE GÖRSEL DÜZENLEME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A'NIN ANA EGZERSİZİ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Vitrin: üç mesafe testi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 bir reklam panosu değil, mekânın ilk odasıdır. Ve marina gibi açık hava bir yerleşimde vitrin, işin tamamına yakınıdır.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53872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3317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035808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Promenadın karşı ucundan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383280"/>
            <a:ext cx="3081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Silüet, ışık lekesi, tabela. Marka okunmuyor — sadece bir şeyin orada olduğu okunuyor.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148840"/>
            <a:ext cx="3538728" cy="2331720"/>
          </a:xfrm>
          <a:prstGeom prst="roundRect">
            <a:avLst>
              <a:gd name="adj" fmla="val 3529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9704" y="23317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3035808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Yürüyüş hattından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3383280"/>
            <a:ext cx="3081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adı, vitrinin kurgusu, içerinin derinliği. Durup durmama kararı burada veriliyor.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36992" y="2148840"/>
            <a:ext cx="353872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74736" y="233172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174736" y="3035808"/>
            <a:ext cx="3081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Vitrinin önünde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174736" y="3383280"/>
            <a:ext cx="3081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Ürünün kendisi, etiket, doku, fiyat. İçeri girme kararı burada veriliyor.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709160"/>
            <a:ext cx="11055096" cy="1280160"/>
          </a:xfrm>
          <a:prstGeom prst="roundRect">
            <a:avLst>
              <a:gd name="adj" fmla="val 7143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486460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için ek bir katman: gece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519379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akşam canlanır. Yani vitrininizin gece görünümü, gündüz görünümünden daha önemli olabilir. Cephe aydınlatmasını dekoratif bir ek olarak değil, tasarımın ana kararı olarak düşünün.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VII · ÜRÜN, TEŞHİR VE GÖRSEL DÜZENLEME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4E7C8A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VIII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3218688" y="1874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VIII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218688" y="228600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Light, Material, Color &amp; Sound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218688" y="34930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Işık, malzeme, renk, ses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18688" y="422452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242C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18688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10 — ATÖLYE C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BİR GENEL IŞIK YETMEZ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Aydınlatma dört katmandır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92224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57984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Mekânın temel görülebilirliği. Yeterli ama düz.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64992" y="1627632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BE7DE"/>
          </a:solidFill>
          <a:ln w="12700">
            <a:solidFill>
              <a:srgbClr val="F0CBB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7872" y="1792224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Vurgu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157984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 öne çıkarır. Genel ışığın 3–5 katı.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627632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1792224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Dekoratif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2157984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Kendisi bir nesne. Marka kişiliğini taşır.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1627632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1792224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Vitrin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157984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Dışarıdan okunur. Gündüz ve gece ayrı hesaplanır.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2004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teknik değişken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3:1 – 5:1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4622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Kontrast oranı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Vurgu ışığının genel ışığa oranı.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azı düz, daha fazlası rahatsız.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315968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4315968" y="44622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geriverimi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Ürünün rengi doğru görünüyor mu?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Tekstil ve gıdada belirleyici.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065008" y="35661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5400" dirty="0"/>
          </a:p>
        </p:txBody>
      </p:sp>
      <p:sp>
        <p:nvSpPr>
          <p:cNvPr id="22" name="Text 20"/>
          <p:cNvSpPr txBox="1"/>
          <p:nvPr/>
        </p:nvSpPr>
        <p:spPr>
          <a:xfrm>
            <a:off x="8065008" y="44622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sıcaklığı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Sıcak mı serin mi?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kişiliğiyle uyumlu olmalı.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349240"/>
            <a:ext cx="11055096" cy="777240"/>
          </a:xfrm>
          <a:prstGeom prst="roundRect">
            <a:avLst>
              <a:gd name="adj" fmla="val 11765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6968" y="5349240"/>
            <a:ext cx="10415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Aydınlatma kararlarınız tavan planında gösterilecek — "render'da güzel duruyordu" bir çözüm değildir.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VIII · IŞIK, MALZEME, RENK, SES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ATMOSFERİN GERİ KALANI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Malzeme, ses ve koku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38728" cy="2286000"/>
          </a:xfrm>
          <a:prstGeom prst="roundRect">
            <a:avLst>
              <a:gd name="adj" fmla="val 320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105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 ve doku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57984"/>
            <a:ext cx="308152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Dokunulan yüzeyler ve dokunulmayanlar ayrı düşünülür.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Aşınma, temizlik, maliyet, sökülebilirlik.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Zemin ayrı bir konu: sertliği, sesi, yürüme hissi.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627632"/>
            <a:ext cx="3538728" cy="2286000"/>
          </a:xfrm>
          <a:prstGeom prst="roundRect">
            <a:avLst>
              <a:gd name="adj" fmla="val 3200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9704" y="18105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Akustik ve müzik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489704" y="2157984"/>
            <a:ext cx="308152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Yansıma yüzeyleri gürültüyü belirler.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Müziğin temposu kalış süresini etkiler.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mağazada bir sessiz bölge olmalı — deneme kabini, danışma noktası.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36992" y="1627632"/>
            <a:ext cx="3538728" cy="2286000"/>
          </a:xfrm>
          <a:prstGeom prst="roundRect">
            <a:avLst>
              <a:gd name="adj" fmla="val 3200"/>
            </a:avLst>
          </a:prstGeom>
          <a:solidFill>
            <a:srgbClr val="FBE7DE"/>
          </a:solidFill>
          <a:ln w="12700">
            <a:solidFill>
              <a:srgbClr val="F0CBB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74736" y="18105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Koku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174736" y="2157984"/>
            <a:ext cx="308152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Difüzör bir tasarım kararı değildir.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Koku kaynaktan gelmeli: ürünün kendisi, malzeme (ahşap, deri, kahve), bir hazırlık tezgâhı, taze bir yüzey.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114800"/>
            <a:ext cx="11055096" cy="1874520"/>
          </a:xfrm>
          <a:prstGeom prst="roundRect">
            <a:avLst>
              <a:gd name="adj" fmla="val 4878"/>
            </a:avLst>
          </a:prstGeom>
          <a:solidFill>
            <a:srgbClr val="E7EDEE"/>
          </a:solidFill>
          <a:ln w="15875">
            <a:solidFill>
              <a:srgbClr val="4E7C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427939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MERSİN MARİNA — MALZEME KISITI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4572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hava bir yerleşimde tasarlıyorsunuz. Bu, malzeme seçimini kapalı bir AVM'den tamamen ayırır.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6968" y="5029200"/>
            <a:ext cx="254203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6696" y="5029200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Tuzlu hava — metal korozyonu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38728" y="5029200"/>
            <a:ext cx="254203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48456" y="5029200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— renk solması, plastik yorulması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0488" y="5029200"/>
            <a:ext cx="254203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0216" y="5029200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ve tuz — ahşap ve tekstil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42248" y="5029200"/>
            <a:ext cx="254203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51976" y="5029200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Mevsimsellik — yaz zirvesi, kış sakin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VIII · IŞIK, MALZEME, RENK, SES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4E7C8A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3218688" y="1874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IX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218688" y="228600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Good Retail Space?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3218688" y="34930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bir mağaza mekânını ne yapar?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18688" y="422452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242C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18688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 — SENTEZ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BOYUNCA KENDİNİZE SORUN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Dokuz kontrol sorusu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5096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572768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mekân hangi markaya ait olduğunu söylemeden anlatabiliyor mu?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121408"/>
            <a:ext cx="11055096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121408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metreden bakınca burada bir şey olduğu anlaşılıyor mu?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670048"/>
            <a:ext cx="11055096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2670048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Girdikten sonraki ilk üç saniyede nereye gideceğimi biliyor muyum?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218688"/>
            <a:ext cx="11055096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3218688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Ürüne dokunma izni mekân tarafından açıkça veriliyor mu?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767328"/>
            <a:ext cx="11055096" cy="502920"/>
          </a:xfrm>
          <a:prstGeom prst="roundRect">
            <a:avLst>
              <a:gd name="adj" fmla="val 12727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3767328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çekim çekirdeği var mı — insanın anlatacağı tek şey?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4315968"/>
            <a:ext cx="11055096" cy="502920"/>
          </a:xfrm>
          <a:prstGeom prst="roundRect">
            <a:avLst>
              <a:gd name="adj" fmla="val 12727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44168" y="4315968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 bu mekânda bir gün geçirebilir mi?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864608"/>
            <a:ext cx="11055096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" y="4864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44168" y="4864608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 değiştiğinde bu mekân değişebilir mi?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5413248"/>
            <a:ext cx="11055096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5413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44168" y="5413248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Duyusal kararlar birbiriyle uyumlu mu?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5961888"/>
            <a:ext cx="11055096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5961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344168" y="5961888"/>
            <a:ext cx="10049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Herkes bu mekâna girebiliyor mu?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64465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Koyu iki satır, aynı dersin ölçülmüş verisinde öğrencilerin en zayıf olduğu alanlar.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2606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874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DÖNEMİN PROJESİ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8600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49300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Proje: Mersin Marina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422452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A242C"/>
          </a:solidFill>
          <a:ln w="12700">
            <a:solidFill>
              <a:srgbClr val="4E7C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DÖNEM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MERSİN MARİNA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tanımı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1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Fiziksel mağazası olmayan, ağırlıklı olarak çevrimiçi satan küçük bir markanın ilk mağazasını tasarlayacaksınız.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 verilidir ve herkes aynı kabuk üzerinde çalışacak. Marka sizin bulacağınız ve hocanızın onaylayacağı olacak.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880360"/>
            <a:ext cx="5486400" cy="3017520"/>
          </a:xfrm>
          <a:prstGeom prst="rect">
            <a:avLst/>
          </a:prstGeom>
          <a:solidFill>
            <a:srgbClr val="ECEFEE"/>
          </a:solidFill>
          <a:ln w="15875">
            <a:solidFill>
              <a:srgbClr val="4E7C8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749808" y="40050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YERİ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Mersin Marina — vaziyet planı ve proje alanının işaretlenmiş hâli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(hoca ekleyecek)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2880360"/>
            <a:ext cx="5266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Bilmeniz gerekenler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3273552"/>
            <a:ext cx="5266944" cy="420624"/>
          </a:xfrm>
          <a:prstGeom prst="rect">
            <a:avLst/>
          </a:prstGeom>
          <a:solidFill>
            <a:srgbClr val="ED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0528" y="32735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327355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Mersin Marina, Yenişehir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3694176"/>
            <a:ext cx="526694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36941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369417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[hoca dolduracak] m²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4114800"/>
            <a:ext cx="5266944" cy="420624"/>
          </a:xfrm>
          <a:prstGeom prst="rect">
            <a:avLst/>
          </a:prstGeom>
          <a:solidFill>
            <a:srgbClr val="ED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0528" y="41148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411480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[hoca dolduracak]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4535424"/>
            <a:ext cx="526694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0528" y="453542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Tavan yüksekliği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453542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[hoca dolduracak] 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4956048"/>
            <a:ext cx="5266944" cy="420624"/>
          </a:xfrm>
          <a:prstGeom prst="rect">
            <a:avLst/>
          </a:prstGeom>
          <a:solidFill>
            <a:srgbClr val="EDF1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0528" y="495604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Cephe / vitrin hattı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495604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[hoca dolduracak] 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5376672"/>
            <a:ext cx="526694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0528" y="53766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gezisi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53766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· MERSİN MARİNA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 BAĞLAM KISITI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Marina, kapalı bir AVM değildir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361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 bir alışveriş merkezi içinde değil. Bu, tasarım kararlarınızın çoğunu değiştirir.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945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Açık hava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3347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Vitrininiz iklime açık. Güneş, yağmur, rüzgâr ve tuz artık malzeme kararınızın parçası.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51960" y="201168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9704" y="21945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Akşam kullanımı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489704" y="263347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akşam canlanır. Gece cephesi ve aydınlatma, gündüzden daha belirleyici.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36992" y="201168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74736" y="219456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Yaya promenadı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174736" y="263347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otoparktan değil, yürüyüş hattından geliyor. Vitrin yürürken okunuyor.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764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16052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Mevsimsellik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59943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 zirvesi, kış sakin. Mekân iki farklı yoğunluğa aynı anda cevap vermeli.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51960" y="397764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9704" y="416052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Karma kullanıcı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489704" y="459943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Tekne sahibi, Mersinli aile, turist. Üç farklı hız, üç farklı beklenti.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36992" y="3977640"/>
            <a:ext cx="3538728" cy="1783080"/>
          </a:xfrm>
          <a:prstGeom prst="roundRect">
            <a:avLst>
              <a:gd name="adj" fmla="val 4615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74736" y="416052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Deniz ve manzara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174736" y="459943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yön diğerlerinden değerli. Vista, plan kararınızın girdisi.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4008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· MERSİN MARİNA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TESLİM KONTROL LİSTESİ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Tasarlayacağınız alanlar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509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4592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Dış kabuk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584448" y="1645920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Cephe · vitrin · giriş ve eşik · dekompresyon bölgesi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560320"/>
            <a:ext cx="1105509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56032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Satış alanı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560320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 duvarı · sirkülasyon · yönlendirme · teşhir sistemleri · etkileşim alanı · oturma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474720"/>
            <a:ext cx="11055096" cy="804672"/>
          </a:xfrm>
          <a:prstGeom prst="roundRect">
            <a:avLst>
              <a:gd name="adj" fmla="val 9091"/>
            </a:avLst>
          </a:prstGeom>
          <a:solidFill>
            <a:srgbClr val="FBE7DE"/>
          </a:solidFill>
          <a:ln w="12700">
            <a:solidFill>
              <a:srgbClr val="F0CBB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47472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İşletme tarafı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3474720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 ve kasa arkası · depo · personel alanı ve WC · mal kabul rotası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389120"/>
            <a:ext cx="1105509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38912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· Atmosfer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84448" y="4389120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Aydınlatma senaryosu · malzeme paleti · akustik · koku kaynağı · ısı ve hava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303520"/>
            <a:ext cx="1105509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530352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· Teknik katman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584448" y="5303520"/>
            <a:ext cx="7863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E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Erişilebilirlik · sürdürülebilirlik ve sökülebilirlik · kaçış rotası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grubu turuncu, çünkü en çok puan orada kaybediliyor. Bir mağaza sadece müşterinin gördüğü yer değildir.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HAFTA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Dönem takvimi ve değerlendirme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509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45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1–3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670048" y="17922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Araştırma ve analiz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670048" y="213055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Marka, persona, ürün, mekân · Araştırma sunumu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345168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66928" y="2651760"/>
            <a:ext cx="1105509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4–6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27980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Konsept tasarım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313639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Senaryo, konsept, zoning · Vize 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345168" y="2651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%25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66928" y="3657600"/>
            <a:ext cx="11055096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657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7–11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70048" y="38039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Somutlaştırma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670048" y="414223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atölye + tasarım geliştirme · Vize 2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345168" y="3657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%25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66928" y="4663440"/>
            <a:ext cx="11055096" cy="914400"/>
          </a:xfrm>
          <a:prstGeom prst="roundRect">
            <a:avLst>
              <a:gd name="adj" fmla="val 8000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46634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12–14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70048" y="48097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Detay ve tamamlama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670048" y="514807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1/20 ve 1/10 detay, sunum · Final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345168" y="4663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9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%30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566928" y="5715000"/>
            <a:ext cx="11055096" cy="566928"/>
          </a:xfrm>
          <a:prstGeom prst="roundRect">
            <a:avLst>
              <a:gd name="adj" fmla="val 12903"/>
            </a:avLst>
          </a:prstGeom>
          <a:solidFill>
            <a:srgbClr val="E7EDEE"/>
          </a:solidFill>
          <a:ln w="12700">
            <a:solidFill>
              <a:srgbClr val="D6E0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57150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Stüdyo süreç performansı — katılım, kritik alma, atölye teslimleri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5715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E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%10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ÖDEV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hafta ne yapacaksınız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55096" cy="1371600"/>
          </a:xfrm>
          <a:prstGeom prst="roundRect">
            <a:avLst>
              <a:gd name="adj" fmla="val 6667"/>
            </a:avLst>
          </a:prstGeom>
          <a:solidFill>
            <a:srgbClr val="10333F"/>
          </a:solidFill>
          <a:ln w="12700">
            <a:solidFill>
              <a:srgbClr val="1033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783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aday marka bulun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3317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6D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 için tek sayfa. Şablon dağıtılacak. Hafta 2 sonunda biri onaylanacak — bir marka bir öğrenci, ilk gelen alır.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1546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10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aday için cevaplayacağınız sorular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547872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47872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satıyor, kaç çeşit ürünü var?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114800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114800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 an nerede satıyor — site, Instagram, pazaryeri?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681728"/>
            <a:ext cx="53949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68172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dili nasıl? Üç sıfatla yazın.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547872"/>
            <a:ext cx="53583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8232" y="35478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Müşterisi kim olabilir?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4114800"/>
            <a:ext cx="53583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28232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fiziksel bir mekânı olmalı?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681728"/>
            <a:ext cx="535838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D8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8232" y="4681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 koklanır / tadılır / dokunulur / denenir mi?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440680"/>
            <a:ext cx="11055096" cy="685800"/>
          </a:xfrm>
          <a:prstGeom prst="roundRect">
            <a:avLst>
              <a:gd name="adj" fmla="val 10667"/>
            </a:avLst>
          </a:prstGeom>
          <a:solidFill>
            <a:srgbClr val="FBE7DE"/>
          </a:solidFill>
          <a:ln w="12700">
            <a:solidFill>
              <a:srgbClr val="F0CBB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5440680"/>
            <a:ext cx="10415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2: saha gezisi — Mersin Marina. Fotoğraf makinesi, metre ve defter getirin.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4937760" cy="4937760"/>
          </a:xfrm>
          <a:prstGeom prst="ellipse">
            <a:avLst/>
          </a:prstGeom>
          <a:solidFill>
            <a:srgbClr val="0A242C"/>
          </a:solidFill>
          <a:ln w="12700">
            <a:solidFill>
              <a:srgbClr val="0A24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80160" y="1051560"/>
            <a:ext cx="96926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"Bu dönem güzel bir mağaza tasarlamanızı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istemiyorum.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markanın ne olduğunu anlayıp, onu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mekânda insanların bedeniyle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karşılaştıracak bir kurgu kurmanızı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istiyorum.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Güzellik bunun sonucu olacak,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başlangıcı değil."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280160" y="5440680"/>
            <a:ext cx="1828800" cy="32004"/>
          </a:xfrm>
          <a:prstGeom prst="rect">
            <a:avLst/>
          </a:prstGeom>
          <a:solidFill>
            <a:srgbClr val="D95A2B"/>
          </a:solidFill>
          <a:ln w="12700">
            <a:solidFill>
              <a:srgbClr val="D95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566928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 Tasarımı Proje Stüdyosu  ·  Hafta 1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 LİSTESİ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Kaynaklar</a:t>
            </a:r>
            <a:endParaRPr lang="en-US" sz="3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52160"/>
                <a:gridCol w="245973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KÜNYE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Mesher, L. (2010)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Basics Interior Design: Retail Design. AVA Publishing.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 1–2 — Hafta 1 okuması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Underhill, P. (2008)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Buy: The Science of Shopping. (Türkçesi mevcut)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Giriş + dekompresyon — Hafta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Spence, C. et al. (2014)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"Store Atmospherics: A Multisensory Perspective." Psychology &amp; Marketing, 31(7).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Özet + sonuç — Hafta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Zumthor, P. (2006)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Atmosferler. (Türkçesi mevcut)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Tamamı, kısa — Hafta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Quartier, K. et al. (2020)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Holistic Competence Framework for (Future) Retail Design." J. of Retailing and Consumer Services.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Hoca kaynağı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Bükülmez, Girginkaya Akdağ &amp; Ekin (2025)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"Retail Design Competencies and Customer Journey Mapping Tools." Int. J. of Design Education, 19(2).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dersin kurgusunun dayanağı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3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Pallasmaa, J. (2005)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Tenin Gözleri: Mimarlık ve Duyular. YEM Yayın.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E7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Duyusal çerçeve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8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9436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 verdiyseniz stüdyoda 10 dakika konuşun. Konuşulmayan okuma yapılmaz.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Mağaza Tasarımı — Teorik Giriş</dc:title>
  <dc:subject>PptxGenJS Presentation</dc:subject>
  <dc:creator>Mağaza Tasarımı Stüdyosu</dc:creator>
  <cp:lastModifiedBy>Mağaza Tasarımı Stüdyosu</cp:lastModifiedBy>
  <cp:revision>1</cp:revision>
  <dcterms:created xsi:type="dcterms:W3CDTF">2026-09-02T09:23:40Z</dcterms:created>
  <dcterms:modified xsi:type="dcterms:W3CDTF">2026-09-02T09:23:40Z</dcterms:modified>
</cp:coreProperties>
</file>