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Syllabus anlatımından hemen sonra bu slaytla sunuma geçin: izlence ne istiyor, sunum onu nasıl yapılır hâle getiriyor.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Üçüncü kart vurgulu: duyusal deneyim bu dersin ayırt edici talebi.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Alan bilgisi bilinçli olarak yok; ölçüler ayrıca duyurulacak.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Beş adımı tahtaya yazın; dönem boyunca kritiklerde 'hangi adımdasın' diye sorun.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Beş bileşeni tahtaya yazın; öğrenci kendi markası için beşini de doldurmak zorunda.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 bağımsız yazılamaz: yukarıdaki dokuz başlığın sonucu.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Altıncı kaynak vurgulu: gözlem olmadan diğer beşi iddia düzeyinde kalır.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Dördüncü kart vurgulu: davranış, tasarıma en doğrudan çevrilen bilgi.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Ham havuzun uzun olması iyidir; eleme sert olmalı. Otuz kelimeden üçe inmek normaldir.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iki kelime bu dersin eklediği örnekler; el üretimi ve atölyeli markalarda çok işe yarıyor.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iki örnek makalede de geçiyor; öğrenci kendi markası için üç zincir kuracak.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Kelime–karar ilişkisinin tek referansı bu slayt; başka yerde tekrar anlatmıyoruz.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hem yoğunluk kararını hem de sonraki slayttaki ürün kategorilerini hazırlıyor.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markanın kelimeleri beş örnekten üçü: DOĞAL, TEKİLLİK, GÖRÜNÜRLÜK. Başka bir marka başka üçünü seçer.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Atmosfer = marka kimliğinin duyulur hâli. Bu cümleyi tekrarlayın.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Yaklaşma–kaçınma modeli dönem boyunca kritiklerin ortak dili olacak.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Dokunma vurgulu: fiziksel mağazanın çevrim içine karşı en güçlü kozu.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matris duyusal tasarımı mood board olmaktan çıkarıp yolculuğa bağlıyor.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Dört başlık öğrencinin haritasında birer satır olacak.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Aşama adlarını öğrenciye yazdırın; dönem boyunca bu terimlerle konuşacağız.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Operasyon vurgulu: ölçümlerde öğrencilerin en zayıf olduğu modül burası.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mağaza tasarımının detayına girmeden davranış bilgisini veriyor; yeterli.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Sağ kolon kelime–karar ilişkisinin yolculuk üzerinde okunuşu.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 seçim yaparken bu tabloyu kullansın: hangi gruptaysa mekânsal programı oradan başlıyor.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Pafta dağıtıldıktan sonra bu slaytı açık bırakın.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Kanıt / gerekçe / karar üçlüsü kritikte de aynı sırayla sorulacak.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Ödev sunumun son slaytı: öğrencinin dersten çıkarken aklında kalması gereken şey bu.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96112" y="123444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00" b="1" spc="30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 TASARIMI  ·  İÇ MİMARLIK 3. SINIF  ·  İLK DERS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69164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Anahtarını Okumak</a:t>
            </a:r>
            <a:endParaRPr lang="en-US" sz="4000" dirty="0"/>
          </a:p>
          <a:p>
            <a:pPr algn="l"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Müşteri Deneyimini Haritalamak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3611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6"/>
              </a:lnSpc>
              <a:buNone/>
            </a:pPr>
            <a:r>
              <a:rPr lang="en-US" sz="1700" dirty="0">
                <a:solidFill>
                  <a:srgbClr val="B9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Araştırmadan mekânsal tasarım kararına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96112" y="4480560"/>
            <a:ext cx="2532888" cy="512064"/>
          </a:xfrm>
          <a:prstGeom prst="rect">
            <a:avLst/>
          </a:prstGeom>
          <a:solidFill>
            <a:srgbClr val="33312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448056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36"/>
              </a:lnSpc>
              <a:buNone/>
            </a:pPr>
            <a:r>
              <a:rPr lang="en-US" sz="1200" b="1" spc="160" kern="0" dirty="0">
                <a:solidFill>
                  <a:srgbClr val="B9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4480560"/>
            <a:ext cx="2532888" cy="512064"/>
          </a:xfrm>
          <a:prstGeom prst="rect">
            <a:avLst/>
          </a:prstGeom>
          <a:solidFill>
            <a:srgbClr val="3331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65576" y="448056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36"/>
              </a:lnSpc>
              <a:buNone/>
            </a:pPr>
            <a:r>
              <a:rPr lang="en-US" sz="1200" b="1" spc="160" kern="0" dirty="0">
                <a:solidFill>
                  <a:srgbClr val="B9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KULLANICI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4480560"/>
            <a:ext cx="2532888" cy="512064"/>
          </a:xfrm>
          <a:prstGeom prst="rect">
            <a:avLst/>
          </a:prstGeom>
          <a:solidFill>
            <a:srgbClr val="3331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035040" y="448056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36"/>
              </a:lnSpc>
              <a:buNone/>
            </a:pPr>
            <a:r>
              <a:rPr lang="en-US" sz="1200" b="1" spc="160" kern="0" dirty="0">
                <a:solidFill>
                  <a:srgbClr val="B9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DENEYİM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04504" y="4480560"/>
            <a:ext cx="2532888" cy="512064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04504" y="448056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36"/>
              </a:lnSpc>
              <a:buNone/>
            </a:pPr>
            <a:r>
              <a:rPr lang="en-US" sz="12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513892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Markayı oku  →  kullanıcıyı anla  →  deneyimi haritala  →  mekâna çevir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DERSİN ÇERÇEVESİ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izlencesinden bugünkü sunuma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İzlencede okuduğumuz dört eksen, bu sunumun da omurgası. Bugün bu dört ekseni birbirine bağlayan yöntemi kuruyoruz.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2539746" cy="16916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871216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kimliği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127248"/>
            <a:ext cx="217398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Markayı araştırmak ve kimliğini çözümlemek.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4146" y="2286000"/>
            <a:ext cx="2539746" cy="16916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Shape 11"/>
          <p:cNvSpPr/>
          <p:nvPr/>
        </p:nvSpPr>
        <p:spPr>
          <a:xfrm>
            <a:off x="3637026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37026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637026" y="2871216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637026" y="3127248"/>
            <a:ext cx="217398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Kullanıcının ihtiyaç, değer ve davranışlarını anlamak.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5060" y="2286000"/>
            <a:ext cx="2539746" cy="16916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8" name="Shape 16"/>
          <p:cNvSpPr/>
          <p:nvPr/>
        </p:nvSpPr>
        <p:spPr>
          <a:xfrm>
            <a:off x="6377940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7794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2871216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377940" y="3127248"/>
            <a:ext cx="217398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Etkileşim, duyular ve müşteri yolculuğunu tasarlamak.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35974" y="2286000"/>
            <a:ext cx="2539746" cy="16916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3" name="Shape 21"/>
          <p:cNvSpPr/>
          <p:nvPr/>
        </p:nvSpPr>
        <p:spPr>
          <a:xfrm>
            <a:off x="9118854" y="2468880"/>
            <a:ext cx="27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18854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18854" y="2871216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118854" y="3127248"/>
            <a:ext cx="217398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Kimliği atmosfer, malzeme, ışık ve mekânsal kurguya çevirmek.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206240"/>
            <a:ext cx="2884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İZLENCEDEKİ ÖĞRENME ÇIKTILARIYLA BAĞI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2114" y="4343400"/>
            <a:ext cx="7823606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13232" y="4553712"/>
            <a:ext cx="10762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İzlence, karmaşık mekânsal kurguları marka kimliğiyle uyumlu biçimde tasarlamayı, kullanıcı odaklı çözüm üretmeyi, güncel teknolojik araçları kullanmayı ve evrensel tasarım ile sürdürülebilirliği gözetmeyi bekliyor. Bu sunum, o beklentileri günlük stüdyo pratiğine çeviren yöntemi anlatıyor.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13232" y="5577840"/>
            <a:ext cx="2123237" cy="47548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6384" y="557784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ARAŞTIR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873045" y="5577840"/>
            <a:ext cx="2123237" cy="47548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946197" y="557784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SENTEZLE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32858" y="5577840"/>
            <a:ext cx="2123237" cy="47548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106010" y="557784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HARİTALA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92670" y="5577840"/>
            <a:ext cx="2123237" cy="47548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265822" y="557784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ÇEVİR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352483" y="5577840"/>
            <a:ext cx="2123237" cy="47548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425635" y="5577840"/>
            <a:ext cx="197693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BEKLENTİLER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derste sizden ne bekliyorum?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Tasarımın yalnızca görsel olarak etkileyici olması değil, gerekçelendirilebilir olması önemli.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3453384" cy="164592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analizi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127248"/>
            <a:ext cx="3087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Markanın misyonunu, değerlerini, ürünlerini ve kimliğini araştırmak.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67784" y="2286000"/>
            <a:ext cx="3453384" cy="164592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50664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50664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50664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odağı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50664" y="3127248"/>
            <a:ext cx="3087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profilini ihtiyaç, değer ve davranışlarıyla anlamak.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22336" y="2286000"/>
            <a:ext cx="3453384" cy="16459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8" name="Shape 16"/>
          <p:cNvSpPr/>
          <p:nvPr/>
        </p:nvSpPr>
        <p:spPr>
          <a:xfrm>
            <a:off x="8205216" y="2468880"/>
            <a:ext cx="27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05216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205216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 ve duyular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205216" y="3127248"/>
            <a:ext cx="3087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Mekânı görme, dokunma, işitme, koku ve hareket üzerinden düşünmek.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" y="4133088"/>
            <a:ext cx="3453384" cy="164592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4315968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4718304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 entegrasyonu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96112" y="4974336"/>
            <a:ext cx="3087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Fiziksel ve dijital temasları deneyimi destekleyecek biçimde kurmak.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67784" y="4133088"/>
            <a:ext cx="3453384" cy="164592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8" name="Shape 26"/>
          <p:cNvSpPr/>
          <p:nvPr/>
        </p:nvSpPr>
        <p:spPr>
          <a:xfrm>
            <a:off x="4550664" y="4315968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50664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50664" y="4718304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kimlik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550664" y="4974336"/>
            <a:ext cx="3087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Kimliği atmosfer, malzeme, ışık, renk, doku ve kurguya çevirmek.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22336" y="4133088"/>
            <a:ext cx="3453384" cy="164592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3" name="Shape 31"/>
          <p:cNvSpPr/>
          <p:nvPr/>
        </p:nvSpPr>
        <p:spPr>
          <a:xfrm>
            <a:off x="8205216" y="4315968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05216" y="43159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205216" y="4718304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Uygulanabilirlik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205216" y="4974336"/>
            <a:ext cx="30876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Ergonomi, operasyon, depolama, dolaşım ve detay kararlarını gözetmek.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5888736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altı başlık dönem boyunca her kritikte ve her jüride sorulacak.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İç Mimari Tasarım III ders izlencesi, öğrenme çıktıları.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PROJE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dönem ne tasarlıyoruz?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akım olmayan bir markanın ilk fiziksel mağazasını, etkileşimli ve duyusal bir mekânsal deneyim olarak kuracaksınız.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368296"/>
            <a:ext cx="91440" cy="914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50976" y="2286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295144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akım olmayan, tasarım dili henüz oturmamış bir marka — sizin bulacağınız.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50976" y="2798064"/>
            <a:ext cx="5797296" cy="0"/>
          </a:xfrm>
          <a:prstGeom prst="line">
            <a:avLst/>
          </a:prstGeom>
          <a:noFill/>
          <a:ln w="6350">
            <a:solidFill>
              <a:srgbClr val="D6CC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971800"/>
            <a:ext cx="91440" cy="914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0976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2898648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Markanın kimliğini çözümleyip onu mekânsal bir dile çevirmek.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50976" y="3401568"/>
            <a:ext cx="5797296" cy="0"/>
          </a:xfrm>
          <a:prstGeom prst="line">
            <a:avLst/>
          </a:prstGeom>
          <a:noFill/>
          <a:ln w="6350">
            <a:solidFill>
              <a:srgbClr val="D6C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575304"/>
            <a:ext cx="91440" cy="914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0976" y="3493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502152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Etkileşimli, duyularla desteklenen ve teknolojiyle bütünleşmiş mekânsal deneyim.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50976" y="4005072"/>
            <a:ext cx="5797296" cy="0"/>
          </a:xfrm>
          <a:prstGeom prst="line">
            <a:avLst/>
          </a:prstGeom>
          <a:noFill/>
          <a:ln w="6350">
            <a:solidFill>
              <a:srgbClr val="D6CCC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4178808"/>
            <a:ext cx="91440" cy="914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50976" y="4096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468880" y="4105656"/>
            <a:ext cx="4279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2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Bireysel proje; dönem boyunca tek marka üzerinden derinleşme.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4818888"/>
            <a:ext cx="2884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TASARLAMAK ZORUNDA OLDUĞUNUZ İŞLEVLER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2114" y="4956048"/>
            <a:ext cx="3096158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13232" y="513892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 ve sergileme  ·  giriş ve eşik  ·  dolaşım  ·  deneyim alanı  ·  bilgi ve tanıtım  ·  satış ve kasa  ·  depolama ve stok  ·  personel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59168" y="2286000"/>
            <a:ext cx="4416552" cy="2331720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0" y="2542032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00" kern="0" dirty="0">
                <a:solidFill>
                  <a:srgbClr val="D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SORU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2880360"/>
            <a:ext cx="39044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Markanın kimliğini, kullanıcının ihtiyaçlarını ve ürünün doğasını nasıl tek bir mekânsal dilde birleştiririz?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7059168" y="4800600"/>
            <a:ext cx="4416552" cy="106984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315200" y="4983480"/>
            <a:ext cx="3904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0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TASARIM KAPSAMI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5248656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 · kimlik · malzeme · ışık · renk · doku · mobilya · duyusal nitelikler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kapsamı ders izlencesindeki gerekliliklerden sadeleştirilerek çıkarılmıştır.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TASARIM MANTIĞI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çizimle başlamıyor.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anlamı ve kullanıcıyı çözüyoruz; sonra bunu mekânsal karara dönüştürüyoruz.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377440"/>
            <a:ext cx="1933042" cy="16916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2505456"/>
            <a:ext cx="1640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761488"/>
            <a:ext cx="1640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163824"/>
            <a:ext cx="16404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· ürün · kullanıcı · rakip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91994" y="3223260"/>
            <a:ext cx="182880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20594" y="2377440"/>
            <a:ext cx="1933042" cy="16916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66898" y="2505456"/>
            <a:ext cx="1640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066898" y="2761488"/>
            <a:ext cx="1640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Sentezle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66898" y="3163824"/>
            <a:ext cx="16404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DNA'sı ve üç anahtar kelime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99355" y="3223260"/>
            <a:ext cx="182880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27955" y="2377440"/>
            <a:ext cx="1933042" cy="16916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74259" y="2505456"/>
            <a:ext cx="1640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274259" y="2761488"/>
            <a:ext cx="1640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Çevir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274259" y="3163824"/>
            <a:ext cx="16404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kelimeyi malzeme · ışık · dolaşım · sergileme kararına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06717" y="3223260"/>
            <a:ext cx="182880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35317" y="2377440"/>
            <a:ext cx="1933042" cy="16916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81621" y="2505456"/>
            <a:ext cx="1640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481621" y="2761488"/>
            <a:ext cx="1640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Haritala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481621" y="3163824"/>
            <a:ext cx="16404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müşterinin mekândaki yolculuğu ve davranışı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314078" y="3223260"/>
            <a:ext cx="182880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42678" y="2377440"/>
            <a:ext cx="1933042" cy="16916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88982" y="2505456"/>
            <a:ext cx="16404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688982" y="2761488"/>
            <a:ext cx="16404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688982" y="3163824"/>
            <a:ext cx="16404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marka ve kullanıcıyla örtüşüyor mu?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13232" y="4434840"/>
            <a:ext cx="30339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SUNUMUN AKIŞI DA AYNI SIRAYI İZLİYOR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02075" y="4572000"/>
            <a:ext cx="7673645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" y="4809744"/>
            <a:ext cx="1991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5065776"/>
            <a:ext cx="19915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DNA'sı · marka anahtarı · araştırma kaynakları · kullanıcı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2905963" y="4809744"/>
            <a:ext cx="1991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Sentezle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905963" y="5065776"/>
            <a:ext cx="19915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 havuzu ve eleme · beş örnek kelime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5098694" y="4809744"/>
            <a:ext cx="1991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Çevir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098694" y="5065776"/>
            <a:ext cx="19915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Çeviri zinciri · tasarım kararı · yoğunluk kararı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7291426" y="4809744"/>
            <a:ext cx="1991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Haritala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7291426" y="5065776"/>
            <a:ext cx="19915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 · duyular · müşteri akışı ve davranış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9484157" y="4809744"/>
            <a:ext cx="199156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9484157" y="5065776"/>
            <a:ext cx="19915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Vaka okuması · sınıf çalışması ve ödev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MARKA KİMLİĞİ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DNA'sı: bir markayı ne oluşturur?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bir logo değil, bir vaadin tutarlı biçimde tekrarlanmasıdır. Bu vaat beş bileşenden oluşur.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48840"/>
            <a:ext cx="2284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MARKANIN KENDİ İÇİNDE KURDUĞU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052267" y="2286000"/>
            <a:ext cx="4336085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468880"/>
            <a:ext cx="2200656" cy="10789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9536" y="2615184"/>
            <a:ext cx="1908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varız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3017520"/>
            <a:ext cx="1908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Markanın özü ve var oluş nedeni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50464" y="2468880"/>
            <a:ext cx="2200656" cy="10789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96768" y="2615184"/>
            <a:ext cx="1908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İdeal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96768" y="3017520"/>
            <a:ext cx="1908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Neye dönüşmek istiyor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87696" y="2468880"/>
            <a:ext cx="2200656" cy="10789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334000" y="2615184"/>
            <a:ext cx="1908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334000" y="3017520"/>
            <a:ext cx="1908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İnanç sistemi; çalışma ve iletişim biçimi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813048"/>
            <a:ext cx="2209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DIŞA DÖNÜK OLARAK GÖSTERDİĞİ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977286" y="3950208"/>
            <a:ext cx="4411066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4133088"/>
            <a:ext cx="3319272" cy="10789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9536" y="427939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Kişilik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" y="4681728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Pazara konuşma biçimi, ses tonu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69080" y="4133088"/>
            <a:ext cx="3319272" cy="10789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215384" y="4279392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 konumu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215384" y="4681728"/>
            <a:ext cx="3026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Rekabette kendini nasıl konumlandırdığı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71232" y="2286000"/>
            <a:ext cx="3904488" cy="2926080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08976" y="250545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00" kern="0" dirty="0">
                <a:solidFill>
                  <a:srgbClr val="D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DERSİN ANA KONUSU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808976" y="2779776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Markanın kimliğini çözümlemek ve onu mekânsal bir dile çevirmek.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808976" y="384048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boyunca her tasarım kararı bu beş bileşenden birine dayanmak zorunda. Dayanmıyorsa karar değil, tercihtir.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13232" y="5486400"/>
            <a:ext cx="10762488" cy="58521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32688" y="5486400"/>
            <a:ext cx="10332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markanın kimliği, tekrarlanabilir olduğunda kimlik olur; tek seferlik bir jest kimlik kurmaz.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Wheeler (2017), Designing Brand Identity; Klanten vd. (2013), Brand Spaces.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MARKA ANALİZİ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Anahtarı nedir?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markanın özünü belirli başlıklar altında çözümlemeye yarayan çerçeve. İki grupta okunur, tek bir özde toplanır.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48840"/>
            <a:ext cx="26590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MARKANIN BAĞLAMI — DIŞARIDAN GELEN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27171" y="2286000"/>
            <a:ext cx="8048549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450592"/>
            <a:ext cx="3563112" cy="91440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9536" y="2596896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2999232"/>
            <a:ext cx="3270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Başka hangi seçenekler var?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2920" y="2450592"/>
            <a:ext cx="3563112" cy="91440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59224" y="2596896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kullanıcı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59224" y="2999232"/>
            <a:ext cx="3270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Kime sesleniyor?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12608" y="2450592"/>
            <a:ext cx="3563112" cy="91440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58912" y="2596896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Amaçlar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058912" y="2999232"/>
            <a:ext cx="3270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Neyi başarmak istiyor?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3557016"/>
            <a:ext cx="2509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MARKANIN İFADESİ — KENDİ KURDUĞU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77210" y="3694176"/>
            <a:ext cx="8198510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858768"/>
            <a:ext cx="1763268" cy="96012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4041648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Misyon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297680"/>
            <a:ext cx="13975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6"/>
              </a:lnSpc>
              <a:buNone/>
            </a:pPr>
            <a:r>
              <a:rPr lang="en-US" sz="9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olma nedeni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13076" y="3858768"/>
            <a:ext cx="1763268" cy="96012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695956" y="4041648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695956" y="4297680"/>
            <a:ext cx="13975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6"/>
              </a:lnSpc>
              <a:buNone/>
            </a:pPr>
            <a:r>
              <a:rPr lang="en-US" sz="9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Neye inanıyor?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312920" y="3858768"/>
            <a:ext cx="1763268" cy="96012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495800" y="4041648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Faydalar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495800" y="4297680"/>
            <a:ext cx="13975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6"/>
              </a:lnSpc>
              <a:buNone/>
            </a:pPr>
            <a:r>
              <a:rPr lang="en-US" sz="9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İşlevsel ve duygusal olarak ne sunuyor?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12764" y="3858768"/>
            <a:ext cx="1763268" cy="96012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95644" y="4041648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Kişilik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295644" y="4297680"/>
            <a:ext cx="13975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6"/>
              </a:lnSpc>
              <a:buNone/>
            </a:pPr>
            <a:r>
              <a:rPr lang="en-US" sz="9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insan olsaydı nasıl biri olurdu?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912608" y="3858768"/>
            <a:ext cx="1763268" cy="96012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095488" y="4041648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dil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095488" y="4297680"/>
            <a:ext cx="13975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6"/>
              </a:lnSpc>
              <a:buNone/>
            </a:pPr>
            <a:r>
              <a:rPr lang="en-US" sz="9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Renk · biçim · malzeme · görüntü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712452" y="3858768"/>
            <a:ext cx="1763268" cy="96012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895332" y="4041648"/>
            <a:ext cx="13975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İletişim tonu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895332" y="4297680"/>
            <a:ext cx="13975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6"/>
              </a:lnSpc>
              <a:buNone/>
            </a:pPr>
            <a:r>
              <a:rPr lang="en-US" sz="9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konuşuyor?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3232" y="5230368"/>
            <a:ext cx="10762488" cy="64008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32688" y="523036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00" b="1" spc="180" kern="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627632" y="5230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Müşterinin aklında kalmasını istediğimiz temel anlam — en son yazılır.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Sunar Bükülmez, Girginkaya Akdağ ve Ekin (2025), Marka Anahtarı Analizi aracı (I-AM İstanbul).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ARAŞTIRMA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markanın kimliğini nasıl çıkarırız?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logo ya da birkaç güzel görsel yeterli değil. Farklı kaynaklardan kanıt toplarız.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3453384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sitesi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127248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Misyon · ürün dili · değerler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67784" y="2286000"/>
            <a:ext cx="3453384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50664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50664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50664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medya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50664" y="3127248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dil · iletişim · kullanıcı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22336" y="2286000"/>
            <a:ext cx="3453384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05216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05216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205216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205216" y="3127248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 · biçim · fiyat · kullanım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" y="3968496"/>
            <a:ext cx="3453384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4151376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4553712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yorumları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96112" y="4809744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Beklenti · memnuniyet · sorunlar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67784" y="3968496"/>
            <a:ext cx="3453384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8" name="Shape 26"/>
          <p:cNvSpPr/>
          <p:nvPr/>
        </p:nvSpPr>
        <p:spPr>
          <a:xfrm>
            <a:off x="4550664" y="4151376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50664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50664" y="4553712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Rakipler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550664" y="4809744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Farklılaşma · konum · fırsat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22336" y="3968496"/>
            <a:ext cx="3453384" cy="1481328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3" name="Shape 31"/>
          <p:cNvSpPr/>
          <p:nvPr/>
        </p:nvSpPr>
        <p:spPr>
          <a:xfrm>
            <a:off x="8205216" y="4151376"/>
            <a:ext cx="27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05216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205216" y="4553712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205216" y="4809744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davranış · temas · bağlam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13232" y="5504688"/>
            <a:ext cx="10762488" cy="5669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32688" y="55046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Araştırmanın amacı çok bilgi toplamak değil; aynı anlamı farklı kanıtlarda görebilmek.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Sunar Bükülmez vd. (2025), marka analizi ve kullanıcı profili bölümleri.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KULLANICI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profilini nasıl anlarız?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Demografik bilgi başlangıçtır; tasarım için asıl önemli olan ihtiyaç, değer ve davranıştır.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3453384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Kim?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127248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 · yaşam biçimi · sosyo-ekonomik bağlam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67784" y="2286000"/>
            <a:ext cx="3453384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50664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50664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50664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Neye değer veriyor?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50664" y="3127248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 · öncelikler · inançlar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22336" y="2286000"/>
            <a:ext cx="3453384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05216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05216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205216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Neye ihtiyacı var?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205216" y="3127248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İşlevsel ve duygusal ihtiyaçlar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" y="3968496"/>
            <a:ext cx="3453384" cy="1481328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4151376"/>
            <a:ext cx="27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4553712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davranıyor?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96112" y="4809744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Arıyor · karşılaştırıyor · seçiyor · bekliyor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67784" y="3968496"/>
            <a:ext cx="3453384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8" name="Shape 26"/>
          <p:cNvSpPr/>
          <p:nvPr/>
        </p:nvSpPr>
        <p:spPr>
          <a:xfrm>
            <a:off x="4550664" y="4151376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50664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50664" y="4553712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hissediyor?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550664" y="4809744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Merak · güven · huzursuzluk · aidiyet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22336" y="3968496"/>
            <a:ext cx="3453384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3" name="Shape 31"/>
          <p:cNvSpPr/>
          <p:nvPr/>
        </p:nvSpPr>
        <p:spPr>
          <a:xfrm>
            <a:off x="8205216" y="4151376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05216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205216" y="4553712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bekliyor?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205216" y="4809744"/>
            <a:ext cx="30876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 · keşif · kişisellik · kolaylık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13232" y="5504688"/>
            <a:ext cx="10762488" cy="5669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32688" y="55046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Davranışı yazılabilen kullanıcı, mekânsal karar üretir: süre, erişim, bilgi, mahremiyet.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Sunar Bükülmez vd. (2025), kullanıcı profili ve persona yaklaşımı.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SENTEZ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 nasıl çıkarılır?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kelime, marka analizini tasarım kararına bağlayan ara duraktır. Analizden doğrudan plana geçilemez.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2498598" cy="19202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2414016"/>
            <a:ext cx="22059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670048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072384"/>
            <a:ext cx="2205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Markanın kendi ürettiği her şey: metinler, ambalaj, sosyal medya dili, müşteri yorumları, görüşme, rakiplerin dili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57550" y="3246120"/>
            <a:ext cx="164592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67862" y="2286000"/>
            <a:ext cx="2498598" cy="19202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4166" y="2414016"/>
            <a:ext cx="22059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614166" y="2670048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kelime havuzu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14166" y="3072384"/>
            <a:ext cx="2205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Otuz–elli kelime. Sıfat, fiil ve nesne adı; hepsini yaz, hiçbirini eleme, tekrar edenleri işaretle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12180" y="3246120"/>
            <a:ext cx="164592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22492" y="2286000"/>
            <a:ext cx="2498598" cy="19202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68796" y="2414016"/>
            <a:ext cx="22059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368796" y="2670048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Gruplama ve eleme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368796" y="3072384"/>
            <a:ext cx="2205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 anlamlıları birleştir, kümele; markaya özgü olmayanları at: kaliteli, modern, özel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66810" y="3246120"/>
            <a:ext cx="164592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77122" y="2286000"/>
            <a:ext cx="2498598" cy="19202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23426" y="2414016"/>
            <a:ext cx="220599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123426" y="2670048"/>
            <a:ext cx="22059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6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anahtar kelime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23426" y="3072384"/>
            <a:ext cx="220599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Özgül · kanıtlı · mekânda karşılığı kurulabilir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4453128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 ÖLÇÜTÜ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777594" y="4590288"/>
            <a:ext cx="9698126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809744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Özgül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5102352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markaya uyacak kadar genel olmamalı.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367784" y="4809744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Kanıtlı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367784" y="5102352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Araştırmada karşılığı bulunmalı.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022336" y="4809744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Çevrilebilir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022336" y="5102352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Mekânda somut bir karşılığı kurulabilmeli.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13232" y="5632704"/>
            <a:ext cx="10762488" cy="566928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32688" y="5632704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Sınama: bu sıfatın zıttını bilinçli olarak seçen bir marka olabilir mi?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SENTEZ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derste kullanacağımız beş örnek kelime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Bunlar bir katalog değil, örnek. Kendi markanız için kendi üçlünüzü bulacaksınız.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377440"/>
            <a:ext cx="2123237" cy="137160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578608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CESUR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00400"/>
            <a:ext cx="19037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karakterli · görünür · güçlü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73045" y="2377440"/>
            <a:ext cx="2123237" cy="137160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82773" y="2578608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2982773" y="3200400"/>
            <a:ext cx="19037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malzemeye yakın · sıcak · yalın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32858" y="2377440"/>
            <a:ext cx="2123237" cy="137160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42586" y="2578608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SÜRDÜRÜLEBİLİR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142586" y="3200400"/>
            <a:ext cx="19037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ömürlü · az atık · esnek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192670" y="2377440"/>
            <a:ext cx="2123237" cy="1371600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02398" y="2578608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TEKİLLİK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7302398" y="3200400"/>
            <a:ext cx="19037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ürün tek · elde üretilmiş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352483" y="2377440"/>
            <a:ext cx="2123237" cy="1371600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462211" y="2578608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462211" y="3200400"/>
            <a:ext cx="19037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D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gizlenmiyor · süreç sahnede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3877056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kelime ikincil renkte: bunlar üretimi görünür olan, elde üretilmiş ürünlü markalar için özellikle işe yarar.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4270248"/>
            <a:ext cx="3408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KELİME MEKÂNDA BAŞKA BİR ŞEYİ DEĞİŞTİRİR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76979" y="4407408"/>
            <a:ext cx="7298741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608576"/>
            <a:ext cx="2123237" cy="60350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4608576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vurgu ve hiyerarşi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873045" y="4608576"/>
            <a:ext cx="2123237" cy="60350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982773" y="4608576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 ve ışık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32858" y="4608576"/>
            <a:ext cx="2123237" cy="60350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142586" y="4608576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ve işletme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92670" y="4608576"/>
            <a:ext cx="2123237" cy="60350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302398" y="4608576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yoğunluk ve aralık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352483" y="4608576"/>
            <a:ext cx="2123237" cy="60350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62211" y="4608576"/>
            <a:ext cx="1903781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görüş hattı ve sınır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5431536"/>
            <a:ext cx="1076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tasarım kararı birden fazla kelimeyi aynı anda taşıyabilir; taşıması da beklenir. Beş kelimenin hepsini kullanan bir mağaza ise hiçbirini kullanmamış olur.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ÇEVİRİ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Çeviri zinciri: özellikten tasarım öğesine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marka özelliği doğrudan çizime dönüşmez. Arada iki durak var ve ikisi de atlanamaz.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2484882" cy="137160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2414016"/>
            <a:ext cx="21922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670048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özelliği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072384"/>
            <a:ext cx="2192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1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araştırmada bulunan somut olgu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3834" y="2971800"/>
            <a:ext cx="182880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72434" y="2286000"/>
            <a:ext cx="2484882" cy="137160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8738" y="2414016"/>
            <a:ext cx="21922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618738" y="2670048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kelime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8738" y="3072384"/>
            <a:ext cx="2192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1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olgunun tek sıfata indirgenmesi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03036" y="2971800"/>
            <a:ext cx="182880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31636" y="2286000"/>
            <a:ext cx="2484882" cy="137160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7940" y="2414016"/>
            <a:ext cx="21922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377940" y="2670048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ilke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3072384"/>
            <a:ext cx="2192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1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sayısız çözüme açık genel kural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62238" y="2971800"/>
            <a:ext cx="182880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90838" y="2286000"/>
            <a:ext cx="2484882" cy="137160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37142" y="2414016"/>
            <a:ext cx="21922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137142" y="2670048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öğesi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37142" y="3072384"/>
            <a:ext cx="21922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10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çizilebilir, ölçülebilir karar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3813048"/>
            <a:ext cx="17593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AYNI ZİNCİR, İKİ ÖRNEK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527402" y="3950208"/>
            <a:ext cx="8948318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4169664"/>
            <a:ext cx="2484882" cy="78638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1248" y="4169664"/>
            <a:ext cx="22288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ürün tek tek, elde üretiliyor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52978" y="4562856"/>
            <a:ext cx="164592" cy="0"/>
          </a:xfrm>
          <a:prstGeom prst="line">
            <a:avLst/>
          </a:prstGeom>
          <a:noFill/>
          <a:ln w="1397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472434" y="4169664"/>
            <a:ext cx="2484882" cy="786384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600450" y="4169664"/>
            <a:ext cx="22288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TEKİLLİK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12180" y="4562856"/>
            <a:ext cx="164592" cy="0"/>
          </a:xfrm>
          <a:prstGeom prst="line">
            <a:avLst/>
          </a:prstGeom>
          <a:noFill/>
          <a:ln w="1397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31636" y="4169664"/>
            <a:ext cx="2484882" cy="78638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59652" y="4169664"/>
            <a:ext cx="22288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yoğunluk; her ürüne kendi alanı ve kendi ışığı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771382" y="4562856"/>
            <a:ext cx="164592" cy="0"/>
          </a:xfrm>
          <a:prstGeom prst="line">
            <a:avLst/>
          </a:prstGeom>
          <a:noFill/>
          <a:ln w="1397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990838" y="4169664"/>
            <a:ext cx="2484882" cy="78638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118854" y="4169664"/>
            <a:ext cx="22288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Tekil kaideler · nokta aydınlatma · ürünler arası geniş aralık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13232" y="5102352"/>
            <a:ext cx="2484882" cy="78638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41248" y="5102352"/>
            <a:ext cx="22288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süreci gizlenmiyor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52978" y="5495544"/>
            <a:ext cx="164592" cy="0"/>
          </a:xfrm>
          <a:prstGeom prst="line">
            <a:avLst/>
          </a:prstGeom>
          <a:noFill/>
          <a:ln w="1397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472434" y="5102352"/>
            <a:ext cx="2484882" cy="786384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600450" y="5102352"/>
            <a:ext cx="22288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012180" y="5495544"/>
            <a:ext cx="164592" cy="0"/>
          </a:xfrm>
          <a:prstGeom prst="line">
            <a:avLst/>
          </a:prstGeom>
          <a:noFill/>
          <a:ln w="1397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231636" y="5102352"/>
            <a:ext cx="2484882" cy="78638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359652" y="5102352"/>
            <a:ext cx="22288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Üretimin satış alanına açılması; arka alanın sahne olması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771382" y="5495544"/>
            <a:ext cx="164592" cy="0"/>
          </a:xfrm>
          <a:prstGeom prst="line">
            <a:avLst/>
          </a:prstGeom>
          <a:noFill/>
          <a:ln w="1397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990838" y="5102352"/>
            <a:ext cx="2484882" cy="78638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118854" y="5102352"/>
            <a:ext cx="222885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Camlı atölye duvarı · tezgâhın vitrine bakması · açık kuruma rafı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713232" y="6126480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3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ilke ile tasarım öğesini ayırmak önemli: ilke sabittir, öğe her mekânda değişir.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ÇEVİRİ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Beş kelime, beş tasarım kararı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satır bir çeviri zinciridir. Sağdaki kolon çizime giren karardır.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860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5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ANAHTAR KELİME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2980944" y="22860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5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ANLAMA GELİYOR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22860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5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İLKE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8083296" y="22860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5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TASARIM ÖĞESİ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3232" y="2560320"/>
            <a:ext cx="10762488" cy="0"/>
          </a:xfrm>
          <a:prstGeom prst="line">
            <a:avLst/>
          </a:prstGeom>
          <a:noFill/>
          <a:ln w="12700">
            <a:solidFill>
              <a:srgbClr val="D6C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633472"/>
            <a:ext cx="2103120" cy="62179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1248" y="2633472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CESUR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52928" y="2633472"/>
            <a:ext cx="228600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980944" y="2633472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Karakterli · görünür · güçlü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75504" y="2633472"/>
            <a:ext cx="274320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03520" y="2633472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ve güçlü bir mekânsal jest; hiyerarşi net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955280" y="2633472"/>
            <a:ext cx="352044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83296" y="2633472"/>
            <a:ext cx="3264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Merkezî kaide · güç duvarı · yüksek kontrastlı vurgu ışığı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291840"/>
            <a:ext cx="2103120" cy="62179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41248" y="3291840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52928" y="3291840"/>
            <a:ext cx="228600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980944" y="3291840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Malzemeye yakın · sıcak · yalın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175504" y="3291840"/>
            <a:ext cx="274320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303520" y="3291840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Malzemenin kendisi görünür kalır; ışık doğal ışığı destekler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955280" y="3291840"/>
            <a:ext cx="352044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83296" y="3291840"/>
            <a:ext cx="3264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Boyasız yüzey · ham ahşap ve taş · sıcak renk sıcaklığı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" y="3950208"/>
            <a:ext cx="2103120" cy="62179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1248" y="3950208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SÜRDÜRÜLEBİLİR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852928" y="3950208"/>
            <a:ext cx="228600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980944" y="3950208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ömürlü · az atık · esnek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175504" y="3950208"/>
            <a:ext cx="274320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303520" y="3950208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 sökülebilir ve yeniden kurulabilir olmalı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955280" y="3950208"/>
            <a:ext cx="352044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83296" y="3950208"/>
            <a:ext cx="3264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Vidalı birleşim · modüler teşhir · değişebilir vitrin arkalığı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13232" y="4608576"/>
            <a:ext cx="2103120" cy="62179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1248" y="4608576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TEKİLLİK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852928" y="4608576"/>
            <a:ext cx="228600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2980944" y="4608576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ürün tek · elde üretilmiş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175504" y="4608576"/>
            <a:ext cx="274320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303520" y="4608576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yoğunluk; her ürüne kendi alanı ve kendi ışığı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955280" y="4608576"/>
            <a:ext cx="352044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083296" y="4608576"/>
            <a:ext cx="3264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Tekil kaide · nokta aydınlatma · ürünler arası geniş aralık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13232" y="5266944"/>
            <a:ext cx="2103120" cy="62179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41248" y="5266944"/>
            <a:ext cx="18470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852928" y="5266944"/>
            <a:ext cx="228600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2980944" y="5266944"/>
            <a:ext cx="20299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gizlenmiyor · süreç sahnede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175504" y="5266944"/>
            <a:ext cx="274320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303520" y="5266944"/>
            <a:ext cx="24871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 satış alanına açılır; arka alan sahne olur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955280" y="5266944"/>
            <a:ext cx="3520440" cy="62179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083296" y="5266944"/>
            <a:ext cx="32644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Camlı atölye duvarı · vitrine bakan tezgâh · açık kuruma rafı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713232" y="5998464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Sınama sorusu: bu karar, kelimeyi bilmeyen birine de aynı şeyi anlatıyor mu?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ÇEVİRİ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Yoğunluk bir mesajdır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metrekareye kaç ürün konacağı estetik değil, stratejik bir karar. Az ürün ve çok boşluk değer duygusu üretir; yoğun teşhir bolluk ve erişilebilirlik duygusu.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77440"/>
            <a:ext cx="5381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ÜRÜN — BOŞLUK DEĞERDİR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094476" y="2377440"/>
            <a:ext cx="53812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ÜRÜN — BOLLUK SİNYALİDİR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13232" y="2670048"/>
            <a:ext cx="1763268" cy="137160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2670048"/>
            <a:ext cx="1763268" cy="7315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2852928"/>
            <a:ext cx="1507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Mücevher · sanat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3291840"/>
            <a:ext cx="15072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birim değer yüksek; boşluk doğrudan değer anlamına gelir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3076" y="2670048"/>
            <a:ext cx="1763268" cy="137160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4" name="Shape 12"/>
          <p:cNvSpPr/>
          <p:nvPr/>
        </p:nvSpPr>
        <p:spPr>
          <a:xfrm>
            <a:off x="2513076" y="2670048"/>
            <a:ext cx="1763268" cy="7315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41092" y="2852928"/>
            <a:ext cx="1507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Parfüm · sofistike moda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641092" y="3291840"/>
            <a:ext cx="15072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seçilmiş az sayıda ürün, geniş boşluk, oturarak satış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2920" y="2670048"/>
            <a:ext cx="1763268" cy="137160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8" name="Shape 16"/>
          <p:cNvSpPr/>
          <p:nvPr/>
        </p:nvSpPr>
        <p:spPr>
          <a:xfrm>
            <a:off x="4312920" y="2670048"/>
            <a:ext cx="1763268" cy="7315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440936" y="2852928"/>
            <a:ext cx="1507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Seramik · zanaat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440936" y="3291840"/>
            <a:ext cx="15072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parça tekil; kaide ve aralık gerekir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2764" y="2670048"/>
            <a:ext cx="1763268" cy="137160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2" name="Shape 20"/>
          <p:cNvSpPr/>
          <p:nvPr/>
        </p:nvSpPr>
        <p:spPr>
          <a:xfrm>
            <a:off x="6112764" y="2670048"/>
            <a:ext cx="1763268" cy="7315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40780" y="2852928"/>
            <a:ext cx="1507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 · plak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240780" y="3291840"/>
            <a:ext cx="15072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tarama davranışı; orta yoğunluk, raf metrajı önemli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12608" y="2670048"/>
            <a:ext cx="1763268" cy="137160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6" name="Shape 24"/>
          <p:cNvSpPr/>
          <p:nvPr/>
        </p:nvSpPr>
        <p:spPr>
          <a:xfrm>
            <a:off x="7912608" y="2670048"/>
            <a:ext cx="1763268" cy="7315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040624" y="2852928"/>
            <a:ext cx="1507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Giyim · ayakkabı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040624" y="3291840"/>
            <a:ext cx="15072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 çeşidi yoğunluk üretir; stok yakınlığı belirleyici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712452" y="2670048"/>
            <a:ext cx="1763268" cy="137160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0" name="Shape 28"/>
          <p:cNvSpPr/>
          <p:nvPr/>
        </p:nvSpPr>
        <p:spPr>
          <a:xfrm>
            <a:off x="9712452" y="2670048"/>
            <a:ext cx="1763268" cy="7315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840468" y="2852928"/>
            <a:ext cx="1507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Süpermarket · indirim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840468" y="3291840"/>
            <a:ext cx="15072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bolluk sinyali, hızlı hareket, yüksek yoğunluk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4361688"/>
            <a:ext cx="22841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YOĞUNLUK KARARI NEYİ BELİRLER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052267" y="4498848"/>
            <a:ext cx="8423453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13232" y="4700016"/>
            <a:ext cx="25534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3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" y="4992624"/>
            <a:ext cx="25534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 mekânda insan hızlanır, seyrek mekânda yavaşlar.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449574" y="4700016"/>
            <a:ext cx="25534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3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algısı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449574" y="4992624"/>
            <a:ext cx="25534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Boşluk ürünün değerini yükseltir; yoğunluk fiyat beklentisini düşürür.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185916" y="4700016"/>
            <a:ext cx="25534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3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Dokunma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185916" y="4992624"/>
            <a:ext cx="25534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Seyrek teşhir dokunmayı davet eder; yoğun teşhir gözle taramayı.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922258" y="4700016"/>
            <a:ext cx="25534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3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 oranı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8922258" y="4992624"/>
            <a:ext cx="255346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 teşhir satış alanında stok tutar; seyrek teşhir depo ister.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13232" y="5797296"/>
            <a:ext cx="10762488" cy="5486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32688" y="5797296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Markanızın ürünü bu eksende nerede duruyor? Cevap, mekânsal programın ilk sayısını verir.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VAKA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Varsayımsal yerel seramik markası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Yöntemi tek bir örnek üzerinden birlikte okuyalım. Aynı markaya dönem boyunca döneceğiz.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148840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DNA'SI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77594" y="2286000"/>
            <a:ext cx="5336438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587752"/>
            <a:ext cx="91440" cy="914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50976" y="25054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varız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2514600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Gündelik yaşama üretim ve malzeme duygusu katmak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0976" y="2926080"/>
            <a:ext cx="6163056" cy="0"/>
          </a:xfrm>
          <a:prstGeom prst="line">
            <a:avLst/>
          </a:prstGeom>
          <a:noFill/>
          <a:ln w="6350">
            <a:solidFill>
              <a:srgbClr val="D6CCC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3099816"/>
            <a:ext cx="91440" cy="914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50976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İdeal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3026664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Atölyesini müşteriye açabilen, öğreten bir dükkân olmak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0976" y="3438144"/>
            <a:ext cx="6163056" cy="0"/>
          </a:xfrm>
          <a:prstGeom prst="line">
            <a:avLst/>
          </a:prstGeom>
          <a:noFill/>
          <a:ln w="6350">
            <a:solidFill>
              <a:srgbClr val="D6CC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611880"/>
            <a:ext cx="91440" cy="914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0976" y="35295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Değerler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3538728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Yerellik · zanaat · uzun kullanım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0976" y="3950208"/>
            <a:ext cx="6163056" cy="0"/>
          </a:xfrm>
          <a:prstGeom prst="line">
            <a:avLst/>
          </a:prstGeom>
          <a:noFill/>
          <a:ln w="6350">
            <a:solidFill>
              <a:srgbClr val="D6CCC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3232" y="4123944"/>
            <a:ext cx="91440" cy="914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50976" y="40416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Kişilik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4050792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Özenli · açık sözlü · malzemeye yakın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0976" y="4462272"/>
            <a:ext cx="6163056" cy="0"/>
          </a:xfrm>
          <a:prstGeom prst="line">
            <a:avLst/>
          </a:prstGeom>
          <a:noFill/>
          <a:ln w="6350">
            <a:solidFill>
              <a:srgbClr val="D6CCC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232" y="4636008"/>
            <a:ext cx="91440" cy="914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50976" y="45537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 konumu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2651760" y="4562856"/>
            <a:ext cx="4462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 üretim ev ürünleri değil; imzalı zanaat parçaları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5038344"/>
            <a:ext cx="13844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VE KULLANICI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52498" y="5175504"/>
            <a:ext cx="4961534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" y="537667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yapımı seramik ev ve sofra ürünleri. Kentin yoğunluğu içinde yavaş ve anlamlı seçim yapmak isteyen, ürünü eline almadan karar vermeyen kullanıcı.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424928" y="2148840"/>
            <a:ext cx="22091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ARAŞTIRMADAN ÇIKAN ÜÇ KELİME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688982" y="2286000"/>
            <a:ext cx="1786738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24928" y="2505456"/>
            <a:ext cx="4050792" cy="82296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644384" y="263347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6"/>
              </a:lnSpc>
              <a:buNone/>
            </a:pPr>
            <a:r>
              <a:rPr lang="en-US" sz="17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7644384" y="298094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 kendini gösteriyor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24928" y="3438144"/>
            <a:ext cx="4050792" cy="822960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644384" y="3566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6"/>
              </a:lnSpc>
              <a:buNone/>
            </a:pPr>
            <a:r>
              <a:rPr lang="en-US" sz="17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TEKİLLİK</a:t>
            </a:r>
            <a:endParaRPr lang="en-US" sz="1700" dirty="0"/>
          </a:p>
        </p:txBody>
      </p:sp>
      <p:sp>
        <p:nvSpPr>
          <p:cNvPr id="38" name="Text 36"/>
          <p:cNvSpPr txBox="1"/>
          <p:nvPr/>
        </p:nvSpPr>
        <p:spPr>
          <a:xfrm>
            <a:off x="7644384" y="39136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D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parça elde, tek tek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424928" y="4370832"/>
            <a:ext cx="4050792" cy="822960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644384" y="449884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6"/>
              </a:lnSpc>
              <a:buNone/>
            </a:pPr>
            <a:r>
              <a:rPr lang="en-US" sz="17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</a:t>
            </a:r>
            <a:endParaRPr lang="en-US" sz="1700" dirty="0"/>
          </a:p>
        </p:txBody>
      </p:sp>
      <p:sp>
        <p:nvSpPr>
          <p:cNvPr id="41" name="Text 39"/>
          <p:cNvSpPr txBox="1"/>
          <p:nvPr/>
        </p:nvSpPr>
        <p:spPr>
          <a:xfrm>
            <a:off x="7644384" y="484632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dirty="0">
                <a:solidFill>
                  <a:srgbClr val="D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çark ve fırın gizlenmiyor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424928" y="5358384"/>
            <a:ext cx="4050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 de araştırmadaki kanıta dayanıyor: ürünün malzemesi, üretim biçimi ve kullanıcının seçim nedeni. Marka beş kelimeden bu üçünü seçti.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Vaka varsayımsaldır; öğrencinin düşünme biçimini göstermek için oluşturulmuştur.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ATMOSFER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Atmosferi ne oluşturur?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mekânın atmosferinin, ürünün kendisinden bağımsız olarak satın alma kararını etkilediği fikri elli yıllıktır. Fiziksel çevre üç kanaldan etki eder.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377440"/>
            <a:ext cx="3404616" cy="14630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2505456"/>
            <a:ext cx="3112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761488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Ortam koşulları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163824"/>
            <a:ext cx="3112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15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ısı · ışık · ses · koku · hava kalitesi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63568" y="3108960"/>
            <a:ext cx="182880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92168" y="2377440"/>
            <a:ext cx="3404616" cy="14630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38472" y="2505456"/>
            <a:ext cx="3112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38472" y="2761488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 ve işlev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38472" y="3163824"/>
            <a:ext cx="3112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yerleşim · ekipman · mobilya · ölçü · dolaşım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42504" y="3108960"/>
            <a:ext cx="182880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071104" y="2377440"/>
            <a:ext cx="3404616" cy="14630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17408" y="2505456"/>
            <a:ext cx="3112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217408" y="2761488"/>
            <a:ext cx="3112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4"/>
              </a:lnSpc>
              <a:buNone/>
            </a:pPr>
            <a:r>
              <a:rPr lang="en-US" sz="16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İşaret ve sembol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17408" y="3163824"/>
            <a:ext cx="3112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9"/>
              </a:lnSpc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· malzeme · dekor · anlam taşıyan öğeler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3232" y="4059936"/>
            <a:ext cx="10762488" cy="566928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32688" y="40599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Üçü birlikte algılanır. Biri diğerini yalanladığında insan bunu fark eder — çoğu zaman nedenini adlandıramadan.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4745736"/>
            <a:ext cx="26590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KİMLİĞİ BU ÜÇ KANALA DAĞILIR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27171" y="4882896"/>
            <a:ext cx="8048549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" y="5084064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3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Ortam koşulları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5376672"/>
            <a:ext cx="3453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Kişilik ve değerler burada hissedilir: ışığın sıcaklığı, ses düzeyi, kokunun kaynağı.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367784" y="5084064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3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 ve işlev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367784" y="5376672"/>
            <a:ext cx="3453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 konumu ve ürün burada okunur: yoğunluk, aralık, dolaşımın hızı.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022336" y="5084064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3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İşaret ve sembol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022336" y="5376672"/>
            <a:ext cx="3453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varız ve ideal burada anlatılır: malzeme seçimi, anlatı, yazı dili.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Kotler (1973), Atmospherics as a Marketing Tool; Bitner (1992), Servicescapes.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ATMOSFER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 insanı ya içeri çeker ya dışarı iter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uyaranlar önce bir duygu üretir, duygu da bir davranışa dönüşür. Nötr bir mekân yoktur.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377440"/>
            <a:ext cx="3368040" cy="10058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77824" y="2542032"/>
            <a:ext cx="3038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5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uyaran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871216"/>
            <a:ext cx="3038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ışık · ses · koku · yoğunluk · malzeme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36136" y="2880360"/>
            <a:ext cx="219456" cy="0"/>
          </a:xfrm>
          <a:prstGeom prst="line">
            <a:avLst/>
          </a:prstGeom>
          <a:noFill/>
          <a:ln w="1778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10456" y="2377440"/>
            <a:ext cx="3368040" cy="10058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5048" y="2542032"/>
            <a:ext cx="3038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5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Duygusal tepki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5048" y="2871216"/>
            <a:ext cx="3038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 · uyarılma · kontrol duygusu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833360" y="2880360"/>
            <a:ext cx="219456" cy="0"/>
          </a:xfrm>
          <a:prstGeom prst="line">
            <a:avLst/>
          </a:prstGeom>
          <a:noFill/>
          <a:ln w="1778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07680" y="2377440"/>
            <a:ext cx="3368040" cy="1005840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2272" y="2542032"/>
            <a:ext cx="30388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72272" y="2871216"/>
            <a:ext cx="30388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D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yaklaşma ya da kaçınma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" y="3749040"/>
            <a:ext cx="5280660" cy="1024128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3913632"/>
            <a:ext cx="4878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b="1" spc="200" kern="0" dirty="0">
                <a:solidFill>
                  <a:srgbClr val="D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YAKLAŞMA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206240"/>
            <a:ext cx="48783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Girer · kalır · dolaşır · ürüne dokunur · etkileşime geçer · geri gelir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95060" y="3749040"/>
            <a:ext cx="5280660" cy="10241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96228" y="3913632"/>
            <a:ext cx="4878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b="1" spc="20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KAÇINMA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96228" y="4206240"/>
            <a:ext cx="48783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Girmez · kısa keser · hızla çıkar · ürüne dokunmaz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494690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TASARIMCI İÇİN SONUÇ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377440" y="5084064"/>
            <a:ext cx="9098280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" y="5285232"/>
            <a:ext cx="10762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mekân bir davranış üretir; soru bunun bilinçli mi tesadüfi mi olduğudur. Işık, ses, yoğunluk ve koku üzerinde verilmeyen her karar, yerine kendiliğinden bir karar koyar.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13232" y="5888736"/>
            <a:ext cx="10762488" cy="45720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32688" y="58887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3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ilk sorulacak soru şu: bu mekân kimi içeri çağırıyor, kimi dışarıda bırakıyor?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Mehrabian &amp; Russell (1974), An Approach to Environmental Psychology.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DUYULAR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Duyular marka kimliğini nasıl taşır?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Atmosfer tek bir duyudan doğmaz. Duyusal etki tek tek uyaranlardan değil, uyaranların birlikte çalışmasından doğar.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1554480" cy="5486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22860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Görme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14016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ışık · renk · kontrast · görüş hattı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193792" y="2304288"/>
            <a:ext cx="6281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Işığın düzeyi mekânın hızını belirler; rengi ürünün rengini değiştirir.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3232" y="2862072"/>
            <a:ext cx="10762488" cy="0"/>
          </a:xfrm>
          <a:prstGeom prst="line">
            <a:avLst/>
          </a:prstGeom>
          <a:noFill/>
          <a:ln w="6350">
            <a:solidFill>
              <a:srgbClr val="D6C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889504"/>
            <a:ext cx="1554480" cy="548640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59536" y="28895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Dokunma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414016" y="288950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malzeme · doku · sıcaklık · ağırlık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193792" y="2907792"/>
            <a:ext cx="6281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ürünü eline aldığında sahiplik duygusu geliştirir. İnternete karşı en güçlü duyu.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3232" y="3465576"/>
            <a:ext cx="10762488" cy="0"/>
          </a:xfrm>
          <a:prstGeom prst="line">
            <a:avLst/>
          </a:prstGeom>
          <a:noFill/>
          <a:ln w="6350">
            <a:solidFill>
              <a:srgbClr val="D6CCC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493008"/>
            <a:ext cx="1554480" cy="5486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9536" y="349300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İşitme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414016" y="34930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akustik · müzik · sessizlik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193792" y="3511296"/>
            <a:ext cx="6281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verilen yerlerde sesin düşmesi gerekir: kabin, danışma, ödeme.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13232" y="4069080"/>
            <a:ext cx="10762488" cy="0"/>
          </a:xfrm>
          <a:prstGeom prst="line">
            <a:avLst/>
          </a:prstGeom>
          <a:noFill/>
          <a:ln w="6350">
            <a:solidFill>
              <a:srgbClr val="D6CCC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096512"/>
            <a:ext cx="1554480" cy="5486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9536" y="40965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Koklama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2414016" y="40965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koku · hafıza · kaynak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193792" y="4114800"/>
            <a:ext cx="6281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Hafızaya en doğrudan bağlanan duyu. Kokunun kaynağı ürünün kendisi olmalı.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" y="4672584"/>
            <a:ext cx="10762488" cy="0"/>
          </a:xfrm>
          <a:prstGeom prst="line">
            <a:avLst/>
          </a:prstGeom>
          <a:noFill/>
          <a:ln w="6350">
            <a:solidFill>
              <a:srgbClr val="D6CCC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" y="4700016"/>
            <a:ext cx="1554480" cy="5486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9536" y="470001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414016" y="47000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tadım · ikram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193792" y="4718304"/>
            <a:ext cx="6281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dar kullanım alanı, ama kullanıldığı yerde en güçlü etki.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3232" y="5276088"/>
            <a:ext cx="10762488" cy="0"/>
          </a:xfrm>
          <a:prstGeom prst="line">
            <a:avLst/>
          </a:prstGeom>
          <a:noFill/>
          <a:ln w="6350">
            <a:solidFill>
              <a:srgbClr val="D6CCC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5303520"/>
            <a:ext cx="1554480" cy="54864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59536" y="5303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414016" y="53035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ısı · hava · kot · ritim · yoğunluk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193792" y="5321808"/>
            <a:ext cx="6281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Yoğunluk en güçlü etken: kalabalıkta insan hızlanır ve erken çıkar.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13232" y="5980176"/>
            <a:ext cx="10762488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932688" y="5980176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Fazlası eksiği kadar sorunludur: asıl sorun duyusal yoksunluk değil, denetimsiz duyusal yüklemedir.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DUYULAR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duyu, yolculuğun hangi anında?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Duyular mekânın her yerinde aynı yoğunlukta çalışmaz. Her duyunun baskın olduğu bir an vardır.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176272" y="2340864"/>
            <a:ext cx="836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spc="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ÇEKİM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012295" y="2340864"/>
            <a:ext cx="836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spc="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EŞİK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848318" y="2340864"/>
            <a:ext cx="836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spc="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YÖNELME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4684341" y="2340864"/>
            <a:ext cx="836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spc="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GEZİNME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5520363" y="2340864"/>
            <a:ext cx="836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spc="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ETKİLEŞİM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356386" y="2340864"/>
            <a:ext cx="836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spc="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SATIN ALMA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192409" y="2340864"/>
            <a:ext cx="83602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8"/>
              </a:lnSpc>
              <a:buNone/>
            </a:pPr>
            <a:r>
              <a:rPr lang="en-US" sz="850" b="1" spc="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AYRILIŞ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261518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94560" y="2615184"/>
            <a:ext cx="799447" cy="402336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16" name="Shape 14"/>
          <p:cNvSpPr/>
          <p:nvPr/>
        </p:nvSpPr>
        <p:spPr>
          <a:xfrm>
            <a:off x="3030583" y="2615184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7" name="Shape 15"/>
          <p:cNvSpPr/>
          <p:nvPr/>
        </p:nvSpPr>
        <p:spPr>
          <a:xfrm>
            <a:off x="3866606" y="2615184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2629" y="2615184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9" name="Shape 17"/>
          <p:cNvSpPr/>
          <p:nvPr/>
        </p:nvSpPr>
        <p:spPr>
          <a:xfrm>
            <a:off x="5538651" y="2615184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0" name="Shape 18"/>
          <p:cNvSpPr/>
          <p:nvPr/>
        </p:nvSpPr>
        <p:spPr>
          <a:xfrm>
            <a:off x="6374674" y="2615184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1" name="Shape 19"/>
          <p:cNvSpPr/>
          <p:nvPr/>
        </p:nvSpPr>
        <p:spPr>
          <a:xfrm>
            <a:off x="7210697" y="2615184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74736" y="26151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 silüeti · teşhir kontrastı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305409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194560" y="3054096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5" name="Shape 23"/>
          <p:cNvSpPr/>
          <p:nvPr/>
        </p:nvSpPr>
        <p:spPr>
          <a:xfrm>
            <a:off x="3030583" y="3054096"/>
            <a:ext cx="799447" cy="402336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26" name="Shape 24"/>
          <p:cNvSpPr/>
          <p:nvPr/>
        </p:nvSpPr>
        <p:spPr>
          <a:xfrm>
            <a:off x="3866606" y="3054096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7" name="Shape 25"/>
          <p:cNvSpPr/>
          <p:nvPr/>
        </p:nvSpPr>
        <p:spPr>
          <a:xfrm>
            <a:off x="4702629" y="3054096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8" name="Shape 26"/>
          <p:cNvSpPr/>
          <p:nvPr/>
        </p:nvSpPr>
        <p:spPr>
          <a:xfrm>
            <a:off x="5538651" y="3054096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9" name="Shape 27"/>
          <p:cNvSpPr/>
          <p:nvPr/>
        </p:nvSpPr>
        <p:spPr>
          <a:xfrm>
            <a:off x="6374674" y="3054096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0" name="Shape 28"/>
          <p:cNvSpPr/>
          <p:nvPr/>
        </p:nvSpPr>
        <p:spPr>
          <a:xfrm>
            <a:off x="7210697" y="3054096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74736" y="305409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eşikte ısı · koridor genişliği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34930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Koklama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194560" y="3493008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4" name="Shape 32"/>
          <p:cNvSpPr/>
          <p:nvPr/>
        </p:nvSpPr>
        <p:spPr>
          <a:xfrm>
            <a:off x="3030583" y="3493008"/>
            <a:ext cx="799447" cy="402336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35" name="Shape 33"/>
          <p:cNvSpPr/>
          <p:nvPr/>
        </p:nvSpPr>
        <p:spPr>
          <a:xfrm>
            <a:off x="3866606" y="3493008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6" name="Shape 34"/>
          <p:cNvSpPr/>
          <p:nvPr/>
        </p:nvSpPr>
        <p:spPr>
          <a:xfrm>
            <a:off x="4702629" y="3493008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7" name="Shape 35"/>
          <p:cNvSpPr/>
          <p:nvPr/>
        </p:nvSpPr>
        <p:spPr>
          <a:xfrm>
            <a:off x="5538651" y="3493008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8" name="Shape 36"/>
          <p:cNvSpPr/>
          <p:nvPr/>
        </p:nvSpPr>
        <p:spPr>
          <a:xfrm>
            <a:off x="6374674" y="3493008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9" name="Shape 37"/>
          <p:cNvSpPr/>
          <p:nvPr/>
        </p:nvSpPr>
        <p:spPr>
          <a:xfrm>
            <a:off x="7210697" y="3493008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174736" y="34930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ilk izlenim · ürünün kendi kokusu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13232" y="393192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İşitme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194560" y="3931920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3" name="Shape 41"/>
          <p:cNvSpPr/>
          <p:nvPr/>
        </p:nvSpPr>
        <p:spPr>
          <a:xfrm>
            <a:off x="3030583" y="3931920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4" name="Shape 42"/>
          <p:cNvSpPr/>
          <p:nvPr/>
        </p:nvSpPr>
        <p:spPr>
          <a:xfrm>
            <a:off x="3866606" y="3931920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5" name="Shape 43"/>
          <p:cNvSpPr/>
          <p:nvPr/>
        </p:nvSpPr>
        <p:spPr>
          <a:xfrm>
            <a:off x="4702629" y="3931920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46" name="Shape 44"/>
          <p:cNvSpPr/>
          <p:nvPr/>
        </p:nvSpPr>
        <p:spPr>
          <a:xfrm>
            <a:off x="5538651" y="3931920"/>
            <a:ext cx="799447" cy="402336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47" name="Shape 45"/>
          <p:cNvSpPr/>
          <p:nvPr/>
        </p:nvSpPr>
        <p:spPr>
          <a:xfrm>
            <a:off x="6374674" y="3931920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48" name="Shape 46"/>
          <p:cNvSpPr/>
          <p:nvPr/>
        </p:nvSpPr>
        <p:spPr>
          <a:xfrm>
            <a:off x="7210697" y="3931920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8174736" y="393192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akustik · kabinde sessizlik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713232" y="43708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Dokunma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2194560" y="4370832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52" name="Shape 50"/>
          <p:cNvSpPr/>
          <p:nvPr/>
        </p:nvSpPr>
        <p:spPr>
          <a:xfrm>
            <a:off x="3030583" y="4370832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53" name="Shape 51"/>
          <p:cNvSpPr/>
          <p:nvPr/>
        </p:nvSpPr>
        <p:spPr>
          <a:xfrm>
            <a:off x="3866606" y="4370832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54" name="Shape 52"/>
          <p:cNvSpPr/>
          <p:nvPr/>
        </p:nvSpPr>
        <p:spPr>
          <a:xfrm>
            <a:off x="4702629" y="4370832"/>
            <a:ext cx="799447" cy="40233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55" name="Shape 53"/>
          <p:cNvSpPr/>
          <p:nvPr/>
        </p:nvSpPr>
        <p:spPr>
          <a:xfrm>
            <a:off x="5538651" y="4370832"/>
            <a:ext cx="799447" cy="402336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56" name="Shape 54"/>
          <p:cNvSpPr/>
          <p:nvPr/>
        </p:nvSpPr>
        <p:spPr>
          <a:xfrm>
            <a:off x="6374674" y="4370832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57" name="Shape 55"/>
          <p:cNvSpPr/>
          <p:nvPr/>
        </p:nvSpPr>
        <p:spPr>
          <a:xfrm>
            <a:off x="7210697" y="4370832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174736" y="437083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raf · deneme · tezgâh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713232" y="4809744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194560" y="4809744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61" name="Shape 59"/>
          <p:cNvSpPr/>
          <p:nvPr/>
        </p:nvSpPr>
        <p:spPr>
          <a:xfrm>
            <a:off x="3030583" y="4809744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62" name="Shape 60"/>
          <p:cNvSpPr/>
          <p:nvPr/>
        </p:nvSpPr>
        <p:spPr>
          <a:xfrm>
            <a:off x="3866606" y="4809744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63" name="Shape 61"/>
          <p:cNvSpPr/>
          <p:nvPr/>
        </p:nvSpPr>
        <p:spPr>
          <a:xfrm>
            <a:off x="4702629" y="4809744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64" name="Shape 62"/>
          <p:cNvSpPr/>
          <p:nvPr/>
        </p:nvSpPr>
        <p:spPr>
          <a:xfrm>
            <a:off x="5538651" y="4809744"/>
            <a:ext cx="799447" cy="402336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65" name="Shape 63"/>
          <p:cNvSpPr/>
          <p:nvPr/>
        </p:nvSpPr>
        <p:spPr>
          <a:xfrm>
            <a:off x="6374674" y="4809744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66" name="Shape 64"/>
          <p:cNvSpPr/>
          <p:nvPr/>
        </p:nvSpPr>
        <p:spPr>
          <a:xfrm>
            <a:off x="7210697" y="4809744"/>
            <a:ext cx="799447" cy="40233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8174736" y="48097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tadım noktası · ikram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713232" y="5532120"/>
            <a:ext cx="7845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İKİ OKUMA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552651" y="5669280"/>
            <a:ext cx="9923069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13232" y="5870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Koyu kutular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2724912" y="5870448"/>
            <a:ext cx="3232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duyunun devrede olduğu anlar</a:t>
            </a:r>
            <a:endParaRPr lang="en-US" sz="1100" dirty="0"/>
          </a:p>
        </p:txBody>
      </p:sp>
      <p:sp>
        <p:nvSpPr>
          <p:cNvPr id="72" name="Text 70"/>
          <p:cNvSpPr txBox="1"/>
          <p:nvPr/>
        </p:nvSpPr>
        <p:spPr>
          <a:xfrm>
            <a:off x="6231636" y="58704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İkincil renkli kutu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8243316" y="5870448"/>
            <a:ext cx="32324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duyunun baskın olduğu tek an — bütçe ve dikkat oraya gider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MÜŞTERİ DENEYİMİ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Yolculuğu Haritası nedir?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ile kullanıcının temas ettiği anları bir hikâye gibi görmemizi sağlar. Her an için dört şey yazılır.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2484882" cy="155448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2414016"/>
            <a:ext cx="21922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670048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072384"/>
            <a:ext cx="2192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1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Müşterinin marka ile karşılaştığı 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3834" y="3063240"/>
            <a:ext cx="182880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72434" y="2286000"/>
            <a:ext cx="2484882" cy="155448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18738" y="2414016"/>
            <a:ext cx="21922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618738" y="2670048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618738" y="3072384"/>
            <a:ext cx="2192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1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görüyor · ne yapıyor · ne hissediyor?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03036" y="3063240"/>
            <a:ext cx="182880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31636" y="2286000"/>
            <a:ext cx="2484882" cy="155448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7940" y="2414016"/>
            <a:ext cx="21922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6377940" y="2670048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Beklenti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3072384"/>
            <a:ext cx="2192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1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anda ne bekliyor?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762238" y="3063240"/>
            <a:ext cx="182880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90838" y="2286000"/>
            <a:ext cx="2484882" cy="155448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37142" y="2414016"/>
            <a:ext cx="219227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9137142" y="2670048"/>
            <a:ext cx="2192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Fırsat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9137142" y="3072384"/>
            <a:ext cx="21922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10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Tasarım bu deneyimi nasıl iyileştirebilir?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41239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İŞE YARAR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002536" y="4261104"/>
            <a:ext cx="9473184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" y="4498848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 kurdurur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791456"/>
            <a:ext cx="3453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Kullanıcının o andaki hâlini tasarımcıya görünür kılar.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367784" y="4498848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Fırsatı gösterir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367784" y="4791456"/>
            <a:ext cx="3453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Deneyimin tıkandığı yeri ve iyileştirme noktasını ortaya çıkarır.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022336" y="4498848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Tutarlılık sağlar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022336" y="4791456"/>
            <a:ext cx="3453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mesajını yolculuğun her anında aynı hikâyeye bağlar.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13232" y="5504688"/>
            <a:ext cx="10762488" cy="5669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32688" y="55046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temas noktası müşterinin akılcı, duygusal ve davranışsal tepkisini etkiler.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Sunar Bükülmez vd. (2025); Lemon ve Verhoef (2016); Stein ve Ramaseshan (2016).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MÜŞTERİ YOLCULUĞU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yolculuğunun sekiz aşaması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Kaynaktaki model bu sekiz aşamayı tanımlıyor. Ortadaki altısı doğrudan iç mekânda geçiyor.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377440"/>
            <a:ext cx="1313307" cy="105156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487168"/>
            <a:ext cx="11304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761488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FARKINDALIK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63115" y="2377440"/>
            <a:ext cx="1313307" cy="105156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154555" y="2487168"/>
            <a:ext cx="11304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2154555" y="2761488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ÇEKİM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2998" y="2377440"/>
            <a:ext cx="1313307" cy="105156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504438" y="2487168"/>
            <a:ext cx="11304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504438" y="2761488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EŞİK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62881" y="2377440"/>
            <a:ext cx="1313307" cy="105156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54321" y="2487168"/>
            <a:ext cx="11304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854321" y="2761488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12764" y="2377440"/>
            <a:ext cx="1313307" cy="105156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04204" y="2487168"/>
            <a:ext cx="11304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204204" y="2761488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KEŞİF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462647" y="2377440"/>
            <a:ext cx="1313307" cy="105156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54087" y="2487168"/>
            <a:ext cx="11304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554087" y="2761488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ETKİLEŞİM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12530" y="2377440"/>
            <a:ext cx="1313307" cy="105156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03970" y="2487168"/>
            <a:ext cx="11304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903970" y="2761488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SATIN ALMA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162413" y="2377440"/>
            <a:ext cx="1313307" cy="105156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253853" y="2487168"/>
            <a:ext cx="11304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253853" y="2761488"/>
            <a:ext cx="1130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AYRILIŞ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063115" y="3584448"/>
            <a:ext cx="8062722" cy="0"/>
          </a:xfrm>
          <a:prstGeom prst="line">
            <a:avLst/>
          </a:prstGeom>
          <a:noFill/>
          <a:ln w="19050">
            <a:solidFill>
              <a:srgbClr val="A85C4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063115" y="365760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mekânda geçen altı aşama — dersin tasarım konusu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36576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Mekânın dışında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0162413" y="36576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Mekânın dışında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4123944"/>
            <a:ext cx="2059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MİMARLIK İÇİN ASIL SORU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827325" y="4261104"/>
            <a:ext cx="8648395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" y="4480560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buNone/>
            </a:pPr>
            <a:r>
              <a:rPr lang="en-US" sz="2000" b="1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aşamaların her biri hangi mekânsal kararla destekleniyor?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992624"/>
            <a:ext cx="10762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Farkındalık ve ayrılış pazarlamanın alanına girer; aradaki altı aşama tasarımcının kurduğu deneyimdir. Bir sonraki iki slayt bu altı aşamanın mekânsal karşılıklarını ve müşterinin içerideki davranışını gösteriyor.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I-AM İstanbul müşteri yolculuğu modeli; Sunar Bükülmez vd. (2025), Şekil 1.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İÇ MİMARLIK AÇISINDAN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Mağazada hangi temasları tasarlıyoruz?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model fiziksel mağazaya uyarlandığında yönlenme, ürün ve operasyon gibi iç mimarlık gerektiren alanlar öne çıkıyor.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2539746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871216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Çekim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127248"/>
            <a:ext cx="21739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Cephe · vitrin · ilk görsel temas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4146" y="2286000"/>
            <a:ext cx="2539746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Shape 11"/>
          <p:cNvSpPr/>
          <p:nvPr/>
        </p:nvSpPr>
        <p:spPr>
          <a:xfrm>
            <a:off x="3637026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37026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637026" y="2871216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637026" y="3127248"/>
            <a:ext cx="21739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 · ilk izlenim · atmosfer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5060" y="2286000"/>
            <a:ext cx="2539746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8" name="Shape 16"/>
          <p:cNvSpPr/>
          <p:nvPr/>
        </p:nvSpPr>
        <p:spPr>
          <a:xfrm>
            <a:off x="6377940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77940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2871216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Yönlenme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377940" y="3127248"/>
            <a:ext cx="21739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Dolaşım · görüş hatları · işaretleme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35974" y="2286000"/>
            <a:ext cx="2539746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3" name="Shape 21"/>
          <p:cNvSpPr/>
          <p:nvPr/>
        </p:nvSpPr>
        <p:spPr>
          <a:xfrm>
            <a:off x="9118854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18854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18854" y="2871216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9118854" y="3127248"/>
            <a:ext cx="21739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grupları · bilgi · etkileşim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" y="3968496"/>
            <a:ext cx="2539746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8" name="Shape 26"/>
          <p:cNvSpPr/>
          <p:nvPr/>
        </p:nvSpPr>
        <p:spPr>
          <a:xfrm>
            <a:off x="896112" y="4151376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96112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96112" y="4553712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ve hizmet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896112" y="4809744"/>
            <a:ext cx="21739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Sergileme · erişim · deneme · bekleme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54146" y="3968496"/>
            <a:ext cx="2539746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3" name="Shape 31"/>
          <p:cNvSpPr/>
          <p:nvPr/>
        </p:nvSpPr>
        <p:spPr>
          <a:xfrm>
            <a:off x="3637026" y="4151376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637026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3637026" y="4553712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3637026" y="4809744"/>
            <a:ext cx="21739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 · ürün · teknoloji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95060" y="3968496"/>
            <a:ext cx="2539746" cy="14813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8" name="Shape 36"/>
          <p:cNvSpPr/>
          <p:nvPr/>
        </p:nvSpPr>
        <p:spPr>
          <a:xfrm>
            <a:off x="6377940" y="4151376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37794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377940" y="4553712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Satın alma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6377940" y="4809744"/>
            <a:ext cx="21739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Kasa · ödeme · paketleme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935974" y="3968496"/>
            <a:ext cx="2539746" cy="1481328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43" name="Shape 41"/>
          <p:cNvSpPr/>
          <p:nvPr/>
        </p:nvSpPr>
        <p:spPr>
          <a:xfrm>
            <a:off x="9118854" y="4151376"/>
            <a:ext cx="27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118854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9118854" y="4553712"/>
            <a:ext cx="21739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</a:t>
            </a:r>
            <a:endParaRPr lang="en-US" sz="1350" dirty="0"/>
          </a:p>
        </p:txBody>
      </p:sp>
      <p:sp>
        <p:nvSpPr>
          <p:cNvPr id="46" name="Text 44"/>
          <p:cNvSpPr txBox="1"/>
          <p:nvPr/>
        </p:nvSpPr>
        <p:spPr>
          <a:xfrm>
            <a:off x="9118854" y="4809744"/>
            <a:ext cx="217398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Depolama · personel · ergonomi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13232" y="5504688"/>
            <a:ext cx="10762488" cy="566928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32688" y="55046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modül en çok atlanan: mağaza çalışmıyorsa deneyim de çalışmaz.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Sunar Bükülmez vd. (2025); fiziksel perakende için uyarlanmış modüller.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AKIŞ VE DAVRANIŞ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 içeri girdikten sonra ne yapıyor?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Müşterinin mekândaki davranışı rastgele değil. Üç eğilim, mağaza kurgusunun başlangıç noktasıdır.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2553462" cy="14630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871216"/>
            <a:ext cx="21877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Sağa yönelim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182112"/>
            <a:ext cx="21877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İnsanlar girer girmez sağa yönelir. Kural değil, eğilim.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49574" y="2286000"/>
            <a:ext cx="2553462" cy="1463040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13" name="Shape 11"/>
          <p:cNvSpPr/>
          <p:nvPr/>
        </p:nvSpPr>
        <p:spPr>
          <a:xfrm>
            <a:off x="3632454" y="2468880"/>
            <a:ext cx="27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32454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632454" y="2871216"/>
            <a:ext cx="21877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 duvarı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32454" y="3182112"/>
            <a:ext cx="21877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DDE7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Sağdaki ilk büyük yüzey; en güçlü ürün buraya konur.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85916" y="2286000"/>
            <a:ext cx="2553462" cy="14630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8" name="Shape 16"/>
          <p:cNvSpPr/>
          <p:nvPr/>
        </p:nvSpPr>
        <p:spPr>
          <a:xfrm>
            <a:off x="6368796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68796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368796" y="2871216"/>
            <a:ext cx="21877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Görüş hattı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368796" y="3182112"/>
            <a:ext cx="21877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 girişten okunmalı; yoksa insan tereddüt eder.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22258" y="2286000"/>
            <a:ext cx="2553462" cy="146304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3" name="Shape 21"/>
          <p:cNvSpPr/>
          <p:nvPr/>
        </p:nvSpPr>
        <p:spPr>
          <a:xfrm>
            <a:off x="9105138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105138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9105138" y="2871216"/>
            <a:ext cx="21877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4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Geçiş bölgesi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105138" y="3182112"/>
            <a:ext cx="218770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Girişin ardına ürün konmaz; göz uyum sağlar.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3904488"/>
            <a:ext cx="3633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DÖRT PLAN TİPİ — DAVRANIŞI FARKLI BİÇİMDE KURAR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01922" y="4041648"/>
            <a:ext cx="7073798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4224528"/>
            <a:ext cx="2663190" cy="113385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9536" y="4370832"/>
            <a:ext cx="23705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Izgara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59536" y="4773168"/>
            <a:ext cx="23705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 raf dizileri. Verimli ve tahmin edilebilir; keşif duygusu düşük.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12998" y="4224528"/>
            <a:ext cx="2663190" cy="113385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59302" y="4370832"/>
            <a:ext cx="23705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Serbest akış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559302" y="4773168"/>
            <a:ext cx="23705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Bağımsız yerleşmiş adalar. Keşif yüksek, alan verimi düşük.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12764" y="4224528"/>
            <a:ext cx="2663190" cy="113385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59068" y="4370832"/>
            <a:ext cx="23705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Döngü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259068" y="4773168"/>
            <a:ext cx="23705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Müşteriyi tüm mağazadan geçiren tek rota.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812530" y="4224528"/>
            <a:ext cx="2663190" cy="1133856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958834" y="4370832"/>
            <a:ext cx="23705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Çapraz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958834" y="4773168"/>
            <a:ext cx="23705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Açılı yerleşim; görüş hatlarını uzatır, ürünü sürekli yeni gösterir.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13232" y="5440680"/>
            <a:ext cx="20592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YÖNLENDİRMENİN İKİ KATMANI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827325" y="5577840"/>
            <a:ext cx="8648395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13232" y="5760720"/>
            <a:ext cx="10762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mekânsal katman çalışır: görüş hatları, ışık farkı, tavan yüksekliği, zemin malzemesi, koridor genişliği. Grafik katman — tabela, etiket — ancak bunun üstüne gelir. Tabelayla çözülmeye çalışılan her yön problemi, aslında bir kurgu problemidir.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· VAKA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Seramik markasının müşteri yolculuğu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marka, yolculuğun her aşamasında başka bir mekânsal karar üretir.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8600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5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AŞAMA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2798064" y="228600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5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MEKÂNSAL KARAR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286000"/>
            <a:ext cx="2953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5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HANGİ KELİMEYİ TAŞIYOR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2560320"/>
            <a:ext cx="10762488" cy="0"/>
          </a:xfrm>
          <a:prstGeom prst="line">
            <a:avLst/>
          </a:prstGeom>
          <a:noFill/>
          <a:ln w="12700">
            <a:solidFill>
              <a:srgbClr val="D6CC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633472"/>
            <a:ext cx="1920240" cy="420624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263347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Çekim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70048" y="2633472"/>
            <a:ext cx="5760720" cy="42062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798064" y="2633472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Vitrinde tek bir parça; arkasında çalışan çark görünüyor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467344" y="2633472"/>
            <a:ext cx="2953512" cy="420624"/>
          </a:xfrm>
          <a:prstGeom prst="rect">
            <a:avLst/>
          </a:prstGeom>
          <a:solidFill>
            <a:srgbClr val="DDE7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95360" y="26334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b="1" spc="100" kern="0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" y="3090672"/>
            <a:ext cx="1920240" cy="420624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309067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70048" y="3090672"/>
            <a:ext cx="5760720" cy="42062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798064" y="3090672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yüzey, mat ışık ve çamurun kokusu karşılıyor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467344" y="3090672"/>
            <a:ext cx="2953512" cy="42062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595360" y="30906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b="1" spc="10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" y="3547872"/>
            <a:ext cx="1920240" cy="420624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354787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Yönlenme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70048" y="3547872"/>
            <a:ext cx="5760720" cy="42062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2798064" y="3547872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görüş hattı; rota atölyeden tartıma doğru akıyor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467344" y="3547872"/>
            <a:ext cx="2953512" cy="420624"/>
          </a:xfrm>
          <a:prstGeom prst="rect">
            <a:avLst/>
          </a:prstGeom>
          <a:solidFill>
            <a:srgbClr val="DDE7E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595360" y="35478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b="1" spc="100" kern="0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GÖRÜNÜRLÜK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3232" y="4005072"/>
            <a:ext cx="1920240" cy="420624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1248" y="400507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70048" y="4005072"/>
            <a:ext cx="5760720" cy="42062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798064" y="4005072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parça kendi kaidesinde, aralarında geniş boşluk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467344" y="4005072"/>
            <a:ext cx="2953512" cy="420624"/>
          </a:xfrm>
          <a:prstGeom prst="rect">
            <a:avLst/>
          </a:prstGeom>
          <a:solidFill>
            <a:srgbClr val="DDE7E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95360" y="40050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b="1" spc="100" kern="0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TEKİLLİK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3232" y="4462272"/>
            <a:ext cx="1920240" cy="420624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1248" y="446227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Etkileşim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670048" y="4462272"/>
            <a:ext cx="5760720" cy="42062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798064" y="4462272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Dokunma serbest; numune ve üretim anlatısı tezgâhta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467344" y="4462272"/>
            <a:ext cx="2953512" cy="420624"/>
          </a:xfrm>
          <a:prstGeom prst="rect">
            <a:avLst/>
          </a:prstGeom>
          <a:solidFill>
            <a:srgbClr val="DDE7E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595360" y="44622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b="1" spc="100" kern="0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TEKİLLİK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13232" y="4919472"/>
            <a:ext cx="1920240" cy="420624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41248" y="491947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Satın alma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670048" y="4919472"/>
            <a:ext cx="5760720" cy="42062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798064" y="4919472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Ambalajın kendisi zanaatın parçası; paketleme görünür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467344" y="4919472"/>
            <a:ext cx="2953512" cy="42062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8595360" y="49194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b="1" spc="10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DOĞAL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3232" y="5376672"/>
            <a:ext cx="1920240" cy="420624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41248" y="5376672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Ayrılış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670048" y="5376672"/>
            <a:ext cx="5760720" cy="420624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2798064" y="5376672"/>
            <a:ext cx="55046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Parçanın kim tarafından yapıldığı yazan kart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467344" y="5376672"/>
            <a:ext cx="2953512" cy="420624"/>
          </a:xfrm>
          <a:prstGeom prst="rect">
            <a:avLst/>
          </a:prstGeom>
          <a:solidFill>
            <a:srgbClr val="DDE7E4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595360" y="537667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8"/>
              </a:lnSpc>
              <a:buNone/>
            </a:pPr>
            <a:r>
              <a:rPr lang="en-US" sz="1100" b="1" spc="100" kern="0" dirty="0">
                <a:solidFill>
                  <a:srgbClr val="3F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TEKİLLİK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713232" y="5907024"/>
            <a:ext cx="10762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aşama birden fazla kelimeyi taşıyabilir; taşımıyorsa o aşama henüz tasarlanmamıştır.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senaryo; kaynak modelin öğrenci tasarımına aktarılışını göstermek için kurulmuştur.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· MARKA SEÇİMİ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tür ürün satan markaları seçebilirsiniz?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Ürünün türü mekândan istediği şeyi belirler. Aşağıdaki altı grup, ihtiyaçlarına göre ayrıldı — kendi adayınız hangi gruba giriyor?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2860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5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GRUBU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209544" y="228600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5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ÖRNEK MARKA TÜRLERİ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286000"/>
            <a:ext cx="5248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5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MEKÂNDAN NE İSTER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13232" y="2560320"/>
            <a:ext cx="10762488" cy="0"/>
          </a:xfrm>
          <a:prstGeom prst="line">
            <a:avLst/>
          </a:prstGeom>
          <a:noFill/>
          <a:ln w="12700">
            <a:solidFill>
              <a:srgbClr val="D6CC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633472"/>
            <a:ext cx="2331720" cy="53035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1248" y="2633472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 değer, az ürün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081528" y="2633472"/>
            <a:ext cx="3108960" cy="53035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209544" y="2633472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Mücevher · saat · sanat baskısı · tekil tasarım objesi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27064" y="2633472"/>
            <a:ext cx="5248656" cy="53035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2633472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Kilitli ve vitrinli teşhir · nokta aydınlatma · oturarak satış · güvenlik ve sigorta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200400"/>
            <a:ext cx="2331720" cy="53035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3200400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Denenen ürün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081528" y="3200400"/>
            <a:ext cx="3108960" cy="53035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09544" y="3200400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Giyim · ayakkabı · gözlük · şapka · takı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27064" y="3200400"/>
            <a:ext cx="5248656" cy="53035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355080" y="3200400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Deneme kabini ve ayna · oturma · stok yakınlığı · ayakkabıda büyük kutu deposu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3767328"/>
            <a:ext cx="2331720" cy="53035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" y="3767328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Koklanan ve tadılan ürün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3081528" y="3767328"/>
            <a:ext cx="3108960" cy="53035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09544" y="3767328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Parfüm · kahve ve çay · çikolata · zeytinyağı ve baharat · sabun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27064" y="3767328"/>
            <a:ext cx="5248656" cy="53035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55080" y="3767328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tezgâhı · havalandırma ve koku nötrleme · lavabo · dökme satış ve kapalı stok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4334256"/>
            <a:ext cx="2331720" cy="53035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41248" y="4334256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Taranan ürün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081528" y="4334256"/>
            <a:ext cx="3108960" cy="53035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209544" y="4334256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Kitap · plak · kırtasiye ve kâğıt · tohum ve bitki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27064" y="4334256"/>
            <a:ext cx="5248656" cy="53035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55080" y="4334256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Uzun raf metrajı · kategori işaretleme · oturma · bitkide su, ışık, nem ve drenaj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3232" y="4901184"/>
            <a:ext cx="2331720" cy="53035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41248" y="4901184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 ve hacimli ürün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081528" y="4901184"/>
            <a:ext cx="3108960" cy="53035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3209544" y="4901184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Mobilya · halı ve kilim · ev tekstili · bisiklet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27064" y="4901184"/>
            <a:ext cx="5248656" cy="53035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355080" y="4901184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Kurulu kullanım senaryosu · geniş rota · asma ve katman sistemi · mal kabul ve büyük depo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13232" y="5468112"/>
            <a:ext cx="2331720" cy="53035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41248" y="5468112"/>
            <a:ext cx="20756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Üretimi görünür ürün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3081528" y="5468112"/>
            <a:ext cx="3108960" cy="53035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3209544" y="5468112"/>
            <a:ext cx="28529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Seramik · deri ve ayakkabı atölyesi · terzi · fırın · kahve kavurma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27064" y="5468112"/>
            <a:ext cx="5248656" cy="530352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355080" y="5468112"/>
            <a:ext cx="49926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Atölye ile satışın bir arada olması · fırın, çark, tezgâh · ısı, koku ve atık · kuruma rafı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13232" y="6053328"/>
            <a:ext cx="10762488" cy="402336"/>
          </a:xfrm>
          <a:prstGeom prst="rect">
            <a:avLst/>
          </a:prstGeom>
          <a:solidFill>
            <a:srgbClr val="3F6B63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32688" y="6053328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grup bu ders için en verimlisi: üretimi görünür bir marka, TEKİLLİK ve GÖRÜNÜRLÜK kelimelerini doğrudan mekâna çevirmenize izin verir.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· ŞİMDİ SIRA SİZDE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Sunumdan sınıf çalışmasına geçiyoruz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Konuştuğumuz çerçeveyi şimdi gerçek markalar üzerinde deneyeceğiz.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1976933" cy="178308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2414016"/>
            <a:ext cx="1684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59536" y="2670048"/>
            <a:ext cx="1684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marka bul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3072384"/>
            <a:ext cx="168432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akım olmayan, mağaza kimliği henüz oluşmamış adaylar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35885" y="3177540"/>
            <a:ext cx="128016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09621" y="2286000"/>
            <a:ext cx="1976933" cy="178308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055925" y="2414016"/>
            <a:ext cx="1684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055925" y="2670048"/>
            <a:ext cx="1684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Markayı araştır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055925" y="3072384"/>
            <a:ext cx="168432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· kullanıcı · değer ve hikâye · rakipler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932274" y="3177540"/>
            <a:ext cx="128016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06010" y="2286000"/>
            <a:ext cx="1976933" cy="178308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52314" y="2414016"/>
            <a:ext cx="1684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252314" y="2670048"/>
            <a:ext cx="1684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anahtar kelime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52314" y="3072384"/>
            <a:ext cx="168432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Markayı mekâna taşıyabilecek üç kelime seç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28662" y="3177540"/>
            <a:ext cx="128016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02398" y="2286000"/>
            <a:ext cx="1976933" cy="178308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48702" y="2414016"/>
            <a:ext cx="1684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448702" y="2670048"/>
            <a:ext cx="1684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Üründen mekâna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48702" y="3072384"/>
            <a:ext cx="168432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Sergileme ve depolama · aydınlatma · deneyim ve duyu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325051" y="3177540"/>
            <a:ext cx="128016" cy="0"/>
          </a:xfrm>
          <a:prstGeom prst="line">
            <a:avLst/>
          </a:prstGeom>
          <a:noFill/>
          <a:ln w="15240">
            <a:solidFill>
              <a:srgbClr val="A85C4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498787" y="2286000"/>
            <a:ext cx="1976933" cy="178308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645091" y="2414016"/>
            <a:ext cx="168432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120" kern="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9645091" y="2670048"/>
            <a:ext cx="16843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Kelimeyi karara çevir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645091" y="3072384"/>
            <a:ext cx="168432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105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kelime için somut bir mekânsal karar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13232" y="4315968"/>
            <a:ext cx="10762488" cy="713232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32688" y="44256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00" kern="0" dirty="0">
                <a:solidFill>
                  <a:srgbClr val="E8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BUGÜNKÜ SINIF ÇALIŞMASI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" y="4645152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6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Avı — Üç Marka Karşılaştırma Paftası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5221224"/>
            <a:ext cx="13844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NASIL ÇALIŞACAĞIZ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52498" y="5358384"/>
            <a:ext cx="9323222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13232" y="5559552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Bireysel araştırma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5833872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üç adayınızı bulup paftayı doldurun.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4367784" y="5559552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 kritiği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4367784" y="5833872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Yürütücüyle birlikte adayları karşılaştırın.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022336" y="5559552"/>
            <a:ext cx="3453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3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anlatım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022336" y="5833872"/>
            <a:ext cx="3453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Seçtiğiniz adayı iki dakikada gerekçelendirin.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· BUGÜNKÜ ÇALIŞMA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Karşılaştırma paftasında ne dolduracaksınız?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marka için aynı soruları kullanıyoruz; böylece seçimi araştırma üzerinden karşılaştırabiliriz.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3453384" cy="141732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Markayı anlamak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127248"/>
            <a:ext cx="30876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· kullanıcı · değer ve hikâye · üç anahtar kelime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67784" y="2286000"/>
            <a:ext cx="3453384" cy="141732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50664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50664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50664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Üründen mekâna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550664" y="3127248"/>
            <a:ext cx="30876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Sergileme ve depolama · aydınlatma · deneyim ve duyu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22336" y="2286000"/>
            <a:ext cx="3453384" cy="1417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8" name="Shape 16"/>
          <p:cNvSpPr/>
          <p:nvPr/>
        </p:nvSpPr>
        <p:spPr>
          <a:xfrm>
            <a:off x="8205216" y="2468880"/>
            <a:ext cx="27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05216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205216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→ karar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05216" y="3127248"/>
            <a:ext cx="308762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kelimenin her biri için somut bir mekânsal tasarım kararı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3904488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b="1" spc="1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PAFTADA ARADIĞIMIZ ÜÇ ŞEY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52344" y="4041648"/>
            <a:ext cx="8723376" cy="0"/>
          </a:xfrm>
          <a:prstGeom prst="line">
            <a:avLst/>
          </a:prstGeom>
          <a:noFill/>
          <a:ln w="9525">
            <a:solidFill>
              <a:srgbClr val="D6CCC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224528"/>
            <a:ext cx="3563112" cy="109728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407408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5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Kanıt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718304"/>
            <a:ext cx="3160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Yazdığınız her önemli bilgi bir kaynağa dayansın.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12920" y="4224528"/>
            <a:ext cx="3563112" cy="109728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514088" y="4407408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5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Gerekçe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4514088" y="4718304"/>
            <a:ext cx="3160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 üç kelime? Markanın hangi verisi bunu söylüyor?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912608" y="4224528"/>
            <a:ext cx="3563112" cy="109728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113776" y="4407408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50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113776" y="4718304"/>
            <a:ext cx="31607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Kelimeyi en az bir somut mekânsal karara dönüştürün.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5504688"/>
            <a:ext cx="1076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güzel bir pafta değil, iyi bir araştırma yapıyoruz. Paftanın görsel dili önemli; ama asıl değer araştırmadan tasarıma kurduğunuz ilişkide.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Araç: A3 üç marka karşılaştırma paftası.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· KAYNAKLAR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Dersin temel kaynakları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Sunumun çerçevesi aşağıdaki makale ve ders izlencesinden kuruldu.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340864"/>
            <a:ext cx="82296" cy="8229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267712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Sunar Bükülmez, P., Girginkaya Akdağ, S. ve Ekin, G. (2025)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05456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Design Competencies and Customer Journey Mapping Tools. The International Journal of Design Education, 19(2), 25–50. — Marka anahtarı ve yolculuk haritası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3232" y="2999232"/>
            <a:ext cx="82296" cy="8229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2926080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Wheeler, A. (2017)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163824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Brand Identity. Wiley. — Marka DNA'sı ve marka deneyiminin bileşenleri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13232" y="3657600"/>
            <a:ext cx="82296" cy="8229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3584448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Kotler, P. (1973)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822192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Atmospherics as a Marketing Tool. Journal of Retailing, 49(4), 48–64. — Atmosfer kavramı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13232" y="4315968"/>
            <a:ext cx="82296" cy="8229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242816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Bitner, M. J. (1992)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480560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Servicescapes: The Impact of Physical Surroundings. Journal of Marketing, 56(2), 57–71. — Fiziksel çevrenin üç kanalı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3232" y="4974336"/>
            <a:ext cx="82296" cy="8229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4901184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Mehrabian, A. ve Russell, J. A. (1974)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138928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Approach to Environmental Psychology. MIT Press. — Yaklaşma ve kaçınma davranışı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3232" y="5632704"/>
            <a:ext cx="82296" cy="8229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5559552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Spence, C. vd. (2014)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797296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Atmospherics: A Multisensory Perspective. Psychology &amp; Marketing, 31(7), 472–488. — Duyuların birlikte çalışması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90488" y="2340864"/>
            <a:ext cx="82296" cy="8229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91656" y="2267712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Pallasmaa, J. (2005)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391656" y="2505456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Eyes of the Skin. Wiley. [Tenin Gözleri, YEM Yayın] — Mekânın bedenle deneyimlenmesi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90488" y="2999232"/>
            <a:ext cx="82296" cy="8229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391656" y="2926080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Lemon, K. N. ve Verhoef, P. C. (2016)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391656" y="3163824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Customer Experience Throughout the Customer Journey. Journal of Marketing, 80(6), 69–96.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90488" y="3657600"/>
            <a:ext cx="82296" cy="8229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391656" y="3584448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Stein, A. ve Ramaseshan, B. (2016)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391656" y="3822192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the Identification of Customer Experience Touch Point Elements. JRCS, 30, 8–19.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90488" y="4315968"/>
            <a:ext cx="82296" cy="8229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391656" y="4242816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Underhill, P. (2008)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391656" y="4480560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Buy: The Science of Shopping. Simon &amp; Schuster. — Mağaza içi davranış ve sağa yönelim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90488" y="4974336"/>
            <a:ext cx="82296" cy="8229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91656" y="4901184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Mesher, L. (2010)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391656" y="5138928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 Interior Design: Retail Design. AVA Publishing.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90488" y="5632704"/>
            <a:ext cx="82296" cy="82296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391656" y="5559552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 Mimari Tasarım III ders izlencesi (2025–2026)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391656" y="5797296"/>
            <a:ext cx="5084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kapsamı, gereklilikler ve öğrenme çıktıları.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43016" y="2249424"/>
            <a:ext cx="0" cy="3877056"/>
          </a:xfrm>
          <a:prstGeom prst="line">
            <a:avLst/>
          </a:prstGeom>
          <a:noFill/>
          <a:ln w="7620">
            <a:solidFill>
              <a:srgbClr val="D6CCC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13232" y="632764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8"/>
              </a:lnSpc>
              <a:buNone/>
            </a:pPr>
            <a:r>
              <a:rPr lang="en-US" sz="850" i="1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 modellerdeki diyagramlar bu sunum için yeniden çizilmiştir · doi.org/10.18848/2325-128X/CGP/v19i02/25-50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02336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2"/>
              </a:lnSpc>
              <a:buNone/>
            </a:pPr>
            <a:r>
              <a:rPr lang="en-US" sz="900" b="1" spc="260" kern="0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· ÖDEV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018520" y="4023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52"/>
              </a:lnSpc>
              <a:buNone/>
            </a:pPr>
            <a:r>
              <a:rPr lang="en-US" sz="900" b="1" dirty="0">
                <a:solidFill>
                  <a:srgbClr val="D6CC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658368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78"/>
              </a:lnSpc>
              <a:buNone/>
            </a:pPr>
            <a:r>
              <a:rPr lang="en-US" sz="270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sonraki derse ne getiriyorsunuz?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89888"/>
            <a:ext cx="1188720" cy="0"/>
          </a:xfrm>
          <a:prstGeom prst="line">
            <a:avLst/>
          </a:prstGeom>
          <a:noFill/>
          <a:ln w="22225">
            <a:solidFill>
              <a:srgbClr val="A85C4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1554480"/>
            <a:ext cx="9692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4A4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sonraki derse araştırılmış ve karşılaştırılmış bir başlangıçla geliyoruz.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3232" y="2286000"/>
            <a:ext cx="3453384" cy="173736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aday marka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127248"/>
            <a:ext cx="3087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aday seçin ve her biri için kısa bir araştırma yapın.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67784" y="2286000"/>
            <a:ext cx="3453384" cy="173736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3" name="Shape 11"/>
          <p:cNvSpPr/>
          <p:nvPr/>
        </p:nvSpPr>
        <p:spPr>
          <a:xfrm>
            <a:off x="4550664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50664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550664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 anahtarı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50664" y="3127248"/>
            <a:ext cx="3087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Ürün, kullanıcı, değer ve hikâye, rakipler ve temel kimlik bilgileri.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22336" y="2286000"/>
            <a:ext cx="3453384" cy="173736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05216" y="2468880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05216" y="2468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205216" y="2871216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anahtar kelime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205216" y="3127248"/>
            <a:ext cx="3087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aday için üç kelime belirleyin ve nedenlerini yazın.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" y="4224528"/>
            <a:ext cx="3453384" cy="173736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23" name="Shape 21"/>
          <p:cNvSpPr/>
          <p:nvPr/>
        </p:nvSpPr>
        <p:spPr>
          <a:xfrm>
            <a:off x="896112" y="4407408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96112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96112" y="4809744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Üründen mekâna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896112" y="5065776"/>
            <a:ext cx="3087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Sergileme ve depolama, aydınlatma, deneyim ve duyu başlıkları.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67784" y="4224528"/>
            <a:ext cx="3453384" cy="173736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28" name="Shape 26"/>
          <p:cNvSpPr/>
          <p:nvPr/>
        </p:nvSpPr>
        <p:spPr>
          <a:xfrm>
            <a:off x="4550664" y="4407408"/>
            <a:ext cx="2743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50664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A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550664" y="4809744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Kelime → tasarım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550664" y="5065776"/>
            <a:ext cx="3087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F0DE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kelime için en az bir somut mekânsal tasarım kararı önerin.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22336" y="4224528"/>
            <a:ext cx="3453384" cy="1737360"/>
          </a:xfrm>
          <a:prstGeom prst="rect">
            <a:avLst/>
          </a:prstGeom>
          <a:solidFill>
            <a:srgbClr val="EDE5DE"/>
          </a:solidFill>
          <a:ln/>
        </p:spPr>
      </p:sp>
      <p:sp>
        <p:nvSpPr>
          <p:cNvPr id="33" name="Shape 31"/>
          <p:cNvSpPr/>
          <p:nvPr/>
        </p:nvSpPr>
        <p:spPr>
          <a:xfrm>
            <a:off x="8205216" y="4407408"/>
            <a:ext cx="274320" cy="274320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05216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16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205216" y="4809744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9"/>
              </a:lnSpc>
              <a:buNone/>
            </a:pPr>
            <a:r>
              <a:rPr lang="en-US" sz="1350" b="1" dirty="0">
                <a:solidFill>
                  <a:srgbClr val="222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Karşılaştır ve seç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8205216" y="5065776"/>
            <a:ext cx="3087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50" dirty="0">
                <a:solidFill>
                  <a:srgbClr val="7A6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 aday arasından neden birini seçtiğinizi kısaca gerekçelendirin.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13232" y="5961888"/>
            <a:ext cx="10762488" cy="566928"/>
          </a:xfrm>
          <a:prstGeom prst="rect">
            <a:avLst/>
          </a:prstGeom>
          <a:solidFill>
            <a:srgbClr val="A85C43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32688" y="596188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4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 aracı: A3 üç marka karşılaştırma paftası  ·  Sonraki aşama: seçilen marka, kullanıcı profili, müşteri yolculuğu ve kavramsal tasarım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Marka Anahtarını Okumak ve Müşteri Deneyimini Haritalamak</dc:title>
  <dc:subject>PptxGenJS Presentation</dc:subject>
  <dc:creator>PptxGenJS</dc:creator>
  <cp:lastModifiedBy>PptxGenJS</cp:lastModifiedBy>
  <cp:revision>1</cp:revision>
  <dcterms:created xsi:type="dcterms:W3CDTF">2026-09-18T04:55:06Z</dcterms:created>
  <dcterms:modified xsi:type="dcterms:W3CDTF">2026-09-18T04:55:06Z</dcterms:modified>
</cp:coreProperties>
</file>