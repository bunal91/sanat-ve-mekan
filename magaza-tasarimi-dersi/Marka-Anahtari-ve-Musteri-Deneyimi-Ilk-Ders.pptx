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Syllabus anlatımından hemen sonra bu slaytla sunuma geçin: izlence ne istiyor, sunum onu nasıl yapılır hâle getiriyor.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Üçüncü kart vurgulu: duyusal deneyim bu dersin ayırt edici talebi.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Alanın m²'si, kat sayısı ve tavan yüksekliği alan ziyaretinde verilecek — burada bilinçli olarak boş.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adımı tahtaya yazın; dönem boyunca kritiklerde 'hangi adımdasın' diye sorun.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Öz bağımsız yazılamaz: yukarıdaki dokuz başlığın sonucu.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Altıncı kaynak vurgulu: gözlem olmadan diğer beşi iddia düzeyinde kalır.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Dördüncü kart vurgulu: davranış, tasarıma en doğrudan çevrilen bilgi.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kelime dönem boyunca örnek olarak kullanılacak; öğrenci kendi markası için kendi üçlüsünü bulacak.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vakayı dönem boyunca ortak referans olarak kullanın.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kelime–karar ilişkisinin tek referansı; başka slaytta tekrar anlatmıyoruz.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başlık öğrencinin haritasında birer satır olacak.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Aşama adlarını öğrenciye yazdırın; dönem boyunca bu terimlerle konuşacağız.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Operasyon vurgulu: ölçümlerde öğrencilerin en zayıf olduğu modül burası.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Tablodaki sağ kolon, kelime–karar ilişkisinin yolculuk üzerinde okunuşu.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Pafta dağıtıldıktan sonra bu slaytı açık bırakın.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Kanıt / gerekçe / karar üçlüsü kritikte de aynı sırayla sorulacak.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Ödev sunumun son slaytı: öğrencinin dersten çıkarken aklında kalması gereken şey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6112" y="12344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00" b="1" spc="3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 TASARIMI  ·  İÇ MİMARLIK 3. SINIF  ·  İLK DERS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96112" y="169164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Anahtarını Okumak</a:t>
            </a:r>
            <a:endParaRPr lang="en-US" sz="4000" dirty="0"/>
          </a:p>
          <a:p>
            <a:pPr algn="l"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Müşteri Deneyimini Haritalamak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en-US" sz="1700" dirty="0">
                <a:solidFill>
                  <a:srgbClr val="B9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Araştırmadan mekânsal tasarım kararına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96112" y="4480560"/>
            <a:ext cx="2532888" cy="512064"/>
          </a:xfrm>
          <a:prstGeom prst="rect">
            <a:avLst/>
          </a:prstGeom>
          <a:solidFill>
            <a:srgbClr val="3331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4480560"/>
            <a:ext cx="2532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36"/>
              </a:lnSpc>
              <a:buNone/>
            </a:pPr>
            <a:r>
              <a:rPr lang="en-US" sz="1200" b="1" spc="160" kern="0" dirty="0">
                <a:solidFill>
                  <a:srgbClr val="B9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4480560"/>
            <a:ext cx="2532888" cy="512064"/>
          </a:xfrm>
          <a:prstGeom prst="rect">
            <a:avLst/>
          </a:prstGeom>
          <a:solidFill>
            <a:srgbClr val="3331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65576" y="4480560"/>
            <a:ext cx="2532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36"/>
              </a:lnSpc>
              <a:buNone/>
            </a:pPr>
            <a:r>
              <a:rPr lang="en-US" sz="1200" b="1" spc="160" kern="0" dirty="0">
                <a:solidFill>
                  <a:srgbClr val="B9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4480560"/>
            <a:ext cx="2532888" cy="512064"/>
          </a:xfrm>
          <a:prstGeom prst="rect">
            <a:avLst/>
          </a:prstGeom>
          <a:solidFill>
            <a:srgbClr val="3331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4480560"/>
            <a:ext cx="2532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36"/>
              </a:lnSpc>
              <a:buNone/>
            </a:pPr>
            <a:r>
              <a:rPr lang="en-US" sz="1200" b="1" spc="160" kern="0" dirty="0">
                <a:solidFill>
                  <a:srgbClr val="B9B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DENEYİM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04504" y="4480560"/>
            <a:ext cx="2532888" cy="51206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04504" y="4480560"/>
            <a:ext cx="2532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36"/>
              </a:lnSpc>
              <a:buNone/>
            </a:pPr>
            <a:r>
              <a:rPr lang="en-US" sz="1200" b="1" spc="1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513892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oku  →  kullanıcıyı anla  →  deneyimi haritala  →  mekâna çevir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DERSİN ÇERÇEVESİ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 izlencesinden bugünkü sunuma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İzlencede okuduğumuz dört eksen, bu sunumun da omurgası. Bugün bu dört ekseni birbirine bağlayan yöntemi kuruyoruz.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2539746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kimliği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217398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araştırmak ve kimliğini çözümlemek.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4146" y="2286000"/>
            <a:ext cx="2539746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702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702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637026" y="3127248"/>
            <a:ext cx="217398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Kullanıcının ihtiyaç, değer ve davranışlarını anlamak.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5060" y="2286000"/>
            <a:ext cx="2539746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6377940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779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377940" y="3127248"/>
            <a:ext cx="217398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Etkileşim, duyular ve müşteri yolculuğunu tasarlamak.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35974" y="2286000"/>
            <a:ext cx="2539746" cy="16916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3" name="Shape 21"/>
          <p:cNvSpPr/>
          <p:nvPr/>
        </p:nvSpPr>
        <p:spPr>
          <a:xfrm>
            <a:off x="9118854" y="2468880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1885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9118854" y="3127248"/>
            <a:ext cx="217398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Kimliği atmosfer, malzeme, ışık ve mekânsal kurguya çevirmek.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206240"/>
            <a:ext cx="2884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İZLENCEDEKİ ÖĞRENME ÇIKTILARIYLA BAĞI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2114" y="4343400"/>
            <a:ext cx="7823606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3232" y="4553712"/>
            <a:ext cx="10762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İzlence, karmaşık mekânsal kurguları marka kimliğiyle uyumlu biçimde tasarlamayı, kullanıcı odaklı çözüm üretmeyi, güncel teknolojik araçları kullanmayı ve evrensel tasarım ile sürdürülebilirliği gözetmeyi bekliyor. Bu sunum, o beklentileri günlük stüdyo pratiğine çeviren yöntemi anlatıyor.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13232" y="5577840"/>
            <a:ext cx="2123237" cy="47548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5577840"/>
            <a:ext cx="1976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73045" y="5577840"/>
            <a:ext cx="2123237" cy="47548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946197" y="5577840"/>
            <a:ext cx="1976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SENTEZLE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32858" y="5577840"/>
            <a:ext cx="2123237" cy="47548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06010" y="5577840"/>
            <a:ext cx="1976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HARİTALA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192670" y="5577840"/>
            <a:ext cx="2123237" cy="47548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265822" y="5577840"/>
            <a:ext cx="1976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ÇEVİR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352483" y="5577840"/>
            <a:ext cx="2123237" cy="47548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25635" y="5577840"/>
            <a:ext cx="1976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BEKLENTİLER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sizden ne bekliyorum?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Tasarımın yalnızca görsel olarak etkileyici olması değil, gerekçelendirilebilir olması önemli.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6459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analizi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misyonunu, değerlerini, ürünlerini ve kimliğini araştırmak.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6459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odağı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profilini ihtiyaç, değer ve davranışlarıyla anlamak.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6459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 ve duyular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 görme, dokunma, işitme, koku ve hareket üzerinden düşünmek.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" y="4133088"/>
            <a:ext cx="3453384" cy="16459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Shape 21"/>
          <p:cNvSpPr/>
          <p:nvPr/>
        </p:nvSpPr>
        <p:spPr>
          <a:xfrm>
            <a:off x="896112" y="4315968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471830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Teknoloji entegrasyonu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974336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ve dijital temasları deneyimi destekleyecek biçimde kurmak.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67784" y="4133088"/>
            <a:ext cx="3453384" cy="16459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Shape 26"/>
          <p:cNvSpPr/>
          <p:nvPr/>
        </p:nvSpPr>
        <p:spPr>
          <a:xfrm>
            <a:off x="4550664" y="4315968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50664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50664" y="471830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kimlik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550664" y="4974336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Kimliği atmosfer, malzeme, ışık, renk, doku ve kurguya çevirmek.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22336" y="4133088"/>
            <a:ext cx="3453384" cy="16459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5216" y="4315968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05216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205216" y="471830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Uygulanabilirlik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205216" y="4974336"/>
            <a:ext cx="3087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Ergonomi, operasyon, depolama, dolaşım ve detay kararlarını gözetmek.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888736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altı başlık dönem boyunca her kritikte ve her jüride sorulacak.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İç Mimari Tasarım III ders izlencesi, öğrenme çıktıları.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PROJE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dönem ne tasarlıyoruz?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akım olmayan bir markanın ilk fiziksel mağazasını, etkileşimli ve duyusal bir mekânsal deneyim olarak kuracaksınız.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368296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29514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akım olmayan, tasarım dili henüz oturmamış bir marka — sizin bulacağınız.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50976" y="2798064"/>
            <a:ext cx="579729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971800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976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89864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alanı bizim tarafımızdan verilecek; ölçüler alan ziyaretinde kesinleşir.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50976" y="3401568"/>
            <a:ext cx="579729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575304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976" y="3493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50215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Etkileşimli, duyularla desteklenen ve teknolojiyle bütünleşmiş mekânsal deneyim.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0976" y="4005072"/>
            <a:ext cx="579729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0976" y="4096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41056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 proje; dönem boyunca tek marka üzerinden derinleşme.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4818888"/>
            <a:ext cx="2884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TASARLAMAK ZORUNDA OLDUĞUNUZ İŞLEVLER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2114" y="4956048"/>
            <a:ext cx="3096158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138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 ve sergileme  ·  giriş ve eşik  ·  dolaşım  ·  deneyim alanı  ·  bilgi ve tanıtım  ·  satış ve kasa  ·  depolama ve stok  ·  personel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59168" y="2286000"/>
            <a:ext cx="4416552" cy="23317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2542032"/>
            <a:ext cx="3904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0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SORU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2880360"/>
            <a:ext cx="3904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kimliğini, kullanıcının ihtiyaçlarını ve ürünün doğasını nasıl tek bir mekânsal dilde birleştiririz?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059168" y="4800600"/>
            <a:ext cx="4416552" cy="106984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0" y="4983480"/>
            <a:ext cx="3904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 KAPSAMI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5248656"/>
            <a:ext cx="3904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 · kimlik · malzeme · ışık · renk · doku · mobilya · duyusal nitelikler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kapsamı ders izlencesindeki gerekliliklerden sadeleştirilerek çıkarılmıştır.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TASARIM MANTIĞI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çizimle başlamıyor.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anlamı ve kullanıcıyı çözüyoruz; sonra bunu mekânsal karara dönüştürüyoruz.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377440"/>
            <a:ext cx="1933042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2505456"/>
            <a:ext cx="1640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761488"/>
            <a:ext cx="16404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3163824"/>
            <a:ext cx="16404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· ürün · kullanıcı · rakip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91994" y="322326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20594" y="2377440"/>
            <a:ext cx="1933042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6898" y="2505456"/>
            <a:ext cx="1640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066898" y="2761488"/>
            <a:ext cx="16404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Sentezle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66898" y="3163824"/>
            <a:ext cx="16404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değerler ve üç anahtar kelime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99355" y="322326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27955" y="2377440"/>
            <a:ext cx="1933042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4259" y="2505456"/>
            <a:ext cx="1640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274259" y="2761488"/>
            <a:ext cx="16404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Haritala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74259" y="3163824"/>
            <a:ext cx="16404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müşterinin mekândaki yolculuğu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06717" y="322326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35317" y="2377440"/>
            <a:ext cx="1933042" cy="16916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1621" y="2505456"/>
            <a:ext cx="1640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481621" y="2761488"/>
            <a:ext cx="16404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Çevir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81621" y="3163824"/>
            <a:ext cx="16404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kelimeyi malzeme · ışık · dolaşım · sergileme kararına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14078" y="322326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42678" y="2377440"/>
            <a:ext cx="1933042" cy="16916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88982" y="2505456"/>
            <a:ext cx="1640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688982" y="2761488"/>
            <a:ext cx="16404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688982" y="3163824"/>
            <a:ext cx="16404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marka ve kullanıcıyla örtüşüyor mu?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434840"/>
            <a:ext cx="30339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SUNUMUN AKIŞI DA AYNI SIRAYI İZLİYOR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802075" y="4572000"/>
            <a:ext cx="7673645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3232" y="4809744"/>
            <a:ext cx="1991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5065776"/>
            <a:ext cx="19915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 · araştırma kaynakları · kullanıcı profili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905963" y="4809744"/>
            <a:ext cx="1991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Sentezle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905963" y="5065776"/>
            <a:ext cx="19915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 ölçütleri · örnek vaka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098694" y="4809744"/>
            <a:ext cx="1991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Haritala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098694" y="5065776"/>
            <a:ext cx="19915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yolculuğu · sekiz aşama · iç mimarlık modülleri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7291426" y="4809744"/>
            <a:ext cx="1991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Çevir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7291426" y="5065776"/>
            <a:ext cx="19915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→ mekânsal tasarım kararı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484157" y="4809744"/>
            <a:ext cx="1991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484157" y="5065776"/>
            <a:ext cx="19915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çalışması ve ödev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MARKA ANALİZİ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 nedir?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markanın özünü belirli başlıklar altında çözümlemeye yarayan çerçeve. İki grupta okunur, tek bir özde toplanır.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659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MARKANIN BAĞLAMI — DIŞARIDAN GELEN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27171" y="2286000"/>
            <a:ext cx="8048549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450592"/>
            <a:ext cx="356311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9536" y="2596896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Rekabet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999232"/>
            <a:ext cx="3270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Başka hangi seçenekler var?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12920" y="2450592"/>
            <a:ext cx="356311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59224" y="2596896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kullanıcı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59224" y="2999232"/>
            <a:ext cx="3270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Kime sesleniyor?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12608" y="2450592"/>
            <a:ext cx="356311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58912" y="2596896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Amaçlar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058912" y="2999232"/>
            <a:ext cx="3270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başarmak istiyor?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57016"/>
            <a:ext cx="2509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MARKANIN İFADESİ — KENDİ KURDUĞU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77210" y="3694176"/>
            <a:ext cx="8198510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6112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Misyon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olma nedeni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13076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695956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95956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inanıyor?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312920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Faydalar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İşlevsel ve duygusal olarak ne sunuyor?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12764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95644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Kişilik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95644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insan olsaydı nasıl biri olurdu?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912608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95488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dil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95488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 · biçim · malzeme · görüntü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712452" y="3858768"/>
            <a:ext cx="1763268" cy="9601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95332" y="4041648"/>
            <a:ext cx="1397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İletişim tonu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895332" y="4297680"/>
            <a:ext cx="13975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6"/>
              </a:lnSpc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konuşuyor?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13232" y="5230368"/>
            <a:ext cx="10762488" cy="64008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2688" y="523036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00" b="1" spc="18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627632" y="5230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Müşterinin aklında kalmasını istediğimiz temel anlam — en son yazılır.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Bükülmez, Girginkaya Akdağ ve Ekin (2025), Marka Anahtarı Analizi aracı (I-AM İstanbul).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ARAŞTIRMA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markanın kimliğini nasıl çıkarırız?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logo ya da birkaç güzel görsel yeterli değil. Farklı kaynaklardan kanıt toplarız.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sitesi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Misyon · ürün dili · değerler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medya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dil · iletişim · kullanıcı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· biçim · fiyat · kullanım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" y="3968496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Shape 21"/>
          <p:cNvSpPr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yorumları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 · memnuniyet · sorunlar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67784" y="3968496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Shape 26"/>
          <p:cNvSpPr/>
          <p:nvPr/>
        </p:nvSpPr>
        <p:spPr>
          <a:xfrm>
            <a:off x="4550664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50664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50664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Rakipler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550664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Farklılaşma · konum · fırsat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22336" y="3968496"/>
            <a:ext cx="3453384" cy="148132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5216" y="4151376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05216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205216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205216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davranış · temas · bağlam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13232" y="5504688"/>
            <a:ext cx="10762488" cy="5669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32688" y="55046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Araştırmanın amacı çok bilgi toplamak değil; aynı anlamı farklı kanıtlarda görebilmek.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(2025), marka analizi ve kullanıcı profili bölümleri.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KULLANICI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profilini nasıl anlarız?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Demografik bilgi başlangıçtır; tasarım için asıl önemli olan ihtiyaç, değer ve davranıştır.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Kim?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 · yaşam biçimi · sosyo-ekonomik bağlam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değer veriyor?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 · öncelikler · inançlar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ihtiyacı var?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İşlevsel ve duygusal ihtiyaçlar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" y="3968496"/>
            <a:ext cx="3453384" cy="148132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3" name="Shape 21"/>
          <p:cNvSpPr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davranıyor?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Arıyor · karşılaştırıyor · seçiyor · bekliyor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67784" y="3968496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Shape 26"/>
          <p:cNvSpPr/>
          <p:nvPr/>
        </p:nvSpPr>
        <p:spPr>
          <a:xfrm>
            <a:off x="4550664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50664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50664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hissediyor?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550664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Merak · güven · huzursuzluk · aidiyet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22336" y="3968496"/>
            <a:ext cx="3453384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5216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05216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205216" y="4553712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bekliyor?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205216" y="4809744"/>
            <a:ext cx="3087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· keşif · kişisellik · kolaylık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13232" y="5504688"/>
            <a:ext cx="10762488" cy="5669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32688" y="55046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Davranışı yazılabilen kullanıcı, mekânsal karar üretir: süre, erişim, bilgi, mahremiyet.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(2025), kullanıcı profili ve persona yaklaşımı.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SENTEZ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kelimeyi nasıl belirleriz?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Kelime, markayı tarif etmekten öte tasarım kararını yönlendirebilmelidir.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2344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markaya uyacak kadar genel olmamalı.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2344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Kanıtlı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Araştırmada karşılığı bulunmalı.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23444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Çevrilebilir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Mekânda somut bir karşılığı kurulabilmeli.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813048"/>
            <a:ext cx="3333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 İÇİN KULLANACAĞIMIZ ÖRNEK KELİMELER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01998" y="3950208"/>
            <a:ext cx="7373722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4133088"/>
            <a:ext cx="3563112" cy="84124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4133088"/>
            <a:ext cx="3563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328"/>
              </a:lnSpc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4312920" y="4133088"/>
            <a:ext cx="3563112" cy="84124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12920" y="4133088"/>
            <a:ext cx="3563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328"/>
              </a:lnSpc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912608" y="4133088"/>
            <a:ext cx="3563112" cy="84124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912608" y="4133088"/>
            <a:ext cx="3563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328"/>
              </a:lnSpc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713232" y="5175504"/>
            <a:ext cx="10762488" cy="896112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32688" y="5285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üç kelime bir markayı tarif etmekle kalmaz; her biri malzeme, ışık, dolaşım ve sergileme kararına çevrilebilir. Bir sonraki slaytta tam olarak bunu yapacağız.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VAKA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Varsayımsal yerel seramik markası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Yöntemi tek bir örnek üzerinden birlikte okuyalım.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368296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295144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yapımı seramik ev ve sofra ürünleri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50976" y="2761488"/>
            <a:ext cx="616305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935224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976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862072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Kentin yoğunluğu içinde yavaş ve anlamlı seçim yapmak isteyen kişi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50976" y="3328416"/>
            <a:ext cx="616305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50215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976" y="3419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429000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Yerellik · zanaat · uzun kullanım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0976" y="3895344"/>
            <a:ext cx="616305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069080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0976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Kişilik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39959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Özenli · açık sözlü · malzemeye yakın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50976" y="4462272"/>
            <a:ext cx="6163056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4636008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50976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dil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4562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2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yüzey · toprak tonları · elle yapılmışın izi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13232" y="5230368"/>
            <a:ext cx="6400800" cy="8229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32688" y="5358384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0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MARKANIN ÖZÜ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" y="55961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Gündelik yaşama üretim ve malzeme duygusu katmak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24928" y="2148840"/>
            <a:ext cx="2209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ARAŞTIRMADAN ÇIKAN ÜÇ KELİME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688982" y="2286000"/>
            <a:ext cx="1786738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24928" y="2487168"/>
            <a:ext cx="4050792" cy="8229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44384" y="261518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en-US" sz="17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644384" y="29626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karakterli · görünür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424928" y="3419856"/>
            <a:ext cx="4050792" cy="8229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44384" y="354787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en-US" sz="17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7644384" y="38953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malzemeye yakın · yalın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24928" y="4352544"/>
            <a:ext cx="4050792" cy="8229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44384" y="44805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en-US" sz="17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644384" y="48280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ömürlü · esnek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424928" y="5358384"/>
            <a:ext cx="4050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Üçü de araştırmadaki kanıta dayanıyor: ürünün malzemesi, üretim biçimi ve kullanıcının seçim nedeni.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Vaka varsayımsaldır; öğrencinin düşünme biçimini göstermek için oluşturulmuştur.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TASARIMA GEÇİŞ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Kelimeden mekânsal karara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 kelimeyi forma çevirmek değil, tasarım kriterine çevirmek. Aynı karar birden fazla kelimeyi taşıyabilir.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KELİME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072384" y="22860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ANLAMA GELİYOR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2860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 KRİTERİ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083296" y="2286000"/>
            <a:ext cx="3502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MEKÂNDAKİ KARŞILIĞI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560320"/>
            <a:ext cx="10762488" cy="0"/>
          </a:xfrm>
          <a:prstGeom prst="line">
            <a:avLst/>
          </a:prstGeom>
          <a:noFill/>
          <a:ln w="12700">
            <a:solidFill>
              <a:srgbClr val="D6CCC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633472"/>
            <a:ext cx="2194560" cy="91440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2633472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44368" y="2633472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72384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Karakterli · görünür · güçlü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49824" y="2633472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Vurgu öğesi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955280" y="2633472"/>
            <a:ext cx="350215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83296" y="263347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ve belirgin bir mekânsal jest: üretim tezgâhı ya da merkezî sergileme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3584448"/>
            <a:ext cx="2194560" cy="91440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3584448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44368" y="3584448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072384" y="35844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Malzemeye yakın · sıcak · yalın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49824" y="3584448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77840" y="35844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ve ışık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55280" y="3584448"/>
            <a:ext cx="350215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83296" y="358444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 doku, boyasız yüzey, gün ışığını destekleyen aydınlatma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13232" y="4535424"/>
            <a:ext cx="2194560" cy="91440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4535424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944368" y="4535424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72384" y="4535424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ömürlü · az atık · esnek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9824" y="4535424"/>
            <a:ext cx="2468880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577840" y="4535424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ve işletme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955280" y="4535424"/>
            <a:ext cx="3502152" cy="91440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083296" y="4535424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Sökülebilir sergileme birimi, uyarlanabilir düzen, onarılabilir detay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13232" y="5486400"/>
            <a:ext cx="10762488" cy="60350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32688" y="54864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Sınama sorusu: bu karar, kelimeyi bilmeyen birine de aynı şeyi anlatıyor mu?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MÜŞTERİ DENEYİMİ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Yolculuğu Haritası nedir?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ile kullanıcının temas ettiği anları bir hikâye gibi görmemizi sağlar. Her an için dört şey yazılır.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2484882" cy="15544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2414016"/>
            <a:ext cx="21922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670048"/>
            <a:ext cx="2192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3072384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Müşterinin marka ile karşılaştığı an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3834" y="306324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72434" y="2286000"/>
            <a:ext cx="2484882" cy="15544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8738" y="2414016"/>
            <a:ext cx="21922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18738" y="2670048"/>
            <a:ext cx="2192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8738" y="3072384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görüyor · ne yapıyor · ne hissediyor?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03036" y="306324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31636" y="2286000"/>
            <a:ext cx="2484882" cy="15544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2414016"/>
            <a:ext cx="21922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670048"/>
            <a:ext cx="2192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072384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anda ne bekliyor?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62238" y="3063240"/>
            <a:ext cx="182880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90838" y="2286000"/>
            <a:ext cx="2484882" cy="155448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37142" y="2414016"/>
            <a:ext cx="21922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137142" y="2670048"/>
            <a:ext cx="21922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37142" y="3072384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10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bu deneyimi nasıl iyileştirebilir?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1239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İŞE YARAR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002536" y="4261104"/>
            <a:ext cx="9473184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4498848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 kurdurur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791456"/>
            <a:ext cx="3453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Kullanıcının o andaki hâlini tasarımcıya görünür kılar.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367784" y="4498848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Fırsatı gösterir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367784" y="4791456"/>
            <a:ext cx="3453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Deneyimin tıkandığı yeri ve iyileştirme noktasını ortaya çıkarır.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22336" y="4498848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Tutarlılık sağlar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022336" y="4791456"/>
            <a:ext cx="3453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mesajını yolculuğun her anında aynı hikâyeye bağlar.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3232" y="5504688"/>
            <a:ext cx="10762488" cy="5669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2688" y="55046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temas noktası müşterinin akılcı, duygusal ve davranışsal tepkisini etkiler.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(2025); Lemon ve Verhoef (2016); Stein ve Ramaseshan (2016).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MÜŞTERİ YOLCULUĞU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yolculuğunun sekiz aşaması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Kaynaktaki model bu sekiz aşamayı tanımlıyor. Ortadaki altısı doğrudan iç mekânda geçiyor.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377440"/>
            <a:ext cx="1313307" cy="10515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FARKINDALIK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63115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54555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154555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ÇEKİM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12998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04438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504438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EŞİK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62881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54321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854321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12764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04204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204204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KEŞİF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62647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54087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554087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ETKİLEŞİM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12530" y="2377440"/>
            <a:ext cx="1313307" cy="10515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03970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903970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ALMA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162413" y="2377440"/>
            <a:ext cx="1313307" cy="10515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253853" y="2487168"/>
            <a:ext cx="11304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253853" y="2761488"/>
            <a:ext cx="11304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AYRILIŞ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063115" y="3584448"/>
            <a:ext cx="8062722" cy="0"/>
          </a:xfrm>
          <a:prstGeom prst="line">
            <a:avLst/>
          </a:prstGeom>
          <a:noFill/>
          <a:ln w="19050">
            <a:solidFill>
              <a:srgbClr val="A85C4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063115" y="36576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mekânda geçen altı aşama — dersin tasarım konusu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657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 dışında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162413" y="3657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 dışında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123944"/>
            <a:ext cx="20592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MİMARLIK İÇİN ASIL SORU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827325" y="4261104"/>
            <a:ext cx="8648395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4480560"/>
            <a:ext cx="10762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20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aşamaların her biri hangi mekânsal kararla destekleniyor?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992624"/>
            <a:ext cx="10762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Farkındalık ve ayrılış pazarlamanın alanına girer; aradaki altı aşama tasarımcının kurduğu deneyimdir. Bir sonraki slayt bu altı aşamanın mekânsal karşılıklarını gösteriyor.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I-AM İstanbul müşteri yolculuğu modeli; Sunar Bükülmez vd. (2025), Şekil 1.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İÇ MİMARLIK AÇISINDAN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Mağazada hangi temasları tasarlıyoruz?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model fiziksel mağazaya uyarlandığında yönlenme, ürün, operasyon gibi iç mimarlık gerektiren alanlar öne çıkıyor.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Cephe · vitrin · ilk görsel temas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4146" y="2286000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702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702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637026" y="3127248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· ilk izlenim · atmosfer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5060" y="2286000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6377940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779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Yönlenme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377940" y="3127248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Dolaşım · görüş hatları · işaretleme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35974" y="2286000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Shape 21"/>
          <p:cNvSpPr/>
          <p:nvPr/>
        </p:nvSpPr>
        <p:spPr>
          <a:xfrm>
            <a:off x="911885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1885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2871216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9118854" y="3127248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grupları · bilgi · etkileşim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" y="3968496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4553712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ve hizmet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809744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 · erişim · deneme · bekleme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54146" y="3968496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Shape 31"/>
          <p:cNvSpPr/>
          <p:nvPr/>
        </p:nvSpPr>
        <p:spPr>
          <a:xfrm>
            <a:off x="3637026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37026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637026" y="4553712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3637026" y="4809744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 · ürün · teknoloji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95060" y="3968496"/>
            <a:ext cx="2539746" cy="14813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8" name="Shape 36"/>
          <p:cNvSpPr/>
          <p:nvPr/>
        </p:nvSpPr>
        <p:spPr>
          <a:xfrm>
            <a:off x="6377940" y="4151376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77940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377940" y="4553712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Satın alma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6377940" y="4809744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 · ödeme · paketleme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935974" y="3968496"/>
            <a:ext cx="2539746" cy="148132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8854" y="4151376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18854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118854" y="4553712"/>
            <a:ext cx="2173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Operasyon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9118854" y="4809744"/>
            <a:ext cx="21739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Depolama · personel · ergonomi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13232" y="5504688"/>
            <a:ext cx="10762488" cy="566928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32688" y="55046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modül en çok atlanan: mağaza çalışmıyorsa deneyim de çalışmaz.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(2025); fiziksel perakende için uyarlanmış modüller.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VAKA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Seramik markasının müşteri yolculuğu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marka, yolculuğun her aşamasında başka bir mekânsal karar üretir.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AŞAMA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889504" y="228600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KARAR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28600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5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HANGİ KELİMEYİ TAŞIYOR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13232" y="2560320"/>
            <a:ext cx="10762488" cy="0"/>
          </a:xfrm>
          <a:prstGeom prst="line">
            <a:avLst/>
          </a:prstGeom>
          <a:noFill/>
          <a:ln w="12700">
            <a:solidFill>
              <a:srgbClr val="D6CC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6334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334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61488" y="26334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889504" y="26334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Seçili tek ürün ve güçlü bir ilk bakış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67344" y="26334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0" y="26334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3232" y="30906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0906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61488" y="30906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9504" y="30906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ve ışıkla markanın ilk hissi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67344" y="30906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95360" y="30906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3232" y="35478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35478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Yönlenme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61488" y="35478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889504" y="35478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görüş hattı ve açık bir ana rota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467344" y="35478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95360" y="35478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3232" y="40050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40050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61488" y="40050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889504" y="40050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Koleksiyonlara göre sakin gruplama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467344" y="40050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95360" y="40050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13232" y="44622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1248" y="44622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761488" y="44622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889504" y="44622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Dokunma, numune ve üretim anlatısı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67344" y="44622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595360" y="44622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3232" y="49194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41248" y="49194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Satın alma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761488" y="49194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89504" y="49194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Kolay ödeme ve dikkatli paketleme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467344" y="49194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595360" y="49194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13232" y="5376672"/>
            <a:ext cx="2011680" cy="420624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41248" y="5376672"/>
            <a:ext cx="1755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6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Ayrılış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761488" y="5376672"/>
            <a:ext cx="5669280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889504" y="5376672"/>
            <a:ext cx="5413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Ürünün hikâyesiyle birlikte çıkış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467344" y="5376672"/>
            <a:ext cx="2953512" cy="420624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595360" y="53766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8"/>
              </a:lnSpc>
              <a:buNone/>
            </a:pPr>
            <a:r>
              <a:rPr lang="en-US" sz="1100" b="1" spc="10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713232" y="5907024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aşama birden fazla kelimeyi taşıyabilir; taşımıyorsa o aşama henüz tasarlanmamıştır.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senaryo; kaynak modelin öğrenci tasarımına aktarılışını göstermek için kurulmuştur.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ŞİMDİ SIRA SİZDE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Sunumdan sınıf çalışmasına geçiyoruz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Konuştuğumuz çerçeveyi şimdi gerçek markalar üzerinde deneyeceğiz.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1976933" cy="17830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2414016"/>
            <a:ext cx="1684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670048"/>
            <a:ext cx="1684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marka bul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3072384"/>
            <a:ext cx="16843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akım olmayan, mağaza kimliği henüz oluşmamış adaylar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35885" y="3177540"/>
            <a:ext cx="128016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09621" y="2286000"/>
            <a:ext cx="1976933" cy="17830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55925" y="2414016"/>
            <a:ext cx="1684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055925" y="2670048"/>
            <a:ext cx="1684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araştır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55925" y="3072384"/>
            <a:ext cx="16843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· kullanıcı · değer ve hikâye · rakipler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32274" y="3177540"/>
            <a:ext cx="128016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06010" y="2286000"/>
            <a:ext cx="1976933" cy="17830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52314" y="2414016"/>
            <a:ext cx="1684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252314" y="2670048"/>
            <a:ext cx="1684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anahtar kelime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52314" y="3072384"/>
            <a:ext cx="16843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mekâna taşıyabilecek üç kelime seç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8662" y="3177540"/>
            <a:ext cx="128016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02398" y="2286000"/>
            <a:ext cx="1976933" cy="17830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48702" y="2414016"/>
            <a:ext cx="1684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448702" y="2670048"/>
            <a:ext cx="1684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Üründen mekâna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48702" y="3072384"/>
            <a:ext cx="16843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 ve depolama · aydınlatma · deneyim ve duyu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25051" y="3177540"/>
            <a:ext cx="128016" cy="0"/>
          </a:xfrm>
          <a:prstGeom prst="line">
            <a:avLst/>
          </a:prstGeom>
          <a:noFill/>
          <a:ln w="15240">
            <a:solidFill>
              <a:srgbClr val="A85C4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98787" y="2286000"/>
            <a:ext cx="1976933" cy="178308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45091" y="2414016"/>
            <a:ext cx="1684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12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645091" y="2670048"/>
            <a:ext cx="16843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Kelimeyi karara çevir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645091" y="3072384"/>
            <a:ext cx="168432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 için somut bir mekânsal karar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13232" y="4315968"/>
            <a:ext cx="10762488" cy="713232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32688" y="442569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00" kern="0" dirty="0">
                <a:solidFill>
                  <a:srgbClr val="E8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SINIF ÇALIŞMASI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" y="464515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Avı — Üç Marka Karşılaştırma Paftası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5221224"/>
            <a:ext cx="1384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NASIL ÇALIŞACAĞIZ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52498" y="5358384"/>
            <a:ext cx="9323222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5559552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4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 araştırma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833872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üç adayınızı bulup paftayı doldurun.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367784" y="5559552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4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kritiği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367784" y="5833872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Yürütücüyle birlikte adayları karşılaştırın.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022336" y="5559552"/>
            <a:ext cx="3453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4"/>
              </a:lnSpc>
              <a:buNone/>
            </a:pPr>
            <a:r>
              <a:rPr lang="en-US" sz="13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anlatım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022336" y="5833872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Seçtiğiniz adayı iki dakikada gerekçelendirin.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BUGÜNKÜ ÇALIŞMA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 paftasında ne dolduracaksınız?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marka için aynı soruları kullanıyoruz; böylece seçimi araştırma üzerinden karşılaştırabiliriz.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4173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anlamak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· kullanıcı · değer ve hikâye · üç anahtar kelime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41732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Üründen mekâna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 ve depolama · aydınlatma · deneyim ve duyu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417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→ karar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kelimenin her biri için somut bir mekânsal tasarım kararı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90448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b="1" spc="1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PAFTADA ARADIĞIMIZ ÜÇ ŞEY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52344" y="4041648"/>
            <a:ext cx="8723376" cy="0"/>
          </a:xfrm>
          <a:prstGeom prst="line">
            <a:avLst/>
          </a:prstGeom>
          <a:noFill/>
          <a:ln w="9525">
            <a:solidFill>
              <a:srgbClr val="D6CCC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4224528"/>
            <a:ext cx="3563112" cy="10972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4074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5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718304"/>
            <a:ext cx="3160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Yazdığınız her önemli bilgi bir kaynağa dayansın.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12920" y="4224528"/>
            <a:ext cx="3563112" cy="10972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14088" y="44074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5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Gerekçe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14088" y="4718304"/>
            <a:ext cx="3160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bu üç kelime? Markanın hangi verisi bunu söylüyor?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12608" y="4224528"/>
            <a:ext cx="3563112" cy="109728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13776" y="44074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50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113776" y="4718304"/>
            <a:ext cx="3160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Kelimeyi en az bir somut mekânsal karara dönüştürün.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504688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güzel bir pafta değil, iyi bir araştırma yapıyoruz. Paftanın görsel dili önemli; ama asıl değer araştırmadan tasarıma kurduğunuz ilişkide.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Araç: A3 üç marka karşılaştırma paftası.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KAYNAKLAR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Dersin temel kaynakları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Sunumun çerçevesi aşağıdaki makale ve ders izlencesinden kuruldu.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35915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Sunar Bükülmez, P., Girginkaya Akdağ, S. ve Ekin, G. (2025)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736592" y="228600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Design Competencies and Customer Journey Mapping Tools: A Holistic Interior Design Studio Perspective. The International Journal of Design Education, 19(2), 25–50.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" y="274320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90779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976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Wheeler, A. (2017)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283464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Brand Identity. Wiley. — Marka deneyiminin temel bileşenleri.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" y="329184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45643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976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Lemon, K. N. ve Verhoef, P. C. (2016)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36592" y="338328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Customer Experience Throughout the Customer Journey. Journal of Marketing, 80(6), 69–96.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50976" y="384048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00507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0976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Stein, A. ve Ramaseshan, B. (2016)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36592" y="393192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the Identification of Customer Experience Touch Point Elements. Journal of Retailing and Consumer Services, 30, 8–19.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50976" y="438912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455371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50976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Stickdorn, M. vd. (2018)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736592" y="448056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Service Design Doing. O'Reilly. — Hizmet tasarımı ve yolculuk haritalama yöntemleri.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50976" y="493776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" y="510235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0976" y="5029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Mesher, L. (2010)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502920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 Interior Design: Retail Design. AVA Publishing.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" y="5486400"/>
            <a:ext cx="10524744" cy="0"/>
          </a:xfrm>
          <a:prstGeom prst="line">
            <a:avLst/>
          </a:prstGeom>
          <a:noFill/>
          <a:ln w="6350">
            <a:solidFill>
              <a:srgbClr val="D6CCC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5650992"/>
            <a:ext cx="91440" cy="9144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50976" y="5577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Mimari Tasarım III ders izlencesi (2025–2026)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736592" y="557784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kapsamı, gereklilikler ve öğrenme çıktıları.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6327648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850" i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modellerdeki diyagramlar bu sunum için yeniden çizilmiştir · doi.org/10.18848/2325-128X/CGP/v19i02/25-50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0233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00" b="1" spc="260" kern="0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ÖDEV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18520" y="402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00" b="1" dirty="0">
                <a:solidFill>
                  <a:srgbClr val="D6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5836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sonraki derse ne getiriyorsunuz?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13232" y="1389888"/>
            <a:ext cx="1188720" cy="0"/>
          </a:xfrm>
          <a:prstGeom prst="line">
            <a:avLst/>
          </a:prstGeom>
          <a:noFill/>
          <a:ln w="22225">
            <a:solidFill>
              <a:srgbClr val="A85C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5448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sonraki derse araştırılmış ve karşılaştırılmış bir başlangıçla geliyoruz.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2286000"/>
            <a:ext cx="3453384" cy="17373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aday marka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27248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aday seçin ve her biri için kısa bir araştırma yapın.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7784" y="2286000"/>
            <a:ext cx="3453384" cy="17373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50664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50664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3127248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Ürün, kullanıcı, değer ve hikâye, rakipler ve temel kimlik bilgileri.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22336" y="2286000"/>
            <a:ext cx="3453384" cy="17373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05216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05216" y="2871216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anahtar kelime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05216" y="3127248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aday için üç kelime belirleyin ve nedenlerini yazın.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" y="4224528"/>
            <a:ext cx="3453384" cy="17373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23" name="Shape 21"/>
          <p:cNvSpPr/>
          <p:nvPr/>
        </p:nvSpPr>
        <p:spPr>
          <a:xfrm>
            <a:off x="896112" y="4407408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480974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Üründen mekâna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5065776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 ve depolama, aydınlatma, deneyim ve duyu başlıkları.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67784" y="4224528"/>
            <a:ext cx="3453384" cy="173736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28" name="Shape 26"/>
          <p:cNvSpPr/>
          <p:nvPr/>
        </p:nvSpPr>
        <p:spPr>
          <a:xfrm>
            <a:off x="4550664" y="4407408"/>
            <a:ext cx="27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5066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A85C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50664" y="480974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→ tasarım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550664" y="5065776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F0DE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 için en az bir somut mekânsal tasarım kararı önerin.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22336" y="4224528"/>
            <a:ext cx="3453384" cy="1737360"/>
          </a:xfrm>
          <a:prstGeom prst="rect">
            <a:avLst/>
          </a:prstGeom>
          <a:solidFill>
            <a:srgbClr val="EDE5D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5216" y="4407408"/>
            <a:ext cx="274320" cy="274320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05216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16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205216" y="4809744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9"/>
              </a:lnSpc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 ve seç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205216" y="5065776"/>
            <a:ext cx="3087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aday arasından neden birini seçtiğinizi kısaca gerekçelendirin.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13232" y="5961888"/>
            <a:ext cx="10762488" cy="566928"/>
          </a:xfrm>
          <a:prstGeom prst="rect">
            <a:avLst/>
          </a:prstGeom>
          <a:solidFill>
            <a:srgbClr val="A85C4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32688" y="59618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4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 aracı: A3 üç marka karşılaştırma paftası  ·  Sonraki aşama: seçilen marka, kullanıcı profili, müşteri yolculuğu ve kavramsal tasarım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Marka Anahtarını Okumak ve Müşteri Deneyimini Haritalamak</dc:title>
  <dc:subject>PptxGenJS Presentation</dc:subject>
  <dc:creator>PptxGenJS</dc:creator>
  <cp:lastModifiedBy>PptxGenJS</cp:lastModifiedBy>
  <cp:revision>1</cp:revision>
  <dcterms:created xsi:type="dcterms:W3CDTF">2026-09-17T22:33:02Z</dcterms:created>
  <dcterms:modified xsi:type="dcterms:W3CDTF">2026-09-17T22:33:02Z</dcterms:modified>
</cp:coreProperties>
</file>