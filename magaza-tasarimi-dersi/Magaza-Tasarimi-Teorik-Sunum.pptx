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bir bölüm, ağırlıklı olarak diyagram üzerinden anlatım. Kaynaklar metin içinde parantezle verildi, tam künyeler sonda.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Dördüncü kutuyu vurgulayın; sunumun V. bölümü bütünüyle buna ayrıldı.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slayt bir içindekiler görevi de görüyor: öğrenci hangi başlığın nerede açılacağını biliyor.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Tarihi hızlı geçin. Anadolu tipolojilerini (bedesten, arasta, han) mutlaka anın — mağaza tasarımı ithal bir konu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Üçüncü boyutu örnekle açın: aynı ürünü satan iki mağazadan biri mermer, biri ham kontrplak kullanıyorsa ikisi farklı şey söyler.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'Nötr mekân yoktur' cümlesi bu bölümün özeti.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İkinci daire vurgulu; sunumun en uzun bölümü olan duyular oradan geliyor. Zirve–son etkisi çıkış tasarımını önemli kılıyor.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Bir önceki slaydın devamı: orada deneyimin neyden oluştuğu, burada hangi biçimlerde kurulabileceği anlatılıyor. Öğrencilere kendi markalarına hangi türün uyduğunu düşündürün — bu, konsept kararını doğrudan besliyor.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Sağdaki iki kutu vurgulu, çünkü mekân tasarımı en doğrudan onlarla ilgilidir. Ama solu bilmeden sağı kurulamaz.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Öğrenciler 1 ve 2'yi yapıp doğrudan çizime geçiyor. Üçüncü adım atlanınca analiz ile tasarım arasında ilişki kurulamıyor.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“Kaliteli / modern / özel” tuzağını mutlaka vurgulayın; öğrencilerin çıkardığı kelimelerin yarısı böyle oluyor.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sunumun en pratik slaydı. Öğrenciden kendi markası için bu zinciri üç satır hâlinde kurmasını isteyin.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Öğrencilerin en sık hatası: lüks marka seçip mekânı ürünle doldurmak.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Açık hava yerleşimlerde ve sokak mağazalarında bu test belirleyici. Gece görünümü ayrıca çizilmeli.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Diyagramlar plandır: alt kenar sokak. Kalın çizgi arkalığı, kesikli çizgi cam yüzeyi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Eşik, beş duyunun aynı anda değiştiği tek andır. Duyular bölümüne buradan köprü kurun.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şema bilinçli olarak plan değildir. Öğrenci işlevleri kendi mekânına göre yerleştirmeli; buradaki tek bağlayıcı şey komşuluk kurallarıdır.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Öğrencilere 'personelin gününü çiz' egzersizini önerin: açılış, mal kabul, stok tazeleme, mola, kapanış.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girişi ve ana yönelimi gösteriyor. Döngü tipinde kesikli çizgi zorunlu rotadır.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Görüş hatlarını tahtada çizerek gösterin: girişten bakınca ne görünüyor?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Sıralama önemli: mekânsal katman önce, grafik katman sonra.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Vurgulanan iki an — eşik ve etkileşim — mekânın en çok fark yarattığı yerlerdir.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bulgu duyular bölümünün ana ilkesidir: rastgele eklenen etkileyici bir duyusal öğe bütünü zayıflatır.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diyagram duyusal tasarımı mood board olmaktan çıkarıp yolculuğa bağlar; plana değil, ana bağlar.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Kontrast oranını somut örnekle açın. CRI konusunu iade örneğiyle anlatın: düşük renk geriverimli ışıkta beğenilen kumaş gün ışığında bambaşka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Türkiye'de yapılan güncel araştırmada engelli kullanıcıların en düşük puan verdiği boyut işitsel ve duyusal konfordur — bunu burada anın.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IKEA'nın dokunsal harita hizmeti ve Mastercard Touch Card, dokunmanın erişilebilirlik aracı olarak kullanımına iyi örnek (Tonin vd.,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Lush ve Aesop örnekleri buraya çok uygun: koku bir eklenti değil, ürün ve teşhir kararının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Çay ikramı Türkiye'de köklü bir pratik; öğrencilere bunun mekânsal karşılığını sordurun.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Öğrenciler beş duyuyu sayıyor ama ısıyı, hava akımını ve kot farkını mekânsal bir duyu olarak düşünmüyor.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Araştırmanın Türkiye'de yapılmış olması öğrenciler için değerli. Son cümleyi not aldırın.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Kesit şematiktir. Vurgu ışığının dar açısı ile genel ışığın yayılımı arasındaki farkı gösterin.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Üçüncü sütun vurgulu: sürdürülebilirlik tartışmasının mağaza tasarımındaki en somut karşılığı burasıdır.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Eşik anında 'teknoloji gerekmez' demek bilinçli bir seçim: eşik duyusal bir andır, ekran orada dikkat dağıtır.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cümle önemli: öğrenciler zayıf plan çözümünü dijital öğelerle örtmeye çalışıyor.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bulgunun en pratik sonucu vitrin ve teşhir için geçerli: ürünü kullanım bağlamında göstermek her zaman daha etkili.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Vurgulanacak nokta: bu uygulamaların hiçbiri markanın kimliğinden ödün vermiyor. Erişilebilirlik çoğu zaman mekâna seçenek eklemektir.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Örnekleri kısa geçin; öğrenciler bunları zaten arayacak. Amaç bir referans listesi vermek.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Öğrencilere arasta ve bedestenleri gidip görmelerini önerin; ışık ve ritim açısından çok öğretici.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417320"/>
            <a:ext cx="9601200" cy="2377440"/>
          </a:xfrm>
          <a:prstGeom prst="rect">
            <a:avLst/>
          </a:prstGeom>
          <a:noFill/>
          <a:ln/>
        </p:spPr>
        <p:txBody>
          <a:bodyPr wrap="square" lIns="0" tIns="0" rIns="0" bIns="0" rtlCol="0" anchor="ctr"/>
          <a:lstStyle/>
          <a:p>
            <a:pPr indent="0" marL="0">
              <a:lnSpc>
                <a:spcPts val="7600"/>
              </a:lnSpc>
              <a:buNone/>
            </a:pPr>
            <a:r>
              <a:rPr lang="en-US" sz="6800" b="1" dirty="0">
                <a:solidFill>
                  <a:srgbClr val="FFFFFF"/>
                </a:solidFill>
                <a:latin typeface="Cambria" pitchFamily="34" charset="0"/>
                <a:ea typeface="Cambria" pitchFamily="34" charset="-122"/>
                <a:cs typeface="Cambria" pitchFamily="34" charset="-120"/>
              </a:rPr>
              <a:t>Mağaza</a:t>
            </a:r>
            <a:endParaRPr lang="en-US" sz="6800" dirty="0"/>
          </a:p>
          <a:p>
            <a:pPr indent="0" marL="0">
              <a:lnSpc>
                <a:spcPts val="7600"/>
              </a:lnSpc>
              <a:buNone/>
            </a:pPr>
            <a:r>
              <a:rPr lang="en-US" sz="6800" b="1" dirty="0">
                <a:solidFill>
                  <a:srgbClr val="FFFFFF"/>
                </a:solidFill>
                <a:latin typeface="Cambria" pitchFamily="34" charset="0"/>
                <a:ea typeface="Cambria" pitchFamily="34" charset="-122"/>
                <a:cs typeface="Cambria" pitchFamily="34" charset="-120"/>
              </a:rPr>
              <a:t>Tasarımı</a:t>
            </a:r>
            <a:endParaRPr lang="en-US" sz="6800" dirty="0"/>
          </a:p>
        </p:txBody>
      </p:sp>
      <p:sp>
        <p:nvSpPr>
          <p:cNvPr id="3" name="Text 1"/>
          <p:cNvSpPr txBox="1"/>
          <p:nvPr/>
        </p:nvSpPr>
        <p:spPr>
          <a:xfrm>
            <a:off x="777240" y="3977640"/>
            <a:ext cx="9601200" cy="502920"/>
          </a:xfrm>
          <a:prstGeom prst="rect">
            <a:avLst/>
          </a:prstGeom>
          <a:noFill/>
          <a:ln/>
        </p:spPr>
        <p:txBody>
          <a:bodyPr wrap="square" lIns="0" tIns="0" rIns="0" bIns="0" rtlCol="0" anchor="ctr"/>
          <a:lstStyle/>
          <a:p>
            <a:pPr indent="0" marL="0">
              <a:buNone/>
            </a:pPr>
            <a:r>
              <a:rPr lang="en-US" sz="2400" dirty="0">
                <a:solidFill>
                  <a:srgbClr val="8C3A2B"/>
                </a:solidFill>
                <a:latin typeface="Cambria" pitchFamily="34" charset="0"/>
                <a:ea typeface="Cambria" pitchFamily="34" charset="-122"/>
                <a:cs typeface="Cambria" pitchFamily="34" charset="-120"/>
              </a:rPr>
              <a:t>Mekân, marka ve duyular üzerine teorik bir giriş</a:t>
            </a:r>
            <a:endParaRPr lang="en-US" sz="2400" dirty="0"/>
          </a:p>
        </p:txBody>
      </p:sp>
      <p:sp>
        <p:nvSpPr>
          <p:cNvPr id="4" name="Text 2"/>
          <p:cNvSpPr txBox="1"/>
          <p:nvPr/>
        </p:nvSpPr>
        <p:spPr>
          <a:xfrm>
            <a:off x="777240" y="4892040"/>
            <a:ext cx="9601200" cy="365760"/>
          </a:xfrm>
          <a:prstGeom prst="rect">
            <a:avLst/>
          </a:prstGeom>
          <a:noFill/>
          <a:ln/>
        </p:spPr>
        <p:txBody>
          <a:bodyPr wrap="square" lIns="0" tIns="0" rIns="0" bIns="0" rtlCol="0" anchor="ctr"/>
          <a:lstStyle/>
          <a:p>
            <a:pPr indent="0" marL="0">
              <a:buNone/>
            </a:pPr>
            <a:r>
              <a:rPr lang="en-US" sz="1300" spc="160" kern="0" dirty="0">
                <a:solidFill>
                  <a:srgbClr val="B9B9C0"/>
                </a:solidFill>
                <a:latin typeface="Calibri" pitchFamily="34" charset="0"/>
                <a:ea typeface="Calibri" pitchFamily="34" charset="-122"/>
                <a:cs typeface="Calibri" pitchFamily="34" charset="-120"/>
              </a:rPr>
              <a:t>İç Mimarlık  ·  Proje Stüdyosu  ·  Teorik Ders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SUNUMUN KAPSAMI</a:t>
            </a:r>
            <a:endParaRPr lang="en-US" sz="950" dirty="0"/>
          </a:p>
        </p:txBody>
      </p:sp>
      <p:sp>
        <p:nvSpPr>
          <p:cNvPr id="3" name="Text 1"/>
          <p:cNvSpPr txBox="1"/>
          <p:nvPr/>
        </p:nvSpPr>
        <p:spPr>
          <a:xfrm>
            <a:off x="777240" y="822960"/>
            <a:ext cx="10241280" cy="548640"/>
          </a:xfrm>
          <a:prstGeom prst="rect">
            <a:avLst/>
          </a:prstGeom>
          <a:noFill/>
          <a:ln/>
        </p:spPr>
        <p:txBody>
          <a:bodyPr wrap="square" lIns="0" tIns="0" rIns="0" bIns="0" rtlCol="0" anchor="ctr"/>
          <a:lstStyle/>
          <a:p>
            <a:pPr indent="0" marL="0">
              <a:buNone/>
            </a:pPr>
            <a:r>
              <a:rPr lang="en-US" sz="2900" b="1" dirty="0">
                <a:solidFill>
                  <a:srgbClr val="16161A"/>
                </a:solidFill>
                <a:latin typeface="Cambria" pitchFamily="34" charset="0"/>
                <a:ea typeface="Cambria" pitchFamily="34" charset="-122"/>
                <a:cs typeface="Cambria" pitchFamily="34" charset="-120"/>
              </a:rPr>
              <a:t>On bir bölüm</a:t>
            </a:r>
            <a:endParaRPr lang="en-US" sz="2900" dirty="0"/>
          </a:p>
        </p:txBody>
      </p:sp>
      <p:sp>
        <p:nvSpPr>
          <p:cNvPr id="4" name="Text 2"/>
          <p:cNvSpPr txBox="1"/>
          <p:nvPr/>
        </p:nvSpPr>
        <p:spPr>
          <a:xfrm>
            <a:off x="777240" y="1572768"/>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I</a:t>
            </a:r>
            <a:endParaRPr lang="en-US" sz="1600" dirty="0"/>
          </a:p>
        </p:txBody>
      </p:sp>
      <p:sp>
        <p:nvSpPr>
          <p:cNvPr id="5" name="Text 3"/>
          <p:cNvSpPr txBox="1"/>
          <p:nvPr/>
        </p:nvSpPr>
        <p:spPr>
          <a:xfrm>
            <a:off x="1645920" y="1572768"/>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Mağaza tasarımı nedir?</a:t>
            </a:r>
            <a:endParaRPr lang="en-US" sz="1600" dirty="0"/>
          </a:p>
        </p:txBody>
      </p:sp>
      <p:sp>
        <p:nvSpPr>
          <p:cNvPr id="6" name="Text 4"/>
          <p:cNvSpPr txBox="1"/>
          <p:nvPr/>
        </p:nvSpPr>
        <p:spPr>
          <a:xfrm>
            <a:off x="777240" y="2002536"/>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II</a:t>
            </a:r>
            <a:endParaRPr lang="en-US" sz="1600" dirty="0"/>
          </a:p>
        </p:txBody>
      </p:sp>
      <p:sp>
        <p:nvSpPr>
          <p:cNvPr id="7" name="Text 5"/>
          <p:cNvSpPr txBox="1"/>
          <p:nvPr/>
        </p:nvSpPr>
        <p:spPr>
          <a:xfrm>
            <a:off x="1645920" y="2002536"/>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Atmosfer</a:t>
            </a:r>
            <a:endParaRPr lang="en-US" sz="1600" dirty="0"/>
          </a:p>
        </p:txBody>
      </p:sp>
      <p:sp>
        <p:nvSpPr>
          <p:cNvPr id="8" name="Text 6"/>
          <p:cNvSpPr txBox="1"/>
          <p:nvPr/>
        </p:nvSpPr>
        <p:spPr>
          <a:xfrm>
            <a:off x="777240" y="2432304"/>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III</a:t>
            </a:r>
            <a:endParaRPr lang="en-US" sz="1600" dirty="0"/>
          </a:p>
        </p:txBody>
      </p:sp>
      <p:sp>
        <p:nvSpPr>
          <p:cNvPr id="9" name="Text 7"/>
          <p:cNvSpPr txBox="1"/>
          <p:nvPr/>
        </p:nvSpPr>
        <p:spPr>
          <a:xfrm>
            <a:off x="1645920" y="2432304"/>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Marka ve mekân</a:t>
            </a:r>
            <a:endParaRPr lang="en-US" sz="1600" dirty="0"/>
          </a:p>
        </p:txBody>
      </p:sp>
      <p:sp>
        <p:nvSpPr>
          <p:cNvPr id="10" name="Text 8"/>
          <p:cNvSpPr txBox="1"/>
          <p:nvPr/>
        </p:nvSpPr>
        <p:spPr>
          <a:xfrm>
            <a:off x="777240" y="2862072"/>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IV</a:t>
            </a:r>
            <a:endParaRPr lang="en-US" sz="1600" dirty="0"/>
          </a:p>
        </p:txBody>
      </p:sp>
      <p:sp>
        <p:nvSpPr>
          <p:cNvPr id="11" name="Text 9"/>
          <p:cNvSpPr txBox="1"/>
          <p:nvPr/>
        </p:nvSpPr>
        <p:spPr>
          <a:xfrm>
            <a:off x="1645920" y="2862072"/>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Dışarıdan içeriye: cephe, vitrin, eşik</a:t>
            </a:r>
            <a:endParaRPr lang="en-US" sz="1600" dirty="0"/>
          </a:p>
        </p:txBody>
      </p:sp>
      <p:sp>
        <p:nvSpPr>
          <p:cNvPr id="12" name="Text 10"/>
          <p:cNvSpPr txBox="1"/>
          <p:nvPr/>
        </p:nvSpPr>
        <p:spPr>
          <a:xfrm>
            <a:off x="777240" y="3291840"/>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V</a:t>
            </a:r>
            <a:endParaRPr lang="en-US" sz="1600" dirty="0"/>
          </a:p>
        </p:txBody>
      </p:sp>
      <p:sp>
        <p:nvSpPr>
          <p:cNvPr id="13" name="Text 11"/>
          <p:cNvSpPr txBox="1"/>
          <p:nvPr/>
        </p:nvSpPr>
        <p:spPr>
          <a:xfrm>
            <a:off x="1645920" y="3291840"/>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Mağazanın içi: işlevler ve yerleşim</a:t>
            </a:r>
            <a:endParaRPr lang="en-US" sz="1600" dirty="0"/>
          </a:p>
        </p:txBody>
      </p:sp>
      <p:sp>
        <p:nvSpPr>
          <p:cNvPr id="14" name="Text 12"/>
          <p:cNvSpPr txBox="1"/>
          <p:nvPr/>
        </p:nvSpPr>
        <p:spPr>
          <a:xfrm>
            <a:off x="777240" y="3721608"/>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VI</a:t>
            </a:r>
            <a:endParaRPr lang="en-US" sz="1600" dirty="0"/>
          </a:p>
        </p:txBody>
      </p:sp>
      <p:sp>
        <p:nvSpPr>
          <p:cNvPr id="15" name="Text 13"/>
          <p:cNvSpPr txBox="1"/>
          <p:nvPr/>
        </p:nvSpPr>
        <p:spPr>
          <a:xfrm>
            <a:off x="1645920" y="3721608"/>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Akış ve yönlendirme</a:t>
            </a:r>
            <a:endParaRPr lang="en-US" sz="1600" dirty="0"/>
          </a:p>
        </p:txBody>
      </p:sp>
      <p:sp>
        <p:nvSpPr>
          <p:cNvPr id="16" name="Text 14"/>
          <p:cNvSpPr txBox="1"/>
          <p:nvPr/>
        </p:nvSpPr>
        <p:spPr>
          <a:xfrm>
            <a:off x="777240" y="4151376"/>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VII</a:t>
            </a:r>
            <a:endParaRPr lang="en-US" sz="1600" dirty="0"/>
          </a:p>
        </p:txBody>
      </p:sp>
      <p:sp>
        <p:nvSpPr>
          <p:cNvPr id="17" name="Text 15"/>
          <p:cNvSpPr txBox="1"/>
          <p:nvPr/>
        </p:nvSpPr>
        <p:spPr>
          <a:xfrm>
            <a:off x="1645920" y="4151376"/>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Duyular</a:t>
            </a:r>
            <a:endParaRPr lang="en-US" sz="1600" dirty="0"/>
          </a:p>
        </p:txBody>
      </p:sp>
      <p:sp>
        <p:nvSpPr>
          <p:cNvPr id="18" name="Text 16"/>
          <p:cNvSpPr txBox="1"/>
          <p:nvPr/>
        </p:nvSpPr>
        <p:spPr>
          <a:xfrm>
            <a:off x="777240" y="4581144"/>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VIII</a:t>
            </a:r>
            <a:endParaRPr lang="en-US" sz="1600" dirty="0"/>
          </a:p>
        </p:txBody>
      </p:sp>
      <p:sp>
        <p:nvSpPr>
          <p:cNvPr id="19" name="Text 17"/>
          <p:cNvSpPr txBox="1"/>
          <p:nvPr/>
        </p:nvSpPr>
        <p:spPr>
          <a:xfrm>
            <a:off x="1645920" y="4581144"/>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Işık ve malzeme</a:t>
            </a:r>
            <a:endParaRPr lang="en-US" sz="1600" dirty="0"/>
          </a:p>
        </p:txBody>
      </p:sp>
      <p:sp>
        <p:nvSpPr>
          <p:cNvPr id="20" name="Text 18"/>
          <p:cNvSpPr txBox="1"/>
          <p:nvPr/>
        </p:nvSpPr>
        <p:spPr>
          <a:xfrm>
            <a:off x="777240" y="5010912"/>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IX</a:t>
            </a:r>
            <a:endParaRPr lang="en-US" sz="1600" dirty="0"/>
          </a:p>
        </p:txBody>
      </p:sp>
      <p:sp>
        <p:nvSpPr>
          <p:cNvPr id="21" name="Text 19"/>
          <p:cNvSpPr txBox="1"/>
          <p:nvPr/>
        </p:nvSpPr>
        <p:spPr>
          <a:xfrm>
            <a:off x="1645920" y="5010912"/>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Teknoloji</a:t>
            </a:r>
            <a:endParaRPr lang="en-US" sz="1600" dirty="0"/>
          </a:p>
        </p:txBody>
      </p:sp>
      <p:sp>
        <p:nvSpPr>
          <p:cNvPr id="22" name="Text 20"/>
          <p:cNvSpPr txBox="1"/>
          <p:nvPr/>
        </p:nvSpPr>
        <p:spPr>
          <a:xfrm>
            <a:off x="777240" y="5440680"/>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X</a:t>
            </a:r>
            <a:endParaRPr lang="en-US" sz="1600" dirty="0"/>
          </a:p>
        </p:txBody>
      </p:sp>
      <p:sp>
        <p:nvSpPr>
          <p:cNvPr id="23" name="Text 21"/>
          <p:cNvSpPr txBox="1"/>
          <p:nvPr/>
        </p:nvSpPr>
        <p:spPr>
          <a:xfrm>
            <a:off x="1645920" y="5440680"/>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Herkes için mağaza</a:t>
            </a:r>
            <a:endParaRPr lang="en-US" sz="1600" dirty="0"/>
          </a:p>
        </p:txBody>
      </p:sp>
      <p:sp>
        <p:nvSpPr>
          <p:cNvPr id="24" name="Text 22"/>
          <p:cNvSpPr txBox="1"/>
          <p:nvPr/>
        </p:nvSpPr>
        <p:spPr>
          <a:xfrm>
            <a:off x="777240" y="5870448"/>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XI</a:t>
            </a:r>
            <a:endParaRPr lang="en-US" sz="1600" dirty="0"/>
          </a:p>
        </p:txBody>
      </p:sp>
      <p:sp>
        <p:nvSpPr>
          <p:cNvPr id="25" name="Text 23"/>
          <p:cNvSpPr txBox="1"/>
          <p:nvPr/>
        </p:nvSpPr>
        <p:spPr>
          <a:xfrm>
            <a:off x="1645920" y="5870448"/>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Örnekler</a:t>
            </a:r>
            <a:endParaRPr lang="en-US" sz="1600" dirty="0"/>
          </a:p>
        </p:txBody>
      </p:sp>
      <p:sp>
        <p:nvSpPr>
          <p:cNvPr id="26" name="Text 24"/>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I</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Mağaza tasarımı nedir?</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Bir mekân tipi olarak mağaza ne yapar?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 · MAĞAZA TASARIMI NEDİR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Mağaza aynı anda dört iş yapar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a:t>
            </a:r>
            <a:endParaRPr lang="en-US" sz="950" dirty="0"/>
          </a:p>
        </p:txBody>
      </p:sp>
      <p:sp>
        <p:nvSpPr>
          <p:cNvPr id="5" name="Text 3"/>
          <p:cNvSpPr txBox="1"/>
          <p:nvPr/>
        </p:nvSpPr>
        <p:spPr>
          <a:xfrm>
            <a:off x="777240" y="1627632"/>
            <a:ext cx="10634472" cy="77724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Mağaza tasarımı, ürünlerin sunulduğu mekânın tasarlanmasıdır. Ancak mağaza yalnızca ürünün durduğu yer değil, markanın kendini üç boyutlu anlattığı yerdir (Mesher, 2010). Bu dört iş aynı anda çözülmek zorundadır.</a:t>
            </a:r>
            <a:endParaRPr lang="en-US" sz="1500" dirty="0"/>
          </a:p>
        </p:txBody>
      </p:sp>
      <p:sp>
        <p:nvSpPr>
          <p:cNvPr id="6" name="Shape 4"/>
          <p:cNvSpPr/>
          <p:nvPr/>
        </p:nvSpPr>
        <p:spPr>
          <a:xfrm>
            <a:off x="777240" y="2697480"/>
            <a:ext cx="2487168" cy="2148840"/>
          </a:xfrm>
          <a:prstGeom prst="rect">
            <a:avLst/>
          </a:prstGeom>
          <a:ln w="9525">
            <a:solidFill>
              <a:srgbClr val="C9C9CF"/>
            </a:solidFill>
            <a:prstDash val="solid"/>
          </a:ln>
        </p:spPr>
      </p:sp>
      <p:sp>
        <p:nvSpPr>
          <p:cNvPr id="7" name="Text 5"/>
          <p:cNvSpPr txBox="1"/>
          <p:nvPr/>
        </p:nvSpPr>
        <p:spPr>
          <a:xfrm>
            <a:off x="978408" y="2862072"/>
            <a:ext cx="548640" cy="411480"/>
          </a:xfrm>
          <a:prstGeom prst="rect">
            <a:avLst/>
          </a:prstGeom>
          <a:noFill/>
          <a:ln/>
        </p:spPr>
        <p:txBody>
          <a:bodyPr wrap="square" lIns="0" tIns="0" rIns="0" bIns="0" rtlCol="0" anchor="ctr"/>
          <a:lstStyle/>
          <a:p>
            <a:pPr indent="0" marL="0">
              <a:buNone/>
            </a:pPr>
            <a:r>
              <a:rPr lang="en-US" sz="2600" b="1" dirty="0">
                <a:solidFill>
                  <a:srgbClr val="A6A6AC"/>
                </a:solidFill>
                <a:latin typeface="Cambria" pitchFamily="34" charset="0"/>
                <a:ea typeface="Cambria" pitchFamily="34" charset="-122"/>
                <a:cs typeface="Cambria" pitchFamily="34" charset="-120"/>
              </a:rPr>
              <a:t>1</a:t>
            </a:r>
            <a:endParaRPr lang="en-US" sz="2600" dirty="0"/>
          </a:p>
        </p:txBody>
      </p:sp>
      <p:sp>
        <p:nvSpPr>
          <p:cNvPr id="8" name="Text 6"/>
          <p:cNvSpPr txBox="1"/>
          <p:nvPr/>
        </p:nvSpPr>
        <p:spPr>
          <a:xfrm>
            <a:off x="978408" y="3355848"/>
            <a:ext cx="2084832" cy="457200"/>
          </a:xfrm>
          <a:prstGeom prst="rect">
            <a:avLst/>
          </a:prstGeom>
          <a:noFill/>
          <a:ln/>
        </p:spPr>
        <p:txBody>
          <a:bodyPr wrap="square" lIns="0" tIns="0" rIns="0" bIns="0" rtlCol="0" anchor="ctr"/>
          <a:lstStyle/>
          <a:p>
            <a:pPr indent="0" marL="0">
              <a:buNone/>
            </a:pPr>
            <a:r>
              <a:rPr lang="en-US" sz="1050" b="1" spc="120" kern="0" dirty="0">
                <a:solidFill>
                  <a:srgbClr val="16161A"/>
                </a:solidFill>
                <a:latin typeface="Calibri" pitchFamily="34" charset="0"/>
                <a:ea typeface="Calibri" pitchFamily="34" charset="-122"/>
                <a:cs typeface="Calibri" pitchFamily="34" charset="-120"/>
              </a:rPr>
              <a:t>ÜRÜNÜ SUNAR</a:t>
            </a:r>
            <a:endParaRPr lang="en-US" sz="1050" dirty="0"/>
          </a:p>
        </p:txBody>
      </p:sp>
      <p:sp>
        <p:nvSpPr>
          <p:cNvPr id="9" name="Text 7"/>
          <p:cNvSpPr txBox="1"/>
          <p:nvPr/>
        </p:nvSpPr>
        <p:spPr>
          <a:xfrm>
            <a:off x="978408" y="3831336"/>
            <a:ext cx="2084832"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Ürün görünür, ulaşılabilir</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ve anlaşılır olmalı.</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Raf yüksekliği, ışık, ölçü.</a:t>
            </a:r>
            <a:endParaRPr lang="en-US" sz="1050" dirty="0"/>
          </a:p>
        </p:txBody>
      </p:sp>
      <p:sp>
        <p:nvSpPr>
          <p:cNvPr id="10" name="Shape 8"/>
          <p:cNvSpPr/>
          <p:nvPr/>
        </p:nvSpPr>
        <p:spPr>
          <a:xfrm>
            <a:off x="3493008" y="2697480"/>
            <a:ext cx="2487168" cy="2148840"/>
          </a:xfrm>
          <a:prstGeom prst="rect">
            <a:avLst/>
          </a:prstGeom>
          <a:ln w="9525">
            <a:solidFill>
              <a:srgbClr val="C9C9CF"/>
            </a:solidFill>
            <a:prstDash val="solid"/>
          </a:ln>
        </p:spPr>
      </p:sp>
      <p:sp>
        <p:nvSpPr>
          <p:cNvPr id="11" name="Text 9"/>
          <p:cNvSpPr txBox="1"/>
          <p:nvPr/>
        </p:nvSpPr>
        <p:spPr>
          <a:xfrm>
            <a:off x="3694176" y="2862072"/>
            <a:ext cx="548640" cy="411480"/>
          </a:xfrm>
          <a:prstGeom prst="rect">
            <a:avLst/>
          </a:prstGeom>
          <a:noFill/>
          <a:ln/>
        </p:spPr>
        <p:txBody>
          <a:bodyPr wrap="square" lIns="0" tIns="0" rIns="0" bIns="0" rtlCol="0" anchor="ctr"/>
          <a:lstStyle/>
          <a:p>
            <a:pPr indent="0" marL="0">
              <a:buNone/>
            </a:pPr>
            <a:r>
              <a:rPr lang="en-US" sz="2600" b="1" dirty="0">
                <a:solidFill>
                  <a:srgbClr val="A6A6AC"/>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3694176" y="3355848"/>
            <a:ext cx="2084832" cy="457200"/>
          </a:xfrm>
          <a:prstGeom prst="rect">
            <a:avLst/>
          </a:prstGeom>
          <a:noFill/>
          <a:ln/>
        </p:spPr>
        <p:txBody>
          <a:bodyPr wrap="square" lIns="0" tIns="0" rIns="0" bIns="0" rtlCol="0" anchor="ctr"/>
          <a:lstStyle/>
          <a:p>
            <a:pPr indent="0" marL="0">
              <a:buNone/>
            </a:pPr>
            <a:r>
              <a:rPr lang="en-US" sz="1050" b="1" spc="120" kern="0" dirty="0">
                <a:solidFill>
                  <a:srgbClr val="16161A"/>
                </a:solidFill>
                <a:latin typeface="Calibri" pitchFamily="34" charset="0"/>
                <a:ea typeface="Calibri" pitchFamily="34" charset="-122"/>
                <a:cs typeface="Calibri" pitchFamily="34" charset="-120"/>
              </a:rPr>
              <a:t>YÖNLENDİRİR</a:t>
            </a:r>
            <a:endParaRPr lang="en-US" sz="1050" dirty="0"/>
          </a:p>
        </p:txBody>
      </p:sp>
      <p:sp>
        <p:nvSpPr>
          <p:cNvPr id="13" name="Text 11"/>
          <p:cNvSpPr txBox="1"/>
          <p:nvPr/>
        </p:nvSpPr>
        <p:spPr>
          <a:xfrm>
            <a:off x="3694176" y="3831336"/>
            <a:ext cx="2084832"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İnsan nereye gideceğini</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düşünmemeli. İyi mağaza</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tabelayla değil kurguyla</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yönlendirir.</a:t>
            </a:r>
            <a:endParaRPr lang="en-US" sz="1050" dirty="0"/>
          </a:p>
        </p:txBody>
      </p:sp>
      <p:sp>
        <p:nvSpPr>
          <p:cNvPr id="14" name="Shape 12"/>
          <p:cNvSpPr/>
          <p:nvPr/>
        </p:nvSpPr>
        <p:spPr>
          <a:xfrm>
            <a:off x="6208776" y="2697480"/>
            <a:ext cx="2487168" cy="2148840"/>
          </a:xfrm>
          <a:prstGeom prst="rect">
            <a:avLst/>
          </a:prstGeom>
          <a:ln w="9525">
            <a:solidFill>
              <a:srgbClr val="C9C9CF"/>
            </a:solidFill>
            <a:prstDash val="solid"/>
          </a:ln>
        </p:spPr>
      </p:sp>
      <p:sp>
        <p:nvSpPr>
          <p:cNvPr id="15" name="Text 13"/>
          <p:cNvSpPr txBox="1"/>
          <p:nvPr/>
        </p:nvSpPr>
        <p:spPr>
          <a:xfrm>
            <a:off x="6409944" y="2862072"/>
            <a:ext cx="548640" cy="411480"/>
          </a:xfrm>
          <a:prstGeom prst="rect">
            <a:avLst/>
          </a:prstGeom>
          <a:noFill/>
          <a:ln/>
        </p:spPr>
        <p:txBody>
          <a:bodyPr wrap="square" lIns="0" tIns="0" rIns="0" bIns="0" rtlCol="0" anchor="ctr"/>
          <a:lstStyle/>
          <a:p>
            <a:pPr indent="0" marL="0">
              <a:buNone/>
            </a:pPr>
            <a:r>
              <a:rPr lang="en-US" sz="2600" b="1" dirty="0">
                <a:solidFill>
                  <a:srgbClr val="A6A6AC"/>
                </a:solidFill>
                <a:latin typeface="Cambria" pitchFamily="34" charset="0"/>
                <a:ea typeface="Cambria" pitchFamily="34" charset="-122"/>
                <a:cs typeface="Cambria" pitchFamily="34" charset="-120"/>
              </a:rPr>
              <a:t>3</a:t>
            </a:r>
            <a:endParaRPr lang="en-US" sz="2600" dirty="0"/>
          </a:p>
        </p:txBody>
      </p:sp>
      <p:sp>
        <p:nvSpPr>
          <p:cNvPr id="16" name="Text 14"/>
          <p:cNvSpPr txBox="1"/>
          <p:nvPr/>
        </p:nvSpPr>
        <p:spPr>
          <a:xfrm>
            <a:off x="6409944" y="3355848"/>
            <a:ext cx="2084832" cy="457200"/>
          </a:xfrm>
          <a:prstGeom prst="rect">
            <a:avLst/>
          </a:prstGeom>
          <a:noFill/>
          <a:ln/>
        </p:spPr>
        <p:txBody>
          <a:bodyPr wrap="square" lIns="0" tIns="0" rIns="0" bIns="0" rtlCol="0" anchor="ctr"/>
          <a:lstStyle/>
          <a:p>
            <a:pPr indent="0" marL="0">
              <a:buNone/>
            </a:pPr>
            <a:r>
              <a:rPr lang="en-US" sz="1050" b="1" spc="120" kern="0" dirty="0">
                <a:solidFill>
                  <a:srgbClr val="16161A"/>
                </a:solidFill>
                <a:latin typeface="Calibri" pitchFamily="34" charset="0"/>
                <a:ea typeface="Calibri" pitchFamily="34" charset="-122"/>
                <a:cs typeface="Calibri" pitchFamily="34" charset="-120"/>
              </a:rPr>
              <a:t>ATMOSFER ÜRETİR</a:t>
            </a:r>
            <a:endParaRPr lang="en-US" sz="1050" dirty="0"/>
          </a:p>
        </p:txBody>
      </p:sp>
      <p:sp>
        <p:nvSpPr>
          <p:cNvPr id="17" name="Text 15"/>
          <p:cNvSpPr txBox="1"/>
          <p:nvPr/>
        </p:nvSpPr>
        <p:spPr>
          <a:xfrm>
            <a:off x="6409944" y="3831336"/>
            <a:ext cx="2084832"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Işık, malzeme, ses ve koku</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bir duygu durumu yaratır;</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bu, karara etki eder.</a:t>
            </a:r>
            <a:endParaRPr lang="en-US" sz="1050" dirty="0"/>
          </a:p>
        </p:txBody>
      </p:sp>
      <p:sp>
        <p:nvSpPr>
          <p:cNvPr id="18" name="Shape 16"/>
          <p:cNvSpPr/>
          <p:nvPr/>
        </p:nvSpPr>
        <p:spPr>
          <a:xfrm>
            <a:off x="8924544" y="2697480"/>
            <a:ext cx="2487168" cy="2148840"/>
          </a:xfrm>
          <a:prstGeom prst="rect">
            <a:avLst/>
          </a:prstGeom>
          <a:solidFill>
            <a:srgbClr val="F6EAE6"/>
          </a:solidFill>
          <a:ln w="15875">
            <a:solidFill>
              <a:srgbClr val="8C3A2B"/>
            </a:solidFill>
            <a:prstDash val="solid"/>
          </a:ln>
        </p:spPr>
      </p:sp>
      <p:sp>
        <p:nvSpPr>
          <p:cNvPr id="19" name="Text 17"/>
          <p:cNvSpPr txBox="1"/>
          <p:nvPr/>
        </p:nvSpPr>
        <p:spPr>
          <a:xfrm>
            <a:off x="9125712" y="2862072"/>
            <a:ext cx="548640" cy="411480"/>
          </a:xfrm>
          <a:prstGeom prst="rect">
            <a:avLst/>
          </a:prstGeom>
          <a:noFill/>
          <a:ln/>
        </p:spPr>
        <p:txBody>
          <a:bodyPr wrap="square" lIns="0" tIns="0" rIns="0" bIns="0" rtlCol="0" anchor="ctr"/>
          <a:lstStyle/>
          <a:p>
            <a:pPr indent="0" marL="0">
              <a:buNone/>
            </a:pPr>
            <a:r>
              <a:rPr lang="en-US" sz="2600" b="1" dirty="0">
                <a:solidFill>
                  <a:srgbClr val="8C3A2B"/>
                </a:solidFill>
                <a:latin typeface="Cambria" pitchFamily="34" charset="0"/>
                <a:ea typeface="Cambria" pitchFamily="34" charset="-122"/>
                <a:cs typeface="Cambria" pitchFamily="34" charset="-120"/>
              </a:rPr>
              <a:t>4</a:t>
            </a:r>
            <a:endParaRPr lang="en-US" sz="2600" dirty="0"/>
          </a:p>
        </p:txBody>
      </p:sp>
      <p:sp>
        <p:nvSpPr>
          <p:cNvPr id="20" name="Text 18"/>
          <p:cNvSpPr txBox="1"/>
          <p:nvPr/>
        </p:nvSpPr>
        <p:spPr>
          <a:xfrm>
            <a:off x="9125712" y="3355848"/>
            <a:ext cx="2084832" cy="457200"/>
          </a:xfrm>
          <a:prstGeom prst="rect">
            <a:avLst/>
          </a:prstGeom>
          <a:noFill/>
          <a:ln/>
        </p:spPr>
        <p:txBody>
          <a:bodyPr wrap="square" lIns="0" tIns="0" rIns="0" bIns="0" rtlCol="0" anchor="ctr"/>
          <a:lstStyle/>
          <a:p>
            <a:pPr indent="0" marL="0">
              <a:buNone/>
            </a:pPr>
            <a:r>
              <a:rPr lang="en-US" sz="1050" b="1" spc="120" kern="0" dirty="0">
                <a:solidFill>
                  <a:srgbClr val="8C3A2B"/>
                </a:solidFill>
                <a:latin typeface="Calibri" pitchFamily="34" charset="0"/>
                <a:ea typeface="Calibri" pitchFamily="34" charset="-122"/>
                <a:cs typeface="Calibri" pitchFamily="34" charset="-120"/>
              </a:rPr>
              <a:t>İŞLETMEYİ BARINDIRIR</a:t>
            </a:r>
            <a:endParaRPr lang="en-US" sz="1050" dirty="0"/>
          </a:p>
        </p:txBody>
      </p:sp>
      <p:sp>
        <p:nvSpPr>
          <p:cNvPr id="21" name="Text 19"/>
          <p:cNvSpPr txBox="1"/>
          <p:nvPr/>
        </p:nvSpPr>
        <p:spPr>
          <a:xfrm>
            <a:off x="9125712" y="3831336"/>
            <a:ext cx="2084832"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Depo, kasa, personel ve</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mal kabul çözülmezse</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mağaza çalışmaz.</a:t>
            </a:r>
            <a:endParaRPr lang="en-US" sz="1050" dirty="0"/>
          </a:p>
        </p:txBody>
      </p:sp>
      <p:sp>
        <p:nvSpPr>
          <p:cNvPr id="22" name="Text 20"/>
          <p:cNvSpPr txBox="1"/>
          <p:nvPr/>
        </p:nvSpPr>
        <p:spPr>
          <a:xfrm>
            <a:off x="777240" y="5074920"/>
            <a:ext cx="10424160" cy="365760"/>
          </a:xfrm>
          <a:prstGeom prst="rect">
            <a:avLst/>
          </a:prstGeom>
          <a:noFill/>
          <a:ln/>
        </p:spPr>
        <p:txBody>
          <a:bodyPr wrap="square" lIns="0" tIns="0" rIns="0" bIns="0" rtlCol="0" anchor="ctr"/>
          <a:lstStyle/>
          <a:p>
            <a:pPr algn="l" indent="0" marL="0">
              <a:lnSpc>
                <a:spcPts val="1200"/>
              </a:lnSpc>
              <a:buNone/>
            </a:pPr>
            <a:r>
              <a:rPr lang="en-US" sz="1300" i="1" dirty="0">
                <a:solidFill>
                  <a:srgbClr val="8C3A2B"/>
                </a:solidFill>
                <a:latin typeface="Cambria" pitchFamily="34" charset="0"/>
                <a:ea typeface="Cambria" pitchFamily="34" charset="-122"/>
                <a:cs typeface="Cambria" pitchFamily="34" charset="-120"/>
              </a:rPr>
              <a:t>Dördüncüsü en çok ihmal edilendir: bir mağaza sadece müşterinin gördüğü yer değildir.</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 · MAĞAZA TASARIMI NEDİR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Perakende tasarımının beş öğesi</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a:t>
            </a:r>
            <a:endParaRPr lang="en-US" sz="950" dirty="0"/>
          </a:p>
        </p:txBody>
      </p:sp>
      <p:sp>
        <p:nvSpPr>
          <p:cNvPr id="5" name="Text 3"/>
          <p:cNvSpPr txBox="1"/>
          <p:nvPr/>
        </p:nvSpPr>
        <p:spPr>
          <a:xfrm>
            <a:off x="777240" y="1591056"/>
            <a:ext cx="10634472" cy="91440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Bir mağaza tasarımı beş ayrı katmandan oluşur. Bunlar birbirinden bağımsız kararlar değildir; biri değiştiğinde diğerleri de değişir. Yine de tasarımı ele alırken bu beş başlığı ayrı ayrı sormak, hiçbirinin atlanmamasını sağlar.</a:t>
            </a:r>
            <a:endParaRPr lang="en-US" sz="1500" dirty="0"/>
          </a:p>
        </p:txBody>
      </p:sp>
      <p:sp>
        <p:nvSpPr>
          <p:cNvPr id="6" name="Shape 4"/>
          <p:cNvSpPr/>
          <p:nvPr/>
        </p:nvSpPr>
        <p:spPr>
          <a:xfrm>
            <a:off x="1417320" y="3886200"/>
            <a:ext cx="9372600" cy="0"/>
          </a:xfrm>
          <a:prstGeom prst="line">
            <a:avLst/>
          </a:prstGeom>
          <a:noFill/>
          <a:ln w="15875">
            <a:solidFill>
              <a:srgbClr val="C9C9CF"/>
            </a:solidFill>
            <a:prstDash val="solid"/>
          </a:ln>
        </p:spPr>
      </p:sp>
      <p:sp>
        <p:nvSpPr>
          <p:cNvPr id="7" name="Shape 5"/>
          <p:cNvSpPr/>
          <p:nvPr/>
        </p:nvSpPr>
        <p:spPr>
          <a:xfrm>
            <a:off x="1796796" y="3808476"/>
            <a:ext cx="155448" cy="155448"/>
          </a:xfrm>
          <a:prstGeom prst="ellipse">
            <a:avLst/>
          </a:prstGeom>
          <a:solidFill>
            <a:srgbClr val="8C3A2B"/>
          </a:solidFill>
          <a:ln w="12700">
            <a:solidFill>
              <a:srgbClr val="8C3A2B"/>
            </a:solidFill>
            <a:prstDash val="solid"/>
          </a:ln>
        </p:spPr>
      </p:sp>
      <p:sp>
        <p:nvSpPr>
          <p:cNvPr id="8" name="Shape 6"/>
          <p:cNvSpPr/>
          <p:nvPr/>
        </p:nvSpPr>
        <p:spPr>
          <a:xfrm flipV="1">
            <a:off x="1874520" y="3575304"/>
            <a:ext cx="0" cy="228600"/>
          </a:xfrm>
          <a:prstGeom prst="line">
            <a:avLst/>
          </a:prstGeom>
          <a:noFill/>
          <a:ln w="12700">
            <a:solidFill>
              <a:srgbClr val="C9C9CF"/>
            </a:solidFill>
            <a:prstDash val="solid"/>
          </a:ln>
        </p:spPr>
      </p:sp>
      <p:sp>
        <p:nvSpPr>
          <p:cNvPr id="9" name="Text 7"/>
          <p:cNvSpPr txBox="1"/>
          <p:nvPr/>
        </p:nvSpPr>
        <p:spPr>
          <a:xfrm>
            <a:off x="868680" y="2606040"/>
            <a:ext cx="2011680" cy="365760"/>
          </a:xfrm>
          <a:prstGeom prst="rect">
            <a:avLst/>
          </a:prstGeom>
          <a:noFill/>
          <a:ln/>
        </p:spPr>
        <p:txBody>
          <a:bodyPr wrap="square" lIns="0" tIns="0" rIns="0" bIns="0" rtlCol="0" anchor="b"/>
          <a:lstStyle/>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Cephe</a:t>
            </a:r>
            <a:endParaRPr lang="en-US" sz="1400" dirty="0"/>
          </a:p>
        </p:txBody>
      </p:sp>
      <p:sp>
        <p:nvSpPr>
          <p:cNvPr id="10" name="Text 8"/>
          <p:cNvSpPr txBox="1"/>
          <p:nvPr/>
        </p:nvSpPr>
        <p:spPr>
          <a:xfrm>
            <a:off x="868680" y="2953512"/>
            <a:ext cx="2011680" cy="603504"/>
          </a:xfrm>
          <a:prstGeom prst="rect">
            <a:avLst/>
          </a:prstGeom>
          <a:noFill/>
          <a:ln/>
        </p:spPr>
        <p:txBody>
          <a:bodyPr wrap="square" lIns="0" tIns="0" rIns="0" bIns="0" rtlCol="0" anchor="t"/>
          <a:lstStyle/>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Tabela, cephe düzeni ve vitrin — mağazanın sokağa söylediği</a:t>
            </a:r>
            <a:endParaRPr lang="en-US" sz="1000" dirty="0"/>
          </a:p>
        </p:txBody>
      </p:sp>
      <p:sp>
        <p:nvSpPr>
          <p:cNvPr id="11" name="Shape 9"/>
          <p:cNvSpPr/>
          <p:nvPr/>
        </p:nvSpPr>
        <p:spPr>
          <a:xfrm>
            <a:off x="3911346" y="3808476"/>
            <a:ext cx="155448" cy="155448"/>
          </a:xfrm>
          <a:prstGeom prst="ellipse">
            <a:avLst/>
          </a:prstGeom>
          <a:solidFill>
            <a:srgbClr val="8C3A2B"/>
          </a:solidFill>
          <a:ln w="12700">
            <a:solidFill>
              <a:srgbClr val="8C3A2B"/>
            </a:solidFill>
            <a:prstDash val="solid"/>
          </a:ln>
        </p:spPr>
      </p:sp>
      <p:sp>
        <p:nvSpPr>
          <p:cNvPr id="12" name="Shape 10"/>
          <p:cNvSpPr/>
          <p:nvPr/>
        </p:nvSpPr>
        <p:spPr>
          <a:xfrm>
            <a:off x="3989070" y="3968496"/>
            <a:ext cx="0" cy="228600"/>
          </a:xfrm>
          <a:prstGeom prst="line">
            <a:avLst/>
          </a:prstGeom>
          <a:noFill/>
          <a:ln w="12700">
            <a:solidFill>
              <a:srgbClr val="C9C9CF"/>
            </a:solidFill>
            <a:prstDash val="solid"/>
          </a:ln>
        </p:spPr>
      </p:sp>
      <p:sp>
        <p:nvSpPr>
          <p:cNvPr id="13" name="Text 11"/>
          <p:cNvSpPr txBox="1"/>
          <p:nvPr/>
        </p:nvSpPr>
        <p:spPr>
          <a:xfrm>
            <a:off x="2983230" y="4233672"/>
            <a:ext cx="2011680" cy="365760"/>
          </a:xfrm>
          <a:prstGeom prst="rect">
            <a:avLst/>
          </a:prstGeom>
          <a:noFill/>
          <a:ln/>
        </p:spPr>
        <p:txBody>
          <a:bodyPr wrap="square" lIns="0" tIns="0" rIns="0" bIns="0" rtlCol="0" anchor="t"/>
          <a:lstStyle/>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İç mekân öğeleri</a:t>
            </a:r>
            <a:endParaRPr lang="en-US" sz="1400" dirty="0"/>
          </a:p>
        </p:txBody>
      </p:sp>
      <p:sp>
        <p:nvSpPr>
          <p:cNvPr id="14" name="Text 12"/>
          <p:cNvSpPr txBox="1"/>
          <p:nvPr/>
        </p:nvSpPr>
        <p:spPr>
          <a:xfrm>
            <a:off x="2983230" y="4599432"/>
            <a:ext cx="2011680" cy="603504"/>
          </a:xfrm>
          <a:prstGeom prst="rect">
            <a:avLst/>
          </a:prstGeom>
          <a:noFill/>
          <a:ln/>
        </p:spPr>
        <p:txBody>
          <a:bodyPr wrap="square" lIns="0" tIns="0" rIns="0" bIns="0" rtlCol="0" anchor="t"/>
          <a:lstStyle/>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Mekânsal planlama, bölgeler, genel tasarım dili</a:t>
            </a:r>
            <a:endParaRPr lang="en-US" sz="1000" dirty="0"/>
          </a:p>
        </p:txBody>
      </p:sp>
      <p:sp>
        <p:nvSpPr>
          <p:cNvPr id="15" name="Shape 13"/>
          <p:cNvSpPr/>
          <p:nvPr/>
        </p:nvSpPr>
        <p:spPr>
          <a:xfrm>
            <a:off x="6025896" y="3808476"/>
            <a:ext cx="155448" cy="155448"/>
          </a:xfrm>
          <a:prstGeom prst="ellipse">
            <a:avLst/>
          </a:prstGeom>
          <a:solidFill>
            <a:srgbClr val="8C3A2B"/>
          </a:solidFill>
          <a:ln w="12700">
            <a:solidFill>
              <a:srgbClr val="8C3A2B"/>
            </a:solidFill>
            <a:prstDash val="solid"/>
          </a:ln>
        </p:spPr>
      </p:sp>
      <p:sp>
        <p:nvSpPr>
          <p:cNvPr id="16" name="Shape 14"/>
          <p:cNvSpPr/>
          <p:nvPr/>
        </p:nvSpPr>
        <p:spPr>
          <a:xfrm flipV="1">
            <a:off x="6103620" y="3575304"/>
            <a:ext cx="0" cy="228600"/>
          </a:xfrm>
          <a:prstGeom prst="line">
            <a:avLst/>
          </a:prstGeom>
          <a:noFill/>
          <a:ln w="12700">
            <a:solidFill>
              <a:srgbClr val="C9C9CF"/>
            </a:solidFill>
            <a:prstDash val="solid"/>
          </a:ln>
        </p:spPr>
      </p:sp>
      <p:sp>
        <p:nvSpPr>
          <p:cNvPr id="17" name="Text 15"/>
          <p:cNvSpPr txBox="1"/>
          <p:nvPr/>
        </p:nvSpPr>
        <p:spPr>
          <a:xfrm>
            <a:off x="5097780" y="2606040"/>
            <a:ext cx="2011680" cy="365760"/>
          </a:xfrm>
          <a:prstGeom prst="rect">
            <a:avLst/>
          </a:prstGeom>
          <a:noFill/>
          <a:ln/>
        </p:spPr>
        <p:txBody>
          <a:bodyPr wrap="square" lIns="0" tIns="0" rIns="0" bIns="0" rtlCol="0" anchor="b"/>
          <a:lstStyle/>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Teşhir</a:t>
            </a:r>
            <a:endParaRPr lang="en-US" sz="1400" dirty="0"/>
          </a:p>
        </p:txBody>
      </p:sp>
      <p:sp>
        <p:nvSpPr>
          <p:cNvPr id="18" name="Text 16"/>
          <p:cNvSpPr txBox="1"/>
          <p:nvPr/>
        </p:nvSpPr>
        <p:spPr>
          <a:xfrm>
            <a:off x="5097780" y="2953512"/>
            <a:ext cx="2011680" cy="603504"/>
          </a:xfrm>
          <a:prstGeom prst="rect">
            <a:avLst/>
          </a:prstGeom>
          <a:noFill/>
          <a:ln/>
        </p:spPr>
        <p:txBody>
          <a:bodyPr wrap="square" lIns="0" tIns="0" rIns="0" bIns="0" rtlCol="0" anchor="t"/>
          <a:lstStyle/>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Ürün teşhiri ve görsel düzenleme stratejisi</a:t>
            </a:r>
            <a:endParaRPr lang="en-US" sz="1000" dirty="0"/>
          </a:p>
        </p:txBody>
      </p:sp>
      <p:sp>
        <p:nvSpPr>
          <p:cNvPr id="19" name="Shape 17"/>
          <p:cNvSpPr/>
          <p:nvPr/>
        </p:nvSpPr>
        <p:spPr>
          <a:xfrm>
            <a:off x="8140446" y="3808476"/>
            <a:ext cx="155448" cy="155448"/>
          </a:xfrm>
          <a:prstGeom prst="ellipse">
            <a:avLst/>
          </a:prstGeom>
          <a:solidFill>
            <a:srgbClr val="8C3A2B"/>
          </a:solidFill>
          <a:ln w="12700">
            <a:solidFill>
              <a:srgbClr val="8C3A2B"/>
            </a:solidFill>
            <a:prstDash val="solid"/>
          </a:ln>
        </p:spPr>
      </p:sp>
      <p:sp>
        <p:nvSpPr>
          <p:cNvPr id="20" name="Shape 18"/>
          <p:cNvSpPr/>
          <p:nvPr/>
        </p:nvSpPr>
        <p:spPr>
          <a:xfrm>
            <a:off x="8218170" y="3968496"/>
            <a:ext cx="0" cy="228600"/>
          </a:xfrm>
          <a:prstGeom prst="line">
            <a:avLst/>
          </a:prstGeom>
          <a:noFill/>
          <a:ln w="12700">
            <a:solidFill>
              <a:srgbClr val="C9C9CF"/>
            </a:solidFill>
            <a:prstDash val="solid"/>
          </a:ln>
        </p:spPr>
      </p:sp>
      <p:sp>
        <p:nvSpPr>
          <p:cNvPr id="21" name="Text 19"/>
          <p:cNvSpPr txBox="1"/>
          <p:nvPr/>
        </p:nvSpPr>
        <p:spPr>
          <a:xfrm>
            <a:off x="7212330" y="4233672"/>
            <a:ext cx="2011680" cy="365760"/>
          </a:xfrm>
          <a:prstGeom prst="rect">
            <a:avLst/>
          </a:prstGeom>
          <a:noFill/>
          <a:ln/>
        </p:spPr>
        <p:txBody>
          <a:bodyPr wrap="square" lIns="0" tIns="0" rIns="0" bIns="0" rtlCol="0" anchor="t"/>
          <a:lstStyle/>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Aydınlatma</a:t>
            </a:r>
            <a:endParaRPr lang="en-US" sz="1400" dirty="0"/>
          </a:p>
        </p:txBody>
      </p:sp>
      <p:sp>
        <p:nvSpPr>
          <p:cNvPr id="22" name="Text 20"/>
          <p:cNvSpPr txBox="1"/>
          <p:nvPr/>
        </p:nvSpPr>
        <p:spPr>
          <a:xfrm>
            <a:off x="7212330" y="4599432"/>
            <a:ext cx="2011680" cy="603504"/>
          </a:xfrm>
          <a:prstGeom prst="rect">
            <a:avLst/>
          </a:prstGeom>
          <a:noFill/>
          <a:ln/>
        </p:spPr>
        <p:txBody>
          <a:bodyPr wrap="square" lIns="0" tIns="0" rIns="0" bIns="0" rtlCol="0" anchor="t"/>
          <a:lstStyle/>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Genel, vurgu, dekoratif ve vitrin aydınlatması</a:t>
            </a:r>
            <a:endParaRPr lang="en-US" sz="1000" dirty="0"/>
          </a:p>
        </p:txBody>
      </p:sp>
      <p:sp>
        <p:nvSpPr>
          <p:cNvPr id="23" name="Shape 21"/>
          <p:cNvSpPr/>
          <p:nvPr/>
        </p:nvSpPr>
        <p:spPr>
          <a:xfrm>
            <a:off x="10254996" y="3808476"/>
            <a:ext cx="155448" cy="155448"/>
          </a:xfrm>
          <a:prstGeom prst="ellipse">
            <a:avLst/>
          </a:prstGeom>
          <a:solidFill>
            <a:srgbClr val="8C3A2B"/>
          </a:solidFill>
          <a:ln w="12700">
            <a:solidFill>
              <a:srgbClr val="8C3A2B"/>
            </a:solidFill>
            <a:prstDash val="solid"/>
          </a:ln>
        </p:spPr>
      </p:sp>
      <p:sp>
        <p:nvSpPr>
          <p:cNvPr id="24" name="Shape 22"/>
          <p:cNvSpPr/>
          <p:nvPr/>
        </p:nvSpPr>
        <p:spPr>
          <a:xfrm flipV="1">
            <a:off x="10332720" y="3575304"/>
            <a:ext cx="0" cy="228600"/>
          </a:xfrm>
          <a:prstGeom prst="line">
            <a:avLst/>
          </a:prstGeom>
          <a:noFill/>
          <a:ln w="12700">
            <a:solidFill>
              <a:srgbClr val="C9C9CF"/>
            </a:solidFill>
            <a:prstDash val="solid"/>
          </a:ln>
        </p:spPr>
      </p:sp>
      <p:sp>
        <p:nvSpPr>
          <p:cNvPr id="25" name="Text 23"/>
          <p:cNvSpPr txBox="1"/>
          <p:nvPr/>
        </p:nvSpPr>
        <p:spPr>
          <a:xfrm>
            <a:off x="9326880" y="2606040"/>
            <a:ext cx="2011680" cy="365760"/>
          </a:xfrm>
          <a:prstGeom prst="rect">
            <a:avLst/>
          </a:prstGeom>
          <a:noFill/>
          <a:ln/>
        </p:spPr>
        <p:txBody>
          <a:bodyPr wrap="square" lIns="0" tIns="0" rIns="0" bIns="0" rtlCol="0" anchor="b"/>
          <a:lstStyle/>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Mağaza içi iletişim</a:t>
            </a:r>
            <a:endParaRPr lang="en-US" sz="1400" dirty="0"/>
          </a:p>
        </p:txBody>
      </p:sp>
      <p:sp>
        <p:nvSpPr>
          <p:cNvPr id="26" name="Text 24"/>
          <p:cNvSpPr txBox="1"/>
          <p:nvPr/>
        </p:nvSpPr>
        <p:spPr>
          <a:xfrm>
            <a:off x="9326880" y="2953512"/>
            <a:ext cx="2011680" cy="603504"/>
          </a:xfrm>
          <a:prstGeom prst="rect">
            <a:avLst/>
          </a:prstGeom>
          <a:noFill/>
          <a:ln/>
        </p:spPr>
        <p:txBody>
          <a:bodyPr wrap="square" lIns="0" tIns="0" rIns="0" bIns="0" rtlCol="0" anchor="t"/>
          <a:lstStyle/>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İşaretler, ekranlar, marka anlatısı</a:t>
            </a:r>
            <a:endParaRPr lang="en-US" sz="1000" dirty="0"/>
          </a:p>
        </p:txBody>
      </p:sp>
      <p:sp>
        <p:nvSpPr>
          <p:cNvPr id="27" name="Text 25"/>
          <p:cNvSpPr txBox="1"/>
          <p:nvPr/>
        </p:nvSpPr>
        <p:spPr>
          <a:xfrm>
            <a:off x="777240" y="5486400"/>
            <a:ext cx="10424160" cy="365760"/>
          </a:xfrm>
          <a:prstGeom prst="rect">
            <a:avLst/>
          </a:prstGeom>
          <a:noFill/>
          <a:ln/>
        </p:spPr>
        <p:txBody>
          <a:bodyPr wrap="square" lIns="0" tIns="0" rIns="0" bIns="0" rtlCol="0" anchor="ctr"/>
          <a:lstStyle/>
          <a:p>
            <a:pPr algn="ctr" indent="0" marL="0">
              <a:lnSpc>
                <a:spcPts val="1200"/>
              </a:lnSpc>
              <a:buNone/>
            </a:pPr>
            <a:r>
              <a:rPr lang="en-US" sz="1250" i="1" dirty="0">
                <a:solidFill>
                  <a:srgbClr val="8C3A2B"/>
                </a:solidFill>
                <a:latin typeface="Cambria" pitchFamily="34" charset="0"/>
                <a:ea typeface="Cambria" pitchFamily="34" charset="-122"/>
                <a:cs typeface="Cambria" pitchFamily="34" charset="-120"/>
              </a:rPr>
              <a:t>Beşi de bu sunumun ilerleyen bölümlerinde ayrı ayrı ele alınacak.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 · MAĞAZA TASARIMI NEDİR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Alışveriş mekânı, satın alma biçimi değiştikçe değişti</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6</a:t>
            </a:r>
            <a:endParaRPr lang="en-US" sz="950" dirty="0"/>
          </a:p>
        </p:txBody>
      </p:sp>
      <p:sp>
        <p:nvSpPr>
          <p:cNvPr id="5" name="Shape 3"/>
          <p:cNvSpPr/>
          <p:nvPr/>
        </p:nvSpPr>
        <p:spPr>
          <a:xfrm>
            <a:off x="1828800" y="2880360"/>
            <a:ext cx="8549640" cy="0"/>
          </a:xfrm>
          <a:prstGeom prst="line">
            <a:avLst/>
          </a:prstGeom>
          <a:noFill/>
          <a:ln w="12700">
            <a:solidFill>
              <a:srgbClr val="C9C9CF"/>
            </a:solidFill>
            <a:prstDash val="solid"/>
          </a:ln>
        </p:spPr>
      </p:sp>
      <p:sp>
        <p:nvSpPr>
          <p:cNvPr id="6" name="Shape 4"/>
          <p:cNvSpPr/>
          <p:nvPr/>
        </p:nvSpPr>
        <p:spPr>
          <a:xfrm>
            <a:off x="1760220" y="2811780"/>
            <a:ext cx="137160" cy="137160"/>
          </a:xfrm>
          <a:prstGeom prst="ellipse">
            <a:avLst/>
          </a:prstGeom>
          <a:solidFill>
            <a:srgbClr val="7A7A82"/>
          </a:solidFill>
          <a:ln w="12700">
            <a:solidFill>
              <a:srgbClr val="7A7A82"/>
            </a:solidFill>
            <a:prstDash val="solid"/>
          </a:ln>
        </p:spPr>
      </p:sp>
      <p:sp>
        <p:nvSpPr>
          <p:cNvPr id="7" name="Text 5"/>
          <p:cNvSpPr txBox="1"/>
          <p:nvPr/>
        </p:nvSpPr>
        <p:spPr>
          <a:xfrm>
            <a:off x="822960" y="1920240"/>
            <a:ext cx="2011680" cy="685800"/>
          </a:xfrm>
          <a:prstGeom prst="rect">
            <a:avLst/>
          </a:prstGeom>
          <a:noFill/>
          <a:ln/>
        </p:spPr>
        <p:txBody>
          <a:bodyPr wrap="square" lIns="0" tIns="0" rIns="0" bIns="0" rtlCol="0" anchor="b"/>
          <a:lstStyle/>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Dükkân</a:t>
            </a:r>
            <a:endParaRPr lang="en-US" sz="1400" dirty="0"/>
          </a:p>
        </p:txBody>
      </p:sp>
      <p:sp>
        <p:nvSpPr>
          <p:cNvPr id="8" name="Text 6"/>
          <p:cNvSpPr txBox="1"/>
          <p:nvPr/>
        </p:nvSpPr>
        <p:spPr>
          <a:xfrm>
            <a:off x="822960" y="3136392"/>
            <a:ext cx="2011680" cy="8686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Üretim ve satış</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aynı mekânda</a:t>
            </a:r>
            <a:endParaRPr lang="en-US" sz="1000" dirty="0"/>
          </a:p>
        </p:txBody>
      </p:sp>
      <p:sp>
        <p:nvSpPr>
          <p:cNvPr id="9" name="Shape 7"/>
          <p:cNvSpPr/>
          <p:nvPr/>
        </p:nvSpPr>
        <p:spPr>
          <a:xfrm>
            <a:off x="3897630" y="2811780"/>
            <a:ext cx="137160" cy="137160"/>
          </a:xfrm>
          <a:prstGeom prst="ellipse">
            <a:avLst/>
          </a:prstGeom>
          <a:solidFill>
            <a:srgbClr val="7A7A82"/>
          </a:solidFill>
          <a:ln w="12700">
            <a:solidFill>
              <a:srgbClr val="7A7A82"/>
            </a:solidFill>
            <a:prstDash val="solid"/>
          </a:ln>
        </p:spPr>
      </p:sp>
      <p:sp>
        <p:nvSpPr>
          <p:cNvPr id="10" name="Text 8"/>
          <p:cNvSpPr txBox="1"/>
          <p:nvPr/>
        </p:nvSpPr>
        <p:spPr>
          <a:xfrm>
            <a:off x="2960370" y="1920240"/>
            <a:ext cx="2011680" cy="685800"/>
          </a:xfrm>
          <a:prstGeom prst="rect">
            <a:avLst/>
          </a:prstGeom>
          <a:noFill/>
          <a:ln/>
        </p:spPr>
        <p:txBody>
          <a:bodyPr wrap="square" lIns="0" tIns="0" rIns="0" bIns="0" rtlCol="0" anchor="b"/>
          <a:lstStyle/>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Bedesten · Arasta</a:t>
            </a:r>
            <a:endParaRPr lang="en-US" sz="1400" dirty="0"/>
          </a:p>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Han</a:t>
            </a:r>
            <a:endParaRPr lang="en-US" sz="1400" dirty="0"/>
          </a:p>
        </p:txBody>
      </p:sp>
      <p:sp>
        <p:nvSpPr>
          <p:cNvPr id="11" name="Text 9"/>
          <p:cNvSpPr txBox="1"/>
          <p:nvPr/>
        </p:nvSpPr>
        <p:spPr>
          <a:xfrm>
            <a:off x="2960370" y="3136392"/>
            <a:ext cx="2011680" cy="8686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Örtülü çarşı;</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esnafın bir arada</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dizilmesi</a:t>
            </a:r>
            <a:endParaRPr lang="en-US" sz="1000" dirty="0"/>
          </a:p>
        </p:txBody>
      </p:sp>
      <p:sp>
        <p:nvSpPr>
          <p:cNvPr id="12" name="Shape 10"/>
          <p:cNvSpPr/>
          <p:nvPr/>
        </p:nvSpPr>
        <p:spPr>
          <a:xfrm>
            <a:off x="6035040" y="2811780"/>
            <a:ext cx="137160" cy="137160"/>
          </a:xfrm>
          <a:prstGeom prst="ellipse">
            <a:avLst/>
          </a:prstGeom>
          <a:solidFill>
            <a:srgbClr val="7A7A82"/>
          </a:solidFill>
          <a:ln w="12700">
            <a:solidFill>
              <a:srgbClr val="7A7A82"/>
            </a:solidFill>
            <a:prstDash val="solid"/>
          </a:ln>
        </p:spPr>
      </p:sp>
      <p:sp>
        <p:nvSpPr>
          <p:cNvPr id="13" name="Text 11"/>
          <p:cNvSpPr txBox="1"/>
          <p:nvPr/>
        </p:nvSpPr>
        <p:spPr>
          <a:xfrm>
            <a:off x="5097780" y="1920240"/>
            <a:ext cx="2011680" cy="685800"/>
          </a:xfrm>
          <a:prstGeom prst="rect">
            <a:avLst/>
          </a:prstGeom>
          <a:noFill/>
          <a:ln/>
        </p:spPr>
        <p:txBody>
          <a:bodyPr wrap="square" lIns="0" tIns="0" rIns="0" bIns="0" rtlCol="0" anchor="b"/>
          <a:lstStyle/>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Pasaj</a:t>
            </a:r>
            <a:endParaRPr lang="en-US" sz="1400" dirty="0"/>
          </a:p>
        </p:txBody>
      </p:sp>
      <p:sp>
        <p:nvSpPr>
          <p:cNvPr id="14" name="Text 12"/>
          <p:cNvSpPr txBox="1"/>
          <p:nvPr/>
        </p:nvSpPr>
        <p:spPr>
          <a:xfrm>
            <a:off x="5097780" y="3136392"/>
            <a:ext cx="2011680" cy="8686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Havadan bağımsız</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gezinti</a:t>
            </a:r>
            <a:endParaRPr lang="en-US" sz="1000" dirty="0"/>
          </a:p>
        </p:txBody>
      </p:sp>
      <p:sp>
        <p:nvSpPr>
          <p:cNvPr id="15" name="Shape 13"/>
          <p:cNvSpPr/>
          <p:nvPr/>
        </p:nvSpPr>
        <p:spPr>
          <a:xfrm>
            <a:off x="8172450" y="2811780"/>
            <a:ext cx="137160" cy="137160"/>
          </a:xfrm>
          <a:prstGeom prst="ellipse">
            <a:avLst/>
          </a:prstGeom>
          <a:solidFill>
            <a:srgbClr val="7A7A82"/>
          </a:solidFill>
          <a:ln w="12700">
            <a:solidFill>
              <a:srgbClr val="7A7A82"/>
            </a:solidFill>
            <a:prstDash val="solid"/>
          </a:ln>
        </p:spPr>
      </p:sp>
      <p:sp>
        <p:nvSpPr>
          <p:cNvPr id="16" name="Text 14"/>
          <p:cNvSpPr txBox="1"/>
          <p:nvPr/>
        </p:nvSpPr>
        <p:spPr>
          <a:xfrm>
            <a:off x="7235190" y="1920240"/>
            <a:ext cx="2011680" cy="685800"/>
          </a:xfrm>
          <a:prstGeom prst="rect">
            <a:avLst/>
          </a:prstGeom>
          <a:noFill/>
          <a:ln/>
        </p:spPr>
        <p:txBody>
          <a:bodyPr wrap="square" lIns="0" tIns="0" rIns="0" bIns="0" rtlCol="0" anchor="b"/>
          <a:lstStyle/>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Büyük mağaza</a:t>
            </a:r>
            <a:endParaRPr lang="en-US" sz="1400" dirty="0"/>
          </a:p>
        </p:txBody>
      </p:sp>
      <p:sp>
        <p:nvSpPr>
          <p:cNvPr id="17" name="Text 15"/>
          <p:cNvSpPr txBox="1"/>
          <p:nvPr/>
        </p:nvSpPr>
        <p:spPr>
          <a:xfrm>
            <a:off x="7235190" y="3136392"/>
            <a:ext cx="2011680" cy="8686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Sabit fiyat,</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serbest dolaşım,</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pazarlıksız alışveriş</a:t>
            </a:r>
            <a:endParaRPr lang="en-US" sz="1000" dirty="0"/>
          </a:p>
        </p:txBody>
      </p:sp>
      <p:sp>
        <p:nvSpPr>
          <p:cNvPr id="18" name="Shape 16"/>
          <p:cNvSpPr/>
          <p:nvPr/>
        </p:nvSpPr>
        <p:spPr>
          <a:xfrm>
            <a:off x="10277856" y="2779776"/>
            <a:ext cx="201168" cy="201168"/>
          </a:xfrm>
          <a:prstGeom prst="ellipse">
            <a:avLst/>
          </a:prstGeom>
          <a:solidFill>
            <a:srgbClr val="8C3A2B"/>
          </a:solidFill>
          <a:ln w="12700">
            <a:solidFill>
              <a:srgbClr val="8C3A2B"/>
            </a:solidFill>
            <a:prstDash val="solid"/>
          </a:ln>
        </p:spPr>
      </p:sp>
      <p:sp>
        <p:nvSpPr>
          <p:cNvPr id="19" name="Text 17"/>
          <p:cNvSpPr txBox="1"/>
          <p:nvPr/>
        </p:nvSpPr>
        <p:spPr>
          <a:xfrm>
            <a:off x="9372600" y="1920240"/>
            <a:ext cx="2011680" cy="685800"/>
          </a:xfrm>
          <a:prstGeom prst="rect">
            <a:avLst/>
          </a:prstGeom>
          <a:noFill/>
          <a:ln/>
        </p:spPr>
        <p:txBody>
          <a:bodyPr wrap="square" lIns="0" tIns="0" rIns="0" bIns="0" rtlCol="0" anchor="b"/>
          <a:lstStyle/>
          <a:p>
            <a:pPr algn="ctr" indent="0" marL="0">
              <a:lnSpc>
                <a:spcPts val="1700"/>
              </a:lnSpc>
              <a:buNone/>
            </a:pPr>
            <a:r>
              <a:rPr lang="en-US" sz="1400" b="1" dirty="0">
                <a:solidFill>
                  <a:srgbClr val="8C3A2B"/>
                </a:solidFill>
                <a:latin typeface="Cambria" pitchFamily="34" charset="0"/>
                <a:ea typeface="Cambria" pitchFamily="34" charset="-122"/>
                <a:cs typeface="Cambria" pitchFamily="34" charset="-120"/>
              </a:rPr>
              <a:t>Deneyim mekânı</a:t>
            </a:r>
            <a:endParaRPr lang="en-US" sz="1400" dirty="0"/>
          </a:p>
        </p:txBody>
      </p:sp>
      <p:sp>
        <p:nvSpPr>
          <p:cNvPr id="20" name="Text 18"/>
          <p:cNvSpPr txBox="1"/>
          <p:nvPr/>
        </p:nvSpPr>
        <p:spPr>
          <a:xfrm>
            <a:off x="9372600" y="3136392"/>
            <a:ext cx="2011680" cy="8686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Ürün her yerden</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alınabilir; mekân</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hatırlanır</a:t>
            </a:r>
            <a:endParaRPr lang="en-US" sz="1000" dirty="0"/>
          </a:p>
        </p:txBody>
      </p:sp>
      <p:sp>
        <p:nvSpPr>
          <p:cNvPr id="21" name="Text 19"/>
          <p:cNvSpPr txBox="1"/>
          <p:nvPr/>
        </p:nvSpPr>
        <p:spPr>
          <a:xfrm>
            <a:off x="777240" y="4434840"/>
            <a:ext cx="5029200" cy="169164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Her aşamada değişen şey mekânın kendisi değil, insanın ürünle kurduğu ilişkidir. Büyük mağazanın getirdiği kırılma özellikle önemlidir: bir şey almadan içeride dolaşabilmek, modern mağazanın kurucu fikridir.</a:t>
            </a:r>
            <a:endParaRPr lang="en-US" sz="1450" dirty="0"/>
          </a:p>
        </p:txBody>
      </p:sp>
      <p:sp>
        <p:nvSpPr>
          <p:cNvPr id="22" name="Text 20"/>
          <p:cNvSpPr txBox="1"/>
          <p:nvPr/>
        </p:nvSpPr>
        <p:spPr>
          <a:xfrm>
            <a:off x="6382512" y="4434840"/>
            <a:ext cx="5029200" cy="169164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Bugünkü kırılma da benzer: ürün internetten alınabildiği için mağazanın işi ürünü bulundurmak değil, ürünle karşılaşmayı kurmaktır (Pine &amp; Gilmore, 1998).</a:t>
            </a:r>
            <a:endParaRPr lang="en-US" sz="1450" dirty="0"/>
          </a:p>
        </p:txBody>
      </p:sp>
      <p:sp>
        <p:nvSpPr>
          <p:cNvPr id="23" name="Text 21"/>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Bedesten ve arasta iç mekânı (Bursa, Edirne) · Çiçek Pasajı veya Hazzopulo Pasajı · Le Bon Marché tarihî fotoğrafı</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II</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Atmosfer</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Mekânın, üründen bağımsız olarak davranışı etkileme gücü.</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 · ATMOSFER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Fiziksel çevre üç kanaldan etki eder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8</a:t>
            </a:r>
            <a:endParaRPr lang="en-US" sz="950" dirty="0"/>
          </a:p>
        </p:txBody>
      </p:sp>
      <p:sp>
        <p:nvSpPr>
          <p:cNvPr id="5" name="Text 3"/>
          <p:cNvSpPr txBox="1"/>
          <p:nvPr/>
        </p:nvSpPr>
        <p:spPr>
          <a:xfrm>
            <a:off x="777240" y="1591056"/>
            <a:ext cx="10634472" cy="91440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Bir mekânın atmosferinin, ürünün kendisinden bağımsız olarak satın alma kararını etkilediği fikri elli yıllıktır (Kotler, 1973). Bitner (1992) bu etkiyi üç boyuta ayırır — ve bu üç boyut yalnızca müşteriyi değil, çalışanı da etkiler.</a:t>
            </a:r>
            <a:endParaRPr lang="en-US" sz="1500" dirty="0"/>
          </a:p>
        </p:txBody>
      </p:sp>
      <p:sp>
        <p:nvSpPr>
          <p:cNvPr id="6" name="Shape 4"/>
          <p:cNvSpPr/>
          <p:nvPr/>
        </p:nvSpPr>
        <p:spPr>
          <a:xfrm>
            <a:off x="1399032" y="2953512"/>
            <a:ext cx="1865376" cy="1865376"/>
          </a:xfrm>
          <a:prstGeom prst="ellipse">
            <a:avLst/>
          </a:prstGeom>
          <a:ln w="12700">
            <a:solidFill>
              <a:srgbClr val="C9C9CF"/>
            </a:solidFill>
            <a:prstDash val="solid"/>
          </a:ln>
        </p:spPr>
      </p:sp>
      <p:sp>
        <p:nvSpPr>
          <p:cNvPr id="7" name="Text 5"/>
          <p:cNvSpPr txBox="1"/>
          <p:nvPr/>
        </p:nvSpPr>
        <p:spPr>
          <a:xfrm>
            <a:off x="1399032" y="3502152"/>
            <a:ext cx="1865376" cy="310896"/>
          </a:xfrm>
          <a:prstGeom prst="rect">
            <a:avLst/>
          </a:prstGeom>
          <a:noFill/>
          <a:ln/>
        </p:spPr>
        <p:txBody>
          <a:bodyPr wrap="square" lIns="0" tIns="0" rIns="0" bIns="0" rtlCol="0" anchor="ctr"/>
          <a:lstStyle/>
          <a:p>
            <a:pPr algn="ctr" indent="0" marL="0">
              <a:buNone/>
            </a:pPr>
            <a:r>
              <a:rPr lang="en-US" sz="950" b="1" spc="100" kern="0" dirty="0">
                <a:solidFill>
                  <a:srgbClr val="16161A"/>
                </a:solidFill>
                <a:latin typeface="Calibri" pitchFamily="34" charset="0"/>
                <a:ea typeface="Calibri" pitchFamily="34" charset="-122"/>
                <a:cs typeface="Calibri" pitchFamily="34" charset="-120"/>
              </a:rPr>
              <a:t>ORTAM KOŞULLARI</a:t>
            </a:r>
            <a:endParaRPr lang="en-US" sz="950" dirty="0"/>
          </a:p>
        </p:txBody>
      </p:sp>
      <p:sp>
        <p:nvSpPr>
          <p:cNvPr id="8" name="Text 6"/>
          <p:cNvSpPr txBox="1"/>
          <p:nvPr/>
        </p:nvSpPr>
        <p:spPr>
          <a:xfrm>
            <a:off x="1399032" y="3867912"/>
            <a:ext cx="1865376" cy="6400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ısı · ışık · ses</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koku · hava</a:t>
            </a:r>
            <a:endParaRPr lang="en-US" sz="1000" dirty="0"/>
          </a:p>
        </p:txBody>
      </p:sp>
      <p:sp>
        <p:nvSpPr>
          <p:cNvPr id="9" name="Shape 7"/>
          <p:cNvSpPr/>
          <p:nvPr/>
        </p:nvSpPr>
        <p:spPr>
          <a:xfrm>
            <a:off x="4828032" y="2953512"/>
            <a:ext cx="1865376" cy="1865376"/>
          </a:xfrm>
          <a:prstGeom prst="ellipse">
            <a:avLst/>
          </a:prstGeom>
          <a:ln w="12700">
            <a:solidFill>
              <a:srgbClr val="C9C9CF"/>
            </a:solidFill>
            <a:prstDash val="solid"/>
          </a:ln>
        </p:spPr>
      </p:sp>
      <p:sp>
        <p:nvSpPr>
          <p:cNvPr id="10" name="Text 8"/>
          <p:cNvSpPr txBox="1"/>
          <p:nvPr/>
        </p:nvSpPr>
        <p:spPr>
          <a:xfrm>
            <a:off x="4828032" y="3502152"/>
            <a:ext cx="1865376" cy="310896"/>
          </a:xfrm>
          <a:prstGeom prst="rect">
            <a:avLst/>
          </a:prstGeom>
          <a:noFill/>
          <a:ln/>
        </p:spPr>
        <p:txBody>
          <a:bodyPr wrap="square" lIns="0" tIns="0" rIns="0" bIns="0" rtlCol="0" anchor="ctr"/>
          <a:lstStyle/>
          <a:p>
            <a:pPr algn="ctr" indent="0" marL="0">
              <a:buNone/>
            </a:pPr>
            <a:r>
              <a:rPr lang="en-US" sz="950" b="1" spc="100" kern="0" dirty="0">
                <a:solidFill>
                  <a:srgbClr val="16161A"/>
                </a:solidFill>
                <a:latin typeface="Calibri" pitchFamily="34" charset="0"/>
                <a:ea typeface="Calibri" pitchFamily="34" charset="-122"/>
                <a:cs typeface="Calibri" pitchFamily="34" charset="-120"/>
              </a:rPr>
              <a:t>MEKÂN VE İŞLEV</a:t>
            </a:r>
            <a:endParaRPr lang="en-US" sz="950" dirty="0"/>
          </a:p>
        </p:txBody>
      </p:sp>
      <p:sp>
        <p:nvSpPr>
          <p:cNvPr id="11" name="Text 9"/>
          <p:cNvSpPr txBox="1"/>
          <p:nvPr/>
        </p:nvSpPr>
        <p:spPr>
          <a:xfrm>
            <a:off x="4828032" y="3867912"/>
            <a:ext cx="1865376" cy="6400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yerleşim · ekipman</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mobilya · ölçü</a:t>
            </a:r>
            <a:endParaRPr lang="en-US" sz="1000" dirty="0"/>
          </a:p>
        </p:txBody>
      </p:sp>
      <p:sp>
        <p:nvSpPr>
          <p:cNvPr id="12" name="Shape 10"/>
          <p:cNvSpPr/>
          <p:nvPr/>
        </p:nvSpPr>
        <p:spPr>
          <a:xfrm>
            <a:off x="8257032" y="2953512"/>
            <a:ext cx="1865376" cy="1865376"/>
          </a:xfrm>
          <a:prstGeom prst="ellipse">
            <a:avLst/>
          </a:prstGeom>
          <a:ln w="12700">
            <a:solidFill>
              <a:srgbClr val="C9C9CF"/>
            </a:solidFill>
            <a:prstDash val="solid"/>
          </a:ln>
        </p:spPr>
      </p:sp>
      <p:sp>
        <p:nvSpPr>
          <p:cNvPr id="13" name="Text 11"/>
          <p:cNvSpPr txBox="1"/>
          <p:nvPr/>
        </p:nvSpPr>
        <p:spPr>
          <a:xfrm>
            <a:off x="8257032" y="3502152"/>
            <a:ext cx="1865376" cy="310896"/>
          </a:xfrm>
          <a:prstGeom prst="rect">
            <a:avLst/>
          </a:prstGeom>
          <a:noFill/>
          <a:ln/>
        </p:spPr>
        <p:txBody>
          <a:bodyPr wrap="square" lIns="0" tIns="0" rIns="0" bIns="0" rtlCol="0" anchor="ctr"/>
          <a:lstStyle/>
          <a:p>
            <a:pPr algn="ctr" indent="0" marL="0">
              <a:buNone/>
            </a:pPr>
            <a:r>
              <a:rPr lang="en-US" sz="950" b="1" spc="100" kern="0" dirty="0">
                <a:solidFill>
                  <a:srgbClr val="16161A"/>
                </a:solidFill>
                <a:latin typeface="Calibri" pitchFamily="34" charset="0"/>
                <a:ea typeface="Calibri" pitchFamily="34" charset="-122"/>
                <a:cs typeface="Calibri" pitchFamily="34" charset="-120"/>
              </a:rPr>
              <a:t>İŞARET VE SEMBOL</a:t>
            </a:r>
            <a:endParaRPr lang="en-US" sz="950" dirty="0"/>
          </a:p>
        </p:txBody>
      </p:sp>
      <p:sp>
        <p:nvSpPr>
          <p:cNvPr id="14" name="Text 12"/>
          <p:cNvSpPr txBox="1"/>
          <p:nvPr/>
        </p:nvSpPr>
        <p:spPr>
          <a:xfrm>
            <a:off x="8257032" y="3867912"/>
            <a:ext cx="1865376" cy="6400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tabela · malzeme</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dekor · anlam</a:t>
            </a:r>
            <a:endParaRPr lang="en-US" sz="1000" dirty="0"/>
          </a:p>
        </p:txBody>
      </p:sp>
      <p:sp>
        <p:nvSpPr>
          <p:cNvPr id="15" name="Shape 13"/>
          <p:cNvSpPr/>
          <p:nvPr/>
        </p:nvSpPr>
        <p:spPr>
          <a:xfrm>
            <a:off x="3310128" y="3886200"/>
            <a:ext cx="1481328" cy="0"/>
          </a:xfrm>
          <a:prstGeom prst="line">
            <a:avLst/>
          </a:prstGeom>
          <a:noFill/>
          <a:ln w="12700">
            <a:solidFill>
              <a:srgbClr val="C9C9CF"/>
            </a:solidFill>
            <a:prstDash val="solid"/>
            <a:tailEnd type="triangle"/>
          </a:ln>
        </p:spPr>
      </p:sp>
      <p:sp>
        <p:nvSpPr>
          <p:cNvPr id="16" name="Shape 14"/>
          <p:cNvSpPr/>
          <p:nvPr/>
        </p:nvSpPr>
        <p:spPr>
          <a:xfrm>
            <a:off x="6739128" y="3886200"/>
            <a:ext cx="1481328" cy="0"/>
          </a:xfrm>
          <a:prstGeom prst="line">
            <a:avLst/>
          </a:prstGeom>
          <a:noFill/>
          <a:ln w="12700">
            <a:solidFill>
              <a:srgbClr val="C9C9CF"/>
            </a:solidFill>
            <a:prstDash val="solid"/>
            <a:tailEnd type="triangle"/>
          </a:ln>
        </p:spPr>
      </p:sp>
      <p:sp>
        <p:nvSpPr>
          <p:cNvPr id="17" name="Text 15"/>
          <p:cNvSpPr txBox="1"/>
          <p:nvPr/>
        </p:nvSpPr>
        <p:spPr>
          <a:xfrm>
            <a:off x="777240" y="5138928"/>
            <a:ext cx="10424160" cy="365760"/>
          </a:xfrm>
          <a:prstGeom prst="rect">
            <a:avLst/>
          </a:prstGeom>
          <a:noFill/>
          <a:ln/>
        </p:spPr>
        <p:txBody>
          <a:bodyPr wrap="square" lIns="0" tIns="0" rIns="0" bIns="0" rtlCol="0" anchor="ctr"/>
          <a:lstStyle/>
          <a:p>
            <a:pPr algn="ctr" indent="0" marL="0">
              <a:lnSpc>
                <a:spcPts val="1200"/>
              </a:lnSpc>
              <a:buNone/>
            </a:pPr>
            <a:r>
              <a:rPr lang="en-US" sz="1300" i="1" dirty="0">
                <a:solidFill>
                  <a:srgbClr val="8C3A2B"/>
                </a:solidFill>
                <a:latin typeface="Cambria" pitchFamily="34" charset="0"/>
                <a:ea typeface="Cambria" pitchFamily="34" charset="-122"/>
                <a:cs typeface="Cambria" pitchFamily="34" charset="-120"/>
              </a:rPr>
              <a:t>Üçü birlikte algılanır. Biri diğerini yalanladığında insan bunu fark eder — çoğu zaman nedenini adlandıramadan.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 · ATMOSFER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Mekân insanı ya içeri çeker ya dışarı iter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9</a:t>
            </a:r>
            <a:endParaRPr lang="en-US" sz="950" dirty="0"/>
          </a:p>
        </p:txBody>
      </p:sp>
      <p:sp>
        <p:nvSpPr>
          <p:cNvPr id="5" name="Shape 3"/>
          <p:cNvSpPr/>
          <p:nvPr/>
        </p:nvSpPr>
        <p:spPr>
          <a:xfrm>
            <a:off x="1234440" y="1965960"/>
            <a:ext cx="2103120" cy="777240"/>
          </a:xfrm>
          <a:prstGeom prst="rect">
            <a:avLst/>
          </a:prstGeom>
          <a:ln w="9525">
            <a:solidFill>
              <a:srgbClr val="C9C9CF"/>
            </a:solidFill>
            <a:prstDash val="solid"/>
          </a:ln>
        </p:spPr>
      </p:sp>
      <p:sp>
        <p:nvSpPr>
          <p:cNvPr id="6" name="Text 4"/>
          <p:cNvSpPr txBox="1"/>
          <p:nvPr/>
        </p:nvSpPr>
        <p:spPr>
          <a:xfrm>
            <a:off x="1271016" y="1965960"/>
            <a:ext cx="2029968" cy="777240"/>
          </a:xfrm>
          <a:prstGeom prst="rect">
            <a:avLst/>
          </a:prstGeom>
          <a:noFill/>
          <a:ln/>
        </p:spPr>
        <p:txBody>
          <a:bodyPr wrap="square" lIns="0" tIns="0" rIns="0" bIns="0" rtlCol="0" anchor="ctr"/>
          <a:lstStyle/>
          <a:p>
            <a:pPr algn="ctr" indent="0" marL="0">
              <a:lnSpc>
                <a:spcPts val="1100"/>
              </a:lnSpc>
              <a:buNone/>
            </a:pPr>
            <a:r>
              <a:rPr lang="en-US" sz="1050" dirty="0">
                <a:solidFill>
                  <a:srgbClr val="2B2B31"/>
                </a:solidFill>
                <a:latin typeface="Calibri" pitchFamily="34" charset="0"/>
                <a:ea typeface="Calibri" pitchFamily="34" charset="-122"/>
                <a:cs typeface="Calibri" pitchFamily="34" charset="-120"/>
              </a:rPr>
              <a:t>MEKÂNSAL</a:t>
            </a:r>
            <a:endParaRPr lang="en-US" sz="1050" dirty="0"/>
          </a:p>
          <a:p>
            <a:pPr algn="ctr" indent="0" marL="0">
              <a:lnSpc>
                <a:spcPts val="1100"/>
              </a:lnSpc>
              <a:buNone/>
            </a:pPr>
            <a:r>
              <a:rPr lang="en-US" sz="1050" dirty="0">
                <a:solidFill>
                  <a:srgbClr val="2B2B31"/>
                </a:solidFill>
                <a:latin typeface="Calibri" pitchFamily="34" charset="0"/>
                <a:ea typeface="Calibri" pitchFamily="34" charset="-122"/>
                <a:cs typeface="Calibri" pitchFamily="34" charset="-120"/>
              </a:rPr>
              <a:t>UYARAN</a:t>
            </a:r>
            <a:endParaRPr lang="en-US" sz="1050" dirty="0"/>
          </a:p>
        </p:txBody>
      </p:sp>
      <p:sp>
        <p:nvSpPr>
          <p:cNvPr id="7" name="Shape 5"/>
          <p:cNvSpPr/>
          <p:nvPr/>
        </p:nvSpPr>
        <p:spPr>
          <a:xfrm>
            <a:off x="4572000" y="1965960"/>
            <a:ext cx="2103120" cy="777240"/>
          </a:xfrm>
          <a:prstGeom prst="rect">
            <a:avLst/>
          </a:prstGeom>
          <a:ln w="9525">
            <a:solidFill>
              <a:srgbClr val="C9C9CF"/>
            </a:solidFill>
            <a:prstDash val="solid"/>
          </a:ln>
        </p:spPr>
      </p:sp>
      <p:sp>
        <p:nvSpPr>
          <p:cNvPr id="8" name="Text 6"/>
          <p:cNvSpPr txBox="1"/>
          <p:nvPr/>
        </p:nvSpPr>
        <p:spPr>
          <a:xfrm>
            <a:off x="4608576" y="1965960"/>
            <a:ext cx="2029968" cy="777240"/>
          </a:xfrm>
          <a:prstGeom prst="rect">
            <a:avLst/>
          </a:prstGeom>
          <a:noFill/>
          <a:ln/>
        </p:spPr>
        <p:txBody>
          <a:bodyPr wrap="square" lIns="0" tIns="0" rIns="0" bIns="0" rtlCol="0" anchor="ctr"/>
          <a:lstStyle/>
          <a:p>
            <a:pPr algn="ctr" indent="0" marL="0">
              <a:lnSpc>
                <a:spcPts val="1100"/>
              </a:lnSpc>
              <a:buNone/>
            </a:pPr>
            <a:r>
              <a:rPr lang="en-US" sz="1050" dirty="0">
                <a:solidFill>
                  <a:srgbClr val="2B2B31"/>
                </a:solidFill>
                <a:latin typeface="Calibri" pitchFamily="34" charset="0"/>
                <a:ea typeface="Calibri" pitchFamily="34" charset="-122"/>
                <a:cs typeface="Calibri" pitchFamily="34" charset="-120"/>
              </a:rPr>
              <a:t>DUYGUSAL</a:t>
            </a:r>
            <a:endParaRPr lang="en-US" sz="1050" dirty="0"/>
          </a:p>
          <a:p>
            <a:pPr algn="ctr" indent="0" marL="0">
              <a:lnSpc>
                <a:spcPts val="1100"/>
              </a:lnSpc>
              <a:buNone/>
            </a:pPr>
            <a:r>
              <a:rPr lang="en-US" sz="1050" dirty="0">
                <a:solidFill>
                  <a:srgbClr val="2B2B31"/>
                </a:solidFill>
                <a:latin typeface="Calibri" pitchFamily="34" charset="0"/>
                <a:ea typeface="Calibri" pitchFamily="34" charset="-122"/>
                <a:cs typeface="Calibri" pitchFamily="34" charset="-120"/>
              </a:rPr>
              <a:t>TEPKİ</a:t>
            </a:r>
            <a:endParaRPr lang="en-US" sz="1050" dirty="0"/>
          </a:p>
        </p:txBody>
      </p:sp>
      <p:sp>
        <p:nvSpPr>
          <p:cNvPr id="9" name="Shape 7"/>
          <p:cNvSpPr/>
          <p:nvPr/>
        </p:nvSpPr>
        <p:spPr>
          <a:xfrm>
            <a:off x="7909560" y="1965960"/>
            <a:ext cx="2103120" cy="777240"/>
          </a:xfrm>
          <a:prstGeom prst="rect">
            <a:avLst/>
          </a:prstGeom>
          <a:ln w="9525">
            <a:solidFill>
              <a:srgbClr val="C9C9CF"/>
            </a:solidFill>
            <a:prstDash val="solid"/>
          </a:ln>
        </p:spPr>
      </p:sp>
      <p:sp>
        <p:nvSpPr>
          <p:cNvPr id="10" name="Text 8"/>
          <p:cNvSpPr txBox="1"/>
          <p:nvPr/>
        </p:nvSpPr>
        <p:spPr>
          <a:xfrm>
            <a:off x="7946136" y="1965960"/>
            <a:ext cx="2029968" cy="777240"/>
          </a:xfrm>
          <a:prstGeom prst="rect">
            <a:avLst/>
          </a:prstGeom>
          <a:noFill/>
          <a:ln/>
        </p:spPr>
        <p:txBody>
          <a:bodyPr wrap="square" lIns="0" tIns="0" rIns="0" bIns="0" rtlCol="0" anchor="ctr"/>
          <a:lstStyle/>
          <a:p>
            <a:pPr algn="ctr" indent="0" marL="0">
              <a:lnSpc>
                <a:spcPts val="1100"/>
              </a:lnSpc>
              <a:buNone/>
            </a:pPr>
            <a:r>
              <a:rPr lang="en-US" sz="1050" dirty="0">
                <a:solidFill>
                  <a:srgbClr val="2B2B31"/>
                </a:solidFill>
                <a:latin typeface="Calibri" pitchFamily="34" charset="0"/>
                <a:ea typeface="Calibri" pitchFamily="34" charset="-122"/>
                <a:cs typeface="Calibri" pitchFamily="34" charset="-120"/>
              </a:rPr>
              <a:t>DAVRANIŞ</a:t>
            </a:r>
            <a:endParaRPr lang="en-US" sz="1050" dirty="0"/>
          </a:p>
        </p:txBody>
      </p:sp>
      <p:sp>
        <p:nvSpPr>
          <p:cNvPr id="11" name="Shape 9"/>
          <p:cNvSpPr/>
          <p:nvPr/>
        </p:nvSpPr>
        <p:spPr>
          <a:xfrm>
            <a:off x="3401568" y="2354580"/>
            <a:ext cx="1078992" cy="0"/>
          </a:xfrm>
          <a:prstGeom prst="line">
            <a:avLst/>
          </a:prstGeom>
          <a:noFill/>
          <a:ln w="15875">
            <a:solidFill>
              <a:srgbClr val="7A7A82"/>
            </a:solidFill>
            <a:prstDash val="solid"/>
            <a:tailEnd type="triangle"/>
          </a:ln>
        </p:spPr>
      </p:sp>
      <p:sp>
        <p:nvSpPr>
          <p:cNvPr id="12" name="Shape 10"/>
          <p:cNvSpPr/>
          <p:nvPr/>
        </p:nvSpPr>
        <p:spPr>
          <a:xfrm>
            <a:off x="6739128" y="2354580"/>
            <a:ext cx="1078992" cy="0"/>
          </a:xfrm>
          <a:prstGeom prst="line">
            <a:avLst/>
          </a:prstGeom>
          <a:noFill/>
          <a:ln w="15875">
            <a:solidFill>
              <a:srgbClr val="7A7A82"/>
            </a:solidFill>
            <a:prstDash val="solid"/>
            <a:tailEnd type="triangle"/>
          </a:ln>
        </p:spPr>
      </p:sp>
      <p:sp>
        <p:nvSpPr>
          <p:cNvPr id="13" name="Text 11"/>
          <p:cNvSpPr txBox="1"/>
          <p:nvPr/>
        </p:nvSpPr>
        <p:spPr>
          <a:xfrm>
            <a:off x="1234440" y="2889504"/>
            <a:ext cx="2103120" cy="411480"/>
          </a:xfrm>
          <a:prstGeom prst="rect">
            <a:avLst/>
          </a:prstGeom>
          <a:noFill/>
          <a:ln/>
        </p:spPr>
        <p:txBody>
          <a:bodyPr wrap="square" lIns="0" tIns="0" rIns="0" bIns="0" rtlCol="0" anchor="ctr"/>
          <a:lstStyle/>
          <a:p>
            <a:pPr algn="ctr" indent="0" marL="0">
              <a:lnSpc>
                <a:spcPts val="1300"/>
              </a:lnSpc>
              <a:buNone/>
            </a:pPr>
            <a:r>
              <a:rPr lang="en-US" sz="950" dirty="0">
                <a:solidFill>
                  <a:srgbClr val="7A7A82"/>
                </a:solidFill>
                <a:latin typeface="Calibri" pitchFamily="34" charset="0"/>
                <a:ea typeface="Calibri" pitchFamily="34" charset="-122"/>
                <a:cs typeface="Calibri" pitchFamily="34" charset="-120"/>
              </a:rPr>
              <a:t>ışık · ses · koku</a:t>
            </a:r>
            <a:endParaRPr lang="en-US" sz="950" dirty="0"/>
          </a:p>
          <a:p>
            <a:pPr algn="ctr" indent="0" marL="0">
              <a:lnSpc>
                <a:spcPts val="1300"/>
              </a:lnSpc>
              <a:buNone/>
            </a:pPr>
            <a:r>
              <a:rPr lang="en-US" sz="950" dirty="0">
                <a:solidFill>
                  <a:srgbClr val="7A7A82"/>
                </a:solidFill>
                <a:latin typeface="Calibri" pitchFamily="34" charset="0"/>
                <a:ea typeface="Calibri" pitchFamily="34" charset="-122"/>
                <a:cs typeface="Calibri" pitchFamily="34" charset="-120"/>
              </a:rPr>
              <a:t>yoğunluk · malzeme</a:t>
            </a:r>
            <a:endParaRPr lang="en-US" sz="950" dirty="0"/>
          </a:p>
        </p:txBody>
      </p:sp>
      <p:sp>
        <p:nvSpPr>
          <p:cNvPr id="14" name="Text 12"/>
          <p:cNvSpPr txBox="1"/>
          <p:nvPr/>
        </p:nvSpPr>
        <p:spPr>
          <a:xfrm>
            <a:off x="4572000" y="2889504"/>
            <a:ext cx="2103120" cy="548640"/>
          </a:xfrm>
          <a:prstGeom prst="rect">
            <a:avLst/>
          </a:prstGeom>
          <a:noFill/>
          <a:ln/>
        </p:spPr>
        <p:txBody>
          <a:bodyPr wrap="square" lIns="0" tIns="0" rIns="0" bIns="0" rtlCol="0" anchor="ctr"/>
          <a:lstStyle/>
          <a:p>
            <a:pPr algn="ctr" indent="0" marL="0">
              <a:lnSpc>
                <a:spcPts val="1300"/>
              </a:lnSpc>
              <a:buNone/>
            </a:pPr>
            <a:r>
              <a:rPr lang="en-US" sz="950" dirty="0">
                <a:solidFill>
                  <a:srgbClr val="7A7A82"/>
                </a:solidFill>
                <a:latin typeface="Calibri" pitchFamily="34" charset="0"/>
                <a:ea typeface="Calibri" pitchFamily="34" charset="-122"/>
                <a:cs typeface="Calibri" pitchFamily="34" charset="-120"/>
              </a:rPr>
              <a:t>haz</a:t>
            </a:r>
            <a:endParaRPr lang="en-US" sz="950" dirty="0"/>
          </a:p>
          <a:p>
            <a:pPr algn="ctr" indent="0" marL="0">
              <a:lnSpc>
                <a:spcPts val="1300"/>
              </a:lnSpc>
              <a:buNone/>
            </a:pPr>
            <a:r>
              <a:rPr lang="en-US" sz="950" dirty="0">
                <a:solidFill>
                  <a:srgbClr val="7A7A82"/>
                </a:solidFill>
                <a:latin typeface="Calibri" pitchFamily="34" charset="0"/>
                <a:ea typeface="Calibri" pitchFamily="34" charset="-122"/>
                <a:cs typeface="Calibri" pitchFamily="34" charset="-120"/>
              </a:rPr>
              <a:t>uyarılma</a:t>
            </a:r>
            <a:endParaRPr lang="en-US" sz="950" dirty="0"/>
          </a:p>
          <a:p>
            <a:pPr algn="ctr" indent="0" marL="0">
              <a:lnSpc>
                <a:spcPts val="1300"/>
              </a:lnSpc>
              <a:buNone/>
            </a:pPr>
            <a:r>
              <a:rPr lang="en-US" sz="950" dirty="0">
                <a:solidFill>
                  <a:srgbClr val="7A7A82"/>
                </a:solidFill>
                <a:latin typeface="Calibri" pitchFamily="34" charset="0"/>
                <a:ea typeface="Calibri" pitchFamily="34" charset="-122"/>
                <a:cs typeface="Calibri" pitchFamily="34" charset="-120"/>
              </a:rPr>
              <a:t>kontrol duygusu</a:t>
            </a:r>
            <a:endParaRPr lang="en-US" sz="950" dirty="0"/>
          </a:p>
        </p:txBody>
      </p:sp>
      <p:sp>
        <p:nvSpPr>
          <p:cNvPr id="15" name="Shape 13"/>
          <p:cNvSpPr/>
          <p:nvPr/>
        </p:nvSpPr>
        <p:spPr>
          <a:xfrm>
            <a:off x="7909560" y="3108960"/>
            <a:ext cx="2103120" cy="566928"/>
          </a:xfrm>
          <a:prstGeom prst="rect">
            <a:avLst/>
          </a:prstGeom>
          <a:solidFill>
            <a:srgbClr val="F6EAE6"/>
          </a:solidFill>
          <a:ln w="15875">
            <a:solidFill>
              <a:srgbClr val="8C3A2B"/>
            </a:solidFill>
            <a:prstDash val="solid"/>
          </a:ln>
        </p:spPr>
      </p:sp>
      <p:sp>
        <p:nvSpPr>
          <p:cNvPr id="16" name="Text 14"/>
          <p:cNvSpPr txBox="1"/>
          <p:nvPr/>
        </p:nvSpPr>
        <p:spPr>
          <a:xfrm>
            <a:off x="7946136" y="3108960"/>
            <a:ext cx="2029968" cy="566928"/>
          </a:xfrm>
          <a:prstGeom prst="rect">
            <a:avLst/>
          </a:prstGeom>
          <a:noFill/>
          <a:ln/>
        </p:spPr>
        <p:txBody>
          <a:bodyPr wrap="square" lIns="0" tIns="0" rIns="0" bIns="0" rtlCol="0" anchor="ctr"/>
          <a:lstStyle/>
          <a:p>
            <a:pPr algn="ctr" indent="0" marL="0">
              <a:lnSpc>
                <a:spcPts val="1100"/>
              </a:lnSpc>
              <a:buNone/>
            </a:pPr>
            <a:r>
              <a:rPr lang="en-US" sz="1050" dirty="0">
                <a:solidFill>
                  <a:srgbClr val="8C3A2B"/>
                </a:solidFill>
                <a:latin typeface="Calibri" pitchFamily="34" charset="0"/>
                <a:ea typeface="Calibri" pitchFamily="34" charset="-122"/>
                <a:cs typeface="Calibri" pitchFamily="34" charset="-120"/>
              </a:rPr>
              <a:t>YAKLAŞMA</a:t>
            </a:r>
            <a:endParaRPr lang="en-US" sz="1050" dirty="0"/>
          </a:p>
        </p:txBody>
      </p:sp>
      <p:sp>
        <p:nvSpPr>
          <p:cNvPr id="17" name="Text 15"/>
          <p:cNvSpPr txBox="1"/>
          <p:nvPr/>
        </p:nvSpPr>
        <p:spPr>
          <a:xfrm>
            <a:off x="7909560" y="3730752"/>
            <a:ext cx="2103120" cy="274320"/>
          </a:xfrm>
          <a:prstGeom prst="rect">
            <a:avLst/>
          </a:prstGeom>
          <a:noFill/>
          <a:ln/>
        </p:spPr>
        <p:txBody>
          <a:bodyPr wrap="square" lIns="0" tIns="0" rIns="0" bIns="0" rtlCol="0" anchor="ctr"/>
          <a:lstStyle/>
          <a:p>
            <a:pPr algn="ctr" indent="0" marL="0">
              <a:lnSpc>
                <a:spcPts val="1250"/>
              </a:lnSpc>
              <a:buNone/>
            </a:pPr>
            <a:r>
              <a:rPr lang="en-US" sz="950" dirty="0">
                <a:solidFill>
                  <a:srgbClr val="7A7A82"/>
                </a:solidFill>
                <a:latin typeface="Calibri" pitchFamily="34" charset="0"/>
                <a:ea typeface="Calibri" pitchFamily="34" charset="-122"/>
                <a:cs typeface="Calibri" pitchFamily="34" charset="-120"/>
              </a:rPr>
              <a:t>girer · kalır · dolaşır</a:t>
            </a:r>
            <a:endParaRPr lang="en-US" sz="950" dirty="0"/>
          </a:p>
          <a:p>
            <a:pPr algn="ctr" indent="0" marL="0">
              <a:lnSpc>
                <a:spcPts val="1250"/>
              </a:lnSpc>
              <a:buNone/>
            </a:pPr>
            <a:r>
              <a:rPr lang="en-US" sz="950" dirty="0">
                <a:solidFill>
                  <a:srgbClr val="7A7A82"/>
                </a:solidFill>
                <a:latin typeface="Calibri" pitchFamily="34" charset="0"/>
                <a:ea typeface="Calibri" pitchFamily="34" charset="-122"/>
                <a:cs typeface="Calibri" pitchFamily="34" charset="-120"/>
              </a:rPr>
              <a:t>etkileşime geçer</a:t>
            </a:r>
            <a:endParaRPr lang="en-US" sz="950" dirty="0"/>
          </a:p>
        </p:txBody>
      </p:sp>
      <p:sp>
        <p:nvSpPr>
          <p:cNvPr id="18" name="Shape 16"/>
          <p:cNvSpPr/>
          <p:nvPr/>
        </p:nvSpPr>
        <p:spPr>
          <a:xfrm>
            <a:off x="7909560" y="4297680"/>
            <a:ext cx="2103120" cy="566928"/>
          </a:xfrm>
          <a:prstGeom prst="rect">
            <a:avLst/>
          </a:prstGeom>
          <a:ln w="9525">
            <a:solidFill>
              <a:srgbClr val="C9C9CF"/>
            </a:solidFill>
            <a:prstDash val="solid"/>
          </a:ln>
        </p:spPr>
      </p:sp>
      <p:sp>
        <p:nvSpPr>
          <p:cNvPr id="19" name="Text 17"/>
          <p:cNvSpPr txBox="1"/>
          <p:nvPr/>
        </p:nvSpPr>
        <p:spPr>
          <a:xfrm>
            <a:off x="7946136" y="4297680"/>
            <a:ext cx="2029968" cy="566928"/>
          </a:xfrm>
          <a:prstGeom prst="rect">
            <a:avLst/>
          </a:prstGeom>
          <a:noFill/>
          <a:ln/>
        </p:spPr>
        <p:txBody>
          <a:bodyPr wrap="square" lIns="0" tIns="0" rIns="0" bIns="0" rtlCol="0" anchor="ctr"/>
          <a:lstStyle/>
          <a:p>
            <a:pPr algn="ctr" indent="0" marL="0">
              <a:lnSpc>
                <a:spcPts val="1100"/>
              </a:lnSpc>
              <a:buNone/>
            </a:pPr>
            <a:r>
              <a:rPr lang="en-US" sz="1050" dirty="0">
                <a:solidFill>
                  <a:srgbClr val="2B2B31"/>
                </a:solidFill>
                <a:latin typeface="Calibri" pitchFamily="34" charset="0"/>
                <a:ea typeface="Calibri" pitchFamily="34" charset="-122"/>
                <a:cs typeface="Calibri" pitchFamily="34" charset="-120"/>
              </a:rPr>
              <a:t>KAÇINMA</a:t>
            </a:r>
            <a:endParaRPr lang="en-US" sz="1050" dirty="0"/>
          </a:p>
        </p:txBody>
      </p:sp>
      <p:sp>
        <p:nvSpPr>
          <p:cNvPr id="20" name="Text 18"/>
          <p:cNvSpPr txBox="1"/>
          <p:nvPr/>
        </p:nvSpPr>
        <p:spPr>
          <a:xfrm>
            <a:off x="7909560" y="4919472"/>
            <a:ext cx="2103120" cy="274320"/>
          </a:xfrm>
          <a:prstGeom prst="rect">
            <a:avLst/>
          </a:prstGeom>
          <a:noFill/>
          <a:ln/>
        </p:spPr>
        <p:txBody>
          <a:bodyPr wrap="square" lIns="0" tIns="0" rIns="0" bIns="0" rtlCol="0" anchor="ctr"/>
          <a:lstStyle/>
          <a:p>
            <a:pPr algn="ctr" indent="0" marL="0">
              <a:lnSpc>
                <a:spcPts val="1250"/>
              </a:lnSpc>
              <a:buNone/>
            </a:pPr>
            <a:r>
              <a:rPr lang="en-US" sz="950" dirty="0">
                <a:solidFill>
                  <a:srgbClr val="7A7A82"/>
                </a:solidFill>
                <a:latin typeface="Calibri" pitchFamily="34" charset="0"/>
                <a:ea typeface="Calibri" pitchFamily="34" charset="-122"/>
                <a:cs typeface="Calibri" pitchFamily="34" charset="-120"/>
              </a:rPr>
              <a:t>girmez · kısa keser</a:t>
            </a:r>
            <a:endParaRPr lang="en-US" sz="950" dirty="0"/>
          </a:p>
          <a:p>
            <a:pPr algn="ctr" indent="0" marL="0">
              <a:lnSpc>
                <a:spcPts val="1250"/>
              </a:lnSpc>
              <a:buNone/>
            </a:pPr>
            <a:r>
              <a:rPr lang="en-US" sz="950" dirty="0">
                <a:solidFill>
                  <a:srgbClr val="7A7A82"/>
                </a:solidFill>
                <a:latin typeface="Calibri" pitchFamily="34" charset="0"/>
                <a:ea typeface="Calibri" pitchFamily="34" charset="-122"/>
                <a:cs typeface="Calibri" pitchFamily="34" charset="-120"/>
              </a:rPr>
              <a:t>çıkar</a:t>
            </a:r>
            <a:endParaRPr lang="en-US" sz="950" dirty="0"/>
          </a:p>
        </p:txBody>
      </p:sp>
      <p:sp>
        <p:nvSpPr>
          <p:cNvPr id="21" name="Shape 19"/>
          <p:cNvSpPr/>
          <p:nvPr/>
        </p:nvSpPr>
        <p:spPr>
          <a:xfrm>
            <a:off x="8961120" y="2743200"/>
            <a:ext cx="0" cy="365760"/>
          </a:xfrm>
          <a:prstGeom prst="line">
            <a:avLst/>
          </a:prstGeom>
          <a:noFill/>
          <a:ln w="15875">
            <a:solidFill>
              <a:srgbClr val="8C3A2B"/>
            </a:solidFill>
            <a:prstDash val="solid"/>
            <a:tailEnd type="triangle"/>
          </a:ln>
        </p:spPr>
      </p:sp>
      <p:sp>
        <p:nvSpPr>
          <p:cNvPr id="22" name="Shape 20"/>
          <p:cNvSpPr/>
          <p:nvPr/>
        </p:nvSpPr>
        <p:spPr>
          <a:xfrm>
            <a:off x="8961120" y="3675888"/>
            <a:ext cx="0" cy="621792"/>
          </a:xfrm>
          <a:prstGeom prst="line">
            <a:avLst/>
          </a:prstGeom>
          <a:noFill/>
          <a:ln w="15875">
            <a:solidFill>
              <a:srgbClr val="7A7A82"/>
            </a:solidFill>
            <a:prstDash val="dash"/>
            <a:tailEnd type="triangle"/>
          </a:ln>
        </p:spPr>
      </p:sp>
      <p:sp>
        <p:nvSpPr>
          <p:cNvPr id="23" name="Text 21"/>
          <p:cNvSpPr txBox="1"/>
          <p:nvPr/>
        </p:nvSpPr>
        <p:spPr>
          <a:xfrm>
            <a:off x="777240" y="5486400"/>
            <a:ext cx="10424160" cy="7772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Mekânsal uyaranlar önce bir duygu üretir, duygu da bir davranışa dönüşür (Mehrabian &amp; Russell, 1974). Buradan çıkan sonuç açıktır: nötr bir mekân yoktur — hiçbir şey hissettirmemek de bir sonuçtur ve genellikle kaçınma yönünde çalışır. Sadelik bir karardır; kararsızlık değil.</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 · ATMOSFER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Deneyim neyden oluşur?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10</a:t>
            </a:r>
            <a:endParaRPr lang="en-US" sz="950" dirty="0"/>
          </a:p>
        </p:txBody>
      </p:sp>
      <p:sp>
        <p:nvSpPr>
          <p:cNvPr id="5" name="Text 3"/>
          <p:cNvSpPr txBox="1"/>
          <p:nvPr/>
        </p:nvSpPr>
        <p:spPr>
          <a:xfrm>
            <a:off x="777240" y="1591056"/>
            <a:ext cx="10634472" cy="91440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Perakende deneyimini oluşturan bileşenler, duyusal markalama literatüründe dört başlık altında toplanır (Lindström, 2005). Bunların üçü tasarımcının doğrudan kurduğu şeylerdir; dördüncüsü işletmenin kararıdır ama mekân onu barındırmak zorundadır.</a:t>
            </a:r>
            <a:endParaRPr lang="en-US" sz="1500" dirty="0"/>
          </a:p>
        </p:txBody>
      </p:sp>
      <p:sp>
        <p:nvSpPr>
          <p:cNvPr id="6" name="Shape 4"/>
          <p:cNvSpPr/>
          <p:nvPr/>
        </p:nvSpPr>
        <p:spPr>
          <a:xfrm>
            <a:off x="1362456" y="2734056"/>
            <a:ext cx="1572768" cy="1572768"/>
          </a:xfrm>
          <a:prstGeom prst="ellipse">
            <a:avLst/>
          </a:prstGeom>
          <a:solidFill>
            <a:srgbClr val="FCFCFA"/>
          </a:solidFill>
          <a:ln w="12700">
            <a:solidFill>
              <a:srgbClr val="C9C9CF"/>
            </a:solidFill>
            <a:prstDash val="solid"/>
          </a:ln>
        </p:spPr>
      </p:sp>
      <p:sp>
        <p:nvSpPr>
          <p:cNvPr id="7" name="Text 5"/>
          <p:cNvSpPr txBox="1"/>
          <p:nvPr/>
        </p:nvSpPr>
        <p:spPr>
          <a:xfrm>
            <a:off x="1362456" y="3108960"/>
            <a:ext cx="1572768" cy="822960"/>
          </a:xfrm>
          <a:prstGeom prst="rect">
            <a:avLst/>
          </a:prstGeom>
          <a:noFill/>
          <a:ln/>
        </p:spPr>
        <p:txBody>
          <a:bodyPr wrap="square" lIns="0" tIns="0" rIns="0" bIns="0" rtlCol="0" anchor="ctr"/>
          <a:lstStyle/>
          <a:p>
            <a:pPr algn="ctr" indent="0" marL="0">
              <a:lnSpc>
                <a:spcPts val="1400"/>
              </a:lnSpc>
              <a:buNone/>
            </a:pPr>
            <a:r>
              <a:rPr lang="en-US" sz="1100" b="1" dirty="0">
                <a:solidFill>
                  <a:srgbClr val="16161A"/>
                </a:solidFill>
                <a:latin typeface="Calibri" pitchFamily="34" charset="0"/>
                <a:ea typeface="Calibri" pitchFamily="34" charset="-122"/>
                <a:cs typeface="Calibri" pitchFamily="34" charset="-120"/>
              </a:rPr>
              <a:t>Mağaza</a:t>
            </a:r>
            <a:endParaRPr lang="en-US" sz="1100" dirty="0"/>
          </a:p>
          <a:p>
            <a:pPr algn="ctr" indent="0" marL="0">
              <a:lnSpc>
                <a:spcPts val="1400"/>
              </a:lnSpc>
              <a:buNone/>
            </a:pPr>
            <a:r>
              <a:rPr lang="en-US" sz="1100" b="1" dirty="0">
                <a:solidFill>
                  <a:srgbClr val="16161A"/>
                </a:solidFill>
                <a:latin typeface="Calibri" pitchFamily="34" charset="0"/>
                <a:ea typeface="Calibri" pitchFamily="34" charset="-122"/>
                <a:cs typeface="Calibri" pitchFamily="34" charset="-120"/>
              </a:rPr>
              <a:t>tasarımı</a:t>
            </a:r>
            <a:endParaRPr lang="en-US" sz="1100" dirty="0"/>
          </a:p>
        </p:txBody>
      </p:sp>
      <p:sp>
        <p:nvSpPr>
          <p:cNvPr id="8" name="Text 6"/>
          <p:cNvSpPr txBox="1"/>
          <p:nvPr/>
        </p:nvSpPr>
        <p:spPr>
          <a:xfrm>
            <a:off x="850392" y="4507992"/>
            <a:ext cx="2596896" cy="960120"/>
          </a:xfrm>
          <a:prstGeom prst="rect">
            <a:avLst/>
          </a:prstGeom>
          <a:noFill/>
          <a:ln/>
        </p:spPr>
        <p:txBody>
          <a:bodyPr wrap="square" lIns="0" tIns="0" rIns="0" bIns="0" rtlCol="0" anchor="ctr"/>
          <a:lstStyle/>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Estetik olarak çekici bir mekân, hikâye anlatımı, gündelikten kopuş</a:t>
            </a:r>
            <a:endParaRPr lang="en-US" sz="1050" dirty="0"/>
          </a:p>
        </p:txBody>
      </p:sp>
      <p:sp>
        <p:nvSpPr>
          <p:cNvPr id="9" name="Shape 7"/>
          <p:cNvSpPr/>
          <p:nvPr/>
        </p:nvSpPr>
        <p:spPr>
          <a:xfrm>
            <a:off x="2935224" y="3520440"/>
            <a:ext cx="1216152" cy="0"/>
          </a:xfrm>
          <a:prstGeom prst="line">
            <a:avLst/>
          </a:prstGeom>
          <a:noFill/>
          <a:ln w="12700">
            <a:solidFill>
              <a:srgbClr val="C9C9CF"/>
            </a:solidFill>
            <a:prstDash val="solid"/>
          </a:ln>
        </p:spPr>
      </p:sp>
      <p:sp>
        <p:nvSpPr>
          <p:cNvPr id="10" name="Shape 8"/>
          <p:cNvSpPr/>
          <p:nvPr/>
        </p:nvSpPr>
        <p:spPr>
          <a:xfrm>
            <a:off x="4151376" y="2734056"/>
            <a:ext cx="1572768" cy="1572768"/>
          </a:xfrm>
          <a:prstGeom prst="ellipse">
            <a:avLst/>
          </a:prstGeom>
          <a:solidFill>
            <a:srgbClr val="F6EAE6"/>
          </a:solidFill>
          <a:ln w="19050">
            <a:solidFill>
              <a:srgbClr val="8C3A2B"/>
            </a:solidFill>
            <a:prstDash val="solid"/>
          </a:ln>
        </p:spPr>
      </p:sp>
      <p:sp>
        <p:nvSpPr>
          <p:cNvPr id="11" name="Text 9"/>
          <p:cNvSpPr txBox="1"/>
          <p:nvPr/>
        </p:nvSpPr>
        <p:spPr>
          <a:xfrm>
            <a:off x="4151376" y="3108960"/>
            <a:ext cx="1572768" cy="822960"/>
          </a:xfrm>
          <a:prstGeom prst="rect">
            <a:avLst/>
          </a:prstGeom>
          <a:noFill/>
          <a:ln/>
        </p:spPr>
        <p:txBody>
          <a:bodyPr wrap="square" lIns="0" tIns="0" rIns="0" bIns="0" rtlCol="0" anchor="ctr"/>
          <a:lstStyle/>
          <a:p>
            <a:pPr algn="ctr" indent="0" marL="0">
              <a:lnSpc>
                <a:spcPts val="1400"/>
              </a:lnSpc>
              <a:buNone/>
            </a:pPr>
            <a:r>
              <a:rPr lang="en-US" sz="1100" b="1" dirty="0">
                <a:solidFill>
                  <a:srgbClr val="8C3A2B"/>
                </a:solidFill>
                <a:latin typeface="Calibri" pitchFamily="34" charset="0"/>
                <a:ea typeface="Calibri" pitchFamily="34" charset="-122"/>
                <a:cs typeface="Calibri" pitchFamily="34" charset="-120"/>
              </a:rPr>
              <a:t>Duyular</a:t>
            </a:r>
            <a:endParaRPr lang="en-US" sz="1100" dirty="0"/>
          </a:p>
        </p:txBody>
      </p:sp>
      <p:sp>
        <p:nvSpPr>
          <p:cNvPr id="12" name="Text 10"/>
          <p:cNvSpPr txBox="1"/>
          <p:nvPr/>
        </p:nvSpPr>
        <p:spPr>
          <a:xfrm>
            <a:off x="3639312" y="4507992"/>
            <a:ext cx="2596896" cy="960120"/>
          </a:xfrm>
          <a:prstGeom prst="rect">
            <a:avLst/>
          </a:prstGeom>
          <a:noFill/>
          <a:ln/>
        </p:spPr>
        <p:txBody>
          <a:bodyPr wrap="square" lIns="0" tIns="0" rIns="0" bIns="0" rtlCol="0" anchor="ctr"/>
          <a:lstStyle/>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Görme, işitme, dokunma, koklama ve tat duyusunun birlikte kurulması</a:t>
            </a:r>
            <a:endParaRPr lang="en-US" sz="1050" dirty="0"/>
          </a:p>
        </p:txBody>
      </p:sp>
      <p:sp>
        <p:nvSpPr>
          <p:cNvPr id="13" name="Shape 11"/>
          <p:cNvSpPr/>
          <p:nvPr/>
        </p:nvSpPr>
        <p:spPr>
          <a:xfrm>
            <a:off x="5724144" y="3520440"/>
            <a:ext cx="1216152" cy="0"/>
          </a:xfrm>
          <a:prstGeom prst="line">
            <a:avLst/>
          </a:prstGeom>
          <a:noFill/>
          <a:ln w="12700">
            <a:solidFill>
              <a:srgbClr val="C9C9CF"/>
            </a:solidFill>
            <a:prstDash val="solid"/>
          </a:ln>
        </p:spPr>
      </p:sp>
      <p:sp>
        <p:nvSpPr>
          <p:cNvPr id="14" name="Shape 12"/>
          <p:cNvSpPr/>
          <p:nvPr/>
        </p:nvSpPr>
        <p:spPr>
          <a:xfrm>
            <a:off x="6940296" y="2734056"/>
            <a:ext cx="1572768" cy="1572768"/>
          </a:xfrm>
          <a:prstGeom prst="ellipse">
            <a:avLst/>
          </a:prstGeom>
          <a:solidFill>
            <a:srgbClr val="FCFCFA"/>
          </a:solidFill>
          <a:ln w="12700">
            <a:solidFill>
              <a:srgbClr val="C9C9CF"/>
            </a:solidFill>
            <a:prstDash val="solid"/>
          </a:ln>
        </p:spPr>
      </p:sp>
      <p:sp>
        <p:nvSpPr>
          <p:cNvPr id="15" name="Text 13"/>
          <p:cNvSpPr txBox="1"/>
          <p:nvPr/>
        </p:nvSpPr>
        <p:spPr>
          <a:xfrm>
            <a:off x="6940296" y="3108960"/>
            <a:ext cx="1572768" cy="822960"/>
          </a:xfrm>
          <a:prstGeom prst="rect">
            <a:avLst/>
          </a:prstGeom>
          <a:noFill/>
          <a:ln/>
        </p:spPr>
        <p:txBody>
          <a:bodyPr wrap="square" lIns="0" tIns="0" rIns="0" bIns="0" rtlCol="0" anchor="ctr"/>
          <a:lstStyle/>
          <a:p>
            <a:pPr algn="ctr" indent="0" marL="0">
              <a:lnSpc>
                <a:spcPts val="1400"/>
              </a:lnSpc>
              <a:buNone/>
            </a:pPr>
            <a:r>
              <a:rPr lang="en-US" sz="1100" b="1" dirty="0">
                <a:solidFill>
                  <a:srgbClr val="16161A"/>
                </a:solidFill>
                <a:latin typeface="Calibri" pitchFamily="34" charset="0"/>
                <a:ea typeface="Calibri" pitchFamily="34" charset="-122"/>
                <a:cs typeface="Calibri" pitchFamily="34" charset="-120"/>
              </a:rPr>
              <a:t>Zirve–son</a:t>
            </a:r>
            <a:endParaRPr lang="en-US" sz="1100" dirty="0"/>
          </a:p>
          <a:p>
            <a:pPr algn="ctr" indent="0" marL="0">
              <a:lnSpc>
                <a:spcPts val="1400"/>
              </a:lnSpc>
              <a:buNone/>
            </a:pPr>
            <a:r>
              <a:rPr lang="en-US" sz="1100" b="1" dirty="0">
                <a:solidFill>
                  <a:srgbClr val="16161A"/>
                </a:solidFill>
                <a:latin typeface="Calibri" pitchFamily="34" charset="0"/>
                <a:ea typeface="Calibri" pitchFamily="34" charset="-122"/>
                <a:cs typeface="Calibri" pitchFamily="34" charset="-120"/>
              </a:rPr>
              <a:t>etkisi</a:t>
            </a:r>
            <a:endParaRPr lang="en-US" sz="1100" dirty="0"/>
          </a:p>
        </p:txBody>
      </p:sp>
      <p:sp>
        <p:nvSpPr>
          <p:cNvPr id="16" name="Text 14"/>
          <p:cNvSpPr txBox="1"/>
          <p:nvPr/>
        </p:nvSpPr>
        <p:spPr>
          <a:xfrm>
            <a:off x="6428232" y="4507992"/>
            <a:ext cx="2596896" cy="960120"/>
          </a:xfrm>
          <a:prstGeom prst="rect">
            <a:avLst/>
          </a:prstGeom>
          <a:noFill/>
          <a:ln/>
        </p:spPr>
        <p:txBody>
          <a:bodyPr wrap="square" lIns="0" tIns="0" rIns="0" bIns="0" rtlCol="0" anchor="ctr"/>
          <a:lstStyle/>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İnsan bir deneyimi en yoğun anı ve bitişiyle hatırlar; arası silinir</a:t>
            </a:r>
            <a:endParaRPr lang="en-US" sz="1050" dirty="0"/>
          </a:p>
        </p:txBody>
      </p:sp>
      <p:sp>
        <p:nvSpPr>
          <p:cNvPr id="17" name="Shape 15"/>
          <p:cNvSpPr/>
          <p:nvPr/>
        </p:nvSpPr>
        <p:spPr>
          <a:xfrm>
            <a:off x="8513064" y="3520440"/>
            <a:ext cx="1216152" cy="0"/>
          </a:xfrm>
          <a:prstGeom prst="line">
            <a:avLst/>
          </a:prstGeom>
          <a:noFill/>
          <a:ln w="12700">
            <a:solidFill>
              <a:srgbClr val="C9C9CF"/>
            </a:solidFill>
            <a:prstDash val="solid"/>
          </a:ln>
        </p:spPr>
      </p:sp>
      <p:sp>
        <p:nvSpPr>
          <p:cNvPr id="18" name="Shape 16"/>
          <p:cNvSpPr/>
          <p:nvPr/>
        </p:nvSpPr>
        <p:spPr>
          <a:xfrm>
            <a:off x="9729216" y="2734056"/>
            <a:ext cx="1572768" cy="1572768"/>
          </a:xfrm>
          <a:prstGeom prst="ellipse">
            <a:avLst/>
          </a:prstGeom>
          <a:solidFill>
            <a:srgbClr val="FCFCFA"/>
          </a:solidFill>
          <a:ln w="12700">
            <a:solidFill>
              <a:srgbClr val="C9C9CF"/>
            </a:solidFill>
            <a:prstDash val="solid"/>
          </a:ln>
        </p:spPr>
      </p:sp>
      <p:sp>
        <p:nvSpPr>
          <p:cNvPr id="19" name="Text 17"/>
          <p:cNvSpPr txBox="1"/>
          <p:nvPr/>
        </p:nvSpPr>
        <p:spPr>
          <a:xfrm>
            <a:off x="9729216" y="3108960"/>
            <a:ext cx="1572768" cy="822960"/>
          </a:xfrm>
          <a:prstGeom prst="rect">
            <a:avLst/>
          </a:prstGeom>
          <a:noFill/>
          <a:ln/>
        </p:spPr>
        <p:txBody>
          <a:bodyPr wrap="square" lIns="0" tIns="0" rIns="0" bIns="0" rtlCol="0" anchor="ctr"/>
          <a:lstStyle/>
          <a:p>
            <a:pPr algn="ctr" indent="0" marL="0">
              <a:lnSpc>
                <a:spcPts val="1400"/>
              </a:lnSpc>
              <a:buNone/>
            </a:pPr>
            <a:r>
              <a:rPr lang="en-US" sz="1100" b="1" dirty="0">
                <a:solidFill>
                  <a:srgbClr val="16161A"/>
                </a:solidFill>
                <a:latin typeface="Calibri" pitchFamily="34" charset="0"/>
                <a:ea typeface="Calibri" pitchFamily="34" charset="-122"/>
                <a:cs typeface="Calibri" pitchFamily="34" charset="-120"/>
              </a:rPr>
              <a:t>Perakende</a:t>
            </a:r>
            <a:endParaRPr lang="en-US" sz="1100" dirty="0"/>
          </a:p>
          <a:p>
            <a:pPr algn="ctr" indent="0" marL="0">
              <a:lnSpc>
                <a:spcPts val="1400"/>
              </a:lnSpc>
              <a:buNone/>
            </a:pPr>
            <a:r>
              <a:rPr lang="en-US" sz="1100" b="1" dirty="0">
                <a:solidFill>
                  <a:srgbClr val="16161A"/>
                </a:solidFill>
                <a:latin typeface="Calibri" pitchFamily="34" charset="0"/>
                <a:ea typeface="Calibri" pitchFamily="34" charset="-122"/>
                <a:cs typeface="Calibri" pitchFamily="34" charset="-120"/>
              </a:rPr>
              <a:t>eğlence</a:t>
            </a:r>
            <a:endParaRPr lang="en-US" sz="1100" dirty="0"/>
          </a:p>
        </p:txBody>
      </p:sp>
      <p:sp>
        <p:nvSpPr>
          <p:cNvPr id="20" name="Text 18"/>
          <p:cNvSpPr txBox="1"/>
          <p:nvPr/>
        </p:nvSpPr>
        <p:spPr>
          <a:xfrm>
            <a:off x="9217152" y="4507992"/>
            <a:ext cx="2596896" cy="960120"/>
          </a:xfrm>
          <a:prstGeom prst="rect">
            <a:avLst/>
          </a:prstGeom>
          <a:noFill/>
          <a:ln/>
        </p:spPr>
        <p:txBody>
          <a:bodyPr wrap="square" lIns="0" tIns="0" rIns="0" bIns="0" rtlCol="0" anchor="ctr"/>
          <a:lstStyle/>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Gündelik alışverişi kıran, planlı bir sürpriz ya da etkinlik</a:t>
            </a:r>
            <a:endParaRPr lang="en-US" sz="1050" dirty="0"/>
          </a:p>
        </p:txBody>
      </p:sp>
      <p:sp>
        <p:nvSpPr>
          <p:cNvPr id="21" name="Text 19"/>
          <p:cNvSpPr txBox="1"/>
          <p:nvPr/>
        </p:nvSpPr>
        <p:spPr>
          <a:xfrm>
            <a:off x="777240" y="5577840"/>
            <a:ext cx="10424160" cy="548640"/>
          </a:xfrm>
          <a:prstGeom prst="rect">
            <a:avLst/>
          </a:prstGeom>
          <a:noFill/>
          <a:ln/>
        </p:spPr>
        <p:txBody>
          <a:bodyPr wrap="square" lIns="0" tIns="0" rIns="0" bIns="0" rtlCol="0" anchor="ctr"/>
          <a:lstStyle/>
          <a:p>
            <a:pPr algn="l" indent="0" marL="0">
              <a:lnSpc>
                <a:spcPts val="1800"/>
              </a:lnSpc>
              <a:buNone/>
            </a:pPr>
            <a:r>
              <a:rPr lang="en-US" sz="1250" dirty="0">
                <a:solidFill>
                  <a:srgbClr val="2B2B31"/>
                </a:solidFill>
                <a:latin typeface="Cambria" pitchFamily="34" charset="0"/>
                <a:ea typeface="Cambria" pitchFamily="34" charset="-122"/>
                <a:cs typeface="Cambria" pitchFamily="34" charset="-120"/>
              </a:rPr>
              <a:t>Zirve–son etkisi psikolojiden gelir (Kahneman &amp; Fredrickson): bir mağazadan çıkarken yaşanan an, içeride geçen kırk dakikadan daha fazla hatırlanır.</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 · ATMOSFER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Mağazanın sunabileceği dört deneyim türü</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11</a:t>
            </a:r>
            <a:endParaRPr lang="en-US" sz="950" dirty="0"/>
          </a:p>
        </p:txBody>
      </p:sp>
      <p:sp>
        <p:nvSpPr>
          <p:cNvPr id="5" name="Text 3"/>
          <p:cNvSpPr txBox="1"/>
          <p:nvPr/>
        </p:nvSpPr>
        <p:spPr>
          <a:xfrm>
            <a:off x="777240" y="1572768"/>
            <a:ext cx="10634472" cy="91440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Deneyim tek bir biçimde kurulmaz. Aşağıdaki dört tür, müşterinin mağazada ne yaptığına göre ayrışır ve her biri mekândan farklı bir şey ister. Bir mağaza dördünü birden iyi yapamaz; hangisini seçtiği bir tasarım kararıdır.</a:t>
            </a:r>
            <a:endParaRPr lang="en-US" sz="1500" dirty="0"/>
          </a:p>
        </p:txBody>
      </p:sp>
      <p:sp>
        <p:nvSpPr>
          <p:cNvPr id="6" name="Shape 4"/>
          <p:cNvSpPr/>
          <p:nvPr/>
        </p:nvSpPr>
        <p:spPr>
          <a:xfrm>
            <a:off x="1362456" y="2368296"/>
            <a:ext cx="1572768" cy="1572768"/>
          </a:xfrm>
          <a:prstGeom prst="ellipse">
            <a:avLst/>
          </a:prstGeom>
          <a:solidFill>
            <a:srgbClr val="F6EAE6"/>
          </a:solidFill>
          <a:ln w="19050">
            <a:solidFill>
              <a:srgbClr val="8C3A2B"/>
            </a:solidFill>
            <a:prstDash val="solid"/>
          </a:ln>
        </p:spPr>
      </p:sp>
      <p:sp>
        <p:nvSpPr>
          <p:cNvPr id="7" name="Text 5"/>
          <p:cNvSpPr txBox="1"/>
          <p:nvPr/>
        </p:nvSpPr>
        <p:spPr>
          <a:xfrm>
            <a:off x="1362456" y="2743200"/>
            <a:ext cx="1572768" cy="822960"/>
          </a:xfrm>
          <a:prstGeom prst="rect">
            <a:avLst/>
          </a:prstGeom>
          <a:noFill/>
          <a:ln/>
        </p:spPr>
        <p:txBody>
          <a:bodyPr wrap="square" lIns="0" tIns="0" rIns="0" bIns="0" rtlCol="0" anchor="ctr"/>
          <a:lstStyle/>
          <a:p>
            <a:pPr algn="ctr" indent="0" marL="0">
              <a:lnSpc>
                <a:spcPts val="1400"/>
              </a:lnSpc>
              <a:buNone/>
            </a:pPr>
            <a:r>
              <a:rPr lang="en-US" sz="1100" b="1" dirty="0">
                <a:solidFill>
                  <a:srgbClr val="8C3A2B"/>
                </a:solidFill>
                <a:latin typeface="Calibri" pitchFamily="34" charset="0"/>
                <a:ea typeface="Calibri" pitchFamily="34" charset="-122"/>
                <a:cs typeface="Calibri" pitchFamily="34" charset="-120"/>
              </a:rPr>
              <a:t>Öğrenme</a:t>
            </a:r>
            <a:endParaRPr lang="en-US" sz="1100" dirty="0"/>
          </a:p>
        </p:txBody>
      </p:sp>
      <p:sp>
        <p:nvSpPr>
          <p:cNvPr id="8" name="Text 6"/>
          <p:cNvSpPr txBox="1"/>
          <p:nvPr/>
        </p:nvSpPr>
        <p:spPr>
          <a:xfrm>
            <a:off x="850392" y="4142232"/>
            <a:ext cx="2596896" cy="914400"/>
          </a:xfrm>
          <a:prstGeom prst="rect">
            <a:avLst/>
          </a:prstGeom>
          <a:noFill/>
          <a:ln/>
        </p:spPr>
        <p:txBody>
          <a:bodyPr wrap="square" lIns="0" tIns="0" rIns="0" bIns="0" rtlCol="0" anchor="ctr"/>
          <a:lstStyle/>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Müşterinin etkin katıldığı deneyim; amaç yeni bir şey öğrenmek.</a:t>
            </a:r>
            <a:endParaRPr lang="en-US" sz="1050" dirty="0"/>
          </a:p>
        </p:txBody>
      </p:sp>
      <p:sp>
        <p:nvSpPr>
          <p:cNvPr id="9" name="Text 7"/>
          <p:cNvSpPr txBox="1"/>
          <p:nvPr/>
        </p:nvSpPr>
        <p:spPr>
          <a:xfrm>
            <a:off x="850392" y="5138928"/>
            <a:ext cx="2596896" cy="219456"/>
          </a:xfrm>
          <a:prstGeom prst="rect">
            <a:avLst/>
          </a:prstGeom>
          <a:noFill/>
          <a:ln/>
        </p:spPr>
        <p:txBody>
          <a:bodyPr wrap="square" lIns="0" tIns="0" rIns="0" bIns="0" rtlCol="0" anchor="ctr"/>
          <a:lstStyle/>
          <a:p>
            <a:pPr algn="ctr" indent="0" marL="0">
              <a:buNone/>
            </a:pPr>
            <a:r>
              <a:rPr lang="en-US" sz="800" b="1" spc="140" kern="0" dirty="0">
                <a:solidFill>
                  <a:srgbClr val="A6A6AC"/>
                </a:solidFill>
                <a:latin typeface="Calibri" pitchFamily="34" charset="0"/>
                <a:ea typeface="Calibri" pitchFamily="34" charset="-122"/>
                <a:cs typeface="Calibri" pitchFamily="34" charset="-120"/>
              </a:rPr>
              <a:t>MEKÂNSAL TALEP</a:t>
            </a:r>
            <a:endParaRPr lang="en-US" sz="800" dirty="0"/>
          </a:p>
        </p:txBody>
      </p:sp>
      <p:sp>
        <p:nvSpPr>
          <p:cNvPr id="10" name="Text 8"/>
          <p:cNvSpPr txBox="1"/>
          <p:nvPr/>
        </p:nvSpPr>
        <p:spPr>
          <a:xfrm>
            <a:off x="850392" y="5358384"/>
            <a:ext cx="2596896" cy="502920"/>
          </a:xfrm>
          <a:prstGeom prst="rect">
            <a:avLst/>
          </a:prstGeom>
          <a:noFill/>
          <a:ln/>
        </p:spPr>
        <p:txBody>
          <a:bodyPr wrap="square" lIns="0" tIns="0" rIns="0" bIns="0" rtlCol="0" anchor="ctr"/>
          <a:lstStyle/>
          <a:p>
            <a:pPr algn="ctr" indent="0" marL="0">
              <a:lnSpc>
                <a:spcPts val="1250"/>
              </a:lnSpc>
              <a:buNone/>
            </a:pPr>
            <a:r>
              <a:rPr lang="en-US" sz="1000" dirty="0">
                <a:solidFill>
                  <a:srgbClr val="8C3A2B"/>
                </a:solidFill>
                <a:latin typeface="Calibri" pitchFamily="34" charset="0"/>
                <a:ea typeface="Calibri" pitchFamily="34" charset="-122"/>
                <a:cs typeface="Calibri" pitchFamily="34" charset="-120"/>
              </a:rPr>
              <a:t>atölye masası · demo alanı · oturma düzeni</a:t>
            </a:r>
            <a:endParaRPr lang="en-US" sz="1000" dirty="0"/>
          </a:p>
        </p:txBody>
      </p:sp>
      <p:sp>
        <p:nvSpPr>
          <p:cNvPr id="11" name="Shape 9"/>
          <p:cNvSpPr/>
          <p:nvPr/>
        </p:nvSpPr>
        <p:spPr>
          <a:xfrm>
            <a:off x="2935224" y="3154680"/>
            <a:ext cx="1216152" cy="0"/>
          </a:xfrm>
          <a:prstGeom prst="line">
            <a:avLst/>
          </a:prstGeom>
          <a:noFill/>
          <a:ln w="12700">
            <a:solidFill>
              <a:srgbClr val="C9C9CF"/>
            </a:solidFill>
            <a:prstDash val="solid"/>
          </a:ln>
        </p:spPr>
      </p:sp>
      <p:sp>
        <p:nvSpPr>
          <p:cNvPr id="12" name="Shape 10"/>
          <p:cNvSpPr/>
          <p:nvPr/>
        </p:nvSpPr>
        <p:spPr>
          <a:xfrm>
            <a:off x="4151376" y="2368296"/>
            <a:ext cx="1572768" cy="1572768"/>
          </a:xfrm>
          <a:prstGeom prst="ellipse">
            <a:avLst/>
          </a:prstGeom>
          <a:solidFill>
            <a:srgbClr val="FCFCFA"/>
          </a:solidFill>
          <a:ln w="12700">
            <a:solidFill>
              <a:srgbClr val="C9C9CF"/>
            </a:solidFill>
            <a:prstDash val="solid"/>
          </a:ln>
        </p:spPr>
      </p:sp>
      <p:sp>
        <p:nvSpPr>
          <p:cNvPr id="13" name="Text 11"/>
          <p:cNvSpPr txBox="1"/>
          <p:nvPr/>
        </p:nvSpPr>
        <p:spPr>
          <a:xfrm>
            <a:off x="4151376" y="2743200"/>
            <a:ext cx="1572768" cy="822960"/>
          </a:xfrm>
          <a:prstGeom prst="rect">
            <a:avLst/>
          </a:prstGeom>
          <a:noFill/>
          <a:ln/>
        </p:spPr>
        <p:txBody>
          <a:bodyPr wrap="square" lIns="0" tIns="0" rIns="0" bIns="0" rtlCol="0" anchor="ctr"/>
          <a:lstStyle/>
          <a:p>
            <a:pPr algn="ctr" indent="0" marL="0">
              <a:lnSpc>
                <a:spcPts val="1400"/>
              </a:lnSpc>
              <a:buNone/>
            </a:pPr>
            <a:r>
              <a:rPr lang="en-US" sz="1100" b="1" dirty="0">
                <a:solidFill>
                  <a:srgbClr val="16161A"/>
                </a:solidFill>
                <a:latin typeface="Calibri" pitchFamily="34" charset="0"/>
                <a:ea typeface="Calibri" pitchFamily="34" charset="-122"/>
                <a:cs typeface="Calibri" pitchFamily="34" charset="-120"/>
              </a:rPr>
              <a:t>Kişisel</a:t>
            </a:r>
            <a:endParaRPr lang="en-US" sz="1100" dirty="0"/>
          </a:p>
          <a:p>
            <a:pPr algn="ctr" indent="0" marL="0">
              <a:lnSpc>
                <a:spcPts val="1400"/>
              </a:lnSpc>
              <a:buNone/>
            </a:pPr>
            <a:r>
              <a:rPr lang="en-US" sz="1100" b="1" dirty="0">
                <a:solidFill>
                  <a:srgbClr val="16161A"/>
                </a:solidFill>
                <a:latin typeface="Calibri" pitchFamily="34" charset="0"/>
                <a:ea typeface="Calibri" pitchFamily="34" charset="-122"/>
                <a:cs typeface="Calibri" pitchFamily="34" charset="-120"/>
              </a:rPr>
              <a:t>satış</a:t>
            </a:r>
            <a:endParaRPr lang="en-US" sz="1100" dirty="0"/>
          </a:p>
        </p:txBody>
      </p:sp>
      <p:sp>
        <p:nvSpPr>
          <p:cNvPr id="14" name="Text 12"/>
          <p:cNvSpPr txBox="1"/>
          <p:nvPr/>
        </p:nvSpPr>
        <p:spPr>
          <a:xfrm>
            <a:off x="3639312" y="4142232"/>
            <a:ext cx="2596896" cy="914400"/>
          </a:xfrm>
          <a:prstGeom prst="rect">
            <a:avLst/>
          </a:prstGeom>
          <a:noFill/>
          <a:ln/>
        </p:spPr>
        <p:txBody>
          <a:bodyPr wrap="square" lIns="0" tIns="0" rIns="0" bIns="0" rtlCol="0" anchor="ctr"/>
          <a:lstStyle/>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Satış görevlisinin rolü ürün gösterenden deneyim kurana dönüşür.</a:t>
            </a:r>
            <a:endParaRPr lang="en-US" sz="1050" dirty="0"/>
          </a:p>
        </p:txBody>
      </p:sp>
      <p:sp>
        <p:nvSpPr>
          <p:cNvPr id="15" name="Text 13"/>
          <p:cNvSpPr txBox="1"/>
          <p:nvPr/>
        </p:nvSpPr>
        <p:spPr>
          <a:xfrm>
            <a:off x="3639312" y="5138928"/>
            <a:ext cx="2596896" cy="219456"/>
          </a:xfrm>
          <a:prstGeom prst="rect">
            <a:avLst/>
          </a:prstGeom>
          <a:noFill/>
          <a:ln/>
        </p:spPr>
        <p:txBody>
          <a:bodyPr wrap="square" lIns="0" tIns="0" rIns="0" bIns="0" rtlCol="0" anchor="ctr"/>
          <a:lstStyle/>
          <a:p>
            <a:pPr algn="ctr" indent="0" marL="0">
              <a:buNone/>
            </a:pPr>
            <a:r>
              <a:rPr lang="en-US" sz="800" b="1" spc="140" kern="0" dirty="0">
                <a:solidFill>
                  <a:srgbClr val="A6A6AC"/>
                </a:solidFill>
                <a:latin typeface="Calibri" pitchFamily="34" charset="0"/>
                <a:ea typeface="Calibri" pitchFamily="34" charset="-122"/>
                <a:cs typeface="Calibri" pitchFamily="34" charset="-120"/>
              </a:rPr>
              <a:t>MEKÂNSAL TALEP</a:t>
            </a:r>
            <a:endParaRPr lang="en-US" sz="800" dirty="0"/>
          </a:p>
        </p:txBody>
      </p:sp>
      <p:sp>
        <p:nvSpPr>
          <p:cNvPr id="16" name="Text 14"/>
          <p:cNvSpPr txBox="1"/>
          <p:nvPr/>
        </p:nvSpPr>
        <p:spPr>
          <a:xfrm>
            <a:off x="3639312" y="5358384"/>
            <a:ext cx="2596896" cy="502920"/>
          </a:xfrm>
          <a:prstGeom prst="rect">
            <a:avLst/>
          </a:prstGeom>
          <a:noFill/>
          <a:ln/>
        </p:spPr>
        <p:txBody>
          <a:bodyPr wrap="square" lIns="0" tIns="0" rIns="0" bIns="0" rtlCol="0" anchor="ctr"/>
          <a:lstStyle/>
          <a:p>
            <a:pPr algn="ctr" indent="0" marL="0">
              <a:lnSpc>
                <a:spcPts val="1250"/>
              </a:lnSpc>
              <a:buNone/>
            </a:pPr>
            <a:r>
              <a:rPr lang="en-US" sz="1000" dirty="0">
                <a:solidFill>
                  <a:srgbClr val="2B2B31"/>
                </a:solidFill>
                <a:latin typeface="Calibri" pitchFamily="34" charset="0"/>
                <a:ea typeface="Calibri" pitchFamily="34" charset="-122"/>
                <a:cs typeface="Calibri" pitchFamily="34" charset="-120"/>
              </a:rPr>
              <a:t>danışma noktası · birebir tezgâh · ölçü alma</a:t>
            </a:r>
            <a:endParaRPr lang="en-US" sz="1000" dirty="0"/>
          </a:p>
        </p:txBody>
      </p:sp>
      <p:sp>
        <p:nvSpPr>
          <p:cNvPr id="17" name="Shape 15"/>
          <p:cNvSpPr/>
          <p:nvPr/>
        </p:nvSpPr>
        <p:spPr>
          <a:xfrm>
            <a:off x="5724144" y="3154680"/>
            <a:ext cx="1216152" cy="0"/>
          </a:xfrm>
          <a:prstGeom prst="line">
            <a:avLst/>
          </a:prstGeom>
          <a:noFill/>
          <a:ln w="12700">
            <a:solidFill>
              <a:srgbClr val="C9C9CF"/>
            </a:solidFill>
            <a:prstDash val="solid"/>
          </a:ln>
        </p:spPr>
      </p:sp>
      <p:sp>
        <p:nvSpPr>
          <p:cNvPr id="18" name="Shape 16"/>
          <p:cNvSpPr/>
          <p:nvPr/>
        </p:nvSpPr>
        <p:spPr>
          <a:xfrm>
            <a:off x="6940296" y="2368296"/>
            <a:ext cx="1572768" cy="1572768"/>
          </a:xfrm>
          <a:prstGeom prst="ellipse">
            <a:avLst/>
          </a:prstGeom>
          <a:solidFill>
            <a:srgbClr val="FCFCFA"/>
          </a:solidFill>
          <a:ln w="12700">
            <a:solidFill>
              <a:srgbClr val="C9C9CF"/>
            </a:solidFill>
            <a:prstDash val="solid"/>
          </a:ln>
        </p:spPr>
      </p:sp>
      <p:sp>
        <p:nvSpPr>
          <p:cNvPr id="19" name="Text 17"/>
          <p:cNvSpPr txBox="1"/>
          <p:nvPr/>
        </p:nvSpPr>
        <p:spPr>
          <a:xfrm>
            <a:off x="6940296" y="2743200"/>
            <a:ext cx="1572768" cy="822960"/>
          </a:xfrm>
          <a:prstGeom prst="rect">
            <a:avLst/>
          </a:prstGeom>
          <a:noFill/>
          <a:ln/>
        </p:spPr>
        <p:txBody>
          <a:bodyPr wrap="square" lIns="0" tIns="0" rIns="0" bIns="0" rtlCol="0" anchor="ctr"/>
          <a:lstStyle/>
          <a:p>
            <a:pPr algn="ctr" indent="0" marL="0">
              <a:lnSpc>
                <a:spcPts val="1400"/>
              </a:lnSpc>
              <a:buNone/>
            </a:pPr>
            <a:r>
              <a:rPr lang="en-US" sz="1100" b="1" dirty="0">
                <a:solidFill>
                  <a:srgbClr val="16161A"/>
                </a:solidFill>
                <a:latin typeface="Calibri" pitchFamily="34" charset="0"/>
                <a:ea typeface="Calibri" pitchFamily="34" charset="-122"/>
                <a:cs typeface="Calibri" pitchFamily="34" charset="-120"/>
              </a:rPr>
              <a:t>Çok</a:t>
            </a:r>
            <a:endParaRPr lang="en-US" sz="1100" dirty="0"/>
          </a:p>
          <a:p>
            <a:pPr algn="ctr" indent="0" marL="0">
              <a:lnSpc>
                <a:spcPts val="1400"/>
              </a:lnSpc>
              <a:buNone/>
            </a:pPr>
            <a:r>
              <a:rPr lang="en-US" sz="1100" b="1" dirty="0">
                <a:solidFill>
                  <a:srgbClr val="16161A"/>
                </a:solidFill>
                <a:latin typeface="Calibri" pitchFamily="34" charset="0"/>
                <a:ea typeface="Calibri" pitchFamily="34" charset="-122"/>
                <a:cs typeface="Calibri" pitchFamily="34" charset="-120"/>
              </a:rPr>
              <a:t>kanallılık</a:t>
            </a:r>
            <a:endParaRPr lang="en-US" sz="1100" dirty="0"/>
          </a:p>
        </p:txBody>
      </p:sp>
      <p:sp>
        <p:nvSpPr>
          <p:cNvPr id="20" name="Text 18"/>
          <p:cNvSpPr txBox="1"/>
          <p:nvPr/>
        </p:nvSpPr>
        <p:spPr>
          <a:xfrm>
            <a:off x="6428232" y="4142232"/>
            <a:ext cx="2596896" cy="914400"/>
          </a:xfrm>
          <a:prstGeom prst="rect">
            <a:avLst/>
          </a:prstGeom>
          <a:noFill/>
          <a:ln/>
        </p:spPr>
        <p:txBody>
          <a:bodyPr wrap="square" lIns="0" tIns="0" rIns="0" bIns="0" rtlCol="0" anchor="ctr"/>
          <a:lstStyle/>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Müşteri birden çok kanaldan geliyor; mağaza bunları buluşturmalı.</a:t>
            </a:r>
            <a:endParaRPr lang="en-US" sz="1050" dirty="0"/>
          </a:p>
        </p:txBody>
      </p:sp>
      <p:sp>
        <p:nvSpPr>
          <p:cNvPr id="21" name="Text 19"/>
          <p:cNvSpPr txBox="1"/>
          <p:nvPr/>
        </p:nvSpPr>
        <p:spPr>
          <a:xfrm>
            <a:off x="6428232" y="5138928"/>
            <a:ext cx="2596896" cy="219456"/>
          </a:xfrm>
          <a:prstGeom prst="rect">
            <a:avLst/>
          </a:prstGeom>
          <a:noFill/>
          <a:ln/>
        </p:spPr>
        <p:txBody>
          <a:bodyPr wrap="square" lIns="0" tIns="0" rIns="0" bIns="0" rtlCol="0" anchor="ctr"/>
          <a:lstStyle/>
          <a:p>
            <a:pPr algn="ctr" indent="0" marL="0">
              <a:buNone/>
            </a:pPr>
            <a:r>
              <a:rPr lang="en-US" sz="800" b="1" spc="140" kern="0" dirty="0">
                <a:solidFill>
                  <a:srgbClr val="A6A6AC"/>
                </a:solidFill>
                <a:latin typeface="Calibri" pitchFamily="34" charset="0"/>
                <a:ea typeface="Calibri" pitchFamily="34" charset="-122"/>
                <a:cs typeface="Calibri" pitchFamily="34" charset="-120"/>
              </a:rPr>
              <a:t>MEKÂNSAL TALEP</a:t>
            </a:r>
            <a:endParaRPr lang="en-US" sz="800" dirty="0"/>
          </a:p>
        </p:txBody>
      </p:sp>
      <p:sp>
        <p:nvSpPr>
          <p:cNvPr id="22" name="Text 20"/>
          <p:cNvSpPr txBox="1"/>
          <p:nvPr/>
        </p:nvSpPr>
        <p:spPr>
          <a:xfrm>
            <a:off x="6428232" y="5358384"/>
            <a:ext cx="2596896" cy="502920"/>
          </a:xfrm>
          <a:prstGeom prst="rect">
            <a:avLst/>
          </a:prstGeom>
          <a:noFill/>
          <a:ln/>
        </p:spPr>
        <p:txBody>
          <a:bodyPr wrap="square" lIns="0" tIns="0" rIns="0" bIns="0" rtlCol="0" anchor="ctr"/>
          <a:lstStyle/>
          <a:p>
            <a:pPr algn="ctr" indent="0" marL="0">
              <a:lnSpc>
                <a:spcPts val="1250"/>
              </a:lnSpc>
              <a:buNone/>
            </a:pPr>
            <a:r>
              <a:rPr lang="en-US" sz="1000" dirty="0">
                <a:solidFill>
                  <a:srgbClr val="2B2B31"/>
                </a:solidFill>
                <a:latin typeface="Calibri" pitchFamily="34" charset="0"/>
                <a:ea typeface="Calibri" pitchFamily="34" charset="-122"/>
                <a:cs typeface="Calibri" pitchFamily="34" charset="-120"/>
              </a:rPr>
              <a:t>stok sorgu · online sipariş teslimi · iade noktası</a:t>
            </a:r>
            <a:endParaRPr lang="en-US" sz="1000" dirty="0"/>
          </a:p>
        </p:txBody>
      </p:sp>
      <p:sp>
        <p:nvSpPr>
          <p:cNvPr id="23" name="Shape 21"/>
          <p:cNvSpPr/>
          <p:nvPr/>
        </p:nvSpPr>
        <p:spPr>
          <a:xfrm>
            <a:off x="8513064" y="3154680"/>
            <a:ext cx="1216152" cy="0"/>
          </a:xfrm>
          <a:prstGeom prst="line">
            <a:avLst/>
          </a:prstGeom>
          <a:noFill/>
          <a:ln w="12700">
            <a:solidFill>
              <a:srgbClr val="C9C9CF"/>
            </a:solidFill>
            <a:prstDash val="solid"/>
          </a:ln>
        </p:spPr>
      </p:sp>
      <p:sp>
        <p:nvSpPr>
          <p:cNvPr id="24" name="Shape 22"/>
          <p:cNvSpPr/>
          <p:nvPr/>
        </p:nvSpPr>
        <p:spPr>
          <a:xfrm>
            <a:off x="9729216" y="2368296"/>
            <a:ext cx="1572768" cy="1572768"/>
          </a:xfrm>
          <a:prstGeom prst="ellipse">
            <a:avLst/>
          </a:prstGeom>
          <a:solidFill>
            <a:srgbClr val="FCFCFA"/>
          </a:solidFill>
          <a:ln w="12700">
            <a:solidFill>
              <a:srgbClr val="C9C9CF"/>
            </a:solidFill>
            <a:prstDash val="solid"/>
          </a:ln>
        </p:spPr>
      </p:sp>
      <p:sp>
        <p:nvSpPr>
          <p:cNvPr id="25" name="Text 23"/>
          <p:cNvSpPr txBox="1"/>
          <p:nvPr/>
        </p:nvSpPr>
        <p:spPr>
          <a:xfrm>
            <a:off x="9729216" y="2743200"/>
            <a:ext cx="1572768" cy="822960"/>
          </a:xfrm>
          <a:prstGeom prst="rect">
            <a:avLst/>
          </a:prstGeom>
          <a:noFill/>
          <a:ln/>
        </p:spPr>
        <p:txBody>
          <a:bodyPr wrap="square" lIns="0" tIns="0" rIns="0" bIns="0" rtlCol="0" anchor="ctr"/>
          <a:lstStyle/>
          <a:p>
            <a:pPr algn="ctr" indent="0" marL="0">
              <a:lnSpc>
                <a:spcPts val="1400"/>
              </a:lnSpc>
              <a:buNone/>
            </a:pPr>
            <a:r>
              <a:rPr lang="en-US" sz="1100" b="1" dirty="0">
                <a:solidFill>
                  <a:srgbClr val="16161A"/>
                </a:solidFill>
                <a:latin typeface="Calibri" pitchFamily="34" charset="0"/>
                <a:ea typeface="Calibri" pitchFamily="34" charset="-122"/>
                <a:cs typeface="Calibri" pitchFamily="34" charset="-120"/>
              </a:rPr>
              <a:t>Hazine</a:t>
            </a:r>
            <a:endParaRPr lang="en-US" sz="1100" dirty="0"/>
          </a:p>
          <a:p>
            <a:pPr algn="ctr" indent="0" marL="0">
              <a:lnSpc>
                <a:spcPts val="1400"/>
              </a:lnSpc>
              <a:buNone/>
            </a:pPr>
            <a:r>
              <a:rPr lang="en-US" sz="1100" b="1" dirty="0">
                <a:solidFill>
                  <a:srgbClr val="16161A"/>
                </a:solidFill>
                <a:latin typeface="Calibri" pitchFamily="34" charset="0"/>
                <a:ea typeface="Calibri" pitchFamily="34" charset="-122"/>
                <a:cs typeface="Calibri" pitchFamily="34" charset="-120"/>
              </a:rPr>
              <a:t>avı</a:t>
            </a:r>
            <a:endParaRPr lang="en-US" sz="1100" dirty="0"/>
          </a:p>
        </p:txBody>
      </p:sp>
      <p:sp>
        <p:nvSpPr>
          <p:cNvPr id="26" name="Text 24"/>
          <p:cNvSpPr txBox="1"/>
          <p:nvPr/>
        </p:nvSpPr>
        <p:spPr>
          <a:xfrm>
            <a:off x="9217152" y="4142232"/>
            <a:ext cx="2596896" cy="914400"/>
          </a:xfrm>
          <a:prstGeom prst="rect">
            <a:avLst/>
          </a:prstGeom>
          <a:noFill/>
          <a:ln/>
        </p:spPr>
        <p:txBody>
          <a:bodyPr wrap="square" lIns="0" tIns="0" rIns="0" bIns="0" rtlCol="0" anchor="ctr"/>
          <a:lstStyle/>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Sınırlı sürede bulunan ürünlerin yarattığı heyecan; hızlı ürün değişimi.</a:t>
            </a:r>
            <a:endParaRPr lang="en-US" sz="1050" dirty="0"/>
          </a:p>
        </p:txBody>
      </p:sp>
      <p:sp>
        <p:nvSpPr>
          <p:cNvPr id="27" name="Text 25"/>
          <p:cNvSpPr txBox="1"/>
          <p:nvPr/>
        </p:nvSpPr>
        <p:spPr>
          <a:xfrm>
            <a:off x="9217152" y="5138928"/>
            <a:ext cx="2596896" cy="219456"/>
          </a:xfrm>
          <a:prstGeom prst="rect">
            <a:avLst/>
          </a:prstGeom>
          <a:noFill/>
          <a:ln/>
        </p:spPr>
        <p:txBody>
          <a:bodyPr wrap="square" lIns="0" tIns="0" rIns="0" bIns="0" rtlCol="0" anchor="ctr"/>
          <a:lstStyle/>
          <a:p>
            <a:pPr algn="ctr" indent="0" marL="0">
              <a:buNone/>
            </a:pPr>
            <a:r>
              <a:rPr lang="en-US" sz="800" b="1" spc="140" kern="0" dirty="0">
                <a:solidFill>
                  <a:srgbClr val="A6A6AC"/>
                </a:solidFill>
                <a:latin typeface="Calibri" pitchFamily="34" charset="0"/>
                <a:ea typeface="Calibri" pitchFamily="34" charset="-122"/>
                <a:cs typeface="Calibri" pitchFamily="34" charset="-120"/>
              </a:rPr>
              <a:t>MEKÂNSAL TALEP</a:t>
            </a:r>
            <a:endParaRPr lang="en-US" sz="800" dirty="0"/>
          </a:p>
        </p:txBody>
      </p:sp>
      <p:sp>
        <p:nvSpPr>
          <p:cNvPr id="28" name="Text 26"/>
          <p:cNvSpPr txBox="1"/>
          <p:nvPr/>
        </p:nvSpPr>
        <p:spPr>
          <a:xfrm>
            <a:off x="9217152" y="5358384"/>
            <a:ext cx="2596896" cy="502920"/>
          </a:xfrm>
          <a:prstGeom prst="rect">
            <a:avLst/>
          </a:prstGeom>
          <a:noFill/>
          <a:ln/>
        </p:spPr>
        <p:txBody>
          <a:bodyPr wrap="square" lIns="0" tIns="0" rIns="0" bIns="0" rtlCol="0" anchor="ctr"/>
          <a:lstStyle/>
          <a:p>
            <a:pPr algn="ctr" indent="0" marL="0">
              <a:lnSpc>
                <a:spcPts val="1250"/>
              </a:lnSpc>
              <a:buNone/>
            </a:pPr>
            <a:r>
              <a:rPr lang="en-US" sz="1000" dirty="0">
                <a:solidFill>
                  <a:srgbClr val="2B2B31"/>
                </a:solidFill>
                <a:latin typeface="Calibri" pitchFamily="34" charset="0"/>
                <a:ea typeface="Calibri" pitchFamily="34" charset="-122"/>
                <a:cs typeface="Calibri" pitchFamily="34" charset="-120"/>
              </a:rPr>
              <a:t>esnek teşhir · kampanya alanı · değişebilir düzen</a:t>
            </a:r>
            <a:endParaRPr lang="en-US" sz="1000" dirty="0"/>
          </a:p>
        </p:txBody>
      </p:sp>
      <p:sp>
        <p:nvSpPr>
          <p:cNvPr id="29" name="Text 27"/>
          <p:cNvSpPr txBox="1"/>
          <p:nvPr/>
        </p:nvSpPr>
        <p:spPr>
          <a:xfrm>
            <a:off x="777240" y="5961888"/>
            <a:ext cx="9966960" cy="365760"/>
          </a:xfrm>
          <a:prstGeom prst="rect">
            <a:avLst/>
          </a:prstGeom>
          <a:noFill/>
          <a:ln/>
        </p:spPr>
        <p:txBody>
          <a:bodyPr wrap="square" lIns="0" tIns="0" rIns="0" bIns="0" rtlCol="0" anchor="ctr"/>
          <a:lstStyle/>
          <a:p>
            <a:pPr algn="l" indent="0" marL="0">
              <a:lnSpc>
                <a:spcPts val="1200"/>
              </a:lnSpc>
              <a:buNone/>
            </a:pPr>
            <a:r>
              <a:rPr lang="en-US" sz="1250" i="1" dirty="0">
                <a:solidFill>
                  <a:srgbClr val="8C3A2B"/>
                </a:solidFill>
                <a:latin typeface="Cambria" pitchFamily="34" charset="0"/>
                <a:ea typeface="Cambria" pitchFamily="34" charset="-122"/>
                <a:cs typeface="Cambria" pitchFamily="34" charset="-120"/>
              </a:rPr>
              <a:t>Her deneyim türü mekânda yer kaplar. Seçilmeyen türün alanını ayırmamak da bir karardır (Lindström, 2005; Xi &amp; Idris, 2026).</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9200" b="1" dirty="0">
                <a:solidFill>
                  <a:srgbClr val="8C3A2B"/>
                </a:solidFill>
                <a:latin typeface="Cambria" pitchFamily="34" charset="0"/>
                <a:ea typeface="Cambria" pitchFamily="34" charset="-122"/>
                <a:cs typeface="Cambria" pitchFamily="34" charset="-120"/>
              </a:rPr>
              <a:t>III</a:t>
            </a:r>
            <a:endParaRPr lang="en-US" sz="92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Marka ve mekân</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Bir markanın ne olduğu, mekânda nasıl görünür hâle gelir.</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III · MARKA VE MEKÂN</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Marka DNA'sı: bir markayı ne oluşturur?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13</a:t>
            </a:r>
            <a:endParaRPr lang="en-US" sz="950" dirty="0"/>
          </a:p>
        </p:txBody>
      </p:sp>
      <p:sp>
        <p:nvSpPr>
          <p:cNvPr id="5" name="Text 3"/>
          <p:cNvSpPr txBox="1"/>
          <p:nvPr/>
        </p:nvSpPr>
        <p:spPr>
          <a:xfrm>
            <a:off x="777240" y="1627632"/>
            <a:ext cx="10634472" cy="658368"/>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Marka bir logo değil, bir vaadin tutarlı biçimde tekrarlanmasıdır (Wheeler, 2017). Bu vaat beş bileşenden oluşur ve bunlar iki gruba ayrılır: markanın kendi içinde bildiği şeyler ve dışarıya gösterdiği şeyler.</a:t>
            </a:r>
            <a:endParaRPr lang="en-US" sz="1500" dirty="0"/>
          </a:p>
        </p:txBody>
      </p:sp>
      <p:sp>
        <p:nvSpPr>
          <p:cNvPr id="6" name="Shape 4"/>
          <p:cNvSpPr/>
          <p:nvPr/>
        </p:nvSpPr>
        <p:spPr>
          <a:xfrm>
            <a:off x="1051560" y="2715768"/>
            <a:ext cx="1828800" cy="1691640"/>
          </a:xfrm>
          <a:prstGeom prst="rect">
            <a:avLst/>
          </a:prstGeom>
          <a:ln w="9525">
            <a:solidFill>
              <a:srgbClr val="C9C9CF"/>
            </a:solidFill>
            <a:prstDash val="solid"/>
          </a:ln>
        </p:spPr>
      </p:sp>
      <p:sp>
        <p:nvSpPr>
          <p:cNvPr id="7" name="Text 5"/>
          <p:cNvSpPr txBox="1"/>
          <p:nvPr/>
        </p:nvSpPr>
        <p:spPr>
          <a:xfrm>
            <a:off x="1179576" y="2944368"/>
            <a:ext cx="1572768" cy="292608"/>
          </a:xfrm>
          <a:prstGeom prst="rect">
            <a:avLst/>
          </a:prstGeom>
          <a:noFill/>
          <a:ln/>
        </p:spPr>
        <p:txBody>
          <a:bodyPr wrap="square" lIns="0" tIns="0" rIns="0" bIns="0" rtlCol="0" anchor="ctr"/>
          <a:lstStyle/>
          <a:p>
            <a:pPr algn="ctr" indent="0" marL="0">
              <a:buNone/>
            </a:pPr>
            <a:r>
              <a:rPr lang="en-US" sz="1000" b="1" spc="100" kern="0" dirty="0">
                <a:solidFill>
                  <a:srgbClr val="16161A"/>
                </a:solidFill>
                <a:latin typeface="Calibri" pitchFamily="34" charset="0"/>
                <a:ea typeface="Calibri" pitchFamily="34" charset="-122"/>
                <a:cs typeface="Calibri" pitchFamily="34" charset="-120"/>
              </a:rPr>
              <a:t>NEDEN VARIZ</a:t>
            </a:r>
            <a:endParaRPr lang="en-US" sz="1000" dirty="0"/>
          </a:p>
        </p:txBody>
      </p:sp>
      <p:sp>
        <p:nvSpPr>
          <p:cNvPr id="8" name="Text 6"/>
          <p:cNvSpPr txBox="1"/>
          <p:nvPr/>
        </p:nvSpPr>
        <p:spPr>
          <a:xfrm>
            <a:off x="1179576" y="3310128"/>
            <a:ext cx="1572768" cy="914400"/>
          </a:xfrm>
          <a:prstGeom prst="rect">
            <a:avLst/>
          </a:prstGeom>
          <a:noFill/>
          <a:ln/>
        </p:spPr>
        <p:txBody>
          <a:bodyPr wrap="square" lIns="0" tIns="0" rIns="0" bIns="0" rtlCol="0" anchor="ctr"/>
          <a:lstStyle/>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Markanın özü ve</a:t>
            </a:r>
            <a:endParaRPr lang="en-US" sz="1050" dirty="0"/>
          </a:p>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var oluş nedeni</a:t>
            </a:r>
            <a:endParaRPr lang="en-US" sz="1050" dirty="0"/>
          </a:p>
        </p:txBody>
      </p:sp>
      <p:sp>
        <p:nvSpPr>
          <p:cNvPr id="9" name="Shape 7"/>
          <p:cNvSpPr/>
          <p:nvPr/>
        </p:nvSpPr>
        <p:spPr>
          <a:xfrm>
            <a:off x="3081528" y="2715768"/>
            <a:ext cx="1828800" cy="1691640"/>
          </a:xfrm>
          <a:prstGeom prst="rect">
            <a:avLst/>
          </a:prstGeom>
          <a:ln w="9525">
            <a:solidFill>
              <a:srgbClr val="C9C9CF"/>
            </a:solidFill>
            <a:prstDash val="solid"/>
          </a:ln>
        </p:spPr>
      </p:sp>
      <p:sp>
        <p:nvSpPr>
          <p:cNvPr id="10" name="Text 8"/>
          <p:cNvSpPr txBox="1"/>
          <p:nvPr/>
        </p:nvSpPr>
        <p:spPr>
          <a:xfrm>
            <a:off x="3209544" y="2944368"/>
            <a:ext cx="1572768" cy="292608"/>
          </a:xfrm>
          <a:prstGeom prst="rect">
            <a:avLst/>
          </a:prstGeom>
          <a:noFill/>
          <a:ln/>
        </p:spPr>
        <p:txBody>
          <a:bodyPr wrap="square" lIns="0" tIns="0" rIns="0" bIns="0" rtlCol="0" anchor="ctr"/>
          <a:lstStyle/>
          <a:p>
            <a:pPr algn="ctr" indent="0" marL="0">
              <a:buNone/>
            </a:pPr>
            <a:r>
              <a:rPr lang="en-US" sz="1000" b="1" spc="100" kern="0" dirty="0">
                <a:solidFill>
                  <a:srgbClr val="16161A"/>
                </a:solidFill>
                <a:latin typeface="Calibri" pitchFamily="34" charset="0"/>
                <a:ea typeface="Calibri" pitchFamily="34" charset="-122"/>
                <a:cs typeface="Calibri" pitchFamily="34" charset="-120"/>
              </a:rPr>
              <a:t>İDEAL</a:t>
            </a:r>
            <a:endParaRPr lang="en-US" sz="1000" dirty="0"/>
          </a:p>
        </p:txBody>
      </p:sp>
      <p:sp>
        <p:nvSpPr>
          <p:cNvPr id="11" name="Text 9"/>
          <p:cNvSpPr txBox="1"/>
          <p:nvPr/>
        </p:nvSpPr>
        <p:spPr>
          <a:xfrm>
            <a:off x="3209544" y="3310128"/>
            <a:ext cx="1572768" cy="914400"/>
          </a:xfrm>
          <a:prstGeom prst="rect">
            <a:avLst/>
          </a:prstGeom>
          <a:noFill/>
          <a:ln/>
        </p:spPr>
        <p:txBody>
          <a:bodyPr wrap="square" lIns="0" tIns="0" rIns="0" bIns="0" rtlCol="0" anchor="ctr"/>
          <a:lstStyle/>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Neye dönüşmek</a:t>
            </a:r>
            <a:endParaRPr lang="en-US" sz="1050" dirty="0"/>
          </a:p>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istiyor</a:t>
            </a:r>
            <a:endParaRPr lang="en-US" sz="1050" dirty="0"/>
          </a:p>
        </p:txBody>
      </p:sp>
      <p:sp>
        <p:nvSpPr>
          <p:cNvPr id="12" name="Shape 10"/>
          <p:cNvSpPr/>
          <p:nvPr/>
        </p:nvSpPr>
        <p:spPr>
          <a:xfrm>
            <a:off x="5111496" y="2715768"/>
            <a:ext cx="1828800" cy="1691640"/>
          </a:xfrm>
          <a:prstGeom prst="rect">
            <a:avLst/>
          </a:prstGeom>
          <a:ln w="9525">
            <a:solidFill>
              <a:srgbClr val="C9C9CF"/>
            </a:solidFill>
            <a:prstDash val="solid"/>
          </a:ln>
        </p:spPr>
      </p:sp>
      <p:sp>
        <p:nvSpPr>
          <p:cNvPr id="13" name="Text 11"/>
          <p:cNvSpPr txBox="1"/>
          <p:nvPr/>
        </p:nvSpPr>
        <p:spPr>
          <a:xfrm>
            <a:off x="5239512" y="2944368"/>
            <a:ext cx="1572768" cy="292608"/>
          </a:xfrm>
          <a:prstGeom prst="rect">
            <a:avLst/>
          </a:prstGeom>
          <a:noFill/>
          <a:ln/>
        </p:spPr>
        <p:txBody>
          <a:bodyPr wrap="square" lIns="0" tIns="0" rIns="0" bIns="0" rtlCol="0" anchor="ctr"/>
          <a:lstStyle/>
          <a:p>
            <a:pPr algn="ctr" indent="0" marL="0">
              <a:buNone/>
            </a:pPr>
            <a:r>
              <a:rPr lang="en-US" sz="1000" b="1" spc="100" kern="0" dirty="0">
                <a:solidFill>
                  <a:srgbClr val="16161A"/>
                </a:solidFill>
                <a:latin typeface="Calibri" pitchFamily="34" charset="0"/>
                <a:ea typeface="Calibri" pitchFamily="34" charset="-122"/>
                <a:cs typeface="Calibri" pitchFamily="34" charset="-120"/>
              </a:rPr>
              <a:t>DEĞERLER</a:t>
            </a:r>
            <a:endParaRPr lang="en-US" sz="1000" dirty="0"/>
          </a:p>
        </p:txBody>
      </p:sp>
      <p:sp>
        <p:nvSpPr>
          <p:cNvPr id="14" name="Text 12"/>
          <p:cNvSpPr txBox="1"/>
          <p:nvPr/>
        </p:nvSpPr>
        <p:spPr>
          <a:xfrm>
            <a:off x="5239512" y="3310128"/>
            <a:ext cx="1572768" cy="914400"/>
          </a:xfrm>
          <a:prstGeom prst="rect">
            <a:avLst/>
          </a:prstGeom>
          <a:noFill/>
          <a:ln/>
        </p:spPr>
        <p:txBody>
          <a:bodyPr wrap="square" lIns="0" tIns="0" rIns="0" bIns="0" rtlCol="0" anchor="ctr"/>
          <a:lstStyle/>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İnanç sistemi;</a:t>
            </a:r>
            <a:endParaRPr lang="en-US" sz="1050" dirty="0"/>
          </a:p>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çalışma ve</a:t>
            </a:r>
            <a:endParaRPr lang="en-US" sz="1050" dirty="0"/>
          </a:p>
          <a:p>
            <a:pPr algn="ctr" indent="0" marL="0">
              <a:lnSpc>
                <a:spcPts val="1350"/>
              </a:lnSpc>
              <a:buNone/>
            </a:pPr>
            <a:r>
              <a:rPr lang="en-US" sz="1050" dirty="0">
                <a:solidFill>
                  <a:srgbClr val="7A7A82"/>
                </a:solidFill>
                <a:latin typeface="Calibri" pitchFamily="34" charset="0"/>
                <a:ea typeface="Calibri" pitchFamily="34" charset="-122"/>
                <a:cs typeface="Calibri" pitchFamily="34" charset="-120"/>
              </a:rPr>
              <a:t>iletişim biçimi</a:t>
            </a:r>
            <a:endParaRPr lang="en-US" sz="1050" dirty="0"/>
          </a:p>
        </p:txBody>
      </p:sp>
      <p:sp>
        <p:nvSpPr>
          <p:cNvPr id="15" name="Shape 13"/>
          <p:cNvSpPr/>
          <p:nvPr/>
        </p:nvSpPr>
        <p:spPr>
          <a:xfrm>
            <a:off x="6967728" y="2441448"/>
            <a:ext cx="0" cy="2697480"/>
          </a:xfrm>
          <a:prstGeom prst="line">
            <a:avLst/>
          </a:prstGeom>
          <a:noFill/>
          <a:ln w="12700">
            <a:solidFill>
              <a:srgbClr val="7A7A82"/>
            </a:solidFill>
            <a:prstDash val="dash"/>
          </a:ln>
        </p:spPr>
      </p:sp>
      <p:sp>
        <p:nvSpPr>
          <p:cNvPr id="16" name="Shape 14"/>
          <p:cNvSpPr/>
          <p:nvPr/>
        </p:nvSpPr>
        <p:spPr>
          <a:xfrm>
            <a:off x="7223760" y="2715768"/>
            <a:ext cx="1965960" cy="1691640"/>
          </a:xfrm>
          <a:prstGeom prst="rect">
            <a:avLst/>
          </a:prstGeom>
          <a:solidFill>
            <a:srgbClr val="F6EAE6"/>
          </a:solidFill>
          <a:ln w="15875">
            <a:solidFill>
              <a:srgbClr val="8C3A2B"/>
            </a:solidFill>
            <a:prstDash val="solid"/>
          </a:ln>
        </p:spPr>
      </p:sp>
      <p:sp>
        <p:nvSpPr>
          <p:cNvPr id="17" name="Text 15"/>
          <p:cNvSpPr txBox="1"/>
          <p:nvPr/>
        </p:nvSpPr>
        <p:spPr>
          <a:xfrm>
            <a:off x="7351776" y="2944368"/>
            <a:ext cx="1709928" cy="292608"/>
          </a:xfrm>
          <a:prstGeom prst="rect">
            <a:avLst/>
          </a:prstGeom>
          <a:noFill/>
          <a:ln/>
        </p:spPr>
        <p:txBody>
          <a:bodyPr wrap="square" lIns="0" tIns="0" rIns="0" bIns="0" rtlCol="0" anchor="ctr"/>
          <a:lstStyle/>
          <a:p>
            <a:pPr algn="ctr" indent="0" marL="0">
              <a:buNone/>
            </a:pPr>
            <a:r>
              <a:rPr lang="en-US" sz="1000" b="1" spc="100" kern="0" dirty="0">
                <a:solidFill>
                  <a:srgbClr val="8C3A2B"/>
                </a:solidFill>
                <a:latin typeface="Calibri" pitchFamily="34" charset="0"/>
                <a:ea typeface="Calibri" pitchFamily="34" charset="-122"/>
                <a:cs typeface="Calibri" pitchFamily="34" charset="-120"/>
              </a:rPr>
              <a:t>KİŞİLİK</a:t>
            </a:r>
            <a:endParaRPr lang="en-US" sz="1000" dirty="0"/>
          </a:p>
        </p:txBody>
      </p:sp>
      <p:sp>
        <p:nvSpPr>
          <p:cNvPr id="18" name="Text 16"/>
          <p:cNvSpPr txBox="1"/>
          <p:nvPr/>
        </p:nvSpPr>
        <p:spPr>
          <a:xfrm>
            <a:off x="7351776" y="3310128"/>
            <a:ext cx="1709928" cy="914400"/>
          </a:xfrm>
          <a:prstGeom prst="rect">
            <a:avLst/>
          </a:prstGeom>
          <a:noFill/>
          <a:ln/>
        </p:spPr>
        <p:txBody>
          <a:bodyPr wrap="square" lIns="0" tIns="0" rIns="0" bIns="0" rtlCol="0" anchor="ctr"/>
          <a:lstStyle/>
          <a:p>
            <a:pPr algn="ctr" indent="0" marL="0">
              <a:lnSpc>
                <a:spcPts val="1350"/>
              </a:lnSpc>
              <a:buNone/>
            </a:pPr>
            <a:r>
              <a:rPr lang="en-US" sz="1050" dirty="0">
                <a:solidFill>
                  <a:srgbClr val="2B2B31"/>
                </a:solidFill>
                <a:latin typeface="Calibri" pitchFamily="34" charset="0"/>
                <a:ea typeface="Calibri" pitchFamily="34" charset="-122"/>
                <a:cs typeface="Calibri" pitchFamily="34" charset="-120"/>
              </a:rPr>
              <a:t>Markanın pazara</a:t>
            </a:r>
            <a:endParaRPr lang="en-US" sz="1050" dirty="0"/>
          </a:p>
          <a:p>
            <a:pPr algn="ctr" indent="0" marL="0">
              <a:lnSpc>
                <a:spcPts val="1350"/>
              </a:lnSpc>
              <a:buNone/>
            </a:pPr>
            <a:r>
              <a:rPr lang="en-US" sz="1050" dirty="0">
                <a:solidFill>
                  <a:srgbClr val="2B2B31"/>
                </a:solidFill>
                <a:latin typeface="Calibri" pitchFamily="34" charset="0"/>
                <a:ea typeface="Calibri" pitchFamily="34" charset="-122"/>
                <a:cs typeface="Calibri" pitchFamily="34" charset="-120"/>
              </a:rPr>
              <a:t>konuşma biçimi,</a:t>
            </a:r>
            <a:endParaRPr lang="en-US" sz="1050" dirty="0"/>
          </a:p>
          <a:p>
            <a:pPr algn="ctr" indent="0" marL="0">
              <a:lnSpc>
                <a:spcPts val="1350"/>
              </a:lnSpc>
              <a:buNone/>
            </a:pPr>
            <a:r>
              <a:rPr lang="en-US" sz="1050" dirty="0">
                <a:solidFill>
                  <a:srgbClr val="2B2B31"/>
                </a:solidFill>
                <a:latin typeface="Calibri" pitchFamily="34" charset="0"/>
                <a:ea typeface="Calibri" pitchFamily="34" charset="-122"/>
                <a:cs typeface="Calibri" pitchFamily="34" charset="-120"/>
              </a:rPr>
              <a:t>ses tonu</a:t>
            </a:r>
            <a:endParaRPr lang="en-US" sz="1050" dirty="0"/>
          </a:p>
        </p:txBody>
      </p:sp>
      <p:sp>
        <p:nvSpPr>
          <p:cNvPr id="19" name="Shape 17"/>
          <p:cNvSpPr/>
          <p:nvPr/>
        </p:nvSpPr>
        <p:spPr>
          <a:xfrm>
            <a:off x="9372600" y="2715768"/>
            <a:ext cx="1965960" cy="1691640"/>
          </a:xfrm>
          <a:prstGeom prst="rect">
            <a:avLst/>
          </a:prstGeom>
          <a:solidFill>
            <a:srgbClr val="F6EAE6"/>
          </a:solidFill>
          <a:ln w="15875">
            <a:solidFill>
              <a:srgbClr val="8C3A2B"/>
            </a:solidFill>
            <a:prstDash val="solid"/>
          </a:ln>
        </p:spPr>
      </p:sp>
      <p:sp>
        <p:nvSpPr>
          <p:cNvPr id="20" name="Text 18"/>
          <p:cNvSpPr txBox="1"/>
          <p:nvPr/>
        </p:nvSpPr>
        <p:spPr>
          <a:xfrm>
            <a:off x="9500616" y="2944368"/>
            <a:ext cx="1709928" cy="292608"/>
          </a:xfrm>
          <a:prstGeom prst="rect">
            <a:avLst/>
          </a:prstGeom>
          <a:noFill/>
          <a:ln/>
        </p:spPr>
        <p:txBody>
          <a:bodyPr wrap="square" lIns="0" tIns="0" rIns="0" bIns="0" rtlCol="0" anchor="ctr"/>
          <a:lstStyle/>
          <a:p>
            <a:pPr algn="ctr" indent="0" marL="0">
              <a:buNone/>
            </a:pPr>
            <a:r>
              <a:rPr lang="en-US" sz="1000" b="1" spc="100" kern="0" dirty="0">
                <a:solidFill>
                  <a:srgbClr val="8C3A2B"/>
                </a:solidFill>
                <a:latin typeface="Calibri" pitchFamily="34" charset="0"/>
                <a:ea typeface="Calibri" pitchFamily="34" charset="-122"/>
                <a:cs typeface="Calibri" pitchFamily="34" charset="-120"/>
              </a:rPr>
              <a:t>PAZAR KONUMU</a:t>
            </a:r>
            <a:endParaRPr lang="en-US" sz="1000" dirty="0"/>
          </a:p>
        </p:txBody>
      </p:sp>
      <p:sp>
        <p:nvSpPr>
          <p:cNvPr id="21" name="Text 19"/>
          <p:cNvSpPr txBox="1"/>
          <p:nvPr/>
        </p:nvSpPr>
        <p:spPr>
          <a:xfrm>
            <a:off x="9500616" y="3310128"/>
            <a:ext cx="1709928" cy="914400"/>
          </a:xfrm>
          <a:prstGeom prst="rect">
            <a:avLst/>
          </a:prstGeom>
          <a:noFill/>
          <a:ln/>
        </p:spPr>
        <p:txBody>
          <a:bodyPr wrap="square" lIns="0" tIns="0" rIns="0" bIns="0" rtlCol="0" anchor="ctr"/>
          <a:lstStyle/>
          <a:p>
            <a:pPr algn="ctr" indent="0" marL="0">
              <a:lnSpc>
                <a:spcPts val="1350"/>
              </a:lnSpc>
              <a:buNone/>
            </a:pPr>
            <a:r>
              <a:rPr lang="en-US" sz="1050" dirty="0">
                <a:solidFill>
                  <a:srgbClr val="2B2B31"/>
                </a:solidFill>
                <a:latin typeface="Calibri" pitchFamily="34" charset="0"/>
                <a:ea typeface="Calibri" pitchFamily="34" charset="-122"/>
                <a:cs typeface="Calibri" pitchFamily="34" charset="-120"/>
              </a:rPr>
              <a:t>Rekabette kendini</a:t>
            </a:r>
            <a:endParaRPr lang="en-US" sz="1050" dirty="0"/>
          </a:p>
          <a:p>
            <a:pPr algn="ctr" indent="0" marL="0">
              <a:lnSpc>
                <a:spcPts val="1350"/>
              </a:lnSpc>
              <a:buNone/>
            </a:pPr>
            <a:r>
              <a:rPr lang="en-US" sz="1050" dirty="0">
                <a:solidFill>
                  <a:srgbClr val="2B2B31"/>
                </a:solidFill>
                <a:latin typeface="Calibri" pitchFamily="34" charset="0"/>
                <a:ea typeface="Calibri" pitchFamily="34" charset="-122"/>
                <a:cs typeface="Calibri" pitchFamily="34" charset="-120"/>
              </a:rPr>
              <a:t>nasıl konumlandırdığı</a:t>
            </a:r>
            <a:endParaRPr lang="en-US" sz="1050" dirty="0"/>
          </a:p>
        </p:txBody>
      </p:sp>
      <p:sp>
        <p:nvSpPr>
          <p:cNvPr id="22" name="Text 20"/>
          <p:cNvSpPr txBox="1"/>
          <p:nvPr/>
        </p:nvSpPr>
        <p:spPr>
          <a:xfrm>
            <a:off x="1051560" y="4800600"/>
            <a:ext cx="5760720" cy="274320"/>
          </a:xfrm>
          <a:prstGeom prst="rect">
            <a:avLst/>
          </a:prstGeom>
          <a:noFill/>
          <a:ln/>
        </p:spPr>
        <p:txBody>
          <a:bodyPr wrap="square" lIns="0" tIns="0" rIns="0" bIns="0" rtlCol="0" anchor="ctr"/>
          <a:lstStyle/>
          <a:p>
            <a:pPr algn="ctr" indent="0" marL="0">
              <a:lnSpc>
                <a:spcPts val="1200"/>
              </a:lnSpc>
              <a:buNone/>
            </a:pPr>
            <a:r>
              <a:rPr lang="en-US" sz="1000" b="1" dirty="0">
                <a:solidFill>
                  <a:srgbClr val="16161A"/>
                </a:solidFill>
                <a:latin typeface="Calibri" pitchFamily="34" charset="0"/>
                <a:ea typeface="Calibri" pitchFamily="34" charset="-122"/>
                <a:cs typeface="Calibri" pitchFamily="34" charset="-120"/>
              </a:rPr>
              <a:t>İŞLETMENİN İÇİ</a:t>
            </a:r>
            <a:endParaRPr lang="en-US" sz="1000" dirty="0"/>
          </a:p>
        </p:txBody>
      </p:sp>
      <p:sp>
        <p:nvSpPr>
          <p:cNvPr id="23" name="Text 21"/>
          <p:cNvSpPr txBox="1"/>
          <p:nvPr/>
        </p:nvSpPr>
        <p:spPr>
          <a:xfrm>
            <a:off x="1051560" y="5038344"/>
            <a:ext cx="5760720" cy="274320"/>
          </a:xfrm>
          <a:prstGeom prst="rect">
            <a:avLst/>
          </a:prstGeom>
          <a:noFill/>
          <a:ln/>
        </p:spPr>
        <p:txBody>
          <a:bodyPr wrap="square" lIns="0" tIns="0" rIns="0" bIns="0" rtlCol="0" anchor="ctr"/>
          <a:lstStyle/>
          <a:p>
            <a:pPr algn="ctr" indent="0" marL="0">
              <a:lnSpc>
                <a:spcPts val="1200"/>
              </a:lnSpc>
              <a:buNone/>
            </a:pPr>
            <a:r>
              <a:rPr lang="en-US" sz="1000" dirty="0">
                <a:solidFill>
                  <a:srgbClr val="7A7A82"/>
                </a:solidFill>
                <a:latin typeface="Calibri" pitchFamily="34" charset="0"/>
                <a:ea typeface="Calibri" pitchFamily="34" charset="-122"/>
                <a:cs typeface="Calibri" pitchFamily="34" charset="-120"/>
              </a:rPr>
              <a:t>Kim olduğumuz, ne olmak istediğimiz — kendi kodumuz</a:t>
            </a:r>
            <a:endParaRPr lang="en-US" sz="1000" dirty="0"/>
          </a:p>
        </p:txBody>
      </p:sp>
      <p:sp>
        <p:nvSpPr>
          <p:cNvPr id="24" name="Text 22"/>
          <p:cNvSpPr txBox="1"/>
          <p:nvPr/>
        </p:nvSpPr>
        <p:spPr>
          <a:xfrm>
            <a:off x="7223760" y="4800600"/>
            <a:ext cx="4114800" cy="274320"/>
          </a:xfrm>
          <a:prstGeom prst="rect">
            <a:avLst/>
          </a:prstGeom>
          <a:noFill/>
          <a:ln/>
        </p:spPr>
        <p:txBody>
          <a:bodyPr wrap="square" lIns="0" tIns="0" rIns="0" bIns="0" rtlCol="0" anchor="ctr"/>
          <a:lstStyle/>
          <a:p>
            <a:pPr algn="ctr" indent="0" marL="0">
              <a:lnSpc>
                <a:spcPts val="1200"/>
              </a:lnSpc>
              <a:buNone/>
            </a:pPr>
            <a:r>
              <a:rPr lang="en-US" sz="1000" b="1" dirty="0">
                <a:solidFill>
                  <a:srgbClr val="8C3A2B"/>
                </a:solidFill>
                <a:latin typeface="Calibri" pitchFamily="34" charset="0"/>
                <a:ea typeface="Calibri" pitchFamily="34" charset="-122"/>
                <a:cs typeface="Calibri" pitchFamily="34" charset="-120"/>
              </a:rPr>
              <a:t>İŞLETMENİN DIŞI</a:t>
            </a:r>
            <a:endParaRPr lang="en-US" sz="1000" dirty="0"/>
          </a:p>
        </p:txBody>
      </p:sp>
      <p:sp>
        <p:nvSpPr>
          <p:cNvPr id="25" name="Text 23"/>
          <p:cNvSpPr txBox="1"/>
          <p:nvPr/>
        </p:nvSpPr>
        <p:spPr>
          <a:xfrm>
            <a:off x="7223760" y="5038344"/>
            <a:ext cx="4114800" cy="274320"/>
          </a:xfrm>
          <a:prstGeom prst="rect">
            <a:avLst/>
          </a:prstGeom>
          <a:noFill/>
          <a:ln/>
        </p:spPr>
        <p:txBody>
          <a:bodyPr wrap="square" lIns="0" tIns="0" rIns="0" bIns="0" rtlCol="0" anchor="ctr"/>
          <a:lstStyle/>
          <a:p>
            <a:pPr algn="ctr" indent="0" marL="0">
              <a:lnSpc>
                <a:spcPts val="1200"/>
              </a:lnSpc>
              <a:buNone/>
            </a:pPr>
            <a:r>
              <a:rPr lang="en-US" sz="1000" dirty="0">
                <a:solidFill>
                  <a:srgbClr val="7A7A82"/>
                </a:solidFill>
                <a:latin typeface="Calibri" pitchFamily="34" charset="0"/>
                <a:ea typeface="Calibri" pitchFamily="34" charset="-122"/>
                <a:cs typeface="Calibri" pitchFamily="34" charset="-120"/>
              </a:rPr>
              <a:t>Dışarıya ne söylediğimiz, pazarda nasıl durduğumuz</a:t>
            </a:r>
            <a:endParaRPr lang="en-US" sz="1000" dirty="0"/>
          </a:p>
        </p:txBody>
      </p:sp>
      <p:sp>
        <p:nvSpPr>
          <p:cNvPr id="26" name="Text 24"/>
          <p:cNvSpPr txBox="1"/>
          <p:nvPr/>
        </p:nvSpPr>
        <p:spPr>
          <a:xfrm>
            <a:off x="777240" y="5532120"/>
            <a:ext cx="10424160" cy="411480"/>
          </a:xfrm>
          <a:prstGeom prst="rect">
            <a:avLst/>
          </a:prstGeom>
          <a:noFill/>
          <a:ln/>
        </p:spPr>
        <p:txBody>
          <a:bodyPr wrap="square" lIns="0" tIns="0" rIns="0" bIns="0" rtlCol="0" anchor="ctr"/>
          <a:lstStyle/>
          <a:p>
            <a:pPr algn="l" indent="0" marL="0">
              <a:lnSpc>
                <a:spcPts val="1200"/>
              </a:lnSpc>
              <a:buNone/>
            </a:pPr>
            <a:r>
              <a:rPr lang="en-US" sz="1350" i="1" dirty="0">
                <a:solidFill>
                  <a:srgbClr val="8C3A2B"/>
                </a:solidFill>
                <a:latin typeface="Cambria" pitchFamily="34" charset="0"/>
                <a:ea typeface="Cambria" pitchFamily="34" charset="-122"/>
                <a:cs typeface="Cambria" pitchFamily="34" charset="-120"/>
              </a:rPr>
              <a:t>Mekân bu beşini birden taşımak zorundadır. Reklam bir şey söyler; mekân o şeyi kanıtlamak zorundadır.</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III · MARKA VE MEKÂN</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Markadan mekâna: dört adım</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14</a:t>
            </a:r>
            <a:endParaRPr lang="en-US" sz="950" dirty="0"/>
          </a:p>
        </p:txBody>
      </p:sp>
      <p:sp>
        <p:nvSpPr>
          <p:cNvPr id="5" name="Text 3"/>
          <p:cNvSpPr txBox="1"/>
          <p:nvPr/>
        </p:nvSpPr>
        <p:spPr>
          <a:xfrm>
            <a:off x="777240" y="1627632"/>
            <a:ext cx="10634472" cy="54864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Marka analizi bir ön hazırlık değil, tasarımın ilk aşamasıdır. Aradaki yol dört adımda kurulur ve her adım bir sonrakinin girdisini üretir.</a:t>
            </a:r>
            <a:endParaRPr lang="en-US" sz="1500" dirty="0"/>
          </a:p>
        </p:txBody>
      </p:sp>
      <p:sp>
        <p:nvSpPr>
          <p:cNvPr id="6" name="Text 4"/>
          <p:cNvSpPr txBox="1"/>
          <p:nvPr/>
        </p:nvSpPr>
        <p:spPr>
          <a:xfrm>
            <a:off x="777240" y="2377440"/>
            <a:ext cx="2487168" cy="685800"/>
          </a:xfrm>
          <a:prstGeom prst="rect">
            <a:avLst/>
          </a:prstGeom>
          <a:noFill/>
          <a:ln/>
        </p:spPr>
        <p:txBody>
          <a:bodyPr wrap="square" lIns="0" tIns="0" rIns="0" bIns="0" rtlCol="0" anchor="ctr"/>
          <a:lstStyle/>
          <a:p>
            <a:pPr indent="0" marL="0">
              <a:buNone/>
            </a:pPr>
            <a:r>
              <a:rPr lang="en-US" sz="4600" b="1" dirty="0">
                <a:solidFill>
                  <a:srgbClr val="A6A6AC"/>
                </a:solidFill>
                <a:latin typeface="Cambria" pitchFamily="34" charset="0"/>
                <a:ea typeface="Cambria" pitchFamily="34" charset="-122"/>
                <a:cs typeface="Cambria" pitchFamily="34" charset="-120"/>
              </a:rPr>
              <a:t>1</a:t>
            </a:r>
            <a:endParaRPr lang="en-US" sz="4600" dirty="0"/>
          </a:p>
        </p:txBody>
      </p:sp>
      <p:sp>
        <p:nvSpPr>
          <p:cNvPr id="7" name="Shape 5"/>
          <p:cNvSpPr/>
          <p:nvPr/>
        </p:nvSpPr>
        <p:spPr>
          <a:xfrm>
            <a:off x="777240" y="3163824"/>
            <a:ext cx="2212848" cy="0"/>
          </a:xfrm>
          <a:prstGeom prst="line">
            <a:avLst/>
          </a:prstGeom>
          <a:noFill/>
          <a:ln w="25400">
            <a:solidFill>
              <a:srgbClr val="7A7A82"/>
            </a:solidFill>
            <a:prstDash val="solid"/>
          </a:ln>
        </p:spPr>
      </p:sp>
      <p:sp>
        <p:nvSpPr>
          <p:cNvPr id="8" name="Shape 6"/>
          <p:cNvSpPr/>
          <p:nvPr/>
        </p:nvSpPr>
        <p:spPr>
          <a:xfrm>
            <a:off x="2953512" y="3163824"/>
            <a:ext cx="274320" cy="0"/>
          </a:xfrm>
          <a:prstGeom prst="line">
            <a:avLst/>
          </a:prstGeom>
          <a:noFill/>
          <a:ln w="25400">
            <a:solidFill>
              <a:srgbClr val="7A7A82"/>
            </a:solidFill>
            <a:prstDash val="solid"/>
            <a:tailEnd type="triangle"/>
          </a:ln>
        </p:spPr>
      </p:sp>
      <p:sp>
        <p:nvSpPr>
          <p:cNvPr id="9" name="Text 7"/>
          <p:cNvSpPr txBox="1"/>
          <p:nvPr/>
        </p:nvSpPr>
        <p:spPr>
          <a:xfrm>
            <a:off x="777240" y="3291840"/>
            <a:ext cx="2487168" cy="347472"/>
          </a:xfrm>
          <a:prstGeom prst="rect">
            <a:avLst/>
          </a:prstGeom>
          <a:noFill/>
          <a:ln/>
        </p:spPr>
        <p:txBody>
          <a:bodyPr wrap="square" lIns="0" tIns="0" rIns="0" bIns="0" rtlCol="0" anchor="ctr"/>
          <a:lstStyle/>
          <a:p>
            <a:pPr indent="0" marL="0">
              <a:buNone/>
            </a:pPr>
            <a:r>
              <a:rPr lang="en-US" sz="1600" b="1" dirty="0">
                <a:solidFill>
                  <a:srgbClr val="16161A"/>
                </a:solidFill>
                <a:latin typeface="Cambria" pitchFamily="34" charset="0"/>
                <a:ea typeface="Cambria" pitchFamily="34" charset="-122"/>
                <a:cs typeface="Cambria" pitchFamily="34" charset="-120"/>
              </a:rPr>
              <a:t>Araştırma</a:t>
            </a:r>
            <a:endParaRPr lang="en-US" sz="1600" dirty="0"/>
          </a:p>
        </p:txBody>
      </p:sp>
      <p:sp>
        <p:nvSpPr>
          <p:cNvPr id="10" name="Text 8"/>
          <p:cNvSpPr txBox="1"/>
          <p:nvPr/>
        </p:nvSpPr>
        <p:spPr>
          <a:xfrm>
            <a:off x="777240" y="3675888"/>
            <a:ext cx="2487168" cy="502920"/>
          </a:xfrm>
          <a:prstGeom prst="rect">
            <a:avLst/>
          </a:prstGeom>
          <a:noFill/>
          <a:ln/>
        </p:spPr>
        <p:txBody>
          <a:bodyPr wrap="square" lIns="0" tIns="0" rIns="0" bIns="0" rtlCol="0" anchor="ctr"/>
          <a:lstStyle/>
          <a:p>
            <a:pPr indent="0" marL="0">
              <a:lnSpc>
                <a:spcPts val="1450"/>
              </a:lnSpc>
              <a:buNone/>
            </a:pPr>
            <a:r>
              <a:rPr lang="en-US" sz="1150" dirty="0">
                <a:solidFill>
                  <a:srgbClr val="2B2B31"/>
                </a:solidFill>
                <a:latin typeface="Calibri" pitchFamily="34" charset="0"/>
                <a:ea typeface="Calibri" pitchFamily="34" charset="-122"/>
                <a:cs typeface="Calibri" pitchFamily="34" charset="-120"/>
              </a:rPr>
              <a:t>Marka hakkında bilgi toplama.</a:t>
            </a:r>
            <a:endParaRPr lang="en-US" sz="1150" dirty="0"/>
          </a:p>
        </p:txBody>
      </p:sp>
      <p:sp>
        <p:nvSpPr>
          <p:cNvPr id="11" name="Text 9"/>
          <p:cNvSpPr txBox="1"/>
          <p:nvPr/>
        </p:nvSpPr>
        <p:spPr>
          <a:xfrm>
            <a:off x="777240" y="4206240"/>
            <a:ext cx="2487168" cy="1234440"/>
          </a:xfrm>
          <a:prstGeom prst="rect">
            <a:avLst/>
          </a:prstGeom>
          <a:noFill/>
          <a:ln/>
        </p:spPr>
        <p:txBody>
          <a:bodyPr wrap="square" lIns="0" tIns="0" rIns="0" bIns="0" rtlCol="0" anchor="ctr"/>
          <a:lstStyle/>
          <a:p>
            <a:pPr indent="0" marL="0">
              <a:lnSpc>
                <a:spcPts val="1350"/>
              </a:lnSpc>
              <a:buNone/>
            </a:pPr>
            <a:r>
              <a:rPr lang="en-US" sz="1000" dirty="0">
                <a:solidFill>
                  <a:srgbClr val="7A7A82"/>
                </a:solidFill>
                <a:latin typeface="Calibri" pitchFamily="34" charset="0"/>
                <a:ea typeface="Calibri" pitchFamily="34" charset="-122"/>
                <a:cs typeface="Calibri" pitchFamily="34" charset="-120"/>
              </a:rPr>
              <a:t>web sitesi · ürün ve ambalaj · sosyal medya · basın · marka sahibiyle görüşme</a:t>
            </a:r>
            <a:endParaRPr lang="en-US" sz="1000" dirty="0"/>
          </a:p>
        </p:txBody>
      </p:sp>
      <p:sp>
        <p:nvSpPr>
          <p:cNvPr id="12" name="Text 10"/>
          <p:cNvSpPr txBox="1"/>
          <p:nvPr/>
        </p:nvSpPr>
        <p:spPr>
          <a:xfrm>
            <a:off x="3493008" y="2377440"/>
            <a:ext cx="2487168" cy="685800"/>
          </a:xfrm>
          <a:prstGeom prst="rect">
            <a:avLst/>
          </a:prstGeom>
          <a:noFill/>
          <a:ln/>
        </p:spPr>
        <p:txBody>
          <a:bodyPr wrap="square" lIns="0" tIns="0" rIns="0" bIns="0" rtlCol="0" anchor="ctr"/>
          <a:lstStyle/>
          <a:p>
            <a:pPr indent="0" marL="0">
              <a:buNone/>
            </a:pPr>
            <a:r>
              <a:rPr lang="en-US" sz="4600" b="1" dirty="0">
                <a:solidFill>
                  <a:srgbClr val="A6A6AC"/>
                </a:solidFill>
                <a:latin typeface="Cambria" pitchFamily="34" charset="0"/>
                <a:ea typeface="Cambria" pitchFamily="34" charset="-122"/>
                <a:cs typeface="Cambria" pitchFamily="34" charset="-120"/>
              </a:rPr>
              <a:t>2</a:t>
            </a:r>
            <a:endParaRPr lang="en-US" sz="4600" dirty="0"/>
          </a:p>
        </p:txBody>
      </p:sp>
      <p:sp>
        <p:nvSpPr>
          <p:cNvPr id="13" name="Shape 11"/>
          <p:cNvSpPr/>
          <p:nvPr/>
        </p:nvSpPr>
        <p:spPr>
          <a:xfrm>
            <a:off x="3493008" y="3163824"/>
            <a:ext cx="2212848" cy="0"/>
          </a:xfrm>
          <a:prstGeom prst="line">
            <a:avLst/>
          </a:prstGeom>
          <a:noFill/>
          <a:ln w="25400">
            <a:solidFill>
              <a:srgbClr val="7A7A82"/>
            </a:solidFill>
            <a:prstDash val="solid"/>
          </a:ln>
        </p:spPr>
      </p:sp>
      <p:sp>
        <p:nvSpPr>
          <p:cNvPr id="14" name="Shape 12"/>
          <p:cNvSpPr/>
          <p:nvPr/>
        </p:nvSpPr>
        <p:spPr>
          <a:xfrm>
            <a:off x="5669280" y="3163824"/>
            <a:ext cx="274320" cy="0"/>
          </a:xfrm>
          <a:prstGeom prst="line">
            <a:avLst/>
          </a:prstGeom>
          <a:noFill/>
          <a:ln w="25400">
            <a:solidFill>
              <a:srgbClr val="7A7A82"/>
            </a:solidFill>
            <a:prstDash val="solid"/>
            <a:tailEnd type="triangle"/>
          </a:ln>
        </p:spPr>
      </p:sp>
      <p:sp>
        <p:nvSpPr>
          <p:cNvPr id="15" name="Text 13"/>
          <p:cNvSpPr txBox="1"/>
          <p:nvPr/>
        </p:nvSpPr>
        <p:spPr>
          <a:xfrm>
            <a:off x="3493008" y="3291840"/>
            <a:ext cx="2487168" cy="347472"/>
          </a:xfrm>
          <a:prstGeom prst="rect">
            <a:avLst/>
          </a:prstGeom>
          <a:noFill/>
          <a:ln/>
        </p:spPr>
        <p:txBody>
          <a:bodyPr wrap="square" lIns="0" tIns="0" rIns="0" bIns="0" rtlCol="0" anchor="ctr"/>
          <a:lstStyle/>
          <a:p>
            <a:pPr indent="0" marL="0">
              <a:buNone/>
            </a:pPr>
            <a:r>
              <a:rPr lang="en-US" sz="1600" b="1" dirty="0">
                <a:solidFill>
                  <a:srgbClr val="16161A"/>
                </a:solidFill>
                <a:latin typeface="Cambria" pitchFamily="34" charset="0"/>
                <a:ea typeface="Cambria" pitchFamily="34" charset="-122"/>
                <a:cs typeface="Cambria" pitchFamily="34" charset="-120"/>
              </a:rPr>
              <a:t>Analiz</a:t>
            </a:r>
            <a:endParaRPr lang="en-US" sz="1600" dirty="0"/>
          </a:p>
        </p:txBody>
      </p:sp>
      <p:sp>
        <p:nvSpPr>
          <p:cNvPr id="16" name="Text 14"/>
          <p:cNvSpPr txBox="1"/>
          <p:nvPr/>
        </p:nvSpPr>
        <p:spPr>
          <a:xfrm>
            <a:off x="3493008" y="3675888"/>
            <a:ext cx="2487168" cy="502920"/>
          </a:xfrm>
          <a:prstGeom prst="rect">
            <a:avLst/>
          </a:prstGeom>
          <a:noFill/>
          <a:ln/>
        </p:spPr>
        <p:txBody>
          <a:bodyPr wrap="square" lIns="0" tIns="0" rIns="0" bIns="0" rtlCol="0" anchor="ctr"/>
          <a:lstStyle/>
          <a:p>
            <a:pPr indent="0" marL="0">
              <a:lnSpc>
                <a:spcPts val="1450"/>
              </a:lnSpc>
              <a:buNone/>
            </a:pPr>
            <a:r>
              <a:rPr lang="en-US" sz="1150" dirty="0">
                <a:solidFill>
                  <a:srgbClr val="2B2B31"/>
                </a:solidFill>
                <a:latin typeface="Calibri" pitchFamily="34" charset="0"/>
                <a:ea typeface="Calibri" pitchFamily="34" charset="-122"/>
                <a:cs typeface="Calibri" pitchFamily="34" charset="-120"/>
              </a:rPr>
              <a:t>Toplananın anlamlandırılması.</a:t>
            </a:r>
            <a:endParaRPr lang="en-US" sz="1150" dirty="0"/>
          </a:p>
        </p:txBody>
      </p:sp>
      <p:sp>
        <p:nvSpPr>
          <p:cNvPr id="17" name="Text 15"/>
          <p:cNvSpPr txBox="1"/>
          <p:nvPr/>
        </p:nvSpPr>
        <p:spPr>
          <a:xfrm>
            <a:off x="3493008" y="4206240"/>
            <a:ext cx="2487168" cy="1234440"/>
          </a:xfrm>
          <a:prstGeom prst="rect">
            <a:avLst/>
          </a:prstGeom>
          <a:noFill/>
          <a:ln/>
        </p:spPr>
        <p:txBody>
          <a:bodyPr wrap="square" lIns="0" tIns="0" rIns="0" bIns="0" rtlCol="0" anchor="ctr"/>
          <a:lstStyle/>
          <a:p>
            <a:pPr indent="0" marL="0">
              <a:lnSpc>
                <a:spcPts val="1350"/>
              </a:lnSpc>
              <a:buNone/>
            </a:pPr>
            <a:r>
              <a:rPr lang="en-US" sz="1000" dirty="0">
                <a:solidFill>
                  <a:srgbClr val="7A7A82"/>
                </a:solidFill>
                <a:latin typeface="Calibri" pitchFamily="34" charset="0"/>
                <a:ea typeface="Calibri" pitchFamily="34" charset="-122"/>
                <a:cs typeface="Calibri" pitchFamily="34" charset="-120"/>
              </a:rPr>
              <a:t>marka DNA'sı · hedef kitle · ürün · vizyon ve misyon · ihtiyaçlar</a:t>
            </a:r>
            <a:endParaRPr lang="en-US" sz="1000" dirty="0"/>
          </a:p>
        </p:txBody>
      </p:sp>
      <p:sp>
        <p:nvSpPr>
          <p:cNvPr id="18" name="Text 16"/>
          <p:cNvSpPr txBox="1"/>
          <p:nvPr/>
        </p:nvSpPr>
        <p:spPr>
          <a:xfrm>
            <a:off x="6208776" y="2377440"/>
            <a:ext cx="2487168" cy="685800"/>
          </a:xfrm>
          <a:prstGeom prst="rect">
            <a:avLst/>
          </a:prstGeom>
          <a:noFill/>
          <a:ln/>
        </p:spPr>
        <p:txBody>
          <a:bodyPr wrap="square" lIns="0" tIns="0" rIns="0" bIns="0" rtlCol="0" anchor="ctr"/>
          <a:lstStyle/>
          <a:p>
            <a:pPr indent="0" marL="0">
              <a:buNone/>
            </a:pPr>
            <a:r>
              <a:rPr lang="en-US" sz="4600" b="1" dirty="0">
                <a:solidFill>
                  <a:srgbClr val="8C3A2B"/>
                </a:solidFill>
                <a:latin typeface="Cambria" pitchFamily="34" charset="0"/>
                <a:ea typeface="Cambria" pitchFamily="34" charset="-122"/>
                <a:cs typeface="Cambria" pitchFamily="34" charset="-120"/>
              </a:rPr>
              <a:t>3</a:t>
            </a:r>
            <a:endParaRPr lang="en-US" sz="4600" dirty="0"/>
          </a:p>
        </p:txBody>
      </p:sp>
      <p:sp>
        <p:nvSpPr>
          <p:cNvPr id="19" name="Shape 17"/>
          <p:cNvSpPr/>
          <p:nvPr/>
        </p:nvSpPr>
        <p:spPr>
          <a:xfrm>
            <a:off x="6208776" y="3163824"/>
            <a:ext cx="2212848" cy="0"/>
          </a:xfrm>
          <a:prstGeom prst="line">
            <a:avLst/>
          </a:prstGeom>
          <a:noFill/>
          <a:ln w="25400">
            <a:solidFill>
              <a:srgbClr val="8C3A2B"/>
            </a:solidFill>
            <a:prstDash val="solid"/>
          </a:ln>
        </p:spPr>
      </p:sp>
      <p:sp>
        <p:nvSpPr>
          <p:cNvPr id="20" name="Shape 18"/>
          <p:cNvSpPr/>
          <p:nvPr/>
        </p:nvSpPr>
        <p:spPr>
          <a:xfrm>
            <a:off x="8385048" y="3163824"/>
            <a:ext cx="274320" cy="0"/>
          </a:xfrm>
          <a:prstGeom prst="line">
            <a:avLst/>
          </a:prstGeom>
          <a:noFill/>
          <a:ln w="25400">
            <a:solidFill>
              <a:srgbClr val="8C3A2B"/>
            </a:solidFill>
            <a:prstDash val="solid"/>
            <a:tailEnd type="triangle"/>
          </a:ln>
        </p:spPr>
      </p:sp>
      <p:sp>
        <p:nvSpPr>
          <p:cNvPr id="21" name="Text 19"/>
          <p:cNvSpPr txBox="1"/>
          <p:nvPr/>
        </p:nvSpPr>
        <p:spPr>
          <a:xfrm>
            <a:off x="6208776" y="3291840"/>
            <a:ext cx="2487168" cy="347472"/>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Konsept geliştirme</a:t>
            </a:r>
            <a:endParaRPr lang="en-US" sz="1600" dirty="0"/>
          </a:p>
        </p:txBody>
      </p:sp>
      <p:sp>
        <p:nvSpPr>
          <p:cNvPr id="22" name="Text 20"/>
          <p:cNvSpPr txBox="1"/>
          <p:nvPr/>
        </p:nvSpPr>
        <p:spPr>
          <a:xfrm>
            <a:off x="6208776" y="3675888"/>
            <a:ext cx="2487168" cy="502920"/>
          </a:xfrm>
          <a:prstGeom prst="rect">
            <a:avLst/>
          </a:prstGeom>
          <a:noFill/>
          <a:ln/>
        </p:spPr>
        <p:txBody>
          <a:bodyPr wrap="square" lIns="0" tIns="0" rIns="0" bIns="0" rtlCol="0" anchor="ctr"/>
          <a:lstStyle/>
          <a:p>
            <a:pPr indent="0" marL="0">
              <a:lnSpc>
                <a:spcPts val="1450"/>
              </a:lnSpc>
              <a:buNone/>
            </a:pPr>
            <a:r>
              <a:rPr lang="en-US" sz="1150" dirty="0">
                <a:solidFill>
                  <a:srgbClr val="2B2B31"/>
                </a:solidFill>
                <a:latin typeface="Calibri" pitchFamily="34" charset="0"/>
                <a:ea typeface="Calibri" pitchFamily="34" charset="-122"/>
                <a:cs typeface="Calibri" pitchFamily="34" charset="-120"/>
              </a:rPr>
              <a:t>Analizin mekânsal fikre dönüşmesi.</a:t>
            </a:r>
            <a:endParaRPr lang="en-US" sz="1150" dirty="0"/>
          </a:p>
        </p:txBody>
      </p:sp>
      <p:sp>
        <p:nvSpPr>
          <p:cNvPr id="23" name="Text 21"/>
          <p:cNvSpPr txBox="1"/>
          <p:nvPr/>
        </p:nvSpPr>
        <p:spPr>
          <a:xfrm>
            <a:off x="6208776" y="4206240"/>
            <a:ext cx="2487168" cy="1234440"/>
          </a:xfrm>
          <a:prstGeom prst="rect">
            <a:avLst/>
          </a:prstGeom>
          <a:noFill/>
          <a:ln/>
        </p:spPr>
        <p:txBody>
          <a:bodyPr wrap="square" lIns="0" tIns="0" rIns="0" bIns="0" rtlCol="0" anchor="ctr"/>
          <a:lstStyle/>
          <a:p>
            <a:pPr indent="0" marL="0">
              <a:lnSpc>
                <a:spcPts val="1350"/>
              </a:lnSpc>
              <a:buNone/>
            </a:pPr>
            <a:r>
              <a:rPr lang="en-US" sz="1000" dirty="0">
                <a:solidFill>
                  <a:srgbClr val="7A7A82"/>
                </a:solidFill>
                <a:latin typeface="Calibri" pitchFamily="34" charset="0"/>
                <a:ea typeface="Calibri" pitchFamily="34" charset="-122"/>
                <a:cs typeface="Calibri" pitchFamily="34" charset="-120"/>
              </a:rPr>
              <a:t>anahtar kelimeler · trend araştırması · atmosfer çalışması · mekânsal planlama</a:t>
            </a:r>
            <a:endParaRPr lang="en-US" sz="1000" dirty="0"/>
          </a:p>
        </p:txBody>
      </p:sp>
      <p:sp>
        <p:nvSpPr>
          <p:cNvPr id="24" name="Text 22"/>
          <p:cNvSpPr txBox="1"/>
          <p:nvPr/>
        </p:nvSpPr>
        <p:spPr>
          <a:xfrm>
            <a:off x="8924544" y="2377440"/>
            <a:ext cx="2487168" cy="685800"/>
          </a:xfrm>
          <a:prstGeom prst="rect">
            <a:avLst/>
          </a:prstGeom>
          <a:noFill/>
          <a:ln/>
        </p:spPr>
        <p:txBody>
          <a:bodyPr wrap="square" lIns="0" tIns="0" rIns="0" bIns="0" rtlCol="0" anchor="ctr"/>
          <a:lstStyle/>
          <a:p>
            <a:pPr indent="0" marL="0">
              <a:buNone/>
            </a:pPr>
            <a:r>
              <a:rPr lang="en-US" sz="4600" b="1" dirty="0">
                <a:solidFill>
                  <a:srgbClr val="A6A6AC"/>
                </a:solidFill>
                <a:latin typeface="Cambria" pitchFamily="34" charset="0"/>
                <a:ea typeface="Cambria" pitchFamily="34" charset="-122"/>
                <a:cs typeface="Cambria" pitchFamily="34" charset="-120"/>
              </a:rPr>
              <a:t>4</a:t>
            </a:r>
            <a:endParaRPr lang="en-US" sz="4600" dirty="0"/>
          </a:p>
        </p:txBody>
      </p:sp>
      <p:sp>
        <p:nvSpPr>
          <p:cNvPr id="25" name="Shape 23"/>
          <p:cNvSpPr/>
          <p:nvPr/>
        </p:nvSpPr>
        <p:spPr>
          <a:xfrm>
            <a:off x="8924544" y="3163824"/>
            <a:ext cx="2212848" cy="0"/>
          </a:xfrm>
          <a:prstGeom prst="line">
            <a:avLst/>
          </a:prstGeom>
          <a:noFill/>
          <a:ln w="25400">
            <a:solidFill>
              <a:srgbClr val="7A7A82"/>
            </a:solidFill>
            <a:prstDash val="solid"/>
          </a:ln>
        </p:spPr>
      </p:sp>
      <p:sp>
        <p:nvSpPr>
          <p:cNvPr id="26" name="Shape 24"/>
          <p:cNvSpPr/>
          <p:nvPr/>
        </p:nvSpPr>
        <p:spPr>
          <a:xfrm>
            <a:off x="11100816" y="3163824"/>
            <a:ext cx="274320" cy="0"/>
          </a:xfrm>
          <a:prstGeom prst="line">
            <a:avLst/>
          </a:prstGeom>
          <a:noFill/>
          <a:ln w="25400">
            <a:solidFill>
              <a:srgbClr val="7A7A82"/>
            </a:solidFill>
            <a:prstDash val="solid"/>
            <a:tailEnd type="triangle"/>
          </a:ln>
        </p:spPr>
      </p:sp>
      <p:sp>
        <p:nvSpPr>
          <p:cNvPr id="27" name="Text 25"/>
          <p:cNvSpPr txBox="1"/>
          <p:nvPr/>
        </p:nvSpPr>
        <p:spPr>
          <a:xfrm>
            <a:off x="8924544" y="3291840"/>
            <a:ext cx="2487168" cy="347472"/>
          </a:xfrm>
          <a:prstGeom prst="rect">
            <a:avLst/>
          </a:prstGeom>
          <a:noFill/>
          <a:ln/>
        </p:spPr>
        <p:txBody>
          <a:bodyPr wrap="square" lIns="0" tIns="0" rIns="0" bIns="0" rtlCol="0" anchor="ctr"/>
          <a:lstStyle/>
          <a:p>
            <a:pPr indent="0" marL="0">
              <a:buNone/>
            </a:pPr>
            <a:r>
              <a:rPr lang="en-US" sz="1600" b="1" dirty="0">
                <a:solidFill>
                  <a:srgbClr val="16161A"/>
                </a:solidFill>
                <a:latin typeface="Cambria" pitchFamily="34" charset="0"/>
                <a:ea typeface="Cambria" pitchFamily="34" charset="-122"/>
                <a:cs typeface="Cambria" pitchFamily="34" charset="-120"/>
              </a:rPr>
              <a:t>Sunum</a:t>
            </a:r>
            <a:endParaRPr lang="en-US" sz="1600" dirty="0"/>
          </a:p>
        </p:txBody>
      </p:sp>
      <p:sp>
        <p:nvSpPr>
          <p:cNvPr id="28" name="Text 26"/>
          <p:cNvSpPr txBox="1"/>
          <p:nvPr/>
        </p:nvSpPr>
        <p:spPr>
          <a:xfrm>
            <a:off x="8924544" y="3675888"/>
            <a:ext cx="2487168" cy="502920"/>
          </a:xfrm>
          <a:prstGeom prst="rect">
            <a:avLst/>
          </a:prstGeom>
          <a:noFill/>
          <a:ln/>
        </p:spPr>
        <p:txBody>
          <a:bodyPr wrap="square" lIns="0" tIns="0" rIns="0" bIns="0" rtlCol="0" anchor="ctr"/>
          <a:lstStyle/>
          <a:p>
            <a:pPr indent="0" marL="0">
              <a:lnSpc>
                <a:spcPts val="1450"/>
              </a:lnSpc>
              <a:buNone/>
            </a:pPr>
            <a:r>
              <a:rPr lang="en-US" sz="1150" dirty="0">
                <a:solidFill>
                  <a:srgbClr val="2B2B31"/>
                </a:solidFill>
                <a:latin typeface="Calibri" pitchFamily="34" charset="0"/>
                <a:ea typeface="Calibri" pitchFamily="34" charset="-122"/>
                <a:cs typeface="Calibri" pitchFamily="34" charset="-120"/>
              </a:rPr>
              <a:t>Fikrin anlatılabilir hâle gelmesi.</a:t>
            </a:r>
            <a:endParaRPr lang="en-US" sz="1150" dirty="0"/>
          </a:p>
        </p:txBody>
      </p:sp>
      <p:sp>
        <p:nvSpPr>
          <p:cNvPr id="29" name="Text 27"/>
          <p:cNvSpPr txBox="1"/>
          <p:nvPr/>
        </p:nvSpPr>
        <p:spPr>
          <a:xfrm>
            <a:off x="8924544" y="4206240"/>
            <a:ext cx="2487168" cy="1234440"/>
          </a:xfrm>
          <a:prstGeom prst="rect">
            <a:avLst/>
          </a:prstGeom>
          <a:noFill/>
          <a:ln/>
        </p:spPr>
        <p:txBody>
          <a:bodyPr wrap="square" lIns="0" tIns="0" rIns="0" bIns="0" rtlCol="0" anchor="ctr"/>
          <a:lstStyle/>
          <a:p>
            <a:pPr indent="0" marL="0">
              <a:lnSpc>
                <a:spcPts val="1350"/>
              </a:lnSpc>
              <a:buNone/>
            </a:pPr>
            <a:r>
              <a:rPr lang="en-US" sz="1000" dirty="0">
                <a:solidFill>
                  <a:srgbClr val="7A7A82"/>
                </a:solidFill>
                <a:latin typeface="Calibri" pitchFamily="34" charset="0"/>
                <a:ea typeface="Calibri" pitchFamily="34" charset="-122"/>
                <a:cs typeface="Calibri" pitchFamily="34" charset="-120"/>
              </a:rPr>
              <a:t>konsept görselleştirmesi · kavramsal ve mekânsal planlar · anlatı</a:t>
            </a:r>
            <a:endParaRPr lang="en-US" sz="1000" dirty="0"/>
          </a:p>
        </p:txBody>
      </p:sp>
      <p:sp>
        <p:nvSpPr>
          <p:cNvPr id="30" name="Text 28"/>
          <p:cNvSpPr txBox="1"/>
          <p:nvPr/>
        </p:nvSpPr>
        <p:spPr>
          <a:xfrm>
            <a:off x="777240" y="5623560"/>
            <a:ext cx="10424160" cy="411480"/>
          </a:xfrm>
          <a:prstGeom prst="rect">
            <a:avLst/>
          </a:prstGeom>
          <a:noFill/>
          <a:ln/>
        </p:spPr>
        <p:txBody>
          <a:bodyPr wrap="square" lIns="0" tIns="0" rIns="0" bIns="0" rtlCol="0" anchor="ctr"/>
          <a:lstStyle/>
          <a:p>
            <a:pPr algn="l" indent="0" marL="0">
              <a:lnSpc>
                <a:spcPts val="1200"/>
              </a:lnSpc>
              <a:buNone/>
            </a:pPr>
            <a:r>
              <a:rPr lang="en-US" sz="1300" i="1" dirty="0">
                <a:solidFill>
                  <a:srgbClr val="8C3A2B"/>
                </a:solidFill>
                <a:latin typeface="Cambria" pitchFamily="34" charset="0"/>
                <a:ea typeface="Cambria" pitchFamily="34" charset="-122"/>
                <a:cs typeface="Cambria" pitchFamily="34" charset="-120"/>
              </a:rPr>
              <a:t>Üçüncü adım vurgulu: analizle tasarım arasındaki köprü burada kurulur, ve genellikle burada kopar.</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III · MARKA VE MEKÂN</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Anahtar kelimeler nasıl çıkarılır?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15</a:t>
            </a:r>
            <a:endParaRPr lang="en-US" sz="950" dirty="0"/>
          </a:p>
        </p:txBody>
      </p:sp>
      <p:sp>
        <p:nvSpPr>
          <p:cNvPr id="5" name="Text 3"/>
          <p:cNvSpPr txBox="1"/>
          <p:nvPr/>
        </p:nvSpPr>
        <p:spPr>
          <a:xfrm>
            <a:off x="777240" y="1609344"/>
            <a:ext cx="10634472" cy="54864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Anahtar kelime, marka analizini tasarım kararına bağlayan ara durakdır. Analizden doğrudan plana geçilemez; arada kelimeye dönüşmesi gerekir.</a:t>
            </a:r>
            <a:endParaRPr lang="en-US" sz="1500" dirty="0"/>
          </a:p>
        </p:txBody>
      </p:sp>
      <p:sp>
        <p:nvSpPr>
          <p:cNvPr id="6" name="Shape 4"/>
          <p:cNvSpPr/>
          <p:nvPr/>
        </p:nvSpPr>
        <p:spPr>
          <a:xfrm>
            <a:off x="777240" y="2286000"/>
            <a:ext cx="2487168" cy="2377440"/>
          </a:xfrm>
          <a:prstGeom prst="rect">
            <a:avLst/>
          </a:prstGeom>
          <a:ln w="9525">
            <a:solidFill>
              <a:srgbClr val="C9C9CF"/>
            </a:solidFill>
            <a:prstDash val="solid"/>
          </a:ln>
        </p:spPr>
      </p:sp>
      <p:sp>
        <p:nvSpPr>
          <p:cNvPr id="7" name="Text 5"/>
          <p:cNvSpPr txBox="1"/>
          <p:nvPr/>
        </p:nvSpPr>
        <p:spPr>
          <a:xfrm>
            <a:off x="960120" y="2487168"/>
            <a:ext cx="2121408" cy="457200"/>
          </a:xfrm>
          <a:prstGeom prst="rect">
            <a:avLst/>
          </a:prstGeom>
          <a:noFill/>
          <a:ln/>
        </p:spPr>
        <p:txBody>
          <a:bodyPr wrap="square" lIns="0" tIns="0" rIns="0" bIns="0" rtlCol="0" anchor="ctr"/>
          <a:lstStyle/>
          <a:p>
            <a:pPr indent="0" marL="0">
              <a:lnSpc>
                <a:spcPts val="1200"/>
              </a:lnSpc>
              <a:buNone/>
            </a:pPr>
            <a:r>
              <a:rPr lang="en-US" sz="950" b="1" spc="120" kern="0" dirty="0">
                <a:solidFill>
                  <a:srgbClr val="16161A"/>
                </a:solidFill>
                <a:latin typeface="Calibri" pitchFamily="34" charset="0"/>
                <a:ea typeface="Calibri" pitchFamily="34" charset="-122"/>
                <a:cs typeface="Calibri" pitchFamily="34" charset="-120"/>
              </a:rPr>
              <a:t>KAYNAKLAR</a:t>
            </a:r>
            <a:endParaRPr lang="en-US" sz="950" dirty="0"/>
          </a:p>
        </p:txBody>
      </p:sp>
      <p:sp>
        <p:nvSpPr>
          <p:cNvPr id="8" name="Text 6"/>
          <p:cNvSpPr txBox="1"/>
          <p:nvPr/>
        </p:nvSpPr>
        <p:spPr>
          <a:xfrm>
            <a:off x="960120" y="2944368"/>
            <a:ext cx="2121408" cy="420624"/>
          </a:xfrm>
          <a:prstGeom prst="rect">
            <a:avLst/>
          </a:prstGeom>
          <a:noFill/>
          <a:ln/>
        </p:spPr>
        <p:txBody>
          <a:bodyPr wrap="square" lIns="0" tIns="0" rIns="0" bIns="0" rtlCol="0" anchor="ctr"/>
          <a:lstStyle/>
          <a:p>
            <a:pPr indent="0" marL="0">
              <a:lnSpc>
                <a:spcPts val="1600"/>
              </a:lnSpc>
              <a:buNone/>
            </a:pPr>
            <a:r>
              <a:rPr lang="en-US" sz="1250" i="1" dirty="0">
                <a:solidFill>
                  <a:srgbClr val="7A7A82"/>
                </a:solidFill>
                <a:latin typeface="Cambria" pitchFamily="34" charset="0"/>
                <a:ea typeface="Cambria" pitchFamily="34" charset="-122"/>
                <a:cs typeface="Cambria" pitchFamily="34" charset="-120"/>
              </a:rPr>
              <a:t>Markanın kendi ürettiği her şey</a:t>
            </a:r>
            <a:endParaRPr lang="en-US" sz="1250" dirty="0"/>
          </a:p>
        </p:txBody>
      </p:sp>
      <p:sp>
        <p:nvSpPr>
          <p:cNvPr id="9" name="Text 7"/>
          <p:cNvSpPr txBox="1"/>
          <p:nvPr/>
        </p:nvSpPr>
        <p:spPr>
          <a:xfrm>
            <a:off x="960120" y="3383280"/>
            <a:ext cx="2121408" cy="1170432"/>
          </a:xfrm>
          <a:prstGeom prst="rect">
            <a:avLst/>
          </a:prstGeom>
          <a:noFill/>
          <a:ln/>
        </p:spPr>
        <p:txBody>
          <a:bodyPr wrap="square" lIns="0" tIns="0" rIns="0" bIns="0" rtlCol="0" anchor="ctr"/>
          <a:lstStyle/>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web sitesi metinleri</a:t>
            </a:r>
            <a:endParaRPr lang="en-US" sz="1000" dirty="0"/>
          </a:p>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ürün ve ambalaj</a:t>
            </a:r>
            <a:endParaRPr lang="en-US" sz="1000" dirty="0"/>
          </a:p>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sosyal medya dili</a:t>
            </a:r>
            <a:endParaRPr lang="en-US" sz="1000" dirty="0"/>
          </a:p>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müşteri yorumları</a:t>
            </a:r>
            <a:endParaRPr lang="en-US" sz="1000" dirty="0"/>
          </a:p>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marka sahibiyle görüşme</a:t>
            </a:r>
            <a:endParaRPr lang="en-US" sz="1000" dirty="0"/>
          </a:p>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rakiplerin dili</a:t>
            </a:r>
            <a:endParaRPr lang="en-US" sz="1000" dirty="0"/>
          </a:p>
        </p:txBody>
      </p:sp>
      <p:sp>
        <p:nvSpPr>
          <p:cNvPr id="10" name="Shape 8"/>
          <p:cNvSpPr/>
          <p:nvPr/>
        </p:nvSpPr>
        <p:spPr>
          <a:xfrm>
            <a:off x="3291840" y="3474720"/>
            <a:ext cx="173736" cy="0"/>
          </a:xfrm>
          <a:prstGeom prst="line">
            <a:avLst/>
          </a:prstGeom>
          <a:noFill/>
          <a:ln w="19050">
            <a:solidFill>
              <a:srgbClr val="8C3A2B"/>
            </a:solidFill>
            <a:prstDash val="solid"/>
            <a:tailEnd type="triangle"/>
          </a:ln>
        </p:spPr>
      </p:sp>
      <p:sp>
        <p:nvSpPr>
          <p:cNvPr id="11" name="Shape 9"/>
          <p:cNvSpPr/>
          <p:nvPr/>
        </p:nvSpPr>
        <p:spPr>
          <a:xfrm>
            <a:off x="3493008" y="2286000"/>
            <a:ext cx="2487168" cy="2377440"/>
          </a:xfrm>
          <a:prstGeom prst="rect">
            <a:avLst/>
          </a:prstGeom>
          <a:ln w="9525">
            <a:solidFill>
              <a:srgbClr val="C9C9CF"/>
            </a:solidFill>
            <a:prstDash val="solid"/>
          </a:ln>
        </p:spPr>
      </p:sp>
      <p:sp>
        <p:nvSpPr>
          <p:cNvPr id="12" name="Text 10"/>
          <p:cNvSpPr txBox="1"/>
          <p:nvPr/>
        </p:nvSpPr>
        <p:spPr>
          <a:xfrm>
            <a:off x="3675888" y="2487168"/>
            <a:ext cx="2121408" cy="457200"/>
          </a:xfrm>
          <a:prstGeom prst="rect">
            <a:avLst/>
          </a:prstGeom>
          <a:noFill/>
          <a:ln/>
        </p:spPr>
        <p:txBody>
          <a:bodyPr wrap="square" lIns="0" tIns="0" rIns="0" bIns="0" rtlCol="0" anchor="ctr"/>
          <a:lstStyle/>
          <a:p>
            <a:pPr indent="0" marL="0">
              <a:lnSpc>
                <a:spcPts val="1200"/>
              </a:lnSpc>
              <a:buNone/>
            </a:pPr>
            <a:r>
              <a:rPr lang="en-US" sz="950" b="1" spc="120" kern="0" dirty="0">
                <a:solidFill>
                  <a:srgbClr val="16161A"/>
                </a:solidFill>
                <a:latin typeface="Calibri" pitchFamily="34" charset="0"/>
                <a:ea typeface="Calibri" pitchFamily="34" charset="-122"/>
                <a:cs typeface="Calibri" pitchFamily="34" charset="-120"/>
              </a:rPr>
              <a:t>HAM KELİME HAVUZU</a:t>
            </a:r>
            <a:endParaRPr lang="en-US" sz="950" dirty="0"/>
          </a:p>
        </p:txBody>
      </p:sp>
      <p:sp>
        <p:nvSpPr>
          <p:cNvPr id="13" name="Text 11"/>
          <p:cNvSpPr txBox="1"/>
          <p:nvPr/>
        </p:nvSpPr>
        <p:spPr>
          <a:xfrm>
            <a:off x="3675888" y="2944368"/>
            <a:ext cx="2121408" cy="420624"/>
          </a:xfrm>
          <a:prstGeom prst="rect">
            <a:avLst/>
          </a:prstGeom>
          <a:noFill/>
          <a:ln/>
        </p:spPr>
        <p:txBody>
          <a:bodyPr wrap="square" lIns="0" tIns="0" rIns="0" bIns="0" rtlCol="0" anchor="ctr"/>
          <a:lstStyle/>
          <a:p>
            <a:pPr indent="0" marL="0">
              <a:lnSpc>
                <a:spcPts val="1600"/>
              </a:lnSpc>
              <a:buNone/>
            </a:pPr>
            <a:r>
              <a:rPr lang="en-US" sz="1250" i="1" dirty="0">
                <a:solidFill>
                  <a:srgbClr val="7A7A82"/>
                </a:solidFill>
                <a:latin typeface="Cambria" pitchFamily="34" charset="0"/>
                <a:ea typeface="Cambria" pitchFamily="34" charset="-122"/>
                <a:cs typeface="Cambria" pitchFamily="34" charset="-120"/>
              </a:rPr>
              <a:t>Otuz–elli kelime</a:t>
            </a:r>
            <a:endParaRPr lang="en-US" sz="1250" dirty="0"/>
          </a:p>
        </p:txBody>
      </p:sp>
      <p:sp>
        <p:nvSpPr>
          <p:cNvPr id="14" name="Text 12"/>
          <p:cNvSpPr txBox="1"/>
          <p:nvPr/>
        </p:nvSpPr>
        <p:spPr>
          <a:xfrm>
            <a:off x="3675888" y="3383280"/>
            <a:ext cx="2121408" cy="1170432"/>
          </a:xfrm>
          <a:prstGeom prst="rect">
            <a:avLst/>
          </a:prstGeom>
          <a:noFill/>
          <a:ln/>
        </p:spPr>
        <p:txBody>
          <a:bodyPr wrap="square" lIns="0" tIns="0" rIns="0" bIns="0" rtlCol="0" anchor="ctr"/>
          <a:lstStyle/>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sıfat, fiil ve nesne adı</a:t>
            </a:r>
            <a:endParaRPr lang="en-US" sz="1000" dirty="0"/>
          </a:p>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hepsini yaz, hiçbirini eleme</a:t>
            </a:r>
            <a:endParaRPr lang="en-US" sz="1000" dirty="0"/>
          </a:p>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tekrar edenleri işaretle</a:t>
            </a:r>
            <a:endParaRPr lang="en-US" sz="1000" dirty="0"/>
          </a:p>
        </p:txBody>
      </p:sp>
      <p:sp>
        <p:nvSpPr>
          <p:cNvPr id="15" name="Shape 13"/>
          <p:cNvSpPr/>
          <p:nvPr/>
        </p:nvSpPr>
        <p:spPr>
          <a:xfrm>
            <a:off x="6007608" y="3474720"/>
            <a:ext cx="173736" cy="0"/>
          </a:xfrm>
          <a:prstGeom prst="line">
            <a:avLst/>
          </a:prstGeom>
          <a:noFill/>
          <a:ln w="19050">
            <a:solidFill>
              <a:srgbClr val="8C3A2B"/>
            </a:solidFill>
            <a:prstDash val="solid"/>
            <a:tailEnd type="triangle"/>
          </a:ln>
        </p:spPr>
      </p:sp>
      <p:sp>
        <p:nvSpPr>
          <p:cNvPr id="16" name="Shape 14"/>
          <p:cNvSpPr/>
          <p:nvPr/>
        </p:nvSpPr>
        <p:spPr>
          <a:xfrm>
            <a:off x="6208776" y="2286000"/>
            <a:ext cx="2487168" cy="2377440"/>
          </a:xfrm>
          <a:prstGeom prst="rect">
            <a:avLst/>
          </a:prstGeom>
          <a:ln w="9525">
            <a:solidFill>
              <a:srgbClr val="C9C9CF"/>
            </a:solidFill>
            <a:prstDash val="solid"/>
          </a:ln>
        </p:spPr>
      </p:sp>
      <p:sp>
        <p:nvSpPr>
          <p:cNvPr id="17" name="Text 15"/>
          <p:cNvSpPr txBox="1"/>
          <p:nvPr/>
        </p:nvSpPr>
        <p:spPr>
          <a:xfrm>
            <a:off x="6391656" y="2487168"/>
            <a:ext cx="2121408" cy="457200"/>
          </a:xfrm>
          <a:prstGeom prst="rect">
            <a:avLst/>
          </a:prstGeom>
          <a:noFill/>
          <a:ln/>
        </p:spPr>
        <p:txBody>
          <a:bodyPr wrap="square" lIns="0" tIns="0" rIns="0" bIns="0" rtlCol="0" anchor="ctr"/>
          <a:lstStyle/>
          <a:p>
            <a:pPr indent="0" marL="0">
              <a:lnSpc>
                <a:spcPts val="1200"/>
              </a:lnSpc>
              <a:buNone/>
            </a:pPr>
            <a:r>
              <a:rPr lang="en-US" sz="950" b="1" spc="120" kern="0" dirty="0">
                <a:solidFill>
                  <a:srgbClr val="16161A"/>
                </a:solidFill>
                <a:latin typeface="Calibri" pitchFamily="34" charset="0"/>
                <a:ea typeface="Calibri" pitchFamily="34" charset="-122"/>
                <a:cs typeface="Calibri" pitchFamily="34" charset="-120"/>
              </a:rPr>
              <a:t>GRUPLAMA</a:t>
            </a:r>
            <a:endParaRPr lang="en-US" sz="950" dirty="0"/>
          </a:p>
        </p:txBody>
      </p:sp>
      <p:sp>
        <p:nvSpPr>
          <p:cNvPr id="18" name="Text 16"/>
          <p:cNvSpPr txBox="1"/>
          <p:nvPr/>
        </p:nvSpPr>
        <p:spPr>
          <a:xfrm>
            <a:off x="6391656" y="2944368"/>
            <a:ext cx="2121408" cy="420624"/>
          </a:xfrm>
          <a:prstGeom prst="rect">
            <a:avLst/>
          </a:prstGeom>
          <a:noFill/>
          <a:ln/>
        </p:spPr>
        <p:txBody>
          <a:bodyPr wrap="square" lIns="0" tIns="0" rIns="0" bIns="0" rtlCol="0" anchor="ctr"/>
          <a:lstStyle/>
          <a:p>
            <a:pPr indent="0" marL="0">
              <a:lnSpc>
                <a:spcPts val="1600"/>
              </a:lnSpc>
              <a:buNone/>
            </a:pPr>
            <a:r>
              <a:rPr lang="en-US" sz="1250" i="1" dirty="0">
                <a:solidFill>
                  <a:srgbClr val="7A7A82"/>
                </a:solidFill>
                <a:latin typeface="Cambria" pitchFamily="34" charset="0"/>
                <a:ea typeface="Cambria" pitchFamily="34" charset="-122"/>
                <a:cs typeface="Cambria" pitchFamily="34" charset="-120"/>
              </a:rPr>
              <a:t>Kümeleme ve eleme</a:t>
            </a:r>
            <a:endParaRPr lang="en-US" sz="1250" dirty="0"/>
          </a:p>
        </p:txBody>
      </p:sp>
      <p:sp>
        <p:nvSpPr>
          <p:cNvPr id="19" name="Text 17"/>
          <p:cNvSpPr txBox="1"/>
          <p:nvPr/>
        </p:nvSpPr>
        <p:spPr>
          <a:xfrm>
            <a:off x="6391656" y="3383280"/>
            <a:ext cx="2121408" cy="1170432"/>
          </a:xfrm>
          <a:prstGeom prst="rect">
            <a:avLst/>
          </a:prstGeom>
          <a:noFill/>
          <a:ln/>
        </p:spPr>
        <p:txBody>
          <a:bodyPr wrap="square" lIns="0" tIns="0" rIns="0" bIns="0" rtlCol="0" anchor="ctr"/>
          <a:lstStyle/>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eş anlamlıları birleştir</a:t>
            </a:r>
            <a:endParaRPr lang="en-US" sz="1000" dirty="0"/>
          </a:p>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tekrar edenleri kümele</a:t>
            </a:r>
            <a:endParaRPr lang="en-US" sz="1000" dirty="0"/>
          </a:p>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markaya özgü olmayanları at</a:t>
            </a:r>
            <a:endParaRPr lang="en-US" sz="1000" dirty="0"/>
          </a:p>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(“kaliteli”, “modern”, “özel”)</a:t>
            </a:r>
            <a:endParaRPr lang="en-US" sz="1000" dirty="0"/>
          </a:p>
        </p:txBody>
      </p:sp>
      <p:sp>
        <p:nvSpPr>
          <p:cNvPr id="20" name="Shape 18"/>
          <p:cNvSpPr/>
          <p:nvPr/>
        </p:nvSpPr>
        <p:spPr>
          <a:xfrm>
            <a:off x="8723376" y="3474720"/>
            <a:ext cx="173736" cy="0"/>
          </a:xfrm>
          <a:prstGeom prst="line">
            <a:avLst/>
          </a:prstGeom>
          <a:noFill/>
          <a:ln w="19050">
            <a:solidFill>
              <a:srgbClr val="8C3A2B"/>
            </a:solidFill>
            <a:prstDash val="solid"/>
            <a:tailEnd type="triangle"/>
          </a:ln>
        </p:spPr>
      </p:sp>
      <p:sp>
        <p:nvSpPr>
          <p:cNvPr id="21" name="Shape 19"/>
          <p:cNvSpPr/>
          <p:nvPr/>
        </p:nvSpPr>
        <p:spPr>
          <a:xfrm>
            <a:off x="8924544" y="2286000"/>
            <a:ext cx="2487168" cy="2377440"/>
          </a:xfrm>
          <a:prstGeom prst="rect">
            <a:avLst/>
          </a:prstGeom>
          <a:solidFill>
            <a:srgbClr val="F6EAE6"/>
          </a:solidFill>
          <a:ln w="15875">
            <a:solidFill>
              <a:srgbClr val="8C3A2B"/>
            </a:solidFill>
            <a:prstDash val="solid"/>
          </a:ln>
        </p:spPr>
      </p:sp>
      <p:sp>
        <p:nvSpPr>
          <p:cNvPr id="22" name="Text 20"/>
          <p:cNvSpPr txBox="1"/>
          <p:nvPr/>
        </p:nvSpPr>
        <p:spPr>
          <a:xfrm>
            <a:off x="9107424" y="2487168"/>
            <a:ext cx="2121408" cy="457200"/>
          </a:xfrm>
          <a:prstGeom prst="rect">
            <a:avLst/>
          </a:prstGeom>
          <a:noFill/>
          <a:ln/>
        </p:spPr>
        <p:txBody>
          <a:bodyPr wrap="square" lIns="0" tIns="0" rIns="0" bIns="0" rtlCol="0" anchor="ctr"/>
          <a:lstStyle/>
          <a:p>
            <a:pPr indent="0" marL="0">
              <a:lnSpc>
                <a:spcPts val="1200"/>
              </a:lnSpc>
              <a:buNone/>
            </a:pPr>
            <a:r>
              <a:rPr lang="en-US" sz="950" b="1" spc="120" kern="0" dirty="0">
                <a:solidFill>
                  <a:srgbClr val="8C3A2B"/>
                </a:solidFill>
                <a:latin typeface="Calibri" pitchFamily="34" charset="0"/>
                <a:ea typeface="Calibri" pitchFamily="34" charset="-122"/>
                <a:cs typeface="Calibri" pitchFamily="34" charset="-120"/>
              </a:rPr>
              <a:t>ANAHTAR KELİMELER</a:t>
            </a:r>
            <a:endParaRPr lang="en-US" sz="950" dirty="0"/>
          </a:p>
        </p:txBody>
      </p:sp>
      <p:sp>
        <p:nvSpPr>
          <p:cNvPr id="23" name="Text 21"/>
          <p:cNvSpPr txBox="1"/>
          <p:nvPr/>
        </p:nvSpPr>
        <p:spPr>
          <a:xfrm>
            <a:off x="9107424" y="2944368"/>
            <a:ext cx="2121408" cy="420624"/>
          </a:xfrm>
          <a:prstGeom prst="rect">
            <a:avLst/>
          </a:prstGeom>
          <a:noFill/>
          <a:ln/>
        </p:spPr>
        <p:txBody>
          <a:bodyPr wrap="square" lIns="0" tIns="0" rIns="0" bIns="0" rtlCol="0" anchor="ctr"/>
          <a:lstStyle/>
          <a:p>
            <a:pPr indent="0" marL="0">
              <a:lnSpc>
                <a:spcPts val="1600"/>
              </a:lnSpc>
              <a:buNone/>
            </a:pPr>
            <a:r>
              <a:rPr lang="en-US" sz="1250" i="1" dirty="0">
                <a:solidFill>
                  <a:srgbClr val="8C3A2B"/>
                </a:solidFill>
                <a:latin typeface="Cambria" pitchFamily="34" charset="0"/>
                <a:ea typeface="Cambria" pitchFamily="34" charset="-122"/>
                <a:cs typeface="Cambria" pitchFamily="34" charset="-120"/>
              </a:rPr>
              <a:t>Üç–beş kelime</a:t>
            </a:r>
            <a:endParaRPr lang="en-US" sz="1250" dirty="0"/>
          </a:p>
        </p:txBody>
      </p:sp>
      <p:sp>
        <p:nvSpPr>
          <p:cNvPr id="24" name="Text 22"/>
          <p:cNvSpPr txBox="1"/>
          <p:nvPr/>
        </p:nvSpPr>
        <p:spPr>
          <a:xfrm>
            <a:off x="9107424" y="3383280"/>
            <a:ext cx="2121408" cy="1170432"/>
          </a:xfrm>
          <a:prstGeom prst="rect">
            <a:avLst/>
          </a:prstGeom>
          <a:noFill/>
          <a:ln/>
        </p:spPr>
        <p:txBody>
          <a:bodyPr wrap="square" lIns="0" tIns="0" rIns="0" bIns="0" rtlCol="0" anchor="ctr"/>
          <a:lstStyle/>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her biri mekânsal olarak</a:t>
            </a:r>
            <a:endParaRPr lang="en-US" sz="1000" dirty="0"/>
          </a:p>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sınanabilir olmalı</a:t>
            </a:r>
            <a:endParaRPr lang="en-US" sz="1000" dirty="0"/>
          </a:p>
          <a:p>
            <a:pPr indent="0" marL="0">
              <a:lnSpc>
                <a:spcPts val="1350"/>
              </a:lnSpc>
              <a:buNone/>
            </a:pPr>
            <a:r>
              <a:rPr lang="en-US" sz="1000" dirty="0">
                <a:solidFill>
                  <a:srgbClr val="2B2B31"/>
                </a:solidFill>
                <a:latin typeface="Calibri" pitchFamily="34" charset="0"/>
                <a:ea typeface="Calibri" pitchFamily="34" charset="-122"/>
                <a:cs typeface="Calibri" pitchFamily="34" charset="-120"/>
              </a:rPr>
              <a:t>birbirinin eş anlamlısı olmamalı</a:t>
            </a:r>
            <a:endParaRPr lang="en-US" sz="1000" dirty="0"/>
          </a:p>
        </p:txBody>
      </p:sp>
      <p:sp>
        <p:nvSpPr>
          <p:cNvPr id="25" name="Text 23"/>
          <p:cNvSpPr txBox="1"/>
          <p:nvPr/>
        </p:nvSpPr>
        <p:spPr>
          <a:xfrm>
            <a:off x="777240" y="4937760"/>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SINAMA</a:t>
            </a:r>
            <a:endParaRPr lang="en-US" sz="900" dirty="0"/>
          </a:p>
        </p:txBody>
      </p:sp>
      <p:sp>
        <p:nvSpPr>
          <p:cNvPr id="26" name="Text 24"/>
          <p:cNvSpPr txBox="1"/>
          <p:nvPr/>
        </p:nvSpPr>
        <p:spPr>
          <a:xfrm>
            <a:off x="777240" y="5175504"/>
            <a:ext cx="10424160" cy="411480"/>
          </a:xfrm>
          <a:prstGeom prst="rect">
            <a:avLst/>
          </a:prstGeom>
          <a:noFill/>
          <a:ln/>
        </p:spPr>
        <p:txBody>
          <a:bodyPr wrap="square" lIns="0" tIns="0" rIns="0" bIns="0" rtlCol="0" anchor="ctr"/>
          <a:lstStyle/>
          <a:p>
            <a:pPr algn="l" indent="0" marL="0">
              <a:lnSpc>
                <a:spcPts val="1200"/>
              </a:lnSpc>
              <a:buNone/>
            </a:pPr>
            <a:r>
              <a:rPr lang="en-US" sz="1700" i="1" dirty="0">
                <a:solidFill>
                  <a:srgbClr val="8C3A2B"/>
                </a:solidFill>
                <a:latin typeface="Cambria" pitchFamily="34" charset="0"/>
                <a:ea typeface="Cambria" pitchFamily="34" charset="-122"/>
                <a:cs typeface="Cambria" pitchFamily="34" charset="-120"/>
              </a:rPr>
              <a:t>Bir anahtar kelime bir mekânsal karara dönüşemiyorsa, o bir anahtar kelime değildir.</a:t>
            </a:r>
            <a:endParaRPr lang="en-US" sz="1700" dirty="0"/>
          </a:p>
        </p:txBody>
      </p:sp>
      <p:sp>
        <p:nvSpPr>
          <p:cNvPr id="27" name="Text 25"/>
          <p:cNvSpPr txBox="1"/>
          <p:nvPr/>
        </p:nvSpPr>
        <p:spPr>
          <a:xfrm>
            <a:off x="777240" y="5623560"/>
            <a:ext cx="10424160" cy="548640"/>
          </a:xfrm>
          <a:prstGeom prst="rect">
            <a:avLst/>
          </a:prstGeom>
          <a:noFill/>
          <a:ln/>
        </p:spPr>
        <p:txBody>
          <a:bodyPr wrap="square" lIns="0" tIns="0" rIns="0" bIns="0" rtlCol="0" anchor="ctr"/>
          <a:lstStyle/>
          <a:p>
            <a:pPr indent="0" marL="0">
              <a:lnSpc>
                <a:spcPts val="2300"/>
              </a:lnSpc>
              <a:buNone/>
            </a:pPr>
            <a:r>
              <a:rPr lang="en-US" sz="1250" dirty="0">
                <a:solidFill>
                  <a:srgbClr val="2B2B31"/>
                </a:solidFill>
                <a:latin typeface="Cambria" pitchFamily="34" charset="0"/>
                <a:ea typeface="Cambria" pitchFamily="34" charset="-122"/>
                <a:cs typeface="Cambria" pitchFamily="34" charset="-120"/>
              </a:rPr>
              <a:t>“Kaliteli” bir anahtar kelime değildir, çünkü hangi markayı seçerseniz seçin doğrudur ve hiçbir mekânsal karar üretmez. “Elden ele geçen” bir anahtar kelimedir: teşhir yüksekliğini, tezgâh konumunu ve dokunma iznini belirler.</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III · MARKA VE MEKÂN</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Çeviri zinciri: özellikten tasarım öğesine</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16</a:t>
            </a:r>
            <a:endParaRPr lang="en-US" sz="950" dirty="0"/>
          </a:p>
        </p:txBody>
      </p:sp>
      <p:sp>
        <p:nvSpPr>
          <p:cNvPr id="5" name="Text 3"/>
          <p:cNvSpPr txBox="1"/>
          <p:nvPr/>
        </p:nvSpPr>
        <p:spPr>
          <a:xfrm>
            <a:off x="777240" y="1645920"/>
            <a:ext cx="2418588" cy="274320"/>
          </a:xfrm>
          <a:prstGeom prst="rect">
            <a:avLst/>
          </a:prstGeom>
          <a:noFill/>
          <a:ln/>
        </p:spPr>
        <p:txBody>
          <a:bodyPr wrap="square" lIns="0" tIns="0" rIns="0" bIns="0" rtlCol="0" anchor="ctr"/>
          <a:lstStyle/>
          <a:p>
            <a:pPr indent="0" marL="0">
              <a:buNone/>
            </a:pPr>
            <a:r>
              <a:rPr lang="en-US" sz="900" b="1" spc="160" kern="0" dirty="0">
                <a:solidFill>
                  <a:srgbClr val="A6A6AC"/>
                </a:solidFill>
                <a:latin typeface="Calibri" pitchFamily="34" charset="0"/>
                <a:ea typeface="Calibri" pitchFamily="34" charset="-122"/>
                <a:cs typeface="Calibri" pitchFamily="34" charset="-120"/>
              </a:rPr>
              <a:t>MARKA ÖZELLİĞİ</a:t>
            </a:r>
            <a:endParaRPr lang="en-US" sz="900" dirty="0"/>
          </a:p>
        </p:txBody>
      </p:sp>
      <p:sp>
        <p:nvSpPr>
          <p:cNvPr id="6" name="Text 4"/>
          <p:cNvSpPr txBox="1"/>
          <p:nvPr/>
        </p:nvSpPr>
        <p:spPr>
          <a:xfrm>
            <a:off x="3515868" y="1645920"/>
            <a:ext cx="2418588" cy="274320"/>
          </a:xfrm>
          <a:prstGeom prst="rect">
            <a:avLst/>
          </a:prstGeom>
          <a:noFill/>
          <a:ln/>
        </p:spPr>
        <p:txBody>
          <a:bodyPr wrap="square" lIns="0" tIns="0" rIns="0" bIns="0" rtlCol="0" anchor="ctr"/>
          <a:lstStyle/>
          <a:p>
            <a:pPr indent="0" marL="0">
              <a:buNone/>
            </a:pPr>
            <a:r>
              <a:rPr lang="en-US" sz="900" b="1" spc="160" kern="0" dirty="0">
                <a:solidFill>
                  <a:srgbClr val="8C3A2B"/>
                </a:solidFill>
                <a:latin typeface="Calibri" pitchFamily="34" charset="0"/>
                <a:ea typeface="Calibri" pitchFamily="34" charset="-122"/>
                <a:cs typeface="Calibri" pitchFamily="34" charset="-120"/>
              </a:rPr>
              <a:t>ANAHTAR KELİME</a:t>
            </a:r>
            <a:endParaRPr lang="en-US" sz="900" dirty="0"/>
          </a:p>
        </p:txBody>
      </p:sp>
      <p:sp>
        <p:nvSpPr>
          <p:cNvPr id="7" name="Text 5"/>
          <p:cNvSpPr txBox="1"/>
          <p:nvPr/>
        </p:nvSpPr>
        <p:spPr>
          <a:xfrm>
            <a:off x="6254496" y="1645920"/>
            <a:ext cx="2418588" cy="274320"/>
          </a:xfrm>
          <a:prstGeom prst="rect">
            <a:avLst/>
          </a:prstGeom>
          <a:noFill/>
          <a:ln/>
        </p:spPr>
        <p:txBody>
          <a:bodyPr wrap="square" lIns="0" tIns="0" rIns="0" bIns="0" rtlCol="0" anchor="ctr"/>
          <a:lstStyle/>
          <a:p>
            <a:pPr indent="0" marL="0">
              <a:buNone/>
            </a:pPr>
            <a:r>
              <a:rPr lang="en-US" sz="900" b="1" spc="160" kern="0" dirty="0">
                <a:solidFill>
                  <a:srgbClr val="A6A6AC"/>
                </a:solidFill>
                <a:latin typeface="Calibri" pitchFamily="34" charset="0"/>
                <a:ea typeface="Calibri" pitchFamily="34" charset="-122"/>
                <a:cs typeface="Calibri" pitchFamily="34" charset="-120"/>
              </a:rPr>
              <a:t>MEKÂNSAL İLKE</a:t>
            </a:r>
            <a:endParaRPr lang="en-US" sz="900" dirty="0"/>
          </a:p>
        </p:txBody>
      </p:sp>
      <p:sp>
        <p:nvSpPr>
          <p:cNvPr id="8" name="Text 6"/>
          <p:cNvSpPr txBox="1"/>
          <p:nvPr/>
        </p:nvSpPr>
        <p:spPr>
          <a:xfrm>
            <a:off x="8993124" y="1645920"/>
            <a:ext cx="2418588" cy="274320"/>
          </a:xfrm>
          <a:prstGeom prst="rect">
            <a:avLst/>
          </a:prstGeom>
          <a:noFill/>
          <a:ln/>
        </p:spPr>
        <p:txBody>
          <a:bodyPr wrap="square" lIns="0" tIns="0" rIns="0" bIns="0" rtlCol="0" anchor="ctr"/>
          <a:lstStyle/>
          <a:p>
            <a:pPr indent="0" marL="0">
              <a:buNone/>
            </a:pPr>
            <a:r>
              <a:rPr lang="en-US" sz="900" b="1" spc="160" kern="0" dirty="0">
                <a:solidFill>
                  <a:srgbClr val="A6A6AC"/>
                </a:solidFill>
                <a:latin typeface="Calibri" pitchFamily="34" charset="0"/>
                <a:ea typeface="Calibri" pitchFamily="34" charset="-122"/>
                <a:cs typeface="Calibri" pitchFamily="34" charset="-120"/>
              </a:rPr>
              <a:t>TASARIM ÖĞESİ</a:t>
            </a:r>
            <a:endParaRPr lang="en-US" sz="900" dirty="0"/>
          </a:p>
        </p:txBody>
      </p:sp>
      <p:sp>
        <p:nvSpPr>
          <p:cNvPr id="9" name="Text 7"/>
          <p:cNvSpPr txBox="1"/>
          <p:nvPr/>
        </p:nvSpPr>
        <p:spPr>
          <a:xfrm>
            <a:off x="777240" y="2121408"/>
            <a:ext cx="2418588" cy="914400"/>
          </a:xfrm>
          <a:prstGeom prst="rect">
            <a:avLst/>
          </a:prstGeom>
          <a:noFill/>
          <a:ln/>
        </p:spPr>
        <p:txBody>
          <a:bodyPr wrap="square" lIns="0" tIns="0" rIns="0" bIns="0" rtlCol="0" anchor="ctr"/>
          <a:lstStyle/>
          <a:p>
            <a:pPr indent="0" marL="0">
              <a:lnSpc>
                <a:spcPts val="1800"/>
              </a:lnSpc>
              <a:buNone/>
            </a:pPr>
            <a:r>
              <a:rPr lang="en-US" sz="1300" dirty="0">
                <a:solidFill>
                  <a:srgbClr val="2B2B31"/>
                </a:solidFill>
                <a:latin typeface="Cambria" pitchFamily="34" charset="0"/>
                <a:ea typeface="Cambria" pitchFamily="34" charset="-122"/>
                <a:cs typeface="Cambria" pitchFamily="34" charset="-120"/>
              </a:rPr>
              <a:t>Her ürün tek tek, elde üretiliyor</a:t>
            </a:r>
            <a:endParaRPr lang="en-US" sz="1300" dirty="0"/>
          </a:p>
        </p:txBody>
      </p:sp>
      <p:sp>
        <p:nvSpPr>
          <p:cNvPr id="10" name="Text 8"/>
          <p:cNvSpPr txBox="1"/>
          <p:nvPr/>
        </p:nvSpPr>
        <p:spPr>
          <a:xfrm>
            <a:off x="3515868" y="2121408"/>
            <a:ext cx="2418588" cy="402336"/>
          </a:xfrm>
          <a:prstGeom prst="rect">
            <a:avLst/>
          </a:prstGeom>
          <a:noFill/>
          <a:ln/>
        </p:spPr>
        <p:txBody>
          <a:bodyPr wrap="square" lIns="0" tIns="0" rIns="0" bIns="0" rtlCol="0" anchor="ctr"/>
          <a:lstStyle/>
          <a:p>
            <a:pPr indent="0" marL="0">
              <a:buNone/>
            </a:pPr>
            <a:r>
              <a:rPr lang="en-US" sz="1700" b="1" dirty="0">
                <a:solidFill>
                  <a:srgbClr val="8C3A2B"/>
                </a:solidFill>
                <a:latin typeface="Cambria" pitchFamily="34" charset="0"/>
                <a:ea typeface="Cambria" pitchFamily="34" charset="-122"/>
                <a:cs typeface="Cambria" pitchFamily="34" charset="-120"/>
              </a:rPr>
              <a:t>TEKİLLİK</a:t>
            </a:r>
            <a:endParaRPr lang="en-US" sz="1700" dirty="0"/>
          </a:p>
        </p:txBody>
      </p:sp>
      <p:sp>
        <p:nvSpPr>
          <p:cNvPr id="11" name="Text 9"/>
          <p:cNvSpPr txBox="1"/>
          <p:nvPr/>
        </p:nvSpPr>
        <p:spPr>
          <a:xfrm>
            <a:off x="6254496" y="2121408"/>
            <a:ext cx="2418588" cy="914400"/>
          </a:xfrm>
          <a:prstGeom prst="rect">
            <a:avLst/>
          </a:prstGeom>
          <a:noFill/>
          <a:ln/>
        </p:spPr>
        <p:txBody>
          <a:bodyPr wrap="square" lIns="0" tIns="0" rIns="0" bIns="0" rtlCol="0" anchor="ctr"/>
          <a:lstStyle/>
          <a:p>
            <a:pPr indent="0" marL="0">
              <a:lnSpc>
                <a:spcPts val="1800"/>
              </a:lnSpc>
              <a:buNone/>
            </a:pPr>
            <a:r>
              <a:rPr lang="en-US" sz="1300" dirty="0">
                <a:solidFill>
                  <a:srgbClr val="2B2B31"/>
                </a:solidFill>
                <a:latin typeface="Cambria" pitchFamily="34" charset="0"/>
                <a:ea typeface="Cambria" pitchFamily="34" charset="-122"/>
                <a:cs typeface="Cambria" pitchFamily="34" charset="-120"/>
              </a:rPr>
              <a:t>Düşük yoğunluk; her ürüne kendi alanı ve kendi ışığı</a:t>
            </a:r>
            <a:endParaRPr lang="en-US" sz="1300" dirty="0"/>
          </a:p>
        </p:txBody>
      </p:sp>
      <p:sp>
        <p:nvSpPr>
          <p:cNvPr id="12" name="Text 10"/>
          <p:cNvSpPr txBox="1"/>
          <p:nvPr/>
        </p:nvSpPr>
        <p:spPr>
          <a:xfrm>
            <a:off x="8993124" y="2121408"/>
            <a:ext cx="2418588" cy="914400"/>
          </a:xfrm>
          <a:prstGeom prst="rect">
            <a:avLst/>
          </a:prstGeom>
          <a:noFill/>
          <a:ln/>
        </p:spPr>
        <p:txBody>
          <a:bodyPr wrap="square" lIns="0" tIns="0" rIns="0" bIns="0" rtlCol="0" anchor="ctr"/>
          <a:lstStyle/>
          <a:p>
            <a:pPr indent="0" marL="0">
              <a:lnSpc>
                <a:spcPts val="1500"/>
              </a:lnSpc>
              <a:buNone/>
            </a:pPr>
            <a:r>
              <a:rPr lang="en-US" sz="1150" dirty="0">
                <a:solidFill>
                  <a:srgbClr val="7A7A82"/>
                </a:solidFill>
                <a:latin typeface="Calibri" pitchFamily="34" charset="0"/>
                <a:ea typeface="Calibri" pitchFamily="34" charset="-122"/>
                <a:cs typeface="Calibri" pitchFamily="34" charset="-120"/>
              </a:rPr>
              <a:t>Tekil kaideler · nokta aydınlatma · ürünler arası geniş aralık</a:t>
            </a:r>
            <a:endParaRPr lang="en-US" sz="1150" dirty="0"/>
          </a:p>
        </p:txBody>
      </p:sp>
      <p:sp>
        <p:nvSpPr>
          <p:cNvPr id="13" name="Shape 11"/>
          <p:cNvSpPr/>
          <p:nvPr/>
        </p:nvSpPr>
        <p:spPr>
          <a:xfrm>
            <a:off x="3232404" y="2322576"/>
            <a:ext cx="237744" cy="0"/>
          </a:xfrm>
          <a:prstGeom prst="line">
            <a:avLst/>
          </a:prstGeom>
          <a:noFill/>
          <a:ln w="15875">
            <a:solidFill>
              <a:srgbClr val="C9C9CF"/>
            </a:solidFill>
            <a:prstDash val="solid"/>
            <a:tailEnd type="triangle"/>
          </a:ln>
        </p:spPr>
      </p:sp>
      <p:sp>
        <p:nvSpPr>
          <p:cNvPr id="14" name="Shape 12"/>
          <p:cNvSpPr/>
          <p:nvPr/>
        </p:nvSpPr>
        <p:spPr>
          <a:xfrm>
            <a:off x="5971032" y="2322576"/>
            <a:ext cx="237744" cy="0"/>
          </a:xfrm>
          <a:prstGeom prst="line">
            <a:avLst/>
          </a:prstGeom>
          <a:noFill/>
          <a:ln w="15875">
            <a:solidFill>
              <a:srgbClr val="C9C9CF"/>
            </a:solidFill>
            <a:prstDash val="solid"/>
            <a:tailEnd type="triangle"/>
          </a:ln>
        </p:spPr>
      </p:sp>
      <p:sp>
        <p:nvSpPr>
          <p:cNvPr id="15" name="Shape 13"/>
          <p:cNvSpPr/>
          <p:nvPr/>
        </p:nvSpPr>
        <p:spPr>
          <a:xfrm>
            <a:off x="8709660" y="2322576"/>
            <a:ext cx="237744" cy="0"/>
          </a:xfrm>
          <a:prstGeom prst="line">
            <a:avLst/>
          </a:prstGeom>
          <a:noFill/>
          <a:ln w="15875">
            <a:solidFill>
              <a:srgbClr val="C9C9CF"/>
            </a:solidFill>
            <a:prstDash val="solid"/>
            <a:tailEnd type="triangle"/>
          </a:ln>
        </p:spPr>
      </p:sp>
      <p:sp>
        <p:nvSpPr>
          <p:cNvPr id="16" name="Text 14"/>
          <p:cNvSpPr txBox="1"/>
          <p:nvPr/>
        </p:nvSpPr>
        <p:spPr>
          <a:xfrm>
            <a:off x="777240" y="3291840"/>
            <a:ext cx="2418588" cy="914400"/>
          </a:xfrm>
          <a:prstGeom prst="rect">
            <a:avLst/>
          </a:prstGeom>
          <a:noFill/>
          <a:ln/>
        </p:spPr>
        <p:txBody>
          <a:bodyPr wrap="square" lIns="0" tIns="0" rIns="0" bIns="0" rtlCol="0" anchor="ctr"/>
          <a:lstStyle/>
          <a:p>
            <a:pPr indent="0" marL="0">
              <a:lnSpc>
                <a:spcPts val="1800"/>
              </a:lnSpc>
              <a:buNone/>
            </a:pPr>
            <a:r>
              <a:rPr lang="en-US" sz="1300" dirty="0">
                <a:solidFill>
                  <a:srgbClr val="2B2B31"/>
                </a:solidFill>
                <a:latin typeface="Cambria" pitchFamily="34" charset="0"/>
                <a:ea typeface="Cambria" pitchFamily="34" charset="-122"/>
                <a:cs typeface="Cambria" pitchFamily="34" charset="-120"/>
              </a:rPr>
              <a:t>Üretim süreci gizlenmiyor</a:t>
            </a:r>
            <a:endParaRPr lang="en-US" sz="1300" dirty="0"/>
          </a:p>
        </p:txBody>
      </p:sp>
      <p:sp>
        <p:nvSpPr>
          <p:cNvPr id="17" name="Text 15"/>
          <p:cNvSpPr txBox="1"/>
          <p:nvPr/>
        </p:nvSpPr>
        <p:spPr>
          <a:xfrm>
            <a:off x="3515868" y="3291840"/>
            <a:ext cx="2418588" cy="402336"/>
          </a:xfrm>
          <a:prstGeom prst="rect">
            <a:avLst/>
          </a:prstGeom>
          <a:noFill/>
          <a:ln/>
        </p:spPr>
        <p:txBody>
          <a:bodyPr wrap="square" lIns="0" tIns="0" rIns="0" bIns="0" rtlCol="0" anchor="ctr"/>
          <a:lstStyle/>
          <a:p>
            <a:pPr indent="0" marL="0">
              <a:buNone/>
            </a:pPr>
            <a:r>
              <a:rPr lang="en-US" sz="1700" b="1" dirty="0">
                <a:solidFill>
                  <a:srgbClr val="8C3A2B"/>
                </a:solidFill>
                <a:latin typeface="Cambria" pitchFamily="34" charset="0"/>
                <a:ea typeface="Cambria" pitchFamily="34" charset="-122"/>
                <a:cs typeface="Cambria" pitchFamily="34" charset="-120"/>
              </a:rPr>
              <a:t>GÖRÜNÜRLÜK</a:t>
            </a:r>
            <a:endParaRPr lang="en-US" sz="1700" dirty="0"/>
          </a:p>
        </p:txBody>
      </p:sp>
      <p:sp>
        <p:nvSpPr>
          <p:cNvPr id="18" name="Text 16"/>
          <p:cNvSpPr txBox="1"/>
          <p:nvPr/>
        </p:nvSpPr>
        <p:spPr>
          <a:xfrm>
            <a:off x="6254496" y="3291840"/>
            <a:ext cx="2418588" cy="914400"/>
          </a:xfrm>
          <a:prstGeom prst="rect">
            <a:avLst/>
          </a:prstGeom>
          <a:noFill/>
          <a:ln/>
        </p:spPr>
        <p:txBody>
          <a:bodyPr wrap="square" lIns="0" tIns="0" rIns="0" bIns="0" rtlCol="0" anchor="ctr"/>
          <a:lstStyle/>
          <a:p>
            <a:pPr indent="0" marL="0">
              <a:lnSpc>
                <a:spcPts val="1800"/>
              </a:lnSpc>
              <a:buNone/>
            </a:pPr>
            <a:r>
              <a:rPr lang="en-US" sz="1300" dirty="0">
                <a:solidFill>
                  <a:srgbClr val="2B2B31"/>
                </a:solidFill>
                <a:latin typeface="Cambria" pitchFamily="34" charset="0"/>
                <a:ea typeface="Cambria" pitchFamily="34" charset="-122"/>
                <a:cs typeface="Cambria" pitchFamily="34" charset="-120"/>
              </a:rPr>
              <a:t>Üretimin satış alanına açılması; arka alanın sahne olması</a:t>
            </a:r>
            <a:endParaRPr lang="en-US" sz="1300" dirty="0"/>
          </a:p>
        </p:txBody>
      </p:sp>
      <p:sp>
        <p:nvSpPr>
          <p:cNvPr id="19" name="Text 17"/>
          <p:cNvSpPr txBox="1"/>
          <p:nvPr/>
        </p:nvSpPr>
        <p:spPr>
          <a:xfrm>
            <a:off x="8993124" y="3291840"/>
            <a:ext cx="2418588" cy="914400"/>
          </a:xfrm>
          <a:prstGeom prst="rect">
            <a:avLst/>
          </a:prstGeom>
          <a:noFill/>
          <a:ln/>
        </p:spPr>
        <p:txBody>
          <a:bodyPr wrap="square" lIns="0" tIns="0" rIns="0" bIns="0" rtlCol="0" anchor="ctr"/>
          <a:lstStyle/>
          <a:p>
            <a:pPr indent="0" marL="0">
              <a:lnSpc>
                <a:spcPts val="1500"/>
              </a:lnSpc>
              <a:buNone/>
            </a:pPr>
            <a:r>
              <a:rPr lang="en-US" sz="1150" dirty="0">
                <a:solidFill>
                  <a:srgbClr val="7A7A82"/>
                </a:solidFill>
                <a:latin typeface="Calibri" pitchFamily="34" charset="0"/>
                <a:ea typeface="Calibri" pitchFamily="34" charset="-122"/>
                <a:cs typeface="Calibri" pitchFamily="34" charset="-120"/>
              </a:rPr>
              <a:t>Cam bölme · mekânın ortasında tezgâh · açık raflı depo</a:t>
            </a:r>
            <a:endParaRPr lang="en-US" sz="1150" dirty="0"/>
          </a:p>
        </p:txBody>
      </p:sp>
      <p:sp>
        <p:nvSpPr>
          <p:cNvPr id="20" name="Shape 18"/>
          <p:cNvSpPr/>
          <p:nvPr/>
        </p:nvSpPr>
        <p:spPr>
          <a:xfrm>
            <a:off x="3232404" y="3493008"/>
            <a:ext cx="237744" cy="0"/>
          </a:xfrm>
          <a:prstGeom prst="line">
            <a:avLst/>
          </a:prstGeom>
          <a:noFill/>
          <a:ln w="15875">
            <a:solidFill>
              <a:srgbClr val="C9C9CF"/>
            </a:solidFill>
            <a:prstDash val="solid"/>
            <a:tailEnd type="triangle"/>
          </a:ln>
        </p:spPr>
      </p:sp>
      <p:sp>
        <p:nvSpPr>
          <p:cNvPr id="21" name="Shape 19"/>
          <p:cNvSpPr/>
          <p:nvPr/>
        </p:nvSpPr>
        <p:spPr>
          <a:xfrm>
            <a:off x="5971032" y="3493008"/>
            <a:ext cx="237744" cy="0"/>
          </a:xfrm>
          <a:prstGeom prst="line">
            <a:avLst/>
          </a:prstGeom>
          <a:noFill/>
          <a:ln w="15875">
            <a:solidFill>
              <a:srgbClr val="C9C9CF"/>
            </a:solidFill>
            <a:prstDash val="solid"/>
            <a:tailEnd type="triangle"/>
          </a:ln>
        </p:spPr>
      </p:sp>
      <p:sp>
        <p:nvSpPr>
          <p:cNvPr id="22" name="Shape 20"/>
          <p:cNvSpPr/>
          <p:nvPr/>
        </p:nvSpPr>
        <p:spPr>
          <a:xfrm>
            <a:off x="8709660" y="3493008"/>
            <a:ext cx="237744" cy="0"/>
          </a:xfrm>
          <a:prstGeom prst="line">
            <a:avLst/>
          </a:prstGeom>
          <a:noFill/>
          <a:ln w="15875">
            <a:solidFill>
              <a:srgbClr val="C9C9CF"/>
            </a:solidFill>
            <a:prstDash val="solid"/>
            <a:tailEnd type="triangle"/>
          </a:ln>
        </p:spPr>
      </p:sp>
      <p:sp>
        <p:nvSpPr>
          <p:cNvPr id="23" name="Text 21"/>
          <p:cNvSpPr txBox="1"/>
          <p:nvPr/>
        </p:nvSpPr>
        <p:spPr>
          <a:xfrm>
            <a:off x="777240" y="4462272"/>
            <a:ext cx="2418588" cy="914400"/>
          </a:xfrm>
          <a:prstGeom prst="rect">
            <a:avLst/>
          </a:prstGeom>
          <a:noFill/>
          <a:ln/>
        </p:spPr>
        <p:txBody>
          <a:bodyPr wrap="square" lIns="0" tIns="0" rIns="0" bIns="0" rtlCol="0" anchor="ctr"/>
          <a:lstStyle/>
          <a:p>
            <a:pPr indent="0" marL="0">
              <a:lnSpc>
                <a:spcPts val="1800"/>
              </a:lnSpc>
              <a:buNone/>
            </a:pPr>
            <a:r>
              <a:rPr lang="en-US" sz="1300" dirty="0">
                <a:solidFill>
                  <a:srgbClr val="2B2B31"/>
                </a:solidFill>
                <a:latin typeface="Cambria" pitchFamily="34" charset="0"/>
                <a:ea typeface="Cambria" pitchFamily="34" charset="-122"/>
                <a:cs typeface="Cambria" pitchFamily="34" charset="-120"/>
              </a:rPr>
              <a:t>Ürün denizle ve dış mekânla ilişkili</a:t>
            </a:r>
            <a:endParaRPr lang="en-US" sz="1300" dirty="0"/>
          </a:p>
        </p:txBody>
      </p:sp>
      <p:sp>
        <p:nvSpPr>
          <p:cNvPr id="24" name="Text 22"/>
          <p:cNvSpPr txBox="1"/>
          <p:nvPr/>
        </p:nvSpPr>
        <p:spPr>
          <a:xfrm>
            <a:off x="3515868" y="4462272"/>
            <a:ext cx="2418588" cy="402336"/>
          </a:xfrm>
          <a:prstGeom prst="rect">
            <a:avLst/>
          </a:prstGeom>
          <a:noFill/>
          <a:ln/>
        </p:spPr>
        <p:txBody>
          <a:bodyPr wrap="square" lIns="0" tIns="0" rIns="0" bIns="0" rtlCol="0" anchor="ctr"/>
          <a:lstStyle/>
          <a:p>
            <a:pPr indent="0" marL="0">
              <a:buNone/>
            </a:pPr>
            <a:r>
              <a:rPr lang="en-US" sz="1700" b="1" dirty="0">
                <a:solidFill>
                  <a:srgbClr val="8C3A2B"/>
                </a:solidFill>
                <a:latin typeface="Cambria" pitchFamily="34" charset="0"/>
                <a:ea typeface="Cambria" pitchFamily="34" charset="-122"/>
                <a:cs typeface="Cambria" pitchFamily="34" charset="-120"/>
              </a:rPr>
              <a:t>DAYANIKLILIK</a:t>
            </a:r>
            <a:endParaRPr lang="en-US" sz="1700" dirty="0"/>
          </a:p>
        </p:txBody>
      </p:sp>
      <p:sp>
        <p:nvSpPr>
          <p:cNvPr id="25" name="Text 23"/>
          <p:cNvSpPr txBox="1"/>
          <p:nvPr/>
        </p:nvSpPr>
        <p:spPr>
          <a:xfrm>
            <a:off x="6254496" y="4462272"/>
            <a:ext cx="2418588" cy="914400"/>
          </a:xfrm>
          <a:prstGeom prst="rect">
            <a:avLst/>
          </a:prstGeom>
          <a:noFill/>
          <a:ln/>
        </p:spPr>
        <p:txBody>
          <a:bodyPr wrap="square" lIns="0" tIns="0" rIns="0" bIns="0" rtlCol="0" anchor="ctr"/>
          <a:lstStyle/>
          <a:p>
            <a:pPr indent="0" marL="0">
              <a:lnSpc>
                <a:spcPts val="1800"/>
              </a:lnSpc>
              <a:buNone/>
            </a:pPr>
            <a:r>
              <a:rPr lang="en-US" sz="1300" dirty="0">
                <a:solidFill>
                  <a:srgbClr val="2B2B31"/>
                </a:solidFill>
                <a:latin typeface="Cambria" pitchFamily="34" charset="0"/>
                <a:ea typeface="Cambria" pitchFamily="34" charset="-122"/>
                <a:cs typeface="Cambria" pitchFamily="34" charset="-120"/>
              </a:rPr>
              <a:t>Yıpranmayı gizlemeyen, zamanla güzelleşen yüzeyler</a:t>
            </a:r>
            <a:endParaRPr lang="en-US" sz="1300" dirty="0"/>
          </a:p>
        </p:txBody>
      </p:sp>
      <p:sp>
        <p:nvSpPr>
          <p:cNvPr id="26" name="Text 24"/>
          <p:cNvSpPr txBox="1"/>
          <p:nvPr/>
        </p:nvSpPr>
        <p:spPr>
          <a:xfrm>
            <a:off x="8993124" y="4462272"/>
            <a:ext cx="2418588" cy="914400"/>
          </a:xfrm>
          <a:prstGeom prst="rect">
            <a:avLst/>
          </a:prstGeom>
          <a:noFill/>
          <a:ln/>
        </p:spPr>
        <p:txBody>
          <a:bodyPr wrap="square" lIns="0" tIns="0" rIns="0" bIns="0" rtlCol="0" anchor="ctr"/>
          <a:lstStyle/>
          <a:p>
            <a:pPr indent="0" marL="0">
              <a:lnSpc>
                <a:spcPts val="1500"/>
              </a:lnSpc>
              <a:buNone/>
            </a:pPr>
            <a:r>
              <a:rPr lang="en-US" sz="1150" dirty="0">
                <a:solidFill>
                  <a:srgbClr val="7A7A82"/>
                </a:solidFill>
                <a:latin typeface="Calibri" pitchFamily="34" charset="0"/>
                <a:ea typeface="Calibri" pitchFamily="34" charset="-122"/>
                <a:cs typeface="Calibri" pitchFamily="34" charset="-120"/>
              </a:rPr>
              <a:t>Masif ahşap · ham metal · dokusu belirgin sıva · yıkanabilir zemin</a:t>
            </a:r>
            <a:endParaRPr lang="en-US" sz="1150" dirty="0"/>
          </a:p>
        </p:txBody>
      </p:sp>
      <p:sp>
        <p:nvSpPr>
          <p:cNvPr id="27" name="Shape 25"/>
          <p:cNvSpPr/>
          <p:nvPr/>
        </p:nvSpPr>
        <p:spPr>
          <a:xfrm>
            <a:off x="3232404" y="4663440"/>
            <a:ext cx="237744" cy="0"/>
          </a:xfrm>
          <a:prstGeom prst="line">
            <a:avLst/>
          </a:prstGeom>
          <a:noFill/>
          <a:ln w="15875">
            <a:solidFill>
              <a:srgbClr val="C9C9CF"/>
            </a:solidFill>
            <a:prstDash val="solid"/>
            <a:tailEnd type="triangle"/>
          </a:ln>
        </p:spPr>
      </p:sp>
      <p:sp>
        <p:nvSpPr>
          <p:cNvPr id="28" name="Shape 26"/>
          <p:cNvSpPr/>
          <p:nvPr/>
        </p:nvSpPr>
        <p:spPr>
          <a:xfrm>
            <a:off x="5971032" y="4663440"/>
            <a:ext cx="237744" cy="0"/>
          </a:xfrm>
          <a:prstGeom prst="line">
            <a:avLst/>
          </a:prstGeom>
          <a:noFill/>
          <a:ln w="15875">
            <a:solidFill>
              <a:srgbClr val="C9C9CF"/>
            </a:solidFill>
            <a:prstDash val="solid"/>
            <a:tailEnd type="triangle"/>
          </a:ln>
        </p:spPr>
      </p:sp>
      <p:sp>
        <p:nvSpPr>
          <p:cNvPr id="29" name="Shape 27"/>
          <p:cNvSpPr/>
          <p:nvPr/>
        </p:nvSpPr>
        <p:spPr>
          <a:xfrm>
            <a:off x="8709660" y="4663440"/>
            <a:ext cx="237744" cy="0"/>
          </a:xfrm>
          <a:prstGeom prst="line">
            <a:avLst/>
          </a:prstGeom>
          <a:noFill/>
          <a:ln w="15875">
            <a:solidFill>
              <a:srgbClr val="C9C9CF"/>
            </a:solidFill>
            <a:prstDash val="solid"/>
            <a:tailEnd type="triangle"/>
          </a:ln>
        </p:spPr>
      </p:sp>
      <p:sp>
        <p:nvSpPr>
          <p:cNvPr id="30" name="Text 28"/>
          <p:cNvSpPr txBox="1"/>
          <p:nvPr/>
        </p:nvSpPr>
        <p:spPr>
          <a:xfrm>
            <a:off x="777240" y="5669280"/>
            <a:ext cx="10424160" cy="411480"/>
          </a:xfrm>
          <a:prstGeom prst="rect">
            <a:avLst/>
          </a:prstGeom>
          <a:noFill/>
          <a:ln/>
        </p:spPr>
        <p:txBody>
          <a:bodyPr wrap="square" lIns="0" tIns="0" rIns="0" bIns="0" rtlCol="0" anchor="ctr"/>
          <a:lstStyle/>
          <a:p>
            <a:pPr algn="l" indent="0" marL="0">
              <a:lnSpc>
                <a:spcPts val="1200"/>
              </a:lnSpc>
              <a:buNone/>
            </a:pPr>
            <a:r>
              <a:rPr lang="en-US" sz="1350" i="1" dirty="0">
                <a:solidFill>
                  <a:srgbClr val="8C3A2B"/>
                </a:solidFill>
                <a:latin typeface="Cambria" pitchFamily="34" charset="0"/>
                <a:ea typeface="Cambria" pitchFamily="34" charset="-122"/>
                <a:cs typeface="Cambria" pitchFamily="34" charset="-120"/>
              </a:rPr>
              <a:t>Zincirin her halkası bir öncekinden türetilebilmelidir. Bir tasarım öğesini gerekçelendiremiyorsanız, zincirde bir halka eksiktir.</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III · MARKA VE MEKÂN</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Yoğunluk bir mesajdır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17</a:t>
            </a:r>
            <a:endParaRPr lang="en-US" sz="950" dirty="0"/>
          </a:p>
        </p:txBody>
      </p:sp>
      <p:sp>
        <p:nvSpPr>
          <p:cNvPr id="5" name="Text 3"/>
          <p:cNvSpPr txBox="1"/>
          <p:nvPr/>
        </p:nvSpPr>
        <p:spPr>
          <a:xfrm>
            <a:off x="777240" y="1591056"/>
            <a:ext cx="10634472" cy="91440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Aynı metrekareye kaç ürün konacağı estetik değil, stratejik bir karardır. Az ürün ve çok boşluk değer ve seçicilik duygusu üretir; yoğun teşhir bolluk ve erişilebilirlik duygusu üretir. İkisi de doğrudur — yanlış olan, markanın iddiasıyla çelişen bir yoğunluk seçmektir.</a:t>
            </a:r>
            <a:endParaRPr lang="en-US" sz="1500" dirty="0"/>
          </a:p>
        </p:txBody>
      </p:sp>
      <p:sp>
        <p:nvSpPr>
          <p:cNvPr id="6" name="Shape 4"/>
          <p:cNvSpPr/>
          <p:nvPr/>
        </p:nvSpPr>
        <p:spPr>
          <a:xfrm>
            <a:off x="1828800" y="4160520"/>
            <a:ext cx="8503920" cy="0"/>
          </a:xfrm>
          <a:prstGeom prst="line">
            <a:avLst/>
          </a:prstGeom>
          <a:noFill/>
          <a:ln w="12700">
            <a:solidFill>
              <a:srgbClr val="C9C9CF"/>
            </a:solidFill>
            <a:prstDash val="solid"/>
          </a:ln>
        </p:spPr>
      </p:sp>
      <p:sp>
        <p:nvSpPr>
          <p:cNvPr id="7" name="Text 5"/>
          <p:cNvSpPr txBox="1"/>
          <p:nvPr/>
        </p:nvSpPr>
        <p:spPr>
          <a:xfrm>
            <a:off x="1005840" y="3977640"/>
            <a:ext cx="1463040" cy="274320"/>
          </a:xfrm>
          <a:prstGeom prst="rect">
            <a:avLst/>
          </a:prstGeom>
          <a:noFill/>
          <a:ln/>
        </p:spPr>
        <p:txBody>
          <a:bodyPr wrap="square" lIns="0" tIns="0" rIns="0" bIns="0" rtlCol="0" anchor="ctr"/>
          <a:lstStyle/>
          <a:p>
            <a:pPr algn="r" indent="0" marL="0">
              <a:lnSpc>
                <a:spcPts val="1200"/>
              </a:lnSpc>
              <a:buNone/>
            </a:pPr>
            <a:r>
              <a:rPr lang="en-US" sz="1000" b="1" dirty="0">
                <a:solidFill>
                  <a:srgbClr val="16161A"/>
                </a:solidFill>
                <a:latin typeface="Calibri" pitchFamily="34" charset="0"/>
                <a:ea typeface="Calibri" pitchFamily="34" charset="-122"/>
                <a:cs typeface="Calibri" pitchFamily="34" charset="-120"/>
              </a:rPr>
              <a:t>AZ ÜRÜN</a:t>
            </a:r>
            <a:endParaRPr lang="en-US" sz="1000" dirty="0"/>
          </a:p>
        </p:txBody>
      </p:sp>
      <p:sp>
        <p:nvSpPr>
          <p:cNvPr id="8" name="Text 6"/>
          <p:cNvSpPr txBox="1"/>
          <p:nvPr/>
        </p:nvSpPr>
        <p:spPr>
          <a:xfrm>
            <a:off x="9692640" y="3977640"/>
            <a:ext cx="1554480" cy="274320"/>
          </a:xfrm>
          <a:prstGeom prst="rect">
            <a:avLst/>
          </a:prstGeom>
          <a:noFill/>
          <a:ln/>
        </p:spPr>
        <p:txBody>
          <a:bodyPr wrap="square" lIns="0" tIns="0" rIns="0" bIns="0" rtlCol="0" anchor="ctr"/>
          <a:lstStyle/>
          <a:p>
            <a:pPr algn="l" indent="0" marL="0">
              <a:lnSpc>
                <a:spcPts val="1200"/>
              </a:lnSpc>
              <a:buNone/>
            </a:pPr>
            <a:r>
              <a:rPr lang="en-US" sz="1000" b="1" dirty="0">
                <a:solidFill>
                  <a:srgbClr val="16161A"/>
                </a:solidFill>
                <a:latin typeface="Calibri" pitchFamily="34" charset="0"/>
                <a:ea typeface="Calibri" pitchFamily="34" charset="-122"/>
                <a:cs typeface="Calibri" pitchFamily="34" charset="-120"/>
              </a:rPr>
              <a:t>ÇOK ÜRÜN</a:t>
            </a:r>
            <a:endParaRPr lang="en-US" sz="1000" dirty="0"/>
          </a:p>
        </p:txBody>
      </p:sp>
      <p:sp>
        <p:nvSpPr>
          <p:cNvPr id="9" name="Shape 7"/>
          <p:cNvSpPr/>
          <p:nvPr/>
        </p:nvSpPr>
        <p:spPr>
          <a:xfrm>
            <a:off x="2606040" y="4087368"/>
            <a:ext cx="146304" cy="146304"/>
          </a:xfrm>
          <a:prstGeom prst="ellipse">
            <a:avLst/>
          </a:prstGeom>
          <a:solidFill>
            <a:srgbClr val="8C3A2B"/>
          </a:solidFill>
          <a:ln w="12700">
            <a:solidFill>
              <a:srgbClr val="8C3A2B"/>
            </a:solidFill>
            <a:prstDash val="solid"/>
          </a:ln>
        </p:spPr>
      </p:sp>
      <p:sp>
        <p:nvSpPr>
          <p:cNvPr id="10" name="Text 8"/>
          <p:cNvSpPr txBox="1"/>
          <p:nvPr/>
        </p:nvSpPr>
        <p:spPr>
          <a:xfrm>
            <a:off x="1719072" y="3108960"/>
            <a:ext cx="1920240" cy="731520"/>
          </a:xfrm>
          <a:prstGeom prst="rect">
            <a:avLst/>
          </a:prstGeom>
          <a:noFill/>
          <a:ln/>
        </p:spPr>
        <p:txBody>
          <a:bodyPr wrap="square" lIns="0" tIns="0" rIns="0" bIns="0" rtlCol="0" anchor="b"/>
          <a:lstStyle/>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Mücevher</a:t>
            </a:r>
            <a:endParaRPr lang="en-US" sz="1300" dirty="0"/>
          </a:p>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Sanat</a:t>
            </a:r>
            <a:endParaRPr lang="en-US" sz="1300" dirty="0"/>
          </a:p>
        </p:txBody>
      </p:sp>
      <p:sp>
        <p:nvSpPr>
          <p:cNvPr id="11" name="Text 9"/>
          <p:cNvSpPr txBox="1"/>
          <p:nvPr/>
        </p:nvSpPr>
        <p:spPr>
          <a:xfrm>
            <a:off x="1719072" y="4379976"/>
            <a:ext cx="1920240" cy="640080"/>
          </a:xfrm>
          <a:prstGeom prst="rect">
            <a:avLst/>
          </a:prstGeom>
          <a:noFill/>
          <a:ln/>
        </p:spPr>
        <p:txBody>
          <a:bodyPr wrap="square" lIns="0" tIns="0" rIns="0" bIns="0" rtlCol="0" anchor="ctr"/>
          <a:lstStyle/>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birim değer yüksek</a:t>
            </a:r>
            <a:endParaRPr lang="en-US" sz="1000" dirty="0"/>
          </a:p>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boşluk = değer</a:t>
            </a:r>
            <a:endParaRPr lang="en-US" sz="1000" dirty="0"/>
          </a:p>
        </p:txBody>
      </p:sp>
      <p:sp>
        <p:nvSpPr>
          <p:cNvPr id="12" name="Shape 10"/>
          <p:cNvSpPr/>
          <p:nvPr/>
        </p:nvSpPr>
        <p:spPr>
          <a:xfrm>
            <a:off x="4646981" y="4087368"/>
            <a:ext cx="146304" cy="146304"/>
          </a:xfrm>
          <a:prstGeom prst="ellipse">
            <a:avLst/>
          </a:prstGeom>
          <a:solidFill>
            <a:srgbClr val="8C3A2B"/>
          </a:solidFill>
          <a:ln w="12700">
            <a:solidFill>
              <a:srgbClr val="8C3A2B"/>
            </a:solidFill>
            <a:prstDash val="solid"/>
          </a:ln>
        </p:spPr>
      </p:sp>
      <p:sp>
        <p:nvSpPr>
          <p:cNvPr id="13" name="Text 11"/>
          <p:cNvSpPr txBox="1"/>
          <p:nvPr/>
        </p:nvSpPr>
        <p:spPr>
          <a:xfrm>
            <a:off x="3760013" y="3108960"/>
            <a:ext cx="1920240" cy="731520"/>
          </a:xfrm>
          <a:prstGeom prst="rect">
            <a:avLst/>
          </a:prstGeom>
          <a:noFill/>
          <a:ln/>
        </p:spPr>
        <p:txBody>
          <a:bodyPr wrap="square" lIns="0" tIns="0" rIns="0" bIns="0" rtlCol="0" anchor="b"/>
          <a:lstStyle/>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Sofistike moda</a:t>
            </a:r>
            <a:endParaRPr lang="en-US" sz="1300" dirty="0"/>
          </a:p>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Parfüm</a:t>
            </a:r>
            <a:endParaRPr lang="en-US" sz="1300" dirty="0"/>
          </a:p>
        </p:txBody>
      </p:sp>
      <p:sp>
        <p:nvSpPr>
          <p:cNvPr id="14" name="Text 12"/>
          <p:cNvSpPr txBox="1"/>
          <p:nvPr/>
        </p:nvSpPr>
        <p:spPr>
          <a:xfrm>
            <a:off x="3760013" y="4379976"/>
            <a:ext cx="1920240" cy="640080"/>
          </a:xfrm>
          <a:prstGeom prst="rect">
            <a:avLst/>
          </a:prstGeom>
          <a:noFill/>
          <a:ln/>
        </p:spPr>
        <p:txBody>
          <a:bodyPr wrap="square" lIns="0" tIns="0" rIns="0" bIns="0" rtlCol="0" anchor="ctr"/>
          <a:lstStyle/>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seçilmiş az sayıda</a:t>
            </a:r>
            <a:endParaRPr lang="en-US" sz="1000" dirty="0"/>
          </a:p>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ürün, geniş boşluk</a:t>
            </a:r>
            <a:endParaRPr lang="en-US" sz="1000" dirty="0"/>
          </a:p>
        </p:txBody>
      </p:sp>
      <p:sp>
        <p:nvSpPr>
          <p:cNvPr id="15" name="Shape 13"/>
          <p:cNvSpPr/>
          <p:nvPr/>
        </p:nvSpPr>
        <p:spPr>
          <a:xfrm>
            <a:off x="7028078" y="4087368"/>
            <a:ext cx="146304" cy="146304"/>
          </a:xfrm>
          <a:prstGeom prst="ellipse">
            <a:avLst/>
          </a:prstGeom>
          <a:solidFill>
            <a:srgbClr val="8C3A2B"/>
          </a:solidFill>
          <a:ln w="12700">
            <a:solidFill>
              <a:srgbClr val="8C3A2B"/>
            </a:solidFill>
            <a:prstDash val="solid"/>
          </a:ln>
        </p:spPr>
      </p:sp>
      <p:sp>
        <p:nvSpPr>
          <p:cNvPr id="16" name="Text 14"/>
          <p:cNvSpPr txBox="1"/>
          <p:nvPr/>
        </p:nvSpPr>
        <p:spPr>
          <a:xfrm>
            <a:off x="6141110" y="3108960"/>
            <a:ext cx="1920240" cy="731520"/>
          </a:xfrm>
          <a:prstGeom prst="rect">
            <a:avLst/>
          </a:prstGeom>
          <a:noFill/>
          <a:ln/>
        </p:spPr>
        <p:txBody>
          <a:bodyPr wrap="square" lIns="0" tIns="0" rIns="0" bIns="0" rtlCol="0" anchor="b"/>
          <a:lstStyle/>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Kitap · Plak</a:t>
            </a:r>
            <a:endParaRPr lang="en-US" sz="1300" dirty="0"/>
          </a:p>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Zanaat</a:t>
            </a:r>
            <a:endParaRPr lang="en-US" sz="1300" dirty="0"/>
          </a:p>
        </p:txBody>
      </p:sp>
      <p:sp>
        <p:nvSpPr>
          <p:cNvPr id="17" name="Text 15"/>
          <p:cNvSpPr txBox="1"/>
          <p:nvPr/>
        </p:nvSpPr>
        <p:spPr>
          <a:xfrm>
            <a:off x="6141110" y="4379976"/>
            <a:ext cx="1920240" cy="640080"/>
          </a:xfrm>
          <a:prstGeom prst="rect">
            <a:avLst/>
          </a:prstGeom>
          <a:noFill/>
          <a:ln/>
        </p:spPr>
        <p:txBody>
          <a:bodyPr wrap="square" lIns="0" tIns="0" rIns="0" bIns="0" rtlCol="0" anchor="ctr"/>
          <a:lstStyle/>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tarama davranışı,</a:t>
            </a:r>
            <a:endParaRPr lang="en-US" sz="1000" dirty="0"/>
          </a:p>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orta yoğunluk</a:t>
            </a:r>
            <a:endParaRPr lang="en-US" sz="1000" dirty="0"/>
          </a:p>
        </p:txBody>
      </p:sp>
      <p:sp>
        <p:nvSpPr>
          <p:cNvPr id="18" name="Shape 16"/>
          <p:cNvSpPr/>
          <p:nvPr/>
        </p:nvSpPr>
        <p:spPr>
          <a:xfrm>
            <a:off x="9239098" y="4087368"/>
            <a:ext cx="146304" cy="146304"/>
          </a:xfrm>
          <a:prstGeom prst="ellipse">
            <a:avLst/>
          </a:prstGeom>
          <a:solidFill>
            <a:srgbClr val="8C3A2B"/>
          </a:solidFill>
          <a:ln w="12700">
            <a:solidFill>
              <a:srgbClr val="8C3A2B"/>
            </a:solidFill>
            <a:prstDash val="solid"/>
          </a:ln>
        </p:spPr>
      </p:sp>
      <p:sp>
        <p:nvSpPr>
          <p:cNvPr id="19" name="Text 17"/>
          <p:cNvSpPr txBox="1"/>
          <p:nvPr/>
        </p:nvSpPr>
        <p:spPr>
          <a:xfrm>
            <a:off x="8352130" y="3108960"/>
            <a:ext cx="1920240" cy="731520"/>
          </a:xfrm>
          <a:prstGeom prst="rect">
            <a:avLst/>
          </a:prstGeom>
          <a:noFill/>
          <a:ln/>
        </p:spPr>
        <p:txBody>
          <a:bodyPr wrap="square" lIns="0" tIns="0" rIns="0" bIns="0" rtlCol="0" anchor="b"/>
          <a:lstStyle/>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Süpermarket</a:t>
            </a:r>
            <a:endParaRPr lang="en-US" sz="1300" dirty="0"/>
          </a:p>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İndirim</a:t>
            </a:r>
            <a:endParaRPr lang="en-US" sz="1300" dirty="0"/>
          </a:p>
        </p:txBody>
      </p:sp>
      <p:sp>
        <p:nvSpPr>
          <p:cNvPr id="20" name="Text 18"/>
          <p:cNvSpPr txBox="1"/>
          <p:nvPr/>
        </p:nvSpPr>
        <p:spPr>
          <a:xfrm>
            <a:off x="8352130" y="4379976"/>
            <a:ext cx="1920240" cy="640080"/>
          </a:xfrm>
          <a:prstGeom prst="rect">
            <a:avLst/>
          </a:prstGeom>
          <a:noFill/>
          <a:ln/>
        </p:spPr>
        <p:txBody>
          <a:bodyPr wrap="square" lIns="0" tIns="0" rIns="0" bIns="0" rtlCol="0" anchor="ctr"/>
          <a:lstStyle/>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bolluk sinyali,</a:t>
            </a:r>
            <a:endParaRPr lang="en-US" sz="1000" dirty="0"/>
          </a:p>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hızlı hareket</a:t>
            </a:r>
            <a:endParaRPr lang="en-US" sz="1000" dirty="0"/>
          </a:p>
        </p:txBody>
      </p:sp>
      <p:sp>
        <p:nvSpPr>
          <p:cNvPr id="21" name="Text 19"/>
          <p:cNvSpPr txBox="1"/>
          <p:nvPr/>
        </p:nvSpPr>
        <p:spPr>
          <a:xfrm>
            <a:off x="777240" y="5349240"/>
            <a:ext cx="10424160" cy="365760"/>
          </a:xfrm>
          <a:prstGeom prst="rect">
            <a:avLst/>
          </a:prstGeom>
          <a:noFill/>
          <a:ln/>
        </p:spPr>
        <p:txBody>
          <a:bodyPr wrap="square" lIns="0" tIns="0" rIns="0" bIns="0" rtlCol="0" anchor="ctr"/>
          <a:lstStyle/>
          <a:p>
            <a:pPr algn="ctr" indent="0" marL="0">
              <a:lnSpc>
                <a:spcPts val="1200"/>
              </a:lnSpc>
              <a:buNone/>
            </a:pPr>
            <a:r>
              <a:rPr lang="en-US" sz="1400" i="1" dirty="0">
                <a:solidFill>
                  <a:srgbClr val="8C3A2B"/>
                </a:solidFill>
                <a:latin typeface="Cambria" pitchFamily="34" charset="0"/>
                <a:ea typeface="Cambria" pitchFamily="34" charset="-122"/>
                <a:cs typeface="Cambria" pitchFamily="34" charset="-120"/>
              </a:rPr>
              <a:t>Kural: pahalı ürün = az ürün + çok boşluk. Yoğunluk, ucuzluk sinyalidir.</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IV</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Dışarıdan içeriye</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Cephe, vitrin ve eşik: insanı sokaktan mağazaya almak.</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IV · DIŞARIDAN İÇERİYE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Üç mesafe: cephe kaç metreden ne söylüyor?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19</a:t>
            </a:r>
            <a:endParaRPr lang="en-US" sz="950" dirty="0"/>
          </a:p>
        </p:txBody>
      </p:sp>
      <p:sp>
        <p:nvSpPr>
          <p:cNvPr id="5" name="Shape 3"/>
          <p:cNvSpPr/>
          <p:nvPr/>
        </p:nvSpPr>
        <p:spPr>
          <a:xfrm>
            <a:off x="8595360" y="1874520"/>
            <a:ext cx="0" cy="3703320"/>
          </a:xfrm>
          <a:prstGeom prst="line">
            <a:avLst/>
          </a:prstGeom>
          <a:noFill/>
          <a:ln w="25400">
            <a:solidFill>
              <a:srgbClr val="16161A"/>
            </a:solidFill>
            <a:prstDash val="solid"/>
          </a:ln>
        </p:spPr>
      </p:sp>
      <p:sp>
        <p:nvSpPr>
          <p:cNvPr id="6" name="Text 4"/>
          <p:cNvSpPr txBox="1"/>
          <p:nvPr/>
        </p:nvSpPr>
        <p:spPr>
          <a:xfrm>
            <a:off x="8759952" y="1837944"/>
            <a:ext cx="1280160" cy="274320"/>
          </a:xfrm>
          <a:prstGeom prst="rect">
            <a:avLst/>
          </a:prstGeom>
          <a:noFill/>
          <a:ln/>
        </p:spPr>
        <p:txBody>
          <a:bodyPr wrap="square" lIns="0" tIns="0" rIns="0" bIns="0" rtlCol="0" anchor="ctr"/>
          <a:lstStyle/>
          <a:p>
            <a:pPr algn="l" indent="0" marL="0">
              <a:lnSpc>
                <a:spcPts val="1200"/>
              </a:lnSpc>
              <a:buNone/>
            </a:pPr>
            <a:r>
              <a:rPr lang="en-US" sz="1000" b="1" dirty="0">
                <a:solidFill>
                  <a:srgbClr val="16161A"/>
                </a:solidFill>
                <a:latin typeface="Calibri" pitchFamily="34" charset="0"/>
                <a:ea typeface="Calibri" pitchFamily="34" charset="-122"/>
                <a:cs typeface="Calibri" pitchFamily="34" charset="-120"/>
              </a:rPr>
              <a:t>CEPHE</a:t>
            </a:r>
            <a:endParaRPr lang="en-US" sz="1000" dirty="0"/>
          </a:p>
        </p:txBody>
      </p:sp>
      <p:sp>
        <p:nvSpPr>
          <p:cNvPr id="7" name="Shape 5"/>
          <p:cNvSpPr/>
          <p:nvPr/>
        </p:nvSpPr>
        <p:spPr>
          <a:xfrm>
            <a:off x="960120" y="4983480"/>
            <a:ext cx="182880" cy="182880"/>
          </a:xfrm>
          <a:prstGeom prst="ellipse">
            <a:avLst/>
          </a:prstGeom>
          <a:solidFill>
            <a:srgbClr val="7A7A82"/>
          </a:solidFill>
          <a:ln w="12700">
            <a:solidFill>
              <a:srgbClr val="7A7A82"/>
            </a:solidFill>
            <a:prstDash val="solid"/>
          </a:ln>
        </p:spPr>
      </p:sp>
      <p:sp>
        <p:nvSpPr>
          <p:cNvPr id="8" name="Shape 6"/>
          <p:cNvSpPr/>
          <p:nvPr/>
        </p:nvSpPr>
        <p:spPr>
          <a:xfrm>
            <a:off x="1197864" y="5074920"/>
            <a:ext cx="7342632" cy="0"/>
          </a:xfrm>
          <a:prstGeom prst="line">
            <a:avLst/>
          </a:prstGeom>
          <a:noFill/>
          <a:ln w="12700">
            <a:solidFill>
              <a:srgbClr val="C9C9CF"/>
            </a:solidFill>
            <a:prstDash val="dash"/>
            <a:tailEnd type="triangle"/>
          </a:ln>
        </p:spPr>
      </p:sp>
      <p:sp>
        <p:nvSpPr>
          <p:cNvPr id="9" name="Text 7"/>
          <p:cNvSpPr txBox="1"/>
          <p:nvPr/>
        </p:nvSpPr>
        <p:spPr>
          <a:xfrm>
            <a:off x="731520" y="1965960"/>
            <a:ext cx="1371600" cy="457200"/>
          </a:xfrm>
          <a:prstGeom prst="rect">
            <a:avLst/>
          </a:prstGeom>
          <a:noFill/>
          <a:ln/>
        </p:spPr>
        <p:txBody>
          <a:bodyPr wrap="square" lIns="0" tIns="0" rIns="0" bIns="0" rtlCol="0" anchor="ctr"/>
          <a:lstStyle/>
          <a:p>
            <a:pPr indent="0" marL="0">
              <a:buNone/>
            </a:pPr>
            <a:r>
              <a:rPr lang="en-US" sz="3000" b="1" dirty="0">
                <a:solidFill>
                  <a:srgbClr val="7A7A82"/>
                </a:solidFill>
                <a:latin typeface="Cambria" pitchFamily="34" charset="0"/>
                <a:ea typeface="Cambria" pitchFamily="34" charset="-122"/>
                <a:cs typeface="Cambria" pitchFamily="34" charset="-120"/>
              </a:rPr>
              <a:t>30 m</a:t>
            </a:r>
            <a:endParaRPr lang="en-US" sz="3000" dirty="0"/>
          </a:p>
        </p:txBody>
      </p:sp>
      <p:sp>
        <p:nvSpPr>
          <p:cNvPr id="10" name="Text 8"/>
          <p:cNvSpPr txBox="1"/>
          <p:nvPr/>
        </p:nvSpPr>
        <p:spPr>
          <a:xfrm>
            <a:off x="731520" y="2468880"/>
            <a:ext cx="2377440" cy="310896"/>
          </a:xfrm>
          <a:prstGeom prst="rect">
            <a:avLst/>
          </a:prstGeom>
          <a:noFill/>
          <a:ln/>
        </p:spPr>
        <p:txBody>
          <a:bodyPr wrap="square" lIns="0" tIns="0" rIns="0" bIns="0" rtlCol="0" anchor="ctr"/>
          <a:lstStyle/>
          <a:p>
            <a:pPr indent="0" marL="0">
              <a:lnSpc>
                <a:spcPts val="1200"/>
              </a:lnSpc>
              <a:buNone/>
            </a:pPr>
            <a:r>
              <a:rPr lang="en-US" sz="950" b="1" dirty="0">
                <a:solidFill>
                  <a:srgbClr val="16161A"/>
                </a:solidFill>
                <a:latin typeface="Calibri" pitchFamily="34" charset="0"/>
                <a:ea typeface="Calibri" pitchFamily="34" charset="-122"/>
                <a:cs typeface="Calibri" pitchFamily="34" charset="-120"/>
              </a:rPr>
              <a:t>Promenadın veya sokağın karşı ucundan</a:t>
            </a:r>
            <a:endParaRPr lang="en-US" sz="950" dirty="0"/>
          </a:p>
        </p:txBody>
      </p:sp>
      <p:sp>
        <p:nvSpPr>
          <p:cNvPr id="11" name="Text 9"/>
          <p:cNvSpPr txBox="1"/>
          <p:nvPr/>
        </p:nvSpPr>
        <p:spPr>
          <a:xfrm>
            <a:off x="731520" y="2798064"/>
            <a:ext cx="2377440" cy="1371600"/>
          </a:xfrm>
          <a:prstGeom prst="rect">
            <a:avLst/>
          </a:prstGeom>
          <a:noFill/>
          <a:ln/>
        </p:spPr>
        <p:txBody>
          <a:bodyPr wrap="square" lIns="0" tIns="0" rIns="0" bIns="0" rtlCol="0" anchor="ctr"/>
          <a:lstStyle/>
          <a:p>
            <a:pPr indent="0" marL="0">
              <a:lnSpc>
                <a:spcPts val="1400"/>
              </a:lnSpc>
              <a:buNone/>
            </a:pPr>
            <a:r>
              <a:rPr lang="en-US" sz="1050" dirty="0">
                <a:solidFill>
                  <a:srgbClr val="7A7A82"/>
                </a:solidFill>
                <a:latin typeface="Calibri" pitchFamily="34" charset="0"/>
                <a:ea typeface="Calibri" pitchFamily="34" charset="-122"/>
                <a:cs typeface="Calibri" pitchFamily="34" charset="-120"/>
              </a:rPr>
              <a:t>Silüet, ışık lekesi, tabela. Marka okunmaz — sadece orada bir şey olduğu okunur.</a:t>
            </a:r>
            <a:endParaRPr lang="en-US" sz="1050" dirty="0"/>
          </a:p>
        </p:txBody>
      </p:sp>
      <p:sp>
        <p:nvSpPr>
          <p:cNvPr id="12" name="Shape 10"/>
          <p:cNvSpPr/>
          <p:nvPr/>
        </p:nvSpPr>
        <p:spPr>
          <a:xfrm>
            <a:off x="3611880" y="4983480"/>
            <a:ext cx="182880" cy="182880"/>
          </a:xfrm>
          <a:prstGeom prst="ellipse">
            <a:avLst/>
          </a:prstGeom>
          <a:solidFill>
            <a:srgbClr val="8C3A2B"/>
          </a:solidFill>
          <a:ln w="12700">
            <a:solidFill>
              <a:srgbClr val="8C3A2B"/>
            </a:solidFill>
            <a:prstDash val="solid"/>
          </a:ln>
        </p:spPr>
      </p:sp>
      <p:sp>
        <p:nvSpPr>
          <p:cNvPr id="13" name="Shape 11"/>
          <p:cNvSpPr/>
          <p:nvPr/>
        </p:nvSpPr>
        <p:spPr>
          <a:xfrm>
            <a:off x="3849624" y="5074920"/>
            <a:ext cx="4690872" cy="0"/>
          </a:xfrm>
          <a:prstGeom prst="line">
            <a:avLst/>
          </a:prstGeom>
          <a:noFill/>
          <a:ln w="19050">
            <a:solidFill>
              <a:srgbClr val="8C3A2B"/>
            </a:solidFill>
            <a:prstDash val="solid"/>
            <a:tailEnd type="triangle"/>
          </a:ln>
        </p:spPr>
      </p:sp>
      <p:sp>
        <p:nvSpPr>
          <p:cNvPr id="14" name="Text 12"/>
          <p:cNvSpPr txBox="1"/>
          <p:nvPr/>
        </p:nvSpPr>
        <p:spPr>
          <a:xfrm>
            <a:off x="3383280" y="1984248"/>
            <a:ext cx="1371600" cy="457200"/>
          </a:xfrm>
          <a:prstGeom prst="rect">
            <a:avLst/>
          </a:prstGeom>
          <a:noFill/>
          <a:ln/>
        </p:spPr>
        <p:txBody>
          <a:bodyPr wrap="square" lIns="0" tIns="0" rIns="0" bIns="0" rtlCol="0" anchor="ctr"/>
          <a:lstStyle/>
          <a:p>
            <a:pPr indent="0" marL="0">
              <a:buNone/>
            </a:pPr>
            <a:r>
              <a:rPr lang="en-US" sz="3000" b="1" dirty="0">
                <a:solidFill>
                  <a:srgbClr val="8C3A2B"/>
                </a:solidFill>
                <a:latin typeface="Cambria" pitchFamily="34" charset="0"/>
                <a:ea typeface="Cambria" pitchFamily="34" charset="-122"/>
                <a:cs typeface="Cambria" pitchFamily="34" charset="-120"/>
              </a:rPr>
              <a:t>10 m</a:t>
            </a:r>
            <a:endParaRPr lang="en-US" sz="3000" dirty="0"/>
          </a:p>
        </p:txBody>
      </p:sp>
      <p:sp>
        <p:nvSpPr>
          <p:cNvPr id="15" name="Text 13"/>
          <p:cNvSpPr txBox="1"/>
          <p:nvPr/>
        </p:nvSpPr>
        <p:spPr>
          <a:xfrm>
            <a:off x="3383280" y="2468880"/>
            <a:ext cx="2377440" cy="310896"/>
          </a:xfrm>
          <a:prstGeom prst="rect">
            <a:avLst/>
          </a:prstGeom>
          <a:noFill/>
          <a:ln/>
        </p:spPr>
        <p:txBody>
          <a:bodyPr wrap="square" lIns="0" tIns="0" rIns="0" bIns="0" rtlCol="0" anchor="ctr"/>
          <a:lstStyle/>
          <a:p>
            <a:pPr indent="0" marL="0">
              <a:lnSpc>
                <a:spcPts val="1200"/>
              </a:lnSpc>
              <a:buNone/>
            </a:pPr>
            <a:r>
              <a:rPr lang="en-US" sz="950" b="1" dirty="0">
                <a:solidFill>
                  <a:srgbClr val="16161A"/>
                </a:solidFill>
                <a:latin typeface="Calibri" pitchFamily="34" charset="0"/>
                <a:ea typeface="Calibri" pitchFamily="34" charset="-122"/>
                <a:cs typeface="Calibri" pitchFamily="34" charset="-120"/>
              </a:rPr>
              <a:t>Yürüyüş hattından</a:t>
            </a:r>
            <a:endParaRPr lang="en-US" sz="950" dirty="0"/>
          </a:p>
        </p:txBody>
      </p:sp>
      <p:sp>
        <p:nvSpPr>
          <p:cNvPr id="16" name="Text 14"/>
          <p:cNvSpPr txBox="1"/>
          <p:nvPr/>
        </p:nvSpPr>
        <p:spPr>
          <a:xfrm>
            <a:off x="3383280" y="2798064"/>
            <a:ext cx="2377440" cy="1371600"/>
          </a:xfrm>
          <a:prstGeom prst="rect">
            <a:avLst/>
          </a:prstGeom>
          <a:noFill/>
          <a:ln/>
        </p:spPr>
        <p:txBody>
          <a:bodyPr wrap="square" lIns="0" tIns="0" rIns="0" bIns="0" rtlCol="0" anchor="ctr"/>
          <a:lstStyle/>
          <a:p>
            <a:pPr indent="0" marL="0">
              <a:lnSpc>
                <a:spcPts val="1400"/>
              </a:lnSpc>
              <a:buNone/>
            </a:pPr>
            <a:r>
              <a:rPr lang="en-US" sz="1050" dirty="0">
                <a:solidFill>
                  <a:srgbClr val="7A7A82"/>
                </a:solidFill>
                <a:latin typeface="Calibri" pitchFamily="34" charset="0"/>
                <a:ea typeface="Calibri" pitchFamily="34" charset="-122"/>
                <a:cs typeface="Calibri" pitchFamily="34" charset="-120"/>
              </a:rPr>
              <a:t>Marka adı, vitrinin kurgusu, içerinin derinliği. Durup durmama kararı burada verilir.</a:t>
            </a:r>
            <a:endParaRPr lang="en-US" sz="1050" dirty="0"/>
          </a:p>
        </p:txBody>
      </p:sp>
      <p:sp>
        <p:nvSpPr>
          <p:cNvPr id="17" name="Shape 15"/>
          <p:cNvSpPr/>
          <p:nvPr/>
        </p:nvSpPr>
        <p:spPr>
          <a:xfrm>
            <a:off x="6812280" y="4983480"/>
            <a:ext cx="182880" cy="182880"/>
          </a:xfrm>
          <a:prstGeom prst="ellipse">
            <a:avLst/>
          </a:prstGeom>
          <a:solidFill>
            <a:srgbClr val="7A7A82"/>
          </a:solidFill>
          <a:ln w="12700">
            <a:solidFill>
              <a:srgbClr val="7A7A82"/>
            </a:solidFill>
            <a:prstDash val="solid"/>
          </a:ln>
        </p:spPr>
      </p:sp>
      <p:sp>
        <p:nvSpPr>
          <p:cNvPr id="18" name="Shape 16"/>
          <p:cNvSpPr/>
          <p:nvPr/>
        </p:nvSpPr>
        <p:spPr>
          <a:xfrm>
            <a:off x="7050024" y="5074920"/>
            <a:ext cx="1490472" cy="0"/>
          </a:xfrm>
          <a:prstGeom prst="line">
            <a:avLst/>
          </a:prstGeom>
          <a:noFill/>
          <a:ln w="12700">
            <a:solidFill>
              <a:srgbClr val="C9C9CF"/>
            </a:solidFill>
            <a:prstDash val="dash"/>
            <a:tailEnd type="triangle"/>
          </a:ln>
        </p:spPr>
      </p:sp>
      <p:sp>
        <p:nvSpPr>
          <p:cNvPr id="19" name="Text 17"/>
          <p:cNvSpPr txBox="1"/>
          <p:nvPr/>
        </p:nvSpPr>
        <p:spPr>
          <a:xfrm>
            <a:off x="6583680" y="2002536"/>
            <a:ext cx="1371600" cy="457200"/>
          </a:xfrm>
          <a:prstGeom prst="rect">
            <a:avLst/>
          </a:prstGeom>
          <a:noFill/>
          <a:ln/>
        </p:spPr>
        <p:txBody>
          <a:bodyPr wrap="square" lIns="0" tIns="0" rIns="0" bIns="0" rtlCol="0" anchor="ctr"/>
          <a:lstStyle/>
          <a:p>
            <a:pPr indent="0" marL="0">
              <a:buNone/>
            </a:pPr>
            <a:r>
              <a:rPr lang="en-US" sz="3000" b="1" dirty="0">
                <a:solidFill>
                  <a:srgbClr val="7A7A82"/>
                </a:solidFill>
                <a:latin typeface="Cambria" pitchFamily="34" charset="0"/>
                <a:ea typeface="Cambria" pitchFamily="34" charset="-122"/>
                <a:cs typeface="Cambria" pitchFamily="34" charset="-120"/>
              </a:rPr>
              <a:t>3 m</a:t>
            </a:r>
            <a:endParaRPr lang="en-US" sz="3000" dirty="0"/>
          </a:p>
        </p:txBody>
      </p:sp>
      <p:sp>
        <p:nvSpPr>
          <p:cNvPr id="20" name="Text 18"/>
          <p:cNvSpPr txBox="1"/>
          <p:nvPr/>
        </p:nvSpPr>
        <p:spPr>
          <a:xfrm>
            <a:off x="6583680" y="2468880"/>
            <a:ext cx="2377440" cy="310896"/>
          </a:xfrm>
          <a:prstGeom prst="rect">
            <a:avLst/>
          </a:prstGeom>
          <a:noFill/>
          <a:ln/>
        </p:spPr>
        <p:txBody>
          <a:bodyPr wrap="square" lIns="0" tIns="0" rIns="0" bIns="0" rtlCol="0" anchor="ctr"/>
          <a:lstStyle/>
          <a:p>
            <a:pPr indent="0" marL="0">
              <a:lnSpc>
                <a:spcPts val="1200"/>
              </a:lnSpc>
              <a:buNone/>
            </a:pPr>
            <a:r>
              <a:rPr lang="en-US" sz="950" b="1" dirty="0">
                <a:solidFill>
                  <a:srgbClr val="16161A"/>
                </a:solidFill>
                <a:latin typeface="Calibri" pitchFamily="34" charset="0"/>
                <a:ea typeface="Calibri" pitchFamily="34" charset="-122"/>
                <a:cs typeface="Calibri" pitchFamily="34" charset="-120"/>
              </a:rPr>
              <a:t>Vitrinin önünde</a:t>
            </a:r>
            <a:endParaRPr lang="en-US" sz="950" dirty="0"/>
          </a:p>
        </p:txBody>
      </p:sp>
      <p:sp>
        <p:nvSpPr>
          <p:cNvPr id="21" name="Text 19"/>
          <p:cNvSpPr txBox="1"/>
          <p:nvPr/>
        </p:nvSpPr>
        <p:spPr>
          <a:xfrm>
            <a:off x="6583680" y="2798064"/>
            <a:ext cx="2377440" cy="1371600"/>
          </a:xfrm>
          <a:prstGeom prst="rect">
            <a:avLst/>
          </a:prstGeom>
          <a:noFill/>
          <a:ln/>
        </p:spPr>
        <p:txBody>
          <a:bodyPr wrap="square" lIns="0" tIns="0" rIns="0" bIns="0" rtlCol="0" anchor="ctr"/>
          <a:lstStyle/>
          <a:p>
            <a:pPr indent="0" marL="0">
              <a:lnSpc>
                <a:spcPts val="1400"/>
              </a:lnSpc>
              <a:buNone/>
            </a:pPr>
            <a:r>
              <a:rPr lang="en-US" sz="1050" dirty="0">
                <a:solidFill>
                  <a:srgbClr val="7A7A82"/>
                </a:solidFill>
                <a:latin typeface="Calibri" pitchFamily="34" charset="0"/>
                <a:ea typeface="Calibri" pitchFamily="34" charset="-122"/>
                <a:cs typeface="Calibri" pitchFamily="34" charset="-120"/>
              </a:rPr>
              <a:t>Ürün, etiket, doku, fiyat. İçeri girme kararı burada verilir.</a:t>
            </a:r>
            <a:endParaRPr lang="en-US" sz="1050" dirty="0"/>
          </a:p>
        </p:txBody>
      </p:sp>
      <p:sp>
        <p:nvSpPr>
          <p:cNvPr id="22" name="Text 20"/>
          <p:cNvSpPr txBox="1"/>
          <p:nvPr/>
        </p:nvSpPr>
        <p:spPr>
          <a:xfrm>
            <a:off x="777240" y="5669280"/>
            <a:ext cx="10424160" cy="365760"/>
          </a:xfrm>
          <a:prstGeom prst="rect">
            <a:avLst/>
          </a:prstGeom>
          <a:noFill/>
          <a:ln/>
        </p:spPr>
        <p:txBody>
          <a:bodyPr wrap="square" lIns="0" tIns="0" rIns="0" bIns="0" rtlCol="0" anchor="ctr"/>
          <a:lstStyle/>
          <a:p>
            <a:pPr algn="l" indent="0" marL="0">
              <a:lnSpc>
                <a:spcPts val="1200"/>
              </a:lnSpc>
              <a:buNone/>
            </a:pPr>
            <a:r>
              <a:rPr lang="en-US" sz="1300" i="1" dirty="0">
                <a:solidFill>
                  <a:srgbClr val="8C3A2B"/>
                </a:solidFill>
                <a:latin typeface="Cambria" pitchFamily="34" charset="0"/>
                <a:ea typeface="Cambria" pitchFamily="34" charset="-122"/>
                <a:cs typeface="Cambria" pitchFamily="34" charset="-120"/>
              </a:rPr>
              <a:t>Cepheyi bu üç mesafeden ayrı ayrı çizmek, tasarımın en hızlı sınamasıdır. Bir mesafede çalışan çözüm diğerinde çalışmayabilir.</a:t>
            </a:r>
            <a:endParaRPr lang="en-US" sz="1300" dirty="0"/>
          </a:p>
        </p:txBody>
      </p:sp>
      <p:sp>
        <p:nvSpPr>
          <p:cNvPr id="23" name="Text 21"/>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Aynı mağaza cephesinin üç farklı mesafeden çekilmiş fotoğrafı</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IV · DIŞARIDAN İÇERİYE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Vitrin tipleri</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20</a:t>
            </a:r>
            <a:endParaRPr lang="en-US" sz="950" dirty="0"/>
          </a:p>
        </p:txBody>
      </p:sp>
      <p:sp>
        <p:nvSpPr>
          <p:cNvPr id="5" name="Shape 3"/>
          <p:cNvSpPr/>
          <p:nvPr/>
        </p:nvSpPr>
        <p:spPr>
          <a:xfrm>
            <a:off x="777240" y="2103120"/>
            <a:ext cx="2487168" cy="1600200"/>
          </a:xfrm>
          <a:prstGeom prst="rect">
            <a:avLst/>
          </a:prstGeom>
          <a:ln w="15875">
            <a:solidFill>
              <a:srgbClr val="16161A"/>
            </a:solidFill>
            <a:prstDash val="solid"/>
          </a:ln>
        </p:spPr>
      </p:sp>
      <p:sp>
        <p:nvSpPr>
          <p:cNvPr id="6" name="Shape 4"/>
          <p:cNvSpPr/>
          <p:nvPr/>
        </p:nvSpPr>
        <p:spPr>
          <a:xfrm>
            <a:off x="722376" y="3785616"/>
            <a:ext cx="2596896" cy="0"/>
          </a:xfrm>
          <a:prstGeom prst="line">
            <a:avLst/>
          </a:prstGeom>
          <a:noFill/>
          <a:ln w="19050">
            <a:solidFill>
              <a:srgbClr val="C9C9CF"/>
            </a:solidFill>
            <a:prstDash val="dash"/>
          </a:ln>
        </p:spPr>
      </p:sp>
      <p:sp>
        <p:nvSpPr>
          <p:cNvPr id="7" name="Shape 5"/>
          <p:cNvSpPr/>
          <p:nvPr/>
        </p:nvSpPr>
        <p:spPr>
          <a:xfrm>
            <a:off x="886968" y="3154680"/>
            <a:ext cx="2267712" cy="411480"/>
          </a:xfrm>
          <a:prstGeom prst="rect">
            <a:avLst/>
          </a:prstGeom>
          <a:ln w="9525">
            <a:solidFill>
              <a:srgbClr val="C9C9CF"/>
            </a:solidFill>
            <a:prstDash val="solid"/>
          </a:ln>
        </p:spPr>
      </p:sp>
      <p:sp>
        <p:nvSpPr>
          <p:cNvPr id="8" name="Shape 6"/>
          <p:cNvSpPr/>
          <p:nvPr/>
        </p:nvSpPr>
        <p:spPr>
          <a:xfrm>
            <a:off x="886968" y="3154680"/>
            <a:ext cx="2267712" cy="0"/>
          </a:xfrm>
          <a:prstGeom prst="line">
            <a:avLst/>
          </a:prstGeom>
          <a:noFill/>
          <a:ln w="25400">
            <a:solidFill>
              <a:srgbClr val="16161A"/>
            </a:solidFill>
            <a:prstDash val="solid"/>
          </a:ln>
        </p:spPr>
      </p:sp>
      <p:sp>
        <p:nvSpPr>
          <p:cNvPr id="9" name="Text 7"/>
          <p:cNvSpPr txBox="1"/>
          <p:nvPr/>
        </p:nvSpPr>
        <p:spPr>
          <a:xfrm>
            <a:off x="777240" y="3904488"/>
            <a:ext cx="2487168" cy="274320"/>
          </a:xfrm>
          <a:prstGeom prst="rect">
            <a:avLst/>
          </a:prstGeom>
          <a:noFill/>
          <a:ln/>
        </p:spPr>
        <p:txBody>
          <a:bodyPr wrap="square" lIns="0" tIns="0" rIns="0" bIns="0" rtlCol="0" anchor="ctr"/>
          <a:lstStyle/>
          <a:p>
            <a:pPr algn="ctr" indent="0" marL="0">
              <a:lnSpc>
                <a:spcPts val="1200"/>
              </a:lnSpc>
              <a:buNone/>
            </a:pPr>
            <a:r>
              <a:rPr lang="en-US" sz="850" dirty="0">
                <a:solidFill>
                  <a:srgbClr val="A6A6AC"/>
                </a:solidFill>
                <a:latin typeface="Calibri" pitchFamily="34" charset="0"/>
                <a:ea typeface="Calibri" pitchFamily="34" charset="-122"/>
                <a:cs typeface="Calibri" pitchFamily="34" charset="-120"/>
              </a:rPr>
              <a:t>sokak</a:t>
            </a:r>
            <a:endParaRPr lang="en-US" sz="850" dirty="0"/>
          </a:p>
        </p:txBody>
      </p:sp>
      <p:sp>
        <p:nvSpPr>
          <p:cNvPr id="10" name="Text 8"/>
          <p:cNvSpPr txBox="1"/>
          <p:nvPr/>
        </p:nvSpPr>
        <p:spPr>
          <a:xfrm>
            <a:off x="777240" y="1719072"/>
            <a:ext cx="2487168"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Kapalı arkalı</a:t>
            </a:r>
            <a:endParaRPr lang="en-US" sz="1400" dirty="0"/>
          </a:p>
        </p:txBody>
      </p:sp>
      <p:sp>
        <p:nvSpPr>
          <p:cNvPr id="11" name="Text 9"/>
          <p:cNvSpPr txBox="1"/>
          <p:nvPr/>
        </p:nvSpPr>
        <p:spPr>
          <a:xfrm>
            <a:off x="777240" y="416052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Arkası kapalı bir sahne. Kurgu tam denetimde, ama içerisi görünmez.</a:t>
            </a:r>
            <a:endParaRPr lang="en-US" sz="1050" dirty="0"/>
          </a:p>
        </p:txBody>
      </p:sp>
      <p:sp>
        <p:nvSpPr>
          <p:cNvPr id="12" name="Shape 10"/>
          <p:cNvSpPr/>
          <p:nvPr/>
        </p:nvSpPr>
        <p:spPr>
          <a:xfrm>
            <a:off x="3493008" y="2103120"/>
            <a:ext cx="2487168" cy="1600200"/>
          </a:xfrm>
          <a:prstGeom prst="rect">
            <a:avLst/>
          </a:prstGeom>
          <a:ln w="15875">
            <a:solidFill>
              <a:srgbClr val="16161A"/>
            </a:solidFill>
            <a:prstDash val="solid"/>
          </a:ln>
        </p:spPr>
      </p:sp>
      <p:sp>
        <p:nvSpPr>
          <p:cNvPr id="13" name="Shape 11"/>
          <p:cNvSpPr/>
          <p:nvPr/>
        </p:nvSpPr>
        <p:spPr>
          <a:xfrm>
            <a:off x="3438144" y="3785616"/>
            <a:ext cx="2596896" cy="0"/>
          </a:xfrm>
          <a:prstGeom prst="line">
            <a:avLst/>
          </a:prstGeom>
          <a:noFill/>
          <a:ln w="19050">
            <a:solidFill>
              <a:srgbClr val="C9C9CF"/>
            </a:solidFill>
            <a:prstDash val="dash"/>
          </a:ln>
        </p:spPr>
      </p:sp>
      <p:sp>
        <p:nvSpPr>
          <p:cNvPr id="14" name="Shape 12"/>
          <p:cNvSpPr/>
          <p:nvPr/>
        </p:nvSpPr>
        <p:spPr>
          <a:xfrm>
            <a:off x="3602736" y="3154680"/>
            <a:ext cx="2267712" cy="411480"/>
          </a:xfrm>
          <a:prstGeom prst="rect">
            <a:avLst/>
          </a:prstGeom>
          <a:ln w="9525">
            <a:solidFill>
              <a:srgbClr val="C9C9CF"/>
            </a:solidFill>
            <a:prstDash val="solid"/>
          </a:ln>
        </p:spPr>
      </p:sp>
      <p:sp>
        <p:nvSpPr>
          <p:cNvPr id="15" name="Text 13"/>
          <p:cNvSpPr txBox="1"/>
          <p:nvPr/>
        </p:nvSpPr>
        <p:spPr>
          <a:xfrm>
            <a:off x="3493008" y="3904488"/>
            <a:ext cx="2487168" cy="274320"/>
          </a:xfrm>
          <a:prstGeom prst="rect">
            <a:avLst/>
          </a:prstGeom>
          <a:noFill/>
          <a:ln/>
        </p:spPr>
        <p:txBody>
          <a:bodyPr wrap="square" lIns="0" tIns="0" rIns="0" bIns="0" rtlCol="0" anchor="ctr"/>
          <a:lstStyle/>
          <a:p>
            <a:pPr algn="ctr" indent="0" marL="0">
              <a:lnSpc>
                <a:spcPts val="1200"/>
              </a:lnSpc>
              <a:buNone/>
            </a:pPr>
            <a:r>
              <a:rPr lang="en-US" sz="850" dirty="0">
                <a:solidFill>
                  <a:srgbClr val="A6A6AC"/>
                </a:solidFill>
                <a:latin typeface="Calibri" pitchFamily="34" charset="0"/>
                <a:ea typeface="Calibri" pitchFamily="34" charset="-122"/>
                <a:cs typeface="Calibri" pitchFamily="34" charset="-120"/>
              </a:rPr>
              <a:t>sokak</a:t>
            </a:r>
            <a:endParaRPr lang="en-US" sz="850" dirty="0"/>
          </a:p>
        </p:txBody>
      </p:sp>
      <p:sp>
        <p:nvSpPr>
          <p:cNvPr id="16" name="Text 14"/>
          <p:cNvSpPr txBox="1"/>
          <p:nvPr/>
        </p:nvSpPr>
        <p:spPr>
          <a:xfrm>
            <a:off x="3493008" y="1719072"/>
            <a:ext cx="2487168"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Açık</a:t>
            </a:r>
            <a:endParaRPr lang="en-US" sz="1400" dirty="0"/>
          </a:p>
        </p:txBody>
      </p:sp>
      <p:sp>
        <p:nvSpPr>
          <p:cNvPr id="17" name="Text 15"/>
          <p:cNvSpPr txBox="1"/>
          <p:nvPr/>
        </p:nvSpPr>
        <p:spPr>
          <a:xfrm>
            <a:off x="3493008" y="416052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Vitrinin arkası satış alanına açılır. İçerisi görünür, kurgu zayıflar.</a:t>
            </a:r>
            <a:endParaRPr lang="en-US" sz="1050" dirty="0"/>
          </a:p>
        </p:txBody>
      </p:sp>
      <p:sp>
        <p:nvSpPr>
          <p:cNvPr id="18" name="Shape 16"/>
          <p:cNvSpPr/>
          <p:nvPr/>
        </p:nvSpPr>
        <p:spPr>
          <a:xfrm>
            <a:off x="6208776" y="2103120"/>
            <a:ext cx="2487168" cy="1600200"/>
          </a:xfrm>
          <a:prstGeom prst="rect">
            <a:avLst/>
          </a:prstGeom>
          <a:ln w="15875">
            <a:solidFill>
              <a:srgbClr val="16161A"/>
            </a:solidFill>
            <a:prstDash val="solid"/>
          </a:ln>
        </p:spPr>
      </p:sp>
      <p:sp>
        <p:nvSpPr>
          <p:cNvPr id="19" name="Shape 17"/>
          <p:cNvSpPr/>
          <p:nvPr/>
        </p:nvSpPr>
        <p:spPr>
          <a:xfrm>
            <a:off x="6153912" y="3785616"/>
            <a:ext cx="2596896" cy="0"/>
          </a:xfrm>
          <a:prstGeom prst="line">
            <a:avLst/>
          </a:prstGeom>
          <a:noFill/>
          <a:ln w="19050">
            <a:solidFill>
              <a:srgbClr val="C9C9CF"/>
            </a:solidFill>
            <a:prstDash val="dash"/>
          </a:ln>
        </p:spPr>
      </p:sp>
      <p:sp>
        <p:nvSpPr>
          <p:cNvPr id="20" name="Shape 18"/>
          <p:cNvSpPr/>
          <p:nvPr/>
        </p:nvSpPr>
        <p:spPr>
          <a:xfrm>
            <a:off x="6318504" y="3154680"/>
            <a:ext cx="2267712" cy="411480"/>
          </a:xfrm>
          <a:prstGeom prst="rect">
            <a:avLst/>
          </a:prstGeom>
          <a:solidFill>
            <a:srgbClr val="F6EAE6"/>
          </a:solidFill>
          <a:ln w="15875">
            <a:solidFill>
              <a:srgbClr val="8C3A2B"/>
            </a:solidFill>
            <a:prstDash val="solid"/>
          </a:ln>
        </p:spPr>
      </p:sp>
      <p:sp>
        <p:nvSpPr>
          <p:cNvPr id="21" name="Shape 19"/>
          <p:cNvSpPr/>
          <p:nvPr/>
        </p:nvSpPr>
        <p:spPr>
          <a:xfrm>
            <a:off x="6318504" y="3154680"/>
            <a:ext cx="850392" cy="0"/>
          </a:xfrm>
          <a:prstGeom prst="line">
            <a:avLst/>
          </a:prstGeom>
          <a:noFill/>
          <a:ln w="25400">
            <a:solidFill>
              <a:srgbClr val="16161A"/>
            </a:solidFill>
            <a:prstDash val="solid"/>
          </a:ln>
        </p:spPr>
      </p:sp>
      <p:sp>
        <p:nvSpPr>
          <p:cNvPr id="22" name="Text 20"/>
          <p:cNvSpPr txBox="1"/>
          <p:nvPr/>
        </p:nvSpPr>
        <p:spPr>
          <a:xfrm>
            <a:off x="6208776" y="3904488"/>
            <a:ext cx="2487168" cy="274320"/>
          </a:xfrm>
          <a:prstGeom prst="rect">
            <a:avLst/>
          </a:prstGeom>
          <a:noFill/>
          <a:ln/>
        </p:spPr>
        <p:txBody>
          <a:bodyPr wrap="square" lIns="0" tIns="0" rIns="0" bIns="0" rtlCol="0" anchor="ctr"/>
          <a:lstStyle/>
          <a:p>
            <a:pPr algn="ctr" indent="0" marL="0">
              <a:lnSpc>
                <a:spcPts val="1200"/>
              </a:lnSpc>
              <a:buNone/>
            </a:pPr>
            <a:r>
              <a:rPr lang="en-US" sz="850" dirty="0">
                <a:solidFill>
                  <a:srgbClr val="A6A6AC"/>
                </a:solidFill>
                <a:latin typeface="Calibri" pitchFamily="34" charset="0"/>
                <a:ea typeface="Calibri" pitchFamily="34" charset="-122"/>
                <a:cs typeface="Calibri" pitchFamily="34" charset="-120"/>
              </a:rPr>
              <a:t>sokak</a:t>
            </a:r>
            <a:endParaRPr lang="en-US" sz="850" dirty="0"/>
          </a:p>
        </p:txBody>
      </p:sp>
      <p:sp>
        <p:nvSpPr>
          <p:cNvPr id="23" name="Text 21"/>
          <p:cNvSpPr txBox="1"/>
          <p:nvPr/>
        </p:nvSpPr>
        <p:spPr>
          <a:xfrm>
            <a:off x="6208776" y="1719072"/>
            <a:ext cx="2487168" cy="310896"/>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Yarı açık</a:t>
            </a:r>
            <a:endParaRPr lang="en-US" sz="1400" dirty="0"/>
          </a:p>
        </p:txBody>
      </p:sp>
      <p:sp>
        <p:nvSpPr>
          <p:cNvPr id="24" name="Text 22"/>
          <p:cNvSpPr txBox="1"/>
          <p:nvPr/>
        </p:nvSpPr>
        <p:spPr>
          <a:xfrm>
            <a:off x="6208776" y="416052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Kısmi arkalık. Hem sahne hem derinlik. En sık kullanılan.</a:t>
            </a:r>
            <a:endParaRPr lang="en-US" sz="1050" dirty="0"/>
          </a:p>
        </p:txBody>
      </p:sp>
      <p:sp>
        <p:nvSpPr>
          <p:cNvPr id="25" name="Shape 23"/>
          <p:cNvSpPr/>
          <p:nvPr/>
        </p:nvSpPr>
        <p:spPr>
          <a:xfrm>
            <a:off x="8924544" y="2103120"/>
            <a:ext cx="2487168" cy="1600200"/>
          </a:xfrm>
          <a:prstGeom prst="rect">
            <a:avLst/>
          </a:prstGeom>
          <a:ln w="15875">
            <a:solidFill>
              <a:srgbClr val="16161A"/>
            </a:solidFill>
            <a:prstDash val="solid"/>
          </a:ln>
        </p:spPr>
      </p:sp>
      <p:sp>
        <p:nvSpPr>
          <p:cNvPr id="26" name="Shape 24"/>
          <p:cNvSpPr/>
          <p:nvPr/>
        </p:nvSpPr>
        <p:spPr>
          <a:xfrm>
            <a:off x="8869680" y="3785616"/>
            <a:ext cx="2596896" cy="0"/>
          </a:xfrm>
          <a:prstGeom prst="line">
            <a:avLst/>
          </a:prstGeom>
          <a:noFill/>
          <a:ln w="19050">
            <a:solidFill>
              <a:srgbClr val="C9C9CF"/>
            </a:solidFill>
            <a:prstDash val="dash"/>
          </a:ln>
        </p:spPr>
      </p:sp>
      <p:sp>
        <p:nvSpPr>
          <p:cNvPr id="27" name="Shape 25"/>
          <p:cNvSpPr/>
          <p:nvPr/>
        </p:nvSpPr>
        <p:spPr>
          <a:xfrm>
            <a:off x="9034272" y="3154680"/>
            <a:ext cx="2267712" cy="0"/>
          </a:xfrm>
          <a:prstGeom prst="line">
            <a:avLst/>
          </a:prstGeom>
          <a:noFill/>
          <a:ln w="9525">
            <a:solidFill>
              <a:srgbClr val="C9C9CF"/>
            </a:solidFill>
            <a:prstDash val="dot"/>
          </a:ln>
        </p:spPr>
      </p:sp>
      <p:sp>
        <p:nvSpPr>
          <p:cNvPr id="28" name="Text 26"/>
          <p:cNvSpPr txBox="1"/>
          <p:nvPr/>
        </p:nvSpPr>
        <p:spPr>
          <a:xfrm>
            <a:off x="8924544" y="3904488"/>
            <a:ext cx="2487168" cy="274320"/>
          </a:xfrm>
          <a:prstGeom prst="rect">
            <a:avLst/>
          </a:prstGeom>
          <a:noFill/>
          <a:ln/>
        </p:spPr>
        <p:txBody>
          <a:bodyPr wrap="square" lIns="0" tIns="0" rIns="0" bIns="0" rtlCol="0" anchor="ctr"/>
          <a:lstStyle/>
          <a:p>
            <a:pPr algn="ctr" indent="0" marL="0">
              <a:lnSpc>
                <a:spcPts val="1200"/>
              </a:lnSpc>
              <a:buNone/>
            </a:pPr>
            <a:r>
              <a:rPr lang="en-US" sz="850" dirty="0">
                <a:solidFill>
                  <a:srgbClr val="A6A6AC"/>
                </a:solidFill>
                <a:latin typeface="Calibri" pitchFamily="34" charset="0"/>
                <a:ea typeface="Calibri" pitchFamily="34" charset="-122"/>
                <a:cs typeface="Calibri" pitchFamily="34" charset="-120"/>
              </a:rPr>
              <a:t>sokak</a:t>
            </a:r>
            <a:endParaRPr lang="en-US" sz="850" dirty="0"/>
          </a:p>
        </p:txBody>
      </p:sp>
      <p:sp>
        <p:nvSpPr>
          <p:cNvPr id="29" name="Text 27"/>
          <p:cNvSpPr txBox="1"/>
          <p:nvPr/>
        </p:nvSpPr>
        <p:spPr>
          <a:xfrm>
            <a:off x="8924544" y="1719072"/>
            <a:ext cx="2487168"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Vitrinsiz / şeffaf</a:t>
            </a:r>
            <a:endParaRPr lang="en-US" sz="1400" dirty="0"/>
          </a:p>
        </p:txBody>
      </p:sp>
      <p:sp>
        <p:nvSpPr>
          <p:cNvPr id="30" name="Text 28"/>
          <p:cNvSpPr txBox="1"/>
          <p:nvPr/>
        </p:nvSpPr>
        <p:spPr>
          <a:xfrm>
            <a:off x="8924544" y="416052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Cephe tümüyle cam. Mağazanın kendisi vitrindir.</a:t>
            </a:r>
            <a:endParaRPr lang="en-US" sz="1050" dirty="0"/>
          </a:p>
        </p:txBody>
      </p:sp>
      <p:sp>
        <p:nvSpPr>
          <p:cNvPr id="31" name="Text 29"/>
          <p:cNvSpPr txBox="1"/>
          <p:nvPr/>
        </p:nvSpPr>
        <p:spPr>
          <a:xfrm>
            <a:off x="777240" y="5257800"/>
            <a:ext cx="10634472" cy="868680"/>
          </a:xfrm>
          <a:prstGeom prst="rect">
            <a:avLst/>
          </a:prstGeom>
          <a:noFill/>
          <a:ln/>
        </p:spPr>
        <p:txBody>
          <a:bodyPr wrap="square" lIns="0" tIns="0" rIns="0" bIns="0" rtlCol="0" anchor="ctr"/>
          <a:lstStyle/>
          <a:p>
            <a:pPr indent="0" marL="0">
              <a:lnSpc>
                <a:spcPts val="2300"/>
              </a:lnSpc>
              <a:buNone/>
            </a:pPr>
            <a:r>
              <a:rPr lang="en-US" sz="1400" dirty="0">
                <a:solidFill>
                  <a:srgbClr val="2B2B31"/>
                </a:solidFill>
                <a:latin typeface="Cambria" pitchFamily="34" charset="0"/>
                <a:ea typeface="Cambria" pitchFamily="34" charset="-122"/>
                <a:cs typeface="Cambria" pitchFamily="34" charset="-120"/>
              </a:rPr>
              <a:t>Vitrin bir reklam panosu değil, mekânın ilk odasıdır. Tip seçimi ürünle ilgilidir: küçük ve değerli ürün sahne ister, geniş ürün gamı derinlik ister. Vitrinin gece görünümü ayrı bir tasarım kararıdır — gündüz için kurgulanmış bir vitrin gece çoğunlukla çalışmaz.</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IV · DIŞARIDAN İÇERİYE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Eşik ve geçiş bölgesi</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21</a:t>
            </a:r>
            <a:endParaRPr lang="en-US" sz="950" dirty="0"/>
          </a:p>
        </p:txBody>
      </p:sp>
      <p:sp>
        <p:nvSpPr>
          <p:cNvPr id="5" name="Shape 3"/>
          <p:cNvSpPr/>
          <p:nvPr/>
        </p:nvSpPr>
        <p:spPr>
          <a:xfrm>
            <a:off x="1463040" y="1847088"/>
            <a:ext cx="6035040" cy="2926080"/>
          </a:xfrm>
          <a:prstGeom prst="rect">
            <a:avLst/>
          </a:prstGeom>
          <a:ln w="15875">
            <a:solidFill>
              <a:srgbClr val="16161A"/>
            </a:solidFill>
            <a:prstDash val="solid"/>
          </a:ln>
        </p:spPr>
      </p:sp>
      <p:sp>
        <p:nvSpPr>
          <p:cNvPr id="6" name="Shape 4"/>
          <p:cNvSpPr/>
          <p:nvPr/>
        </p:nvSpPr>
        <p:spPr>
          <a:xfrm>
            <a:off x="1325880" y="4882896"/>
            <a:ext cx="6309360" cy="0"/>
          </a:xfrm>
          <a:prstGeom prst="line">
            <a:avLst/>
          </a:prstGeom>
          <a:noFill/>
          <a:ln w="19050">
            <a:solidFill>
              <a:srgbClr val="C9C9CF"/>
            </a:solidFill>
            <a:prstDash val="dash"/>
          </a:ln>
        </p:spPr>
      </p:sp>
      <p:sp>
        <p:nvSpPr>
          <p:cNvPr id="7" name="Text 5"/>
          <p:cNvSpPr txBox="1"/>
          <p:nvPr/>
        </p:nvSpPr>
        <p:spPr>
          <a:xfrm>
            <a:off x="1463040" y="4992624"/>
            <a:ext cx="6035040" cy="274320"/>
          </a:xfrm>
          <a:prstGeom prst="rect">
            <a:avLst/>
          </a:prstGeom>
          <a:noFill/>
          <a:ln/>
        </p:spPr>
        <p:txBody>
          <a:bodyPr wrap="square" lIns="0" tIns="0" rIns="0" bIns="0" rtlCol="0" anchor="ctr"/>
          <a:lstStyle/>
          <a:p>
            <a:pPr algn="ctr" indent="0" marL="0">
              <a:lnSpc>
                <a:spcPts val="1200"/>
              </a:lnSpc>
              <a:buNone/>
            </a:pPr>
            <a:r>
              <a:rPr lang="en-US" sz="900" dirty="0">
                <a:solidFill>
                  <a:srgbClr val="A6A6AC"/>
                </a:solidFill>
                <a:latin typeface="Calibri" pitchFamily="34" charset="0"/>
                <a:ea typeface="Calibri" pitchFamily="34" charset="-122"/>
                <a:cs typeface="Calibri" pitchFamily="34" charset="-120"/>
              </a:rPr>
              <a:t>sokak</a:t>
            </a:r>
            <a:endParaRPr lang="en-US" sz="900" dirty="0"/>
          </a:p>
        </p:txBody>
      </p:sp>
      <p:sp>
        <p:nvSpPr>
          <p:cNvPr id="8" name="Shape 6"/>
          <p:cNvSpPr/>
          <p:nvPr/>
        </p:nvSpPr>
        <p:spPr>
          <a:xfrm>
            <a:off x="3840480" y="4745736"/>
            <a:ext cx="1280160" cy="54864"/>
          </a:xfrm>
          <a:prstGeom prst="rect">
            <a:avLst/>
          </a:prstGeom>
          <a:solidFill>
            <a:srgbClr val="FCFCFA"/>
          </a:solidFill>
          <a:ln w="12700">
            <a:solidFill>
              <a:srgbClr val="FCFCFA"/>
            </a:solidFill>
            <a:prstDash val="solid"/>
          </a:ln>
        </p:spPr>
      </p:sp>
      <p:sp>
        <p:nvSpPr>
          <p:cNvPr id="9" name="Shape 7"/>
          <p:cNvSpPr/>
          <p:nvPr/>
        </p:nvSpPr>
        <p:spPr>
          <a:xfrm flipV="1">
            <a:off x="4480560" y="4636008"/>
            <a:ext cx="0" cy="640080"/>
          </a:xfrm>
          <a:prstGeom prst="line">
            <a:avLst/>
          </a:prstGeom>
          <a:noFill/>
          <a:ln w="25400">
            <a:solidFill>
              <a:srgbClr val="8C3A2B"/>
            </a:solidFill>
            <a:prstDash val="solid"/>
            <a:tailEnd type="triangle"/>
          </a:ln>
        </p:spPr>
      </p:sp>
      <p:sp>
        <p:nvSpPr>
          <p:cNvPr id="10" name="Shape 8"/>
          <p:cNvSpPr/>
          <p:nvPr/>
        </p:nvSpPr>
        <p:spPr>
          <a:xfrm>
            <a:off x="3337560" y="3538728"/>
            <a:ext cx="2286000" cy="1207008"/>
          </a:xfrm>
          <a:prstGeom prst="rect">
            <a:avLst/>
          </a:prstGeom>
          <a:solidFill>
            <a:srgbClr val="F6EAE6"/>
          </a:solidFill>
          <a:ln w="15875">
            <a:solidFill>
              <a:srgbClr val="8C3A2B"/>
            </a:solidFill>
            <a:prstDash val="solid"/>
          </a:ln>
        </p:spPr>
      </p:sp>
      <p:sp>
        <p:nvSpPr>
          <p:cNvPr id="11" name="Text 9"/>
          <p:cNvSpPr txBox="1"/>
          <p:nvPr/>
        </p:nvSpPr>
        <p:spPr>
          <a:xfrm>
            <a:off x="3374136" y="3538728"/>
            <a:ext cx="2212848" cy="1207008"/>
          </a:xfrm>
          <a:prstGeom prst="rect">
            <a:avLst/>
          </a:prstGeom>
          <a:noFill/>
          <a:ln/>
        </p:spPr>
        <p:txBody>
          <a:bodyPr wrap="square" lIns="0" tIns="0" rIns="0" bIns="0" rtlCol="0" anchor="ctr"/>
          <a:lstStyle/>
          <a:p>
            <a:pPr algn="ctr" indent="0" marL="0">
              <a:lnSpc>
                <a:spcPts val="1100"/>
              </a:lnSpc>
              <a:buNone/>
            </a:pPr>
            <a:r>
              <a:rPr lang="en-US" sz="1000" dirty="0">
                <a:solidFill>
                  <a:srgbClr val="8C3A2B"/>
                </a:solidFill>
                <a:latin typeface="Calibri" pitchFamily="34" charset="0"/>
                <a:ea typeface="Calibri" pitchFamily="34" charset="-122"/>
                <a:cs typeface="Calibri" pitchFamily="34" charset="-120"/>
              </a:rPr>
              <a:t>GEÇİŞ BÖLGESİ</a:t>
            </a:r>
            <a:endParaRPr lang="en-US" sz="1000" dirty="0"/>
          </a:p>
          <a:p>
            <a:pPr algn="ctr" indent="0" marL="0">
              <a:lnSpc>
                <a:spcPts val="1100"/>
              </a:lnSpc>
              <a:buNone/>
            </a:pPr>
            <a:r>
              <a:rPr lang="en-US" sz="1000" dirty="0">
                <a:solidFill>
                  <a:srgbClr val="8C3A2B"/>
                </a:solidFill>
                <a:latin typeface="Calibri" pitchFamily="34" charset="0"/>
                <a:ea typeface="Calibri" pitchFamily="34" charset="-122"/>
                <a:cs typeface="Calibri" pitchFamily="34" charset="-120"/>
              </a:rPr>
              <a:t>(ürün konmaz)</a:t>
            </a:r>
            <a:endParaRPr lang="en-US" sz="1000" dirty="0"/>
          </a:p>
        </p:txBody>
      </p:sp>
      <p:sp>
        <p:nvSpPr>
          <p:cNvPr id="12" name="Shape 10"/>
          <p:cNvSpPr/>
          <p:nvPr/>
        </p:nvSpPr>
        <p:spPr>
          <a:xfrm>
            <a:off x="1554480" y="4087368"/>
            <a:ext cx="1691640" cy="658368"/>
          </a:xfrm>
          <a:prstGeom prst="rect">
            <a:avLst/>
          </a:prstGeom>
          <a:ln w="9525">
            <a:solidFill>
              <a:srgbClr val="C9C9CF"/>
            </a:solidFill>
            <a:prstDash val="solid"/>
          </a:ln>
        </p:spPr>
      </p:sp>
      <p:sp>
        <p:nvSpPr>
          <p:cNvPr id="13" name="Text 11"/>
          <p:cNvSpPr txBox="1"/>
          <p:nvPr/>
        </p:nvSpPr>
        <p:spPr>
          <a:xfrm>
            <a:off x="1591056" y="4087368"/>
            <a:ext cx="1618488" cy="658368"/>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vitrin</a:t>
            </a:r>
            <a:endParaRPr lang="en-US" sz="900" dirty="0"/>
          </a:p>
        </p:txBody>
      </p:sp>
      <p:sp>
        <p:nvSpPr>
          <p:cNvPr id="14" name="Shape 12"/>
          <p:cNvSpPr/>
          <p:nvPr/>
        </p:nvSpPr>
        <p:spPr>
          <a:xfrm>
            <a:off x="5715000" y="4087368"/>
            <a:ext cx="1691640" cy="658368"/>
          </a:xfrm>
          <a:prstGeom prst="rect">
            <a:avLst/>
          </a:prstGeom>
          <a:ln w="9525">
            <a:solidFill>
              <a:srgbClr val="C9C9CF"/>
            </a:solidFill>
            <a:prstDash val="solid"/>
          </a:ln>
        </p:spPr>
      </p:sp>
      <p:sp>
        <p:nvSpPr>
          <p:cNvPr id="15" name="Text 13"/>
          <p:cNvSpPr txBox="1"/>
          <p:nvPr/>
        </p:nvSpPr>
        <p:spPr>
          <a:xfrm>
            <a:off x="5751576" y="4087368"/>
            <a:ext cx="1618488" cy="658368"/>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vitrin</a:t>
            </a:r>
            <a:endParaRPr lang="en-US" sz="900" dirty="0"/>
          </a:p>
        </p:txBody>
      </p:sp>
      <p:sp>
        <p:nvSpPr>
          <p:cNvPr id="16" name="Shape 14"/>
          <p:cNvSpPr/>
          <p:nvPr/>
        </p:nvSpPr>
        <p:spPr>
          <a:xfrm>
            <a:off x="6446520" y="1938528"/>
            <a:ext cx="960120" cy="1508760"/>
          </a:xfrm>
          <a:prstGeom prst="rect">
            <a:avLst/>
          </a:prstGeom>
          <a:ln w="9525">
            <a:solidFill>
              <a:srgbClr val="C9C9CF"/>
            </a:solidFill>
            <a:prstDash val="solid"/>
          </a:ln>
        </p:spPr>
      </p:sp>
      <p:sp>
        <p:nvSpPr>
          <p:cNvPr id="17" name="Text 15"/>
          <p:cNvSpPr txBox="1"/>
          <p:nvPr/>
        </p:nvSpPr>
        <p:spPr>
          <a:xfrm>
            <a:off x="6483096" y="1938528"/>
            <a:ext cx="886968" cy="150876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güç</a:t>
            </a:r>
            <a:endParaRPr lang="en-US" sz="900" dirty="0"/>
          </a:p>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duvarı</a:t>
            </a:r>
            <a:endParaRPr lang="en-US" sz="900" dirty="0"/>
          </a:p>
        </p:txBody>
      </p:sp>
      <p:sp>
        <p:nvSpPr>
          <p:cNvPr id="18" name="Text 16"/>
          <p:cNvSpPr txBox="1"/>
          <p:nvPr/>
        </p:nvSpPr>
        <p:spPr>
          <a:xfrm>
            <a:off x="1600200" y="2167128"/>
            <a:ext cx="1737360" cy="274320"/>
          </a:xfrm>
          <a:prstGeom prst="rect">
            <a:avLst/>
          </a:prstGeom>
          <a:noFill/>
          <a:ln/>
        </p:spPr>
        <p:txBody>
          <a:bodyPr wrap="square" lIns="0" tIns="0" rIns="0" bIns="0" rtlCol="0" anchor="ctr"/>
          <a:lstStyle/>
          <a:p>
            <a:pPr algn="l" indent="0" marL="0">
              <a:lnSpc>
                <a:spcPts val="1200"/>
              </a:lnSpc>
              <a:buNone/>
            </a:pPr>
            <a:r>
              <a:rPr lang="en-US" sz="950" dirty="0">
                <a:solidFill>
                  <a:srgbClr val="7A7A82"/>
                </a:solidFill>
                <a:latin typeface="Calibri" pitchFamily="34" charset="0"/>
                <a:ea typeface="Calibri" pitchFamily="34" charset="-122"/>
                <a:cs typeface="Calibri" pitchFamily="34" charset="-120"/>
              </a:rPr>
              <a:t>satış alanı</a:t>
            </a:r>
            <a:endParaRPr lang="en-US" sz="950" dirty="0"/>
          </a:p>
        </p:txBody>
      </p:sp>
      <p:sp>
        <p:nvSpPr>
          <p:cNvPr id="19" name="Shape 17"/>
          <p:cNvSpPr/>
          <p:nvPr/>
        </p:nvSpPr>
        <p:spPr>
          <a:xfrm>
            <a:off x="7799832" y="2011680"/>
            <a:ext cx="201168" cy="201168"/>
          </a:xfrm>
          <a:prstGeom prst="ellipse">
            <a:avLst/>
          </a:prstGeom>
          <a:solidFill>
            <a:srgbClr val="8C3A2B"/>
          </a:solidFill>
          <a:ln w="12700">
            <a:solidFill>
              <a:srgbClr val="8C3A2B"/>
            </a:solidFill>
            <a:prstDash val="solid"/>
          </a:ln>
        </p:spPr>
      </p:sp>
      <p:sp>
        <p:nvSpPr>
          <p:cNvPr id="20" name="Text 18"/>
          <p:cNvSpPr txBox="1"/>
          <p:nvPr/>
        </p:nvSpPr>
        <p:spPr>
          <a:xfrm>
            <a:off x="7799832" y="2011680"/>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21" name="Text 19"/>
          <p:cNvSpPr txBox="1"/>
          <p:nvPr/>
        </p:nvSpPr>
        <p:spPr>
          <a:xfrm>
            <a:off x="8129016" y="1984248"/>
            <a:ext cx="325526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Işık düzeyi düşer ya da yükselir</a:t>
            </a:r>
            <a:endParaRPr lang="en-US" sz="1050" dirty="0"/>
          </a:p>
        </p:txBody>
      </p:sp>
      <p:sp>
        <p:nvSpPr>
          <p:cNvPr id="22" name="Text 20"/>
          <p:cNvSpPr txBox="1"/>
          <p:nvPr/>
        </p:nvSpPr>
        <p:spPr>
          <a:xfrm>
            <a:off x="8129016" y="2221992"/>
            <a:ext cx="325526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Gözün dışarıdan içeriye uyum süresi</a:t>
            </a:r>
            <a:endParaRPr lang="en-US" sz="1000" dirty="0"/>
          </a:p>
        </p:txBody>
      </p:sp>
      <p:sp>
        <p:nvSpPr>
          <p:cNvPr id="23" name="Shape 21"/>
          <p:cNvSpPr/>
          <p:nvPr/>
        </p:nvSpPr>
        <p:spPr>
          <a:xfrm>
            <a:off x="7799832" y="2688336"/>
            <a:ext cx="201168" cy="201168"/>
          </a:xfrm>
          <a:prstGeom prst="ellipse">
            <a:avLst/>
          </a:prstGeom>
          <a:solidFill>
            <a:srgbClr val="8C3A2B"/>
          </a:solidFill>
          <a:ln w="12700">
            <a:solidFill>
              <a:srgbClr val="8C3A2B"/>
            </a:solidFill>
            <a:prstDash val="solid"/>
          </a:ln>
        </p:spPr>
      </p:sp>
      <p:sp>
        <p:nvSpPr>
          <p:cNvPr id="24" name="Text 22"/>
          <p:cNvSpPr txBox="1"/>
          <p:nvPr/>
        </p:nvSpPr>
        <p:spPr>
          <a:xfrm>
            <a:off x="7799832" y="2688336"/>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25" name="Text 23"/>
          <p:cNvSpPr txBox="1"/>
          <p:nvPr/>
        </p:nvSpPr>
        <p:spPr>
          <a:xfrm>
            <a:off x="8129016" y="2660904"/>
            <a:ext cx="325526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Ses ve koku değişir</a:t>
            </a:r>
            <a:endParaRPr lang="en-US" sz="1050" dirty="0"/>
          </a:p>
        </p:txBody>
      </p:sp>
      <p:sp>
        <p:nvSpPr>
          <p:cNvPr id="26" name="Text 24"/>
          <p:cNvSpPr txBox="1"/>
          <p:nvPr/>
        </p:nvSpPr>
        <p:spPr>
          <a:xfrm>
            <a:off x="8129016" y="2898648"/>
            <a:ext cx="325526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Bedene 'başka bir yere girdim' bilgisini veren asıl katman</a:t>
            </a:r>
            <a:endParaRPr lang="en-US" sz="1000" dirty="0"/>
          </a:p>
        </p:txBody>
      </p:sp>
      <p:sp>
        <p:nvSpPr>
          <p:cNvPr id="27" name="Shape 25"/>
          <p:cNvSpPr/>
          <p:nvPr/>
        </p:nvSpPr>
        <p:spPr>
          <a:xfrm>
            <a:off x="7799832" y="3364992"/>
            <a:ext cx="201168" cy="201168"/>
          </a:xfrm>
          <a:prstGeom prst="ellipse">
            <a:avLst/>
          </a:prstGeom>
          <a:solidFill>
            <a:srgbClr val="8C3A2B"/>
          </a:solidFill>
          <a:ln w="12700">
            <a:solidFill>
              <a:srgbClr val="8C3A2B"/>
            </a:solidFill>
            <a:prstDash val="solid"/>
          </a:ln>
        </p:spPr>
      </p:sp>
      <p:sp>
        <p:nvSpPr>
          <p:cNvPr id="28" name="Text 26"/>
          <p:cNvSpPr txBox="1"/>
          <p:nvPr/>
        </p:nvSpPr>
        <p:spPr>
          <a:xfrm>
            <a:off x="7799832" y="3364992"/>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9" name="Text 27"/>
          <p:cNvSpPr txBox="1"/>
          <p:nvPr/>
        </p:nvSpPr>
        <p:spPr>
          <a:xfrm>
            <a:off x="8129016" y="3337560"/>
            <a:ext cx="325526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Zemin malzemesi ve sertliği değişir</a:t>
            </a:r>
            <a:endParaRPr lang="en-US" sz="1050" dirty="0"/>
          </a:p>
        </p:txBody>
      </p:sp>
      <p:sp>
        <p:nvSpPr>
          <p:cNvPr id="30" name="Text 28"/>
          <p:cNvSpPr txBox="1"/>
          <p:nvPr/>
        </p:nvSpPr>
        <p:spPr>
          <a:xfrm>
            <a:off x="8129016" y="3575304"/>
            <a:ext cx="325526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Adımın sesi ve hissi</a:t>
            </a:r>
            <a:endParaRPr lang="en-US" sz="1000" dirty="0"/>
          </a:p>
        </p:txBody>
      </p:sp>
      <p:sp>
        <p:nvSpPr>
          <p:cNvPr id="31" name="Shape 29"/>
          <p:cNvSpPr/>
          <p:nvPr/>
        </p:nvSpPr>
        <p:spPr>
          <a:xfrm>
            <a:off x="7799832" y="4041648"/>
            <a:ext cx="201168" cy="201168"/>
          </a:xfrm>
          <a:prstGeom prst="ellipse">
            <a:avLst/>
          </a:prstGeom>
          <a:solidFill>
            <a:srgbClr val="8C3A2B"/>
          </a:solidFill>
          <a:ln w="12700">
            <a:solidFill>
              <a:srgbClr val="8C3A2B"/>
            </a:solidFill>
            <a:prstDash val="solid"/>
          </a:ln>
        </p:spPr>
      </p:sp>
      <p:sp>
        <p:nvSpPr>
          <p:cNvPr id="32" name="Text 30"/>
          <p:cNvSpPr txBox="1"/>
          <p:nvPr/>
        </p:nvSpPr>
        <p:spPr>
          <a:xfrm>
            <a:off x="7799832" y="4041648"/>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33" name="Text 31"/>
          <p:cNvSpPr txBox="1"/>
          <p:nvPr/>
        </p:nvSpPr>
        <p:spPr>
          <a:xfrm>
            <a:off x="8129016" y="4014216"/>
            <a:ext cx="325526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Sıcaklık farkı hissedilir</a:t>
            </a:r>
            <a:endParaRPr lang="en-US" sz="1050" dirty="0"/>
          </a:p>
        </p:txBody>
      </p:sp>
      <p:sp>
        <p:nvSpPr>
          <p:cNvPr id="34" name="Text 32"/>
          <p:cNvSpPr txBox="1"/>
          <p:nvPr/>
        </p:nvSpPr>
        <p:spPr>
          <a:xfrm>
            <a:off x="8129016" y="4251960"/>
            <a:ext cx="325526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Eşiğin en az fark edilen ama en güçlü aracı</a:t>
            </a:r>
            <a:endParaRPr lang="en-US" sz="1000" dirty="0"/>
          </a:p>
        </p:txBody>
      </p:sp>
      <p:sp>
        <p:nvSpPr>
          <p:cNvPr id="35" name="Text 33"/>
          <p:cNvSpPr txBox="1"/>
          <p:nvPr/>
        </p:nvSpPr>
        <p:spPr>
          <a:xfrm>
            <a:off x="777240" y="5175504"/>
            <a:ext cx="6309360" cy="1188720"/>
          </a:xfrm>
          <a:prstGeom prst="rect">
            <a:avLst/>
          </a:prstGeom>
          <a:noFill/>
          <a:ln/>
        </p:spPr>
        <p:txBody>
          <a:bodyPr wrap="square" lIns="0" tIns="0" rIns="0" bIns="0" rtlCol="0" anchor="ctr"/>
          <a:lstStyle/>
          <a:p>
            <a:pPr indent="0" marL="0">
              <a:lnSpc>
                <a:spcPts val="2300"/>
              </a:lnSpc>
              <a:buNone/>
            </a:pPr>
            <a:r>
              <a:rPr lang="en-US" sz="1300" dirty="0">
                <a:solidFill>
                  <a:srgbClr val="2B2B31"/>
                </a:solidFill>
                <a:latin typeface="Cambria" pitchFamily="34" charset="0"/>
                <a:ea typeface="Cambria" pitchFamily="34" charset="-122"/>
                <a:cs typeface="Cambria" pitchFamily="34" charset="-120"/>
              </a:rPr>
              <a:t>Girişten sonraki ilk 2–4 metre geçiş bölgesidir. Duyular hâlâ dışarıya ayarlıdır; buraya konan ürün ya da bilgi genellikle görülmez (Underhill, 2008). Eşiği sınamanın en basit yolu tek bir sorudur: bu kapıdan geçerken ne değişiyor?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V</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Mağazanın içi</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Hangi işlevler var ve birbirleriyle nasıl ilişkilenirler?</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 · MAĞAZANIN İÇİ</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Bir mağazada bulunması gereken işlevler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23</a:t>
            </a:r>
            <a:endParaRPr lang="en-US" sz="950" dirty="0"/>
          </a:p>
        </p:txBody>
      </p:sp>
      <p:sp>
        <p:nvSpPr>
          <p:cNvPr id="5" name="Text 3"/>
          <p:cNvSpPr txBox="1"/>
          <p:nvPr/>
        </p:nvSpPr>
        <p:spPr>
          <a:xfrm>
            <a:off x="777240" y="1499616"/>
            <a:ext cx="10634472" cy="54864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 şema bir yerleşim önerisi değildir; işlevlerin listesini ve aralarındaki ilişkiyi gösterir. Hangi işlevin nereye konacağı markaya, ürüne ve mekâna göre değişir.</a:t>
            </a:r>
            <a:endParaRPr lang="en-US" sz="1450" dirty="0"/>
          </a:p>
        </p:txBody>
      </p:sp>
      <p:sp>
        <p:nvSpPr>
          <p:cNvPr id="6" name="Shape 4"/>
          <p:cNvSpPr/>
          <p:nvPr/>
        </p:nvSpPr>
        <p:spPr>
          <a:xfrm>
            <a:off x="777240" y="2432304"/>
            <a:ext cx="1581912" cy="713232"/>
          </a:xfrm>
          <a:prstGeom prst="rect">
            <a:avLst/>
          </a:prstGeom>
          <a:ln w="9525">
            <a:solidFill>
              <a:srgbClr val="C9C9CF"/>
            </a:solidFill>
            <a:prstDash val="solid"/>
          </a:ln>
        </p:spPr>
      </p:sp>
      <p:sp>
        <p:nvSpPr>
          <p:cNvPr id="7" name="Text 5"/>
          <p:cNvSpPr txBox="1"/>
          <p:nvPr/>
        </p:nvSpPr>
        <p:spPr>
          <a:xfrm>
            <a:off x="813816" y="2432304"/>
            <a:ext cx="1508760" cy="713232"/>
          </a:xfrm>
          <a:prstGeom prst="rect">
            <a:avLst/>
          </a:prstGeom>
          <a:noFill/>
          <a:ln/>
        </p:spPr>
        <p:txBody>
          <a:bodyPr wrap="square" lIns="0" tIns="0" rIns="0" bIns="0" rtlCol="0" anchor="ctr"/>
          <a:lstStyle/>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Vitrin</a:t>
            </a:r>
            <a:endParaRPr lang="en-US" sz="950" dirty="0"/>
          </a:p>
        </p:txBody>
      </p:sp>
      <p:sp>
        <p:nvSpPr>
          <p:cNvPr id="8" name="Shape 6"/>
          <p:cNvSpPr/>
          <p:nvPr/>
        </p:nvSpPr>
        <p:spPr>
          <a:xfrm>
            <a:off x="2359152" y="2788920"/>
            <a:ext cx="228600" cy="0"/>
          </a:xfrm>
          <a:prstGeom prst="line">
            <a:avLst/>
          </a:prstGeom>
          <a:noFill/>
          <a:ln w="12700">
            <a:solidFill>
              <a:srgbClr val="C9C9CF"/>
            </a:solidFill>
            <a:prstDash val="solid"/>
          </a:ln>
        </p:spPr>
      </p:sp>
      <p:sp>
        <p:nvSpPr>
          <p:cNvPr id="9" name="Shape 7"/>
          <p:cNvSpPr/>
          <p:nvPr/>
        </p:nvSpPr>
        <p:spPr>
          <a:xfrm>
            <a:off x="2587752" y="2432304"/>
            <a:ext cx="1581912" cy="713232"/>
          </a:xfrm>
          <a:prstGeom prst="rect">
            <a:avLst/>
          </a:prstGeom>
          <a:ln w="9525">
            <a:solidFill>
              <a:srgbClr val="C9C9CF"/>
            </a:solidFill>
            <a:prstDash val="solid"/>
          </a:ln>
        </p:spPr>
      </p:sp>
      <p:sp>
        <p:nvSpPr>
          <p:cNvPr id="10" name="Text 8"/>
          <p:cNvSpPr txBox="1"/>
          <p:nvPr/>
        </p:nvSpPr>
        <p:spPr>
          <a:xfrm>
            <a:off x="2624328" y="2432304"/>
            <a:ext cx="1508760" cy="713232"/>
          </a:xfrm>
          <a:prstGeom prst="rect">
            <a:avLst/>
          </a:prstGeom>
          <a:noFill/>
          <a:ln/>
        </p:spPr>
        <p:txBody>
          <a:bodyPr wrap="square" lIns="0" tIns="0" rIns="0" bIns="0" rtlCol="0" anchor="ctr"/>
          <a:lstStyle/>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Giriş ve</a:t>
            </a:r>
            <a:endParaRPr lang="en-US" sz="950" dirty="0"/>
          </a:p>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geçiş</a:t>
            </a:r>
            <a:endParaRPr lang="en-US" sz="950" dirty="0"/>
          </a:p>
        </p:txBody>
      </p:sp>
      <p:sp>
        <p:nvSpPr>
          <p:cNvPr id="11" name="Shape 9"/>
          <p:cNvSpPr/>
          <p:nvPr/>
        </p:nvSpPr>
        <p:spPr>
          <a:xfrm>
            <a:off x="4169664" y="2788920"/>
            <a:ext cx="228600" cy="0"/>
          </a:xfrm>
          <a:prstGeom prst="line">
            <a:avLst/>
          </a:prstGeom>
          <a:noFill/>
          <a:ln w="12700">
            <a:solidFill>
              <a:srgbClr val="C9C9CF"/>
            </a:solidFill>
            <a:prstDash val="solid"/>
          </a:ln>
        </p:spPr>
      </p:sp>
      <p:sp>
        <p:nvSpPr>
          <p:cNvPr id="12" name="Shape 10"/>
          <p:cNvSpPr/>
          <p:nvPr/>
        </p:nvSpPr>
        <p:spPr>
          <a:xfrm>
            <a:off x="4398264" y="2432304"/>
            <a:ext cx="1581912" cy="713232"/>
          </a:xfrm>
          <a:prstGeom prst="rect">
            <a:avLst/>
          </a:prstGeom>
          <a:ln w="9525">
            <a:solidFill>
              <a:srgbClr val="C9C9CF"/>
            </a:solidFill>
            <a:prstDash val="solid"/>
          </a:ln>
        </p:spPr>
      </p:sp>
      <p:sp>
        <p:nvSpPr>
          <p:cNvPr id="13" name="Text 11"/>
          <p:cNvSpPr txBox="1"/>
          <p:nvPr/>
        </p:nvSpPr>
        <p:spPr>
          <a:xfrm>
            <a:off x="4434840" y="2432304"/>
            <a:ext cx="1508760" cy="713232"/>
          </a:xfrm>
          <a:prstGeom prst="rect">
            <a:avLst/>
          </a:prstGeom>
          <a:noFill/>
          <a:ln/>
        </p:spPr>
        <p:txBody>
          <a:bodyPr wrap="square" lIns="0" tIns="0" rIns="0" bIns="0" rtlCol="0" anchor="ctr"/>
          <a:lstStyle/>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Teşhir</a:t>
            </a:r>
            <a:endParaRPr lang="en-US" sz="950" dirty="0"/>
          </a:p>
        </p:txBody>
      </p:sp>
      <p:sp>
        <p:nvSpPr>
          <p:cNvPr id="14" name="Shape 12"/>
          <p:cNvSpPr/>
          <p:nvPr/>
        </p:nvSpPr>
        <p:spPr>
          <a:xfrm>
            <a:off x="5980176" y="2788920"/>
            <a:ext cx="228600" cy="0"/>
          </a:xfrm>
          <a:prstGeom prst="line">
            <a:avLst/>
          </a:prstGeom>
          <a:noFill/>
          <a:ln w="12700">
            <a:solidFill>
              <a:srgbClr val="C9C9CF"/>
            </a:solidFill>
            <a:prstDash val="solid"/>
          </a:ln>
        </p:spPr>
      </p:sp>
      <p:sp>
        <p:nvSpPr>
          <p:cNvPr id="15" name="Shape 13"/>
          <p:cNvSpPr/>
          <p:nvPr/>
        </p:nvSpPr>
        <p:spPr>
          <a:xfrm>
            <a:off x="6208776" y="2432304"/>
            <a:ext cx="1581912" cy="713232"/>
          </a:xfrm>
          <a:prstGeom prst="rect">
            <a:avLst/>
          </a:prstGeom>
          <a:ln w="9525">
            <a:solidFill>
              <a:srgbClr val="C9C9CF"/>
            </a:solidFill>
            <a:prstDash val="solid"/>
          </a:ln>
        </p:spPr>
      </p:sp>
      <p:sp>
        <p:nvSpPr>
          <p:cNvPr id="16" name="Text 14"/>
          <p:cNvSpPr txBox="1"/>
          <p:nvPr/>
        </p:nvSpPr>
        <p:spPr>
          <a:xfrm>
            <a:off x="6245352" y="2432304"/>
            <a:ext cx="1508760" cy="713232"/>
          </a:xfrm>
          <a:prstGeom prst="rect">
            <a:avLst/>
          </a:prstGeom>
          <a:noFill/>
          <a:ln/>
        </p:spPr>
        <p:txBody>
          <a:bodyPr wrap="square" lIns="0" tIns="0" rIns="0" bIns="0" rtlCol="0" anchor="ctr"/>
          <a:lstStyle/>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Etkileşim ve</a:t>
            </a:r>
            <a:endParaRPr lang="en-US" sz="950" dirty="0"/>
          </a:p>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deneme</a:t>
            </a:r>
            <a:endParaRPr lang="en-US" sz="950" dirty="0"/>
          </a:p>
        </p:txBody>
      </p:sp>
      <p:sp>
        <p:nvSpPr>
          <p:cNvPr id="17" name="Shape 15"/>
          <p:cNvSpPr/>
          <p:nvPr/>
        </p:nvSpPr>
        <p:spPr>
          <a:xfrm>
            <a:off x="7790688" y="2788920"/>
            <a:ext cx="228600" cy="0"/>
          </a:xfrm>
          <a:prstGeom prst="line">
            <a:avLst/>
          </a:prstGeom>
          <a:noFill/>
          <a:ln w="12700">
            <a:solidFill>
              <a:srgbClr val="C9C9CF"/>
            </a:solidFill>
            <a:prstDash val="solid"/>
          </a:ln>
        </p:spPr>
      </p:sp>
      <p:sp>
        <p:nvSpPr>
          <p:cNvPr id="18" name="Shape 16"/>
          <p:cNvSpPr/>
          <p:nvPr/>
        </p:nvSpPr>
        <p:spPr>
          <a:xfrm>
            <a:off x="8019288" y="2432304"/>
            <a:ext cx="1581912" cy="713232"/>
          </a:xfrm>
          <a:prstGeom prst="rect">
            <a:avLst/>
          </a:prstGeom>
          <a:ln w="9525">
            <a:solidFill>
              <a:srgbClr val="C9C9CF"/>
            </a:solidFill>
            <a:prstDash val="solid"/>
          </a:ln>
        </p:spPr>
      </p:sp>
      <p:sp>
        <p:nvSpPr>
          <p:cNvPr id="19" name="Text 17"/>
          <p:cNvSpPr txBox="1"/>
          <p:nvPr/>
        </p:nvSpPr>
        <p:spPr>
          <a:xfrm>
            <a:off x="8055864" y="2432304"/>
            <a:ext cx="1508760" cy="713232"/>
          </a:xfrm>
          <a:prstGeom prst="rect">
            <a:avLst/>
          </a:prstGeom>
          <a:noFill/>
          <a:ln/>
        </p:spPr>
        <p:txBody>
          <a:bodyPr wrap="square" lIns="0" tIns="0" rIns="0" bIns="0" rtlCol="0" anchor="ctr"/>
          <a:lstStyle/>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Deneme</a:t>
            </a:r>
            <a:endParaRPr lang="en-US" sz="950" dirty="0"/>
          </a:p>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kabini</a:t>
            </a:r>
            <a:endParaRPr lang="en-US" sz="950" dirty="0"/>
          </a:p>
        </p:txBody>
      </p:sp>
      <p:sp>
        <p:nvSpPr>
          <p:cNvPr id="20" name="Shape 18"/>
          <p:cNvSpPr/>
          <p:nvPr/>
        </p:nvSpPr>
        <p:spPr>
          <a:xfrm>
            <a:off x="9601200" y="2788920"/>
            <a:ext cx="228600" cy="0"/>
          </a:xfrm>
          <a:prstGeom prst="line">
            <a:avLst/>
          </a:prstGeom>
          <a:noFill/>
          <a:ln w="12700">
            <a:solidFill>
              <a:srgbClr val="C9C9CF"/>
            </a:solidFill>
            <a:prstDash val="solid"/>
          </a:ln>
        </p:spPr>
      </p:sp>
      <p:sp>
        <p:nvSpPr>
          <p:cNvPr id="21" name="Shape 19"/>
          <p:cNvSpPr/>
          <p:nvPr/>
        </p:nvSpPr>
        <p:spPr>
          <a:xfrm>
            <a:off x="9829800" y="2432304"/>
            <a:ext cx="1581912" cy="713232"/>
          </a:xfrm>
          <a:prstGeom prst="rect">
            <a:avLst/>
          </a:prstGeom>
          <a:ln w="9525">
            <a:solidFill>
              <a:srgbClr val="C9C9CF"/>
            </a:solidFill>
            <a:prstDash val="solid"/>
          </a:ln>
        </p:spPr>
      </p:sp>
      <p:sp>
        <p:nvSpPr>
          <p:cNvPr id="22" name="Text 20"/>
          <p:cNvSpPr txBox="1"/>
          <p:nvPr/>
        </p:nvSpPr>
        <p:spPr>
          <a:xfrm>
            <a:off x="9866376" y="2432304"/>
            <a:ext cx="1508760" cy="713232"/>
          </a:xfrm>
          <a:prstGeom prst="rect">
            <a:avLst/>
          </a:prstGeom>
          <a:noFill/>
          <a:ln/>
        </p:spPr>
        <p:txBody>
          <a:bodyPr wrap="square" lIns="0" tIns="0" rIns="0" bIns="0" rtlCol="0" anchor="ctr"/>
          <a:lstStyle/>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Oturma ve</a:t>
            </a:r>
            <a:endParaRPr lang="en-US" sz="950" dirty="0"/>
          </a:p>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bekleme</a:t>
            </a:r>
            <a:endParaRPr lang="en-US" sz="950" dirty="0"/>
          </a:p>
        </p:txBody>
      </p:sp>
      <p:sp>
        <p:nvSpPr>
          <p:cNvPr id="23" name="Text 21"/>
          <p:cNvSpPr txBox="1"/>
          <p:nvPr/>
        </p:nvSpPr>
        <p:spPr>
          <a:xfrm>
            <a:off x="777240" y="2139696"/>
            <a:ext cx="5486400" cy="274320"/>
          </a:xfrm>
          <a:prstGeom prst="rect">
            <a:avLst/>
          </a:prstGeom>
          <a:noFill/>
          <a:ln/>
        </p:spPr>
        <p:txBody>
          <a:bodyPr wrap="square" lIns="0" tIns="0" rIns="0" bIns="0" rtlCol="0" anchor="ctr"/>
          <a:lstStyle/>
          <a:p>
            <a:pPr algn="l" indent="0" marL="0">
              <a:lnSpc>
                <a:spcPts val="1200"/>
              </a:lnSpc>
              <a:buNone/>
            </a:pPr>
            <a:r>
              <a:rPr lang="en-US" sz="950" b="1" dirty="0">
                <a:solidFill>
                  <a:srgbClr val="16161A"/>
                </a:solidFill>
                <a:latin typeface="Calibri" pitchFamily="34" charset="0"/>
                <a:ea typeface="Calibri" pitchFamily="34" charset="-122"/>
                <a:cs typeface="Calibri" pitchFamily="34" charset="-120"/>
              </a:rPr>
              <a:t>ÖN ALAN — müşterinin gördüğü</a:t>
            </a:r>
            <a:endParaRPr lang="en-US" sz="950" dirty="0"/>
          </a:p>
        </p:txBody>
      </p:sp>
      <p:sp>
        <p:nvSpPr>
          <p:cNvPr id="24" name="Shape 22"/>
          <p:cNvSpPr/>
          <p:nvPr/>
        </p:nvSpPr>
        <p:spPr>
          <a:xfrm>
            <a:off x="777240" y="3913632"/>
            <a:ext cx="10634472" cy="0"/>
          </a:xfrm>
          <a:prstGeom prst="line">
            <a:avLst/>
          </a:prstGeom>
          <a:noFill/>
          <a:ln w="12700">
            <a:solidFill>
              <a:srgbClr val="7A7A82"/>
            </a:solidFill>
            <a:prstDash val="dash"/>
          </a:ln>
        </p:spPr>
      </p:sp>
      <p:sp>
        <p:nvSpPr>
          <p:cNvPr id="25" name="Shape 23"/>
          <p:cNvSpPr/>
          <p:nvPr/>
        </p:nvSpPr>
        <p:spPr>
          <a:xfrm>
            <a:off x="5001768" y="3639312"/>
            <a:ext cx="2194560" cy="548640"/>
          </a:xfrm>
          <a:prstGeom prst="rect">
            <a:avLst/>
          </a:prstGeom>
          <a:solidFill>
            <a:srgbClr val="F6EAE6"/>
          </a:solidFill>
          <a:ln w="15875">
            <a:solidFill>
              <a:srgbClr val="8C3A2B"/>
            </a:solidFill>
            <a:prstDash val="solid"/>
          </a:ln>
        </p:spPr>
      </p:sp>
      <p:sp>
        <p:nvSpPr>
          <p:cNvPr id="26" name="Text 24"/>
          <p:cNvSpPr txBox="1"/>
          <p:nvPr/>
        </p:nvSpPr>
        <p:spPr>
          <a:xfrm>
            <a:off x="5038344" y="3639312"/>
            <a:ext cx="2121408" cy="548640"/>
          </a:xfrm>
          <a:prstGeom prst="rect">
            <a:avLst/>
          </a:prstGeom>
          <a:noFill/>
          <a:ln/>
        </p:spPr>
        <p:txBody>
          <a:bodyPr wrap="square" lIns="0" tIns="0" rIns="0" bIns="0" rtlCol="0" anchor="ctr"/>
          <a:lstStyle/>
          <a:p>
            <a:pPr algn="ctr" indent="0" marL="0">
              <a:lnSpc>
                <a:spcPts val="1100"/>
              </a:lnSpc>
              <a:buNone/>
            </a:pPr>
            <a:r>
              <a:rPr lang="en-US" sz="1100" dirty="0">
                <a:solidFill>
                  <a:srgbClr val="8C3A2B"/>
                </a:solidFill>
                <a:latin typeface="Calibri" pitchFamily="34" charset="0"/>
                <a:ea typeface="Calibri" pitchFamily="34" charset="-122"/>
                <a:cs typeface="Calibri" pitchFamily="34" charset="-120"/>
              </a:rPr>
              <a:t>KASA</a:t>
            </a:r>
            <a:endParaRPr lang="en-US" sz="1100" dirty="0"/>
          </a:p>
        </p:txBody>
      </p:sp>
      <p:sp>
        <p:nvSpPr>
          <p:cNvPr id="27" name="Text 25"/>
          <p:cNvSpPr txBox="1"/>
          <p:nvPr/>
        </p:nvSpPr>
        <p:spPr>
          <a:xfrm>
            <a:off x="7269480" y="3675888"/>
            <a:ext cx="4114800" cy="274320"/>
          </a:xfrm>
          <a:prstGeom prst="rect">
            <a:avLst/>
          </a:prstGeom>
          <a:noFill/>
          <a:ln/>
        </p:spPr>
        <p:txBody>
          <a:bodyPr wrap="square" lIns="0" tIns="0" rIns="0" bIns="0" rtlCol="0" anchor="ctr"/>
          <a:lstStyle/>
          <a:p>
            <a:pPr algn="l" indent="0" marL="0">
              <a:lnSpc>
                <a:spcPts val="1200"/>
              </a:lnSpc>
              <a:buNone/>
            </a:pPr>
            <a:r>
              <a:rPr lang="en-US" sz="950" i="1" dirty="0">
                <a:solidFill>
                  <a:srgbClr val="8C3A2B"/>
                </a:solidFill>
                <a:latin typeface="Calibri" pitchFamily="34" charset="0"/>
                <a:ea typeface="Calibri" pitchFamily="34" charset="-122"/>
                <a:cs typeface="Calibri" pitchFamily="34" charset="-120"/>
              </a:rPr>
              <a:t>iki alanın kesiştiği tek nokta</a:t>
            </a:r>
            <a:endParaRPr lang="en-US" sz="950" dirty="0"/>
          </a:p>
        </p:txBody>
      </p:sp>
      <p:sp>
        <p:nvSpPr>
          <p:cNvPr id="28" name="Shape 26"/>
          <p:cNvSpPr/>
          <p:nvPr/>
        </p:nvSpPr>
        <p:spPr>
          <a:xfrm>
            <a:off x="2377440" y="4434840"/>
            <a:ext cx="2103120" cy="713232"/>
          </a:xfrm>
          <a:prstGeom prst="rect">
            <a:avLst/>
          </a:prstGeom>
          <a:solidFill>
            <a:srgbClr val="EFEFEC"/>
          </a:solidFill>
          <a:ln w="9525">
            <a:solidFill>
              <a:srgbClr val="7A7A82"/>
            </a:solidFill>
            <a:prstDash val="solid"/>
          </a:ln>
        </p:spPr>
      </p:sp>
      <p:sp>
        <p:nvSpPr>
          <p:cNvPr id="29" name="Text 27"/>
          <p:cNvSpPr txBox="1"/>
          <p:nvPr/>
        </p:nvSpPr>
        <p:spPr>
          <a:xfrm>
            <a:off x="2414016" y="4434840"/>
            <a:ext cx="2029968" cy="713232"/>
          </a:xfrm>
          <a:prstGeom prst="rect">
            <a:avLst/>
          </a:prstGeom>
          <a:noFill/>
          <a:ln/>
        </p:spPr>
        <p:txBody>
          <a:bodyPr wrap="square" lIns="0" tIns="0" rIns="0" bIns="0" rtlCol="0" anchor="ctr"/>
          <a:lstStyle/>
          <a:p>
            <a:pPr algn="ctr" indent="0" marL="0">
              <a:lnSpc>
                <a:spcPts val="1100"/>
              </a:lnSpc>
              <a:buNone/>
            </a:pPr>
            <a:r>
              <a:rPr lang="en-US" sz="1000" dirty="0">
                <a:solidFill>
                  <a:srgbClr val="2B2B31"/>
                </a:solidFill>
                <a:latin typeface="Calibri" pitchFamily="34" charset="0"/>
                <a:ea typeface="Calibri" pitchFamily="34" charset="-122"/>
                <a:cs typeface="Calibri" pitchFamily="34" charset="-120"/>
              </a:rPr>
              <a:t>Mal kabul</a:t>
            </a:r>
            <a:endParaRPr lang="en-US" sz="1000" dirty="0"/>
          </a:p>
        </p:txBody>
      </p:sp>
      <p:sp>
        <p:nvSpPr>
          <p:cNvPr id="30" name="Shape 28"/>
          <p:cNvSpPr/>
          <p:nvPr/>
        </p:nvSpPr>
        <p:spPr>
          <a:xfrm>
            <a:off x="4480560" y="4791456"/>
            <a:ext cx="548640" cy="0"/>
          </a:xfrm>
          <a:prstGeom prst="line">
            <a:avLst/>
          </a:prstGeom>
          <a:noFill/>
          <a:ln w="12700">
            <a:solidFill>
              <a:srgbClr val="7A7A82"/>
            </a:solidFill>
            <a:prstDash val="solid"/>
          </a:ln>
        </p:spPr>
      </p:sp>
      <p:sp>
        <p:nvSpPr>
          <p:cNvPr id="31" name="Shape 29"/>
          <p:cNvSpPr/>
          <p:nvPr/>
        </p:nvSpPr>
        <p:spPr>
          <a:xfrm>
            <a:off x="5029200" y="4434840"/>
            <a:ext cx="2103120" cy="713232"/>
          </a:xfrm>
          <a:prstGeom prst="rect">
            <a:avLst/>
          </a:prstGeom>
          <a:solidFill>
            <a:srgbClr val="EFEFEC"/>
          </a:solidFill>
          <a:ln w="9525">
            <a:solidFill>
              <a:srgbClr val="7A7A82"/>
            </a:solidFill>
            <a:prstDash val="solid"/>
          </a:ln>
        </p:spPr>
      </p:sp>
      <p:sp>
        <p:nvSpPr>
          <p:cNvPr id="32" name="Text 30"/>
          <p:cNvSpPr txBox="1"/>
          <p:nvPr/>
        </p:nvSpPr>
        <p:spPr>
          <a:xfrm>
            <a:off x="5065776" y="4434840"/>
            <a:ext cx="2029968" cy="713232"/>
          </a:xfrm>
          <a:prstGeom prst="rect">
            <a:avLst/>
          </a:prstGeom>
          <a:noFill/>
          <a:ln/>
        </p:spPr>
        <p:txBody>
          <a:bodyPr wrap="square" lIns="0" tIns="0" rIns="0" bIns="0" rtlCol="0" anchor="ctr"/>
          <a:lstStyle/>
          <a:p>
            <a:pPr algn="ctr" indent="0" marL="0">
              <a:lnSpc>
                <a:spcPts val="1100"/>
              </a:lnSpc>
              <a:buNone/>
            </a:pPr>
            <a:r>
              <a:rPr lang="en-US" sz="1000" dirty="0">
                <a:solidFill>
                  <a:srgbClr val="2B2B31"/>
                </a:solidFill>
                <a:latin typeface="Calibri" pitchFamily="34" charset="0"/>
                <a:ea typeface="Calibri" pitchFamily="34" charset="-122"/>
                <a:cs typeface="Calibri" pitchFamily="34" charset="-120"/>
              </a:rPr>
              <a:t>Depo</a:t>
            </a:r>
            <a:endParaRPr lang="en-US" sz="1000" dirty="0"/>
          </a:p>
        </p:txBody>
      </p:sp>
      <p:sp>
        <p:nvSpPr>
          <p:cNvPr id="33" name="Shape 31"/>
          <p:cNvSpPr/>
          <p:nvPr/>
        </p:nvSpPr>
        <p:spPr>
          <a:xfrm>
            <a:off x="7132320" y="4791456"/>
            <a:ext cx="548640" cy="0"/>
          </a:xfrm>
          <a:prstGeom prst="line">
            <a:avLst/>
          </a:prstGeom>
          <a:noFill/>
          <a:ln w="12700">
            <a:solidFill>
              <a:srgbClr val="7A7A82"/>
            </a:solidFill>
            <a:prstDash val="solid"/>
          </a:ln>
        </p:spPr>
      </p:sp>
      <p:sp>
        <p:nvSpPr>
          <p:cNvPr id="34" name="Shape 32"/>
          <p:cNvSpPr/>
          <p:nvPr/>
        </p:nvSpPr>
        <p:spPr>
          <a:xfrm>
            <a:off x="7680960" y="4434840"/>
            <a:ext cx="2103120" cy="713232"/>
          </a:xfrm>
          <a:prstGeom prst="rect">
            <a:avLst/>
          </a:prstGeom>
          <a:solidFill>
            <a:srgbClr val="EFEFEC"/>
          </a:solidFill>
          <a:ln w="9525">
            <a:solidFill>
              <a:srgbClr val="7A7A82"/>
            </a:solidFill>
            <a:prstDash val="solid"/>
          </a:ln>
        </p:spPr>
      </p:sp>
      <p:sp>
        <p:nvSpPr>
          <p:cNvPr id="35" name="Text 33"/>
          <p:cNvSpPr txBox="1"/>
          <p:nvPr/>
        </p:nvSpPr>
        <p:spPr>
          <a:xfrm>
            <a:off x="7717536" y="4434840"/>
            <a:ext cx="2029968" cy="713232"/>
          </a:xfrm>
          <a:prstGeom prst="rect">
            <a:avLst/>
          </a:prstGeom>
          <a:noFill/>
          <a:ln/>
        </p:spPr>
        <p:txBody>
          <a:bodyPr wrap="square" lIns="0" tIns="0" rIns="0" bIns="0" rtlCol="0" anchor="ctr"/>
          <a:lstStyle/>
          <a:p>
            <a:pPr algn="ctr" indent="0" marL="0">
              <a:lnSpc>
                <a:spcPts val="1100"/>
              </a:lnSpc>
              <a:buNone/>
            </a:pPr>
            <a:r>
              <a:rPr lang="en-US" sz="1000" dirty="0">
                <a:solidFill>
                  <a:srgbClr val="2B2B31"/>
                </a:solidFill>
                <a:latin typeface="Calibri" pitchFamily="34" charset="0"/>
                <a:ea typeface="Calibri" pitchFamily="34" charset="-122"/>
                <a:cs typeface="Calibri" pitchFamily="34" charset="-120"/>
              </a:rPr>
              <a:t>Personel ve WC</a:t>
            </a:r>
            <a:endParaRPr lang="en-US" sz="1000" dirty="0"/>
          </a:p>
        </p:txBody>
      </p:sp>
      <p:sp>
        <p:nvSpPr>
          <p:cNvPr id="36" name="Text 34"/>
          <p:cNvSpPr txBox="1"/>
          <p:nvPr/>
        </p:nvSpPr>
        <p:spPr>
          <a:xfrm>
            <a:off x="777240" y="4160520"/>
            <a:ext cx="5486400" cy="274320"/>
          </a:xfrm>
          <a:prstGeom prst="rect">
            <a:avLst/>
          </a:prstGeom>
          <a:noFill/>
          <a:ln/>
        </p:spPr>
        <p:txBody>
          <a:bodyPr wrap="square" lIns="0" tIns="0" rIns="0" bIns="0" rtlCol="0" anchor="ctr"/>
          <a:lstStyle/>
          <a:p>
            <a:pPr algn="l" indent="0" marL="0">
              <a:lnSpc>
                <a:spcPts val="1200"/>
              </a:lnSpc>
              <a:buNone/>
            </a:pPr>
            <a:r>
              <a:rPr lang="en-US" sz="950" b="1" dirty="0">
                <a:solidFill>
                  <a:srgbClr val="16161A"/>
                </a:solidFill>
                <a:latin typeface="Calibri" pitchFamily="34" charset="0"/>
                <a:ea typeface="Calibri" pitchFamily="34" charset="-122"/>
                <a:cs typeface="Calibri" pitchFamily="34" charset="-120"/>
              </a:rPr>
              <a:t>ARKA ALAN — işletmenin çalıştığı</a:t>
            </a:r>
            <a:endParaRPr lang="en-US" sz="950" dirty="0"/>
          </a:p>
        </p:txBody>
      </p:sp>
      <p:sp>
        <p:nvSpPr>
          <p:cNvPr id="37" name="Shape 35"/>
          <p:cNvSpPr/>
          <p:nvPr/>
        </p:nvSpPr>
        <p:spPr>
          <a:xfrm>
            <a:off x="6099048" y="3145536"/>
            <a:ext cx="0" cy="493776"/>
          </a:xfrm>
          <a:prstGeom prst="line">
            <a:avLst/>
          </a:prstGeom>
          <a:noFill/>
          <a:ln w="12700">
            <a:solidFill>
              <a:srgbClr val="C9C9CF"/>
            </a:solidFill>
            <a:prstDash val="solid"/>
          </a:ln>
        </p:spPr>
      </p:sp>
      <p:sp>
        <p:nvSpPr>
          <p:cNvPr id="38" name="Shape 36"/>
          <p:cNvSpPr/>
          <p:nvPr/>
        </p:nvSpPr>
        <p:spPr>
          <a:xfrm>
            <a:off x="6099048" y="4187952"/>
            <a:ext cx="0" cy="246888"/>
          </a:xfrm>
          <a:prstGeom prst="line">
            <a:avLst/>
          </a:prstGeom>
          <a:noFill/>
          <a:ln w="12700">
            <a:solidFill>
              <a:srgbClr val="7A7A82"/>
            </a:solidFill>
            <a:prstDash val="dash"/>
          </a:ln>
        </p:spPr>
      </p:sp>
      <p:sp>
        <p:nvSpPr>
          <p:cNvPr id="39" name="Shape 37"/>
          <p:cNvSpPr/>
          <p:nvPr/>
        </p:nvSpPr>
        <p:spPr>
          <a:xfrm>
            <a:off x="4023360" y="3145536"/>
            <a:ext cx="0" cy="768096"/>
          </a:xfrm>
          <a:prstGeom prst="line">
            <a:avLst/>
          </a:prstGeom>
          <a:noFill/>
          <a:ln w="15875">
            <a:solidFill>
              <a:srgbClr val="8C3A2B"/>
            </a:solidFill>
            <a:prstDash val="solid"/>
          </a:ln>
        </p:spPr>
      </p:sp>
      <p:sp>
        <p:nvSpPr>
          <p:cNvPr id="40" name="Shape 38"/>
          <p:cNvSpPr/>
          <p:nvPr/>
        </p:nvSpPr>
        <p:spPr>
          <a:xfrm>
            <a:off x="4023360" y="3913632"/>
            <a:ext cx="0" cy="521208"/>
          </a:xfrm>
          <a:prstGeom prst="line">
            <a:avLst/>
          </a:prstGeom>
          <a:noFill/>
          <a:ln w="15875">
            <a:solidFill>
              <a:srgbClr val="8C3A2B"/>
            </a:solidFill>
            <a:prstDash val="solid"/>
          </a:ln>
        </p:spPr>
      </p:sp>
      <p:sp>
        <p:nvSpPr>
          <p:cNvPr id="41" name="Text 39"/>
          <p:cNvSpPr txBox="1"/>
          <p:nvPr/>
        </p:nvSpPr>
        <p:spPr>
          <a:xfrm>
            <a:off x="2788920" y="3246120"/>
            <a:ext cx="1188720" cy="274320"/>
          </a:xfrm>
          <a:prstGeom prst="rect">
            <a:avLst/>
          </a:prstGeom>
          <a:noFill/>
          <a:ln/>
        </p:spPr>
        <p:txBody>
          <a:bodyPr wrap="square" lIns="0" tIns="0" rIns="0" bIns="0" rtlCol="0" anchor="ctr"/>
          <a:lstStyle/>
          <a:p>
            <a:pPr algn="r" indent="0" marL="0">
              <a:lnSpc>
                <a:spcPts val="1050"/>
              </a:lnSpc>
              <a:buNone/>
            </a:pPr>
            <a:r>
              <a:rPr lang="en-US" sz="850" dirty="0">
                <a:solidFill>
                  <a:srgbClr val="8C3A2B"/>
                </a:solidFill>
                <a:latin typeface="Calibri" pitchFamily="34" charset="0"/>
                <a:ea typeface="Calibri" pitchFamily="34" charset="-122"/>
                <a:cs typeface="Calibri" pitchFamily="34" charset="-120"/>
              </a:rPr>
              <a:t>stok</a:t>
            </a:r>
            <a:endParaRPr lang="en-US" sz="850" dirty="0"/>
          </a:p>
          <a:p>
            <a:pPr algn="r" indent="0" marL="0">
              <a:lnSpc>
                <a:spcPts val="1050"/>
              </a:lnSpc>
              <a:buNone/>
            </a:pPr>
            <a:r>
              <a:rPr lang="en-US" sz="850" dirty="0">
                <a:solidFill>
                  <a:srgbClr val="8C3A2B"/>
                </a:solidFill>
                <a:latin typeface="Calibri" pitchFamily="34" charset="0"/>
                <a:ea typeface="Calibri" pitchFamily="34" charset="-122"/>
                <a:cs typeface="Calibri" pitchFamily="34" charset="-120"/>
              </a:rPr>
              <a:t>tazeleme</a:t>
            </a:r>
            <a:endParaRPr lang="en-US" sz="850" dirty="0"/>
          </a:p>
        </p:txBody>
      </p:sp>
      <p:sp>
        <p:nvSpPr>
          <p:cNvPr id="42" name="Text 40"/>
          <p:cNvSpPr txBox="1"/>
          <p:nvPr/>
        </p:nvSpPr>
        <p:spPr>
          <a:xfrm>
            <a:off x="777240" y="5184648"/>
            <a:ext cx="10424160" cy="274320"/>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KOMŞULUK KURALLARI</a:t>
            </a:r>
            <a:endParaRPr lang="en-US" sz="900" dirty="0"/>
          </a:p>
        </p:txBody>
      </p:sp>
      <p:sp>
        <p:nvSpPr>
          <p:cNvPr id="43" name="Shape 41"/>
          <p:cNvSpPr/>
          <p:nvPr/>
        </p:nvSpPr>
        <p:spPr>
          <a:xfrm>
            <a:off x="813816" y="5495544"/>
            <a:ext cx="91440" cy="91440"/>
          </a:xfrm>
          <a:prstGeom prst="ellipse">
            <a:avLst/>
          </a:prstGeom>
          <a:solidFill>
            <a:srgbClr val="8C3A2B"/>
          </a:solidFill>
          <a:ln w="12700">
            <a:solidFill>
              <a:srgbClr val="8C3A2B"/>
            </a:solidFill>
            <a:prstDash val="solid"/>
          </a:ln>
        </p:spPr>
      </p:sp>
      <p:sp>
        <p:nvSpPr>
          <p:cNvPr id="44" name="Text 42"/>
          <p:cNvSpPr txBox="1"/>
          <p:nvPr/>
        </p:nvSpPr>
        <p:spPr>
          <a:xfrm>
            <a:off x="1069848" y="5413248"/>
            <a:ext cx="4736592" cy="384048"/>
          </a:xfrm>
          <a:prstGeom prst="rect">
            <a:avLst/>
          </a:prstGeom>
          <a:noFill/>
          <a:ln/>
        </p:spPr>
        <p:txBody>
          <a:bodyPr wrap="square" lIns="0" tIns="0" rIns="0" bIns="0" rtlCol="0" anchor="ctr"/>
          <a:lstStyle/>
          <a:p>
            <a:pPr algn="l" indent="0" marL="0">
              <a:lnSpc>
                <a:spcPts val="1350"/>
              </a:lnSpc>
              <a:buNone/>
            </a:pPr>
            <a:r>
              <a:rPr lang="en-US" sz="1100" dirty="0">
                <a:solidFill>
                  <a:srgbClr val="2B2B31"/>
                </a:solidFill>
                <a:latin typeface="Calibri" pitchFamily="34" charset="0"/>
                <a:ea typeface="Calibri" pitchFamily="34" charset="-122"/>
                <a:cs typeface="Calibri" pitchFamily="34" charset="-120"/>
              </a:rPr>
              <a:t>Vitrin ve giriş birbirinin devamıdır; ayrı tasarlanamaz.</a:t>
            </a:r>
            <a:endParaRPr lang="en-US" sz="1100" dirty="0"/>
          </a:p>
        </p:txBody>
      </p:sp>
      <p:sp>
        <p:nvSpPr>
          <p:cNvPr id="45" name="Shape 43"/>
          <p:cNvSpPr/>
          <p:nvPr/>
        </p:nvSpPr>
        <p:spPr>
          <a:xfrm>
            <a:off x="6419088" y="5495544"/>
            <a:ext cx="91440" cy="91440"/>
          </a:xfrm>
          <a:prstGeom prst="ellipse">
            <a:avLst/>
          </a:prstGeom>
          <a:solidFill>
            <a:srgbClr val="8C3A2B"/>
          </a:solidFill>
          <a:ln w="12700">
            <a:solidFill>
              <a:srgbClr val="8C3A2B"/>
            </a:solidFill>
            <a:prstDash val="solid"/>
          </a:ln>
        </p:spPr>
      </p:sp>
      <p:sp>
        <p:nvSpPr>
          <p:cNvPr id="46" name="Text 44"/>
          <p:cNvSpPr txBox="1"/>
          <p:nvPr/>
        </p:nvSpPr>
        <p:spPr>
          <a:xfrm>
            <a:off x="6675120" y="5413248"/>
            <a:ext cx="4736592" cy="384048"/>
          </a:xfrm>
          <a:prstGeom prst="rect">
            <a:avLst/>
          </a:prstGeom>
          <a:noFill/>
          <a:ln/>
        </p:spPr>
        <p:txBody>
          <a:bodyPr wrap="square" lIns="0" tIns="0" rIns="0" bIns="0" rtlCol="0" anchor="ctr"/>
          <a:lstStyle/>
          <a:p>
            <a:pPr algn="l" indent="0" marL="0">
              <a:lnSpc>
                <a:spcPts val="1350"/>
              </a:lnSpc>
              <a:buNone/>
            </a:pPr>
            <a:r>
              <a:rPr lang="en-US" sz="1100" dirty="0">
                <a:solidFill>
                  <a:srgbClr val="2B2B31"/>
                </a:solidFill>
                <a:latin typeface="Calibri" pitchFamily="34" charset="0"/>
                <a:ea typeface="Calibri" pitchFamily="34" charset="-122"/>
                <a:cs typeface="Calibri" pitchFamily="34" charset="-120"/>
              </a:rPr>
              <a:t>Depo satış alanına doğrudan açılmalı; stok tazeleme müşteri rotasını kesmemeli.</a:t>
            </a:r>
            <a:endParaRPr lang="en-US" sz="1100" dirty="0"/>
          </a:p>
        </p:txBody>
      </p:sp>
      <p:sp>
        <p:nvSpPr>
          <p:cNvPr id="47" name="Shape 45"/>
          <p:cNvSpPr/>
          <p:nvPr/>
        </p:nvSpPr>
        <p:spPr>
          <a:xfrm>
            <a:off x="813816" y="5916168"/>
            <a:ext cx="91440" cy="91440"/>
          </a:xfrm>
          <a:prstGeom prst="ellipse">
            <a:avLst/>
          </a:prstGeom>
          <a:solidFill>
            <a:srgbClr val="8C3A2B"/>
          </a:solidFill>
          <a:ln w="12700">
            <a:solidFill>
              <a:srgbClr val="8C3A2B"/>
            </a:solidFill>
            <a:prstDash val="solid"/>
          </a:ln>
        </p:spPr>
      </p:sp>
      <p:sp>
        <p:nvSpPr>
          <p:cNvPr id="48" name="Text 46"/>
          <p:cNvSpPr txBox="1"/>
          <p:nvPr/>
        </p:nvSpPr>
        <p:spPr>
          <a:xfrm>
            <a:off x="1069848" y="5833872"/>
            <a:ext cx="4736592" cy="384048"/>
          </a:xfrm>
          <a:prstGeom prst="rect">
            <a:avLst/>
          </a:prstGeom>
          <a:noFill/>
          <a:ln/>
        </p:spPr>
        <p:txBody>
          <a:bodyPr wrap="square" lIns="0" tIns="0" rIns="0" bIns="0" rtlCol="0" anchor="ctr"/>
          <a:lstStyle/>
          <a:p>
            <a:pPr algn="l" indent="0" marL="0">
              <a:lnSpc>
                <a:spcPts val="1350"/>
              </a:lnSpc>
              <a:buNone/>
            </a:pPr>
            <a:r>
              <a:rPr lang="en-US" sz="1100" dirty="0">
                <a:solidFill>
                  <a:srgbClr val="2B2B31"/>
                </a:solidFill>
                <a:latin typeface="Calibri" pitchFamily="34" charset="0"/>
                <a:ea typeface="Calibri" pitchFamily="34" charset="-122"/>
                <a:cs typeface="Calibri" pitchFamily="34" charset="-120"/>
              </a:rPr>
              <a:t>Kasadan mağazanın tamamı görülebilmeli, aynı anda arka alana ulaşılabilmeli.</a:t>
            </a:r>
            <a:endParaRPr lang="en-US" sz="1100" dirty="0"/>
          </a:p>
        </p:txBody>
      </p:sp>
      <p:sp>
        <p:nvSpPr>
          <p:cNvPr id="49" name="Shape 47"/>
          <p:cNvSpPr/>
          <p:nvPr/>
        </p:nvSpPr>
        <p:spPr>
          <a:xfrm>
            <a:off x="6419088" y="5916168"/>
            <a:ext cx="91440" cy="91440"/>
          </a:xfrm>
          <a:prstGeom prst="ellipse">
            <a:avLst/>
          </a:prstGeom>
          <a:solidFill>
            <a:srgbClr val="8C3A2B"/>
          </a:solidFill>
          <a:ln w="12700">
            <a:solidFill>
              <a:srgbClr val="8C3A2B"/>
            </a:solidFill>
            <a:prstDash val="solid"/>
          </a:ln>
        </p:spPr>
      </p:sp>
      <p:sp>
        <p:nvSpPr>
          <p:cNvPr id="50" name="Text 48"/>
          <p:cNvSpPr txBox="1"/>
          <p:nvPr/>
        </p:nvSpPr>
        <p:spPr>
          <a:xfrm>
            <a:off x="6675120" y="5833872"/>
            <a:ext cx="4736592" cy="384048"/>
          </a:xfrm>
          <a:prstGeom prst="rect">
            <a:avLst/>
          </a:prstGeom>
          <a:noFill/>
          <a:ln/>
        </p:spPr>
        <p:txBody>
          <a:bodyPr wrap="square" lIns="0" tIns="0" rIns="0" bIns="0" rtlCol="0" anchor="ctr"/>
          <a:lstStyle/>
          <a:p>
            <a:pPr algn="l" indent="0" marL="0">
              <a:lnSpc>
                <a:spcPts val="1350"/>
              </a:lnSpc>
              <a:buNone/>
            </a:pPr>
            <a:r>
              <a:rPr lang="en-US" sz="1100" dirty="0">
                <a:solidFill>
                  <a:srgbClr val="2B2B31"/>
                </a:solidFill>
                <a:latin typeface="Calibri" pitchFamily="34" charset="0"/>
                <a:ea typeface="Calibri" pitchFamily="34" charset="-122"/>
                <a:cs typeface="Calibri" pitchFamily="34" charset="-120"/>
              </a:rPr>
              <a:t>Deneme kabini teşhire yakın, ama giriş görüş hattının dışında olmalı.</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 · MAĞAZANIN İÇİ</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İki rota birbirine karışmamalı</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24</a:t>
            </a:r>
            <a:endParaRPr lang="en-US" sz="950" dirty="0"/>
          </a:p>
        </p:txBody>
      </p:sp>
      <p:sp>
        <p:nvSpPr>
          <p:cNvPr id="5" name="Text 3"/>
          <p:cNvSpPr txBox="1"/>
          <p:nvPr/>
        </p:nvSpPr>
        <p:spPr>
          <a:xfrm>
            <a:off x="777240" y="1572768"/>
            <a:ext cx="10634472" cy="54864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Mağazanın çalışması, çalışanın gününün de tasarlanmış olmasına bağlıdır. İki rota yalnızca kasada buluşur; başka bir yerde kesişirlerse mağaza her teslimatta durur.</a:t>
            </a:r>
            <a:endParaRPr lang="en-US" sz="1450" dirty="0"/>
          </a:p>
        </p:txBody>
      </p:sp>
      <p:sp>
        <p:nvSpPr>
          <p:cNvPr id="6" name="Shape 4"/>
          <p:cNvSpPr/>
          <p:nvPr/>
        </p:nvSpPr>
        <p:spPr>
          <a:xfrm>
            <a:off x="777240" y="2606040"/>
            <a:ext cx="1481328" cy="566928"/>
          </a:xfrm>
          <a:prstGeom prst="rect">
            <a:avLst/>
          </a:prstGeom>
          <a:ln w="9525">
            <a:solidFill>
              <a:srgbClr val="C9C9CF"/>
            </a:solidFill>
            <a:prstDash val="solid"/>
          </a:ln>
        </p:spPr>
      </p:sp>
      <p:sp>
        <p:nvSpPr>
          <p:cNvPr id="7" name="Text 5"/>
          <p:cNvSpPr txBox="1"/>
          <p:nvPr/>
        </p:nvSpPr>
        <p:spPr>
          <a:xfrm>
            <a:off x="813816" y="2606040"/>
            <a:ext cx="1408176" cy="566928"/>
          </a:xfrm>
          <a:prstGeom prst="rect">
            <a:avLst/>
          </a:prstGeom>
          <a:noFill/>
          <a:ln/>
        </p:spPr>
        <p:txBody>
          <a:bodyPr wrap="square" lIns="0" tIns="0" rIns="0" bIns="0" rtlCol="0" anchor="ctr"/>
          <a:lstStyle/>
          <a:p>
            <a:pPr algn="ctr" indent="0" marL="0">
              <a:lnSpc>
                <a:spcPts val="1100"/>
              </a:lnSpc>
              <a:buNone/>
            </a:pPr>
            <a:r>
              <a:rPr lang="en-US" sz="1000" dirty="0">
                <a:solidFill>
                  <a:srgbClr val="2B2B31"/>
                </a:solidFill>
                <a:latin typeface="Calibri" pitchFamily="34" charset="0"/>
                <a:ea typeface="Calibri" pitchFamily="34" charset="-122"/>
                <a:cs typeface="Calibri" pitchFamily="34" charset="-120"/>
              </a:rPr>
              <a:t>Giriş</a:t>
            </a:r>
            <a:endParaRPr lang="en-US" sz="1000" dirty="0"/>
          </a:p>
        </p:txBody>
      </p:sp>
      <p:sp>
        <p:nvSpPr>
          <p:cNvPr id="8" name="Shape 6"/>
          <p:cNvSpPr/>
          <p:nvPr/>
        </p:nvSpPr>
        <p:spPr>
          <a:xfrm>
            <a:off x="2286000" y="2889504"/>
            <a:ext cx="210312" cy="0"/>
          </a:xfrm>
          <a:prstGeom prst="line">
            <a:avLst/>
          </a:prstGeom>
          <a:noFill/>
          <a:ln w="19050">
            <a:solidFill>
              <a:srgbClr val="8C3A2B"/>
            </a:solidFill>
            <a:prstDash val="solid"/>
            <a:tailEnd type="triangle"/>
          </a:ln>
        </p:spPr>
      </p:sp>
      <p:sp>
        <p:nvSpPr>
          <p:cNvPr id="9" name="Shape 7"/>
          <p:cNvSpPr/>
          <p:nvPr/>
        </p:nvSpPr>
        <p:spPr>
          <a:xfrm>
            <a:off x="2523744" y="2606040"/>
            <a:ext cx="1481328" cy="566928"/>
          </a:xfrm>
          <a:prstGeom prst="rect">
            <a:avLst/>
          </a:prstGeom>
          <a:ln w="9525">
            <a:solidFill>
              <a:srgbClr val="C9C9CF"/>
            </a:solidFill>
            <a:prstDash val="solid"/>
          </a:ln>
        </p:spPr>
      </p:sp>
      <p:sp>
        <p:nvSpPr>
          <p:cNvPr id="10" name="Text 8"/>
          <p:cNvSpPr txBox="1"/>
          <p:nvPr/>
        </p:nvSpPr>
        <p:spPr>
          <a:xfrm>
            <a:off x="2560320" y="2606040"/>
            <a:ext cx="1408176" cy="566928"/>
          </a:xfrm>
          <a:prstGeom prst="rect">
            <a:avLst/>
          </a:prstGeom>
          <a:noFill/>
          <a:ln/>
        </p:spPr>
        <p:txBody>
          <a:bodyPr wrap="square" lIns="0" tIns="0" rIns="0" bIns="0" rtlCol="0" anchor="ctr"/>
          <a:lstStyle/>
          <a:p>
            <a:pPr algn="ctr" indent="0" marL="0">
              <a:lnSpc>
                <a:spcPts val="1100"/>
              </a:lnSpc>
              <a:buNone/>
            </a:pPr>
            <a:r>
              <a:rPr lang="en-US" sz="1000" dirty="0">
                <a:solidFill>
                  <a:srgbClr val="2B2B31"/>
                </a:solidFill>
                <a:latin typeface="Calibri" pitchFamily="34" charset="0"/>
                <a:ea typeface="Calibri" pitchFamily="34" charset="-122"/>
                <a:cs typeface="Calibri" pitchFamily="34" charset="-120"/>
              </a:rPr>
              <a:t>Geçiş</a:t>
            </a:r>
            <a:endParaRPr lang="en-US" sz="1000" dirty="0"/>
          </a:p>
        </p:txBody>
      </p:sp>
      <p:sp>
        <p:nvSpPr>
          <p:cNvPr id="11" name="Shape 9"/>
          <p:cNvSpPr/>
          <p:nvPr/>
        </p:nvSpPr>
        <p:spPr>
          <a:xfrm>
            <a:off x="4032504" y="2889504"/>
            <a:ext cx="210312" cy="0"/>
          </a:xfrm>
          <a:prstGeom prst="line">
            <a:avLst/>
          </a:prstGeom>
          <a:noFill/>
          <a:ln w="19050">
            <a:solidFill>
              <a:srgbClr val="8C3A2B"/>
            </a:solidFill>
            <a:prstDash val="solid"/>
            <a:tailEnd type="triangle"/>
          </a:ln>
        </p:spPr>
      </p:sp>
      <p:sp>
        <p:nvSpPr>
          <p:cNvPr id="12" name="Shape 10"/>
          <p:cNvSpPr/>
          <p:nvPr/>
        </p:nvSpPr>
        <p:spPr>
          <a:xfrm>
            <a:off x="4270248" y="2606040"/>
            <a:ext cx="1481328" cy="566928"/>
          </a:xfrm>
          <a:prstGeom prst="rect">
            <a:avLst/>
          </a:prstGeom>
          <a:ln w="9525">
            <a:solidFill>
              <a:srgbClr val="C9C9CF"/>
            </a:solidFill>
            <a:prstDash val="solid"/>
          </a:ln>
        </p:spPr>
      </p:sp>
      <p:sp>
        <p:nvSpPr>
          <p:cNvPr id="13" name="Text 11"/>
          <p:cNvSpPr txBox="1"/>
          <p:nvPr/>
        </p:nvSpPr>
        <p:spPr>
          <a:xfrm>
            <a:off x="4306824" y="2606040"/>
            <a:ext cx="1408176" cy="566928"/>
          </a:xfrm>
          <a:prstGeom prst="rect">
            <a:avLst/>
          </a:prstGeom>
          <a:noFill/>
          <a:ln/>
        </p:spPr>
        <p:txBody>
          <a:bodyPr wrap="square" lIns="0" tIns="0" rIns="0" bIns="0" rtlCol="0" anchor="ctr"/>
          <a:lstStyle/>
          <a:p>
            <a:pPr algn="ctr" indent="0" marL="0">
              <a:lnSpc>
                <a:spcPts val="1100"/>
              </a:lnSpc>
              <a:buNone/>
            </a:pPr>
            <a:r>
              <a:rPr lang="en-US" sz="1000" dirty="0">
                <a:solidFill>
                  <a:srgbClr val="2B2B31"/>
                </a:solidFill>
                <a:latin typeface="Calibri" pitchFamily="34" charset="0"/>
                <a:ea typeface="Calibri" pitchFamily="34" charset="-122"/>
                <a:cs typeface="Calibri" pitchFamily="34" charset="-120"/>
              </a:rPr>
              <a:t>Teşhir</a:t>
            </a:r>
            <a:endParaRPr lang="en-US" sz="1000" dirty="0"/>
          </a:p>
        </p:txBody>
      </p:sp>
      <p:sp>
        <p:nvSpPr>
          <p:cNvPr id="14" name="Shape 12"/>
          <p:cNvSpPr/>
          <p:nvPr/>
        </p:nvSpPr>
        <p:spPr>
          <a:xfrm>
            <a:off x="5779008" y="2889504"/>
            <a:ext cx="210312" cy="0"/>
          </a:xfrm>
          <a:prstGeom prst="line">
            <a:avLst/>
          </a:prstGeom>
          <a:noFill/>
          <a:ln w="19050">
            <a:solidFill>
              <a:srgbClr val="8C3A2B"/>
            </a:solidFill>
            <a:prstDash val="solid"/>
            <a:tailEnd type="triangle"/>
          </a:ln>
        </p:spPr>
      </p:sp>
      <p:sp>
        <p:nvSpPr>
          <p:cNvPr id="15" name="Shape 13"/>
          <p:cNvSpPr/>
          <p:nvPr/>
        </p:nvSpPr>
        <p:spPr>
          <a:xfrm>
            <a:off x="6016752" y="2606040"/>
            <a:ext cx="1481328" cy="566928"/>
          </a:xfrm>
          <a:prstGeom prst="rect">
            <a:avLst/>
          </a:prstGeom>
          <a:ln w="9525">
            <a:solidFill>
              <a:srgbClr val="C9C9CF"/>
            </a:solidFill>
            <a:prstDash val="solid"/>
          </a:ln>
        </p:spPr>
      </p:sp>
      <p:sp>
        <p:nvSpPr>
          <p:cNvPr id="16" name="Text 14"/>
          <p:cNvSpPr txBox="1"/>
          <p:nvPr/>
        </p:nvSpPr>
        <p:spPr>
          <a:xfrm>
            <a:off x="6053328" y="2606040"/>
            <a:ext cx="1408176" cy="566928"/>
          </a:xfrm>
          <a:prstGeom prst="rect">
            <a:avLst/>
          </a:prstGeom>
          <a:noFill/>
          <a:ln/>
        </p:spPr>
        <p:txBody>
          <a:bodyPr wrap="square" lIns="0" tIns="0" rIns="0" bIns="0" rtlCol="0" anchor="ctr"/>
          <a:lstStyle/>
          <a:p>
            <a:pPr algn="ctr" indent="0" marL="0">
              <a:lnSpc>
                <a:spcPts val="1100"/>
              </a:lnSpc>
              <a:buNone/>
            </a:pPr>
            <a:r>
              <a:rPr lang="en-US" sz="1000" dirty="0">
                <a:solidFill>
                  <a:srgbClr val="2B2B31"/>
                </a:solidFill>
                <a:latin typeface="Calibri" pitchFamily="34" charset="0"/>
                <a:ea typeface="Calibri" pitchFamily="34" charset="-122"/>
                <a:cs typeface="Calibri" pitchFamily="34" charset="-120"/>
              </a:rPr>
              <a:t>Deneme</a:t>
            </a:r>
            <a:endParaRPr lang="en-US" sz="1000" dirty="0"/>
          </a:p>
        </p:txBody>
      </p:sp>
      <p:sp>
        <p:nvSpPr>
          <p:cNvPr id="17" name="Shape 15"/>
          <p:cNvSpPr/>
          <p:nvPr/>
        </p:nvSpPr>
        <p:spPr>
          <a:xfrm>
            <a:off x="7525512" y="2889504"/>
            <a:ext cx="210312" cy="0"/>
          </a:xfrm>
          <a:prstGeom prst="line">
            <a:avLst/>
          </a:prstGeom>
          <a:noFill/>
          <a:ln w="19050">
            <a:solidFill>
              <a:srgbClr val="8C3A2B"/>
            </a:solidFill>
            <a:prstDash val="solid"/>
            <a:tailEnd type="triangle"/>
          </a:ln>
        </p:spPr>
      </p:sp>
      <p:sp>
        <p:nvSpPr>
          <p:cNvPr id="18" name="Shape 16"/>
          <p:cNvSpPr/>
          <p:nvPr/>
        </p:nvSpPr>
        <p:spPr>
          <a:xfrm>
            <a:off x="7763256" y="2606040"/>
            <a:ext cx="1481328" cy="566928"/>
          </a:xfrm>
          <a:prstGeom prst="rect">
            <a:avLst/>
          </a:prstGeom>
          <a:solidFill>
            <a:srgbClr val="F6EAE6"/>
          </a:solidFill>
          <a:ln w="15875">
            <a:solidFill>
              <a:srgbClr val="8C3A2B"/>
            </a:solidFill>
            <a:prstDash val="solid"/>
          </a:ln>
        </p:spPr>
      </p:sp>
      <p:sp>
        <p:nvSpPr>
          <p:cNvPr id="19" name="Text 17"/>
          <p:cNvSpPr txBox="1"/>
          <p:nvPr/>
        </p:nvSpPr>
        <p:spPr>
          <a:xfrm>
            <a:off x="7799832" y="2606040"/>
            <a:ext cx="1408176" cy="566928"/>
          </a:xfrm>
          <a:prstGeom prst="rect">
            <a:avLst/>
          </a:prstGeom>
          <a:noFill/>
          <a:ln/>
        </p:spPr>
        <p:txBody>
          <a:bodyPr wrap="square" lIns="0" tIns="0" rIns="0" bIns="0" rtlCol="0" anchor="ctr"/>
          <a:lstStyle/>
          <a:p>
            <a:pPr algn="ctr" indent="0" marL="0">
              <a:lnSpc>
                <a:spcPts val="1100"/>
              </a:lnSpc>
              <a:buNone/>
            </a:pPr>
            <a:r>
              <a:rPr lang="en-US" sz="1000" dirty="0">
                <a:solidFill>
                  <a:srgbClr val="8C3A2B"/>
                </a:solidFill>
                <a:latin typeface="Calibri" pitchFamily="34" charset="0"/>
                <a:ea typeface="Calibri" pitchFamily="34" charset="-122"/>
                <a:cs typeface="Calibri" pitchFamily="34" charset="-120"/>
              </a:rPr>
              <a:t>Kasa</a:t>
            </a:r>
            <a:endParaRPr lang="en-US" sz="1000" dirty="0"/>
          </a:p>
        </p:txBody>
      </p:sp>
      <p:sp>
        <p:nvSpPr>
          <p:cNvPr id="20" name="Shape 18"/>
          <p:cNvSpPr/>
          <p:nvPr/>
        </p:nvSpPr>
        <p:spPr>
          <a:xfrm>
            <a:off x="9272016" y="2889504"/>
            <a:ext cx="210312" cy="0"/>
          </a:xfrm>
          <a:prstGeom prst="line">
            <a:avLst/>
          </a:prstGeom>
          <a:noFill/>
          <a:ln w="19050">
            <a:solidFill>
              <a:srgbClr val="8C3A2B"/>
            </a:solidFill>
            <a:prstDash val="solid"/>
            <a:tailEnd type="triangle"/>
          </a:ln>
        </p:spPr>
      </p:sp>
      <p:sp>
        <p:nvSpPr>
          <p:cNvPr id="21" name="Shape 19"/>
          <p:cNvSpPr/>
          <p:nvPr/>
        </p:nvSpPr>
        <p:spPr>
          <a:xfrm>
            <a:off x="9509760" y="2606040"/>
            <a:ext cx="1481328" cy="566928"/>
          </a:xfrm>
          <a:prstGeom prst="rect">
            <a:avLst/>
          </a:prstGeom>
          <a:ln w="9525">
            <a:solidFill>
              <a:srgbClr val="C9C9CF"/>
            </a:solidFill>
            <a:prstDash val="solid"/>
          </a:ln>
        </p:spPr>
      </p:sp>
      <p:sp>
        <p:nvSpPr>
          <p:cNvPr id="22" name="Text 20"/>
          <p:cNvSpPr txBox="1"/>
          <p:nvPr/>
        </p:nvSpPr>
        <p:spPr>
          <a:xfrm>
            <a:off x="9546336" y="2606040"/>
            <a:ext cx="1408176" cy="566928"/>
          </a:xfrm>
          <a:prstGeom prst="rect">
            <a:avLst/>
          </a:prstGeom>
          <a:noFill/>
          <a:ln/>
        </p:spPr>
        <p:txBody>
          <a:bodyPr wrap="square" lIns="0" tIns="0" rIns="0" bIns="0" rtlCol="0" anchor="ctr"/>
          <a:lstStyle/>
          <a:p>
            <a:pPr algn="ctr" indent="0" marL="0">
              <a:lnSpc>
                <a:spcPts val="1100"/>
              </a:lnSpc>
              <a:buNone/>
            </a:pPr>
            <a:r>
              <a:rPr lang="en-US" sz="1000" dirty="0">
                <a:solidFill>
                  <a:srgbClr val="2B2B31"/>
                </a:solidFill>
                <a:latin typeface="Calibri" pitchFamily="34" charset="0"/>
                <a:ea typeface="Calibri" pitchFamily="34" charset="-122"/>
                <a:cs typeface="Calibri" pitchFamily="34" charset="-120"/>
              </a:rPr>
              <a:t>Çıkış</a:t>
            </a:r>
            <a:endParaRPr lang="en-US" sz="1000" dirty="0"/>
          </a:p>
        </p:txBody>
      </p:sp>
      <p:sp>
        <p:nvSpPr>
          <p:cNvPr id="23" name="Shape 21"/>
          <p:cNvSpPr/>
          <p:nvPr/>
        </p:nvSpPr>
        <p:spPr>
          <a:xfrm>
            <a:off x="777240" y="4709160"/>
            <a:ext cx="1481328" cy="566928"/>
          </a:xfrm>
          <a:prstGeom prst="rect">
            <a:avLst/>
          </a:prstGeom>
          <a:solidFill>
            <a:srgbClr val="EFEFEC"/>
          </a:solidFill>
          <a:ln w="9525">
            <a:solidFill>
              <a:srgbClr val="7A7A82"/>
            </a:solidFill>
            <a:prstDash val="solid"/>
          </a:ln>
        </p:spPr>
      </p:sp>
      <p:sp>
        <p:nvSpPr>
          <p:cNvPr id="24" name="Text 22"/>
          <p:cNvSpPr txBox="1"/>
          <p:nvPr/>
        </p:nvSpPr>
        <p:spPr>
          <a:xfrm>
            <a:off x="813816" y="4709160"/>
            <a:ext cx="1408176" cy="566928"/>
          </a:xfrm>
          <a:prstGeom prst="rect">
            <a:avLst/>
          </a:prstGeom>
          <a:noFill/>
          <a:ln/>
        </p:spPr>
        <p:txBody>
          <a:bodyPr wrap="square" lIns="0" tIns="0" rIns="0" bIns="0" rtlCol="0" anchor="ctr"/>
          <a:lstStyle/>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Mal kabul</a:t>
            </a:r>
            <a:endParaRPr lang="en-US" sz="950" dirty="0"/>
          </a:p>
        </p:txBody>
      </p:sp>
      <p:sp>
        <p:nvSpPr>
          <p:cNvPr id="25" name="Shape 23"/>
          <p:cNvSpPr/>
          <p:nvPr/>
        </p:nvSpPr>
        <p:spPr>
          <a:xfrm>
            <a:off x="2286000" y="4992624"/>
            <a:ext cx="210312" cy="0"/>
          </a:xfrm>
          <a:prstGeom prst="line">
            <a:avLst/>
          </a:prstGeom>
          <a:noFill/>
          <a:ln w="15875">
            <a:solidFill>
              <a:srgbClr val="7A7A82"/>
            </a:solidFill>
            <a:prstDash val="dash"/>
            <a:tailEnd type="triangle"/>
          </a:ln>
        </p:spPr>
      </p:sp>
      <p:sp>
        <p:nvSpPr>
          <p:cNvPr id="26" name="Shape 24"/>
          <p:cNvSpPr/>
          <p:nvPr/>
        </p:nvSpPr>
        <p:spPr>
          <a:xfrm>
            <a:off x="2523744" y="4709160"/>
            <a:ext cx="1481328" cy="566928"/>
          </a:xfrm>
          <a:prstGeom prst="rect">
            <a:avLst/>
          </a:prstGeom>
          <a:solidFill>
            <a:srgbClr val="EFEFEC"/>
          </a:solidFill>
          <a:ln w="9525">
            <a:solidFill>
              <a:srgbClr val="7A7A82"/>
            </a:solidFill>
            <a:prstDash val="solid"/>
          </a:ln>
        </p:spPr>
      </p:sp>
      <p:sp>
        <p:nvSpPr>
          <p:cNvPr id="27" name="Text 25"/>
          <p:cNvSpPr txBox="1"/>
          <p:nvPr/>
        </p:nvSpPr>
        <p:spPr>
          <a:xfrm>
            <a:off x="2560320" y="4709160"/>
            <a:ext cx="1408176" cy="566928"/>
          </a:xfrm>
          <a:prstGeom prst="rect">
            <a:avLst/>
          </a:prstGeom>
          <a:noFill/>
          <a:ln/>
        </p:spPr>
        <p:txBody>
          <a:bodyPr wrap="square" lIns="0" tIns="0" rIns="0" bIns="0" rtlCol="0" anchor="ctr"/>
          <a:lstStyle/>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Depo</a:t>
            </a:r>
            <a:endParaRPr lang="en-US" sz="950" dirty="0"/>
          </a:p>
        </p:txBody>
      </p:sp>
      <p:sp>
        <p:nvSpPr>
          <p:cNvPr id="28" name="Shape 26"/>
          <p:cNvSpPr/>
          <p:nvPr/>
        </p:nvSpPr>
        <p:spPr>
          <a:xfrm>
            <a:off x="4032504" y="4992624"/>
            <a:ext cx="210312" cy="0"/>
          </a:xfrm>
          <a:prstGeom prst="line">
            <a:avLst/>
          </a:prstGeom>
          <a:noFill/>
          <a:ln w="15875">
            <a:solidFill>
              <a:srgbClr val="7A7A82"/>
            </a:solidFill>
            <a:prstDash val="dash"/>
            <a:tailEnd type="triangle"/>
          </a:ln>
        </p:spPr>
      </p:sp>
      <p:sp>
        <p:nvSpPr>
          <p:cNvPr id="29" name="Shape 27"/>
          <p:cNvSpPr/>
          <p:nvPr/>
        </p:nvSpPr>
        <p:spPr>
          <a:xfrm>
            <a:off x="4270248" y="4709160"/>
            <a:ext cx="1481328" cy="566928"/>
          </a:xfrm>
          <a:prstGeom prst="rect">
            <a:avLst/>
          </a:prstGeom>
          <a:solidFill>
            <a:srgbClr val="EFEFEC"/>
          </a:solidFill>
          <a:ln w="9525">
            <a:solidFill>
              <a:srgbClr val="7A7A82"/>
            </a:solidFill>
            <a:prstDash val="solid"/>
          </a:ln>
        </p:spPr>
      </p:sp>
      <p:sp>
        <p:nvSpPr>
          <p:cNvPr id="30" name="Text 28"/>
          <p:cNvSpPr txBox="1"/>
          <p:nvPr/>
        </p:nvSpPr>
        <p:spPr>
          <a:xfrm>
            <a:off x="4306824" y="4709160"/>
            <a:ext cx="1408176" cy="566928"/>
          </a:xfrm>
          <a:prstGeom prst="rect">
            <a:avLst/>
          </a:prstGeom>
          <a:noFill/>
          <a:ln/>
        </p:spPr>
        <p:txBody>
          <a:bodyPr wrap="square" lIns="0" tIns="0" rIns="0" bIns="0" rtlCol="0" anchor="ctr"/>
          <a:lstStyle/>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Stok</a:t>
            </a:r>
            <a:endParaRPr lang="en-US" sz="950" dirty="0"/>
          </a:p>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tazeleme</a:t>
            </a:r>
            <a:endParaRPr lang="en-US" sz="950" dirty="0"/>
          </a:p>
        </p:txBody>
      </p:sp>
      <p:sp>
        <p:nvSpPr>
          <p:cNvPr id="31" name="Shape 29"/>
          <p:cNvSpPr/>
          <p:nvPr/>
        </p:nvSpPr>
        <p:spPr>
          <a:xfrm>
            <a:off x="5779008" y="4992624"/>
            <a:ext cx="210312" cy="0"/>
          </a:xfrm>
          <a:prstGeom prst="line">
            <a:avLst/>
          </a:prstGeom>
          <a:noFill/>
          <a:ln w="15875">
            <a:solidFill>
              <a:srgbClr val="7A7A82"/>
            </a:solidFill>
            <a:prstDash val="dash"/>
            <a:tailEnd type="triangle"/>
          </a:ln>
        </p:spPr>
      </p:sp>
      <p:sp>
        <p:nvSpPr>
          <p:cNvPr id="32" name="Shape 30"/>
          <p:cNvSpPr/>
          <p:nvPr/>
        </p:nvSpPr>
        <p:spPr>
          <a:xfrm>
            <a:off x="6016752" y="4709160"/>
            <a:ext cx="1481328" cy="566928"/>
          </a:xfrm>
          <a:prstGeom prst="rect">
            <a:avLst/>
          </a:prstGeom>
          <a:solidFill>
            <a:srgbClr val="EFEFEC"/>
          </a:solidFill>
          <a:ln w="9525">
            <a:solidFill>
              <a:srgbClr val="7A7A82"/>
            </a:solidFill>
            <a:prstDash val="solid"/>
          </a:ln>
        </p:spPr>
      </p:sp>
      <p:sp>
        <p:nvSpPr>
          <p:cNvPr id="33" name="Text 31"/>
          <p:cNvSpPr txBox="1"/>
          <p:nvPr/>
        </p:nvSpPr>
        <p:spPr>
          <a:xfrm>
            <a:off x="6053328" y="4709160"/>
            <a:ext cx="1408176" cy="566928"/>
          </a:xfrm>
          <a:prstGeom prst="rect">
            <a:avLst/>
          </a:prstGeom>
          <a:noFill/>
          <a:ln/>
        </p:spPr>
        <p:txBody>
          <a:bodyPr wrap="square" lIns="0" tIns="0" rIns="0" bIns="0" rtlCol="0" anchor="ctr"/>
          <a:lstStyle/>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Danışma</a:t>
            </a:r>
            <a:endParaRPr lang="en-US" sz="950" dirty="0"/>
          </a:p>
        </p:txBody>
      </p:sp>
      <p:sp>
        <p:nvSpPr>
          <p:cNvPr id="34" name="Shape 32"/>
          <p:cNvSpPr/>
          <p:nvPr/>
        </p:nvSpPr>
        <p:spPr>
          <a:xfrm>
            <a:off x="7525512" y="4992624"/>
            <a:ext cx="210312" cy="0"/>
          </a:xfrm>
          <a:prstGeom prst="line">
            <a:avLst/>
          </a:prstGeom>
          <a:noFill/>
          <a:ln w="15875">
            <a:solidFill>
              <a:srgbClr val="7A7A82"/>
            </a:solidFill>
            <a:prstDash val="dash"/>
            <a:tailEnd type="triangle"/>
          </a:ln>
        </p:spPr>
      </p:sp>
      <p:sp>
        <p:nvSpPr>
          <p:cNvPr id="35" name="Shape 33"/>
          <p:cNvSpPr/>
          <p:nvPr/>
        </p:nvSpPr>
        <p:spPr>
          <a:xfrm>
            <a:off x="7763256" y="4709160"/>
            <a:ext cx="1481328" cy="566928"/>
          </a:xfrm>
          <a:prstGeom prst="rect">
            <a:avLst/>
          </a:prstGeom>
          <a:solidFill>
            <a:srgbClr val="F6EAE6"/>
          </a:solidFill>
          <a:ln w="15875">
            <a:solidFill>
              <a:srgbClr val="8C3A2B"/>
            </a:solidFill>
            <a:prstDash val="solid"/>
          </a:ln>
        </p:spPr>
      </p:sp>
      <p:sp>
        <p:nvSpPr>
          <p:cNvPr id="36" name="Text 34"/>
          <p:cNvSpPr txBox="1"/>
          <p:nvPr/>
        </p:nvSpPr>
        <p:spPr>
          <a:xfrm>
            <a:off x="7799832" y="4709160"/>
            <a:ext cx="1408176" cy="566928"/>
          </a:xfrm>
          <a:prstGeom prst="rect">
            <a:avLst/>
          </a:prstGeom>
          <a:noFill/>
          <a:ln/>
        </p:spPr>
        <p:txBody>
          <a:bodyPr wrap="square" lIns="0" tIns="0" rIns="0" bIns="0" rtlCol="0" anchor="ctr"/>
          <a:lstStyle/>
          <a:p>
            <a:pPr algn="ctr" indent="0" marL="0">
              <a:lnSpc>
                <a:spcPts val="1100"/>
              </a:lnSpc>
              <a:buNone/>
            </a:pPr>
            <a:r>
              <a:rPr lang="en-US" sz="950" dirty="0">
                <a:solidFill>
                  <a:srgbClr val="8C3A2B"/>
                </a:solidFill>
                <a:latin typeface="Calibri" pitchFamily="34" charset="0"/>
                <a:ea typeface="Calibri" pitchFamily="34" charset="-122"/>
                <a:cs typeface="Calibri" pitchFamily="34" charset="-120"/>
              </a:rPr>
              <a:t>Kasa</a:t>
            </a:r>
            <a:endParaRPr lang="en-US" sz="950" dirty="0"/>
          </a:p>
        </p:txBody>
      </p:sp>
      <p:sp>
        <p:nvSpPr>
          <p:cNvPr id="37" name="Shape 35"/>
          <p:cNvSpPr/>
          <p:nvPr/>
        </p:nvSpPr>
        <p:spPr>
          <a:xfrm>
            <a:off x="9272016" y="4992624"/>
            <a:ext cx="210312" cy="0"/>
          </a:xfrm>
          <a:prstGeom prst="line">
            <a:avLst/>
          </a:prstGeom>
          <a:noFill/>
          <a:ln w="15875">
            <a:solidFill>
              <a:srgbClr val="7A7A82"/>
            </a:solidFill>
            <a:prstDash val="dash"/>
            <a:tailEnd type="triangle"/>
          </a:ln>
        </p:spPr>
      </p:sp>
      <p:sp>
        <p:nvSpPr>
          <p:cNvPr id="38" name="Shape 36"/>
          <p:cNvSpPr/>
          <p:nvPr/>
        </p:nvSpPr>
        <p:spPr>
          <a:xfrm>
            <a:off x="9509760" y="4709160"/>
            <a:ext cx="1481328" cy="566928"/>
          </a:xfrm>
          <a:prstGeom prst="rect">
            <a:avLst/>
          </a:prstGeom>
          <a:solidFill>
            <a:srgbClr val="EFEFEC"/>
          </a:solidFill>
          <a:ln w="9525">
            <a:solidFill>
              <a:srgbClr val="7A7A82"/>
            </a:solidFill>
            <a:prstDash val="solid"/>
          </a:ln>
        </p:spPr>
      </p:sp>
      <p:sp>
        <p:nvSpPr>
          <p:cNvPr id="39" name="Text 37"/>
          <p:cNvSpPr txBox="1"/>
          <p:nvPr/>
        </p:nvSpPr>
        <p:spPr>
          <a:xfrm>
            <a:off x="9546336" y="4709160"/>
            <a:ext cx="1408176" cy="566928"/>
          </a:xfrm>
          <a:prstGeom prst="rect">
            <a:avLst/>
          </a:prstGeom>
          <a:noFill/>
          <a:ln/>
        </p:spPr>
        <p:txBody>
          <a:bodyPr wrap="square" lIns="0" tIns="0" rIns="0" bIns="0" rtlCol="0" anchor="ctr"/>
          <a:lstStyle/>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Kapanış</a:t>
            </a:r>
            <a:endParaRPr lang="en-US" sz="950" dirty="0"/>
          </a:p>
        </p:txBody>
      </p:sp>
      <p:sp>
        <p:nvSpPr>
          <p:cNvPr id="40" name="Text 38"/>
          <p:cNvSpPr txBox="1"/>
          <p:nvPr/>
        </p:nvSpPr>
        <p:spPr>
          <a:xfrm>
            <a:off x="777240" y="2331720"/>
            <a:ext cx="5486400" cy="274320"/>
          </a:xfrm>
          <a:prstGeom prst="rect">
            <a:avLst/>
          </a:prstGeom>
          <a:noFill/>
          <a:ln/>
        </p:spPr>
        <p:txBody>
          <a:bodyPr wrap="square" lIns="0" tIns="0" rIns="0" bIns="0" rtlCol="0" anchor="ctr"/>
          <a:lstStyle/>
          <a:p>
            <a:pPr algn="l" indent="0" marL="0">
              <a:lnSpc>
                <a:spcPts val="1200"/>
              </a:lnSpc>
              <a:buNone/>
            </a:pPr>
            <a:r>
              <a:rPr lang="en-US" sz="950" b="1" dirty="0">
                <a:solidFill>
                  <a:srgbClr val="8C3A2B"/>
                </a:solidFill>
                <a:latin typeface="Calibri" pitchFamily="34" charset="0"/>
                <a:ea typeface="Calibri" pitchFamily="34" charset="-122"/>
                <a:cs typeface="Calibri" pitchFamily="34" charset="-120"/>
              </a:rPr>
              <a:t>MÜŞTERİ ROTASI</a:t>
            </a:r>
            <a:endParaRPr lang="en-US" sz="950" dirty="0"/>
          </a:p>
        </p:txBody>
      </p:sp>
      <p:sp>
        <p:nvSpPr>
          <p:cNvPr id="41" name="Text 39"/>
          <p:cNvSpPr txBox="1"/>
          <p:nvPr/>
        </p:nvSpPr>
        <p:spPr>
          <a:xfrm>
            <a:off x="777240" y="4434840"/>
            <a:ext cx="5486400" cy="274320"/>
          </a:xfrm>
          <a:prstGeom prst="rect">
            <a:avLst/>
          </a:prstGeom>
          <a:noFill/>
          <a:ln/>
        </p:spPr>
        <p:txBody>
          <a:bodyPr wrap="square" lIns="0" tIns="0" rIns="0" bIns="0" rtlCol="0" anchor="ctr"/>
          <a:lstStyle/>
          <a:p>
            <a:pPr algn="l" indent="0" marL="0">
              <a:lnSpc>
                <a:spcPts val="1200"/>
              </a:lnSpc>
              <a:buNone/>
            </a:pPr>
            <a:r>
              <a:rPr lang="en-US" sz="950" b="1" dirty="0">
                <a:solidFill>
                  <a:srgbClr val="7A7A82"/>
                </a:solidFill>
                <a:latin typeface="Calibri" pitchFamily="34" charset="0"/>
                <a:ea typeface="Calibri" pitchFamily="34" charset="-122"/>
                <a:cs typeface="Calibri" pitchFamily="34" charset="-120"/>
              </a:rPr>
              <a:t>PERSONEL ROTASI</a:t>
            </a:r>
            <a:endParaRPr lang="en-US" sz="950" dirty="0"/>
          </a:p>
        </p:txBody>
      </p:sp>
      <p:sp>
        <p:nvSpPr>
          <p:cNvPr id="42" name="Shape 40"/>
          <p:cNvSpPr/>
          <p:nvPr/>
        </p:nvSpPr>
        <p:spPr>
          <a:xfrm>
            <a:off x="8503920" y="3172968"/>
            <a:ext cx="0" cy="1536192"/>
          </a:xfrm>
          <a:prstGeom prst="line">
            <a:avLst/>
          </a:prstGeom>
          <a:noFill/>
          <a:ln w="19050">
            <a:solidFill>
              <a:srgbClr val="8C3A2B"/>
            </a:solidFill>
            <a:prstDash val="solid"/>
          </a:ln>
        </p:spPr>
      </p:sp>
      <p:sp>
        <p:nvSpPr>
          <p:cNvPr id="43" name="Text 41"/>
          <p:cNvSpPr txBox="1"/>
          <p:nvPr/>
        </p:nvSpPr>
        <p:spPr>
          <a:xfrm>
            <a:off x="8732520" y="3456432"/>
            <a:ext cx="2606040" cy="457200"/>
          </a:xfrm>
          <a:prstGeom prst="rect">
            <a:avLst/>
          </a:prstGeom>
          <a:noFill/>
          <a:ln/>
        </p:spPr>
        <p:txBody>
          <a:bodyPr wrap="square" lIns="0" tIns="0" rIns="0" bIns="0" rtlCol="0" anchor="ctr"/>
          <a:lstStyle/>
          <a:p>
            <a:pPr algn="l" indent="0" marL="0">
              <a:lnSpc>
                <a:spcPts val="1400"/>
              </a:lnSpc>
              <a:buNone/>
            </a:pPr>
            <a:r>
              <a:rPr lang="en-US" sz="1100" b="1" dirty="0">
                <a:solidFill>
                  <a:srgbClr val="8C3A2B"/>
                </a:solidFill>
                <a:latin typeface="Calibri" pitchFamily="34" charset="0"/>
                <a:ea typeface="Calibri" pitchFamily="34" charset="-122"/>
                <a:cs typeface="Calibri" pitchFamily="34" charset="-120"/>
              </a:rPr>
              <a:t>Buluşmaları gereken</a:t>
            </a:r>
            <a:endParaRPr lang="en-US" sz="1100" dirty="0"/>
          </a:p>
          <a:p>
            <a:pPr algn="l" indent="0" marL="0">
              <a:lnSpc>
                <a:spcPts val="1400"/>
              </a:lnSpc>
              <a:buNone/>
            </a:pPr>
            <a:r>
              <a:rPr lang="en-US" sz="1100" b="1" dirty="0">
                <a:solidFill>
                  <a:srgbClr val="8C3A2B"/>
                </a:solidFill>
                <a:latin typeface="Calibri" pitchFamily="34" charset="0"/>
                <a:ea typeface="Calibri" pitchFamily="34" charset="-122"/>
                <a:cs typeface="Calibri" pitchFamily="34" charset="-120"/>
              </a:rPr>
              <a:t>tek nokta</a:t>
            </a:r>
            <a:endParaRPr lang="en-US" sz="1100" dirty="0"/>
          </a:p>
        </p:txBody>
      </p:sp>
      <p:sp>
        <p:nvSpPr>
          <p:cNvPr id="44" name="Text 42"/>
          <p:cNvSpPr txBox="1"/>
          <p:nvPr/>
        </p:nvSpPr>
        <p:spPr>
          <a:xfrm>
            <a:off x="8732520" y="3950208"/>
            <a:ext cx="2651760" cy="457200"/>
          </a:xfrm>
          <a:prstGeom prst="rect">
            <a:avLst/>
          </a:prstGeom>
          <a:noFill/>
          <a:ln/>
        </p:spPr>
        <p:txBody>
          <a:bodyPr wrap="square" lIns="0" tIns="0" rIns="0" bIns="0" rtlCol="0" anchor="ctr"/>
          <a:lstStyle/>
          <a:p>
            <a:pPr algn="l" indent="0" marL="0">
              <a:lnSpc>
                <a:spcPts val="1350"/>
              </a:lnSpc>
              <a:buNone/>
            </a:pPr>
            <a:r>
              <a:rPr lang="en-US" sz="1050" dirty="0">
                <a:solidFill>
                  <a:srgbClr val="7A7A82"/>
                </a:solidFill>
                <a:latin typeface="Calibri" pitchFamily="34" charset="0"/>
                <a:ea typeface="Calibri" pitchFamily="34" charset="-122"/>
                <a:cs typeface="Calibri" pitchFamily="34" charset="-120"/>
              </a:rPr>
              <a:t>Kasa hem satışı bitirir hem arka alana açılır.</a:t>
            </a:r>
            <a:endParaRPr lang="en-US" sz="1050" dirty="0"/>
          </a:p>
        </p:txBody>
      </p:sp>
      <p:sp>
        <p:nvSpPr>
          <p:cNvPr id="45" name="Text 43"/>
          <p:cNvSpPr txBox="1"/>
          <p:nvPr/>
        </p:nvSpPr>
        <p:spPr>
          <a:xfrm>
            <a:off x="1051560" y="3639312"/>
            <a:ext cx="384048" cy="384048"/>
          </a:xfrm>
          <a:prstGeom prst="rect">
            <a:avLst/>
          </a:prstGeom>
          <a:noFill/>
          <a:ln/>
        </p:spPr>
        <p:txBody>
          <a:bodyPr wrap="square" lIns="0" tIns="0" rIns="0" bIns="0" rtlCol="0" anchor="ctr"/>
          <a:lstStyle/>
          <a:p>
            <a:pPr algn="ctr" indent="0" marL="0">
              <a:buNone/>
            </a:pPr>
            <a:r>
              <a:rPr lang="en-US" sz="2000" b="1" dirty="0">
                <a:solidFill>
                  <a:srgbClr val="8C3A2B"/>
                </a:solidFill>
                <a:latin typeface="Calibri" pitchFamily="34" charset="0"/>
                <a:ea typeface="Calibri" pitchFamily="34" charset="-122"/>
                <a:cs typeface="Calibri" pitchFamily="34" charset="-120"/>
              </a:rPr>
              <a:t>✕</a:t>
            </a:r>
            <a:endParaRPr lang="en-US" sz="2000" dirty="0"/>
          </a:p>
        </p:txBody>
      </p:sp>
      <p:sp>
        <p:nvSpPr>
          <p:cNvPr id="46" name="Text 44"/>
          <p:cNvSpPr txBox="1"/>
          <p:nvPr/>
        </p:nvSpPr>
        <p:spPr>
          <a:xfrm>
            <a:off x="1536192" y="3611880"/>
            <a:ext cx="6583680" cy="457200"/>
          </a:xfrm>
          <a:prstGeom prst="rect">
            <a:avLst/>
          </a:prstGeom>
          <a:noFill/>
          <a:ln/>
        </p:spPr>
        <p:txBody>
          <a:bodyPr wrap="square" lIns="0" tIns="0" rIns="0" bIns="0" rtlCol="0" anchor="ctr"/>
          <a:lstStyle/>
          <a:p>
            <a:pPr algn="l" indent="0" marL="0">
              <a:lnSpc>
                <a:spcPts val="1500"/>
              </a:lnSpc>
              <a:buNone/>
            </a:pPr>
            <a:r>
              <a:rPr lang="en-US" sz="1150" dirty="0">
                <a:solidFill>
                  <a:srgbClr val="8C3A2B"/>
                </a:solidFill>
                <a:latin typeface="Calibri" pitchFamily="34" charset="0"/>
                <a:ea typeface="Calibri" pitchFamily="34" charset="-122"/>
                <a:cs typeface="Calibri" pitchFamily="34" charset="-120"/>
              </a:rPr>
              <a:t>Başka hiçbir noktada kesişmemeli: mal kabulden depoya giden yol satış alanından geçerse, mağaza her teslimatta durur.</a:t>
            </a:r>
            <a:endParaRPr lang="en-US" sz="1150" dirty="0"/>
          </a:p>
        </p:txBody>
      </p:sp>
      <p:sp>
        <p:nvSpPr>
          <p:cNvPr id="47" name="Text 45"/>
          <p:cNvSpPr txBox="1"/>
          <p:nvPr/>
        </p:nvSpPr>
        <p:spPr>
          <a:xfrm>
            <a:off x="777240" y="5623560"/>
            <a:ext cx="10424160" cy="365760"/>
          </a:xfrm>
          <a:prstGeom prst="rect">
            <a:avLst/>
          </a:prstGeom>
          <a:noFill/>
          <a:ln/>
        </p:spPr>
        <p:txBody>
          <a:bodyPr wrap="square" lIns="0" tIns="0" rIns="0" bIns="0" rtlCol="0" anchor="ctr"/>
          <a:lstStyle/>
          <a:p>
            <a:pPr algn="l" indent="0" marL="0">
              <a:lnSpc>
                <a:spcPts val="1200"/>
              </a:lnSpc>
              <a:buNone/>
            </a:pPr>
            <a:r>
              <a:rPr lang="en-US" sz="1250" i="1" dirty="0">
                <a:solidFill>
                  <a:srgbClr val="2B2B31"/>
                </a:solidFill>
                <a:latin typeface="Cambria" pitchFamily="34" charset="0"/>
                <a:ea typeface="Cambria" pitchFamily="34" charset="-122"/>
                <a:cs typeface="Cambria" pitchFamily="34" charset="-120"/>
              </a:rPr>
              <a:t>Şema rota sırasını gösterir, mekândaki yerlerini değil. Sıra sabittir; yerleşim her mağazada farklıdır.</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VI</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Akış ve yönlendirme</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İnsan içeri girdikten sonra nereye gider?</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 · AKIŞ VE YÖNLENDİRME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Dört plan tipi</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26</a:t>
            </a:r>
            <a:endParaRPr lang="en-US" sz="950" dirty="0"/>
          </a:p>
        </p:txBody>
      </p:sp>
      <p:sp>
        <p:nvSpPr>
          <p:cNvPr id="5" name="Shape 3"/>
          <p:cNvSpPr/>
          <p:nvPr/>
        </p:nvSpPr>
        <p:spPr>
          <a:xfrm>
            <a:off x="777240" y="2148840"/>
            <a:ext cx="2487168" cy="1737360"/>
          </a:xfrm>
          <a:prstGeom prst="rect">
            <a:avLst/>
          </a:prstGeom>
          <a:ln w="15875">
            <a:solidFill>
              <a:srgbClr val="16161A"/>
            </a:solidFill>
            <a:prstDash val="solid"/>
          </a:ln>
        </p:spPr>
      </p:sp>
      <p:sp>
        <p:nvSpPr>
          <p:cNvPr id="6" name="Shape 4"/>
          <p:cNvSpPr/>
          <p:nvPr/>
        </p:nvSpPr>
        <p:spPr>
          <a:xfrm>
            <a:off x="923544" y="2551176"/>
            <a:ext cx="2194560" cy="0"/>
          </a:xfrm>
          <a:prstGeom prst="line">
            <a:avLst/>
          </a:prstGeom>
          <a:noFill/>
          <a:ln w="17780">
            <a:solidFill>
              <a:srgbClr val="C9C9CF"/>
            </a:solidFill>
            <a:prstDash val="solid"/>
          </a:ln>
        </p:spPr>
      </p:sp>
      <p:sp>
        <p:nvSpPr>
          <p:cNvPr id="7" name="Shape 5"/>
          <p:cNvSpPr/>
          <p:nvPr/>
        </p:nvSpPr>
        <p:spPr>
          <a:xfrm>
            <a:off x="923544" y="2898648"/>
            <a:ext cx="2194560" cy="0"/>
          </a:xfrm>
          <a:prstGeom prst="line">
            <a:avLst/>
          </a:prstGeom>
          <a:noFill/>
          <a:ln w="17780">
            <a:solidFill>
              <a:srgbClr val="C9C9CF"/>
            </a:solidFill>
            <a:prstDash val="solid"/>
          </a:ln>
        </p:spPr>
      </p:sp>
      <p:sp>
        <p:nvSpPr>
          <p:cNvPr id="8" name="Shape 6"/>
          <p:cNvSpPr/>
          <p:nvPr/>
        </p:nvSpPr>
        <p:spPr>
          <a:xfrm>
            <a:off x="923544" y="3246120"/>
            <a:ext cx="2194560" cy="0"/>
          </a:xfrm>
          <a:prstGeom prst="line">
            <a:avLst/>
          </a:prstGeom>
          <a:noFill/>
          <a:ln w="17780">
            <a:solidFill>
              <a:srgbClr val="C9C9CF"/>
            </a:solidFill>
            <a:prstDash val="solid"/>
          </a:ln>
        </p:spPr>
      </p:sp>
      <p:sp>
        <p:nvSpPr>
          <p:cNvPr id="9" name="Shape 7"/>
          <p:cNvSpPr/>
          <p:nvPr/>
        </p:nvSpPr>
        <p:spPr>
          <a:xfrm>
            <a:off x="923544" y="3593592"/>
            <a:ext cx="2194560" cy="0"/>
          </a:xfrm>
          <a:prstGeom prst="line">
            <a:avLst/>
          </a:prstGeom>
          <a:noFill/>
          <a:ln w="17780">
            <a:solidFill>
              <a:srgbClr val="C9C9CF"/>
            </a:solidFill>
            <a:prstDash val="solid"/>
          </a:ln>
        </p:spPr>
      </p:sp>
      <p:sp>
        <p:nvSpPr>
          <p:cNvPr id="10" name="Shape 8"/>
          <p:cNvSpPr/>
          <p:nvPr/>
        </p:nvSpPr>
        <p:spPr>
          <a:xfrm flipV="1">
            <a:off x="2020824" y="3941064"/>
            <a:ext cx="0" cy="329184"/>
          </a:xfrm>
          <a:prstGeom prst="line">
            <a:avLst/>
          </a:prstGeom>
          <a:noFill/>
          <a:ln w="19050">
            <a:solidFill>
              <a:srgbClr val="8C3A2B"/>
            </a:solidFill>
            <a:prstDash val="solid"/>
            <a:tailEnd type="triangle"/>
          </a:ln>
        </p:spPr>
      </p:sp>
      <p:sp>
        <p:nvSpPr>
          <p:cNvPr id="11" name="Text 9"/>
          <p:cNvSpPr txBox="1"/>
          <p:nvPr/>
        </p:nvSpPr>
        <p:spPr>
          <a:xfrm>
            <a:off x="777240" y="1764792"/>
            <a:ext cx="2487168" cy="310896"/>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Izgara</a:t>
            </a:r>
            <a:endParaRPr lang="en-US" sz="1450" dirty="0"/>
          </a:p>
        </p:txBody>
      </p:sp>
      <p:sp>
        <p:nvSpPr>
          <p:cNvPr id="12" name="Text 10"/>
          <p:cNvSpPr txBox="1"/>
          <p:nvPr/>
        </p:nvSpPr>
        <p:spPr>
          <a:xfrm>
            <a:off x="777240" y="443484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Paralel raf dizileri. Verimli ve tahmin edilebilir; keşif duygusu düşük.</a:t>
            </a:r>
            <a:endParaRPr lang="en-US" sz="1050" dirty="0"/>
          </a:p>
        </p:txBody>
      </p:sp>
      <p:sp>
        <p:nvSpPr>
          <p:cNvPr id="13" name="Text 11"/>
          <p:cNvSpPr txBox="1"/>
          <p:nvPr/>
        </p:nvSpPr>
        <p:spPr>
          <a:xfrm>
            <a:off x="777240" y="5257800"/>
            <a:ext cx="2487168" cy="274320"/>
          </a:xfrm>
          <a:prstGeom prst="rect">
            <a:avLst/>
          </a:prstGeom>
          <a:noFill/>
          <a:ln/>
        </p:spPr>
        <p:txBody>
          <a:bodyPr wrap="square" lIns="0" tIns="0" rIns="0" bIns="0" rtlCol="0" anchor="ctr"/>
          <a:lstStyle/>
          <a:p>
            <a:pPr indent="0" marL="0">
              <a:buNone/>
            </a:pPr>
            <a:r>
              <a:rPr lang="en-US" sz="950" b="1" spc="80" kern="0" dirty="0">
                <a:solidFill>
                  <a:srgbClr val="8C3A2B"/>
                </a:solidFill>
                <a:latin typeface="Calibri" pitchFamily="34" charset="0"/>
                <a:ea typeface="Calibri" pitchFamily="34" charset="-122"/>
                <a:cs typeface="Calibri" pitchFamily="34" charset="-120"/>
              </a:rPr>
              <a:t>market · kırtasiye</a:t>
            </a:r>
            <a:endParaRPr lang="en-US" sz="950" dirty="0"/>
          </a:p>
        </p:txBody>
      </p:sp>
      <p:sp>
        <p:nvSpPr>
          <p:cNvPr id="14" name="Shape 12"/>
          <p:cNvSpPr/>
          <p:nvPr/>
        </p:nvSpPr>
        <p:spPr>
          <a:xfrm>
            <a:off x="3493008" y="2148840"/>
            <a:ext cx="2487168" cy="1737360"/>
          </a:xfrm>
          <a:prstGeom prst="rect">
            <a:avLst/>
          </a:prstGeom>
          <a:ln w="15875">
            <a:solidFill>
              <a:srgbClr val="16161A"/>
            </a:solidFill>
            <a:prstDash val="solid"/>
          </a:ln>
        </p:spPr>
      </p:sp>
      <p:sp>
        <p:nvSpPr>
          <p:cNvPr id="15" name="Shape 13"/>
          <p:cNvSpPr/>
          <p:nvPr/>
        </p:nvSpPr>
        <p:spPr>
          <a:xfrm>
            <a:off x="3867912" y="2569464"/>
            <a:ext cx="685800" cy="320040"/>
          </a:xfrm>
          <a:prstGeom prst="rect">
            <a:avLst/>
          </a:prstGeom>
          <a:ln w="9525">
            <a:solidFill>
              <a:srgbClr val="C9C9CF"/>
            </a:solidFill>
            <a:prstDash val="solid"/>
          </a:ln>
        </p:spPr>
      </p:sp>
      <p:sp>
        <p:nvSpPr>
          <p:cNvPr id="16" name="Shape 14"/>
          <p:cNvSpPr/>
          <p:nvPr/>
        </p:nvSpPr>
        <p:spPr>
          <a:xfrm>
            <a:off x="4873752" y="2496312"/>
            <a:ext cx="548640" cy="457200"/>
          </a:xfrm>
          <a:prstGeom prst="rect">
            <a:avLst/>
          </a:prstGeom>
          <a:ln w="9525">
            <a:solidFill>
              <a:srgbClr val="C9C9CF"/>
            </a:solidFill>
            <a:prstDash val="solid"/>
          </a:ln>
        </p:spPr>
      </p:sp>
      <p:sp>
        <p:nvSpPr>
          <p:cNvPr id="17" name="Shape 15"/>
          <p:cNvSpPr/>
          <p:nvPr/>
        </p:nvSpPr>
        <p:spPr>
          <a:xfrm>
            <a:off x="4142232" y="3163824"/>
            <a:ext cx="822960" cy="274320"/>
          </a:xfrm>
          <a:prstGeom prst="rect">
            <a:avLst/>
          </a:prstGeom>
          <a:ln w="9525">
            <a:solidFill>
              <a:srgbClr val="C9C9CF"/>
            </a:solidFill>
            <a:prstDash val="solid"/>
          </a:ln>
        </p:spPr>
      </p:sp>
      <p:sp>
        <p:nvSpPr>
          <p:cNvPr id="18" name="Shape 16"/>
          <p:cNvSpPr/>
          <p:nvPr/>
        </p:nvSpPr>
        <p:spPr>
          <a:xfrm>
            <a:off x="5102352" y="3255264"/>
            <a:ext cx="457200" cy="292608"/>
          </a:xfrm>
          <a:prstGeom prst="rect">
            <a:avLst/>
          </a:prstGeom>
          <a:ln w="9525">
            <a:solidFill>
              <a:srgbClr val="C9C9CF"/>
            </a:solidFill>
            <a:prstDash val="solid"/>
          </a:ln>
        </p:spPr>
      </p:sp>
      <p:sp>
        <p:nvSpPr>
          <p:cNvPr id="19" name="Shape 17"/>
          <p:cNvSpPr/>
          <p:nvPr/>
        </p:nvSpPr>
        <p:spPr>
          <a:xfrm flipV="1">
            <a:off x="4736592" y="3941064"/>
            <a:ext cx="0" cy="329184"/>
          </a:xfrm>
          <a:prstGeom prst="line">
            <a:avLst/>
          </a:prstGeom>
          <a:noFill/>
          <a:ln w="19050">
            <a:solidFill>
              <a:srgbClr val="8C3A2B"/>
            </a:solidFill>
            <a:prstDash val="solid"/>
            <a:tailEnd type="triangle"/>
          </a:ln>
        </p:spPr>
      </p:sp>
      <p:sp>
        <p:nvSpPr>
          <p:cNvPr id="20" name="Text 18"/>
          <p:cNvSpPr txBox="1"/>
          <p:nvPr/>
        </p:nvSpPr>
        <p:spPr>
          <a:xfrm>
            <a:off x="3493008" y="1764792"/>
            <a:ext cx="2487168" cy="310896"/>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Serbest akış</a:t>
            </a:r>
            <a:endParaRPr lang="en-US" sz="1450" dirty="0"/>
          </a:p>
        </p:txBody>
      </p:sp>
      <p:sp>
        <p:nvSpPr>
          <p:cNvPr id="21" name="Text 19"/>
          <p:cNvSpPr txBox="1"/>
          <p:nvPr/>
        </p:nvSpPr>
        <p:spPr>
          <a:xfrm>
            <a:off x="3493008" y="443484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Bağımsız yerleşmiş adalar. Keşif yüksek, alan verimi düşük.</a:t>
            </a:r>
            <a:endParaRPr lang="en-US" sz="1050" dirty="0"/>
          </a:p>
        </p:txBody>
      </p:sp>
      <p:sp>
        <p:nvSpPr>
          <p:cNvPr id="22" name="Text 20"/>
          <p:cNvSpPr txBox="1"/>
          <p:nvPr/>
        </p:nvSpPr>
        <p:spPr>
          <a:xfrm>
            <a:off x="3493008" y="5257800"/>
            <a:ext cx="2487168" cy="274320"/>
          </a:xfrm>
          <a:prstGeom prst="rect">
            <a:avLst/>
          </a:prstGeom>
          <a:noFill/>
          <a:ln/>
        </p:spPr>
        <p:txBody>
          <a:bodyPr wrap="square" lIns="0" tIns="0" rIns="0" bIns="0" rtlCol="0" anchor="ctr"/>
          <a:lstStyle/>
          <a:p>
            <a:pPr indent="0" marL="0">
              <a:buNone/>
            </a:pPr>
            <a:r>
              <a:rPr lang="en-US" sz="950" b="1" spc="80" kern="0" dirty="0">
                <a:solidFill>
                  <a:srgbClr val="8C3A2B"/>
                </a:solidFill>
                <a:latin typeface="Calibri" pitchFamily="34" charset="0"/>
                <a:ea typeface="Calibri" pitchFamily="34" charset="-122"/>
                <a:cs typeface="Calibri" pitchFamily="34" charset="-120"/>
              </a:rPr>
              <a:t>butik · konsept</a:t>
            </a:r>
            <a:endParaRPr lang="en-US" sz="950" dirty="0"/>
          </a:p>
        </p:txBody>
      </p:sp>
      <p:sp>
        <p:nvSpPr>
          <p:cNvPr id="23" name="Shape 21"/>
          <p:cNvSpPr/>
          <p:nvPr/>
        </p:nvSpPr>
        <p:spPr>
          <a:xfrm>
            <a:off x="6208776" y="2148840"/>
            <a:ext cx="2487168" cy="1737360"/>
          </a:xfrm>
          <a:prstGeom prst="rect">
            <a:avLst/>
          </a:prstGeom>
          <a:ln w="15875">
            <a:solidFill>
              <a:srgbClr val="16161A"/>
            </a:solidFill>
            <a:prstDash val="solid"/>
          </a:ln>
        </p:spPr>
      </p:sp>
      <p:sp>
        <p:nvSpPr>
          <p:cNvPr id="24" name="Shape 22"/>
          <p:cNvSpPr/>
          <p:nvPr/>
        </p:nvSpPr>
        <p:spPr>
          <a:xfrm>
            <a:off x="6739128" y="2569464"/>
            <a:ext cx="1426464" cy="896112"/>
          </a:xfrm>
          <a:prstGeom prst="rect">
            <a:avLst/>
          </a:prstGeom>
          <a:ln w="19050">
            <a:solidFill>
              <a:srgbClr val="8C3A2B"/>
            </a:solidFill>
            <a:prstDash val="dash"/>
          </a:ln>
        </p:spPr>
      </p:sp>
      <p:sp>
        <p:nvSpPr>
          <p:cNvPr id="25" name="Shape 23"/>
          <p:cNvSpPr/>
          <p:nvPr/>
        </p:nvSpPr>
        <p:spPr>
          <a:xfrm>
            <a:off x="7132320" y="2862072"/>
            <a:ext cx="640080" cy="310896"/>
          </a:xfrm>
          <a:prstGeom prst="rect">
            <a:avLst/>
          </a:prstGeom>
          <a:ln w="9525">
            <a:solidFill>
              <a:srgbClr val="C9C9CF"/>
            </a:solidFill>
            <a:prstDash val="solid"/>
          </a:ln>
        </p:spPr>
      </p:sp>
      <p:sp>
        <p:nvSpPr>
          <p:cNvPr id="26" name="Shape 24"/>
          <p:cNvSpPr/>
          <p:nvPr/>
        </p:nvSpPr>
        <p:spPr>
          <a:xfrm flipV="1">
            <a:off x="7452360" y="3941064"/>
            <a:ext cx="0" cy="329184"/>
          </a:xfrm>
          <a:prstGeom prst="line">
            <a:avLst/>
          </a:prstGeom>
          <a:noFill/>
          <a:ln w="19050">
            <a:solidFill>
              <a:srgbClr val="8C3A2B"/>
            </a:solidFill>
            <a:prstDash val="solid"/>
            <a:tailEnd type="triangle"/>
          </a:ln>
        </p:spPr>
      </p:sp>
      <p:sp>
        <p:nvSpPr>
          <p:cNvPr id="27" name="Text 25"/>
          <p:cNvSpPr txBox="1"/>
          <p:nvPr/>
        </p:nvSpPr>
        <p:spPr>
          <a:xfrm>
            <a:off x="6208776" y="1764792"/>
            <a:ext cx="2487168" cy="310896"/>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Döngü</a:t>
            </a:r>
            <a:endParaRPr lang="en-US" sz="1450" dirty="0"/>
          </a:p>
        </p:txBody>
      </p:sp>
      <p:sp>
        <p:nvSpPr>
          <p:cNvPr id="28" name="Text 26"/>
          <p:cNvSpPr txBox="1"/>
          <p:nvPr/>
        </p:nvSpPr>
        <p:spPr>
          <a:xfrm>
            <a:off x="6208776" y="443484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Müşteriyi tüm mağazadan geçiren tek rota.</a:t>
            </a:r>
            <a:endParaRPr lang="en-US" sz="1050" dirty="0"/>
          </a:p>
        </p:txBody>
      </p:sp>
      <p:sp>
        <p:nvSpPr>
          <p:cNvPr id="29" name="Text 27"/>
          <p:cNvSpPr txBox="1"/>
          <p:nvPr/>
        </p:nvSpPr>
        <p:spPr>
          <a:xfrm>
            <a:off x="6208776" y="5257800"/>
            <a:ext cx="2487168" cy="274320"/>
          </a:xfrm>
          <a:prstGeom prst="rect">
            <a:avLst/>
          </a:prstGeom>
          <a:noFill/>
          <a:ln/>
        </p:spPr>
        <p:txBody>
          <a:bodyPr wrap="square" lIns="0" tIns="0" rIns="0" bIns="0" rtlCol="0" anchor="ctr"/>
          <a:lstStyle/>
          <a:p>
            <a:pPr indent="0" marL="0">
              <a:buNone/>
            </a:pPr>
            <a:r>
              <a:rPr lang="en-US" sz="950" b="1" spc="80" kern="0" dirty="0">
                <a:solidFill>
                  <a:srgbClr val="8C3A2B"/>
                </a:solidFill>
                <a:latin typeface="Calibri" pitchFamily="34" charset="0"/>
                <a:ea typeface="Calibri" pitchFamily="34" charset="-122"/>
                <a:cs typeface="Calibri" pitchFamily="34" charset="-120"/>
              </a:rPr>
              <a:t>büyük mağaza · mobilya</a:t>
            </a:r>
            <a:endParaRPr lang="en-US" sz="950" dirty="0"/>
          </a:p>
        </p:txBody>
      </p:sp>
      <p:sp>
        <p:nvSpPr>
          <p:cNvPr id="30" name="Shape 28"/>
          <p:cNvSpPr/>
          <p:nvPr/>
        </p:nvSpPr>
        <p:spPr>
          <a:xfrm>
            <a:off x="8924544" y="2148840"/>
            <a:ext cx="2487168" cy="1737360"/>
          </a:xfrm>
          <a:prstGeom prst="rect">
            <a:avLst/>
          </a:prstGeom>
          <a:ln w="15875">
            <a:solidFill>
              <a:srgbClr val="16161A"/>
            </a:solidFill>
            <a:prstDash val="solid"/>
          </a:ln>
        </p:spPr>
      </p:sp>
      <p:sp>
        <p:nvSpPr>
          <p:cNvPr id="31" name="Shape 29"/>
          <p:cNvSpPr/>
          <p:nvPr/>
        </p:nvSpPr>
        <p:spPr>
          <a:xfrm flipV="1">
            <a:off x="9162288" y="2478024"/>
            <a:ext cx="566928" cy="1124712"/>
          </a:xfrm>
          <a:prstGeom prst="line">
            <a:avLst/>
          </a:prstGeom>
          <a:noFill/>
          <a:ln w="17780">
            <a:solidFill>
              <a:srgbClr val="C9C9CF"/>
            </a:solidFill>
            <a:prstDash val="solid"/>
          </a:ln>
        </p:spPr>
      </p:sp>
      <p:sp>
        <p:nvSpPr>
          <p:cNvPr id="32" name="Shape 30"/>
          <p:cNvSpPr/>
          <p:nvPr/>
        </p:nvSpPr>
        <p:spPr>
          <a:xfrm flipV="1">
            <a:off x="9546336" y="2478024"/>
            <a:ext cx="566928" cy="1124712"/>
          </a:xfrm>
          <a:prstGeom prst="line">
            <a:avLst/>
          </a:prstGeom>
          <a:noFill/>
          <a:ln w="17780">
            <a:solidFill>
              <a:srgbClr val="C9C9CF"/>
            </a:solidFill>
            <a:prstDash val="solid"/>
          </a:ln>
        </p:spPr>
      </p:sp>
      <p:sp>
        <p:nvSpPr>
          <p:cNvPr id="33" name="Shape 31"/>
          <p:cNvSpPr/>
          <p:nvPr/>
        </p:nvSpPr>
        <p:spPr>
          <a:xfrm flipV="1">
            <a:off x="9930384" y="2478024"/>
            <a:ext cx="566928" cy="1124712"/>
          </a:xfrm>
          <a:prstGeom prst="line">
            <a:avLst/>
          </a:prstGeom>
          <a:noFill/>
          <a:ln w="17780">
            <a:solidFill>
              <a:srgbClr val="C9C9CF"/>
            </a:solidFill>
            <a:prstDash val="solid"/>
          </a:ln>
        </p:spPr>
      </p:sp>
      <p:sp>
        <p:nvSpPr>
          <p:cNvPr id="34" name="Shape 32"/>
          <p:cNvSpPr/>
          <p:nvPr/>
        </p:nvSpPr>
        <p:spPr>
          <a:xfrm flipV="1">
            <a:off x="10314432" y="2478024"/>
            <a:ext cx="566928" cy="1124712"/>
          </a:xfrm>
          <a:prstGeom prst="line">
            <a:avLst/>
          </a:prstGeom>
          <a:noFill/>
          <a:ln w="17780">
            <a:solidFill>
              <a:srgbClr val="C9C9CF"/>
            </a:solidFill>
            <a:prstDash val="solid"/>
          </a:ln>
        </p:spPr>
      </p:sp>
      <p:sp>
        <p:nvSpPr>
          <p:cNvPr id="35" name="Shape 33"/>
          <p:cNvSpPr/>
          <p:nvPr/>
        </p:nvSpPr>
        <p:spPr>
          <a:xfrm flipV="1">
            <a:off x="10168128" y="3941064"/>
            <a:ext cx="0" cy="329184"/>
          </a:xfrm>
          <a:prstGeom prst="line">
            <a:avLst/>
          </a:prstGeom>
          <a:noFill/>
          <a:ln w="19050">
            <a:solidFill>
              <a:srgbClr val="8C3A2B"/>
            </a:solidFill>
            <a:prstDash val="solid"/>
            <a:tailEnd type="triangle"/>
          </a:ln>
        </p:spPr>
      </p:sp>
      <p:sp>
        <p:nvSpPr>
          <p:cNvPr id="36" name="Text 34"/>
          <p:cNvSpPr txBox="1"/>
          <p:nvPr/>
        </p:nvSpPr>
        <p:spPr>
          <a:xfrm>
            <a:off x="8924544" y="1764792"/>
            <a:ext cx="2487168" cy="310896"/>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Çapraz</a:t>
            </a:r>
            <a:endParaRPr lang="en-US" sz="1450" dirty="0"/>
          </a:p>
        </p:txBody>
      </p:sp>
      <p:sp>
        <p:nvSpPr>
          <p:cNvPr id="37" name="Text 35"/>
          <p:cNvSpPr txBox="1"/>
          <p:nvPr/>
        </p:nvSpPr>
        <p:spPr>
          <a:xfrm>
            <a:off x="8924544" y="443484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Açılı yerleşim; görüş hatlarını uzatır, ürünü sürekli yeni gösterir.</a:t>
            </a:r>
            <a:endParaRPr lang="en-US" sz="1050" dirty="0"/>
          </a:p>
        </p:txBody>
      </p:sp>
      <p:sp>
        <p:nvSpPr>
          <p:cNvPr id="38" name="Text 36"/>
          <p:cNvSpPr txBox="1"/>
          <p:nvPr/>
        </p:nvSpPr>
        <p:spPr>
          <a:xfrm>
            <a:off x="8924544" y="5257800"/>
            <a:ext cx="2487168" cy="274320"/>
          </a:xfrm>
          <a:prstGeom prst="rect">
            <a:avLst/>
          </a:prstGeom>
          <a:noFill/>
          <a:ln/>
        </p:spPr>
        <p:txBody>
          <a:bodyPr wrap="square" lIns="0" tIns="0" rIns="0" bIns="0" rtlCol="0" anchor="ctr"/>
          <a:lstStyle/>
          <a:p>
            <a:pPr indent="0" marL="0">
              <a:buNone/>
            </a:pPr>
            <a:r>
              <a:rPr lang="en-US" sz="950" b="1" spc="80" kern="0" dirty="0">
                <a:solidFill>
                  <a:srgbClr val="8C3A2B"/>
                </a:solidFill>
                <a:latin typeface="Calibri" pitchFamily="34" charset="0"/>
                <a:ea typeface="Calibri" pitchFamily="34" charset="-122"/>
                <a:cs typeface="Calibri" pitchFamily="34" charset="-120"/>
              </a:rPr>
              <a:t>moda · aksesuar</a:t>
            </a:r>
            <a:endParaRPr lang="en-US" sz="950" dirty="0"/>
          </a:p>
        </p:txBody>
      </p:sp>
      <p:sp>
        <p:nvSpPr>
          <p:cNvPr id="39" name="Text 37"/>
          <p:cNvSpPr txBox="1"/>
          <p:nvPr/>
        </p:nvSpPr>
        <p:spPr>
          <a:xfrm>
            <a:off x="777240" y="5760720"/>
            <a:ext cx="10424160" cy="365760"/>
          </a:xfrm>
          <a:prstGeom prst="rect">
            <a:avLst/>
          </a:prstGeom>
          <a:noFill/>
          <a:ln/>
        </p:spPr>
        <p:txBody>
          <a:bodyPr wrap="square" lIns="0" tIns="0" rIns="0" bIns="0" rtlCol="0" anchor="ctr"/>
          <a:lstStyle/>
          <a:p>
            <a:pPr algn="l" indent="0" marL="0">
              <a:lnSpc>
                <a:spcPts val="1200"/>
              </a:lnSpc>
              <a:buNone/>
            </a:pPr>
            <a:r>
              <a:rPr lang="en-US" sz="1300" i="1" dirty="0">
                <a:solidFill>
                  <a:srgbClr val="8C3A2B"/>
                </a:solidFill>
                <a:latin typeface="Cambria" pitchFamily="34" charset="0"/>
                <a:ea typeface="Cambria" pitchFamily="34" charset="-122"/>
                <a:cs typeface="Cambria" pitchFamily="34" charset="-120"/>
              </a:rPr>
              <a:t>Plan tipi ürünün taranma biçimine göre seçilir; estetik bir tercih değildir.</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 · AKIŞ VE YÖNLENDİRME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Sağa yönelim, güç duvarı ve görüş hatları</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27</a:t>
            </a:r>
            <a:endParaRPr lang="en-US" sz="950" dirty="0"/>
          </a:p>
        </p:txBody>
      </p:sp>
      <p:sp>
        <p:nvSpPr>
          <p:cNvPr id="5" name="Shape 3"/>
          <p:cNvSpPr/>
          <p:nvPr/>
        </p:nvSpPr>
        <p:spPr>
          <a:xfrm>
            <a:off x="1051560" y="1920240"/>
            <a:ext cx="5852160" cy="3200400"/>
          </a:xfrm>
          <a:prstGeom prst="rect">
            <a:avLst/>
          </a:prstGeom>
          <a:ln w="15875">
            <a:solidFill>
              <a:srgbClr val="16161A"/>
            </a:solidFill>
            <a:prstDash val="solid"/>
          </a:ln>
        </p:spPr>
      </p:sp>
      <p:sp>
        <p:nvSpPr>
          <p:cNvPr id="6" name="Shape 4"/>
          <p:cNvSpPr/>
          <p:nvPr/>
        </p:nvSpPr>
        <p:spPr>
          <a:xfrm>
            <a:off x="3337560" y="5093208"/>
            <a:ext cx="1280160" cy="54864"/>
          </a:xfrm>
          <a:prstGeom prst="rect">
            <a:avLst/>
          </a:prstGeom>
          <a:solidFill>
            <a:srgbClr val="FCFCFA"/>
          </a:solidFill>
          <a:ln w="12700">
            <a:solidFill>
              <a:srgbClr val="FCFCFA"/>
            </a:solidFill>
            <a:prstDash val="solid"/>
          </a:ln>
        </p:spPr>
      </p:sp>
      <p:sp>
        <p:nvSpPr>
          <p:cNvPr id="7" name="Shape 5"/>
          <p:cNvSpPr/>
          <p:nvPr/>
        </p:nvSpPr>
        <p:spPr>
          <a:xfrm flipV="1">
            <a:off x="3977640" y="4956048"/>
            <a:ext cx="0" cy="621792"/>
          </a:xfrm>
          <a:prstGeom prst="line">
            <a:avLst/>
          </a:prstGeom>
          <a:noFill/>
          <a:ln w="25400">
            <a:solidFill>
              <a:srgbClr val="8C3A2B"/>
            </a:solidFill>
            <a:prstDash val="solid"/>
            <a:tailEnd type="triangle"/>
          </a:ln>
        </p:spPr>
      </p:sp>
      <p:sp>
        <p:nvSpPr>
          <p:cNvPr id="8" name="Shape 6"/>
          <p:cNvSpPr/>
          <p:nvPr/>
        </p:nvSpPr>
        <p:spPr>
          <a:xfrm flipV="1">
            <a:off x="3977640" y="4251960"/>
            <a:ext cx="2240280" cy="548640"/>
          </a:xfrm>
          <a:prstGeom prst="line">
            <a:avLst/>
          </a:prstGeom>
          <a:noFill/>
          <a:ln w="22225">
            <a:solidFill>
              <a:srgbClr val="8C3A2B"/>
            </a:solidFill>
            <a:prstDash val="solid"/>
            <a:tailEnd type="triangle"/>
          </a:ln>
        </p:spPr>
      </p:sp>
      <p:sp>
        <p:nvSpPr>
          <p:cNvPr id="9" name="Shape 7"/>
          <p:cNvSpPr/>
          <p:nvPr/>
        </p:nvSpPr>
        <p:spPr>
          <a:xfrm>
            <a:off x="6035040" y="2057400"/>
            <a:ext cx="749808" cy="1965960"/>
          </a:xfrm>
          <a:prstGeom prst="rect">
            <a:avLst/>
          </a:prstGeom>
          <a:solidFill>
            <a:srgbClr val="F6EAE6"/>
          </a:solidFill>
          <a:ln w="15875">
            <a:solidFill>
              <a:srgbClr val="8C3A2B"/>
            </a:solidFill>
            <a:prstDash val="solid"/>
          </a:ln>
        </p:spPr>
      </p:sp>
      <p:sp>
        <p:nvSpPr>
          <p:cNvPr id="10" name="Text 8"/>
          <p:cNvSpPr txBox="1"/>
          <p:nvPr/>
        </p:nvSpPr>
        <p:spPr>
          <a:xfrm>
            <a:off x="6071616" y="2057400"/>
            <a:ext cx="676656" cy="1965960"/>
          </a:xfrm>
          <a:prstGeom prst="rect">
            <a:avLst/>
          </a:prstGeom>
          <a:noFill/>
          <a:ln/>
        </p:spPr>
        <p:txBody>
          <a:bodyPr wrap="square" lIns="0" tIns="0" rIns="0" bIns="0" rtlCol="0" anchor="ctr"/>
          <a:lstStyle/>
          <a:p>
            <a:pPr algn="ctr" indent="0" marL="0">
              <a:lnSpc>
                <a:spcPts val="1100"/>
              </a:lnSpc>
              <a:buNone/>
            </a:pPr>
            <a:r>
              <a:rPr lang="en-US" sz="950" dirty="0">
                <a:solidFill>
                  <a:srgbClr val="8C3A2B"/>
                </a:solidFill>
                <a:latin typeface="Calibri" pitchFamily="34" charset="0"/>
                <a:ea typeface="Calibri" pitchFamily="34" charset="-122"/>
                <a:cs typeface="Calibri" pitchFamily="34" charset="-120"/>
              </a:rPr>
              <a:t>GÜÇ</a:t>
            </a:r>
            <a:endParaRPr lang="en-US" sz="950" dirty="0"/>
          </a:p>
          <a:p>
            <a:pPr algn="ctr" indent="0" marL="0">
              <a:lnSpc>
                <a:spcPts val="1100"/>
              </a:lnSpc>
              <a:buNone/>
            </a:pPr>
            <a:r>
              <a:rPr lang="en-US" sz="950" dirty="0">
                <a:solidFill>
                  <a:srgbClr val="8C3A2B"/>
                </a:solidFill>
                <a:latin typeface="Calibri" pitchFamily="34" charset="0"/>
                <a:ea typeface="Calibri" pitchFamily="34" charset="-122"/>
                <a:cs typeface="Calibri" pitchFamily="34" charset="-120"/>
              </a:rPr>
              <a:t>DUVARI</a:t>
            </a:r>
            <a:endParaRPr lang="en-US" sz="950" dirty="0"/>
          </a:p>
        </p:txBody>
      </p:sp>
      <p:sp>
        <p:nvSpPr>
          <p:cNvPr id="11" name="Shape 9"/>
          <p:cNvSpPr/>
          <p:nvPr/>
        </p:nvSpPr>
        <p:spPr>
          <a:xfrm flipH="1" flipV="1">
            <a:off x="1280160" y="2194560"/>
            <a:ext cx="2697480" cy="2743200"/>
          </a:xfrm>
          <a:prstGeom prst="line">
            <a:avLst/>
          </a:prstGeom>
          <a:noFill/>
          <a:ln w="11430">
            <a:solidFill>
              <a:srgbClr val="A6A6AC"/>
            </a:solidFill>
            <a:prstDash val="dash"/>
          </a:ln>
        </p:spPr>
      </p:sp>
      <p:sp>
        <p:nvSpPr>
          <p:cNvPr id="12" name="Shape 10"/>
          <p:cNvSpPr/>
          <p:nvPr/>
        </p:nvSpPr>
        <p:spPr>
          <a:xfrm flipV="1">
            <a:off x="3977640" y="2194560"/>
            <a:ext cx="2697480" cy="2743200"/>
          </a:xfrm>
          <a:prstGeom prst="line">
            <a:avLst/>
          </a:prstGeom>
          <a:noFill/>
          <a:ln w="11430">
            <a:solidFill>
              <a:srgbClr val="A6A6AC"/>
            </a:solidFill>
            <a:prstDash val="dash"/>
          </a:ln>
        </p:spPr>
      </p:sp>
      <p:sp>
        <p:nvSpPr>
          <p:cNvPr id="13" name="Shape 11"/>
          <p:cNvSpPr/>
          <p:nvPr/>
        </p:nvSpPr>
        <p:spPr>
          <a:xfrm flipV="1">
            <a:off x="3977640" y="2194560"/>
            <a:ext cx="0" cy="2743200"/>
          </a:xfrm>
          <a:prstGeom prst="line">
            <a:avLst/>
          </a:prstGeom>
          <a:noFill/>
          <a:ln w="11430">
            <a:solidFill>
              <a:srgbClr val="A6A6AC"/>
            </a:solidFill>
            <a:prstDash val="dash"/>
          </a:ln>
        </p:spPr>
      </p:sp>
      <p:sp>
        <p:nvSpPr>
          <p:cNvPr id="14" name="Text 12"/>
          <p:cNvSpPr txBox="1"/>
          <p:nvPr/>
        </p:nvSpPr>
        <p:spPr>
          <a:xfrm>
            <a:off x="1234440" y="2240280"/>
            <a:ext cx="2011680" cy="274320"/>
          </a:xfrm>
          <a:prstGeom prst="rect">
            <a:avLst/>
          </a:prstGeom>
          <a:noFill/>
          <a:ln/>
        </p:spPr>
        <p:txBody>
          <a:bodyPr wrap="square" lIns="0" tIns="0" rIns="0" bIns="0" rtlCol="0" anchor="ctr"/>
          <a:lstStyle/>
          <a:p>
            <a:pPr algn="l" indent="0" marL="0">
              <a:lnSpc>
                <a:spcPts val="1200"/>
              </a:lnSpc>
              <a:buNone/>
            </a:pPr>
            <a:r>
              <a:rPr lang="en-US" sz="900" dirty="0">
                <a:solidFill>
                  <a:srgbClr val="A6A6AC"/>
                </a:solidFill>
                <a:latin typeface="Calibri" pitchFamily="34" charset="0"/>
                <a:ea typeface="Calibri" pitchFamily="34" charset="-122"/>
                <a:cs typeface="Calibri" pitchFamily="34" charset="-120"/>
              </a:rPr>
              <a:t>görüş hatları</a:t>
            </a:r>
            <a:endParaRPr lang="en-US" sz="900" dirty="0"/>
          </a:p>
        </p:txBody>
      </p:sp>
      <p:sp>
        <p:nvSpPr>
          <p:cNvPr id="15" name="Shape 13"/>
          <p:cNvSpPr/>
          <p:nvPr/>
        </p:nvSpPr>
        <p:spPr>
          <a:xfrm>
            <a:off x="7434072" y="1874520"/>
            <a:ext cx="201168" cy="201168"/>
          </a:xfrm>
          <a:prstGeom prst="ellipse">
            <a:avLst/>
          </a:prstGeom>
          <a:solidFill>
            <a:srgbClr val="8C3A2B"/>
          </a:solidFill>
          <a:ln w="12700">
            <a:solidFill>
              <a:srgbClr val="8C3A2B"/>
            </a:solidFill>
            <a:prstDash val="solid"/>
          </a:ln>
        </p:spPr>
      </p:sp>
      <p:sp>
        <p:nvSpPr>
          <p:cNvPr id="16" name="Text 14"/>
          <p:cNvSpPr txBox="1"/>
          <p:nvPr/>
        </p:nvSpPr>
        <p:spPr>
          <a:xfrm>
            <a:off x="7434072" y="1874520"/>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7" name="Text 15"/>
          <p:cNvSpPr txBox="1"/>
          <p:nvPr/>
        </p:nvSpPr>
        <p:spPr>
          <a:xfrm>
            <a:off x="7763256" y="1847088"/>
            <a:ext cx="37581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İnsanlar girer girmez sağa yönelir</a:t>
            </a:r>
            <a:endParaRPr lang="en-US" sz="1050" dirty="0"/>
          </a:p>
        </p:txBody>
      </p:sp>
      <p:sp>
        <p:nvSpPr>
          <p:cNvPr id="18" name="Text 16"/>
          <p:cNvSpPr txBox="1"/>
          <p:nvPr/>
        </p:nvSpPr>
        <p:spPr>
          <a:xfrm>
            <a:off x="7763256" y="2084832"/>
            <a:ext cx="37581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Bu bir eğilimdir, kural değil — ama tasarımın başlangıç noktasıdır</a:t>
            </a:r>
            <a:endParaRPr lang="en-US" sz="1000" dirty="0"/>
          </a:p>
        </p:txBody>
      </p:sp>
      <p:sp>
        <p:nvSpPr>
          <p:cNvPr id="19" name="Shape 17"/>
          <p:cNvSpPr/>
          <p:nvPr/>
        </p:nvSpPr>
        <p:spPr>
          <a:xfrm>
            <a:off x="7434072" y="2551176"/>
            <a:ext cx="201168" cy="201168"/>
          </a:xfrm>
          <a:prstGeom prst="ellipse">
            <a:avLst/>
          </a:prstGeom>
          <a:solidFill>
            <a:srgbClr val="8C3A2B"/>
          </a:solidFill>
          <a:ln w="12700">
            <a:solidFill>
              <a:srgbClr val="8C3A2B"/>
            </a:solidFill>
            <a:prstDash val="solid"/>
          </a:ln>
        </p:spPr>
      </p:sp>
      <p:sp>
        <p:nvSpPr>
          <p:cNvPr id="20" name="Text 18"/>
          <p:cNvSpPr txBox="1"/>
          <p:nvPr/>
        </p:nvSpPr>
        <p:spPr>
          <a:xfrm>
            <a:off x="7434072" y="2551176"/>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21" name="Text 19"/>
          <p:cNvSpPr txBox="1"/>
          <p:nvPr/>
        </p:nvSpPr>
        <p:spPr>
          <a:xfrm>
            <a:off x="7763256" y="2523744"/>
            <a:ext cx="37581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Sağdaki ilk büyük yüzey: güç duvarı</a:t>
            </a:r>
            <a:endParaRPr lang="en-US" sz="1050" dirty="0"/>
          </a:p>
        </p:txBody>
      </p:sp>
      <p:sp>
        <p:nvSpPr>
          <p:cNvPr id="22" name="Text 20"/>
          <p:cNvSpPr txBox="1"/>
          <p:nvPr/>
        </p:nvSpPr>
        <p:spPr>
          <a:xfrm>
            <a:off x="7763256" y="2761488"/>
            <a:ext cx="37581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Markanın kendini tek bakışta anlatma fırsatı; en güçlü ürün buraya</a:t>
            </a:r>
            <a:endParaRPr lang="en-US" sz="1000" dirty="0"/>
          </a:p>
        </p:txBody>
      </p:sp>
      <p:sp>
        <p:nvSpPr>
          <p:cNvPr id="23" name="Shape 21"/>
          <p:cNvSpPr/>
          <p:nvPr/>
        </p:nvSpPr>
        <p:spPr>
          <a:xfrm>
            <a:off x="7434072" y="3227832"/>
            <a:ext cx="201168" cy="201168"/>
          </a:xfrm>
          <a:prstGeom prst="ellipse">
            <a:avLst/>
          </a:prstGeom>
          <a:solidFill>
            <a:srgbClr val="8C3A2B"/>
          </a:solidFill>
          <a:ln w="12700">
            <a:solidFill>
              <a:srgbClr val="8C3A2B"/>
            </a:solidFill>
            <a:prstDash val="solid"/>
          </a:ln>
        </p:spPr>
      </p:sp>
      <p:sp>
        <p:nvSpPr>
          <p:cNvPr id="24" name="Text 22"/>
          <p:cNvSpPr txBox="1"/>
          <p:nvPr/>
        </p:nvSpPr>
        <p:spPr>
          <a:xfrm>
            <a:off x="7434072" y="3227832"/>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5" name="Text 23"/>
          <p:cNvSpPr txBox="1"/>
          <p:nvPr/>
        </p:nvSpPr>
        <p:spPr>
          <a:xfrm>
            <a:off x="7763256" y="3200400"/>
            <a:ext cx="37581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Girişten mekânın derinliği okunmalı</a:t>
            </a:r>
            <a:endParaRPr lang="en-US" sz="1050" dirty="0"/>
          </a:p>
        </p:txBody>
      </p:sp>
      <p:sp>
        <p:nvSpPr>
          <p:cNvPr id="26" name="Text 24"/>
          <p:cNvSpPr txBox="1"/>
          <p:nvPr/>
        </p:nvSpPr>
        <p:spPr>
          <a:xfrm>
            <a:off x="7763256" y="3438144"/>
            <a:ext cx="37581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Görüş hattı kapalıysa insan içeri girmekte tereddüt eder</a:t>
            </a:r>
            <a:endParaRPr lang="en-US" sz="1000" dirty="0"/>
          </a:p>
        </p:txBody>
      </p:sp>
      <p:sp>
        <p:nvSpPr>
          <p:cNvPr id="27" name="Shape 25"/>
          <p:cNvSpPr/>
          <p:nvPr/>
        </p:nvSpPr>
        <p:spPr>
          <a:xfrm>
            <a:off x="7434072" y="3904488"/>
            <a:ext cx="201168" cy="201168"/>
          </a:xfrm>
          <a:prstGeom prst="ellipse">
            <a:avLst/>
          </a:prstGeom>
          <a:solidFill>
            <a:srgbClr val="8C3A2B"/>
          </a:solidFill>
          <a:ln w="12700">
            <a:solidFill>
              <a:srgbClr val="8C3A2B"/>
            </a:solidFill>
            <a:prstDash val="solid"/>
          </a:ln>
        </p:spPr>
      </p:sp>
      <p:sp>
        <p:nvSpPr>
          <p:cNvPr id="28" name="Text 26"/>
          <p:cNvSpPr txBox="1"/>
          <p:nvPr/>
        </p:nvSpPr>
        <p:spPr>
          <a:xfrm>
            <a:off x="7434072" y="3904488"/>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9" name="Text 27"/>
          <p:cNvSpPr txBox="1"/>
          <p:nvPr/>
        </p:nvSpPr>
        <p:spPr>
          <a:xfrm>
            <a:off x="7763256" y="3877056"/>
            <a:ext cx="37581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Göz hizası bandı en çok dikkat çeker</a:t>
            </a:r>
            <a:endParaRPr lang="en-US" sz="1050" dirty="0"/>
          </a:p>
        </p:txBody>
      </p:sp>
      <p:sp>
        <p:nvSpPr>
          <p:cNvPr id="30" name="Text 28"/>
          <p:cNvSpPr txBox="1"/>
          <p:nvPr/>
        </p:nvSpPr>
        <p:spPr>
          <a:xfrm>
            <a:off x="7763256" y="4114800"/>
            <a:ext cx="37581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Yaklaşık 120–150 cm; bu bandın üstü işaret, altı stok içindir</a:t>
            </a:r>
            <a:endParaRPr lang="en-US" sz="1000" dirty="0"/>
          </a:p>
        </p:txBody>
      </p:sp>
      <p:sp>
        <p:nvSpPr>
          <p:cNvPr id="31" name="Text 29"/>
          <p:cNvSpPr txBox="1"/>
          <p:nvPr/>
        </p:nvSpPr>
        <p:spPr>
          <a:xfrm>
            <a:off x="1005840" y="5596128"/>
            <a:ext cx="5943600" cy="274320"/>
          </a:xfrm>
          <a:prstGeom prst="rect">
            <a:avLst/>
          </a:prstGeom>
          <a:noFill/>
          <a:ln/>
        </p:spPr>
        <p:txBody>
          <a:bodyPr wrap="square" lIns="0" tIns="0" rIns="0" bIns="0" rtlCol="0" anchor="ctr"/>
          <a:lstStyle/>
          <a:p>
            <a:pPr algn="ctr" indent="0" marL="0">
              <a:lnSpc>
                <a:spcPts val="1200"/>
              </a:lnSpc>
              <a:buNone/>
            </a:pPr>
            <a:r>
              <a:rPr lang="en-US" sz="900" dirty="0">
                <a:solidFill>
                  <a:srgbClr val="7A7A82"/>
                </a:solidFill>
                <a:latin typeface="Calibri" pitchFamily="34" charset="0"/>
                <a:ea typeface="Calibri" pitchFamily="34" charset="-122"/>
                <a:cs typeface="Calibri" pitchFamily="34" charset="-120"/>
              </a:rPr>
              <a:t>giriş</a:t>
            </a:r>
            <a:endParaRPr lang="en-US" sz="900" dirty="0"/>
          </a:p>
        </p:txBody>
      </p:sp>
      <p:sp>
        <p:nvSpPr>
          <p:cNvPr id="32" name="Text 30"/>
          <p:cNvSpPr txBox="1"/>
          <p:nvPr/>
        </p:nvSpPr>
        <p:spPr>
          <a:xfrm>
            <a:off x="777240" y="5742432"/>
            <a:ext cx="10424160" cy="548640"/>
          </a:xfrm>
          <a:prstGeom prst="rect">
            <a:avLst/>
          </a:prstGeom>
          <a:noFill/>
          <a:ln/>
        </p:spPr>
        <p:txBody>
          <a:bodyPr wrap="square" lIns="0" tIns="0" rIns="0" bIns="0" rtlCol="0" anchor="ctr"/>
          <a:lstStyle/>
          <a:p>
            <a:pPr indent="0" marL="0">
              <a:lnSpc>
                <a:spcPts val="2300"/>
              </a:lnSpc>
              <a:buNone/>
            </a:pPr>
            <a:r>
              <a:rPr lang="en-US" sz="1300" dirty="0">
                <a:solidFill>
                  <a:srgbClr val="2B2B31"/>
                </a:solidFill>
                <a:latin typeface="Cambria" pitchFamily="34" charset="0"/>
                <a:ea typeface="Cambria" pitchFamily="34" charset="-122"/>
                <a:cs typeface="Cambria" pitchFamily="34" charset="-120"/>
              </a:rPr>
              <a:t>Bu örüntüler perakende gözlem araştırmalarından gelir (Underhill, 2008). Kesin kural değil, eğilimdir — ama plan kararlarının çıkış noktası olarak kullanılırlar.</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 · AKIŞ VE YÖNLENDİRME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Yönlendirmenin iki katmanı</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28</a:t>
            </a:r>
            <a:endParaRPr lang="en-US" sz="950" dirty="0"/>
          </a:p>
        </p:txBody>
      </p:sp>
      <p:sp>
        <p:nvSpPr>
          <p:cNvPr id="5" name="Text 3"/>
          <p:cNvSpPr txBox="1"/>
          <p:nvPr/>
        </p:nvSpPr>
        <p:spPr>
          <a:xfrm>
            <a:off x="777240" y="2011680"/>
            <a:ext cx="457200" cy="457200"/>
          </a:xfrm>
          <a:prstGeom prst="rect">
            <a:avLst/>
          </a:prstGeom>
          <a:noFill/>
          <a:ln/>
        </p:spPr>
        <p:txBody>
          <a:bodyPr wrap="square" lIns="0" tIns="0" rIns="0" bIns="0" rtlCol="0" anchor="ctr"/>
          <a:lstStyle/>
          <a:p>
            <a:pPr indent="0" marL="0">
              <a:buNone/>
            </a:pPr>
            <a:r>
              <a:rPr lang="en-US" sz="3000" b="1" dirty="0">
                <a:solidFill>
                  <a:srgbClr val="8C3A2B"/>
                </a:solidFill>
                <a:latin typeface="Cambria" pitchFamily="34" charset="0"/>
                <a:ea typeface="Cambria" pitchFamily="34" charset="-122"/>
                <a:cs typeface="Cambria" pitchFamily="34" charset="-120"/>
              </a:rPr>
              <a:t>1</a:t>
            </a:r>
            <a:endParaRPr lang="en-US" sz="3000" dirty="0"/>
          </a:p>
        </p:txBody>
      </p:sp>
      <p:sp>
        <p:nvSpPr>
          <p:cNvPr id="6" name="Text 4"/>
          <p:cNvSpPr txBox="1"/>
          <p:nvPr/>
        </p:nvSpPr>
        <p:spPr>
          <a:xfrm>
            <a:off x="1280160" y="2084832"/>
            <a:ext cx="4206240" cy="310896"/>
          </a:xfrm>
          <a:prstGeom prst="rect">
            <a:avLst/>
          </a:prstGeom>
          <a:noFill/>
          <a:ln/>
        </p:spPr>
        <p:txBody>
          <a:bodyPr wrap="square" lIns="0" tIns="0" rIns="0" bIns="0" rtlCol="0" anchor="ctr"/>
          <a:lstStyle/>
          <a:p>
            <a:pPr indent="0" marL="0">
              <a:buNone/>
            </a:pPr>
            <a:r>
              <a:rPr lang="en-US" sz="1100" b="1" spc="140" kern="0" dirty="0">
                <a:solidFill>
                  <a:srgbClr val="16161A"/>
                </a:solidFill>
                <a:latin typeface="Calibri" pitchFamily="34" charset="0"/>
                <a:ea typeface="Calibri" pitchFamily="34" charset="-122"/>
                <a:cs typeface="Calibri" pitchFamily="34" charset="-120"/>
              </a:rPr>
              <a:t>MEKÂNSAL KATMAN</a:t>
            </a:r>
            <a:endParaRPr lang="en-US" sz="1100" dirty="0"/>
          </a:p>
        </p:txBody>
      </p:sp>
      <p:sp>
        <p:nvSpPr>
          <p:cNvPr id="7" name="Text 5"/>
          <p:cNvSpPr txBox="1"/>
          <p:nvPr/>
        </p:nvSpPr>
        <p:spPr>
          <a:xfrm>
            <a:off x="1280160" y="2395728"/>
            <a:ext cx="4480560" cy="365760"/>
          </a:xfrm>
          <a:prstGeom prst="rect">
            <a:avLst/>
          </a:prstGeom>
          <a:noFill/>
          <a:ln/>
        </p:spPr>
        <p:txBody>
          <a:bodyPr wrap="square" lIns="0" tIns="0" rIns="0" bIns="0" rtlCol="0" anchor="ctr"/>
          <a:lstStyle/>
          <a:p>
            <a:pPr indent="0" marL="0">
              <a:lnSpc>
                <a:spcPts val="1350"/>
              </a:lnSpc>
              <a:buNone/>
            </a:pPr>
            <a:r>
              <a:rPr lang="en-US" sz="1100" dirty="0">
                <a:solidFill>
                  <a:srgbClr val="7A7A82"/>
                </a:solidFill>
                <a:latin typeface="Calibri" pitchFamily="34" charset="0"/>
                <a:ea typeface="Calibri" pitchFamily="34" charset="-122"/>
                <a:cs typeface="Calibri" pitchFamily="34" charset="-120"/>
              </a:rPr>
              <a:t>Önce bu çalışır. İnsanı tabelaya ihtiyaç duymadan yönlendirir.</a:t>
            </a:r>
            <a:endParaRPr lang="en-US" sz="1100" dirty="0"/>
          </a:p>
        </p:txBody>
      </p:sp>
      <p:sp>
        <p:nvSpPr>
          <p:cNvPr id="8" name="Shape 6"/>
          <p:cNvSpPr/>
          <p:nvPr/>
        </p:nvSpPr>
        <p:spPr>
          <a:xfrm>
            <a:off x="841248" y="2971800"/>
            <a:ext cx="91440" cy="91440"/>
          </a:xfrm>
          <a:prstGeom prst="ellipse">
            <a:avLst/>
          </a:prstGeom>
          <a:solidFill>
            <a:srgbClr val="8C3A2B"/>
          </a:solidFill>
          <a:ln w="12700">
            <a:solidFill>
              <a:srgbClr val="8C3A2B"/>
            </a:solidFill>
            <a:prstDash val="solid"/>
          </a:ln>
        </p:spPr>
      </p:sp>
      <p:sp>
        <p:nvSpPr>
          <p:cNvPr id="9" name="Text 7"/>
          <p:cNvSpPr txBox="1"/>
          <p:nvPr/>
        </p:nvSpPr>
        <p:spPr>
          <a:xfrm>
            <a:off x="1143000" y="2907792"/>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Görüş hatları ve açık perspektifler</a:t>
            </a:r>
            <a:endParaRPr lang="en-US" sz="1150" dirty="0"/>
          </a:p>
        </p:txBody>
      </p:sp>
      <p:sp>
        <p:nvSpPr>
          <p:cNvPr id="10" name="Shape 8"/>
          <p:cNvSpPr/>
          <p:nvPr/>
        </p:nvSpPr>
        <p:spPr>
          <a:xfrm>
            <a:off x="841248" y="3355848"/>
            <a:ext cx="91440" cy="91440"/>
          </a:xfrm>
          <a:prstGeom prst="ellipse">
            <a:avLst/>
          </a:prstGeom>
          <a:solidFill>
            <a:srgbClr val="8C3A2B"/>
          </a:solidFill>
          <a:ln w="12700">
            <a:solidFill>
              <a:srgbClr val="8C3A2B"/>
            </a:solidFill>
            <a:prstDash val="solid"/>
          </a:ln>
        </p:spPr>
      </p:sp>
      <p:sp>
        <p:nvSpPr>
          <p:cNvPr id="11" name="Text 9"/>
          <p:cNvSpPr txBox="1"/>
          <p:nvPr/>
        </p:nvSpPr>
        <p:spPr>
          <a:xfrm>
            <a:off x="1143000" y="3291840"/>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Işık farkı — aydınlık nokta çeker</a:t>
            </a:r>
            <a:endParaRPr lang="en-US" sz="1150" dirty="0"/>
          </a:p>
        </p:txBody>
      </p:sp>
      <p:sp>
        <p:nvSpPr>
          <p:cNvPr id="12" name="Shape 10"/>
          <p:cNvSpPr/>
          <p:nvPr/>
        </p:nvSpPr>
        <p:spPr>
          <a:xfrm>
            <a:off x="841248" y="3739896"/>
            <a:ext cx="91440" cy="91440"/>
          </a:xfrm>
          <a:prstGeom prst="ellipse">
            <a:avLst/>
          </a:prstGeom>
          <a:solidFill>
            <a:srgbClr val="8C3A2B"/>
          </a:solidFill>
          <a:ln w="12700">
            <a:solidFill>
              <a:srgbClr val="8C3A2B"/>
            </a:solidFill>
            <a:prstDash val="solid"/>
          </a:ln>
        </p:spPr>
      </p:sp>
      <p:sp>
        <p:nvSpPr>
          <p:cNvPr id="13" name="Text 11"/>
          <p:cNvSpPr txBox="1"/>
          <p:nvPr/>
        </p:nvSpPr>
        <p:spPr>
          <a:xfrm>
            <a:off x="1143000" y="3675888"/>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Tavan yüksekliğindeki değişim</a:t>
            </a:r>
            <a:endParaRPr lang="en-US" sz="1150" dirty="0"/>
          </a:p>
        </p:txBody>
      </p:sp>
      <p:sp>
        <p:nvSpPr>
          <p:cNvPr id="14" name="Shape 12"/>
          <p:cNvSpPr/>
          <p:nvPr/>
        </p:nvSpPr>
        <p:spPr>
          <a:xfrm>
            <a:off x="841248" y="4123944"/>
            <a:ext cx="91440" cy="91440"/>
          </a:xfrm>
          <a:prstGeom prst="ellipse">
            <a:avLst/>
          </a:prstGeom>
          <a:solidFill>
            <a:srgbClr val="8C3A2B"/>
          </a:solidFill>
          <a:ln w="12700">
            <a:solidFill>
              <a:srgbClr val="8C3A2B"/>
            </a:solidFill>
            <a:prstDash val="solid"/>
          </a:ln>
        </p:spPr>
      </p:sp>
      <p:sp>
        <p:nvSpPr>
          <p:cNvPr id="15" name="Text 13"/>
          <p:cNvSpPr txBox="1"/>
          <p:nvPr/>
        </p:nvSpPr>
        <p:spPr>
          <a:xfrm>
            <a:off x="1143000" y="4059936"/>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Zemin malzemesi ve deseni</a:t>
            </a:r>
            <a:endParaRPr lang="en-US" sz="1150" dirty="0"/>
          </a:p>
        </p:txBody>
      </p:sp>
      <p:sp>
        <p:nvSpPr>
          <p:cNvPr id="16" name="Shape 14"/>
          <p:cNvSpPr/>
          <p:nvPr/>
        </p:nvSpPr>
        <p:spPr>
          <a:xfrm>
            <a:off x="841248" y="4507992"/>
            <a:ext cx="91440" cy="91440"/>
          </a:xfrm>
          <a:prstGeom prst="ellipse">
            <a:avLst/>
          </a:prstGeom>
          <a:solidFill>
            <a:srgbClr val="8C3A2B"/>
          </a:solidFill>
          <a:ln w="12700">
            <a:solidFill>
              <a:srgbClr val="8C3A2B"/>
            </a:solidFill>
            <a:prstDash val="solid"/>
          </a:ln>
        </p:spPr>
      </p:sp>
      <p:sp>
        <p:nvSpPr>
          <p:cNvPr id="17" name="Text 15"/>
          <p:cNvSpPr txBox="1"/>
          <p:nvPr/>
        </p:nvSpPr>
        <p:spPr>
          <a:xfrm>
            <a:off x="1143000" y="4443984"/>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Koridor genişliği hiyerarşisi</a:t>
            </a:r>
            <a:endParaRPr lang="en-US" sz="1150" dirty="0"/>
          </a:p>
        </p:txBody>
      </p:sp>
      <p:sp>
        <p:nvSpPr>
          <p:cNvPr id="18" name="Shape 16"/>
          <p:cNvSpPr/>
          <p:nvPr/>
        </p:nvSpPr>
        <p:spPr>
          <a:xfrm>
            <a:off x="841248" y="4892040"/>
            <a:ext cx="91440" cy="91440"/>
          </a:xfrm>
          <a:prstGeom prst="ellipse">
            <a:avLst/>
          </a:prstGeom>
          <a:solidFill>
            <a:srgbClr val="8C3A2B"/>
          </a:solidFill>
          <a:ln w="12700">
            <a:solidFill>
              <a:srgbClr val="8C3A2B"/>
            </a:solidFill>
            <a:prstDash val="solid"/>
          </a:ln>
        </p:spPr>
      </p:sp>
      <p:sp>
        <p:nvSpPr>
          <p:cNvPr id="19" name="Text 17"/>
          <p:cNvSpPr txBox="1"/>
          <p:nvPr/>
        </p:nvSpPr>
        <p:spPr>
          <a:xfrm>
            <a:off x="1143000" y="4828032"/>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Bir odak nesnesi ya da vista</a:t>
            </a:r>
            <a:endParaRPr lang="en-US" sz="1150" dirty="0"/>
          </a:p>
        </p:txBody>
      </p:sp>
      <p:sp>
        <p:nvSpPr>
          <p:cNvPr id="20" name="Text 18"/>
          <p:cNvSpPr txBox="1"/>
          <p:nvPr/>
        </p:nvSpPr>
        <p:spPr>
          <a:xfrm>
            <a:off x="6382512" y="2011680"/>
            <a:ext cx="457200" cy="457200"/>
          </a:xfrm>
          <a:prstGeom prst="rect">
            <a:avLst/>
          </a:prstGeom>
          <a:noFill/>
          <a:ln/>
        </p:spPr>
        <p:txBody>
          <a:bodyPr wrap="square" lIns="0" tIns="0" rIns="0" bIns="0" rtlCol="0" anchor="ctr"/>
          <a:lstStyle/>
          <a:p>
            <a:pPr indent="0" marL="0">
              <a:buNone/>
            </a:pPr>
            <a:r>
              <a:rPr lang="en-US" sz="3000" b="1" dirty="0">
                <a:solidFill>
                  <a:srgbClr val="7A7A82"/>
                </a:solidFill>
                <a:latin typeface="Cambria" pitchFamily="34" charset="0"/>
                <a:ea typeface="Cambria" pitchFamily="34" charset="-122"/>
                <a:cs typeface="Cambria" pitchFamily="34" charset="-120"/>
              </a:rPr>
              <a:t>2</a:t>
            </a:r>
            <a:endParaRPr lang="en-US" sz="3000" dirty="0"/>
          </a:p>
        </p:txBody>
      </p:sp>
      <p:sp>
        <p:nvSpPr>
          <p:cNvPr id="21" name="Text 19"/>
          <p:cNvSpPr txBox="1"/>
          <p:nvPr/>
        </p:nvSpPr>
        <p:spPr>
          <a:xfrm>
            <a:off x="6885432" y="2084832"/>
            <a:ext cx="4206240" cy="310896"/>
          </a:xfrm>
          <a:prstGeom prst="rect">
            <a:avLst/>
          </a:prstGeom>
          <a:noFill/>
          <a:ln/>
        </p:spPr>
        <p:txBody>
          <a:bodyPr wrap="square" lIns="0" tIns="0" rIns="0" bIns="0" rtlCol="0" anchor="ctr"/>
          <a:lstStyle/>
          <a:p>
            <a:pPr indent="0" marL="0">
              <a:buNone/>
            </a:pPr>
            <a:r>
              <a:rPr lang="en-US" sz="1100" b="1" spc="140" kern="0" dirty="0">
                <a:solidFill>
                  <a:srgbClr val="16161A"/>
                </a:solidFill>
                <a:latin typeface="Calibri" pitchFamily="34" charset="0"/>
                <a:ea typeface="Calibri" pitchFamily="34" charset="-122"/>
                <a:cs typeface="Calibri" pitchFamily="34" charset="-120"/>
              </a:rPr>
              <a:t>GRAFİK KATMAN</a:t>
            </a:r>
            <a:endParaRPr lang="en-US" sz="1100" dirty="0"/>
          </a:p>
        </p:txBody>
      </p:sp>
      <p:sp>
        <p:nvSpPr>
          <p:cNvPr id="22" name="Text 20"/>
          <p:cNvSpPr txBox="1"/>
          <p:nvPr/>
        </p:nvSpPr>
        <p:spPr>
          <a:xfrm>
            <a:off x="6885432" y="2395728"/>
            <a:ext cx="4480560" cy="365760"/>
          </a:xfrm>
          <a:prstGeom prst="rect">
            <a:avLst/>
          </a:prstGeom>
          <a:noFill/>
          <a:ln/>
        </p:spPr>
        <p:txBody>
          <a:bodyPr wrap="square" lIns="0" tIns="0" rIns="0" bIns="0" rtlCol="0" anchor="ctr"/>
          <a:lstStyle/>
          <a:p>
            <a:pPr indent="0" marL="0">
              <a:lnSpc>
                <a:spcPts val="1350"/>
              </a:lnSpc>
              <a:buNone/>
            </a:pPr>
            <a:r>
              <a:rPr lang="en-US" sz="1100" dirty="0">
                <a:solidFill>
                  <a:srgbClr val="7A7A82"/>
                </a:solidFill>
                <a:latin typeface="Calibri" pitchFamily="34" charset="0"/>
                <a:ea typeface="Calibri" pitchFamily="34" charset="-122"/>
                <a:cs typeface="Calibri" pitchFamily="34" charset="-120"/>
              </a:rPr>
              <a:t>Sonra gelir. Mekânsal katmanın yerini alamaz, onu tamamlar.</a:t>
            </a:r>
            <a:endParaRPr lang="en-US" sz="1100" dirty="0"/>
          </a:p>
        </p:txBody>
      </p:sp>
      <p:sp>
        <p:nvSpPr>
          <p:cNvPr id="23" name="Shape 21"/>
          <p:cNvSpPr/>
          <p:nvPr/>
        </p:nvSpPr>
        <p:spPr>
          <a:xfrm>
            <a:off x="6446520" y="2971800"/>
            <a:ext cx="91440" cy="91440"/>
          </a:xfrm>
          <a:prstGeom prst="ellipse">
            <a:avLst/>
          </a:prstGeom>
          <a:solidFill>
            <a:srgbClr val="7A7A82"/>
          </a:solidFill>
          <a:ln w="12700">
            <a:solidFill>
              <a:srgbClr val="7A7A82"/>
            </a:solidFill>
            <a:prstDash val="solid"/>
          </a:ln>
        </p:spPr>
      </p:sp>
      <p:sp>
        <p:nvSpPr>
          <p:cNvPr id="24" name="Text 22"/>
          <p:cNvSpPr txBox="1"/>
          <p:nvPr/>
        </p:nvSpPr>
        <p:spPr>
          <a:xfrm>
            <a:off x="6748272" y="2907792"/>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Bölüm ve kategori tabelaları</a:t>
            </a:r>
            <a:endParaRPr lang="en-US" sz="1150" dirty="0"/>
          </a:p>
        </p:txBody>
      </p:sp>
      <p:sp>
        <p:nvSpPr>
          <p:cNvPr id="25" name="Shape 23"/>
          <p:cNvSpPr/>
          <p:nvPr/>
        </p:nvSpPr>
        <p:spPr>
          <a:xfrm>
            <a:off x="6446520" y="3355848"/>
            <a:ext cx="91440" cy="91440"/>
          </a:xfrm>
          <a:prstGeom prst="ellipse">
            <a:avLst/>
          </a:prstGeom>
          <a:solidFill>
            <a:srgbClr val="7A7A82"/>
          </a:solidFill>
          <a:ln w="12700">
            <a:solidFill>
              <a:srgbClr val="7A7A82"/>
            </a:solidFill>
            <a:prstDash val="solid"/>
          </a:ln>
        </p:spPr>
      </p:sp>
      <p:sp>
        <p:nvSpPr>
          <p:cNvPr id="26" name="Text 24"/>
          <p:cNvSpPr txBox="1"/>
          <p:nvPr/>
        </p:nvSpPr>
        <p:spPr>
          <a:xfrm>
            <a:off x="6748272" y="3291840"/>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Ürün etiketi ve fiyat bilgisi</a:t>
            </a:r>
            <a:endParaRPr lang="en-US" sz="1150" dirty="0"/>
          </a:p>
        </p:txBody>
      </p:sp>
      <p:sp>
        <p:nvSpPr>
          <p:cNvPr id="27" name="Shape 25"/>
          <p:cNvSpPr/>
          <p:nvPr/>
        </p:nvSpPr>
        <p:spPr>
          <a:xfrm>
            <a:off x="6446520" y="3739896"/>
            <a:ext cx="91440" cy="91440"/>
          </a:xfrm>
          <a:prstGeom prst="ellipse">
            <a:avLst/>
          </a:prstGeom>
          <a:solidFill>
            <a:srgbClr val="7A7A82"/>
          </a:solidFill>
          <a:ln w="12700">
            <a:solidFill>
              <a:srgbClr val="7A7A82"/>
            </a:solidFill>
            <a:prstDash val="solid"/>
          </a:ln>
        </p:spPr>
      </p:sp>
      <p:sp>
        <p:nvSpPr>
          <p:cNvPr id="28" name="Text 26"/>
          <p:cNvSpPr txBox="1"/>
          <p:nvPr/>
        </p:nvSpPr>
        <p:spPr>
          <a:xfrm>
            <a:off x="6748272" y="3675888"/>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Yön işaretleri ve kat planı</a:t>
            </a:r>
            <a:endParaRPr lang="en-US" sz="1150" dirty="0"/>
          </a:p>
        </p:txBody>
      </p:sp>
      <p:sp>
        <p:nvSpPr>
          <p:cNvPr id="29" name="Shape 27"/>
          <p:cNvSpPr/>
          <p:nvPr/>
        </p:nvSpPr>
        <p:spPr>
          <a:xfrm>
            <a:off x="6446520" y="4123944"/>
            <a:ext cx="91440" cy="91440"/>
          </a:xfrm>
          <a:prstGeom prst="ellipse">
            <a:avLst/>
          </a:prstGeom>
          <a:solidFill>
            <a:srgbClr val="7A7A82"/>
          </a:solidFill>
          <a:ln w="12700">
            <a:solidFill>
              <a:srgbClr val="7A7A82"/>
            </a:solidFill>
            <a:prstDash val="solid"/>
          </a:ln>
        </p:spPr>
      </p:sp>
      <p:sp>
        <p:nvSpPr>
          <p:cNvPr id="30" name="Text 28"/>
          <p:cNvSpPr txBox="1"/>
          <p:nvPr/>
        </p:nvSpPr>
        <p:spPr>
          <a:xfrm>
            <a:off x="6748272" y="4059936"/>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Kampanya ve bilgi panoları</a:t>
            </a:r>
            <a:endParaRPr lang="en-US" sz="1150" dirty="0"/>
          </a:p>
        </p:txBody>
      </p:sp>
      <p:sp>
        <p:nvSpPr>
          <p:cNvPr id="31" name="Shape 29"/>
          <p:cNvSpPr/>
          <p:nvPr/>
        </p:nvSpPr>
        <p:spPr>
          <a:xfrm>
            <a:off x="6446520" y="4507992"/>
            <a:ext cx="91440" cy="91440"/>
          </a:xfrm>
          <a:prstGeom prst="ellipse">
            <a:avLst/>
          </a:prstGeom>
          <a:solidFill>
            <a:srgbClr val="7A7A82"/>
          </a:solidFill>
          <a:ln w="12700">
            <a:solidFill>
              <a:srgbClr val="7A7A82"/>
            </a:solidFill>
            <a:prstDash val="solid"/>
          </a:ln>
        </p:spPr>
      </p:sp>
      <p:sp>
        <p:nvSpPr>
          <p:cNvPr id="32" name="Text 30"/>
          <p:cNvSpPr txBox="1"/>
          <p:nvPr/>
        </p:nvSpPr>
        <p:spPr>
          <a:xfrm>
            <a:off x="6748272" y="4443984"/>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Piktogram ve renk kodlama</a:t>
            </a:r>
            <a:endParaRPr lang="en-US" sz="1150" dirty="0"/>
          </a:p>
        </p:txBody>
      </p:sp>
      <p:sp>
        <p:nvSpPr>
          <p:cNvPr id="33" name="Shape 31"/>
          <p:cNvSpPr/>
          <p:nvPr/>
        </p:nvSpPr>
        <p:spPr>
          <a:xfrm>
            <a:off x="6446520" y="4892040"/>
            <a:ext cx="91440" cy="91440"/>
          </a:xfrm>
          <a:prstGeom prst="ellipse">
            <a:avLst/>
          </a:prstGeom>
          <a:solidFill>
            <a:srgbClr val="7A7A82"/>
          </a:solidFill>
          <a:ln w="12700">
            <a:solidFill>
              <a:srgbClr val="7A7A82"/>
            </a:solidFill>
            <a:prstDash val="solid"/>
          </a:ln>
        </p:spPr>
      </p:sp>
      <p:sp>
        <p:nvSpPr>
          <p:cNvPr id="34" name="Text 32"/>
          <p:cNvSpPr txBox="1"/>
          <p:nvPr/>
        </p:nvSpPr>
        <p:spPr>
          <a:xfrm>
            <a:off x="6748272" y="4828032"/>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Dokunsal harita ve kabartma yazı</a:t>
            </a:r>
            <a:endParaRPr lang="en-US" sz="1150" dirty="0"/>
          </a:p>
        </p:txBody>
      </p:sp>
      <p:sp>
        <p:nvSpPr>
          <p:cNvPr id="35" name="Text 33"/>
          <p:cNvSpPr txBox="1"/>
          <p:nvPr/>
        </p:nvSpPr>
        <p:spPr>
          <a:xfrm>
            <a:off x="777240" y="5394960"/>
            <a:ext cx="10424160" cy="457200"/>
          </a:xfrm>
          <a:prstGeom prst="rect">
            <a:avLst/>
          </a:prstGeom>
          <a:noFill/>
          <a:ln/>
        </p:spPr>
        <p:txBody>
          <a:bodyPr wrap="square" lIns="0" tIns="0" rIns="0" bIns="0" rtlCol="0" anchor="ctr"/>
          <a:lstStyle/>
          <a:p>
            <a:pPr algn="l" indent="0" marL="0">
              <a:lnSpc>
                <a:spcPts val="1200"/>
              </a:lnSpc>
              <a:buNone/>
            </a:pPr>
            <a:r>
              <a:rPr lang="en-US" sz="1400" i="1" dirty="0">
                <a:solidFill>
                  <a:srgbClr val="8C3A2B"/>
                </a:solidFill>
                <a:latin typeface="Cambria" pitchFamily="34" charset="0"/>
                <a:ea typeface="Cambria" pitchFamily="34" charset="-122"/>
                <a:cs typeface="Cambria" pitchFamily="34" charset="-120"/>
              </a:rPr>
              <a:t>İyi bir mağaza tabelayla değil kurguyla yönlendirir. Tabela, kurgunun çözemediğini kapatmak için değil, onu netleştirmek için vardır.</a:t>
            </a:r>
            <a:endParaRPr lang="en-US" sz="1400" dirty="0"/>
          </a:p>
        </p:txBody>
      </p:sp>
      <p:sp>
        <p:nvSpPr>
          <p:cNvPr id="36" name="Text 34"/>
          <p:cNvSpPr txBox="1"/>
          <p:nvPr/>
        </p:nvSpPr>
        <p:spPr>
          <a:xfrm>
            <a:off x="777240" y="5943600"/>
            <a:ext cx="10424160" cy="365760"/>
          </a:xfrm>
          <a:prstGeom prst="rect">
            <a:avLst/>
          </a:prstGeom>
          <a:noFill/>
          <a:ln/>
        </p:spPr>
        <p:txBody>
          <a:bodyPr wrap="square" lIns="0" tIns="0" rIns="0" bIns="0" rtlCol="0" anchor="ctr"/>
          <a:lstStyle/>
          <a:p>
            <a:pPr algn="l" indent="0" marL="0">
              <a:lnSpc>
                <a:spcPts val="1200"/>
              </a:lnSpc>
              <a:buNone/>
            </a:pPr>
            <a:r>
              <a:rPr lang="en-US" sz="1100" dirty="0">
                <a:solidFill>
                  <a:srgbClr val="7A7A82"/>
                </a:solidFill>
                <a:latin typeface="Calibri" pitchFamily="34" charset="0"/>
                <a:ea typeface="Calibri" pitchFamily="34" charset="-122"/>
                <a:cs typeface="Calibri" pitchFamily="34" charset="-120"/>
              </a:rPr>
              <a:t>Türkiye'de 105 engelli kullanıcıyla yapılan bir araştırmada en sık tekrarlanan tek sorun, yönlendirme ve uyarı işaretlerinin yetersizliğidir (Akyazıcı &amp; Yaşar, 2026).</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 · AKIŞ VE YÖNLENDİRME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Müşteri yolculuğu: yedi an, yedi tasarım sorusu</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29</a:t>
            </a:r>
            <a:endParaRPr lang="en-US" sz="950" dirty="0"/>
          </a:p>
        </p:txBody>
      </p:sp>
      <p:sp>
        <p:nvSpPr>
          <p:cNvPr id="5" name="Shape 3"/>
          <p:cNvSpPr/>
          <p:nvPr/>
        </p:nvSpPr>
        <p:spPr>
          <a:xfrm>
            <a:off x="868680" y="2286000"/>
            <a:ext cx="1323267" cy="566928"/>
          </a:xfrm>
          <a:prstGeom prst="rect">
            <a:avLst/>
          </a:prstGeom>
          <a:ln w="9525">
            <a:solidFill>
              <a:srgbClr val="C9C9CF"/>
            </a:solidFill>
            <a:prstDash val="solid"/>
          </a:ln>
        </p:spPr>
      </p:sp>
      <p:sp>
        <p:nvSpPr>
          <p:cNvPr id="6" name="Text 4"/>
          <p:cNvSpPr txBox="1"/>
          <p:nvPr/>
        </p:nvSpPr>
        <p:spPr>
          <a:xfrm>
            <a:off x="905256"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16161A"/>
                </a:solidFill>
                <a:latin typeface="Calibri" pitchFamily="34" charset="0"/>
                <a:ea typeface="Calibri" pitchFamily="34" charset="-122"/>
                <a:cs typeface="Calibri" pitchFamily="34" charset="-120"/>
              </a:rPr>
              <a:t>ÇEKİM</a:t>
            </a:r>
            <a:endParaRPr lang="en-US" sz="950" dirty="0"/>
          </a:p>
        </p:txBody>
      </p:sp>
      <p:sp>
        <p:nvSpPr>
          <p:cNvPr id="7" name="Text 5"/>
          <p:cNvSpPr txBox="1"/>
          <p:nvPr/>
        </p:nvSpPr>
        <p:spPr>
          <a:xfrm>
            <a:off x="868680"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Cepheden ne</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görünüyor?</a:t>
            </a:r>
            <a:endParaRPr lang="en-US" sz="950" dirty="0"/>
          </a:p>
        </p:txBody>
      </p:sp>
      <p:sp>
        <p:nvSpPr>
          <p:cNvPr id="8" name="Shape 6"/>
          <p:cNvSpPr/>
          <p:nvPr/>
        </p:nvSpPr>
        <p:spPr>
          <a:xfrm>
            <a:off x="2219379" y="2569464"/>
            <a:ext cx="146304" cy="0"/>
          </a:xfrm>
          <a:prstGeom prst="line">
            <a:avLst/>
          </a:prstGeom>
          <a:noFill/>
          <a:ln w="13970">
            <a:solidFill>
              <a:srgbClr val="C9C9CF"/>
            </a:solidFill>
            <a:prstDash val="solid"/>
            <a:tailEnd type="triangle"/>
          </a:ln>
        </p:spPr>
      </p:sp>
      <p:sp>
        <p:nvSpPr>
          <p:cNvPr id="9" name="Shape 7"/>
          <p:cNvSpPr/>
          <p:nvPr/>
        </p:nvSpPr>
        <p:spPr>
          <a:xfrm>
            <a:off x="2393115" y="2286000"/>
            <a:ext cx="1323267" cy="566928"/>
          </a:xfrm>
          <a:prstGeom prst="rect">
            <a:avLst/>
          </a:prstGeom>
          <a:solidFill>
            <a:srgbClr val="F6EAE6"/>
          </a:solidFill>
          <a:ln w="15875">
            <a:solidFill>
              <a:srgbClr val="8C3A2B"/>
            </a:solidFill>
            <a:prstDash val="solid"/>
          </a:ln>
        </p:spPr>
      </p:sp>
      <p:sp>
        <p:nvSpPr>
          <p:cNvPr id="10" name="Text 8"/>
          <p:cNvSpPr txBox="1"/>
          <p:nvPr/>
        </p:nvSpPr>
        <p:spPr>
          <a:xfrm>
            <a:off x="2429691"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8C3A2B"/>
                </a:solidFill>
                <a:latin typeface="Calibri" pitchFamily="34" charset="0"/>
                <a:ea typeface="Calibri" pitchFamily="34" charset="-122"/>
                <a:cs typeface="Calibri" pitchFamily="34" charset="-120"/>
              </a:rPr>
              <a:t>EŞİK</a:t>
            </a:r>
            <a:endParaRPr lang="en-US" sz="950" dirty="0"/>
          </a:p>
        </p:txBody>
      </p:sp>
      <p:sp>
        <p:nvSpPr>
          <p:cNvPr id="11" name="Text 9"/>
          <p:cNvSpPr txBox="1"/>
          <p:nvPr/>
        </p:nvSpPr>
        <p:spPr>
          <a:xfrm>
            <a:off x="2393115"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Girerken ne</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değişiyor?</a:t>
            </a:r>
            <a:endParaRPr lang="en-US" sz="950" dirty="0"/>
          </a:p>
        </p:txBody>
      </p:sp>
      <p:sp>
        <p:nvSpPr>
          <p:cNvPr id="12" name="Shape 10"/>
          <p:cNvSpPr/>
          <p:nvPr/>
        </p:nvSpPr>
        <p:spPr>
          <a:xfrm>
            <a:off x="3743815" y="2569464"/>
            <a:ext cx="146304" cy="0"/>
          </a:xfrm>
          <a:prstGeom prst="line">
            <a:avLst/>
          </a:prstGeom>
          <a:noFill/>
          <a:ln w="13970">
            <a:solidFill>
              <a:srgbClr val="C9C9CF"/>
            </a:solidFill>
            <a:prstDash val="solid"/>
            <a:tailEnd type="triangle"/>
          </a:ln>
        </p:spPr>
      </p:sp>
      <p:sp>
        <p:nvSpPr>
          <p:cNvPr id="13" name="Shape 11"/>
          <p:cNvSpPr/>
          <p:nvPr/>
        </p:nvSpPr>
        <p:spPr>
          <a:xfrm>
            <a:off x="3917551" y="2286000"/>
            <a:ext cx="1323267" cy="566928"/>
          </a:xfrm>
          <a:prstGeom prst="rect">
            <a:avLst/>
          </a:prstGeom>
          <a:ln w="9525">
            <a:solidFill>
              <a:srgbClr val="C9C9CF"/>
            </a:solidFill>
            <a:prstDash val="solid"/>
          </a:ln>
        </p:spPr>
      </p:sp>
      <p:sp>
        <p:nvSpPr>
          <p:cNvPr id="14" name="Text 12"/>
          <p:cNvSpPr txBox="1"/>
          <p:nvPr/>
        </p:nvSpPr>
        <p:spPr>
          <a:xfrm>
            <a:off x="3954127"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16161A"/>
                </a:solidFill>
                <a:latin typeface="Calibri" pitchFamily="34" charset="0"/>
                <a:ea typeface="Calibri" pitchFamily="34" charset="-122"/>
                <a:cs typeface="Calibri" pitchFamily="34" charset="-120"/>
              </a:rPr>
              <a:t>YÖNELME</a:t>
            </a:r>
            <a:endParaRPr lang="en-US" sz="950" dirty="0"/>
          </a:p>
        </p:txBody>
      </p:sp>
      <p:sp>
        <p:nvSpPr>
          <p:cNvPr id="15" name="Text 13"/>
          <p:cNvSpPr txBox="1"/>
          <p:nvPr/>
        </p:nvSpPr>
        <p:spPr>
          <a:xfrm>
            <a:off x="3917551"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Nereye gideceğimi</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nasıl anlıyorum?</a:t>
            </a:r>
            <a:endParaRPr lang="en-US" sz="950" dirty="0"/>
          </a:p>
        </p:txBody>
      </p:sp>
      <p:sp>
        <p:nvSpPr>
          <p:cNvPr id="16" name="Shape 14"/>
          <p:cNvSpPr/>
          <p:nvPr/>
        </p:nvSpPr>
        <p:spPr>
          <a:xfrm>
            <a:off x="5268250" y="2569464"/>
            <a:ext cx="146304" cy="0"/>
          </a:xfrm>
          <a:prstGeom prst="line">
            <a:avLst/>
          </a:prstGeom>
          <a:noFill/>
          <a:ln w="13970">
            <a:solidFill>
              <a:srgbClr val="C9C9CF"/>
            </a:solidFill>
            <a:prstDash val="solid"/>
            <a:tailEnd type="triangle"/>
          </a:ln>
        </p:spPr>
      </p:sp>
      <p:sp>
        <p:nvSpPr>
          <p:cNvPr id="17" name="Shape 15"/>
          <p:cNvSpPr/>
          <p:nvPr/>
        </p:nvSpPr>
        <p:spPr>
          <a:xfrm>
            <a:off x="5441986" y="2286000"/>
            <a:ext cx="1323267" cy="566928"/>
          </a:xfrm>
          <a:prstGeom prst="rect">
            <a:avLst/>
          </a:prstGeom>
          <a:ln w="9525">
            <a:solidFill>
              <a:srgbClr val="C9C9CF"/>
            </a:solidFill>
            <a:prstDash val="solid"/>
          </a:ln>
        </p:spPr>
      </p:sp>
      <p:sp>
        <p:nvSpPr>
          <p:cNvPr id="18" name="Text 16"/>
          <p:cNvSpPr txBox="1"/>
          <p:nvPr/>
        </p:nvSpPr>
        <p:spPr>
          <a:xfrm>
            <a:off x="5478562"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16161A"/>
                </a:solidFill>
                <a:latin typeface="Calibri" pitchFamily="34" charset="0"/>
                <a:ea typeface="Calibri" pitchFamily="34" charset="-122"/>
                <a:cs typeface="Calibri" pitchFamily="34" charset="-120"/>
              </a:rPr>
              <a:t>GEZİNME</a:t>
            </a:r>
            <a:endParaRPr lang="en-US" sz="950" dirty="0"/>
          </a:p>
        </p:txBody>
      </p:sp>
      <p:sp>
        <p:nvSpPr>
          <p:cNvPr id="19" name="Text 17"/>
          <p:cNvSpPr txBox="1"/>
          <p:nvPr/>
        </p:nvSpPr>
        <p:spPr>
          <a:xfrm>
            <a:off x="5441986"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Ürünü nasıl</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tarıyorum?</a:t>
            </a:r>
            <a:endParaRPr lang="en-US" sz="950" dirty="0"/>
          </a:p>
        </p:txBody>
      </p:sp>
      <p:sp>
        <p:nvSpPr>
          <p:cNvPr id="20" name="Shape 18"/>
          <p:cNvSpPr/>
          <p:nvPr/>
        </p:nvSpPr>
        <p:spPr>
          <a:xfrm>
            <a:off x="6792686" y="2569464"/>
            <a:ext cx="146304" cy="0"/>
          </a:xfrm>
          <a:prstGeom prst="line">
            <a:avLst/>
          </a:prstGeom>
          <a:noFill/>
          <a:ln w="13970">
            <a:solidFill>
              <a:srgbClr val="C9C9CF"/>
            </a:solidFill>
            <a:prstDash val="solid"/>
            <a:tailEnd type="triangle"/>
          </a:ln>
        </p:spPr>
      </p:sp>
      <p:sp>
        <p:nvSpPr>
          <p:cNvPr id="21" name="Shape 19"/>
          <p:cNvSpPr/>
          <p:nvPr/>
        </p:nvSpPr>
        <p:spPr>
          <a:xfrm>
            <a:off x="6966422" y="2286000"/>
            <a:ext cx="1323267" cy="566928"/>
          </a:xfrm>
          <a:prstGeom prst="rect">
            <a:avLst/>
          </a:prstGeom>
          <a:solidFill>
            <a:srgbClr val="F6EAE6"/>
          </a:solidFill>
          <a:ln w="15875">
            <a:solidFill>
              <a:srgbClr val="8C3A2B"/>
            </a:solidFill>
            <a:prstDash val="solid"/>
          </a:ln>
        </p:spPr>
      </p:sp>
      <p:sp>
        <p:nvSpPr>
          <p:cNvPr id="22" name="Text 20"/>
          <p:cNvSpPr txBox="1"/>
          <p:nvPr/>
        </p:nvSpPr>
        <p:spPr>
          <a:xfrm>
            <a:off x="7002998"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8C3A2B"/>
                </a:solidFill>
                <a:latin typeface="Calibri" pitchFamily="34" charset="0"/>
                <a:ea typeface="Calibri" pitchFamily="34" charset="-122"/>
                <a:cs typeface="Calibri" pitchFamily="34" charset="-120"/>
              </a:rPr>
              <a:t>ETKİLEŞİM</a:t>
            </a:r>
            <a:endParaRPr lang="en-US" sz="950" dirty="0"/>
          </a:p>
        </p:txBody>
      </p:sp>
      <p:sp>
        <p:nvSpPr>
          <p:cNvPr id="23" name="Text 21"/>
          <p:cNvSpPr txBox="1"/>
          <p:nvPr/>
        </p:nvSpPr>
        <p:spPr>
          <a:xfrm>
            <a:off x="6966422"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Dokunuyor,</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deniyor muyum?</a:t>
            </a:r>
            <a:endParaRPr lang="en-US" sz="950" dirty="0"/>
          </a:p>
        </p:txBody>
      </p:sp>
      <p:sp>
        <p:nvSpPr>
          <p:cNvPr id="24" name="Shape 22"/>
          <p:cNvSpPr/>
          <p:nvPr/>
        </p:nvSpPr>
        <p:spPr>
          <a:xfrm>
            <a:off x="8317121" y="2569464"/>
            <a:ext cx="146304" cy="0"/>
          </a:xfrm>
          <a:prstGeom prst="line">
            <a:avLst/>
          </a:prstGeom>
          <a:noFill/>
          <a:ln w="13970">
            <a:solidFill>
              <a:srgbClr val="C9C9CF"/>
            </a:solidFill>
            <a:prstDash val="solid"/>
            <a:tailEnd type="triangle"/>
          </a:ln>
        </p:spPr>
      </p:sp>
      <p:sp>
        <p:nvSpPr>
          <p:cNvPr id="25" name="Shape 23"/>
          <p:cNvSpPr/>
          <p:nvPr/>
        </p:nvSpPr>
        <p:spPr>
          <a:xfrm>
            <a:off x="8490857" y="2286000"/>
            <a:ext cx="1323267" cy="566928"/>
          </a:xfrm>
          <a:prstGeom prst="rect">
            <a:avLst/>
          </a:prstGeom>
          <a:ln w="9525">
            <a:solidFill>
              <a:srgbClr val="C9C9CF"/>
            </a:solidFill>
            <a:prstDash val="solid"/>
          </a:ln>
        </p:spPr>
      </p:sp>
      <p:sp>
        <p:nvSpPr>
          <p:cNvPr id="26" name="Text 24"/>
          <p:cNvSpPr txBox="1"/>
          <p:nvPr/>
        </p:nvSpPr>
        <p:spPr>
          <a:xfrm>
            <a:off x="8527433"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16161A"/>
                </a:solidFill>
                <a:latin typeface="Calibri" pitchFamily="34" charset="0"/>
                <a:ea typeface="Calibri" pitchFamily="34" charset="-122"/>
                <a:cs typeface="Calibri" pitchFamily="34" charset="-120"/>
              </a:rPr>
              <a:t>SATIN ALMA</a:t>
            </a:r>
            <a:endParaRPr lang="en-US" sz="950" dirty="0"/>
          </a:p>
        </p:txBody>
      </p:sp>
      <p:sp>
        <p:nvSpPr>
          <p:cNvPr id="27" name="Text 25"/>
          <p:cNvSpPr txBox="1"/>
          <p:nvPr/>
        </p:nvSpPr>
        <p:spPr>
          <a:xfrm>
            <a:off x="8490857"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Kasa ve kuyruk</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nerede?</a:t>
            </a:r>
            <a:endParaRPr lang="en-US" sz="950" dirty="0"/>
          </a:p>
        </p:txBody>
      </p:sp>
      <p:sp>
        <p:nvSpPr>
          <p:cNvPr id="28" name="Shape 26"/>
          <p:cNvSpPr/>
          <p:nvPr/>
        </p:nvSpPr>
        <p:spPr>
          <a:xfrm>
            <a:off x="9841557" y="2569464"/>
            <a:ext cx="146304" cy="0"/>
          </a:xfrm>
          <a:prstGeom prst="line">
            <a:avLst/>
          </a:prstGeom>
          <a:noFill/>
          <a:ln w="13970">
            <a:solidFill>
              <a:srgbClr val="C9C9CF"/>
            </a:solidFill>
            <a:prstDash val="solid"/>
            <a:tailEnd type="triangle"/>
          </a:ln>
        </p:spPr>
      </p:sp>
      <p:sp>
        <p:nvSpPr>
          <p:cNvPr id="29" name="Shape 27"/>
          <p:cNvSpPr/>
          <p:nvPr/>
        </p:nvSpPr>
        <p:spPr>
          <a:xfrm>
            <a:off x="10015293" y="2286000"/>
            <a:ext cx="1323267" cy="566928"/>
          </a:xfrm>
          <a:prstGeom prst="rect">
            <a:avLst/>
          </a:prstGeom>
          <a:ln w="9525">
            <a:solidFill>
              <a:srgbClr val="C9C9CF"/>
            </a:solidFill>
            <a:prstDash val="solid"/>
          </a:ln>
        </p:spPr>
      </p:sp>
      <p:sp>
        <p:nvSpPr>
          <p:cNvPr id="30" name="Text 28"/>
          <p:cNvSpPr txBox="1"/>
          <p:nvPr/>
        </p:nvSpPr>
        <p:spPr>
          <a:xfrm>
            <a:off x="10051869"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16161A"/>
                </a:solidFill>
                <a:latin typeface="Calibri" pitchFamily="34" charset="0"/>
                <a:ea typeface="Calibri" pitchFamily="34" charset="-122"/>
                <a:cs typeface="Calibri" pitchFamily="34" charset="-120"/>
              </a:rPr>
              <a:t>AYRILMA</a:t>
            </a:r>
            <a:endParaRPr lang="en-US" sz="950" dirty="0"/>
          </a:p>
        </p:txBody>
      </p:sp>
      <p:sp>
        <p:nvSpPr>
          <p:cNvPr id="31" name="Text 29"/>
          <p:cNvSpPr txBox="1"/>
          <p:nvPr/>
        </p:nvSpPr>
        <p:spPr>
          <a:xfrm>
            <a:off x="10015293"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Çıkarken ne</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hissediyorum?</a:t>
            </a:r>
            <a:endParaRPr lang="en-US" sz="950" dirty="0"/>
          </a:p>
        </p:txBody>
      </p:sp>
      <p:sp>
        <p:nvSpPr>
          <p:cNvPr id="32" name="Text 30"/>
          <p:cNvSpPr txBox="1"/>
          <p:nvPr/>
        </p:nvSpPr>
        <p:spPr>
          <a:xfrm>
            <a:off x="868680" y="1920240"/>
            <a:ext cx="10469880" cy="274320"/>
          </a:xfrm>
          <a:prstGeom prst="rect">
            <a:avLst/>
          </a:prstGeom>
          <a:noFill/>
          <a:ln/>
        </p:spPr>
        <p:txBody>
          <a:bodyPr wrap="square" lIns="0" tIns="0" rIns="0" bIns="0" rtlCol="0" anchor="ctr"/>
          <a:lstStyle/>
          <a:p>
            <a:pPr algn="ctr" indent="0" marL="0">
              <a:lnSpc>
                <a:spcPts val="1200"/>
              </a:lnSpc>
              <a:buNone/>
            </a:pPr>
            <a:r>
              <a:rPr lang="en-US" sz="950" dirty="0">
                <a:solidFill>
                  <a:srgbClr val="A6A6AC"/>
                </a:solidFill>
                <a:latin typeface="Calibri" pitchFamily="34" charset="0"/>
                <a:ea typeface="Calibri" pitchFamily="34" charset="-122"/>
                <a:cs typeface="Calibri" pitchFamily="34" charset="-120"/>
              </a:rPr>
              <a:t>satın alma öncesi  →  satın alma  →  sonrası</a:t>
            </a:r>
            <a:endParaRPr lang="en-US" sz="950" dirty="0"/>
          </a:p>
        </p:txBody>
      </p:sp>
      <p:sp>
        <p:nvSpPr>
          <p:cNvPr id="33" name="Text 31"/>
          <p:cNvSpPr txBox="1"/>
          <p:nvPr/>
        </p:nvSpPr>
        <p:spPr>
          <a:xfrm>
            <a:off x="777240" y="3931920"/>
            <a:ext cx="5029200" cy="224028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Alışveriş tek bir satın alma anı değil, birbirini izleyen anların dizisidir (Lemon &amp; Verhoef, 2016). Her an ayrı bir tasarım sorusu üretir.</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Ancak önemli olan anları tek tek iyileştirmek değil, aralarındaki geçişi kurmaktır. Kopuk iyi anlar bütünlüklü bir deneyim üretmez; bir mağazanın zayıf halkası, en zayıf geçişidir.</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9200" b="1" dirty="0">
                <a:solidFill>
                  <a:srgbClr val="8C3A2B"/>
                </a:solidFill>
                <a:latin typeface="Cambria" pitchFamily="34" charset="0"/>
                <a:ea typeface="Cambria" pitchFamily="34" charset="-122"/>
                <a:cs typeface="Cambria" pitchFamily="34" charset="-120"/>
              </a:rPr>
              <a:t>VII</a:t>
            </a:r>
            <a:endParaRPr lang="en-US" sz="92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Duyular</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Mekânı yalnızca gözle değil, bütün bedenle deneyimliyoruz.</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Atmosfer tek bir duyudan doğmaz</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31</a:t>
            </a:r>
            <a:endParaRPr lang="en-US" sz="950" dirty="0"/>
          </a:p>
        </p:txBody>
      </p:sp>
      <p:sp>
        <p:nvSpPr>
          <p:cNvPr id="5" name="Text 3"/>
          <p:cNvSpPr txBox="1"/>
          <p:nvPr/>
        </p:nvSpPr>
        <p:spPr>
          <a:xfrm>
            <a:off x="777240" y="1627632"/>
            <a:ext cx="10634472" cy="91440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Mimarlık kültürü görme duyusunu diğerlerinin önüne geçirir; bu da mekânı bedenden koparır (Pallasmaa, 2005). Mağaza, bu tekeli kırmak için en uygun laboratuvardır — çünkü duyusal tasarımın burada ticari bir karşılığı da vardır.</a:t>
            </a:r>
            <a:endParaRPr lang="en-US" sz="1500" dirty="0"/>
          </a:p>
        </p:txBody>
      </p:sp>
      <p:sp>
        <p:nvSpPr>
          <p:cNvPr id="6" name="Shape 4"/>
          <p:cNvSpPr/>
          <p:nvPr/>
        </p:nvSpPr>
        <p:spPr>
          <a:xfrm>
            <a:off x="1920240" y="2990088"/>
            <a:ext cx="2651760" cy="2651760"/>
          </a:xfrm>
          <a:prstGeom prst="ellipse">
            <a:avLst/>
          </a:prstGeom>
          <a:ln w="12700">
            <a:solidFill>
              <a:srgbClr val="C9C9CF"/>
            </a:solidFill>
            <a:prstDash val="solid"/>
          </a:ln>
        </p:spPr>
      </p:sp>
      <p:sp>
        <p:nvSpPr>
          <p:cNvPr id="7" name="Text 5"/>
          <p:cNvSpPr txBox="1"/>
          <p:nvPr/>
        </p:nvSpPr>
        <p:spPr>
          <a:xfrm>
            <a:off x="2423160" y="4151376"/>
            <a:ext cx="1645920" cy="329184"/>
          </a:xfrm>
          <a:prstGeom prst="rect">
            <a:avLst/>
          </a:prstGeom>
          <a:noFill/>
          <a:ln/>
        </p:spPr>
        <p:txBody>
          <a:bodyPr wrap="square" lIns="0" tIns="0" rIns="0" bIns="0" rtlCol="0" anchor="ctr"/>
          <a:lstStyle/>
          <a:p>
            <a:pPr algn="ctr" indent="0" marL="0">
              <a:buNone/>
            </a:pPr>
            <a:r>
              <a:rPr lang="en-US" sz="1050" b="1" spc="140" kern="0" dirty="0">
                <a:solidFill>
                  <a:srgbClr val="8C3A2B"/>
                </a:solidFill>
                <a:latin typeface="Calibri" pitchFamily="34" charset="0"/>
                <a:ea typeface="Calibri" pitchFamily="34" charset="-122"/>
                <a:cs typeface="Calibri" pitchFamily="34" charset="-120"/>
              </a:rPr>
              <a:t>ATMOSFER</a:t>
            </a:r>
            <a:endParaRPr lang="en-US" sz="1050" dirty="0"/>
          </a:p>
        </p:txBody>
      </p:sp>
      <p:sp>
        <p:nvSpPr>
          <p:cNvPr id="8" name="Text 6"/>
          <p:cNvSpPr txBox="1"/>
          <p:nvPr/>
        </p:nvSpPr>
        <p:spPr>
          <a:xfrm>
            <a:off x="2679192" y="2478024"/>
            <a:ext cx="1133856" cy="256032"/>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GÖRME</a:t>
            </a:r>
            <a:endParaRPr lang="en-US" sz="950" dirty="0"/>
          </a:p>
        </p:txBody>
      </p:sp>
      <p:sp>
        <p:nvSpPr>
          <p:cNvPr id="9" name="Shape 7"/>
          <p:cNvSpPr/>
          <p:nvPr/>
        </p:nvSpPr>
        <p:spPr>
          <a:xfrm flipV="1">
            <a:off x="3246120" y="2752344"/>
            <a:ext cx="0" cy="237744"/>
          </a:xfrm>
          <a:prstGeom prst="line">
            <a:avLst/>
          </a:prstGeom>
          <a:noFill/>
          <a:ln w="12700">
            <a:solidFill>
              <a:srgbClr val="C9C9CF"/>
            </a:solidFill>
            <a:prstDash val="solid"/>
          </a:ln>
        </p:spPr>
      </p:sp>
      <p:sp>
        <p:nvSpPr>
          <p:cNvPr id="10" name="Text 8"/>
          <p:cNvSpPr txBox="1"/>
          <p:nvPr/>
        </p:nvSpPr>
        <p:spPr>
          <a:xfrm>
            <a:off x="4160033" y="3332988"/>
            <a:ext cx="1133856" cy="256032"/>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İŞİTME</a:t>
            </a:r>
            <a:endParaRPr lang="en-US" sz="950" dirty="0"/>
          </a:p>
        </p:txBody>
      </p:sp>
      <p:sp>
        <p:nvSpPr>
          <p:cNvPr id="11" name="Shape 9"/>
          <p:cNvSpPr/>
          <p:nvPr/>
        </p:nvSpPr>
        <p:spPr>
          <a:xfrm flipV="1">
            <a:off x="4394366" y="3534156"/>
            <a:ext cx="205892" cy="118872"/>
          </a:xfrm>
          <a:prstGeom prst="line">
            <a:avLst/>
          </a:prstGeom>
          <a:noFill/>
          <a:ln w="12700">
            <a:solidFill>
              <a:srgbClr val="C9C9CF"/>
            </a:solidFill>
            <a:prstDash val="solid"/>
          </a:ln>
        </p:spPr>
      </p:sp>
      <p:sp>
        <p:nvSpPr>
          <p:cNvPr id="12" name="Text 10"/>
          <p:cNvSpPr txBox="1"/>
          <p:nvPr/>
        </p:nvSpPr>
        <p:spPr>
          <a:xfrm>
            <a:off x="4160033" y="5042916"/>
            <a:ext cx="1133856" cy="256032"/>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DOKUNMA</a:t>
            </a:r>
            <a:endParaRPr lang="en-US" sz="950" dirty="0"/>
          </a:p>
        </p:txBody>
      </p:sp>
      <p:sp>
        <p:nvSpPr>
          <p:cNvPr id="13" name="Shape 11"/>
          <p:cNvSpPr/>
          <p:nvPr/>
        </p:nvSpPr>
        <p:spPr>
          <a:xfrm>
            <a:off x="4394366" y="4978908"/>
            <a:ext cx="205892" cy="118872"/>
          </a:xfrm>
          <a:prstGeom prst="line">
            <a:avLst/>
          </a:prstGeom>
          <a:noFill/>
          <a:ln w="12700">
            <a:solidFill>
              <a:srgbClr val="C9C9CF"/>
            </a:solidFill>
            <a:prstDash val="solid"/>
          </a:ln>
        </p:spPr>
      </p:sp>
      <p:sp>
        <p:nvSpPr>
          <p:cNvPr id="14" name="Text 12"/>
          <p:cNvSpPr txBox="1"/>
          <p:nvPr/>
        </p:nvSpPr>
        <p:spPr>
          <a:xfrm>
            <a:off x="2679192" y="5897880"/>
            <a:ext cx="1133856" cy="256032"/>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KOKLAMA</a:t>
            </a:r>
            <a:endParaRPr lang="en-US" sz="950" dirty="0"/>
          </a:p>
        </p:txBody>
      </p:sp>
      <p:sp>
        <p:nvSpPr>
          <p:cNvPr id="15" name="Shape 13"/>
          <p:cNvSpPr/>
          <p:nvPr/>
        </p:nvSpPr>
        <p:spPr>
          <a:xfrm>
            <a:off x="3246120" y="5641848"/>
            <a:ext cx="0" cy="237744"/>
          </a:xfrm>
          <a:prstGeom prst="line">
            <a:avLst/>
          </a:prstGeom>
          <a:noFill/>
          <a:ln w="12700">
            <a:solidFill>
              <a:srgbClr val="C9C9CF"/>
            </a:solidFill>
            <a:prstDash val="solid"/>
          </a:ln>
        </p:spPr>
      </p:sp>
      <p:sp>
        <p:nvSpPr>
          <p:cNvPr id="16" name="Text 14"/>
          <p:cNvSpPr txBox="1"/>
          <p:nvPr/>
        </p:nvSpPr>
        <p:spPr>
          <a:xfrm>
            <a:off x="1198351" y="5042916"/>
            <a:ext cx="1133856" cy="256032"/>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TAT</a:t>
            </a:r>
            <a:endParaRPr lang="en-US" sz="950" dirty="0"/>
          </a:p>
        </p:txBody>
      </p:sp>
      <p:sp>
        <p:nvSpPr>
          <p:cNvPr id="17" name="Shape 15"/>
          <p:cNvSpPr/>
          <p:nvPr/>
        </p:nvSpPr>
        <p:spPr>
          <a:xfrm flipH="1">
            <a:off x="1891982" y="4978908"/>
            <a:ext cx="205892" cy="118872"/>
          </a:xfrm>
          <a:prstGeom prst="line">
            <a:avLst/>
          </a:prstGeom>
          <a:noFill/>
          <a:ln w="12700">
            <a:solidFill>
              <a:srgbClr val="C9C9CF"/>
            </a:solidFill>
            <a:prstDash val="solid"/>
          </a:ln>
        </p:spPr>
      </p:sp>
      <p:sp>
        <p:nvSpPr>
          <p:cNvPr id="18" name="Text 16"/>
          <p:cNvSpPr txBox="1"/>
          <p:nvPr/>
        </p:nvSpPr>
        <p:spPr>
          <a:xfrm>
            <a:off x="1198351" y="3332988"/>
            <a:ext cx="1133856" cy="256032"/>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BEDEN</a:t>
            </a:r>
            <a:endParaRPr lang="en-US" sz="950" dirty="0"/>
          </a:p>
        </p:txBody>
      </p:sp>
      <p:sp>
        <p:nvSpPr>
          <p:cNvPr id="19" name="Shape 17"/>
          <p:cNvSpPr/>
          <p:nvPr/>
        </p:nvSpPr>
        <p:spPr>
          <a:xfrm flipH="1" flipV="1">
            <a:off x="1891982" y="3534156"/>
            <a:ext cx="205892" cy="118872"/>
          </a:xfrm>
          <a:prstGeom prst="line">
            <a:avLst/>
          </a:prstGeom>
          <a:noFill/>
          <a:ln w="12700">
            <a:solidFill>
              <a:srgbClr val="C9C9CF"/>
            </a:solidFill>
            <a:prstDash val="solid"/>
          </a:ln>
        </p:spPr>
      </p:sp>
      <p:sp>
        <p:nvSpPr>
          <p:cNvPr id="20" name="Text 18"/>
          <p:cNvSpPr txBox="1"/>
          <p:nvPr/>
        </p:nvSpPr>
        <p:spPr>
          <a:xfrm>
            <a:off x="6382512" y="2606040"/>
            <a:ext cx="5029200" cy="384048"/>
          </a:xfrm>
          <a:prstGeom prst="rect">
            <a:avLst/>
          </a:prstGeom>
          <a:noFill/>
          <a:ln/>
        </p:spPr>
        <p:txBody>
          <a:bodyPr wrap="square" lIns="0" tIns="0" rIns="0" bIns="0" rtlCol="0" anchor="ctr"/>
          <a:lstStyle/>
          <a:p>
            <a:pPr indent="0" marL="0">
              <a:buNone/>
            </a:pPr>
            <a:r>
              <a:rPr lang="en-US" sz="2000" b="1" dirty="0">
                <a:solidFill>
                  <a:srgbClr val="16161A"/>
                </a:solidFill>
                <a:latin typeface="Cambria" pitchFamily="34" charset="0"/>
                <a:ea typeface="Cambria" pitchFamily="34" charset="-122"/>
                <a:cs typeface="Cambria" pitchFamily="34" charset="-120"/>
              </a:rPr>
              <a:t>Duyusal uyum</a:t>
            </a:r>
            <a:endParaRPr lang="en-US" sz="2000" dirty="0"/>
          </a:p>
        </p:txBody>
      </p:sp>
      <p:sp>
        <p:nvSpPr>
          <p:cNvPr id="21" name="Text 19"/>
          <p:cNvSpPr txBox="1"/>
          <p:nvPr/>
        </p:nvSpPr>
        <p:spPr>
          <a:xfrm>
            <a:off x="6382512" y="3063240"/>
            <a:ext cx="5029200" cy="3063240"/>
          </a:xfrm>
          <a:prstGeom prst="rect">
            <a:avLst/>
          </a:prstGeom>
          <a:noFill/>
          <a:ln/>
        </p:spPr>
        <p:txBody>
          <a:bodyPr wrap="square" lIns="0" tIns="0" rIns="0" bIns="0" rtlCol="0" anchor="ctr"/>
          <a:lstStyle/>
          <a:p>
            <a:pPr indent="0" marL="0">
              <a:lnSpc>
                <a:spcPts val="2000"/>
              </a:lnSpc>
              <a:buNone/>
            </a:pPr>
            <a:r>
              <a:rPr lang="en-US" sz="1300" dirty="0">
                <a:solidFill>
                  <a:srgbClr val="2B2B31"/>
                </a:solidFill>
                <a:latin typeface="Cambria" pitchFamily="34" charset="0"/>
                <a:ea typeface="Cambria" pitchFamily="34" charset="-122"/>
                <a:cs typeface="Cambria" pitchFamily="34" charset="-120"/>
              </a:rPr>
              <a:t>Duyusal etki tek tek uyaranlardan değil, uyaranların birlikte çalışmasından doğar (Spence vd., 2014). Bir kokunun ya da müziğin etkisi, yanındakilerle uyumlu olup olmamasına bağlıdır.</a:t>
            </a:r>
            <a:endParaRPr lang="en-US" sz="1300" dirty="0"/>
          </a:p>
          <a:p>
            <a:pPr indent="0" marL="0">
              <a:lnSpc>
                <a:spcPts val="2000"/>
              </a:lnSpc>
              <a:buNone/>
            </a:pPr>
            <a:endParaRPr lang="en-US" sz="1300" dirty="0"/>
          </a:p>
          <a:p>
            <a:pPr indent="0" marL="0">
              <a:lnSpc>
                <a:spcPts val="2000"/>
              </a:lnSpc>
              <a:buNone/>
            </a:pPr>
            <a:r>
              <a:rPr lang="en-US" sz="1300" dirty="0">
                <a:solidFill>
                  <a:srgbClr val="2B2B31"/>
                </a:solidFill>
                <a:latin typeface="Cambria" pitchFamily="34" charset="0"/>
                <a:ea typeface="Cambria" pitchFamily="34" charset="-122"/>
                <a:cs typeface="Cambria" pitchFamily="34" charset="-120"/>
              </a:rPr>
              <a:t>En dikkat çekici bulgu şudur: birbiriyle uyumsuz duyusal ipuçları, hiç olmamasından daha kötü sonuç verir. Uyumlu bir koku–müzik birlikteliği memnuniyeti artırırken, uyumsuz bir birliktelik değerlendirmeyi düşürür.</a:t>
            </a:r>
            <a:endParaRPr lang="en-US" sz="1300" dirty="0"/>
          </a:p>
          <a:p>
            <a:pPr indent="0" marL="0">
              <a:lnSpc>
                <a:spcPts val="2000"/>
              </a:lnSpc>
              <a:buNone/>
            </a:pPr>
            <a:endParaRPr lang="en-US" sz="1300" dirty="0"/>
          </a:p>
          <a:p>
            <a:pPr indent="0" marL="0">
              <a:lnSpc>
                <a:spcPts val="2000"/>
              </a:lnSpc>
              <a:buNone/>
            </a:pPr>
            <a:r>
              <a:rPr lang="en-US" sz="1300" dirty="0">
                <a:solidFill>
                  <a:srgbClr val="2B2B31"/>
                </a:solidFill>
                <a:latin typeface="Cambria" pitchFamily="34" charset="0"/>
                <a:ea typeface="Cambria" pitchFamily="34" charset="-122"/>
                <a:cs typeface="Cambria" pitchFamily="34" charset="-120"/>
              </a:rPr>
              <a:t>Dolayısıyla duyusal katmanlar tek tek 'iyi' olmak zorunda değildir; birlikte aynı şeyi söylemek zorundadır.</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Hangi duyu, yolculuğun hangi anında çalışır?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32</a:t>
            </a:r>
            <a:endParaRPr lang="en-US" sz="950" dirty="0"/>
          </a:p>
        </p:txBody>
      </p:sp>
      <p:sp>
        <p:nvSpPr>
          <p:cNvPr id="5" name="Text 3"/>
          <p:cNvSpPr txBox="1"/>
          <p:nvPr/>
        </p:nvSpPr>
        <p:spPr>
          <a:xfrm>
            <a:off x="777240" y="1517904"/>
            <a:ext cx="10634472" cy="621792"/>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Duyular mağazanın her yerinde aynı yoğunlukta çalışmaz. Her duyunun baskın olduğu bir an vardır; tasarımcının işi o anı bilerek kurmaktır.</a:t>
            </a:r>
            <a:endParaRPr lang="en-US" sz="1450" dirty="0"/>
          </a:p>
        </p:txBody>
      </p:sp>
      <p:sp>
        <p:nvSpPr>
          <p:cNvPr id="6" name="Text 4"/>
          <p:cNvSpPr txBox="1"/>
          <p:nvPr/>
        </p:nvSpPr>
        <p:spPr>
          <a:xfrm>
            <a:off x="2221992" y="2176272"/>
            <a:ext cx="1133856" cy="256032"/>
          </a:xfrm>
          <a:prstGeom prst="rect">
            <a:avLst/>
          </a:prstGeom>
          <a:noFill/>
          <a:ln/>
        </p:spPr>
        <p:txBody>
          <a:bodyPr wrap="square" lIns="0" tIns="0" rIns="0" bIns="0" rtlCol="0" anchor="ctr"/>
          <a:lstStyle/>
          <a:p>
            <a:pPr algn="ctr" indent="0" marL="0">
              <a:buNone/>
            </a:pPr>
            <a:r>
              <a:rPr lang="en-US" sz="850" b="1" dirty="0">
                <a:solidFill>
                  <a:srgbClr val="7A7A82"/>
                </a:solidFill>
                <a:latin typeface="Calibri" pitchFamily="34" charset="0"/>
                <a:ea typeface="Calibri" pitchFamily="34" charset="-122"/>
                <a:cs typeface="Calibri" pitchFamily="34" charset="-120"/>
              </a:rPr>
              <a:t>Çekim</a:t>
            </a:r>
            <a:endParaRPr lang="en-US" sz="850" dirty="0"/>
          </a:p>
        </p:txBody>
      </p:sp>
      <p:sp>
        <p:nvSpPr>
          <p:cNvPr id="7" name="Shape 5"/>
          <p:cNvSpPr/>
          <p:nvPr/>
        </p:nvSpPr>
        <p:spPr>
          <a:xfrm>
            <a:off x="2788920" y="2487168"/>
            <a:ext cx="0" cy="3136392"/>
          </a:xfrm>
          <a:prstGeom prst="line">
            <a:avLst/>
          </a:prstGeom>
          <a:noFill/>
          <a:ln w="9525">
            <a:solidFill>
              <a:srgbClr val="EDEDF0"/>
            </a:solidFill>
            <a:prstDash val="solid"/>
          </a:ln>
        </p:spPr>
      </p:sp>
      <p:sp>
        <p:nvSpPr>
          <p:cNvPr id="8" name="Text 6"/>
          <p:cNvSpPr txBox="1"/>
          <p:nvPr/>
        </p:nvSpPr>
        <p:spPr>
          <a:xfrm>
            <a:off x="3608832" y="2176272"/>
            <a:ext cx="1133856" cy="256032"/>
          </a:xfrm>
          <a:prstGeom prst="rect">
            <a:avLst/>
          </a:prstGeom>
          <a:noFill/>
          <a:ln/>
        </p:spPr>
        <p:txBody>
          <a:bodyPr wrap="square" lIns="0" tIns="0" rIns="0" bIns="0" rtlCol="0" anchor="ctr"/>
          <a:lstStyle/>
          <a:p>
            <a:pPr algn="ctr" indent="0" marL="0">
              <a:buNone/>
            </a:pPr>
            <a:r>
              <a:rPr lang="en-US" sz="850" b="1" dirty="0">
                <a:solidFill>
                  <a:srgbClr val="7A7A82"/>
                </a:solidFill>
                <a:latin typeface="Calibri" pitchFamily="34" charset="0"/>
                <a:ea typeface="Calibri" pitchFamily="34" charset="-122"/>
                <a:cs typeface="Calibri" pitchFamily="34" charset="-120"/>
              </a:rPr>
              <a:t>Eşik</a:t>
            </a:r>
            <a:endParaRPr lang="en-US" sz="850" dirty="0"/>
          </a:p>
        </p:txBody>
      </p:sp>
      <p:sp>
        <p:nvSpPr>
          <p:cNvPr id="9" name="Shape 7"/>
          <p:cNvSpPr/>
          <p:nvPr/>
        </p:nvSpPr>
        <p:spPr>
          <a:xfrm>
            <a:off x="4175760" y="2487168"/>
            <a:ext cx="0" cy="3136392"/>
          </a:xfrm>
          <a:prstGeom prst="line">
            <a:avLst/>
          </a:prstGeom>
          <a:noFill/>
          <a:ln w="9525">
            <a:solidFill>
              <a:srgbClr val="EDEDF0"/>
            </a:solidFill>
            <a:prstDash val="solid"/>
          </a:ln>
        </p:spPr>
      </p:sp>
      <p:sp>
        <p:nvSpPr>
          <p:cNvPr id="10" name="Text 8"/>
          <p:cNvSpPr txBox="1"/>
          <p:nvPr/>
        </p:nvSpPr>
        <p:spPr>
          <a:xfrm>
            <a:off x="4995672" y="2176272"/>
            <a:ext cx="1133856" cy="256032"/>
          </a:xfrm>
          <a:prstGeom prst="rect">
            <a:avLst/>
          </a:prstGeom>
          <a:noFill/>
          <a:ln/>
        </p:spPr>
        <p:txBody>
          <a:bodyPr wrap="square" lIns="0" tIns="0" rIns="0" bIns="0" rtlCol="0" anchor="ctr"/>
          <a:lstStyle/>
          <a:p>
            <a:pPr algn="ctr" indent="0" marL="0">
              <a:buNone/>
            </a:pPr>
            <a:r>
              <a:rPr lang="en-US" sz="850" b="1" dirty="0">
                <a:solidFill>
                  <a:srgbClr val="7A7A82"/>
                </a:solidFill>
                <a:latin typeface="Calibri" pitchFamily="34" charset="0"/>
                <a:ea typeface="Calibri" pitchFamily="34" charset="-122"/>
                <a:cs typeface="Calibri" pitchFamily="34" charset="-120"/>
              </a:rPr>
              <a:t>Yönelme</a:t>
            </a:r>
            <a:endParaRPr lang="en-US" sz="850" dirty="0"/>
          </a:p>
        </p:txBody>
      </p:sp>
      <p:sp>
        <p:nvSpPr>
          <p:cNvPr id="11" name="Shape 9"/>
          <p:cNvSpPr/>
          <p:nvPr/>
        </p:nvSpPr>
        <p:spPr>
          <a:xfrm>
            <a:off x="5562600" y="2487168"/>
            <a:ext cx="0" cy="3136392"/>
          </a:xfrm>
          <a:prstGeom prst="line">
            <a:avLst/>
          </a:prstGeom>
          <a:noFill/>
          <a:ln w="9525">
            <a:solidFill>
              <a:srgbClr val="EDEDF0"/>
            </a:solidFill>
            <a:prstDash val="solid"/>
          </a:ln>
        </p:spPr>
      </p:sp>
      <p:sp>
        <p:nvSpPr>
          <p:cNvPr id="12" name="Text 10"/>
          <p:cNvSpPr txBox="1"/>
          <p:nvPr/>
        </p:nvSpPr>
        <p:spPr>
          <a:xfrm>
            <a:off x="6382512" y="2176272"/>
            <a:ext cx="1133856" cy="256032"/>
          </a:xfrm>
          <a:prstGeom prst="rect">
            <a:avLst/>
          </a:prstGeom>
          <a:noFill/>
          <a:ln/>
        </p:spPr>
        <p:txBody>
          <a:bodyPr wrap="square" lIns="0" tIns="0" rIns="0" bIns="0" rtlCol="0" anchor="ctr"/>
          <a:lstStyle/>
          <a:p>
            <a:pPr algn="ctr" indent="0" marL="0">
              <a:buNone/>
            </a:pPr>
            <a:r>
              <a:rPr lang="en-US" sz="850" b="1" dirty="0">
                <a:solidFill>
                  <a:srgbClr val="7A7A82"/>
                </a:solidFill>
                <a:latin typeface="Calibri" pitchFamily="34" charset="0"/>
                <a:ea typeface="Calibri" pitchFamily="34" charset="-122"/>
                <a:cs typeface="Calibri" pitchFamily="34" charset="-120"/>
              </a:rPr>
              <a:t>Gezinme</a:t>
            </a:r>
            <a:endParaRPr lang="en-US" sz="850" dirty="0"/>
          </a:p>
        </p:txBody>
      </p:sp>
      <p:sp>
        <p:nvSpPr>
          <p:cNvPr id="13" name="Shape 11"/>
          <p:cNvSpPr/>
          <p:nvPr/>
        </p:nvSpPr>
        <p:spPr>
          <a:xfrm>
            <a:off x="6949440" y="2487168"/>
            <a:ext cx="0" cy="3136392"/>
          </a:xfrm>
          <a:prstGeom prst="line">
            <a:avLst/>
          </a:prstGeom>
          <a:noFill/>
          <a:ln w="9525">
            <a:solidFill>
              <a:srgbClr val="EDEDF0"/>
            </a:solidFill>
            <a:prstDash val="solid"/>
          </a:ln>
        </p:spPr>
      </p:sp>
      <p:sp>
        <p:nvSpPr>
          <p:cNvPr id="14" name="Text 12"/>
          <p:cNvSpPr txBox="1"/>
          <p:nvPr/>
        </p:nvSpPr>
        <p:spPr>
          <a:xfrm>
            <a:off x="7769352" y="2176272"/>
            <a:ext cx="1133856" cy="256032"/>
          </a:xfrm>
          <a:prstGeom prst="rect">
            <a:avLst/>
          </a:prstGeom>
          <a:noFill/>
          <a:ln/>
        </p:spPr>
        <p:txBody>
          <a:bodyPr wrap="square" lIns="0" tIns="0" rIns="0" bIns="0" rtlCol="0" anchor="ctr"/>
          <a:lstStyle/>
          <a:p>
            <a:pPr algn="ctr" indent="0" marL="0">
              <a:buNone/>
            </a:pPr>
            <a:r>
              <a:rPr lang="en-US" sz="850" b="1" dirty="0">
                <a:solidFill>
                  <a:srgbClr val="7A7A82"/>
                </a:solidFill>
                <a:latin typeface="Calibri" pitchFamily="34" charset="0"/>
                <a:ea typeface="Calibri" pitchFamily="34" charset="-122"/>
                <a:cs typeface="Calibri" pitchFamily="34" charset="-120"/>
              </a:rPr>
              <a:t>Etkileşim</a:t>
            </a:r>
            <a:endParaRPr lang="en-US" sz="850" dirty="0"/>
          </a:p>
        </p:txBody>
      </p:sp>
      <p:sp>
        <p:nvSpPr>
          <p:cNvPr id="15" name="Shape 13"/>
          <p:cNvSpPr/>
          <p:nvPr/>
        </p:nvSpPr>
        <p:spPr>
          <a:xfrm>
            <a:off x="8336280" y="2487168"/>
            <a:ext cx="0" cy="3136392"/>
          </a:xfrm>
          <a:prstGeom prst="line">
            <a:avLst/>
          </a:prstGeom>
          <a:noFill/>
          <a:ln w="9525">
            <a:solidFill>
              <a:srgbClr val="EDEDF0"/>
            </a:solidFill>
            <a:prstDash val="solid"/>
          </a:ln>
        </p:spPr>
      </p:sp>
      <p:sp>
        <p:nvSpPr>
          <p:cNvPr id="16" name="Text 14"/>
          <p:cNvSpPr txBox="1"/>
          <p:nvPr/>
        </p:nvSpPr>
        <p:spPr>
          <a:xfrm>
            <a:off x="9156192" y="2176272"/>
            <a:ext cx="1133856" cy="256032"/>
          </a:xfrm>
          <a:prstGeom prst="rect">
            <a:avLst/>
          </a:prstGeom>
          <a:noFill/>
          <a:ln/>
        </p:spPr>
        <p:txBody>
          <a:bodyPr wrap="square" lIns="0" tIns="0" rIns="0" bIns="0" rtlCol="0" anchor="ctr"/>
          <a:lstStyle/>
          <a:p>
            <a:pPr algn="ctr" indent="0" marL="0">
              <a:buNone/>
            </a:pPr>
            <a:r>
              <a:rPr lang="en-US" sz="850" b="1" dirty="0">
                <a:solidFill>
                  <a:srgbClr val="7A7A82"/>
                </a:solidFill>
                <a:latin typeface="Calibri" pitchFamily="34" charset="0"/>
                <a:ea typeface="Calibri" pitchFamily="34" charset="-122"/>
                <a:cs typeface="Calibri" pitchFamily="34" charset="-120"/>
              </a:rPr>
              <a:t>Satın alma</a:t>
            </a:r>
            <a:endParaRPr lang="en-US" sz="850" dirty="0"/>
          </a:p>
        </p:txBody>
      </p:sp>
      <p:sp>
        <p:nvSpPr>
          <p:cNvPr id="17" name="Shape 15"/>
          <p:cNvSpPr/>
          <p:nvPr/>
        </p:nvSpPr>
        <p:spPr>
          <a:xfrm>
            <a:off x="9723120" y="2487168"/>
            <a:ext cx="0" cy="3136392"/>
          </a:xfrm>
          <a:prstGeom prst="line">
            <a:avLst/>
          </a:prstGeom>
          <a:noFill/>
          <a:ln w="9525">
            <a:solidFill>
              <a:srgbClr val="EDEDF0"/>
            </a:solidFill>
            <a:prstDash val="solid"/>
          </a:ln>
        </p:spPr>
      </p:sp>
      <p:sp>
        <p:nvSpPr>
          <p:cNvPr id="18" name="Text 16"/>
          <p:cNvSpPr txBox="1"/>
          <p:nvPr/>
        </p:nvSpPr>
        <p:spPr>
          <a:xfrm>
            <a:off x="10543032" y="2176272"/>
            <a:ext cx="1133856" cy="256032"/>
          </a:xfrm>
          <a:prstGeom prst="rect">
            <a:avLst/>
          </a:prstGeom>
          <a:noFill/>
          <a:ln/>
        </p:spPr>
        <p:txBody>
          <a:bodyPr wrap="square" lIns="0" tIns="0" rIns="0" bIns="0" rtlCol="0" anchor="ctr"/>
          <a:lstStyle/>
          <a:p>
            <a:pPr algn="ctr" indent="0" marL="0">
              <a:buNone/>
            </a:pPr>
            <a:r>
              <a:rPr lang="en-US" sz="850" b="1" dirty="0">
                <a:solidFill>
                  <a:srgbClr val="7A7A82"/>
                </a:solidFill>
                <a:latin typeface="Calibri" pitchFamily="34" charset="0"/>
                <a:ea typeface="Calibri" pitchFamily="34" charset="-122"/>
                <a:cs typeface="Calibri" pitchFamily="34" charset="-120"/>
              </a:rPr>
              <a:t>Ayrılma</a:t>
            </a:r>
            <a:endParaRPr lang="en-US" sz="850" dirty="0"/>
          </a:p>
        </p:txBody>
      </p:sp>
      <p:sp>
        <p:nvSpPr>
          <p:cNvPr id="19" name="Shape 17"/>
          <p:cNvSpPr/>
          <p:nvPr/>
        </p:nvSpPr>
        <p:spPr>
          <a:xfrm>
            <a:off x="11109960" y="2487168"/>
            <a:ext cx="0" cy="3136392"/>
          </a:xfrm>
          <a:prstGeom prst="line">
            <a:avLst/>
          </a:prstGeom>
          <a:noFill/>
          <a:ln w="9525">
            <a:solidFill>
              <a:srgbClr val="EDEDF0"/>
            </a:solidFill>
            <a:prstDash val="solid"/>
          </a:ln>
        </p:spPr>
      </p:sp>
      <p:sp>
        <p:nvSpPr>
          <p:cNvPr id="20" name="Shape 18"/>
          <p:cNvSpPr/>
          <p:nvPr/>
        </p:nvSpPr>
        <p:spPr>
          <a:xfrm>
            <a:off x="2514600" y="2487168"/>
            <a:ext cx="8869680" cy="0"/>
          </a:xfrm>
          <a:prstGeom prst="line">
            <a:avLst/>
          </a:prstGeom>
          <a:noFill/>
          <a:ln w="12700">
            <a:solidFill>
              <a:srgbClr val="C9C9CF"/>
            </a:solidFill>
            <a:prstDash val="solid"/>
          </a:ln>
        </p:spPr>
      </p:sp>
      <p:sp>
        <p:nvSpPr>
          <p:cNvPr id="21" name="Text 19"/>
          <p:cNvSpPr txBox="1"/>
          <p:nvPr/>
        </p:nvSpPr>
        <p:spPr>
          <a:xfrm>
            <a:off x="777240" y="2724912"/>
            <a:ext cx="1737360" cy="274320"/>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Görme</a:t>
            </a:r>
            <a:endParaRPr lang="en-US" sz="1400" dirty="0"/>
          </a:p>
        </p:txBody>
      </p:sp>
      <p:sp>
        <p:nvSpPr>
          <p:cNvPr id="22" name="Shape 20"/>
          <p:cNvSpPr/>
          <p:nvPr/>
        </p:nvSpPr>
        <p:spPr>
          <a:xfrm>
            <a:off x="2788920" y="2862072"/>
            <a:ext cx="4160520" cy="0"/>
          </a:xfrm>
          <a:prstGeom prst="line">
            <a:avLst/>
          </a:prstGeom>
          <a:noFill/>
          <a:ln w="19050">
            <a:solidFill>
              <a:srgbClr val="8C3A2B"/>
            </a:solidFill>
            <a:prstDash val="solid"/>
          </a:ln>
        </p:spPr>
      </p:sp>
      <p:sp>
        <p:nvSpPr>
          <p:cNvPr id="23" name="Shape 21"/>
          <p:cNvSpPr/>
          <p:nvPr/>
        </p:nvSpPr>
        <p:spPr>
          <a:xfrm>
            <a:off x="2715768" y="2788920"/>
            <a:ext cx="146304" cy="146304"/>
          </a:xfrm>
          <a:prstGeom prst="ellipse">
            <a:avLst/>
          </a:prstGeom>
          <a:solidFill>
            <a:srgbClr val="8C3A2B"/>
          </a:solidFill>
          <a:ln w="12700">
            <a:solidFill>
              <a:srgbClr val="8C3A2B"/>
            </a:solidFill>
            <a:prstDash val="solid"/>
          </a:ln>
        </p:spPr>
      </p:sp>
      <p:sp>
        <p:nvSpPr>
          <p:cNvPr id="24" name="Shape 22"/>
          <p:cNvSpPr/>
          <p:nvPr/>
        </p:nvSpPr>
        <p:spPr>
          <a:xfrm>
            <a:off x="6876288" y="2788920"/>
            <a:ext cx="146304" cy="146304"/>
          </a:xfrm>
          <a:prstGeom prst="ellipse">
            <a:avLst/>
          </a:prstGeom>
          <a:solidFill>
            <a:srgbClr val="8C3A2B"/>
          </a:solidFill>
          <a:ln w="12700">
            <a:solidFill>
              <a:srgbClr val="8C3A2B"/>
            </a:solidFill>
            <a:prstDash val="solid"/>
          </a:ln>
        </p:spPr>
      </p:sp>
      <p:sp>
        <p:nvSpPr>
          <p:cNvPr id="25" name="Text 23"/>
          <p:cNvSpPr txBox="1"/>
          <p:nvPr/>
        </p:nvSpPr>
        <p:spPr>
          <a:xfrm>
            <a:off x="7150608" y="2724912"/>
            <a:ext cx="4187952" cy="310896"/>
          </a:xfrm>
          <a:prstGeom prst="rect">
            <a:avLst/>
          </a:prstGeom>
          <a:noFill/>
          <a:ln/>
        </p:spPr>
        <p:txBody>
          <a:bodyPr wrap="square" lIns="0" tIns="0" rIns="0" bIns="0" rtlCol="0" anchor="ctr"/>
          <a:lstStyle/>
          <a:p>
            <a:pPr indent="0" marL="0">
              <a:buNone/>
            </a:pPr>
            <a:r>
              <a:rPr lang="en-US" sz="950" dirty="0">
                <a:solidFill>
                  <a:srgbClr val="7A7A82"/>
                </a:solidFill>
                <a:latin typeface="Calibri" pitchFamily="34" charset="0"/>
                <a:ea typeface="Calibri" pitchFamily="34" charset="-122"/>
                <a:cs typeface="Calibri" pitchFamily="34" charset="-120"/>
              </a:rPr>
              <a:t>vitrin silüeti ve ışık lekesi · teşhir kontrastı</a:t>
            </a:r>
            <a:endParaRPr lang="en-US" sz="950" dirty="0"/>
          </a:p>
        </p:txBody>
      </p:sp>
      <p:sp>
        <p:nvSpPr>
          <p:cNvPr id="26" name="Text 24"/>
          <p:cNvSpPr txBox="1"/>
          <p:nvPr/>
        </p:nvSpPr>
        <p:spPr>
          <a:xfrm>
            <a:off x="777240" y="3227832"/>
            <a:ext cx="1737360" cy="274320"/>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Beden</a:t>
            </a:r>
            <a:endParaRPr lang="en-US" sz="1400" dirty="0"/>
          </a:p>
        </p:txBody>
      </p:sp>
      <p:sp>
        <p:nvSpPr>
          <p:cNvPr id="27" name="Shape 25"/>
          <p:cNvSpPr/>
          <p:nvPr/>
        </p:nvSpPr>
        <p:spPr>
          <a:xfrm>
            <a:off x="4175760" y="3364992"/>
            <a:ext cx="1386840" cy="0"/>
          </a:xfrm>
          <a:prstGeom prst="line">
            <a:avLst/>
          </a:prstGeom>
          <a:noFill/>
          <a:ln w="19050">
            <a:solidFill>
              <a:srgbClr val="8C3A2B"/>
            </a:solidFill>
            <a:prstDash val="solid"/>
          </a:ln>
        </p:spPr>
      </p:sp>
      <p:sp>
        <p:nvSpPr>
          <p:cNvPr id="28" name="Shape 26"/>
          <p:cNvSpPr/>
          <p:nvPr/>
        </p:nvSpPr>
        <p:spPr>
          <a:xfrm>
            <a:off x="4102608" y="3291840"/>
            <a:ext cx="146304" cy="146304"/>
          </a:xfrm>
          <a:prstGeom prst="ellipse">
            <a:avLst/>
          </a:prstGeom>
          <a:solidFill>
            <a:srgbClr val="8C3A2B"/>
          </a:solidFill>
          <a:ln w="12700">
            <a:solidFill>
              <a:srgbClr val="8C3A2B"/>
            </a:solidFill>
            <a:prstDash val="solid"/>
          </a:ln>
        </p:spPr>
      </p:sp>
      <p:sp>
        <p:nvSpPr>
          <p:cNvPr id="29" name="Shape 27"/>
          <p:cNvSpPr/>
          <p:nvPr/>
        </p:nvSpPr>
        <p:spPr>
          <a:xfrm>
            <a:off x="5489448" y="3291840"/>
            <a:ext cx="146304" cy="146304"/>
          </a:xfrm>
          <a:prstGeom prst="ellipse">
            <a:avLst/>
          </a:prstGeom>
          <a:solidFill>
            <a:srgbClr val="8C3A2B"/>
          </a:solidFill>
          <a:ln w="12700">
            <a:solidFill>
              <a:srgbClr val="8C3A2B"/>
            </a:solidFill>
            <a:prstDash val="solid"/>
          </a:ln>
        </p:spPr>
      </p:sp>
      <p:sp>
        <p:nvSpPr>
          <p:cNvPr id="30" name="Text 28"/>
          <p:cNvSpPr txBox="1"/>
          <p:nvPr/>
        </p:nvSpPr>
        <p:spPr>
          <a:xfrm>
            <a:off x="5763768" y="3227832"/>
            <a:ext cx="5574792" cy="310896"/>
          </a:xfrm>
          <a:prstGeom prst="rect">
            <a:avLst/>
          </a:prstGeom>
          <a:noFill/>
          <a:ln/>
        </p:spPr>
        <p:txBody>
          <a:bodyPr wrap="square" lIns="0" tIns="0" rIns="0" bIns="0" rtlCol="0" anchor="ctr"/>
          <a:lstStyle/>
          <a:p>
            <a:pPr indent="0" marL="0">
              <a:buNone/>
            </a:pPr>
            <a:r>
              <a:rPr lang="en-US" sz="950" dirty="0">
                <a:solidFill>
                  <a:srgbClr val="7A7A82"/>
                </a:solidFill>
                <a:latin typeface="Calibri" pitchFamily="34" charset="0"/>
                <a:ea typeface="Calibri" pitchFamily="34" charset="-122"/>
                <a:cs typeface="Calibri" pitchFamily="34" charset="-120"/>
              </a:rPr>
              <a:t>eşikte ısı ve zemin değişimi · koridor genişliği, yoğunluk</a:t>
            </a:r>
            <a:endParaRPr lang="en-US" sz="950" dirty="0"/>
          </a:p>
        </p:txBody>
      </p:sp>
      <p:sp>
        <p:nvSpPr>
          <p:cNvPr id="31" name="Text 29"/>
          <p:cNvSpPr txBox="1"/>
          <p:nvPr/>
        </p:nvSpPr>
        <p:spPr>
          <a:xfrm>
            <a:off x="777240" y="3730752"/>
            <a:ext cx="1737360" cy="274320"/>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Koklama</a:t>
            </a:r>
            <a:endParaRPr lang="en-US" sz="1400" dirty="0"/>
          </a:p>
        </p:txBody>
      </p:sp>
      <p:sp>
        <p:nvSpPr>
          <p:cNvPr id="32" name="Shape 30"/>
          <p:cNvSpPr/>
          <p:nvPr/>
        </p:nvSpPr>
        <p:spPr>
          <a:xfrm>
            <a:off x="4175760" y="3867912"/>
            <a:ext cx="4160520" cy="0"/>
          </a:xfrm>
          <a:prstGeom prst="line">
            <a:avLst/>
          </a:prstGeom>
          <a:noFill/>
          <a:ln w="19050">
            <a:solidFill>
              <a:srgbClr val="8C3A2B"/>
            </a:solidFill>
            <a:prstDash val="solid"/>
          </a:ln>
        </p:spPr>
      </p:sp>
      <p:sp>
        <p:nvSpPr>
          <p:cNvPr id="33" name="Shape 31"/>
          <p:cNvSpPr/>
          <p:nvPr/>
        </p:nvSpPr>
        <p:spPr>
          <a:xfrm>
            <a:off x="4102608" y="3794760"/>
            <a:ext cx="146304" cy="146304"/>
          </a:xfrm>
          <a:prstGeom prst="ellipse">
            <a:avLst/>
          </a:prstGeom>
          <a:solidFill>
            <a:srgbClr val="8C3A2B"/>
          </a:solidFill>
          <a:ln w="12700">
            <a:solidFill>
              <a:srgbClr val="8C3A2B"/>
            </a:solidFill>
            <a:prstDash val="solid"/>
          </a:ln>
        </p:spPr>
      </p:sp>
      <p:sp>
        <p:nvSpPr>
          <p:cNvPr id="34" name="Shape 32"/>
          <p:cNvSpPr/>
          <p:nvPr/>
        </p:nvSpPr>
        <p:spPr>
          <a:xfrm>
            <a:off x="8263128" y="3794760"/>
            <a:ext cx="146304" cy="146304"/>
          </a:xfrm>
          <a:prstGeom prst="ellipse">
            <a:avLst/>
          </a:prstGeom>
          <a:solidFill>
            <a:srgbClr val="8C3A2B"/>
          </a:solidFill>
          <a:ln w="12700">
            <a:solidFill>
              <a:srgbClr val="8C3A2B"/>
            </a:solidFill>
            <a:prstDash val="solid"/>
          </a:ln>
        </p:spPr>
      </p:sp>
      <p:sp>
        <p:nvSpPr>
          <p:cNvPr id="35" name="Text 33"/>
          <p:cNvSpPr txBox="1"/>
          <p:nvPr/>
        </p:nvSpPr>
        <p:spPr>
          <a:xfrm>
            <a:off x="8537448" y="3730752"/>
            <a:ext cx="2801112" cy="310896"/>
          </a:xfrm>
          <a:prstGeom prst="rect">
            <a:avLst/>
          </a:prstGeom>
          <a:noFill/>
          <a:ln/>
        </p:spPr>
        <p:txBody>
          <a:bodyPr wrap="square" lIns="0" tIns="0" rIns="0" bIns="0" rtlCol="0" anchor="ctr"/>
          <a:lstStyle/>
          <a:p>
            <a:pPr indent="0" marL="0">
              <a:buNone/>
            </a:pPr>
            <a:r>
              <a:rPr lang="en-US" sz="950" dirty="0">
                <a:solidFill>
                  <a:srgbClr val="7A7A82"/>
                </a:solidFill>
                <a:latin typeface="Calibri" pitchFamily="34" charset="0"/>
                <a:ea typeface="Calibri" pitchFamily="34" charset="-122"/>
                <a:cs typeface="Calibri" pitchFamily="34" charset="-120"/>
              </a:rPr>
              <a:t>ilk izlenim · ürünün ve malzemenin kendi kokusu</a:t>
            </a:r>
            <a:endParaRPr lang="en-US" sz="950" dirty="0"/>
          </a:p>
        </p:txBody>
      </p:sp>
      <p:sp>
        <p:nvSpPr>
          <p:cNvPr id="36" name="Text 34"/>
          <p:cNvSpPr txBox="1"/>
          <p:nvPr/>
        </p:nvSpPr>
        <p:spPr>
          <a:xfrm>
            <a:off x="777240" y="4233672"/>
            <a:ext cx="1737360" cy="274320"/>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İşitme</a:t>
            </a:r>
            <a:endParaRPr lang="en-US" sz="1400" dirty="0"/>
          </a:p>
        </p:txBody>
      </p:sp>
      <p:sp>
        <p:nvSpPr>
          <p:cNvPr id="37" name="Shape 35"/>
          <p:cNvSpPr/>
          <p:nvPr/>
        </p:nvSpPr>
        <p:spPr>
          <a:xfrm>
            <a:off x="6949440" y="4370832"/>
            <a:ext cx="1386840" cy="0"/>
          </a:xfrm>
          <a:prstGeom prst="line">
            <a:avLst/>
          </a:prstGeom>
          <a:noFill/>
          <a:ln w="19050">
            <a:solidFill>
              <a:srgbClr val="8C3A2B"/>
            </a:solidFill>
            <a:prstDash val="solid"/>
          </a:ln>
        </p:spPr>
      </p:sp>
      <p:sp>
        <p:nvSpPr>
          <p:cNvPr id="38" name="Shape 36"/>
          <p:cNvSpPr/>
          <p:nvPr/>
        </p:nvSpPr>
        <p:spPr>
          <a:xfrm>
            <a:off x="6876288" y="4297680"/>
            <a:ext cx="146304" cy="146304"/>
          </a:xfrm>
          <a:prstGeom prst="ellipse">
            <a:avLst/>
          </a:prstGeom>
          <a:solidFill>
            <a:srgbClr val="8C3A2B"/>
          </a:solidFill>
          <a:ln w="12700">
            <a:solidFill>
              <a:srgbClr val="8C3A2B"/>
            </a:solidFill>
            <a:prstDash val="solid"/>
          </a:ln>
        </p:spPr>
      </p:sp>
      <p:sp>
        <p:nvSpPr>
          <p:cNvPr id="39" name="Shape 37"/>
          <p:cNvSpPr/>
          <p:nvPr/>
        </p:nvSpPr>
        <p:spPr>
          <a:xfrm>
            <a:off x="8263128" y="4297680"/>
            <a:ext cx="146304" cy="146304"/>
          </a:xfrm>
          <a:prstGeom prst="ellipse">
            <a:avLst/>
          </a:prstGeom>
          <a:solidFill>
            <a:srgbClr val="8C3A2B"/>
          </a:solidFill>
          <a:ln w="12700">
            <a:solidFill>
              <a:srgbClr val="8C3A2B"/>
            </a:solidFill>
            <a:prstDash val="solid"/>
          </a:ln>
        </p:spPr>
      </p:sp>
      <p:sp>
        <p:nvSpPr>
          <p:cNvPr id="40" name="Text 38"/>
          <p:cNvSpPr txBox="1"/>
          <p:nvPr/>
        </p:nvSpPr>
        <p:spPr>
          <a:xfrm>
            <a:off x="8537448" y="4233672"/>
            <a:ext cx="2801112" cy="310896"/>
          </a:xfrm>
          <a:prstGeom prst="rect">
            <a:avLst/>
          </a:prstGeom>
          <a:noFill/>
          <a:ln/>
        </p:spPr>
        <p:txBody>
          <a:bodyPr wrap="square" lIns="0" tIns="0" rIns="0" bIns="0" rtlCol="0" anchor="ctr"/>
          <a:lstStyle/>
          <a:p>
            <a:pPr indent="0" marL="0">
              <a:buNone/>
            </a:pPr>
            <a:r>
              <a:rPr lang="en-US" sz="950" dirty="0">
                <a:solidFill>
                  <a:srgbClr val="7A7A82"/>
                </a:solidFill>
                <a:latin typeface="Calibri" pitchFamily="34" charset="0"/>
                <a:ea typeface="Calibri" pitchFamily="34" charset="-122"/>
                <a:cs typeface="Calibri" pitchFamily="34" charset="-120"/>
              </a:rPr>
              <a:t>genel akustik · kabinde ve danışmada sessizlik</a:t>
            </a:r>
            <a:endParaRPr lang="en-US" sz="950" dirty="0"/>
          </a:p>
        </p:txBody>
      </p:sp>
      <p:sp>
        <p:nvSpPr>
          <p:cNvPr id="41" name="Text 39"/>
          <p:cNvSpPr txBox="1"/>
          <p:nvPr/>
        </p:nvSpPr>
        <p:spPr>
          <a:xfrm>
            <a:off x="777240" y="4736592"/>
            <a:ext cx="1737360" cy="274320"/>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Dokunma</a:t>
            </a:r>
            <a:endParaRPr lang="en-US" sz="1400" dirty="0"/>
          </a:p>
        </p:txBody>
      </p:sp>
      <p:sp>
        <p:nvSpPr>
          <p:cNvPr id="42" name="Shape 40"/>
          <p:cNvSpPr/>
          <p:nvPr/>
        </p:nvSpPr>
        <p:spPr>
          <a:xfrm>
            <a:off x="6949440" y="4873752"/>
            <a:ext cx="1386840" cy="0"/>
          </a:xfrm>
          <a:prstGeom prst="line">
            <a:avLst/>
          </a:prstGeom>
          <a:noFill/>
          <a:ln w="19050">
            <a:solidFill>
              <a:srgbClr val="8C3A2B"/>
            </a:solidFill>
            <a:prstDash val="solid"/>
          </a:ln>
        </p:spPr>
      </p:sp>
      <p:sp>
        <p:nvSpPr>
          <p:cNvPr id="43" name="Shape 41"/>
          <p:cNvSpPr/>
          <p:nvPr/>
        </p:nvSpPr>
        <p:spPr>
          <a:xfrm>
            <a:off x="6876288" y="4800600"/>
            <a:ext cx="146304" cy="146304"/>
          </a:xfrm>
          <a:prstGeom prst="ellipse">
            <a:avLst/>
          </a:prstGeom>
          <a:solidFill>
            <a:srgbClr val="8C3A2B"/>
          </a:solidFill>
          <a:ln w="12700">
            <a:solidFill>
              <a:srgbClr val="8C3A2B"/>
            </a:solidFill>
            <a:prstDash val="solid"/>
          </a:ln>
        </p:spPr>
      </p:sp>
      <p:sp>
        <p:nvSpPr>
          <p:cNvPr id="44" name="Shape 42"/>
          <p:cNvSpPr/>
          <p:nvPr/>
        </p:nvSpPr>
        <p:spPr>
          <a:xfrm>
            <a:off x="8263128" y="4800600"/>
            <a:ext cx="146304" cy="146304"/>
          </a:xfrm>
          <a:prstGeom prst="ellipse">
            <a:avLst/>
          </a:prstGeom>
          <a:solidFill>
            <a:srgbClr val="8C3A2B"/>
          </a:solidFill>
          <a:ln w="12700">
            <a:solidFill>
              <a:srgbClr val="8C3A2B"/>
            </a:solidFill>
            <a:prstDash val="solid"/>
          </a:ln>
        </p:spPr>
      </p:sp>
      <p:sp>
        <p:nvSpPr>
          <p:cNvPr id="45" name="Text 43"/>
          <p:cNvSpPr txBox="1"/>
          <p:nvPr/>
        </p:nvSpPr>
        <p:spPr>
          <a:xfrm>
            <a:off x="8537448" y="4736592"/>
            <a:ext cx="2801112" cy="310896"/>
          </a:xfrm>
          <a:prstGeom prst="rect">
            <a:avLst/>
          </a:prstGeom>
          <a:noFill/>
          <a:ln/>
        </p:spPr>
        <p:txBody>
          <a:bodyPr wrap="square" lIns="0" tIns="0" rIns="0" bIns="0" rtlCol="0" anchor="ctr"/>
          <a:lstStyle/>
          <a:p>
            <a:pPr indent="0" marL="0">
              <a:buNone/>
            </a:pPr>
            <a:r>
              <a:rPr lang="en-US" sz="950" dirty="0">
                <a:solidFill>
                  <a:srgbClr val="7A7A82"/>
                </a:solidFill>
                <a:latin typeface="Calibri" pitchFamily="34" charset="0"/>
                <a:ea typeface="Calibri" pitchFamily="34" charset="-122"/>
                <a:cs typeface="Calibri" pitchFamily="34" charset="-120"/>
              </a:rPr>
              <a:t>açık raf ve ürüne erişim · deneme, tezgâh, kumaş</a:t>
            </a:r>
            <a:endParaRPr lang="en-US" sz="950" dirty="0"/>
          </a:p>
        </p:txBody>
      </p:sp>
      <p:sp>
        <p:nvSpPr>
          <p:cNvPr id="46" name="Text 44"/>
          <p:cNvSpPr txBox="1"/>
          <p:nvPr/>
        </p:nvSpPr>
        <p:spPr>
          <a:xfrm>
            <a:off x="777240" y="5239512"/>
            <a:ext cx="1737360" cy="274320"/>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Tat</a:t>
            </a:r>
            <a:endParaRPr lang="en-US" sz="1400" dirty="0"/>
          </a:p>
        </p:txBody>
      </p:sp>
      <p:sp>
        <p:nvSpPr>
          <p:cNvPr id="47" name="Shape 45"/>
          <p:cNvSpPr/>
          <p:nvPr/>
        </p:nvSpPr>
        <p:spPr>
          <a:xfrm>
            <a:off x="8263128" y="5303520"/>
            <a:ext cx="146304" cy="146304"/>
          </a:xfrm>
          <a:prstGeom prst="ellipse">
            <a:avLst/>
          </a:prstGeom>
          <a:solidFill>
            <a:srgbClr val="8C3A2B"/>
          </a:solidFill>
          <a:ln w="12700">
            <a:solidFill>
              <a:srgbClr val="8C3A2B"/>
            </a:solidFill>
            <a:prstDash val="solid"/>
          </a:ln>
        </p:spPr>
      </p:sp>
      <p:sp>
        <p:nvSpPr>
          <p:cNvPr id="48" name="Text 46"/>
          <p:cNvSpPr txBox="1"/>
          <p:nvPr/>
        </p:nvSpPr>
        <p:spPr>
          <a:xfrm>
            <a:off x="8537448" y="5239512"/>
            <a:ext cx="2801112" cy="310896"/>
          </a:xfrm>
          <a:prstGeom prst="rect">
            <a:avLst/>
          </a:prstGeom>
          <a:noFill/>
          <a:ln/>
        </p:spPr>
        <p:txBody>
          <a:bodyPr wrap="square" lIns="0" tIns="0" rIns="0" bIns="0" rtlCol="0" anchor="ctr"/>
          <a:lstStyle/>
          <a:p>
            <a:pPr indent="0" marL="0">
              <a:buNone/>
            </a:pPr>
            <a:r>
              <a:rPr lang="en-US" sz="950" dirty="0">
                <a:solidFill>
                  <a:srgbClr val="7A7A82"/>
                </a:solidFill>
                <a:latin typeface="Calibri" pitchFamily="34" charset="0"/>
                <a:ea typeface="Calibri" pitchFamily="34" charset="-122"/>
                <a:cs typeface="Calibri" pitchFamily="34" charset="-120"/>
              </a:rPr>
              <a:t>tadım noktası · ikram</a:t>
            </a:r>
            <a:endParaRPr lang="en-US" sz="950" dirty="0"/>
          </a:p>
        </p:txBody>
      </p:sp>
      <p:sp>
        <p:nvSpPr>
          <p:cNvPr id="49" name="Text 47"/>
          <p:cNvSpPr txBox="1"/>
          <p:nvPr/>
        </p:nvSpPr>
        <p:spPr>
          <a:xfrm>
            <a:off x="777240" y="5779008"/>
            <a:ext cx="10424160" cy="365760"/>
          </a:xfrm>
          <a:prstGeom prst="rect">
            <a:avLst/>
          </a:prstGeom>
          <a:noFill/>
          <a:ln/>
        </p:spPr>
        <p:txBody>
          <a:bodyPr wrap="square" lIns="0" tIns="0" rIns="0" bIns="0" rtlCol="0" anchor="ctr"/>
          <a:lstStyle/>
          <a:p>
            <a:pPr algn="l" indent="0" marL="0">
              <a:lnSpc>
                <a:spcPts val="1200"/>
              </a:lnSpc>
              <a:buNone/>
            </a:pPr>
            <a:r>
              <a:rPr lang="en-US" sz="1250" i="1" dirty="0">
                <a:solidFill>
                  <a:srgbClr val="8C3A2B"/>
                </a:solidFill>
                <a:latin typeface="Cambria" pitchFamily="34" charset="0"/>
                <a:ea typeface="Cambria" pitchFamily="34" charset="-122"/>
                <a:cs typeface="Cambria" pitchFamily="34" charset="-120"/>
              </a:rPr>
              <a:t>Bir duyunun baskın olduğu an, o duyu için ayrılacak bütçenin ve dikkatin de nerede olması gerektiğini söyler.</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749808"/>
            <a:ext cx="6217920" cy="658368"/>
          </a:xfrm>
          <a:prstGeom prst="rect">
            <a:avLst/>
          </a:prstGeom>
          <a:noFill/>
          <a:ln/>
        </p:spPr>
        <p:txBody>
          <a:bodyPr wrap="square" lIns="0" tIns="0" rIns="0" bIns="0" rtlCol="0" anchor="ctr"/>
          <a:lstStyle/>
          <a:p>
            <a:pPr indent="0" marL="0">
              <a:buNone/>
            </a:pPr>
            <a:r>
              <a:rPr lang="en-US" sz="3800" b="1" dirty="0">
                <a:solidFill>
                  <a:srgbClr val="8C3A2B"/>
                </a:solidFill>
                <a:latin typeface="Cambria" pitchFamily="34" charset="0"/>
                <a:ea typeface="Cambria" pitchFamily="34" charset="-122"/>
                <a:cs typeface="Cambria" pitchFamily="34" charset="-120"/>
              </a:rPr>
              <a:t>Görme</a:t>
            </a:r>
            <a:endParaRPr lang="en-US" sz="3800" dirty="0"/>
          </a:p>
        </p:txBody>
      </p:sp>
      <p:sp>
        <p:nvSpPr>
          <p:cNvPr id="4" name="Text 2"/>
          <p:cNvSpPr txBox="1"/>
          <p:nvPr/>
        </p:nvSpPr>
        <p:spPr>
          <a:xfrm>
            <a:off x="777240" y="1426464"/>
            <a:ext cx="86868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IŞIK · RENK · KONTRAST · GÖRÜŞ HATTI</a:t>
            </a:r>
            <a:endParaRPr lang="en-US" sz="1050" dirty="0"/>
          </a:p>
        </p:txBody>
      </p:sp>
      <p:sp>
        <p:nvSpPr>
          <p:cNvPr id="5" name="Text 3"/>
          <p:cNvSpPr txBox="1"/>
          <p:nvPr/>
        </p:nvSpPr>
        <p:spPr>
          <a:xfrm>
            <a:off x="777240"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Mağazada görmeyi yöneten şey biçim değil, ışıktır. Işığın düzeyi mekânın hızını belirler: parlak ve düz aydınlatılmış bir mekânda insanlar hızlanır, kontrastlı ve yumuşak aydınlatılmış bir mekânda yavaşlar.</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Kontrast dikkati yönetir. Bir ürünün öne çıkması, ona daha çok ışık verilmesinden değil, çevresine daha az ışık verilmesinden doğar. Her yerin eşit aydınlatıldığı bir mekânda hiçbir ürün öne çıkmaz.</a:t>
            </a:r>
            <a:endParaRPr lang="en-US" sz="1350" dirty="0"/>
          </a:p>
        </p:txBody>
      </p:sp>
      <p:sp>
        <p:nvSpPr>
          <p:cNvPr id="6" name="Text 4"/>
          <p:cNvSpPr txBox="1"/>
          <p:nvPr/>
        </p:nvSpPr>
        <p:spPr>
          <a:xfrm>
            <a:off x="6382512"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Işığın rengi ise ürünün rengini doğrudan değiştirir; tekstilde ve gıdada bu, satın alma kararını belirleyen bir etkendir (Spence vd., 2014).</a:t>
            </a:r>
            <a:endParaRPr lang="en-US" sz="1350" dirty="0"/>
          </a:p>
        </p:txBody>
      </p:sp>
      <p:sp>
        <p:nvSpPr>
          <p:cNvPr id="7" name="Text 5"/>
          <p:cNvSpPr txBox="1"/>
          <p:nvPr/>
        </p:nvSpPr>
        <p:spPr>
          <a:xfrm>
            <a:off x="777240" y="4864608"/>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MAĞAZADA NASIL KULLANILIR</a:t>
            </a:r>
            <a:endParaRPr lang="en-US" sz="900" dirty="0"/>
          </a:p>
        </p:txBody>
      </p:sp>
      <p:sp>
        <p:nvSpPr>
          <p:cNvPr id="8" name="Text 6"/>
          <p:cNvSpPr txBox="1"/>
          <p:nvPr/>
        </p:nvSpPr>
        <p:spPr>
          <a:xfrm>
            <a:off x="777240"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Vurgu ışığı</a:t>
            </a:r>
            <a:endParaRPr lang="en-US" sz="1350" dirty="0"/>
          </a:p>
        </p:txBody>
      </p:sp>
      <p:sp>
        <p:nvSpPr>
          <p:cNvPr id="9" name="Text 7"/>
          <p:cNvSpPr txBox="1"/>
          <p:nvPr/>
        </p:nvSpPr>
        <p:spPr>
          <a:xfrm>
            <a:off x="777240"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Genel aydınlatmanın 3–5 katı yoğunlukta nokta ışıkla tekil ürünü öne çıkarmak.</a:t>
            </a:r>
            <a:endParaRPr lang="en-US" sz="1100" dirty="0"/>
          </a:p>
        </p:txBody>
      </p:sp>
      <p:sp>
        <p:nvSpPr>
          <p:cNvPr id="10" name="Text 8"/>
          <p:cNvSpPr txBox="1"/>
          <p:nvPr/>
        </p:nvSpPr>
        <p:spPr>
          <a:xfrm>
            <a:off x="4474464"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Işık koridoru</a:t>
            </a:r>
            <a:endParaRPr lang="en-US" sz="1350" dirty="0"/>
          </a:p>
        </p:txBody>
      </p:sp>
      <p:sp>
        <p:nvSpPr>
          <p:cNvPr id="11" name="Text 9"/>
          <p:cNvSpPr txBox="1"/>
          <p:nvPr/>
        </p:nvSpPr>
        <p:spPr>
          <a:xfrm>
            <a:off x="4474464"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Zemine düşen ışık lekeleriyle rota çizmek; tabelasız yönlendirme.</a:t>
            </a:r>
            <a:endParaRPr lang="en-US" sz="1100" dirty="0"/>
          </a:p>
        </p:txBody>
      </p:sp>
      <p:sp>
        <p:nvSpPr>
          <p:cNvPr id="12" name="Text 10"/>
          <p:cNvSpPr txBox="1"/>
          <p:nvPr/>
        </p:nvSpPr>
        <p:spPr>
          <a:xfrm>
            <a:off x="8171688"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Karanlık zemin</a:t>
            </a:r>
            <a:endParaRPr lang="en-US" sz="1350" dirty="0"/>
          </a:p>
        </p:txBody>
      </p:sp>
      <p:sp>
        <p:nvSpPr>
          <p:cNvPr id="13" name="Text 11"/>
          <p:cNvSpPr txBox="1"/>
          <p:nvPr/>
        </p:nvSpPr>
        <p:spPr>
          <a:xfrm>
            <a:off x="8171688"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Koyu duvar ve zeminle kontrastı yükseltip ürünü tek görünür nesne yapmak.</a:t>
            </a:r>
            <a:endParaRPr lang="en-US" sz="1100" dirty="0"/>
          </a:p>
        </p:txBody>
      </p:sp>
      <p:sp>
        <p:nvSpPr>
          <p:cNvPr id="14" name="Text 12"/>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Vurgu aydınlatmalı bir vitrin · aynı ürünün iki farklı renk sıcaklığında fotoğrafı</a:t>
            </a:r>
            <a:endParaRPr lang="en-US" sz="850" dirty="0"/>
          </a:p>
        </p:txBody>
      </p:sp>
      <p:sp>
        <p:nvSpPr>
          <p:cNvPr id="15" name="Text 13"/>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33</a:t>
            </a:r>
            <a:endParaRPr lang="en-US" sz="9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749808"/>
            <a:ext cx="6217920" cy="658368"/>
          </a:xfrm>
          <a:prstGeom prst="rect">
            <a:avLst/>
          </a:prstGeom>
          <a:noFill/>
          <a:ln/>
        </p:spPr>
        <p:txBody>
          <a:bodyPr wrap="square" lIns="0" tIns="0" rIns="0" bIns="0" rtlCol="0" anchor="ctr"/>
          <a:lstStyle/>
          <a:p>
            <a:pPr indent="0" marL="0">
              <a:buNone/>
            </a:pPr>
            <a:r>
              <a:rPr lang="en-US" sz="3800" b="1" dirty="0">
                <a:solidFill>
                  <a:srgbClr val="8C3A2B"/>
                </a:solidFill>
                <a:latin typeface="Cambria" pitchFamily="34" charset="0"/>
                <a:ea typeface="Cambria" pitchFamily="34" charset="-122"/>
                <a:cs typeface="Cambria" pitchFamily="34" charset="-120"/>
              </a:rPr>
              <a:t>İşitme</a:t>
            </a:r>
            <a:endParaRPr lang="en-US" sz="3800" dirty="0"/>
          </a:p>
        </p:txBody>
      </p:sp>
      <p:sp>
        <p:nvSpPr>
          <p:cNvPr id="4" name="Text 2"/>
          <p:cNvSpPr txBox="1"/>
          <p:nvPr/>
        </p:nvSpPr>
        <p:spPr>
          <a:xfrm>
            <a:off x="777240" y="1426464"/>
            <a:ext cx="86868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AKUSTİK · MÜZİK · SESSİZLİK</a:t>
            </a:r>
            <a:endParaRPr lang="en-US" sz="1050" dirty="0"/>
          </a:p>
        </p:txBody>
      </p:sp>
      <p:sp>
        <p:nvSpPr>
          <p:cNvPr id="5" name="Text 3"/>
          <p:cNvSpPr txBox="1"/>
          <p:nvPr/>
        </p:nvSpPr>
        <p:spPr>
          <a:xfrm>
            <a:off x="777240"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Ses, mağazada en az tasarlanan ve en çok şikâyet edilen duyudur. Akustik malzemeyle belirlenir: sert ve düz yüzeyler sesi yansıtır, gözenekli yüzeyler yutar. Yüksek tavanlı, cam ve sert zeminli bir mekân, hiç müzik çalınmasa bile gürültülüdür.</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Müziğin temposu ve düzeyi kalış süresini etkiler; hızlı ve yüksek müzik hareketi hızlandırır, yavaş ve düşük müzik kalışı uzatır.</a:t>
            </a:r>
            <a:endParaRPr lang="en-US" sz="1350" dirty="0"/>
          </a:p>
        </p:txBody>
      </p:sp>
      <p:sp>
        <p:nvSpPr>
          <p:cNvPr id="6" name="Text 4"/>
          <p:cNvSpPr txBox="1"/>
          <p:nvPr/>
        </p:nvSpPr>
        <p:spPr>
          <a:xfrm>
            <a:off x="6382512"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En çok ihmal edilen boyut ise sessizliktir. Karar verilen yerlerde — deneme kabini, danışma noktası, ödeme alanı — sesin düşmesi gerekir.</a:t>
            </a:r>
            <a:endParaRPr lang="en-US" sz="1350" dirty="0"/>
          </a:p>
        </p:txBody>
      </p:sp>
      <p:sp>
        <p:nvSpPr>
          <p:cNvPr id="7" name="Text 5"/>
          <p:cNvSpPr txBox="1"/>
          <p:nvPr/>
        </p:nvSpPr>
        <p:spPr>
          <a:xfrm>
            <a:off x="777240" y="4864608"/>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MAĞAZADA NASIL KULLANILIR</a:t>
            </a:r>
            <a:endParaRPr lang="en-US" sz="900" dirty="0"/>
          </a:p>
        </p:txBody>
      </p:sp>
      <p:sp>
        <p:nvSpPr>
          <p:cNvPr id="8" name="Text 6"/>
          <p:cNvSpPr txBox="1"/>
          <p:nvPr/>
        </p:nvSpPr>
        <p:spPr>
          <a:xfrm>
            <a:off x="777240"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Sessiz bölge</a:t>
            </a:r>
            <a:endParaRPr lang="en-US" sz="1350" dirty="0"/>
          </a:p>
        </p:txBody>
      </p:sp>
      <p:sp>
        <p:nvSpPr>
          <p:cNvPr id="9" name="Text 7"/>
          <p:cNvSpPr txBox="1"/>
          <p:nvPr/>
        </p:nvSpPr>
        <p:spPr>
          <a:xfrm>
            <a:off x="777240"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Kabin ve danışma çevresinde yutucu yüzey kullanarak ses düzeyini düşürmek.</a:t>
            </a:r>
            <a:endParaRPr lang="en-US" sz="1100" dirty="0"/>
          </a:p>
        </p:txBody>
      </p:sp>
      <p:sp>
        <p:nvSpPr>
          <p:cNvPr id="10" name="Text 8"/>
          <p:cNvSpPr txBox="1"/>
          <p:nvPr/>
        </p:nvSpPr>
        <p:spPr>
          <a:xfrm>
            <a:off x="4474464"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Malzeme ile akustik</a:t>
            </a:r>
            <a:endParaRPr lang="en-US" sz="1350" dirty="0"/>
          </a:p>
        </p:txBody>
      </p:sp>
      <p:sp>
        <p:nvSpPr>
          <p:cNvPr id="11" name="Text 9"/>
          <p:cNvSpPr txBox="1"/>
          <p:nvPr/>
        </p:nvSpPr>
        <p:spPr>
          <a:xfrm>
            <a:off x="4474464"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Halı, kumaş perde, ahşap lata ve akustik tavanla yankıyı kırmak.</a:t>
            </a:r>
            <a:endParaRPr lang="en-US" sz="1100" dirty="0"/>
          </a:p>
        </p:txBody>
      </p:sp>
      <p:sp>
        <p:nvSpPr>
          <p:cNvPr id="12" name="Text 10"/>
          <p:cNvSpPr txBox="1"/>
          <p:nvPr/>
        </p:nvSpPr>
        <p:spPr>
          <a:xfrm>
            <a:off x="8171688"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Ürünün kendi sesi</a:t>
            </a:r>
            <a:endParaRPr lang="en-US" sz="1350" dirty="0"/>
          </a:p>
        </p:txBody>
      </p:sp>
      <p:sp>
        <p:nvSpPr>
          <p:cNvPr id="13" name="Text 11"/>
          <p:cNvSpPr txBox="1"/>
          <p:nvPr/>
        </p:nvSpPr>
        <p:spPr>
          <a:xfrm>
            <a:off x="8171688"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Plak, enstrüman ya da makine sesini teşhirin parçası hâline getirmek.</a:t>
            </a:r>
            <a:endParaRPr lang="en-US" sz="1100" dirty="0"/>
          </a:p>
        </p:txBody>
      </p:sp>
      <p:sp>
        <p:nvSpPr>
          <p:cNvPr id="14" name="Text 12"/>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Akustik yüzey kullanılan bir mağaza içi · dinleme kabini olan bir plak dükkânı</a:t>
            </a:r>
            <a:endParaRPr lang="en-US" sz="850" dirty="0"/>
          </a:p>
        </p:txBody>
      </p:sp>
      <p:sp>
        <p:nvSpPr>
          <p:cNvPr id="15" name="Text 13"/>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34</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749808"/>
            <a:ext cx="6217920" cy="658368"/>
          </a:xfrm>
          <a:prstGeom prst="rect">
            <a:avLst/>
          </a:prstGeom>
          <a:noFill/>
          <a:ln/>
        </p:spPr>
        <p:txBody>
          <a:bodyPr wrap="square" lIns="0" tIns="0" rIns="0" bIns="0" rtlCol="0" anchor="ctr"/>
          <a:lstStyle/>
          <a:p>
            <a:pPr indent="0" marL="0">
              <a:buNone/>
            </a:pPr>
            <a:r>
              <a:rPr lang="en-US" sz="3800" b="1" dirty="0">
                <a:solidFill>
                  <a:srgbClr val="8C3A2B"/>
                </a:solidFill>
                <a:latin typeface="Cambria" pitchFamily="34" charset="0"/>
                <a:ea typeface="Cambria" pitchFamily="34" charset="-122"/>
                <a:cs typeface="Cambria" pitchFamily="34" charset="-120"/>
              </a:rPr>
              <a:t>Dokunma</a:t>
            </a:r>
            <a:endParaRPr lang="en-US" sz="3800" dirty="0"/>
          </a:p>
        </p:txBody>
      </p:sp>
      <p:sp>
        <p:nvSpPr>
          <p:cNvPr id="4" name="Text 2"/>
          <p:cNvSpPr txBox="1"/>
          <p:nvPr/>
        </p:nvSpPr>
        <p:spPr>
          <a:xfrm>
            <a:off x="777240" y="1426464"/>
            <a:ext cx="86868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MALZEME · DOKU · SICAKLIK · AĞIRLIK</a:t>
            </a:r>
            <a:endParaRPr lang="en-US" sz="1050" dirty="0"/>
          </a:p>
        </p:txBody>
      </p:sp>
      <p:sp>
        <p:nvSpPr>
          <p:cNvPr id="5" name="Text 3"/>
          <p:cNvSpPr txBox="1"/>
          <p:nvPr/>
        </p:nvSpPr>
        <p:spPr>
          <a:xfrm>
            <a:off x="777240"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Dokunma, mağazanın internete karşı en güçlü olduğu duyudur. İnsan ürünü eline aldığında ona karşı sahiplik duygusu geliştirir; dokunmaya izin veren teşhir düzenleri bu nedenle satın almayı artırır.</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Mekân, dokunma iznini kendisi verir ya da geri alır. Açık raf 'dokun' der, cam dolap 'dokunma' der — sözlü olmayan ama son derece net bir iletişim.</a:t>
            </a:r>
            <a:endParaRPr lang="en-US" sz="1350" dirty="0"/>
          </a:p>
        </p:txBody>
      </p:sp>
      <p:sp>
        <p:nvSpPr>
          <p:cNvPr id="6" name="Text 4"/>
          <p:cNvSpPr txBox="1"/>
          <p:nvPr/>
        </p:nvSpPr>
        <p:spPr>
          <a:xfrm>
            <a:off x="6382512"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Dokunma ürünle sınırlı değildir. Kapı kolunun ağırlığı, tezgâhın sıcaklığı ve zeminin sertliği de markanın iddiasını sessizce doğrular ya da yalanlar.</a:t>
            </a:r>
            <a:endParaRPr lang="en-US" sz="1350" dirty="0"/>
          </a:p>
        </p:txBody>
      </p:sp>
      <p:sp>
        <p:nvSpPr>
          <p:cNvPr id="7" name="Text 5"/>
          <p:cNvSpPr txBox="1"/>
          <p:nvPr/>
        </p:nvSpPr>
        <p:spPr>
          <a:xfrm>
            <a:off x="777240" y="4864608"/>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MAĞAZADA NASIL KULLANILIR</a:t>
            </a:r>
            <a:endParaRPr lang="en-US" sz="900" dirty="0"/>
          </a:p>
        </p:txBody>
      </p:sp>
      <p:sp>
        <p:nvSpPr>
          <p:cNvPr id="8" name="Text 6"/>
          <p:cNvSpPr txBox="1"/>
          <p:nvPr/>
        </p:nvSpPr>
        <p:spPr>
          <a:xfrm>
            <a:off x="777240"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Açık teşhir</a:t>
            </a:r>
            <a:endParaRPr lang="en-US" sz="1350" dirty="0"/>
          </a:p>
        </p:txBody>
      </p:sp>
      <p:sp>
        <p:nvSpPr>
          <p:cNvPr id="9" name="Text 7"/>
          <p:cNvSpPr txBox="1"/>
          <p:nvPr/>
        </p:nvSpPr>
        <p:spPr>
          <a:xfrm>
            <a:off x="777240"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Ürünü ambalajsız ve elin ulaşacağı yükseklikte sunmak.</a:t>
            </a:r>
            <a:endParaRPr lang="en-US" sz="1100" dirty="0"/>
          </a:p>
        </p:txBody>
      </p:sp>
      <p:sp>
        <p:nvSpPr>
          <p:cNvPr id="10" name="Text 8"/>
          <p:cNvSpPr txBox="1"/>
          <p:nvPr/>
        </p:nvSpPr>
        <p:spPr>
          <a:xfrm>
            <a:off x="4474464"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Malzeme örneği</a:t>
            </a:r>
            <a:endParaRPr lang="en-US" sz="1350" dirty="0"/>
          </a:p>
        </p:txBody>
      </p:sp>
      <p:sp>
        <p:nvSpPr>
          <p:cNvPr id="11" name="Text 9"/>
          <p:cNvSpPr txBox="1"/>
          <p:nvPr/>
        </p:nvSpPr>
        <p:spPr>
          <a:xfrm>
            <a:off x="4474464"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Kumaş, deri veya ahşap örneklerini duvarda dokunulabilir hâlde vermek.</a:t>
            </a:r>
            <a:endParaRPr lang="en-US" sz="1100" dirty="0"/>
          </a:p>
        </p:txBody>
      </p:sp>
      <p:sp>
        <p:nvSpPr>
          <p:cNvPr id="12" name="Text 10"/>
          <p:cNvSpPr txBox="1"/>
          <p:nvPr/>
        </p:nvSpPr>
        <p:spPr>
          <a:xfrm>
            <a:off x="8171688"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Dokunsal yönlendirme</a:t>
            </a:r>
            <a:endParaRPr lang="en-US" sz="1350" dirty="0"/>
          </a:p>
        </p:txBody>
      </p:sp>
      <p:sp>
        <p:nvSpPr>
          <p:cNvPr id="13" name="Text 11"/>
          <p:cNvSpPr txBox="1"/>
          <p:nvPr/>
        </p:nvSpPr>
        <p:spPr>
          <a:xfrm>
            <a:off x="8171688"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Zeminde doku değişimi ve dokunsal harita ile görme engelli kullanıcıya rota vermek.</a:t>
            </a:r>
            <a:endParaRPr lang="en-US" sz="1100" dirty="0"/>
          </a:p>
        </p:txBody>
      </p:sp>
      <p:sp>
        <p:nvSpPr>
          <p:cNvPr id="14" name="Text 12"/>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Açık raf ile cam dolabın yan yana göründüğü bir mağaza içi · dokunsal yüzey örneği</a:t>
            </a:r>
            <a:endParaRPr lang="en-US" sz="850" dirty="0"/>
          </a:p>
        </p:txBody>
      </p:sp>
      <p:sp>
        <p:nvSpPr>
          <p:cNvPr id="15" name="Text 13"/>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35</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749808"/>
            <a:ext cx="6217920" cy="658368"/>
          </a:xfrm>
          <a:prstGeom prst="rect">
            <a:avLst/>
          </a:prstGeom>
          <a:noFill/>
          <a:ln/>
        </p:spPr>
        <p:txBody>
          <a:bodyPr wrap="square" lIns="0" tIns="0" rIns="0" bIns="0" rtlCol="0" anchor="ctr"/>
          <a:lstStyle/>
          <a:p>
            <a:pPr indent="0" marL="0">
              <a:buNone/>
            </a:pPr>
            <a:r>
              <a:rPr lang="en-US" sz="3800" b="1" dirty="0">
                <a:solidFill>
                  <a:srgbClr val="8C3A2B"/>
                </a:solidFill>
                <a:latin typeface="Cambria" pitchFamily="34" charset="0"/>
                <a:ea typeface="Cambria" pitchFamily="34" charset="-122"/>
                <a:cs typeface="Cambria" pitchFamily="34" charset="-120"/>
              </a:rPr>
              <a:t>Koklama</a:t>
            </a:r>
            <a:endParaRPr lang="en-US" sz="3800" dirty="0"/>
          </a:p>
        </p:txBody>
      </p:sp>
      <p:sp>
        <p:nvSpPr>
          <p:cNvPr id="4" name="Text 2"/>
          <p:cNvSpPr txBox="1"/>
          <p:nvPr/>
        </p:nvSpPr>
        <p:spPr>
          <a:xfrm>
            <a:off x="777240" y="1426464"/>
            <a:ext cx="86868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KOKU · HAFIZA · KAYNAK</a:t>
            </a:r>
            <a:endParaRPr lang="en-US" sz="1050" dirty="0"/>
          </a:p>
        </p:txBody>
      </p:sp>
      <p:sp>
        <p:nvSpPr>
          <p:cNvPr id="5" name="Text 3"/>
          <p:cNvSpPr txBox="1"/>
          <p:nvPr/>
        </p:nvSpPr>
        <p:spPr>
          <a:xfrm>
            <a:off x="777240"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Koku, hafızaya en doğrudan bağlanan duyudur; bir kokunun yıllar sonra bir mekânı hatırlatması bundandır. Bu nedenle koku, mağazanın hatırlanmasında güçlü bir araçtır.</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Ancak koku tasarımı mekâna difüzör koymak değildir. Etkili olan koku, kaynağı görünen kokudur: ürünün kendisi, kullanılan malzeme, taze bir yüzey ya da bir hazırlık tezgâhı. Kaynağı belirsiz yapay koku çoğu insanda rahatsızlık yaratır.</a:t>
            </a:r>
            <a:endParaRPr lang="en-US" sz="1350" dirty="0"/>
          </a:p>
        </p:txBody>
      </p:sp>
      <p:sp>
        <p:nvSpPr>
          <p:cNvPr id="6" name="Text 4"/>
          <p:cNvSpPr txBox="1"/>
          <p:nvPr/>
        </p:nvSpPr>
        <p:spPr>
          <a:xfrm>
            <a:off x="6382512"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Üçüncü kural ölçüdür: yoğun koku, koku hassasiyeti olan kullanıcılar için mekânı kullanılamaz kılar.</a:t>
            </a:r>
            <a:endParaRPr lang="en-US" sz="1350" dirty="0"/>
          </a:p>
        </p:txBody>
      </p:sp>
      <p:sp>
        <p:nvSpPr>
          <p:cNvPr id="7" name="Text 5"/>
          <p:cNvSpPr txBox="1"/>
          <p:nvPr/>
        </p:nvSpPr>
        <p:spPr>
          <a:xfrm>
            <a:off x="777240" y="4864608"/>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MAĞAZADA NASIL KULLANILIR</a:t>
            </a:r>
            <a:endParaRPr lang="en-US" sz="900" dirty="0"/>
          </a:p>
        </p:txBody>
      </p:sp>
      <p:sp>
        <p:nvSpPr>
          <p:cNvPr id="8" name="Text 6"/>
          <p:cNvSpPr txBox="1"/>
          <p:nvPr/>
        </p:nvSpPr>
        <p:spPr>
          <a:xfrm>
            <a:off x="777240"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Ürünün kendisi</a:t>
            </a:r>
            <a:endParaRPr lang="en-US" sz="1350" dirty="0"/>
          </a:p>
        </p:txBody>
      </p:sp>
      <p:sp>
        <p:nvSpPr>
          <p:cNvPr id="9" name="Text 7"/>
          <p:cNvSpPr txBox="1"/>
          <p:nvPr/>
        </p:nvSpPr>
        <p:spPr>
          <a:xfrm>
            <a:off x="777240"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Ambalajı kaldırıp kokuyu doğrudan ürüne bırakmak.</a:t>
            </a:r>
            <a:endParaRPr lang="en-US" sz="1100" dirty="0"/>
          </a:p>
        </p:txBody>
      </p:sp>
      <p:sp>
        <p:nvSpPr>
          <p:cNvPr id="10" name="Text 8"/>
          <p:cNvSpPr txBox="1"/>
          <p:nvPr/>
        </p:nvSpPr>
        <p:spPr>
          <a:xfrm>
            <a:off x="4474464"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Üretimi görünür kılmak</a:t>
            </a:r>
            <a:endParaRPr lang="en-US" sz="1350" dirty="0"/>
          </a:p>
        </p:txBody>
      </p:sp>
      <p:sp>
        <p:nvSpPr>
          <p:cNvPr id="11" name="Text 9"/>
          <p:cNvSpPr txBox="1"/>
          <p:nvPr/>
        </p:nvSpPr>
        <p:spPr>
          <a:xfrm>
            <a:off x="4474464"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Kavurma, fırın veya hazırlık tezgâhını satış alanına açmak.</a:t>
            </a:r>
            <a:endParaRPr lang="en-US" sz="1100" dirty="0"/>
          </a:p>
        </p:txBody>
      </p:sp>
      <p:sp>
        <p:nvSpPr>
          <p:cNvPr id="12" name="Text 10"/>
          <p:cNvSpPr txBox="1"/>
          <p:nvPr/>
        </p:nvSpPr>
        <p:spPr>
          <a:xfrm>
            <a:off x="8171688"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Malzeme kokusu</a:t>
            </a:r>
            <a:endParaRPr lang="en-US" sz="1350" dirty="0"/>
          </a:p>
        </p:txBody>
      </p:sp>
      <p:sp>
        <p:nvSpPr>
          <p:cNvPr id="13" name="Text 11"/>
          <p:cNvSpPr txBox="1"/>
          <p:nvPr/>
        </p:nvSpPr>
        <p:spPr>
          <a:xfrm>
            <a:off x="8171688"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Ham ahşap, deri ve doğal yağ gibi kendi kokusu olan malzemeleri seçmek.</a:t>
            </a:r>
            <a:endParaRPr lang="en-US" sz="1100" dirty="0"/>
          </a:p>
        </p:txBody>
      </p:sp>
      <p:sp>
        <p:nvSpPr>
          <p:cNvPr id="14" name="Text 12"/>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Ambalajsız teşhir yapan bir mağaza · açık kavurma makinesi · deneme lavabosu</a:t>
            </a:r>
            <a:endParaRPr lang="en-US" sz="850" dirty="0"/>
          </a:p>
        </p:txBody>
      </p:sp>
      <p:sp>
        <p:nvSpPr>
          <p:cNvPr id="15" name="Text 13"/>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36</a:t>
            </a:r>
            <a:endParaRPr lang="en-US" sz="9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749808"/>
            <a:ext cx="6217920" cy="658368"/>
          </a:xfrm>
          <a:prstGeom prst="rect">
            <a:avLst/>
          </a:prstGeom>
          <a:noFill/>
          <a:ln/>
        </p:spPr>
        <p:txBody>
          <a:bodyPr wrap="square" lIns="0" tIns="0" rIns="0" bIns="0" rtlCol="0" anchor="ctr"/>
          <a:lstStyle/>
          <a:p>
            <a:pPr indent="0" marL="0">
              <a:buNone/>
            </a:pPr>
            <a:r>
              <a:rPr lang="en-US" sz="3800" b="1" dirty="0">
                <a:solidFill>
                  <a:srgbClr val="8C3A2B"/>
                </a:solidFill>
                <a:latin typeface="Cambria" pitchFamily="34" charset="0"/>
                <a:ea typeface="Cambria" pitchFamily="34" charset="-122"/>
                <a:cs typeface="Cambria" pitchFamily="34" charset="-120"/>
              </a:rPr>
              <a:t>Tat</a:t>
            </a:r>
            <a:endParaRPr lang="en-US" sz="3800" dirty="0"/>
          </a:p>
        </p:txBody>
      </p:sp>
      <p:sp>
        <p:nvSpPr>
          <p:cNvPr id="4" name="Text 2"/>
          <p:cNvSpPr txBox="1"/>
          <p:nvPr/>
        </p:nvSpPr>
        <p:spPr>
          <a:xfrm>
            <a:off x="777240" y="1426464"/>
            <a:ext cx="86868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TADIM · İKRAM · AĞIZDA KALAN</a:t>
            </a:r>
            <a:endParaRPr lang="en-US" sz="1050" dirty="0"/>
          </a:p>
        </p:txBody>
      </p:sp>
      <p:sp>
        <p:nvSpPr>
          <p:cNvPr id="5" name="Text 3"/>
          <p:cNvSpPr txBox="1"/>
          <p:nvPr/>
        </p:nvSpPr>
        <p:spPr>
          <a:xfrm>
            <a:off x="777240"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Tat, mağaza tasarımında en dar kullanım alanına sahip duyudur; ancak kullanıldığı yerde etkisi çok güçlüdür. Tadım, ürünle kurulan ilişkiyi anlatımdan deneyime taşır.</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Tadımın mekânsal karşılığı vardır ve genellikle ihmal edilir. Bir tadım noktası tezgâh, lavabo, hijyen alanı, atık çözümü ve insanların durabileceği bir boşluk gerektirir. Bu boşluk hesaplanmadığında tadım noktası dolaşımı tıkar.</a:t>
            </a:r>
            <a:endParaRPr lang="en-US" sz="1350" dirty="0"/>
          </a:p>
        </p:txBody>
      </p:sp>
      <p:sp>
        <p:nvSpPr>
          <p:cNvPr id="6" name="Text 4"/>
          <p:cNvSpPr txBox="1"/>
          <p:nvPr/>
        </p:nvSpPr>
        <p:spPr>
          <a:xfrm>
            <a:off x="6382512"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Gıda dışı mağazalarda tat, ikram yoluyla dolaylı olarak devreye girer ve alışverişin süresini uzatır.</a:t>
            </a:r>
            <a:endParaRPr lang="en-US" sz="1350" dirty="0"/>
          </a:p>
        </p:txBody>
      </p:sp>
      <p:sp>
        <p:nvSpPr>
          <p:cNvPr id="7" name="Text 5"/>
          <p:cNvSpPr txBox="1"/>
          <p:nvPr/>
        </p:nvSpPr>
        <p:spPr>
          <a:xfrm>
            <a:off x="777240" y="4864608"/>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MAĞAZADA NASIL KULLANILIR</a:t>
            </a:r>
            <a:endParaRPr lang="en-US" sz="900" dirty="0"/>
          </a:p>
        </p:txBody>
      </p:sp>
      <p:sp>
        <p:nvSpPr>
          <p:cNvPr id="8" name="Text 6"/>
          <p:cNvSpPr txBox="1"/>
          <p:nvPr/>
        </p:nvSpPr>
        <p:spPr>
          <a:xfrm>
            <a:off x="777240"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Tadım tezgâhı</a:t>
            </a:r>
            <a:endParaRPr lang="en-US" sz="1350" dirty="0"/>
          </a:p>
        </p:txBody>
      </p:sp>
      <p:sp>
        <p:nvSpPr>
          <p:cNvPr id="9" name="Text 7"/>
          <p:cNvSpPr txBox="1"/>
          <p:nvPr/>
        </p:nvSpPr>
        <p:spPr>
          <a:xfrm>
            <a:off x="777240"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Açık kap, ölçülü porsiyon, lavabo ve atık; çevresinde 1,5 m boşluk.</a:t>
            </a:r>
            <a:endParaRPr lang="en-US" sz="1100" dirty="0"/>
          </a:p>
        </p:txBody>
      </p:sp>
      <p:sp>
        <p:nvSpPr>
          <p:cNvPr id="10" name="Text 8"/>
          <p:cNvSpPr txBox="1"/>
          <p:nvPr/>
        </p:nvSpPr>
        <p:spPr>
          <a:xfrm>
            <a:off x="4474464"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Açık hazırlık</a:t>
            </a:r>
            <a:endParaRPr lang="en-US" sz="1350" dirty="0"/>
          </a:p>
        </p:txBody>
      </p:sp>
      <p:sp>
        <p:nvSpPr>
          <p:cNvPr id="11" name="Text 9"/>
          <p:cNvSpPr txBox="1"/>
          <p:nvPr/>
        </p:nvSpPr>
        <p:spPr>
          <a:xfrm>
            <a:off x="4474464"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Demleme veya pişirme sürecini müşteriye açık konumlandırmak.</a:t>
            </a:r>
            <a:endParaRPr lang="en-US" sz="1100" dirty="0"/>
          </a:p>
        </p:txBody>
      </p:sp>
      <p:sp>
        <p:nvSpPr>
          <p:cNvPr id="12" name="Text 10"/>
          <p:cNvSpPr txBox="1"/>
          <p:nvPr/>
        </p:nvSpPr>
        <p:spPr>
          <a:xfrm>
            <a:off x="8171688"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İkram</a:t>
            </a:r>
            <a:endParaRPr lang="en-US" sz="1350" dirty="0"/>
          </a:p>
        </p:txBody>
      </p:sp>
      <p:sp>
        <p:nvSpPr>
          <p:cNvPr id="13" name="Text 11"/>
          <p:cNvSpPr txBox="1"/>
          <p:nvPr/>
        </p:nvSpPr>
        <p:spPr>
          <a:xfrm>
            <a:off x="8171688"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Çay veya kahve ikramıyla alışverişi bir karşılaşmaya dönüştürmek — çarşı geleneği.</a:t>
            </a:r>
            <a:endParaRPr lang="en-US" sz="1100" dirty="0"/>
          </a:p>
        </p:txBody>
      </p:sp>
      <p:sp>
        <p:nvSpPr>
          <p:cNvPr id="14" name="Text 12"/>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Bir tadım tezgâhı · açık demleme alanı olan bir kahve dükkânı</a:t>
            </a:r>
            <a:endParaRPr lang="en-US" sz="850" dirty="0"/>
          </a:p>
        </p:txBody>
      </p:sp>
      <p:sp>
        <p:nvSpPr>
          <p:cNvPr id="15" name="Text 13"/>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37</a:t>
            </a:r>
            <a:endParaRPr lang="en-US" sz="9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749808"/>
            <a:ext cx="6217920" cy="658368"/>
          </a:xfrm>
          <a:prstGeom prst="rect">
            <a:avLst/>
          </a:prstGeom>
          <a:noFill/>
          <a:ln/>
        </p:spPr>
        <p:txBody>
          <a:bodyPr wrap="square" lIns="0" tIns="0" rIns="0" bIns="0" rtlCol="0" anchor="ctr"/>
          <a:lstStyle/>
          <a:p>
            <a:pPr indent="0" marL="0">
              <a:buNone/>
            </a:pPr>
            <a:r>
              <a:rPr lang="en-US" sz="3800" b="1" dirty="0">
                <a:solidFill>
                  <a:srgbClr val="8C3A2B"/>
                </a:solidFill>
                <a:latin typeface="Cambria" pitchFamily="34" charset="0"/>
                <a:ea typeface="Cambria" pitchFamily="34" charset="-122"/>
                <a:cs typeface="Cambria" pitchFamily="34" charset="-120"/>
              </a:rPr>
              <a:t>Beden ve hareket</a:t>
            </a:r>
            <a:endParaRPr lang="en-US" sz="3800" dirty="0"/>
          </a:p>
        </p:txBody>
      </p:sp>
      <p:sp>
        <p:nvSpPr>
          <p:cNvPr id="4" name="Text 2"/>
          <p:cNvSpPr txBox="1"/>
          <p:nvPr/>
        </p:nvSpPr>
        <p:spPr>
          <a:xfrm>
            <a:off x="777240" y="1426464"/>
            <a:ext cx="86868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ISI · HAVA · KOT · RİTİM · YOĞUNLUK</a:t>
            </a:r>
            <a:endParaRPr lang="en-US" sz="1050" dirty="0"/>
          </a:p>
        </p:txBody>
      </p:sp>
      <p:sp>
        <p:nvSpPr>
          <p:cNvPr id="5" name="Text 3"/>
          <p:cNvSpPr txBox="1"/>
          <p:nvPr/>
        </p:nvSpPr>
        <p:spPr>
          <a:xfrm>
            <a:off x="777240"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Beş duyunun dışında, mekânı bedenimizle algıladığımız bir katman daha vardır: sıcaklık, hava akımı, kot farkı, tavan yüksekliğindeki değişim ve insan yoğunluğu.</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Sıcaklık farkı bir eşik aracıdır. Tavan yüksekliğindeki değişim mekânı bölmeden bölgelere ayırır; alçalan bir tavan yakınlık, yükselen bir tavan tören duygusu üretir.</a:t>
            </a:r>
            <a:endParaRPr lang="en-US" sz="1350" dirty="0"/>
          </a:p>
        </p:txBody>
      </p:sp>
      <p:sp>
        <p:nvSpPr>
          <p:cNvPr id="6" name="Text 4"/>
          <p:cNvSpPr txBox="1"/>
          <p:nvPr/>
        </p:nvSpPr>
        <p:spPr>
          <a:xfrm>
            <a:off x="6382512"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Yoğunluk ise en güçlü etkendir. Kalabalık bir mekânda insanlar ürünü incelemeyi bırakır, hızlanır ve erken çıkar. Boşluk, tasarımın israfı değil aracıdır.</a:t>
            </a:r>
            <a:endParaRPr lang="en-US" sz="1350" dirty="0"/>
          </a:p>
        </p:txBody>
      </p:sp>
      <p:sp>
        <p:nvSpPr>
          <p:cNvPr id="7" name="Text 5"/>
          <p:cNvSpPr txBox="1"/>
          <p:nvPr/>
        </p:nvSpPr>
        <p:spPr>
          <a:xfrm>
            <a:off x="777240" y="4864608"/>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MAĞAZADA NASIL KULLANILIR</a:t>
            </a:r>
            <a:endParaRPr lang="en-US" sz="900" dirty="0"/>
          </a:p>
        </p:txBody>
      </p:sp>
      <p:sp>
        <p:nvSpPr>
          <p:cNvPr id="8" name="Text 6"/>
          <p:cNvSpPr txBox="1"/>
          <p:nvPr/>
        </p:nvSpPr>
        <p:spPr>
          <a:xfrm>
            <a:off x="777240"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Tavanla bölgeleme</a:t>
            </a:r>
            <a:endParaRPr lang="en-US" sz="1350" dirty="0"/>
          </a:p>
        </p:txBody>
      </p:sp>
      <p:sp>
        <p:nvSpPr>
          <p:cNvPr id="9" name="Text 7"/>
          <p:cNvSpPr txBox="1"/>
          <p:nvPr/>
        </p:nvSpPr>
        <p:spPr>
          <a:xfrm>
            <a:off x="777240"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Duvar örmeden, tavan yüksekliğini değiştirerek alan tanımlamak.</a:t>
            </a:r>
            <a:endParaRPr lang="en-US" sz="1100" dirty="0"/>
          </a:p>
        </p:txBody>
      </p:sp>
      <p:sp>
        <p:nvSpPr>
          <p:cNvPr id="10" name="Text 8"/>
          <p:cNvSpPr txBox="1"/>
          <p:nvPr/>
        </p:nvSpPr>
        <p:spPr>
          <a:xfrm>
            <a:off x="4474464"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Koridor hiyerarşisi</a:t>
            </a:r>
            <a:endParaRPr lang="en-US" sz="1350" dirty="0"/>
          </a:p>
        </p:txBody>
      </p:sp>
      <p:sp>
        <p:nvSpPr>
          <p:cNvPr id="11" name="Text 9"/>
          <p:cNvSpPr txBox="1"/>
          <p:nvPr/>
        </p:nvSpPr>
        <p:spPr>
          <a:xfrm>
            <a:off x="4474464"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Ana rotayı geniş, keşif rotalarını dar tutarak hız farkı yaratmak.</a:t>
            </a:r>
            <a:endParaRPr lang="en-US" sz="1100" dirty="0"/>
          </a:p>
        </p:txBody>
      </p:sp>
      <p:sp>
        <p:nvSpPr>
          <p:cNvPr id="12" name="Text 10"/>
          <p:cNvSpPr txBox="1"/>
          <p:nvPr/>
        </p:nvSpPr>
        <p:spPr>
          <a:xfrm>
            <a:off x="8171688"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Eşikte sıcaklık</a:t>
            </a:r>
            <a:endParaRPr lang="en-US" sz="1350" dirty="0"/>
          </a:p>
        </p:txBody>
      </p:sp>
      <p:sp>
        <p:nvSpPr>
          <p:cNvPr id="13" name="Text 11"/>
          <p:cNvSpPr txBox="1"/>
          <p:nvPr/>
        </p:nvSpPr>
        <p:spPr>
          <a:xfrm>
            <a:off x="8171688"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Girişte hissedilen ısı değişimini bilinçli bir geçiş aracı olarak kullanmak.</a:t>
            </a:r>
            <a:endParaRPr lang="en-US" sz="1100" dirty="0"/>
          </a:p>
        </p:txBody>
      </p:sp>
      <p:sp>
        <p:nvSpPr>
          <p:cNvPr id="14" name="Text 12"/>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Tavan yüksekliği değişen bir mağaza kesiti veya fotoğrafı</a:t>
            </a:r>
            <a:endParaRPr lang="en-US" sz="850" dirty="0"/>
          </a:p>
        </p:txBody>
      </p:sp>
      <p:sp>
        <p:nvSpPr>
          <p:cNvPr id="15" name="Text 13"/>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38</a:t>
            </a:r>
            <a:endParaRPr lang="en-US" sz="9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Fazlası, eksiği kadar sorunludur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39</a:t>
            </a:r>
            <a:endParaRPr lang="en-US" sz="950" dirty="0"/>
          </a:p>
        </p:txBody>
      </p:sp>
      <p:sp>
        <p:nvSpPr>
          <p:cNvPr id="5" name="Text 3"/>
          <p:cNvSpPr txBox="1"/>
          <p:nvPr/>
        </p:nvSpPr>
        <p:spPr>
          <a:xfrm>
            <a:off x="777240" y="1627632"/>
            <a:ext cx="10634472" cy="59436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Duyusal tasarım denildiğinde akla çoğunlukla daha fazla uyaran eklemek gelir. Oysa güncel araştırmalar tersini gösteriyor: mağazalarda asıl sorun duyusal yoksunluk değil, duyusal aşırılıktır.</a:t>
            </a:r>
            <a:endParaRPr lang="en-US" sz="1500" dirty="0"/>
          </a:p>
        </p:txBody>
      </p:sp>
      <p:sp>
        <p:nvSpPr>
          <p:cNvPr id="6" name="Shape 4"/>
          <p:cNvSpPr/>
          <p:nvPr/>
        </p:nvSpPr>
        <p:spPr>
          <a:xfrm>
            <a:off x="3108960" y="2286000"/>
            <a:ext cx="3456432" cy="274320"/>
          </a:xfrm>
          <a:prstGeom prst="rect">
            <a:avLst/>
          </a:prstGeom>
          <a:solidFill>
            <a:srgbClr val="C9C9CF"/>
          </a:solidFill>
          <a:ln w="12700">
            <a:solidFill>
              <a:srgbClr val="C9C9CF"/>
            </a:solidFill>
            <a:prstDash val="solid"/>
          </a:ln>
        </p:spPr>
      </p:sp>
      <p:sp>
        <p:nvSpPr>
          <p:cNvPr id="7" name="Text 5"/>
          <p:cNvSpPr txBox="1"/>
          <p:nvPr/>
        </p:nvSpPr>
        <p:spPr>
          <a:xfrm>
            <a:off x="777240" y="2286000"/>
            <a:ext cx="2194560" cy="274320"/>
          </a:xfrm>
          <a:prstGeom prst="rect">
            <a:avLst/>
          </a:prstGeom>
          <a:noFill/>
          <a:ln/>
        </p:spPr>
        <p:txBody>
          <a:bodyPr wrap="square" lIns="0" tIns="0" rIns="0" bIns="0" rtlCol="0" anchor="ctr"/>
          <a:lstStyle/>
          <a:p>
            <a:pPr algn="r" indent="0" marL="0">
              <a:buNone/>
            </a:pPr>
            <a:r>
              <a:rPr lang="en-US" sz="1000" dirty="0">
                <a:solidFill>
                  <a:srgbClr val="2B2B31"/>
                </a:solidFill>
                <a:latin typeface="Calibri" pitchFamily="34" charset="0"/>
                <a:ea typeface="Calibri" pitchFamily="34" charset="-122"/>
                <a:cs typeface="Calibri" pitchFamily="34" charset="-120"/>
              </a:rPr>
              <a:t>Personel yaklaşımı</a:t>
            </a:r>
            <a:endParaRPr lang="en-US" sz="1000" dirty="0"/>
          </a:p>
        </p:txBody>
      </p:sp>
      <p:sp>
        <p:nvSpPr>
          <p:cNvPr id="8" name="Text 6"/>
          <p:cNvSpPr txBox="1"/>
          <p:nvPr/>
        </p:nvSpPr>
        <p:spPr>
          <a:xfrm>
            <a:off x="6656832" y="2286000"/>
            <a:ext cx="640080" cy="274320"/>
          </a:xfrm>
          <a:prstGeom prst="rect">
            <a:avLst/>
          </a:prstGeom>
          <a:noFill/>
          <a:ln/>
        </p:spPr>
        <p:txBody>
          <a:bodyPr wrap="square" lIns="0" tIns="0" rIns="0" bIns="0" rtlCol="0" anchor="ctr"/>
          <a:lstStyle/>
          <a:p>
            <a:pPr indent="0" marL="0">
              <a:buNone/>
            </a:pPr>
            <a:r>
              <a:rPr lang="en-US" sz="1000" b="1" dirty="0">
                <a:solidFill>
                  <a:srgbClr val="7A7A82"/>
                </a:solidFill>
                <a:latin typeface="Calibri" pitchFamily="34" charset="0"/>
                <a:ea typeface="Calibri" pitchFamily="34" charset="-122"/>
                <a:cs typeface="Calibri" pitchFamily="34" charset="-120"/>
              </a:rPr>
              <a:t>3,40</a:t>
            </a:r>
            <a:endParaRPr lang="en-US" sz="1000" dirty="0"/>
          </a:p>
        </p:txBody>
      </p:sp>
      <p:sp>
        <p:nvSpPr>
          <p:cNvPr id="9" name="Shape 7"/>
          <p:cNvSpPr/>
          <p:nvPr/>
        </p:nvSpPr>
        <p:spPr>
          <a:xfrm>
            <a:off x="3108960" y="2688336"/>
            <a:ext cx="3168396" cy="274320"/>
          </a:xfrm>
          <a:prstGeom prst="rect">
            <a:avLst/>
          </a:prstGeom>
          <a:solidFill>
            <a:srgbClr val="C9C9CF"/>
          </a:solidFill>
          <a:ln w="12700">
            <a:solidFill>
              <a:srgbClr val="C9C9CF"/>
            </a:solidFill>
            <a:prstDash val="solid"/>
          </a:ln>
        </p:spPr>
      </p:sp>
      <p:sp>
        <p:nvSpPr>
          <p:cNvPr id="10" name="Text 8"/>
          <p:cNvSpPr txBox="1"/>
          <p:nvPr/>
        </p:nvSpPr>
        <p:spPr>
          <a:xfrm>
            <a:off x="777240" y="2688336"/>
            <a:ext cx="2194560" cy="274320"/>
          </a:xfrm>
          <a:prstGeom prst="rect">
            <a:avLst/>
          </a:prstGeom>
          <a:noFill/>
          <a:ln/>
        </p:spPr>
        <p:txBody>
          <a:bodyPr wrap="square" lIns="0" tIns="0" rIns="0" bIns="0" rtlCol="0" anchor="ctr"/>
          <a:lstStyle/>
          <a:p>
            <a:pPr algn="r" indent="0" marL="0">
              <a:buNone/>
            </a:pPr>
            <a:r>
              <a:rPr lang="en-US" sz="1000" dirty="0">
                <a:solidFill>
                  <a:srgbClr val="2B2B31"/>
                </a:solidFill>
                <a:latin typeface="Calibri" pitchFamily="34" charset="0"/>
                <a:ea typeface="Calibri" pitchFamily="34" charset="-122"/>
                <a:cs typeface="Calibri" pitchFamily="34" charset="-120"/>
              </a:rPr>
              <a:t>Görsel algı ve aydınlatma</a:t>
            </a:r>
            <a:endParaRPr lang="en-US" sz="1000" dirty="0"/>
          </a:p>
        </p:txBody>
      </p:sp>
      <p:sp>
        <p:nvSpPr>
          <p:cNvPr id="11" name="Text 9"/>
          <p:cNvSpPr txBox="1"/>
          <p:nvPr/>
        </p:nvSpPr>
        <p:spPr>
          <a:xfrm>
            <a:off x="6368796" y="2688336"/>
            <a:ext cx="640080" cy="274320"/>
          </a:xfrm>
          <a:prstGeom prst="rect">
            <a:avLst/>
          </a:prstGeom>
          <a:noFill/>
          <a:ln/>
        </p:spPr>
        <p:txBody>
          <a:bodyPr wrap="square" lIns="0" tIns="0" rIns="0" bIns="0" rtlCol="0" anchor="ctr"/>
          <a:lstStyle/>
          <a:p>
            <a:pPr indent="0" marL="0">
              <a:buNone/>
            </a:pPr>
            <a:r>
              <a:rPr lang="en-US" sz="1000" b="1" dirty="0">
                <a:solidFill>
                  <a:srgbClr val="7A7A82"/>
                </a:solidFill>
                <a:latin typeface="Calibri" pitchFamily="34" charset="0"/>
                <a:ea typeface="Calibri" pitchFamily="34" charset="-122"/>
                <a:cs typeface="Calibri" pitchFamily="34" charset="-120"/>
              </a:rPr>
              <a:t>3,20</a:t>
            </a:r>
            <a:endParaRPr lang="en-US" sz="1000" dirty="0"/>
          </a:p>
        </p:txBody>
      </p:sp>
      <p:sp>
        <p:nvSpPr>
          <p:cNvPr id="12" name="Shape 10"/>
          <p:cNvSpPr/>
          <p:nvPr/>
        </p:nvSpPr>
        <p:spPr>
          <a:xfrm>
            <a:off x="3108960" y="3090672"/>
            <a:ext cx="3024378" cy="274320"/>
          </a:xfrm>
          <a:prstGeom prst="rect">
            <a:avLst/>
          </a:prstGeom>
          <a:solidFill>
            <a:srgbClr val="C9C9CF"/>
          </a:solidFill>
          <a:ln w="12700">
            <a:solidFill>
              <a:srgbClr val="C9C9CF"/>
            </a:solidFill>
            <a:prstDash val="solid"/>
          </a:ln>
        </p:spPr>
      </p:sp>
      <p:sp>
        <p:nvSpPr>
          <p:cNvPr id="13" name="Text 11"/>
          <p:cNvSpPr txBox="1"/>
          <p:nvPr/>
        </p:nvSpPr>
        <p:spPr>
          <a:xfrm>
            <a:off x="777240" y="3090672"/>
            <a:ext cx="2194560" cy="274320"/>
          </a:xfrm>
          <a:prstGeom prst="rect">
            <a:avLst/>
          </a:prstGeom>
          <a:noFill/>
          <a:ln/>
        </p:spPr>
        <p:txBody>
          <a:bodyPr wrap="square" lIns="0" tIns="0" rIns="0" bIns="0" rtlCol="0" anchor="ctr"/>
          <a:lstStyle/>
          <a:p>
            <a:pPr algn="r" indent="0" marL="0">
              <a:buNone/>
            </a:pPr>
            <a:r>
              <a:rPr lang="en-US" sz="1000" dirty="0">
                <a:solidFill>
                  <a:srgbClr val="2B2B31"/>
                </a:solidFill>
                <a:latin typeface="Calibri" pitchFamily="34" charset="0"/>
                <a:ea typeface="Calibri" pitchFamily="34" charset="-122"/>
                <a:cs typeface="Calibri" pitchFamily="34" charset="-120"/>
              </a:rPr>
              <a:t>Erişilebilirlik ve algılanabilirlik</a:t>
            </a:r>
            <a:endParaRPr lang="en-US" sz="1000" dirty="0"/>
          </a:p>
        </p:txBody>
      </p:sp>
      <p:sp>
        <p:nvSpPr>
          <p:cNvPr id="14" name="Text 12"/>
          <p:cNvSpPr txBox="1"/>
          <p:nvPr/>
        </p:nvSpPr>
        <p:spPr>
          <a:xfrm>
            <a:off x="6224778" y="3090672"/>
            <a:ext cx="640080" cy="274320"/>
          </a:xfrm>
          <a:prstGeom prst="rect">
            <a:avLst/>
          </a:prstGeom>
          <a:noFill/>
          <a:ln/>
        </p:spPr>
        <p:txBody>
          <a:bodyPr wrap="square" lIns="0" tIns="0" rIns="0" bIns="0" rtlCol="0" anchor="ctr"/>
          <a:lstStyle/>
          <a:p>
            <a:pPr indent="0" marL="0">
              <a:buNone/>
            </a:pPr>
            <a:r>
              <a:rPr lang="en-US" sz="1000" b="1" dirty="0">
                <a:solidFill>
                  <a:srgbClr val="7A7A82"/>
                </a:solidFill>
                <a:latin typeface="Calibri" pitchFamily="34" charset="0"/>
                <a:ea typeface="Calibri" pitchFamily="34" charset="-122"/>
                <a:cs typeface="Calibri" pitchFamily="34" charset="-120"/>
              </a:rPr>
              <a:t>3,10</a:t>
            </a:r>
            <a:endParaRPr lang="en-US" sz="1000" dirty="0"/>
          </a:p>
        </p:txBody>
      </p:sp>
      <p:sp>
        <p:nvSpPr>
          <p:cNvPr id="15" name="Shape 13"/>
          <p:cNvSpPr/>
          <p:nvPr/>
        </p:nvSpPr>
        <p:spPr>
          <a:xfrm>
            <a:off x="3108960" y="3493008"/>
            <a:ext cx="2865958" cy="274320"/>
          </a:xfrm>
          <a:prstGeom prst="rect">
            <a:avLst/>
          </a:prstGeom>
          <a:solidFill>
            <a:srgbClr val="8C3A2B"/>
          </a:solidFill>
          <a:ln w="12700">
            <a:solidFill>
              <a:srgbClr val="8C3A2B"/>
            </a:solidFill>
            <a:prstDash val="solid"/>
          </a:ln>
        </p:spPr>
      </p:sp>
      <p:sp>
        <p:nvSpPr>
          <p:cNvPr id="16" name="Text 14"/>
          <p:cNvSpPr txBox="1"/>
          <p:nvPr/>
        </p:nvSpPr>
        <p:spPr>
          <a:xfrm>
            <a:off x="777240" y="3493008"/>
            <a:ext cx="2194560" cy="274320"/>
          </a:xfrm>
          <a:prstGeom prst="rect">
            <a:avLst/>
          </a:prstGeom>
          <a:noFill/>
          <a:ln/>
        </p:spPr>
        <p:txBody>
          <a:bodyPr wrap="square" lIns="0" tIns="0" rIns="0" bIns="0" rtlCol="0" anchor="ctr"/>
          <a:lstStyle/>
          <a:p>
            <a:pPr algn="r" indent="0" marL="0">
              <a:buNone/>
            </a:pPr>
            <a:r>
              <a:rPr lang="en-US" sz="1000" b="1" dirty="0">
                <a:solidFill>
                  <a:srgbClr val="8C3A2B"/>
                </a:solidFill>
                <a:latin typeface="Calibri" pitchFamily="34" charset="0"/>
                <a:ea typeface="Calibri" pitchFamily="34" charset="-122"/>
                <a:cs typeface="Calibri" pitchFamily="34" charset="-120"/>
              </a:rPr>
              <a:t>Fiziksel dolaşım ve erişim</a:t>
            </a:r>
            <a:endParaRPr lang="en-US" sz="1000" dirty="0"/>
          </a:p>
        </p:txBody>
      </p:sp>
      <p:sp>
        <p:nvSpPr>
          <p:cNvPr id="17" name="Text 15"/>
          <p:cNvSpPr txBox="1"/>
          <p:nvPr/>
        </p:nvSpPr>
        <p:spPr>
          <a:xfrm>
            <a:off x="6066358" y="3493008"/>
            <a:ext cx="640080" cy="274320"/>
          </a:xfrm>
          <a:prstGeom prst="rect">
            <a:avLst/>
          </a:prstGeom>
          <a:noFill/>
          <a:ln/>
        </p:spPr>
        <p:txBody>
          <a:bodyPr wrap="square" lIns="0" tIns="0" rIns="0" bIns="0" rtlCol="0" anchor="ctr"/>
          <a:lstStyle/>
          <a:p>
            <a:pPr indent="0" marL="0">
              <a:buNone/>
            </a:pPr>
            <a:r>
              <a:rPr lang="en-US" sz="1000" b="1" dirty="0">
                <a:solidFill>
                  <a:srgbClr val="8C3A2B"/>
                </a:solidFill>
                <a:latin typeface="Calibri" pitchFamily="34" charset="0"/>
                <a:ea typeface="Calibri" pitchFamily="34" charset="-122"/>
                <a:cs typeface="Calibri" pitchFamily="34" charset="-120"/>
              </a:rPr>
              <a:t>2,99</a:t>
            </a:r>
            <a:endParaRPr lang="en-US" sz="1000" dirty="0"/>
          </a:p>
        </p:txBody>
      </p:sp>
      <p:sp>
        <p:nvSpPr>
          <p:cNvPr id="18" name="Shape 16"/>
          <p:cNvSpPr/>
          <p:nvPr/>
        </p:nvSpPr>
        <p:spPr>
          <a:xfrm>
            <a:off x="3108960" y="3895344"/>
            <a:ext cx="2721940" cy="274320"/>
          </a:xfrm>
          <a:prstGeom prst="rect">
            <a:avLst/>
          </a:prstGeom>
          <a:solidFill>
            <a:srgbClr val="8C3A2B"/>
          </a:solidFill>
          <a:ln w="12700">
            <a:solidFill>
              <a:srgbClr val="8C3A2B"/>
            </a:solidFill>
            <a:prstDash val="solid"/>
          </a:ln>
        </p:spPr>
      </p:sp>
      <p:sp>
        <p:nvSpPr>
          <p:cNvPr id="19" name="Text 17"/>
          <p:cNvSpPr txBox="1"/>
          <p:nvPr/>
        </p:nvSpPr>
        <p:spPr>
          <a:xfrm>
            <a:off x="777240" y="3895344"/>
            <a:ext cx="2194560" cy="274320"/>
          </a:xfrm>
          <a:prstGeom prst="rect">
            <a:avLst/>
          </a:prstGeom>
          <a:noFill/>
          <a:ln/>
        </p:spPr>
        <p:txBody>
          <a:bodyPr wrap="square" lIns="0" tIns="0" rIns="0" bIns="0" rtlCol="0" anchor="ctr"/>
          <a:lstStyle/>
          <a:p>
            <a:pPr algn="r" indent="0" marL="0">
              <a:buNone/>
            </a:pPr>
            <a:r>
              <a:rPr lang="en-US" sz="1000" b="1" dirty="0">
                <a:solidFill>
                  <a:srgbClr val="8C3A2B"/>
                </a:solidFill>
                <a:latin typeface="Calibri" pitchFamily="34" charset="0"/>
                <a:ea typeface="Calibri" pitchFamily="34" charset="-122"/>
                <a:cs typeface="Calibri" pitchFamily="34" charset="-120"/>
              </a:rPr>
              <a:t>İşitsel ve duyusal konfor</a:t>
            </a:r>
            <a:endParaRPr lang="en-US" sz="1000" dirty="0"/>
          </a:p>
        </p:txBody>
      </p:sp>
      <p:sp>
        <p:nvSpPr>
          <p:cNvPr id="20" name="Text 18"/>
          <p:cNvSpPr txBox="1"/>
          <p:nvPr/>
        </p:nvSpPr>
        <p:spPr>
          <a:xfrm>
            <a:off x="5922340" y="3895344"/>
            <a:ext cx="640080" cy="274320"/>
          </a:xfrm>
          <a:prstGeom prst="rect">
            <a:avLst/>
          </a:prstGeom>
          <a:noFill/>
          <a:ln/>
        </p:spPr>
        <p:txBody>
          <a:bodyPr wrap="square" lIns="0" tIns="0" rIns="0" bIns="0" rtlCol="0" anchor="ctr"/>
          <a:lstStyle/>
          <a:p>
            <a:pPr indent="0" marL="0">
              <a:buNone/>
            </a:pPr>
            <a:r>
              <a:rPr lang="en-US" sz="1000" b="1" dirty="0">
                <a:solidFill>
                  <a:srgbClr val="8C3A2B"/>
                </a:solidFill>
                <a:latin typeface="Calibri" pitchFamily="34" charset="0"/>
                <a:ea typeface="Calibri" pitchFamily="34" charset="-122"/>
                <a:cs typeface="Calibri" pitchFamily="34" charset="-120"/>
              </a:rPr>
              <a:t>2,89</a:t>
            </a:r>
            <a:endParaRPr lang="en-US" sz="1000" dirty="0"/>
          </a:p>
        </p:txBody>
      </p:sp>
      <p:sp>
        <p:nvSpPr>
          <p:cNvPr id="21" name="Shape 19"/>
          <p:cNvSpPr/>
          <p:nvPr/>
        </p:nvSpPr>
        <p:spPr>
          <a:xfrm>
            <a:off x="3108960" y="2176272"/>
            <a:ext cx="0" cy="2048256"/>
          </a:xfrm>
          <a:prstGeom prst="line">
            <a:avLst/>
          </a:prstGeom>
          <a:noFill/>
          <a:ln w="11430">
            <a:solidFill>
              <a:srgbClr val="C9C9CF"/>
            </a:solidFill>
            <a:prstDash val="solid"/>
          </a:ln>
        </p:spPr>
      </p:sp>
      <p:sp>
        <p:nvSpPr>
          <p:cNvPr id="22" name="Text 20"/>
          <p:cNvSpPr txBox="1"/>
          <p:nvPr/>
        </p:nvSpPr>
        <p:spPr>
          <a:xfrm>
            <a:off x="3108960" y="4315968"/>
            <a:ext cx="5943600" cy="274320"/>
          </a:xfrm>
          <a:prstGeom prst="rect">
            <a:avLst/>
          </a:prstGeom>
          <a:noFill/>
          <a:ln/>
        </p:spPr>
        <p:txBody>
          <a:bodyPr wrap="square" lIns="0" tIns="0" rIns="0" bIns="0" rtlCol="0" anchor="ctr"/>
          <a:lstStyle/>
          <a:p>
            <a:pPr algn="l" indent="0" marL="0">
              <a:lnSpc>
                <a:spcPts val="1200"/>
              </a:lnSpc>
              <a:buNone/>
            </a:pPr>
            <a:r>
              <a:rPr lang="en-US" sz="900" dirty="0">
                <a:solidFill>
                  <a:srgbClr val="A6A6AC"/>
                </a:solidFill>
                <a:latin typeface="Calibri" pitchFamily="34" charset="0"/>
                <a:ea typeface="Calibri" pitchFamily="34" charset="-122"/>
                <a:cs typeface="Calibri" pitchFamily="34" charset="-120"/>
              </a:rPr>
              <a:t>1 = en olumsuz   ·   5 = en olumlu   ·   105 katılımcı</a:t>
            </a:r>
            <a:endParaRPr lang="en-US" sz="900" dirty="0"/>
          </a:p>
        </p:txBody>
      </p:sp>
      <p:sp>
        <p:nvSpPr>
          <p:cNvPr id="23" name="Text 21"/>
          <p:cNvSpPr txBox="1"/>
          <p:nvPr/>
        </p:nvSpPr>
        <p:spPr>
          <a:xfrm>
            <a:off x="777240" y="4526280"/>
            <a:ext cx="5029200" cy="1737360"/>
          </a:xfrm>
          <a:prstGeom prst="rect">
            <a:avLst/>
          </a:prstGeom>
          <a:noFill/>
          <a:ln/>
        </p:spPr>
        <p:txBody>
          <a:bodyPr wrap="square" lIns="0" tIns="0" rIns="0" bIns="0" rtlCol="0" anchor="ctr"/>
          <a:lstStyle/>
          <a:p>
            <a:pPr indent="0" marL="0">
              <a:lnSpc>
                <a:spcPts val="1900"/>
              </a:lnSpc>
              <a:buNone/>
            </a:pPr>
            <a:r>
              <a:rPr lang="en-US" sz="1250" dirty="0">
                <a:solidFill>
                  <a:srgbClr val="2B2B31"/>
                </a:solidFill>
                <a:latin typeface="Cambria" pitchFamily="34" charset="0"/>
                <a:ea typeface="Cambria" pitchFamily="34" charset="-122"/>
                <a:cs typeface="Cambria" pitchFamily="34" charset="-120"/>
              </a:rPr>
              <a:t>İstanbul'da 105 engelli kullanıcıyla yapılan bir araştırmada büyük mağaza iç mekânları beş boyutta değerlendirildi. En düşük puanı işitsel ve duyusal konfor aldı: yüksek müzik, anlaşılmayan anonslar, genel duyusal yük (Akyazıcı &amp; Yaşar, 2026).</a:t>
            </a:r>
            <a:endParaRPr lang="en-US" sz="1250" dirty="0"/>
          </a:p>
        </p:txBody>
      </p:sp>
      <p:sp>
        <p:nvSpPr>
          <p:cNvPr id="24" name="Text 22"/>
          <p:cNvSpPr txBox="1"/>
          <p:nvPr/>
        </p:nvSpPr>
        <p:spPr>
          <a:xfrm>
            <a:off x="6382512" y="4526280"/>
            <a:ext cx="5029200" cy="1737360"/>
          </a:xfrm>
          <a:prstGeom prst="rect">
            <a:avLst/>
          </a:prstGeom>
          <a:noFill/>
          <a:ln/>
        </p:spPr>
        <p:txBody>
          <a:bodyPr wrap="square" lIns="0" tIns="0" rIns="0" bIns="0" rtlCol="0" anchor="ctr"/>
          <a:lstStyle/>
          <a:p>
            <a:pPr indent="0" marL="0">
              <a:lnSpc>
                <a:spcPts val="1900"/>
              </a:lnSpc>
              <a:buNone/>
            </a:pPr>
            <a:r>
              <a:rPr lang="en-US" sz="1250" dirty="0">
                <a:solidFill>
                  <a:srgbClr val="2B2B31"/>
                </a:solidFill>
                <a:latin typeface="Cambria" pitchFamily="34" charset="0"/>
                <a:ea typeface="Cambria" pitchFamily="34" charset="-122"/>
                <a:cs typeface="Cambria" pitchFamily="34" charset="-120"/>
              </a:rPr>
              <a:t>Görme engelli kullanıcılar için en sorunlu boyut görsel algı ve aydınlatmaydı; parlama ve okunamayan etiketler öne çıktı.</a:t>
            </a:r>
            <a:endParaRPr lang="en-US" sz="1250" dirty="0"/>
          </a:p>
          <a:p>
            <a:pPr indent="0" marL="0">
              <a:lnSpc>
                <a:spcPts val="1900"/>
              </a:lnSpc>
              <a:buNone/>
            </a:pPr>
            <a:endParaRPr lang="en-US" sz="1250" dirty="0"/>
          </a:p>
          <a:p>
            <a:pPr indent="0" marL="0">
              <a:lnSpc>
                <a:spcPts val="1900"/>
              </a:lnSpc>
              <a:buNone/>
            </a:pPr>
            <a:r>
              <a:rPr lang="en-US" sz="1250" dirty="0">
                <a:solidFill>
                  <a:srgbClr val="2B2B31"/>
                </a:solidFill>
                <a:latin typeface="Cambria" pitchFamily="34" charset="0"/>
                <a:ea typeface="Cambria" pitchFamily="34" charset="-122"/>
                <a:cs typeface="Cambria" pitchFamily="34" charset="-120"/>
              </a:rPr>
              <a:t>Çıkan ilke: her uyaranın bir gerekçesi olmalıdır. Gerekçesi olmayan uyaran, birileri için engeldir.</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1737360"/>
            <a:ext cx="10424160" cy="2926080"/>
          </a:xfrm>
          <a:prstGeom prst="rect">
            <a:avLst/>
          </a:prstGeom>
          <a:noFill/>
          <a:ln/>
        </p:spPr>
        <p:txBody>
          <a:bodyPr wrap="square" lIns="0" tIns="0" rIns="0" bIns="0" rtlCol="0" anchor="ctr"/>
          <a:lstStyle/>
          <a:p>
            <a:pPr indent="0" marL="0">
              <a:lnSpc>
                <a:spcPts val="4200"/>
              </a:lnSpc>
              <a:buNone/>
            </a:pPr>
            <a:r>
              <a:rPr lang="en-US" sz="2900" i="1" dirty="0">
                <a:solidFill>
                  <a:srgbClr val="16161A"/>
                </a:solidFill>
                <a:latin typeface="Cambria" pitchFamily="34" charset="0"/>
                <a:ea typeface="Cambria" pitchFamily="34" charset="-122"/>
                <a:cs typeface="Cambria" pitchFamily="34" charset="-120"/>
              </a:rPr>
              <a:t>Duyusal tasarım bir estetik katman değil, hizmetin işleyen bir parçasıdır.</a:t>
            </a:r>
            <a:endParaRPr lang="en-US" sz="2900" dirty="0"/>
          </a:p>
        </p:txBody>
      </p:sp>
      <p:sp>
        <p:nvSpPr>
          <p:cNvPr id="3" name="Text 1"/>
          <p:cNvSpPr txBox="1"/>
          <p:nvPr/>
        </p:nvSpPr>
        <p:spPr>
          <a:xfrm>
            <a:off x="777240" y="4846320"/>
            <a:ext cx="10424160" cy="365760"/>
          </a:xfrm>
          <a:prstGeom prst="rect">
            <a:avLst/>
          </a:prstGeom>
          <a:noFill/>
          <a:ln/>
        </p:spPr>
        <p:txBody>
          <a:bodyPr wrap="square" lIns="0" tIns="0" rIns="0" bIns="0" rtlCol="0" anchor="ctr"/>
          <a:lstStyle/>
          <a:p>
            <a:pPr indent="0" marL="0">
              <a:buNone/>
            </a:pPr>
            <a:r>
              <a:rPr lang="en-US" sz="1400" b="1" dirty="0">
                <a:solidFill>
                  <a:srgbClr val="8C3A2B"/>
                </a:solidFill>
                <a:latin typeface="Calibri" pitchFamily="34" charset="0"/>
                <a:ea typeface="Calibri" pitchFamily="34" charset="-122"/>
                <a:cs typeface="Calibri" pitchFamily="34" charset="-120"/>
              </a:rPr>
              <a:t>Tonin, Ferrara &amp; Nickel, 2026</a:t>
            </a:r>
            <a:endParaRPr lang="en-US" sz="14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40</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9200" b="1" dirty="0">
                <a:solidFill>
                  <a:srgbClr val="8C3A2B"/>
                </a:solidFill>
                <a:latin typeface="Cambria" pitchFamily="34" charset="0"/>
                <a:ea typeface="Cambria" pitchFamily="34" charset="-122"/>
                <a:cs typeface="Cambria" pitchFamily="34" charset="-120"/>
              </a:rPr>
              <a:t>VIII</a:t>
            </a:r>
            <a:endParaRPr lang="en-US" sz="92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Işık ve malzeme</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Atmosferi kuran iki somut araç.</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VIII · IŞIK VE MALZEME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Aydınlatma dört katmandan oluşur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42</a:t>
            </a:r>
            <a:endParaRPr lang="en-US" sz="950" dirty="0"/>
          </a:p>
        </p:txBody>
      </p:sp>
      <p:sp>
        <p:nvSpPr>
          <p:cNvPr id="5" name="Shape 3"/>
          <p:cNvSpPr/>
          <p:nvPr/>
        </p:nvSpPr>
        <p:spPr>
          <a:xfrm>
            <a:off x="868680" y="4800600"/>
            <a:ext cx="6400800" cy="0"/>
          </a:xfrm>
          <a:prstGeom prst="line">
            <a:avLst/>
          </a:prstGeom>
          <a:noFill/>
          <a:ln w="19050">
            <a:solidFill>
              <a:srgbClr val="16161A"/>
            </a:solidFill>
            <a:prstDash val="solid"/>
          </a:ln>
        </p:spPr>
      </p:sp>
      <p:sp>
        <p:nvSpPr>
          <p:cNvPr id="6" name="Shape 4"/>
          <p:cNvSpPr/>
          <p:nvPr/>
        </p:nvSpPr>
        <p:spPr>
          <a:xfrm>
            <a:off x="868680" y="2148840"/>
            <a:ext cx="6400800" cy="0"/>
          </a:xfrm>
          <a:prstGeom prst="line">
            <a:avLst/>
          </a:prstGeom>
          <a:noFill/>
          <a:ln w="19050">
            <a:solidFill>
              <a:srgbClr val="16161A"/>
            </a:solidFill>
            <a:prstDash val="solid"/>
          </a:ln>
        </p:spPr>
      </p:sp>
      <p:sp>
        <p:nvSpPr>
          <p:cNvPr id="7" name="Shape 5"/>
          <p:cNvSpPr/>
          <p:nvPr/>
        </p:nvSpPr>
        <p:spPr>
          <a:xfrm>
            <a:off x="868680" y="2148840"/>
            <a:ext cx="0" cy="2651760"/>
          </a:xfrm>
          <a:prstGeom prst="line">
            <a:avLst/>
          </a:prstGeom>
          <a:noFill/>
          <a:ln w="12700">
            <a:solidFill>
              <a:srgbClr val="C9C9CF"/>
            </a:solidFill>
            <a:prstDash val="solid"/>
          </a:ln>
        </p:spPr>
      </p:sp>
      <p:sp>
        <p:nvSpPr>
          <p:cNvPr id="8" name="Shape 6"/>
          <p:cNvSpPr/>
          <p:nvPr/>
        </p:nvSpPr>
        <p:spPr>
          <a:xfrm>
            <a:off x="7269480" y="2148840"/>
            <a:ext cx="0" cy="2651760"/>
          </a:xfrm>
          <a:prstGeom prst="line">
            <a:avLst/>
          </a:prstGeom>
          <a:noFill/>
          <a:ln w="19050">
            <a:solidFill>
              <a:srgbClr val="16161A"/>
            </a:solidFill>
            <a:prstDash val="solid"/>
          </a:ln>
        </p:spPr>
      </p:sp>
      <p:sp>
        <p:nvSpPr>
          <p:cNvPr id="9" name="Text 7"/>
          <p:cNvSpPr txBox="1"/>
          <p:nvPr/>
        </p:nvSpPr>
        <p:spPr>
          <a:xfrm>
            <a:off x="7360920" y="3337560"/>
            <a:ext cx="1097280" cy="274320"/>
          </a:xfrm>
          <a:prstGeom prst="rect">
            <a:avLst/>
          </a:prstGeom>
          <a:noFill/>
          <a:ln/>
        </p:spPr>
        <p:txBody>
          <a:bodyPr wrap="square" lIns="0" tIns="0" rIns="0" bIns="0" rtlCol="0" anchor="ctr"/>
          <a:lstStyle/>
          <a:p>
            <a:pPr algn="l" indent="0" marL="0">
              <a:lnSpc>
                <a:spcPts val="1200"/>
              </a:lnSpc>
              <a:buNone/>
            </a:pPr>
            <a:r>
              <a:rPr lang="en-US" sz="900" dirty="0">
                <a:solidFill>
                  <a:srgbClr val="7A7A82"/>
                </a:solidFill>
                <a:latin typeface="Calibri" pitchFamily="34" charset="0"/>
                <a:ea typeface="Calibri" pitchFamily="34" charset="-122"/>
                <a:cs typeface="Calibri" pitchFamily="34" charset="-120"/>
              </a:rPr>
              <a:t>cephe</a:t>
            </a:r>
            <a:endParaRPr lang="en-US" sz="900" dirty="0"/>
          </a:p>
        </p:txBody>
      </p:sp>
      <p:sp>
        <p:nvSpPr>
          <p:cNvPr id="10" name="Shape 8"/>
          <p:cNvSpPr/>
          <p:nvPr/>
        </p:nvSpPr>
        <p:spPr>
          <a:xfrm>
            <a:off x="1325880" y="3566160"/>
            <a:ext cx="1371600" cy="502920"/>
          </a:xfrm>
          <a:prstGeom prst="rect">
            <a:avLst/>
          </a:prstGeom>
          <a:ln w="9525">
            <a:solidFill>
              <a:srgbClr val="C9C9CF"/>
            </a:solidFill>
            <a:prstDash val="solid"/>
          </a:ln>
        </p:spPr>
      </p:sp>
      <p:sp>
        <p:nvSpPr>
          <p:cNvPr id="11" name="Shape 9"/>
          <p:cNvSpPr/>
          <p:nvPr/>
        </p:nvSpPr>
        <p:spPr>
          <a:xfrm>
            <a:off x="3703320" y="3886200"/>
            <a:ext cx="1097280" cy="182880"/>
          </a:xfrm>
          <a:prstGeom prst="rect">
            <a:avLst/>
          </a:prstGeom>
          <a:ln w="9525">
            <a:solidFill>
              <a:srgbClr val="C9C9CF"/>
            </a:solidFill>
            <a:prstDash val="solid"/>
          </a:ln>
        </p:spPr>
      </p:sp>
      <p:sp>
        <p:nvSpPr>
          <p:cNvPr id="12" name="Shape 10"/>
          <p:cNvSpPr/>
          <p:nvPr/>
        </p:nvSpPr>
        <p:spPr>
          <a:xfrm>
            <a:off x="6172200" y="3749040"/>
            <a:ext cx="868680" cy="320040"/>
          </a:xfrm>
          <a:prstGeom prst="rect">
            <a:avLst/>
          </a:prstGeom>
          <a:ln w="9525">
            <a:solidFill>
              <a:srgbClr val="C9C9CF"/>
            </a:solidFill>
            <a:prstDash val="solid"/>
          </a:ln>
        </p:spPr>
      </p:sp>
      <p:sp>
        <p:nvSpPr>
          <p:cNvPr id="13" name="Shape 11"/>
          <p:cNvSpPr/>
          <p:nvPr/>
        </p:nvSpPr>
        <p:spPr>
          <a:xfrm>
            <a:off x="2039112" y="2176272"/>
            <a:ext cx="128016" cy="128016"/>
          </a:xfrm>
          <a:prstGeom prst="ellipse">
            <a:avLst/>
          </a:prstGeom>
          <a:solidFill>
            <a:srgbClr val="7A7A82"/>
          </a:solidFill>
          <a:ln w="12700">
            <a:solidFill>
              <a:srgbClr val="7A7A82"/>
            </a:solidFill>
            <a:prstDash val="solid"/>
          </a:ln>
        </p:spPr>
      </p:sp>
      <p:sp>
        <p:nvSpPr>
          <p:cNvPr id="14" name="Shape 12"/>
          <p:cNvSpPr/>
          <p:nvPr/>
        </p:nvSpPr>
        <p:spPr>
          <a:xfrm flipH="1">
            <a:off x="1600200" y="2304288"/>
            <a:ext cx="502920" cy="2496312"/>
          </a:xfrm>
          <a:prstGeom prst="line">
            <a:avLst/>
          </a:prstGeom>
          <a:noFill/>
          <a:ln w="10160">
            <a:solidFill>
              <a:srgbClr val="C9C9CF"/>
            </a:solidFill>
            <a:prstDash val="dot"/>
          </a:ln>
        </p:spPr>
      </p:sp>
      <p:sp>
        <p:nvSpPr>
          <p:cNvPr id="15" name="Shape 13"/>
          <p:cNvSpPr/>
          <p:nvPr/>
        </p:nvSpPr>
        <p:spPr>
          <a:xfrm>
            <a:off x="2103120" y="2304288"/>
            <a:ext cx="0" cy="2496312"/>
          </a:xfrm>
          <a:prstGeom prst="line">
            <a:avLst/>
          </a:prstGeom>
          <a:noFill/>
          <a:ln w="10160">
            <a:solidFill>
              <a:srgbClr val="C9C9CF"/>
            </a:solidFill>
            <a:prstDash val="dot"/>
          </a:ln>
        </p:spPr>
      </p:sp>
      <p:sp>
        <p:nvSpPr>
          <p:cNvPr id="16" name="Shape 14"/>
          <p:cNvSpPr/>
          <p:nvPr/>
        </p:nvSpPr>
        <p:spPr>
          <a:xfrm>
            <a:off x="2103120" y="2304288"/>
            <a:ext cx="502920" cy="2496312"/>
          </a:xfrm>
          <a:prstGeom prst="line">
            <a:avLst/>
          </a:prstGeom>
          <a:noFill/>
          <a:ln w="10160">
            <a:solidFill>
              <a:srgbClr val="C9C9CF"/>
            </a:solidFill>
            <a:prstDash val="dot"/>
          </a:ln>
        </p:spPr>
      </p:sp>
      <p:sp>
        <p:nvSpPr>
          <p:cNvPr id="17" name="Shape 15"/>
          <p:cNvSpPr/>
          <p:nvPr/>
        </p:nvSpPr>
        <p:spPr>
          <a:xfrm>
            <a:off x="4187952" y="2176272"/>
            <a:ext cx="128016" cy="128016"/>
          </a:xfrm>
          <a:prstGeom prst="ellipse">
            <a:avLst/>
          </a:prstGeom>
          <a:solidFill>
            <a:srgbClr val="8C3A2B"/>
          </a:solidFill>
          <a:ln w="12700">
            <a:solidFill>
              <a:srgbClr val="8C3A2B"/>
            </a:solidFill>
            <a:prstDash val="solid"/>
          </a:ln>
        </p:spPr>
      </p:sp>
      <p:sp>
        <p:nvSpPr>
          <p:cNvPr id="18" name="Shape 16"/>
          <p:cNvSpPr/>
          <p:nvPr/>
        </p:nvSpPr>
        <p:spPr>
          <a:xfrm flipH="1">
            <a:off x="4069080" y="2304288"/>
            <a:ext cx="182880" cy="1563624"/>
          </a:xfrm>
          <a:prstGeom prst="line">
            <a:avLst/>
          </a:prstGeom>
          <a:noFill/>
          <a:ln w="12700">
            <a:solidFill>
              <a:srgbClr val="8C3A2B"/>
            </a:solidFill>
            <a:prstDash val="solid"/>
          </a:ln>
        </p:spPr>
      </p:sp>
      <p:sp>
        <p:nvSpPr>
          <p:cNvPr id="19" name="Shape 17"/>
          <p:cNvSpPr/>
          <p:nvPr/>
        </p:nvSpPr>
        <p:spPr>
          <a:xfrm>
            <a:off x="4251960" y="2304288"/>
            <a:ext cx="457200" cy="1563624"/>
          </a:xfrm>
          <a:prstGeom prst="line">
            <a:avLst/>
          </a:prstGeom>
          <a:noFill/>
          <a:ln w="12700">
            <a:solidFill>
              <a:srgbClr val="8C3A2B"/>
            </a:solidFill>
            <a:prstDash val="solid"/>
          </a:ln>
        </p:spPr>
      </p:sp>
      <p:sp>
        <p:nvSpPr>
          <p:cNvPr id="20" name="Shape 18"/>
          <p:cNvSpPr/>
          <p:nvPr/>
        </p:nvSpPr>
        <p:spPr>
          <a:xfrm>
            <a:off x="5696712" y="2176272"/>
            <a:ext cx="128016" cy="128016"/>
          </a:xfrm>
          <a:prstGeom prst="ellipse">
            <a:avLst/>
          </a:prstGeom>
          <a:solidFill>
            <a:srgbClr val="7A7A82"/>
          </a:solidFill>
          <a:ln w="12700">
            <a:solidFill>
              <a:srgbClr val="7A7A82"/>
            </a:solidFill>
            <a:prstDash val="solid"/>
          </a:ln>
        </p:spPr>
      </p:sp>
      <p:sp>
        <p:nvSpPr>
          <p:cNvPr id="21" name="Shape 19"/>
          <p:cNvSpPr/>
          <p:nvPr/>
        </p:nvSpPr>
        <p:spPr>
          <a:xfrm>
            <a:off x="5614416" y="2423160"/>
            <a:ext cx="292608" cy="292608"/>
          </a:xfrm>
          <a:prstGeom prst="ellipse">
            <a:avLst/>
          </a:prstGeom>
          <a:ln w="12700">
            <a:solidFill>
              <a:srgbClr val="7A7A82"/>
            </a:solidFill>
            <a:prstDash val="solid"/>
          </a:ln>
        </p:spPr>
      </p:sp>
      <p:sp>
        <p:nvSpPr>
          <p:cNvPr id="22" name="Shape 20"/>
          <p:cNvSpPr/>
          <p:nvPr/>
        </p:nvSpPr>
        <p:spPr>
          <a:xfrm>
            <a:off x="6793992" y="2176272"/>
            <a:ext cx="128016" cy="128016"/>
          </a:xfrm>
          <a:prstGeom prst="ellipse">
            <a:avLst/>
          </a:prstGeom>
          <a:solidFill>
            <a:srgbClr val="7A7A82"/>
          </a:solidFill>
          <a:ln w="12700">
            <a:solidFill>
              <a:srgbClr val="7A7A82"/>
            </a:solidFill>
            <a:prstDash val="solid"/>
          </a:ln>
        </p:spPr>
      </p:sp>
      <p:sp>
        <p:nvSpPr>
          <p:cNvPr id="23" name="Shape 21"/>
          <p:cNvSpPr/>
          <p:nvPr/>
        </p:nvSpPr>
        <p:spPr>
          <a:xfrm>
            <a:off x="6858000" y="2304288"/>
            <a:ext cx="502920" cy="1417320"/>
          </a:xfrm>
          <a:prstGeom prst="line">
            <a:avLst/>
          </a:prstGeom>
          <a:noFill/>
          <a:ln w="11430">
            <a:solidFill>
              <a:srgbClr val="C9C9CF"/>
            </a:solidFill>
            <a:prstDash val="dot"/>
          </a:ln>
        </p:spPr>
      </p:sp>
      <p:sp>
        <p:nvSpPr>
          <p:cNvPr id="24" name="Shape 22"/>
          <p:cNvSpPr/>
          <p:nvPr/>
        </p:nvSpPr>
        <p:spPr>
          <a:xfrm>
            <a:off x="7662672" y="2148840"/>
            <a:ext cx="201168" cy="201168"/>
          </a:xfrm>
          <a:prstGeom prst="ellipse">
            <a:avLst/>
          </a:prstGeom>
          <a:solidFill>
            <a:srgbClr val="7A7A82"/>
          </a:solidFill>
          <a:ln w="12700">
            <a:solidFill>
              <a:srgbClr val="7A7A82"/>
            </a:solidFill>
            <a:prstDash val="solid"/>
          </a:ln>
        </p:spPr>
      </p:sp>
      <p:sp>
        <p:nvSpPr>
          <p:cNvPr id="25" name="Text 23"/>
          <p:cNvSpPr txBox="1"/>
          <p:nvPr/>
        </p:nvSpPr>
        <p:spPr>
          <a:xfrm>
            <a:off x="7662672" y="2148840"/>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26" name="Text 24"/>
          <p:cNvSpPr txBox="1"/>
          <p:nvPr/>
        </p:nvSpPr>
        <p:spPr>
          <a:xfrm>
            <a:off x="7991856" y="2121408"/>
            <a:ext cx="35295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Genel</a:t>
            </a:r>
            <a:endParaRPr lang="en-US" sz="1050" dirty="0"/>
          </a:p>
        </p:txBody>
      </p:sp>
      <p:sp>
        <p:nvSpPr>
          <p:cNvPr id="27" name="Text 25"/>
          <p:cNvSpPr txBox="1"/>
          <p:nvPr/>
        </p:nvSpPr>
        <p:spPr>
          <a:xfrm>
            <a:off x="7991856" y="2359152"/>
            <a:ext cx="35295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Mekânın temel görülebilirliği — yaygın · düz</a:t>
            </a:r>
            <a:endParaRPr lang="en-US" sz="1000" dirty="0"/>
          </a:p>
        </p:txBody>
      </p:sp>
      <p:sp>
        <p:nvSpPr>
          <p:cNvPr id="28" name="Shape 26"/>
          <p:cNvSpPr/>
          <p:nvPr/>
        </p:nvSpPr>
        <p:spPr>
          <a:xfrm>
            <a:off x="7662672" y="2825496"/>
            <a:ext cx="201168" cy="201168"/>
          </a:xfrm>
          <a:prstGeom prst="ellipse">
            <a:avLst/>
          </a:prstGeom>
          <a:solidFill>
            <a:srgbClr val="8C3A2B"/>
          </a:solidFill>
          <a:ln w="12700">
            <a:solidFill>
              <a:srgbClr val="8C3A2B"/>
            </a:solidFill>
            <a:prstDash val="solid"/>
          </a:ln>
        </p:spPr>
      </p:sp>
      <p:sp>
        <p:nvSpPr>
          <p:cNvPr id="29" name="Text 27"/>
          <p:cNvSpPr txBox="1"/>
          <p:nvPr/>
        </p:nvSpPr>
        <p:spPr>
          <a:xfrm>
            <a:off x="7662672" y="2825496"/>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30" name="Text 28"/>
          <p:cNvSpPr txBox="1"/>
          <p:nvPr/>
        </p:nvSpPr>
        <p:spPr>
          <a:xfrm>
            <a:off x="7991856" y="2798064"/>
            <a:ext cx="35295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Vurgu</a:t>
            </a:r>
            <a:endParaRPr lang="en-US" sz="1050" dirty="0"/>
          </a:p>
        </p:txBody>
      </p:sp>
      <p:sp>
        <p:nvSpPr>
          <p:cNvPr id="31" name="Text 29"/>
          <p:cNvSpPr txBox="1"/>
          <p:nvPr/>
        </p:nvSpPr>
        <p:spPr>
          <a:xfrm>
            <a:off x="7991856" y="3035808"/>
            <a:ext cx="35295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Ürünü öne çıkarır — genel ışığın 3–5 katı — yönlü · dar açı</a:t>
            </a:r>
            <a:endParaRPr lang="en-US" sz="1000" dirty="0"/>
          </a:p>
        </p:txBody>
      </p:sp>
      <p:sp>
        <p:nvSpPr>
          <p:cNvPr id="32" name="Shape 30"/>
          <p:cNvSpPr/>
          <p:nvPr/>
        </p:nvSpPr>
        <p:spPr>
          <a:xfrm>
            <a:off x="7662672" y="3502152"/>
            <a:ext cx="201168" cy="201168"/>
          </a:xfrm>
          <a:prstGeom prst="ellipse">
            <a:avLst/>
          </a:prstGeom>
          <a:solidFill>
            <a:srgbClr val="7A7A82"/>
          </a:solidFill>
          <a:ln w="12700">
            <a:solidFill>
              <a:srgbClr val="7A7A82"/>
            </a:solidFill>
            <a:prstDash val="solid"/>
          </a:ln>
        </p:spPr>
      </p:sp>
      <p:sp>
        <p:nvSpPr>
          <p:cNvPr id="33" name="Text 31"/>
          <p:cNvSpPr txBox="1"/>
          <p:nvPr/>
        </p:nvSpPr>
        <p:spPr>
          <a:xfrm>
            <a:off x="7662672" y="3502152"/>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34" name="Text 32"/>
          <p:cNvSpPr txBox="1"/>
          <p:nvPr/>
        </p:nvSpPr>
        <p:spPr>
          <a:xfrm>
            <a:off x="7991856" y="3474720"/>
            <a:ext cx="35295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Dekorati̇f</a:t>
            </a:r>
            <a:endParaRPr lang="en-US" sz="1050" dirty="0"/>
          </a:p>
        </p:txBody>
      </p:sp>
      <p:sp>
        <p:nvSpPr>
          <p:cNvPr id="35" name="Text 33"/>
          <p:cNvSpPr txBox="1"/>
          <p:nvPr/>
        </p:nvSpPr>
        <p:spPr>
          <a:xfrm>
            <a:off x="7991856" y="3712464"/>
            <a:ext cx="35295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Kendisi bir nesne; marka kişiliğini taşır — görünür armatür</a:t>
            </a:r>
            <a:endParaRPr lang="en-US" sz="1000" dirty="0"/>
          </a:p>
        </p:txBody>
      </p:sp>
      <p:sp>
        <p:nvSpPr>
          <p:cNvPr id="36" name="Shape 34"/>
          <p:cNvSpPr/>
          <p:nvPr/>
        </p:nvSpPr>
        <p:spPr>
          <a:xfrm>
            <a:off x="7662672" y="4178808"/>
            <a:ext cx="201168" cy="201168"/>
          </a:xfrm>
          <a:prstGeom prst="ellipse">
            <a:avLst/>
          </a:prstGeom>
          <a:solidFill>
            <a:srgbClr val="7A7A82"/>
          </a:solidFill>
          <a:ln w="12700">
            <a:solidFill>
              <a:srgbClr val="7A7A82"/>
            </a:solidFill>
            <a:prstDash val="solid"/>
          </a:ln>
        </p:spPr>
      </p:sp>
      <p:sp>
        <p:nvSpPr>
          <p:cNvPr id="37" name="Text 35"/>
          <p:cNvSpPr txBox="1"/>
          <p:nvPr/>
        </p:nvSpPr>
        <p:spPr>
          <a:xfrm>
            <a:off x="7662672" y="4178808"/>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38" name="Text 36"/>
          <p:cNvSpPr txBox="1"/>
          <p:nvPr/>
        </p:nvSpPr>
        <p:spPr>
          <a:xfrm>
            <a:off x="7991856" y="4151376"/>
            <a:ext cx="35295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Vi̇tri̇n</a:t>
            </a:r>
            <a:endParaRPr lang="en-US" sz="1050" dirty="0"/>
          </a:p>
        </p:txBody>
      </p:sp>
      <p:sp>
        <p:nvSpPr>
          <p:cNvPr id="39" name="Text 37"/>
          <p:cNvSpPr txBox="1"/>
          <p:nvPr/>
        </p:nvSpPr>
        <p:spPr>
          <a:xfrm>
            <a:off x="7991856" y="4389120"/>
            <a:ext cx="35295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Dışarıdan okunur; gündüz ve gece ayrı hesaplanır — cepheye yönlü</a:t>
            </a:r>
            <a:endParaRPr lang="en-US" sz="1000" dirty="0"/>
          </a:p>
        </p:txBody>
      </p:sp>
      <p:sp>
        <p:nvSpPr>
          <p:cNvPr id="40" name="Text 38"/>
          <p:cNvSpPr txBox="1"/>
          <p:nvPr/>
        </p:nvSpPr>
        <p:spPr>
          <a:xfrm>
            <a:off x="777240" y="5120640"/>
            <a:ext cx="10424160" cy="960120"/>
          </a:xfrm>
          <a:prstGeom prst="rect">
            <a:avLst/>
          </a:prstGeom>
          <a:noFill/>
          <a:ln/>
        </p:spPr>
        <p:txBody>
          <a:bodyPr wrap="square" lIns="0" tIns="0" rIns="0" bIns="0" rtlCol="0" anchor="ctr"/>
          <a:lstStyle/>
          <a:p>
            <a:pPr indent="0" marL="0">
              <a:lnSpc>
                <a:spcPts val="2300"/>
              </a:lnSpc>
              <a:buNone/>
            </a:pPr>
            <a:r>
              <a:rPr lang="en-US" sz="1350" dirty="0">
                <a:solidFill>
                  <a:srgbClr val="2B2B31"/>
                </a:solidFill>
                <a:latin typeface="Cambria" pitchFamily="34" charset="0"/>
                <a:ea typeface="Cambria" pitchFamily="34" charset="-122"/>
                <a:cs typeface="Cambria" pitchFamily="34" charset="-120"/>
              </a:rPr>
              <a:t>Tek bir genel ışıkla mağaza çözülmez. Vurgunun etkisi mutlak parlaklıktan değil, çevresiyle arasındaki farktan doğar (Petermans &amp; Van Cleempoel, 2009). En sık yapılan hata, aydınlatmayı görselleştirme aşamasında düşünmektir: ışık plan ve kesitle birlikte kurulur, tavan planında karşılığı olmayan bir ışık fikri henüz tasarlanmamıştır.</a:t>
            </a:r>
            <a:endParaRPr lang="en-US" sz="1350" dirty="0"/>
          </a:p>
        </p:txBody>
      </p:sp>
      <p:sp>
        <p:nvSpPr>
          <p:cNvPr id="41" name="Text 39"/>
          <p:cNvSpPr txBox="1"/>
          <p:nvPr/>
        </p:nvSpPr>
        <p:spPr>
          <a:xfrm>
            <a:off x="868680" y="4928616"/>
            <a:ext cx="6400800" cy="274320"/>
          </a:xfrm>
          <a:prstGeom prst="rect">
            <a:avLst/>
          </a:prstGeom>
          <a:noFill/>
          <a:ln/>
        </p:spPr>
        <p:txBody>
          <a:bodyPr wrap="square" lIns="0" tIns="0" rIns="0" bIns="0" rtlCol="0" anchor="ctr"/>
          <a:lstStyle/>
          <a:p>
            <a:pPr algn="ctr" indent="0" marL="0">
              <a:lnSpc>
                <a:spcPts val="1200"/>
              </a:lnSpc>
              <a:buNone/>
            </a:pPr>
            <a:r>
              <a:rPr lang="en-US" sz="900" dirty="0">
                <a:solidFill>
                  <a:srgbClr val="A6A6AC"/>
                </a:solidFill>
                <a:latin typeface="Calibri" pitchFamily="34" charset="0"/>
                <a:ea typeface="Calibri" pitchFamily="34" charset="-122"/>
                <a:cs typeface="Calibri" pitchFamily="34" charset="-120"/>
              </a:rPr>
              <a:t>şematik kesit</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VIII · IŞIK VE MALZEME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Malzeme: dokunulan, dokunulmayan, değişen</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43</a:t>
            </a:r>
            <a:endParaRPr lang="en-US" sz="950" dirty="0"/>
          </a:p>
        </p:txBody>
      </p:sp>
      <p:sp>
        <p:nvSpPr>
          <p:cNvPr id="5" name="Shape 3"/>
          <p:cNvSpPr/>
          <p:nvPr/>
        </p:nvSpPr>
        <p:spPr>
          <a:xfrm>
            <a:off x="777240" y="2057400"/>
            <a:ext cx="3246120" cy="1874520"/>
          </a:xfrm>
          <a:prstGeom prst="rect">
            <a:avLst/>
          </a:prstGeom>
          <a:ln w="9525">
            <a:solidFill>
              <a:srgbClr val="C9C9CF"/>
            </a:solidFill>
            <a:prstDash val="solid"/>
          </a:ln>
        </p:spPr>
      </p:sp>
      <p:sp>
        <p:nvSpPr>
          <p:cNvPr id="6" name="Text 4"/>
          <p:cNvSpPr txBox="1"/>
          <p:nvPr/>
        </p:nvSpPr>
        <p:spPr>
          <a:xfrm>
            <a:off x="1005840" y="2286000"/>
            <a:ext cx="2788920" cy="310896"/>
          </a:xfrm>
          <a:prstGeom prst="rect">
            <a:avLst/>
          </a:prstGeom>
          <a:noFill/>
          <a:ln/>
        </p:spPr>
        <p:txBody>
          <a:bodyPr wrap="square" lIns="0" tIns="0" rIns="0" bIns="0" rtlCol="0" anchor="ctr"/>
          <a:lstStyle/>
          <a:p>
            <a:pPr indent="0" marL="0">
              <a:buNone/>
            </a:pPr>
            <a:r>
              <a:rPr lang="en-US" sz="1100" b="1" spc="140" kern="0" dirty="0">
                <a:solidFill>
                  <a:srgbClr val="16161A"/>
                </a:solidFill>
                <a:latin typeface="Calibri" pitchFamily="34" charset="0"/>
                <a:ea typeface="Calibri" pitchFamily="34" charset="-122"/>
                <a:cs typeface="Calibri" pitchFamily="34" charset="-120"/>
              </a:rPr>
              <a:t>DOKUNULAN</a:t>
            </a:r>
            <a:endParaRPr lang="en-US" sz="1100" dirty="0"/>
          </a:p>
        </p:txBody>
      </p:sp>
      <p:sp>
        <p:nvSpPr>
          <p:cNvPr id="7" name="Text 5"/>
          <p:cNvSpPr txBox="1"/>
          <p:nvPr/>
        </p:nvSpPr>
        <p:spPr>
          <a:xfrm>
            <a:off x="1005840" y="2660904"/>
            <a:ext cx="2788920" cy="548640"/>
          </a:xfrm>
          <a:prstGeom prst="rect">
            <a:avLst/>
          </a:prstGeom>
          <a:noFill/>
          <a:ln/>
        </p:spPr>
        <p:txBody>
          <a:bodyPr wrap="square" lIns="0" tIns="0" rIns="0" bIns="0" rtlCol="0" anchor="ctr"/>
          <a:lstStyle/>
          <a:p>
            <a:pPr indent="0" marL="0">
              <a:lnSpc>
                <a:spcPts val="1800"/>
              </a:lnSpc>
              <a:buNone/>
            </a:pPr>
            <a:r>
              <a:rPr lang="en-US" sz="1300" dirty="0">
                <a:solidFill>
                  <a:srgbClr val="16161A"/>
                </a:solidFill>
                <a:latin typeface="Cambria" pitchFamily="34" charset="0"/>
                <a:ea typeface="Cambria" pitchFamily="34" charset="-122"/>
                <a:cs typeface="Cambria" pitchFamily="34" charset="-120"/>
              </a:rPr>
              <a:t>Tezgâh, kapı kolu, korkuluk, raf, kabin duvarı.</a:t>
            </a:r>
            <a:endParaRPr lang="en-US" sz="1300" dirty="0"/>
          </a:p>
        </p:txBody>
      </p:sp>
      <p:sp>
        <p:nvSpPr>
          <p:cNvPr id="8" name="Text 6"/>
          <p:cNvSpPr txBox="1"/>
          <p:nvPr/>
        </p:nvSpPr>
        <p:spPr>
          <a:xfrm>
            <a:off x="1005840" y="3227832"/>
            <a:ext cx="2788920" cy="6400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Dokunsal niteliğiyle birlikte aşınma ve temizlik davranışına göre seçilir.</a:t>
            </a:r>
            <a:endParaRPr lang="en-US" sz="1050" dirty="0"/>
          </a:p>
        </p:txBody>
      </p:sp>
      <p:sp>
        <p:nvSpPr>
          <p:cNvPr id="9" name="Shape 7"/>
          <p:cNvSpPr/>
          <p:nvPr/>
        </p:nvSpPr>
        <p:spPr>
          <a:xfrm>
            <a:off x="4425696" y="2057400"/>
            <a:ext cx="3246120" cy="1874520"/>
          </a:xfrm>
          <a:prstGeom prst="rect">
            <a:avLst/>
          </a:prstGeom>
          <a:ln w="9525">
            <a:solidFill>
              <a:srgbClr val="C9C9CF"/>
            </a:solidFill>
            <a:prstDash val="solid"/>
          </a:ln>
        </p:spPr>
      </p:sp>
      <p:sp>
        <p:nvSpPr>
          <p:cNvPr id="10" name="Text 8"/>
          <p:cNvSpPr txBox="1"/>
          <p:nvPr/>
        </p:nvSpPr>
        <p:spPr>
          <a:xfrm>
            <a:off x="4654296" y="2286000"/>
            <a:ext cx="2788920" cy="310896"/>
          </a:xfrm>
          <a:prstGeom prst="rect">
            <a:avLst/>
          </a:prstGeom>
          <a:noFill/>
          <a:ln/>
        </p:spPr>
        <p:txBody>
          <a:bodyPr wrap="square" lIns="0" tIns="0" rIns="0" bIns="0" rtlCol="0" anchor="ctr"/>
          <a:lstStyle/>
          <a:p>
            <a:pPr indent="0" marL="0">
              <a:buNone/>
            </a:pPr>
            <a:r>
              <a:rPr lang="en-US" sz="1100" b="1" spc="140" kern="0" dirty="0">
                <a:solidFill>
                  <a:srgbClr val="16161A"/>
                </a:solidFill>
                <a:latin typeface="Calibri" pitchFamily="34" charset="0"/>
                <a:ea typeface="Calibri" pitchFamily="34" charset="-122"/>
                <a:cs typeface="Calibri" pitchFamily="34" charset="-120"/>
              </a:rPr>
              <a:t>DOKUNULMAYAN</a:t>
            </a:r>
            <a:endParaRPr lang="en-US" sz="1100" dirty="0"/>
          </a:p>
        </p:txBody>
      </p:sp>
      <p:sp>
        <p:nvSpPr>
          <p:cNvPr id="11" name="Text 9"/>
          <p:cNvSpPr txBox="1"/>
          <p:nvPr/>
        </p:nvSpPr>
        <p:spPr>
          <a:xfrm>
            <a:off x="4654296" y="2660904"/>
            <a:ext cx="2788920" cy="548640"/>
          </a:xfrm>
          <a:prstGeom prst="rect">
            <a:avLst/>
          </a:prstGeom>
          <a:noFill/>
          <a:ln/>
        </p:spPr>
        <p:txBody>
          <a:bodyPr wrap="square" lIns="0" tIns="0" rIns="0" bIns="0" rtlCol="0" anchor="ctr"/>
          <a:lstStyle/>
          <a:p>
            <a:pPr indent="0" marL="0">
              <a:lnSpc>
                <a:spcPts val="1800"/>
              </a:lnSpc>
              <a:buNone/>
            </a:pPr>
            <a:r>
              <a:rPr lang="en-US" sz="1300" dirty="0">
                <a:solidFill>
                  <a:srgbClr val="16161A"/>
                </a:solidFill>
                <a:latin typeface="Cambria" pitchFamily="34" charset="0"/>
                <a:ea typeface="Cambria" pitchFamily="34" charset="-122"/>
                <a:cs typeface="Cambria" pitchFamily="34" charset="-120"/>
              </a:rPr>
              <a:t>Tavan, üst duvar, uzaktaki yüzeyler.</a:t>
            </a:r>
            <a:endParaRPr lang="en-US" sz="1300" dirty="0"/>
          </a:p>
        </p:txBody>
      </p:sp>
      <p:sp>
        <p:nvSpPr>
          <p:cNvPr id="12" name="Text 10"/>
          <p:cNvSpPr txBox="1"/>
          <p:nvPr/>
        </p:nvSpPr>
        <p:spPr>
          <a:xfrm>
            <a:off x="4654296" y="3227832"/>
            <a:ext cx="2788920" cy="6400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Öncelikle görsel ve akustik rolüyle değerlendirilir; maliyet burada dengelenir.</a:t>
            </a:r>
            <a:endParaRPr lang="en-US" sz="1050" dirty="0"/>
          </a:p>
        </p:txBody>
      </p:sp>
      <p:sp>
        <p:nvSpPr>
          <p:cNvPr id="13" name="Shape 11"/>
          <p:cNvSpPr/>
          <p:nvPr/>
        </p:nvSpPr>
        <p:spPr>
          <a:xfrm>
            <a:off x="8074152" y="2057400"/>
            <a:ext cx="3246120" cy="1874520"/>
          </a:xfrm>
          <a:prstGeom prst="rect">
            <a:avLst/>
          </a:prstGeom>
          <a:solidFill>
            <a:srgbClr val="F6EAE6"/>
          </a:solidFill>
          <a:ln w="15875">
            <a:solidFill>
              <a:srgbClr val="8C3A2B"/>
            </a:solidFill>
            <a:prstDash val="solid"/>
          </a:ln>
        </p:spPr>
      </p:sp>
      <p:sp>
        <p:nvSpPr>
          <p:cNvPr id="14" name="Text 12"/>
          <p:cNvSpPr txBox="1"/>
          <p:nvPr/>
        </p:nvSpPr>
        <p:spPr>
          <a:xfrm>
            <a:off x="8302752" y="2286000"/>
            <a:ext cx="2788920" cy="310896"/>
          </a:xfrm>
          <a:prstGeom prst="rect">
            <a:avLst/>
          </a:prstGeom>
          <a:noFill/>
          <a:ln/>
        </p:spPr>
        <p:txBody>
          <a:bodyPr wrap="square" lIns="0" tIns="0" rIns="0" bIns="0" rtlCol="0" anchor="ctr"/>
          <a:lstStyle/>
          <a:p>
            <a:pPr indent="0" marL="0">
              <a:buNone/>
            </a:pPr>
            <a:r>
              <a:rPr lang="en-US" sz="1100" b="1" spc="140" kern="0" dirty="0">
                <a:solidFill>
                  <a:srgbClr val="8C3A2B"/>
                </a:solidFill>
                <a:latin typeface="Calibri" pitchFamily="34" charset="0"/>
                <a:ea typeface="Calibri" pitchFamily="34" charset="-122"/>
                <a:cs typeface="Calibri" pitchFamily="34" charset="-120"/>
              </a:rPr>
              <a:t>DEĞİŞEN</a:t>
            </a:r>
            <a:endParaRPr lang="en-US" sz="1100" dirty="0"/>
          </a:p>
        </p:txBody>
      </p:sp>
      <p:sp>
        <p:nvSpPr>
          <p:cNvPr id="15" name="Text 13"/>
          <p:cNvSpPr txBox="1"/>
          <p:nvPr/>
        </p:nvSpPr>
        <p:spPr>
          <a:xfrm>
            <a:off x="8302752" y="2660904"/>
            <a:ext cx="2788920" cy="548640"/>
          </a:xfrm>
          <a:prstGeom prst="rect">
            <a:avLst/>
          </a:prstGeom>
          <a:noFill/>
          <a:ln/>
        </p:spPr>
        <p:txBody>
          <a:bodyPr wrap="square" lIns="0" tIns="0" rIns="0" bIns="0" rtlCol="0" anchor="ctr"/>
          <a:lstStyle/>
          <a:p>
            <a:pPr indent="0" marL="0">
              <a:lnSpc>
                <a:spcPts val="1800"/>
              </a:lnSpc>
              <a:buNone/>
            </a:pPr>
            <a:r>
              <a:rPr lang="en-US" sz="1300" dirty="0">
                <a:solidFill>
                  <a:srgbClr val="16161A"/>
                </a:solidFill>
                <a:latin typeface="Cambria" pitchFamily="34" charset="0"/>
                <a:ea typeface="Cambria" pitchFamily="34" charset="-122"/>
                <a:cs typeface="Cambria" pitchFamily="34" charset="-120"/>
              </a:rPr>
              <a:t>Teşhir birimleri, kampanya yüzeyleri, vitrin arkalığı.</a:t>
            </a:r>
            <a:endParaRPr lang="en-US" sz="1300" dirty="0"/>
          </a:p>
        </p:txBody>
      </p:sp>
      <p:sp>
        <p:nvSpPr>
          <p:cNvPr id="16" name="Text 14"/>
          <p:cNvSpPr txBox="1"/>
          <p:nvPr/>
        </p:nvSpPr>
        <p:spPr>
          <a:xfrm>
            <a:off x="8302752" y="3227832"/>
            <a:ext cx="2788920" cy="6400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Sökülebilirlik, parça değiştirilebilirliği ve ikinci kullanım ömrü belirleyicidir.</a:t>
            </a:r>
            <a:endParaRPr lang="en-US" sz="1050" dirty="0"/>
          </a:p>
        </p:txBody>
      </p:sp>
      <p:sp>
        <p:nvSpPr>
          <p:cNvPr id="17" name="Text 15"/>
          <p:cNvSpPr txBox="1"/>
          <p:nvPr/>
        </p:nvSpPr>
        <p:spPr>
          <a:xfrm>
            <a:off x="777240" y="4343400"/>
            <a:ext cx="5029200" cy="1737360"/>
          </a:xfrm>
          <a:prstGeom prst="rect">
            <a:avLst/>
          </a:prstGeom>
          <a:noFill/>
          <a:ln/>
        </p:spPr>
        <p:txBody>
          <a:bodyPr wrap="square" lIns="0" tIns="0" rIns="0" bIns="0" rtlCol="0" anchor="ctr"/>
          <a:lstStyle/>
          <a:p>
            <a:pPr indent="0" marL="0">
              <a:lnSpc>
                <a:spcPts val="2300"/>
              </a:lnSpc>
              <a:buNone/>
            </a:pPr>
            <a:r>
              <a:rPr lang="en-US" sz="1350" dirty="0">
                <a:solidFill>
                  <a:srgbClr val="2B2B31"/>
                </a:solidFill>
                <a:latin typeface="Cambria" pitchFamily="34" charset="0"/>
                <a:ea typeface="Cambria" pitchFamily="34" charset="-122"/>
                <a:cs typeface="Cambria" pitchFamily="34" charset="-120"/>
              </a:rPr>
              <a:t>Malzeme mağazada iki iş görür: markanın dilini kurar ve günlük kullanımın yükünü taşır. Üçüncü bir ölçüt zamandır — mağaza iç mekânları diğer mekân tiplerine göre çok daha sık yenilenir.</a:t>
            </a:r>
            <a:endParaRPr lang="en-US" sz="1350" dirty="0"/>
          </a:p>
        </p:txBody>
      </p:sp>
      <p:sp>
        <p:nvSpPr>
          <p:cNvPr id="18" name="Text 16"/>
          <p:cNvSpPr txBox="1"/>
          <p:nvPr/>
        </p:nvSpPr>
        <p:spPr>
          <a:xfrm>
            <a:off x="6382512" y="4343400"/>
            <a:ext cx="5029200" cy="1737360"/>
          </a:xfrm>
          <a:prstGeom prst="rect">
            <a:avLst/>
          </a:prstGeom>
          <a:noFill/>
          <a:ln/>
        </p:spPr>
        <p:txBody>
          <a:bodyPr wrap="square" lIns="0" tIns="0" rIns="0" bIns="0" rtlCol="0" anchor="ctr"/>
          <a:lstStyle/>
          <a:p>
            <a:pPr indent="0" marL="0">
              <a:lnSpc>
                <a:spcPts val="2300"/>
              </a:lnSpc>
              <a:buNone/>
            </a:pPr>
            <a:r>
              <a:rPr lang="en-US" sz="1350" dirty="0">
                <a:solidFill>
                  <a:srgbClr val="2B2B31"/>
                </a:solidFill>
                <a:latin typeface="Cambria" pitchFamily="34" charset="0"/>
                <a:ea typeface="Cambria" pitchFamily="34" charset="-122"/>
                <a:cs typeface="Cambria" pitchFamily="34" charset="-120"/>
              </a:rPr>
              <a:t>Bu nedenle sökülebilirlik ve malzemenin ikinci bir kullanım ömrü, artık estetik kadar önemli bir tasarım ölçütüdür. Bir mağazayı sökülemez biçimde inşa etmek, beş yıl sonrasının atığını bugünden üretmek demektir.</a:t>
            </a:r>
            <a:endParaRPr lang="en-US" sz="13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IX</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Teknoloji</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Nerede işe yarar, nerede mekânı bozar?</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IX · TEKNOLOJİ</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Teknoloji yolculuğun neresine girer?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45</a:t>
            </a:r>
            <a:endParaRPr lang="en-US" sz="950" dirty="0"/>
          </a:p>
        </p:txBody>
      </p:sp>
      <p:sp>
        <p:nvSpPr>
          <p:cNvPr id="5" name="Shape 3"/>
          <p:cNvSpPr/>
          <p:nvPr/>
        </p:nvSpPr>
        <p:spPr>
          <a:xfrm>
            <a:off x="868680" y="2148840"/>
            <a:ext cx="1323267" cy="548640"/>
          </a:xfrm>
          <a:prstGeom prst="rect">
            <a:avLst/>
          </a:prstGeom>
          <a:ln w="9525">
            <a:solidFill>
              <a:srgbClr val="C9C9CF"/>
            </a:solidFill>
            <a:prstDash val="solid"/>
          </a:ln>
        </p:spPr>
      </p:sp>
      <p:sp>
        <p:nvSpPr>
          <p:cNvPr id="6" name="Text 4"/>
          <p:cNvSpPr txBox="1"/>
          <p:nvPr/>
        </p:nvSpPr>
        <p:spPr>
          <a:xfrm>
            <a:off x="905256" y="2148840"/>
            <a:ext cx="1250115" cy="548640"/>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ÇEKİM</a:t>
            </a:r>
            <a:endParaRPr lang="en-US" sz="950" dirty="0"/>
          </a:p>
        </p:txBody>
      </p:sp>
      <p:sp>
        <p:nvSpPr>
          <p:cNvPr id="7" name="Shape 5"/>
          <p:cNvSpPr/>
          <p:nvPr/>
        </p:nvSpPr>
        <p:spPr>
          <a:xfrm flipV="1">
            <a:off x="1530314" y="2770632"/>
            <a:ext cx="0" cy="585216"/>
          </a:xfrm>
          <a:prstGeom prst="line">
            <a:avLst/>
          </a:prstGeom>
          <a:noFill/>
          <a:ln w="13970">
            <a:solidFill>
              <a:srgbClr val="C9C9CF"/>
            </a:solidFill>
            <a:prstDash val="solid"/>
            <a:tailEnd type="triangle"/>
          </a:ln>
        </p:spPr>
      </p:sp>
      <p:sp>
        <p:nvSpPr>
          <p:cNvPr id="8" name="Text 6"/>
          <p:cNvSpPr txBox="1"/>
          <p:nvPr/>
        </p:nvSpPr>
        <p:spPr>
          <a:xfrm>
            <a:off x="822960" y="3429000"/>
            <a:ext cx="141470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dijital cephe</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yayını</a:t>
            </a:r>
            <a:endParaRPr lang="en-US" sz="950" dirty="0"/>
          </a:p>
        </p:txBody>
      </p:sp>
      <p:sp>
        <p:nvSpPr>
          <p:cNvPr id="9" name="Shape 7"/>
          <p:cNvSpPr/>
          <p:nvPr/>
        </p:nvSpPr>
        <p:spPr>
          <a:xfrm>
            <a:off x="2393115" y="2148840"/>
            <a:ext cx="1323267" cy="548640"/>
          </a:xfrm>
          <a:prstGeom prst="rect">
            <a:avLst/>
          </a:prstGeom>
          <a:ln w="9525">
            <a:solidFill>
              <a:srgbClr val="C9C9CF"/>
            </a:solidFill>
            <a:prstDash val="solid"/>
          </a:ln>
        </p:spPr>
      </p:sp>
      <p:sp>
        <p:nvSpPr>
          <p:cNvPr id="10" name="Text 8"/>
          <p:cNvSpPr txBox="1"/>
          <p:nvPr/>
        </p:nvSpPr>
        <p:spPr>
          <a:xfrm>
            <a:off x="2429691" y="2148840"/>
            <a:ext cx="1250115" cy="548640"/>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EŞİK</a:t>
            </a:r>
            <a:endParaRPr lang="en-US" sz="950" dirty="0"/>
          </a:p>
        </p:txBody>
      </p:sp>
      <p:sp>
        <p:nvSpPr>
          <p:cNvPr id="11" name="Text 9"/>
          <p:cNvSpPr txBox="1"/>
          <p:nvPr/>
        </p:nvSpPr>
        <p:spPr>
          <a:xfrm>
            <a:off x="2347395" y="3429000"/>
            <a:ext cx="1414707" cy="640080"/>
          </a:xfrm>
          <a:prstGeom prst="rect">
            <a:avLst/>
          </a:prstGeom>
          <a:noFill/>
          <a:ln/>
        </p:spPr>
        <p:txBody>
          <a:bodyPr wrap="square" lIns="0" tIns="0" rIns="0" bIns="0" rtlCol="0" anchor="ctr"/>
          <a:lstStyle/>
          <a:p>
            <a:pPr algn="ctr" indent="0" marL="0">
              <a:lnSpc>
                <a:spcPts val="1200"/>
              </a:lnSpc>
              <a:buNone/>
            </a:pPr>
            <a:r>
              <a:rPr lang="en-US" sz="950" i="1" dirty="0">
                <a:solidFill>
                  <a:srgbClr val="A6A6AC"/>
                </a:solidFill>
                <a:latin typeface="Calibri" pitchFamily="34" charset="0"/>
                <a:ea typeface="Calibri" pitchFamily="34" charset="-122"/>
                <a:cs typeface="Calibri" pitchFamily="34" charset="-120"/>
              </a:rPr>
              <a:t>teknoloji</a:t>
            </a:r>
            <a:endParaRPr lang="en-US" sz="950" dirty="0"/>
          </a:p>
          <a:p>
            <a:pPr algn="ctr" indent="0" marL="0">
              <a:lnSpc>
                <a:spcPts val="1200"/>
              </a:lnSpc>
              <a:buNone/>
            </a:pPr>
            <a:r>
              <a:rPr lang="en-US" sz="950" i="1" dirty="0">
                <a:solidFill>
                  <a:srgbClr val="A6A6AC"/>
                </a:solidFill>
                <a:latin typeface="Calibri" pitchFamily="34" charset="0"/>
                <a:ea typeface="Calibri" pitchFamily="34" charset="-122"/>
                <a:cs typeface="Calibri" pitchFamily="34" charset="-120"/>
              </a:rPr>
              <a:t>gerekmez</a:t>
            </a:r>
            <a:endParaRPr lang="en-US" sz="950" dirty="0"/>
          </a:p>
        </p:txBody>
      </p:sp>
      <p:sp>
        <p:nvSpPr>
          <p:cNvPr id="12" name="Shape 10"/>
          <p:cNvSpPr/>
          <p:nvPr/>
        </p:nvSpPr>
        <p:spPr>
          <a:xfrm>
            <a:off x="3917551" y="2148840"/>
            <a:ext cx="1323267" cy="548640"/>
          </a:xfrm>
          <a:prstGeom prst="rect">
            <a:avLst/>
          </a:prstGeom>
          <a:ln w="9525">
            <a:solidFill>
              <a:srgbClr val="C9C9CF"/>
            </a:solidFill>
            <a:prstDash val="solid"/>
          </a:ln>
        </p:spPr>
      </p:sp>
      <p:sp>
        <p:nvSpPr>
          <p:cNvPr id="13" name="Text 11"/>
          <p:cNvSpPr txBox="1"/>
          <p:nvPr/>
        </p:nvSpPr>
        <p:spPr>
          <a:xfrm>
            <a:off x="3954127" y="2148840"/>
            <a:ext cx="1250115" cy="548640"/>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YÖNELME</a:t>
            </a:r>
            <a:endParaRPr lang="en-US" sz="950" dirty="0"/>
          </a:p>
        </p:txBody>
      </p:sp>
      <p:sp>
        <p:nvSpPr>
          <p:cNvPr id="14" name="Shape 12"/>
          <p:cNvSpPr/>
          <p:nvPr/>
        </p:nvSpPr>
        <p:spPr>
          <a:xfrm flipV="1">
            <a:off x="4579185" y="2770632"/>
            <a:ext cx="0" cy="585216"/>
          </a:xfrm>
          <a:prstGeom prst="line">
            <a:avLst/>
          </a:prstGeom>
          <a:noFill/>
          <a:ln w="13970">
            <a:solidFill>
              <a:srgbClr val="C9C9CF"/>
            </a:solidFill>
            <a:prstDash val="solid"/>
            <a:tailEnd type="triangle"/>
          </a:ln>
        </p:spPr>
      </p:sp>
      <p:sp>
        <p:nvSpPr>
          <p:cNvPr id="15" name="Text 13"/>
          <p:cNvSpPr txBox="1"/>
          <p:nvPr/>
        </p:nvSpPr>
        <p:spPr>
          <a:xfrm>
            <a:off x="3871831" y="3429000"/>
            <a:ext cx="141470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ekranlı kat</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planı</a:t>
            </a:r>
            <a:endParaRPr lang="en-US" sz="950" dirty="0"/>
          </a:p>
        </p:txBody>
      </p:sp>
      <p:sp>
        <p:nvSpPr>
          <p:cNvPr id="16" name="Shape 14"/>
          <p:cNvSpPr/>
          <p:nvPr/>
        </p:nvSpPr>
        <p:spPr>
          <a:xfrm>
            <a:off x="5441986" y="2148840"/>
            <a:ext cx="1323267" cy="548640"/>
          </a:xfrm>
          <a:prstGeom prst="rect">
            <a:avLst/>
          </a:prstGeom>
          <a:ln w="9525">
            <a:solidFill>
              <a:srgbClr val="C9C9CF"/>
            </a:solidFill>
            <a:prstDash val="solid"/>
          </a:ln>
        </p:spPr>
      </p:sp>
      <p:sp>
        <p:nvSpPr>
          <p:cNvPr id="17" name="Text 15"/>
          <p:cNvSpPr txBox="1"/>
          <p:nvPr/>
        </p:nvSpPr>
        <p:spPr>
          <a:xfrm>
            <a:off x="5478562" y="2148840"/>
            <a:ext cx="1250115" cy="548640"/>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GEZİNME</a:t>
            </a:r>
            <a:endParaRPr lang="en-US" sz="950" dirty="0"/>
          </a:p>
        </p:txBody>
      </p:sp>
      <p:sp>
        <p:nvSpPr>
          <p:cNvPr id="18" name="Shape 16"/>
          <p:cNvSpPr/>
          <p:nvPr/>
        </p:nvSpPr>
        <p:spPr>
          <a:xfrm flipV="1">
            <a:off x="6103620" y="2770632"/>
            <a:ext cx="0" cy="585216"/>
          </a:xfrm>
          <a:prstGeom prst="line">
            <a:avLst/>
          </a:prstGeom>
          <a:noFill/>
          <a:ln w="13970">
            <a:solidFill>
              <a:srgbClr val="C9C9CF"/>
            </a:solidFill>
            <a:prstDash val="solid"/>
            <a:tailEnd type="triangle"/>
          </a:ln>
        </p:spPr>
      </p:sp>
      <p:sp>
        <p:nvSpPr>
          <p:cNvPr id="19" name="Text 17"/>
          <p:cNvSpPr txBox="1"/>
          <p:nvPr/>
        </p:nvSpPr>
        <p:spPr>
          <a:xfrm>
            <a:off x="5396266" y="3429000"/>
            <a:ext cx="141470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raf üstü stok</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ve fiyat bilgisi</a:t>
            </a:r>
            <a:endParaRPr lang="en-US" sz="950" dirty="0"/>
          </a:p>
        </p:txBody>
      </p:sp>
      <p:sp>
        <p:nvSpPr>
          <p:cNvPr id="20" name="Shape 18"/>
          <p:cNvSpPr/>
          <p:nvPr/>
        </p:nvSpPr>
        <p:spPr>
          <a:xfrm>
            <a:off x="6966422" y="2148840"/>
            <a:ext cx="1323267" cy="548640"/>
          </a:xfrm>
          <a:prstGeom prst="rect">
            <a:avLst/>
          </a:prstGeom>
          <a:solidFill>
            <a:srgbClr val="F6EAE6"/>
          </a:solidFill>
          <a:ln w="15875">
            <a:solidFill>
              <a:srgbClr val="8C3A2B"/>
            </a:solidFill>
            <a:prstDash val="solid"/>
          </a:ln>
        </p:spPr>
      </p:sp>
      <p:sp>
        <p:nvSpPr>
          <p:cNvPr id="21" name="Text 19"/>
          <p:cNvSpPr txBox="1"/>
          <p:nvPr/>
        </p:nvSpPr>
        <p:spPr>
          <a:xfrm>
            <a:off x="7002998" y="2148840"/>
            <a:ext cx="1250115" cy="548640"/>
          </a:xfrm>
          <a:prstGeom prst="rect">
            <a:avLst/>
          </a:prstGeom>
          <a:noFill/>
          <a:ln/>
        </p:spPr>
        <p:txBody>
          <a:bodyPr wrap="square" lIns="0" tIns="0" rIns="0" bIns="0" rtlCol="0" anchor="ctr"/>
          <a:lstStyle/>
          <a:p>
            <a:pPr algn="ctr" indent="0" marL="0">
              <a:buNone/>
            </a:pPr>
            <a:r>
              <a:rPr lang="en-US" sz="950" b="1" dirty="0">
                <a:solidFill>
                  <a:srgbClr val="8C3A2B"/>
                </a:solidFill>
                <a:latin typeface="Calibri" pitchFamily="34" charset="0"/>
                <a:ea typeface="Calibri" pitchFamily="34" charset="-122"/>
                <a:cs typeface="Calibri" pitchFamily="34" charset="-120"/>
              </a:rPr>
              <a:t>ETKİLEŞİM</a:t>
            </a:r>
            <a:endParaRPr lang="en-US" sz="950" dirty="0"/>
          </a:p>
        </p:txBody>
      </p:sp>
      <p:sp>
        <p:nvSpPr>
          <p:cNvPr id="22" name="Shape 20"/>
          <p:cNvSpPr/>
          <p:nvPr/>
        </p:nvSpPr>
        <p:spPr>
          <a:xfrm flipV="1">
            <a:off x="7628055" y="2770632"/>
            <a:ext cx="0" cy="585216"/>
          </a:xfrm>
          <a:prstGeom prst="line">
            <a:avLst/>
          </a:prstGeom>
          <a:noFill/>
          <a:ln w="13970">
            <a:solidFill>
              <a:srgbClr val="C9C9CF"/>
            </a:solidFill>
            <a:prstDash val="solid"/>
            <a:tailEnd type="triangle"/>
          </a:ln>
        </p:spPr>
      </p:sp>
      <p:sp>
        <p:nvSpPr>
          <p:cNvPr id="23" name="Text 21"/>
          <p:cNvSpPr txBox="1"/>
          <p:nvPr/>
        </p:nvSpPr>
        <p:spPr>
          <a:xfrm>
            <a:off x="6920702" y="3429000"/>
            <a:ext cx="1414707" cy="640080"/>
          </a:xfrm>
          <a:prstGeom prst="rect">
            <a:avLst/>
          </a:prstGeom>
          <a:noFill/>
          <a:ln/>
        </p:spPr>
        <p:txBody>
          <a:bodyPr wrap="square" lIns="0" tIns="0" rIns="0" bIns="0" rtlCol="0" anchor="ctr"/>
          <a:lstStyle/>
          <a:p>
            <a:pPr algn="ctr" indent="0" marL="0">
              <a:lnSpc>
                <a:spcPts val="1200"/>
              </a:lnSpc>
              <a:buNone/>
            </a:pPr>
            <a:r>
              <a:rPr lang="en-US" sz="950" dirty="0">
                <a:solidFill>
                  <a:srgbClr val="8C3A2B"/>
                </a:solidFill>
                <a:latin typeface="Calibri" pitchFamily="34" charset="0"/>
                <a:ea typeface="Calibri" pitchFamily="34" charset="-122"/>
                <a:cs typeface="Calibri" pitchFamily="34" charset="-120"/>
              </a:rPr>
              <a:t>sanal deneme</a:t>
            </a:r>
            <a:endParaRPr lang="en-US" sz="950" dirty="0"/>
          </a:p>
          <a:p>
            <a:pPr algn="ctr" indent="0" marL="0">
              <a:lnSpc>
                <a:spcPts val="1200"/>
              </a:lnSpc>
              <a:buNone/>
            </a:pPr>
            <a:r>
              <a:rPr lang="en-US" sz="950" dirty="0">
                <a:solidFill>
                  <a:srgbClr val="8C3A2B"/>
                </a:solidFill>
                <a:latin typeface="Calibri" pitchFamily="34" charset="0"/>
                <a:ea typeface="Calibri" pitchFamily="34" charset="-122"/>
                <a:cs typeface="Calibri" pitchFamily="34" charset="-120"/>
              </a:rPr>
              <a:t>konfigüratör</a:t>
            </a:r>
            <a:endParaRPr lang="en-US" sz="950" dirty="0"/>
          </a:p>
        </p:txBody>
      </p:sp>
      <p:sp>
        <p:nvSpPr>
          <p:cNvPr id="24" name="Shape 22"/>
          <p:cNvSpPr/>
          <p:nvPr/>
        </p:nvSpPr>
        <p:spPr>
          <a:xfrm>
            <a:off x="8490857" y="2148840"/>
            <a:ext cx="1323267" cy="548640"/>
          </a:xfrm>
          <a:prstGeom prst="rect">
            <a:avLst/>
          </a:prstGeom>
          <a:ln w="9525">
            <a:solidFill>
              <a:srgbClr val="C9C9CF"/>
            </a:solidFill>
            <a:prstDash val="solid"/>
          </a:ln>
        </p:spPr>
      </p:sp>
      <p:sp>
        <p:nvSpPr>
          <p:cNvPr id="25" name="Text 23"/>
          <p:cNvSpPr txBox="1"/>
          <p:nvPr/>
        </p:nvSpPr>
        <p:spPr>
          <a:xfrm>
            <a:off x="8527433" y="2148840"/>
            <a:ext cx="1250115" cy="548640"/>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SATIN ALMA</a:t>
            </a:r>
            <a:endParaRPr lang="en-US" sz="950" dirty="0"/>
          </a:p>
        </p:txBody>
      </p:sp>
      <p:sp>
        <p:nvSpPr>
          <p:cNvPr id="26" name="Shape 24"/>
          <p:cNvSpPr/>
          <p:nvPr/>
        </p:nvSpPr>
        <p:spPr>
          <a:xfrm flipV="1">
            <a:off x="9152491" y="2770632"/>
            <a:ext cx="0" cy="585216"/>
          </a:xfrm>
          <a:prstGeom prst="line">
            <a:avLst/>
          </a:prstGeom>
          <a:noFill/>
          <a:ln w="13970">
            <a:solidFill>
              <a:srgbClr val="C9C9CF"/>
            </a:solidFill>
            <a:prstDash val="solid"/>
            <a:tailEnd type="triangle"/>
          </a:ln>
        </p:spPr>
      </p:sp>
      <p:sp>
        <p:nvSpPr>
          <p:cNvPr id="27" name="Text 25"/>
          <p:cNvSpPr txBox="1"/>
          <p:nvPr/>
        </p:nvSpPr>
        <p:spPr>
          <a:xfrm>
            <a:off x="8445137" y="3429000"/>
            <a:ext cx="141470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temassız ödeme</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kasa dışı ödeme</a:t>
            </a:r>
            <a:endParaRPr lang="en-US" sz="950" dirty="0"/>
          </a:p>
        </p:txBody>
      </p:sp>
      <p:sp>
        <p:nvSpPr>
          <p:cNvPr id="28" name="Shape 26"/>
          <p:cNvSpPr/>
          <p:nvPr/>
        </p:nvSpPr>
        <p:spPr>
          <a:xfrm>
            <a:off x="10015293" y="2148840"/>
            <a:ext cx="1323267" cy="548640"/>
          </a:xfrm>
          <a:prstGeom prst="rect">
            <a:avLst/>
          </a:prstGeom>
          <a:ln w="9525">
            <a:solidFill>
              <a:srgbClr val="C9C9CF"/>
            </a:solidFill>
            <a:prstDash val="solid"/>
          </a:ln>
        </p:spPr>
      </p:sp>
      <p:sp>
        <p:nvSpPr>
          <p:cNvPr id="29" name="Text 27"/>
          <p:cNvSpPr txBox="1"/>
          <p:nvPr/>
        </p:nvSpPr>
        <p:spPr>
          <a:xfrm>
            <a:off x="10051869" y="2148840"/>
            <a:ext cx="1250115" cy="548640"/>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AYRILMA</a:t>
            </a:r>
            <a:endParaRPr lang="en-US" sz="950" dirty="0"/>
          </a:p>
        </p:txBody>
      </p:sp>
      <p:sp>
        <p:nvSpPr>
          <p:cNvPr id="30" name="Shape 28"/>
          <p:cNvSpPr/>
          <p:nvPr/>
        </p:nvSpPr>
        <p:spPr>
          <a:xfrm flipV="1">
            <a:off x="10676926" y="2770632"/>
            <a:ext cx="0" cy="585216"/>
          </a:xfrm>
          <a:prstGeom prst="line">
            <a:avLst/>
          </a:prstGeom>
          <a:noFill/>
          <a:ln w="13970">
            <a:solidFill>
              <a:srgbClr val="C9C9CF"/>
            </a:solidFill>
            <a:prstDash val="solid"/>
            <a:tailEnd type="triangle"/>
          </a:ln>
        </p:spPr>
      </p:sp>
      <p:sp>
        <p:nvSpPr>
          <p:cNvPr id="31" name="Text 29"/>
          <p:cNvSpPr txBox="1"/>
          <p:nvPr/>
        </p:nvSpPr>
        <p:spPr>
          <a:xfrm>
            <a:off x="9969573" y="3429000"/>
            <a:ext cx="141470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dijital fiş</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teslimat takibi</a:t>
            </a:r>
            <a:endParaRPr lang="en-US" sz="950" dirty="0"/>
          </a:p>
        </p:txBody>
      </p:sp>
      <p:sp>
        <p:nvSpPr>
          <p:cNvPr id="32" name="Text 30"/>
          <p:cNvSpPr txBox="1"/>
          <p:nvPr/>
        </p:nvSpPr>
        <p:spPr>
          <a:xfrm>
            <a:off x="868680" y="4206240"/>
            <a:ext cx="10469880" cy="365760"/>
          </a:xfrm>
          <a:prstGeom prst="rect">
            <a:avLst/>
          </a:prstGeom>
          <a:noFill/>
          <a:ln/>
        </p:spPr>
        <p:txBody>
          <a:bodyPr wrap="square" lIns="0" tIns="0" rIns="0" bIns="0" rtlCol="0" anchor="ctr"/>
          <a:lstStyle/>
          <a:p>
            <a:pPr algn="ctr" indent="0" marL="0">
              <a:lnSpc>
                <a:spcPts val="1200"/>
              </a:lnSpc>
              <a:buNone/>
            </a:pPr>
            <a:r>
              <a:rPr lang="en-US" sz="1300" i="1" dirty="0">
                <a:solidFill>
                  <a:srgbClr val="8C3A2B"/>
                </a:solidFill>
                <a:latin typeface="Cambria" pitchFamily="34" charset="0"/>
                <a:ea typeface="Cambria" pitchFamily="34" charset="-122"/>
                <a:cs typeface="Cambria" pitchFamily="34" charset="-120"/>
              </a:rPr>
              <a:t>Teknoloji yolculuğun tamamına değil, belirli anlarına girer. Her ana bir ekran koymak, hiçbirine koymamaktan daha kötüdür.</a:t>
            </a:r>
            <a:endParaRPr lang="en-US" sz="1300" dirty="0"/>
          </a:p>
        </p:txBody>
      </p:sp>
      <p:sp>
        <p:nvSpPr>
          <p:cNvPr id="33" name="Text 31"/>
          <p:cNvSpPr txBox="1"/>
          <p:nvPr/>
        </p:nvSpPr>
        <p:spPr>
          <a:xfrm>
            <a:off x="777240" y="4709160"/>
            <a:ext cx="5029200" cy="1463040"/>
          </a:xfrm>
          <a:prstGeom prst="rect">
            <a:avLst/>
          </a:prstGeom>
          <a:noFill/>
          <a:ln/>
        </p:spPr>
        <p:txBody>
          <a:bodyPr wrap="square" lIns="0" tIns="0" rIns="0" bIns="0" rtlCol="0" anchor="ctr"/>
          <a:lstStyle/>
          <a:p>
            <a:pPr indent="0" marL="0">
              <a:lnSpc>
                <a:spcPts val="2300"/>
              </a:lnSpc>
              <a:buNone/>
            </a:pPr>
            <a:r>
              <a:rPr lang="en-US" sz="1300" dirty="0">
                <a:solidFill>
                  <a:srgbClr val="2B2B31"/>
                </a:solidFill>
                <a:latin typeface="Cambria" pitchFamily="34" charset="0"/>
                <a:ea typeface="Cambria" pitchFamily="34" charset="-122"/>
                <a:cs typeface="Cambria" pitchFamily="34" charset="-120"/>
              </a:rPr>
              <a:t>Müşteri bugün bir markayla birden çok kanaldan temas ediyor: sosyal medyada görüyor, internette inceliyor, mağazada deniyor, tekrar internetten alıyor. Fiziksel ve dijital katmanların iç içe geçtiği bu duruma literatürde 'phygital' deniyor (Xi &amp; Idris, 2026).</a:t>
            </a:r>
            <a:endParaRPr lang="en-US" sz="1300" dirty="0"/>
          </a:p>
        </p:txBody>
      </p:sp>
      <p:sp>
        <p:nvSpPr>
          <p:cNvPr id="34" name="Text 32"/>
          <p:cNvSpPr txBox="1"/>
          <p:nvPr/>
        </p:nvSpPr>
        <p:spPr>
          <a:xfrm>
            <a:off x="6382512" y="4709160"/>
            <a:ext cx="5029200" cy="1463040"/>
          </a:xfrm>
          <a:prstGeom prst="rect">
            <a:avLst/>
          </a:prstGeom>
          <a:noFill/>
          <a:ln/>
        </p:spPr>
        <p:txBody>
          <a:bodyPr wrap="square" lIns="0" tIns="0" rIns="0" bIns="0" rtlCol="0" anchor="ctr"/>
          <a:lstStyle/>
          <a:p>
            <a:pPr indent="0" marL="0">
              <a:lnSpc>
                <a:spcPts val="2300"/>
              </a:lnSpc>
              <a:buNone/>
            </a:pPr>
            <a:r>
              <a:rPr lang="en-US" sz="1300" dirty="0">
                <a:solidFill>
                  <a:srgbClr val="2B2B31"/>
                </a:solidFill>
                <a:latin typeface="Cambria" pitchFamily="34" charset="0"/>
                <a:ea typeface="Cambria" pitchFamily="34" charset="-122"/>
                <a:cs typeface="Cambria" pitchFamily="34" charset="-120"/>
              </a:rPr>
              <a:t>Bunun mağaza tasarımı açısından sonucu şudur: mağaza artık yolculuğun tamamı değil, bir parçasıdır. İnsan geldiğinde ürünü çoğu zaman zaten biliyordur. O hâlde mağazanın işi bilgi vermek değil, ekranın veremediğini vermektir.</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IX · TEKNOLOJİ</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Ne işe yarar, ne işe yaramaz</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46</a:t>
            </a:r>
            <a:endParaRPr lang="en-US" sz="950" dirty="0"/>
          </a:p>
        </p:txBody>
      </p:sp>
      <p:sp>
        <p:nvSpPr>
          <p:cNvPr id="5" name="Shape 3"/>
          <p:cNvSpPr/>
          <p:nvPr/>
        </p:nvSpPr>
        <p:spPr>
          <a:xfrm>
            <a:off x="777240" y="2103120"/>
            <a:ext cx="5029200" cy="3017520"/>
          </a:xfrm>
          <a:prstGeom prst="rect">
            <a:avLst/>
          </a:prstGeom>
          <a:solidFill>
            <a:srgbClr val="F6EAE6"/>
          </a:solidFill>
          <a:ln w="15875">
            <a:solidFill>
              <a:srgbClr val="8C3A2B"/>
            </a:solidFill>
            <a:prstDash val="solid"/>
          </a:ln>
        </p:spPr>
      </p:sp>
      <p:sp>
        <p:nvSpPr>
          <p:cNvPr id="6" name="Text 4"/>
          <p:cNvSpPr txBox="1"/>
          <p:nvPr/>
        </p:nvSpPr>
        <p:spPr>
          <a:xfrm>
            <a:off x="1069848" y="2359152"/>
            <a:ext cx="4443984" cy="310896"/>
          </a:xfrm>
          <a:prstGeom prst="rect">
            <a:avLst/>
          </a:prstGeom>
          <a:noFill/>
          <a:ln/>
        </p:spPr>
        <p:txBody>
          <a:bodyPr wrap="square" lIns="0" tIns="0" rIns="0" bIns="0" rtlCol="0" anchor="ctr"/>
          <a:lstStyle/>
          <a:p>
            <a:pPr indent="0" marL="0">
              <a:buNone/>
            </a:pPr>
            <a:r>
              <a:rPr lang="en-US" sz="1100" b="1" spc="160" kern="0" dirty="0">
                <a:solidFill>
                  <a:srgbClr val="8C3A2B"/>
                </a:solidFill>
                <a:latin typeface="Calibri" pitchFamily="34" charset="0"/>
                <a:ea typeface="Calibri" pitchFamily="34" charset="-122"/>
                <a:cs typeface="Calibri" pitchFamily="34" charset="-120"/>
              </a:rPr>
              <a:t>İŞE YARAR</a:t>
            </a:r>
            <a:endParaRPr lang="en-US" sz="1100" dirty="0"/>
          </a:p>
        </p:txBody>
      </p:sp>
      <p:sp>
        <p:nvSpPr>
          <p:cNvPr id="7" name="Shape 5"/>
          <p:cNvSpPr/>
          <p:nvPr/>
        </p:nvSpPr>
        <p:spPr>
          <a:xfrm>
            <a:off x="1115568" y="2889504"/>
            <a:ext cx="91440" cy="91440"/>
          </a:xfrm>
          <a:prstGeom prst="ellipse">
            <a:avLst/>
          </a:prstGeom>
          <a:solidFill>
            <a:srgbClr val="8C3A2B"/>
          </a:solidFill>
          <a:ln w="12700">
            <a:solidFill>
              <a:srgbClr val="8C3A2B"/>
            </a:solidFill>
            <a:prstDash val="solid"/>
          </a:ln>
        </p:spPr>
      </p:sp>
      <p:sp>
        <p:nvSpPr>
          <p:cNvPr id="8" name="Text 6"/>
          <p:cNvSpPr txBox="1"/>
          <p:nvPr/>
        </p:nvSpPr>
        <p:spPr>
          <a:xfrm>
            <a:off x="1399032" y="27797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2B2B31"/>
                </a:solidFill>
                <a:latin typeface="Calibri" pitchFamily="34" charset="0"/>
                <a:ea typeface="Calibri" pitchFamily="34" charset="-122"/>
                <a:cs typeface="Calibri" pitchFamily="34" charset="-120"/>
              </a:rPr>
              <a:t>Bir engeli kaldırıyorsa — stok sorgusu, beden bulma, sıra beklememe</a:t>
            </a:r>
            <a:endParaRPr lang="en-US" sz="1150" dirty="0"/>
          </a:p>
        </p:txBody>
      </p:sp>
      <p:sp>
        <p:nvSpPr>
          <p:cNvPr id="9" name="Shape 7"/>
          <p:cNvSpPr/>
          <p:nvPr/>
        </p:nvSpPr>
        <p:spPr>
          <a:xfrm>
            <a:off x="1115568" y="3346704"/>
            <a:ext cx="91440" cy="91440"/>
          </a:xfrm>
          <a:prstGeom prst="ellipse">
            <a:avLst/>
          </a:prstGeom>
          <a:solidFill>
            <a:srgbClr val="8C3A2B"/>
          </a:solidFill>
          <a:ln w="12700">
            <a:solidFill>
              <a:srgbClr val="8C3A2B"/>
            </a:solidFill>
            <a:prstDash val="solid"/>
          </a:ln>
        </p:spPr>
      </p:sp>
      <p:sp>
        <p:nvSpPr>
          <p:cNvPr id="10" name="Text 8"/>
          <p:cNvSpPr txBox="1"/>
          <p:nvPr/>
        </p:nvSpPr>
        <p:spPr>
          <a:xfrm>
            <a:off x="1399032" y="32369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2B2B31"/>
                </a:solidFill>
                <a:latin typeface="Calibri" pitchFamily="34" charset="0"/>
                <a:ea typeface="Calibri" pitchFamily="34" charset="-122"/>
                <a:cs typeface="Calibri" pitchFamily="34" charset="-120"/>
              </a:rPr>
              <a:t>Ürünü kullanım bağlamında gösteriyorsa — mankende, odada, bedende</a:t>
            </a:r>
            <a:endParaRPr lang="en-US" sz="1150" dirty="0"/>
          </a:p>
        </p:txBody>
      </p:sp>
      <p:sp>
        <p:nvSpPr>
          <p:cNvPr id="11" name="Shape 9"/>
          <p:cNvSpPr/>
          <p:nvPr/>
        </p:nvSpPr>
        <p:spPr>
          <a:xfrm>
            <a:off x="1115568" y="3803904"/>
            <a:ext cx="91440" cy="91440"/>
          </a:xfrm>
          <a:prstGeom prst="ellipse">
            <a:avLst/>
          </a:prstGeom>
          <a:solidFill>
            <a:srgbClr val="8C3A2B"/>
          </a:solidFill>
          <a:ln w="12700">
            <a:solidFill>
              <a:srgbClr val="8C3A2B"/>
            </a:solidFill>
            <a:prstDash val="solid"/>
          </a:ln>
        </p:spPr>
      </p:sp>
      <p:sp>
        <p:nvSpPr>
          <p:cNvPr id="12" name="Text 10"/>
          <p:cNvSpPr txBox="1"/>
          <p:nvPr/>
        </p:nvSpPr>
        <p:spPr>
          <a:xfrm>
            <a:off x="1399032" y="36941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2B2B31"/>
                </a:solidFill>
                <a:latin typeface="Calibri" pitchFamily="34" charset="0"/>
                <a:ea typeface="Calibri" pitchFamily="34" charset="-122"/>
                <a:cs typeface="Calibri" pitchFamily="34" charset="-120"/>
              </a:rPr>
              <a:t>Kişiselleştirmeyi mümkün kılıyorsa — ölçü, renk, isim</a:t>
            </a:r>
            <a:endParaRPr lang="en-US" sz="1150" dirty="0"/>
          </a:p>
        </p:txBody>
      </p:sp>
      <p:sp>
        <p:nvSpPr>
          <p:cNvPr id="13" name="Shape 11"/>
          <p:cNvSpPr/>
          <p:nvPr/>
        </p:nvSpPr>
        <p:spPr>
          <a:xfrm>
            <a:off x="1115568" y="4261104"/>
            <a:ext cx="91440" cy="91440"/>
          </a:xfrm>
          <a:prstGeom prst="ellipse">
            <a:avLst/>
          </a:prstGeom>
          <a:solidFill>
            <a:srgbClr val="8C3A2B"/>
          </a:solidFill>
          <a:ln w="12700">
            <a:solidFill>
              <a:srgbClr val="8C3A2B"/>
            </a:solidFill>
            <a:prstDash val="solid"/>
          </a:ln>
        </p:spPr>
      </p:sp>
      <p:sp>
        <p:nvSpPr>
          <p:cNvPr id="14" name="Text 12"/>
          <p:cNvSpPr txBox="1"/>
          <p:nvPr/>
        </p:nvSpPr>
        <p:spPr>
          <a:xfrm>
            <a:off x="1399032" y="41513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2B2B31"/>
                </a:solidFill>
                <a:latin typeface="Calibri" pitchFamily="34" charset="0"/>
                <a:ea typeface="Calibri" pitchFamily="34" charset="-122"/>
                <a:cs typeface="Calibri" pitchFamily="34" charset="-120"/>
              </a:rPr>
              <a:t>Erişilebilirliği artırıyorsa — sesli bilgi, büyük punto, dokunsal karşılık</a:t>
            </a:r>
            <a:endParaRPr lang="en-US" sz="1150" dirty="0"/>
          </a:p>
        </p:txBody>
      </p:sp>
      <p:sp>
        <p:nvSpPr>
          <p:cNvPr id="15" name="Shape 13"/>
          <p:cNvSpPr/>
          <p:nvPr/>
        </p:nvSpPr>
        <p:spPr>
          <a:xfrm>
            <a:off x="1115568" y="4718304"/>
            <a:ext cx="91440" cy="91440"/>
          </a:xfrm>
          <a:prstGeom prst="ellipse">
            <a:avLst/>
          </a:prstGeom>
          <a:solidFill>
            <a:srgbClr val="8C3A2B"/>
          </a:solidFill>
          <a:ln w="12700">
            <a:solidFill>
              <a:srgbClr val="8C3A2B"/>
            </a:solidFill>
            <a:prstDash val="solid"/>
          </a:ln>
        </p:spPr>
      </p:sp>
      <p:sp>
        <p:nvSpPr>
          <p:cNvPr id="16" name="Text 14"/>
          <p:cNvSpPr txBox="1"/>
          <p:nvPr/>
        </p:nvSpPr>
        <p:spPr>
          <a:xfrm>
            <a:off x="1399032" y="46085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2B2B31"/>
                </a:solidFill>
                <a:latin typeface="Calibri" pitchFamily="34" charset="0"/>
                <a:ea typeface="Calibri" pitchFamily="34" charset="-122"/>
                <a:cs typeface="Calibri" pitchFamily="34" charset="-120"/>
              </a:rPr>
              <a:t>Mekânın kendisiyle uyumluysa — malzemeye ve ışığa gömülüyse</a:t>
            </a:r>
            <a:endParaRPr lang="en-US" sz="1150" dirty="0"/>
          </a:p>
        </p:txBody>
      </p:sp>
      <p:sp>
        <p:nvSpPr>
          <p:cNvPr id="17" name="Shape 15"/>
          <p:cNvSpPr/>
          <p:nvPr/>
        </p:nvSpPr>
        <p:spPr>
          <a:xfrm>
            <a:off x="6382512" y="2103120"/>
            <a:ext cx="5029200" cy="3017520"/>
          </a:xfrm>
          <a:prstGeom prst="rect">
            <a:avLst/>
          </a:prstGeom>
          <a:ln w="9525">
            <a:solidFill>
              <a:srgbClr val="C9C9CF"/>
            </a:solidFill>
            <a:prstDash val="solid"/>
          </a:ln>
        </p:spPr>
      </p:sp>
      <p:sp>
        <p:nvSpPr>
          <p:cNvPr id="18" name="Text 16"/>
          <p:cNvSpPr txBox="1"/>
          <p:nvPr/>
        </p:nvSpPr>
        <p:spPr>
          <a:xfrm>
            <a:off x="6675120" y="2359152"/>
            <a:ext cx="4443984" cy="310896"/>
          </a:xfrm>
          <a:prstGeom prst="rect">
            <a:avLst/>
          </a:prstGeom>
          <a:noFill/>
          <a:ln/>
        </p:spPr>
        <p:txBody>
          <a:bodyPr wrap="square" lIns="0" tIns="0" rIns="0" bIns="0" rtlCol="0" anchor="ctr"/>
          <a:lstStyle/>
          <a:p>
            <a:pPr indent="0" marL="0">
              <a:buNone/>
            </a:pPr>
            <a:r>
              <a:rPr lang="en-US" sz="1100" b="1" spc="160" kern="0" dirty="0">
                <a:solidFill>
                  <a:srgbClr val="7A7A82"/>
                </a:solidFill>
                <a:latin typeface="Calibri" pitchFamily="34" charset="0"/>
                <a:ea typeface="Calibri" pitchFamily="34" charset="-122"/>
                <a:cs typeface="Calibri" pitchFamily="34" charset="-120"/>
              </a:rPr>
              <a:t>İŞE YARAMAZ</a:t>
            </a:r>
            <a:endParaRPr lang="en-US" sz="1100" dirty="0"/>
          </a:p>
        </p:txBody>
      </p:sp>
      <p:sp>
        <p:nvSpPr>
          <p:cNvPr id="19" name="Shape 17"/>
          <p:cNvSpPr/>
          <p:nvPr/>
        </p:nvSpPr>
        <p:spPr>
          <a:xfrm>
            <a:off x="6720840" y="2889504"/>
            <a:ext cx="91440" cy="91440"/>
          </a:xfrm>
          <a:prstGeom prst="ellipse">
            <a:avLst/>
          </a:prstGeom>
          <a:solidFill>
            <a:srgbClr val="A6A6AC"/>
          </a:solidFill>
          <a:ln w="12700">
            <a:solidFill>
              <a:srgbClr val="A6A6AC"/>
            </a:solidFill>
            <a:prstDash val="solid"/>
          </a:ln>
        </p:spPr>
      </p:sp>
      <p:sp>
        <p:nvSpPr>
          <p:cNvPr id="20" name="Text 18"/>
          <p:cNvSpPr txBox="1"/>
          <p:nvPr/>
        </p:nvSpPr>
        <p:spPr>
          <a:xfrm>
            <a:off x="7004304" y="27797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7A7A82"/>
                </a:solidFill>
                <a:latin typeface="Calibri" pitchFamily="34" charset="0"/>
                <a:ea typeface="Calibri" pitchFamily="34" charset="-122"/>
                <a:cs typeface="Calibri" pitchFamily="34" charset="-120"/>
              </a:rPr>
              <a:t>Duvara asılmış, kimsenin bakmadığı ekran</a:t>
            </a:r>
            <a:endParaRPr lang="en-US" sz="1150" dirty="0"/>
          </a:p>
        </p:txBody>
      </p:sp>
      <p:sp>
        <p:nvSpPr>
          <p:cNvPr id="21" name="Shape 19"/>
          <p:cNvSpPr/>
          <p:nvPr/>
        </p:nvSpPr>
        <p:spPr>
          <a:xfrm>
            <a:off x="6720840" y="3346704"/>
            <a:ext cx="91440" cy="91440"/>
          </a:xfrm>
          <a:prstGeom prst="ellipse">
            <a:avLst/>
          </a:prstGeom>
          <a:solidFill>
            <a:srgbClr val="A6A6AC"/>
          </a:solidFill>
          <a:ln w="12700">
            <a:solidFill>
              <a:srgbClr val="A6A6AC"/>
            </a:solidFill>
            <a:prstDash val="solid"/>
          </a:ln>
        </p:spPr>
      </p:sp>
      <p:sp>
        <p:nvSpPr>
          <p:cNvPr id="22" name="Text 20"/>
          <p:cNvSpPr txBox="1"/>
          <p:nvPr/>
        </p:nvSpPr>
        <p:spPr>
          <a:xfrm>
            <a:off x="7004304" y="32369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7A7A82"/>
                </a:solidFill>
                <a:latin typeface="Calibri" pitchFamily="34" charset="0"/>
                <a:ea typeface="Calibri" pitchFamily="34" charset="-122"/>
                <a:cs typeface="Calibri" pitchFamily="34" charset="-120"/>
              </a:rPr>
              <a:t>Telefonda zaten olan bilgiyi tekrar eden arayüz</a:t>
            </a:r>
            <a:endParaRPr lang="en-US" sz="1150" dirty="0"/>
          </a:p>
        </p:txBody>
      </p:sp>
      <p:sp>
        <p:nvSpPr>
          <p:cNvPr id="23" name="Shape 21"/>
          <p:cNvSpPr/>
          <p:nvPr/>
        </p:nvSpPr>
        <p:spPr>
          <a:xfrm>
            <a:off x="6720840" y="3803904"/>
            <a:ext cx="91440" cy="91440"/>
          </a:xfrm>
          <a:prstGeom prst="ellipse">
            <a:avLst/>
          </a:prstGeom>
          <a:solidFill>
            <a:srgbClr val="A6A6AC"/>
          </a:solidFill>
          <a:ln w="12700">
            <a:solidFill>
              <a:srgbClr val="A6A6AC"/>
            </a:solidFill>
            <a:prstDash val="solid"/>
          </a:ln>
        </p:spPr>
      </p:sp>
      <p:sp>
        <p:nvSpPr>
          <p:cNvPr id="24" name="Text 22"/>
          <p:cNvSpPr txBox="1"/>
          <p:nvPr/>
        </p:nvSpPr>
        <p:spPr>
          <a:xfrm>
            <a:off x="7004304" y="36941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7A7A82"/>
                </a:solidFill>
                <a:latin typeface="Calibri" pitchFamily="34" charset="0"/>
                <a:ea typeface="Calibri" pitchFamily="34" charset="-122"/>
                <a:cs typeface="Calibri" pitchFamily="34" charset="-120"/>
              </a:rPr>
              <a:t>Kullanımı personel yardımı gerektiren 'self-servis' cihaz</a:t>
            </a:r>
            <a:endParaRPr lang="en-US" sz="1150" dirty="0"/>
          </a:p>
        </p:txBody>
      </p:sp>
      <p:sp>
        <p:nvSpPr>
          <p:cNvPr id="25" name="Shape 23"/>
          <p:cNvSpPr/>
          <p:nvPr/>
        </p:nvSpPr>
        <p:spPr>
          <a:xfrm>
            <a:off x="6720840" y="4261104"/>
            <a:ext cx="91440" cy="91440"/>
          </a:xfrm>
          <a:prstGeom prst="ellipse">
            <a:avLst/>
          </a:prstGeom>
          <a:solidFill>
            <a:srgbClr val="A6A6AC"/>
          </a:solidFill>
          <a:ln w="12700">
            <a:solidFill>
              <a:srgbClr val="A6A6AC"/>
            </a:solidFill>
            <a:prstDash val="solid"/>
          </a:ln>
        </p:spPr>
      </p:sp>
      <p:sp>
        <p:nvSpPr>
          <p:cNvPr id="26" name="Text 24"/>
          <p:cNvSpPr txBox="1"/>
          <p:nvPr/>
        </p:nvSpPr>
        <p:spPr>
          <a:xfrm>
            <a:off x="7004304" y="41513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7A7A82"/>
                </a:solidFill>
                <a:latin typeface="Calibri" pitchFamily="34" charset="0"/>
                <a:ea typeface="Calibri" pitchFamily="34" charset="-122"/>
                <a:cs typeface="Calibri" pitchFamily="34" charset="-120"/>
              </a:rPr>
              <a:t>Bakımı yapılmadığında mekânı bozan, kapalı duran ünite</a:t>
            </a:r>
            <a:endParaRPr lang="en-US" sz="1150" dirty="0"/>
          </a:p>
        </p:txBody>
      </p:sp>
      <p:sp>
        <p:nvSpPr>
          <p:cNvPr id="27" name="Shape 25"/>
          <p:cNvSpPr/>
          <p:nvPr/>
        </p:nvSpPr>
        <p:spPr>
          <a:xfrm>
            <a:off x="6720840" y="4718304"/>
            <a:ext cx="91440" cy="91440"/>
          </a:xfrm>
          <a:prstGeom prst="ellipse">
            <a:avLst/>
          </a:prstGeom>
          <a:solidFill>
            <a:srgbClr val="A6A6AC"/>
          </a:solidFill>
          <a:ln w="12700">
            <a:solidFill>
              <a:srgbClr val="A6A6AC"/>
            </a:solidFill>
            <a:prstDash val="solid"/>
          </a:ln>
        </p:spPr>
      </p:sp>
      <p:sp>
        <p:nvSpPr>
          <p:cNvPr id="28" name="Text 26"/>
          <p:cNvSpPr txBox="1"/>
          <p:nvPr/>
        </p:nvSpPr>
        <p:spPr>
          <a:xfrm>
            <a:off x="7004304" y="46085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7A7A82"/>
                </a:solidFill>
                <a:latin typeface="Calibri" pitchFamily="34" charset="0"/>
                <a:ea typeface="Calibri" pitchFamily="34" charset="-122"/>
                <a:cs typeface="Calibri" pitchFamily="34" charset="-120"/>
              </a:rPr>
              <a:t>Zayıf çözülmüş bir planı örtmek için eklenen gösteri</a:t>
            </a:r>
            <a:endParaRPr lang="en-US" sz="1150" dirty="0"/>
          </a:p>
        </p:txBody>
      </p:sp>
      <p:sp>
        <p:nvSpPr>
          <p:cNvPr id="29" name="Text 27"/>
          <p:cNvSpPr txBox="1"/>
          <p:nvPr/>
        </p:nvSpPr>
        <p:spPr>
          <a:xfrm>
            <a:off x="777240" y="5349240"/>
            <a:ext cx="10424160" cy="640080"/>
          </a:xfrm>
          <a:prstGeom prst="rect">
            <a:avLst/>
          </a:prstGeom>
          <a:noFill/>
          <a:ln/>
        </p:spPr>
        <p:txBody>
          <a:bodyPr wrap="square" lIns="0" tIns="0" rIns="0" bIns="0" rtlCol="0" anchor="ctr"/>
          <a:lstStyle/>
          <a:p>
            <a:pPr algn="l" indent="0" marL="0">
              <a:lnSpc>
                <a:spcPts val="1800"/>
              </a:lnSpc>
              <a:buNone/>
            </a:pPr>
            <a:r>
              <a:rPr lang="en-US" sz="1250" dirty="0">
                <a:solidFill>
                  <a:srgbClr val="2B2B31"/>
                </a:solidFill>
                <a:latin typeface="Cambria" pitchFamily="34" charset="0"/>
                <a:ea typeface="Cambria" pitchFamily="34" charset="-122"/>
                <a:cs typeface="Cambria" pitchFamily="34" charset="-120"/>
              </a:rPr>
              <a:t>Elli çalışmayı inceleyen bir derleme, gelişmiş sistemler yaygınlaştıkça bile malzemenin, ışığın, sesin ve rengin anlatım gücünün belirleyici kaldığını gösteriyor. Dijital sistemler bu nitelikleri ikame etmiyor, derinleştiriyor (Ratnayake vd., 2026).</a:t>
            </a:r>
            <a:endParaRPr lang="en-US" sz="1250" dirty="0"/>
          </a:p>
        </p:txBody>
      </p:sp>
      <p:sp>
        <p:nvSpPr>
          <p:cNvPr id="30" name="Text 28"/>
          <p:cNvSpPr txBox="1"/>
          <p:nvPr/>
        </p:nvSpPr>
        <p:spPr>
          <a:xfrm>
            <a:off x="777240" y="6035040"/>
            <a:ext cx="10424160" cy="365760"/>
          </a:xfrm>
          <a:prstGeom prst="rect">
            <a:avLst/>
          </a:prstGeom>
          <a:noFill/>
          <a:ln/>
        </p:spPr>
        <p:txBody>
          <a:bodyPr wrap="square" lIns="0" tIns="0" rIns="0" bIns="0" rtlCol="0" anchor="ctr"/>
          <a:lstStyle/>
          <a:p>
            <a:pPr algn="l" indent="0" marL="0">
              <a:lnSpc>
                <a:spcPts val="1200"/>
              </a:lnSpc>
              <a:buNone/>
            </a:pPr>
            <a:r>
              <a:rPr lang="en-US" sz="1400" i="1" dirty="0">
                <a:solidFill>
                  <a:srgbClr val="8C3A2B"/>
                </a:solidFill>
                <a:latin typeface="Cambria" pitchFamily="34" charset="0"/>
                <a:ea typeface="Cambria" pitchFamily="34" charset="-122"/>
                <a:cs typeface="Cambria" pitchFamily="34" charset="-120"/>
              </a:rPr>
              <a:t>Kısacası: iyi çözülmemiş bir mekânı teknoloji kurtarmaz.</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IX · TEKNOLOJİ</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Somut olan, hayalî olandan güçlüdür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47</a:t>
            </a:r>
            <a:endParaRPr lang="en-US" sz="950" dirty="0"/>
          </a:p>
        </p:txBody>
      </p:sp>
      <p:sp>
        <p:nvSpPr>
          <p:cNvPr id="5" name="Shape 3"/>
          <p:cNvSpPr/>
          <p:nvPr/>
        </p:nvSpPr>
        <p:spPr>
          <a:xfrm>
            <a:off x="1234440" y="2331720"/>
            <a:ext cx="4206240" cy="2011680"/>
          </a:xfrm>
          <a:prstGeom prst="rect">
            <a:avLst/>
          </a:prstGeom>
          <a:solidFill>
            <a:srgbClr val="F6EAE6"/>
          </a:solidFill>
          <a:ln w="15875">
            <a:solidFill>
              <a:srgbClr val="8C3A2B"/>
            </a:solidFill>
            <a:prstDash val="solid"/>
          </a:ln>
        </p:spPr>
      </p:sp>
      <p:sp>
        <p:nvSpPr>
          <p:cNvPr id="6" name="Text 4"/>
          <p:cNvSpPr txBox="1"/>
          <p:nvPr/>
        </p:nvSpPr>
        <p:spPr>
          <a:xfrm>
            <a:off x="1481328" y="2560320"/>
            <a:ext cx="3712464" cy="292608"/>
          </a:xfrm>
          <a:prstGeom prst="rect">
            <a:avLst/>
          </a:prstGeom>
          <a:noFill/>
          <a:ln/>
        </p:spPr>
        <p:txBody>
          <a:bodyPr wrap="square" lIns="0" tIns="0" rIns="0" bIns="0" rtlCol="0" anchor="ctr"/>
          <a:lstStyle/>
          <a:p>
            <a:pPr indent="0" marL="0">
              <a:buNone/>
            </a:pPr>
            <a:r>
              <a:rPr lang="en-US" sz="1050" b="1" spc="140" kern="0" dirty="0">
                <a:solidFill>
                  <a:srgbClr val="8C3A2B"/>
                </a:solidFill>
                <a:latin typeface="Calibri" pitchFamily="34" charset="0"/>
                <a:ea typeface="Calibri" pitchFamily="34" charset="-122"/>
                <a:cs typeface="Calibri" pitchFamily="34" charset="-120"/>
              </a:rPr>
              <a:t>BAĞLAMSAL SUNUM</a:t>
            </a:r>
            <a:endParaRPr lang="en-US" sz="1050" dirty="0"/>
          </a:p>
        </p:txBody>
      </p:sp>
      <p:sp>
        <p:nvSpPr>
          <p:cNvPr id="7" name="Text 5"/>
          <p:cNvSpPr txBox="1"/>
          <p:nvPr/>
        </p:nvSpPr>
        <p:spPr>
          <a:xfrm>
            <a:off x="1481328" y="2898648"/>
            <a:ext cx="3712464" cy="548640"/>
          </a:xfrm>
          <a:prstGeom prst="rect">
            <a:avLst/>
          </a:prstGeom>
          <a:noFill/>
          <a:ln/>
        </p:spPr>
        <p:txBody>
          <a:bodyPr wrap="square" lIns="0" tIns="0" rIns="0" bIns="0" rtlCol="0" anchor="ctr"/>
          <a:lstStyle/>
          <a:p>
            <a:pPr indent="0" marL="0">
              <a:lnSpc>
                <a:spcPts val="1900"/>
              </a:lnSpc>
              <a:buNone/>
            </a:pPr>
            <a:r>
              <a:rPr lang="en-US" sz="1400" dirty="0">
                <a:solidFill>
                  <a:srgbClr val="16161A"/>
                </a:solidFill>
                <a:latin typeface="Cambria" pitchFamily="34" charset="0"/>
                <a:ea typeface="Cambria" pitchFamily="34" charset="-122"/>
                <a:cs typeface="Cambria" pitchFamily="34" charset="-120"/>
              </a:rPr>
              <a:t>Ürün tanıdık ve kullanımla ilgili bir ortamda gösterilir.</a:t>
            </a:r>
            <a:endParaRPr lang="en-US" sz="1400" dirty="0"/>
          </a:p>
        </p:txBody>
      </p:sp>
      <p:sp>
        <p:nvSpPr>
          <p:cNvPr id="8" name="Text 6"/>
          <p:cNvSpPr txBox="1"/>
          <p:nvPr/>
        </p:nvSpPr>
        <p:spPr>
          <a:xfrm>
            <a:off x="1481328" y="3502152"/>
            <a:ext cx="3712464" cy="68580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Mankende giyilmiş bir ceket · döşenmiş bir odada duran mobilya · masada kurulmuş bir sofra takımı</a:t>
            </a:r>
            <a:endParaRPr lang="en-US" sz="1050" dirty="0"/>
          </a:p>
        </p:txBody>
      </p:sp>
      <p:sp>
        <p:nvSpPr>
          <p:cNvPr id="9" name="Shape 7"/>
          <p:cNvSpPr/>
          <p:nvPr/>
        </p:nvSpPr>
        <p:spPr>
          <a:xfrm>
            <a:off x="6720840" y="2331720"/>
            <a:ext cx="4206240" cy="2011680"/>
          </a:xfrm>
          <a:prstGeom prst="rect">
            <a:avLst/>
          </a:prstGeom>
          <a:ln w="9525">
            <a:solidFill>
              <a:srgbClr val="C9C9CF"/>
            </a:solidFill>
            <a:prstDash val="solid"/>
          </a:ln>
        </p:spPr>
      </p:sp>
      <p:sp>
        <p:nvSpPr>
          <p:cNvPr id="10" name="Text 8"/>
          <p:cNvSpPr txBox="1"/>
          <p:nvPr/>
        </p:nvSpPr>
        <p:spPr>
          <a:xfrm>
            <a:off x="6967728" y="2560320"/>
            <a:ext cx="3712464" cy="292608"/>
          </a:xfrm>
          <a:prstGeom prst="rect">
            <a:avLst/>
          </a:prstGeom>
          <a:noFill/>
          <a:ln/>
        </p:spPr>
        <p:txBody>
          <a:bodyPr wrap="square" lIns="0" tIns="0" rIns="0" bIns="0" rtlCol="0" anchor="ctr"/>
          <a:lstStyle/>
          <a:p>
            <a:pPr indent="0" marL="0">
              <a:buNone/>
            </a:pPr>
            <a:r>
              <a:rPr lang="en-US" sz="1050" b="1" spc="140" kern="0" dirty="0">
                <a:solidFill>
                  <a:srgbClr val="7A7A82"/>
                </a:solidFill>
                <a:latin typeface="Calibri" pitchFamily="34" charset="0"/>
                <a:ea typeface="Calibri" pitchFamily="34" charset="-122"/>
                <a:cs typeface="Calibri" pitchFamily="34" charset="-120"/>
              </a:rPr>
              <a:t>HAYALÎ SUNUM</a:t>
            </a:r>
            <a:endParaRPr lang="en-US" sz="1050" dirty="0"/>
          </a:p>
        </p:txBody>
      </p:sp>
      <p:sp>
        <p:nvSpPr>
          <p:cNvPr id="11" name="Text 9"/>
          <p:cNvSpPr txBox="1"/>
          <p:nvPr/>
        </p:nvSpPr>
        <p:spPr>
          <a:xfrm>
            <a:off x="6967728" y="2898648"/>
            <a:ext cx="3712464" cy="548640"/>
          </a:xfrm>
          <a:prstGeom prst="rect">
            <a:avLst/>
          </a:prstGeom>
          <a:noFill/>
          <a:ln/>
        </p:spPr>
        <p:txBody>
          <a:bodyPr wrap="square" lIns="0" tIns="0" rIns="0" bIns="0" rtlCol="0" anchor="ctr"/>
          <a:lstStyle/>
          <a:p>
            <a:pPr indent="0" marL="0">
              <a:lnSpc>
                <a:spcPts val="1900"/>
              </a:lnSpc>
              <a:buNone/>
            </a:pPr>
            <a:r>
              <a:rPr lang="en-US" sz="1400" dirty="0">
                <a:solidFill>
                  <a:srgbClr val="16161A"/>
                </a:solidFill>
                <a:latin typeface="Cambria" pitchFamily="34" charset="0"/>
                <a:ea typeface="Cambria" pitchFamily="34" charset="-122"/>
                <a:cs typeface="Cambria" pitchFamily="34" charset="-120"/>
              </a:rPr>
              <a:t>Ürün fantastik, soyut ya da alışılmadık bir kurgu içinde sunulur.</a:t>
            </a:r>
            <a:endParaRPr lang="en-US" sz="1400" dirty="0"/>
          </a:p>
        </p:txBody>
      </p:sp>
      <p:sp>
        <p:nvSpPr>
          <p:cNvPr id="12" name="Text 10"/>
          <p:cNvSpPr txBox="1"/>
          <p:nvPr/>
        </p:nvSpPr>
        <p:spPr>
          <a:xfrm>
            <a:off x="6967728" y="3502152"/>
            <a:ext cx="3712464" cy="68580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Havada asılı duran ürün · soyut bir sahnede tek başına sergilenen nesne</a:t>
            </a:r>
            <a:endParaRPr lang="en-US" sz="1050" dirty="0"/>
          </a:p>
        </p:txBody>
      </p:sp>
      <p:sp>
        <p:nvSpPr>
          <p:cNvPr id="13" name="Shape 11"/>
          <p:cNvSpPr/>
          <p:nvPr/>
        </p:nvSpPr>
        <p:spPr>
          <a:xfrm>
            <a:off x="5623560" y="3337560"/>
            <a:ext cx="914400" cy="0"/>
          </a:xfrm>
          <a:prstGeom prst="line">
            <a:avLst/>
          </a:prstGeom>
          <a:noFill/>
          <a:ln w="15875">
            <a:solidFill>
              <a:srgbClr val="C9C9CF"/>
            </a:solidFill>
            <a:prstDash val="solid"/>
            <a:tailEnd type="triangle"/>
          </a:ln>
        </p:spPr>
      </p:sp>
      <p:sp>
        <p:nvSpPr>
          <p:cNvPr id="14" name="Text 12"/>
          <p:cNvSpPr txBox="1"/>
          <p:nvPr/>
        </p:nvSpPr>
        <p:spPr>
          <a:xfrm>
            <a:off x="5349240" y="2834640"/>
            <a:ext cx="1463040" cy="274320"/>
          </a:xfrm>
          <a:prstGeom prst="rect">
            <a:avLst/>
          </a:prstGeom>
          <a:noFill/>
          <a:ln/>
        </p:spPr>
        <p:txBody>
          <a:bodyPr wrap="square" lIns="0" tIns="0" rIns="0" bIns="0" rtlCol="0" anchor="ctr"/>
          <a:lstStyle/>
          <a:p>
            <a:pPr algn="ctr" indent="0" marL="0">
              <a:lnSpc>
                <a:spcPts val="1200"/>
              </a:lnSpc>
              <a:buNone/>
            </a:pPr>
            <a:r>
              <a:rPr lang="en-US" sz="1000" b="1" dirty="0">
                <a:solidFill>
                  <a:srgbClr val="8C3A2B"/>
                </a:solidFill>
                <a:latin typeface="Calibri" pitchFamily="34" charset="0"/>
                <a:ea typeface="Calibri" pitchFamily="34" charset="-122"/>
                <a:cs typeface="Calibri" pitchFamily="34" charset="-120"/>
              </a:rPr>
              <a:t>daha güçlü</a:t>
            </a:r>
            <a:endParaRPr lang="en-US" sz="1000" dirty="0"/>
          </a:p>
        </p:txBody>
      </p:sp>
      <p:sp>
        <p:nvSpPr>
          <p:cNvPr id="15" name="Text 13"/>
          <p:cNvSpPr txBox="1"/>
          <p:nvPr/>
        </p:nvSpPr>
        <p:spPr>
          <a:xfrm>
            <a:off x="777240" y="4754880"/>
            <a:ext cx="5029200" cy="1463040"/>
          </a:xfrm>
          <a:prstGeom prst="rect">
            <a:avLst/>
          </a:prstGeom>
          <a:noFill/>
          <a:ln/>
        </p:spPr>
        <p:txBody>
          <a:bodyPr wrap="square" lIns="0" tIns="0" rIns="0" bIns="0" rtlCol="0" anchor="ctr"/>
          <a:lstStyle/>
          <a:p>
            <a:pPr indent="0" marL="0">
              <a:lnSpc>
                <a:spcPts val="2300"/>
              </a:lnSpc>
              <a:buNone/>
            </a:pPr>
            <a:r>
              <a:rPr lang="en-US" sz="1300" dirty="0">
                <a:solidFill>
                  <a:srgbClr val="2B2B31"/>
                </a:solidFill>
                <a:latin typeface="Cambria" pitchFamily="34" charset="0"/>
                <a:ea typeface="Cambria" pitchFamily="34" charset="-122"/>
                <a:cs typeface="Cambria" pitchFamily="34" charset="-120"/>
              </a:rPr>
              <a:t>Sanal gerçeklik tabanlı mağaza içi teşhirler üzerine yapılan çok çalışmalı bir deney, teknolojinin etkisinin teknik yetkinlikten çok tasarım mantığına bağlı olduğunu gösterdi. Dört ayrı çalışma dizisinde bağlamsal sunumlar tutarlı biçimde daha güçlü tepki üretti (Ishaq vd., 2026).</a:t>
            </a:r>
            <a:endParaRPr lang="en-US" sz="1300" dirty="0"/>
          </a:p>
        </p:txBody>
      </p:sp>
      <p:sp>
        <p:nvSpPr>
          <p:cNvPr id="16" name="Text 14"/>
          <p:cNvSpPr txBox="1"/>
          <p:nvPr/>
        </p:nvSpPr>
        <p:spPr>
          <a:xfrm>
            <a:off x="6382512" y="4754880"/>
            <a:ext cx="5029200" cy="1463040"/>
          </a:xfrm>
          <a:prstGeom prst="rect">
            <a:avLst/>
          </a:prstGeom>
          <a:noFill/>
          <a:ln/>
        </p:spPr>
        <p:txBody>
          <a:bodyPr wrap="square" lIns="0" tIns="0" rIns="0" bIns="0" rtlCol="0" anchor="ctr"/>
          <a:lstStyle/>
          <a:p>
            <a:pPr indent="0" marL="0">
              <a:lnSpc>
                <a:spcPts val="2300"/>
              </a:lnSpc>
              <a:buNone/>
            </a:pPr>
            <a:r>
              <a:rPr lang="en-US" sz="1300" dirty="0">
                <a:solidFill>
                  <a:srgbClr val="2B2B31"/>
                </a:solidFill>
                <a:latin typeface="Cambria" pitchFamily="34" charset="0"/>
                <a:ea typeface="Cambria" pitchFamily="34" charset="-122"/>
                <a:cs typeface="Cambria" pitchFamily="34" charset="-120"/>
              </a:rPr>
              <a:t>Nedeni basit: insanlar bir ürünü değerlendirirken onu nasıl kullanacaklarını hayal eder. Ürünü tanıdık bir kullanım durumuna yerleştiren sunum bu işi kolaylaştırır. Bulgu dijital olmayan teşhir için de geçerlidir — manken, oda kurgusu ve masa düzeni aynı ilkeyle çalışır.</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X</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Herkes için mağaza</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Erişilebilirlik bir ek değil, tasarımın ölçütlerinden biridir.</a:t>
            </a:r>
            <a:endParaRPr lang="en-US" sz="15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X · HERKES İÇİN MAĞAZA</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Dört ilke ve uygulanmış karşılıkları</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49</a:t>
            </a:r>
            <a:endParaRPr lang="en-US" sz="950" dirty="0"/>
          </a:p>
        </p:txBody>
      </p:sp>
      <p:sp>
        <p:nvSpPr>
          <p:cNvPr id="5" name="Text 3"/>
          <p:cNvSpPr txBox="1"/>
          <p:nvPr/>
        </p:nvSpPr>
        <p:spPr>
          <a:xfrm>
            <a:off x="777240" y="1627632"/>
            <a:ext cx="10634472" cy="960120"/>
          </a:xfrm>
          <a:prstGeom prst="rect">
            <a:avLst/>
          </a:prstGeom>
          <a:noFill/>
          <a:ln/>
        </p:spPr>
        <p:txBody>
          <a:bodyPr wrap="square" lIns="0" tIns="0" rIns="0" bIns="0" rtlCol="0" anchor="ctr"/>
          <a:lstStyle/>
          <a:p>
            <a:pPr indent="0" marL="0">
              <a:lnSpc>
                <a:spcPts val="2300"/>
              </a:lnSpc>
              <a:buNone/>
            </a:pPr>
            <a:r>
              <a:rPr lang="en-US" sz="1400" dirty="0">
                <a:solidFill>
                  <a:srgbClr val="2B2B31"/>
                </a:solidFill>
                <a:latin typeface="Cambria" pitchFamily="34" charset="0"/>
                <a:ea typeface="Cambria" pitchFamily="34" charset="-122"/>
                <a:cs typeface="Cambria" pitchFamily="34" charset="-120"/>
              </a:rPr>
              <a:t>Erişilebilirlik çoğu zaman rampa ve asansöre indirgenir. Oysa zorluk üreten şeylerin çoğu görünmezdir ve gruplar farklı şeylerden zorlanır: görme engelli kullanıcılar için parlama ve düşük kontrast, bilişsel engeli olanlar için ses ve duyusal yük, fiziksel engeli olanlar için dar geçit ve yoğunluk (Akyazıcı &amp; Yaşar, 2026).</a:t>
            </a:r>
            <a:endParaRPr lang="en-US" sz="1400" dirty="0"/>
          </a:p>
        </p:txBody>
      </p:sp>
      <p:sp>
        <p:nvSpPr>
          <p:cNvPr id="6" name="Shape 4"/>
          <p:cNvSpPr/>
          <p:nvPr/>
        </p:nvSpPr>
        <p:spPr>
          <a:xfrm>
            <a:off x="777240" y="2788920"/>
            <a:ext cx="2487168" cy="1737360"/>
          </a:xfrm>
          <a:prstGeom prst="rect">
            <a:avLst/>
          </a:prstGeom>
          <a:ln w="9525">
            <a:solidFill>
              <a:srgbClr val="C9C9CF"/>
            </a:solidFill>
            <a:prstDash val="solid"/>
          </a:ln>
        </p:spPr>
      </p:sp>
      <p:sp>
        <p:nvSpPr>
          <p:cNvPr id="7" name="Text 5"/>
          <p:cNvSpPr txBox="1"/>
          <p:nvPr/>
        </p:nvSpPr>
        <p:spPr>
          <a:xfrm>
            <a:off x="978408" y="2935224"/>
            <a:ext cx="548640" cy="384048"/>
          </a:xfrm>
          <a:prstGeom prst="rect">
            <a:avLst/>
          </a:prstGeom>
          <a:noFill/>
          <a:ln/>
        </p:spPr>
        <p:txBody>
          <a:bodyPr wrap="square" lIns="0" tIns="0" rIns="0" bIns="0" rtlCol="0" anchor="ctr"/>
          <a:lstStyle/>
          <a:p>
            <a:pPr indent="0" marL="0">
              <a:buNone/>
            </a:pPr>
            <a:r>
              <a:rPr lang="en-US" sz="2400" b="1" dirty="0">
                <a:solidFill>
                  <a:srgbClr val="8C3A2B"/>
                </a:solidFill>
                <a:latin typeface="Cambria" pitchFamily="34" charset="0"/>
                <a:ea typeface="Cambria" pitchFamily="34" charset="-122"/>
                <a:cs typeface="Cambria" pitchFamily="34" charset="-120"/>
              </a:rPr>
              <a:t>1</a:t>
            </a:r>
            <a:endParaRPr lang="en-US" sz="2400" dirty="0"/>
          </a:p>
        </p:txBody>
      </p:sp>
      <p:sp>
        <p:nvSpPr>
          <p:cNvPr id="8" name="Text 6"/>
          <p:cNvSpPr txBox="1"/>
          <p:nvPr/>
        </p:nvSpPr>
        <p:spPr>
          <a:xfrm>
            <a:off x="978408" y="3383280"/>
            <a:ext cx="2084832"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Anlamlı uyaran</a:t>
            </a:r>
            <a:endParaRPr lang="en-US" sz="1400" dirty="0"/>
          </a:p>
        </p:txBody>
      </p:sp>
      <p:sp>
        <p:nvSpPr>
          <p:cNvPr id="9" name="Text 7"/>
          <p:cNvSpPr txBox="1"/>
          <p:nvPr/>
        </p:nvSpPr>
        <p:spPr>
          <a:xfrm>
            <a:off x="978408" y="3721608"/>
            <a:ext cx="2084832" cy="749808"/>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Her duyusal uyaranın açık bir işlevi olmalı; gereksiz yoğunluk üretilmemeli.</a:t>
            </a:r>
            <a:endParaRPr lang="en-US" sz="1050" dirty="0"/>
          </a:p>
        </p:txBody>
      </p:sp>
      <p:sp>
        <p:nvSpPr>
          <p:cNvPr id="10" name="Shape 8"/>
          <p:cNvSpPr/>
          <p:nvPr/>
        </p:nvSpPr>
        <p:spPr>
          <a:xfrm>
            <a:off x="3493008" y="2788920"/>
            <a:ext cx="2487168" cy="1737360"/>
          </a:xfrm>
          <a:prstGeom prst="rect">
            <a:avLst/>
          </a:prstGeom>
          <a:ln w="9525">
            <a:solidFill>
              <a:srgbClr val="C9C9CF"/>
            </a:solidFill>
            <a:prstDash val="solid"/>
          </a:ln>
        </p:spPr>
      </p:sp>
      <p:sp>
        <p:nvSpPr>
          <p:cNvPr id="11" name="Text 9"/>
          <p:cNvSpPr txBox="1"/>
          <p:nvPr/>
        </p:nvSpPr>
        <p:spPr>
          <a:xfrm>
            <a:off x="3694176" y="2935224"/>
            <a:ext cx="548640" cy="384048"/>
          </a:xfrm>
          <a:prstGeom prst="rect">
            <a:avLst/>
          </a:prstGeom>
          <a:noFill/>
          <a:ln/>
        </p:spPr>
        <p:txBody>
          <a:bodyPr wrap="square" lIns="0" tIns="0" rIns="0" bIns="0" rtlCol="0" anchor="ctr"/>
          <a:lstStyle/>
          <a:p>
            <a:pPr indent="0" marL="0">
              <a:buNone/>
            </a:pPr>
            <a:r>
              <a:rPr lang="en-US" sz="2400" b="1" dirty="0">
                <a:solidFill>
                  <a:srgbClr val="8C3A2B"/>
                </a:solidFill>
                <a:latin typeface="Cambria" pitchFamily="34" charset="0"/>
                <a:ea typeface="Cambria" pitchFamily="34" charset="-122"/>
                <a:cs typeface="Cambria" pitchFamily="34" charset="-120"/>
              </a:rPr>
              <a:t>2</a:t>
            </a:r>
            <a:endParaRPr lang="en-US" sz="2400" dirty="0"/>
          </a:p>
        </p:txBody>
      </p:sp>
      <p:sp>
        <p:nvSpPr>
          <p:cNvPr id="12" name="Text 10"/>
          <p:cNvSpPr txBox="1"/>
          <p:nvPr/>
        </p:nvSpPr>
        <p:spPr>
          <a:xfrm>
            <a:off x="3694176" y="3383280"/>
            <a:ext cx="2084832"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Seçim ve kontrol</a:t>
            </a:r>
            <a:endParaRPr lang="en-US" sz="1400" dirty="0"/>
          </a:p>
        </p:txBody>
      </p:sp>
      <p:sp>
        <p:nvSpPr>
          <p:cNvPr id="13" name="Text 11"/>
          <p:cNvSpPr txBox="1"/>
          <p:nvPr/>
        </p:nvSpPr>
        <p:spPr>
          <a:xfrm>
            <a:off x="3694176" y="3721608"/>
            <a:ext cx="2084832" cy="749808"/>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Temel hizmetlere birden çok yoldan ulaşılabilmeli: sakinleştirilmiş mod, personel desteği.</a:t>
            </a:r>
            <a:endParaRPr lang="en-US" sz="1050" dirty="0"/>
          </a:p>
        </p:txBody>
      </p:sp>
      <p:sp>
        <p:nvSpPr>
          <p:cNvPr id="14" name="Shape 12"/>
          <p:cNvSpPr/>
          <p:nvPr/>
        </p:nvSpPr>
        <p:spPr>
          <a:xfrm>
            <a:off x="6208776" y="2788920"/>
            <a:ext cx="2487168" cy="1737360"/>
          </a:xfrm>
          <a:prstGeom prst="rect">
            <a:avLst/>
          </a:prstGeom>
          <a:ln w="9525">
            <a:solidFill>
              <a:srgbClr val="C9C9CF"/>
            </a:solidFill>
            <a:prstDash val="solid"/>
          </a:ln>
        </p:spPr>
      </p:sp>
      <p:sp>
        <p:nvSpPr>
          <p:cNvPr id="15" name="Text 13"/>
          <p:cNvSpPr txBox="1"/>
          <p:nvPr/>
        </p:nvSpPr>
        <p:spPr>
          <a:xfrm>
            <a:off x="6409944" y="2935224"/>
            <a:ext cx="548640" cy="384048"/>
          </a:xfrm>
          <a:prstGeom prst="rect">
            <a:avLst/>
          </a:prstGeom>
          <a:noFill/>
          <a:ln/>
        </p:spPr>
        <p:txBody>
          <a:bodyPr wrap="square" lIns="0" tIns="0" rIns="0" bIns="0" rtlCol="0" anchor="ctr"/>
          <a:lstStyle/>
          <a:p>
            <a:pPr indent="0" marL="0">
              <a:buNone/>
            </a:pPr>
            <a:r>
              <a:rPr lang="en-US" sz="2400" b="1" dirty="0">
                <a:solidFill>
                  <a:srgbClr val="8C3A2B"/>
                </a:solidFill>
                <a:latin typeface="Cambria" pitchFamily="34" charset="0"/>
                <a:ea typeface="Cambria" pitchFamily="34" charset="-122"/>
                <a:cs typeface="Cambria" pitchFamily="34" charset="-120"/>
              </a:rPr>
              <a:t>3</a:t>
            </a:r>
            <a:endParaRPr lang="en-US" sz="2400" dirty="0"/>
          </a:p>
        </p:txBody>
      </p:sp>
      <p:sp>
        <p:nvSpPr>
          <p:cNvPr id="16" name="Text 14"/>
          <p:cNvSpPr txBox="1"/>
          <p:nvPr/>
        </p:nvSpPr>
        <p:spPr>
          <a:xfrm>
            <a:off x="6409944" y="3383280"/>
            <a:ext cx="2084832"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Öngörülebilirlik</a:t>
            </a:r>
            <a:endParaRPr lang="en-US" sz="1400" dirty="0"/>
          </a:p>
        </p:txBody>
      </p:sp>
      <p:sp>
        <p:nvSpPr>
          <p:cNvPr id="17" name="Text 15"/>
          <p:cNvSpPr txBox="1"/>
          <p:nvPr/>
        </p:nvSpPr>
        <p:spPr>
          <a:xfrm>
            <a:off x="6409944" y="3721608"/>
            <a:ext cx="2084832" cy="749808"/>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Duyusal koşullar önceden bildirilmeli; sakin saatler, duyusal bölgeleme.</a:t>
            </a:r>
            <a:endParaRPr lang="en-US" sz="1050" dirty="0"/>
          </a:p>
        </p:txBody>
      </p:sp>
      <p:sp>
        <p:nvSpPr>
          <p:cNvPr id="18" name="Shape 16"/>
          <p:cNvSpPr/>
          <p:nvPr/>
        </p:nvSpPr>
        <p:spPr>
          <a:xfrm>
            <a:off x="8924544" y="2788920"/>
            <a:ext cx="2487168" cy="1737360"/>
          </a:xfrm>
          <a:prstGeom prst="rect">
            <a:avLst/>
          </a:prstGeom>
          <a:ln w="9525">
            <a:solidFill>
              <a:srgbClr val="C9C9CF"/>
            </a:solidFill>
            <a:prstDash val="solid"/>
          </a:ln>
        </p:spPr>
      </p:sp>
      <p:sp>
        <p:nvSpPr>
          <p:cNvPr id="19" name="Text 17"/>
          <p:cNvSpPr txBox="1"/>
          <p:nvPr/>
        </p:nvSpPr>
        <p:spPr>
          <a:xfrm>
            <a:off x="9125712" y="2935224"/>
            <a:ext cx="548640" cy="384048"/>
          </a:xfrm>
          <a:prstGeom prst="rect">
            <a:avLst/>
          </a:prstGeom>
          <a:noFill/>
          <a:ln/>
        </p:spPr>
        <p:txBody>
          <a:bodyPr wrap="square" lIns="0" tIns="0" rIns="0" bIns="0" rtlCol="0" anchor="ctr"/>
          <a:lstStyle/>
          <a:p>
            <a:pPr indent="0" marL="0">
              <a:buNone/>
            </a:pPr>
            <a:r>
              <a:rPr lang="en-US" sz="2400" b="1" dirty="0">
                <a:solidFill>
                  <a:srgbClr val="8C3A2B"/>
                </a:solidFill>
                <a:latin typeface="Cambria" pitchFamily="34" charset="0"/>
                <a:ea typeface="Cambria" pitchFamily="34" charset="-122"/>
                <a:cs typeface="Cambria" pitchFamily="34" charset="-120"/>
              </a:rPr>
              <a:t>4</a:t>
            </a:r>
            <a:endParaRPr lang="en-US" sz="2400" dirty="0"/>
          </a:p>
        </p:txBody>
      </p:sp>
      <p:sp>
        <p:nvSpPr>
          <p:cNvPr id="20" name="Text 18"/>
          <p:cNvSpPr txBox="1"/>
          <p:nvPr/>
        </p:nvSpPr>
        <p:spPr>
          <a:xfrm>
            <a:off x="9125712" y="3383280"/>
            <a:ext cx="2084832"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Eşdeğerlik</a:t>
            </a:r>
            <a:endParaRPr lang="en-US" sz="1400" dirty="0"/>
          </a:p>
        </p:txBody>
      </p:sp>
      <p:sp>
        <p:nvSpPr>
          <p:cNvPr id="21" name="Text 19"/>
          <p:cNvSpPr txBox="1"/>
          <p:nvPr/>
        </p:nvSpPr>
        <p:spPr>
          <a:xfrm>
            <a:off x="9125712" y="3721608"/>
            <a:ext cx="2084832" cy="749808"/>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Fiziksel ve dijital kanallar arasında hizmet eşdeğer olmalı.</a:t>
            </a:r>
            <a:endParaRPr lang="en-US" sz="1050" dirty="0"/>
          </a:p>
        </p:txBody>
      </p:sp>
      <p:sp>
        <p:nvSpPr>
          <p:cNvPr id="22" name="Text 20"/>
          <p:cNvSpPr txBox="1"/>
          <p:nvPr/>
        </p:nvSpPr>
        <p:spPr>
          <a:xfrm>
            <a:off x="777240" y="4681728"/>
            <a:ext cx="10424160" cy="274320"/>
          </a:xfrm>
          <a:prstGeom prst="rect">
            <a:avLst/>
          </a:prstGeom>
          <a:noFill/>
          <a:ln/>
        </p:spPr>
        <p:txBody>
          <a:bodyPr wrap="square" lIns="0" tIns="0" rIns="0" bIns="0" rtlCol="0" anchor="ctr"/>
          <a:lstStyle/>
          <a:p>
            <a:pPr algn="l" indent="0" marL="0">
              <a:lnSpc>
                <a:spcPts val="1200"/>
              </a:lnSpc>
              <a:buNone/>
            </a:pPr>
            <a:r>
              <a:rPr lang="en-US" sz="1000" dirty="0">
                <a:solidFill>
                  <a:srgbClr val="7A7A82"/>
                </a:solidFill>
                <a:latin typeface="Calibri" pitchFamily="34" charset="0"/>
                <a:ea typeface="Calibri" pitchFamily="34" charset="-122"/>
                <a:cs typeface="Calibri" pitchFamily="34" charset="-120"/>
              </a:rPr>
              <a:t>Tonin, Ferrara &amp; Nickel (2026) — Avrupa Erişilebilirlik Yasası temelli performans ilkeleri</a:t>
            </a:r>
            <a:endParaRPr lang="en-US" sz="1000" dirty="0"/>
          </a:p>
        </p:txBody>
      </p:sp>
      <p:sp>
        <p:nvSpPr>
          <p:cNvPr id="23" name="Text 21"/>
          <p:cNvSpPr txBox="1"/>
          <p:nvPr/>
        </p:nvSpPr>
        <p:spPr>
          <a:xfrm>
            <a:off x="777240" y="5029200"/>
            <a:ext cx="2315718"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Tesco</a:t>
            </a:r>
            <a:endParaRPr lang="en-US" sz="1350" dirty="0"/>
          </a:p>
        </p:txBody>
      </p:sp>
      <p:sp>
        <p:nvSpPr>
          <p:cNvPr id="24" name="Text 22"/>
          <p:cNvSpPr txBox="1"/>
          <p:nvPr/>
        </p:nvSpPr>
        <p:spPr>
          <a:xfrm>
            <a:off x="777240" y="5440680"/>
            <a:ext cx="2315718"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Sakin saat: belirli saatlerde müzik ve anonsların kapatılması, ışığın kısılması.</a:t>
            </a:r>
            <a:endParaRPr lang="en-US" sz="1100" dirty="0"/>
          </a:p>
        </p:txBody>
      </p:sp>
      <p:sp>
        <p:nvSpPr>
          <p:cNvPr id="25" name="Text 23"/>
          <p:cNvSpPr txBox="1"/>
          <p:nvPr/>
        </p:nvSpPr>
        <p:spPr>
          <a:xfrm>
            <a:off x="3550158" y="5029200"/>
            <a:ext cx="2315718"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Walmart</a:t>
            </a:r>
            <a:endParaRPr lang="en-US" sz="1350" dirty="0"/>
          </a:p>
        </p:txBody>
      </p:sp>
      <p:sp>
        <p:nvSpPr>
          <p:cNvPr id="26" name="Text 24"/>
          <p:cNvSpPr txBox="1"/>
          <p:nvPr/>
        </p:nvSpPr>
        <p:spPr>
          <a:xfrm>
            <a:off x="3550158" y="5440680"/>
            <a:ext cx="2315718"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Duyusal dostu saatler; aynı yaklaşımın düzenli bir protokol olarak uygulanması.</a:t>
            </a:r>
            <a:endParaRPr lang="en-US" sz="1100" dirty="0"/>
          </a:p>
        </p:txBody>
      </p:sp>
      <p:sp>
        <p:nvSpPr>
          <p:cNvPr id="27" name="Text 25"/>
          <p:cNvSpPr txBox="1"/>
          <p:nvPr/>
        </p:nvSpPr>
        <p:spPr>
          <a:xfrm>
            <a:off x="6323076" y="5029200"/>
            <a:ext cx="2315718"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IKEA</a:t>
            </a:r>
            <a:endParaRPr lang="en-US" sz="1350" dirty="0"/>
          </a:p>
        </p:txBody>
      </p:sp>
      <p:sp>
        <p:nvSpPr>
          <p:cNvPr id="28" name="Text 26"/>
          <p:cNvSpPr txBox="1"/>
          <p:nvPr/>
        </p:nvSpPr>
        <p:spPr>
          <a:xfrm>
            <a:off x="6323076" y="5440680"/>
            <a:ext cx="2315718"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Dokunsal yönlendirme ve dokunsal harita hizmeti.</a:t>
            </a:r>
            <a:endParaRPr lang="en-US" sz="1100" dirty="0"/>
          </a:p>
        </p:txBody>
      </p:sp>
      <p:sp>
        <p:nvSpPr>
          <p:cNvPr id="29" name="Text 27"/>
          <p:cNvSpPr txBox="1"/>
          <p:nvPr/>
        </p:nvSpPr>
        <p:spPr>
          <a:xfrm>
            <a:off x="9095994" y="5029200"/>
            <a:ext cx="2315718"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Mastercard</a:t>
            </a:r>
            <a:endParaRPr lang="en-US" sz="1350" dirty="0"/>
          </a:p>
        </p:txBody>
      </p:sp>
      <p:sp>
        <p:nvSpPr>
          <p:cNvPr id="30" name="Text 28"/>
          <p:cNvSpPr txBox="1"/>
          <p:nvPr/>
        </p:nvSpPr>
        <p:spPr>
          <a:xfrm>
            <a:off x="9095994" y="5440680"/>
            <a:ext cx="2315718"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Touch Card: kartta dokunsal çentik; ödeme anında bağımsızlık.</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XI</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Örnekler</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Dünyadan ve Türkiye'den okunabilir mağaza örnekleri.</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XI · ÖRNEKLER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Dünyadan</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51</a:t>
            </a:r>
            <a:endParaRPr lang="en-US" sz="950" dirty="0"/>
          </a:p>
        </p:txBody>
      </p:sp>
      <p:sp>
        <p:nvSpPr>
          <p:cNvPr id="5" name="Text 3"/>
          <p:cNvSpPr txBox="1"/>
          <p:nvPr/>
        </p:nvSpPr>
        <p:spPr>
          <a:xfrm>
            <a:off x="777240" y="1828800"/>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Prada Epicenter, New York</a:t>
            </a:r>
            <a:endParaRPr lang="en-US" sz="1350" dirty="0"/>
          </a:p>
        </p:txBody>
      </p:sp>
      <p:sp>
        <p:nvSpPr>
          <p:cNvPr id="6" name="Text 4"/>
          <p:cNvSpPr txBox="1"/>
          <p:nvPr/>
        </p:nvSpPr>
        <p:spPr>
          <a:xfrm>
            <a:off x="777240" y="2240280"/>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OMA, 2001. Satış alanını dalga biçimli ahşap zeminle sahneye dönüştüren, mağazayı kültür mekânı gibi ele alan erken örnek.</a:t>
            </a:r>
            <a:endParaRPr lang="en-US" sz="1100" dirty="0"/>
          </a:p>
        </p:txBody>
      </p:sp>
      <p:sp>
        <p:nvSpPr>
          <p:cNvPr id="7" name="Text 5"/>
          <p:cNvSpPr txBox="1"/>
          <p:nvPr/>
        </p:nvSpPr>
        <p:spPr>
          <a:xfrm>
            <a:off x="4474464" y="1828800"/>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Dover Street Market, Londra</a:t>
            </a:r>
            <a:endParaRPr lang="en-US" sz="1350" dirty="0"/>
          </a:p>
        </p:txBody>
      </p:sp>
      <p:sp>
        <p:nvSpPr>
          <p:cNvPr id="8" name="Text 6"/>
          <p:cNvSpPr txBox="1"/>
          <p:nvPr/>
        </p:nvSpPr>
        <p:spPr>
          <a:xfrm>
            <a:off x="4474464" y="2240280"/>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Markaların kendi kurdukları stantlarla bir arada bulunduğu, düzenli olarak yeniden kurulan kurgu.</a:t>
            </a:r>
            <a:endParaRPr lang="en-US" sz="1100" dirty="0"/>
          </a:p>
        </p:txBody>
      </p:sp>
      <p:sp>
        <p:nvSpPr>
          <p:cNvPr id="9" name="Text 7"/>
          <p:cNvSpPr txBox="1"/>
          <p:nvPr/>
        </p:nvSpPr>
        <p:spPr>
          <a:xfrm>
            <a:off x="8171688" y="1828800"/>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Gentle Monster, Seul</a:t>
            </a:r>
            <a:endParaRPr lang="en-US" sz="1350" dirty="0"/>
          </a:p>
        </p:txBody>
      </p:sp>
      <p:sp>
        <p:nvSpPr>
          <p:cNvPr id="10" name="Text 8"/>
          <p:cNvSpPr txBox="1"/>
          <p:nvPr/>
        </p:nvSpPr>
        <p:spPr>
          <a:xfrm>
            <a:off x="8171688" y="2240280"/>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Gözlük satan mekânı büyük ölçekli enstalasyonlarla kuran, ürünü neredeyse arka plana iten yaklaşım.</a:t>
            </a:r>
            <a:endParaRPr lang="en-US" sz="1100" dirty="0"/>
          </a:p>
        </p:txBody>
      </p:sp>
      <p:sp>
        <p:nvSpPr>
          <p:cNvPr id="11" name="Text 9"/>
          <p:cNvSpPr txBox="1"/>
          <p:nvPr/>
        </p:nvSpPr>
        <p:spPr>
          <a:xfrm>
            <a:off x="777240" y="294436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Aesop</a:t>
            </a:r>
            <a:endParaRPr lang="en-US" sz="1350" dirty="0"/>
          </a:p>
        </p:txBody>
      </p:sp>
      <p:sp>
        <p:nvSpPr>
          <p:cNvPr id="12" name="Text 10"/>
          <p:cNvSpPr txBox="1"/>
          <p:nvPr/>
        </p:nvSpPr>
        <p:spPr>
          <a:xfrm>
            <a:off x="777240" y="335584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Her mağazanın yerel bir tasarımcı ve yerel malzemeyle kurulması; tek bir mağaza tipinin olmaması.</a:t>
            </a:r>
            <a:endParaRPr lang="en-US" sz="1100" dirty="0"/>
          </a:p>
        </p:txBody>
      </p:sp>
      <p:sp>
        <p:nvSpPr>
          <p:cNvPr id="13" name="Text 11"/>
          <p:cNvSpPr txBox="1"/>
          <p:nvPr/>
        </p:nvSpPr>
        <p:spPr>
          <a:xfrm>
            <a:off x="4474464" y="294436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Muji</a:t>
            </a:r>
            <a:endParaRPr lang="en-US" sz="1350" dirty="0"/>
          </a:p>
        </p:txBody>
      </p:sp>
      <p:sp>
        <p:nvSpPr>
          <p:cNvPr id="14" name="Text 12"/>
          <p:cNvSpPr txBox="1"/>
          <p:nvPr/>
        </p:nvSpPr>
        <p:spPr>
          <a:xfrm>
            <a:off x="4474464" y="335584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Malzeme, ışık ve ürün dilinin tek bir sadelik fikrinde buluşması.</a:t>
            </a:r>
            <a:endParaRPr lang="en-US" sz="1100" dirty="0"/>
          </a:p>
        </p:txBody>
      </p:sp>
      <p:sp>
        <p:nvSpPr>
          <p:cNvPr id="15" name="Text 13"/>
          <p:cNvSpPr txBox="1"/>
          <p:nvPr/>
        </p:nvSpPr>
        <p:spPr>
          <a:xfrm>
            <a:off x="8171688" y="294436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Apple Store</a:t>
            </a:r>
            <a:endParaRPr lang="en-US" sz="1350" dirty="0"/>
          </a:p>
        </p:txBody>
      </p:sp>
      <p:sp>
        <p:nvSpPr>
          <p:cNvPr id="16" name="Text 14"/>
          <p:cNvSpPr txBox="1"/>
          <p:nvPr/>
        </p:nvSpPr>
        <p:spPr>
          <a:xfrm>
            <a:off x="8171688" y="335584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Şeffaflık, gün ışığı ve ürünün dokunmaya açık sunumu; teşhirin neredeyse kaldırılması.</a:t>
            </a:r>
            <a:endParaRPr lang="en-US" sz="1100" dirty="0"/>
          </a:p>
        </p:txBody>
      </p:sp>
      <p:sp>
        <p:nvSpPr>
          <p:cNvPr id="17" name="Text 15"/>
          <p:cNvSpPr txBox="1"/>
          <p:nvPr/>
        </p:nvSpPr>
        <p:spPr>
          <a:xfrm>
            <a:off x="777240" y="4069080"/>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Duyusal kimliğin ürün kararından doğduğu iki örnek</a:t>
            </a:r>
            <a:endParaRPr lang="en-US" sz="900" dirty="0"/>
          </a:p>
        </p:txBody>
      </p:sp>
      <p:sp>
        <p:nvSpPr>
          <p:cNvPr id="18" name="Text 16"/>
          <p:cNvSpPr txBox="1"/>
          <p:nvPr/>
        </p:nvSpPr>
        <p:spPr>
          <a:xfrm>
            <a:off x="777240" y="4370832"/>
            <a:ext cx="5088636"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Lush</a:t>
            </a:r>
            <a:endParaRPr lang="en-US" sz="1350" dirty="0"/>
          </a:p>
        </p:txBody>
      </p:sp>
      <p:sp>
        <p:nvSpPr>
          <p:cNvPr id="19" name="Text 17"/>
          <p:cNvSpPr txBox="1"/>
          <p:nvPr/>
        </p:nvSpPr>
        <p:spPr>
          <a:xfrm>
            <a:off x="777240" y="4782312"/>
            <a:ext cx="5088636"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Ambalajın kaldırılmasıyla kokunun mekânın ana malzemesi hâline gelmesi.</a:t>
            </a:r>
            <a:endParaRPr lang="en-US" sz="1100" dirty="0"/>
          </a:p>
        </p:txBody>
      </p:sp>
      <p:sp>
        <p:nvSpPr>
          <p:cNvPr id="20" name="Text 18"/>
          <p:cNvSpPr txBox="1"/>
          <p:nvPr/>
        </p:nvSpPr>
        <p:spPr>
          <a:xfrm>
            <a:off x="6323076" y="4370832"/>
            <a:ext cx="5088636"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Camper</a:t>
            </a:r>
            <a:endParaRPr lang="en-US" sz="1350" dirty="0"/>
          </a:p>
        </p:txBody>
      </p:sp>
      <p:sp>
        <p:nvSpPr>
          <p:cNvPr id="21" name="Text 19"/>
          <p:cNvSpPr txBox="1"/>
          <p:nvPr/>
        </p:nvSpPr>
        <p:spPr>
          <a:xfrm>
            <a:off x="6323076" y="4782312"/>
            <a:ext cx="5088636"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Mağazaların farklı tasarımcılara açılması; kurumsal şablon yerine çoğulluk.</a:t>
            </a:r>
            <a:endParaRPr lang="en-US" sz="1100" dirty="0"/>
          </a:p>
        </p:txBody>
      </p:sp>
      <p:sp>
        <p:nvSpPr>
          <p:cNvPr id="22" name="Text 20"/>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Her marka için birer iç mekân fotoğrafı yeterli; Prada Epicenter'ın dalga zemini ve Gentle Monster'ın enstalasyonları en çarpıcı görseller.</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XI · ÖRNEKLER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Türkiye'den</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52</a:t>
            </a:r>
            <a:endParaRPr lang="en-US" sz="950" dirty="0"/>
          </a:p>
        </p:txBody>
      </p:sp>
      <p:sp>
        <p:nvSpPr>
          <p:cNvPr id="5" name="Text 3"/>
          <p:cNvSpPr txBox="1"/>
          <p:nvPr/>
        </p:nvSpPr>
        <p:spPr>
          <a:xfrm>
            <a:off x="777240" y="1828800"/>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Kapalı Çarşı ve Mısır Çarşısı</a:t>
            </a:r>
            <a:endParaRPr lang="en-US" sz="1350" dirty="0"/>
          </a:p>
        </p:txBody>
      </p:sp>
      <p:sp>
        <p:nvSpPr>
          <p:cNvPr id="6" name="Text 4"/>
          <p:cNvSpPr txBox="1"/>
          <p:nvPr/>
        </p:nvSpPr>
        <p:spPr>
          <a:xfrm>
            <a:off x="777240" y="2240280"/>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Bedesten, arasta ve han tiplerinin zamanla birbirine eklenmesiyle oluşan, hâlâ çalışan bir ticaret örgüsü.</a:t>
            </a:r>
            <a:endParaRPr lang="en-US" sz="1100" dirty="0"/>
          </a:p>
        </p:txBody>
      </p:sp>
      <p:sp>
        <p:nvSpPr>
          <p:cNvPr id="7" name="Text 5"/>
          <p:cNvSpPr txBox="1"/>
          <p:nvPr/>
        </p:nvSpPr>
        <p:spPr>
          <a:xfrm>
            <a:off x="4474464" y="1828800"/>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Beyoğlu pasajları</a:t>
            </a:r>
            <a:endParaRPr lang="en-US" sz="1350" dirty="0"/>
          </a:p>
        </p:txBody>
      </p:sp>
      <p:sp>
        <p:nvSpPr>
          <p:cNvPr id="8" name="Text 6"/>
          <p:cNvSpPr txBox="1"/>
          <p:nvPr/>
        </p:nvSpPr>
        <p:spPr>
          <a:xfrm>
            <a:off x="4474464" y="2240280"/>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Çiçek Pasajı, Hazzopulo, Atlas — on dokuzuncu yüzyıl pasajının yerel yorumları; sokakla iç mekân arası tipoloji.</a:t>
            </a:r>
            <a:endParaRPr lang="en-US" sz="1100" dirty="0"/>
          </a:p>
        </p:txBody>
      </p:sp>
      <p:sp>
        <p:nvSpPr>
          <p:cNvPr id="9" name="Text 7"/>
          <p:cNvSpPr txBox="1"/>
          <p:nvPr/>
        </p:nvSpPr>
        <p:spPr>
          <a:xfrm>
            <a:off x="8171688" y="1828800"/>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Arasta ve bedestenler</a:t>
            </a:r>
            <a:endParaRPr lang="en-US" sz="1350" dirty="0"/>
          </a:p>
        </p:txBody>
      </p:sp>
      <p:sp>
        <p:nvSpPr>
          <p:cNvPr id="10" name="Text 8"/>
          <p:cNvSpPr txBox="1"/>
          <p:nvPr/>
        </p:nvSpPr>
        <p:spPr>
          <a:xfrm>
            <a:off x="8171688" y="2240280"/>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Bursa, Edirne, Antalya — ışığı ve ritmi üstten kurgulanan örtülü ticaret sokağı.</a:t>
            </a:r>
            <a:endParaRPr lang="en-US" sz="1100" dirty="0"/>
          </a:p>
        </p:txBody>
      </p:sp>
      <p:sp>
        <p:nvSpPr>
          <p:cNvPr id="11" name="Text 9"/>
          <p:cNvSpPr txBox="1"/>
          <p:nvPr/>
        </p:nvSpPr>
        <p:spPr>
          <a:xfrm>
            <a:off x="777240" y="4069080"/>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Güncel mağaza tasarımı</a:t>
            </a:r>
            <a:endParaRPr lang="en-US" sz="900" dirty="0"/>
          </a:p>
        </p:txBody>
      </p:sp>
      <p:sp>
        <p:nvSpPr>
          <p:cNvPr id="12" name="Text 10"/>
          <p:cNvSpPr txBox="1"/>
          <p:nvPr/>
        </p:nvSpPr>
        <p:spPr>
          <a:xfrm>
            <a:off x="777240" y="4370832"/>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Vakko Fashion Center</a:t>
            </a:r>
            <a:endParaRPr lang="en-US" sz="1350" dirty="0"/>
          </a:p>
        </p:txBody>
      </p:sp>
      <p:sp>
        <p:nvSpPr>
          <p:cNvPr id="13" name="Text 11"/>
          <p:cNvSpPr txBox="1"/>
          <p:nvPr/>
        </p:nvSpPr>
        <p:spPr>
          <a:xfrm>
            <a:off x="777240" y="4782312"/>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REX, 2010. Marka merkezi ile mağaza deneyimini birleştiren, cam kutu strüktürüyle tanınan yapı.</a:t>
            </a:r>
            <a:endParaRPr lang="en-US" sz="1100" dirty="0"/>
          </a:p>
        </p:txBody>
      </p:sp>
      <p:sp>
        <p:nvSpPr>
          <p:cNvPr id="14" name="Text 12"/>
          <p:cNvSpPr txBox="1"/>
          <p:nvPr/>
        </p:nvSpPr>
        <p:spPr>
          <a:xfrm>
            <a:off x="4474464" y="4370832"/>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Armaggan, Nuruosmaniye</a:t>
            </a:r>
            <a:endParaRPr lang="en-US" sz="1350" dirty="0"/>
          </a:p>
        </p:txBody>
      </p:sp>
      <p:sp>
        <p:nvSpPr>
          <p:cNvPr id="15" name="Text 13"/>
          <p:cNvSpPr txBox="1"/>
          <p:nvPr/>
        </p:nvSpPr>
        <p:spPr>
          <a:xfrm>
            <a:off x="4474464" y="4782312"/>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Türk zanaatını çok katlı bir mekânda sergi ile satış arasında konumlandıran güçlü teşhir dili.</a:t>
            </a:r>
            <a:endParaRPr lang="en-US" sz="1100" dirty="0"/>
          </a:p>
        </p:txBody>
      </p:sp>
      <p:sp>
        <p:nvSpPr>
          <p:cNvPr id="16" name="Text 14"/>
          <p:cNvSpPr txBox="1"/>
          <p:nvPr/>
        </p:nvSpPr>
        <p:spPr>
          <a:xfrm>
            <a:off x="8171688" y="4370832"/>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Bağımsız butikler</a:t>
            </a:r>
            <a:endParaRPr lang="en-US" sz="1350" dirty="0"/>
          </a:p>
        </p:txBody>
      </p:sp>
      <p:sp>
        <p:nvSpPr>
          <p:cNvPr id="17" name="Text 15"/>
          <p:cNvSpPr txBox="1"/>
          <p:nvPr/>
        </p:nvSpPr>
        <p:spPr>
          <a:xfrm>
            <a:off x="8171688" y="4782312"/>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Karaköy, Çukurcuma, Alaçatı — küçük ölçekli, yerel malzemeli, çoğu zaman tek mekânlık tasarımlar.</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914400"/>
            <a:ext cx="9601200" cy="640080"/>
          </a:xfrm>
          <a:prstGeom prst="rect">
            <a:avLst/>
          </a:prstGeom>
          <a:noFill/>
          <a:ln/>
        </p:spPr>
        <p:txBody>
          <a:bodyPr wrap="square" lIns="0" tIns="0" rIns="0" bIns="0" rtlCol="0" anchor="ctr"/>
          <a:lstStyle/>
          <a:p>
            <a:pPr indent="0" marL="0">
              <a:buNone/>
            </a:pPr>
            <a:r>
              <a:rPr lang="en-US" sz="3000" b="1" dirty="0">
                <a:solidFill>
                  <a:srgbClr val="8C3A2B"/>
                </a:solidFill>
                <a:latin typeface="Cambria" pitchFamily="34" charset="0"/>
                <a:ea typeface="Cambria" pitchFamily="34" charset="-122"/>
                <a:cs typeface="Cambria" pitchFamily="34" charset="-120"/>
              </a:rPr>
              <a:t>Toparlarsak</a:t>
            </a:r>
            <a:endParaRPr lang="en-US" sz="3000" dirty="0"/>
          </a:p>
        </p:txBody>
      </p:sp>
      <p:sp>
        <p:nvSpPr>
          <p:cNvPr id="3" name="Text 1"/>
          <p:cNvSpPr txBox="1"/>
          <p:nvPr/>
        </p:nvSpPr>
        <p:spPr>
          <a:xfrm>
            <a:off x="777240" y="1783080"/>
            <a:ext cx="10424160" cy="4297680"/>
          </a:xfrm>
          <a:prstGeom prst="rect">
            <a:avLst/>
          </a:prstGeom>
          <a:noFill/>
          <a:ln/>
        </p:spPr>
        <p:txBody>
          <a:bodyPr wrap="square" lIns="0" tIns="0" rIns="0" bIns="0" rtlCol="0" anchor="ctr"/>
          <a:lstStyle/>
          <a:p>
            <a:pPr indent="0" marL="0">
              <a:lnSpc>
                <a:spcPts val="2700"/>
              </a:lnSpc>
              <a:buNone/>
            </a:pPr>
            <a:r>
              <a:rPr lang="en-US" sz="1600" dirty="0">
                <a:solidFill>
                  <a:srgbClr val="E8E8EC"/>
                </a:solidFill>
                <a:latin typeface="Cambria" pitchFamily="34" charset="0"/>
                <a:ea typeface="Cambria" pitchFamily="34" charset="-122"/>
                <a:cs typeface="Cambria" pitchFamily="34" charset="-120"/>
              </a:rPr>
              <a:t>Mağaza tasarımı, bir markanın ne olduğunu anlayıp onu insanların bedeniyle karşılaşacağı bir mekâna çevirme işidir.</a:t>
            </a:r>
            <a:endParaRPr lang="en-US" sz="1600" dirty="0"/>
          </a:p>
          <a:p>
            <a:pPr indent="0" marL="0">
              <a:lnSpc>
                <a:spcPts val="2700"/>
              </a:lnSpc>
              <a:buNone/>
            </a:pPr>
            <a:endParaRPr lang="en-US" sz="1600" dirty="0"/>
          </a:p>
          <a:p>
            <a:pPr indent="0" marL="0">
              <a:lnSpc>
                <a:spcPts val="2700"/>
              </a:lnSpc>
              <a:buNone/>
            </a:pPr>
            <a:r>
              <a:rPr lang="en-US" sz="1600" dirty="0">
                <a:solidFill>
                  <a:srgbClr val="E8E8EC"/>
                </a:solidFill>
                <a:latin typeface="Cambria" pitchFamily="34" charset="0"/>
                <a:ea typeface="Cambria" pitchFamily="34" charset="-122"/>
                <a:cs typeface="Cambria" pitchFamily="34" charset="-120"/>
              </a:rPr>
              <a:t>Bu çeviri gözle sınırlı değildir. Işık, malzeme, ses, koku ve mekânın bedene verdiği hisler birlikte çalışır ve ancak birbiriyle uyumlu olduklarında bir anlam üretirler.</a:t>
            </a:r>
            <a:endParaRPr lang="en-US" sz="1600" dirty="0"/>
          </a:p>
          <a:p>
            <a:pPr indent="0" marL="0">
              <a:lnSpc>
                <a:spcPts val="2700"/>
              </a:lnSpc>
              <a:buNone/>
            </a:pPr>
            <a:endParaRPr lang="en-US" sz="1600" dirty="0"/>
          </a:p>
          <a:p>
            <a:pPr indent="0" marL="0">
              <a:lnSpc>
                <a:spcPts val="2700"/>
              </a:lnSpc>
              <a:buNone/>
            </a:pPr>
            <a:r>
              <a:rPr lang="en-US" sz="1600" dirty="0">
                <a:solidFill>
                  <a:srgbClr val="E8E8EC"/>
                </a:solidFill>
                <a:latin typeface="Cambria" pitchFamily="34" charset="0"/>
                <a:ea typeface="Cambria" pitchFamily="34" charset="-122"/>
                <a:cs typeface="Cambria" pitchFamily="34" charset="-120"/>
              </a:rPr>
              <a:t>Duyusal tasarım bir süsleme katmanı değil, mekânın işleyen bir parçasıdır. Her uyaranın bir gerekçesi olmalıdır — çünkü gerekçesi olmayan uyaran, birileri için engeldir.</a:t>
            </a:r>
            <a:endParaRPr lang="en-US" sz="1600" dirty="0"/>
          </a:p>
          <a:p>
            <a:pPr indent="0" marL="0">
              <a:lnSpc>
                <a:spcPts val="2700"/>
              </a:lnSpc>
              <a:buNone/>
            </a:pPr>
            <a:endParaRPr lang="en-US" sz="1600" dirty="0"/>
          </a:p>
          <a:p>
            <a:pPr indent="0" marL="0">
              <a:lnSpc>
                <a:spcPts val="2700"/>
              </a:lnSpc>
              <a:buNone/>
            </a:pPr>
            <a:r>
              <a:rPr lang="en-US" sz="1600" dirty="0">
                <a:solidFill>
                  <a:srgbClr val="E8E8EC"/>
                </a:solidFill>
                <a:latin typeface="Cambria" pitchFamily="34" charset="0"/>
                <a:ea typeface="Cambria" pitchFamily="34" charset="-122"/>
                <a:cs typeface="Cambria" pitchFamily="34" charset="-120"/>
              </a:rPr>
              <a:t>Ve iyi bir mağaza yalnızca müşterinin gördüğü yer değildir. Çalışanın günü, deponun rotası ve herkesin erişebilirliği de aynı tasarımın parçasıdır.</a:t>
            </a:r>
            <a:endParaRPr lang="en-US" sz="16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KAYNAKÇA</a:t>
            </a:r>
            <a:endParaRPr lang="en-US" sz="950" dirty="0"/>
          </a:p>
        </p:txBody>
      </p:sp>
      <p:sp>
        <p:nvSpPr>
          <p:cNvPr id="3" name="Text 1"/>
          <p:cNvSpPr txBox="1"/>
          <p:nvPr/>
        </p:nvSpPr>
        <p:spPr>
          <a:xfrm>
            <a:off x="777240" y="822960"/>
            <a:ext cx="10241280" cy="548640"/>
          </a:xfrm>
          <a:prstGeom prst="rect">
            <a:avLst/>
          </a:prstGeom>
          <a:noFill/>
          <a:ln/>
        </p:spPr>
        <p:txBody>
          <a:bodyPr wrap="square" lIns="0" tIns="0" rIns="0" bIns="0" rtlCol="0" anchor="ctr"/>
          <a:lstStyle/>
          <a:p>
            <a:pPr indent="0" marL="0">
              <a:buNone/>
            </a:pPr>
            <a:r>
              <a:rPr lang="en-US" sz="2600" b="1" dirty="0">
                <a:solidFill>
                  <a:srgbClr val="16161A"/>
                </a:solidFill>
                <a:latin typeface="Cambria" pitchFamily="34" charset="0"/>
                <a:ea typeface="Cambria" pitchFamily="34" charset="-122"/>
                <a:cs typeface="Cambria" pitchFamily="34" charset="-120"/>
              </a:rPr>
              <a:t>Güncel araştırmalar</a:t>
            </a:r>
            <a:endParaRPr lang="en-US" sz="2600" dirty="0"/>
          </a:p>
        </p:txBody>
      </p:sp>
      <p:sp>
        <p:nvSpPr>
          <p:cNvPr id="4" name="Text 2"/>
          <p:cNvSpPr txBox="1"/>
          <p:nvPr/>
        </p:nvSpPr>
        <p:spPr>
          <a:xfrm>
            <a:off x="777240"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Akyazıcı, A. O. &amp; Yaşar, D. (2026). Disability-Specific Spatial Friction in Department Store Interiors: A Mixed-Methods Study of Inclusive Retail Design. Buildings, 16(12), 2405.</a:t>
            </a:r>
            <a:endParaRPr lang="en-US" sz="1050" dirty="0"/>
          </a:p>
        </p:txBody>
      </p:sp>
      <p:sp>
        <p:nvSpPr>
          <p:cNvPr id="5" name="Text 3"/>
          <p:cNvSpPr txBox="1"/>
          <p:nvPr/>
        </p:nvSpPr>
        <p:spPr>
          <a:xfrm>
            <a:off x="777240"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Ishaq, M. I., Raza, A., Haider, A., Goudarzi, K. &amp; Talpur, Q. (2026). Immersive Retail Technologies and Customer Experiences: A Multi-Study Experimental Design. Psychology &amp; Marketing.</a:t>
            </a:r>
            <a:endParaRPr lang="en-US" sz="1050" dirty="0"/>
          </a:p>
        </p:txBody>
      </p:sp>
      <p:sp>
        <p:nvSpPr>
          <p:cNvPr id="6" name="Text 4"/>
          <p:cNvSpPr txBox="1"/>
          <p:nvPr/>
        </p:nvSpPr>
        <p:spPr>
          <a:xfrm>
            <a:off x="777240"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Ratnayake, J. C., Jayasuriya, N., Suraweera, T. &amp; De Silva, L. (2026). Integrating Industry 4.0 and 5.0 Technologies in Luxury Fashion Retail Interiors. Social Sciences &amp; Humanities Open, 13, 102798.</a:t>
            </a:r>
            <a:endParaRPr lang="en-US" sz="1050" dirty="0"/>
          </a:p>
        </p:txBody>
      </p:sp>
      <p:sp>
        <p:nvSpPr>
          <p:cNvPr id="7" name="Text 5"/>
          <p:cNvSpPr txBox="1"/>
          <p:nvPr/>
        </p:nvSpPr>
        <p:spPr>
          <a:xfrm>
            <a:off x="6382512"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Tonin, P. E., Ferrara, M. &amp; Nickel, E. (2026). Inclusive Sensory Design in Phygital Retail: Regulatory Guidelines Bridging Accessibility and Brand Experience. IntechOpen.</a:t>
            </a:r>
            <a:endParaRPr lang="en-US" sz="1050" dirty="0"/>
          </a:p>
        </p:txBody>
      </p:sp>
      <p:sp>
        <p:nvSpPr>
          <p:cNvPr id="8" name="Text 6"/>
          <p:cNvSpPr txBox="1"/>
          <p:nvPr/>
        </p:nvSpPr>
        <p:spPr>
          <a:xfrm>
            <a:off x="6382512"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Xi, C. &amp; Idris, M. Z. (2026). Omnichannel Fashion Retail Experience Design Informed by Brand Personality. Textile &amp; Leather Review, 9, 1053–1119.</a:t>
            </a:r>
            <a:endParaRPr lang="en-US" sz="1050" dirty="0"/>
          </a:p>
        </p:txBody>
      </p:sp>
      <p:sp>
        <p:nvSpPr>
          <p:cNvPr id="9" name="Text 7"/>
          <p:cNvSpPr txBox="1"/>
          <p:nvPr/>
        </p:nvSpPr>
        <p:spPr>
          <a:xfrm>
            <a:off x="6382512"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Quartier, K., Claes, S. &amp; Vanrie, J. (2020). A Holistic Competence Framework for (Future) Retail Design and Retail Design Education. Journal of Retailing and Consumer Services.</a:t>
            </a:r>
            <a:endParaRPr lang="en-US" sz="1050" dirty="0"/>
          </a:p>
        </p:txBody>
      </p:sp>
      <p:sp>
        <p:nvSpPr>
          <p:cNvPr id="10" name="Text 8"/>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54</a:t>
            </a:r>
            <a:endParaRPr lang="en-US" sz="9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KAYNAKÇA</a:t>
            </a:r>
            <a:endParaRPr lang="en-US" sz="950" dirty="0"/>
          </a:p>
        </p:txBody>
      </p:sp>
      <p:sp>
        <p:nvSpPr>
          <p:cNvPr id="3" name="Text 1"/>
          <p:cNvSpPr txBox="1"/>
          <p:nvPr/>
        </p:nvSpPr>
        <p:spPr>
          <a:xfrm>
            <a:off x="777240" y="822960"/>
            <a:ext cx="10241280" cy="548640"/>
          </a:xfrm>
          <a:prstGeom prst="rect">
            <a:avLst/>
          </a:prstGeom>
          <a:noFill/>
          <a:ln/>
        </p:spPr>
        <p:txBody>
          <a:bodyPr wrap="square" lIns="0" tIns="0" rIns="0" bIns="0" rtlCol="0" anchor="ctr"/>
          <a:lstStyle/>
          <a:p>
            <a:pPr indent="0" marL="0">
              <a:buNone/>
            </a:pPr>
            <a:r>
              <a:rPr lang="en-US" sz="2600" b="1" dirty="0">
                <a:solidFill>
                  <a:srgbClr val="16161A"/>
                </a:solidFill>
                <a:latin typeface="Cambria" pitchFamily="34" charset="0"/>
                <a:ea typeface="Cambria" pitchFamily="34" charset="-122"/>
                <a:cs typeface="Cambria" pitchFamily="34" charset="-120"/>
              </a:rPr>
              <a:t>Temel kaynaklar</a:t>
            </a:r>
            <a:endParaRPr lang="en-US" sz="2600" dirty="0"/>
          </a:p>
        </p:txBody>
      </p:sp>
      <p:sp>
        <p:nvSpPr>
          <p:cNvPr id="4" name="Text 2"/>
          <p:cNvSpPr txBox="1"/>
          <p:nvPr/>
        </p:nvSpPr>
        <p:spPr>
          <a:xfrm>
            <a:off x="777240"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Bitner, M. J. (1992). Servicescapes: The Impact of Physical Surroundings on Customers and Employees. Journal of Marketing, 56(2), 57–71.</a:t>
            </a:r>
            <a:endParaRPr lang="en-US" sz="1050" dirty="0"/>
          </a:p>
        </p:txBody>
      </p:sp>
      <p:sp>
        <p:nvSpPr>
          <p:cNvPr id="5" name="Text 3"/>
          <p:cNvSpPr txBox="1"/>
          <p:nvPr/>
        </p:nvSpPr>
        <p:spPr>
          <a:xfrm>
            <a:off x="777240"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Cezar, M. (1983). Tipik Yapılarıyla Osmanlı Şehirciliğinde Çarşı ve Klasik Dönem İmar Sistemi. Mimar Sinan Üniversitesi Yayınları.</a:t>
            </a:r>
            <a:endParaRPr lang="en-US" sz="1050" dirty="0"/>
          </a:p>
        </p:txBody>
      </p:sp>
      <p:sp>
        <p:nvSpPr>
          <p:cNvPr id="6" name="Text 4"/>
          <p:cNvSpPr txBox="1"/>
          <p:nvPr/>
        </p:nvSpPr>
        <p:spPr>
          <a:xfrm>
            <a:off x="777240"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Klanten, R., Ehmann, S. &amp; Borges, S. (Eds.) (2013). Brand Spaces: Branded Architecture and the Future of Retail Design. Gestalten.</a:t>
            </a:r>
            <a:endParaRPr lang="en-US" sz="1050" dirty="0"/>
          </a:p>
        </p:txBody>
      </p:sp>
      <p:sp>
        <p:nvSpPr>
          <p:cNvPr id="7" name="Text 5"/>
          <p:cNvSpPr txBox="1"/>
          <p:nvPr/>
        </p:nvSpPr>
        <p:spPr>
          <a:xfrm>
            <a:off x="777240" y="4462272"/>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Kotler, P. (1973). Atmospherics as a Marketing Tool. Journal of Retailing, 49(4), 48–64.</a:t>
            </a:r>
            <a:endParaRPr lang="en-US" sz="1050" dirty="0"/>
          </a:p>
        </p:txBody>
      </p:sp>
      <p:sp>
        <p:nvSpPr>
          <p:cNvPr id="8" name="Text 6"/>
          <p:cNvSpPr txBox="1"/>
          <p:nvPr/>
        </p:nvSpPr>
        <p:spPr>
          <a:xfrm>
            <a:off x="6382512"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Krishna, A. (2012). An Integrative Review of Sensory Marketing. Journal of Consumer Psychology, 22(3), 332–351.</a:t>
            </a:r>
            <a:endParaRPr lang="en-US" sz="1050" dirty="0"/>
          </a:p>
        </p:txBody>
      </p:sp>
      <p:sp>
        <p:nvSpPr>
          <p:cNvPr id="9" name="Text 7"/>
          <p:cNvSpPr txBox="1"/>
          <p:nvPr/>
        </p:nvSpPr>
        <p:spPr>
          <a:xfrm>
            <a:off x="6382512"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Lemon, K. N. &amp; Verhoef, P. C. (2016). Understanding Customer Experience Throughout the Customer Journey. Journal of Marketing, 80(6), 69–96.</a:t>
            </a:r>
            <a:endParaRPr lang="en-US" sz="1050" dirty="0"/>
          </a:p>
        </p:txBody>
      </p:sp>
      <p:sp>
        <p:nvSpPr>
          <p:cNvPr id="10" name="Text 8"/>
          <p:cNvSpPr txBox="1"/>
          <p:nvPr/>
        </p:nvSpPr>
        <p:spPr>
          <a:xfrm>
            <a:off x="6382512"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Mehrabian, A. &amp; Russell, J. A. (1974). An Approach to Environmental Psychology. MIT Press.</a:t>
            </a:r>
            <a:endParaRPr lang="en-US" sz="1050" dirty="0"/>
          </a:p>
        </p:txBody>
      </p:sp>
      <p:sp>
        <p:nvSpPr>
          <p:cNvPr id="11" name="Text 9"/>
          <p:cNvSpPr txBox="1"/>
          <p:nvPr/>
        </p:nvSpPr>
        <p:spPr>
          <a:xfrm>
            <a:off x="6382512" y="4462272"/>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Mesher, L. (2010). Basics Interior Design: Retail Design. AVA Publishing.</a:t>
            </a:r>
            <a:endParaRPr lang="en-US" sz="1050" dirty="0"/>
          </a:p>
        </p:txBody>
      </p:sp>
      <p:sp>
        <p:nvSpPr>
          <p:cNvPr id="12" name="Text 10"/>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55</a:t>
            </a:r>
            <a:endParaRPr lang="en-US" sz="9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KAYNAKÇA</a:t>
            </a:r>
            <a:endParaRPr lang="en-US" sz="950" dirty="0"/>
          </a:p>
        </p:txBody>
      </p:sp>
      <p:sp>
        <p:nvSpPr>
          <p:cNvPr id="3" name="Text 1"/>
          <p:cNvSpPr txBox="1"/>
          <p:nvPr/>
        </p:nvSpPr>
        <p:spPr>
          <a:xfrm>
            <a:off x="777240" y="822960"/>
            <a:ext cx="10241280" cy="548640"/>
          </a:xfrm>
          <a:prstGeom prst="rect">
            <a:avLst/>
          </a:prstGeom>
          <a:noFill/>
          <a:ln/>
        </p:spPr>
        <p:txBody>
          <a:bodyPr wrap="square" lIns="0" tIns="0" rIns="0" bIns="0" rtlCol="0" anchor="ctr"/>
          <a:lstStyle/>
          <a:p>
            <a:pPr indent="0" marL="0">
              <a:buNone/>
            </a:pPr>
            <a:r>
              <a:rPr lang="en-US" sz="2600" b="1" dirty="0">
                <a:solidFill>
                  <a:srgbClr val="16161A"/>
                </a:solidFill>
                <a:latin typeface="Cambria" pitchFamily="34" charset="0"/>
                <a:ea typeface="Cambria" pitchFamily="34" charset="-122"/>
                <a:cs typeface="Cambria" pitchFamily="34" charset="-120"/>
              </a:rPr>
              <a:t>Temel kaynaklar (devamı)</a:t>
            </a:r>
            <a:endParaRPr lang="en-US" sz="2600" dirty="0"/>
          </a:p>
        </p:txBody>
      </p:sp>
      <p:sp>
        <p:nvSpPr>
          <p:cNvPr id="4" name="Text 2"/>
          <p:cNvSpPr txBox="1"/>
          <p:nvPr/>
        </p:nvSpPr>
        <p:spPr>
          <a:xfrm>
            <a:off x="777240"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Pallasmaa, J. (2005). The Eyes of the Skin: Architecture and the Senses. Wiley. [Türkçesi: Tenin Gözleri, YEM Yayın]</a:t>
            </a:r>
            <a:endParaRPr lang="en-US" sz="1050" dirty="0"/>
          </a:p>
        </p:txBody>
      </p:sp>
      <p:sp>
        <p:nvSpPr>
          <p:cNvPr id="5" name="Text 3"/>
          <p:cNvSpPr txBox="1"/>
          <p:nvPr/>
        </p:nvSpPr>
        <p:spPr>
          <a:xfrm>
            <a:off x="777240"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Petermans, A. &amp; Van Cleempoel, K. (2009). Retail Design: Lighting as a Design Tool for the Retail Environment.</a:t>
            </a:r>
            <a:endParaRPr lang="en-US" sz="1050" dirty="0"/>
          </a:p>
        </p:txBody>
      </p:sp>
      <p:sp>
        <p:nvSpPr>
          <p:cNvPr id="6" name="Text 4"/>
          <p:cNvSpPr txBox="1"/>
          <p:nvPr/>
        </p:nvSpPr>
        <p:spPr>
          <a:xfrm>
            <a:off x="777240"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Pine, B. J. &amp; Gilmore, J. H. (1998). Welcome to the Experience Economy. Harvard Business Review, 76(4), 97–105.</a:t>
            </a:r>
            <a:endParaRPr lang="en-US" sz="1050" dirty="0"/>
          </a:p>
        </p:txBody>
      </p:sp>
      <p:sp>
        <p:nvSpPr>
          <p:cNvPr id="7" name="Text 5"/>
          <p:cNvSpPr txBox="1"/>
          <p:nvPr/>
        </p:nvSpPr>
        <p:spPr>
          <a:xfrm>
            <a:off x="777240" y="4462272"/>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Quartier, K., Petermans, A., Melewar, T. C. &amp; Dennis, C. (Eds.) (2021). The Value of Design in Retail and Branding. Emerald.</a:t>
            </a:r>
            <a:endParaRPr lang="en-US" sz="1050" dirty="0"/>
          </a:p>
        </p:txBody>
      </p:sp>
      <p:sp>
        <p:nvSpPr>
          <p:cNvPr id="8" name="Text 6"/>
          <p:cNvSpPr txBox="1"/>
          <p:nvPr/>
        </p:nvSpPr>
        <p:spPr>
          <a:xfrm>
            <a:off x="777240" y="5394960"/>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Schittich, C. (Ed.) (2002). Interior Spaces: Space, Light, Material. Edition Detail.</a:t>
            </a:r>
            <a:endParaRPr lang="en-US" sz="1050" dirty="0"/>
          </a:p>
        </p:txBody>
      </p:sp>
      <p:sp>
        <p:nvSpPr>
          <p:cNvPr id="9" name="Text 7"/>
          <p:cNvSpPr txBox="1"/>
          <p:nvPr/>
        </p:nvSpPr>
        <p:spPr>
          <a:xfrm>
            <a:off x="6382512"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Spence, C., Puccinelli, N. M., Grewal, D. &amp; Roggeveen, A. L. (2014). Store Atmospherics: A Multisensory Perspective. Psychology &amp; Marketing, 31(7), 472–488.</a:t>
            </a:r>
            <a:endParaRPr lang="en-US" sz="1050" dirty="0"/>
          </a:p>
        </p:txBody>
      </p:sp>
      <p:sp>
        <p:nvSpPr>
          <p:cNvPr id="10" name="Text 8"/>
          <p:cNvSpPr txBox="1"/>
          <p:nvPr/>
        </p:nvSpPr>
        <p:spPr>
          <a:xfrm>
            <a:off x="6382512"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Underhill, P. (2008). Why We Buy: The Science of Shopping (Rev. ed.). Simon &amp; Schuster.</a:t>
            </a:r>
            <a:endParaRPr lang="en-US" sz="1050" dirty="0"/>
          </a:p>
        </p:txBody>
      </p:sp>
      <p:sp>
        <p:nvSpPr>
          <p:cNvPr id="11" name="Text 9"/>
          <p:cNvSpPr txBox="1"/>
          <p:nvPr/>
        </p:nvSpPr>
        <p:spPr>
          <a:xfrm>
            <a:off x="6382512"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Wheeler, A. (2017). Designing Brand Identity (5th ed.). Wiley.</a:t>
            </a:r>
            <a:endParaRPr lang="en-US" sz="1050" dirty="0"/>
          </a:p>
        </p:txBody>
      </p:sp>
      <p:sp>
        <p:nvSpPr>
          <p:cNvPr id="12" name="Text 10"/>
          <p:cNvSpPr txBox="1"/>
          <p:nvPr/>
        </p:nvSpPr>
        <p:spPr>
          <a:xfrm>
            <a:off x="6382512" y="4462272"/>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Zumthor, P. (2006). Atmospheres. Birkhäuser. [Türkçesi: Atmosferler]</a:t>
            </a:r>
            <a:endParaRPr lang="en-US" sz="1050" dirty="0"/>
          </a:p>
        </p:txBody>
      </p:sp>
      <p:sp>
        <p:nvSpPr>
          <p:cNvPr id="13" name="Text 11"/>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56</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Mağaza Tasarımı — Teorik Giriş</dc:title>
  <dc:subject>PptxGenJS Presentation</dc:subject>
  <dc:creator>PptxGenJS</dc:creator>
  <cp:lastModifiedBy>PptxGenJS</cp:lastModifiedBy>
  <cp:revision>1</cp:revision>
  <dcterms:created xsi:type="dcterms:W3CDTF">2026-09-03T09:11:49Z</dcterms:created>
  <dcterms:modified xsi:type="dcterms:W3CDTF">2026-09-03T09:11:49Z</dcterms:modified>
</cp:coreProperties>
</file>