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notesMasterIdLst>
    <p:notesMasterId r:id="rId5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bir bölüm, ağırlıklı olarak diyagram üzerinden anlatım. Kaynaklar metin içinde parantezle verildi, tam künyeler sonda.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Dördüncü kutuyu vurgulayın; sunumun V. bölümü bütünüyle buna ayrıldı.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slayt bir içindekiler görevi de görüyor: öğrenci hangi başlığın nerede açılacağını biliyor.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Tarihi hızlı geçin. Anadolu tipolojilerini (bedesten, arasta, han) mutlaka anın — mağaza tasarımı ithal bir konu değil.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Üçüncü boyutu örnekle açın: aynı ürünü satan iki mağazadan biri mermer, biri ham kontrplak kullanıyorsa ikisi farklı şey söyler.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'Nötr mekân yoktur' cümlesi bu bölümün özeti.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İkinci daire vurgulu; sunumun en uzun bölümü olan duyular oradan geliyor. Zirve–son etkisi çıkış tasarımını önemli kılıyor.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Öğrencilerin markasına hangi deneyim türünün uyduğunu düşündürün — bu, konsept kararını doğrudan besler.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Sağdaki iki kutu vurgulu, çünkü mekân tasarımı en doğrudan onlarla ilgilidir. Ama solu bilmeden sağı kurulamaz.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Öğrenciler 1 ve 2'yi yapıp doğrudan çizime geçiyor. Üçüncü adım atlanınca analiz ile tasarım arasında ilişki kurulamıyor.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“Kaliteli / modern / özel” tuzağını mutlaka vurgulayın; öğrencilerin çıkardığı kelimelerin yarısı böyle oluyor.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sunumun en pratik slaydı. Öğrenciden kendi markası için bu zinciri üç satır hâlinde kurmasını isteyin.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Öğrencilerin en sık hatası: lüks marka seçip mekânı ürünle doldurmak.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Açık hava yerleşimlerde ve sokak mağazalarında bu test belirleyici. Gece görünümü ayrıca çizilmeli.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Diyagramlar plandır: alt kenar sokak. Kalın çizgi arkalığı, kesikli çizgi cam yüzeyi gösteriyor.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Eşik, beş duyunun aynı anda değiştiği tek andır. Duyular bölümüne buradan köprü kurun.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şema bilinçli olarak plan değildir. Öğrenci işlevleri kendi mekânına göre yerleştirmeli; buradaki tek bağlayıcı şey komşuluk kurallarıdır.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Öğrencilere 'personelin gününü çiz' egzersizini önerin: açılış, mal kabul, stok tazeleme, mola, kapanış.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 girişi ve ana yönelimi gösteriyor. Döngü tipinde kesikli çizgi zorunlu rotadır.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Görüş hatlarını tahtada çizerek gösterin: girişten bakınca ne görünüyor?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Sıralama önemli: mekânsal katman önce, grafik katman sonra.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Vurgulanan iki an — eşik ve etkileşim — mekânın en çok fark yarattığı yerlerdir.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bulgu duyular bölümünün ana ilkesidir: rastgele eklenen etkileyici bir duyusal öğe bütünü zayıflatır.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diyagram duyusal tasarımı mood board olmaktan çıkarıp yolculuğa bağlar; plana değil, ana bağlar.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Kontrast oranını somut örnekle açın. CRI konusunu iade örneğiyle anlatın: düşük renk geriverimli ışıkta beğenilen kumaş gün ışığında bambaşka görünür.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Türkiye'de yapılan güncel araştırmada engelli kullanıcıların en düşük puan verdiği boyut işitsel ve duyusal konfordur — bunu burada anın.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IKEA'nın dokunsal harita hizmeti ve Mastercard Touch Card, dokunmanın erişilebilirlik aracı olarak kullanımına iyi örnek (Tonin vd.,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Lush ve Aesop örnekleri buraya çok uygun: koku bir eklenti değil, ürün ve teşhir kararının sonucudur.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Çay ikramı Türkiye'de köklü bir pratik; öğrencilere bunun mekânsal karşılığını sordurun.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Öğrenciler beş duyuyu sayıyor ama ısıyı, hava akımını ve kot farkını mekânsal bir duyu olarak düşünmüyor.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Araştırmanın Türkiye'de yapılmış olması öğrenciler için değerli. Son cümleyi not aldırın.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Kesit şematiktir. Vurgu ışığının dar açısı ile genel ışığın yayılımı arasındaki farkı gösterin.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Üçüncü sütun vurgulu: sürdürülebilirlik tartışmasının mağaza tasarımındaki en somut karşılığı burasıdır.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Eşik anında 'teknoloji gerekmez' demek bilinçli bir seçim: eşik duyusal bir andır, ekran orada dikkat dağıtır.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Son cümle önemli: öğrenciler zayıf plan çözümünü dijital öğelerle örtmeye çalışıyor.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bulgunun en pratik sonucu vitrin ve teşhir için geçerli: ürünü kullanım bağlamında göstermek her zaman daha etkili.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Vurgulanacak nokta: bu uygulamaların hiçbiri markanın kimliğinden ödün vermiyor. Erişilebilirlik çoğu zaman mekâna seçenek eklemektir.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Örnekleri kısa geçin; öğrenciler bunları zaten arayacak. Amaç bir referans listesi vermek.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Öğrencilere arasta ve bedestenleri gidip görmelerini önerin; ışık ve ritim açısından çok öğretici.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61A"/>
        </a:solidFill>
      </p:bgPr>
    </p:bg>
    <p:spTree>
      <p:nvGrpSpPr>
        <p:cNvPr id="1" name=""/>
        <p:cNvGrpSpPr/>
        <p:nvPr/>
      </p:nvGrpSpPr>
      <p:grpSpPr>
        <a:xfrm>
          <a:off x="0" y="0"/>
          <a:ext cx="0" cy="0"/>
          <a:chOff x="0" y="0"/>
          <a:chExt cx="0" cy="0"/>
        </a:xfrm>
      </p:grpSpPr>
      <p:sp>
        <p:nvSpPr>
          <p:cNvPr id="2" name="Text 0"/>
          <p:cNvSpPr txBox="1"/>
          <p:nvPr/>
        </p:nvSpPr>
        <p:spPr>
          <a:xfrm>
            <a:off x="777240" y="1417320"/>
            <a:ext cx="9601200" cy="2377440"/>
          </a:xfrm>
          <a:prstGeom prst="rect">
            <a:avLst/>
          </a:prstGeom>
          <a:noFill/>
          <a:ln/>
        </p:spPr>
        <p:txBody>
          <a:bodyPr wrap="square" lIns="0" tIns="0" rIns="0" bIns="0" rtlCol="0" anchor="ctr"/>
          <a:lstStyle/>
          <a:p>
            <a:pPr indent="0" marL="0">
              <a:lnSpc>
                <a:spcPts val="7600"/>
              </a:lnSpc>
              <a:buNone/>
            </a:pPr>
            <a:r>
              <a:rPr lang="en-US" sz="6800" b="1" dirty="0">
                <a:solidFill>
                  <a:srgbClr val="FFFFFF"/>
                </a:solidFill>
                <a:latin typeface="Cambria" pitchFamily="34" charset="0"/>
                <a:ea typeface="Cambria" pitchFamily="34" charset="-122"/>
                <a:cs typeface="Cambria" pitchFamily="34" charset="-120"/>
              </a:rPr>
              <a:t>Mağaza</a:t>
            </a:r>
            <a:endParaRPr lang="en-US" sz="6800" dirty="0"/>
          </a:p>
          <a:p>
            <a:pPr indent="0" marL="0">
              <a:lnSpc>
                <a:spcPts val="7600"/>
              </a:lnSpc>
              <a:buNone/>
            </a:pPr>
            <a:r>
              <a:rPr lang="en-US" sz="6800" b="1" dirty="0">
                <a:solidFill>
                  <a:srgbClr val="FFFFFF"/>
                </a:solidFill>
                <a:latin typeface="Cambria" pitchFamily="34" charset="0"/>
                <a:ea typeface="Cambria" pitchFamily="34" charset="-122"/>
                <a:cs typeface="Cambria" pitchFamily="34" charset="-120"/>
              </a:rPr>
              <a:t>Tasarımı</a:t>
            </a:r>
            <a:endParaRPr lang="en-US" sz="6800" dirty="0"/>
          </a:p>
        </p:txBody>
      </p:sp>
      <p:sp>
        <p:nvSpPr>
          <p:cNvPr id="3" name="Text 1"/>
          <p:cNvSpPr txBox="1"/>
          <p:nvPr/>
        </p:nvSpPr>
        <p:spPr>
          <a:xfrm>
            <a:off x="777240" y="3977640"/>
            <a:ext cx="9601200" cy="502920"/>
          </a:xfrm>
          <a:prstGeom prst="rect">
            <a:avLst/>
          </a:prstGeom>
          <a:noFill/>
          <a:ln/>
        </p:spPr>
        <p:txBody>
          <a:bodyPr wrap="square" lIns="0" tIns="0" rIns="0" bIns="0" rtlCol="0" anchor="ctr"/>
          <a:lstStyle/>
          <a:p>
            <a:pPr indent="0" marL="0">
              <a:buNone/>
            </a:pPr>
            <a:r>
              <a:rPr lang="en-US" sz="2400" dirty="0">
                <a:solidFill>
                  <a:srgbClr val="8C3A2B"/>
                </a:solidFill>
                <a:latin typeface="Cambria" pitchFamily="34" charset="0"/>
                <a:ea typeface="Cambria" pitchFamily="34" charset="-122"/>
                <a:cs typeface="Cambria" pitchFamily="34" charset="-120"/>
              </a:rPr>
              <a:t>Mekân, marka ve duyular üzerine teorik bir giriş</a:t>
            </a:r>
            <a:endParaRPr lang="en-US" sz="2400" dirty="0"/>
          </a:p>
        </p:txBody>
      </p:sp>
      <p:sp>
        <p:nvSpPr>
          <p:cNvPr id="4" name="Text 2"/>
          <p:cNvSpPr txBox="1"/>
          <p:nvPr/>
        </p:nvSpPr>
        <p:spPr>
          <a:xfrm>
            <a:off x="777240" y="4892040"/>
            <a:ext cx="9601200" cy="365760"/>
          </a:xfrm>
          <a:prstGeom prst="rect">
            <a:avLst/>
          </a:prstGeom>
          <a:noFill/>
          <a:ln/>
        </p:spPr>
        <p:txBody>
          <a:bodyPr wrap="square" lIns="0" tIns="0" rIns="0" bIns="0" rtlCol="0" anchor="ctr"/>
          <a:lstStyle/>
          <a:p>
            <a:pPr indent="0" marL="0">
              <a:buNone/>
            </a:pPr>
            <a:r>
              <a:rPr lang="en-US" sz="1300" spc="160" kern="0" dirty="0">
                <a:solidFill>
                  <a:srgbClr val="B9B9C0"/>
                </a:solidFill>
                <a:latin typeface="Calibri" pitchFamily="34" charset="0"/>
                <a:ea typeface="Calibri" pitchFamily="34" charset="-122"/>
                <a:cs typeface="Calibri" pitchFamily="34" charset="-120"/>
              </a:rPr>
              <a:t>İç Mimarlık  ·  Proje Stüdyosu  ·  Teorik Ders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CFA"/>
        </a:solidFill>
      </p:bgPr>
    </p:bg>
    <p:spTree>
      <p:nvGrpSpPr>
        <p:cNvPr id="1" name=""/>
        <p:cNvGrpSpPr/>
        <p:nvPr/>
      </p:nvGrpSpPr>
      <p:grpSpPr>
        <a:xfrm>
          <a:off x="0" y="0"/>
          <a:ext cx="0" cy="0"/>
          <a:chOff x="0" y="0"/>
          <a:chExt cx="0" cy="0"/>
        </a:xfrm>
      </p:grpSpPr>
      <p:sp>
        <p:nvSpPr>
          <p:cNvPr id="2" name="Text 0"/>
          <p:cNvSpPr txBox="1"/>
          <p:nvPr/>
        </p:nvSpPr>
        <p:spPr>
          <a:xfrm>
            <a:off x="777240" y="475488"/>
            <a:ext cx="9601200" cy="237744"/>
          </a:xfrm>
          <a:prstGeom prst="rect">
            <a:avLst/>
          </a:prstGeom>
          <a:noFill/>
          <a:ln/>
        </p:spPr>
        <p:txBody>
          <a:bodyPr wrap="square" lIns="0" tIns="0" rIns="0" bIns="0" rtlCol="0" anchor="ctr"/>
          <a:lstStyle/>
          <a:p>
            <a:pPr indent="0" marL="0">
              <a:buNone/>
            </a:pPr>
            <a:r>
              <a:rPr lang="en-US" sz="950" b="1" spc="260" kern="0" dirty="0">
                <a:solidFill>
                  <a:srgbClr val="7A7A82"/>
                </a:solidFill>
                <a:latin typeface="Calibri" pitchFamily="34" charset="0"/>
                <a:ea typeface="Calibri" pitchFamily="34" charset="-122"/>
                <a:cs typeface="Calibri" pitchFamily="34" charset="-120"/>
              </a:rPr>
              <a:t>SUNUMUN KAPSAMI</a:t>
            </a:r>
            <a:endParaRPr lang="en-US" sz="950" dirty="0"/>
          </a:p>
        </p:txBody>
      </p:sp>
      <p:sp>
        <p:nvSpPr>
          <p:cNvPr id="3" name="Text 1"/>
          <p:cNvSpPr txBox="1"/>
          <p:nvPr/>
        </p:nvSpPr>
        <p:spPr>
          <a:xfrm>
            <a:off x="777240" y="822960"/>
            <a:ext cx="10241280" cy="548640"/>
          </a:xfrm>
          <a:prstGeom prst="rect">
            <a:avLst/>
          </a:prstGeom>
          <a:noFill/>
          <a:ln/>
        </p:spPr>
        <p:txBody>
          <a:bodyPr wrap="square" lIns="0" tIns="0" rIns="0" bIns="0" rtlCol="0" anchor="ctr"/>
          <a:lstStyle/>
          <a:p>
            <a:pPr indent="0" marL="0">
              <a:buNone/>
            </a:pPr>
            <a:r>
              <a:rPr lang="en-US" sz="2900" b="1" dirty="0">
                <a:solidFill>
                  <a:srgbClr val="16161A"/>
                </a:solidFill>
                <a:latin typeface="Cambria" pitchFamily="34" charset="0"/>
                <a:ea typeface="Cambria" pitchFamily="34" charset="-122"/>
                <a:cs typeface="Cambria" pitchFamily="34" charset="-120"/>
              </a:rPr>
              <a:t>On bir bölüm</a:t>
            </a:r>
            <a:endParaRPr lang="en-US" sz="2900" dirty="0"/>
          </a:p>
        </p:txBody>
      </p:sp>
      <p:sp>
        <p:nvSpPr>
          <p:cNvPr id="4" name="Text 2"/>
          <p:cNvSpPr txBox="1"/>
          <p:nvPr/>
        </p:nvSpPr>
        <p:spPr>
          <a:xfrm>
            <a:off x="777240" y="1572768"/>
            <a:ext cx="777240" cy="365760"/>
          </a:xfrm>
          <a:prstGeom prst="rect">
            <a:avLst/>
          </a:prstGeom>
          <a:noFill/>
          <a:ln/>
        </p:spPr>
        <p:txBody>
          <a:bodyPr wrap="square" lIns="0" tIns="0" rIns="0" bIns="0" rtlCol="0" anchor="ctr"/>
          <a:lstStyle/>
          <a:p>
            <a:pPr indent="0" marL="0">
              <a:buNone/>
            </a:pPr>
            <a:r>
              <a:rPr lang="en-US" sz="1600" b="1" dirty="0">
                <a:solidFill>
                  <a:srgbClr val="8C3A2B"/>
                </a:solidFill>
                <a:latin typeface="Cambria" pitchFamily="34" charset="0"/>
                <a:ea typeface="Cambria" pitchFamily="34" charset="-122"/>
                <a:cs typeface="Cambria" pitchFamily="34" charset="-120"/>
              </a:rPr>
              <a:t>I</a:t>
            </a:r>
            <a:endParaRPr lang="en-US" sz="1600" dirty="0"/>
          </a:p>
        </p:txBody>
      </p:sp>
      <p:sp>
        <p:nvSpPr>
          <p:cNvPr id="5" name="Text 3"/>
          <p:cNvSpPr txBox="1"/>
          <p:nvPr/>
        </p:nvSpPr>
        <p:spPr>
          <a:xfrm>
            <a:off x="1645920" y="1572768"/>
            <a:ext cx="8778240" cy="365760"/>
          </a:xfrm>
          <a:prstGeom prst="rect">
            <a:avLst/>
          </a:prstGeom>
          <a:noFill/>
          <a:ln/>
        </p:spPr>
        <p:txBody>
          <a:bodyPr wrap="square" lIns="0" tIns="0" rIns="0" bIns="0" rtlCol="0" anchor="ctr"/>
          <a:lstStyle/>
          <a:p>
            <a:pPr indent="0" marL="0">
              <a:buNone/>
            </a:pPr>
            <a:r>
              <a:rPr lang="en-US" sz="1600" dirty="0">
                <a:solidFill>
                  <a:srgbClr val="2B2B31"/>
                </a:solidFill>
                <a:latin typeface="Cambria" pitchFamily="34" charset="0"/>
                <a:ea typeface="Cambria" pitchFamily="34" charset="-122"/>
                <a:cs typeface="Cambria" pitchFamily="34" charset="-120"/>
              </a:rPr>
              <a:t>Mağaza tasarımı nedir?</a:t>
            </a:r>
            <a:endParaRPr lang="en-US" sz="1600" dirty="0"/>
          </a:p>
        </p:txBody>
      </p:sp>
      <p:sp>
        <p:nvSpPr>
          <p:cNvPr id="6" name="Text 4"/>
          <p:cNvSpPr txBox="1"/>
          <p:nvPr/>
        </p:nvSpPr>
        <p:spPr>
          <a:xfrm>
            <a:off x="777240" y="2002536"/>
            <a:ext cx="777240" cy="365760"/>
          </a:xfrm>
          <a:prstGeom prst="rect">
            <a:avLst/>
          </a:prstGeom>
          <a:noFill/>
          <a:ln/>
        </p:spPr>
        <p:txBody>
          <a:bodyPr wrap="square" lIns="0" tIns="0" rIns="0" bIns="0" rtlCol="0" anchor="ctr"/>
          <a:lstStyle/>
          <a:p>
            <a:pPr indent="0" marL="0">
              <a:buNone/>
            </a:pPr>
            <a:r>
              <a:rPr lang="en-US" sz="1600" b="1" dirty="0">
                <a:solidFill>
                  <a:srgbClr val="8C3A2B"/>
                </a:solidFill>
                <a:latin typeface="Cambria" pitchFamily="34" charset="0"/>
                <a:ea typeface="Cambria" pitchFamily="34" charset="-122"/>
                <a:cs typeface="Cambria" pitchFamily="34" charset="-120"/>
              </a:rPr>
              <a:t>II</a:t>
            </a:r>
            <a:endParaRPr lang="en-US" sz="1600" dirty="0"/>
          </a:p>
        </p:txBody>
      </p:sp>
      <p:sp>
        <p:nvSpPr>
          <p:cNvPr id="7" name="Text 5"/>
          <p:cNvSpPr txBox="1"/>
          <p:nvPr/>
        </p:nvSpPr>
        <p:spPr>
          <a:xfrm>
            <a:off x="1645920" y="2002536"/>
            <a:ext cx="8778240" cy="365760"/>
          </a:xfrm>
          <a:prstGeom prst="rect">
            <a:avLst/>
          </a:prstGeom>
          <a:noFill/>
          <a:ln/>
        </p:spPr>
        <p:txBody>
          <a:bodyPr wrap="square" lIns="0" tIns="0" rIns="0" bIns="0" rtlCol="0" anchor="ctr"/>
          <a:lstStyle/>
          <a:p>
            <a:pPr indent="0" marL="0">
              <a:buNone/>
            </a:pPr>
            <a:r>
              <a:rPr lang="en-US" sz="1600" dirty="0">
                <a:solidFill>
                  <a:srgbClr val="2B2B31"/>
                </a:solidFill>
                <a:latin typeface="Cambria" pitchFamily="34" charset="0"/>
                <a:ea typeface="Cambria" pitchFamily="34" charset="-122"/>
                <a:cs typeface="Cambria" pitchFamily="34" charset="-120"/>
              </a:rPr>
              <a:t>Atmosfer</a:t>
            </a:r>
            <a:endParaRPr lang="en-US" sz="1600" dirty="0"/>
          </a:p>
        </p:txBody>
      </p:sp>
      <p:sp>
        <p:nvSpPr>
          <p:cNvPr id="8" name="Text 6"/>
          <p:cNvSpPr txBox="1"/>
          <p:nvPr/>
        </p:nvSpPr>
        <p:spPr>
          <a:xfrm>
            <a:off x="777240" y="2432304"/>
            <a:ext cx="777240" cy="365760"/>
          </a:xfrm>
          <a:prstGeom prst="rect">
            <a:avLst/>
          </a:prstGeom>
          <a:noFill/>
          <a:ln/>
        </p:spPr>
        <p:txBody>
          <a:bodyPr wrap="square" lIns="0" tIns="0" rIns="0" bIns="0" rtlCol="0" anchor="ctr"/>
          <a:lstStyle/>
          <a:p>
            <a:pPr indent="0" marL="0">
              <a:buNone/>
            </a:pPr>
            <a:r>
              <a:rPr lang="en-US" sz="1600" b="1" dirty="0">
                <a:solidFill>
                  <a:srgbClr val="8C3A2B"/>
                </a:solidFill>
                <a:latin typeface="Cambria" pitchFamily="34" charset="0"/>
                <a:ea typeface="Cambria" pitchFamily="34" charset="-122"/>
                <a:cs typeface="Cambria" pitchFamily="34" charset="-120"/>
              </a:rPr>
              <a:t>III</a:t>
            </a:r>
            <a:endParaRPr lang="en-US" sz="1600" dirty="0"/>
          </a:p>
        </p:txBody>
      </p:sp>
      <p:sp>
        <p:nvSpPr>
          <p:cNvPr id="9" name="Text 7"/>
          <p:cNvSpPr txBox="1"/>
          <p:nvPr/>
        </p:nvSpPr>
        <p:spPr>
          <a:xfrm>
            <a:off x="1645920" y="2432304"/>
            <a:ext cx="8778240" cy="365760"/>
          </a:xfrm>
          <a:prstGeom prst="rect">
            <a:avLst/>
          </a:prstGeom>
          <a:noFill/>
          <a:ln/>
        </p:spPr>
        <p:txBody>
          <a:bodyPr wrap="square" lIns="0" tIns="0" rIns="0" bIns="0" rtlCol="0" anchor="ctr"/>
          <a:lstStyle/>
          <a:p>
            <a:pPr indent="0" marL="0">
              <a:buNone/>
            </a:pPr>
            <a:r>
              <a:rPr lang="en-US" sz="1600" dirty="0">
                <a:solidFill>
                  <a:srgbClr val="2B2B31"/>
                </a:solidFill>
                <a:latin typeface="Cambria" pitchFamily="34" charset="0"/>
                <a:ea typeface="Cambria" pitchFamily="34" charset="-122"/>
                <a:cs typeface="Cambria" pitchFamily="34" charset="-120"/>
              </a:rPr>
              <a:t>Marka ve mekân</a:t>
            </a:r>
            <a:endParaRPr lang="en-US" sz="1600" dirty="0"/>
          </a:p>
        </p:txBody>
      </p:sp>
      <p:sp>
        <p:nvSpPr>
          <p:cNvPr id="10" name="Text 8"/>
          <p:cNvSpPr txBox="1"/>
          <p:nvPr/>
        </p:nvSpPr>
        <p:spPr>
          <a:xfrm>
            <a:off x="777240" y="2862072"/>
            <a:ext cx="777240" cy="365760"/>
          </a:xfrm>
          <a:prstGeom prst="rect">
            <a:avLst/>
          </a:prstGeom>
          <a:noFill/>
          <a:ln/>
        </p:spPr>
        <p:txBody>
          <a:bodyPr wrap="square" lIns="0" tIns="0" rIns="0" bIns="0" rtlCol="0" anchor="ctr"/>
          <a:lstStyle/>
          <a:p>
            <a:pPr indent="0" marL="0">
              <a:buNone/>
            </a:pPr>
            <a:r>
              <a:rPr lang="en-US" sz="1600" b="1" dirty="0">
                <a:solidFill>
                  <a:srgbClr val="8C3A2B"/>
                </a:solidFill>
                <a:latin typeface="Cambria" pitchFamily="34" charset="0"/>
                <a:ea typeface="Cambria" pitchFamily="34" charset="-122"/>
                <a:cs typeface="Cambria" pitchFamily="34" charset="-120"/>
              </a:rPr>
              <a:t>IV</a:t>
            </a:r>
            <a:endParaRPr lang="en-US" sz="1600" dirty="0"/>
          </a:p>
        </p:txBody>
      </p:sp>
      <p:sp>
        <p:nvSpPr>
          <p:cNvPr id="11" name="Text 9"/>
          <p:cNvSpPr txBox="1"/>
          <p:nvPr/>
        </p:nvSpPr>
        <p:spPr>
          <a:xfrm>
            <a:off x="1645920" y="2862072"/>
            <a:ext cx="8778240" cy="365760"/>
          </a:xfrm>
          <a:prstGeom prst="rect">
            <a:avLst/>
          </a:prstGeom>
          <a:noFill/>
          <a:ln/>
        </p:spPr>
        <p:txBody>
          <a:bodyPr wrap="square" lIns="0" tIns="0" rIns="0" bIns="0" rtlCol="0" anchor="ctr"/>
          <a:lstStyle/>
          <a:p>
            <a:pPr indent="0" marL="0">
              <a:buNone/>
            </a:pPr>
            <a:r>
              <a:rPr lang="en-US" sz="1600" dirty="0">
                <a:solidFill>
                  <a:srgbClr val="2B2B31"/>
                </a:solidFill>
                <a:latin typeface="Cambria" pitchFamily="34" charset="0"/>
                <a:ea typeface="Cambria" pitchFamily="34" charset="-122"/>
                <a:cs typeface="Cambria" pitchFamily="34" charset="-120"/>
              </a:rPr>
              <a:t>Dışarıdan içeriye: cephe, vitrin, eşik</a:t>
            </a:r>
            <a:endParaRPr lang="en-US" sz="1600" dirty="0"/>
          </a:p>
        </p:txBody>
      </p:sp>
      <p:sp>
        <p:nvSpPr>
          <p:cNvPr id="12" name="Text 10"/>
          <p:cNvSpPr txBox="1"/>
          <p:nvPr/>
        </p:nvSpPr>
        <p:spPr>
          <a:xfrm>
            <a:off x="777240" y="3291840"/>
            <a:ext cx="777240" cy="365760"/>
          </a:xfrm>
          <a:prstGeom prst="rect">
            <a:avLst/>
          </a:prstGeom>
          <a:noFill/>
          <a:ln/>
        </p:spPr>
        <p:txBody>
          <a:bodyPr wrap="square" lIns="0" tIns="0" rIns="0" bIns="0" rtlCol="0" anchor="ctr"/>
          <a:lstStyle/>
          <a:p>
            <a:pPr indent="0" marL="0">
              <a:buNone/>
            </a:pPr>
            <a:r>
              <a:rPr lang="en-US" sz="1600" b="1" dirty="0">
                <a:solidFill>
                  <a:srgbClr val="8C3A2B"/>
                </a:solidFill>
                <a:latin typeface="Cambria" pitchFamily="34" charset="0"/>
                <a:ea typeface="Cambria" pitchFamily="34" charset="-122"/>
                <a:cs typeface="Cambria" pitchFamily="34" charset="-120"/>
              </a:rPr>
              <a:t>V</a:t>
            </a:r>
            <a:endParaRPr lang="en-US" sz="1600" dirty="0"/>
          </a:p>
        </p:txBody>
      </p:sp>
      <p:sp>
        <p:nvSpPr>
          <p:cNvPr id="13" name="Text 11"/>
          <p:cNvSpPr txBox="1"/>
          <p:nvPr/>
        </p:nvSpPr>
        <p:spPr>
          <a:xfrm>
            <a:off x="1645920" y="3291840"/>
            <a:ext cx="8778240" cy="365760"/>
          </a:xfrm>
          <a:prstGeom prst="rect">
            <a:avLst/>
          </a:prstGeom>
          <a:noFill/>
          <a:ln/>
        </p:spPr>
        <p:txBody>
          <a:bodyPr wrap="square" lIns="0" tIns="0" rIns="0" bIns="0" rtlCol="0" anchor="ctr"/>
          <a:lstStyle/>
          <a:p>
            <a:pPr indent="0" marL="0">
              <a:buNone/>
            </a:pPr>
            <a:r>
              <a:rPr lang="en-US" sz="1600" dirty="0">
                <a:solidFill>
                  <a:srgbClr val="2B2B31"/>
                </a:solidFill>
                <a:latin typeface="Cambria" pitchFamily="34" charset="0"/>
                <a:ea typeface="Cambria" pitchFamily="34" charset="-122"/>
                <a:cs typeface="Cambria" pitchFamily="34" charset="-120"/>
              </a:rPr>
              <a:t>Mağazanın içi: işlevler ve yerleşim</a:t>
            </a:r>
            <a:endParaRPr lang="en-US" sz="1600" dirty="0"/>
          </a:p>
        </p:txBody>
      </p:sp>
      <p:sp>
        <p:nvSpPr>
          <p:cNvPr id="14" name="Text 12"/>
          <p:cNvSpPr txBox="1"/>
          <p:nvPr/>
        </p:nvSpPr>
        <p:spPr>
          <a:xfrm>
            <a:off x="777240" y="3721608"/>
            <a:ext cx="777240" cy="365760"/>
          </a:xfrm>
          <a:prstGeom prst="rect">
            <a:avLst/>
          </a:prstGeom>
          <a:noFill/>
          <a:ln/>
        </p:spPr>
        <p:txBody>
          <a:bodyPr wrap="square" lIns="0" tIns="0" rIns="0" bIns="0" rtlCol="0" anchor="ctr"/>
          <a:lstStyle/>
          <a:p>
            <a:pPr indent="0" marL="0">
              <a:buNone/>
            </a:pPr>
            <a:r>
              <a:rPr lang="en-US" sz="1600" b="1" dirty="0">
                <a:solidFill>
                  <a:srgbClr val="8C3A2B"/>
                </a:solidFill>
                <a:latin typeface="Cambria" pitchFamily="34" charset="0"/>
                <a:ea typeface="Cambria" pitchFamily="34" charset="-122"/>
                <a:cs typeface="Cambria" pitchFamily="34" charset="-120"/>
              </a:rPr>
              <a:t>VI</a:t>
            </a:r>
            <a:endParaRPr lang="en-US" sz="1600" dirty="0"/>
          </a:p>
        </p:txBody>
      </p:sp>
      <p:sp>
        <p:nvSpPr>
          <p:cNvPr id="15" name="Text 13"/>
          <p:cNvSpPr txBox="1"/>
          <p:nvPr/>
        </p:nvSpPr>
        <p:spPr>
          <a:xfrm>
            <a:off x="1645920" y="3721608"/>
            <a:ext cx="8778240" cy="365760"/>
          </a:xfrm>
          <a:prstGeom prst="rect">
            <a:avLst/>
          </a:prstGeom>
          <a:noFill/>
          <a:ln/>
        </p:spPr>
        <p:txBody>
          <a:bodyPr wrap="square" lIns="0" tIns="0" rIns="0" bIns="0" rtlCol="0" anchor="ctr"/>
          <a:lstStyle/>
          <a:p>
            <a:pPr indent="0" marL="0">
              <a:buNone/>
            </a:pPr>
            <a:r>
              <a:rPr lang="en-US" sz="1600" dirty="0">
                <a:solidFill>
                  <a:srgbClr val="2B2B31"/>
                </a:solidFill>
                <a:latin typeface="Cambria" pitchFamily="34" charset="0"/>
                <a:ea typeface="Cambria" pitchFamily="34" charset="-122"/>
                <a:cs typeface="Cambria" pitchFamily="34" charset="-120"/>
              </a:rPr>
              <a:t>Akış ve yönlendirme</a:t>
            </a:r>
            <a:endParaRPr lang="en-US" sz="1600" dirty="0"/>
          </a:p>
        </p:txBody>
      </p:sp>
      <p:sp>
        <p:nvSpPr>
          <p:cNvPr id="16" name="Text 14"/>
          <p:cNvSpPr txBox="1"/>
          <p:nvPr/>
        </p:nvSpPr>
        <p:spPr>
          <a:xfrm>
            <a:off x="777240" y="4151376"/>
            <a:ext cx="777240" cy="365760"/>
          </a:xfrm>
          <a:prstGeom prst="rect">
            <a:avLst/>
          </a:prstGeom>
          <a:noFill/>
          <a:ln/>
        </p:spPr>
        <p:txBody>
          <a:bodyPr wrap="square" lIns="0" tIns="0" rIns="0" bIns="0" rtlCol="0" anchor="ctr"/>
          <a:lstStyle/>
          <a:p>
            <a:pPr indent="0" marL="0">
              <a:buNone/>
            </a:pPr>
            <a:r>
              <a:rPr lang="en-US" sz="1600" b="1" dirty="0">
                <a:solidFill>
                  <a:srgbClr val="8C3A2B"/>
                </a:solidFill>
                <a:latin typeface="Cambria" pitchFamily="34" charset="0"/>
                <a:ea typeface="Cambria" pitchFamily="34" charset="-122"/>
                <a:cs typeface="Cambria" pitchFamily="34" charset="-120"/>
              </a:rPr>
              <a:t>VII</a:t>
            </a:r>
            <a:endParaRPr lang="en-US" sz="1600" dirty="0"/>
          </a:p>
        </p:txBody>
      </p:sp>
      <p:sp>
        <p:nvSpPr>
          <p:cNvPr id="17" name="Text 15"/>
          <p:cNvSpPr txBox="1"/>
          <p:nvPr/>
        </p:nvSpPr>
        <p:spPr>
          <a:xfrm>
            <a:off x="1645920" y="4151376"/>
            <a:ext cx="8778240" cy="365760"/>
          </a:xfrm>
          <a:prstGeom prst="rect">
            <a:avLst/>
          </a:prstGeom>
          <a:noFill/>
          <a:ln/>
        </p:spPr>
        <p:txBody>
          <a:bodyPr wrap="square" lIns="0" tIns="0" rIns="0" bIns="0" rtlCol="0" anchor="ctr"/>
          <a:lstStyle/>
          <a:p>
            <a:pPr indent="0" marL="0">
              <a:buNone/>
            </a:pPr>
            <a:r>
              <a:rPr lang="en-US" sz="1600" dirty="0">
                <a:solidFill>
                  <a:srgbClr val="2B2B31"/>
                </a:solidFill>
                <a:latin typeface="Cambria" pitchFamily="34" charset="0"/>
                <a:ea typeface="Cambria" pitchFamily="34" charset="-122"/>
                <a:cs typeface="Cambria" pitchFamily="34" charset="-120"/>
              </a:rPr>
              <a:t>Duyular</a:t>
            </a:r>
            <a:endParaRPr lang="en-US" sz="1600" dirty="0"/>
          </a:p>
        </p:txBody>
      </p:sp>
      <p:sp>
        <p:nvSpPr>
          <p:cNvPr id="18" name="Text 16"/>
          <p:cNvSpPr txBox="1"/>
          <p:nvPr/>
        </p:nvSpPr>
        <p:spPr>
          <a:xfrm>
            <a:off x="777240" y="4581144"/>
            <a:ext cx="777240" cy="365760"/>
          </a:xfrm>
          <a:prstGeom prst="rect">
            <a:avLst/>
          </a:prstGeom>
          <a:noFill/>
          <a:ln/>
        </p:spPr>
        <p:txBody>
          <a:bodyPr wrap="square" lIns="0" tIns="0" rIns="0" bIns="0" rtlCol="0" anchor="ctr"/>
          <a:lstStyle/>
          <a:p>
            <a:pPr indent="0" marL="0">
              <a:buNone/>
            </a:pPr>
            <a:r>
              <a:rPr lang="en-US" sz="1600" b="1" dirty="0">
                <a:solidFill>
                  <a:srgbClr val="8C3A2B"/>
                </a:solidFill>
                <a:latin typeface="Cambria" pitchFamily="34" charset="0"/>
                <a:ea typeface="Cambria" pitchFamily="34" charset="-122"/>
                <a:cs typeface="Cambria" pitchFamily="34" charset="-120"/>
              </a:rPr>
              <a:t>VIII</a:t>
            </a:r>
            <a:endParaRPr lang="en-US" sz="1600" dirty="0"/>
          </a:p>
        </p:txBody>
      </p:sp>
      <p:sp>
        <p:nvSpPr>
          <p:cNvPr id="19" name="Text 17"/>
          <p:cNvSpPr txBox="1"/>
          <p:nvPr/>
        </p:nvSpPr>
        <p:spPr>
          <a:xfrm>
            <a:off x="1645920" y="4581144"/>
            <a:ext cx="8778240" cy="365760"/>
          </a:xfrm>
          <a:prstGeom prst="rect">
            <a:avLst/>
          </a:prstGeom>
          <a:noFill/>
          <a:ln/>
        </p:spPr>
        <p:txBody>
          <a:bodyPr wrap="square" lIns="0" tIns="0" rIns="0" bIns="0" rtlCol="0" anchor="ctr"/>
          <a:lstStyle/>
          <a:p>
            <a:pPr indent="0" marL="0">
              <a:buNone/>
            </a:pPr>
            <a:r>
              <a:rPr lang="en-US" sz="1600" dirty="0">
                <a:solidFill>
                  <a:srgbClr val="2B2B31"/>
                </a:solidFill>
                <a:latin typeface="Cambria" pitchFamily="34" charset="0"/>
                <a:ea typeface="Cambria" pitchFamily="34" charset="-122"/>
                <a:cs typeface="Cambria" pitchFamily="34" charset="-120"/>
              </a:rPr>
              <a:t>Işık ve malzeme</a:t>
            </a:r>
            <a:endParaRPr lang="en-US" sz="1600" dirty="0"/>
          </a:p>
        </p:txBody>
      </p:sp>
      <p:sp>
        <p:nvSpPr>
          <p:cNvPr id="20" name="Text 18"/>
          <p:cNvSpPr txBox="1"/>
          <p:nvPr/>
        </p:nvSpPr>
        <p:spPr>
          <a:xfrm>
            <a:off x="777240" y="5010912"/>
            <a:ext cx="777240" cy="365760"/>
          </a:xfrm>
          <a:prstGeom prst="rect">
            <a:avLst/>
          </a:prstGeom>
          <a:noFill/>
          <a:ln/>
        </p:spPr>
        <p:txBody>
          <a:bodyPr wrap="square" lIns="0" tIns="0" rIns="0" bIns="0" rtlCol="0" anchor="ctr"/>
          <a:lstStyle/>
          <a:p>
            <a:pPr indent="0" marL="0">
              <a:buNone/>
            </a:pPr>
            <a:r>
              <a:rPr lang="en-US" sz="1600" b="1" dirty="0">
                <a:solidFill>
                  <a:srgbClr val="8C3A2B"/>
                </a:solidFill>
                <a:latin typeface="Cambria" pitchFamily="34" charset="0"/>
                <a:ea typeface="Cambria" pitchFamily="34" charset="-122"/>
                <a:cs typeface="Cambria" pitchFamily="34" charset="-120"/>
              </a:rPr>
              <a:t>IX</a:t>
            </a:r>
            <a:endParaRPr lang="en-US" sz="1600" dirty="0"/>
          </a:p>
        </p:txBody>
      </p:sp>
      <p:sp>
        <p:nvSpPr>
          <p:cNvPr id="21" name="Text 19"/>
          <p:cNvSpPr txBox="1"/>
          <p:nvPr/>
        </p:nvSpPr>
        <p:spPr>
          <a:xfrm>
            <a:off x="1645920" y="5010912"/>
            <a:ext cx="8778240" cy="365760"/>
          </a:xfrm>
          <a:prstGeom prst="rect">
            <a:avLst/>
          </a:prstGeom>
          <a:noFill/>
          <a:ln/>
        </p:spPr>
        <p:txBody>
          <a:bodyPr wrap="square" lIns="0" tIns="0" rIns="0" bIns="0" rtlCol="0" anchor="ctr"/>
          <a:lstStyle/>
          <a:p>
            <a:pPr indent="0" marL="0">
              <a:buNone/>
            </a:pPr>
            <a:r>
              <a:rPr lang="en-US" sz="1600" dirty="0">
                <a:solidFill>
                  <a:srgbClr val="2B2B31"/>
                </a:solidFill>
                <a:latin typeface="Cambria" pitchFamily="34" charset="0"/>
                <a:ea typeface="Cambria" pitchFamily="34" charset="-122"/>
                <a:cs typeface="Cambria" pitchFamily="34" charset="-120"/>
              </a:rPr>
              <a:t>Teknoloji</a:t>
            </a:r>
            <a:endParaRPr lang="en-US" sz="1600" dirty="0"/>
          </a:p>
        </p:txBody>
      </p:sp>
      <p:sp>
        <p:nvSpPr>
          <p:cNvPr id="22" name="Text 20"/>
          <p:cNvSpPr txBox="1"/>
          <p:nvPr/>
        </p:nvSpPr>
        <p:spPr>
          <a:xfrm>
            <a:off x="777240" y="5440680"/>
            <a:ext cx="777240" cy="365760"/>
          </a:xfrm>
          <a:prstGeom prst="rect">
            <a:avLst/>
          </a:prstGeom>
          <a:noFill/>
          <a:ln/>
        </p:spPr>
        <p:txBody>
          <a:bodyPr wrap="square" lIns="0" tIns="0" rIns="0" bIns="0" rtlCol="0" anchor="ctr"/>
          <a:lstStyle/>
          <a:p>
            <a:pPr indent="0" marL="0">
              <a:buNone/>
            </a:pPr>
            <a:r>
              <a:rPr lang="en-US" sz="1600" b="1" dirty="0">
                <a:solidFill>
                  <a:srgbClr val="8C3A2B"/>
                </a:solidFill>
                <a:latin typeface="Cambria" pitchFamily="34" charset="0"/>
                <a:ea typeface="Cambria" pitchFamily="34" charset="-122"/>
                <a:cs typeface="Cambria" pitchFamily="34" charset="-120"/>
              </a:rPr>
              <a:t>X</a:t>
            </a:r>
            <a:endParaRPr lang="en-US" sz="1600" dirty="0"/>
          </a:p>
        </p:txBody>
      </p:sp>
      <p:sp>
        <p:nvSpPr>
          <p:cNvPr id="23" name="Text 21"/>
          <p:cNvSpPr txBox="1"/>
          <p:nvPr/>
        </p:nvSpPr>
        <p:spPr>
          <a:xfrm>
            <a:off x="1645920" y="5440680"/>
            <a:ext cx="8778240" cy="365760"/>
          </a:xfrm>
          <a:prstGeom prst="rect">
            <a:avLst/>
          </a:prstGeom>
          <a:noFill/>
          <a:ln/>
        </p:spPr>
        <p:txBody>
          <a:bodyPr wrap="square" lIns="0" tIns="0" rIns="0" bIns="0" rtlCol="0" anchor="ctr"/>
          <a:lstStyle/>
          <a:p>
            <a:pPr indent="0" marL="0">
              <a:buNone/>
            </a:pPr>
            <a:r>
              <a:rPr lang="en-US" sz="1600" dirty="0">
                <a:solidFill>
                  <a:srgbClr val="2B2B31"/>
                </a:solidFill>
                <a:latin typeface="Cambria" pitchFamily="34" charset="0"/>
                <a:ea typeface="Cambria" pitchFamily="34" charset="-122"/>
                <a:cs typeface="Cambria" pitchFamily="34" charset="-120"/>
              </a:rPr>
              <a:t>Herkes için mağaza</a:t>
            </a:r>
            <a:endParaRPr lang="en-US" sz="1600" dirty="0"/>
          </a:p>
        </p:txBody>
      </p:sp>
      <p:sp>
        <p:nvSpPr>
          <p:cNvPr id="24" name="Text 22"/>
          <p:cNvSpPr txBox="1"/>
          <p:nvPr/>
        </p:nvSpPr>
        <p:spPr>
          <a:xfrm>
            <a:off x="777240" y="5870448"/>
            <a:ext cx="777240" cy="365760"/>
          </a:xfrm>
          <a:prstGeom prst="rect">
            <a:avLst/>
          </a:prstGeom>
          <a:noFill/>
          <a:ln/>
        </p:spPr>
        <p:txBody>
          <a:bodyPr wrap="square" lIns="0" tIns="0" rIns="0" bIns="0" rtlCol="0" anchor="ctr"/>
          <a:lstStyle/>
          <a:p>
            <a:pPr indent="0" marL="0">
              <a:buNone/>
            </a:pPr>
            <a:r>
              <a:rPr lang="en-US" sz="1600" b="1" dirty="0">
                <a:solidFill>
                  <a:srgbClr val="8C3A2B"/>
                </a:solidFill>
                <a:latin typeface="Cambria" pitchFamily="34" charset="0"/>
                <a:ea typeface="Cambria" pitchFamily="34" charset="-122"/>
                <a:cs typeface="Cambria" pitchFamily="34" charset="-120"/>
              </a:rPr>
              <a:t>XI</a:t>
            </a:r>
            <a:endParaRPr lang="en-US" sz="1600" dirty="0"/>
          </a:p>
        </p:txBody>
      </p:sp>
      <p:sp>
        <p:nvSpPr>
          <p:cNvPr id="25" name="Text 23"/>
          <p:cNvSpPr txBox="1"/>
          <p:nvPr/>
        </p:nvSpPr>
        <p:spPr>
          <a:xfrm>
            <a:off x="1645920" y="5870448"/>
            <a:ext cx="8778240" cy="365760"/>
          </a:xfrm>
          <a:prstGeom prst="rect">
            <a:avLst/>
          </a:prstGeom>
          <a:noFill/>
          <a:ln/>
        </p:spPr>
        <p:txBody>
          <a:bodyPr wrap="square" lIns="0" tIns="0" rIns="0" bIns="0" rtlCol="0" anchor="ctr"/>
          <a:lstStyle/>
          <a:p>
            <a:pPr indent="0" marL="0">
              <a:buNone/>
            </a:pPr>
            <a:r>
              <a:rPr lang="en-US" sz="1600" dirty="0">
                <a:solidFill>
                  <a:srgbClr val="2B2B31"/>
                </a:solidFill>
                <a:latin typeface="Cambria" pitchFamily="34" charset="0"/>
                <a:ea typeface="Cambria" pitchFamily="34" charset="-122"/>
                <a:cs typeface="Cambria" pitchFamily="34" charset="-120"/>
              </a:rPr>
              <a:t>Örnekler</a:t>
            </a:r>
            <a:endParaRPr lang="en-US" sz="1600" dirty="0"/>
          </a:p>
        </p:txBody>
      </p:sp>
      <p:sp>
        <p:nvSpPr>
          <p:cNvPr id="26" name="Text 24"/>
          <p:cNvSpPr txBox="1"/>
          <p:nvPr/>
        </p:nvSpPr>
        <p:spPr>
          <a:xfrm>
            <a:off x="10972800" y="6355080"/>
            <a:ext cx="438912" cy="237744"/>
          </a:xfrm>
          <a:prstGeom prst="rect">
            <a:avLst/>
          </a:prstGeom>
          <a:noFill/>
          <a:ln/>
        </p:spPr>
        <p:txBody>
          <a:bodyPr wrap="square" lIns="0" tIns="0" rIns="0" bIns="0" rtlCol="0" anchor="ctr"/>
          <a:lstStyle/>
          <a:p>
            <a:pPr algn="r" indent="0" marL="0">
              <a:buNone/>
            </a:pPr>
            <a:r>
              <a:rPr lang="en-US" sz="950" dirty="0">
                <a:solidFill>
                  <a:srgbClr val="A6A6AC"/>
                </a:solidFill>
                <a:latin typeface="Calibri" pitchFamily="34" charset="0"/>
                <a:ea typeface="Calibri" pitchFamily="34" charset="-122"/>
                <a:cs typeface="Calibri"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61A"/>
        </a:solidFill>
      </p:bgPr>
    </p:bg>
    <p:spTree>
      <p:nvGrpSpPr>
        <p:cNvPr id="1" name=""/>
        <p:cNvGrpSpPr/>
        <p:nvPr/>
      </p:nvGrpSpPr>
      <p:grpSpPr>
        <a:xfrm>
          <a:off x="0" y="0"/>
          <a:ext cx="0" cy="0"/>
          <a:chOff x="0" y="0"/>
          <a:chExt cx="0" cy="0"/>
        </a:xfrm>
      </p:grpSpPr>
      <p:sp>
        <p:nvSpPr>
          <p:cNvPr id="2" name="Text 0"/>
          <p:cNvSpPr txBox="1"/>
          <p:nvPr/>
        </p:nvSpPr>
        <p:spPr>
          <a:xfrm>
            <a:off x="777240" y="1371600"/>
            <a:ext cx="3108960" cy="2377440"/>
          </a:xfrm>
          <a:prstGeom prst="rect">
            <a:avLst/>
          </a:prstGeom>
          <a:noFill/>
          <a:ln/>
        </p:spPr>
        <p:txBody>
          <a:bodyPr wrap="square" lIns="0" tIns="0" rIns="0" bIns="0" rtlCol="0" anchor="ctr"/>
          <a:lstStyle/>
          <a:p>
            <a:pPr indent="0" marL="0">
              <a:buNone/>
            </a:pPr>
            <a:r>
              <a:rPr lang="en-US" sz="13000" b="1" dirty="0">
                <a:solidFill>
                  <a:srgbClr val="8C3A2B"/>
                </a:solidFill>
                <a:latin typeface="Cambria" pitchFamily="34" charset="0"/>
                <a:ea typeface="Cambria" pitchFamily="34" charset="-122"/>
                <a:cs typeface="Cambria" pitchFamily="34" charset="-120"/>
              </a:rPr>
              <a:t>I</a:t>
            </a:r>
            <a:endParaRPr lang="en-US" sz="13000" dirty="0"/>
          </a:p>
        </p:txBody>
      </p:sp>
      <p:sp>
        <p:nvSpPr>
          <p:cNvPr id="3" name="Text 1"/>
          <p:cNvSpPr txBox="1"/>
          <p:nvPr/>
        </p:nvSpPr>
        <p:spPr>
          <a:xfrm>
            <a:off x="777240" y="3611880"/>
            <a:ext cx="10424160" cy="1325880"/>
          </a:xfrm>
          <a:prstGeom prst="rect">
            <a:avLst/>
          </a:prstGeom>
          <a:noFill/>
          <a:ln/>
        </p:spPr>
        <p:txBody>
          <a:bodyPr wrap="square" lIns="0" tIns="0" rIns="0" bIns="0" rtlCol="0" anchor="ctr"/>
          <a:lstStyle/>
          <a:p>
            <a:pPr indent="0" marL="0">
              <a:lnSpc>
                <a:spcPts val="4400"/>
              </a:lnSpc>
              <a:buNone/>
            </a:pPr>
            <a:r>
              <a:rPr lang="en-US" sz="4000" b="1" dirty="0">
                <a:solidFill>
                  <a:srgbClr val="FFFFFF"/>
                </a:solidFill>
                <a:latin typeface="Cambria" pitchFamily="34" charset="0"/>
                <a:ea typeface="Cambria" pitchFamily="34" charset="-122"/>
                <a:cs typeface="Cambria" pitchFamily="34" charset="-120"/>
              </a:rPr>
              <a:t>Mağaza tasarımı nedir?</a:t>
            </a:r>
            <a:endParaRPr lang="en-US" sz="4000" dirty="0"/>
          </a:p>
        </p:txBody>
      </p:sp>
      <p:sp>
        <p:nvSpPr>
          <p:cNvPr id="4" name="Text 2"/>
          <p:cNvSpPr txBox="1"/>
          <p:nvPr/>
        </p:nvSpPr>
        <p:spPr>
          <a:xfrm>
            <a:off x="777240" y="5029200"/>
            <a:ext cx="9509760" cy="822960"/>
          </a:xfrm>
          <a:prstGeom prst="rect">
            <a:avLst/>
          </a:prstGeom>
          <a:noFill/>
          <a:ln/>
        </p:spPr>
        <p:txBody>
          <a:bodyPr wrap="square" lIns="0" tIns="0" rIns="0" bIns="0" rtlCol="0" anchor="ctr"/>
          <a:lstStyle/>
          <a:p>
            <a:pPr indent="0" marL="0">
              <a:lnSpc>
                <a:spcPts val="2200"/>
              </a:lnSpc>
              <a:buNone/>
            </a:pPr>
            <a:r>
              <a:rPr lang="en-US" sz="1500" dirty="0">
                <a:solidFill>
                  <a:srgbClr val="B9B9C0"/>
                </a:solidFill>
                <a:latin typeface="Calibri" pitchFamily="34" charset="0"/>
                <a:ea typeface="Calibri" pitchFamily="34" charset="-122"/>
                <a:cs typeface="Calibri" pitchFamily="34" charset="-120"/>
              </a:rPr>
              <a:t>Bir mekân tipi olarak mağaza ne yapar?</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CFA"/>
        </a:solidFill>
      </p:bgPr>
    </p:bg>
    <p:spTree>
      <p:nvGrpSpPr>
        <p:cNvPr id="1" name=""/>
        <p:cNvGrpSpPr/>
        <p:nvPr/>
      </p:nvGrpSpPr>
      <p:grpSpPr>
        <a:xfrm>
          <a:off x="0" y="0"/>
          <a:ext cx="0" cy="0"/>
          <a:chOff x="0" y="0"/>
          <a:chExt cx="0" cy="0"/>
        </a:xfrm>
      </p:grpSpPr>
      <p:sp>
        <p:nvSpPr>
          <p:cNvPr id="2" name="Text 0"/>
          <p:cNvSpPr txBox="1"/>
          <p:nvPr/>
        </p:nvSpPr>
        <p:spPr>
          <a:xfrm>
            <a:off x="777240" y="475488"/>
            <a:ext cx="9601200" cy="237744"/>
          </a:xfrm>
          <a:prstGeom prst="rect">
            <a:avLst/>
          </a:prstGeom>
          <a:noFill/>
          <a:ln/>
        </p:spPr>
        <p:txBody>
          <a:bodyPr wrap="square" lIns="0" tIns="0" rIns="0" bIns="0" rtlCol="0" anchor="ctr"/>
          <a:lstStyle/>
          <a:p>
            <a:pPr indent="0" marL="0">
              <a:buNone/>
            </a:pPr>
            <a:r>
              <a:rPr lang="en-US" sz="950" b="1" spc="260" kern="0" dirty="0">
                <a:solidFill>
                  <a:srgbClr val="7A7A82"/>
                </a:solidFill>
                <a:latin typeface="Calibri" pitchFamily="34" charset="0"/>
                <a:ea typeface="Calibri" pitchFamily="34" charset="-122"/>
                <a:cs typeface="Calibri" pitchFamily="34" charset="-120"/>
              </a:rPr>
              <a:t>I · MAĞAZA TASARIMI NEDİR</a:t>
            </a:r>
            <a:endParaRPr lang="en-US" sz="950" dirty="0"/>
          </a:p>
        </p:txBody>
      </p:sp>
      <p:sp>
        <p:nvSpPr>
          <p:cNvPr id="3" name="Text 1"/>
          <p:cNvSpPr txBox="1"/>
          <p:nvPr/>
        </p:nvSpPr>
        <p:spPr>
          <a:xfrm>
            <a:off x="777240" y="822960"/>
            <a:ext cx="10424160" cy="731520"/>
          </a:xfrm>
          <a:prstGeom prst="rect">
            <a:avLst/>
          </a:prstGeom>
          <a:noFill/>
          <a:ln/>
        </p:spPr>
        <p:txBody>
          <a:bodyPr wrap="square" lIns="0" tIns="0" rIns="0" bIns="0" rtlCol="0" anchor="ctr"/>
          <a:lstStyle/>
          <a:p>
            <a:pPr indent="0" marL="0">
              <a:lnSpc>
                <a:spcPts val="3400"/>
              </a:lnSpc>
              <a:buNone/>
            </a:pPr>
            <a:r>
              <a:rPr lang="en-US" sz="2900" b="1" dirty="0">
                <a:solidFill>
                  <a:srgbClr val="16161A"/>
                </a:solidFill>
                <a:latin typeface="Cambria" pitchFamily="34" charset="0"/>
                <a:ea typeface="Cambria" pitchFamily="34" charset="-122"/>
                <a:cs typeface="Cambria" pitchFamily="34" charset="-120"/>
              </a:rPr>
              <a:t>Mağaza aynı anda dört iş yapar</a:t>
            </a:r>
            <a:endParaRPr lang="en-US" sz="2900" dirty="0"/>
          </a:p>
        </p:txBody>
      </p:sp>
      <p:sp>
        <p:nvSpPr>
          <p:cNvPr id="4" name="Text 2"/>
          <p:cNvSpPr txBox="1"/>
          <p:nvPr/>
        </p:nvSpPr>
        <p:spPr>
          <a:xfrm>
            <a:off x="10972800" y="6355080"/>
            <a:ext cx="438912" cy="237744"/>
          </a:xfrm>
          <a:prstGeom prst="rect">
            <a:avLst/>
          </a:prstGeom>
          <a:noFill/>
          <a:ln/>
        </p:spPr>
        <p:txBody>
          <a:bodyPr wrap="square" lIns="0" tIns="0" rIns="0" bIns="0" rtlCol="0" anchor="ctr"/>
          <a:lstStyle/>
          <a:p>
            <a:pPr algn="r" indent="0" marL="0">
              <a:buNone/>
            </a:pPr>
            <a:r>
              <a:rPr lang="en-US" sz="950" dirty="0">
                <a:solidFill>
                  <a:srgbClr val="A6A6AC"/>
                </a:solidFill>
                <a:latin typeface="Calibri" pitchFamily="34" charset="0"/>
                <a:ea typeface="Calibri" pitchFamily="34" charset="-122"/>
                <a:cs typeface="Calibri" pitchFamily="34" charset="-120"/>
              </a:rPr>
              <a:t>4</a:t>
            </a:r>
            <a:endParaRPr lang="en-US" sz="950" dirty="0"/>
          </a:p>
        </p:txBody>
      </p:sp>
      <p:sp>
        <p:nvSpPr>
          <p:cNvPr id="5" name="Text 3"/>
          <p:cNvSpPr txBox="1"/>
          <p:nvPr/>
        </p:nvSpPr>
        <p:spPr>
          <a:xfrm>
            <a:off x="777240" y="1627632"/>
            <a:ext cx="10634472" cy="777240"/>
          </a:xfrm>
          <a:prstGeom prst="rect">
            <a:avLst/>
          </a:prstGeom>
          <a:noFill/>
          <a:ln/>
        </p:spPr>
        <p:txBody>
          <a:bodyPr wrap="square" lIns="0" tIns="0" rIns="0" bIns="0" rtlCol="0" anchor="ctr"/>
          <a:lstStyle/>
          <a:p>
            <a:pPr indent="0" marL="0">
              <a:lnSpc>
                <a:spcPts val="2300"/>
              </a:lnSpc>
              <a:buNone/>
            </a:pPr>
            <a:r>
              <a:rPr lang="en-US" sz="1500" dirty="0">
                <a:solidFill>
                  <a:srgbClr val="2B2B31"/>
                </a:solidFill>
                <a:latin typeface="Cambria" pitchFamily="34" charset="0"/>
                <a:ea typeface="Cambria" pitchFamily="34" charset="-122"/>
                <a:cs typeface="Cambria" pitchFamily="34" charset="-120"/>
              </a:rPr>
              <a:t>Mağaza tasarımı, ürünlerin sunulduğu mekânın tasarlanmasıdır. Ancak mağaza yalnızca ürünün durduğu yer değil, markanın kendini üç boyutlu anlattığı yerdir (Mesher, 2010). Bu dört iş aynı anda çözülmek zorundadır.</a:t>
            </a:r>
            <a:endParaRPr lang="en-US" sz="1500" dirty="0"/>
          </a:p>
        </p:txBody>
      </p:sp>
      <p:sp>
        <p:nvSpPr>
          <p:cNvPr id="6" name="Shape 4"/>
          <p:cNvSpPr/>
          <p:nvPr/>
        </p:nvSpPr>
        <p:spPr>
          <a:xfrm>
            <a:off x="777240" y="2697480"/>
            <a:ext cx="2487168" cy="2148840"/>
          </a:xfrm>
          <a:prstGeom prst="rect">
            <a:avLst/>
          </a:prstGeom>
          <a:ln w="9525">
            <a:solidFill>
              <a:srgbClr val="C9C9CF"/>
            </a:solidFill>
            <a:prstDash val="solid"/>
          </a:ln>
        </p:spPr>
      </p:sp>
      <p:sp>
        <p:nvSpPr>
          <p:cNvPr id="7" name="Text 5"/>
          <p:cNvSpPr txBox="1"/>
          <p:nvPr/>
        </p:nvSpPr>
        <p:spPr>
          <a:xfrm>
            <a:off x="978408" y="2862072"/>
            <a:ext cx="548640" cy="411480"/>
          </a:xfrm>
          <a:prstGeom prst="rect">
            <a:avLst/>
          </a:prstGeom>
          <a:noFill/>
          <a:ln/>
        </p:spPr>
        <p:txBody>
          <a:bodyPr wrap="square" lIns="0" tIns="0" rIns="0" bIns="0" rtlCol="0" anchor="ctr"/>
          <a:lstStyle/>
          <a:p>
            <a:pPr indent="0" marL="0">
              <a:buNone/>
            </a:pPr>
            <a:r>
              <a:rPr lang="en-US" sz="2600" b="1" dirty="0">
                <a:solidFill>
                  <a:srgbClr val="A6A6AC"/>
                </a:solidFill>
                <a:latin typeface="Cambria" pitchFamily="34" charset="0"/>
                <a:ea typeface="Cambria" pitchFamily="34" charset="-122"/>
                <a:cs typeface="Cambria" pitchFamily="34" charset="-120"/>
              </a:rPr>
              <a:t>1</a:t>
            </a:r>
            <a:endParaRPr lang="en-US" sz="2600" dirty="0"/>
          </a:p>
        </p:txBody>
      </p:sp>
      <p:sp>
        <p:nvSpPr>
          <p:cNvPr id="8" name="Text 6"/>
          <p:cNvSpPr txBox="1"/>
          <p:nvPr/>
        </p:nvSpPr>
        <p:spPr>
          <a:xfrm>
            <a:off x="978408" y="3355848"/>
            <a:ext cx="2084832" cy="457200"/>
          </a:xfrm>
          <a:prstGeom prst="rect">
            <a:avLst/>
          </a:prstGeom>
          <a:noFill/>
          <a:ln/>
        </p:spPr>
        <p:txBody>
          <a:bodyPr wrap="square" lIns="0" tIns="0" rIns="0" bIns="0" rtlCol="0" anchor="ctr"/>
          <a:lstStyle/>
          <a:p>
            <a:pPr indent="0" marL="0">
              <a:buNone/>
            </a:pPr>
            <a:r>
              <a:rPr lang="en-US" sz="1050" b="1" spc="120" kern="0" dirty="0">
                <a:solidFill>
                  <a:srgbClr val="16161A"/>
                </a:solidFill>
                <a:latin typeface="Calibri" pitchFamily="34" charset="0"/>
                <a:ea typeface="Calibri" pitchFamily="34" charset="-122"/>
                <a:cs typeface="Calibri" pitchFamily="34" charset="-120"/>
              </a:rPr>
              <a:t>ÜRÜNÜ SUNAR</a:t>
            </a:r>
            <a:endParaRPr lang="en-US" sz="1050" dirty="0"/>
          </a:p>
        </p:txBody>
      </p:sp>
      <p:sp>
        <p:nvSpPr>
          <p:cNvPr id="9" name="Text 7"/>
          <p:cNvSpPr txBox="1"/>
          <p:nvPr/>
        </p:nvSpPr>
        <p:spPr>
          <a:xfrm>
            <a:off x="978408" y="3831336"/>
            <a:ext cx="2084832" cy="868680"/>
          </a:xfrm>
          <a:prstGeom prst="rect">
            <a:avLst/>
          </a:prstGeom>
          <a:noFill/>
          <a:ln/>
        </p:spPr>
        <p:txBody>
          <a:bodyPr wrap="square" lIns="0" tIns="0" rIns="0" bIns="0" rtlCol="0" anchor="ctr"/>
          <a:lstStyle/>
          <a:p>
            <a:pPr indent="0" marL="0">
              <a:lnSpc>
                <a:spcPts val="1350"/>
              </a:lnSpc>
              <a:buNone/>
            </a:pPr>
            <a:r>
              <a:rPr lang="en-US" sz="1050" dirty="0">
                <a:solidFill>
                  <a:srgbClr val="7A7A82"/>
                </a:solidFill>
                <a:latin typeface="Calibri" pitchFamily="34" charset="0"/>
                <a:ea typeface="Calibri" pitchFamily="34" charset="-122"/>
                <a:cs typeface="Calibri" pitchFamily="34" charset="-120"/>
              </a:rPr>
              <a:t>Ürün görünür, ulaşılabilir</a:t>
            </a:r>
            <a:endParaRPr lang="en-US" sz="1050" dirty="0"/>
          </a:p>
          <a:p>
            <a:pPr indent="0" marL="0">
              <a:lnSpc>
                <a:spcPts val="1350"/>
              </a:lnSpc>
              <a:buNone/>
            </a:pPr>
            <a:r>
              <a:rPr lang="en-US" sz="1050" dirty="0">
                <a:solidFill>
                  <a:srgbClr val="7A7A82"/>
                </a:solidFill>
                <a:latin typeface="Calibri" pitchFamily="34" charset="0"/>
                <a:ea typeface="Calibri" pitchFamily="34" charset="-122"/>
                <a:cs typeface="Calibri" pitchFamily="34" charset="-120"/>
              </a:rPr>
              <a:t>ve anlaşılır olmalı.</a:t>
            </a:r>
            <a:endParaRPr lang="en-US" sz="1050" dirty="0"/>
          </a:p>
          <a:p>
            <a:pPr indent="0" marL="0">
              <a:lnSpc>
                <a:spcPts val="1350"/>
              </a:lnSpc>
              <a:buNone/>
            </a:pPr>
            <a:r>
              <a:rPr lang="en-US" sz="1050" dirty="0">
                <a:solidFill>
                  <a:srgbClr val="7A7A82"/>
                </a:solidFill>
                <a:latin typeface="Calibri" pitchFamily="34" charset="0"/>
                <a:ea typeface="Calibri" pitchFamily="34" charset="-122"/>
                <a:cs typeface="Calibri" pitchFamily="34" charset="-120"/>
              </a:rPr>
              <a:t>Raf yüksekliği, ışık, ölçü.</a:t>
            </a:r>
            <a:endParaRPr lang="en-US" sz="1050" dirty="0"/>
          </a:p>
        </p:txBody>
      </p:sp>
      <p:sp>
        <p:nvSpPr>
          <p:cNvPr id="10" name="Shape 8"/>
          <p:cNvSpPr/>
          <p:nvPr/>
        </p:nvSpPr>
        <p:spPr>
          <a:xfrm>
            <a:off x="3493008" y="2697480"/>
            <a:ext cx="2487168" cy="2148840"/>
          </a:xfrm>
          <a:prstGeom prst="rect">
            <a:avLst/>
          </a:prstGeom>
          <a:ln w="9525">
            <a:solidFill>
              <a:srgbClr val="C9C9CF"/>
            </a:solidFill>
            <a:prstDash val="solid"/>
          </a:ln>
        </p:spPr>
      </p:sp>
      <p:sp>
        <p:nvSpPr>
          <p:cNvPr id="11" name="Text 9"/>
          <p:cNvSpPr txBox="1"/>
          <p:nvPr/>
        </p:nvSpPr>
        <p:spPr>
          <a:xfrm>
            <a:off x="3694176" y="2862072"/>
            <a:ext cx="548640" cy="411480"/>
          </a:xfrm>
          <a:prstGeom prst="rect">
            <a:avLst/>
          </a:prstGeom>
          <a:noFill/>
          <a:ln/>
        </p:spPr>
        <p:txBody>
          <a:bodyPr wrap="square" lIns="0" tIns="0" rIns="0" bIns="0" rtlCol="0" anchor="ctr"/>
          <a:lstStyle/>
          <a:p>
            <a:pPr indent="0" marL="0">
              <a:buNone/>
            </a:pPr>
            <a:r>
              <a:rPr lang="en-US" sz="2600" b="1" dirty="0">
                <a:solidFill>
                  <a:srgbClr val="A6A6AC"/>
                </a:solidFill>
                <a:latin typeface="Cambria" pitchFamily="34" charset="0"/>
                <a:ea typeface="Cambria" pitchFamily="34" charset="-122"/>
                <a:cs typeface="Cambria" pitchFamily="34" charset="-120"/>
              </a:rPr>
              <a:t>2</a:t>
            </a:r>
            <a:endParaRPr lang="en-US" sz="2600" dirty="0"/>
          </a:p>
        </p:txBody>
      </p:sp>
      <p:sp>
        <p:nvSpPr>
          <p:cNvPr id="12" name="Text 10"/>
          <p:cNvSpPr txBox="1"/>
          <p:nvPr/>
        </p:nvSpPr>
        <p:spPr>
          <a:xfrm>
            <a:off x="3694176" y="3355848"/>
            <a:ext cx="2084832" cy="457200"/>
          </a:xfrm>
          <a:prstGeom prst="rect">
            <a:avLst/>
          </a:prstGeom>
          <a:noFill/>
          <a:ln/>
        </p:spPr>
        <p:txBody>
          <a:bodyPr wrap="square" lIns="0" tIns="0" rIns="0" bIns="0" rtlCol="0" anchor="ctr"/>
          <a:lstStyle/>
          <a:p>
            <a:pPr indent="0" marL="0">
              <a:buNone/>
            </a:pPr>
            <a:r>
              <a:rPr lang="en-US" sz="1050" b="1" spc="120" kern="0" dirty="0">
                <a:solidFill>
                  <a:srgbClr val="16161A"/>
                </a:solidFill>
                <a:latin typeface="Calibri" pitchFamily="34" charset="0"/>
                <a:ea typeface="Calibri" pitchFamily="34" charset="-122"/>
                <a:cs typeface="Calibri" pitchFamily="34" charset="-120"/>
              </a:rPr>
              <a:t>YÖNLENDİRİR</a:t>
            </a:r>
            <a:endParaRPr lang="en-US" sz="1050" dirty="0"/>
          </a:p>
        </p:txBody>
      </p:sp>
      <p:sp>
        <p:nvSpPr>
          <p:cNvPr id="13" name="Text 11"/>
          <p:cNvSpPr txBox="1"/>
          <p:nvPr/>
        </p:nvSpPr>
        <p:spPr>
          <a:xfrm>
            <a:off x="3694176" y="3831336"/>
            <a:ext cx="2084832" cy="868680"/>
          </a:xfrm>
          <a:prstGeom prst="rect">
            <a:avLst/>
          </a:prstGeom>
          <a:noFill/>
          <a:ln/>
        </p:spPr>
        <p:txBody>
          <a:bodyPr wrap="square" lIns="0" tIns="0" rIns="0" bIns="0" rtlCol="0" anchor="ctr"/>
          <a:lstStyle/>
          <a:p>
            <a:pPr indent="0" marL="0">
              <a:lnSpc>
                <a:spcPts val="1350"/>
              </a:lnSpc>
              <a:buNone/>
            </a:pPr>
            <a:r>
              <a:rPr lang="en-US" sz="1050" dirty="0">
                <a:solidFill>
                  <a:srgbClr val="7A7A82"/>
                </a:solidFill>
                <a:latin typeface="Calibri" pitchFamily="34" charset="0"/>
                <a:ea typeface="Calibri" pitchFamily="34" charset="-122"/>
                <a:cs typeface="Calibri" pitchFamily="34" charset="-120"/>
              </a:rPr>
              <a:t>İnsan nereye gideceğini</a:t>
            </a:r>
            <a:endParaRPr lang="en-US" sz="1050" dirty="0"/>
          </a:p>
          <a:p>
            <a:pPr indent="0" marL="0">
              <a:lnSpc>
                <a:spcPts val="1350"/>
              </a:lnSpc>
              <a:buNone/>
            </a:pPr>
            <a:r>
              <a:rPr lang="en-US" sz="1050" dirty="0">
                <a:solidFill>
                  <a:srgbClr val="7A7A82"/>
                </a:solidFill>
                <a:latin typeface="Calibri" pitchFamily="34" charset="0"/>
                <a:ea typeface="Calibri" pitchFamily="34" charset="-122"/>
                <a:cs typeface="Calibri" pitchFamily="34" charset="-120"/>
              </a:rPr>
              <a:t>düşünmemeli. İyi mağaza</a:t>
            </a:r>
            <a:endParaRPr lang="en-US" sz="1050" dirty="0"/>
          </a:p>
          <a:p>
            <a:pPr indent="0" marL="0">
              <a:lnSpc>
                <a:spcPts val="1350"/>
              </a:lnSpc>
              <a:buNone/>
            </a:pPr>
            <a:r>
              <a:rPr lang="en-US" sz="1050" dirty="0">
                <a:solidFill>
                  <a:srgbClr val="7A7A82"/>
                </a:solidFill>
                <a:latin typeface="Calibri" pitchFamily="34" charset="0"/>
                <a:ea typeface="Calibri" pitchFamily="34" charset="-122"/>
                <a:cs typeface="Calibri" pitchFamily="34" charset="-120"/>
              </a:rPr>
              <a:t>tabelayla değil kurguyla</a:t>
            </a:r>
            <a:endParaRPr lang="en-US" sz="1050" dirty="0"/>
          </a:p>
          <a:p>
            <a:pPr indent="0" marL="0">
              <a:lnSpc>
                <a:spcPts val="1350"/>
              </a:lnSpc>
              <a:buNone/>
            </a:pPr>
            <a:r>
              <a:rPr lang="en-US" sz="1050" dirty="0">
                <a:solidFill>
                  <a:srgbClr val="7A7A82"/>
                </a:solidFill>
                <a:latin typeface="Calibri" pitchFamily="34" charset="0"/>
                <a:ea typeface="Calibri" pitchFamily="34" charset="-122"/>
                <a:cs typeface="Calibri" pitchFamily="34" charset="-120"/>
              </a:rPr>
              <a:t>yönlendirir.</a:t>
            </a:r>
            <a:endParaRPr lang="en-US" sz="1050" dirty="0"/>
          </a:p>
        </p:txBody>
      </p:sp>
      <p:sp>
        <p:nvSpPr>
          <p:cNvPr id="14" name="Shape 12"/>
          <p:cNvSpPr/>
          <p:nvPr/>
        </p:nvSpPr>
        <p:spPr>
          <a:xfrm>
            <a:off x="6208776" y="2697480"/>
            <a:ext cx="2487168" cy="2148840"/>
          </a:xfrm>
          <a:prstGeom prst="rect">
            <a:avLst/>
          </a:prstGeom>
          <a:ln w="9525">
            <a:solidFill>
              <a:srgbClr val="C9C9CF"/>
            </a:solidFill>
            <a:prstDash val="solid"/>
          </a:ln>
        </p:spPr>
      </p:sp>
      <p:sp>
        <p:nvSpPr>
          <p:cNvPr id="15" name="Text 13"/>
          <p:cNvSpPr txBox="1"/>
          <p:nvPr/>
        </p:nvSpPr>
        <p:spPr>
          <a:xfrm>
            <a:off x="6409944" y="2862072"/>
            <a:ext cx="548640" cy="411480"/>
          </a:xfrm>
          <a:prstGeom prst="rect">
            <a:avLst/>
          </a:prstGeom>
          <a:noFill/>
          <a:ln/>
        </p:spPr>
        <p:txBody>
          <a:bodyPr wrap="square" lIns="0" tIns="0" rIns="0" bIns="0" rtlCol="0" anchor="ctr"/>
          <a:lstStyle/>
          <a:p>
            <a:pPr indent="0" marL="0">
              <a:buNone/>
            </a:pPr>
            <a:r>
              <a:rPr lang="en-US" sz="2600" b="1" dirty="0">
                <a:solidFill>
                  <a:srgbClr val="A6A6AC"/>
                </a:solidFill>
                <a:latin typeface="Cambria" pitchFamily="34" charset="0"/>
                <a:ea typeface="Cambria" pitchFamily="34" charset="-122"/>
                <a:cs typeface="Cambria" pitchFamily="34" charset="-120"/>
              </a:rPr>
              <a:t>3</a:t>
            </a:r>
            <a:endParaRPr lang="en-US" sz="2600" dirty="0"/>
          </a:p>
        </p:txBody>
      </p:sp>
      <p:sp>
        <p:nvSpPr>
          <p:cNvPr id="16" name="Text 14"/>
          <p:cNvSpPr txBox="1"/>
          <p:nvPr/>
        </p:nvSpPr>
        <p:spPr>
          <a:xfrm>
            <a:off x="6409944" y="3355848"/>
            <a:ext cx="2084832" cy="457200"/>
          </a:xfrm>
          <a:prstGeom prst="rect">
            <a:avLst/>
          </a:prstGeom>
          <a:noFill/>
          <a:ln/>
        </p:spPr>
        <p:txBody>
          <a:bodyPr wrap="square" lIns="0" tIns="0" rIns="0" bIns="0" rtlCol="0" anchor="ctr"/>
          <a:lstStyle/>
          <a:p>
            <a:pPr indent="0" marL="0">
              <a:buNone/>
            </a:pPr>
            <a:r>
              <a:rPr lang="en-US" sz="1050" b="1" spc="120" kern="0" dirty="0">
                <a:solidFill>
                  <a:srgbClr val="16161A"/>
                </a:solidFill>
                <a:latin typeface="Calibri" pitchFamily="34" charset="0"/>
                <a:ea typeface="Calibri" pitchFamily="34" charset="-122"/>
                <a:cs typeface="Calibri" pitchFamily="34" charset="-120"/>
              </a:rPr>
              <a:t>ATMOSFER ÜRETİR</a:t>
            </a:r>
            <a:endParaRPr lang="en-US" sz="1050" dirty="0"/>
          </a:p>
        </p:txBody>
      </p:sp>
      <p:sp>
        <p:nvSpPr>
          <p:cNvPr id="17" name="Text 15"/>
          <p:cNvSpPr txBox="1"/>
          <p:nvPr/>
        </p:nvSpPr>
        <p:spPr>
          <a:xfrm>
            <a:off x="6409944" y="3831336"/>
            <a:ext cx="2084832" cy="868680"/>
          </a:xfrm>
          <a:prstGeom prst="rect">
            <a:avLst/>
          </a:prstGeom>
          <a:noFill/>
          <a:ln/>
        </p:spPr>
        <p:txBody>
          <a:bodyPr wrap="square" lIns="0" tIns="0" rIns="0" bIns="0" rtlCol="0" anchor="ctr"/>
          <a:lstStyle/>
          <a:p>
            <a:pPr indent="0" marL="0">
              <a:lnSpc>
                <a:spcPts val="1350"/>
              </a:lnSpc>
              <a:buNone/>
            </a:pPr>
            <a:r>
              <a:rPr lang="en-US" sz="1050" dirty="0">
                <a:solidFill>
                  <a:srgbClr val="7A7A82"/>
                </a:solidFill>
                <a:latin typeface="Calibri" pitchFamily="34" charset="0"/>
                <a:ea typeface="Calibri" pitchFamily="34" charset="-122"/>
                <a:cs typeface="Calibri" pitchFamily="34" charset="-120"/>
              </a:rPr>
              <a:t>Işık, malzeme, ses ve koku</a:t>
            </a:r>
            <a:endParaRPr lang="en-US" sz="1050" dirty="0"/>
          </a:p>
          <a:p>
            <a:pPr indent="0" marL="0">
              <a:lnSpc>
                <a:spcPts val="1350"/>
              </a:lnSpc>
              <a:buNone/>
            </a:pPr>
            <a:r>
              <a:rPr lang="en-US" sz="1050" dirty="0">
                <a:solidFill>
                  <a:srgbClr val="7A7A82"/>
                </a:solidFill>
                <a:latin typeface="Calibri" pitchFamily="34" charset="0"/>
                <a:ea typeface="Calibri" pitchFamily="34" charset="-122"/>
                <a:cs typeface="Calibri" pitchFamily="34" charset="-120"/>
              </a:rPr>
              <a:t>bir duygu durumu yaratır;</a:t>
            </a:r>
            <a:endParaRPr lang="en-US" sz="1050" dirty="0"/>
          </a:p>
          <a:p>
            <a:pPr indent="0" marL="0">
              <a:lnSpc>
                <a:spcPts val="1350"/>
              </a:lnSpc>
              <a:buNone/>
            </a:pPr>
            <a:r>
              <a:rPr lang="en-US" sz="1050" dirty="0">
                <a:solidFill>
                  <a:srgbClr val="7A7A82"/>
                </a:solidFill>
                <a:latin typeface="Calibri" pitchFamily="34" charset="0"/>
                <a:ea typeface="Calibri" pitchFamily="34" charset="-122"/>
                <a:cs typeface="Calibri" pitchFamily="34" charset="-120"/>
              </a:rPr>
              <a:t>bu, karara etki eder.</a:t>
            </a:r>
            <a:endParaRPr lang="en-US" sz="1050" dirty="0"/>
          </a:p>
        </p:txBody>
      </p:sp>
      <p:sp>
        <p:nvSpPr>
          <p:cNvPr id="18" name="Shape 16"/>
          <p:cNvSpPr/>
          <p:nvPr/>
        </p:nvSpPr>
        <p:spPr>
          <a:xfrm>
            <a:off x="8924544" y="2697480"/>
            <a:ext cx="2487168" cy="2148840"/>
          </a:xfrm>
          <a:prstGeom prst="rect">
            <a:avLst/>
          </a:prstGeom>
          <a:solidFill>
            <a:srgbClr val="F6EAE6"/>
          </a:solidFill>
          <a:ln w="15875">
            <a:solidFill>
              <a:srgbClr val="8C3A2B"/>
            </a:solidFill>
            <a:prstDash val="solid"/>
          </a:ln>
        </p:spPr>
      </p:sp>
      <p:sp>
        <p:nvSpPr>
          <p:cNvPr id="19" name="Text 17"/>
          <p:cNvSpPr txBox="1"/>
          <p:nvPr/>
        </p:nvSpPr>
        <p:spPr>
          <a:xfrm>
            <a:off x="9125712" y="2862072"/>
            <a:ext cx="548640" cy="411480"/>
          </a:xfrm>
          <a:prstGeom prst="rect">
            <a:avLst/>
          </a:prstGeom>
          <a:noFill/>
          <a:ln/>
        </p:spPr>
        <p:txBody>
          <a:bodyPr wrap="square" lIns="0" tIns="0" rIns="0" bIns="0" rtlCol="0" anchor="ctr"/>
          <a:lstStyle/>
          <a:p>
            <a:pPr indent="0" marL="0">
              <a:buNone/>
            </a:pPr>
            <a:r>
              <a:rPr lang="en-US" sz="2600" b="1" dirty="0">
                <a:solidFill>
                  <a:srgbClr val="8C3A2B"/>
                </a:solidFill>
                <a:latin typeface="Cambria" pitchFamily="34" charset="0"/>
                <a:ea typeface="Cambria" pitchFamily="34" charset="-122"/>
                <a:cs typeface="Cambria" pitchFamily="34" charset="-120"/>
              </a:rPr>
              <a:t>4</a:t>
            </a:r>
            <a:endParaRPr lang="en-US" sz="2600" dirty="0"/>
          </a:p>
        </p:txBody>
      </p:sp>
      <p:sp>
        <p:nvSpPr>
          <p:cNvPr id="20" name="Text 18"/>
          <p:cNvSpPr txBox="1"/>
          <p:nvPr/>
        </p:nvSpPr>
        <p:spPr>
          <a:xfrm>
            <a:off x="9125712" y="3355848"/>
            <a:ext cx="2084832" cy="457200"/>
          </a:xfrm>
          <a:prstGeom prst="rect">
            <a:avLst/>
          </a:prstGeom>
          <a:noFill/>
          <a:ln/>
        </p:spPr>
        <p:txBody>
          <a:bodyPr wrap="square" lIns="0" tIns="0" rIns="0" bIns="0" rtlCol="0" anchor="ctr"/>
          <a:lstStyle/>
          <a:p>
            <a:pPr indent="0" marL="0">
              <a:buNone/>
            </a:pPr>
            <a:r>
              <a:rPr lang="en-US" sz="1050" b="1" spc="120" kern="0" dirty="0">
                <a:solidFill>
                  <a:srgbClr val="8C3A2B"/>
                </a:solidFill>
                <a:latin typeface="Calibri" pitchFamily="34" charset="0"/>
                <a:ea typeface="Calibri" pitchFamily="34" charset="-122"/>
                <a:cs typeface="Calibri" pitchFamily="34" charset="-120"/>
              </a:rPr>
              <a:t>İŞLETMEYİ BARINDIRIR</a:t>
            </a:r>
            <a:endParaRPr lang="en-US" sz="1050" dirty="0"/>
          </a:p>
        </p:txBody>
      </p:sp>
      <p:sp>
        <p:nvSpPr>
          <p:cNvPr id="21" name="Text 19"/>
          <p:cNvSpPr txBox="1"/>
          <p:nvPr/>
        </p:nvSpPr>
        <p:spPr>
          <a:xfrm>
            <a:off x="9125712" y="3831336"/>
            <a:ext cx="2084832" cy="868680"/>
          </a:xfrm>
          <a:prstGeom prst="rect">
            <a:avLst/>
          </a:prstGeom>
          <a:noFill/>
          <a:ln/>
        </p:spPr>
        <p:txBody>
          <a:bodyPr wrap="square" lIns="0" tIns="0" rIns="0" bIns="0" rtlCol="0" anchor="ctr"/>
          <a:lstStyle/>
          <a:p>
            <a:pPr indent="0" marL="0">
              <a:lnSpc>
                <a:spcPts val="1350"/>
              </a:lnSpc>
              <a:buNone/>
            </a:pPr>
            <a:r>
              <a:rPr lang="en-US" sz="1050" dirty="0">
                <a:solidFill>
                  <a:srgbClr val="7A7A82"/>
                </a:solidFill>
                <a:latin typeface="Calibri" pitchFamily="34" charset="0"/>
                <a:ea typeface="Calibri" pitchFamily="34" charset="-122"/>
                <a:cs typeface="Calibri" pitchFamily="34" charset="-120"/>
              </a:rPr>
              <a:t>Depo, kasa, personel ve</a:t>
            </a:r>
            <a:endParaRPr lang="en-US" sz="1050" dirty="0"/>
          </a:p>
          <a:p>
            <a:pPr indent="0" marL="0">
              <a:lnSpc>
                <a:spcPts val="1350"/>
              </a:lnSpc>
              <a:buNone/>
            </a:pPr>
            <a:r>
              <a:rPr lang="en-US" sz="1050" dirty="0">
                <a:solidFill>
                  <a:srgbClr val="7A7A82"/>
                </a:solidFill>
                <a:latin typeface="Calibri" pitchFamily="34" charset="0"/>
                <a:ea typeface="Calibri" pitchFamily="34" charset="-122"/>
                <a:cs typeface="Calibri" pitchFamily="34" charset="-120"/>
              </a:rPr>
              <a:t>mal kabul çözülmezse</a:t>
            </a:r>
            <a:endParaRPr lang="en-US" sz="1050" dirty="0"/>
          </a:p>
          <a:p>
            <a:pPr indent="0" marL="0">
              <a:lnSpc>
                <a:spcPts val="1350"/>
              </a:lnSpc>
              <a:buNone/>
            </a:pPr>
            <a:r>
              <a:rPr lang="en-US" sz="1050" dirty="0">
                <a:solidFill>
                  <a:srgbClr val="7A7A82"/>
                </a:solidFill>
                <a:latin typeface="Calibri" pitchFamily="34" charset="0"/>
                <a:ea typeface="Calibri" pitchFamily="34" charset="-122"/>
                <a:cs typeface="Calibri" pitchFamily="34" charset="-120"/>
              </a:rPr>
              <a:t>mağaza çalışmaz.</a:t>
            </a:r>
            <a:endParaRPr lang="en-US" sz="1050" dirty="0"/>
          </a:p>
        </p:txBody>
      </p:sp>
      <p:sp>
        <p:nvSpPr>
          <p:cNvPr id="22" name="Text 20"/>
          <p:cNvSpPr txBox="1"/>
          <p:nvPr/>
        </p:nvSpPr>
        <p:spPr>
          <a:xfrm>
            <a:off x="777240" y="5074920"/>
            <a:ext cx="10424160" cy="365760"/>
          </a:xfrm>
          <a:prstGeom prst="rect">
            <a:avLst/>
          </a:prstGeom>
          <a:noFill/>
          <a:ln/>
        </p:spPr>
        <p:txBody>
          <a:bodyPr wrap="square" lIns="0" tIns="0" rIns="0" bIns="0" rtlCol="0" anchor="ctr"/>
          <a:lstStyle/>
          <a:p>
            <a:pPr algn="l" indent="0" marL="0">
              <a:lnSpc>
                <a:spcPts val="1200"/>
              </a:lnSpc>
              <a:buNone/>
            </a:pPr>
            <a:r>
              <a:rPr lang="en-US" sz="1300" i="1" dirty="0">
                <a:solidFill>
                  <a:srgbClr val="8C3A2B"/>
                </a:solidFill>
                <a:latin typeface="Cambria" pitchFamily="34" charset="0"/>
                <a:ea typeface="Cambria" pitchFamily="34" charset="-122"/>
                <a:cs typeface="Cambria" pitchFamily="34" charset="-120"/>
              </a:rPr>
              <a:t>Dördüncüsü en çok ihmal edilendir: bir mağaza sadece müşterinin gördüğü yer değildir.</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CFA"/>
        </a:solidFill>
      </p:bgPr>
    </p:bg>
    <p:spTree>
      <p:nvGrpSpPr>
        <p:cNvPr id="1" name=""/>
        <p:cNvGrpSpPr/>
        <p:nvPr/>
      </p:nvGrpSpPr>
      <p:grpSpPr>
        <a:xfrm>
          <a:off x="0" y="0"/>
          <a:ext cx="0" cy="0"/>
          <a:chOff x="0" y="0"/>
          <a:chExt cx="0" cy="0"/>
        </a:xfrm>
      </p:grpSpPr>
      <p:sp>
        <p:nvSpPr>
          <p:cNvPr id="2" name="Text 0"/>
          <p:cNvSpPr txBox="1"/>
          <p:nvPr/>
        </p:nvSpPr>
        <p:spPr>
          <a:xfrm>
            <a:off x="777240" y="475488"/>
            <a:ext cx="9601200" cy="237744"/>
          </a:xfrm>
          <a:prstGeom prst="rect">
            <a:avLst/>
          </a:prstGeom>
          <a:noFill/>
          <a:ln/>
        </p:spPr>
        <p:txBody>
          <a:bodyPr wrap="square" lIns="0" tIns="0" rIns="0" bIns="0" rtlCol="0" anchor="ctr"/>
          <a:lstStyle/>
          <a:p>
            <a:pPr indent="0" marL="0">
              <a:buNone/>
            </a:pPr>
            <a:r>
              <a:rPr lang="en-US" sz="950" b="1" spc="260" kern="0" dirty="0">
                <a:solidFill>
                  <a:srgbClr val="7A7A82"/>
                </a:solidFill>
                <a:latin typeface="Calibri" pitchFamily="34" charset="0"/>
                <a:ea typeface="Calibri" pitchFamily="34" charset="-122"/>
                <a:cs typeface="Calibri" pitchFamily="34" charset="-120"/>
              </a:rPr>
              <a:t>I · MAĞAZA TASARIMI NEDİR</a:t>
            </a:r>
            <a:endParaRPr lang="en-US" sz="950" dirty="0"/>
          </a:p>
        </p:txBody>
      </p:sp>
      <p:sp>
        <p:nvSpPr>
          <p:cNvPr id="3" name="Text 1"/>
          <p:cNvSpPr txBox="1"/>
          <p:nvPr/>
        </p:nvSpPr>
        <p:spPr>
          <a:xfrm>
            <a:off x="777240" y="822960"/>
            <a:ext cx="10424160" cy="731520"/>
          </a:xfrm>
          <a:prstGeom prst="rect">
            <a:avLst/>
          </a:prstGeom>
          <a:noFill/>
          <a:ln/>
        </p:spPr>
        <p:txBody>
          <a:bodyPr wrap="square" lIns="0" tIns="0" rIns="0" bIns="0" rtlCol="0" anchor="ctr"/>
          <a:lstStyle/>
          <a:p>
            <a:pPr indent="0" marL="0">
              <a:lnSpc>
                <a:spcPts val="3400"/>
              </a:lnSpc>
              <a:buNone/>
            </a:pPr>
            <a:r>
              <a:rPr lang="en-US" sz="2900" b="1" dirty="0">
                <a:solidFill>
                  <a:srgbClr val="16161A"/>
                </a:solidFill>
                <a:latin typeface="Cambria" pitchFamily="34" charset="0"/>
                <a:ea typeface="Cambria" pitchFamily="34" charset="-122"/>
                <a:cs typeface="Cambria" pitchFamily="34" charset="-120"/>
              </a:rPr>
              <a:t>Perakende tasarımının beş öğesi</a:t>
            </a:r>
            <a:endParaRPr lang="en-US" sz="2900" dirty="0"/>
          </a:p>
        </p:txBody>
      </p:sp>
      <p:sp>
        <p:nvSpPr>
          <p:cNvPr id="4" name="Text 2"/>
          <p:cNvSpPr txBox="1"/>
          <p:nvPr/>
        </p:nvSpPr>
        <p:spPr>
          <a:xfrm>
            <a:off x="10972800" y="6355080"/>
            <a:ext cx="438912" cy="237744"/>
          </a:xfrm>
          <a:prstGeom prst="rect">
            <a:avLst/>
          </a:prstGeom>
          <a:noFill/>
          <a:ln/>
        </p:spPr>
        <p:txBody>
          <a:bodyPr wrap="square" lIns="0" tIns="0" rIns="0" bIns="0" rtlCol="0" anchor="ctr"/>
          <a:lstStyle/>
          <a:p>
            <a:pPr algn="r" indent="0" marL="0">
              <a:buNone/>
            </a:pPr>
            <a:r>
              <a:rPr lang="en-US" sz="950" dirty="0">
                <a:solidFill>
                  <a:srgbClr val="A6A6AC"/>
                </a:solidFill>
                <a:latin typeface="Calibri" pitchFamily="34" charset="0"/>
                <a:ea typeface="Calibri" pitchFamily="34" charset="-122"/>
                <a:cs typeface="Calibri" pitchFamily="34" charset="-120"/>
              </a:rPr>
              <a:t>5</a:t>
            </a:r>
            <a:endParaRPr lang="en-US" sz="950" dirty="0"/>
          </a:p>
        </p:txBody>
      </p:sp>
      <p:sp>
        <p:nvSpPr>
          <p:cNvPr id="5" name="Text 3"/>
          <p:cNvSpPr txBox="1"/>
          <p:nvPr/>
        </p:nvSpPr>
        <p:spPr>
          <a:xfrm>
            <a:off x="777240" y="1591056"/>
            <a:ext cx="10634472" cy="914400"/>
          </a:xfrm>
          <a:prstGeom prst="rect">
            <a:avLst/>
          </a:prstGeom>
          <a:noFill/>
          <a:ln/>
        </p:spPr>
        <p:txBody>
          <a:bodyPr wrap="square" lIns="0" tIns="0" rIns="0" bIns="0" rtlCol="0" anchor="ctr"/>
          <a:lstStyle/>
          <a:p>
            <a:pPr indent="0" marL="0">
              <a:lnSpc>
                <a:spcPts val="2300"/>
              </a:lnSpc>
              <a:buNone/>
            </a:pPr>
            <a:r>
              <a:rPr lang="en-US" sz="1500" dirty="0">
                <a:solidFill>
                  <a:srgbClr val="2B2B31"/>
                </a:solidFill>
                <a:latin typeface="Cambria" pitchFamily="34" charset="0"/>
                <a:ea typeface="Cambria" pitchFamily="34" charset="-122"/>
                <a:cs typeface="Cambria" pitchFamily="34" charset="-120"/>
              </a:rPr>
              <a:t>Bir mağaza tasarımı beş ayrı katmandan oluşur. Bunlar birbirinden bağımsız kararlar değildir; biri değiştiğinde diğerleri de değişir. Yine de tasarımı ele alırken bu beş başlığı ayrı ayrı sormak, hiçbirinin atlanmamasını sağlar.</a:t>
            </a:r>
            <a:endParaRPr lang="en-US" sz="1500" dirty="0"/>
          </a:p>
        </p:txBody>
      </p:sp>
      <p:sp>
        <p:nvSpPr>
          <p:cNvPr id="6" name="Shape 4"/>
          <p:cNvSpPr/>
          <p:nvPr/>
        </p:nvSpPr>
        <p:spPr>
          <a:xfrm>
            <a:off x="1417320" y="3886200"/>
            <a:ext cx="9372600" cy="0"/>
          </a:xfrm>
          <a:prstGeom prst="line">
            <a:avLst/>
          </a:prstGeom>
          <a:noFill/>
          <a:ln w="15875">
            <a:solidFill>
              <a:srgbClr val="C9C9CF"/>
            </a:solidFill>
            <a:prstDash val="solid"/>
          </a:ln>
        </p:spPr>
      </p:sp>
      <p:sp>
        <p:nvSpPr>
          <p:cNvPr id="7" name="Shape 5"/>
          <p:cNvSpPr/>
          <p:nvPr/>
        </p:nvSpPr>
        <p:spPr>
          <a:xfrm>
            <a:off x="1796796" y="3808476"/>
            <a:ext cx="155448" cy="155448"/>
          </a:xfrm>
          <a:prstGeom prst="ellipse">
            <a:avLst/>
          </a:prstGeom>
          <a:solidFill>
            <a:srgbClr val="8C3A2B"/>
          </a:solidFill>
          <a:ln w="12700">
            <a:solidFill>
              <a:srgbClr val="8C3A2B"/>
            </a:solidFill>
            <a:prstDash val="solid"/>
          </a:ln>
        </p:spPr>
      </p:sp>
      <p:sp>
        <p:nvSpPr>
          <p:cNvPr id="8" name="Shape 6"/>
          <p:cNvSpPr/>
          <p:nvPr/>
        </p:nvSpPr>
        <p:spPr>
          <a:xfrm flipV="1">
            <a:off x="1874520" y="3575304"/>
            <a:ext cx="0" cy="228600"/>
          </a:xfrm>
          <a:prstGeom prst="line">
            <a:avLst/>
          </a:prstGeom>
          <a:noFill/>
          <a:ln w="12700">
            <a:solidFill>
              <a:srgbClr val="C9C9CF"/>
            </a:solidFill>
            <a:prstDash val="solid"/>
          </a:ln>
        </p:spPr>
      </p:sp>
      <p:sp>
        <p:nvSpPr>
          <p:cNvPr id="9" name="Text 7"/>
          <p:cNvSpPr txBox="1"/>
          <p:nvPr/>
        </p:nvSpPr>
        <p:spPr>
          <a:xfrm>
            <a:off x="868680" y="2606040"/>
            <a:ext cx="2011680" cy="365760"/>
          </a:xfrm>
          <a:prstGeom prst="rect">
            <a:avLst/>
          </a:prstGeom>
          <a:noFill/>
          <a:ln/>
        </p:spPr>
        <p:txBody>
          <a:bodyPr wrap="square" lIns="0" tIns="0" rIns="0" bIns="0" rtlCol="0" anchor="b"/>
          <a:lstStyle/>
          <a:p>
            <a:pPr algn="ctr" indent="0" marL="0">
              <a:lnSpc>
                <a:spcPts val="1700"/>
              </a:lnSpc>
              <a:buNone/>
            </a:pPr>
            <a:r>
              <a:rPr lang="en-US" sz="1400" b="1" dirty="0">
                <a:solidFill>
                  <a:srgbClr val="16161A"/>
                </a:solidFill>
                <a:latin typeface="Cambria" pitchFamily="34" charset="0"/>
                <a:ea typeface="Cambria" pitchFamily="34" charset="-122"/>
                <a:cs typeface="Cambria" pitchFamily="34" charset="-120"/>
              </a:rPr>
              <a:t>Cephe</a:t>
            </a:r>
            <a:endParaRPr lang="en-US" sz="1400" dirty="0"/>
          </a:p>
        </p:txBody>
      </p:sp>
      <p:sp>
        <p:nvSpPr>
          <p:cNvPr id="10" name="Text 8"/>
          <p:cNvSpPr txBox="1"/>
          <p:nvPr/>
        </p:nvSpPr>
        <p:spPr>
          <a:xfrm>
            <a:off x="868680" y="2953512"/>
            <a:ext cx="2011680" cy="603504"/>
          </a:xfrm>
          <a:prstGeom prst="rect">
            <a:avLst/>
          </a:prstGeom>
          <a:noFill/>
          <a:ln/>
        </p:spPr>
        <p:txBody>
          <a:bodyPr wrap="square" lIns="0" tIns="0" rIns="0" bIns="0" rtlCol="0" anchor="t"/>
          <a:lstStyle/>
          <a:p>
            <a:pPr algn="ctr" indent="0" marL="0">
              <a:lnSpc>
                <a:spcPts val="1250"/>
              </a:lnSpc>
              <a:buNone/>
            </a:pPr>
            <a:r>
              <a:rPr lang="en-US" sz="1000" dirty="0">
                <a:solidFill>
                  <a:srgbClr val="7A7A82"/>
                </a:solidFill>
                <a:latin typeface="Calibri" pitchFamily="34" charset="0"/>
                <a:ea typeface="Calibri" pitchFamily="34" charset="-122"/>
                <a:cs typeface="Calibri" pitchFamily="34" charset="-120"/>
              </a:rPr>
              <a:t>Tabela, cephe düzeni ve vitrin — mağazanın sokağa söylediği</a:t>
            </a:r>
            <a:endParaRPr lang="en-US" sz="1000" dirty="0"/>
          </a:p>
        </p:txBody>
      </p:sp>
      <p:sp>
        <p:nvSpPr>
          <p:cNvPr id="11" name="Shape 9"/>
          <p:cNvSpPr/>
          <p:nvPr/>
        </p:nvSpPr>
        <p:spPr>
          <a:xfrm>
            <a:off x="3911346" y="3808476"/>
            <a:ext cx="155448" cy="155448"/>
          </a:xfrm>
          <a:prstGeom prst="ellipse">
            <a:avLst/>
          </a:prstGeom>
          <a:solidFill>
            <a:srgbClr val="8C3A2B"/>
          </a:solidFill>
          <a:ln w="12700">
            <a:solidFill>
              <a:srgbClr val="8C3A2B"/>
            </a:solidFill>
            <a:prstDash val="solid"/>
          </a:ln>
        </p:spPr>
      </p:sp>
      <p:sp>
        <p:nvSpPr>
          <p:cNvPr id="12" name="Shape 10"/>
          <p:cNvSpPr/>
          <p:nvPr/>
        </p:nvSpPr>
        <p:spPr>
          <a:xfrm>
            <a:off x="3989070" y="3968496"/>
            <a:ext cx="0" cy="228600"/>
          </a:xfrm>
          <a:prstGeom prst="line">
            <a:avLst/>
          </a:prstGeom>
          <a:noFill/>
          <a:ln w="12700">
            <a:solidFill>
              <a:srgbClr val="C9C9CF"/>
            </a:solidFill>
            <a:prstDash val="solid"/>
          </a:ln>
        </p:spPr>
      </p:sp>
      <p:sp>
        <p:nvSpPr>
          <p:cNvPr id="13" name="Text 11"/>
          <p:cNvSpPr txBox="1"/>
          <p:nvPr/>
        </p:nvSpPr>
        <p:spPr>
          <a:xfrm>
            <a:off x="2983230" y="4233672"/>
            <a:ext cx="2011680" cy="365760"/>
          </a:xfrm>
          <a:prstGeom prst="rect">
            <a:avLst/>
          </a:prstGeom>
          <a:noFill/>
          <a:ln/>
        </p:spPr>
        <p:txBody>
          <a:bodyPr wrap="square" lIns="0" tIns="0" rIns="0" bIns="0" rtlCol="0" anchor="t"/>
          <a:lstStyle/>
          <a:p>
            <a:pPr algn="ctr" indent="0" marL="0">
              <a:lnSpc>
                <a:spcPts val="1700"/>
              </a:lnSpc>
              <a:buNone/>
            </a:pPr>
            <a:r>
              <a:rPr lang="en-US" sz="1400" b="1" dirty="0">
                <a:solidFill>
                  <a:srgbClr val="16161A"/>
                </a:solidFill>
                <a:latin typeface="Cambria" pitchFamily="34" charset="0"/>
                <a:ea typeface="Cambria" pitchFamily="34" charset="-122"/>
                <a:cs typeface="Cambria" pitchFamily="34" charset="-120"/>
              </a:rPr>
              <a:t>İç mekân öğeleri</a:t>
            </a:r>
            <a:endParaRPr lang="en-US" sz="1400" dirty="0"/>
          </a:p>
        </p:txBody>
      </p:sp>
      <p:sp>
        <p:nvSpPr>
          <p:cNvPr id="14" name="Text 12"/>
          <p:cNvSpPr txBox="1"/>
          <p:nvPr/>
        </p:nvSpPr>
        <p:spPr>
          <a:xfrm>
            <a:off x="2983230" y="4599432"/>
            <a:ext cx="2011680" cy="603504"/>
          </a:xfrm>
          <a:prstGeom prst="rect">
            <a:avLst/>
          </a:prstGeom>
          <a:noFill/>
          <a:ln/>
        </p:spPr>
        <p:txBody>
          <a:bodyPr wrap="square" lIns="0" tIns="0" rIns="0" bIns="0" rtlCol="0" anchor="t"/>
          <a:lstStyle/>
          <a:p>
            <a:pPr algn="ctr" indent="0" marL="0">
              <a:lnSpc>
                <a:spcPts val="1250"/>
              </a:lnSpc>
              <a:buNone/>
            </a:pPr>
            <a:r>
              <a:rPr lang="en-US" sz="1000" dirty="0">
                <a:solidFill>
                  <a:srgbClr val="7A7A82"/>
                </a:solidFill>
                <a:latin typeface="Calibri" pitchFamily="34" charset="0"/>
                <a:ea typeface="Calibri" pitchFamily="34" charset="-122"/>
                <a:cs typeface="Calibri" pitchFamily="34" charset="-120"/>
              </a:rPr>
              <a:t>Mekânsal planlama, bölgeler, genel tasarım dili</a:t>
            </a:r>
            <a:endParaRPr lang="en-US" sz="1000" dirty="0"/>
          </a:p>
        </p:txBody>
      </p:sp>
      <p:sp>
        <p:nvSpPr>
          <p:cNvPr id="15" name="Shape 13"/>
          <p:cNvSpPr/>
          <p:nvPr/>
        </p:nvSpPr>
        <p:spPr>
          <a:xfrm>
            <a:off x="6025896" y="3808476"/>
            <a:ext cx="155448" cy="155448"/>
          </a:xfrm>
          <a:prstGeom prst="ellipse">
            <a:avLst/>
          </a:prstGeom>
          <a:solidFill>
            <a:srgbClr val="8C3A2B"/>
          </a:solidFill>
          <a:ln w="12700">
            <a:solidFill>
              <a:srgbClr val="8C3A2B"/>
            </a:solidFill>
            <a:prstDash val="solid"/>
          </a:ln>
        </p:spPr>
      </p:sp>
      <p:sp>
        <p:nvSpPr>
          <p:cNvPr id="16" name="Shape 14"/>
          <p:cNvSpPr/>
          <p:nvPr/>
        </p:nvSpPr>
        <p:spPr>
          <a:xfrm flipV="1">
            <a:off x="6103620" y="3575304"/>
            <a:ext cx="0" cy="228600"/>
          </a:xfrm>
          <a:prstGeom prst="line">
            <a:avLst/>
          </a:prstGeom>
          <a:noFill/>
          <a:ln w="12700">
            <a:solidFill>
              <a:srgbClr val="C9C9CF"/>
            </a:solidFill>
            <a:prstDash val="solid"/>
          </a:ln>
        </p:spPr>
      </p:sp>
      <p:sp>
        <p:nvSpPr>
          <p:cNvPr id="17" name="Text 15"/>
          <p:cNvSpPr txBox="1"/>
          <p:nvPr/>
        </p:nvSpPr>
        <p:spPr>
          <a:xfrm>
            <a:off x="5097780" y="2606040"/>
            <a:ext cx="2011680" cy="365760"/>
          </a:xfrm>
          <a:prstGeom prst="rect">
            <a:avLst/>
          </a:prstGeom>
          <a:noFill/>
          <a:ln/>
        </p:spPr>
        <p:txBody>
          <a:bodyPr wrap="square" lIns="0" tIns="0" rIns="0" bIns="0" rtlCol="0" anchor="b"/>
          <a:lstStyle/>
          <a:p>
            <a:pPr algn="ctr" indent="0" marL="0">
              <a:lnSpc>
                <a:spcPts val="1700"/>
              </a:lnSpc>
              <a:buNone/>
            </a:pPr>
            <a:r>
              <a:rPr lang="en-US" sz="1400" b="1" dirty="0">
                <a:solidFill>
                  <a:srgbClr val="16161A"/>
                </a:solidFill>
                <a:latin typeface="Cambria" pitchFamily="34" charset="0"/>
                <a:ea typeface="Cambria" pitchFamily="34" charset="-122"/>
                <a:cs typeface="Cambria" pitchFamily="34" charset="-120"/>
              </a:rPr>
              <a:t>Teşhir</a:t>
            </a:r>
            <a:endParaRPr lang="en-US" sz="1400" dirty="0"/>
          </a:p>
        </p:txBody>
      </p:sp>
      <p:sp>
        <p:nvSpPr>
          <p:cNvPr id="18" name="Text 16"/>
          <p:cNvSpPr txBox="1"/>
          <p:nvPr/>
        </p:nvSpPr>
        <p:spPr>
          <a:xfrm>
            <a:off x="5097780" y="2953512"/>
            <a:ext cx="2011680" cy="603504"/>
          </a:xfrm>
          <a:prstGeom prst="rect">
            <a:avLst/>
          </a:prstGeom>
          <a:noFill/>
          <a:ln/>
        </p:spPr>
        <p:txBody>
          <a:bodyPr wrap="square" lIns="0" tIns="0" rIns="0" bIns="0" rtlCol="0" anchor="t"/>
          <a:lstStyle/>
          <a:p>
            <a:pPr algn="ctr" indent="0" marL="0">
              <a:lnSpc>
                <a:spcPts val="1250"/>
              </a:lnSpc>
              <a:buNone/>
            </a:pPr>
            <a:r>
              <a:rPr lang="en-US" sz="1000" dirty="0">
                <a:solidFill>
                  <a:srgbClr val="7A7A82"/>
                </a:solidFill>
                <a:latin typeface="Calibri" pitchFamily="34" charset="0"/>
                <a:ea typeface="Calibri" pitchFamily="34" charset="-122"/>
                <a:cs typeface="Calibri" pitchFamily="34" charset="-120"/>
              </a:rPr>
              <a:t>Ürün teşhiri ve görsel düzenleme stratejisi</a:t>
            </a:r>
            <a:endParaRPr lang="en-US" sz="1000" dirty="0"/>
          </a:p>
        </p:txBody>
      </p:sp>
      <p:sp>
        <p:nvSpPr>
          <p:cNvPr id="19" name="Shape 17"/>
          <p:cNvSpPr/>
          <p:nvPr/>
        </p:nvSpPr>
        <p:spPr>
          <a:xfrm>
            <a:off x="8140446" y="3808476"/>
            <a:ext cx="155448" cy="155448"/>
          </a:xfrm>
          <a:prstGeom prst="ellipse">
            <a:avLst/>
          </a:prstGeom>
          <a:solidFill>
            <a:srgbClr val="8C3A2B"/>
          </a:solidFill>
          <a:ln w="12700">
            <a:solidFill>
              <a:srgbClr val="8C3A2B"/>
            </a:solidFill>
            <a:prstDash val="solid"/>
          </a:ln>
        </p:spPr>
      </p:sp>
      <p:sp>
        <p:nvSpPr>
          <p:cNvPr id="20" name="Shape 18"/>
          <p:cNvSpPr/>
          <p:nvPr/>
        </p:nvSpPr>
        <p:spPr>
          <a:xfrm>
            <a:off x="8218170" y="3968496"/>
            <a:ext cx="0" cy="228600"/>
          </a:xfrm>
          <a:prstGeom prst="line">
            <a:avLst/>
          </a:prstGeom>
          <a:noFill/>
          <a:ln w="12700">
            <a:solidFill>
              <a:srgbClr val="C9C9CF"/>
            </a:solidFill>
            <a:prstDash val="solid"/>
          </a:ln>
        </p:spPr>
      </p:sp>
      <p:sp>
        <p:nvSpPr>
          <p:cNvPr id="21" name="Text 19"/>
          <p:cNvSpPr txBox="1"/>
          <p:nvPr/>
        </p:nvSpPr>
        <p:spPr>
          <a:xfrm>
            <a:off x="7212330" y="4233672"/>
            <a:ext cx="2011680" cy="365760"/>
          </a:xfrm>
          <a:prstGeom prst="rect">
            <a:avLst/>
          </a:prstGeom>
          <a:noFill/>
          <a:ln/>
        </p:spPr>
        <p:txBody>
          <a:bodyPr wrap="square" lIns="0" tIns="0" rIns="0" bIns="0" rtlCol="0" anchor="t"/>
          <a:lstStyle/>
          <a:p>
            <a:pPr algn="ctr" indent="0" marL="0">
              <a:lnSpc>
                <a:spcPts val="1700"/>
              </a:lnSpc>
              <a:buNone/>
            </a:pPr>
            <a:r>
              <a:rPr lang="en-US" sz="1400" b="1" dirty="0">
                <a:solidFill>
                  <a:srgbClr val="16161A"/>
                </a:solidFill>
                <a:latin typeface="Cambria" pitchFamily="34" charset="0"/>
                <a:ea typeface="Cambria" pitchFamily="34" charset="-122"/>
                <a:cs typeface="Cambria" pitchFamily="34" charset="-120"/>
              </a:rPr>
              <a:t>Aydınlatma</a:t>
            </a:r>
            <a:endParaRPr lang="en-US" sz="1400" dirty="0"/>
          </a:p>
        </p:txBody>
      </p:sp>
      <p:sp>
        <p:nvSpPr>
          <p:cNvPr id="22" name="Text 20"/>
          <p:cNvSpPr txBox="1"/>
          <p:nvPr/>
        </p:nvSpPr>
        <p:spPr>
          <a:xfrm>
            <a:off x="7212330" y="4599432"/>
            <a:ext cx="2011680" cy="603504"/>
          </a:xfrm>
          <a:prstGeom prst="rect">
            <a:avLst/>
          </a:prstGeom>
          <a:noFill/>
          <a:ln/>
        </p:spPr>
        <p:txBody>
          <a:bodyPr wrap="square" lIns="0" tIns="0" rIns="0" bIns="0" rtlCol="0" anchor="t"/>
          <a:lstStyle/>
          <a:p>
            <a:pPr algn="ctr" indent="0" marL="0">
              <a:lnSpc>
                <a:spcPts val="1250"/>
              </a:lnSpc>
              <a:buNone/>
            </a:pPr>
            <a:r>
              <a:rPr lang="en-US" sz="1000" dirty="0">
                <a:solidFill>
                  <a:srgbClr val="7A7A82"/>
                </a:solidFill>
                <a:latin typeface="Calibri" pitchFamily="34" charset="0"/>
                <a:ea typeface="Calibri" pitchFamily="34" charset="-122"/>
                <a:cs typeface="Calibri" pitchFamily="34" charset="-120"/>
              </a:rPr>
              <a:t>Genel, vurgu, dekoratif ve vitrin aydınlatması</a:t>
            </a:r>
            <a:endParaRPr lang="en-US" sz="1000" dirty="0"/>
          </a:p>
        </p:txBody>
      </p:sp>
      <p:sp>
        <p:nvSpPr>
          <p:cNvPr id="23" name="Shape 21"/>
          <p:cNvSpPr/>
          <p:nvPr/>
        </p:nvSpPr>
        <p:spPr>
          <a:xfrm>
            <a:off x="10254996" y="3808476"/>
            <a:ext cx="155448" cy="155448"/>
          </a:xfrm>
          <a:prstGeom prst="ellipse">
            <a:avLst/>
          </a:prstGeom>
          <a:solidFill>
            <a:srgbClr val="8C3A2B"/>
          </a:solidFill>
          <a:ln w="12700">
            <a:solidFill>
              <a:srgbClr val="8C3A2B"/>
            </a:solidFill>
            <a:prstDash val="solid"/>
          </a:ln>
        </p:spPr>
      </p:sp>
      <p:sp>
        <p:nvSpPr>
          <p:cNvPr id="24" name="Shape 22"/>
          <p:cNvSpPr/>
          <p:nvPr/>
        </p:nvSpPr>
        <p:spPr>
          <a:xfrm flipV="1">
            <a:off x="10332720" y="3575304"/>
            <a:ext cx="0" cy="228600"/>
          </a:xfrm>
          <a:prstGeom prst="line">
            <a:avLst/>
          </a:prstGeom>
          <a:noFill/>
          <a:ln w="12700">
            <a:solidFill>
              <a:srgbClr val="C9C9CF"/>
            </a:solidFill>
            <a:prstDash val="solid"/>
          </a:ln>
        </p:spPr>
      </p:sp>
      <p:sp>
        <p:nvSpPr>
          <p:cNvPr id="25" name="Text 23"/>
          <p:cNvSpPr txBox="1"/>
          <p:nvPr/>
        </p:nvSpPr>
        <p:spPr>
          <a:xfrm>
            <a:off x="9326880" y="2606040"/>
            <a:ext cx="2011680" cy="365760"/>
          </a:xfrm>
          <a:prstGeom prst="rect">
            <a:avLst/>
          </a:prstGeom>
          <a:noFill/>
          <a:ln/>
        </p:spPr>
        <p:txBody>
          <a:bodyPr wrap="square" lIns="0" tIns="0" rIns="0" bIns="0" rtlCol="0" anchor="b"/>
          <a:lstStyle/>
          <a:p>
            <a:pPr algn="ctr" indent="0" marL="0">
              <a:lnSpc>
                <a:spcPts val="1700"/>
              </a:lnSpc>
              <a:buNone/>
            </a:pPr>
            <a:r>
              <a:rPr lang="en-US" sz="1400" b="1" dirty="0">
                <a:solidFill>
                  <a:srgbClr val="16161A"/>
                </a:solidFill>
                <a:latin typeface="Cambria" pitchFamily="34" charset="0"/>
                <a:ea typeface="Cambria" pitchFamily="34" charset="-122"/>
                <a:cs typeface="Cambria" pitchFamily="34" charset="-120"/>
              </a:rPr>
              <a:t>Mağaza içi iletişim</a:t>
            </a:r>
            <a:endParaRPr lang="en-US" sz="1400" dirty="0"/>
          </a:p>
        </p:txBody>
      </p:sp>
      <p:sp>
        <p:nvSpPr>
          <p:cNvPr id="26" name="Text 24"/>
          <p:cNvSpPr txBox="1"/>
          <p:nvPr/>
        </p:nvSpPr>
        <p:spPr>
          <a:xfrm>
            <a:off x="9326880" y="2953512"/>
            <a:ext cx="2011680" cy="603504"/>
          </a:xfrm>
          <a:prstGeom prst="rect">
            <a:avLst/>
          </a:prstGeom>
          <a:noFill/>
          <a:ln/>
        </p:spPr>
        <p:txBody>
          <a:bodyPr wrap="square" lIns="0" tIns="0" rIns="0" bIns="0" rtlCol="0" anchor="t"/>
          <a:lstStyle/>
          <a:p>
            <a:pPr algn="ctr" indent="0" marL="0">
              <a:lnSpc>
                <a:spcPts val="1250"/>
              </a:lnSpc>
              <a:buNone/>
            </a:pPr>
            <a:r>
              <a:rPr lang="en-US" sz="1000" dirty="0">
                <a:solidFill>
                  <a:srgbClr val="7A7A82"/>
                </a:solidFill>
                <a:latin typeface="Calibri" pitchFamily="34" charset="0"/>
                <a:ea typeface="Calibri" pitchFamily="34" charset="-122"/>
                <a:cs typeface="Calibri" pitchFamily="34" charset="-120"/>
              </a:rPr>
              <a:t>İşaretler, ekranlar, marka anlatısı</a:t>
            </a:r>
            <a:endParaRPr lang="en-US" sz="1000" dirty="0"/>
          </a:p>
        </p:txBody>
      </p:sp>
      <p:sp>
        <p:nvSpPr>
          <p:cNvPr id="27" name="Text 25"/>
          <p:cNvSpPr txBox="1"/>
          <p:nvPr/>
        </p:nvSpPr>
        <p:spPr>
          <a:xfrm>
            <a:off x="777240" y="5486400"/>
            <a:ext cx="10424160" cy="365760"/>
          </a:xfrm>
          <a:prstGeom prst="rect">
            <a:avLst/>
          </a:prstGeom>
          <a:noFill/>
          <a:ln/>
        </p:spPr>
        <p:txBody>
          <a:bodyPr wrap="square" lIns="0" tIns="0" rIns="0" bIns="0" rtlCol="0" anchor="ctr"/>
          <a:lstStyle/>
          <a:p>
            <a:pPr algn="ctr" indent="0" marL="0">
              <a:lnSpc>
                <a:spcPts val="1200"/>
              </a:lnSpc>
              <a:buNone/>
            </a:pPr>
            <a:r>
              <a:rPr lang="en-US" sz="1250" i="1" dirty="0">
                <a:solidFill>
                  <a:srgbClr val="8C3A2B"/>
                </a:solidFill>
                <a:latin typeface="Cambria" pitchFamily="34" charset="0"/>
                <a:ea typeface="Cambria" pitchFamily="34" charset="-122"/>
                <a:cs typeface="Cambria" pitchFamily="34" charset="-120"/>
              </a:rPr>
              <a:t>Beşi de bu sunumun ilerleyen bölümlerinde ayrı ayrı ele alınacak.</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CFA"/>
        </a:solidFill>
      </p:bgPr>
    </p:bg>
    <p:spTree>
      <p:nvGrpSpPr>
        <p:cNvPr id="1" name=""/>
        <p:cNvGrpSpPr/>
        <p:nvPr/>
      </p:nvGrpSpPr>
      <p:grpSpPr>
        <a:xfrm>
          <a:off x="0" y="0"/>
          <a:ext cx="0" cy="0"/>
          <a:chOff x="0" y="0"/>
          <a:chExt cx="0" cy="0"/>
        </a:xfrm>
      </p:grpSpPr>
      <p:sp>
        <p:nvSpPr>
          <p:cNvPr id="2" name="Text 0"/>
          <p:cNvSpPr txBox="1"/>
          <p:nvPr/>
        </p:nvSpPr>
        <p:spPr>
          <a:xfrm>
            <a:off x="777240" y="475488"/>
            <a:ext cx="9601200" cy="237744"/>
          </a:xfrm>
          <a:prstGeom prst="rect">
            <a:avLst/>
          </a:prstGeom>
          <a:noFill/>
          <a:ln/>
        </p:spPr>
        <p:txBody>
          <a:bodyPr wrap="square" lIns="0" tIns="0" rIns="0" bIns="0" rtlCol="0" anchor="ctr"/>
          <a:lstStyle/>
          <a:p>
            <a:pPr indent="0" marL="0">
              <a:buNone/>
            </a:pPr>
            <a:r>
              <a:rPr lang="en-US" sz="950" b="1" spc="260" kern="0" dirty="0">
                <a:solidFill>
                  <a:srgbClr val="7A7A82"/>
                </a:solidFill>
                <a:latin typeface="Calibri" pitchFamily="34" charset="0"/>
                <a:ea typeface="Calibri" pitchFamily="34" charset="-122"/>
                <a:cs typeface="Calibri" pitchFamily="34" charset="-120"/>
              </a:rPr>
              <a:t>I · MAĞAZA TASARIMI NEDİR</a:t>
            </a:r>
            <a:endParaRPr lang="en-US" sz="950" dirty="0"/>
          </a:p>
        </p:txBody>
      </p:sp>
      <p:sp>
        <p:nvSpPr>
          <p:cNvPr id="3" name="Text 1"/>
          <p:cNvSpPr txBox="1"/>
          <p:nvPr/>
        </p:nvSpPr>
        <p:spPr>
          <a:xfrm>
            <a:off x="777240" y="822960"/>
            <a:ext cx="10424160" cy="731520"/>
          </a:xfrm>
          <a:prstGeom prst="rect">
            <a:avLst/>
          </a:prstGeom>
          <a:noFill/>
          <a:ln/>
        </p:spPr>
        <p:txBody>
          <a:bodyPr wrap="square" lIns="0" tIns="0" rIns="0" bIns="0" rtlCol="0" anchor="ctr"/>
          <a:lstStyle/>
          <a:p>
            <a:pPr indent="0" marL="0">
              <a:lnSpc>
                <a:spcPts val="3400"/>
              </a:lnSpc>
              <a:buNone/>
            </a:pPr>
            <a:r>
              <a:rPr lang="en-US" sz="2900" b="1" dirty="0">
                <a:solidFill>
                  <a:srgbClr val="16161A"/>
                </a:solidFill>
                <a:latin typeface="Cambria" pitchFamily="34" charset="0"/>
                <a:ea typeface="Cambria" pitchFamily="34" charset="-122"/>
                <a:cs typeface="Cambria" pitchFamily="34" charset="-120"/>
              </a:rPr>
              <a:t>Alışveriş mekânı, satın alma biçimi değiştikçe değişti</a:t>
            </a:r>
            <a:endParaRPr lang="en-US" sz="2900" dirty="0"/>
          </a:p>
        </p:txBody>
      </p:sp>
      <p:sp>
        <p:nvSpPr>
          <p:cNvPr id="4" name="Text 2"/>
          <p:cNvSpPr txBox="1"/>
          <p:nvPr/>
        </p:nvSpPr>
        <p:spPr>
          <a:xfrm>
            <a:off x="10972800" y="6355080"/>
            <a:ext cx="438912" cy="237744"/>
          </a:xfrm>
          <a:prstGeom prst="rect">
            <a:avLst/>
          </a:prstGeom>
          <a:noFill/>
          <a:ln/>
        </p:spPr>
        <p:txBody>
          <a:bodyPr wrap="square" lIns="0" tIns="0" rIns="0" bIns="0" rtlCol="0" anchor="ctr"/>
          <a:lstStyle/>
          <a:p>
            <a:pPr algn="r" indent="0" marL="0">
              <a:buNone/>
            </a:pPr>
            <a:r>
              <a:rPr lang="en-US" sz="950" dirty="0">
                <a:solidFill>
                  <a:srgbClr val="A6A6AC"/>
                </a:solidFill>
                <a:latin typeface="Calibri" pitchFamily="34" charset="0"/>
                <a:ea typeface="Calibri" pitchFamily="34" charset="-122"/>
                <a:cs typeface="Calibri" pitchFamily="34" charset="-120"/>
              </a:rPr>
              <a:t>6</a:t>
            </a:r>
            <a:endParaRPr lang="en-US" sz="950" dirty="0"/>
          </a:p>
        </p:txBody>
      </p:sp>
      <p:sp>
        <p:nvSpPr>
          <p:cNvPr id="5" name="Shape 3"/>
          <p:cNvSpPr/>
          <p:nvPr/>
        </p:nvSpPr>
        <p:spPr>
          <a:xfrm>
            <a:off x="1828800" y="2880360"/>
            <a:ext cx="8549640" cy="0"/>
          </a:xfrm>
          <a:prstGeom prst="line">
            <a:avLst/>
          </a:prstGeom>
          <a:noFill/>
          <a:ln w="12700">
            <a:solidFill>
              <a:srgbClr val="C9C9CF"/>
            </a:solidFill>
            <a:prstDash val="solid"/>
          </a:ln>
        </p:spPr>
      </p:sp>
      <p:sp>
        <p:nvSpPr>
          <p:cNvPr id="6" name="Shape 4"/>
          <p:cNvSpPr/>
          <p:nvPr/>
        </p:nvSpPr>
        <p:spPr>
          <a:xfrm>
            <a:off x="1760220" y="2811780"/>
            <a:ext cx="137160" cy="137160"/>
          </a:xfrm>
          <a:prstGeom prst="ellipse">
            <a:avLst/>
          </a:prstGeom>
          <a:solidFill>
            <a:srgbClr val="7A7A82"/>
          </a:solidFill>
          <a:ln w="12700">
            <a:solidFill>
              <a:srgbClr val="7A7A82"/>
            </a:solidFill>
            <a:prstDash val="solid"/>
          </a:ln>
        </p:spPr>
      </p:sp>
      <p:sp>
        <p:nvSpPr>
          <p:cNvPr id="7" name="Text 5"/>
          <p:cNvSpPr txBox="1"/>
          <p:nvPr/>
        </p:nvSpPr>
        <p:spPr>
          <a:xfrm>
            <a:off x="822960" y="1920240"/>
            <a:ext cx="2011680" cy="685800"/>
          </a:xfrm>
          <a:prstGeom prst="rect">
            <a:avLst/>
          </a:prstGeom>
          <a:noFill/>
          <a:ln/>
        </p:spPr>
        <p:txBody>
          <a:bodyPr wrap="square" lIns="0" tIns="0" rIns="0" bIns="0" rtlCol="0" anchor="b"/>
          <a:lstStyle/>
          <a:p>
            <a:pPr algn="ctr" indent="0" marL="0">
              <a:lnSpc>
                <a:spcPts val="1700"/>
              </a:lnSpc>
              <a:buNone/>
            </a:pPr>
            <a:r>
              <a:rPr lang="en-US" sz="1400" b="1" dirty="0">
                <a:solidFill>
                  <a:srgbClr val="16161A"/>
                </a:solidFill>
                <a:latin typeface="Cambria" pitchFamily="34" charset="0"/>
                <a:ea typeface="Cambria" pitchFamily="34" charset="-122"/>
                <a:cs typeface="Cambria" pitchFamily="34" charset="-120"/>
              </a:rPr>
              <a:t>Dükkân</a:t>
            </a:r>
            <a:endParaRPr lang="en-US" sz="1400" dirty="0"/>
          </a:p>
        </p:txBody>
      </p:sp>
      <p:sp>
        <p:nvSpPr>
          <p:cNvPr id="8" name="Text 6"/>
          <p:cNvSpPr txBox="1"/>
          <p:nvPr/>
        </p:nvSpPr>
        <p:spPr>
          <a:xfrm>
            <a:off x="822960" y="3136392"/>
            <a:ext cx="2011680" cy="868680"/>
          </a:xfrm>
          <a:prstGeom prst="rect">
            <a:avLst/>
          </a:prstGeom>
          <a:noFill/>
          <a:ln/>
        </p:spPr>
        <p:txBody>
          <a:bodyPr wrap="square" lIns="0" tIns="0" rIns="0" bIns="0" rtlCol="0" anchor="ctr"/>
          <a:lstStyle/>
          <a:p>
            <a:pPr algn="ctr" indent="0" marL="0">
              <a:lnSpc>
                <a:spcPts val="1300"/>
              </a:lnSpc>
              <a:buNone/>
            </a:pPr>
            <a:r>
              <a:rPr lang="en-US" sz="1000" dirty="0">
                <a:solidFill>
                  <a:srgbClr val="7A7A82"/>
                </a:solidFill>
                <a:latin typeface="Calibri" pitchFamily="34" charset="0"/>
                <a:ea typeface="Calibri" pitchFamily="34" charset="-122"/>
                <a:cs typeface="Calibri" pitchFamily="34" charset="-120"/>
              </a:rPr>
              <a:t>Üretim ve satış</a:t>
            </a:r>
            <a:endParaRPr lang="en-US" sz="1000" dirty="0"/>
          </a:p>
          <a:p>
            <a:pPr algn="ctr" indent="0" marL="0">
              <a:lnSpc>
                <a:spcPts val="1300"/>
              </a:lnSpc>
              <a:buNone/>
            </a:pPr>
            <a:r>
              <a:rPr lang="en-US" sz="1000" dirty="0">
                <a:solidFill>
                  <a:srgbClr val="7A7A82"/>
                </a:solidFill>
                <a:latin typeface="Calibri" pitchFamily="34" charset="0"/>
                <a:ea typeface="Calibri" pitchFamily="34" charset="-122"/>
                <a:cs typeface="Calibri" pitchFamily="34" charset="-120"/>
              </a:rPr>
              <a:t>aynı mekânda</a:t>
            </a:r>
            <a:endParaRPr lang="en-US" sz="1000" dirty="0"/>
          </a:p>
        </p:txBody>
      </p:sp>
      <p:sp>
        <p:nvSpPr>
          <p:cNvPr id="9" name="Shape 7"/>
          <p:cNvSpPr/>
          <p:nvPr/>
        </p:nvSpPr>
        <p:spPr>
          <a:xfrm>
            <a:off x="3897630" y="2811780"/>
            <a:ext cx="137160" cy="137160"/>
          </a:xfrm>
          <a:prstGeom prst="ellipse">
            <a:avLst/>
          </a:prstGeom>
          <a:solidFill>
            <a:srgbClr val="7A7A82"/>
          </a:solidFill>
          <a:ln w="12700">
            <a:solidFill>
              <a:srgbClr val="7A7A82"/>
            </a:solidFill>
            <a:prstDash val="solid"/>
          </a:ln>
        </p:spPr>
      </p:sp>
      <p:sp>
        <p:nvSpPr>
          <p:cNvPr id="10" name="Text 8"/>
          <p:cNvSpPr txBox="1"/>
          <p:nvPr/>
        </p:nvSpPr>
        <p:spPr>
          <a:xfrm>
            <a:off x="2960370" y="1920240"/>
            <a:ext cx="2011680" cy="685800"/>
          </a:xfrm>
          <a:prstGeom prst="rect">
            <a:avLst/>
          </a:prstGeom>
          <a:noFill/>
          <a:ln/>
        </p:spPr>
        <p:txBody>
          <a:bodyPr wrap="square" lIns="0" tIns="0" rIns="0" bIns="0" rtlCol="0" anchor="b"/>
          <a:lstStyle/>
          <a:p>
            <a:pPr algn="ctr" indent="0" marL="0">
              <a:lnSpc>
                <a:spcPts val="1700"/>
              </a:lnSpc>
              <a:buNone/>
            </a:pPr>
            <a:r>
              <a:rPr lang="en-US" sz="1400" b="1" dirty="0">
                <a:solidFill>
                  <a:srgbClr val="16161A"/>
                </a:solidFill>
                <a:latin typeface="Cambria" pitchFamily="34" charset="0"/>
                <a:ea typeface="Cambria" pitchFamily="34" charset="-122"/>
                <a:cs typeface="Cambria" pitchFamily="34" charset="-120"/>
              </a:rPr>
              <a:t>Bedesten · Arasta</a:t>
            </a:r>
            <a:endParaRPr lang="en-US" sz="1400" dirty="0"/>
          </a:p>
          <a:p>
            <a:pPr algn="ctr" indent="0" marL="0">
              <a:lnSpc>
                <a:spcPts val="1700"/>
              </a:lnSpc>
              <a:buNone/>
            </a:pPr>
            <a:r>
              <a:rPr lang="en-US" sz="1400" b="1" dirty="0">
                <a:solidFill>
                  <a:srgbClr val="16161A"/>
                </a:solidFill>
                <a:latin typeface="Cambria" pitchFamily="34" charset="0"/>
                <a:ea typeface="Cambria" pitchFamily="34" charset="-122"/>
                <a:cs typeface="Cambria" pitchFamily="34" charset="-120"/>
              </a:rPr>
              <a:t>Han</a:t>
            </a:r>
            <a:endParaRPr lang="en-US" sz="1400" dirty="0"/>
          </a:p>
        </p:txBody>
      </p:sp>
      <p:sp>
        <p:nvSpPr>
          <p:cNvPr id="11" name="Text 9"/>
          <p:cNvSpPr txBox="1"/>
          <p:nvPr/>
        </p:nvSpPr>
        <p:spPr>
          <a:xfrm>
            <a:off x="2960370" y="3136392"/>
            <a:ext cx="2011680" cy="868680"/>
          </a:xfrm>
          <a:prstGeom prst="rect">
            <a:avLst/>
          </a:prstGeom>
          <a:noFill/>
          <a:ln/>
        </p:spPr>
        <p:txBody>
          <a:bodyPr wrap="square" lIns="0" tIns="0" rIns="0" bIns="0" rtlCol="0" anchor="ctr"/>
          <a:lstStyle/>
          <a:p>
            <a:pPr algn="ctr" indent="0" marL="0">
              <a:lnSpc>
                <a:spcPts val="1300"/>
              </a:lnSpc>
              <a:buNone/>
            </a:pPr>
            <a:r>
              <a:rPr lang="en-US" sz="1000" dirty="0">
                <a:solidFill>
                  <a:srgbClr val="7A7A82"/>
                </a:solidFill>
                <a:latin typeface="Calibri" pitchFamily="34" charset="0"/>
                <a:ea typeface="Calibri" pitchFamily="34" charset="-122"/>
                <a:cs typeface="Calibri" pitchFamily="34" charset="-120"/>
              </a:rPr>
              <a:t>Örtülü çarşı;</a:t>
            </a:r>
            <a:endParaRPr lang="en-US" sz="1000" dirty="0"/>
          </a:p>
          <a:p>
            <a:pPr algn="ctr" indent="0" marL="0">
              <a:lnSpc>
                <a:spcPts val="1300"/>
              </a:lnSpc>
              <a:buNone/>
            </a:pPr>
            <a:r>
              <a:rPr lang="en-US" sz="1000" dirty="0">
                <a:solidFill>
                  <a:srgbClr val="7A7A82"/>
                </a:solidFill>
                <a:latin typeface="Calibri" pitchFamily="34" charset="0"/>
                <a:ea typeface="Calibri" pitchFamily="34" charset="-122"/>
                <a:cs typeface="Calibri" pitchFamily="34" charset="-120"/>
              </a:rPr>
              <a:t>esnafın bir arada</a:t>
            </a:r>
            <a:endParaRPr lang="en-US" sz="1000" dirty="0"/>
          </a:p>
          <a:p>
            <a:pPr algn="ctr" indent="0" marL="0">
              <a:lnSpc>
                <a:spcPts val="1300"/>
              </a:lnSpc>
              <a:buNone/>
            </a:pPr>
            <a:r>
              <a:rPr lang="en-US" sz="1000" dirty="0">
                <a:solidFill>
                  <a:srgbClr val="7A7A82"/>
                </a:solidFill>
                <a:latin typeface="Calibri" pitchFamily="34" charset="0"/>
                <a:ea typeface="Calibri" pitchFamily="34" charset="-122"/>
                <a:cs typeface="Calibri" pitchFamily="34" charset="-120"/>
              </a:rPr>
              <a:t>dizilmesi</a:t>
            </a:r>
            <a:endParaRPr lang="en-US" sz="1000" dirty="0"/>
          </a:p>
        </p:txBody>
      </p:sp>
      <p:sp>
        <p:nvSpPr>
          <p:cNvPr id="12" name="Shape 10"/>
          <p:cNvSpPr/>
          <p:nvPr/>
        </p:nvSpPr>
        <p:spPr>
          <a:xfrm>
            <a:off x="6035040" y="2811780"/>
            <a:ext cx="137160" cy="137160"/>
          </a:xfrm>
          <a:prstGeom prst="ellipse">
            <a:avLst/>
          </a:prstGeom>
          <a:solidFill>
            <a:srgbClr val="7A7A82"/>
          </a:solidFill>
          <a:ln w="12700">
            <a:solidFill>
              <a:srgbClr val="7A7A82"/>
            </a:solidFill>
            <a:prstDash val="solid"/>
          </a:ln>
        </p:spPr>
      </p:sp>
      <p:sp>
        <p:nvSpPr>
          <p:cNvPr id="13" name="Text 11"/>
          <p:cNvSpPr txBox="1"/>
          <p:nvPr/>
        </p:nvSpPr>
        <p:spPr>
          <a:xfrm>
            <a:off x="5097780" y="1920240"/>
            <a:ext cx="2011680" cy="685800"/>
          </a:xfrm>
          <a:prstGeom prst="rect">
            <a:avLst/>
          </a:prstGeom>
          <a:noFill/>
          <a:ln/>
        </p:spPr>
        <p:txBody>
          <a:bodyPr wrap="square" lIns="0" tIns="0" rIns="0" bIns="0" rtlCol="0" anchor="b"/>
          <a:lstStyle/>
          <a:p>
            <a:pPr algn="ctr" indent="0" marL="0">
              <a:lnSpc>
                <a:spcPts val="1700"/>
              </a:lnSpc>
              <a:buNone/>
            </a:pPr>
            <a:r>
              <a:rPr lang="en-US" sz="1400" b="1" dirty="0">
                <a:solidFill>
                  <a:srgbClr val="16161A"/>
                </a:solidFill>
                <a:latin typeface="Cambria" pitchFamily="34" charset="0"/>
                <a:ea typeface="Cambria" pitchFamily="34" charset="-122"/>
                <a:cs typeface="Cambria" pitchFamily="34" charset="-120"/>
              </a:rPr>
              <a:t>Pasaj</a:t>
            </a:r>
            <a:endParaRPr lang="en-US" sz="1400" dirty="0"/>
          </a:p>
        </p:txBody>
      </p:sp>
      <p:sp>
        <p:nvSpPr>
          <p:cNvPr id="14" name="Text 12"/>
          <p:cNvSpPr txBox="1"/>
          <p:nvPr/>
        </p:nvSpPr>
        <p:spPr>
          <a:xfrm>
            <a:off x="5097780" y="3136392"/>
            <a:ext cx="2011680" cy="868680"/>
          </a:xfrm>
          <a:prstGeom prst="rect">
            <a:avLst/>
          </a:prstGeom>
          <a:noFill/>
          <a:ln/>
        </p:spPr>
        <p:txBody>
          <a:bodyPr wrap="square" lIns="0" tIns="0" rIns="0" bIns="0" rtlCol="0" anchor="ctr"/>
          <a:lstStyle/>
          <a:p>
            <a:pPr algn="ctr" indent="0" marL="0">
              <a:lnSpc>
                <a:spcPts val="1300"/>
              </a:lnSpc>
              <a:buNone/>
            </a:pPr>
            <a:r>
              <a:rPr lang="en-US" sz="1000" dirty="0">
                <a:solidFill>
                  <a:srgbClr val="7A7A82"/>
                </a:solidFill>
                <a:latin typeface="Calibri" pitchFamily="34" charset="0"/>
                <a:ea typeface="Calibri" pitchFamily="34" charset="-122"/>
                <a:cs typeface="Calibri" pitchFamily="34" charset="-120"/>
              </a:rPr>
              <a:t>Havadan bağımsız</a:t>
            </a:r>
            <a:endParaRPr lang="en-US" sz="1000" dirty="0"/>
          </a:p>
          <a:p>
            <a:pPr algn="ctr" indent="0" marL="0">
              <a:lnSpc>
                <a:spcPts val="1300"/>
              </a:lnSpc>
              <a:buNone/>
            </a:pPr>
            <a:r>
              <a:rPr lang="en-US" sz="1000" dirty="0">
                <a:solidFill>
                  <a:srgbClr val="7A7A82"/>
                </a:solidFill>
                <a:latin typeface="Calibri" pitchFamily="34" charset="0"/>
                <a:ea typeface="Calibri" pitchFamily="34" charset="-122"/>
                <a:cs typeface="Calibri" pitchFamily="34" charset="-120"/>
              </a:rPr>
              <a:t>gezinti</a:t>
            </a:r>
            <a:endParaRPr lang="en-US" sz="1000" dirty="0"/>
          </a:p>
        </p:txBody>
      </p:sp>
      <p:sp>
        <p:nvSpPr>
          <p:cNvPr id="15" name="Shape 13"/>
          <p:cNvSpPr/>
          <p:nvPr/>
        </p:nvSpPr>
        <p:spPr>
          <a:xfrm>
            <a:off x="8172450" y="2811780"/>
            <a:ext cx="137160" cy="137160"/>
          </a:xfrm>
          <a:prstGeom prst="ellipse">
            <a:avLst/>
          </a:prstGeom>
          <a:solidFill>
            <a:srgbClr val="7A7A82"/>
          </a:solidFill>
          <a:ln w="12700">
            <a:solidFill>
              <a:srgbClr val="7A7A82"/>
            </a:solidFill>
            <a:prstDash val="solid"/>
          </a:ln>
        </p:spPr>
      </p:sp>
      <p:sp>
        <p:nvSpPr>
          <p:cNvPr id="16" name="Text 14"/>
          <p:cNvSpPr txBox="1"/>
          <p:nvPr/>
        </p:nvSpPr>
        <p:spPr>
          <a:xfrm>
            <a:off x="7235190" y="1920240"/>
            <a:ext cx="2011680" cy="685800"/>
          </a:xfrm>
          <a:prstGeom prst="rect">
            <a:avLst/>
          </a:prstGeom>
          <a:noFill/>
          <a:ln/>
        </p:spPr>
        <p:txBody>
          <a:bodyPr wrap="square" lIns="0" tIns="0" rIns="0" bIns="0" rtlCol="0" anchor="b"/>
          <a:lstStyle/>
          <a:p>
            <a:pPr algn="ctr" indent="0" marL="0">
              <a:lnSpc>
                <a:spcPts val="1700"/>
              </a:lnSpc>
              <a:buNone/>
            </a:pPr>
            <a:r>
              <a:rPr lang="en-US" sz="1400" b="1" dirty="0">
                <a:solidFill>
                  <a:srgbClr val="16161A"/>
                </a:solidFill>
                <a:latin typeface="Cambria" pitchFamily="34" charset="0"/>
                <a:ea typeface="Cambria" pitchFamily="34" charset="-122"/>
                <a:cs typeface="Cambria" pitchFamily="34" charset="-120"/>
              </a:rPr>
              <a:t>Büyük mağaza</a:t>
            </a:r>
            <a:endParaRPr lang="en-US" sz="1400" dirty="0"/>
          </a:p>
        </p:txBody>
      </p:sp>
      <p:sp>
        <p:nvSpPr>
          <p:cNvPr id="17" name="Text 15"/>
          <p:cNvSpPr txBox="1"/>
          <p:nvPr/>
        </p:nvSpPr>
        <p:spPr>
          <a:xfrm>
            <a:off x="7235190" y="3136392"/>
            <a:ext cx="2011680" cy="868680"/>
          </a:xfrm>
          <a:prstGeom prst="rect">
            <a:avLst/>
          </a:prstGeom>
          <a:noFill/>
          <a:ln/>
        </p:spPr>
        <p:txBody>
          <a:bodyPr wrap="square" lIns="0" tIns="0" rIns="0" bIns="0" rtlCol="0" anchor="ctr"/>
          <a:lstStyle/>
          <a:p>
            <a:pPr algn="ctr" indent="0" marL="0">
              <a:lnSpc>
                <a:spcPts val="1300"/>
              </a:lnSpc>
              <a:buNone/>
            </a:pPr>
            <a:r>
              <a:rPr lang="en-US" sz="1000" dirty="0">
                <a:solidFill>
                  <a:srgbClr val="7A7A82"/>
                </a:solidFill>
                <a:latin typeface="Calibri" pitchFamily="34" charset="0"/>
                <a:ea typeface="Calibri" pitchFamily="34" charset="-122"/>
                <a:cs typeface="Calibri" pitchFamily="34" charset="-120"/>
              </a:rPr>
              <a:t>Sabit fiyat,</a:t>
            </a:r>
            <a:endParaRPr lang="en-US" sz="1000" dirty="0"/>
          </a:p>
          <a:p>
            <a:pPr algn="ctr" indent="0" marL="0">
              <a:lnSpc>
                <a:spcPts val="1300"/>
              </a:lnSpc>
              <a:buNone/>
            </a:pPr>
            <a:r>
              <a:rPr lang="en-US" sz="1000" dirty="0">
                <a:solidFill>
                  <a:srgbClr val="7A7A82"/>
                </a:solidFill>
                <a:latin typeface="Calibri" pitchFamily="34" charset="0"/>
                <a:ea typeface="Calibri" pitchFamily="34" charset="-122"/>
                <a:cs typeface="Calibri" pitchFamily="34" charset="-120"/>
              </a:rPr>
              <a:t>serbest dolaşım,</a:t>
            </a:r>
            <a:endParaRPr lang="en-US" sz="1000" dirty="0"/>
          </a:p>
          <a:p>
            <a:pPr algn="ctr" indent="0" marL="0">
              <a:lnSpc>
                <a:spcPts val="1300"/>
              </a:lnSpc>
              <a:buNone/>
            </a:pPr>
            <a:r>
              <a:rPr lang="en-US" sz="1000" dirty="0">
                <a:solidFill>
                  <a:srgbClr val="7A7A82"/>
                </a:solidFill>
                <a:latin typeface="Calibri" pitchFamily="34" charset="0"/>
                <a:ea typeface="Calibri" pitchFamily="34" charset="-122"/>
                <a:cs typeface="Calibri" pitchFamily="34" charset="-120"/>
              </a:rPr>
              <a:t>pazarlıksız alışveriş</a:t>
            </a:r>
            <a:endParaRPr lang="en-US" sz="1000" dirty="0"/>
          </a:p>
        </p:txBody>
      </p:sp>
      <p:sp>
        <p:nvSpPr>
          <p:cNvPr id="18" name="Shape 16"/>
          <p:cNvSpPr/>
          <p:nvPr/>
        </p:nvSpPr>
        <p:spPr>
          <a:xfrm>
            <a:off x="10277856" y="2779776"/>
            <a:ext cx="201168" cy="201168"/>
          </a:xfrm>
          <a:prstGeom prst="ellipse">
            <a:avLst/>
          </a:prstGeom>
          <a:solidFill>
            <a:srgbClr val="8C3A2B"/>
          </a:solidFill>
          <a:ln w="12700">
            <a:solidFill>
              <a:srgbClr val="8C3A2B"/>
            </a:solidFill>
            <a:prstDash val="solid"/>
          </a:ln>
        </p:spPr>
      </p:sp>
      <p:sp>
        <p:nvSpPr>
          <p:cNvPr id="19" name="Text 17"/>
          <p:cNvSpPr txBox="1"/>
          <p:nvPr/>
        </p:nvSpPr>
        <p:spPr>
          <a:xfrm>
            <a:off x="9372600" y="1920240"/>
            <a:ext cx="2011680" cy="685800"/>
          </a:xfrm>
          <a:prstGeom prst="rect">
            <a:avLst/>
          </a:prstGeom>
          <a:noFill/>
          <a:ln/>
        </p:spPr>
        <p:txBody>
          <a:bodyPr wrap="square" lIns="0" tIns="0" rIns="0" bIns="0" rtlCol="0" anchor="b"/>
          <a:lstStyle/>
          <a:p>
            <a:pPr algn="ctr" indent="0" marL="0">
              <a:lnSpc>
                <a:spcPts val="1700"/>
              </a:lnSpc>
              <a:buNone/>
            </a:pPr>
            <a:r>
              <a:rPr lang="en-US" sz="1400" b="1" dirty="0">
                <a:solidFill>
                  <a:srgbClr val="8C3A2B"/>
                </a:solidFill>
                <a:latin typeface="Cambria" pitchFamily="34" charset="0"/>
                <a:ea typeface="Cambria" pitchFamily="34" charset="-122"/>
                <a:cs typeface="Cambria" pitchFamily="34" charset="-120"/>
              </a:rPr>
              <a:t>Deneyim mekânı</a:t>
            </a:r>
            <a:endParaRPr lang="en-US" sz="1400" dirty="0"/>
          </a:p>
        </p:txBody>
      </p:sp>
      <p:sp>
        <p:nvSpPr>
          <p:cNvPr id="20" name="Text 18"/>
          <p:cNvSpPr txBox="1"/>
          <p:nvPr/>
        </p:nvSpPr>
        <p:spPr>
          <a:xfrm>
            <a:off x="9372600" y="3136392"/>
            <a:ext cx="2011680" cy="868680"/>
          </a:xfrm>
          <a:prstGeom prst="rect">
            <a:avLst/>
          </a:prstGeom>
          <a:noFill/>
          <a:ln/>
        </p:spPr>
        <p:txBody>
          <a:bodyPr wrap="square" lIns="0" tIns="0" rIns="0" bIns="0" rtlCol="0" anchor="ctr"/>
          <a:lstStyle/>
          <a:p>
            <a:pPr algn="ctr" indent="0" marL="0">
              <a:lnSpc>
                <a:spcPts val="1300"/>
              </a:lnSpc>
              <a:buNone/>
            </a:pPr>
            <a:r>
              <a:rPr lang="en-US" sz="1000" dirty="0">
                <a:solidFill>
                  <a:srgbClr val="7A7A82"/>
                </a:solidFill>
                <a:latin typeface="Calibri" pitchFamily="34" charset="0"/>
                <a:ea typeface="Calibri" pitchFamily="34" charset="-122"/>
                <a:cs typeface="Calibri" pitchFamily="34" charset="-120"/>
              </a:rPr>
              <a:t>Ürün her yerden</a:t>
            </a:r>
            <a:endParaRPr lang="en-US" sz="1000" dirty="0"/>
          </a:p>
          <a:p>
            <a:pPr algn="ctr" indent="0" marL="0">
              <a:lnSpc>
                <a:spcPts val="1300"/>
              </a:lnSpc>
              <a:buNone/>
            </a:pPr>
            <a:r>
              <a:rPr lang="en-US" sz="1000" dirty="0">
                <a:solidFill>
                  <a:srgbClr val="7A7A82"/>
                </a:solidFill>
                <a:latin typeface="Calibri" pitchFamily="34" charset="0"/>
                <a:ea typeface="Calibri" pitchFamily="34" charset="-122"/>
                <a:cs typeface="Calibri" pitchFamily="34" charset="-120"/>
              </a:rPr>
              <a:t>alınabilir; mekân</a:t>
            </a:r>
            <a:endParaRPr lang="en-US" sz="1000" dirty="0"/>
          </a:p>
          <a:p>
            <a:pPr algn="ctr" indent="0" marL="0">
              <a:lnSpc>
                <a:spcPts val="1300"/>
              </a:lnSpc>
              <a:buNone/>
            </a:pPr>
            <a:r>
              <a:rPr lang="en-US" sz="1000" dirty="0">
                <a:solidFill>
                  <a:srgbClr val="7A7A82"/>
                </a:solidFill>
                <a:latin typeface="Calibri" pitchFamily="34" charset="0"/>
                <a:ea typeface="Calibri" pitchFamily="34" charset="-122"/>
                <a:cs typeface="Calibri" pitchFamily="34" charset="-120"/>
              </a:rPr>
              <a:t>hatırlanır</a:t>
            </a:r>
            <a:endParaRPr lang="en-US" sz="1000" dirty="0"/>
          </a:p>
        </p:txBody>
      </p:sp>
      <p:sp>
        <p:nvSpPr>
          <p:cNvPr id="21" name="Text 19"/>
          <p:cNvSpPr txBox="1"/>
          <p:nvPr/>
        </p:nvSpPr>
        <p:spPr>
          <a:xfrm>
            <a:off x="777240" y="4434840"/>
            <a:ext cx="5029200" cy="1691640"/>
          </a:xfrm>
          <a:prstGeom prst="rect">
            <a:avLst/>
          </a:prstGeom>
          <a:noFill/>
          <a:ln/>
        </p:spPr>
        <p:txBody>
          <a:bodyPr wrap="square" lIns="0" tIns="0" rIns="0" bIns="0" rtlCol="0" anchor="ctr"/>
          <a:lstStyle/>
          <a:p>
            <a:pPr indent="0" marL="0">
              <a:lnSpc>
                <a:spcPts val="2300"/>
              </a:lnSpc>
              <a:buNone/>
            </a:pPr>
            <a:r>
              <a:rPr lang="en-US" sz="1450" dirty="0">
                <a:solidFill>
                  <a:srgbClr val="2B2B31"/>
                </a:solidFill>
                <a:latin typeface="Cambria" pitchFamily="34" charset="0"/>
                <a:ea typeface="Cambria" pitchFamily="34" charset="-122"/>
                <a:cs typeface="Cambria" pitchFamily="34" charset="-120"/>
              </a:rPr>
              <a:t>Her aşamada değişen şey mekânın kendisi değil, insanın ürünle kurduğu ilişkidir. Büyük mağazanın getirdiği kırılma özellikle önemlidir: bir şey almadan içeride dolaşabilmek, modern mağazanın kurucu fikridir.</a:t>
            </a:r>
            <a:endParaRPr lang="en-US" sz="1450" dirty="0"/>
          </a:p>
        </p:txBody>
      </p:sp>
      <p:sp>
        <p:nvSpPr>
          <p:cNvPr id="22" name="Text 20"/>
          <p:cNvSpPr txBox="1"/>
          <p:nvPr/>
        </p:nvSpPr>
        <p:spPr>
          <a:xfrm>
            <a:off x="6382512" y="4434840"/>
            <a:ext cx="5029200" cy="1691640"/>
          </a:xfrm>
          <a:prstGeom prst="rect">
            <a:avLst/>
          </a:prstGeom>
          <a:noFill/>
          <a:ln/>
        </p:spPr>
        <p:txBody>
          <a:bodyPr wrap="square" lIns="0" tIns="0" rIns="0" bIns="0" rtlCol="0" anchor="ctr"/>
          <a:lstStyle/>
          <a:p>
            <a:pPr indent="0" marL="0">
              <a:lnSpc>
                <a:spcPts val="2300"/>
              </a:lnSpc>
              <a:buNone/>
            </a:pPr>
            <a:r>
              <a:rPr lang="en-US" sz="1450" dirty="0">
                <a:solidFill>
                  <a:srgbClr val="2B2B31"/>
                </a:solidFill>
                <a:latin typeface="Cambria" pitchFamily="34" charset="0"/>
                <a:ea typeface="Cambria" pitchFamily="34" charset="-122"/>
                <a:cs typeface="Cambria" pitchFamily="34" charset="-120"/>
              </a:rPr>
              <a:t>Bugünkü kırılma da benzer: ürün internetten alınabildiği için mağazanın işi ürünü bulundurmak değil, ürünle karşılaşmayı kurmaktır (Pine &amp; Gilmore, 1998).</a:t>
            </a:r>
            <a:endParaRPr lang="en-US" sz="1450" dirty="0"/>
          </a:p>
        </p:txBody>
      </p:sp>
      <p:sp>
        <p:nvSpPr>
          <p:cNvPr id="23" name="Text 21"/>
          <p:cNvSpPr txBox="1"/>
          <p:nvPr/>
        </p:nvSpPr>
        <p:spPr>
          <a:xfrm>
            <a:off x="777240" y="6309360"/>
            <a:ext cx="10058400" cy="310896"/>
          </a:xfrm>
          <a:prstGeom prst="rect">
            <a:avLst/>
          </a:prstGeom>
          <a:noFill/>
          <a:ln/>
        </p:spPr>
        <p:txBody>
          <a:bodyPr wrap="square" lIns="0" tIns="0" rIns="0" bIns="0" rtlCol="0" anchor="ctr"/>
          <a:lstStyle/>
          <a:p>
            <a:pPr indent="0" marL="0">
              <a:lnSpc>
                <a:spcPts val="1100"/>
              </a:lnSpc>
              <a:buNone/>
            </a:pPr>
            <a:r>
              <a:rPr lang="en-US" sz="850" dirty="0">
                <a:solidFill>
                  <a:srgbClr val="A6A6AC"/>
                </a:solidFill>
                <a:latin typeface="Calibri" pitchFamily="34" charset="0"/>
                <a:ea typeface="Calibri" pitchFamily="34" charset="-122"/>
                <a:cs typeface="Calibri" pitchFamily="34" charset="-120"/>
              </a:rPr>
              <a:t>Görsel önerisi — Bedesten ve arasta iç mekânı (Bursa, Edirne) · Çiçek Pasajı veya Hazzopulo Pasajı · Le Bon Marché tarihî fotoğrafı</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61A"/>
        </a:solidFill>
      </p:bgPr>
    </p:bg>
    <p:spTree>
      <p:nvGrpSpPr>
        <p:cNvPr id="1" name=""/>
        <p:cNvGrpSpPr/>
        <p:nvPr/>
      </p:nvGrpSpPr>
      <p:grpSpPr>
        <a:xfrm>
          <a:off x="0" y="0"/>
          <a:ext cx="0" cy="0"/>
          <a:chOff x="0" y="0"/>
          <a:chExt cx="0" cy="0"/>
        </a:xfrm>
      </p:grpSpPr>
      <p:sp>
        <p:nvSpPr>
          <p:cNvPr id="2" name="Text 0"/>
          <p:cNvSpPr txBox="1"/>
          <p:nvPr/>
        </p:nvSpPr>
        <p:spPr>
          <a:xfrm>
            <a:off x="777240" y="1371600"/>
            <a:ext cx="3108960" cy="2377440"/>
          </a:xfrm>
          <a:prstGeom prst="rect">
            <a:avLst/>
          </a:prstGeom>
          <a:noFill/>
          <a:ln/>
        </p:spPr>
        <p:txBody>
          <a:bodyPr wrap="square" lIns="0" tIns="0" rIns="0" bIns="0" rtlCol="0" anchor="ctr"/>
          <a:lstStyle/>
          <a:p>
            <a:pPr indent="0" marL="0">
              <a:buNone/>
            </a:pPr>
            <a:r>
              <a:rPr lang="en-US" sz="13000" b="1" dirty="0">
                <a:solidFill>
                  <a:srgbClr val="8C3A2B"/>
                </a:solidFill>
                <a:latin typeface="Cambria" pitchFamily="34" charset="0"/>
                <a:ea typeface="Cambria" pitchFamily="34" charset="-122"/>
                <a:cs typeface="Cambria" pitchFamily="34" charset="-120"/>
              </a:rPr>
              <a:t>II</a:t>
            </a:r>
            <a:endParaRPr lang="en-US" sz="13000" dirty="0"/>
          </a:p>
        </p:txBody>
      </p:sp>
      <p:sp>
        <p:nvSpPr>
          <p:cNvPr id="3" name="Text 1"/>
          <p:cNvSpPr txBox="1"/>
          <p:nvPr/>
        </p:nvSpPr>
        <p:spPr>
          <a:xfrm>
            <a:off x="777240" y="3611880"/>
            <a:ext cx="10424160" cy="1325880"/>
          </a:xfrm>
          <a:prstGeom prst="rect">
            <a:avLst/>
          </a:prstGeom>
          <a:noFill/>
          <a:ln/>
        </p:spPr>
        <p:txBody>
          <a:bodyPr wrap="square" lIns="0" tIns="0" rIns="0" bIns="0" rtlCol="0" anchor="ctr"/>
          <a:lstStyle/>
          <a:p>
            <a:pPr indent="0" marL="0">
              <a:lnSpc>
                <a:spcPts val="4400"/>
              </a:lnSpc>
              <a:buNone/>
            </a:pPr>
            <a:r>
              <a:rPr lang="en-US" sz="4000" b="1" dirty="0">
                <a:solidFill>
                  <a:srgbClr val="FFFFFF"/>
                </a:solidFill>
                <a:latin typeface="Cambria" pitchFamily="34" charset="0"/>
                <a:ea typeface="Cambria" pitchFamily="34" charset="-122"/>
                <a:cs typeface="Cambria" pitchFamily="34" charset="-120"/>
              </a:rPr>
              <a:t>Atmosfer</a:t>
            </a:r>
            <a:endParaRPr lang="en-US" sz="4000" dirty="0"/>
          </a:p>
        </p:txBody>
      </p:sp>
      <p:sp>
        <p:nvSpPr>
          <p:cNvPr id="4" name="Text 2"/>
          <p:cNvSpPr txBox="1"/>
          <p:nvPr/>
        </p:nvSpPr>
        <p:spPr>
          <a:xfrm>
            <a:off x="777240" y="5029200"/>
            <a:ext cx="9509760" cy="822960"/>
          </a:xfrm>
          <a:prstGeom prst="rect">
            <a:avLst/>
          </a:prstGeom>
          <a:noFill/>
          <a:ln/>
        </p:spPr>
        <p:txBody>
          <a:bodyPr wrap="square" lIns="0" tIns="0" rIns="0" bIns="0" rtlCol="0" anchor="ctr"/>
          <a:lstStyle/>
          <a:p>
            <a:pPr indent="0" marL="0">
              <a:lnSpc>
                <a:spcPts val="2200"/>
              </a:lnSpc>
              <a:buNone/>
            </a:pPr>
            <a:r>
              <a:rPr lang="en-US" sz="1500" dirty="0">
                <a:solidFill>
                  <a:srgbClr val="B9B9C0"/>
                </a:solidFill>
                <a:latin typeface="Calibri" pitchFamily="34" charset="0"/>
                <a:ea typeface="Calibri" pitchFamily="34" charset="-122"/>
                <a:cs typeface="Calibri" pitchFamily="34" charset="-120"/>
              </a:rPr>
              <a:t>Mekânın, üründen bağımsız olarak davranışı etkileme gücü.</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CFA"/>
        </a:solidFill>
      </p:bgPr>
    </p:bg>
    <p:spTree>
      <p:nvGrpSpPr>
        <p:cNvPr id="1" name=""/>
        <p:cNvGrpSpPr/>
        <p:nvPr/>
      </p:nvGrpSpPr>
      <p:grpSpPr>
        <a:xfrm>
          <a:off x="0" y="0"/>
          <a:ext cx="0" cy="0"/>
          <a:chOff x="0" y="0"/>
          <a:chExt cx="0" cy="0"/>
        </a:xfrm>
      </p:grpSpPr>
      <p:sp>
        <p:nvSpPr>
          <p:cNvPr id="2" name="Text 0"/>
          <p:cNvSpPr txBox="1"/>
          <p:nvPr/>
        </p:nvSpPr>
        <p:spPr>
          <a:xfrm>
            <a:off x="777240" y="475488"/>
            <a:ext cx="9601200" cy="237744"/>
          </a:xfrm>
          <a:prstGeom prst="rect">
            <a:avLst/>
          </a:prstGeom>
          <a:noFill/>
          <a:ln/>
        </p:spPr>
        <p:txBody>
          <a:bodyPr wrap="square" lIns="0" tIns="0" rIns="0" bIns="0" rtlCol="0" anchor="ctr"/>
          <a:lstStyle/>
          <a:p>
            <a:pPr indent="0" marL="0">
              <a:buNone/>
            </a:pPr>
            <a:r>
              <a:rPr lang="en-US" sz="950" b="1" spc="260" kern="0" dirty="0">
                <a:solidFill>
                  <a:srgbClr val="7A7A82"/>
                </a:solidFill>
                <a:latin typeface="Calibri" pitchFamily="34" charset="0"/>
                <a:ea typeface="Calibri" pitchFamily="34" charset="-122"/>
                <a:cs typeface="Calibri" pitchFamily="34" charset="-120"/>
              </a:rPr>
              <a:t>II · ATMOSFER</a:t>
            </a:r>
            <a:endParaRPr lang="en-US" sz="950" dirty="0"/>
          </a:p>
        </p:txBody>
      </p:sp>
      <p:sp>
        <p:nvSpPr>
          <p:cNvPr id="3" name="Text 1"/>
          <p:cNvSpPr txBox="1"/>
          <p:nvPr/>
        </p:nvSpPr>
        <p:spPr>
          <a:xfrm>
            <a:off x="777240" y="822960"/>
            <a:ext cx="10424160" cy="731520"/>
          </a:xfrm>
          <a:prstGeom prst="rect">
            <a:avLst/>
          </a:prstGeom>
          <a:noFill/>
          <a:ln/>
        </p:spPr>
        <p:txBody>
          <a:bodyPr wrap="square" lIns="0" tIns="0" rIns="0" bIns="0" rtlCol="0" anchor="ctr"/>
          <a:lstStyle/>
          <a:p>
            <a:pPr indent="0" marL="0">
              <a:lnSpc>
                <a:spcPts val="3400"/>
              </a:lnSpc>
              <a:buNone/>
            </a:pPr>
            <a:r>
              <a:rPr lang="en-US" sz="2900" b="1" dirty="0">
                <a:solidFill>
                  <a:srgbClr val="16161A"/>
                </a:solidFill>
                <a:latin typeface="Cambria" pitchFamily="34" charset="0"/>
                <a:ea typeface="Cambria" pitchFamily="34" charset="-122"/>
                <a:cs typeface="Cambria" pitchFamily="34" charset="-120"/>
              </a:rPr>
              <a:t>Fiziksel çevre üç kanaldan etki eder</a:t>
            </a:r>
            <a:endParaRPr lang="en-US" sz="2900" dirty="0"/>
          </a:p>
        </p:txBody>
      </p:sp>
      <p:sp>
        <p:nvSpPr>
          <p:cNvPr id="4" name="Text 2"/>
          <p:cNvSpPr txBox="1"/>
          <p:nvPr/>
        </p:nvSpPr>
        <p:spPr>
          <a:xfrm>
            <a:off x="10972800" y="6355080"/>
            <a:ext cx="438912" cy="237744"/>
          </a:xfrm>
          <a:prstGeom prst="rect">
            <a:avLst/>
          </a:prstGeom>
          <a:noFill/>
          <a:ln/>
        </p:spPr>
        <p:txBody>
          <a:bodyPr wrap="square" lIns="0" tIns="0" rIns="0" bIns="0" rtlCol="0" anchor="ctr"/>
          <a:lstStyle/>
          <a:p>
            <a:pPr algn="r" indent="0" marL="0">
              <a:buNone/>
            </a:pPr>
            <a:r>
              <a:rPr lang="en-US" sz="950" dirty="0">
                <a:solidFill>
                  <a:srgbClr val="A6A6AC"/>
                </a:solidFill>
                <a:latin typeface="Calibri" pitchFamily="34" charset="0"/>
                <a:ea typeface="Calibri" pitchFamily="34" charset="-122"/>
                <a:cs typeface="Calibri" pitchFamily="34" charset="-120"/>
              </a:rPr>
              <a:t>8</a:t>
            </a:r>
            <a:endParaRPr lang="en-US" sz="950" dirty="0"/>
          </a:p>
        </p:txBody>
      </p:sp>
      <p:sp>
        <p:nvSpPr>
          <p:cNvPr id="5" name="Text 3"/>
          <p:cNvSpPr txBox="1"/>
          <p:nvPr/>
        </p:nvSpPr>
        <p:spPr>
          <a:xfrm>
            <a:off x="777240" y="1591056"/>
            <a:ext cx="10634472" cy="914400"/>
          </a:xfrm>
          <a:prstGeom prst="rect">
            <a:avLst/>
          </a:prstGeom>
          <a:noFill/>
          <a:ln/>
        </p:spPr>
        <p:txBody>
          <a:bodyPr wrap="square" lIns="0" tIns="0" rIns="0" bIns="0" rtlCol="0" anchor="ctr"/>
          <a:lstStyle/>
          <a:p>
            <a:pPr indent="0" marL="0">
              <a:lnSpc>
                <a:spcPts val="2300"/>
              </a:lnSpc>
              <a:buNone/>
            </a:pPr>
            <a:r>
              <a:rPr lang="en-US" sz="1500" dirty="0">
                <a:solidFill>
                  <a:srgbClr val="2B2B31"/>
                </a:solidFill>
                <a:latin typeface="Cambria" pitchFamily="34" charset="0"/>
                <a:ea typeface="Cambria" pitchFamily="34" charset="-122"/>
                <a:cs typeface="Cambria" pitchFamily="34" charset="-120"/>
              </a:rPr>
              <a:t>Bir mekânın atmosferinin, ürünün kendisinden bağımsız olarak satın alma kararını etkilediği fikri elli yıllıktır (Kotler, 1973). Bitner (1992) bu etkiyi üç boyuta ayırır — ve bu üç boyut yalnızca müşteriyi değil, çalışanı da etkiler.</a:t>
            </a:r>
            <a:endParaRPr lang="en-US" sz="1500" dirty="0"/>
          </a:p>
        </p:txBody>
      </p:sp>
      <p:sp>
        <p:nvSpPr>
          <p:cNvPr id="6" name="Shape 4"/>
          <p:cNvSpPr/>
          <p:nvPr/>
        </p:nvSpPr>
        <p:spPr>
          <a:xfrm>
            <a:off x="1399032" y="2953512"/>
            <a:ext cx="1865376" cy="1865376"/>
          </a:xfrm>
          <a:prstGeom prst="ellipse">
            <a:avLst/>
          </a:prstGeom>
          <a:ln w="12700">
            <a:solidFill>
              <a:srgbClr val="C9C9CF"/>
            </a:solidFill>
            <a:prstDash val="solid"/>
          </a:ln>
        </p:spPr>
      </p:sp>
      <p:sp>
        <p:nvSpPr>
          <p:cNvPr id="7" name="Text 5"/>
          <p:cNvSpPr txBox="1"/>
          <p:nvPr/>
        </p:nvSpPr>
        <p:spPr>
          <a:xfrm>
            <a:off x="1399032" y="3502152"/>
            <a:ext cx="1865376" cy="310896"/>
          </a:xfrm>
          <a:prstGeom prst="rect">
            <a:avLst/>
          </a:prstGeom>
          <a:noFill/>
          <a:ln/>
        </p:spPr>
        <p:txBody>
          <a:bodyPr wrap="square" lIns="0" tIns="0" rIns="0" bIns="0" rtlCol="0" anchor="ctr"/>
          <a:lstStyle/>
          <a:p>
            <a:pPr algn="ctr" indent="0" marL="0">
              <a:buNone/>
            </a:pPr>
            <a:r>
              <a:rPr lang="en-US" sz="950" b="1" spc="100" kern="0" dirty="0">
                <a:solidFill>
                  <a:srgbClr val="16161A"/>
                </a:solidFill>
                <a:latin typeface="Calibri" pitchFamily="34" charset="0"/>
                <a:ea typeface="Calibri" pitchFamily="34" charset="-122"/>
                <a:cs typeface="Calibri" pitchFamily="34" charset="-120"/>
              </a:rPr>
              <a:t>ORTAM KOŞULLARI</a:t>
            </a:r>
            <a:endParaRPr lang="en-US" sz="950" dirty="0"/>
          </a:p>
        </p:txBody>
      </p:sp>
      <p:sp>
        <p:nvSpPr>
          <p:cNvPr id="8" name="Text 6"/>
          <p:cNvSpPr txBox="1"/>
          <p:nvPr/>
        </p:nvSpPr>
        <p:spPr>
          <a:xfrm>
            <a:off x="1399032" y="3867912"/>
            <a:ext cx="1865376" cy="640080"/>
          </a:xfrm>
          <a:prstGeom prst="rect">
            <a:avLst/>
          </a:prstGeom>
          <a:noFill/>
          <a:ln/>
        </p:spPr>
        <p:txBody>
          <a:bodyPr wrap="square" lIns="0" tIns="0" rIns="0" bIns="0" rtlCol="0" anchor="ctr"/>
          <a:lstStyle/>
          <a:p>
            <a:pPr algn="ctr" indent="0" marL="0">
              <a:lnSpc>
                <a:spcPts val="1300"/>
              </a:lnSpc>
              <a:buNone/>
            </a:pPr>
            <a:r>
              <a:rPr lang="en-US" sz="1000" dirty="0">
                <a:solidFill>
                  <a:srgbClr val="7A7A82"/>
                </a:solidFill>
                <a:latin typeface="Calibri" pitchFamily="34" charset="0"/>
                <a:ea typeface="Calibri" pitchFamily="34" charset="-122"/>
                <a:cs typeface="Calibri" pitchFamily="34" charset="-120"/>
              </a:rPr>
              <a:t>ısı · ışık · ses</a:t>
            </a:r>
            <a:endParaRPr lang="en-US" sz="1000" dirty="0"/>
          </a:p>
          <a:p>
            <a:pPr algn="ctr" indent="0" marL="0">
              <a:lnSpc>
                <a:spcPts val="1300"/>
              </a:lnSpc>
              <a:buNone/>
            </a:pPr>
            <a:r>
              <a:rPr lang="en-US" sz="1000" dirty="0">
                <a:solidFill>
                  <a:srgbClr val="7A7A82"/>
                </a:solidFill>
                <a:latin typeface="Calibri" pitchFamily="34" charset="0"/>
                <a:ea typeface="Calibri" pitchFamily="34" charset="-122"/>
                <a:cs typeface="Calibri" pitchFamily="34" charset="-120"/>
              </a:rPr>
              <a:t>koku · hava</a:t>
            </a:r>
            <a:endParaRPr lang="en-US" sz="1000" dirty="0"/>
          </a:p>
        </p:txBody>
      </p:sp>
      <p:sp>
        <p:nvSpPr>
          <p:cNvPr id="9" name="Shape 7"/>
          <p:cNvSpPr/>
          <p:nvPr/>
        </p:nvSpPr>
        <p:spPr>
          <a:xfrm>
            <a:off x="4828032" y="2953512"/>
            <a:ext cx="1865376" cy="1865376"/>
          </a:xfrm>
          <a:prstGeom prst="ellipse">
            <a:avLst/>
          </a:prstGeom>
          <a:ln w="12700">
            <a:solidFill>
              <a:srgbClr val="C9C9CF"/>
            </a:solidFill>
            <a:prstDash val="solid"/>
          </a:ln>
        </p:spPr>
      </p:sp>
      <p:sp>
        <p:nvSpPr>
          <p:cNvPr id="10" name="Text 8"/>
          <p:cNvSpPr txBox="1"/>
          <p:nvPr/>
        </p:nvSpPr>
        <p:spPr>
          <a:xfrm>
            <a:off x="4828032" y="3502152"/>
            <a:ext cx="1865376" cy="310896"/>
          </a:xfrm>
          <a:prstGeom prst="rect">
            <a:avLst/>
          </a:prstGeom>
          <a:noFill/>
          <a:ln/>
        </p:spPr>
        <p:txBody>
          <a:bodyPr wrap="square" lIns="0" tIns="0" rIns="0" bIns="0" rtlCol="0" anchor="ctr"/>
          <a:lstStyle/>
          <a:p>
            <a:pPr algn="ctr" indent="0" marL="0">
              <a:buNone/>
            </a:pPr>
            <a:r>
              <a:rPr lang="en-US" sz="950" b="1" spc="100" kern="0" dirty="0">
                <a:solidFill>
                  <a:srgbClr val="16161A"/>
                </a:solidFill>
                <a:latin typeface="Calibri" pitchFamily="34" charset="0"/>
                <a:ea typeface="Calibri" pitchFamily="34" charset="-122"/>
                <a:cs typeface="Calibri" pitchFamily="34" charset="-120"/>
              </a:rPr>
              <a:t>MEKÂN VE İŞLEV</a:t>
            </a:r>
            <a:endParaRPr lang="en-US" sz="950" dirty="0"/>
          </a:p>
        </p:txBody>
      </p:sp>
      <p:sp>
        <p:nvSpPr>
          <p:cNvPr id="11" name="Text 9"/>
          <p:cNvSpPr txBox="1"/>
          <p:nvPr/>
        </p:nvSpPr>
        <p:spPr>
          <a:xfrm>
            <a:off x="4828032" y="3867912"/>
            <a:ext cx="1865376" cy="640080"/>
          </a:xfrm>
          <a:prstGeom prst="rect">
            <a:avLst/>
          </a:prstGeom>
          <a:noFill/>
          <a:ln/>
        </p:spPr>
        <p:txBody>
          <a:bodyPr wrap="square" lIns="0" tIns="0" rIns="0" bIns="0" rtlCol="0" anchor="ctr"/>
          <a:lstStyle/>
          <a:p>
            <a:pPr algn="ctr" indent="0" marL="0">
              <a:lnSpc>
                <a:spcPts val="1300"/>
              </a:lnSpc>
              <a:buNone/>
            </a:pPr>
            <a:r>
              <a:rPr lang="en-US" sz="1000" dirty="0">
                <a:solidFill>
                  <a:srgbClr val="7A7A82"/>
                </a:solidFill>
                <a:latin typeface="Calibri" pitchFamily="34" charset="0"/>
                <a:ea typeface="Calibri" pitchFamily="34" charset="-122"/>
                <a:cs typeface="Calibri" pitchFamily="34" charset="-120"/>
              </a:rPr>
              <a:t>yerleşim · ekipman</a:t>
            </a:r>
            <a:endParaRPr lang="en-US" sz="1000" dirty="0"/>
          </a:p>
          <a:p>
            <a:pPr algn="ctr" indent="0" marL="0">
              <a:lnSpc>
                <a:spcPts val="1300"/>
              </a:lnSpc>
              <a:buNone/>
            </a:pPr>
            <a:r>
              <a:rPr lang="en-US" sz="1000" dirty="0">
                <a:solidFill>
                  <a:srgbClr val="7A7A82"/>
                </a:solidFill>
                <a:latin typeface="Calibri" pitchFamily="34" charset="0"/>
                <a:ea typeface="Calibri" pitchFamily="34" charset="-122"/>
                <a:cs typeface="Calibri" pitchFamily="34" charset="-120"/>
              </a:rPr>
              <a:t>mobilya · ölçü</a:t>
            </a:r>
            <a:endParaRPr lang="en-US" sz="1000" dirty="0"/>
          </a:p>
        </p:txBody>
      </p:sp>
      <p:sp>
        <p:nvSpPr>
          <p:cNvPr id="12" name="Shape 10"/>
          <p:cNvSpPr/>
          <p:nvPr/>
        </p:nvSpPr>
        <p:spPr>
          <a:xfrm>
            <a:off x="8257032" y="2953512"/>
            <a:ext cx="1865376" cy="1865376"/>
          </a:xfrm>
          <a:prstGeom prst="ellipse">
            <a:avLst/>
          </a:prstGeom>
          <a:ln w="12700">
            <a:solidFill>
              <a:srgbClr val="C9C9CF"/>
            </a:solidFill>
            <a:prstDash val="solid"/>
          </a:ln>
        </p:spPr>
      </p:sp>
      <p:sp>
        <p:nvSpPr>
          <p:cNvPr id="13" name="Text 11"/>
          <p:cNvSpPr txBox="1"/>
          <p:nvPr/>
        </p:nvSpPr>
        <p:spPr>
          <a:xfrm>
            <a:off x="8257032" y="3502152"/>
            <a:ext cx="1865376" cy="310896"/>
          </a:xfrm>
          <a:prstGeom prst="rect">
            <a:avLst/>
          </a:prstGeom>
          <a:noFill/>
          <a:ln/>
        </p:spPr>
        <p:txBody>
          <a:bodyPr wrap="square" lIns="0" tIns="0" rIns="0" bIns="0" rtlCol="0" anchor="ctr"/>
          <a:lstStyle/>
          <a:p>
            <a:pPr algn="ctr" indent="0" marL="0">
              <a:buNone/>
            </a:pPr>
            <a:r>
              <a:rPr lang="en-US" sz="950" b="1" spc="100" kern="0" dirty="0">
                <a:solidFill>
                  <a:srgbClr val="16161A"/>
                </a:solidFill>
                <a:latin typeface="Calibri" pitchFamily="34" charset="0"/>
                <a:ea typeface="Calibri" pitchFamily="34" charset="-122"/>
                <a:cs typeface="Calibri" pitchFamily="34" charset="-120"/>
              </a:rPr>
              <a:t>İŞARET VE SEMBOL</a:t>
            </a:r>
            <a:endParaRPr lang="en-US" sz="950" dirty="0"/>
          </a:p>
        </p:txBody>
      </p:sp>
      <p:sp>
        <p:nvSpPr>
          <p:cNvPr id="14" name="Text 12"/>
          <p:cNvSpPr txBox="1"/>
          <p:nvPr/>
        </p:nvSpPr>
        <p:spPr>
          <a:xfrm>
            <a:off x="8257032" y="3867912"/>
            <a:ext cx="1865376" cy="640080"/>
          </a:xfrm>
          <a:prstGeom prst="rect">
            <a:avLst/>
          </a:prstGeom>
          <a:noFill/>
          <a:ln/>
        </p:spPr>
        <p:txBody>
          <a:bodyPr wrap="square" lIns="0" tIns="0" rIns="0" bIns="0" rtlCol="0" anchor="ctr"/>
          <a:lstStyle/>
          <a:p>
            <a:pPr algn="ctr" indent="0" marL="0">
              <a:lnSpc>
                <a:spcPts val="1300"/>
              </a:lnSpc>
              <a:buNone/>
            </a:pPr>
            <a:r>
              <a:rPr lang="en-US" sz="1000" dirty="0">
                <a:solidFill>
                  <a:srgbClr val="7A7A82"/>
                </a:solidFill>
                <a:latin typeface="Calibri" pitchFamily="34" charset="0"/>
                <a:ea typeface="Calibri" pitchFamily="34" charset="-122"/>
                <a:cs typeface="Calibri" pitchFamily="34" charset="-120"/>
              </a:rPr>
              <a:t>tabela · malzeme</a:t>
            </a:r>
            <a:endParaRPr lang="en-US" sz="1000" dirty="0"/>
          </a:p>
          <a:p>
            <a:pPr algn="ctr" indent="0" marL="0">
              <a:lnSpc>
                <a:spcPts val="1300"/>
              </a:lnSpc>
              <a:buNone/>
            </a:pPr>
            <a:r>
              <a:rPr lang="en-US" sz="1000" dirty="0">
                <a:solidFill>
                  <a:srgbClr val="7A7A82"/>
                </a:solidFill>
                <a:latin typeface="Calibri" pitchFamily="34" charset="0"/>
                <a:ea typeface="Calibri" pitchFamily="34" charset="-122"/>
                <a:cs typeface="Calibri" pitchFamily="34" charset="-120"/>
              </a:rPr>
              <a:t>dekor · anlam</a:t>
            </a:r>
            <a:endParaRPr lang="en-US" sz="1000" dirty="0"/>
          </a:p>
        </p:txBody>
      </p:sp>
      <p:sp>
        <p:nvSpPr>
          <p:cNvPr id="15" name="Shape 13"/>
          <p:cNvSpPr/>
          <p:nvPr/>
        </p:nvSpPr>
        <p:spPr>
          <a:xfrm>
            <a:off x="3310128" y="3886200"/>
            <a:ext cx="1481328" cy="0"/>
          </a:xfrm>
          <a:prstGeom prst="line">
            <a:avLst/>
          </a:prstGeom>
          <a:noFill/>
          <a:ln w="12700">
            <a:solidFill>
              <a:srgbClr val="C9C9CF"/>
            </a:solidFill>
            <a:prstDash val="solid"/>
            <a:tailEnd type="triangle"/>
          </a:ln>
        </p:spPr>
      </p:sp>
      <p:sp>
        <p:nvSpPr>
          <p:cNvPr id="16" name="Shape 14"/>
          <p:cNvSpPr/>
          <p:nvPr/>
        </p:nvSpPr>
        <p:spPr>
          <a:xfrm>
            <a:off x="6739128" y="3886200"/>
            <a:ext cx="1481328" cy="0"/>
          </a:xfrm>
          <a:prstGeom prst="line">
            <a:avLst/>
          </a:prstGeom>
          <a:noFill/>
          <a:ln w="12700">
            <a:solidFill>
              <a:srgbClr val="C9C9CF"/>
            </a:solidFill>
            <a:prstDash val="solid"/>
            <a:tailEnd type="triangle"/>
          </a:ln>
        </p:spPr>
      </p:sp>
      <p:sp>
        <p:nvSpPr>
          <p:cNvPr id="17" name="Text 15"/>
          <p:cNvSpPr txBox="1"/>
          <p:nvPr/>
        </p:nvSpPr>
        <p:spPr>
          <a:xfrm>
            <a:off x="777240" y="5138928"/>
            <a:ext cx="10424160" cy="365760"/>
          </a:xfrm>
          <a:prstGeom prst="rect">
            <a:avLst/>
          </a:prstGeom>
          <a:noFill/>
          <a:ln/>
        </p:spPr>
        <p:txBody>
          <a:bodyPr wrap="square" lIns="0" tIns="0" rIns="0" bIns="0" rtlCol="0" anchor="ctr"/>
          <a:lstStyle/>
          <a:p>
            <a:pPr algn="ctr" indent="0" marL="0">
              <a:lnSpc>
                <a:spcPts val="1200"/>
              </a:lnSpc>
              <a:buNone/>
            </a:pPr>
            <a:r>
              <a:rPr lang="en-US" sz="1300" i="1" dirty="0">
                <a:solidFill>
                  <a:srgbClr val="8C3A2B"/>
                </a:solidFill>
                <a:latin typeface="Cambria" pitchFamily="34" charset="0"/>
                <a:ea typeface="Cambria" pitchFamily="34" charset="-122"/>
                <a:cs typeface="Cambria" pitchFamily="34" charset="-120"/>
              </a:rPr>
              <a:t>Üçü birlikte algılanır. Biri diğerini yalanladığında insan bunu fark eder — çoğu zaman nedenini adlandıramadan.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CFA"/>
        </a:solidFill>
      </p:bgPr>
    </p:bg>
    <p:spTree>
      <p:nvGrpSpPr>
        <p:cNvPr id="1" name=""/>
        <p:cNvGrpSpPr/>
        <p:nvPr/>
      </p:nvGrpSpPr>
      <p:grpSpPr>
        <a:xfrm>
          <a:off x="0" y="0"/>
          <a:ext cx="0" cy="0"/>
          <a:chOff x="0" y="0"/>
          <a:chExt cx="0" cy="0"/>
        </a:xfrm>
      </p:grpSpPr>
      <p:sp>
        <p:nvSpPr>
          <p:cNvPr id="2" name="Text 0"/>
          <p:cNvSpPr txBox="1"/>
          <p:nvPr/>
        </p:nvSpPr>
        <p:spPr>
          <a:xfrm>
            <a:off x="777240" y="475488"/>
            <a:ext cx="9601200" cy="237744"/>
          </a:xfrm>
          <a:prstGeom prst="rect">
            <a:avLst/>
          </a:prstGeom>
          <a:noFill/>
          <a:ln/>
        </p:spPr>
        <p:txBody>
          <a:bodyPr wrap="square" lIns="0" tIns="0" rIns="0" bIns="0" rtlCol="0" anchor="ctr"/>
          <a:lstStyle/>
          <a:p>
            <a:pPr indent="0" marL="0">
              <a:buNone/>
            </a:pPr>
            <a:r>
              <a:rPr lang="en-US" sz="950" b="1" spc="260" kern="0" dirty="0">
                <a:solidFill>
                  <a:srgbClr val="7A7A82"/>
                </a:solidFill>
                <a:latin typeface="Calibri" pitchFamily="34" charset="0"/>
                <a:ea typeface="Calibri" pitchFamily="34" charset="-122"/>
                <a:cs typeface="Calibri" pitchFamily="34" charset="-120"/>
              </a:rPr>
              <a:t>II · ATMOSFER</a:t>
            </a:r>
            <a:endParaRPr lang="en-US" sz="950" dirty="0"/>
          </a:p>
        </p:txBody>
      </p:sp>
      <p:sp>
        <p:nvSpPr>
          <p:cNvPr id="3" name="Text 1"/>
          <p:cNvSpPr txBox="1"/>
          <p:nvPr/>
        </p:nvSpPr>
        <p:spPr>
          <a:xfrm>
            <a:off x="777240" y="822960"/>
            <a:ext cx="10424160" cy="731520"/>
          </a:xfrm>
          <a:prstGeom prst="rect">
            <a:avLst/>
          </a:prstGeom>
          <a:noFill/>
          <a:ln/>
        </p:spPr>
        <p:txBody>
          <a:bodyPr wrap="square" lIns="0" tIns="0" rIns="0" bIns="0" rtlCol="0" anchor="ctr"/>
          <a:lstStyle/>
          <a:p>
            <a:pPr indent="0" marL="0">
              <a:lnSpc>
                <a:spcPts val="3400"/>
              </a:lnSpc>
              <a:buNone/>
            </a:pPr>
            <a:r>
              <a:rPr lang="en-US" sz="2900" b="1" dirty="0">
                <a:solidFill>
                  <a:srgbClr val="16161A"/>
                </a:solidFill>
                <a:latin typeface="Cambria" pitchFamily="34" charset="0"/>
                <a:ea typeface="Cambria" pitchFamily="34" charset="-122"/>
                <a:cs typeface="Cambria" pitchFamily="34" charset="-120"/>
              </a:rPr>
              <a:t>Mekân insanı ya içeri çeker ya dışarı iter</a:t>
            </a:r>
            <a:endParaRPr lang="en-US" sz="2900" dirty="0"/>
          </a:p>
        </p:txBody>
      </p:sp>
      <p:sp>
        <p:nvSpPr>
          <p:cNvPr id="4" name="Text 2"/>
          <p:cNvSpPr txBox="1"/>
          <p:nvPr/>
        </p:nvSpPr>
        <p:spPr>
          <a:xfrm>
            <a:off x="10972800" y="6355080"/>
            <a:ext cx="438912" cy="237744"/>
          </a:xfrm>
          <a:prstGeom prst="rect">
            <a:avLst/>
          </a:prstGeom>
          <a:noFill/>
          <a:ln/>
        </p:spPr>
        <p:txBody>
          <a:bodyPr wrap="square" lIns="0" tIns="0" rIns="0" bIns="0" rtlCol="0" anchor="ctr"/>
          <a:lstStyle/>
          <a:p>
            <a:pPr algn="r" indent="0" marL="0">
              <a:buNone/>
            </a:pPr>
            <a:r>
              <a:rPr lang="en-US" sz="950" dirty="0">
                <a:solidFill>
                  <a:srgbClr val="A6A6AC"/>
                </a:solidFill>
                <a:latin typeface="Calibri" pitchFamily="34" charset="0"/>
                <a:ea typeface="Calibri" pitchFamily="34" charset="-122"/>
                <a:cs typeface="Calibri" pitchFamily="34" charset="-120"/>
              </a:rPr>
              <a:t>9</a:t>
            </a:r>
            <a:endParaRPr lang="en-US" sz="950" dirty="0"/>
          </a:p>
        </p:txBody>
      </p:sp>
      <p:sp>
        <p:nvSpPr>
          <p:cNvPr id="5" name="Shape 3"/>
          <p:cNvSpPr/>
          <p:nvPr/>
        </p:nvSpPr>
        <p:spPr>
          <a:xfrm>
            <a:off x="1234440" y="1965960"/>
            <a:ext cx="2103120" cy="777240"/>
          </a:xfrm>
          <a:prstGeom prst="rect">
            <a:avLst/>
          </a:prstGeom>
          <a:ln w="9525">
            <a:solidFill>
              <a:srgbClr val="C9C9CF"/>
            </a:solidFill>
            <a:prstDash val="solid"/>
          </a:ln>
        </p:spPr>
      </p:sp>
      <p:sp>
        <p:nvSpPr>
          <p:cNvPr id="6" name="Text 4"/>
          <p:cNvSpPr txBox="1"/>
          <p:nvPr/>
        </p:nvSpPr>
        <p:spPr>
          <a:xfrm>
            <a:off x="1271016" y="1965960"/>
            <a:ext cx="2029968" cy="777240"/>
          </a:xfrm>
          <a:prstGeom prst="rect">
            <a:avLst/>
          </a:prstGeom>
          <a:noFill/>
          <a:ln/>
        </p:spPr>
        <p:txBody>
          <a:bodyPr wrap="square" lIns="0" tIns="0" rIns="0" bIns="0" rtlCol="0" anchor="ctr"/>
          <a:lstStyle/>
          <a:p>
            <a:pPr algn="ctr" indent="0" marL="0">
              <a:lnSpc>
                <a:spcPts val="1100"/>
              </a:lnSpc>
              <a:buNone/>
            </a:pPr>
            <a:r>
              <a:rPr lang="en-US" sz="1050" dirty="0">
                <a:solidFill>
                  <a:srgbClr val="2B2B31"/>
                </a:solidFill>
                <a:latin typeface="Calibri" pitchFamily="34" charset="0"/>
                <a:ea typeface="Calibri" pitchFamily="34" charset="-122"/>
                <a:cs typeface="Calibri" pitchFamily="34" charset="-120"/>
              </a:rPr>
              <a:t>MEKÂNSAL</a:t>
            </a:r>
            <a:endParaRPr lang="en-US" sz="1050" dirty="0"/>
          </a:p>
          <a:p>
            <a:pPr algn="ctr" indent="0" marL="0">
              <a:lnSpc>
                <a:spcPts val="1100"/>
              </a:lnSpc>
              <a:buNone/>
            </a:pPr>
            <a:r>
              <a:rPr lang="en-US" sz="1050" dirty="0">
                <a:solidFill>
                  <a:srgbClr val="2B2B31"/>
                </a:solidFill>
                <a:latin typeface="Calibri" pitchFamily="34" charset="0"/>
                <a:ea typeface="Calibri" pitchFamily="34" charset="-122"/>
                <a:cs typeface="Calibri" pitchFamily="34" charset="-120"/>
              </a:rPr>
              <a:t>UYARAN</a:t>
            </a:r>
            <a:endParaRPr lang="en-US" sz="1050" dirty="0"/>
          </a:p>
        </p:txBody>
      </p:sp>
      <p:sp>
        <p:nvSpPr>
          <p:cNvPr id="7" name="Shape 5"/>
          <p:cNvSpPr/>
          <p:nvPr/>
        </p:nvSpPr>
        <p:spPr>
          <a:xfrm>
            <a:off x="4572000" y="1965960"/>
            <a:ext cx="2103120" cy="777240"/>
          </a:xfrm>
          <a:prstGeom prst="rect">
            <a:avLst/>
          </a:prstGeom>
          <a:ln w="9525">
            <a:solidFill>
              <a:srgbClr val="C9C9CF"/>
            </a:solidFill>
            <a:prstDash val="solid"/>
          </a:ln>
        </p:spPr>
      </p:sp>
      <p:sp>
        <p:nvSpPr>
          <p:cNvPr id="8" name="Text 6"/>
          <p:cNvSpPr txBox="1"/>
          <p:nvPr/>
        </p:nvSpPr>
        <p:spPr>
          <a:xfrm>
            <a:off x="4608576" y="1965960"/>
            <a:ext cx="2029968" cy="777240"/>
          </a:xfrm>
          <a:prstGeom prst="rect">
            <a:avLst/>
          </a:prstGeom>
          <a:noFill/>
          <a:ln/>
        </p:spPr>
        <p:txBody>
          <a:bodyPr wrap="square" lIns="0" tIns="0" rIns="0" bIns="0" rtlCol="0" anchor="ctr"/>
          <a:lstStyle/>
          <a:p>
            <a:pPr algn="ctr" indent="0" marL="0">
              <a:lnSpc>
                <a:spcPts val="1100"/>
              </a:lnSpc>
              <a:buNone/>
            </a:pPr>
            <a:r>
              <a:rPr lang="en-US" sz="1050" dirty="0">
                <a:solidFill>
                  <a:srgbClr val="2B2B31"/>
                </a:solidFill>
                <a:latin typeface="Calibri" pitchFamily="34" charset="0"/>
                <a:ea typeface="Calibri" pitchFamily="34" charset="-122"/>
                <a:cs typeface="Calibri" pitchFamily="34" charset="-120"/>
              </a:rPr>
              <a:t>DUYGUSAL</a:t>
            </a:r>
            <a:endParaRPr lang="en-US" sz="1050" dirty="0"/>
          </a:p>
          <a:p>
            <a:pPr algn="ctr" indent="0" marL="0">
              <a:lnSpc>
                <a:spcPts val="1100"/>
              </a:lnSpc>
              <a:buNone/>
            </a:pPr>
            <a:r>
              <a:rPr lang="en-US" sz="1050" dirty="0">
                <a:solidFill>
                  <a:srgbClr val="2B2B31"/>
                </a:solidFill>
                <a:latin typeface="Calibri" pitchFamily="34" charset="0"/>
                <a:ea typeface="Calibri" pitchFamily="34" charset="-122"/>
                <a:cs typeface="Calibri" pitchFamily="34" charset="-120"/>
              </a:rPr>
              <a:t>TEPKİ</a:t>
            </a:r>
            <a:endParaRPr lang="en-US" sz="1050" dirty="0"/>
          </a:p>
        </p:txBody>
      </p:sp>
      <p:sp>
        <p:nvSpPr>
          <p:cNvPr id="9" name="Shape 7"/>
          <p:cNvSpPr/>
          <p:nvPr/>
        </p:nvSpPr>
        <p:spPr>
          <a:xfrm>
            <a:off x="7909560" y="1965960"/>
            <a:ext cx="2103120" cy="777240"/>
          </a:xfrm>
          <a:prstGeom prst="rect">
            <a:avLst/>
          </a:prstGeom>
          <a:ln w="9525">
            <a:solidFill>
              <a:srgbClr val="C9C9CF"/>
            </a:solidFill>
            <a:prstDash val="solid"/>
          </a:ln>
        </p:spPr>
      </p:sp>
      <p:sp>
        <p:nvSpPr>
          <p:cNvPr id="10" name="Text 8"/>
          <p:cNvSpPr txBox="1"/>
          <p:nvPr/>
        </p:nvSpPr>
        <p:spPr>
          <a:xfrm>
            <a:off x="7946136" y="1965960"/>
            <a:ext cx="2029968" cy="777240"/>
          </a:xfrm>
          <a:prstGeom prst="rect">
            <a:avLst/>
          </a:prstGeom>
          <a:noFill/>
          <a:ln/>
        </p:spPr>
        <p:txBody>
          <a:bodyPr wrap="square" lIns="0" tIns="0" rIns="0" bIns="0" rtlCol="0" anchor="ctr"/>
          <a:lstStyle/>
          <a:p>
            <a:pPr algn="ctr" indent="0" marL="0">
              <a:lnSpc>
                <a:spcPts val="1100"/>
              </a:lnSpc>
              <a:buNone/>
            </a:pPr>
            <a:r>
              <a:rPr lang="en-US" sz="1050" dirty="0">
                <a:solidFill>
                  <a:srgbClr val="2B2B31"/>
                </a:solidFill>
                <a:latin typeface="Calibri" pitchFamily="34" charset="0"/>
                <a:ea typeface="Calibri" pitchFamily="34" charset="-122"/>
                <a:cs typeface="Calibri" pitchFamily="34" charset="-120"/>
              </a:rPr>
              <a:t>DAVRANIŞ</a:t>
            </a:r>
            <a:endParaRPr lang="en-US" sz="1050" dirty="0"/>
          </a:p>
        </p:txBody>
      </p:sp>
      <p:sp>
        <p:nvSpPr>
          <p:cNvPr id="11" name="Shape 9"/>
          <p:cNvSpPr/>
          <p:nvPr/>
        </p:nvSpPr>
        <p:spPr>
          <a:xfrm>
            <a:off x="3401568" y="2354580"/>
            <a:ext cx="1078992" cy="0"/>
          </a:xfrm>
          <a:prstGeom prst="line">
            <a:avLst/>
          </a:prstGeom>
          <a:noFill/>
          <a:ln w="15875">
            <a:solidFill>
              <a:srgbClr val="7A7A82"/>
            </a:solidFill>
            <a:prstDash val="solid"/>
            <a:tailEnd type="triangle"/>
          </a:ln>
        </p:spPr>
      </p:sp>
      <p:sp>
        <p:nvSpPr>
          <p:cNvPr id="12" name="Shape 10"/>
          <p:cNvSpPr/>
          <p:nvPr/>
        </p:nvSpPr>
        <p:spPr>
          <a:xfrm>
            <a:off x="6739128" y="2354580"/>
            <a:ext cx="1078992" cy="0"/>
          </a:xfrm>
          <a:prstGeom prst="line">
            <a:avLst/>
          </a:prstGeom>
          <a:noFill/>
          <a:ln w="15875">
            <a:solidFill>
              <a:srgbClr val="7A7A82"/>
            </a:solidFill>
            <a:prstDash val="solid"/>
            <a:tailEnd type="triangle"/>
          </a:ln>
        </p:spPr>
      </p:sp>
      <p:sp>
        <p:nvSpPr>
          <p:cNvPr id="13" name="Text 11"/>
          <p:cNvSpPr txBox="1"/>
          <p:nvPr/>
        </p:nvSpPr>
        <p:spPr>
          <a:xfrm>
            <a:off x="1234440" y="2889504"/>
            <a:ext cx="2103120" cy="411480"/>
          </a:xfrm>
          <a:prstGeom prst="rect">
            <a:avLst/>
          </a:prstGeom>
          <a:noFill/>
          <a:ln/>
        </p:spPr>
        <p:txBody>
          <a:bodyPr wrap="square" lIns="0" tIns="0" rIns="0" bIns="0" rtlCol="0" anchor="ctr"/>
          <a:lstStyle/>
          <a:p>
            <a:pPr algn="ctr" indent="0" marL="0">
              <a:lnSpc>
                <a:spcPts val="1300"/>
              </a:lnSpc>
              <a:buNone/>
            </a:pPr>
            <a:r>
              <a:rPr lang="en-US" sz="950" dirty="0">
                <a:solidFill>
                  <a:srgbClr val="7A7A82"/>
                </a:solidFill>
                <a:latin typeface="Calibri" pitchFamily="34" charset="0"/>
                <a:ea typeface="Calibri" pitchFamily="34" charset="-122"/>
                <a:cs typeface="Calibri" pitchFamily="34" charset="-120"/>
              </a:rPr>
              <a:t>ışık · ses · koku</a:t>
            </a:r>
            <a:endParaRPr lang="en-US" sz="950" dirty="0"/>
          </a:p>
          <a:p>
            <a:pPr algn="ctr" indent="0" marL="0">
              <a:lnSpc>
                <a:spcPts val="1300"/>
              </a:lnSpc>
              <a:buNone/>
            </a:pPr>
            <a:r>
              <a:rPr lang="en-US" sz="950" dirty="0">
                <a:solidFill>
                  <a:srgbClr val="7A7A82"/>
                </a:solidFill>
                <a:latin typeface="Calibri" pitchFamily="34" charset="0"/>
                <a:ea typeface="Calibri" pitchFamily="34" charset="-122"/>
                <a:cs typeface="Calibri" pitchFamily="34" charset="-120"/>
              </a:rPr>
              <a:t>yoğunluk · malzeme</a:t>
            </a:r>
            <a:endParaRPr lang="en-US" sz="950" dirty="0"/>
          </a:p>
        </p:txBody>
      </p:sp>
      <p:sp>
        <p:nvSpPr>
          <p:cNvPr id="14" name="Text 12"/>
          <p:cNvSpPr txBox="1"/>
          <p:nvPr/>
        </p:nvSpPr>
        <p:spPr>
          <a:xfrm>
            <a:off x="4572000" y="2889504"/>
            <a:ext cx="2103120" cy="548640"/>
          </a:xfrm>
          <a:prstGeom prst="rect">
            <a:avLst/>
          </a:prstGeom>
          <a:noFill/>
          <a:ln/>
        </p:spPr>
        <p:txBody>
          <a:bodyPr wrap="square" lIns="0" tIns="0" rIns="0" bIns="0" rtlCol="0" anchor="ctr"/>
          <a:lstStyle/>
          <a:p>
            <a:pPr algn="ctr" indent="0" marL="0">
              <a:lnSpc>
                <a:spcPts val="1300"/>
              </a:lnSpc>
              <a:buNone/>
            </a:pPr>
            <a:r>
              <a:rPr lang="en-US" sz="950" dirty="0">
                <a:solidFill>
                  <a:srgbClr val="7A7A82"/>
                </a:solidFill>
                <a:latin typeface="Calibri" pitchFamily="34" charset="0"/>
                <a:ea typeface="Calibri" pitchFamily="34" charset="-122"/>
                <a:cs typeface="Calibri" pitchFamily="34" charset="-120"/>
              </a:rPr>
              <a:t>haz</a:t>
            </a:r>
            <a:endParaRPr lang="en-US" sz="950" dirty="0"/>
          </a:p>
          <a:p>
            <a:pPr algn="ctr" indent="0" marL="0">
              <a:lnSpc>
                <a:spcPts val="1300"/>
              </a:lnSpc>
              <a:buNone/>
            </a:pPr>
            <a:r>
              <a:rPr lang="en-US" sz="950" dirty="0">
                <a:solidFill>
                  <a:srgbClr val="7A7A82"/>
                </a:solidFill>
                <a:latin typeface="Calibri" pitchFamily="34" charset="0"/>
                <a:ea typeface="Calibri" pitchFamily="34" charset="-122"/>
                <a:cs typeface="Calibri" pitchFamily="34" charset="-120"/>
              </a:rPr>
              <a:t>uyarılma</a:t>
            </a:r>
            <a:endParaRPr lang="en-US" sz="950" dirty="0"/>
          </a:p>
          <a:p>
            <a:pPr algn="ctr" indent="0" marL="0">
              <a:lnSpc>
                <a:spcPts val="1300"/>
              </a:lnSpc>
              <a:buNone/>
            </a:pPr>
            <a:r>
              <a:rPr lang="en-US" sz="950" dirty="0">
                <a:solidFill>
                  <a:srgbClr val="7A7A82"/>
                </a:solidFill>
                <a:latin typeface="Calibri" pitchFamily="34" charset="0"/>
                <a:ea typeface="Calibri" pitchFamily="34" charset="-122"/>
                <a:cs typeface="Calibri" pitchFamily="34" charset="-120"/>
              </a:rPr>
              <a:t>kontrol duygusu</a:t>
            </a:r>
            <a:endParaRPr lang="en-US" sz="950" dirty="0"/>
          </a:p>
        </p:txBody>
      </p:sp>
      <p:sp>
        <p:nvSpPr>
          <p:cNvPr id="15" name="Shape 13"/>
          <p:cNvSpPr/>
          <p:nvPr/>
        </p:nvSpPr>
        <p:spPr>
          <a:xfrm>
            <a:off x="7909560" y="3108960"/>
            <a:ext cx="2103120" cy="566928"/>
          </a:xfrm>
          <a:prstGeom prst="rect">
            <a:avLst/>
          </a:prstGeom>
          <a:solidFill>
            <a:srgbClr val="F6EAE6"/>
          </a:solidFill>
          <a:ln w="15875">
            <a:solidFill>
              <a:srgbClr val="8C3A2B"/>
            </a:solidFill>
            <a:prstDash val="solid"/>
          </a:ln>
        </p:spPr>
      </p:sp>
      <p:sp>
        <p:nvSpPr>
          <p:cNvPr id="16" name="Text 14"/>
          <p:cNvSpPr txBox="1"/>
          <p:nvPr/>
        </p:nvSpPr>
        <p:spPr>
          <a:xfrm>
            <a:off x="7946136" y="3108960"/>
            <a:ext cx="2029968" cy="566928"/>
          </a:xfrm>
          <a:prstGeom prst="rect">
            <a:avLst/>
          </a:prstGeom>
          <a:noFill/>
          <a:ln/>
        </p:spPr>
        <p:txBody>
          <a:bodyPr wrap="square" lIns="0" tIns="0" rIns="0" bIns="0" rtlCol="0" anchor="ctr"/>
          <a:lstStyle/>
          <a:p>
            <a:pPr algn="ctr" indent="0" marL="0">
              <a:lnSpc>
                <a:spcPts val="1100"/>
              </a:lnSpc>
              <a:buNone/>
            </a:pPr>
            <a:r>
              <a:rPr lang="en-US" sz="1050" dirty="0">
                <a:solidFill>
                  <a:srgbClr val="8C3A2B"/>
                </a:solidFill>
                <a:latin typeface="Calibri" pitchFamily="34" charset="0"/>
                <a:ea typeface="Calibri" pitchFamily="34" charset="-122"/>
                <a:cs typeface="Calibri" pitchFamily="34" charset="-120"/>
              </a:rPr>
              <a:t>YAKLAŞMA</a:t>
            </a:r>
            <a:endParaRPr lang="en-US" sz="1050" dirty="0"/>
          </a:p>
        </p:txBody>
      </p:sp>
      <p:sp>
        <p:nvSpPr>
          <p:cNvPr id="17" name="Text 15"/>
          <p:cNvSpPr txBox="1"/>
          <p:nvPr/>
        </p:nvSpPr>
        <p:spPr>
          <a:xfrm>
            <a:off x="7909560" y="3730752"/>
            <a:ext cx="2103120" cy="274320"/>
          </a:xfrm>
          <a:prstGeom prst="rect">
            <a:avLst/>
          </a:prstGeom>
          <a:noFill/>
          <a:ln/>
        </p:spPr>
        <p:txBody>
          <a:bodyPr wrap="square" lIns="0" tIns="0" rIns="0" bIns="0" rtlCol="0" anchor="ctr"/>
          <a:lstStyle/>
          <a:p>
            <a:pPr algn="ctr" indent="0" marL="0">
              <a:lnSpc>
                <a:spcPts val="1250"/>
              </a:lnSpc>
              <a:buNone/>
            </a:pPr>
            <a:r>
              <a:rPr lang="en-US" sz="950" dirty="0">
                <a:solidFill>
                  <a:srgbClr val="7A7A82"/>
                </a:solidFill>
                <a:latin typeface="Calibri" pitchFamily="34" charset="0"/>
                <a:ea typeface="Calibri" pitchFamily="34" charset="-122"/>
                <a:cs typeface="Calibri" pitchFamily="34" charset="-120"/>
              </a:rPr>
              <a:t>girer · kalır · dolaşır</a:t>
            </a:r>
            <a:endParaRPr lang="en-US" sz="950" dirty="0"/>
          </a:p>
          <a:p>
            <a:pPr algn="ctr" indent="0" marL="0">
              <a:lnSpc>
                <a:spcPts val="1250"/>
              </a:lnSpc>
              <a:buNone/>
            </a:pPr>
            <a:r>
              <a:rPr lang="en-US" sz="950" dirty="0">
                <a:solidFill>
                  <a:srgbClr val="7A7A82"/>
                </a:solidFill>
                <a:latin typeface="Calibri" pitchFamily="34" charset="0"/>
                <a:ea typeface="Calibri" pitchFamily="34" charset="-122"/>
                <a:cs typeface="Calibri" pitchFamily="34" charset="-120"/>
              </a:rPr>
              <a:t>etkileşime geçer</a:t>
            </a:r>
            <a:endParaRPr lang="en-US" sz="950" dirty="0"/>
          </a:p>
        </p:txBody>
      </p:sp>
      <p:sp>
        <p:nvSpPr>
          <p:cNvPr id="18" name="Shape 16"/>
          <p:cNvSpPr/>
          <p:nvPr/>
        </p:nvSpPr>
        <p:spPr>
          <a:xfrm>
            <a:off x="7909560" y="4297680"/>
            <a:ext cx="2103120" cy="566928"/>
          </a:xfrm>
          <a:prstGeom prst="rect">
            <a:avLst/>
          </a:prstGeom>
          <a:ln w="9525">
            <a:solidFill>
              <a:srgbClr val="C9C9CF"/>
            </a:solidFill>
            <a:prstDash val="solid"/>
          </a:ln>
        </p:spPr>
      </p:sp>
      <p:sp>
        <p:nvSpPr>
          <p:cNvPr id="19" name="Text 17"/>
          <p:cNvSpPr txBox="1"/>
          <p:nvPr/>
        </p:nvSpPr>
        <p:spPr>
          <a:xfrm>
            <a:off x="7946136" y="4297680"/>
            <a:ext cx="2029968" cy="566928"/>
          </a:xfrm>
          <a:prstGeom prst="rect">
            <a:avLst/>
          </a:prstGeom>
          <a:noFill/>
          <a:ln/>
        </p:spPr>
        <p:txBody>
          <a:bodyPr wrap="square" lIns="0" tIns="0" rIns="0" bIns="0" rtlCol="0" anchor="ctr"/>
          <a:lstStyle/>
          <a:p>
            <a:pPr algn="ctr" indent="0" marL="0">
              <a:lnSpc>
                <a:spcPts val="1100"/>
              </a:lnSpc>
              <a:buNone/>
            </a:pPr>
            <a:r>
              <a:rPr lang="en-US" sz="1050" dirty="0">
                <a:solidFill>
                  <a:srgbClr val="2B2B31"/>
                </a:solidFill>
                <a:latin typeface="Calibri" pitchFamily="34" charset="0"/>
                <a:ea typeface="Calibri" pitchFamily="34" charset="-122"/>
                <a:cs typeface="Calibri" pitchFamily="34" charset="-120"/>
              </a:rPr>
              <a:t>KAÇINMA</a:t>
            </a:r>
            <a:endParaRPr lang="en-US" sz="1050" dirty="0"/>
          </a:p>
        </p:txBody>
      </p:sp>
      <p:sp>
        <p:nvSpPr>
          <p:cNvPr id="20" name="Text 18"/>
          <p:cNvSpPr txBox="1"/>
          <p:nvPr/>
        </p:nvSpPr>
        <p:spPr>
          <a:xfrm>
            <a:off x="7909560" y="4919472"/>
            <a:ext cx="2103120" cy="274320"/>
          </a:xfrm>
          <a:prstGeom prst="rect">
            <a:avLst/>
          </a:prstGeom>
          <a:noFill/>
          <a:ln/>
        </p:spPr>
        <p:txBody>
          <a:bodyPr wrap="square" lIns="0" tIns="0" rIns="0" bIns="0" rtlCol="0" anchor="ctr"/>
          <a:lstStyle/>
          <a:p>
            <a:pPr algn="ctr" indent="0" marL="0">
              <a:lnSpc>
                <a:spcPts val="1250"/>
              </a:lnSpc>
              <a:buNone/>
            </a:pPr>
            <a:r>
              <a:rPr lang="en-US" sz="950" dirty="0">
                <a:solidFill>
                  <a:srgbClr val="7A7A82"/>
                </a:solidFill>
                <a:latin typeface="Calibri" pitchFamily="34" charset="0"/>
                <a:ea typeface="Calibri" pitchFamily="34" charset="-122"/>
                <a:cs typeface="Calibri" pitchFamily="34" charset="-120"/>
              </a:rPr>
              <a:t>girmez · kısa keser</a:t>
            </a:r>
            <a:endParaRPr lang="en-US" sz="950" dirty="0"/>
          </a:p>
          <a:p>
            <a:pPr algn="ctr" indent="0" marL="0">
              <a:lnSpc>
                <a:spcPts val="1250"/>
              </a:lnSpc>
              <a:buNone/>
            </a:pPr>
            <a:r>
              <a:rPr lang="en-US" sz="950" dirty="0">
                <a:solidFill>
                  <a:srgbClr val="7A7A82"/>
                </a:solidFill>
                <a:latin typeface="Calibri" pitchFamily="34" charset="0"/>
                <a:ea typeface="Calibri" pitchFamily="34" charset="-122"/>
                <a:cs typeface="Calibri" pitchFamily="34" charset="-120"/>
              </a:rPr>
              <a:t>çıkar</a:t>
            </a:r>
            <a:endParaRPr lang="en-US" sz="950" dirty="0"/>
          </a:p>
        </p:txBody>
      </p:sp>
      <p:sp>
        <p:nvSpPr>
          <p:cNvPr id="21" name="Shape 19"/>
          <p:cNvSpPr/>
          <p:nvPr/>
        </p:nvSpPr>
        <p:spPr>
          <a:xfrm>
            <a:off x="8961120" y="2743200"/>
            <a:ext cx="0" cy="365760"/>
          </a:xfrm>
          <a:prstGeom prst="line">
            <a:avLst/>
          </a:prstGeom>
          <a:noFill/>
          <a:ln w="15875">
            <a:solidFill>
              <a:srgbClr val="8C3A2B"/>
            </a:solidFill>
            <a:prstDash val="solid"/>
            <a:tailEnd type="triangle"/>
          </a:ln>
        </p:spPr>
      </p:sp>
      <p:sp>
        <p:nvSpPr>
          <p:cNvPr id="22" name="Shape 20"/>
          <p:cNvSpPr/>
          <p:nvPr/>
        </p:nvSpPr>
        <p:spPr>
          <a:xfrm>
            <a:off x="8961120" y="3675888"/>
            <a:ext cx="0" cy="621792"/>
          </a:xfrm>
          <a:prstGeom prst="line">
            <a:avLst/>
          </a:prstGeom>
          <a:noFill/>
          <a:ln w="15875">
            <a:solidFill>
              <a:srgbClr val="7A7A82"/>
            </a:solidFill>
            <a:prstDash val="dash"/>
            <a:tailEnd type="triangle"/>
          </a:ln>
        </p:spPr>
      </p:sp>
      <p:sp>
        <p:nvSpPr>
          <p:cNvPr id="23" name="Text 21"/>
          <p:cNvSpPr txBox="1"/>
          <p:nvPr/>
        </p:nvSpPr>
        <p:spPr>
          <a:xfrm>
            <a:off x="777240" y="5486400"/>
            <a:ext cx="10424160" cy="777240"/>
          </a:xfrm>
          <a:prstGeom prst="rect">
            <a:avLst/>
          </a:prstGeom>
          <a:noFill/>
          <a:ln/>
        </p:spPr>
        <p:txBody>
          <a:bodyPr wrap="square" lIns="0" tIns="0" rIns="0" bIns="0" rtlCol="0" anchor="ctr"/>
          <a:lstStyle/>
          <a:p>
            <a:pPr indent="0" marL="0">
              <a:lnSpc>
                <a:spcPts val="2100"/>
              </a:lnSpc>
              <a:buNone/>
            </a:pPr>
            <a:r>
              <a:rPr lang="en-US" sz="1350" dirty="0">
                <a:solidFill>
                  <a:srgbClr val="2B2B31"/>
                </a:solidFill>
                <a:latin typeface="Cambria" pitchFamily="34" charset="0"/>
                <a:ea typeface="Cambria" pitchFamily="34" charset="-122"/>
                <a:cs typeface="Cambria" pitchFamily="34" charset="-120"/>
              </a:rPr>
              <a:t>Mekânsal uyaranlar önce bir duygu üretir, duygu da bir davranışa dönüşür (Mehrabian &amp; Russell, 1974). Buradan çıkan sonuç açıktır: nötr bir mekân yoktur — hiçbir şey hissettirmemek de bir sonuçtur ve genellikle kaçınma yönünde çalışır. Sadelik bir karardır; kararsızlık değil.</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CFA"/>
        </a:solidFill>
      </p:bgPr>
    </p:bg>
    <p:spTree>
      <p:nvGrpSpPr>
        <p:cNvPr id="1" name=""/>
        <p:cNvGrpSpPr/>
        <p:nvPr/>
      </p:nvGrpSpPr>
      <p:grpSpPr>
        <a:xfrm>
          <a:off x="0" y="0"/>
          <a:ext cx="0" cy="0"/>
          <a:chOff x="0" y="0"/>
          <a:chExt cx="0" cy="0"/>
        </a:xfrm>
      </p:grpSpPr>
      <p:sp>
        <p:nvSpPr>
          <p:cNvPr id="2" name="Text 0"/>
          <p:cNvSpPr txBox="1"/>
          <p:nvPr/>
        </p:nvSpPr>
        <p:spPr>
          <a:xfrm>
            <a:off x="777240" y="475488"/>
            <a:ext cx="9601200" cy="237744"/>
          </a:xfrm>
          <a:prstGeom prst="rect">
            <a:avLst/>
          </a:prstGeom>
          <a:noFill/>
          <a:ln/>
        </p:spPr>
        <p:txBody>
          <a:bodyPr wrap="square" lIns="0" tIns="0" rIns="0" bIns="0" rtlCol="0" anchor="ctr"/>
          <a:lstStyle/>
          <a:p>
            <a:pPr indent="0" marL="0">
              <a:buNone/>
            </a:pPr>
            <a:r>
              <a:rPr lang="en-US" sz="950" b="1" spc="260" kern="0" dirty="0">
                <a:solidFill>
                  <a:srgbClr val="7A7A82"/>
                </a:solidFill>
                <a:latin typeface="Calibri" pitchFamily="34" charset="0"/>
                <a:ea typeface="Calibri" pitchFamily="34" charset="-122"/>
                <a:cs typeface="Calibri" pitchFamily="34" charset="-120"/>
              </a:rPr>
              <a:t>II · ATMOSFER</a:t>
            </a:r>
            <a:endParaRPr lang="en-US" sz="950" dirty="0"/>
          </a:p>
        </p:txBody>
      </p:sp>
      <p:sp>
        <p:nvSpPr>
          <p:cNvPr id="3" name="Text 1"/>
          <p:cNvSpPr txBox="1"/>
          <p:nvPr/>
        </p:nvSpPr>
        <p:spPr>
          <a:xfrm>
            <a:off x="777240" y="822960"/>
            <a:ext cx="10424160" cy="731520"/>
          </a:xfrm>
          <a:prstGeom prst="rect">
            <a:avLst/>
          </a:prstGeom>
          <a:noFill/>
          <a:ln/>
        </p:spPr>
        <p:txBody>
          <a:bodyPr wrap="square" lIns="0" tIns="0" rIns="0" bIns="0" rtlCol="0" anchor="ctr"/>
          <a:lstStyle/>
          <a:p>
            <a:pPr indent="0" marL="0">
              <a:lnSpc>
                <a:spcPts val="3400"/>
              </a:lnSpc>
              <a:buNone/>
            </a:pPr>
            <a:r>
              <a:rPr lang="en-US" sz="2900" b="1" dirty="0">
                <a:solidFill>
                  <a:srgbClr val="16161A"/>
                </a:solidFill>
                <a:latin typeface="Cambria" pitchFamily="34" charset="0"/>
                <a:ea typeface="Cambria" pitchFamily="34" charset="-122"/>
                <a:cs typeface="Cambria" pitchFamily="34" charset="-120"/>
              </a:rPr>
              <a:t>Deneyim neyden oluşur?</a:t>
            </a:r>
            <a:endParaRPr lang="en-US" sz="2900" dirty="0"/>
          </a:p>
        </p:txBody>
      </p:sp>
      <p:sp>
        <p:nvSpPr>
          <p:cNvPr id="4" name="Text 2"/>
          <p:cNvSpPr txBox="1"/>
          <p:nvPr/>
        </p:nvSpPr>
        <p:spPr>
          <a:xfrm>
            <a:off x="10972800" y="6355080"/>
            <a:ext cx="438912" cy="237744"/>
          </a:xfrm>
          <a:prstGeom prst="rect">
            <a:avLst/>
          </a:prstGeom>
          <a:noFill/>
          <a:ln/>
        </p:spPr>
        <p:txBody>
          <a:bodyPr wrap="square" lIns="0" tIns="0" rIns="0" bIns="0" rtlCol="0" anchor="ctr"/>
          <a:lstStyle/>
          <a:p>
            <a:pPr algn="r" indent="0" marL="0">
              <a:buNone/>
            </a:pPr>
            <a:r>
              <a:rPr lang="en-US" sz="950" dirty="0">
                <a:solidFill>
                  <a:srgbClr val="A6A6AC"/>
                </a:solidFill>
                <a:latin typeface="Calibri" pitchFamily="34" charset="0"/>
                <a:ea typeface="Calibri" pitchFamily="34" charset="-122"/>
                <a:cs typeface="Calibri" pitchFamily="34" charset="-120"/>
              </a:rPr>
              <a:t>10</a:t>
            </a:r>
            <a:endParaRPr lang="en-US" sz="950" dirty="0"/>
          </a:p>
        </p:txBody>
      </p:sp>
      <p:sp>
        <p:nvSpPr>
          <p:cNvPr id="5" name="Text 3"/>
          <p:cNvSpPr txBox="1"/>
          <p:nvPr/>
        </p:nvSpPr>
        <p:spPr>
          <a:xfrm>
            <a:off x="777240" y="1591056"/>
            <a:ext cx="10634472" cy="914400"/>
          </a:xfrm>
          <a:prstGeom prst="rect">
            <a:avLst/>
          </a:prstGeom>
          <a:noFill/>
          <a:ln/>
        </p:spPr>
        <p:txBody>
          <a:bodyPr wrap="square" lIns="0" tIns="0" rIns="0" bIns="0" rtlCol="0" anchor="ctr"/>
          <a:lstStyle/>
          <a:p>
            <a:pPr indent="0" marL="0">
              <a:lnSpc>
                <a:spcPts val="2300"/>
              </a:lnSpc>
              <a:buNone/>
            </a:pPr>
            <a:r>
              <a:rPr lang="en-US" sz="1500" dirty="0">
                <a:solidFill>
                  <a:srgbClr val="2B2B31"/>
                </a:solidFill>
                <a:latin typeface="Cambria" pitchFamily="34" charset="0"/>
                <a:ea typeface="Cambria" pitchFamily="34" charset="-122"/>
                <a:cs typeface="Cambria" pitchFamily="34" charset="-120"/>
              </a:rPr>
              <a:t>Perakende deneyimini oluşturan bileşenler, duyusal markalama literatüründe dört başlık altında toplanır (Lindström, 2005). Bunların üçü tasarımcının doğrudan kurduğu şeylerdir; dördüncüsü işletmenin kararıdır ama mekân onu barındırmak zorundadır.</a:t>
            </a:r>
            <a:endParaRPr lang="en-US" sz="1500" dirty="0"/>
          </a:p>
        </p:txBody>
      </p:sp>
      <p:sp>
        <p:nvSpPr>
          <p:cNvPr id="6" name="Shape 4"/>
          <p:cNvSpPr/>
          <p:nvPr/>
        </p:nvSpPr>
        <p:spPr>
          <a:xfrm>
            <a:off x="1362456" y="2734056"/>
            <a:ext cx="1572768" cy="1572768"/>
          </a:xfrm>
          <a:prstGeom prst="ellipse">
            <a:avLst/>
          </a:prstGeom>
          <a:solidFill>
            <a:srgbClr val="FCFCFA"/>
          </a:solidFill>
          <a:ln w="12700">
            <a:solidFill>
              <a:srgbClr val="C9C9CF"/>
            </a:solidFill>
            <a:prstDash val="solid"/>
          </a:ln>
        </p:spPr>
      </p:sp>
      <p:sp>
        <p:nvSpPr>
          <p:cNvPr id="7" name="Text 5"/>
          <p:cNvSpPr txBox="1"/>
          <p:nvPr/>
        </p:nvSpPr>
        <p:spPr>
          <a:xfrm>
            <a:off x="1362456" y="3108960"/>
            <a:ext cx="1572768" cy="822960"/>
          </a:xfrm>
          <a:prstGeom prst="rect">
            <a:avLst/>
          </a:prstGeom>
          <a:noFill/>
          <a:ln/>
        </p:spPr>
        <p:txBody>
          <a:bodyPr wrap="square" lIns="0" tIns="0" rIns="0" bIns="0" rtlCol="0" anchor="ctr"/>
          <a:lstStyle/>
          <a:p>
            <a:pPr algn="ctr" indent="0" marL="0">
              <a:lnSpc>
                <a:spcPts val="1400"/>
              </a:lnSpc>
              <a:buNone/>
            </a:pPr>
            <a:r>
              <a:rPr lang="en-US" sz="1100" b="1" dirty="0">
                <a:solidFill>
                  <a:srgbClr val="16161A"/>
                </a:solidFill>
                <a:latin typeface="Calibri" pitchFamily="34" charset="0"/>
                <a:ea typeface="Calibri" pitchFamily="34" charset="-122"/>
                <a:cs typeface="Calibri" pitchFamily="34" charset="-120"/>
              </a:rPr>
              <a:t>Mağaza</a:t>
            </a:r>
            <a:endParaRPr lang="en-US" sz="1100" dirty="0"/>
          </a:p>
          <a:p>
            <a:pPr algn="ctr" indent="0" marL="0">
              <a:lnSpc>
                <a:spcPts val="1400"/>
              </a:lnSpc>
              <a:buNone/>
            </a:pPr>
            <a:r>
              <a:rPr lang="en-US" sz="1100" b="1" dirty="0">
                <a:solidFill>
                  <a:srgbClr val="16161A"/>
                </a:solidFill>
                <a:latin typeface="Calibri" pitchFamily="34" charset="0"/>
                <a:ea typeface="Calibri" pitchFamily="34" charset="-122"/>
                <a:cs typeface="Calibri" pitchFamily="34" charset="-120"/>
              </a:rPr>
              <a:t>tasarımı</a:t>
            </a:r>
            <a:endParaRPr lang="en-US" sz="1100" dirty="0"/>
          </a:p>
        </p:txBody>
      </p:sp>
      <p:sp>
        <p:nvSpPr>
          <p:cNvPr id="8" name="Text 6"/>
          <p:cNvSpPr txBox="1"/>
          <p:nvPr/>
        </p:nvSpPr>
        <p:spPr>
          <a:xfrm>
            <a:off x="850392" y="4507992"/>
            <a:ext cx="2596896" cy="960120"/>
          </a:xfrm>
          <a:prstGeom prst="rect">
            <a:avLst/>
          </a:prstGeom>
          <a:noFill/>
          <a:ln/>
        </p:spPr>
        <p:txBody>
          <a:bodyPr wrap="square" lIns="0" tIns="0" rIns="0" bIns="0" rtlCol="0" anchor="ctr"/>
          <a:lstStyle/>
          <a:p>
            <a:pPr algn="ctr" indent="0" marL="0">
              <a:lnSpc>
                <a:spcPts val="1350"/>
              </a:lnSpc>
              <a:buNone/>
            </a:pPr>
            <a:r>
              <a:rPr lang="en-US" sz="1050" dirty="0">
                <a:solidFill>
                  <a:srgbClr val="7A7A82"/>
                </a:solidFill>
                <a:latin typeface="Calibri" pitchFamily="34" charset="0"/>
                <a:ea typeface="Calibri" pitchFamily="34" charset="-122"/>
                <a:cs typeface="Calibri" pitchFamily="34" charset="-120"/>
              </a:rPr>
              <a:t>Estetik olarak çekici bir mekân, hikâye anlatımı, gündelikten kopuş</a:t>
            </a:r>
            <a:endParaRPr lang="en-US" sz="1050" dirty="0"/>
          </a:p>
        </p:txBody>
      </p:sp>
      <p:sp>
        <p:nvSpPr>
          <p:cNvPr id="9" name="Shape 7"/>
          <p:cNvSpPr/>
          <p:nvPr/>
        </p:nvSpPr>
        <p:spPr>
          <a:xfrm>
            <a:off x="2935224" y="3520440"/>
            <a:ext cx="1216152" cy="0"/>
          </a:xfrm>
          <a:prstGeom prst="line">
            <a:avLst/>
          </a:prstGeom>
          <a:noFill/>
          <a:ln w="12700">
            <a:solidFill>
              <a:srgbClr val="C9C9CF"/>
            </a:solidFill>
            <a:prstDash val="solid"/>
          </a:ln>
        </p:spPr>
      </p:sp>
      <p:sp>
        <p:nvSpPr>
          <p:cNvPr id="10" name="Shape 8"/>
          <p:cNvSpPr/>
          <p:nvPr/>
        </p:nvSpPr>
        <p:spPr>
          <a:xfrm>
            <a:off x="4151376" y="2734056"/>
            <a:ext cx="1572768" cy="1572768"/>
          </a:xfrm>
          <a:prstGeom prst="ellipse">
            <a:avLst/>
          </a:prstGeom>
          <a:solidFill>
            <a:srgbClr val="F6EAE6"/>
          </a:solidFill>
          <a:ln w="19050">
            <a:solidFill>
              <a:srgbClr val="8C3A2B"/>
            </a:solidFill>
            <a:prstDash val="solid"/>
          </a:ln>
        </p:spPr>
      </p:sp>
      <p:sp>
        <p:nvSpPr>
          <p:cNvPr id="11" name="Text 9"/>
          <p:cNvSpPr txBox="1"/>
          <p:nvPr/>
        </p:nvSpPr>
        <p:spPr>
          <a:xfrm>
            <a:off x="4151376" y="3108960"/>
            <a:ext cx="1572768" cy="822960"/>
          </a:xfrm>
          <a:prstGeom prst="rect">
            <a:avLst/>
          </a:prstGeom>
          <a:noFill/>
          <a:ln/>
        </p:spPr>
        <p:txBody>
          <a:bodyPr wrap="square" lIns="0" tIns="0" rIns="0" bIns="0" rtlCol="0" anchor="ctr"/>
          <a:lstStyle/>
          <a:p>
            <a:pPr algn="ctr" indent="0" marL="0">
              <a:lnSpc>
                <a:spcPts val="1400"/>
              </a:lnSpc>
              <a:buNone/>
            </a:pPr>
            <a:r>
              <a:rPr lang="en-US" sz="1100" b="1" dirty="0">
                <a:solidFill>
                  <a:srgbClr val="8C3A2B"/>
                </a:solidFill>
                <a:latin typeface="Calibri" pitchFamily="34" charset="0"/>
                <a:ea typeface="Calibri" pitchFamily="34" charset="-122"/>
                <a:cs typeface="Calibri" pitchFamily="34" charset="-120"/>
              </a:rPr>
              <a:t>Duyular</a:t>
            </a:r>
            <a:endParaRPr lang="en-US" sz="1100" dirty="0"/>
          </a:p>
        </p:txBody>
      </p:sp>
      <p:sp>
        <p:nvSpPr>
          <p:cNvPr id="12" name="Text 10"/>
          <p:cNvSpPr txBox="1"/>
          <p:nvPr/>
        </p:nvSpPr>
        <p:spPr>
          <a:xfrm>
            <a:off x="3639312" y="4507992"/>
            <a:ext cx="2596896" cy="960120"/>
          </a:xfrm>
          <a:prstGeom prst="rect">
            <a:avLst/>
          </a:prstGeom>
          <a:noFill/>
          <a:ln/>
        </p:spPr>
        <p:txBody>
          <a:bodyPr wrap="square" lIns="0" tIns="0" rIns="0" bIns="0" rtlCol="0" anchor="ctr"/>
          <a:lstStyle/>
          <a:p>
            <a:pPr algn="ctr" indent="0" marL="0">
              <a:lnSpc>
                <a:spcPts val="1350"/>
              </a:lnSpc>
              <a:buNone/>
            </a:pPr>
            <a:r>
              <a:rPr lang="en-US" sz="1050" dirty="0">
                <a:solidFill>
                  <a:srgbClr val="7A7A82"/>
                </a:solidFill>
                <a:latin typeface="Calibri" pitchFamily="34" charset="0"/>
                <a:ea typeface="Calibri" pitchFamily="34" charset="-122"/>
                <a:cs typeface="Calibri" pitchFamily="34" charset="-120"/>
              </a:rPr>
              <a:t>Görme, işitme, dokunma, koklama ve tat duyusunun birlikte kurulması</a:t>
            </a:r>
            <a:endParaRPr lang="en-US" sz="1050" dirty="0"/>
          </a:p>
        </p:txBody>
      </p:sp>
      <p:sp>
        <p:nvSpPr>
          <p:cNvPr id="13" name="Shape 11"/>
          <p:cNvSpPr/>
          <p:nvPr/>
        </p:nvSpPr>
        <p:spPr>
          <a:xfrm>
            <a:off x="5724144" y="3520440"/>
            <a:ext cx="1216152" cy="0"/>
          </a:xfrm>
          <a:prstGeom prst="line">
            <a:avLst/>
          </a:prstGeom>
          <a:noFill/>
          <a:ln w="12700">
            <a:solidFill>
              <a:srgbClr val="C9C9CF"/>
            </a:solidFill>
            <a:prstDash val="solid"/>
          </a:ln>
        </p:spPr>
      </p:sp>
      <p:sp>
        <p:nvSpPr>
          <p:cNvPr id="14" name="Shape 12"/>
          <p:cNvSpPr/>
          <p:nvPr/>
        </p:nvSpPr>
        <p:spPr>
          <a:xfrm>
            <a:off x="6940296" y="2734056"/>
            <a:ext cx="1572768" cy="1572768"/>
          </a:xfrm>
          <a:prstGeom prst="ellipse">
            <a:avLst/>
          </a:prstGeom>
          <a:solidFill>
            <a:srgbClr val="FCFCFA"/>
          </a:solidFill>
          <a:ln w="12700">
            <a:solidFill>
              <a:srgbClr val="C9C9CF"/>
            </a:solidFill>
            <a:prstDash val="solid"/>
          </a:ln>
        </p:spPr>
      </p:sp>
      <p:sp>
        <p:nvSpPr>
          <p:cNvPr id="15" name="Text 13"/>
          <p:cNvSpPr txBox="1"/>
          <p:nvPr/>
        </p:nvSpPr>
        <p:spPr>
          <a:xfrm>
            <a:off x="6940296" y="3108960"/>
            <a:ext cx="1572768" cy="822960"/>
          </a:xfrm>
          <a:prstGeom prst="rect">
            <a:avLst/>
          </a:prstGeom>
          <a:noFill/>
          <a:ln/>
        </p:spPr>
        <p:txBody>
          <a:bodyPr wrap="square" lIns="0" tIns="0" rIns="0" bIns="0" rtlCol="0" anchor="ctr"/>
          <a:lstStyle/>
          <a:p>
            <a:pPr algn="ctr" indent="0" marL="0">
              <a:lnSpc>
                <a:spcPts val="1400"/>
              </a:lnSpc>
              <a:buNone/>
            </a:pPr>
            <a:r>
              <a:rPr lang="en-US" sz="1100" b="1" dirty="0">
                <a:solidFill>
                  <a:srgbClr val="16161A"/>
                </a:solidFill>
                <a:latin typeface="Calibri" pitchFamily="34" charset="0"/>
                <a:ea typeface="Calibri" pitchFamily="34" charset="-122"/>
                <a:cs typeface="Calibri" pitchFamily="34" charset="-120"/>
              </a:rPr>
              <a:t>Zirve–son</a:t>
            </a:r>
            <a:endParaRPr lang="en-US" sz="1100" dirty="0"/>
          </a:p>
          <a:p>
            <a:pPr algn="ctr" indent="0" marL="0">
              <a:lnSpc>
                <a:spcPts val="1400"/>
              </a:lnSpc>
              <a:buNone/>
            </a:pPr>
            <a:r>
              <a:rPr lang="en-US" sz="1100" b="1" dirty="0">
                <a:solidFill>
                  <a:srgbClr val="16161A"/>
                </a:solidFill>
                <a:latin typeface="Calibri" pitchFamily="34" charset="0"/>
                <a:ea typeface="Calibri" pitchFamily="34" charset="-122"/>
                <a:cs typeface="Calibri" pitchFamily="34" charset="-120"/>
              </a:rPr>
              <a:t>etkisi</a:t>
            </a:r>
            <a:endParaRPr lang="en-US" sz="1100" dirty="0"/>
          </a:p>
        </p:txBody>
      </p:sp>
      <p:sp>
        <p:nvSpPr>
          <p:cNvPr id="16" name="Text 14"/>
          <p:cNvSpPr txBox="1"/>
          <p:nvPr/>
        </p:nvSpPr>
        <p:spPr>
          <a:xfrm>
            <a:off x="6428232" y="4507992"/>
            <a:ext cx="2596896" cy="960120"/>
          </a:xfrm>
          <a:prstGeom prst="rect">
            <a:avLst/>
          </a:prstGeom>
          <a:noFill/>
          <a:ln/>
        </p:spPr>
        <p:txBody>
          <a:bodyPr wrap="square" lIns="0" tIns="0" rIns="0" bIns="0" rtlCol="0" anchor="ctr"/>
          <a:lstStyle/>
          <a:p>
            <a:pPr algn="ctr" indent="0" marL="0">
              <a:lnSpc>
                <a:spcPts val="1350"/>
              </a:lnSpc>
              <a:buNone/>
            </a:pPr>
            <a:r>
              <a:rPr lang="en-US" sz="1050" dirty="0">
                <a:solidFill>
                  <a:srgbClr val="7A7A82"/>
                </a:solidFill>
                <a:latin typeface="Calibri" pitchFamily="34" charset="0"/>
                <a:ea typeface="Calibri" pitchFamily="34" charset="-122"/>
                <a:cs typeface="Calibri" pitchFamily="34" charset="-120"/>
              </a:rPr>
              <a:t>İnsan bir deneyimi en yoğun anı ve bitişiyle hatırlar; arası silinir</a:t>
            </a:r>
            <a:endParaRPr lang="en-US" sz="1050" dirty="0"/>
          </a:p>
        </p:txBody>
      </p:sp>
      <p:sp>
        <p:nvSpPr>
          <p:cNvPr id="17" name="Shape 15"/>
          <p:cNvSpPr/>
          <p:nvPr/>
        </p:nvSpPr>
        <p:spPr>
          <a:xfrm>
            <a:off x="8513064" y="3520440"/>
            <a:ext cx="1216152" cy="0"/>
          </a:xfrm>
          <a:prstGeom prst="line">
            <a:avLst/>
          </a:prstGeom>
          <a:noFill/>
          <a:ln w="12700">
            <a:solidFill>
              <a:srgbClr val="C9C9CF"/>
            </a:solidFill>
            <a:prstDash val="solid"/>
          </a:ln>
        </p:spPr>
      </p:sp>
      <p:sp>
        <p:nvSpPr>
          <p:cNvPr id="18" name="Shape 16"/>
          <p:cNvSpPr/>
          <p:nvPr/>
        </p:nvSpPr>
        <p:spPr>
          <a:xfrm>
            <a:off x="9729216" y="2734056"/>
            <a:ext cx="1572768" cy="1572768"/>
          </a:xfrm>
          <a:prstGeom prst="ellipse">
            <a:avLst/>
          </a:prstGeom>
          <a:solidFill>
            <a:srgbClr val="FCFCFA"/>
          </a:solidFill>
          <a:ln w="12700">
            <a:solidFill>
              <a:srgbClr val="C9C9CF"/>
            </a:solidFill>
            <a:prstDash val="solid"/>
          </a:ln>
        </p:spPr>
      </p:sp>
      <p:sp>
        <p:nvSpPr>
          <p:cNvPr id="19" name="Text 17"/>
          <p:cNvSpPr txBox="1"/>
          <p:nvPr/>
        </p:nvSpPr>
        <p:spPr>
          <a:xfrm>
            <a:off x="9729216" y="3108960"/>
            <a:ext cx="1572768" cy="822960"/>
          </a:xfrm>
          <a:prstGeom prst="rect">
            <a:avLst/>
          </a:prstGeom>
          <a:noFill/>
          <a:ln/>
        </p:spPr>
        <p:txBody>
          <a:bodyPr wrap="square" lIns="0" tIns="0" rIns="0" bIns="0" rtlCol="0" anchor="ctr"/>
          <a:lstStyle/>
          <a:p>
            <a:pPr algn="ctr" indent="0" marL="0">
              <a:lnSpc>
                <a:spcPts val="1400"/>
              </a:lnSpc>
              <a:buNone/>
            </a:pPr>
            <a:r>
              <a:rPr lang="en-US" sz="1100" b="1" dirty="0">
                <a:solidFill>
                  <a:srgbClr val="16161A"/>
                </a:solidFill>
                <a:latin typeface="Calibri" pitchFamily="34" charset="0"/>
                <a:ea typeface="Calibri" pitchFamily="34" charset="-122"/>
                <a:cs typeface="Calibri" pitchFamily="34" charset="-120"/>
              </a:rPr>
              <a:t>Perakende</a:t>
            </a:r>
            <a:endParaRPr lang="en-US" sz="1100" dirty="0"/>
          </a:p>
          <a:p>
            <a:pPr algn="ctr" indent="0" marL="0">
              <a:lnSpc>
                <a:spcPts val="1400"/>
              </a:lnSpc>
              <a:buNone/>
            </a:pPr>
            <a:r>
              <a:rPr lang="en-US" sz="1100" b="1" dirty="0">
                <a:solidFill>
                  <a:srgbClr val="16161A"/>
                </a:solidFill>
                <a:latin typeface="Calibri" pitchFamily="34" charset="0"/>
                <a:ea typeface="Calibri" pitchFamily="34" charset="-122"/>
                <a:cs typeface="Calibri" pitchFamily="34" charset="-120"/>
              </a:rPr>
              <a:t>eğlence</a:t>
            </a:r>
            <a:endParaRPr lang="en-US" sz="1100" dirty="0"/>
          </a:p>
        </p:txBody>
      </p:sp>
      <p:sp>
        <p:nvSpPr>
          <p:cNvPr id="20" name="Text 18"/>
          <p:cNvSpPr txBox="1"/>
          <p:nvPr/>
        </p:nvSpPr>
        <p:spPr>
          <a:xfrm>
            <a:off x="9217152" y="4507992"/>
            <a:ext cx="2596896" cy="960120"/>
          </a:xfrm>
          <a:prstGeom prst="rect">
            <a:avLst/>
          </a:prstGeom>
          <a:noFill/>
          <a:ln/>
        </p:spPr>
        <p:txBody>
          <a:bodyPr wrap="square" lIns="0" tIns="0" rIns="0" bIns="0" rtlCol="0" anchor="ctr"/>
          <a:lstStyle/>
          <a:p>
            <a:pPr algn="ctr" indent="0" marL="0">
              <a:lnSpc>
                <a:spcPts val="1350"/>
              </a:lnSpc>
              <a:buNone/>
            </a:pPr>
            <a:r>
              <a:rPr lang="en-US" sz="1050" dirty="0">
                <a:solidFill>
                  <a:srgbClr val="7A7A82"/>
                </a:solidFill>
                <a:latin typeface="Calibri" pitchFamily="34" charset="0"/>
                <a:ea typeface="Calibri" pitchFamily="34" charset="-122"/>
                <a:cs typeface="Calibri" pitchFamily="34" charset="-120"/>
              </a:rPr>
              <a:t>Gündelik alışverişi kıran, planlı bir sürpriz ya da etkinlik</a:t>
            </a:r>
            <a:endParaRPr lang="en-US" sz="1050" dirty="0"/>
          </a:p>
        </p:txBody>
      </p:sp>
      <p:sp>
        <p:nvSpPr>
          <p:cNvPr id="21" name="Text 19"/>
          <p:cNvSpPr txBox="1"/>
          <p:nvPr/>
        </p:nvSpPr>
        <p:spPr>
          <a:xfrm>
            <a:off x="777240" y="5577840"/>
            <a:ext cx="10424160" cy="548640"/>
          </a:xfrm>
          <a:prstGeom prst="rect">
            <a:avLst/>
          </a:prstGeom>
          <a:noFill/>
          <a:ln/>
        </p:spPr>
        <p:txBody>
          <a:bodyPr wrap="square" lIns="0" tIns="0" rIns="0" bIns="0" rtlCol="0" anchor="ctr"/>
          <a:lstStyle/>
          <a:p>
            <a:pPr algn="l" indent="0" marL="0">
              <a:lnSpc>
                <a:spcPts val="1800"/>
              </a:lnSpc>
              <a:buNone/>
            </a:pPr>
            <a:r>
              <a:rPr lang="en-US" sz="1250" dirty="0">
                <a:solidFill>
                  <a:srgbClr val="2B2B31"/>
                </a:solidFill>
                <a:latin typeface="Cambria" pitchFamily="34" charset="0"/>
                <a:ea typeface="Cambria" pitchFamily="34" charset="-122"/>
                <a:cs typeface="Cambria" pitchFamily="34" charset="-120"/>
              </a:rPr>
              <a:t>Zirve–son etkisi psikolojiden gelir (Kahneman &amp; Fredrickson): bir mağazadan çıkarken yaşanan an, içeride geçen kırk dakikadan daha fazla hatırlanır.</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CFCFA"/>
        </a:solidFill>
      </p:bgPr>
    </p:bg>
    <p:spTree>
      <p:nvGrpSpPr>
        <p:cNvPr id="1" name=""/>
        <p:cNvGrpSpPr/>
        <p:nvPr/>
      </p:nvGrpSpPr>
      <p:grpSpPr>
        <a:xfrm>
          <a:off x="0" y="0"/>
          <a:ext cx="0" cy="0"/>
          <a:chOff x="0" y="0"/>
          <a:chExt cx="0" cy="0"/>
        </a:xfrm>
      </p:grpSpPr>
      <p:sp>
        <p:nvSpPr>
          <p:cNvPr id="2" name="Text 0"/>
          <p:cNvSpPr txBox="1"/>
          <p:nvPr/>
        </p:nvSpPr>
        <p:spPr>
          <a:xfrm>
            <a:off x="777240" y="475488"/>
            <a:ext cx="9601200" cy="237744"/>
          </a:xfrm>
          <a:prstGeom prst="rect">
            <a:avLst/>
          </a:prstGeom>
          <a:noFill/>
          <a:ln/>
        </p:spPr>
        <p:txBody>
          <a:bodyPr wrap="square" lIns="0" tIns="0" rIns="0" bIns="0" rtlCol="0" anchor="ctr"/>
          <a:lstStyle/>
          <a:p>
            <a:pPr indent="0" marL="0">
              <a:buNone/>
            </a:pPr>
            <a:r>
              <a:rPr lang="en-US" sz="950" b="1" spc="260" kern="0" dirty="0">
                <a:solidFill>
                  <a:srgbClr val="7A7A82"/>
                </a:solidFill>
                <a:latin typeface="Calibri" pitchFamily="34" charset="0"/>
                <a:ea typeface="Calibri" pitchFamily="34" charset="-122"/>
                <a:cs typeface="Calibri" pitchFamily="34" charset="-120"/>
              </a:rPr>
              <a:t>II · ATMOSFER</a:t>
            </a:r>
            <a:endParaRPr lang="en-US" sz="950" dirty="0"/>
          </a:p>
        </p:txBody>
      </p:sp>
      <p:sp>
        <p:nvSpPr>
          <p:cNvPr id="3" name="Text 1"/>
          <p:cNvSpPr txBox="1"/>
          <p:nvPr/>
        </p:nvSpPr>
        <p:spPr>
          <a:xfrm>
            <a:off x="777240" y="822960"/>
            <a:ext cx="10424160" cy="731520"/>
          </a:xfrm>
          <a:prstGeom prst="rect">
            <a:avLst/>
          </a:prstGeom>
          <a:noFill/>
          <a:ln/>
        </p:spPr>
        <p:txBody>
          <a:bodyPr wrap="square" lIns="0" tIns="0" rIns="0" bIns="0" rtlCol="0" anchor="ctr"/>
          <a:lstStyle/>
          <a:p>
            <a:pPr indent="0" marL="0">
              <a:lnSpc>
                <a:spcPts val="3400"/>
              </a:lnSpc>
              <a:buNone/>
            </a:pPr>
            <a:r>
              <a:rPr lang="en-US" sz="2900" b="1" dirty="0">
                <a:solidFill>
                  <a:srgbClr val="16161A"/>
                </a:solidFill>
                <a:latin typeface="Cambria" pitchFamily="34" charset="0"/>
                <a:ea typeface="Cambria" pitchFamily="34" charset="-122"/>
                <a:cs typeface="Cambria" pitchFamily="34" charset="-120"/>
              </a:rPr>
              <a:t>Mağazanın sunabileceği dört deneyim türü</a:t>
            </a:r>
            <a:endParaRPr lang="en-US" sz="2900" dirty="0"/>
          </a:p>
        </p:txBody>
      </p:sp>
      <p:sp>
        <p:nvSpPr>
          <p:cNvPr id="4" name="Text 2"/>
          <p:cNvSpPr txBox="1"/>
          <p:nvPr/>
        </p:nvSpPr>
        <p:spPr>
          <a:xfrm>
            <a:off x="10972800" y="6355080"/>
            <a:ext cx="438912" cy="237744"/>
          </a:xfrm>
          <a:prstGeom prst="rect">
            <a:avLst/>
          </a:prstGeom>
          <a:noFill/>
          <a:ln/>
        </p:spPr>
        <p:txBody>
          <a:bodyPr wrap="square" lIns="0" tIns="0" rIns="0" bIns="0" rtlCol="0" anchor="ctr"/>
          <a:lstStyle/>
          <a:p>
            <a:pPr algn="r" indent="0" marL="0">
              <a:buNone/>
            </a:pPr>
            <a:r>
              <a:rPr lang="en-US" sz="950" dirty="0">
                <a:solidFill>
                  <a:srgbClr val="A6A6AC"/>
                </a:solidFill>
                <a:latin typeface="Calibri" pitchFamily="34" charset="0"/>
                <a:ea typeface="Calibri" pitchFamily="34" charset="-122"/>
                <a:cs typeface="Calibri" pitchFamily="34" charset="-120"/>
              </a:rPr>
              <a:t>11</a:t>
            </a:r>
            <a:endParaRPr lang="en-US" sz="950" dirty="0"/>
          </a:p>
        </p:txBody>
      </p:sp>
      <p:sp>
        <p:nvSpPr>
          <p:cNvPr id="5" name="Text 3"/>
          <p:cNvSpPr txBox="1"/>
          <p:nvPr/>
        </p:nvSpPr>
        <p:spPr>
          <a:xfrm>
            <a:off x="777240" y="1627632"/>
            <a:ext cx="10634472" cy="594360"/>
          </a:xfrm>
          <a:prstGeom prst="rect">
            <a:avLst/>
          </a:prstGeom>
          <a:noFill/>
          <a:ln/>
        </p:spPr>
        <p:txBody>
          <a:bodyPr wrap="square" lIns="0" tIns="0" rIns="0" bIns="0" rtlCol="0" anchor="ctr"/>
          <a:lstStyle/>
          <a:p>
            <a:pPr indent="0" marL="0">
              <a:lnSpc>
                <a:spcPts val="2300"/>
              </a:lnSpc>
              <a:buNone/>
            </a:pPr>
            <a:r>
              <a:rPr lang="en-US" sz="1500" dirty="0">
                <a:solidFill>
                  <a:srgbClr val="2B2B31"/>
                </a:solidFill>
                <a:latin typeface="Cambria" pitchFamily="34" charset="0"/>
                <a:ea typeface="Cambria" pitchFamily="34" charset="-122"/>
                <a:cs typeface="Cambria" pitchFamily="34" charset="-120"/>
              </a:rPr>
              <a:t>Mağaza deneyimi tek bir biçimde kurulmaz. Aşağıdaki dört tür farklı mekânsal talepler üretir ve bir mağaza bunlardan yalnızca birini ya da birkaçını seçer.</a:t>
            </a:r>
            <a:endParaRPr lang="en-US" sz="1500" dirty="0"/>
          </a:p>
        </p:txBody>
      </p:sp>
      <p:sp>
        <p:nvSpPr>
          <p:cNvPr id="6" name="Shape 4"/>
          <p:cNvSpPr/>
          <p:nvPr/>
        </p:nvSpPr>
        <p:spPr>
          <a:xfrm>
            <a:off x="777240" y="2514600"/>
            <a:ext cx="2487168" cy="2240280"/>
          </a:xfrm>
          <a:prstGeom prst="rect">
            <a:avLst/>
          </a:prstGeom>
          <a:ln w="9525">
            <a:solidFill>
              <a:srgbClr val="C9C9CF"/>
            </a:solidFill>
            <a:prstDash val="solid"/>
          </a:ln>
        </p:spPr>
      </p:sp>
      <p:sp>
        <p:nvSpPr>
          <p:cNvPr id="7" name="Text 5"/>
          <p:cNvSpPr txBox="1"/>
          <p:nvPr/>
        </p:nvSpPr>
        <p:spPr>
          <a:xfrm>
            <a:off x="996696" y="2752344"/>
            <a:ext cx="2048256" cy="365760"/>
          </a:xfrm>
          <a:prstGeom prst="rect">
            <a:avLst/>
          </a:prstGeom>
          <a:noFill/>
          <a:ln/>
        </p:spPr>
        <p:txBody>
          <a:bodyPr wrap="square" lIns="0" tIns="0" rIns="0" bIns="0" rtlCol="0" anchor="ctr"/>
          <a:lstStyle/>
          <a:p>
            <a:pPr indent="0" marL="0">
              <a:buNone/>
            </a:pPr>
            <a:r>
              <a:rPr lang="en-US" sz="1700" b="1" dirty="0">
                <a:solidFill>
                  <a:srgbClr val="16161A"/>
                </a:solidFill>
                <a:latin typeface="Cambria" pitchFamily="34" charset="0"/>
                <a:ea typeface="Cambria" pitchFamily="34" charset="-122"/>
                <a:cs typeface="Cambria" pitchFamily="34" charset="-120"/>
              </a:rPr>
              <a:t>Öğrenme</a:t>
            </a:r>
            <a:endParaRPr lang="en-US" sz="1700" dirty="0"/>
          </a:p>
        </p:txBody>
      </p:sp>
      <p:sp>
        <p:nvSpPr>
          <p:cNvPr id="8" name="Text 6"/>
          <p:cNvSpPr txBox="1"/>
          <p:nvPr/>
        </p:nvSpPr>
        <p:spPr>
          <a:xfrm>
            <a:off x="996696" y="3172968"/>
            <a:ext cx="2048256" cy="960120"/>
          </a:xfrm>
          <a:prstGeom prst="rect">
            <a:avLst/>
          </a:prstGeom>
          <a:noFill/>
          <a:ln/>
        </p:spPr>
        <p:txBody>
          <a:bodyPr wrap="square" lIns="0" tIns="0" rIns="0" bIns="0" rtlCol="0" anchor="ctr"/>
          <a:lstStyle/>
          <a:p>
            <a:pPr indent="0" marL="0">
              <a:lnSpc>
                <a:spcPts val="1400"/>
              </a:lnSpc>
              <a:buNone/>
            </a:pPr>
            <a:r>
              <a:rPr lang="en-US" sz="1100" dirty="0">
                <a:solidFill>
                  <a:srgbClr val="2B2B31"/>
                </a:solidFill>
                <a:latin typeface="Calibri" pitchFamily="34" charset="0"/>
                <a:ea typeface="Calibri" pitchFamily="34" charset="-122"/>
                <a:cs typeface="Calibri" pitchFamily="34" charset="-120"/>
              </a:rPr>
              <a:t>Müşterinin etkin katıldığı, yeni bir şey öğrendiği deneyim.</a:t>
            </a:r>
            <a:endParaRPr lang="en-US" sz="1100" dirty="0"/>
          </a:p>
        </p:txBody>
      </p:sp>
      <p:sp>
        <p:nvSpPr>
          <p:cNvPr id="9" name="Text 7"/>
          <p:cNvSpPr txBox="1"/>
          <p:nvPr/>
        </p:nvSpPr>
        <p:spPr>
          <a:xfrm>
            <a:off x="996696" y="4142232"/>
            <a:ext cx="2048256" cy="219456"/>
          </a:xfrm>
          <a:prstGeom prst="rect">
            <a:avLst/>
          </a:prstGeom>
          <a:noFill/>
          <a:ln/>
        </p:spPr>
        <p:txBody>
          <a:bodyPr wrap="square" lIns="0" tIns="0" rIns="0" bIns="0" rtlCol="0" anchor="ctr"/>
          <a:lstStyle/>
          <a:p>
            <a:pPr indent="0" marL="0">
              <a:buNone/>
            </a:pPr>
            <a:r>
              <a:rPr lang="en-US" sz="800" b="1" spc="140" kern="0" dirty="0">
                <a:solidFill>
                  <a:srgbClr val="A6A6AC"/>
                </a:solidFill>
                <a:latin typeface="Calibri" pitchFamily="34" charset="0"/>
                <a:ea typeface="Calibri" pitchFamily="34" charset="-122"/>
                <a:cs typeface="Calibri" pitchFamily="34" charset="-120"/>
              </a:rPr>
              <a:t>MEKÂNSAL TALEP</a:t>
            </a:r>
            <a:endParaRPr lang="en-US" sz="800" dirty="0"/>
          </a:p>
        </p:txBody>
      </p:sp>
      <p:sp>
        <p:nvSpPr>
          <p:cNvPr id="10" name="Text 8"/>
          <p:cNvSpPr txBox="1"/>
          <p:nvPr/>
        </p:nvSpPr>
        <p:spPr>
          <a:xfrm>
            <a:off x="996696" y="4343400"/>
            <a:ext cx="2048256" cy="365760"/>
          </a:xfrm>
          <a:prstGeom prst="rect">
            <a:avLst/>
          </a:prstGeom>
          <a:noFill/>
          <a:ln/>
        </p:spPr>
        <p:txBody>
          <a:bodyPr wrap="square" lIns="0" tIns="0" rIns="0" bIns="0" rtlCol="0" anchor="ctr"/>
          <a:lstStyle/>
          <a:p>
            <a:pPr indent="0" marL="0">
              <a:lnSpc>
                <a:spcPts val="1250"/>
              </a:lnSpc>
              <a:buNone/>
            </a:pPr>
            <a:r>
              <a:rPr lang="en-US" sz="1000" dirty="0">
                <a:solidFill>
                  <a:srgbClr val="7A7A82"/>
                </a:solidFill>
                <a:latin typeface="Calibri" pitchFamily="34" charset="0"/>
                <a:ea typeface="Calibri" pitchFamily="34" charset="-122"/>
                <a:cs typeface="Calibri" pitchFamily="34" charset="-120"/>
              </a:rPr>
              <a:t>atölye masası · demo alanı · oturma</a:t>
            </a:r>
            <a:endParaRPr lang="en-US" sz="1000" dirty="0"/>
          </a:p>
        </p:txBody>
      </p:sp>
      <p:sp>
        <p:nvSpPr>
          <p:cNvPr id="11" name="Shape 9"/>
          <p:cNvSpPr/>
          <p:nvPr/>
        </p:nvSpPr>
        <p:spPr>
          <a:xfrm>
            <a:off x="3493008" y="2514600"/>
            <a:ext cx="2487168" cy="2240280"/>
          </a:xfrm>
          <a:prstGeom prst="rect">
            <a:avLst/>
          </a:prstGeom>
          <a:ln w="9525">
            <a:solidFill>
              <a:srgbClr val="C9C9CF"/>
            </a:solidFill>
            <a:prstDash val="solid"/>
          </a:ln>
        </p:spPr>
      </p:sp>
      <p:sp>
        <p:nvSpPr>
          <p:cNvPr id="12" name="Text 10"/>
          <p:cNvSpPr txBox="1"/>
          <p:nvPr/>
        </p:nvSpPr>
        <p:spPr>
          <a:xfrm>
            <a:off x="3712464" y="2752344"/>
            <a:ext cx="2048256" cy="365760"/>
          </a:xfrm>
          <a:prstGeom prst="rect">
            <a:avLst/>
          </a:prstGeom>
          <a:noFill/>
          <a:ln/>
        </p:spPr>
        <p:txBody>
          <a:bodyPr wrap="square" lIns="0" tIns="0" rIns="0" bIns="0" rtlCol="0" anchor="ctr"/>
          <a:lstStyle/>
          <a:p>
            <a:pPr indent="0" marL="0">
              <a:buNone/>
            </a:pPr>
            <a:r>
              <a:rPr lang="en-US" sz="1700" b="1" dirty="0">
                <a:solidFill>
                  <a:srgbClr val="16161A"/>
                </a:solidFill>
                <a:latin typeface="Cambria" pitchFamily="34" charset="0"/>
                <a:ea typeface="Cambria" pitchFamily="34" charset="-122"/>
                <a:cs typeface="Cambria" pitchFamily="34" charset="-120"/>
              </a:rPr>
              <a:t>Kişisel satış</a:t>
            </a:r>
            <a:endParaRPr lang="en-US" sz="1700" dirty="0"/>
          </a:p>
        </p:txBody>
      </p:sp>
      <p:sp>
        <p:nvSpPr>
          <p:cNvPr id="13" name="Text 11"/>
          <p:cNvSpPr txBox="1"/>
          <p:nvPr/>
        </p:nvSpPr>
        <p:spPr>
          <a:xfrm>
            <a:off x="3712464" y="3172968"/>
            <a:ext cx="2048256" cy="960120"/>
          </a:xfrm>
          <a:prstGeom prst="rect">
            <a:avLst/>
          </a:prstGeom>
          <a:noFill/>
          <a:ln/>
        </p:spPr>
        <p:txBody>
          <a:bodyPr wrap="square" lIns="0" tIns="0" rIns="0" bIns="0" rtlCol="0" anchor="ctr"/>
          <a:lstStyle/>
          <a:p>
            <a:pPr indent="0" marL="0">
              <a:lnSpc>
                <a:spcPts val="1400"/>
              </a:lnSpc>
              <a:buNone/>
            </a:pPr>
            <a:r>
              <a:rPr lang="en-US" sz="1100" dirty="0">
                <a:solidFill>
                  <a:srgbClr val="2B2B31"/>
                </a:solidFill>
                <a:latin typeface="Calibri" pitchFamily="34" charset="0"/>
                <a:ea typeface="Calibri" pitchFamily="34" charset="-122"/>
                <a:cs typeface="Calibri" pitchFamily="34" charset="-120"/>
              </a:rPr>
              <a:t>Satış görevlisinin rolü ürün gösterenden deneyim kuranına dönüşür.</a:t>
            </a:r>
            <a:endParaRPr lang="en-US" sz="1100" dirty="0"/>
          </a:p>
        </p:txBody>
      </p:sp>
      <p:sp>
        <p:nvSpPr>
          <p:cNvPr id="14" name="Text 12"/>
          <p:cNvSpPr txBox="1"/>
          <p:nvPr/>
        </p:nvSpPr>
        <p:spPr>
          <a:xfrm>
            <a:off x="3712464" y="4142232"/>
            <a:ext cx="2048256" cy="219456"/>
          </a:xfrm>
          <a:prstGeom prst="rect">
            <a:avLst/>
          </a:prstGeom>
          <a:noFill/>
          <a:ln/>
        </p:spPr>
        <p:txBody>
          <a:bodyPr wrap="square" lIns="0" tIns="0" rIns="0" bIns="0" rtlCol="0" anchor="ctr"/>
          <a:lstStyle/>
          <a:p>
            <a:pPr indent="0" marL="0">
              <a:buNone/>
            </a:pPr>
            <a:r>
              <a:rPr lang="en-US" sz="800" b="1" spc="140" kern="0" dirty="0">
                <a:solidFill>
                  <a:srgbClr val="A6A6AC"/>
                </a:solidFill>
                <a:latin typeface="Calibri" pitchFamily="34" charset="0"/>
                <a:ea typeface="Calibri" pitchFamily="34" charset="-122"/>
                <a:cs typeface="Calibri" pitchFamily="34" charset="-120"/>
              </a:rPr>
              <a:t>MEKÂNSAL TALEP</a:t>
            </a:r>
            <a:endParaRPr lang="en-US" sz="800" dirty="0"/>
          </a:p>
        </p:txBody>
      </p:sp>
      <p:sp>
        <p:nvSpPr>
          <p:cNvPr id="15" name="Text 13"/>
          <p:cNvSpPr txBox="1"/>
          <p:nvPr/>
        </p:nvSpPr>
        <p:spPr>
          <a:xfrm>
            <a:off x="3712464" y="4343400"/>
            <a:ext cx="2048256" cy="365760"/>
          </a:xfrm>
          <a:prstGeom prst="rect">
            <a:avLst/>
          </a:prstGeom>
          <a:noFill/>
          <a:ln/>
        </p:spPr>
        <p:txBody>
          <a:bodyPr wrap="square" lIns="0" tIns="0" rIns="0" bIns="0" rtlCol="0" anchor="ctr"/>
          <a:lstStyle/>
          <a:p>
            <a:pPr indent="0" marL="0">
              <a:lnSpc>
                <a:spcPts val="1250"/>
              </a:lnSpc>
              <a:buNone/>
            </a:pPr>
            <a:r>
              <a:rPr lang="en-US" sz="1000" dirty="0">
                <a:solidFill>
                  <a:srgbClr val="7A7A82"/>
                </a:solidFill>
                <a:latin typeface="Calibri" pitchFamily="34" charset="0"/>
                <a:ea typeface="Calibri" pitchFamily="34" charset="-122"/>
                <a:cs typeface="Calibri" pitchFamily="34" charset="-120"/>
              </a:rPr>
              <a:t>danışma noktası · ölçü alma · birebir tezgâh</a:t>
            </a:r>
            <a:endParaRPr lang="en-US" sz="1000" dirty="0"/>
          </a:p>
        </p:txBody>
      </p:sp>
      <p:sp>
        <p:nvSpPr>
          <p:cNvPr id="16" name="Shape 14"/>
          <p:cNvSpPr/>
          <p:nvPr/>
        </p:nvSpPr>
        <p:spPr>
          <a:xfrm>
            <a:off x="6208776" y="2514600"/>
            <a:ext cx="2487168" cy="2240280"/>
          </a:xfrm>
          <a:prstGeom prst="rect">
            <a:avLst/>
          </a:prstGeom>
          <a:ln w="9525">
            <a:solidFill>
              <a:srgbClr val="C9C9CF"/>
            </a:solidFill>
            <a:prstDash val="solid"/>
          </a:ln>
        </p:spPr>
      </p:sp>
      <p:sp>
        <p:nvSpPr>
          <p:cNvPr id="17" name="Text 15"/>
          <p:cNvSpPr txBox="1"/>
          <p:nvPr/>
        </p:nvSpPr>
        <p:spPr>
          <a:xfrm>
            <a:off x="6428232" y="2752344"/>
            <a:ext cx="2048256" cy="365760"/>
          </a:xfrm>
          <a:prstGeom prst="rect">
            <a:avLst/>
          </a:prstGeom>
          <a:noFill/>
          <a:ln/>
        </p:spPr>
        <p:txBody>
          <a:bodyPr wrap="square" lIns="0" tIns="0" rIns="0" bIns="0" rtlCol="0" anchor="ctr"/>
          <a:lstStyle/>
          <a:p>
            <a:pPr indent="0" marL="0">
              <a:buNone/>
            </a:pPr>
            <a:r>
              <a:rPr lang="en-US" sz="1700" b="1" dirty="0">
                <a:solidFill>
                  <a:srgbClr val="16161A"/>
                </a:solidFill>
                <a:latin typeface="Cambria" pitchFamily="34" charset="0"/>
                <a:ea typeface="Cambria" pitchFamily="34" charset="-122"/>
                <a:cs typeface="Cambria" pitchFamily="34" charset="-120"/>
              </a:rPr>
              <a:t>Çok kanallılık</a:t>
            </a:r>
            <a:endParaRPr lang="en-US" sz="1700" dirty="0"/>
          </a:p>
        </p:txBody>
      </p:sp>
      <p:sp>
        <p:nvSpPr>
          <p:cNvPr id="18" name="Text 16"/>
          <p:cNvSpPr txBox="1"/>
          <p:nvPr/>
        </p:nvSpPr>
        <p:spPr>
          <a:xfrm>
            <a:off x="6428232" y="3172968"/>
            <a:ext cx="2048256" cy="960120"/>
          </a:xfrm>
          <a:prstGeom prst="rect">
            <a:avLst/>
          </a:prstGeom>
          <a:noFill/>
          <a:ln/>
        </p:spPr>
        <p:txBody>
          <a:bodyPr wrap="square" lIns="0" tIns="0" rIns="0" bIns="0" rtlCol="0" anchor="ctr"/>
          <a:lstStyle/>
          <a:p>
            <a:pPr indent="0" marL="0">
              <a:lnSpc>
                <a:spcPts val="1400"/>
              </a:lnSpc>
              <a:buNone/>
            </a:pPr>
            <a:r>
              <a:rPr lang="en-US" sz="1100" dirty="0">
                <a:solidFill>
                  <a:srgbClr val="2B2B31"/>
                </a:solidFill>
                <a:latin typeface="Calibri" pitchFamily="34" charset="0"/>
                <a:ea typeface="Calibri" pitchFamily="34" charset="-122"/>
                <a:cs typeface="Calibri" pitchFamily="34" charset="-120"/>
              </a:rPr>
              <a:t>Müşteri birden çok kanaldan geliyor; mağaza bunları buluşturmalı.</a:t>
            </a:r>
            <a:endParaRPr lang="en-US" sz="1100" dirty="0"/>
          </a:p>
        </p:txBody>
      </p:sp>
      <p:sp>
        <p:nvSpPr>
          <p:cNvPr id="19" name="Text 17"/>
          <p:cNvSpPr txBox="1"/>
          <p:nvPr/>
        </p:nvSpPr>
        <p:spPr>
          <a:xfrm>
            <a:off x="6428232" y="4142232"/>
            <a:ext cx="2048256" cy="219456"/>
          </a:xfrm>
          <a:prstGeom prst="rect">
            <a:avLst/>
          </a:prstGeom>
          <a:noFill/>
          <a:ln/>
        </p:spPr>
        <p:txBody>
          <a:bodyPr wrap="square" lIns="0" tIns="0" rIns="0" bIns="0" rtlCol="0" anchor="ctr"/>
          <a:lstStyle/>
          <a:p>
            <a:pPr indent="0" marL="0">
              <a:buNone/>
            </a:pPr>
            <a:r>
              <a:rPr lang="en-US" sz="800" b="1" spc="140" kern="0" dirty="0">
                <a:solidFill>
                  <a:srgbClr val="A6A6AC"/>
                </a:solidFill>
                <a:latin typeface="Calibri" pitchFamily="34" charset="0"/>
                <a:ea typeface="Calibri" pitchFamily="34" charset="-122"/>
                <a:cs typeface="Calibri" pitchFamily="34" charset="-120"/>
              </a:rPr>
              <a:t>MEKÂNSAL TALEP</a:t>
            </a:r>
            <a:endParaRPr lang="en-US" sz="800" dirty="0"/>
          </a:p>
        </p:txBody>
      </p:sp>
      <p:sp>
        <p:nvSpPr>
          <p:cNvPr id="20" name="Text 18"/>
          <p:cNvSpPr txBox="1"/>
          <p:nvPr/>
        </p:nvSpPr>
        <p:spPr>
          <a:xfrm>
            <a:off x="6428232" y="4343400"/>
            <a:ext cx="2048256" cy="365760"/>
          </a:xfrm>
          <a:prstGeom prst="rect">
            <a:avLst/>
          </a:prstGeom>
          <a:noFill/>
          <a:ln/>
        </p:spPr>
        <p:txBody>
          <a:bodyPr wrap="square" lIns="0" tIns="0" rIns="0" bIns="0" rtlCol="0" anchor="ctr"/>
          <a:lstStyle/>
          <a:p>
            <a:pPr indent="0" marL="0">
              <a:lnSpc>
                <a:spcPts val="1250"/>
              </a:lnSpc>
              <a:buNone/>
            </a:pPr>
            <a:r>
              <a:rPr lang="en-US" sz="1000" dirty="0">
                <a:solidFill>
                  <a:srgbClr val="7A7A82"/>
                </a:solidFill>
                <a:latin typeface="Calibri" pitchFamily="34" charset="0"/>
                <a:ea typeface="Calibri" pitchFamily="34" charset="-122"/>
                <a:cs typeface="Calibri" pitchFamily="34" charset="-120"/>
              </a:rPr>
              <a:t>stok sorgu · online sipariş teslim · iade</a:t>
            </a:r>
            <a:endParaRPr lang="en-US" sz="1000" dirty="0"/>
          </a:p>
        </p:txBody>
      </p:sp>
      <p:sp>
        <p:nvSpPr>
          <p:cNvPr id="21" name="Shape 19"/>
          <p:cNvSpPr/>
          <p:nvPr/>
        </p:nvSpPr>
        <p:spPr>
          <a:xfrm>
            <a:off x="8924544" y="2514600"/>
            <a:ext cx="2487168" cy="2240280"/>
          </a:xfrm>
          <a:prstGeom prst="rect">
            <a:avLst/>
          </a:prstGeom>
          <a:solidFill>
            <a:srgbClr val="F6EAE6"/>
          </a:solidFill>
          <a:ln w="15875">
            <a:solidFill>
              <a:srgbClr val="8C3A2B"/>
            </a:solidFill>
            <a:prstDash val="solid"/>
          </a:ln>
        </p:spPr>
      </p:sp>
      <p:sp>
        <p:nvSpPr>
          <p:cNvPr id="22" name="Text 20"/>
          <p:cNvSpPr txBox="1"/>
          <p:nvPr/>
        </p:nvSpPr>
        <p:spPr>
          <a:xfrm>
            <a:off x="9144000" y="2752344"/>
            <a:ext cx="2048256" cy="365760"/>
          </a:xfrm>
          <a:prstGeom prst="rect">
            <a:avLst/>
          </a:prstGeom>
          <a:noFill/>
          <a:ln/>
        </p:spPr>
        <p:txBody>
          <a:bodyPr wrap="square" lIns="0" tIns="0" rIns="0" bIns="0" rtlCol="0" anchor="ctr"/>
          <a:lstStyle/>
          <a:p>
            <a:pPr indent="0" marL="0">
              <a:buNone/>
            </a:pPr>
            <a:r>
              <a:rPr lang="en-US" sz="1700" b="1" dirty="0">
                <a:solidFill>
                  <a:srgbClr val="8C3A2B"/>
                </a:solidFill>
                <a:latin typeface="Cambria" pitchFamily="34" charset="0"/>
                <a:ea typeface="Cambria" pitchFamily="34" charset="-122"/>
                <a:cs typeface="Cambria" pitchFamily="34" charset="-120"/>
              </a:rPr>
              <a:t>Hazine avı</a:t>
            </a:r>
            <a:endParaRPr lang="en-US" sz="1700" dirty="0"/>
          </a:p>
        </p:txBody>
      </p:sp>
      <p:sp>
        <p:nvSpPr>
          <p:cNvPr id="23" name="Text 21"/>
          <p:cNvSpPr txBox="1"/>
          <p:nvPr/>
        </p:nvSpPr>
        <p:spPr>
          <a:xfrm>
            <a:off x="9144000" y="3172968"/>
            <a:ext cx="2048256" cy="960120"/>
          </a:xfrm>
          <a:prstGeom prst="rect">
            <a:avLst/>
          </a:prstGeom>
          <a:noFill/>
          <a:ln/>
        </p:spPr>
        <p:txBody>
          <a:bodyPr wrap="square" lIns="0" tIns="0" rIns="0" bIns="0" rtlCol="0" anchor="ctr"/>
          <a:lstStyle/>
          <a:p>
            <a:pPr indent="0" marL="0">
              <a:lnSpc>
                <a:spcPts val="1400"/>
              </a:lnSpc>
              <a:buNone/>
            </a:pPr>
            <a:r>
              <a:rPr lang="en-US" sz="1100" dirty="0">
                <a:solidFill>
                  <a:srgbClr val="2B2B31"/>
                </a:solidFill>
                <a:latin typeface="Calibri" pitchFamily="34" charset="0"/>
                <a:ea typeface="Calibri" pitchFamily="34" charset="-122"/>
                <a:cs typeface="Calibri" pitchFamily="34" charset="-120"/>
              </a:rPr>
              <a:t>Sınırlı sürede bulunan ürünlerin yarattığı heyecan; hızlı ürün değişimi.</a:t>
            </a:r>
            <a:endParaRPr lang="en-US" sz="1100" dirty="0"/>
          </a:p>
        </p:txBody>
      </p:sp>
      <p:sp>
        <p:nvSpPr>
          <p:cNvPr id="24" name="Text 22"/>
          <p:cNvSpPr txBox="1"/>
          <p:nvPr/>
        </p:nvSpPr>
        <p:spPr>
          <a:xfrm>
            <a:off x="9144000" y="4142232"/>
            <a:ext cx="2048256" cy="219456"/>
          </a:xfrm>
          <a:prstGeom prst="rect">
            <a:avLst/>
          </a:prstGeom>
          <a:noFill/>
          <a:ln/>
        </p:spPr>
        <p:txBody>
          <a:bodyPr wrap="square" lIns="0" tIns="0" rIns="0" bIns="0" rtlCol="0" anchor="ctr"/>
          <a:lstStyle/>
          <a:p>
            <a:pPr indent="0" marL="0">
              <a:buNone/>
            </a:pPr>
            <a:r>
              <a:rPr lang="en-US" sz="800" b="1" spc="140" kern="0" dirty="0">
                <a:solidFill>
                  <a:srgbClr val="A6A6AC"/>
                </a:solidFill>
                <a:latin typeface="Calibri" pitchFamily="34" charset="0"/>
                <a:ea typeface="Calibri" pitchFamily="34" charset="-122"/>
                <a:cs typeface="Calibri" pitchFamily="34" charset="-120"/>
              </a:rPr>
              <a:t>MEKÂNSAL TALEP</a:t>
            </a:r>
            <a:endParaRPr lang="en-US" sz="800" dirty="0"/>
          </a:p>
        </p:txBody>
      </p:sp>
      <p:sp>
        <p:nvSpPr>
          <p:cNvPr id="25" name="Text 23"/>
          <p:cNvSpPr txBox="1"/>
          <p:nvPr/>
        </p:nvSpPr>
        <p:spPr>
          <a:xfrm>
            <a:off x="9144000" y="4343400"/>
            <a:ext cx="2048256" cy="365760"/>
          </a:xfrm>
          <a:prstGeom prst="rect">
            <a:avLst/>
          </a:prstGeom>
          <a:noFill/>
          <a:ln/>
        </p:spPr>
        <p:txBody>
          <a:bodyPr wrap="square" lIns="0" tIns="0" rIns="0" bIns="0" rtlCol="0" anchor="ctr"/>
          <a:lstStyle/>
          <a:p>
            <a:pPr indent="0" marL="0">
              <a:lnSpc>
                <a:spcPts val="1250"/>
              </a:lnSpc>
              <a:buNone/>
            </a:pPr>
            <a:r>
              <a:rPr lang="en-US" sz="1000" dirty="0">
                <a:solidFill>
                  <a:srgbClr val="8C3A2B"/>
                </a:solidFill>
                <a:latin typeface="Calibri" pitchFamily="34" charset="0"/>
                <a:ea typeface="Calibri" pitchFamily="34" charset="-122"/>
                <a:cs typeface="Calibri" pitchFamily="34" charset="-120"/>
              </a:rPr>
              <a:t>esnek teşhir · kampanya alanı · değişebilir düzen</a:t>
            </a:r>
            <a:endParaRPr lang="en-US" sz="1000" dirty="0"/>
          </a:p>
        </p:txBody>
      </p:sp>
      <p:sp>
        <p:nvSpPr>
          <p:cNvPr id="26" name="Text 24"/>
          <p:cNvSpPr txBox="1"/>
          <p:nvPr/>
        </p:nvSpPr>
        <p:spPr>
          <a:xfrm>
            <a:off x="777240" y="5029200"/>
            <a:ext cx="10424160" cy="411480"/>
          </a:xfrm>
          <a:prstGeom prst="rect">
            <a:avLst/>
          </a:prstGeom>
          <a:noFill/>
          <a:ln/>
        </p:spPr>
        <p:txBody>
          <a:bodyPr wrap="square" lIns="0" tIns="0" rIns="0" bIns="0" rtlCol="0" anchor="ctr"/>
          <a:lstStyle/>
          <a:p>
            <a:pPr algn="l" indent="0" marL="0">
              <a:lnSpc>
                <a:spcPts val="1200"/>
              </a:lnSpc>
              <a:buNone/>
            </a:pPr>
            <a:r>
              <a:rPr lang="en-US" sz="1300" i="1" dirty="0">
                <a:solidFill>
                  <a:srgbClr val="8C3A2B"/>
                </a:solidFill>
                <a:latin typeface="Cambria" pitchFamily="34" charset="0"/>
                <a:ea typeface="Cambria" pitchFamily="34" charset="-122"/>
                <a:cs typeface="Cambria" pitchFamily="34" charset="-120"/>
              </a:rPr>
              <a:t>Her deneyim türü mekânda yer kaplar. Bir mağaza dördünü birden iyi yapamaz; hangisini seçtiği bir tasarım kararıdır.</a:t>
            </a:r>
            <a:endParaRPr lang="en-US" sz="1300" dirty="0"/>
          </a:p>
        </p:txBody>
      </p:sp>
      <p:sp>
        <p:nvSpPr>
          <p:cNvPr id="27" name="Text 25"/>
          <p:cNvSpPr txBox="1"/>
          <p:nvPr/>
        </p:nvSpPr>
        <p:spPr>
          <a:xfrm>
            <a:off x="777240" y="5577840"/>
            <a:ext cx="10424160" cy="548640"/>
          </a:xfrm>
          <a:prstGeom prst="rect">
            <a:avLst/>
          </a:prstGeom>
          <a:noFill/>
          <a:ln/>
        </p:spPr>
        <p:txBody>
          <a:bodyPr wrap="square" lIns="0" tIns="0" rIns="0" bIns="0" rtlCol="0" anchor="ctr"/>
          <a:lstStyle/>
          <a:p>
            <a:pPr indent="0" marL="0">
              <a:lnSpc>
                <a:spcPts val="2300"/>
              </a:lnSpc>
              <a:buNone/>
            </a:pPr>
            <a:r>
              <a:rPr lang="en-US" sz="1200" dirty="0">
                <a:solidFill>
                  <a:srgbClr val="2B2B31"/>
                </a:solidFill>
                <a:latin typeface="Cambria" pitchFamily="34" charset="0"/>
                <a:ea typeface="Cambria" pitchFamily="34" charset="-122"/>
                <a:cs typeface="Cambria" pitchFamily="34" charset="-120"/>
              </a:rPr>
              <a:t>Bu türler çok kanallı perakende üzerine yapılan çalışmalarda, özellikle genç kuşak müşterinin beklentileri üzerinden tanımlanıyor (Xi &amp; Idris, 2026; Lindström, 2005).</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161A"/>
        </a:solidFill>
      </p:bgPr>
    </p:bg>
    <p:spTree>
      <p:nvGrpSpPr>
        <p:cNvPr id="1" name=""/>
        <p:cNvGrpSpPr/>
        <p:nvPr/>
      </p:nvGrpSpPr>
      <p:grpSpPr>
        <a:xfrm>
          <a:off x="0" y="0"/>
          <a:ext cx="0" cy="0"/>
          <a:chOff x="0" y="0"/>
          <a:chExt cx="0" cy="0"/>
        </a:xfrm>
      </p:grpSpPr>
      <p:sp>
        <p:nvSpPr>
          <p:cNvPr id="2" name="Text 0"/>
          <p:cNvSpPr txBox="1"/>
          <p:nvPr/>
        </p:nvSpPr>
        <p:spPr>
          <a:xfrm>
            <a:off x="777240" y="1371600"/>
            <a:ext cx="3108960" cy="2377440"/>
          </a:xfrm>
          <a:prstGeom prst="rect">
            <a:avLst/>
          </a:prstGeom>
          <a:noFill/>
          <a:ln/>
        </p:spPr>
        <p:txBody>
          <a:bodyPr wrap="square" lIns="0" tIns="0" rIns="0" bIns="0" rtlCol="0" anchor="ctr"/>
          <a:lstStyle/>
          <a:p>
            <a:pPr indent="0" marL="0">
              <a:buNone/>
            </a:pPr>
            <a:r>
              <a:rPr lang="en-US" sz="9200" b="1" dirty="0">
                <a:solidFill>
                  <a:srgbClr val="8C3A2B"/>
                </a:solidFill>
                <a:latin typeface="Cambria" pitchFamily="34" charset="0"/>
                <a:ea typeface="Cambria" pitchFamily="34" charset="-122"/>
                <a:cs typeface="Cambria" pitchFamily="34" charset="-120"/>
              </a:rPr>
              <a:t>III</a:t>
            </a:r>
            <a:endParaRPr lang="en-US" sz="9200" dirty="0"/>
          </a:p>
        </p:txBody>
      </p:sp>
      <p:sp>
        <p:nvSpPr>
          <p:cNvPr id="3" name="Text 1"/>
          <p:cNvSpPr txBox="1"/>
          <p:nvPr/>
        </p:nvSpPr>
        <p:spPr>
          <a:xfrm>
            <a:off x="777240" y="3611880"/>
            <a:ext cx="10424160" cy="1325880"/>
          </a:xfrm>
          <a:prstGeom prst="rect">
            <a:avLst/>
          </a:prstGeom>
          <a:noFill/>
          <a:ln/>
        </p:spPr>
        <p:txBody>
          <a:bodyPr wrap="square" lIns="0" tIns="0" rIns="0" bIns="0" rtlCol="0" anchor="ctr"/>
          <a:lstStyle/>
          <a:p>
            <a:pPr indent="0" marL="0">
              <a:lnSpc>
                <a:spcPts val="4400"/>
              </a:lnSpc>
              <a:buNone/>
            </a:pPr>
            <a:r>
              <a:rPr lang="en-US" sz="4000" b="1" dirty="0">
                <a:solidFill>
                  <a:srgbClr val="FFFFFF"/>
                </a:solidFill>
                <a:latin typeface="Cambria" pitchFamily="34" charset="0"/>
                <a:ea typeface="Cambria" pitchFamily="34" charset="-122"/>
                <a:cs typeface="Cambria" pitchFamily="34" charset="-120"/>
              </a:rPr>
              <a:t>Marka ve mekân</a:t>
            </a:r>
            <a:endParaRPr lang="en-US" sz="4000" dirty="0"/>
          </a:p>
        </p:txBody>
      </p:sp>
      <p:sp>
        <p:nvSpPr>
          <p:cNvPr id="4" name="Text 2"/>
          <p:cNvSpPr txBox="1"/>
          <p:nvPr/>
        </p:nvSpPr>
        <p:spPr>
          <a:xfrm>
            <a:off x="777240" y="5029200"/>
            <a:ext cx="9509760" cy="822960"/>
          </a:xfrm>
          <a:prstGeom prst="rect">
            <a:avLst/>
          </a:prstGeom>
          <a:noFill/>
          <a:ln/>
        </p:spPr>
        <p:txBody>
          <a:bodyPr wrap="square" lIns="0" tIns="0" rIns="0" bIns="0" rtlCol="0" anchor="ctr"/>
          <a:lstStyle/>
          <a:p>
            <a:pPr indent="0" marL="0">
              <a:lnSpc>
                <a:spcPts val="2200"/>
              </a:lnSpc>
              <a:buNone/>
            </a:pPr>
            <a:r>
              <a:rPr lang="en-US" sz="1500" dirty="0">
                <a:solidFill>
                  <a:srgbClr val="B9B9C0"/>
                </a:solidFill>
                <a:latin typeface="Calibri" pitchFamily="34" charset="0"/>
                <a:ea typeface="Calibri" pitchFamily="34" charset="-122"/>
                <a:cs typeface="Calibri" pitchFamily="34" charset="-120"/>
              </a:rPr>
              <a:t>Bir markanın ne olduğu, mekânda nasıl görünür hâle gelir.</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CFCFA"/>
        </a:solidFill>
      </p:bgPr>
    </p:bg>
    <p:spTree>
      <p:nvGrpSpPr>
        <p:cNvPr id="1" name=""/>
        <p:cNvGrpSpPr/>
        <p:nvPr/>
      </p:nvGrpSpPr>
      <p:grpSpPr>
        <a:xfrm>
          <a:off x="0" y="0"/>
          <a:ext cx="0" cy="0"/>
          <a:chOff x="0" y="0"/>
          <a:chExt cx="0" cy="0"/>
        </a:xfrm>
      </p:grpSpPr>
      <p:sp>
        <p:nvSpPr>
          <p:cNvPr id="2" name="Text 0"/>
          <p:cNvSpPr txBox="1"/>
          <p:nvPr/>
        </p:nvSpPr>
        <p:spPr>
          <a:xfrm>
            <a:off x="777240" y="475488"/>
            <a:ext cx="9601200" cy="237744"/>
          </a:xfrm>
          <a:prstGeom prst="rect">
            <a:avLst/>
          </a:prstGeom>
          <a:noFill/>
          <a:ln/>
        </p:spPr>
        <p:txBody>
          <a:bodyPr wrap="square" lIns="0" tIns="0" rIns="0" bIns="0" rtlCol="0" anchor="ctr"/>
          <a:lstStyle/>
          <a:p>
            <a:pPr indent="0" marL="0">
              <a:buNone/>
            </a:pPr>
            <a:r>
              <a:rPr lang="en-US" sz="950" b="1" spc="260" kern="0" dirty="0">
                <a:solidFill>
                  <a:srgbClr val="7A7A82"/>
                </a:solidFill>
                <a:latin typeface="Calibri" pitchFamily="34" charset="0"/>
                <a:ea typeface="Calibri" pitchFamily="34" charset="-122"/>
                <a:cs typeface="Calibri" pitchFamily="34" charset="-120"/>
              </a:rPr>
              <a:t>III · MARKA VE MEKÂN</a:t>
            </a:r>
            <a:endParaRPr lang="en-US" sz="950" dirty="0"/>
          </a:p>
        </p:txBody>
      </p:sp>
      <p:sp>
        <p:nvSpPr>
          <p:cNvPr id="3" name="Text 1"/>
          <p:cNvSpPr txBox="1"/>
          <p:nvPr/>
        </p:nvSpPr>
        <p:spPr>
          <a:xfrm>
            <a:off x="777240" y="822960"/>
            <a:ext cx="10424160" cy="731520"/>
          </a:xfrm>
          <a:prstGeom prst="rect">
            <a:avLst/>
          </a:prstGeom>
          <a:noFill/>
          <a:ln/>
        </p:spPr>
        <p:txBody>
          <a:bodyPr wrap="square" lIns="0" tIns="0" rIns="0" bIns="0" rtlCol="0" anchor="ctr"/>
          <a:lstStyle/>
          <a:p>
            <a:pPr indent="0" marL="0">
              <a:lnSpc>
                <a:spcPts val="3400"/>
              </a:lnSpc>
              <a:buNone/>
            </a:pPr>
            <a:r>
              <a:rPr lang="en-US" sz="2900" b="1" dirty="0">
                <a:solidFill>
                  <a:srgbClr val="16161A"/>
                </a:solidFill>
                <a:latin typeface="Cambria" pitchFamily="34" charset="0"/>
                <a:ea typeface="Cambria" pitchFamily="34" charset="-122"/>
                <a:cs typeface="Cambria" pitchFamily="34" charset="-120"/>
              </a:rPr>
              <a:t>Marka DNA'sı: bir markayı ne oluşturur?</a:t>
            </a:r>
            <a:endParaRPr lang="en-US" sz="2900" dirty="0"/>
          </a:p>
        </p:txBody>
      </p:sp>
      <p:sp>
        <p:nvSpPr>
          <p:cNvPr id="4" name="Text 2"/>
          <p:cNvSpPr txBox="1"/>
          <p:nvPr/>
        </p:nvSpPr>
        <p:spPr>
          <a:xfrm>
            <a:off x="10972800" y="6355080"/>
            <a:ext cx="438912" cy="237744"/>
          </a:xfrm>
          <a:prstGeom prst="rect">
            <a:avLst/>
          </a:prstGeom>
          <a:noFill/>
          <a:ln/>
        </p:spPr>
        <p:txBody>
          <a:bodyPr wrap="square" lIns="0" tIns="0" rIns="0" bIns="0" rtlCol="0" anchor="ctr"/>
          <a:lstStyle/>
          <a:p>
            <a:pPr algn="r" indent="0" marL="0">
              <a:buNone/>
            </a:pPr>
            <a:r>
              <a:rPr lang="en-US" sz="950" dirty="0">
                <a:solidFill>
                  <a:srgbClr val="A6A6AC"/>
                </a:solidFill>
                <a:latin typeface="Calibri" pitchFamily="34" charset="0"/>
                <a:ea typeface="Calibri" pitchFamily="34" charset="-122"/>
                <a:cs typeface="Calibri" pitchFamily="34" charset="-120"/>
              </a:rPr>
              <a:t>13</a:t>
            </a:r>
            <a:endParaRPr lang="en-US" sz="950" dirty="0"/>
          </a:p>
        </p:txBody>
      </p:sp>
      <p:sp>
        <p:nvSpPr>
          <p:cNvPr id="5" name="Text 3"/>
          <p:cNvSpPr txBox="1"/>
          <p:nvPr/>
        </p:nvSpPr>
        <p:spPr>
          <a:xfrm>
            <a:off x="777240" y="1627632"/>
            <a:ext cx="10634472" cy="658368"/>
          </a:xfrm>
          <a:prstGeom prst="rect">
            <a:avLst/>
          </a:prstGeom>
          <a:noFill/>
          <a:ln/>
        </p:spPr>
        <p:txBody>
          <a:bodyPr wrap="square" lIns="0" tIns="0" rIns="0" bIns="0" rtlCol="0" anchor="ctr"/>
          <a:lstStyle/>
          <a:p>
            <a:pPr indent="0" marL="0">
              <a:lnSpc>
                <a:spcPts val="2300"/>
              </a:lnSpc>
              <a:buNone/>
            </a:pPr>
            <a:r>
              <a:rPr lang="en-US" sz="1500" dirty="0">
                <a:solidFill>
                  <a:srgbClr val="2B2B31"/>
                </a:solidFill>
                <a:latin typeface="Cambria" pitchFamily="34" charset="0"/>
                <a:ea typeface="Cambria" pitchFamily="34" charset="-122"/>
                <a:cs typeface="Cambria" pitchFamily="34" charset="-120"/>
              </a:rPr>
              <a:t>Marka bir logo değil, bir vaadin tutarlı biçimde tekrarlanmasıdır (Wheeler, 2017). Bu vaat beş bileşenden oluşur ve bunlar iki gruba ayrılır: markanın kendi içinde bildiği şeyler ve dışarıya gösterdiği şeyler.</a:t>
            </a:r>
            <a:endParaRPr lang="en-US" sz="1500" dirty="0"/>
          </a:p>
        </p:txBody>
      </p:sp>
      <p:sp>
        <p:nvSpPr>
          <p:cNvPr id="6" name="Shape 4"/>
          <p:cNvSpPr/>
          <p:nvPr/>
        </p:nvSpPr>
        <p:spPr>
          <a:xfrm>
            <a:off x="1051560" y="2715768"/>
            <a:ext cx="1828800" cy="1691640"/>
          </a:xfrm>
          <a:prstGeom prst="rect">
            <a:avLst/>
          </a:prstGeom>
          <a:ln w="9525">
            <a:solidFill>
              <a:srgbClr val="C9C9CF"/>
            </a:solidFill>
            <a:prstDash val="solid"/>
          </a:ln>
        </p:spPr>
      </p:sp>
      <p:sp>
        <p:nvSpPr>
          <p:cNvPr id="7" name="Text 5"/>
          <p:cNvSpPr txBox="1"/>
          <p:nvPr/>
        </p:nvSpPr>
        <p:spPr>
          <a:xfrm>
            <a:off x="1179576" y="2944368"/>
            <a:ext cx="1572768" cy="292608"/>
          </a:xfrm>
          <a:prstGeom prst="rect">
            <a:avLst/>
          </a:prstGeom>
          <a:noFill/>
          <a:ln/>
        </p:spPr>
        <p:txBody>
          <a:bodyPr wrap="square" lIns="0" tIns="0" rIns="0" bIns="0" rtlCol="0" anchor="ctr"/>
          <a:lstStyle/>
          <a:p>
            <a:pPr algn="ctr" indent="0" marL="0">
              <a:buNone/>
            </a:pPr>
            <a:r>
              <a:rPr lang="en-US" sz="1000" b="1" spc="100" kern="0" dirty="0">
                <a:solidFill>
                  <a:srgbClr val="16161A"/>
                </a:solidFill>
                <a:latin typeface="Calibri" pitchFamily="34" charset="0"/>
                <a:ea typeface="Calibri" pitchFamily="34" charset="-122"/>
                <a:cs typeface="Calibri" pitchFamily="34" charset="-120"/>
              </a:rPr>
              <a:t>NEDEN VARIZ</a:t>
            </a:r>
            <a:endParaRPr lang="en-US" sz="1000" dirty="0"/>
          </a:p>
        </p:txBody>
      </p:sp>
      <p:sp>
        <p:nvSpPr>
          <p:cNvPr id="8" name="Text 6"/>
          <p:cNvSpPr txBox="1"/>
          <p:nvPr/>
        </p:nvSpPr>
        <p:spPr>
          <a:xfrm>
            <a:off x="1179576" y="3310128"/>
            <a:ext cx="1572768" cy="914400"/>
          </a:xfrm>
          <a:prstGeom prst="rect">
            <a:avLst/>
          </a:prstGeom>
          <a:noFill/>
          <a:ln/>
        </p:spPr>
        <p:txBody>
          <a:bodyPr wrap="square" lIns="0" tIns="0" rIns="0" bIns="0" rtlCol="0" anchor="ctr"/>
          <a:lstStyle/>
          <a:p>
            <a:pPr algn="ctr" indent="0" marL="0">
              <a:lnSpc>
                <a:spcPts val="1350"/>
              </a:lnSpc>
              <a:buNone/>
            </a:pPr>
            <a:r>
              <a:rPr lang="en-US" sz="1050" dirty="0">
                <a:solidFill>
                  <a:srgbClr val="7A7A82"/>
                </a:solidFill>
                <a:latin typeface="Calibri" pitchFamily="34" charset="0"/>
                <a:ea typeface="Calibri" pitchFamily="34" charset="-122"/>
                <a:cs typeface="Calibri" pitchFamily="34" charset="-120"/>
              </a:rPr>
              <a:t>Markanın özü ve</a:t>
            </a:r>
            <a:endParaRPr lang="en-US" sz="1050" dirty="0"/>
          </a:p>
          <a:p>
            <a:pPr algn="ctr" indent="0" marL="0">
              <a:lnSpc>
                <a:spcPts val="1350"/>
              </a:lnSpc>
              <a:buNone/>
            </a:pPr>
            <a:r>
              <a:rPr lang="en-US" sz="1050" dirty="0">
                <a:solidFill>
                  <a:srgbClr val="7A7A82"/>
                </a:solidFill>
                <a:latin typeface="Calibri" pitchFamily="34" charset="0"/>
                <a:ea typeface="Calibri" pitchFamily="34" charset="-122"/>
                <a:cs typeface="Calibri" pitchFamily="34" charset="-120"/>
              </a:rPr>
              <a:t>var oluş nedeni</a:t>
            </a:r>
            <a:endParaRPr lang="en-US" sz="1050" dirty="0"/>
          </a:p>
        </p:txBody>
      </p:sp>
      <p:sp>
        <p:nvSpPr>
          <p:cNvPr id="9" name="Shape 7"/>
          <p:cNvSpPr/>
          <p:nvPr/>
        </p:nvSpPr>
        <p:spPr>
          <a:xfrm>
            <a:off x="3081528" y="2715768"/>
            <a:ext cx="1828800" cy="1691640"/>
          </a:xfrm>
          <a:prstGeom prst="rect">
            <a:avLst/>
          </a:prstGeom>
          <a:ln w="9525">
            <a:solidFill>
              <a:srgbClr val="C9C9CF"/>
            </a:solidFill>
            <a:prstDash val="solid"/>
          </a:ln>
        </p:spPr>
      </p:sp>
      <p:sp>
        <p:nvSpPr>
          <p:cNvPr id="10" name="Text 8"/>
          <p:cNvSpPr txBox="1"/>
          <p:nvPr/>
        </p:nvSpPr>
        <p:spPr>
          <a:xfrm>
            <a:off x="3209544" y="2944368"/>
            <a:ext cx="1572768" cy="292608"/>
          </a:xfrm>
          <a:prstGeom prst="rect">
            <a:avLst/>
          </a:prstGeom>
          <a:noFill/>
          <a:ln/>
        </p:spPr>
        <p:txBody>
          <a:bodyPr wrap="square" lIns="0" tIns="0" rIns="0" bIns="0" rtlCol="0" anchor="ctr"/>
          <a:lstStyle/>
          <a:p>
            <a:pPr algn="ctr" indent="0" marL="0">
              <a:buNone/>
            </a:pPr>
            <a:r>
              <a:rPr lang="en-US" sz="1000" b="1" spc="100" kern="0" dirty="0">
                <a:solidFill>
                  <a:srgbClr val="16161A"/>
                </a:solidFill>
                <a:latin typeface="Calibri" pitchFamily="34" charset="0"/>
                <a:ea typeface="Calibri" pitchFamily="34" charset="-122"/>
                <a:cs typeface="Calibri" pitchFamily="34" charset="-120"/>
              </a:rPr>
              <a:t>İDEAL</a:t>
            </a:r>
            <a:endParaRPr lang="en-US" sz="1000" dirty="0"/>
          </a:p>
        </p:txBody>
      </p:sp>
      <p:sp>
        <p:nvSpPr>
          <p:cNvPr id="11" name="Text 9"/>
          <p:cNvSpPr txBox="1"/>
          <p:nvPr/>
        </p:nvSpPr>
        <p:spPr>
          <a:xfrm>
            <a:off x="3209544" y="3310128"/>
            <a:ext cx="1572768" cy="914400"/>
          </a:xfrm>
          <a:prstGeom prst="rect">
            <a:avLst/>
          </a:prstGeom>
          <a:noFill/>
          <a:ln/>
        </p:spPr>
        <p:txBody>
          <a:bodyPr wrap="square" lIns="0" tIns="0" rIns="0" bIns="0" rtlCol="0" anchor="ctr"/>
          <a:lstStyle/>
          <a:p>
            <a:pPr algn="ctr" indent="0" marL="0">
              <a:lnSpc>
                <a:spcPts val="1350"/>
              </a:lnSpc>
              <a:buNone/>
            </a:pPr>
            <a:r>
              <a:rPr lang="en-US" sz="1050" dirty="0">
                <a:solidFill>
                  <a:srgbClr val="7A7A82"/>
                </a:solidFill>
                <a:latin typeface="Calibri" pitchFamily="34" charset="0"/>
                <a:ea typeface="Calibri" pitchFamily="34" charset="-122"/>
                <a:cs typeface="Calibri" pitchFamily="34" charset="-120"/>
              </a:rPr>
              <a:t>Neye dönüşmek</a:t>
            </a:r>
            <a:endParaRPr lang="en-US" sz="1050" dirty="0"/>
          </a:p>
          <a:p>
            <a:pPr algn="ctr" indent="0" marL="0">
              <a:lnSpc>
                <a:spcPts val="1350"/>
              </a:lnSpc>
              <a:buNone/>
            </a:pPr>
            <a:r>
              <a:rPr lang="en-US" sz="1050" dirty="0">
                <a:solidFill>
                  <a:srgbClr val="7A7A82"/>
                </a:solidFill>
                <a:latin typeface="Calibri" pitchFamily="34" charset="0"/>
                <a:ea typeface="Calibri" pitchFamily="34" charset="-122"/>
                <a:cs typeface="Calibri" pitchFamily="34" charset="-120"/>
              </a:rPr>
              <a:t>istiyor</a:t>
            </a:r>
            <a:endParaRPr lang="en-US" sz="1050" dirty="0"/>
          </a:p>
        </p:txBody>
      </p:sp>
      <p:sp>
        <p:nvSpPr>
          <p:cNvPr id="12" name="Shape 10"/>
          <p:cNvSpPr/>
          <p:nvPr/>
        </p:nvSpPr>
        <p:spPr>
          <a:xfrm>
            <a:off x="5111496" y="2715768"/>
            <a:ext cx="1828800" cy="1691640"/>
          </a:xfrm>
          <a:prstGeom prst="rect">
            <a:avLst/>
          </a:prstGeom>
          <a:ln w="9525">
            <a:solidFill>
              <a:srgbClr val="C9C9CF"/>
            </a:solidFill>
            <a:prstDash val="solid"/>
          </a:ln>
        </p:spPr>
      </p:sp>
      <p:sp>
        <p:nvSpPr>
          <p:cNvPr id="13" name="Text 11"/>
          <p:cNvSpPr txBox="1"/>
          <p:nvPr/>
        </p:nvSpPr>
        <p:spPr>
          <a:xfrm>
            <a:off x="5239512" y="2944368"/>
            <a:ext cx="1572768" cy="292608"/>
          </a:xfrm>
          <a:prstGeom prst="rect">
            <a:avLst/>
          </a:prstGeom>
          <a:noFill/>
          <a:ln/>
        </p:spPr>
        <p:txBody>
          <a:bodyPr wrap="square" lIns="0" tIns="0" rIns="0" bIns="0" rtlCol="0" anchor="ctr"/>
          <a:lstStyle/>
          <a:p>
            <a:pPr algn="ctr" indent="0" marL="0">
              <a:buNone/>
            </a:pPr>
            <a:r>
              <a:rPr lang="en-US" sz="1000" b="1" spc="100" kern="0" dirty="0">
                <a:solidFill>
                  <a:srgbClr val="16161A"/>
                </a:solidFill>
                <a:latin typeface="Calibri" pitchFamily="34" charset="0"/>
                <a:ea typeface="Calibri" pitchFamily="34" charset="-122"/>
                <a:cs typeface="Calibri" pitchFamily="34" charset="-120"/>
              </a:rPr>
              <a:t>DEĞERLER</a:t>
            </a:r>
            <a:endParaRPr lang="en-US" sz="1000" dirty="0"/>
          </a:p>
        </p:txBody>
      </p:sp>
      <p:sp>
        <p:nvSpPr>
          <p:cNvPr id="14" name="Text 12"/>
          <p:cNvSpPr txBox="1"/>
          <p:nvPr/>
        </p:nvSpPr>
        <p:spPr>
          <a:xfrm>
            <a:off x="5239512" y="3310128"/>
            <a:ext cx="1572768" cy="914400"/>
          </a:xfrm>
          <a:prstGeom prst="rect">
            <a:avLst/>
          </a:prstGeom>
          <a:noFill/>
          <a:ln/>
        </p:spPr>
        <p:txBody>
          <a:bodyPr wrap="square" lIns="0" tIns="0" rIns="0" bIns="0" rtlCol="0" anchor="ctr"/>
          <a:lstStyle/>
          <a:p>
            <a:pPr algn="ctr" indent="0" marL="0">
              <a:lnSpc>
                <a:spcPts val="1350"/>
              </a:lnSpc>
              <a:buNone/>
            </a:pPr>
            <a:r>
              <a:rPr lang="en-US" sz="1050" dirty="0">
                <a:solidFill>
                  <a:srgbClr val="7A7A82"/>
                </a:solidFill>
                <a:latin typeface="Calibri" pitchFamily="34" charset="0"/>
                <a:ea typeface="Calibri" pitchFamily="34" charset="-122"/>
                <a:cs typeface="Calibri" pitchFamily="34" charset="-120"/>
              </a:rPr>
              <a:t>İnanç sistemi;</a:t>
            </a:r>
            <a:endParaRPr lang="en-US" sz="1050" dirty="0"/>
          </a:p>
          <a:p>
            <a:pPr algn="ctr" indent="0" marL="0">
              <a:lnSpc>
                <a:spcPts val="1350"/>
              </a:lnSpc>
              <a:buNone/>
            </a:pPr>
            <a:r>
              <a:rPr lang="en-US" sz="1050" dirty="0">
                <a:solidFill>
                  <a:srgbClr val="7A7A82"/>
                </a:solidFill>
                <a:latin typeface="Calibri" pitchFamily="34" charset="0"/>
                <a:ea typeface="Calibri" pitchFamily="34" charset="-122"/>
                <a:cs typeface="Calibri" pitchFamily="34" charset="-120"/>
              </a:rPr>
              <a:t>çalışma ve</a:t>
            </a:r>
            <a:endParaRPr lang="en-US" sz="1050" dirty="0"/>
          </a:p>
          <a:p>
            <a:pPr algn="ctr" indent="0" marL="0">
              <a:lnSpc>
                <a:spcPts val="1350"/>
              </a:lnSpc>
              <a:buNone/>
            </a:pPr>
            <a:r>
              <a:rPr lang="en-US" sz="1050" dirty="0">
                <a:solidFill>
                  <a:srgbClr val="7A7A82"/>
                </a:solidFill>
                <a:latin typeface="Calibri" pitchFamily="34" charset="0"/>
                <a:ea typeface="Calibri" pitchFamily="34" charset="-122"/>
                <a:cs typeface="Calibri" pitchFamily="34" charset="-120"/>
              </a:rPr>
              <a:t>iletişim biçimi</a:t>
            </a:r>
            <a:endParaRPr lang="en-US" sz="1050" dirty="0"/>
          </a:p>
        </p:txBody>
      </p:sp>
      <p:sp>
        <p:nvSpPr>
          <p:cNvPr id="15" name="Shape 13"/>
          <p:cNvSpPr/>
          <p:nvPr/>
        </p:nvSpPr>
        <p:spPr>
          <a:xfrm>
            <a:off x="6967728" y="2441448"/>
            <a:ext cx="0" cy="2697480"/>
          </a:xfrm>
          <a:prstGeom prst="line">
            <a:avLst/>
          </a:prstGeom>
          <a:noFill/>
          <a:ln w="12700">
            <a:solidFill>
              <a:srgbClr val="7A7A82"/>
            </a:solidFill>
            <a:prstDash val="dash"/>
          </a:ln>
        </p:spPr>
      </p:sp>
      <p:sp>
        <p:nvSpPr>
          <p:cNvPr id="16" name="Shape 14"/>
          <p:cNvSpPr/>
          <p:nvPr/>
        </p:nvSpPr>
        <p:spPr>
          <a:xfrm>
            <a:off x="7223760" y="2715768"/>
            <a:ext cx="1965960" cy="1691640"/>
          </a:xfrm>
          <a:prstGeom prst="rect">
            <a:avLst/>
          </a:prstGeom>
          <a:solidFill>
            <a:srgbClr val="F6EAE6"/>
          </a:solidFill>
          <a:ln w="15875">
            <a:solidFill>
              <a:srgbClr val="8C3A2B"/>
            </a:solidFill>
            <a:prstDash val="solid"/>
          </a:ln>
        </p:spPr>
      </p:sp>
      <p:sp>
        <p:nvSpPr>
          <p:cNvPr id="17" name="Text 15"/>
          <p:cNvSpPr txBox="1"/>
          <p:nvPr/>
        </p:nvSpPr>
        <p:spPr>
          <a:xfrm>
            <a:off x="7351776" y="2944368"/>
            <a:ext cx="1709928" cy="292608"/>
          </a:xfrm>
          <a:prstGeom prst="rect">
            <a:avLst/>
          </a:prstGeom>
          <a:noFill/>
          <a:ln/>
        </p:spPr>
        <p:txBody>
          <a:bodyPr wrap="square" lIns="0" tIns="0" rIns="0" bIns="0" rtlCol="0" anchor="ctr"/>
          <a:lstStyle/>
          <a:p>
            <a:pPr algn="ctr" indent="0" marL="0">
              <a:buNone/>
            </a:pPr>
            <a:r>
              <a:rPr lang="en-US" sz="1000" b="1" spc="100" kern="0" dirty="0">
                <a:solidFill>
                  <a:srgbClr val="8C3A2B"/>
                </a:solidFill>
                <a:latin typeface="Calibri" pitchFamily="34" charset="0"/>
                <a:ea typeface="Calibri" pitchFamily="34" charset="-122"/>
                <a:cs typeface="Calibri" pitchFamily="34" charset="-120"/>
              </a:rPr>
              <a:t>KİŞİLİK</a:t>
            </a:r>
            <a:endParaRPr lang="en-US" sz="1000" dirty="0"/>
          </a:p>
        </p:txBody>
      </p:sp>
      <p:sp>
        <p:nvSpPr>
          <p:cNvPr id="18" name="Text 16"/>
          <p:cNvSpPr txBox="1"/>
          <p:nvPr/>
        </p:nvSpPr>
        <p:spPr>
          <a:xfrm>
            <a:off x="7351776" y="3310128"/>
            <a:ext cx="1709928" cy="914400"/>
          </a:xfrm>
          <a:prstGeom prst="rect">
            <a:avLst/>
          </a:prstGeom>
          <a:noFill/>
          <a:ln/>
        </p:spPr>
        <p:txBody>
          <a:bodyPr wrap="square" lIns="0" tIns="0" rIns="0" bIns="0" rtlCol="0" anchor="ctr"/>
          <a:lstStyle/>
          <a:p>
            <a:pPr algn="ctr" indent="0" marL="0">
              <a:lnSpc>
                <a:spcPts val="1350"/>
              </a:lnSpc>
              <a:buNone/>
            </a:pPr>
            <a:r>
              <a:rPr lang="en-US" sz="1050" dirty="0">
                <a:solidFill>
                  <a:srgbClr val="2B2B31"/>
                </a:solidFill>
                <a:latin typeface="Calibri" pitchFamily="34" charset="0"/>
                <a:ea typeface="Calibri" pitchFamily="34" charset="-122"/>
                <a:cs typeface="Calibri" pitchFamily="34" charset="-120"/>
              </a:rPr>
              <a:t>Markanın pazara</a:t>
            </a:r>
            <a:endParaRPr lang="en-US" sz="1050" dirty="0"/>
          </a:p>
          <a:p>
            <a:pPr algn="ctr" indent="0" marL="0">
              <a:lnSpc>
                <a:spcPts val="1350"/>
              </a:lnSpc>
              <a:buNone/>
            </a:pPr>
            <a:r>
              <a:rPr lang="en-US" sz="1050" dirty="0">
                <a:solidFill>
                  <a:srgbClr val="2B2B31"/>
                </a:solidFill>
                <a:latin typeface="Calibri" pitchFamily="34" charset="0"/>
                <a:ea typeface="Calibri" pitchFamily="34" charset="-122"/>
                <a:cs typeface="Calibri" pitchFamily="34" charset="-120"/>
              </a:rPr>
              <a:t>konuşma biçimi,</a:t>
            </a:r>
            <a:endParaRPr lang="en-US" sz="1050" dirty="0"/>
          </a:p>
          <a:p>
            <a:pPr algn="ctr" indent="0" marL="0">
              <a:lnSpc>
                <a:spcPts val="1350"/>
              </a:lnSpc>
              <a:buNone/>
            </a:pPr>
            <a:r>
              <a:rPr lang="en-US" sz="1050" dirty="0">
                <a:solidFill>
                  <a:srgbClr val="2B2B31"/>
                </a:solidFill>
                <a:latin typeface="Calibri" pitchFamily="34" charset="0"/>
                <a:ea typeface="Calibri" pitchFamily="34" charset="-122"/>
                <a:cs typeface="Calibri" pitchFamily="34" charset="-120"/>
              </a:rPr>
              <a:t>ses tonu</a:t>
            </a:r>
            <a:endParaRPr lang="en-US" sz="1050" dirty="0"/>
          </a:p>
        </p:txBody>
      </p:sp>
      <p:sp>
        <p:nvSpPr>
          <p:cNvPr id="19" name="Shape 17"/>
          <p:cNvSpPr/>
          <p:nvPr/>
        </p:nvSpPr>
        <p:spPr>
          <a:xfrm>
            <a:off x="9372600" y="2715768"/>
            <a:ext cx="1965960" cy="1691640"/>
          </a:xfrm>
          <a:prstGeom prst="rect">
            <a:avLst/>
          </a:prstGeom>
          <a:solidFill>
            <a:srgbClr val="F6EAE6"/>
          </a:solidFill>
          <a:ln w="15875">
            <a:solidFill>
              <a:srgbClr val="8C3A2B"/>
            </a:solidFill>
            <a:prstDash val="solid"/>
          </a:ln>
        </p:spPr>
      </p:sp>
      <p:sp>
        <p:nvSpPr>
          <p:cNvPr id="20" name="Text 18"/>
          <p:cNvSpPr txBox="1"/>
          <p:nvPr/>
        </p:nvSpPr>
        <p:spPr>
          <a:xfrm>
            <a:off x="9500616" y="2944368"/>
            <a:ext cx="1709928" cy="292608"/>
          </a:xfrm>
          <a:prstGeom prst="rect">
            <a:avLst/>
          </a:prstGeom>
          <a:noFill/>
          <a:ln/>
        </p:spPr>
        <p:txBody>
          <a:bodyPr wrap="square" lIns="0" tIns="0" rIns="0" bIns="0" rtlCol="0" anchor="ctr"/>
          <a:lstStyle/>
          <a:p>
            <a:pPr algn="ctr" indent="0" marL="0">
              <a:buNone/>
            </a:pPr>
            <a:r>
              <a:rPr lang="en-US" sz="1000" b="1" spc="100" kern="0" dirty="0">
                <a:solidFill>
                  <a:srgbClr val="8C3A2B"/>
                </a:solidFill>
                <a:latin typeface="Calibri" pitchFamily="34" charset="0"/>
                <a:ea typeface="Calibri" pitchFamily="34" charset="-122"/>
                <a:cs typeface="Calibri" pitchFamily="34" charset="-120"/>
              </a:rPr>
              <a:t>PAZAR KONUMU</a:t>
            </a:r>
            <a:endParaRPr lang="en-US" sz="1000" dirty="0"/>
          </a:p>
        </p:txBody>
      </p:sp>
      <p:sp>
        <p:nvSpPr>
          <p:cNvPr id="21" name="Text 19"/>
          <p:cNvSpPr txBox="1"/>
          <p:nvPr/>
        </p:nvSpPr>
        <p:spPr>
          <a:xfrm>
            <a:off x="9500616" y="3310128"/>
            <a:ext cx="1709928" cy="914400"/>
          </a:xfrm>
          <a:prstGeom prst="rect">
            <a:avLst/>
          </a:prstGeom>
          <a:noFill/>
          <a:ln/>
        </p:spPr>
        <p:txBody>
          <a:bodyPr wrap="square" lIns="0" tIns="0" rIns="0" bIns="0" rtlCol="0" anchor="ctr"/>
          <a:lstStyle/>
          <a:p>
            <a:pPr algn="ctr" indent="0" marL="0">
              <a:lnSpc>
                <a:spcPts val="1350"/>
              </a:lnSpc>
              <a:buNone/>
            </a:pPr>
            <a:r>
              <a:rPr lang="en-US" sz="1050" dirty="0">
                <a:solidFill>
                  <a:srgbClr val="2B2B31"/>
                </a:solidFill>
                <a:latin typeface="Calibri" pitchFamily="34" charset="0"/>
                <a:ea typeface="Calibri" pitchFamily="34" charset="-122"/>
                <a:cs typeface="Calibri" pitchFamily="34" charset="-120"/>
              </a:rPr>
              <a:t>Rekabette kendini</a:t>
            </a:r>
            <a:endParaRPr lang="en-US" sz="1050" dirty="0"/>
          </a:p>
          <a:p>
            <a:pPr algn="ctr" indent="0" marL="0">
              <a:lnSpc>
                <a:spcPts val="1350"/>
              </a:lnSpc>
              <a:buNone/>
            </a:pPr>
            <a:r>
              <a:rPr lang="en-US" sz="1050" dirty="0">
                <a:solidFill>
                  <a:srgbClr val="2B2B31"/>
                </a:solidFill>
                <a:latin typeface="Calibri" pitchFamily="34" charset="0"/>
                <a:ea typeface="Calibri" pitchFamily="34" charset="-122"/>
                <a:cs typeface="Calibri" pitchFamily="34" charset="-120"/>
              </a:rPr>
              <a:t>nasıl konumlandırdığı</a:t>
            </a:r>
            <a:endParaRPr lang="en-US" sz="1050" dirty="0"/>
          </a:p>
        </p:txBody>
      </p:sp>
      <p:sp>
        <p:nvSpPr>
          <p:cNvPr id="22" name="Text 20"/>
          <p:cNvSpPr txBox="1"/>
          <p:nvPr/>
        </p:nvSpPr>
        <p:spPr>
          <a:xfrm>
            <a:off x="1051560" y="4800600"/>
            <a:ext cx="5760720" cy="274320"/>
          </a:xfrm>
          <a:prstGeom prst="rect">
            <a:avLst/>
          </a:prstGeom>
          <a:noFill/>
          <a:ln/>
        </p:spPr>
        <p:txBody>
          <a:bodyPr wrap="square" lIns="0" tIns="0" rIns="0" bIns="0" rtlCol="0" anchor="ctr"/>
          <a:lstStyle/>
          <a:p>
            <a:pPr algn="ctr" indent="0" marL="0">
              <a:lnSpc>
                <a:spcPts val="1200"/>
              </a:lnSpc>
              <a:buNone/>
            </a:pPr>
            <a:r>
              <a:rPr lang="en-US" sz="1000" b="1" dirty="0">
                <a:solidFill>
                  <a:srgbClr val="16161A"/>
                </a:solidFill>
                <a:latin typeface="Calibri" pitchFamily="34" charset="0"/>
                <a:ea typeface="Calibri" pitchFamily="34" charset="-122"/>
                <a:cs typeface="Calibri" pitchFamily="34" charset="-120"/>
              </a:rPr>
              <a:t>İŞLETMENİN İÇİ</a:t>
            </a:r>
            <a:endParaRPr lang="en-US" sz="1000" dirty="0"/>
          </a:p>
        </p:txBody>
      </p:sp>
      <p:sp>
        <p:nvSpPr>
          <p:cNvPr id="23" name="Text 21"/>
          <p:cNvSpPr txBox="1"/>
          <p:nvPr/>
        </p:nvSpPr>
        <p:spPr>
          <a:xfrm>
            <a:off x="1051560" y="5038344"/>
            <a:ext cx="5760720" cy="274320"/>
          </a:xfrm>
          <a:prstGeom prst="rect">
            <a:avLst/>
          </a:prstGeom>
          <a:noFill/>
          <a:ln/>
        </p:spPr>
        <p:txBody>
          <a:bodyPr wrap="square" lIns="0" tIns="0" rIns="0" bIns="0" rtlCol="0" anchor="ctr"/>
          <a:lstStyle/>
          <a:p>
            <a:pPr algn="ctr" indent="0" marL="0">
              <a:lnSpc>
                <a:spcPts val="1200"/>
              </a:lnSpc>
              <a:buNone/>
            </a:pPr>
            <a:r>
              <a:rPr lang="en-US" sz="1000" dirty="0">
                <a:solidFill>
                  <a:srgbClr val="7A7A82"/>
                </a:solidFill>
                <a:latin typeface="Calibri" pitchFamily="34" charset="0"/>
                <a:ea typeface="Calibri" pitchFamily="34" charset="-122"/>
                <a:cs typeface="Calibri" pitchFamily="34" charset="-120"/>
              </a:rPr>
              <a:t>Kim olduğumuz, ne olmak istediğimiz — kendi kodumuz</a:t>
            </a:r>
            <a:endParaRPr lang="en-US" sz="1000" dirty="0"/>
          </a:p>
        </p:txBody>
      </p:sp>
      <p:sp>
        <p:nvSpPr>
          <p:cNvPr id="24" name="Text 22"/>
          <p:cNvSpPr txBox="1"/>
          <p:nvPr/>
        </p:nvSpPr>
        <p:spPr>
          <a:xfrm>
            <a:off x="7223760" y="4800600"/>
            <a:ext cx="4114800" cy="274320"/>
          </a:xfrm>
          <a:prstGeom prst="rect">
            <a:avLst/>
          </a:prstGeom>
          <a:noFill/>
          <a:ln/>
        </p:spPr>
        <p:txBody>
          <a:bodyPr wrap="square" lIns="0" tIns="0" rIns="0" bIns="0" rtlCol="0" anchor="ctr"/>
          <a:lstStyle/>
          <a:p>
            <a:pPr algn="ctr" indent="0" marL="0">
              <a:lnSpc>
                <a:spcPts val="1200"/>
              </a:lnSpc>
              <a:buNone/>
            </a:pPr>
            <a:r>
              <a:rPr lang="en-US" sz="1000" b="1" dirty="0">
                <a:solidFill>
                  <a:srgbClr val="8C3A2B"/>
                </a:solidFill>
                <a:latin typeface="Calibri" pitchFamily="34" charset="0"/>
                <a:ea typeface="Calibri" pitchFamily="34" charset="-122"/>
                <a:cs typeface="Calibri" pitchFamily="34" charset="-120"/>
              </a:rPr>
              <a:t>İŞLETMENİN DIŞI</a:t>
            </a:r>
            <a:endParaRPr lang="en-US" sz="1000" dirty="0"/>
          </a:p>
        </p:txBody>
      </p:sp>
      <p:sp>
        <p:nvSpPr>
          <p:cNvPr id="25" name="Text 23"/>
          <p:cNvSpPr txBox="1"/>
          <p:nvPr/>
        </p:nvSpPr>
        <p:spPr>
          <a:xfrm>
            <a:off x="7223760" y="5038344"/>
            <a:ext cx="4114800" cy="274320"/>
          </a:xfrm>
          <a:prstGeom prst="rect">
            <a:avLst/>
          </a:prstGeom>
          <a:noFill/>
          <a:ln/>
        </p:spPr>
        <p:txBody>
          <a:bodyPr wrap="square" lIns="0" tIns="0" rIns="0" bIns="0" rtlCol="0" anchor="ctr"/>
          <a:lstStyle/>
          <a:p>
            <a:pPr algn="ctr" indent="0" marL="0">
              <a:lnSpc>
                <a:spcPts val="1200"/>
              </a:lnSpc>
              <a:buNone/>
            </a:pPr>
            <a:r>
              <a:rPr lang="en-US" sz="1000" dirty="0">
                <a:solidFill>
                  <a:srgbClr val="7A7A82"/>
                </a:solidFill>
                <a:latin typeface="Calibri" pitchFamily="34" charset="0"/>
                <a:ea typeface="Calibri" pitchFamily="34" charset="-122"/>
                <a:cs typeface="Calibri" pitchFamily="34" charset="-120"/>
              </a:rPr>
              <a:t>Dışarıya ne söylediğimiz, pazarda nasıl durduğumuz</a:t>
            </a:r>
            <a:endParaRPr lang="en-US" sz="1000" dirty="0"/>
          </a:p>
        </p:txBody>
      </p:sp>
      <p:sp>
        <p:nvSpPr>
          <p:cNvPr id="26" name="Text 24"/>
          <p:cNvSpPr txBox="1"/>
          <p:nvPr/>
        </p:nvSpPr>
        <p:spPr>
          <a:xfrm>
            <a:off x="777240" y="5532120"/>
            <a:ext cx="10424160" cy="411480"/>
          </a:xfrm>
          <a:prstGeom prst="rect">
            <a:avLst/>
          </a:prstGeom>
          <a:noFill/>
          <a:ln/>
        </p:spPr>
        <p:txBody>
          <a:bodyPr wrap="square" lIns="0" tIns="0" rIns="0" bIns="0" rtlCol="0" anchor="ctr"/>
          <a:lstStyle/>
          <a:p>
            <a:pPr algn="l" indent="0" marL="0">
              <a:lnSpc>
                <a:spcPts val="1200"/>
              </a:lnSpc>
              <a:buNone/>
            </a:pPr>
            <a:r>
              <a:rPr lang="en-US" sz="1350" i="1" dirty="0">
                <a:solidFill>
                  <a:srgbClr val="8C3A2B"/>
                </a:solidFill>
                <a:latin typeface="Cambria" pitchFamily="34" charset="0"/>
                <a:ea typeface="Cambria" pitchFamily="34" charset="-122"/>
                <a:cs typeface="Cambria" pitchFamily="34" charset="-120"/>
              </a:rPr>
              <a:t>Mekân bu beşini birden taşımak zorundadır. Reklam bir şey söyler; mekân o şeyi kanıtlamak zorundadır.</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CFCFA"/>
        </a:solidFill>
      </p:bgPr>
    </p:bg>
    <p:spTree>
      <p:nvGrpSpPr>
        <p:cNvPr id="1" name=""/>
        <p:cNvGrpSpPr/>
        <p:nvPr/>
      </p:nvGrpSpPr>
      <p:grpSpPr>
        <a:xfrm>
          <a:off x="0" y="0"/>
          <a:ext cx="0" cy="0"/>
          <a:chOff x="0" y="0"/>
          <a:chExt cx="0" cy="0"/>
        </a:xfrm>
      </p:grpSpPr>
      <p:sp>
        <p:nvSpPr>
          <p:cNvPr id="2" name="Text 0"/>
          <p:cNvSpPr txBox="1"/>
          <p:nvPr/>
        </p:nvSpPr>
        <p:spPr>
          <a:xfrm>
            <a:off x="777240" y="475488"/>
            <a:ext cx="9601200" cy="237744"/>
          </a:xfrm>
          <a:prstGeom prst="rect">
            <a:avLst/>
          </a:prstGeom>
          <a:noFill/>
          <a:ln/>
        </p:spPr>
        <p:txBody>
          <a:bodyPr wrap="square" lIns="0" tIns="0" rIns="0" bIns="0" rtlCol="0" anchor="ctr"/>
          <a:lstStyle/>
          <a:p>
            <a:pPr indent="0" marL="0">
              <a:buNone/>
            </a:pPr>
            <a:r>
              <a:rPr lang="en-US" sz="950" b="1" spc="260" kern="0" dirty="0">
                <a:solidFill>
                  <a:srgbClr val="7A7A82"/>
                </a:solidFill>
                <a:latin typeface="Calibri" pitchFamily="34" charset="0"/>
                <a:ea typeface="Calibri" pitchFamily="34" charset="-122"/>
                <a:cs typeface="Calibri" pitchFamily="34" charset="-120"/>
              </a:rPr>
              <a:t>III · MARKA VE MEKÂN</a:t>
            </a:r>
            <a:endParaRPr lang="en-US" sz="950" dirty="0"/>
          </a:p>
        </p:txBody>
      </p:sp>
      <p:sp>
        <p:nvSpPr>
          <p:cNvPr id="3" name="Text 1"/>
          <p:cNvSpPr txBox="1"/>
          <p:nvPr/>
        </p:nvSpPr>
        <p:spPr>
          <a:xfrm>
            <a:off x="777240" y="822960"/>
            <a:ext cx="10424160" cy="731520"/>
          </a:xfrm>
          <a:prstGeom prst="rect">
            <a:avLst/>
          </a:prstGeom>
          <a:noFill/>
          <a:ln/>
        </p:spPr>
        <p:txBody>
          <a:bodyPr wrap="square" lIns="0" tIns="0" rIns="0" bIns="0" rtlCol="0" anchor="ctr"/>
          <a:lstStyle/>
          <a:p>
            <a:pPr indent="0" marL="0">
              <a:lnSpc>
                <a:spcPts val="3400"/>
              </a:lnSpc>
              <a:buNone/>
            </a:pPr>
            <a:r>
              <a:rPr lang="en-US" sz="2900" b="1" dirty="0">
                <a:solidFill>
                  <a:srgbClr val="16161A"/>
                </a:solidFill>
                <a:latin typeface="Cambria" pitchFamily="34" charset="0"/>
                <a:ea typeface="Cambria" pitchFamily="34" charset="-122"/>
                <a:cs typeface="Cambria" pitchFamily="34" charset="-120"/>
              </a:rPr>
              <a:t>Markadan mekâna: dört adım</a:t>
            </a:r>
            <a:endParaRPr lang="en-US" sz="2900" dirty="0"/>
          </a:p>
        </p:txBody>
      </p:sp>
      <p:sp>
        <p:nvSpPr>
          <p:cNvPr id="4" name="Text 2"/>
          <p:cNvSpPr txBox="1"/>
          <p:nvPr/>
        </p:nvSpPr>
        <p:spPr>
          <a:xfrm>
            <a:off x="10972800" y="6355080"/>
            <a:ext cx="438912" cy="237744"/>
          </a:xfrm>
          <a:prstGeom prst="rect">
            <a:avLst/>
          </a:prstGeom>
          <a:noFill/>
          <a:ln/>
        </p:spPr>
        <p:txBody>
          <a:bodyPr wrap="square" lIns="0" tIns="0" rIns="0" bIns="0" rtlCol="0" anchor="ctr"/>
          <a:lstStyle/>
          <a:p>
            <a:pPr algn="r" indent="0" marL="0">
              <a:buNone/>
            </a:pPr>
            <a:r>
              <a:rPr lang="en-US" sz="950" dirty="0">
                <a:solidFill>
                  <a:srgbClr val="A6A6AC"/>
                </a:solidFill>
                <a:latin typeface="Calibri" pitchFamily="34" charset="0"/>
                <a:ea typeface="Calibri" pitchFamily="34" charset="-122"/>
                <a:cs typeface="Calibri" pitchFamily="34" charset="-120"/>
              </a:rPr>
              <a:t>14</a:t>
            </a:r>
            <a:endParaRPr lang="en-US" sz="950" dirty="0"/>
          </a:p>
        </p:txBody>
      </p:sp>
      <p:sp>
        <p:nvSpPr>
          <p:cNvPr id="5" name="Text 3"/>
          <p:cNvSpPr txBox="1"/>
          <p:nvPr/>
        </p:nvSpPr>
        <p:spPr>
          <a:xfrm>
            <a:off x="777240" y="1627632"/>
            <a:ext cx="10634472" cy="548640"/>
          </a:xfrm>
          <a:prstGeom prst="rect">
            <a:avLst/>
          </a:prstGeom>
          <a:noFill/>
          <a:ln/>
        </p:spPr>
        <p:txBody>
          <a:bodyPr wrap="square" lIns="0" tIns="0" rIns="0" bIns="0" rtlCol="0" anchor="ctr"/>
          <a:lstStyle/>
          <a:p>
            <a:pPr indent="0" marL="0">
              <a:lnSpc>
                <a:spcPts val="2300"/>
              </a:lnSpc>
              <a:buNone/>
            </a:pPr>
            <a:r>
              <a:rPr lang="en-US" sz="1500" dirty="0">
                <a:solidFill>
                  <a:srgbClr val="2B2B31"/>
                </a:solidFill>
                <a:latin typeface="Cambria" pitchFamily="34" charset="0"/>
                <a:ea typeface="Cambria" pitchFamily="34" charset="-122"/>
                <a:cs typeface="Cambria" pitchFamily="34" charset="-120"/>
              </a:rPr>
              <a:t>Marka analizi bir ön hazırlık değil, tasarımın ilk aşamasıdır. Aradaki yol dört adımda kurulur ve her adım bir sonrakinin girdisini üretir.</a:t>
            </a:r>
            <a:endParaRPr lang="en-US" sz="1500" dirty="0"/>
          </a:p>
        </p:txBody>
      </p:sp>
      <p:sp>
        <p:nvSpPr>
          <p:cNvPr id="6" name="Text 4"/>
          <p:cNvSpPr txBox="1"/>
          <p:nvPr/>
        </p:nvSpPr>
        <p:spPr>
          <a:xfrm>
            <a:off x="777240" y="2377440"/>
            <a:ext cx="2487168" cy="685800"/>
          </a:xfrm>
          <a:prstGeom prst="rect">
            <a:avLst/>
          </a:prstGeom>
          <a:noFill/>
          <a:ln/>
        </p:spPr>
        <p:txBody>
          <a:bodyPr wrap="square" lIns="0" tIns="0" rIns="0" bIns="0" rtlCol="0" anchor="ctr"/>
          <a:lstStyle/>
          <a:p>
            <a:pPr indent="0" marL="0">
              <a:buNone/>
            </a:pPr>
            <a:r>
              <a:rPr lang="en-US" sz="4600" b="1" dirty="0">
                <a:solidFill>
                  <a:srgbClr val="A6A6AC"/>
                </a:solidFill>
                <a:latin typeface="Cambria" pitchFamily="34" charset="0"/>
                <a:ea typeface="Cambria" pitchFamily="34" charset="-122"/>
                <a:cs typeface="Cambria" pitchFamily="34" charset="-120"/>
              </a:rPr>
              <a:t>1</a:t>
            </a:r>
            <a:endParaRPr lang="en-US" sz="4600" dirty="0"/>
          </a:p>
        </p:txBody>
      </p:sp>
      <p:sp>
        <p:nvSpPr>
          <p:cNvPr id="7" name="Shape 5"/>
          <p:cNvSpPr/>
          <p:nvPr/>
        </p:nvSpPr>
        <p:spPr>
          <a:xfrm>
            <a:off x="777240" y="3163824"/>
            <a:ext cx="2212848" cy="0"/>
          </a:xfrm>
          <a:prstGeom prst="line">
            <a:avLst/>
          </a:prstGeom>
          <a:noFill/>
          <a:ln w="25400">
            <a:solidFill>
              <a:srgbClr val="7A7A82"/>
            </a:solidFill>
            <a:prstDash val="solid"/>
          </a:ln>
        </p:spPr>
      </p:sp>
      <p:sp>
        <p:nvSpPr>
          <p:cNvPr id="8" name="Shape 6"/>
          <p:cNvSpPr/>
          <p:nvPr/>
        </p:nvSpPr>
        <p:spPr>
          <a:xfrm>
            <a:off x="2953512" y="3163824"/>
            <a:ext cx="274320" cy="0"/>
          </a:xfrm>
          <a:prstGeom prst="line">
            <a:avLst/>
          </a:prstGeom>
          <a:noFill/>
          <a:ln w="25400">
            <a:solidFill>
              <a:srgbClr val="7A7A82"/>
            </a:solidFill>
            <a:prstDash val="solid"/>
            <a:tailEnd type="triangle"/>
          </a:ln>
        </p:spPr>
      </p:sp>
      <p:sp>
        <p:nvSpPr>
          <p:cNvPr id="9" name="Text 7"/>
          <p:cNvSpPr txBox="1"/>
          <p:nvPr/>
        </p:nvSpPr>
        <p:spPr>
          <a:xfrm>
            <a:off x="777240" y="3291840"/>
            <a:ext cx="2487168" cy="347472"/>
          </a:xfrm>
          <a:prstGeom prst="rect">
            <a:avLst/>
          </a:prstGeom>
          <a:noFill/>
          <a:ln/>
        </p:spPr>
        <p:txBody>
          <a:bodyPr wrap="square" lIns="0" tIns="0" rIns="0" bIns="0" rtlCol="0" anchor="ctr"/>
          <a:lstStyle/>
          <a:p>
            <a:pPr indent="0" marL="0">
              <a:buNone/>
            </a:pPr>
            <a:r>
              <a:rPr lang="en-US" sz="1600" b="1" dirty="0">
                <a:solidFill>
                  <a:srgbClr val="16161A"/>
                </a:solidFill>
                <a:latin typeface="Cambria" pitchFamily="34" charset="0"/>
                <a:ea typeface="Cambria" pitchFamily="34" charset="-122"/>
                <a:cs typeface="Cambria" pitchFamily="34" charset="-120"/>
              </a:rPr>
              <a:t>Araştırma</a:t>
            </a:r>
            <a:endParaRPr lang="en-US" sz="1600" dirty="0"/>
          </a:p>
        </p:txBody>
      </p:sp>
      <p:sp>
        <p:nvSpPr>
          <p:cNvPr id="10" name="Text 8"/>
          <p:cNvSpPr txBox="1"/>
          <p:nvPr/>
        </p:nvSpPr>
        <p:spPr>
          <a:xfrm>
            <a:off x="777240" y="3675888"/>
            <a:ext cx="2487168" cy="502920"/>
          </a:xfrm>
          <a:prstGeom prst="rect">
            <a:avLst/>
          </a:prstGeom>
          <a:noFill/>
          <a:ln/>
        </p:spPr>
        <p:txBody>
          <a:bodyPr wrap="square" lIns="0" tIns="0" rIns="0" bIns="0" rtlCol="0" anchor="ctr"/>
          <a:lstStyle/>
          <a:p>
            <a:pPr indent="0" marL="0">
              <a:lnSpc>
                <a:spcPts val="1450"/>
              </a:lnSpc>
              <a:buNone/>
            </a:pPr>
            <a:r>
              <a:rPr lang="en-US" sz="1150" dirty="0">
                <a:solidFill>
                  <a:srgbClr val="2B2B31"/>
                </a:solidFill>
                <a:latin typeface="Calibri" pitchFamily="34" charset="0"/>
                <a:ea typeface="Calibri" pitchFamily="34" charset="-122"/>
                <a:cs typeface="Calibri" pitchFamily="34" charset="-120"/>
              </a:rPr>
              <a:t>Marka hakkında bilgi toplama.</a:t>
            </a:r>
            <a:endParaRPr lang="en-US" sz="1150" dirty="0"/>
          </a:p>
        </p:txBody>
      </p:sp>
      <p:sp>
        <p:nvSpPr>
          <p:cNvPr id="11" name="Text 9"/>
          <p:cNvSpPr txBox="1"/>
          <p:nvPr/>
        </p:nvSpPr>
        <p:spPr>
          <a:xfrm>
            <a:off x="777240" y="4206240"/>
            <a:ext cx="2487168" cy="1234440"/>
          </a:xfrm>
          <a:prstGeom prst="rect">
            <a:avLst/>
          </a:prstGeom>
          <a:noFill/>
          <a:ln/>
        </p:spPr>
        <p:txBody>
          <a:bodyPr wrap="square" lIns="0" tIns="0" rIns="0" bIns="0" rtlCol="0" anchor="ctr"/>
          <a:lstStyle/>
          <a:p>
            <a:pPr indent="0" marL="0">
              <a:lnSpc>
                <a:spcPts val="1350"/>
              </a:lnSpc>
              <a:buNone/>
            </a:pPr>
            <a:r>
              <a:rPr lang="en-US" sz="1000" dirty="0">
                <a:solidFill>
                  <a:srgbClr val="7A7A82"/>
                </a:solidFill>
                <a:latin typeface="Calibri" pitchFamily="34" charset="0"/>
                <a:ea typeface="Calibri" pitchFamily="34" charset="-122"/>
                <a:cs typeface="Calibri" pitchFamily="34" charset="-120"/>
              </a:rPr>
              <a:t>web sitesi · ürün ve ambalaj · sosyal medya · basın · marka sahibiyle görüşme</a:t>
            </a:r>
            <a:endParaRPr lang="en-US" sz="1000" dirty="0"/>
          </a:p>
        </p:txBody>
      </p:sp>
      <p:sp>
        <p:nvSpPr>
          <p:cNvPr id="12" name="Text 10"/>
          <p:cNvSpPr txBox="1"/>
          <p:nvPr/>
        </p:nvSpPr>
        <p:spPr>
          <a:xfrm>
            <a:off x="3493008" y="2377440"/>
            <a:ext cx="2487168" cy="685800"/>
          </a:xfrm>
          <a:prstGeom prst="rect">
            <a:avLst/>
          </a:prstGeom>
          <a:noFill/>
          <a:ln/>
        </p:spPr>
        <p:txBody>
          <a:bodyPr wrap="square" lIns="0" tIns="0" rIns="0" bIns="0" rtlCol="0" anchor="ctr"/>
          <a:lstStyle/>
          <a:p>
            <a:pPr indent="0" marL="0">
              <a:buNone/>
            </a:pPr>
            <a:r>
              <a:rPr lang="en-US" sz="4600" b="1" dirty="0">
                <a:solidFill>
                  <a:srgbClr val="A6A6AC"/>
                </a:solidFill>
                <a:latin typeface="Cambria" pitchFamily="34" charset="0"/>
                <a:ea typeface="Cambria" pitchFamily="34" charset="-122"/>
                <a:cs typeface="Cambria" pitchFamily="34" charset="-120"/>
              </a:rPr>
              <a:t>2</a:t>
            </a:r>
            <a:endParaRPr lang="en-US" sz="4600" dirty="0"/>
          </a:p>
        </p:txBody>
      </p:sp>
      <p:sp>
        <p:nvSpPr>
          <p:cNvPr id="13" name="Shape 11"/>
          <p:cNvSpPr/>
          <p:nvPr/>
        </p:nvSpPr>
        <p:spPr>
          <a:xfrm>
            <a:off x="3493008" y="3163824"/>
            <a:ext cx="2212848" cy="0"/>
          </a:xfrm>
          <a:prstGeom prst="line">
            <a:avLst/>
          </a:prstGeom>
          <a:noFill/>
          <a:ln w="25400">
            <a:solidFill>
              <a:srgbClr val="7A7A82"/>
            </a:solidFill>
            <a:prstDash val="solid"/>
          </a:ln>
        </p:spPr>
      </p:sp>
      <p:sp>
        <p:nvSpPr>
          <p:cNvPr id="14" name="Shape 12"/>
          <p:cNvSpPr/>
          <p:nvPr/>
        </p:nvSpPr>
        <p:spPr>
          <a:xfrm>
            <a:off x="5669280" y="3163824"/>
            <a:ext cx="274320" cy="0"/>
          </a:xfrm>
          <a:prstGeom prst="line">
            <a:avLst/>
          </a:prstGeom>
          <a:noFill/>
          <a:ln w="25400">
            <a:solidFill>
              <a:srgbClr val="7A7A82"/>
            </a:solidFill>
            <a:prstDash val="solid"/>
            <a:tailEnd type="triangle"/>
          </a:ln>
        </p:spPr>
      </p:sp>
      <p:sp>
        <p:nvSpPr>
          <p:cNvPr id="15" name="Text 13"/>
          <p:cNvSpPr txBox="1"/>
          <p:nvPr/>
        </p:nvSpPr>
        <p:spPr>
          <a:xfrm>
            <a:off x="3493008" y="3291840"/>
            <a:ext cx="2487168" cy="347472"/>
          </a:xfrm>
          <a:prstGeom prst="rect">
            <a:avLst/>
          </a:prstGeom>
          <a:noFill/>
          <a:ln/>
        </p:spPr>
        <p:txBody>
          <a:bodyPr wrap="square" lIns="0" tIns="0" rIns="0" bIns="0" rtlCol="0" anchor="ctr"/>
          <a:lstStyle/>
          <a:p>
            <a:pPr indent="0" marL="0">
              <a:buNone/>
            </a:pPr>
            <a:r>
              <a:rPr lang="en-US" sz="1600" b="1" dirty="0">
                <a:solidFill>
                  <a:srgbClr val="16161A"/>
                </a:solidFill>
                <a:latin typeface="Cambria" pitchFamily="34" charset="0"/>
                <a:ea typeface="Cambria" pitchFamily="34" charset="-122"/>
                <a:cs typeface="Cambria" pitchFamily="34" charset="-120"/>
              </a:rPr>
              <a:t>Analiz</a:t>
            </a:r>
            <a:endParaRPr lang="en-US" sz="1600" dirty="0"/>
          </a:p>
        </p:txBody>
      </p:sp>
      <p:sp>
        <p:nvSpPr>
          <p:cNvPr id="16" name="Text 14"/>
          <p:cNvSpPr txBox="1"/>
          <p:nvPr/>
        </p:nvSpPr>
        <p:spPr>
          <a:xfrm>
            <a:off x="3493008" y="3675888"/>
            <a:ext cx="2487168" cy="502920"/>
          </a:xfrm>
          <a:prstGeom prst="rect">
            <a:avLst/>
          </a:prstGeom>
          <a:noFill/>
          <a:ln/>
        </p:spPr>
        <p:txBody>
          <a:bodyPr wrap="square" lIns="0" tIns="0" rIns="0" bIns="0" rtlCol="0" anchor="ctr"/>
          <a:lstStyle/>
          <a:p>
            <a:pPr indent="0" marL="0">
              <a:lnSpc>
                <a:spcPts val="1450"/>
              </a:lnSpc>
              <a:buNone/>
            </a:pPr>
            <a:r>
              <a:rPr lang="en-US" sz="1150" dirty="0">
                <a:solidFill>
                  <a:srgbClr val="2B2B31"/>
                </a:solidFill>
                <a:latin typeface="Calibri" pitchFamily="34" charset="0"/>
                <a:ea typeface="Calibri" pitchFamily="34" charset="-122"/>
                <a:cs typeface="Calibri" pitchFamily="34" charset="-120"/>
              </a:rPr>
              <a:t>Toplananın anlamlandırılması.</a:t>
            </a:r>
            <a:endParaRPr lang="en-US" sz="1150" dirty="0"/>
          </a:p>
        </p:txBody>
      </p:sp>
      <p:sp>
        <p:nvSpPr>
          <p:cNvPr id="17" name="Text 15"/>
          <p:cNvSpPr txBox="1"/>
          <p:nvPr/>
        </p:nvSpPr>
        <p:spPr>
          <a:xfrm>
            <a:off x="3493008" y="4206240"/>
            <a:ext cx="2487168" cy="1234440"/>
          </a:xfrm>
          <a:prstGeom prst="rect">
            <a:avLst/>
          </a:prstGeom>
          <a:noFill/>
          <a:ln/>
        </p:spPr>
        <p:txBody>
          <a:bodyPr wrap="square" lIns="0" tIns="0" rIns="0" bIns="0" rtlCol="0" anchor="ctr"/>
          <a:lstStyle/>
          <a:p>
            <a:pPr indent="0" marL="0">
              <a:lnSpc>
                <a:spcPts val="1350"/>
              </a:lnSpc>
              <a:buNone/>
            </a:pPr>
            <a:r>
              <a:rPr lang="en-US" sz="1000" dirty="0">
                <a:solidFill>
                  <a:srgbClr val="7A7A82"/>
                </a:solidFill>
                <a:latin typeface="Calibri" pitchFamily="34" charset="0"/>
                <a:ea typeface="Calibri" pitchFamily="34" charset="-122"/>
                <a:cs typeface="Calibri" pitchFamily="34" charset="-120"/>
              </a:rPr>
              <a:t>marka DNA'sı · hedef kitle · ürün · vizyon ve misyon · ihtiyaçlar</a:t>
            </a:r>
            <a:endParaRPr lang="en-US" sz="1000" dirty="0"/>
          </a:p>
        </p:txBody>
      </p:sp>
      <p:sp>
        <p:nvSpPr>
          <p:cNvPr id="18" name="Text 16"/>
          <p:cNvSpPr txBox="1"/>
          <p:nvPr/>
        </p:nvSpPr>
        <p:spPr>
          <a:xfrm>
            <a:off x="6208776" y="2377440"/>
            <a:ext cx="2487168" cy="685800"/>
          </a:xfrm>
          <a:prstGeom prst="rect">
            <a:avLst/>
          </a:prstGeom>
          <a:noFill/>
          <a:ln/>
        </p:spPr>
        <p:txBody>
          <a:bodyPr wrap="square" lIns="0" tIns="0" rIns="0" bIns="0" rtlCol="0" anchor="ctr"/>
          <a:lstStyle/>
          <a:p>
            <a:pPr indent="0" marL="0">
              <a:buNone/>
            </a:pPr>
            <a:r>
              <a:rPr lang="en-US" sz="4600" b="1" dirty="0">
                <a:solidFill>
                  <a:srgbClr val="8C3A2B"/>
                </a:solidFill>
                <a:latin typeface="Cambria" pitchFamily="34" charset="0"/>
                <a:ea typeface="Cambria" pitchFamily="34" charset="-122"/>
                <a:cs typeface="Cambria" pitchFamily="34" charset="-120"/>
              </a:rPr>
              <a:t>3</a:t>
            </a:r>
            <a:endParaRPr lang="en-US" sz="4600" dirty="0"/>
          </a:p>
        </p:txBody>
      </p:sp>
      <p:sp>
        <p:nvSpPr>
          <p:cNvPr id="19" name="Shape 17"/>
          <p:cNvSpPr/>
          <p:nvPr/>
        </p:nvSpPr>
        <p:spPr>
          <a:xfrm>
            <a:off x="6208776" y="3163824"/>
            <a:ext cx="2212848" cy="0"/>
          </a:xfrm>
          <a:prstGeom prst="line">
            <a:avLst/>
          </a:prstGeom>
          <a:noFill/>
          <a:ln w="25400">
            <a:solidFill>
              <a:srgbClr val="8C3A2B"/>
            </a:solidFill>
            <a:prstDash val="solid"/>
          </a:ln>
        </p:spPr>
      </p:sp>
      <p:sp>
        <p:nvSpPr>
          <p:cNvPr id="20" name="Shape 18"/>
          <p:cNvSpPr/>
          <p:nvPr/>
        </p:nvSpPr>
        <p:spPr>
          <a:xfrm>
            <a:off x="8385048" y="3163824"/>
            <a:ext cx="274320" cy="0"/>
          </a:xfrm>
          <a:prstGeom prst="line">
            <a:avLst/>
          </a:prstGeom>
          <a:noFill/>
          <a:ln w="25400">
            <a:solidFill>
              <a:srgbClr val="8C3A2B"/>
            </a:solidFill>
            <a:prstDash val="solid"/>
            <a:tailEnd type="triangle"/>
          </a:ln>
        </p:spPr>
      </p:sp>
      <p:sp>
        <p:nvSpPr>
          <p:cNvPr id="21" name="Text 19"/>
          <p:cNvSpPr txBox="1"/>
          <p:nvPr/>
        </p:nvSpPr>
        <p:spPr>
          <a:xfrm>
            <a:off x="6208776" y="3291840"/>
            <a:ext cx="2487168" cy="347472"/>
          </a:xfrm>
          <a:prstGeom prst="rect">
            <a:avLst/>
          </a:prstGeom>
          <a:noFill/>
          <a:ln/>
        </p:spPr>
        <p:txBody>
          <a:bodyPr wrap="square" lIns="0" tIns="0" rIns="0" bIns="0" rtlCol="0" anchor="ctr"/>
          <a:lstStyle/>
          <a:p>
            <a:pPr indent="0" marL="0">
              <a:buNone/>
            </a:pPr>
            <a:r>
              <a:rPr lang="en-US" sz="1600" b="1" dirty="0">
                <a:solidFill>
                  <a:srgbClr val="8C3A2B"/>
                </a:solidFill>
                <a:latin typeface="Cambria" pitchFamily="34" charset="0"/>
                <a:ea typeface="Cambria" pitchFamily="34" charset="-122"/>
                <a:cs typeface="Cambria" pitchFamily="34" charset="-120"/>
              </a:rPr>
              <a:t>Konsept geliştirme</a:t>
            </a:r>
            <a:endParaRPr lang="en-US" sz="1600" dirty="0"/>
          </a:p>
        </p:txBody>
      </p:sp>
      <p:sp>
        <p:nvSpPr>
          <p:cNvPr id="22" name="Text 20"/>
          <p:cNvSpPr txBox="1"/>
          <p:nvPr/>
        </p:nvSpPr>
        <p:spPr>
          <a:xfrm>
            <a:off x="6208776" y="3675888"/>
            <a:ext cx="2487168" cy="502920"/>
          </a:xfrm>
          <a:prstGeom prst="rect">
            <a:avLst/>
          </a:prstGeom>
          <a:noFill/>
          <a:ln/>
        </p:spPr>
        <p:txBody>
          <a:bodyPr wrap="square" lIns="0" tIns="0" rIns="0" bIns="0" rtlCol="0" anchor="ctr"/>
          <a:lstStyle/>
          <a:p>
            <a:pPr indent="0" marL="0">
              <a:lnSpc>
                <a:spcPts val="1450"/>
              </a:lnSpc>
              <a:buNone/>
            </a:pPr>
            <a:r>
              <a:rPr lang="en-US" sz="1150" dirty="0">
                <a:solidFill>
                  <a:srgbClr val="2B2B31"/>
                </a:solidFill>
                <a:latin typeface="Calibri" pitchFamily="34" charset="0"/>
                <a:ea typeface="Calibri" pitchFamily="34" charset="-122"/>
                <a:cs typeface="Calibri" pitchFamily="34" charset="-120"/>
              </a:rPr>
              <a:t>Analizin mekânsal fikre dönüşmesi.</a:t>
            </a:r>
            <a:endParaRPr lang="en-US" sz="1150" dirty="0"/>
          </a:p>
        </p:txBody>
      </p:sp>
      <p:sp>
        <p:nvSpPr>
          <p:cNvPr id="23" name="Text 21"/>
          <p:cNvSpPr txBox="1"/>
          <p:nvPr/>
        </p:nvSpPr>
        <p:spPr>
          <a:xfrm>
            <a:off x="6208776" y="4206240"/>
            <a:ext cx="2487168" cy="1234440"/>
          </a:xfrm>
          <a:prstGeom prst="rect">
            <a:avLst/>
          </a:prstGeom>
          <a:noFill/>
          <a:ln/>
        </p:spPr>
        <p:txBody>
          <a:bodyPr wrap="square" lIns="0" tIns="0" rIns="0" bIns="0" rtlCol="0" anchor="ctr"/>
          <a:lstStyle/>
          <a:p>
            <a:pPr indent="0" marL="0">
              <a:lnSpc>
                <a:spcPts val="1350"/>
              </a:lnSpc>
              <a:buNone/>
            </a:pPr>
            <a:r>
              <a:rPr lang="en-US" sz="1000" dirty="0">
                <a:solidFill>
                  <a:srgbClr val="7A7A82"/>
                </a:solidFill>
                <a:latin typeface="Calibri" pitchFamily="34" charset="0"/>
                <a:ea typeface="Calibri" pitchFamily="34" charset="-122"/>
                <a:cs typeface="Calibri" pitchFamily="34" charset="-120"/>
              </a:rPr>
              <a:t>anahtar kelimeler · trend araştırması · atmosfer çalışması · mekânsal planlama</a:t>
            </a:r>
            <a:endParaRPr lang="en-US" sz="1000" dirty="0"/>
          </a:p>
        </p:txBody>
      </p:sp>
      <p:sp>
        <p:nvSpPr>
          <p:cNvPr id="24" name="Text 22"/>
          <p:cNvSpPr txBox="1"/>
          <p:nvPr/>
        </p:nvSpPr>
        <p:spPr>
          <a:xfrm>
            <a:off x="8924544" y="2377440"/>
            <a:ext cx="2487168" cy="685800"/>
          </a:xfrm>
          <a:prstGeom prst="rect">
            <a:avLst/>
          </a:prstGeom>
          <a:noFill/>
          <a:ln/>
        </p:spPr>
        <p:txBody>
          <a:bodyPr wrap="square" lIns="0" tIns="0" rIns="0" bIns="0" rtlCol="0" anchor="ctr"/>
          <a:lstStyle/>
          <a:p>
            <a:pPr indent="0" marL="0">
              <a:buNone/>
            </a:pPr>
            <a:r>
              <a:rPr lang="en-US" sz="4600" b="1" dirty="0">
                <a:solidFill>
                  <a:srgbClr val="A6A6AC"/>
                </a:solidFill>
                <a:latin typeface="Cambria" pitchFamily="34" charset="0"/>
                <a:ea typeface="Cambria" pitchFamily="34" charset="-122"/>
                <a:cs typeface="Cambria" pitchFamily="34" charset="-120"/>
              </a:rPr>
              <a:t>4</a:t>
            </a:r>
            <a:endParaRPr lang="en-US" sz="4600" dirty="0"/>
          </a:p>
        </p:txBody>
      </p:sp>
      <p:sp>
        <p:nvSpPr>
          <p:cNvPr id="25" name="Shape 23"/>
          <p:cNvSpPr/>
          <p:nvPr/>
        </p:nvSpPr>
        <p:spPr>
          <a:xfrm>
            <a:off x="8924544" y="3163824"/>
            <a:ext cx="2212848" cy="0"/>
          </a:xfrm>
          <a:prstGeom prst="line">
            <a:avLst/>
          </a:prstGeom>
          <a:noFill/>
          <a:ln w="25400">
            <a:solidFill>
              <a:srgbClr val="7A7A82"/>
            </a:solidFill>
            <a:prstDash val="solid"/>
          </a:ln>
        </p:spPr>
      </p:sp>
      <p:sp>
        <p:nvSpPr>
          <p:cNvPr id="26" name="Shape 24"/>
          <p:cNvSpPr/>
          <p:nvPr/>
        </p:nvSpPr>
        <p:spPr>
          <a:xfrm>
            <a:off x="11100816" y="3163824"/>
            <a:ext cx="274320" cy="0"/>
          </a:xfrm>
          <a:prstGeom prst="line">
            <a:avLst/>
          </a:prstGeom>
          <a:noFill/>
          <a:ln w="25400">
            <a:solidFill>
              <a:srgbClr val="7A7A82"/>
            </a:solidFill>
            <a:prstDash val="solid"/>
            <a:tailEnd type="triangle"/>
          </a:ln>
        </p:spPr>
      </p:sp>
      <p:sp>
        <p:nvSpPr>
          <p:cNvPr id="27" name="Text 25"/>
          <p:cNvSpPr txBox="1"/>
          <p:nvPr/>
        </p:nvSpPr>
        <p:spPr>
          <a:xfrm>
            <a:off x="8924544" y="3291840"/>
            <a:ext cx="2487168" cy="347472"/>
          </a:xfrm>
          <a:prstGeom prst="rect">
            <a:avLst/>
          </a:prstGeom>
          <a:noFill/>
          <a:ln/>
        </p:spPr>
        <p:txBody>
          <a:bodyPr wrap="square" lIns="0" tIns="0" rIns="0" bIns="0" rtlCol="0" anchor="ctr"/>
          <a:lstStyle/>
          <a:p>
            <a:pPr indent="0" marL="0">
              <a:buNone/>
            </a:pPr>
            <a:r>
              <a:rPr lang="en-US" sz="1600" b="1" dirty="0">
                <a:solidFill>
                  <a:srgbClr val="16161A"/>
                </a:solidFill>
                <a:latin typeface="Cambria" pitchFamily="34" charset="0"/>
                <a:ea typeface="Cambria" pitchFamily="34" charset="-122"/>
                <a:cs typeface="Cambria" pitchFamily="34" charset="-120"/>
              </a:rPr>
              <a:t>Sunum</a:t>
            </a:r>
            <a:endParaRPr lang="en-US" sz="1600" dirty="0"/>
          </a:p>
        </p:txBody>
      </p:sp>
      <p:sp>
        <p:nvSpPr>
          <p:cNvPr id="28" name="Text 26"/>
          <p:cNvSpPr txBox="1"/>
          <p:nvPr/>
        </p:nvSpPr>
        <p:spPr>
          <a:xfrm>
            <a:off x="8924544" y="3675888"/>
            <a:ext cx="2487168" cy="502920"/>
          </a:xfrm>
          <a:prstGeom prst="rect">
            <a:avLst/>
          </a:prstGeom>
          <a:noFill/>
          <a:ln/>
        </p:spPr>
        <p:txBody>
          <a:bodyPr wrap="square" lIns="0" tIns="0" rIns="0" bIns="0" rtlCol="0" anchor="ctr"/>
          <a:lstStyle/>
          <a:p>
            <a:pPr indent="0" marL="0">
              <a:lnSpc>
                <a:spcPts val="1450"/>
              </a:lnSpc>
              <a:buNone/>
            </a:pPr>
            <a:r>
              <a:rPr lang="en-US" sz="1150" dirty="0">
                <a:solidFill>
                  <a:srgbClr val="2B2B31"/>
                </a:solidFill>
                <a:latin typeface="Calibri" pitchFamily="34" charset="0"/>
                <a:ea typeface="Calibri" pitchFamily="34" charset="-122"/>
                <a:cs typeface="Calibri" pitchFamily="34" charset="-120"/>
              </a:rPr>
              <a:t>Fikrin anlatılabilir hâle gelmesi.</a:t>
            </a:r>
            <a:endParaRPr lang="en-US" sz="1150" dirty="0"/>
          </a:p>
        </p:txBody>
      </p:sp>
      <p:sp>
        <p:nvSpPr>
          <p:cNvPr id="29" name="Text 27"/>
          <p:cNvSpPr txBox="1"/>
          <p:nvPr/>
        </p:nvSpPr>
        <p:spPr>
          <a:xfrm>
            <a:off x="8924544" y="4206240"/>
            <a:ext cx="2487168" cy="1234440"/>
          </a:xfrm>
          <a:prstGeom prst="rect">
            <a:avLst/>
          </a:prstGeom>
          <a:noFill/>
          <a:ln/>
        </p:spPr>
        <p:txBody>
          <a:bodyPr wrap="square" lIns="0" tIns="0" rIns="0" bIns="0" rtlCol="0" anchor="ctr"/>
          <a:lstStyle/>
          <a:p>
            <a:pPr indent="0" marL="0">
              <a:lnSpc>
                <a:spcPts val="1350"/>
              </a:lnSpc>
              <a:buNone/>
            </a:pPr>
            <a:r>
              <a:rPr lang="en-US" sz="1000" dirty="0">
                <a:solidFill>
                  <a:srgbClr val="7A7A82"/>
                </a:solidFill>
                <a:latin typeface="Calibri" pitchFamily="34" charset="0"/>
                <a:ea typeface="Calibri" pitchFamily="34" charset="-122"/>
                <a:cs typeface="Calibri" pitchFamily="34" charset="-120"/>
              </a:rPr>
              <a:t>konsept görselleştirmesi · kavramsal ve mekânsal planlar · anlatı</a:t>
            </a:r>
            <a:endParaRPr lang="en-US" sz="1000" dirty="0"/>
          </a:p>
        </p:txBody>
      </p:sp>
      <p:sp>
        <p:nvSpPr>
          <p:cNvPr id="30" name="Text 28"/>
          <p:cNvSpPr txBox="1"/>
          <p:nvPr/>
        </p:nvSpPr>
        <p:spPr>
          <a:xfrm>
            <a:off x="777240" y="5623560"/>
            <a:ext cx="10424160" cy="411480"/>
          </a:xfrm>
          <a:prstGeom prst="rect">
            <a:avLst/>
          </a:prstGeom>
          <a:noFill/>
          <a:ln/>
        </p:spPr>
        <p:txBody>
          <a:bodyPr wrap="square" lIns="0" tIns="0" rIns="0" bIns="0" rtlCol="0" anchor="ctr"/>
          <a:lstStyle/>
          <a:p>
            <a:pPr algn="l" indent="0" marL="0">
              <a:lnSpc>
                <a:spcPts val="1200"/>
              </a:lnSpc>
              <a:buNone/>
            </a:pPr>
            <a:r>
              <a:rPr lang="en-US" sz="1300" i="1" dirty="0">
                <a:solidFill>
                  <a:srgbClr val="8C3A2B"/>
                </a:solidFill>
                <a:latin typeface="Cambria" pitchFamily="34" charset="0"/>
                <a:ea typeface="Cambria" pitchFamily="34" charset="-122"/>
                <a:cs typeface="Cambria" pitchFamily="34" charset="-120"/>
              </a:rPr>
              <a:t>Üçüncü adım vurgulu: analizle tasarım arasındaki köprü burada kurulur, ve genellikle burada kopar.</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CFCFA"/>
        </a:solidFill>
      </p:bgPr>
    </p:bg>
    <p:spTree>
      <p:nvGrpSpPr>
        <p:cNvPr id="1" name=""/>
        <p:cNvGrpSpPr/>
        <p:nvPr/>
      </p:nvGrpSpPr>
      <p:grpSpPr>
        <a:xfrm>
          <a:off x="0" y="0"/>
          <a:ext cx="0" cy="0"/>
          <a:chOff x="0" y="0"/>
          <a:chExt cx="0" cy="0"/>
        </a:xfrm>
      </p:grpSpPr>
      <p:sp>
        <p:nvSpPr>
          <p:cNvPr id="2" name="Text 0"/>
          <p:cNvSpPr txBox="1"/>
          <p:nvPr/>
        </p:nvSpPr>
        <p:spPr>
          <a:xfrm>
            <a:off x="777240" y="475488"/>
            <a:ext cx="9601200" cy="237744"/>
          </a:xfrm>
          <a:prstGeom prst="rect">
            <a:avLst/>
          </a:prstGeom>
          <a:noFill/>
          <a:ln/>
        </p:spPr>
        <p:txBody>
          <a:bodyPr wrap="square" lIns="0" tIns="0" rIns="0" bIns="0" rtlCol="0" anchor="ctr"/>
          <a:lstStyle/>
          <a:p>
            <a:pPr indent="0" marL="0">
              <a:buNone/>
            </a:pPr>
            <a:r>
              <a:rPr lang="en-US" sz="950" b="1" spc="260" kern="0" dirty="0">
                <a:solidFill>
                  <a:srgbClr val="7A7A82"/>
                </a:solidFill>
                <a:latin typeface="Calibri" pitchFamily="34" charset="0"/>
                <a:ea typeface="Calibri" pitchFamily="34" charset="-122"/>
                <a:cs typeface="Calibri" pitchFamily="34" charset="-120"/>
              </a:rPr>
              <a:t>III · MARKA VE MEKÂN</a:t>
            </a:r>
            <a:endParaRPr lang="en-US" sz="950" dirty="0"/>
          </a:p>
        </p:txBody>
      </p:sp>
      <p:sp>
        <p:nvSpPr>
          <p:cNvPr id="3" name="Text 1"/>
          <p:cNvSpPr txBox="1"/>
          <p:nvPr/>
        </p:nvSpPr>
        <p:spPr>
          <a:xfrm>
            <a:off x="777240" y="822960"/>
            <a:ext cx="10424160" cy="731520"/>
          </a:xfrm>
          <a:prstGeom prst="rect">
            <a:avLst/>
          </a:prstGeom>
          <a:noFill/>
          <a:ln/>
        </p:spPr>
        <p:txBody>
          <a:bodyPr wrap="square" lIns="0" tIns="0" rIns="0" bIns="0" rtlCol="0" anchor="ctr"/>
          <a:lstStyle/>
          <a:p>
            <a:pPr indent="0" marL="0">
              <a:lnSpc>
                <a:spcPts val="3400"/>
              </a:lnSpc>
              <a:buNone/>
            </a:pPr>
            <a:r>
              <a:rPr lang="en-US" sz="2900" b="1" dirty="0">
                <a:solidFill>
                  <a:srgbClr val="16161A"/>
                </a:solidFill>
                <a:latin typeface="Cambria" pitchFamily="34" charset="0"/>
                <a:ea typeface="Cambria" pitchFamily="34" charset="-122"/>
                <a:cs typeface="Cambria" pitchFamily="34" charset="-120"/>
              </a:rPr>
              <a:t>Anahtar kelimeler nasıl çıkarılır?</a:t>
            </a:r>
            <a:endParaRPr lang="en-US" sz="2900" dirty="0"/>
          </a:p>
        </p:txBody>
      </p:sp>
      <p:sp>
        <p:nvSpPr>
          <p:cNvPr id="4" name="Text 2"/>
          <p:cNvSpPr txBox="1"/>
          <p:nvPr/>
        </p:nvSpPr>
        <p:spPr>
          <a:xfrm>
            <a:off x="10972800" y="6355080"/>
            <a:ext cx="438912" cy="237744"/>
          </a:xfrm>
          <a:prstGeom prst="rect">
            <a:avLst/>
          </a:prstGeom>
          <a:noFill/>
          <a:ln/>
        </p:spPr>
        <p:txBody>
          <a:bodyPr wrap="square" lIns="0" tIns="0" rIns="0" bIns="0" rtlCol="0" anchor="ctr"/>
          <a:lstStyle/>
          <a:p>
            <a:pPr algn="r" indent="0" marL="0">
              <a:buNone/>
            </a:pPr>
            <a:r>
              <a:rPr lang="en-US" sz="950" dirty="0">
                <a:solidFill>
                  <a:srgbClr val="A6A6AC"/>
                </a:solidFill>
                <a:latin typeface="Calibri" pitchFamily="34" charset="0"/>
                <a:ea typeface="Calibri" pitchFamily="34" charset="-122"/>
                <a:cs typeface="Calibri" pitchFamily="34" charset="-120"/>
              </a:rPr>
              <a:t>15</a:t>
            </a:r>
            <a:endParaRPr lang="en-US" sz="950" dirty="0"/>
          </a:p>
        </p:txBody>
      </p:sp>
      <p:sp>
        <p:nvSpPr>
          <p:cNvPr id="5" name="Text 3"/>
          <p:cNvSpPr txBox="1"/>
          <p:nvPr/>
        </p:nvSpPr>
        <p:spPr>
          <a:xfrm>
            <a:off x="777240" y="1609344"/>
            <a:ext cx="10634472" cy="548640"/>
          </a:xfrm>
          <a:prstGeom prst="rect">
            <a:avLst/>
          </a:prstGeom>
          <a:noFill/>
          <a:ln/>
        </p:spPr>
        <p:txBody>
          <a:bodyPr wrap="square" lIns="0" tIns="0" rIns="0" bIns="0" rtlCol="0" anchor="ctr"/>
          <a:lstStyle/>
          <a:p>
            <a:pPr indent="0" marL="0">
              <a:lnSpc>
                <a:spcPts val="2300"/>
              </a:lnSpc>
              <a:buNone/>
            </a:pPr>
            <a:r>
              <a:rPr lang="en-US" sz="1500" dirty="0">
                <a:solidFill>
                  <a:srgbClr val="2B2B31"/>
                </a:solidFill>
                <a:latin typeface="Cambria" pitchFamily="34" charset="0"/>
                <a:ea typeface="Cambria" pitchFamily="34" charset="-122"/>
                <a:cs typeface="Cambria" pitchFamily="34" charset="-120"/>
              </a:rPr>
              <a:t>Anahtar kelime, marka analizini tasarım kararına bağlayan ara durakdır. Analizden doğrudan plana geçilemez; arada kelimeye dönüşmesi gerekir.</a:t>
            </a:r>
            <a:endParaRPr lang="en-US" sz="1500" dirty="0"/>
          </a:p>
        </p:txBody>
      </p:sp>
      <p:sp>
        <p:nvSpPr>
          <p:cNvPr id="6" name="Shape 4"/>
          <p:cNvSpPr/>
          <p:nvPr/>
        </p:nvSpPr>
        <p:spPr>
          <a:xfrm>
            <a:off x="777240" y="2286000"/>
            <a:ext cx="2487168" cy="2377440"/>
          </a:xfrm>
          <a:prstGeom prst="rect">
            <a:avLst/>
          </a:prstGeom>
          <a:ln w="9525">
            <a:solidFill>
              <a:srgbClr val="C9C9CF"/>
            </a:solidFill>
            <a:prstDash val="solid"/>
          </a:ln>
        </p:spPr>
      </p:sp>
      <p:sp>
        <p:nvSpPr>
          <p:cNvPr id="7" name="Text 5"/>
          <p:cNvSpPr txBox="1"/>
          <p:nvPr/>
        </p:nvSpPr>
        <p:spPr>
          <a:xfrm>
            <a:off x="960120" y="2487168"/>
            <a:ext cx="2121408" cy="457200"/>
          </a:xfrm>
          <a:prstGeom prst="rect">
            <a:avLst/>
          </a:prstGeom>
          <a:noFill/>
          <a:ln/>
        </p:spPr>
        <p:txBody>
          <a:bodyPr wrap="square" lIns="0" tIns="0" rIns="0" bIns="0" rtlCol="0" anchor="ctr"/>
          <a:lstStyle/>
          <a:p>
            <a:pPr indent="0" marL="0">
              <a:lnSpc>
                <a:spcPts val="1200"/>
              </a:lnSpc>
              <a:buNone/>
            </a:pPr>
            <a:r>
              <a:rPr lang="en-US" sz="950" b="1" spc="120" kern="0" dirty="0">
                <a:solidFill>
                  <a:srgbClr val="16161A"/>
                </a:solidFill>
                <a:latin typeface="Calibri" pitchFamily="34" charset="0"/>
                <a:ea typeface="Calibri" pitchFamily="34" charset="-122"/>
                <a:cs typeface="Calibri" pitchFamily="34" charset="-120"/>
              </a:rPr>
              <a:t>KAYNAKLAR</a:t>
            </a:r>
            <a:endParaRPr lang="en-US" sz="950" dirty="0"/>
          </a:p>
        </p:txBody>
      </p:sp>
      <p:sp>
        <p:nvSpPr>
          <p:cNvPr id="8" name="Text 6"/>
          <p:cNvSpPr txBox="1"/>
          <p:nvPr/>
        </p:nvSpPr>
        <p:spPr>
          <a:xfrm>
            <a:off x="960120" y="2944368"/>
            <a:ext cx="2121408" cy="420624"/>
          </a:xfrm>
          <a:prstGeom prst="rect">
            <a:avLst/>
          </a:prstGeom>
          <a:noFill/>
          <a:ln/>
        </p:spPr>
        <p:txBody>
          <a:bodyPr wrap="square" lIns="0" tIns="0" rIns="0" bIns="0" rtlCol="0" anchor="ctr"/>
          <a:lstStyle/>
          <a:p>
            <a:pPr indent="0" marL="0">
              <a:lnSpc>
                <a:spcPts val="1600"/>
              </a:lnSpc>
              <a:buNone/>
            </a:pPr>
            <a:r>
              <a:rPr lang="en-US" sz="1250" i="1" dirty="0">
                <a:solidFill>
                  <a:srgbClr val="7A7A82"/>
                </a:solidFill>
                <a:latin typeface="Cambria" pitchFamily="34" charset="0"/>
                <a:ea typeface="Cambria" pitchFamily="34" charset="-122"/>
                <a:cs typeface="Cambria" pitchFamily="34" charset="-120"/>
              </a:rPr>
              <a:t>Markanın kendi ürettiği her şey</a:t>
            </a:r>
            <a:endParaRPr lang="en-US" sz="1250" dirty="0"/>
          </a:p>
        </p:txBody>
      </p:sp>
      <p:sp>
        <p:nvSpPr>
          <p:cNvPr id="9" name="Text 7"/>
          <p:cNvSpPr txBox="1"/>
          <p:nvPr/>
        </p:nvSpPr>
        <p:spPr>
          <a:xfrm>
            <a:off x="960120" y="3383280"/>
            <a:ext cx="2121408" cy="1170432"/>
          </a:xfrm>
          <a:prstGeom prst="rect">
            <a:avLst/>
          </a:prstGeom>
          <a:noFill/>
          <a:ln/>
        </p:spPr>
        <p:txBody>
          <a:bodyPr wrap="square" lIns="0" tIns="0" rIns="0" bIns="0" rtlCol="0" anchor="ctr"/>
          <a:lstStyle/>
          <a:p>
            <a:pPr indent="0" marL="0">
              <a:lnSpc>
                <a:spcPts val="1350"/>
              </a:lnSpc>
              <a:buNone/>
            </a:pPr>
            <a:r>
              <a:rPr lang="en-US" sz="1000" dirty="0">
                <a:solidFill>
                  <a:srgbClr val="2B2B31"/>
                </a:solidFill>
                <a:latin typeface="Calibri" pitchFamily="34" charset="0"/>
                <a:ea typeface="Calibri" pitchFamily="34" charset="-122"/>
                <a:cs typeface="Calibri" pitchFamily="34" charset="-120"/>
              </a:rPr>
              <a:t>web sitesi metinleri</a:t>
            </a:r>
            <a:endParaRPr lang="en-US" sz="1000" dirty="0"/>
          </a:p>
          <a:p>
            <a:pPr indent="0" marL="0">
              <a:lnSpc>
                <a:spcPts val="1350"/>
              </a:lnSpc>
              <a:buNone/>
            </a:pPr>
            <a:r>
              <a:rPr lang="en-US" sz="1000" dirty="0">
                <a:solidFill>
                  <a:srgbClr val="2B2B31"/>
                </a:solidFill>
                <a:latin typeface="Calibri" pitchFamily="34" charset="0"/>
                <a:ea typeface="Calibri" pitchFamily="34" charset="-122"/>
                <a:cs typeface="Calibri" pitchFamily="34" charset="-120"/>
              </a:rPr>
              <a:t>ürün ve ambalaj</a:t>
            </a:r>
            <a:endParaRPr lang="en-US" sz="1000" dirty="0"/>
          </a:p>
          <a:p>
            <a:pPr indent="0" marL="0">
              <a:lnSpc>
                <a:spcPts val="1350"/>
              </a:lnSpc>
              <a:buNone/>
            </a:pPr>
            <a:r>
              <a:rPr lang="en-US" sz="1000" dirty="0">
                <a:solidFill>
                  <a:srgbClr val="2B2B31"/>
                </a:solidFill>
                <a:latin typeface="Calibri" pitchFamily="34" charset="0"/>
                <a:ea typeface="Calibri" pitchFamily="34" charset="-122"/>
                <a:cs typeface="Calibri" pitchFamily="34" charset="-120"/>
              </a:rPr>
              <a:t>sosyal medya dili</a:t>
            </a:r>
            <a:endParaRPr lang="en-US" sz="1000" dirty="0"/>
          </a:p>
          <a:p>
            <a:pPr indent="0" marL="0">
              <a:lnSpc>
                <a:spcPts val="1350"/>
              </a:lnSpc>
              <a:buNone/>
            </a:pPr>
            <a:r>
              <a:rPr lang="en-US" sz="1000" dirty="0">
                <a:solidFill>
                  <a:srgbClr val="2B2B31"/>
                </a:solidFill>
                <a:latin typeface="Calibri" pitchFamily="34" charset="0"/>
                <a:ea typeface="Calibri" pitchFamily="34" charset="-122"/>
                <a:cs typeface="Calibri" pitchFamily="34" charset="-120"/>
              </a:rPr>
              <a:t>müşteri yorumları</a:t>
            </a:r>
            <a:endParaRPr lang="en-US" sz="1000" dirty="0"/>
          </a:p>
          <a:p>
            <a:pPr indent="0" marL="0">
              <a:lnSpc>
                <a:spcPts val="1350"/>
              </a:lnSpc>
              <a:buNone/>
            </a:pPr>
            <a:r>
              <a:rPr lang="en-US" sz="1000" dirty="0">
                <a:solidFill>
                  <a:srgbClr val="2B2B31"/>
                </a:solidFill>
                <a:latin typeface="Calibri" pitchFamily="34" charset="0"/>
                <a:ea typeface="Calibri" pitchFamily="34" charset="-122"/>
                <a:cs typeface="Calibri" pitchFamily="34" charset="-120"/>
              </a:rPr>
              <a:t>marka sahibiyle görüşme</a:t>
            </a:r>
            <a:endParaRPr lang="en-US" sz="1000" dirty="0"/>
          </a:p>
          <a:p>
            <a:pPr indent="0" marL="0">
              <a:lnSpc>
                <a:spcPts val="1350"/>
              </a:lnSpc>
              <a:buNone/>
            </a:pPr>
            <a:r>
              <a:rPr lang="en-US" sz="1000" dirty="0">
                <a:solidFill>
                  <a:srgbClr val="2B2B31"/>
                </a:solidFill>
                <a:latin typeface="Calibri" pitchFamily="34" charset="0"/>
                <a:ea typeface="Calibri" pitchFamily="34" charset="-122"/>
                <a:cs typeface="Calibri" pitchFamily="34" charset="-120"/>
              </a:rPr>
              <a:t>rakiplerin dili</a:t>
            </a:r>
            <a:endParaRPr lang="en-US" sz="1000" dirty="0"/>
          </a:p>
        </p:txBody>
      </p:sp>
      <p:sp>
        <p:nvSpPr>
          <p:cNvPr id="10" name="Shape 8"/>
          <p:cNvSpPr/>
          <p:nvPr/>
        </p:nvSpPr>
        <p:spPr>
          <a:xfrm>
            <a:off x="3291840" y="3474720"/>
            <a:ext cx="173736" cy="0"/>
          </a:xfrm>
          <a:prstGeom prst="line">
            <a:avLst/>
          </a:prstGeom>
          <a:noFill/>
          <a:ln w="19050">
            <a:solidFill>
              <a:srgbClr val="8C3A2B"/>
            </a:solidFill>
            <a:prstDash val="solid"/>
            <a:tailEnd type="triangle"/>
          </a:ln>
        </p:spPr>
      </p:sp>
      <p:sp>
        <p:nvSpPr>
          <p:cNvPr id="11" name="Shape 9"/>
          <p:cNvSpPr/>
          <p:nvPr/>
        </p:nvSpPr>
        <p:spPr>
          <a:xfrm>
            <a:off x="3493008" y="2286000"/>
            <a:ext cx="2487168" cy="2377440"/>
          </a:xfrm>
          <a:prstGeom prst="rect">
            <a:avLst/>
          </a:prstGeom>
          <a:ln w="9525">
            <a:solidFill>
              <a:srgbClr val="C9C9CF"/>
            </a:solidFill>
            <a:prstDash val="solid"/>
          </a:ln>
        </p:spPr>
      </p:sp>
      <p:sp>
        <p:nvSpPr>
          <p:cNvPr id="12" name="Text 10"/>
          <p:cNvSpPr txBox="1"/>
          <p:nvPr/>
        </p:nvSpPr>
        <p:spPr>
          <a:xfrm>
            <a:off x="3675888" y="2487168"/>
            <a:ext cx="2121408" cy="457200"/>
          </a:xfrm>
          <a:prstGeom prst="rect">
            <a:avLst/>
          </a:prstGeom>
          <a:noFill/>
          <a:ln/>
        </p:spPr>
        <p:txBody>
          <a:bodyPr wrap="square" lIns="0" tIns="0" rIns="0" bIns="0" rtlCol="0" anchor="ctr"/>
          <a:lstStyle/>
          <a:p>
            <a:pPr indent="0" marL="0">
              <a:lnSpc>
                <a:spcPts val="1200"/>
              </a:lnSpc>
              <a:buNone/>
            </a:pPr>
            <a:r>
              <a:rPr lang="en-US" sz="950" b="1" spc="120" kern="0" dirty="0">
                <a:solidFill>
                  <a:srgbClr val="16161A"/>
                </a:solidFill>
                <a:latin typeface="Calibri" pitchFamily="34" charset="0"/>
                <a:ea typeface="Calibri" pitchFamily="34" charset="-122"/>
                <a:cs typeface="Calibri" pitchFamily="34" charset="-120"/>
              </a:rPr>
              <a:t>HAM KELİME HAVUZU</a:t>
            </a:r>
            <a:endParaRPr lang="en-US" sz="950" dirty="0"/>
          </a:p>
        </p:txBody>
      </p:sp>
      <p:sp>
        <p:nvSpPr>
          <p:cNvPr id="13" name="Text 11"/>
          <p:cNvSpPr txBox="1"/>
          <p:nvPr/>
        </p:nvSpPr>
        <p:spPr>
          <a:xfrm>
            <a:off x="3675888" y="2944368"/>
            <a:ext cx="2121408" cy="420624"/>
          </a:xfrm>
          <a:prstGeom prst="rect">
            <a:avLst/>
          </a:prstGeom>
          <a:noFill/>
          <a:ln/>
        </p:spPr>
        <p:txBody>
          <a:bodyPr wrap="square" lIns="0" tIns="0" rIns="0" bIns="0" rtlCol="0" anchor="ctr"/>
          <a:lstStyle/>
          <a:p>
            <a:pPr indent="0" marL="0">
              <a:lnSpc>
                <a:spcPts val="1600"/>
              </a:lnSpc>
              <a:buNone/>
            </a:pPr>
            <a:r>
              <a:rPr lang="en-US" sz="1250" i="1" dirty="0">
                <a:solidFill>
                  <a:srgbClr val="7A7A82"/>
                </a:solidFill>
                <a:latin typeface="Cambria" pitchFamily="34" charset="0"/>
                <a:ea typeface="Cambria" pitchFamily="34" charset="-122"/>
                <a:cs typeface="Cambria" pitchFamily="34" charset="-120"/>
              </a:rPr>
              <a:t>Otuz–elli kelime</a:t>
            </a:r>
            <a:endParaRPr lang="en-US" sz="1250" dirty="0"/>
          </a:p>
        </p:txBody>
      </p:sp>
      <p:sp>
        <p:nvSpPr>
          <p:cNvPr id="14" name="Text 12"/>
          <p:cNvSpPr txBox="1"/>
          <p:nvPr/>
        </p:nvSpPr>
        <p:spPr>
          <a:xfrm>
            <a:off x="3675888" y="3383280"/>
            <a:ext cx="2121408" cy="1170432"/>
          </a:xfrm>
          <a:prstGeom prst="rect">
            <a:avLst/>
          </a:prstGeom>
          <a:noFill/>
          <a:ln/>
        </p:spPr>
        <p:txBody>
          <a:bodyPr wrap="square" lIns="0" tIns="0" rIns="0" bIns="0" rtlCol="0" anchor="ctr"/>
          <a:lstStyle/>
          <a:p>
            <a:pPr indent="0" marL="0">
              <a:lnSpc>
                <a:spcPts val="1350"/>
              </a:lnSpc>
              <a:buNone/>
            </a:pPr>
            <a:r>
              <a:rPr lang="en-US" sz="1000" dirty="0">
                <a:solidFill>
                  <a:srgbClr val="2B2B31"/>
                </a:solidFill>
                <a:latin typeface="Calibri" pitchFamily="34" charset="0"/>
                <a:ea typeface="Calibri" pitchFamily="34" charset="-122"/>
                <a:cs typeface="Calibri" pitchFamily="34" charset="-120"/>
              </a:rPr>
              <a:t>sıfat, fiil ve nesne adı</a:t>
            </a:r>
            <a:endParaRPr lang="en-US" sz="1000" dirty="0"/>
          </a:p>
          <a:p>
            <a:pPr indent="0" marL="0">
              <a:lnSpc>
                <a:spcPts val="1350"/>
              </a:lnSpc>
              <a:buNone/>
            </a:pPr>
            <a:r>
              <a:rPr lang="en-US" sz="1000" dirty="0">
                <a:solidFill>
                  <a:srgbClr val="2B2B31"/>
                </a:solidFill>
                <a:latin typeface="Calibri" pitchFamily="34" charset="0"/>
                <a:ea typeface="Calibri" pitchFamily="34" charset="-122"/>
                <a:cs typeface="Calibri" pitchFamily="34" charset="-120"/>
              </a:rPr>
              <a:t>hepsini yaz, hiçbirini eleme</a:t>
            </a:r>
            <a:endParaRPr lang="en-US" sz="1000" dirty="0"/>
          </a:p>
          <a:p>
            <a:pPr indent="0" marL="0">
              <a:lnSpc>
                <a:spcPts val="1350"/>
              </a:lnSpc>
              <a:buNone/>
            </a:pPr>
            <a:r>
              <a:rPr lang="en-US" sz="1000" dirty="0">
                <a:solidFill>
                  <a:srgbClr val="2B2B31"/>
                </a:solidFill>
                <a:latin typeface="Calibri" pitchFamily="34" charset="0"/>
                <a:ea typeface="Calibri" pitchFamily="34" charset="-122"/>
                <a:cs typeface="Calibri" pitchFamily="34" charset="-120"/>
              </a:rPr>
              <a:t>tekrar edenleri işaretle</a:t>
            </a:r>
            <a:endParaRPr lang="en-US" sz="1000" dirty="0"/>
          </a:p>
        </p:txBody>
      </p:sp>
      <p:sp>
        <p:nvSpPr>
          <p:cNvPr id="15" name="Shape 13"/>
          <p:cNvSpPr/>
          <p:nvPr/>
        </p:nvSpPr>
        <p:spPr>
          <a:xfrm>
            <a:off x="6007608" y="3474720"/>
            <a:ext cx="173736" cy="0"/>
          </a:xfrm>
          <a:prstGeom prst="line">
            <a:avLst/>
          </a:prstGeom>
          <a:noFill/>
          <a:ln w="19050">
            <a:solidFill>
              <a:srgbClr val="8C3A2B"/>
            </a:solidFill>
            <a:prstDash val="solid"/>
            <a:tailEnd type="triangle"/>
          </a:ln>
        </p:spPr>
      </p:sp>
      <p:sp>
        <p:nvSpPr>
          <p:cNvPr id="16" name="Shape 14"/>
          <p:cNvSpPr/>
          <p:nvPr/>
        </p:nvSpPr>
        <p:spPr>
          <a:xfrm>
            <a:off x="6208776" y="2286000"/>
            <a:ext cx="2487168" cy="2377440"/>
          </a:xfrm>
          <a:prstGeom prst="rect">
            <a:avLst/>
          </a:prstGeom>
          <a:ln w="9525">
            <a:solidFill>
              <a:srgbClr val="C9C9CF"/>
            </a:solidFill>
            <a:prstDash val="solid"/>
          </a:ln>
        </p:spPr>
      </p:sp>
      <p:sp>
        <p:nvSpPr>
          <p:cNvPr id="17" name="Text 15"/>
          <p:cNvSpPr txBox="1"/>
          <p:nvPr/>
        </p:nvSpPr>
        <p:spPr>
          <a:xfrm>
            <a:off x="6391656" y="2487168"/>
            <a:ext cx="2121408" cy="457200"/>
          </a:xfrm>
          <a:prstGeom prst="rect">
            <a:avLst/>
          </a:prstGeom>
          <a:noFill/>
          <a:ln/>
        </p:spPr>
        <p:txBody>
          <a:bodyPr wrap="square" lIns="0" tIns="0" rIns="0" bIns="0" rtlCol="0" anchor="ctr"/>
          <a:lstStyle/>
          <a:p>
            <a:pPr indent="0" marL="0">
              <a:lnSpc>
                <a:spcPts val="1200"/>
              </a:lnSpc>
              <a:buNone/>
            </a:pPr>
            <a:r>
              <a:rPr lang="en-US" sz="950" b="1" spc="120" kern="0" dirty="0">
                <a:solidFill>
                  <a:srgbClr val="16161A"/>
                </a:solidFill>
                <a:latin typeface="Calibri" pitchFamily="34" charset="0"/>
                <a:ea typeface="Calibri" pitchFamily="34" charset="-122"/>
                <a:cs typeface="Calibri" pitchFamily="34" charset="-120"/>
              </a:rPr>
              <a:t>GRUPLAMA</a:t>
            </a:r>
            <a:endParaRPr lang="en-US" sz="950" dirty="0"/>
          </a:p>
        </p:txBody>
      </p:sp>
      <p:sp>
        <p:nvSpPr>
          <p:cNvPr id="18" name="Text 16"/>
          <p:cNvSpPr txBox="1"/>
          <p:nvPr/>
        </p:nvSpPr>
        <p:spPr>
          <a:xfrm>
            <a:off x="6391656" y="2944368"/>
            <a:ext cx="2121408" cy="420624"/>
          </a:xfrm>
          <a:prstGeom prst="rect">
            <a:avLst/>
          </a:prstGeom>
          <a:noFill/>
          <a:ln/>
        </p:spPr>
        <p:txBody>
          <a:bodyPr wrap="square" lIns="0" tIns="0" rIns="0" bIns="0" rtlCol="0" anchor="ctr"/>
          <a:lstStyle/>
          <a:p>
            <a:pPr indent="0" marL="0">
              <a:lnSpc>
                <a:spcPts val="1600"/>
              </a:lnSpc>
              <a:buNone/>
            </a:pPr>
            <a:r>
              <a:rPr lang="en-US" sz="1250" i="1" dirty="0">
                <a:solidFill>
                  <a:srgbClr val="7A7A82"/>
                </a:solidFill>
                <a:latin typeface="Cambria" pitchFamily="34" charset="0"/>
                <a:ea typeface="Cambria" pitchFamily="34" charset="-122"/>
                <a:cs typeface="Cambria" pitchFamily="34" charset="-120"/>
              </a:rPr>
              <a:t>Kümeleme ve eleme</a:t>
            </a:r>
            <a:endParaRPr lang="en-US" sz="1250" dirty="0"/>
          </a:p>
        </p:txBody>
      </p:sp>
      <p:sp>
        <p:nvSpPr>
          <p:cNvPr id="19" name="Text 17"/>
          <p:cNvSpPr txBox="1"/>
          <p:nvPr/>
        </p:nvSpPr>
        <p:spPr>
          <a:xfrm>
            <a:off x="6391656" y="3383280"/>
            <a:ext cx="2121408" cy="1170432"/>
          </a:xfrm>
          <a:prstGeom prst="rect">
            <a:avLst/>
          </a:prstGeom>
          <a:noFill/>
          <a:ln/>
        </p:spPr>
        <p:txBody>
          <a:bodyPr wrap="square" lIns="0" tIns="0" rIns="0" bIns="0" rtlCol="0" anchor="ctr"/>
          <a:lstStyle/>
          <a:p>
            <a:pPr indent="0" marL="0">
              <a:lnSpc>
                <a:spcPts val="1350"/>
              </a:lnSpc>
              <a:buNone/>
            </a:pPr>
            <a:r>
              <a:rPr lang="en-US" sz="1000" dirty="0">
                <a:solidFill>
                  <a:srgbClr val="2B2B31"/>
                </a:solidFill>
                <a:latin typeface="Calibri" pitchFamily="34" charset="0"/>
                <a:ea typeface="Calibri" pitchFamily="34" charset="-122"/>
                <a:cs typeface="Calibri" pitchFamily="34" charset="-120"/>
              </a:rPr>
              <a:t>eş anlamlıları birleştir</a:t>
            </a:r>
            <a:endParaRPr lang="en-US" sz="1000" dirty="0"/>
          </a:p>
          <a:p>
            <a:pPr indent="0" marL="0">
              <a:lnSpc>
                <a:spcPts val="1350"/>
              </a:lnSpc>
              <a:buNone/>
            </a:pPr>
            <a:r>
              <a:rPr lang="en-US" sz="1000" dirty="0">
                <a:solidFill>
                  <a:srgbClr val="2B2B31"/>
                </a:solidFill>
                <a:latin typeface="Calibri" pitchFamily="34" charset="0"/>
                <a:ea typeface="Calibri" pitchFamily="34" charset="-122"/>
                <a:cs typeface="Calibri" pitchFamily="34" charset="-120"/>
              </a:rPr>
              <a:t>tekrar edenleri kümele</a:t>
            </a:r>
            <a:endParaRPr lang="en-US" sz="1000" dirty="0"/>
          </a:p>
          <a:p>
            <a:pPr indent="0" marL="0">
              <a:lnSpc>
                <a:spcPts val="1350"/>
              </a:lnSpc>
              <a:buNone/>
            </a:pPr>
            <a:r>
              <a:rPr lang="en-US" sz="1000" dirty="0">
                <a:solidFill>
                  <a:srgbClr val="2B2B31"/>
                </a:solidFill>
                <a:latin typeface="Calibri" pitchFamily="34" charset="0"/>
                <a:ea typeface="Calibri" pitchFamily="34" charset="-122"/>
                <a:cs typeface="Calibri" pitchFamily="34" charset="-120"/>
              </a:rPr>
              <a:t>markaya özgü olmayanları at</a:t>
            </a:r>
            <a:endParaRPr lang="en-US" sz="1000" dirty="0"/>
          </a:p>
          <a:p>
            <a:pPr indent="0" marL="0">
              <a:lnSpc>
                <a:spcPts val="1350"/>
              </a:lnSpc>
              <a:buNone/>
            </a:pPr>
            <a:r>
              <a:rPr lang="en-US" sz="1000" dirty="0">
                <a:solidFill>
                  <a:srgbClr val="2B2B31"/>
                </a:solidFill>
                <a:latin typeface="Calibri" pitchFamily="34" charset="0"/>
                <a:ea typeface="Calibri" pitchFamily="34" charset="-122"/>
                <a:cs typeface="Calibri" pitchFamily="34" charset="-120"/>
              </a:rPr>
              <a:t>(“kaliteli”, “modern”, “özel”)</a:t>
            </a:r>
            <a:endParaRPr lang="en-US" sz="1000" dirty="0"/>
          </a:p>
        </p:txBody>
      </p:sp>
      <p:sp>
        <p:nvSpPr>
          <p:cNvPr id="20" name="Shape 18"/>
          <p:cNvSpPr/>
          <p:nvPr/>
        </p:nvSpPr>
        <p:spPr>
          <a:xfrm>
            <a:off x="8723376" y="3474720"/>
            <a:ext cx="173736" cy="0"/>
          </a:xfrm>
          <a:prstGeom prst="line">
            <a:avLst/>
          </a:prstGeom>
          <a:noFill/>
          <a:ln w="19050">
            <a:solidFill>
              <a:srgbClr val="8C3A2B"/>
            </a:solidFill>
            <a:prstDash val="solid"/>
            <a:tailEnd type="triangle"/>
          </a:ln>
        </p:spPr>
      </p:sp>
      <p:sp>
        <p:nvSpPr>
          <p:cNvPr id="21" name="Shape 19"/>
          <p:cNvSpPr/>
          <p:nvPr/>
        </p:nvSpPr>
        <p:spPr>
          <a:xfrm>
            <a:off x="8924544" y="2286000"/>
            <a:ext cx="2487168" cy="2377440"/>
          </a:xfrm>
          <a:prstGeom prst="rect">
            <a:avLst/>
          </a:prstGeom>
          <a:solidFill>
            <a:srgbClr val="F6EAE6"/>
          </a:solidFill>
          <a:ln w="15875">
            <a:solidFill>
              <a:srgbClr val="8C3A2B"/>
            </a:solidFill>
            <a:prstDash val="solid"/>
          </a:ln>
        </p:spPr>
      </p:sp>
      <p:sp>
        <p:nvSpPr>
          <p:cNvPr id="22" name="Text 20"/>
          <p:cNvSpPr txBox="1"/>
          <p:nvPr/>
        </p:nvSpPr>
        <p:spPr>
          <a:xfrm>
            <a:off x="9107424" y="2487168"/>
            <a:ext cx="2121408" cy="457200"/>
          </a:xfrm>
          <a:prstGeom prst="rect">
            <a:avLst/>
          </a:prstGeom>
          <a:noFill/>
          <a:ln/>
        </p:spPr>
        <p:txBody>
          <a:bodyPr wrap="square" lIns="0" tIns="0" rIns="0" bIns="0" rtlCol="0" anchor="ctr"/>
          <a:lstStyle/>
          <a:p>
            <a:pPr indent="0" marL="0">
              <a:lnSpc>
                <a:spcPts val="1200"/>
              </a:lnSpc>
              <a:buNone/>
            </a:pPr>
            <a:r>
              <a:rPr lang="en-US" sz="950" b="1" spc="120" kern="0" dirty="0">
                <a:solidFill>
                  <a:srgbClr val="8C3A2B"/>
                </a:solidFill>
                <a:latin typeface="Calibri" pitchFamily="34" charset="0"/>
                <a:ea typeface="Calibri" pitchFamily="34" charset="-122"/>
                <a:cs typeface="Calibri" pitchFamily="34" charset="-120"/>
              </a:rPr>
              <a:t>ANAHTAR KELİMELER</a:t>
            </a:r>
            <a:endParaRPr lang="en-US" sz="950" dirty="0"/>
          </a:p>
        </p:txBody>
      </p:sp>
      <p:sp>
        <p:nvSpPr>
          <p:cNvPr id="23" name="Text 21"/>
          <p:cNvSpPr txBox="1"/>
          <p:nvPr/>
        </p:nvSpPr>
        <p:spPr>
          <a:xfrm>
            <a:off x="9107424" y="2944368"/>
            <a:ext cx="2121408" cy="420624"/>
          </a:xfrm>
          <a:prstGeom prst="rect">
            <a:avLst/>
          </a:prstGeom>
          <a:noFill/>
          <a:ln/>
        </p:spPr>
        <p:txBody>
          <a:bodyPr wrap="square" lIns="0" tIns="0" rIns="0" bIns="0" rtlCol="0" anchor="ctr"/>
          <a:lstStyle/>
          <a:p>
            <a:pPr indent="0" marL="0">
              <a:lnSpc>
                <a:spcPts val="1600"/>
              </a:lnSpc>
              <a:buNone/>
            </a:pPr>
            <a:r>
              <a:rPr lang="en-US" sz="1250" i="1" dirty="0">
                <a:solidFill>
                  <a:srgbClr val="8C3A2B"/>
                </a:solidFill>
                <a:latin typeface="Cambria" pitchFamily="34" charset="0"/>
                <a:ea typeface="Cambria" pitchFamily="34" charset="-122"/>
                <a:cs typeface="Cambria" pitchFamily="34" charset="-120"/>
              </a:rPr>
              <a:t>Üç–beş kelime</a:t>
            </a:r>
            <a:endParaRPr lang="en-US" sz="1250" dirty="0"/>
          </a:p>
        </p:txBody>
      </p:sp>
      <p:sp>
        <p:nvSpPr>
          <p:cNvPr id="24" name="Text 22"/>
          <p:cNvSpPr txBox="1"/>
          <p:nvPr/>
        </p:nvSpPr>
        <p:spPr>
          <a:xfrm>
            <a:off x="9107424" y="3383280"/>
            <a:ext cx="2121408" cy="1170432"/>
          </a:xfrm>
          <a:prstGeom prst="rect">
            <a:avLst/>
          </a:prstGeom>
          <a:noFill/>
          <a:ln/>
        </p:spPr>
        <p:txBody>
          <a:bodyPr wrap="square" lIns="0" tIns="0" rIns="0" bIns="0" rtlCol="0" anchor="ctr"/>
          <a:lstStyle/>
          <a:p>
            <a:pPr indent="0" marL="0">
              <a:lnSpc>
                <a:spcPts val="1350"/>
              </a:lnSpc>
              <a:buNone/>
            </a:pPr>
            <a:r>
              <a:rPr lang="en-US" sz="1000" dirty="0">
                <a:solidFill>
                  <a:srgbClr val="2B2B31"/>
                </a:solidFill>
                <a:latin typeface="Calibri" pitchFamily="34" charset="0"/>
                <a:ea typeface="Calibri" pitchFamily="34" charset="-122"/>
                <a:cs typeface="Calibri" pitchFamily="34" charset="-120"/>
              </a:rPr>
              <a:t>her biri mekânsal olarak</a:t>
            </a:r>
            <a:endParaRPr lang="en-US" sz="1000" dirty="0"/>
          </a:p>
          <a:p>
            <a:pPr indent="0" marL="0">
              <a:lnSpc>
                <a:spcPts val="1350"/>
              </a:lnSpc>
              <a:buNone/>
            </a:pPr>
            <a:r>
              <a:rPr lang="en-US" sz="1000" dirty="0">
                <a:solidFill>
                  <a:srgbClr val="2B2B31"/>
                </a:solidFill>
                <a:latin typeface="Calibri" pitchFamily="34" charset="0"/>
                <a:ea typeface="Calibri" pitchFamily="34" charset="-122"/>
                <a:cs typeface="Calibri" pitchFamily="34" charset="-120"/>
              </a:rPr>
              <a:t>sınanabilir olmalı</a:t>
            </a:r>
            <a:endParaRPr lang="en-US" sz="1000" dirty="0"/>
          </a:p>
          <a:p>
            <a:pPr indent="0" marL="0">
              <a:lnSpc>
                <a:spcPts val="1350"/>
              </a:lnSpc>
              <a:buNone/>
            </a:pPr>
            <a:r>
              <a:rPr lang="en-US" sz="1000" dirty="0">
                <a:solidFill>
                  <a:srgbClr val="2B2B31"/>
                </a:solidFill>
                <a:latin typeface="Calibri" pitchFamily="34" charset="0"/>
                <a:ea typeface="Calibri" pitchFamily="34" charset="-122"/>
                <a:cs typeface="Calibri" pitchFamily="34" charset="-120"/>
              </a:rPr>
              <a:t>birbirinin eş anlamlısı olmamalı</a:t>
            </a:r>
            <a:endParaRPr lang="en-US" sz="1000" dirty="0"/>
          </a:p>
        </p:txBody>
      </p:sp>
      <p:sp>
        <p:nvSpPr>
          <p:cNvPr id="25" name="Text 23"/>
          <p:cNvSpPr txBox="1"/>
          <p:nvPr/>
        </p:nvSpPr>
        <p:spPr>
          <a:xfrm>
            <a:off x="777240" y="4937760"/>
            <a:ext cx="10424160" cy="219456"/>
          </a:xfrm>
          <a:prstGeom prst="rect">
            <a:avLst/>
          </a:prstGeom>
          <a:noFill/>
          <a:ln/>
        </p:spPr>
        <p:txBody>
          <a:bodyPr wrap="square" lIns="0" tIns="0" rIns="0" bIns="0" rtlCol="0" anchor="ctr"/>
          <a:lstStyle/>
          <a:p>
            <a:pPr algn="l" indent="0" marL="0">
              <a:lnSpc>
                <a:spcPts val="1200"/>
              </a:lnSpc>
              <a:buNone/>
            </a:pPr>
            <a:r>
              <a:rPr lang="en-US" sz="900" b="1" dirty="0">
                <a:solidFill>
                  <a:srgbClr val="A6A6AC"/>
                </a:solidFill>
                <a:latin typeface="Calibri" pitchFamily="34" charset="0"/>
                <a:ea typeface="Calibri" pitchFamily="34" charset="-122"/>
                <a:cs typeface="Calibri" pitchFamily="34" charset="-120"/>
              </a:rPr>
              <a:t>SINAMA</a:t>
            </a:r>
            <a:endParaRPr lang="en-US" sz="900" dirty="0"/>
          </a:p>
        </p:txBody>
      </p:sp>
      <p:sp>
        <p:nvSpPr>
          <p:cNvPr id="26" name="Text 24"/>
          <p:cNvSpPr txBox="1"/>
          <p:nvPr/>
        </p:nvSpPr>
        <p:spPr>
          <a:xfrm>
            <a:off x="777240" y="5175504"/>
            <a:ext cx="10424160" cy="411480"/>
          </a:xfrm>
          <a:prstGeom prst="rect">
            <a:avLst/>
          </a:prstGeom>
          <a:noFill/>
          <a:ln/>
        </p:spPr>
        <p:txBody>
          <a:bodyPr wrap="square" lIns="0" tIns="0" rIns="0" bIns="0" rtlCol="0" anchor="ctr"/>
          <a:lstStyle/>
          <a:p>
            <a:pPr algn="l" indent="0" marL="0">
              <a:lnSpc>
                <a:spcPts val="1200"/>
              </a:lnSpc>
              <a:buNone/>
            </a:pPr>
            <a:r>
              <a:rPr lang="en-US" sz="1700" i="1" dirty="0">
                <a:solidFill>
                  <a:srgbClr val="8C3A2B"/>
                </a:solidFill>
                <a:latin typeface="Cambria" pitchFamily="34" charset="0"/>
                <a:ea typeface="Cambria" pitchFamily="34" charset="-122"/>
                <a:cs typeface="Cambria" pitchFamily="34" charset="-120"/>
              </a:rPr>
              <a:t>Bir anahtar kelime bir mekânsal karara dönüşemiyorsa, o bir anahtar kelime değildir.</a:t>
            </a:r>
            <a:endParaRPr lang="en-US" sz="1700" dirty="0"/>
          </a:p>
        </p:txBody>
      </p:sp>
      <p:sp>
        <p:nvSpPr>
          <p:cNvPr id="27" name="Text 25"/>
          <p:cNvSpPr txBox="1"/>
          <p:nvPr/>
        </p:nvSpPr>
        <p:spPr>
          <a:xfrm>
            <a:off x="777240" y="5623560"/>
            <a:ext cx="10424160" cy="548640"/>
          </a:xfrm>
          <a:prstGeom prst="rect">
            <a:avLst/>
          </a:prstGeom>
          <a:noFill/>
          <a:ln/>
        </p:spPr>
        <p:txBody>
          <a:bodyPr wrap="square" lIns="0" tIns="0" rIns="0" bIns="0" rtlCol="0" anchor="ctr"/>
          <a:lstStyle/>
          <a:p>
            <a:pPr indent="0" marL="0">
              <a:lnSpc>
                <a:spcPts val="2300"/>
              </a:lnSpc>
              <a:buNone/>
            </a:pPr>
            <a:r>
              <a:rPr lang="en-US" sz="1250" dirty="0">
                <a:solidFill>
                  <a:srgbClr val="2B2B31"/>
                </a:solidFill>
                <a:latin typeface="Cambria" pitchFamily="34" charset="0"/>
                <a:ea typeface="Cambria" pitchFamily="34" charset="-122"/>
                <a:cs typeface="Cambria" pitchFamily="34" charset="-120"/>
              </a:rPr>
              <a:t>“Kaliteli” bir anahtar kelime değildir, çünkü hangi markayı seçerseniz seçin doğrudur ve hiçbir mekânsal karar üretmez. “Elden ele geçen” bir anahtar kelimedir: teşhir yüksekliğini, tezgâh konumunu ve dokunma iznini belirler.</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CFCFA"/>
        </a:solidFill>
      </p:bgPr>
    </p:bg>
    <p:spTree>
      <p:nvGrpSpPr>
        <p:cNvPr id="1" name=""/>
        <p:cNvGrpSpPr/>
        <p:nvPr/>
      </p:nvGrpSpPr>
      <p:grpSpPr>
        <a:xfrm>
          <a:off x="0" y="0"/>
          <a:ext cx="0" cy="0"/>
          <a:chOff x="0" y="0"/>
          <a:chExt cx="0" cy="0"/>
        </a:xfrm>
      </p:grpSpPr>
      <p:sp>
        <p:nvSpPr>
          <p:cNvPr id="2" name="Text 0"/>
          <p:cNvSpPr txBox="1"/>
          <p:nvPr/>
        </p:nvSpPr>
        <p:spPr>
          <a:xfrm>
            <a:off x="777240" y="475488"/>
            <a:ext cx="9601200" cy="237744"/>
          </a:xfrm>
          <a:prstGeom prst="rect">
            <a:avLst/>
          </a:prstGeom>
          <a:noFill/>
          <a:ln/>
        </p:spPr>
        <p:txBody>
          <a:bodyPr wrap="square" lIns="0" tIns="0" rIns="0" bIns="0" rtlCol="0" anchor="ctr"/>
          <a:lstStyle/>
          <a:p>
            <a:pPr indent="0" marL="0">
              <a:buNone/>
            </a:pPr>
            <a:r>
              <a:rPr lang="en-US" sz="950" b="1" spc="260" kern="0" dirty="0">
                <a:solidFill>
                  <a:srgbClr val="7A7A82"/>
                </a:solidFill>
                <a:latin typeface="Calibri" pitchFamily="34" charset="0"/>
                <a:ea typeface="Calibri" pitchFamily="34" charset="-122"/>
                <a:cs typeface="Calibri" pitchFamily="34" charset="-120"/>
              </a:rPr>
              <a:t>III · MARKA VE MEKÂN</a:t>
            </a:r>
            <a:endParaRPr lang="en-US" sz="950" dirty="0"/>
          </a:p>
        </p:txBody>
      </p:sp>
      <p:sp>
        <p:nvSpPr>
          <p:cNvPr id="3" name="Text 1"/>
          <p:cNvSpPr txBox="1"/>
          <p:nvPr/>
        </p:nvSpPr>
        <p:spPr>
          <a:xfrm>
            <a:off x="777240" y="822960"/>
            <a:ext cx="10424160" cy="731520"/>
          </a:xfrm>
          <a:prstGeom prst="rect">
            <a:avLst/>
          </a:prstGeom>
          <a:noFill/>
          <a:ln/>
        </p:spPr>
        <p:txBody>
          <a:bodyPr wrap="square" lIns="0" tIns="0" rIns="0" bIns="0" rtlCol="0" anchor="ctr"/>
          <a:lstStyle/>
          <a:p>
            <a:pPr indent="0" marL="0">
              <a:lnSpc>
                <a:spcPts val="3400"/>
              </a:lnSpc>
              <a:buNone/>
            </a:pPr>
            <a:r>
              <a:rPr lang="en-US" sz="2900" b="1" dirty="0">
                <a:solidFill>
                  <a:srgbClr val="16161A"/>
                </a:solidFill>
                <a:latin typeface="Cambria" pitchFamily="34" charset="0"/>
                <a:ea typeface="Cambria" pitchFamily="34" charset="-122"/>
                <a:cs typeface="Cambria" pitchFamily="34" charset="-120"/>
              </a:rPr>
              <a:t>Çeviri zinciri: özellikten tasarım öğesine</a:t>
            </a:r>
            <a:endParaRPr lang="en-US" sz="2900" dirty="0"/>
          </a:p>
        </p:txBody>
      </p:sp>
      <p:sp>
        <p:nvSpPr>
          <p:cNvPr id="4" name="Text 2"/>
          <p:cNvSpPr txBox="1"/>
          <p:nvPr/>
        </p:nvSpPr>
        <p:spPr>
          <a:xfrm>
            <a:off x="10972800" y="6355080"/>
            <a:ext cx="438912" cy="237744"/>
          </a:xfrm>
          <a:prstGeom prst="rect">
            <a:avLst/>
          </a:prstGeom>
          <a:noFill/>
          <a:ln/>
        </p:spPr>
        <p:txBody>
          <a:bodyPr wrap="square" lIns="0" tIns="0" rIns="0" bIns="0" rtlCol="0" anchor="ctr"/>
          <a:lstStyle/>
          <a:p>
            <a:pPr algn="r" indent="0" marL="0">
              <a:buNone/>
            </a:pPr>
            <a:r>
              <a:rPr lang="en-US" sz="950" dirty="0">
                <a:solidFill>
                  <a:srgbClr val="A6A6AC"/>
                </a:solidFill>
                <a:latin typeface="Calibri" pitchFamily="34" charset="0"/>
                <a:ea typeface="Calibri" pitchFamily="34" charset="-122"/>
                <a:cs typeface="Calibri" pitchFamily="34" charset="-120"/>
              </a:rPr>
              <a:t>16</a:t>
            </a:r>
            <a:endParaRPr lang="en-US" sz="950" dirty="0"/>
          </a:p>
        </p:txBody>
      </p:sp>
      <p:sp>
        <p:nvSpPr>
          <p:cNvPr id="5" name="Text 3"/>
          <p:cNvSpPr txBox="1"/>
          <p:nvPr/>
        </p:nvSpPr>
        <p:spPr>
          <a:xfrm>
            <a:off x="777240" y="1645920"/>
            <a:ext cx="2418588" cy="274320"/>
          </a:xfrm>
          <a:prstGeom prst="rect">
            <a:avLst/>
          </a:prstGeom>
          <a:noFill/>
          <a:ln/>
        </p:spPr>
        <p:txBody>
          <a:bodyPr wrap="square" lIns="0" tIns="0" rIns="0" bIns="0" rtlCol="0" anchor="ctr"/>
          <a:lstStyle/>
          <a:p>
            <a:pPr indent="0" marL="0">
              <a:buNone/>
            </a:pPr>
            <a:r>
              <a:rPr lang="en-US" sz="900" b="1" spc="160" kern="0" dirty="0">
                <a:solidFill>
                  <a:srgbClr val="A6A6AC"/>
                </a:solidFill>
                <a:latin typeface="Calibri" pitchFamily="34" charset="0"/>
                <a:ea typeface="Calibri" pitchFamily="34" charset="-122"/>
                <a:cs typeface="Calibri" pitchFamily="34" charset="-120"/>
              </a:rPr>
              <a:t>MARKA ÖZELLİĞİ</a:t>
            </a:r>
            <a:endParaRPr lang="en-US" sz="900" dirty="0"/>
          </a:p>
        </p:txBody>
      </p:sp>
      <p:sp>
        <p:nvSpPr>
          <p:cNvPr id="6" name="Text 4"/>
          <p:cNvSpPr txBox="1"/>
          <p:nvPr/>
        </p:nvSpPr>
        <p:spPr>
          <a:xfrm>
            <a:off x="3515868" y="1645920"/>
            <a:ext cx="2418588" cy="274320"/>
          </a:xfrm>
          <a:prstGeom prst="rect">
            <a:avLst/>
          </a:prstGeom>
          <a:noFill/>
          <a:ln/>
        </p:spPr>
        <p:txBody>
          <a:bodyPr wrap="square" lIns="0" tIns="0" rIns="0" bIns="0" rtlCol="0" anchor="ctr"/>
          <a:lstStyle/>
          <a:p>
            <a:pPr indent="0" marL="0">
              <a:buNone/>
            </a:pPr>
            <a:r>
              <a:rPr lang="en-US" sz="900" b="1" spc="160" kern="0" dirty="0">
                <a:solidFill>
                  <a:srgbClr val="8C3A2B"/>
                </a:solidFill>
                <a:latin typeface="Calibri" pitchFamily="34" charset="0"/>
                <a:ea typeface="Calibri" pitchFamily="34" charset="-122"/>
                <a:cs typeface="Calibri" pitchFamily="34" charset="-120"/>
              </a:rPr>
              <a:t>ANAHTAR KELİME</a:t>
            </a:r>
            <a:endParaRPr lang="en-US" sz="900" dirty="0"/>
          </a:p>
        </p:txBody>
      </p:sp>
      <p:sp>
        <p:nvSpPr>
          <p:cNvPr id="7" name="Text 5"/>
          <p:cNvSpPr txBox="1"/>
          <p:nvPr/>
        </p:nvSpPr>
        <p:spPr>
          <a:xfrm>
            <a:off x="6254496" y="1645920"/>
            <a:ext cx="2418588" cy="274320"/>
          </a:xfrm>
          <a:prstGeom prst="rect">
            <a:avLst/>
          </a:prstGeom>
          <a:noFill/>
          <a:ln/>
        </p:spPr>
        <p:txBody>
          <a:bodyPr wrap="square" lIns="0" tIns="0" rIns="0" bIns="0" rtlCol="0" anchor="ctr"/>
          <a:lstStyle/>
          <a:p>
            <a:pPr indent="0" marL="0">
              <a:buNone/>
            </a:pPr>
            <a:r>
              <a:rPr lang="en-US" sz="900" b="1" spc="160" kern="0" dirty="0">
                <a:solidFill>
                  <a:srgbClr val="A6A6AC"/>
                </a:solidFill>
                <a:latin typeface="Calibri" pitchFamily="34" charset="0"/>
                <a:ea typeface="Calibri" pitchFamily="34" charset="-122"/>
                <a:cs typeface="Calibri" pitchFamily="34" charset="-120"/>
              </a:rPr>
              <a:t>MEKÂNSAL İLKE</a:t>
            </a:r>
            <a:endParaRPr lang="en-US" sz="900" dirty="0"/>
          </a:p>
        </p:txBody>
      </p:sp>
      <p:sp>
        <p:nvSpPr>
          <p:cNvPr id="8" name="Text 6"/>
          <p:cNvSpPr txBox="1"/>
          <p:nvPr/>
        </p:nvSpPr>
        <p:spPr>
          <a:xfrm>
            <a:off x="8993124" y="1645920"/>
            <a:ext cx="2418588" cy="274320"/>
          </a:xfrm>
          <a:prstGeom prst="rect">
            <a:avLst/>
          </a:prstGeom>
          <a:noFill/>
          <a:ln/>
        </p:spPr>
        <p:txBody>
          <a:bodyPr wrap="square" lIns="0" tIns="0" rIns="0" bIns="0" rtlCol="0" anchor="ctr"/>
          <a:lstStyle/>
          <a:p>
            <a:pPr indent="0" marL="0">
              <a:buNone/>
            </a:pPr>
            <a:r>
              <a:rPr lang="en-US" sz="900" b="1" spc="160" kern="0" dirty="0">
                <a:solidFill>
                  <a:srgbClr val="A6A6AC"/>
                </a:solidFill>
                <a:latin typeface="Calibri" pitchFamily="34" charset="0"/>
                <a:ea typeface="Calibri" pitchFamily="34" charset="-122"/>
                <a:cs typeface="Calibri" pitchFamily="34" charset="-120"/>
              </a:rPr>
              <a:t>TASARIM ÖĞESİ</a:t>
            </a:r>
            <a:endParaRPr lang="en-US" sz="900" dirty="0"/>
          </a:p>
        </p:txBody>
      </p:sp>
      <p:sp>
        <p:nvSpPr>
          <p:cNvPr id="9" name="Text 7"/>
          <p:cNvSpPr txBox="1"/>
          <p:nvPr/>
        </p:nvSpPr>
        <p:spPr>
          <a:xfrm>
            <a:off x="777240" y="2121408"/>
            <a:ext cx="2418588" cy="914400"/>
          </a:xfrm>
          <a:prstGeom prst="rect">
            <a:avLst/>
          </a:prstGeom>
          <a:noFill/>
          <a:ln/>
        </p:spPr>
        <p:txBody>
          <a:bodyPr wrap="square" lIns="0" tIns="0" rIns="0" bIns="0" rtlCol="0" anchor="ctr"/>
          <a:lstStyle/>
          <a:p>
            <a:pPr indent="0" marL="0">
              <a:lnSpc>
                <a:spcPts val="1800"/>
              </a:lnSpc>
              <a:buNone/>
            </a:pPr>
            <a:r>
              <a:rPr lang="en-US" sz="1300" dirty="0">
                <a:solidFill>
                  <a:srgbClr val="2B2B31"/>
                </a:solidFill>
                <a:latin typeface="Cambria" pitchFamily="34" charset="0"/>
                <a:ea typeface="Cambria" pitchFamily="34" charset="-122"/>
                <a:cs typeface="Cambria" pitchFamily="34" charset="-120"/>
              </a:rPr>
              <a:t>Her ürün tek tek, elde üretiliyor</a:t>
            </a:r>
            <a:endParaRPr lang="en-US" sz="1300" dirty="0"/>
          </a:p>
        </p:txBody>
      </p:sp>
      <p:sp>
        <p:nvSpPr>
          <p:cNvPr id="10" name="Text 8"/>
          <p:cNvSpPr txBox="1"/>
          <p:nvPr/>
        </p:nvSpPr>
        <p:spPr>
          <a:xfrm>
            <a:off x="3515868" y="2121408"/>
            <a:ext cx="2418588" cy="402336"/>
          </a:xfrm>
          <a:prstGeom prst="rect">
            <a:avLst/>
          </a:prstGeom>
          <a:noFill/>
          <a:ln/>
        </p:spPr>
        <p:txBody>
          <a:bodyPr wrap="square" lIns="0" tIns="0" rIns="0" bIns="0" rtlCol="0" anchor="ctr"/>
          <a:lstStyle/>
          <a:p>
            <a:pPr indent="0" marL="0">
              <a:buNone/>
            </a:pPr>
            <a:r>
              <a:rPr lang="en-US" sz="1700" b="1" dirty="0">
                <a:solidFill>
                  <a:srgbClr val="8C3A2B"/>
                </a:solidFill>
                <a:latin typeface="Cambria" pitchFamily="34" charset="0"/>
                <a:ea typeface="Cambria" pitchFamily="34" charset="-122"/>
                <a:cs typeface="Cambria" pitchFamily="34" charset="-120"/>
              </a:rPr>
              <a:t>TEKİLLİK</a:t>
            </a:r>
            <a:endParaRPr lang="en-US" sz="1700" dirty="0"/>
          </a:p>
        </p:txBody>
      </p:sp>
      <p:sp>
        <p:nvSpPr>
          <p:cNvPr id="11" name="Text 9"/>
          <p:cNvSpPr txBox="1"/>
          <p:nvPr/>
        </p:nvSpPr>
        <p:spPr>
          <a:xfrm>
            <a:off x="6254496" y="2121408"/>
            <a:ext cx="2418588" cy="914400"/>
          </a:xfrm>
          <a:prstGeom prst="rect">
            <a:avLst/>
          </a:prstGeom>
          <a:noFill/>
          <a:ln/>
        </p:spPr>
        <p:txBody>
          <a:bodyPr wrap="square" lIns="0" tIns="0" rIns="0" bIns="0" rtlCol="0" anchor="ctr"/>
          <a:lstStyle/>
          <a:p>
            <a:pPr indent="0" marL="0">
              <a:lnSpc>
                <a:spcPts val="1800"/>
              </a:lnSpc>
              <a:buNone/>
            </a:pPr>
            <a:r>
              <a:rPr lang="en-US" sz="1300" dirty="0">
                <a:solidFill>
                  <a:srgbClr val="2B2B31"/>
                </a:solidFill>
                <a:latin typeface="Cambria" pitchFamily="34" charset="0"/>
                <a:ea typeface="Cambria" pitchFamily="34" charset="-122"/>
                <a:cs typeface="Cambria" pitchFamily="34" charset="-120"/>
              </a:rPr>
              <a:t>Düşük yoğunluk; her ürüne kendi alanı ve kendi ışığı</a:t>
            </a:r>
            <a:endParaRPr lang="en-US" sz="1300" dirty="0"/>
          </a:p>
        </p:txBody>
      </p:sp>
      <p:sp>
        <p:nvSpPr>
          <p:cNvPr id="12" name="Text 10"/>
          <p:cNvSpPr txBox="1"/>
          <p:nvPr/>
        </p:nvSpPr>
        <p:spPr>
          <a:xfrm>
            <a:off x="8993124" y="2121408"/>
            <a:ext cx="2418588" cy="914400"/>
          </a:xfrm>
          <a:prstGeom prst="rect">
            <a:avLst/>
          </a:prstGeom>
          <a:noFill/>
          <a:ln/>
        </p:spPr>
        <p:txBody>
          <a:bodyPr wrap="square" lIns="0" tIns="0" rIns="0" bIns="0" rtlCol="0" anchor="ctr"/>
          <a:lstStyle/>
          <a:p>
            <a:pPr indent="0" marL="0">
              <a:lnSpc>
                <a:spcPts val="1500"/>
              </a:lnSpc>
              <a:buNone/>
            </a:pPr>
            <a:r>
              <a:rPr lang="en-US" sz="1150" dirty="0">
                <a:solidFill>
                  <a:srgbClr val="7A7A82"/>
                </a:solidFill>
                <a:latin typeface="Calibri" pitchFamily="34" charset="0"/>
                <a:ea typeface="Calibri" pitchFamily="34" charset="-122"/>
                <a:cs typeface="Calibri" pitchFamily="34" charset="-120"/>
              </a:rPr>
              <a:t>Tekil kaideler · nokta aydınlatma · ürünler arası geniş aralık</a:t>
            </a:r>
            <a:endParaRPr lang="en-US" sz="1150" dirty="0"/>
          </a:p>
        </p:txBody>
      </p:sp>
      <p:sp>
        <p:nvSpPr>
          <p:cNvPr id="13" name="Shape 11"/>
          <p:cNvSpPr/>
          <p:nvPr/>
        </p:nvSpPr>
        <p:spPr>
          <a:xfrm>
            <a:off x="3232404" y="2322576"/>
            <a:ext cx="237744" cy="0"/>
          </a:xfrm>
          <a:prstGeom prst="line">
            <a:avLst/>
          </a:prstGeom>
          <a:noFill/>
          <a:ln w="15875">
            <a:solidFill>
              <a:srgbClr val="C9C9CF"/>
            </a:solidFill>
            <a:prstDash val="solid"/>
            <a:tailEnd type="triangle"/>
          </a:ln>
        </p:spPr>
      </p:sp>
      <p:sp>
        <p:nvSpPr>
          <p:cNvPr id="14" name="Shape 12"/>
          <p:cNvSpPr/>
          <p:nvPr/>
        </p:nvSpPr>
        <p:spPr>
          <a:xfrm>
            <a:off x="5971032" y="2322576"/>
            <a:ext cx="237744" cy="0"/>
          </a:xfrm>
          <a:prstGeom prst="line">
            <a:avLst/>
          </a:prstGeom>
          <a:noFill/>
          <a:ln w="15875">
            <a:solidFill>
              <a:srgbClr val="C9C9CF"/>
            </a:solidFill>
            <a:prstDash val="solid"/>
            <a:tailEnd type="triangle"/>
          </a:ln>
        </p:spPr>
      </p:sp>
      <p:sp>
        <p:nvSpPr>
          <p:cNvPr id="15" name="Shape 13"/>
          <p:cNvSpPr/>
          <p:nvPr/>
        </p:nvSpPr>
        <p:spPr>
          <a:xfrm>
            <a:off x="8709660" y="2322576"/>
            <a:ext cx="237744" cy="0"/>
          </a:xfrm>
          <a:prstGeom prst="line">
            <a:avLst/>
          </a:prstGeom>
          <a:noFill/>
          <a:ln w="15875">
            <a:solidFill>
              <a:srgbClr val="C9C9CF"/>
            </a:solidFill>
            <a:prstDash val="solid"/>
            <a:tailEnd type="triangle"/>
          </a:ln>
        </p:spPr>
      </p:sp>
      <p:sp>
        <p:nvSpPr>
          <p:cNvPr id="16" name="Text 14"/>
          <p:cNvSpPr txBox="1"/>
          <p:nvPr/>
        </p:nvSpPr>
        <p:spPr>
          <a:xfrm>
            <a:off x="777240" y="3291840"/>
            <a:ext cx="2418588" cy="914400"/>
          </a:xfrm>
          <a:prstGeom prst="rect">
            <a:avLst/>
          </a:prstGeom>
          <a:noFill/>
          <a:ln/>
        </p:spPr>
        <p:txBody>
          <a:bodyPr wrap="square" lIns="0" tIns="0" rIns="0" bIns="0" rtlCol="0" anchor="ctr"/>
          <a:lstStyle/>
          <a:p>
            <a:pPr indent="0" marL="0">
              <a:lnSpc>
                <a:spcPts val="1800"/>
              </a:lnSpc>
              <a:buNone/>
            </a:pPr>
            <a:r>
              <a:rPr lang="en-US" sz="1300" dirty="0">
                <a:solidFill>
                  <a:srgbClr val="2B2B31"/>
                </a:solidFill>
                <a:latin typeface="Cambria" pitchFamily="34" charset="0"/>
                <a:ea typeface="Cambria" pitchFamily="34" charset="-122"/>
                <a:cs typeface="Cambria" pitchFamily="34" charset="-120"/>
              </a:rPr>
              <a:t>Üretim süreci gizlenmiyor</a:t>
            </a:r>
            <a:endParaRPr lang="en-US" sz="1300" dirty="0"/>
          </a:p>
        </p:txBody>
      </p:sp>
      <p:sp>
        <p:nvSpPr>
          <p:cNvPr id="17" name="Text 15"/>
          <p:cNvSpPr txBox="1"/>
          <p:nvPr/>
        </p:nvSpPr>
        <p:spPr>
          <a:xfrm>
            <a:off x="3515868" y="3291840"/>
            <a:ext cx="2418588" cy="402336"/>
          </a:xfrm>
          <a:prstGeom prst="rect">
            <a:avLst/>
          </a:prstGeom>
          <a:noFill/>
          <a:ln/>
        </p:spPr>
        <p:txBody>
          <a:bodyPr wrap="square" lIns="0" tIns="0" rIns="0" bIns="0" rtlCol="0" anchor="ctr"/>
          <a:lstStyle/>
          <a:p>
            <a:pPr indent="0" marL="0">
              <a:buNone/>
            </a:pPr>
            <a:r>
              <a:rPr lang="en-US" sz="1700" b="1" dirty="0">
                <a:solidFill>
                  <a:srgbClr val="8C3A2B"/>
                </a:solidFill>
                <a:latin typeface="Cambria" pitchFamily="34" charset="0"/>
                <a:ea typeface="Cambria" pitchFamily="34" charset="-122"/>
                <a:cs typeface="Cambria" pitchFamily="34" charset="-120"/>
              </a:rPr>
              <a:t>GÖRÜNÜRLÜK</a:t>
            </a:r>
            <a:endParaRPr lang="en-US" sz="1700" dirty="0"/>
          </a:p>
        </p:txBody>
      </p:sp>
      <p:sp>
        <p:nvSpPr>
          <p:cNvPr id="18" name="Text 16"/>
          <p:cNvSpPr txBox="1"/>
          <p:nvPr/>
        </p:nvSpPr>
        <p:spPr>
          <a:xfrm>
            <a:off x="6254496" y="3291840"/>
            <a:ext cx="2418588" cy="914400"/>
          </a:xfrm>
          <a:prstGeom prst="rect">
            <a:avLst/>
          </a:prstGeom>
          <a:noFill/>
          <a:ln/>
        </p:spPr>
        <p:txBody>
          <a:bodyPr wrap="square" lIns="0" tIns="0" rIns="0" bIns="0" rtlCol="0" anchor="ctr"/>
          <a:lstStyle/>
          <a:p>
            <a:pPr indent="0" marL="0">
              <a:lnSpc>
                <a:spcPts val="1800"/>
              </a:lnSpc>
              <a:buNone/>
            </a:pPr>
            <a:r>
              <a:rPr lang="en-US" sz="1300" dirty="0">
                <a:solidFill>
                  <a:srgbClr val="2B2B31"/>
                </a:solidFill>
                <a:latin typeface="Cambria" pitchFamily="34" charset="0"/>
                <a:ea typeface="Cambria" pitchFamily="34" charset="-122"/>
                <a:cs typeface="Cambria" pitchFamily="34" charset="-120"/>
              </a:rPr>
              <a:t>Üretimin satış alanına açılması; arka alanın sahne olması</a:t>
            </a:r>
            <a:endParaRPr lang="en-US" sz="1300" dirty="0"/>
          </a:p>
        </p:txBody>
      </p:sp>
      <p:sp>
        <p:nvSpPr>
          <p:cNvPr id="19" name="Text 17"/>
          <p:cNvSpPr txBox="1"/>
          <p:nvPr/>
        </p:nvSpPr>
        <p:spPr>
          <a:xfrm>
            <a:off x="8993124" y="3291840"/>
            <a:ext cx="2418588" cy="914400"/>
          </a:xfrm>
          <a:prstGeom prst="rect">
            <a:avLst/>
          </a:prstGeom>
          <a:noFill/>
          <a:ln/>
        </p:spPr>
        <p:txBody>
          <a:bodyPr wrap="square" lIns="0" tIns="0" rIns="0" bIns="0" rtlCol="0" anchor="ctr"/>
          <a:lstStyle/>
          <a:p>
            <a:pPr indent="0" marL="0">
              <a:lnSpc>
                <a:spcPts val="1500"/>
              </a:lnSpc>
              <a:buNone/>
            </a:pPr>
            <a:r>
              <a:rPr lang="en-US" sz="1150" dirty="0">
                <a:solidFill>
                  <a:srgbClr val="7A7A82"/>
                </a:solidFill>
                <a:latin typeface="Calibri" pitchFamily="34" charset="0"/>
                <a:ea typeface="Calibri" pitchFamily="34" charset="-122"/>
                <a:cs typeface="Calibri" pitchFamily="34" charset="-120"/>
              </a:rPr>
              <a:t>Cam bölme · mekânın ortasında tezgâh · açık raflı depo</a:t>
            </a:r>
            <a:endParaRPr lang="en-US" sz="1150" dirty="0"/>
          </a:p>
        </p:txBody>
      </p:sp>
      <p:sp>
        <p:nvSpPr>
          <p:cNvPr id="20" name="Shape 18"/>
          <p:cNvSpPr/>
          <p:nvPr/>
        </p:nvSpPr>
        <p:spPr>
          <a:xfrm>
            <a:off x="3232404" y="3493008"/>
            <a:ext cx="237744" cy="0"/>
          </a:xfrm>
          <a:prstGeom prst="line">
            <a:avLst/>
          </a:prstGeom>
          <a:noFill/>
          <a:ln w="15875">
            <a:solidFill>
              <a:srgbClr val="C9C9CF"/>
            </a:solidFill>
            <a:prstDash val="solid"/>
            <a:tailEnd type="triangle"/>
          </a:ln>
        </p:spPr>
      </p:sp>
      <p:sp>
        <p:nvSpPr>
          <p:cNvPr id="21" name="Shape 19"/>
          <p:cNvSpPr/>
          <p:nvPr/>
        </p:nvSpPr>
        <p:spPr>
          <a:xfrm>
            <a:off x="5971032" y="3493008"/>
            <a:ext cx="237744" cy="0"/>
          </a:xfrm>
          <a:prstGeom prst="line">
            <a:avLst/>
          </a:prstGeom>
          <a:noFill/>
          <a:ln w="15875">
            <a:solidFill>
              <a:srgbClr val="C9C9CF"/>
            </a:solidFill>
            <a:prstDash val="solid"/>
            <a:tailEnd type="triangle"/>
          </a:ln>
        </p:spPr>
      </p:sp>
      <p:sp>
        <p:nvSpPr>
          <p:cNvPr id="22" name="Shape 20"/>
          <p:cNvSpPr/>
          <p:nvPr/>
        </p:nvSpPr>
        <p:spPr>
          <a:xfrm>
            <a:off x="8709660" y="3493008"/>
            <a:ext cx="237744" cy="0"/>
          </a:xfrm>
          <a:prstGeom prst="line">
            <a:avLst/>
          </a:prstGeom>
          <a:noFill/>
          <a:ln w="15875">
            <a:solidFill>
              <a:srgbClr val="C9C9CF"/>
            </a:solidFill>
            <a:prstDash val="solid"/>
            <a:tailEnd type="triangle"/>
          </a:ln>
        </p:spPr>
      </p:sp>
      <p:sp>
        <p:nvSpPr>
          <p:cNvPr id="23" name="Text 21"/>
          <p:cNvSpPr txBox="1"/>
          <p:nvPr/>
        </p:nvSpPr>
        <p:spPr>
          <a:xfrm>
            <a:off x="777240" y="4462272"/>
            <a:ext cx="2418588" cy="914400"/>
          </a:xfrm>
          <a:prstGeom prst="rect">
            <a:avLst/>
          </a:prstGeom>
          <a:noFill/>
          <a:ln/>
        </p:spPr>
        <p:txBody>
          <a:bodyPr wrap="square" lIns="0" tIns="0" rIns="0" bIns="0" rtlCol="0" anchor="ctr"/>
          <a:lstStyle/>
          <a:p>
            <a:pPr indent="0" marL="0">
              <a:lnSpc>
                <a:spcPts val="1800"/>
              </a:lnSpc>
              <a:buNone/>
            </a:pPr>
            <a:r>
              <a:rPr lang="en-US" sz="1300" dirty="0">
                <a:solidFill>
                  <a:srgbClr val="2B2B31"/>
                </a:solidFill>
                <a:latin typeface="Cambria" pitchFamily="34" charset="0"/>
                <a:ea typeface="Cambria" pitchFamily="34" charset="-122"/>
                <a:cs typeface="Cambria" pitchFamily="34" charset="-120"/>
              </a:rPr>
              <a:t>Ürün denizle ve dış mekânla ilişkili</a:t>
            </a:r>
            <a:endParaRPr lang="en-US" sz="1300" dirty="0"/>
          </a:p>
        </p:txBody>
      </p:sp>
      <p:sp>
        <p:nvSpPr>
          <p:cNvPr id="24" name="Text 22"/>
          <p:cNvSpPr txBox="1"/>
          <p:nvPr/>
        </p:nvSpPr>
        <p:spPr>
          <a:xfrm>
            <a:off x="3515868" y="4462272"/>
            <a:ext cx="2418588" cy="402336"/>
          </a:xfrm>
          <a:prstGeom prst="rect">
            <a:avLst/>
          </a:prstGeom>
          <a:noFill/>
          <a:ln/>
        </p:spPr>
        <p:txBody>
          <a:bodyPr wrap="square" lIns="0" tIns="0" rIns="0" bIns="0" rtlCol="0" anchor="ctr"/>
          <a:lstStyle/>
          <a:p>
            <a:pPr indent="0" marL="0">
              <a:buNone/>
            </a:pPr>
            <a:r>
              <a:rPr lang="en-US" sz="1700" b="1" dirty="0">
                <a:solidFill>
                  <a:srgbClr val="8C3A2B"/>
                </a:solidFill>
                <a:latin typeface="Cambria" pitchFamily="34" charset="0"/>
                <a:ea typeface="Cambria" pitchFamily="34" charset="-122"/>
                <a:cs typeface="Cambria" pitchFamily="34" charset="-120"/>
              </a:rPr>
              <a:t>DAYANIKLILIK</a:t>
            </a:r>
            <a:endParaRPr lang="en-US" sz="1700" dirty="0"/>
          </a:p>
        </p:txBody>
      </p:sp>
      <p:sp>
        <p:nvSpPr>
          <p:cNvPr id="25" name="Text 23"/>
          <p:cNvSpPr txBox="1"/>
          <p:nvPr/>
        </p:nvSpPr>
        <p:spPr>
          <a:xfrm>
            <a:off x="6254496" y="4462272"/>
            <a:ext cx="2418588" cy="914400"/>
          </a:xfrm>
          <a:prstGeom prst="rect">
            <a:avLst/>
          </a:prstGeom>
          <a:noFill/>
          <a:ln/>
        </p:spPr>
        <p:txBody>
          <a:bodyPr wrap="square" lIns="0" tIns="0" rIns="0" bIns="0" rtlCol="0" anchor="ctr"/>
          <a:lstStyle/>
          <a:p>
            <a:pPr indent="0" marL="0">
              <a:lnSpc>
                <a:spcPts val="1800"/>
              </a:lnSpc>
              <a:buNone/>
            </a:pPr>
            <a:r>
              <a:rPr lang="en-US" sz="1300" dirty="0">
                <a:solidFill>
                  <a:srgbClr val="2B2B31"/>
                </a:solidFill>
                <a:latin typeface="Cambria" pitchFamily="34" charset="0"/>
                <a:ea typeface="Cambria" pitchFamily="34" charset="-122"/>
                <a:cs typeface="Cambria" pitchFamily="34" charset="-120"/>
              </a:rPr>
              <a:t>Yıpranmayı gizlemeyen, zamanla güzelleşen yüzeyler</a:t>
            </a:r>
            <a:endParaRPr lang="en-US" sz="1300" dirty="0"/>
          </a:p>
        </p:txBody>
      </p:sp>
      <p:sp>
        <p:nvSpPr>
          <p:cNvPr id="26" name="Text 24"/>
          <p:cNvSpPr txBox="1"/>
          <p:nvPr/>
        </p:nvSpPr>
        <p:spPr>
          <a:xfrm>
            <a:off x="8993124" y="4462272"/>
            <a:ext cx="2418588" cy="914400"/>
          </a:xfrm>
          <a:prstGeom prst="rect">
            <a:avLst/>
          </a:prstGeom>
          <a:noFill/>
          <a:ln/>
        </p:spPr>
        <p:txBody>
          <a:bodyPr wrap="square" lIns="0" tIns="0" rIns="0" bIns="0" rtlCol="0" anchor="ctr"/>
          <a:lstStyle/>
          <a:p>
            <a:pPr indent="0" marL="0">
              <a:lnSpc>
                <a:spcPts val="1500"/>
              </a:lnSpc>
              <a:buNone/>
            </a:pPr>
            <a:r>
              <a:rPr lang="en-US" sz="1150" dirty="0">
                <a:solidFill>
                  <a:srgbClr val="7A7A82"/>
                </a:solidFill>
                <a:latin typeface="Calibri" pitchFamily="34" charset="0"/>
                <a:ea typeface="Calibri" pitchFamily="34" charset="-122"/>
                <a:cs typeface="Calibri" pitchFamily="34" charset="-120"/>
              </a:rPr>
              <a:t>Masif ahşap · ham metal · dokusu belirgin sıva · yıkanabilir zemin</a:t>
            </a:r>
            <a:endParaRPr lang="en-US" sz="1150" dirty="0"/>
          </a:p>
        </p:txBody>
      </p:sp>
      <p:sp>
        <p:nvSpPr>
          <p:cNvPr id="27" name="Shape 25"/>
          <p:cNvSpPr/>
          <p:nvPr/>
        </p:nvSpPr>
        <p:spPr>
          <a:xfrm>
            <a:off x="3232404" y="4663440"/>
            <a:ext cx="237744" cy="0"/>
          </a:xfrm>
          <a:prstGeom prst="line">
            <a:avLst/>
          </a:prstGeom>
          <a:noFill/>
          <a:ln w="15875">
            <a:solidFill>
              <a:srgbClr val="C9C9CF"/>
            </a:solidFill>
            <a:prstDash val="solid"/>
            <a:tailEnd type="triangle"/>
          </a:ln>
        </p:spPr>
      </p:sp>
      <p:sp>
        <p:nvSpPr>
          <p:cNvPr id="28" name="Shape 26"/>
          <p:cNvSpPr/>
          <p:nvPr/>
        </p:nvSpPr>
        <p:spPr>
          <a:xfrm>
            <a:off x="5971032" y="4663440"/>
            <a:ext cx="237744" cy="0"/>
          </a:xfrm>
          <a:prstGeom prst="line">
            <a:avLst/>
          </a:prstGeom>
          <a:noFill/>
          <a:ln w="15875">
            <a:solidFill>
              <a:srgbClr val="C9C9CF"/>
            </a:solidFill>
            <a:prstDash val="solid"/>
            <a:tailEnd type="triangle"/>
          </a:ln>
        </p:spPr>
      </p:sp>
      <p:sp>
        <p:nvSpPr>
          <p:cNvPr id="29" name="Shape 27"/>
          <p:cNvSpPr/>
          <p:nvPr/>
        </p:nvSpPr>
        <p:spPr>
          <a:xfrm>
            <a:off x="8709660" y="4663440"/>
            <a:ext cx="237744" cy="0"/>
          </a:xfrm>
          <a:prstGeom prst="line">
            <a:avLst/>
          </a:prstGeom>
          <a:noFill/>
          <a:ln w="15875">
            <a:solidFill>
              <a:srgbClr val="C9C9CF"/>
            </a:solidFill>
            <a:prstDash val="solid"/>
            <a:tailEnd type="triangle"/>
          </a:ln>
        </p:spPr>
      </p:sp>
      <p:sp>
        <p:nvSpPr>
          <p:cNvPr id="30" name="Text 28"/>
          <p:cNvSpPr txBox="1"/>
          <p:nvPr/>
        </p:nvSpPr>
        <p:spPr>
          <a:xfrm>
            <a:off x="777240" y="5669280"/>
            <a:ext cx="10424160" cy="411480"/>
          </a:xfrm>
          <a:prstGeom prst="rect">
            <a:avLst/>
          </a:prstGeom>
          <a:noFill/>
          <a:ln/>
        </p:spPr>
        <p:txBody>
          <a:bodyPr wrap="square" lIns="0" tIns="0" rIns="0" bIns="0" rtlCol="0" anchor="ctr"/>
          <a:lstStyle/>
          <a:p>
            <a:pPr algn="l" indent="0" marL="0">
              <a:lnSpc>
                <a:spcPts val="1200"/>
              </a:lnSpc>
              <a:buNone/>
            </a:pPr>
            <a:r>
              <a:rPr lang="en-US" sz="1350" i="1" dirty="0">
                <a:solidFill>
                  <a:srgbClr val="8C3A2B"/>
                </a:solidFill>
                <a:latin typeface="Cambria" pitchFamily="34" charset="0"/>
                <a:ea typeface="Cambria" pitchFamily="34" charset="-122"/>
                <a:cs typeface="Cambria" pitchFamily="34" charset="-120"/>
              </a:rPr>
              <a:t>Zincirin her halkası bir öncekinden türetilebilmelidir. Bir tasarım öğesini gerekçelendiremiyorsanız, zincirde bir halka eksiktir.</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CFCFA"/>
        </a:solidFill>
      </p:bgPr>
    </p:bg>
    <p:spTree>
      <p:nvGrpSpPr>
        <p:cNvPr id="1" name=""/>
        <p:cNvGrpSpPr/>
        <p:nvPr/>
      </p:nvGrpSpPr>
      <p:grpSpPr>
        <a:xfrm>
          <a:off x="0" y="0"/>
          <a:ext cx="0" cy="0"/>
          <a:chOff x="0" y="0"/>
          <a:chExt cx="0" cy="0"/>
        </a:xfrm>
      </p:grpSpPr>
      <p:sp>
        <p:nvSpPr>
          <p:cNvPr id="2" name="Text 0"/>
          <p:cNvSpPr txBox="1"/>
          <p:nvPr/>
        </p:nvSpPr>
        <p:spPr>
          <a:xfrm>
            <a:off x="777240" y="475488"/>
            <a:ext cx="9601200" cy="237744"/>
          </a:xfrm>
          <a:prstGeom prst="rect">
            <a:avLst/>
          </a:prstGeom>
          <a:noFill/>
          <a:ln/>
        </p:spPr>
        <p:txBody>
          <a:bodyPr wrap="square" lIns="0" tIns="0" rIns="0" bIns="0" rtlCol="0" anchor="ctr"/>
          <a:lstStyle/>
          <a:p>
            <a:pPr indent="0" marL="0">
              <a:buNone/>
            </a:pPr>
            <a:r>
              <a:rPr lang="en-US" sz="950" b="1" spc="260" kern="0" dirty="0">
                <a:solidFill>
                  <a:srgbClr val="7A7A82"/>
                </a:solidFill>
                <a:latin typeface="Calibri" pitchFamily="34" charset="0"/>
                <a:ea typeface="Calibri" pitchFamily="34" charset="-122"/>
                <a:cs typeface="Calibri" pitchFamily="34" charset="-120"/>
              </a:rPr>
              <a:t>III · MARKA VE MEKÂN</a:t>
            </a:r>
            <a:endParaRPr lang="en-US" sz="950" dirty="0"/>
          </a:p>
        </p:txBody>
      </p:sp>
      <p:sp>
        <p:nvSpPr>
          <p:cNvPr id="3" name="Text 1"/>
          <p:cNvSpPr txBox="1"/>
          <p:nvPr/>
        </p:nvSpPr>
        <p:spPr>
          <a:xfrm>
            <a:off x="777240" y="822960"/>
            <a:ext cx="10424160" cy="731520"/>
          </a:xfrm>
          <a:prstGeom prst="rect">
            <a:avLst/>
          </a:prstGeom>
          <a:noFill/>
          <a:ln/>
        </p:spPr>
        <p:txBody>
          <a:bodyPr wrap="square" lIns="0" tIns="0" rIns="0" bIns="0" rtlCol="0" anchor="ctr"/>
          <a:lstStyle/>
          <a:p>
            <a:pPr indent="0" marL="0">
              <a:lnSpc>
                <a:spcPts val="3400"/>
              </a:lnSpc>
              <a:buNone/>
            </a:pPr>
            <a:r>
              <a:rPr lang="en-US" sz="2900" b="1" dirty="0">
                <a:solidFill>
                  <a:srgbClr val="16161A"/>
                </a:solidFill>
                <a:latin typeface="Cambria" pitchFamily="34" charset="0"/>
                <a:ea typeface="Cambria" pitchFamily="34" charset="-122"/>
                <a:cs typeface="Cambria" pitchFamily="34" charset="-120"/>
              </a:rPr>
              <a:t>Yoğunluk bir mesajdır</a:t>
            </a:r>
            <a:endParaRPr lang="en-US" sz="2900" dirty="0"/>
          </a:p>
        </p:txBody>
      </p:sp>
      <p:sp>
        <p:nvSpPr>
          <p:cNvPr id="4" name="Text 2"/>
          <p:cNvSpPr txBox="1"/>
          <p:nvPr/>
        </p:nvSpPr>
        <p:spPr>
          <a:xfrm>
            <a:off x="10972800" y="6355080"/>
            <a:ext cx="438912" cy="237744"/>
          </a:xfrm>
          <a:prstGeom prst="rect">
            <a:avLst/>
          </a:prstGeom>
          <a:noFill/>
          <a:ln/>
        </p:spPr>
        <p:txBody>
          <a:bodyPr wrap="square" lIns="0" tIns="0" rIns="0" bIns="0" rtlCol="0" anchor="ctr"/>
          <a:lstStyle/>
          <a:p>
            <a:pPr algn="r" indent="0" marL="0">
              <a:buNone/>
            </a:pPr>
            <a:r>
              <a:rPr lang="en-US" sz="950" dirty="0">
                <a:solidFill>
                  <a:srgbClr val="A6A6AC"/>
                </a:solidFill>
                <a:latin typeface="Calibri" pitchFamily="34" charset="0"/>
                <a:ea typeface="Calibri" pitchFamily="34" charset="-122"/>
                <a:cs typeface="Calibri" pitchFamily="34" charset="-120"/>
              </a:rPr>
              <a:t>17</a:t>
            </a:r>
            <a:endParaRPr lang="en-US" sz="950" dirty="0"/>
          </a:p>
        </p:txBody>
      </p:sp>
      <p:sp>
        <p:nvSpPr>
          <p:cNvPr id="5" name="Text 3"/>
          <p:cNvSpPr txBox="1"/>
          <p:nvPr/>
        </p:nvSpPr>
        <p:spPr>
          <a:xfrm>
            <a:off x="777240" y="1591056"/>
            <a:ext cx="10634472" cy="914400"/>
          </a:xfrm>
          <a:prstGeom prst="rect">
            <a:avLst/>
          </a:prstGeom>
          <a:noFill/>
          <a:ln/>
        </p:spPr>
        <p:txBody>
          <a:bodyPr wrap="square" lIns="0" tIns="0" rIns="0" bIns="0" rtlCol="0" anchor="ctr"/>
          <a:lstStyle/>
          <a:p>
            <a:pPr indent="0" marL="0">
              <a:lnSpc>
                <a:spcPts val="2300"/>
              </a:lnSpc>
              <a:buNone/>
            </a:pPr>
            <a:r>
              <a:rPr lang="en-US" sz="1500" dirty="0">
                <a:solidFill>
                  <a:srgbClr val="2B2B31"/>
                </a:solidFill>
                <a:latin typeface="Cambria" pitchFamily="34" charset="0"/>
                <a:ea typeface="Cambria" pitchFamily="34" charset="-122"/>
                <a:cs typeface="Cambria" pitchFamily="34" charset="-120"/>
              </a:rPr>
              <a:t>Aynı metrekareye kaç ürün konacağı estetik değil, stratejik bir karardır. Az ürün ve çok boşluk değer ve seçicilik duygusu üretir; yoğun teşhir bolluk ve erişilebilirlik duygusu üretir. İkisi de doğrudur — yanlış olan, markanın iddiasıyla çelişen bir yoğunluk seçmektir.</a:t>
            </a:r>
            <a:endParaRPr lang="en-US" sz="1500" dirty="0"/>
          </a:p>
        </p:txBody>
      </p:sp>
      <p:sp>
        <p:nvSpPr>
          <p:cNvPr id="6" name="Shape 4"/>
          <p:cNvSpPr/>
          <p:nvPr/>
        </p:nvSpPr>
        <p:spPr>
          <a:xfrm>
            <a:off x="1828800" y="4160520"/>
            <a:ext cx="8503920" cy="0"/>
          </a:xfrm>
          <a:prstGeom prst="line">
            <a:avLst/>
          </a:prstGeom>
          <a:noFill/>
          <a:ln w="12700">
            <a:solidFill>
              <a:srgbClr val="C9C9CF"/>
            </a:solidFill>
            <a:prstDash val="solid"/>
          </a:ln>
        </p:spPr>
      </p:sp>
      <p:sp>
        <p:nvSpPr>
          <p:cNvPr id="7" name="Text 5"/>
          <p:cNvSpPr txBox="1"/>
          <p:nvPr/>
        </p:nvSpPr>
        <p:spPr>
          <a:xfrm>
            <a:off x="1005840" y="3977640"/>
            <a:ext cx="1463040" cy="274320"/>
          </a:xfrm>
          <a:prstGeom prst="rect">
            <a:avLst/>
          </a:prstGeom>
          <a:noFill/>
          <a:ln/>
        </p:spPr>
        <p:txBody>
          <a:bodyPr wrap="square" lIns="0" tIns="0" rIns="0" bIns="0" rtlCol="0" anchor="ctr"/>
          <a:lstStyle/>
          <a:p>
            <a:pPr algn="r" indent="0" marL="0">
              <a:lnSpc>
                <a:spcPts val="1200"/>
              </a:lnSpc>
              <a:buNone/>
            </a:pPr>
            <a:r>
              <a:rPr lang="en-US" sz="1000" b="1" dirty="0">
                <a:solidFill>
                  <a:srgbClr val="16161A"/>
                </a:solidFill>
                <a:latin typeface="Calibri" pitchFamily="34" charset="0"/>
                <a:ea typeface="Calibri" pitchFamily="34" charset="-122"/>
                <a:cs typeface="Calibri" pitchFamily="34" charset="-120"/>
              </a:rPr>
              <a:t>AZ ÜRÜN</a:t>
            </a:r>
            <a:endParaRPr lang="en-US" sz="1000" dirty="0"/>
          </a:p>
        </p:txBody>
      </p:sp>
      <p:sp>
        <p:nvSpPr>
          <p:cNvPr id="8" name="Text 6"/>
          <p:cNvSpPr txBox="1"/>
          <p:nvPr/>
        </p:nvSpPr>
        <p:spPr>
          <a:xfrm>
            <a:off x="9692640" y="3977640"/>
            <a:ext cx="1554480" cy="274320"/>
          </a:xfrm>
          <a:prstGeom prst="rect">
            <a:avLst/>
          </a:prstGeom>
          <a:noFill/>
          <a:ln/>
        </p:spPr>
        <p:txBody>
          <a:bodyPr wrap="square" lIns="0" tIns="0" rIns="0" bIns="0" rtlCol="0" anchor="ctr"/>
          <a:lstStyle/>
          <a:p>
            <a:pPr algn="l" indent="0" marL="0">
              <a:lnSpc>
                <a:spcPts val="1200"/>
              </a:lnSpc>
              <a:buNone/>
            </a:pPr>
            <a:r>
              <a:rPr lang="en-US" sz="1000" b="1" dirty="0">
                <a:solidFill>
                  <a:srgbClr val="16161A"/>
                </a:solidFill>
                <a:latin typeface="Calibri" pitchFamily="34" charset="0"/>
                <a:ea typeface="Calibri" pitchFamily="34" charset="-122"/>
                <a:cs typeface="Calibri" pitchFamily="34" charset="-120"/>
              </a:rPr>
              <a:t>ÇOK ÜRÜN</a:t>
            </a:r>
            <a:endParaRPr lang="en-US" sz="1000" dirty="0"/>
          </a:p>
        </p:txBody>
      </p:sp>
      <p:sp>
        <p:nvSpPr>
          <p:cNvPr id="9" name="Shape 7"/>
          <p:cNvSpPr/>
          <p:nvPr/>
        </p:nvSpPr>
        <p:spPr>
          <a:xfrm>
            <a:off x="2606040" y="4087368"/>
            <a:ext cx="146304" cy="146304"/>
          </a:xfrm>
          <a:prstGeom prst="ellipse">
            <a:avLst/>
          </a:prstGeom>
          <a:solidFill>
            <a:srgbClr val="8C3A2B"/>
          </a:solidFill>
          <a:ln w="12700">
            <a:solidFill>
              <a:srgbClr val="8C3A2B"/>
            </a:solidFill>
            <a:prstDash val="solid"/>
          </a:ln>
        </p:spPr>
      </p:sp>
      <p:sp>
        <p:nvSpPr>
          <p:cNvPr id="10" name="Text 8"/>
          <p:cNvSpPr txBox="1"/>
          <p:nvPr/>
        </p:nvSpPr>
        <p:spPr>
          <a:xfrm>
            <a:off x="1719072" y="3108960"/>
            <a:ext cx="1920240" cy="731520"/>
          </a:xfrm>
          <a:prstGeom prst="rect">
            <a:avLst/>
          </a:prstGeom>
          <a:noFill/>
          <a:ln/>
        </p:spPr>
        <p:txBody>
          <a:bodyPr wrap="square" lIns="0" tIns="0" rIns="0" bIns="0" rtlCol="0" anchor="b"/>
          <a:lstStyle/>
          <a:p>
            <a:pPr algn="ctr" indent="0" marL="0">
              <a:lnSpc>
                <a:spcPts val="1600"/>
              </a:lnSpc>
              <a:buNone/>
            </a:pPr>
            <a:r>
              <a:rPr lang="en-US" sz="1300" b="1" dirty="0">
                <a:solidFill>
                  <a:srgbClr val="16161A"/>
                </a:solidFill>
                <a:latin typeface="Cambria" pitchFamily="34" charset="0"/>
                <a:ea typeface="Cambria" pitchFamily="34" charset="-122"/>
                <a:cs typeface="Cambria" pitchFamily="34" charset="-120"/>
              </a:rPr>
              <a:t>Mücevher</a:t>
            </a:r>
            <a:endParaRPr lang="en-US" sz="1300" dirty="0"/>
          </a:p>
          <a:p>
            <a:pPr algn="ctr" indent="0" marL="0">
              <a:lnSpc>
                <a:spcPts val="1600"/>
              </a:lnSpc>
              <a:buNone/>
            </a:pPr>
            <a:r>
              <a:rPr lang="en-US" sz="1300" b="1" dirty="0">
                <a:solidFill>
                  <a:srgbClr val="16161A"/>
                </a:solidFill>
                <a:latin typeface="Cambria" pitchFamily="34" charset="0"/>
                <a:ea typeface="Cambria" pitchFamily="34" charset="-122"/>
                <a:cs typeface="Cambria" pitchFamily="34" charset="-120"/>
              </a:rPr>
              <a:t>Sanat</a:t>
            </a:r>
            <a:endParaRPr lang="en-US" sz="1300" dirty="0"/>
          </a:p>
        </p:txBody>
      </p:sp>
      <p:sp>
        <p:nvSpPr>
          <p:cNvPr id="11" name="Text 9"/>
          <p:cNvSpPr txBox="1"/>
          <p:nvPr/>
        </p:nvSpPr>
        <p:spPr>
          <a:xfrm>
            <a:off x="1719072" y="4379976"/>
            <a:ext cx="1920240" cy="640080"/>
          </a:xfrm>
          <a:prstGeom prst="rect">
            <a:avLst/>
          </a:prstGeom>
          <a:noFill/>
          <a:ln/>
        </p:spPr>
        <p:txBody>
          <a:bodyPr wrap="square" lIns="0" tIns="0" rIns="0" bIns="0" rtlCol="0" anchor="ctr"/>
          <a:lstStyle/>
          <a:p>
            <a:pPr algn="ctr" indent="0" marL="0">
              <a:lnSpc>
                <a:spcPts val="1250"/>
              </a:lnSpc>
              <a:buNone/>
            </a:pPr>
            <a:r>
              <a:rPr lang="en-US" sz="1000" dirty="0">
                <a:solidFill>
                  <a:srgbClr val="7A7A82"/>
                </a:solidFill>
                <a:latin typeface="Calibri" pitchFamily="34" charset="0"/>
                <a:ea typeface="Calibri" pitchFamily="34" charset="-122"/>
                <a:cs typeface="Calibri" pitchFamily="34" charset="-120"/>
              </a:rPr>
              <a:t>birim değer yüksek</a:t>
            </a:r>
            <a:endParaRPr lang="en-US" sz="1000" dirty="0"/>
          </a:p>
          <a:p>
            <a:pPr algn="ctr" indent="0" marL="0">
              <a:lnSpc>
                <a:spcPts val="1250"/>
              </a:lnSpc>
              <a:buNone/>
            </a:pPr>
            <a:r>
              <a:rPr lang="en-US" sz="1000" dirty="0">
                <a:solidFill>
                  <a:srgbClr val="7A7A82"/>
                </a:solidFill>
                <a:latin typeface="Calibri" pitchFamily="34" charset="0"/>
                <a:ea typeface="Calibri" pitchFamily="34" charset="-122"/>
                <a:cs typeface="Calibri" pitchFamily="34" charset="-120"/>
              </a:rPr>
              <a:t>boşluk = değer</a:t>
            </a:r>
            <a:endParaRPr lang="en-US" sz="1000" dirty="0"/>
          </a:p>
        </p:txBody>
      </p:sp>
      <p:sp>
        <p:nvSpPr>
          <p:cNvPr id="12" name="Shape 10"/>
          <p:cNvSpPr/>
          <p:nvPr/>
        </p:nvSpPr>
        <p:spPr>
          <a:xfrm>
            <a:off x="4646981" y="4087368"/>
            <a:ext cx="146304" cy="146304"/>
          </a:xfrm>
          <a:prstGeom prst="ellipse">
            <a:avLst/>
          </a:prstGeom>
          <a:solidFill>
            <a:srgbClr val="8C3A2B"/>
          </a:solidFill>
          <a:ln w="12700">
            <a:solidFill>
              <a:srgbClr val="8C3A2B"/>
            </a:solidFill>
            <a:prstDash val="solid"/>
          </a:ln>
        </p:spPr>
      </p:sp>
      <p:sp>
        <p:nvSpPr>
          <p:cNvPr id="13" name="Text 11"/>
          <p:cNvSpPr txBox="1"/>
          <p:nvPr/>
        </p:nvSpPr>
        <p:spPr>
          <a:xfrm>
            <a:off x="3760013" y="3108960"/>
            <a:ext cx="1920240" cy="731520"/>
          </a:xfrm>
          <a:prstGeom prst="rect">
            <a:avLst/>
          </a:prstGeom>
          <a:noFill/>
          <a:ln/>
        </p:spPr>
        <p:txBody>
          <a:bodyPr wrap="square" lIns="0" tIns="0" rIns="0" bIns="0" rtlCol="0" anchor="b"/>
          <a:lstStyle/>
          <a:p>
            <a:pPr algn="ctr" indent="0" marL="0">
              <a:lnSpc>
                <a:spcPts val="1600"/>
              </a:lnSpc>
              <a:buNone/>
            </a:pPr>
            <a:r>
              <a:rPr lang="en-US" sz="1300" b="1" dirty="0">
                <a:solidFill>
                  <a:srgbClr val="16161A"/>
                </a:solidFill>
                <a:latin typeface="Cambria" pitchFamily="34" charset="0"/>
                <a:ea typeface="Cambria" pitchFamily="34" charset="-122"/>
                <a:cs typeface="Cambria" pitchFamily="34" charset="-120"/>
              </a:rPr>
              <a:t>Sofistike moda</a:t>
            </a:r>
            <a:endParaRPr lang="en-US" sz="1300" dirty="0"/>
          </a:p>
          <a:p>
            <a:pPr algn="ctr" indent="0" marL="0">
              <a:lnSpc>
                <a:spcPts val="1600"/>
              </a:lnSpc>
              <a:buNone/>
            </a:pPr>
            <a:r>
              <a:rPr lang="en-US" sz="1300" b="1" dirty="0">
                <a:solidFill>
                  <a:srgbClr val="16161A"/>
                </a:solidFill>
                <a:latin typeface="Cambria" pitchFamily="34" charset="0"/>
                <a:ea typeface="Cambria" pitchFamily="34" charset="-122"/>
                <a:cs typeface="Cambria" pitchFamily="34" charset="-120"/>
              </a:rPr>
              <a:t>Parfüm</a:t>
            </a:r>
            <a:endParaRPr lang="en-US" sz="1300" dirty="0"/>
          </a:p>
        </p:txBody>
      </p:sp>
      <p:sp>
        <p:nvSpPr>
          <p:cNvPr id="14" name="Text 12"/>
          <p:cNvSpPr txBox="1"/>
          <p:nvPr/>
        </p:nvSpPr>
        <p:spPr>
          <a:xfrm>
            <a:off x="3760013" y="4379976"/>
            <a:ext cx="1920240" cy="640080"/>
          </a:xfrm>
          <a:prstGeom prst="rect">
            <a:avLst/>
          </a:prstGeom>
          <a:noFill/>
          <a:ln/>
        </p:spPr>
        <p:txBody>
          <a:bodyPr wrap="square" lIns="0" tIns="0" rIns="0" bIns="0" rtlCol="0" anchor="ctr"/>
          <a:lstStyle/>
          <a:p>
            <a:pPr algn="ctr" indent="0" marL="0">
              <a:lnSpc>
                <a:spcPts val="1250"/>
              </a:lnSpc>
              <a:buNone/>
            </a:pPr>
            <a:r>
              <a:rPr lang="en-US" sz="1000" dirty="0">
                <a:solidFill>
                  <a:srgbClr val="7A7A82"/>
                </a:solidFill>
                <a:latin typeface="Calibri" pitchFamily="34" charset="0"/>
                <a:ea typeface="Calibri" pitchFamily="34" charset="-122"/>
                <a:cs typeface="Calibri" pitchFamily="34" charset="-120"/>
              </a:rPr>
              <a:t>seçilmiş az sayıda</a:t>
            </a:r>
            <a:endParaRPr lang="en-US" sz="1000" dirty="0"/>
          </a:p>
          <a:p>
            <a:pPr algn="ctr" indent="0" marL="0">
              <a:lnSpc>
                <a:spcPts val="1250"/>
              </a:lnSpc>
              <a:buNone/>
            </a:pPr>
            <a:r>
              <a:rPr lang="en-US" sz="1000" dirty="0">
                <a:solidFill>
                  <a:srgbClr val="7A7A82"/>
                </a:solidFill>
                <a:latin typeface="Calibri" pitchFamily="34" charset="0"/>
                <a:ea typeface="Calibri" pitchFamily="34" charset="-122"/>
                <a:cs typeface="Calibri" pitchFamily="34" charset="-120"/>
              </a:rPr>
              <a:t>ürün, geniş boşluk</a:t>
            </a:r>
            <a:endParaRPr lang="en-US" sz="1000" dirty="0"/>
          </a:p>
        </p:txBody>
      </p:sp>
      <p:sp>
        <p:nvSpPr>
          <p:cNvPr id="15" name="Shape 13"/>
          <p:cNvSpPr/>
          <p:nvPr/>
        </p:nvSpPr>
        <p:spPr>
          <a:xfrm>
            <a:off x="7028078" y="4087368"/>
            <a:ext cx="146304" cy="146304"/>
          </a:xfrm>
          <a:prstGeom prst="ellipse">
            <a:avLst/>
          </a:prstGeom>
          <a:solidFill>
            <a:srgbClr val="8C3A2B"/>
          </a:solidFill>
          <a:ln w="12700">
            <a:solidFill>
              <a:srgbClr val="8C3A2B"/>
            </a:solidFill>
            <a:prstDash val="solid"/>
          </a:ln>
        </p:spPr>
      </p:sp>
      <p:sp>
        <p:nvSpPr>
          <p:cNvPr id="16" name="Text 14"/>
          <p:cNvSpPr txBox="1"/>
          <p:nvPr/>
        </p:nvSpPr>
        <p:spPr>
          <a:xfrm>
            <a:off x="6141110" y="3108960"/>
            <a:ext cx="1920240" cy="731520"/>
          </a:xfrm>
          <a:prstGeom prst="rect">
            <a:avLst/>
          </a:prstGeom>
          <a:noFill/>
          <a:ln/>
        </p:spPr>
        <p:txBody>
          <a:bodyPr wrap="square" lIns="0" tIns="0" rIns="0" bIns="0" rtlCol="0" anchor="b"/>
          <a:lstStyle/>
          <a:p>
            <a:pPr algn="ctr" indent="0" marL="0">
              <a:lnSpc>
                <a:spcPts val="1600"/>
              </a:lnSpc>
              <a:buNone/>
            </a:pPr>
            <a:r>
              <a:rPr lang="en-US" sz="1300" b="1" dirty="0">
                <a:solidFill>
                  <a:srgbClr val="16161A"/>
                </a:solidFill>
                <a:latin typeface="Cambria" pitchFamily="34" charset="0"/>
                <a:ea typeface="Cambria" pitchFamily="34" charset="-122"/>
                <a:cs typeface="Cambria" pitchFamily="34" charset="-120"/>
              </a:rPr>
              <a:t>Kitap · Plak</a:t>
            </a:r>
            <a:endParaRPr lang="en-US" sz="1300" dirty="0"/>
          </a:p>
          <a:p>
            <a:pPr algn="ctr" indent="0" marL="0">
              <a:lnSpc>
                <a:spcPts val="1600"/>
              </a:lnSpc>
              <a:buNone/>
            </a:pPr>
            <a:r>
              <a:rPr lang="en-US" sz="1300" b="1" dirty="0">
                <a:solidFill>
                  <a:srgbClr val="16161A"/>
                </a:solidFill>
                <a:latin typeface="Cambria" pitchFamily="34" charset="0"/>
                <a:ea typeface="Cambria" pitchFamily="34" charset="-122"/>
                <a:cs typeface="Cambria" pitchFamily="34" charset="-120"/>
              </a:rPr>
              <a:t>Zanaat</a:t>
            </a:r>
            <a:endParaRPr lang="en-US" sz="1300" dirty="0"/>
          </a:p>
        </p:txBody>
      </p:sp>
      <p:sp>
        <p:nvSpPr>
          <p:cNvPr id="17" name="Text 15"/>
          <p:cNvSpPr txBox="1"/>
          <p:nvPr/>
        </p:nvSpPr>
        <p:spPr>
          <a:xfrm>
            <a:off x="6141110" y="4379976"/>
            <a:ext cx="1920240" cy="640080"/>
          </a:xfrm>
          <a:prstGeom prst="rect">
            <a:avLst/>
          </a:prstGeom>
          <a:noFill/>
          <a:ln/>
        </p:spPr>
        <p:txBody>
          <a:bodyPr wrap="square" lIns="0" tIns="0" rIns="0" bIns="0" rtlCol="0" anchor="ctr"/>
          <a:lstStyle/>
          <a:p>
            <a:pPr algn="ctr" indent="0" marL="0">
              <a:lnSpc>
                <a:spcPts val="1250"/>
              </a:lnSpc>
              <a:buNone/>
            </a:pPr>
            <a:r>
              <a:rPr lang="en-US" sz="1000" dirty="0">
                <a:solidFill>
                  <a:srgbClr val="7A7A82"/>
                </a:solidFill>
                <a:latin typeface="Calibri" pitchFamily="34" charset="0"/>
                <a:ea typeface="Calibri" pitchFamily="34" charset="-122"/>
                <a:cs typeface="Calibri" pitchFamily="34" charset="-120"/>
              </a:rPr>
              <a:t>tarama davranışı,</a:t>
            </a:r>
            <a:endParaRPr lang="en-US" sz="1000" dirty="0"/>
          </a:p>
          <a:p>
            <a:pPr algn="ctr" indent="0" marL="0">
              <a:lnSpc>
                <a:spcPts val="1250"/>
              </a:lnSpc>
              <a:buNone/>
            </a:pPr>
            <a:r>
              <a:rPr lang="en-US" sz="1000" dirty="0">
                <a:solidFill>
                  <a:srgbClr val="7A7A82"/>
                </a:solidFill>
                <a:latin typeface="Calibri" pitchFamily="34" charset="0"/>
                <a:ea typeface="Calibri" pitchFamily="34" charset="-122"/>
                <a:cs typeface="Calibri" pitchFamily="34" charset="-120"/>
              </a:rPr>
              <a:t>orta yoğunluk</a:t>
            </a:r>
            <a:endParaRPr lang="en-US" sz="1000" dirty="0"/>
          </a:p>
        </p:txBody>
      </p:sp>
      <p:sp>
        <p:nvSpPr>
          <p:cNvPr id="18" name="Shape 16"/>
          <p:cNvSpPr/>
          <p:nvPr/>
        </p:nvSpPr>
        <p:spPr>
          <a:xfrm>
            <a:off x="9239098" y="4087368"/>
            <a:ext cx="146304" cy="146304"/>
          </a:xfrm>
          <a:prstGeom prst="ellipse">
            <a:avLst/>
          </a:prstGeom>
          <a:solidFill>
            <a:srgbClr val="8C3A2B"/>
          </a:solidFill>
          <a:ln w="12700">
            <a:solidFill>
              <a:srgbClr val="8C3A2B"/>
            </a:solidFill>
            <a:prstDash val="solid"/>
          </a:ln>
        </p:spPr>
      </p:sp>
      <p:sp>
        <p:nvSpPr>
          <p:cNvPr id="19" name="Text 17"/>
          <p:cNvSpPr txBox="1"/>
          <p:nvPr/>
        </p:nvSpPr>
        <p:spPr>
          <a:xfrm>
            <a:off x="8352130" y="3108960"/>
            <a:ext cx="1920240" cy="731520"/>
          </a:xfrm>
          <a:prstGeom prst="rect">
            <a:avLst/>
          </a:prstGeom>
          <a:noFill/>
          <a:ln/>
        </p:spPr>
        <p:txBody>
          <a:bodyPr wrap="square" lIns="0" tIns="0" rIns="0" bIns="0" rtlCol="0" anchor="b"/>
          <a:lstStyle/>
          <a:p>
            <a:pPr algn="ctr" indent="0" marL="0">
              <a:lnSpc>
                <a:spcPts val="1600"/>
              </a:lnSpc>
              <a:buNone/>
            </a:pPr>
            <a:r>
              <a:rPr lang="en-US" sz="1300" b="1" dirty="0">
                <a:solidFill>
                  <a:srgbClr val="16161A"/>
                </a:solidFill>
                <a:latin typeface="Cambria" pitchFamily="34" charset="0"/>
                <a:ea typeface="Cambria" pitchFamily="34" charset="-122"/>
                <a:cs typeface="Cambria" pitchFamily="34" charset="-120"/>
              </a:rPr>
              <a:t>Süpermarket</a:t>
            </a:r>
            <a:endParaRPr lang="en-US" sz="1300" dirty="0"/>
          </a:p>
          <a:p>
            <a:pPr algn="ctr" indent="0" marL="0">
              <a:lnSpc>
                <a:spcPts val="1600"/>
              </a:lnSpc>
              <a:buNone/>
            </a:pPr>
            <a:r>
              <a:rPr lang="en-US" sz="1300" b="1" dirty="0">
                <a:solidFill>
                  <a:srgbClr val="16161A"/>
                </a:solidFill>
                <a:latin typeface="Cambria" pitchFamily="34" charset="0"/>
                <a:ea typeface="Cambria" pitchFamily="34" charset="-122"/>
                <a:cs typeface="Cambria" pitchFamily="34" charset="-120"/>
              </a:rPr>
              <a:t>İndirim</a:t>
            </a:r>
            <a:endParaRPr lang="en-US" sz="1300" dirty="0"/>
          </a:p>
        </p:txBody>
      </p:sp>
      <p:sp>
        <p:nvSpPr>
          <p:cNvPr id="20" name="Text 18"/>
          <p:cNvSpPr txBox="1"/>
          <p:nvPr/>
        </p:nvSpPr>
        <p:spPr>
          <a:xfrm>
            <a:off x="8352130" y="4379976"/>
            <a:ext cx="1920240" cy="640080"/>
          </a:xfrm>
          <a:prstGeom prst="rect">
            <a:avLst/>
          </a:prstGeom>
          <a:noFill/>
          <a:ln/>
        </p:spPr>
        <p:txBody>
          <a:bodyPr wrap="square" lIns="0" tIns="0" rIns="0" bIns="0" rtlCol="0" anchor="ctr"/>
          <a:lstStyle/>
          <a:p>
            <a:pPr algn="ctr" indent="0" marL="0">
              <a:lnSpc>
                <a:spcPts val="1250"/>
              </a:lnSpc>
              <a:buNone/>
            </a:pPr>
            <a:r>
              <a:rPr lang="en-US" sz="1000" dirty="0">
                <a:solidFill>
                  <a:srgbClr val="7A7A82"/>
                </a:solidFill>
                <a:latin typeface="Calibri" pitchFamily="34" charset="0"/>
                <a:ea typeface="Calibri" pitchFamily="34" charset="-122"/>
                <a:cs typeface="Calibri" pitchFamily="34" charset="-120"/>
              </a:rPr>
              <a:t>bolluk sinyali,</a:t>
            </a:r>
            <a:endParaRPr lang="en-US" sz="1000" dirty="0"/>
          </a:p>
          <a:p>
            <a:pPr algn="ctr" indent="0" marL="0">
              <a:lnSpc>
                <a:spcPts val="1250"/>
              </a:lnSpc>
              <a:buNone/>
            </a:pPr>
            <a:r>
              <a:rPr lang="en-US" sz="1000" dirty="0">
                <a:solidFill>
                  <a:srgbClr val="7A7A82"/>
                </a:solidFill>
                <a:latin typeface="Calibri" pitchFamily="34" charset="0"/>
                <a:ea typeface="Calibri" pitchFamily="34" charset="-122"/>
                <a:cs typeface="Calibri" pitchFamily="34" charset="-120"/>
              </a:rPr>
              <a:t>hızlı hareket</a:t>
            </a:r>
            <a:endParaRPr lang="en-US" sz="1000" dirty="0"/>
          </a:p>
        </p:txBody>
      </p:sp>
      <p:sp>
        <p:nvSpPr>
          <p:cNvPr id="21" name="Text 19"/>
          <p:cNvSpPr txBox="1"/>
          <p:nvPr/>
        </p:nvSpPr>
        <p:spPr>
          <a:xfrm>
            <a:off x="777240" y="5349240"/>
            <a:ext cx="10424160" cy="365760"/>
          </a:xfrm>
          <a:prstGeom prst="rect">
            <a:avLst/>
          </a:prstGeom>
          <a:noFill/>
          <a:ln/>
        </p:spPr>
        <p:txBody>
          <a:bodyPr wrap="square" lIns="0" tIns="0" rIns="0" bIns="0" rtlCol="0" anchor="ctr"/>
          <a:lstStyle/>
          <a:p>
            <a:pPr algn="ctr" indent="0" marL="0">
              <a:lnSpc>
                <a:spcPts val="1200"/>
              </a:lnSpc>
              <a:buNone/>
            </a:pPr>
            <a:r>
              <a:rPr lang="en-US" sz="1400" i="1" dirty="0">
                <a:solidFill>
                  <a:srgbClr val="8C3A2B"/>
                </a:solidFill>
                <a:latin typeface="Cambria" pitchFamily="34" charset="0"/>
                <a:ea typeface="Cambria" pitchFamily="34" charset="-122"/>
                <a:cs typeface="Cambria" pitchFamily="34" charset="-120"/>
              </a:rPr>
              <a:t>Kural: pahalı ürün = az ürün + çok boşluk. Yoğunluk, ucuzluk sinyalidir.</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6161A"/>
        </a:solidFill>
      </p:bgPr>
    </p:bg>
    <p:spTree>
      <p:nvGrpSpPr>
        <p:cNvPr id="1" name=""/>
        <p:cNvGrpSpPr/>
        <p:nvPr/>
      </p:nvGrpSpPr>
      <p:grpSpPr>
        <a:xfrm>
          <a:off x="0" y="0"/>
          <a:ext cx="0" cy="0"/>
          <a:chOff x="0" y="0"/>
          <a:chExt cx="0" cy="0"/>
        </a:xfrm>
      </p:grpSpPr>
      <p:sp>
        <p:nvSpPr>
          <p:cNvPr id="2" name="Text 0"/>
          <p:cNvSpPr txBox="1"/>
          <p:nvPr/>
        </p:nvSpPr>
        <p:spPr>
          <a:xfrm>
            <a:off x="777240" y="1371600"/>
            <a:ext cx="3108960" cy="2377440"/>
          </a:xfrm>
          <a:prstGeom prst="rect">
            <a:avLst/>
          </a:prstGeom>
          <a:noFill/>
          <a:ln/>
        </p:spPr>
        <p:txBody>
          <a:bodyPr wrap="square" lIns="0" tIns="0" rIns="0" bIns="0" rtlCol="0" anchor="ctr"/>
          <a:lstStyle/>
          <a:p>
            <a:pPr indent="0" marL="0">
              <a:buNone/>
            </a:pPr>
            <a:r>
              <a:rPr lang="en-US" sz="13000" b="1" dirty="0">
                <a:solidFill>
                  <a:srgbClr val="8C3A2B"/>
                </a:solidFill>
                <a:latin typeface="Cambria" pitchFamily="34" charset="0"/>
                <a:ea typeface="Cambria" pitchFamily="34" charset="-122"/>
                <a:cs typeface="Cambria" pitchFamily="34" charset="-120"/>
              </a:rPr>
              <a:t>IV</a:t>
            </a:r>
            <a:endParaRPr lang="en-US" sz="13000" dirty="0"/>
          </a:p>
        </p:txBody>
      </p:sp>
      <p:sp>
        <p:nvSpPr>
          <p:cNvPr id="3" name="Text 1"/>
          <p:cNvSpPr txBox="1"/>
          <p:nvPr/>
        </p:nvSpPr>
        <p:spPr>
          <a:xfrm>
            <a:off x="777240" y="3611880"/>
            <a:ext cx="10424160" cy="1325880"/>
          </a:xfrm>
          <a:prstGeom prst="rect">
            <a:avLst/>
          </a:prstGeom>
          <a:noFill/>
          <a:ln/>
        </p:spPr>
        <p:txBody>
          <a:bodyPr wrap="square" lIns="0" tIns="0" rIns="0" bIns="0" rtlCol="0" anchor="ctr"/>
          <a:lstStyle/>
          <a:p>
            <a:pPr indent="0" marL="0">
              <a:lnSpc>
                <a:spcPts val="4400"/>
              </a:lnSpc>
              <a:buNone/>
            </a:pPr>
            <a:r>
              <a:rPr lang="en-US" sz="4000" b="1" dirty="0">
                <a:solidFill>
                  <a:srgbClr val="FFFFFF"/>
                </a:solidFill>
                <a:latin typeface="Cambria" pitchFamily="34" charset="0"/>
                <a:ea typeface="Cambria" pitchFamily="34" charset="-122"/>
                <a:cs typeface="Cambria" pitchFamily="34" charset="-120"/>
              </a:rPr>
              <a:t>Dışarıdan içeriye</a:t>
            </a:r>
            <a:endParaRPr lang="en-US" sz="4000" dirty="0"/>
          </a:p>
        </p:txBody>
      </p:sp>
      <p:sp>
        <p:nvSpPr>
          <p:cNvPr id="4" name="Text 2"/>
          <p:cNvSpPr txBox="1"/>
          <p:nvPr/>
        </p:nvSpPr>
        <p:spPr>
          <a:xfrm>
            <a:off x="777240" y="5029200"/>
            <a:ext cx="9509760" cy="822960"/>
          </a:xfrm>
          <a:prstGeom prst="rect">
            <a:avLst/>
          </a:prstGeom>
          <a:noFill/>
          <a:ln/>
        </p:spPr>
        <p:txBody>
          <a:bodyPr wrap="square" lIns="0" tIns="0" rIns="0" bIns="0" rtlCol="0" anchor="ctr"/>
          <a:lstStyle/>
          <a:p>
            <a:pPr indent="0" marL="0">
              <a:lnSpc>
                <a:spcPts val="2200"/>
              </a:lnSpc>
              <a:buNone/>
            </a:pPr>
            <a:r>
              <a:rPr lang="en-US" sz="1500" dirty="0">
                <a:solidFill>
                  <a:srgbClr val="B9B9C0"/>
                </a:solidFill>
                <a:latin typeface="Calibri" pitchFamily="34" charset="0"/>
                <a:ea typeface="Calibri" pitchFamily="34" charset="-122"/>
                <a:cs typeface="Calibri" pitchFamily="34" charset="-120"/>
              </a:rPr>
              <a:t>Cephe, vitrin ve eşik: insanı sokaktan mağazaya almak.</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CFCFA"/>
        </a:solidFill>
      </p:bgPr>
    </p:bg>
    <p:spTree>
      <p:nvGrpSpPr>
        <p:cNvPr id="1" name=""/>
        <p:cNvGrpSpPr/>
        <p:nvPr/>
      </p:nvGrpSpPr>
      <p:grpSpPr>
        <a:xfrm>
          <a:off x="0" y="0"/>
          <a:ext cx="0" cy="0"/>
          <a:chOff x="0" y="0"/>
          <a:chExt cx="0" cy="0"/>
        </a:xfrm>
      </p:grpSpPr>
      <p:sp>
        <p:nvSpPr>
          <p:cNvPr id="2" name="Text 0"/>
          <p:cNvSpPr txBox="1"/>
          <p:nvPr/>
        </p:nvSpPr>
        <p:spPr>
          <a:xfrm>
            <a:off x="777240" y="475488"/>
            <a:ext cx="9601200" cy="237744"/>
          </a:xfrm>
          <a:prstGeom prst="rect">
            <a:avLst/>
          </a:prstGeom>
          <a:noFill/>
          <a:ln/>
        </p:spPr>
        <p:txBody>
          <a:bodyPr wrap="square" lIns="0" tIns="0" rIns="0" bIns="0" rtlCol="0" anchor="ctr"/>
          <a:lstStyle/>
          <a:p>
            <a:pPr indent="0" marL="0">
              <a:buNone/>
            </a:pPr>
            <a:r>
              <a:rPr lang="en-US" sz="950" b="1" spc="260" kern="0" dirty="0">
                <a:solidFill>
                  <a:srgbClr val="7A7A82"/>
                </a:solidFill>
                <a:latin typeface="Calibri" pitchFamily="34" charset="0"/>
                <a:ea typeface="Calibri" pitchFamily="34" charset="-122"/>
                <a:cs typeface="Calibri" pitchFamily="34" charset="-120"/>
              </a:rPr>
              <a:t>IV · DIŞARIDAN İÇERİYE</a:t>
            </a:r>
            <a:endParaRPr lang="en-US" sz="950" dirty="0"/>
          </a:p>
        </p:txBody>
      </p:sp>
      <p:sp>
        <p:nvSpPr>
          <p:cNvPr id="3" name="Text 1"/>
          <p:cNvSpPr txBox="1"/>
          <p:nvPr/>
        </p:nvSpPr>
        <p:spPr>
          <a:xfrm>
            <a:off x="777240" y="822960"/>
            <a:ext cx="10424160" cy="731520"/>
          </a:xfrm>
          <a:prstGeom prst="rect">
            <a:avLst/>
          </a:prstGeom>
          <a:noFill/>
          <a:ln/>
        </p:spPr>
        <p:txBody>
          <a:bodyPr wrap="square" lIns="0" tIns="0" rIns="0" bIns="0" rtlCol="0" anchor="ctr"/>
          <a:lstStyle/>
          <a:p>
            <a:pPr indent="0" marL="0">
              <a:lnSpc>
                <a:spcPts val="3400"/>
              </a:lnSpc>
              <a:buNone/>
            </a:pPr>
            <a:r>
              <a:rPr lang="en-US" sz="2900" b="1" dirty="0">
                <a:solidFill>
                  <a:srgbClr val="16161A"/>
                </a:solidFill>
                <a:latin typeface="Cambria" pitchFamily="34" charset="0"/>
                <a:ea typeface="Cambria" pitchFamily="34" charset="-122"/>
                <a:cs typeface="Cambria" pitchFamily="34" charset="-120"/>
              </a:rPr>
              <a:t>Üç mesafe: cephe kaç metreden ne söylüyor?</a:t>
            </a:r>
            <a:endParaRPr lang="en-US" sz="2900" dirty="0"/>
          </a:p>
        </p:txBody>
      </p:sp>
      <p:sp>
        <p:nvSpPr>
          <p:cNvPr id="4" name="Text 2"/>
          <p:cNvSpPr txBox="1"/>
          <p:nvPr/>
        </p:nvSpPr>
        <p:spPr>
          <a:xfrm>
            <a:off x="10972800" y="6355080"/>
            <a:ext cx="438912" cy="237744"/>
          </a:xfrm>
          <a:prstGeom prst="rect">
            <a:avLst/>
          </a:prstGeom>
          <a:noFill/>
          <a:ln/>
        </p:spPr>
        <p:txBody>
          <a:bodyPr wrap="square" lIns="0" tIns="0" rIns="0" bIns="0" rtlCol="0" anchor="ctr"/>
          <a:lstStyle/>
          <a:p>
            <a:pPr algn="r" indent="0" marL="0">
              <a:buNone/>
            </a:pPr>
            <a:r>
              <a:rPr lang="en-US" sz="950" dirty="0">
                <a:solidFill>
                  <a:srgbClr val="A6A6AC"/>
                </a:solidFill>
                <a:latin typeface="Calibri" pitchFamily="34" charset="0"/>
                <a:ea typeface="Calibri" pitchFamily="34" charset="-122"/>
                <a:cs typeface="Calibri" pitchFamily="34" charset="-120"/>
              </a:rPr>
              <a:t>19</a:t>
            </a:r>
            <a:endParaRPr lang="en-US" sz="950" dirty="0"/>
          </a:p>
        </p:txBody>
      </p:sp>
      <p:sp>
        <p:nvSpPr>
          <p:cNvPr id="5" name="Shape 3"/>
          <p:cNvSpPr/>
          <p:nvPr/>
        </p:nvSpPr>
        <p:spPr>
          <a:xfrm>
            <a:off x="8595360" y="1874520"/>
            <a:ext cx="0" cy="3703320"/>
          </a:xfrm>
          <a:prstGeom prst="line">
            <a:avLst/>
          </a:prstGeom>
          <a:noFill/>
          <a:ln w="25400">
            <a:solidFill>
              <a:srgbClr val="16161A"/>
            </a:solidFill>
            <a:prstDash val="solid"/>
          </a:ln>
        </p:spPr>
      </p:sp>
      <p:sp>
        <p:nvSpPr>
          <p:cNvPr id="6" name="Text 4"/>
          <p:cNvSpPr txBox="1"/>
          <p:nvPr/>
        </p:nvSpPr>
        <p:spPr>
          <a:xfrm>
            <a:off x="8759952" y="1837944"/>
            <a:ext cx="1280160" cy="274320"/>
          </a:xfrm>
          <a:prstGeom prst="rect">
            <a:avLst/>
          </a:prstGeom>
          <a:noFill/>
          <a:ln/>
        </p:spPr>
        <p:txBody>
          <a:bodyPr wrap="square" lIns="0" tIns="0" rIns="0" bIns="0" rtlCol="0" anchor="ctr"/>
          <a:lstStyle/>
          <a:p>
            <a:pPr algn="l" indent="0" marL="0">
              <a:lnSpc>
                <a:spcPts val="1200"/>
              </a:lnSpc>
              <a:buNone/>
            </a:pPr>
            <a:r>
              <a:rPr lang="en-US" sz="1000" b="1" dirty="0">
                <a:solidFill>
                  <a:srgbClr val="16161A"/>
                </a:solidFill>
                <a:latin typeface="Calibri" pitchFamily="34" charset="0"/>
                <a:ea typeface="Calibri" pitchFamily="34" charset="-122"/>
                <a:cs typeface="Calibri" pitchFamily="34" charset="-120"/>
              </a:rPr>
              <a:t>CEPHE</a:t>
            </a:r>
            <a:endParaRPr lang="en-US" sz="1000" dirty="0"/>
          </a:p>
        </p:txBody>
      </p:sp>
      <p:sp>
        <p:nvSpPr>
          <p:cNvPr id="7" name="Shape 5"/>
          <p:cNvSpPr/>
          <p:nvPr/>
        </p:nvSpPr>
        <p:spPr>
          <a:xfrm>
            <a:off x="960120" y="4983480"/>
            <a:ext cx="182880" cy="182880"/>
          </a:xfrm>
          <a:prstGeom prst="ellipse">
            <a:avLst/>
          </a:prstGeom>
          <a:solidFill>
            <a:srgbClr val="7A7A82"/>
          </a:solidFill>
          <a:ln w="12700">
            <a:solidFill>
              <a:srgbClr val="7A7A82"/>
            </a:solidFill>
            <a:prstDash val="solid"/>
          </a:ln>
        </p:spPr>
      </p:sp>
      <p:sp>
        <p:nvSpPr>
          <p:cNvPr id="8" name="Shape 6"/>
          <p:cNvSpPr/>
          <p:nvPr/>
        </p:nvSpPr>
        <p:spPr>
          <a:xfrm>
            <a:off x="1197864" y="5074920"/>
            <a:ext cx="7342632" cy="0"/>
          </a:xfrm>
          <a:prstGeom prst="line">
            <a:avLst/>
          </a:prstGeom>
          <a:noFill/>
          <a:ln w="12700">
            <a:solidFill>
              <a:srgbClr val="C9C9CF"/>
            </a:solidFill>
            <a:prstDash val="dash"/>
            <a:tailEnd type="triangle"/>
          </a:ln>
        </p:spPr>
      </p:sp>
      <p:sp>
        <p:nvSpPr>
          <p:cNvPr id="9" name="Text 7"/>
          <p:cNvSpPr txBox="1"/>
          <p:nvPr/>
        </p:nvSpPr>
        <p:spPr>
          <a:xfrm>
            <a:off x="731520" y="1965960"/>
            <a:ext cx="1371600" cy="457200"/>
          </a:xfrm>
          <a:prstGeom prst="rect">
            <a:avLst/>
          </a:prstGeom>
          <a:noFill/>
          <a:ln/>
        </p:spPr>
        <p:txBody>
          <a:bodyPr wrap="square" lIns="0" tIns="0" rIns="0" bIns="0" rtlCol="0" anchor="ctr"/>
          <a:lstStyle/>
          <a:p>
            <a:pPr indent="0" marL="0">
              <a:buNone/>
            </a:pPr>
            <a:r>
              <a:rPr lang="en-US" sz="3000" b="1" dirty="0">
                <a:solidFill>
                  <a:srgbClr val="7A7A82"/>
                </a:solidFill>
                <a:latin typeface="Cambria" pitchFamily="34" charset="0"/>
                <a:ea typeface="Cambria" pitchFamily="34" charset="-122"/>
                <a:cs typeface="Cambria" pitchFamily="34" charset="-120"/>
              </a:rPr>
              <a:t>30 m</a:t>
            </a:r>
            <a:endParaRPr lang="en-US" sz="3000" dirty="0"/>
          </a:p>
        </p:txBody>
      </p:sp>
      <p:sp>
        <p:nvSpPr>
          <p:cNvPr id="10" name="Text 8"/>
          <p:cNvSpPr txBox="1"/>
          <p:nvPr/>
        </p:nvSpPr>
        <p:spPr>
          <a:xfrm>
            <a:off x="731520" y="2468880"/>
            <a:ext cx="2377440" cy="310896"/>
          </a:xfrm>
          <a:prstGeom prst="rect">
            <a:avLst/>
          </a:prstGeom>
          <a:noFill/>
          <a:ln/>
        </p:spPr>
        <p:txBody>
          <a:bodyPr wrap="square" lIns="0" tIns="0" rIns="0" bIns="0" rtlCol="0" anchor="ctr"/>
          <a:lstStyle/>
          <a:p>
            <a:pPr indent="0" marL="0">
              <a:lnSpc>
                <a:spcPts val="1200"/>
              </a:lnSpc>
              <a:buNone/>
            </a:pPr>
            <a:r>
              <a:rPr lang="en-US" sz="950" b="1" dirty="0">
                <a:solidFill>
                  <a:srgbClr val="16161A"/>
                </a:solidFill>
                <a:latin typeface="Calibri" pitchFamily="34" charset="0"/>
                <a:ea typeface="Calibri" pitchFamily="34" charset="-122"/>
                <a:cs typeface="Calibri" pitchFamily="34" charset="-120"/>
              </a:rPr>
              <a:t>Promenadın veya sokağın karşı ucundan</a:t>
            </a:r>
            <a:endParaRPr lang="en-US" sz="950" dirty="0"/>
          </a:p>
        </p:txBody>
      </p:sp>
      <p:sp>
        <p:nvSpPr>
          <p:cNvPr id="11" name="Text 9"/>
          <p:cNvSpPr txBox="1"/>
          <p:nvPr/>
        </p:nvSpPr>
        <p:spPr>
          <a:xfrm>
            <a:off x="731520" y="2798064"/>
            <a:ext cx="2377440" cy="1371600"/>
          </a:xfrm>
          <a:prstGeom prst="rect">
            <a:avLst/>
          </a:prstGeom>
          <a:noFill/>
          <a:ln/>
        </p:spPr>
        <p:txBody>
          <a:bodyPr wrap="square" lIns="0" tIns="0" rIns="0" bIns="0" rtlCol="0" anchor="ctr"/>
          <a:lstStyle/>
          <a:p>
            <a:pPr indent="0" marL="0">
              <a:lnSpc>
                <a:spcPts val="1400"/>
              </a:lnSpc>
              <a:buNone/>
            </a:pPr>
            <a:r>
              <a:rPr lang="en-US" sz="1050" dirty="0">
                <a:solidFill>
                  <a:srgbClr val="7A7A82"/>
                </a:solidFill>
                <a:latin typeface="Calibri" pitchFamily="34" charset="0"/>
                <a:ea typeface="Calibri" pitchFamily="34" charset="-122"/>
                <a:cs typeface="Calibri" pitchFamily="34" charset="-120"/>
              </a:rPr>
              <a:t>Silüet, ışık lekesi, tabela. Marka okunmaz — sadece orada bir şey olduğu okunur.</a:t>
            </a:r>
            <a:endParaRPr lang="en-US" sz="1050" dirty="0"/>
          </a:p>
        </p:txBody>
      </p:sp>
      <p:sp>
        <p:nvSpPr>
          <p:cNvPr id="12" name="Shape 10"/>
          <p:cNvSpPr/>
          <p:nvPr/>
        </p:nvSpPr>
        <p:spPr>
          <a:xfrm>
            <a:off x="3611880" y="4983480"/>
            <a:ext cx="182880" cy="182880"/>
          </a:xfrm>
          <a:prstGeom prst="ellipse">
            <a:avLst/>
          </a:prstGeom>
          <a:solidFill>
            <a:srgbClr val="8C3A2B"/>
          </a:solidFill>
          <a:ln w="12700">
            <a:solidFill>
              <a:srgbClr val="8C3A2B"/>
            </a:solidFill>
            <a:prstDash val="solid"/>
          </a:ln>
        </p:spPr>
      </p:sp>
      <p:sp>
        <p:nvSpPr>
          <p:cNvPr id="13" name="Shape 11"/>
          <p:cNvSpPr/>
          <p:nvPr/>
        </p:nvSpPr>
        <p:spPr>
          <a:xfrm>
            <a:off x="3849624" y="5074920"/>
            <a:ext cx="4690872" cy="0"/>
          </a:xfrm>
          <a:prstGeom prst="line">
            <a:avLst/>
          </a:prstGeom>
          <a:noFill/>
          <a:ln w="19050">
            <a:solidFill>
              <a:srgbClr val="8C3A2B"/>
            </a:solidFill>
            <a:prstDash val="solid"/>
            <a:tailEnd type="triangle"/>
          </a:ln>
        </p:spPr>
      </p:sp>
      <p:sp>
        <p:nvSpPr>
          <p:cNvPr id="14" name="Text 12"/>
          <p:cNvSpPr txBox="1"/>
          <p:nvPr/>
        </p:nvSpPr>
        <p:spPr>
          <a:xfrm>
            <a:off x="3383280" y="1984248"/>
            <a:ext cx="1371600" cy="457200"/>
          </a:xfrm>
          <a:prstGeom prst="rect">
            <a:avLst/>
          </a:prstGeom>
          <a:noFill/>
          <a:ln/>
        </p:spPr>
        <p:txBody>
          <a:bodyPr wrap="square" lIns="0" tIns="0" rIns="0" bIns="0" rtlCol="0" anchor="ctr"/>
          <a:lstStyle/>
          <a:p>
            <a:pPr indent="0" marL="0">
              <a:buNone/>
            </a:pPr>
            <a:r>
              <a:rPr lang="en-US" sz="3000" b="1" dirty="0">
                <a:solidFill>
                  <a:srgbClr val="8C3A2B"/>
                </a:solidFill>
                <a:latin typeface="Cambria" pitchFamily="34" charset="0"/>
                <a:ea typeface="Cambria" pitchFamily="34" charset="-122"/>
                <a:cs typeface="Cambria" pitchFamily="34" charset="-120"/>
              </a:rPr>
              <a:t>10 m</a:t>
            </a:r>
            <a:endParaRPr lang="en-US" sz="3000" dirty="0"/>
          </a:p>
        </p:txBody>
      </p:sp>
      <p:sp>
        <p:nvSpPr>
          <p:cNvPr id="15" name="Text 13"/>
          <p:cNvSpPr txBox="1"/>
          <p:nvPr/>
        </p:nvSpPr>
        <p:spPr>
          <a:xfrm>
            <a:off x="3383280" y="2468880"/>
            <a:ext cx="2377440" cy="310896"/>
          </a:xfrm>
          <a:prstGeom prst="rect">
            <a:avLst/>
          </a:prstGeom>
          <a:noFill/>
          <a:ln/>
        </p:spPr>
        <p:txBody>
          <a:bodyPr wrap="square" lIns="0" tIns="0" rIns="0" bIns="0" rtlCol="0" anchor="ctr"/>
          <a:lstStyle/>
          <a:p>
            <a:pPr indent="0" marL="0">
              <a:lnSpc>
                <a:spcPts val="1200"/>
              </a:lnSpc>
              <a:buNone/>
            </a:pPr>
            <a:r>
              <a:rPr lang="en-US" sz="950" b="1" dirty="0">
                <a:solidFill>
                  <a:srgbClr val="16161A"/>
                </a:solidFill>
                <a:latin typeface="Calibri" pitchFamily="34" charset="0"/>
                <a:ea typeface="Calibri" pitchFamily="34" charset="-122"/>
                <a:cs typeface="Calibri" pitchFamily="34" charset="-120"/>
              </a:rPr>
              <a:t>Yürüyüş hattından</a:t>
            </a:r>
            <a:endParaRPr lang="en-US" sz="950" dirty="0"/>
          </a:p>
        </p:txBody>
      </p:sp>
      <p:sp>
        <p:nvSpPr>
          <p:cNvPr id="16" name="Text 14"/>
          <p:cNvSpPr txBox="1"/>
          <p:nvPr/>
        </p:nvSpPr>
        <p:spPr>
          <a:xfrm>
            <a:off x="3383280" y="2798064"/>
            <a:ext cx="2377440" cy="1371600"/>
          </a:xfrm>
          <a:prstGeom prst="rect">
            <a:avLst/>
          </a:prstGeom>
          <a:noFill/>
          <a:ln/>
        </p:spPr>
        <p:txBody>
          <a:bodyPr wrap="square" lIns="0" tIns="0" rIns="0" bIns="0" rtlCol="0" anchor="ctr"/>
          <a:lstStyle/>
          <a:p>
            <a:pPr indent="0" marL="0">
              <a:lnSpc>
                <a:spcPts val="1400"/>
              </a:lnSpc>
              <a:buNone/>
            </a:pPr>
            <a:r>
              <a:rPr lang="en-US" sz="1050" dirty="0">
                <a:solidFill>
                  <a:srgbClr val="7A7A82"/>
                </a:solidFill>
                <a:latin typeface="Calibri" pitchFamily="34" charset="0"/>
                <a:ea typeface="Calibri" pitchFamily="34" charset="-122"/>
                <a:cs typeface="Calibri" pitchFamily="34" charset="-120"/>
              </a:rPr>
              <a:t>Marka adı, vitrinin kurgusu, içerinin derinliği. Durup durmama kararı burada verilir.</a:t>
            </a:r>
            <a:endParaRPr lang="en-US" sz="1050" dirty="0"/>
          </a:p>
        </p:txBody>
      </p:sp>
      <p:sp>
        <p:nvSpPr>
          <p:cNvPr id="17" name="Shape 15"/>
          <p:cNvSpPr/>
          <p:nvPr/>
        </p:nvSpPr>
        <p:spPr>
          <a:xfrm>
            <a:off x="6812280" y="4983480"/>
            <a:ext cx="182880" cy="182880"/>
          </a:xfrm>
          <a:prstGeom prst="ellipse">
            <a:avLst/>
          </a:prstGeom>
          <a:solidFill>
            <a:srgbClr val="7A7A82"/>
          </a:solidFill>
          <a:ln w="12700">
            <a:solidFill>
              <a:srgbClr val="7A7A82"/>
            </a:solidFill>
            <a:prstDash val="solid"/>
          </a:ln>
        </p:spPr>
      </p:sp>
      <p:sp>
        <p:nvSpPr>
          <p:cNvPr id="18" name="Shape 16"/>
          <p:cNvSpPr/>
          <p:nvPr/>
        </p:nvSpPr>
        <p:spPr>
          <a:xfrm>
            <a:off x="7050024" y="5074920"/>
            <a:ext cx="1490472" cy="0"/>
          </a:xfrm>
          <a:prstGeom prst="line">
            <a:avLst/>
          </a:prstGeom>
          <a:noFill/>
          <a:ln w="12700">
            <a:solidFill>
              <a:srgbClr val="C9C9CF"/>
            </a:solidFill>
            <a:prstDash val="dash"/>
            <a:tailEnd type="triangle"/>
          </a:ln>
        </p:spPr>
      </p:sp>
      <p:sp>
        <p:nvSpPr>
          <p:cNvPr id="19" name="Text 17"/>
          <p:cNvSpPr txBox="1"/>
          <p:nvPr/>
        </p:nvSpPr>
        <p:spPr>
          <a:xfrm>
            <a:off x="6583680" y="2002536"/>
            <a:ext cx="1371600" cy="457200"/>
          </a:xfrm>
          <a:prstGeom prst="rect">
            <a:avLst/>
          </a:prstGeom>
          <a:noFill/>
          <a:ln/>
        </p:spPr>
        <p:txBody>
          <a:bodyPr wrap="square" lIns="0" tIns="0" rIns="0" bIns="0" rtlCol="0" anchor="ctr"/>
          <a:lstStyle/>
          <a:p>
            <a:pPr indent="0" marL="0">
              <a:buNone/>
            </a:pPr>
            <a:r>
              <a:rPr lang="en-US" sz="3000" b="1" dirty="0">
                <a:solidFill>
                  <a:srgbClr val="7A7A82"/>
                </a:solidFill>
                <a:latin typeface="Cambria" pitchFamily="34" charset="0"/>
                <a:ea typeface="Cambria" pitchFamily="34" charset="-122"/>
                <a:cs typeface="Cambria" pitchFamily="34" charset="-120"/>
              </a:rPr>
              <a:t>3 m</a:t>
            </a:r>
            <a:endParaRPr lang="en-US" sz="3000" dirty="0"/>
          </a:p>
        </p:txBody>
      </p:sp>
      <p:sp>
        <p:nvSpPr>
          <p:cNvPr id="20" name="Text 18"/>
          <p:cNvSpPr txBox="1"/>
          <p:nvPr/>
        </p:nvSpPr>
        <p:spPr>
          <a:xfrm>
            <a:off x="6583680" y="2468880"/>
            <a:ext cx="2377440" cy="310896"/>
          </a:xfrm>
          <a:prstGeom prst="rect">
            <a:avLst/>
          </a:prstGeom>
          <a:noFill/>
          <a:ln/>
        </p:spPr>
        <p:txBody>
          <a:bodyPr wrap="square" lIns="0" tIns="0" rIns="0" bIns="0" rtlCol="0" anchor="ctr"/>
          <a:lstStyle/>
          <a:p>
            <a:pPr indent="0" marL="0">
              <a:lnSpc>
                <a:spcPts val="1200"/>
              </a:lnSpc>
              <a:buNone/>
            </a:pPr>
            <a:r>
              <a:rPr lang="en-US" sz="950" b="1" dirty="0">
                <a:solidFill>
                  <a:srgbClr val="16161A"/>
                </a:solidFill>
                <a:latin typeface="Calibri" pitchFamily="34" charset="0"/>
                <a:ea typeface="Calibri" pitchFamily="34" charset="-122"/>
                <a:cs typeface="Calibri" pitchFamily="34" charset="-120"/>
              </a:rPr>
              <a:t>Vitrinin önünde</a:t>
            </a:r>
            <a:endParaRPr lang="en-US" sz="950" dirty="0"/>
          </a:p>
        </p:txBody>
      </p:sp>
      <p:sp>
        <p:nvSpPr>
          <p:cNvPr id="21" name="Text 19"/>
          <p:cNvSpPr txBox="1"/>
          <p:nvPr/>
        </p:nvSpPr>
        <p:spPr>
          <a:xfrm>
            <a:off x="6583680" y="2798064"/>
            <a:ext cx="2377440" cy="1371600"/>
          </a:xfrm>
          <a:prstGeom prst="rect">
            <a:avLst/>
          </a:prstGeom>
          <a:noFill/>
          <a:ln/>
        </p:spPr>
        <p:txBody>
          <a:bodyPr wrap="square" lIns="0" tIns="0" rIns="0" bIns="0" rtlCol="0" anchor="ctr"/>
          <a:lstStyle/>
          <a:p>
            <a:pPr indent="0" marL="0">
              <a:lnSpc>
                <a:spcPts val="1400"/>
              </a:lnSpc>
              <a:buNone/>
            </a:pPr>
            <a:r>
              <a:rPr lang="en-US" sz="1050" dirty="0">
                <a:solidFill>
                  <a:srgbClr val="7A7A82"/>
                </a:solidFill>
                <a:latin typeface="Calibri" pitchFamily="34" charset="0"/>
                <a:ea typeface="Calibri" pitchFamily="34" charset="-122"/>
                <a:cs typeface="Calibri" pitchFamily="34" charset="-120"/>
              </a:rPr>
              <a:t>Ürün, etiket, doku, fiyat. İçeri girme kararı burada verilir.</a:t>
            </a:r>
            <a:endParaRPr lang="en-US" sz="1050" dirty="0"/>
          </a:p>
        </p:txBody>
      </p:sp>
      <p:sp>
        <p:nvSpPr>
          <p:cNvPr id="22" name="Text 20"/>
          <p:cNvSpPr txBox="1"/>
          <p:nvPr/>
        </p:nvSpPr>
        <p:spPr>
          <a:xfrm>
            <a:off x="777240" y="5669280"/>
            <a:ext cx="10424160" cy="365760"/>
          </a:xfrm>
          <a:prstGeom prst="rect">
            <a:avLst/>
          </a:prstGeom>
          <a:noFill/>
          <a:ln/>
        </p:spPr>
        <p:txBody>
          <a:bodyPr wrap="square" lIns="0" tIns="0" rIns="0" bIns="0" rtlCol="0" anchor="ctr"/>
          <a:lstStyle/>
          <a:p>
            <a:pPr algn="l" indent="0" marL="0">
              <a:lnSpc>
                <a:spcPts val="1200"/>
              </a:lnSpc>
              <a:buNone/>
            </a:pPr>
            <a:r>
              <a:rPr lang="en-US" sz="1300" i="1" dirty="0">
                <a:solidFill>
                  <a:srgbClr val="8C3A2B"/>
                </a:solidFill>
                <a:latin typeface="Cambria" pitchFamily="34" charset="0"/>
                <a:ea typeface="Cambria" pitchFamily="34" charset="-122"/>
                <a:cs typeface="Cambria" pitchFamily="34" charset="-120"/>
              </a:rPr>
              <a:t>Cepheyi bu üç mesafeden ayrı ayrı çizmek, tasarımın en hızlı sınamasıdır. Bir mesafede çalışan çözüm diğerinde çalışmayabilir.</a:t>
            </a:r>
            <a:endParaRPr lang="en-US" sz="1300" dirty="0"/>
          </a:p>
        </p:txBody>
      </p:sp>
      <p:sp>
        <p:nvSpPr>
          <p:cNvPr id="23" name="Text 21"/>
          <p:cNvSpPr txBox="1"/>
          <p:nvPr/>
        </p:nvSpPr>
        <p:spPr>
          <a:xfrm>
            <a:off x="777240" y="6309360"/>
            <a:ext cx="10058400" cy="310896"/>
          </a:xfrm>
          <a:prstGeom prst="rect">
            <a:avLst/>
          </a:prstGeom>
          <a:noFill/>
          <a:ln/>
        </p:spPr>
        <p:txBody>
          <a:bodyPr wrap="square" lIns="0" tIns="0" rIns="0" bIns="0" rtlCol="0" anchor="ctr"/>
          <a:lstStyle/>
          <a:p>
            <a:pPr indent="0" marL="0">
              <a:lnSpc>
                <a:spcPts val="1100"/>
              </a:lnSpc>
              <a:buNone/>
            </a:pPr>
            <a:r>
              <a:rPr lang="en-US" sz="850" dirty="0">
                <a:solidFill>
                  <a:srgbClr val="A6A6AC"/>
                </a:solidFill>
                <a:latin typeface="Calibri" pitchFamily="34" charset="0"/>
                <a:ea typeface="Calibri" pitchFamily="34" charset="-122"/>
                <a:cs typeface="Calibri" pitchFamily="34" charset="-120"/>
              </a:rPr>
              <a:t>Görsel önerisi — Aynı mağaza cephesinin üç farklı mesafeden çekilmiş fotoğrafı</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CFCFA"/>
        </a:solidFill>
      </p:bgPr>
    </p:bg>
    <p:spTree>
      <p:nvGrpSpPr>
        <p:cNvPr id="1" name=""/>
        <p:cNvGrpSpPr/>
        <p:nvPr/>
      </p:nvGrpSpPr>
      <p:grpSpPr>
        <a:xfrm>
          <a:off x="0" y="0"/>
          <a:ext cx="0" cy="0"/>
          <a:chOff x="0" y="0"/>
          <a:chExt cx="0" cy="0"/>
        </a:xfrm>
      </p:grpSpPr>
      <p:sp>
        <p:nvSpPr>
          <p:cNvPr id="2" name="Text 0"/>
          <p:cNvSpPr txBox="1"/>
          <p:nvPr/>
        </p:nvSpPr>
        <p:spPr>
          <a:xfrm>
            <a:off x="777240" y="475488"/>
            <a:ext cx="9601200" cy="237744"/>
          </a:xfrm>
          <a:prstGeom prst="rect">
            <a:avLst/>
          </a:prstGeom>
          <a:noFill/>
          <a:ln/>
        </p:spPr>
        <p:txBody>
          <a:bodyPr wrap="square" lIns="0" tIns="0" rIns="0" bIns="0" rtlCol="0" anchor="ctr"/>
          <a:lstStyle/>
          <a:p>
            <a:pPr indent="0" marL="0">
              <a:buNone/>
            </a:pPr>
            <a:r>
              <a:rPr lang="en-US" sz="950" b="1" spc="260" kern="0" dirty="0">
                <a:solidFill>
                  <a:srgbClr val="7A7A82"/>
                </a:solidFill>
                <a:latin typeface="Calibri" pitchFamily="34" charset="0"/>
                <a:ea typeface="Calibri" pitchFamily="34" charset="-122"/>
                <a:cs typeface="Calibri" pitchFamily="34" charset="-120"/>
              </a:rPr>
              <a:t>IV · DIŞARIDAN İÇERİYE</a:t>
            </a:r>
            <a:endParaRPr lang="en-US" sz="950" dirty="0"/>
          </a:p>
        </p:txBody>
      </p:sp>
      <p:sp>
        <p:nvSpPr>
          <p:cNvPr id="3" name="Text 1"/>
          <p:cNvSpPr txBox="1"/>
          <p:nvPr/>
        </p:nvSpPr>
        <p:spPr>
          <a:xfrm>
            <a:off x="777240" y="822960"/>
            <a:ext cx="10424160" cy="731520"/>
          </a:xfrm>
          <a:prstGeom prst="rect">
            <a:avLst/>
          </a:prstGeom>
          <a:noFill/>
          <a:ln/>
        </p:spPr>
        <p:txBody>
          <a:bodyPr wrap="square" lIns="0" tIns="0" rIns="0" bIns="0" rtlCol="0" anchor="ctr"/>
          <a:lstStyle/>
          <a:p>
            <a:pPr indent="0" marL="0">
              <a:lnSpc>
                <a:spcPts val="3400"/>
              </a:lnSpc>
              <a:buNone/>
            </a:pPr>
            <a:r>
              <a:rPr lang="en-US" sz="2900" b="1" dirty="0">
                <a:solidFill>
                  <a:srgbClr val="16161A"/>
                </a:solidFill>
                <a:latin typeface="Cambria" pitchFamily="34" charset="0"/>
                <a:ea typeface="Cambria" pitchFamily="34" charset="-122"/>
                <a:cs typeface="Cambria" pitchFamily="34" charset="-120"/>
              </a:rPr>
              <a:t>Vitrin tipleri</a:t>
            </a:r>
            <a:endParaRPr lang="en-US" sz="2900" dirty="0"/>
          </a:p>
        </p:txBody>
      </p:sp>
      <p:sp>
        <p:nvSpPr>
          <p:cNvPr id="4" name="Text 2"/>
          <p:cNvSpPr txBox="1"/>
          <p:nvPr/>
        </p:nvSpPr>
        <p:spPr>
          <a:xfrm>
            <a:off x="10972800" y="6355080"/>
            <a:ext cx="438912" cy="237744"/>
          </a:xfrm>
          <a:prstGeom prst="rect">
            <a:avLst/>
          </a:prstGeom>
          <a:noFill/>
          <a:ln/>
        </p:spPr>
        <p:txBody>
          <a:bodyPr wrap="square" lIns="0" tIns="0" rIns="0" bIns="0" rtlCol="0" anchor="ctr"/>
          <a:lstStyle/>
          <a:p>
            <a:pPr algn="r" indent="0" marL="0">
              <a:buNone/>
            </a:pPr>
            <a:r>
              <a:rPr lang="en-US" sz="950" dirty="0">
                <a:solidFill>
                  <a:srgbClr val="A6A6AC"/>
                </a:solidFill>
                <a:latin typeface="Calibri" pitchFamily="34" charset="0"/>
                <a:ea typeface="Calibri" pitchFamily="34" charset="-122"/>
                <a:cs typeface="Calibri" pitchFamily="34" charset="-120"/>
              </a:rPr>
              <a:t>20</a:t>
            </a:r>
            <a:endParaRPr lang="en-US" sz="950" dirty="0"/>
          </a:p>
        </p:txBody>
      </p:sp>
      <p:sp>
        <p:nvSpPr>
          <p:cNvPr id="5" name="Shape 3"/>
          <p:cNvSpPr/>
          <p:nvPr/>
        </p:nvSpPr>
        <p:spPr>
          <a:xfrm>
            <a:off x="777240" y="2103120"/>
            <a:ext cx="2487168" cy="1600200"/>
          </a:xfrm>
          <a:prstGeom prst="rect">
            <a:avLst/>
          </a:prstGeom>
          <a:ln w="15875">
            <a:solidFill>
              <a:srgbClr val="16161A"/>
            </a:solidFill>
            <a:prstDash val="solid"/>
          </a:ln>
        </p:spPr>
      </p:sp>
      <p:sp>
        <p:nvSpPr>
          <p:cNvPr id="6" name="Shape 4"/>
          <p:cNvSpPr/>
          <p:nvPr/>
        </p:nvSpPr>
        <p:spPr>
          <a:xfrm>
            <a:off x="722376" y="3785616"/>
            <a:ext cx="2596896" cy="0"/>
          </a:xfrm>
          <a:prstGeom prst="line">
            <a:avLst/>
          </a:prstGeom>
          <a:noFill/>
          <a:ln w="19050">
            <a:solidFill>
              <a:srgbClr val="C9C9CF"/>
            </a:solidFill>
            <a:prstDash val="dash"/>
          </a:ln>
        </p:spPr>
      </p:sp>
      <p:sp>
        <p:nvSpPr>
          <p:cNvPr id="7" name="Shape 5"/>
          <p:cNvSpPr/>
          <p:nvPr/>
        </p:nvSpPr>
        <p:spPr>
          <a:xfrm>
            <a:off x="886968" y="3154680"/>
            <a:ext cx="2267712" cy="411480"/>
          </a:xfrm>
          <a:prstGeom prst="rect">
            <a:avLst/>
          </a:prstGeom>
          <a:ln w="9525">
            <a:solidFill>
              <a:srgbClr val="C9C9CF"/>
            </a:solidFill>
            <a:prstDash val="solid"/>
          </a:ln>
        </p:spPr>
      </p:sp>
      <p:sp>
        <p:nvSpPr>
          <p:cNvPr id="8" name="Shape 6"/>
          <p:cNvSpPr/>
          <p:nvPr/>
        </p:nvSpPr>
        <p:spPr>
          <a:xfrm>
            <a:off x="886968" y="3154680"/>
            <a:ext cx="2267712" cy="0"/>
          </a:xfrm>
          <a:prstGeom prst="line">
            <a:avLst/>
          </a:prstGeom>
          <a:noFill/>
          <a:ln w="25400">
            <a:solidFill>
              <a:srgbClr val="16161A"/>
            </a:solidFill>
            <a:prstDash val="solid"/>
          </a:ln>
        </p:spPr>
      </p:sp>
      <p:sp>
        <p:nvSpPr>
          <p:cNvPr id="9" name="Text 7"/>
          <p:cNvSpPr txBox="1"/>
          <p:nvPr/>
        </p:nvSpPr>
        <p:spPr>
          <a:xfrm>
            <a:off x="777240" y="3904488"/>
            <a:ext cx="2487168" cy="274320"/>
          </a:xfrm>
          <a:prstGeom prst="rect">
            <a:avLst/>
          </a:prstGeom>
          <a:noFill/>
          <a:ln/>
        </p:spPr>
        <p:txBody>
          <a:bodyPr wrap="square" lIns="0" tIns="0" rIns="0" bIns="0" rtlCol="0" anchor="ctr"/>
          <a:lstStyle/>
          <a:p>
            <a:pPr algn="ctr" indent="0" marL="0">
              <a:lnSpc>
                <a:spcPts val="1200"/>
              </a:lnSpc>
              <a:buNone/>
            </a:pPr>
            <a:r>
              <a:rPr lang="en-US" sz="850" dirty="0">
                <a:solidFill>
                  <a:srgbClr val="A6A6AC"/>
                </a:solidFill>
                <a:latin typeface="Calibri" pitchFamily="34" charset="0"/>
                <a:ea typeface="Calibri" pitchFamily="34" charset="-122"/>
                <a:cs typeface="Calibri" pitchFamily="34" charset="-120"/>
              </a:rPr>
              <a:t>sokak</a:t>
            </a:r>
            <a:endParaRPr lang="en-US" sz="850" dirty="0"/>
          </a:p>
        </p:txBody>
      </p:sp>
      <p:sp>
        <p:nvSpPr>
          <p:cNvPr id="10" name="Text 8"/>
          <p:cNvSpPr txBox="1"/>
          <p:nvPr/>
        </p:nvSpPr>
        <p:spPr>
          <a:xfrm>
            <a:off x="777240" y="1719072"/>
            <a:ext cx="2487168" cy="310896"/>
          </a:xfrm>
          <a:prstGeom prst="rect">
            <a:avLst/>
          </a:prstGeom>
          <a:noFill/>
          <a:ln/>
        </p:spPr>
        <p:txBody>
          <a:bodyPr wrap="square" lIns="0" tIns="0" rIns="0" bIns="0" rtlCol="0" anchor="ctr"/>
          <a:lstStyle/>
          <a:p>
            <a:pPr indent="0" marL="0">
              <a:buNone/>
            </a:pPr>
            <a:r>
              <a:rPr lang="en-US" sz="1400" b="1" dirty="0">
                <a:solidFill>
                  <a:srgbClr val="16161A"/>
                </a:solidFill>
                <a:latin typeface="Cambria" pitchFamily="34" charset="0"/>
                <a:ea typeface="Cambria" pitchFamily="34" charset="-122"/>
                <a:cs typeface="Cambria" pitchFamily="34" charset="-120"/>
              </a:rPr>
              <a:t>Kapalı arkalı</a:t>
            </a:r>
            <a:endParaRPr lang="en-US" sz="1400" dirty="0"/>
          </a:p>
        </p:txBody>
      </p:sp>
      <p:sp>
        <p:nvSpPr>
          <p:cNvPr id="11" name="Text 9"/>
          <p:cNvSpPr txBox="1"/>
          <p:nvPr/>
        </p:nvSpPr>
        <p:spPr>
          <a:xfrm>
            <a:off x="777240" y="4160520"/>
            <a:ext cx="2487168" cy="868680"/>
          </a:xfrm>
          <a:prstGeom prst="rect">
            <a:avLst/>
          </a:prstGeom>
          <a:noFill/>
          <a:ln/>
        </p:spPr>
        <p:txBody>
          <a:bodyPr wrap="square" lIns="0" tIns="0" rIns="0" bIns="0" rtlCol="0" anchor="ctr"/>
          <a:lstStyle/>
          <a:p>
            <a:pPr indent="0" marL="0">
              <a:lnSpc>
                <a:spcPts val="1350"/>
              </a:lnSpc>
              <a:buNone/>
            </a:pPr>
            <a:r>
              <a:rPr lang="en-US" sz="1050" dirty="0">
                <a:solidFill>
                  <a:srgbClr val="7A7A82"/>
                </a:solidFill>
                <a:latin typeface="Calibri" pitchFamily="34" charset="0"/>
                <a:ea typeface="Calibri" pitchFamily="34" charset="-122"/>
                <a:cs typeface="Calibri" pitchFamily="34" charset="-120"/>
              </a:rPr>
              <a:t>Arkası kapalı bir sahne. Kurgu tam denetimde, ama içerisi görünmez.</a:t>
            </a:r>
            <a:endParaRPr lang="en-US" sz="1050" dirty="0"/>
          </a:p>
        </p:txBody>
      </p:sp>
      <p:sp>
        <p:nvSpPr>
          <p:cNvPr id="12" name="Shape 10"/>
          <p:cNvSpPr/>
          <p:nvPr/>
        </p:nvSpPr>
        <p:spPr>
          <a:xfrm>
            <a:off x="3493008" y="2103120"/>
            <a:ext cx="2487168" cy="1600200"/>
          </a:xfrm>
          <a:prstGeom prst="rect">
            <a:avLst/>
          </a:prstGeom>
          <a:ln w="15875">
            <a:solidFill>
              <a:srgbClr val="16161A"/>
            </a:solidFill>
            <a:prstDash val="solid"/>
          </a:ln>
        </p:spPr>
      </p:sp>
      <p:sp>
        <p:nvSpPr>
          <p:cNvPr id="13" name="Shape 11"/>
          <p:cNvSpPr/>
          <p:nvPr/>
        </p:nvSpPr>
        <p:spPr>
          <a:xfrm>
            <a:off x="3438144" y="3785616"/>
            <a:ext cx="2596896" cy="0"/>
          </a:xfrm>
          <a:prstGeom prst="line">
            <a:avLst/>
          </a:prstGeom>
          <a:noFill/>
          <a:ln w="19050">
            <a:solidFill>
              <a:srgbClr val="C9C9CF"/>
            </a:solidFill>
            <a:prstDash val="dash"/>
          </a:ln>
        </p:spPr>
      </p:sp>
      <p:sp>
        <p:nvSpPr>
          <p:cNvPr id="14" name="Shape 12"/>
          <p:cNvSpPr/>
          <p:nvPr/>
        </p:nvSpPr>
        <p:spPr>
          <a:xfrm>
            <a:off x="3602736" y="3154680"/>
            <a:ext cx="2267712" cy="411480"/>
          </a:xfrm>
          <a:prstGeom prst="rect">
            <a:avLst/>
          </a:prstGeom>
          <a:ln w="9525">
            <a:solidFill>
              <a:srgbClr val="C9C9CF"/>
            </a:solidFill>
            <a:prstDash val="solid"/>
          </a:ln>
        </p:spPr>
      </p:sp>
      <p:sp>
        <p:nvSpPr>
          <p:cNvPr id="15" name="Text 13"/>
          <p:cNvSpPr txBox="1"/>
          <p:nvPr/>
        </p:nvSpPr>
        <p:spPr>
          <a:xfrm>
            <a:off x="3493008" y="3904488"/>
            <a:ext cx="2487168" cy="274320"/>
          </a:xfrm>
          <a:prstGeom prst="rect">
            <a:avLst/>
          </a:prstGeom>
          <a:noFill/>
          <a:ln/>
        </p:spPr>
        <p:txBody>
          <a:bodyPr wrap="square" lIns="0" tIns="0" rIns="0" bIns="0" rtlCol="0" anchor="ctr"/>
          <a:lstStyle/>
          <a:p>
            <a:pPr algn="ctr" indent="0" marL="0">
              <a:lnSpc>
                <a:spcPts val="1200"/>
              </a:lnSpc>
              <a:buNone/>
            </a:pPr>
            <a:r>
              <a:rPr lang="en-US" sz="850" dirty="0">
                <a:solidFill>
                  <a:srgbClr val="A6A6AC"/>
                </a:solidFill>
                <a:latin typeface="Calibri" pitchFamily="34" charset="0"/>
                <a:ea typeface="Calibri" pitchFamily="34" charset="-122"/>
                <a:cs typeface="Calibri" pitchFamily="34" charset="-120"/>
              </a:rPr>
              <a:t>sokak</a:t>
            </a:r>
            <a:endParaRPr lang="en-US" sz="850" dirty="0"/>
          </a:p>
        </p:txBody>
      </p:sp>
      <p:sp>
        <p:nvSpPr>
          <p:cNvPr id="16" name="Text 14"/>
          <p:cNvSpPr txBox="1"/>
          <p:nvPr/>
        </p:nvSpPr>
        <p:spPr>
          <a:xfrm>
            <a:off x="3493008" y="1719072"/>
            <a:ext cx="2487168" cy="310896"/>
          </a:xfrm>
          <a:prstGeom prst="rect">
            <a:avLst/>
          </a:prstGeom>
          <a:noFill/>
          <a:ln/>
        </p:spPr>
        <p:txBody>
          <a:bodyPr wrap="square" lIns="0" tIns="0" rIns="0" bIns="0" rtlCol="0" anchor="ctr"/>
          <a:lstStyle/>
          <a:p>
            <a:pPr indent="0" marL="0">
              <a:buNone/>
            </a:pPr>
            <a:r>
              <a:rPr lang="en-US" sz="1400" b="1" dirty="0">
                <a:solidFill>
                  <a:srgbClr val="16161A"/>
                </a:solidFill>
                <a:latin typeface="Cambria" pitchFamily="34" charset="0"/>
                <a:ea typeface="Cambria" pitchFamily="34" charset="-122"/>
                <a:cs typeface="Cambria" pitchFamily="34" charset="-120"/>
              </a:rPr>
              <a:t>Açık</a:t>
            </a:r>
            <a:endParaRPr lang="en-US" sz="1400" dirty="0"/>
          </a:p>
        </p:txBody>
      </p:sp>
      <p:sp>
        <p:nvSpPr>
          <p:cNvPr id="17" name="Text 15"/>
          <p:cNvSpPr txBox="1"/>
          <p:nvPr/>
        </p:nvSpPr>
        <p:spPr>
          <a:xfrm>
            <a:off x="3493008" y="4160520"/>
            <a:ext cx="2487168" cy="868680"/>
          </a:xfrm>
          <a:prstGeom prst="rect">
            <a:avLst/>
          </a:prstGeom>
          <a:noFill/>
          <a:ln/>
        </p:spPr>
        <p:txBody>
          <a:bodyPr wrap="square" lIns="0" tIns="0" rIns="0" bIns="0" rtlCol="0" anchor="ctr"/>
          <a:lstStyle/>
          <a:p>
            <a:pPr indent="0" marL="0">
              <a:lnSpc>
                <a:spcPts val="1350"/>
              </a:lnSpc>
              <a:buNone/>
            </a:pPr>
            <a:r>
              <a:rPr lang="en-US" sz="1050" dirty="0">
                <a:solidFill>
                  <a:srgbClr val="7A7A82"/>
                </a:solidFill>
                <a:latin typeface="Calibri" pitchFamily="34" charset="0"/>
                <a:ea typeface="Calibri" pitchFamily="34" charset="-122"/>
                <a:cs typeface="Calibri" pitchFamily="34" charset="-120"/>
              </a:rPr>
              <a:t>Vitrinin arkası satış alanına açılır. İçerisi görünür, kurgu zayıflar.</a:t>
            </a:r>
            <a:endParaRPr lang="en-US" sz="1050" dirty="0"/>
          </a:p>
        </p:txBody>
      </p:sp>
      <p:sp>
        <p:nvSpPr>
          <p:cNvPr id="18" name="Shape 16"/>
          <p:cNvSpPr/>
          <p:nvPr/>
        </p:nvSpPr>
        <p:spPr>
          <a:xfrm>
            <a:off x="6208776" y="2103120"/>
            <a:ext cx="2487168" cy="1600200"/>
          </a:xfrm>
          <a:prstGeom prst="rect">
            <a:avLst/>
          </a:prstGeom>
          <a:ln w="15875">
            <a:solidFill>
              <a:srgbClr val="16161A"/>
            </a:solidFill>
            <a:prstDash val="solid"/>
          </a:ln>
        </p:spPr>
      </p:sp>
      <p:sp>
        <p:nvSpPr>
          <p:cNvPr id="19" name="Shape 17"/>
          <p:cNvSpPr/>
          <p:nvPr/>
        </p:nvSpPr>
        <p:spPr>
          <a:xfrm>
            <a:off x="6153912" y="3785616"/>
            <a:ext cx="2596896" cy="0"/>
          </a:xfrm>
          <a:prstGeom prst="line">
            <a:avLst/>
          </a:prstGeom>
          <a:noFill/>
          <a:ln w="19050">
            <a:solidFill>
              <a:srgbClr val="C9C9CF"/>
            </a:solidFill>
            <a:prstDash val="dash"/>
          </a:ln>
        </p:spPr>
      </p:sp>
      <p:sp>
        <p:nvSpPr>
          <p:cNvPr id="20" name="Shape 18"/>
          <p:cNvSpPr/>
          <p:nvPr/>
        </p:nvSpPr>
        <p:spPr>
          <a:xfrm>
            <a:off x="6318504" y="3154680"/>
            <a:ext cx="2267712" cy="411480"/>
          </a:xfrm>
          <a:prstGeom prst="rect">
            <a:avLst/>
          </a:prstGeom>
          <a:solidFill>
            <a:srgbClr val="F6EAE6"/>
          </a:solidFill>
          <a:ln w="15875">
            <a:solidFill>
              <a:srgbClr val="8C3A2B"/>
            </a:solidFill>
            <a:prstDash val="solid"/>
          </a:ln>
        </p:spPr>
      </p:sp>
      <p:sp>
        <p:nvSpPr>
          <p:cNvPr id="21" name="Shape 19"/>
          <p:cNvSpPr/>
          <p:nvPr/>
        </p:nvSpPr>
        <p:spPr>
          <a:xfrm>
            <a:off x="6318504" y="3154680"/>
            <a:ext cx="850392" cy="0"/>
          </a:xfrm>
          <a:prstGeom prst="line">
            <a:avLst/>
          </a:prstGeom>
          <a:noFill/>
          <a:ln w="25400">
            <a:solidFill>
              <a:srgbClr val="16161A"/>
            </a:solidFill>
            <a:prstDash val="solid"/>
          </a:ln>
        </p:spPr>
      </p:sp>
      <p:sp>
        <p:nvSpPr>
          <p:cNvPr id="22" name="Text 20"/>
          <p:cNvSpPr txBox="1"/>
          <p:nvPr/>
        </p:nvSpPr>
        <p:spPr>
          <a:xfrm>
            <a:off x="6208776" y="3904488"/>
            <a:ext cx="2487168" cy="274320"/>
          </a:xfrm>
          <a:prstGeom prst="rect">
            <a:avLst/>
          </a:prstGeom>
          <a:noFill/>
          <a:ln/>
        </p:spPr>
        <p:txBody>
          <a:bodyPr wrap="square" lIns="0" tIns="0" rIns="0" bIns="0" rtlCol="0" anchor="ctr"/>
          <a:lstStyle/>
          <a:p>
            <a:pPr algn="ctr" indent="0" marL="0">
              <a:lnSpc>
                <a:spcPts val="1200"/>
              </a:lnSpc>
              <a:buNone/>
            </a:pPr>
            <a:r>
              <a:rPr lang="en-US" sz="850" dirty="0">
                <a:solidFill>
                  <a:srgbClr val="A6A6AC"/>
                </a:solidFill>
                <a:latin typeface="Calibri" pitchFamily="34" charset="0"/>
                <a:ea typeface="Calibri" pitchFamily="34" charset="-122"/>
                <a:cs typeface="Calibri" pitchFamily="34" charset="-120"/>
              </a:rPr>
              <a:t>sokak</a:t>
            </a:r>
            <a:endParaRPr lang="en-US" sz="850" dirty="0"/>
          </a:p>
        </p:txBody>
      </p:sp>
      <p:sp>
        <p:nvSpPr>
          <p:cNvPr id="23" name="Text 21"/>
          <p:cNvSpPr txBox="1"/>
          <p:nvPr/>
        </p:nvSpPr>
        <p:spPr>
          <a:xfrm>
            <a:off x="6208776" y="1719072"/>
            <a:ext cx="2487168" cy="310896"/>
          </a:xfrm>
          <a:prstGeom prst="rect">
            <a:avLst/>
          </a:prstGeom>
          <a:noFill/>
          <a:ln/>
        </p:spPr>
        <p:txBody>
          <a:bodyPr wrap="square" lIns="0" tIns="0" rIns="0" bIns="0" rtlCol="0" anchor="ctr"/>
          <a:lstStyle/>
          <a:p>
            <a:pPr indent="0" marL="0">
              <a:buNone/>
            </a:pPr>
            <a:r>
              <a:rPr lang="en-US" sz="1400" b="1" dirty="0">
                <a:solidFill>
                  <a:srgbClr val="8C3A2B"/>
                </a:solidFill>
                <a:latin typeface="Cambria" pitchFamily="34" charset="0"/>
                <a:ea typeface="Cambria" pitchFamily="34" charset="-122"/>
                <a:cs typeface="Cambria" pitchFamily="34" charset="-120"/>
              </a:rPr>
              <a:t>Yarı açık</a:t>
            </a:r>
            <a:endParaRPr lang="en-US" sz="1400" dirty="0"/>
          </a:p>
        </p:txBody>
      </p:sp>
      <p:sp>
        <p:nvSpPr>
          <p:cNvPr id="24" name="Text 22"/>
          <p:cNvSpPr txBox="1"/>
          <p:nvPr/>
        </p:nvSpPr>
        <p:spPr>
          <a:xfrm>
            <a:off x="6208776" y="4160520"/>
            <a:ext cx="2487168" cy="868680"/>
          </a:xfrm>
          <a:prstGeom prst="rect">
            <a:avLst/>
          </a:prstGeom>
          <a:noFill/>
          <a:ln/>
        </p:spPr>
        <p:txBody>
          <a:bodyPr wrap="square" lIns="0" tIns="0" rIns="0" bIns="0" rtlCol="0" anchor="ctr"/>
          <a:lstStyle/>
          <a:p>
            <a:pPr indent="0" marL="0">
              <a:lnSpc>
                <a:spcPts val="1350"/>
              </a:lnSpc>
              <a:buNone/>
            </a:pPr>
            <a:r>
              <a:rPr lang="en-US" sz="1050" dirty="0">
                <a:solidFill>
                  <a:srgbClr val="7A7A82"/>
                </a:solidFill>
                <a:latin typeface="Calibri" pitchFamily="34" charset="0"/>
                <a:ea typeface="Calibri" pitchFamily="34" charset="-122"/>
                <a:cs typeface="Calibri" pitchFamily="34" charset="-120"/>
              </a:rPr>
              <a:t>Kısmi arkalık. Hem sahne hem derinlik. En sık kullanılan.</a:t>
            </a:r>
            <a:endParaRPr lang="en-US" sz="1050" dirty="0"/>
          </a:p>
        </p:txBody>
      </p:sp>
      <p:sp>
        <p:nvSpPr>
          <p:cNvPr id="25" name="Shape 23"/>
          <p:cNvSpPr/>
          <p:nvPr/>
        </p:nvSpPr>
        <p:spPr>
          <a:xfrm>
            <a:off x="8924544" y="2103120"/>
            <a:ext cx="2487168" cy="1600200"/>
          </a:xfrm>
          <a:prstGeom prst="rect">
            <a:avLst/>
          </a:prstGeom>
          <a:ln w="15875">
            <a:solidFill>
              <a:srgbClr val="16161A"/>
            </a:solidFill>
            <a:prstDash val="solid"/>
          </a:ln>
        </p:spPr>
      </p:sp>
      <p:sp>
        <p:nvSpPr>
          <p:cNvPr id="26" name="Shape 24"/>
          <p:cNvSpPr/>
          <p:nvPr/>
        </p:nvSpPr>
        <p:spPr>
          <a:xfrm>
            <a:off x="8869680" y="3785616"/>
            <a:ext cx="2596896" cy="0"/>
          </a:xfrm>
          <a:prstGeom prst="line">
            <a:avLst/>
          </a:prstGeom>
          <a:noFill/>
          <a:ln w="19050">
            <a:solidFill>
              <a:srgbClr val="C9C9CF"/>
            </a:solidFill>
            <a:prstDash val="dash"/>
          </a:ln>
        </p:spPr>
      </p:sp>
      <p:sp>
        <p:nvSpPr>
          <p:cNvPr id="27" name="Shape 25"/>
          <p:cNvSpPr/>
          <p:nvPr/>
        </p:nvSpPr>
        <p:spPr>
          <a:xfrm>
            <a:off x="9034272" y="3154680"/>
            <a:ext cx="2267712" cy="0"/>
          </a:xfrm>
          <a:prstGeom prst="line">
            <a:avLst/>
          </a:prstGeom>
          <a:noFill/>
          <a:ln w="9525">
            <a:solidFill>
              <a:srgbClr val="C9C9CF"/>
            </a:solidFill>
            <a:prstDash val="dot"/>
          </a:ln>
        </p:spPr>
      </p:sp>
      <p:sp>
        <p:nvSpPr>
          <p:cNvPr id="28" name="Text 26"/>
          <p:cNvSpPr txBox="1"/>
          <p:nvPr/>
        </p:nvSpPr>
        <p:spPr>
          <a:xfrm>
            <a:off x="8924544" y="3904488"/>
            <a:ext cx="2487168" cy="274320"/>
          </a:xfrm>
          <a:prstGeom prst="rect">
            <a:avLst/>
          </a:prstGeom>
          <a:noFill/>
          <a:ln/>
        </p:spPr>
        <p:txBody>
          <a:bodyPr wrap="square" lIns="0" tIns="0" rIns="0" bIns="0" rtlCol="0" anchor="ctr"/>
          <a:lstStyle/>
          <a:p>
            <a:pPr algn="ctr" indent="0" marL="0">
              <a:lnSpc>
                <a:spcPts val="1200"/>
              </a:lnSpc>
              <a:buNone/>
            </a:pPr>
            <a:r>
              <a:rPr lang="en-US" sz="850" dirty="0">
                <a:solidFill>
                  <a:srgbClr val="A6A6AC"/>
                </a:solidFill>
                <a:latin typeface="Calibri" pitchFamily="34" charset="0"/>
                <a:ea typeface="Calibri" pitchFamily="34" charset="-122"/>
                <a:cs typeface="Calibri" pitchFamily="34" charset="-120"/>
              </a:rPr>
              <a:t>sokak</a:t>
            </a:r>
            <a:endParaRPr lang="en-US" sz="850" dirty="0"/>
          </a:p>
        </p:txBody>
      </p:sp>
      <p:sp>
        <p:nvSpPr>
          <p:cNvPr id="29" name="Text 27"/>
          <p:cNvSpPr txBox="1"/>
          <p:nvPr/>
        </p:nvSpPr>
        <p:spPr>
          <a:xfrm>
            <a:off x="8924544" y="1719072"/>
            <a:ext cx="2487168" cy="310896"/>
          </a:xfrm>
          <a:prstGeom prst="rect">
            <a:avLst/>
          </a:prstGeom>
          <a:noFill/>
          <a:ln/>
        </p:spPr>
        <p:txBody>
          <a:bodyPr wrap="square" lIns="0" tIns="0" rIns="0" bIns="0" rtlCol="0" anchor="ctr"/>
          <a:lstStyle/>
          <a:p>
            <a:pPr indent="0" marL="0">
              <a:buNone/>
            </a:pPr>
            <a:r>
              <a:rPr lang="en-US" sz="1400" b="1" dirty="0">
                <a:solidFill>
                  <a:srgbClr val="16161A"/>
                </a:solidFill>
                <a:latin typeface="Cambria" pitchFamily="34" charset="0"/>
                <a:ea typeface="Cambria" pitchFamily="34" charset="-122"/>
                <a:cs typeface="Cambria" pitchFamily="34" charset="-120"/>
              </a:rPr>
              <a:t>Vitrinsiz / şeffaf</a:t>
            </a:r>
            <a:endParaRPr lang="en-US" sz="1400" dirty="0"/>
          </a:p>
        </p:txBody>
      </p:sp>
      <p:sp>
        <p:nvSpPr>
          <p:cNvPr id="30" name="Text 28"/>
          <p:cNvSpPr txBox="1"/>
          <p:nvPr/>
        </p:nvSpPr>
        <p:spPr>
          <a:xfrm>
            <a:off x="8924544" y="4160520"/>
            <a:ext cx="2487168" cy="868680"/>
          </a:xfrm>
          <a:prstGeom prst="rect">
            <a:avLst/>
          </a:prstGeom>
          <a:noFill/>
          <a:ln/>
        </p:spPr>
        <p:txBody>
          <a:bodyPr wrap="square" lIns="0" tIns="0" rIns="0" bIns="0" rtlCol="0" anchor="ctr"/>
          <a:lstStyle/>
          <a:p>
            <a:pPr indent="0" marL="0">
              <a:lnSpc>
                <a:spcPts val="1350"/>
              </a:lnSpc>
              <a:buNone/>
            </a:pPr>
            <a:r>
              <a:rPr lang="en-US" sz="1050" dirty="0">
                <a:solidFill>
                  <a:srgbClr val="7A7A82"/>
                </a:solidFill>
                <a:latin typeface="Calibri" pitchFamily="34" charset="0"/>
                <a:ea typeface="Calibri" pitchFamily="34" charset="-122"/>
                <a:cs typeface="Calibri" pitchFamily="34" charset="-120"/>
              </a:rPr>
              <a:t>Cephe tümüyle cam. Mağazanın kendisi vitrindir.</a:t>
            </a:r>
            <a:endParaRPr lang="en-US" sz="1050" dirty="0"/>
          </a:p>
        </p:txBody>
      </p:sp>
      <p:sp>
        <p:nvSpPr>
          <p:cNvPr id="31" name="Text 29"/>
          <p:cNvSpPr txBox="1"/>
          <p:nvPr/>
        </p:nvSpPr>
        <p:spPr>
          <a:xfrm>
            <a:off x="777240" y="5257800"/>
            <a:ext cx="10634472" cy="868680"/>
          </a:xfrm>
          <a:prstGeom prst="rect">
            <a:avLst/>
          </a:prstGeom>
          <a:noFill/>
          <a:ln/>
        </p:spPr>
        <p:txBody>
          <a:bodyPr wrap="square" lIns="0" tIns="0" rIns="0" bIns="0" rtlCol="0" anchor="ctr"/>
          <a:lstStyle/>
          <a:p>
            <a:pPr indent="0" marL="0">
              <a:lnSpc>
                <a:spcPts val="2300"/>
              </a:lnSpc>
              <a:buNone/>
            </a:pPr>
            <a:r>
              <a:rPr lang="en-US" sz="1400" dirty="0">
                <a:solidFill>
                  <a:srgbClr val="2B2B31"/>
                </a:solidFill>
                <a:latin typeface="Cambria" pitchFamily="34" charset="0"/>
                <a:ea typeface="Cambria" pitchFamily="34" charset="-122"/>
                <a:cs typeface="Cambria" pitchFamily="34" charset="-120"/>
              </a:rPr>
              <a:t>Vitrin bir reklam panosu değil, mekânın ilk odasıdır. Tip seçimi ürünle ilgilidir: küçük ve değerli ürün sahne ister, geniş ürün gamı derinlik ister. Vitrinin gece görünümü ayrı bir tasarım kararıdır — gündüz için kurgulanmış bir vitrin gece çoğunlukla çalışmaz.</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CFCFA"/>
        </a:solidFill>
      </p:bgPr>
    </p:bg>
    <p:spTree>
      <p:nvGrpSpPr>
        <p:cNvPr id="1" name=""/>
        <p:cNvGrpSpPr/>
        <p:nvPr/>
      </p:nvGrpSpPr>
      <p:grpSpPr>
        <a:xfrm>
          <a:off x="0" y="0"/>
          <a:ext cx="0" cy="0"/>
          <a:chOff x="0" y="0"/>
          <a:chExt cx="0" cy="0"/>
        </a:xfrm>
      </p:grpSpPr>
      <p:sp>
        <p:nvSpPr>
          <p:cNvPr id="2" name="Text 0"/>
          <p:cNvSpPr txBox="1"/>
          <p:nvPr/>
        </p:nvSpPr>
        <p:spPr>
          <a:xfrm>
            <a:off x="777240" y="475488"/>
            <a:ext cx="9601200" cy="237744"/>
          </a:xfrm>
          <a:prstGeom prst="rect">
            <a:avLst/>
          </a:prstGeom>
          <a:noFill/>
          <a:ln/>
        </p:spPr>
        <p:txBody>
          <a:bodyPr wrap="square" lIns="0" tIns="0" rIns="0" bIns="0" rtlCol="0" anchor="ctr"/>
          <a:lstStyle/>
          <a:p>
            <a:pPr indent="0" marL="0">
              <a:buNone/>
            </a:pPr>
            <a:r>
              <a:rPr lang="en-US" sz="950" b="1" spc="260" kern="0" dirty="0">
                <a:solidFill>
                  <a:srgbClr val="7A7A82"/>
                </a:solidFill>
                <a:latin typeface="Calibri" pitchFamily="34" charset="0"/>
                <a:ea typeface="Calibri" pitchFamily="34" charset="-122"/>
                <a:cs typeface="Calibri" pitchFamily="34" charset="-120"/>
              </a:rPr>
              <a:t>IV · DIŞARIDAN İÇERİYE</a:t>
            </a:r>
            <a:endParaRPr lang="en-US" sz="950" dirty="0"/>
          </a:p>
        </p:txBody>
      </p:sp>
      <p:sp>
        <p:nvSpPr>
          <p:cNvPr id="3" name="Text 1"/>
          <p:cNvSpPr txBox="1"/>
          <p:nvPr/>
        </p:nvSpPr>
        <p:spPr>
          <a:xfrm>
            <a:off x="777240" y="822960"/>
            <a:ext cx="10424160" cy="731520"/>
          </a:xfrm>
          <a:prstGeom prst="rect">
            <a:avLst/>
          </a:prstGeom>
          <a:noFill/>
          <a:ln/>
        </p:spPr>
        <p:txBody>
          <a:bodyPr wrap="square" lIns="0" tIns="0" rIns="0" bIns="0" rtlCol="0" anchor="ctr"/>
          <a:lstStyle/>
          <a:p>
            <a:pPr indent="0" marL="0">
              <a:lnSpc>
                <a:spcPts val="3400"/>
              </a:lnSpc>
              <a:buNone/>
            </a:pPr>
            <a:r>
              <a:rPr lang="en-US" sz="2900" b="1" dirty="0">
                <a:solidFill>
                  <a:srgbClr val="16161A"/>
                </a:solidFill>
                <a:latin typeface="Cambria" pitchFamily="34" charset="0"/>
                <a:ea typeface="Cambria" pitchFamily="34" charset="-122"/>
                <a:cs typeface="Cambria" pitchFamily="34" charset="-120"/>
              </a:rPr>
              <a:t>Eşik ve geçiş bölgesi</a:t>
            </a:r>
            <a:endParaRPr lang="en-US" sz="2900" dirty="0"/>
          </a:p>
        </p:txBody>
      </p:sp>
      <p:sp>
        <p:nvSpPr>
          <p:cNvPr id="4" name="Text 2"/>
          <p:cNvSpPr txBox="1"/>
          <p:nvPr/>
        </p:nvSpPr>
        <p:spPr>
          <a:xfrm>
            <a:off x="10972800" y="6355080"/>
            <a:ext cx="438912" cy="237744"/>
          </a:xfrm>
          <a:prstGeom prst="rect">
            <a:avLst/>
          </a:prstGeom>
          <a:noFill/>
          <a:ln/>
        </p:spPr>
        <p:txBody>
          <a:bodyPr wrap="square" lIns="0" tIns="0" rIns="0" bIns="0" rtlCol="0" anchor="ctr"/>
          <a:lstStyle/>
          <a:p>
            <a:pPr algn="r" indent="0" marL="0">
              <a:buNone/>
            </a:pPr>
            <a:r>
              <a:rPr lang="en-US" sz="950" dirty="0">
                <a:solidFill>
                  <a:srgbClr val="A6A6AC"/>
                </a:solidFill>
                <a:latin typeface="Calibri" pitchFamily="34" charset="0"/>
                <a:ea typeface="Calibri" pitchFamily="34" charset="-122"/>
                <a:cs typeface="Calibri" pitchFamily="34" charset="-120"/>
              </a:rPr>
              <a:t>21</a:t>
            </a:r>
            <a:endParaRPr lang="en-US" sz="950" dirty="0"/>
          </a:p>
        </p:txBody>
      </p:sp>
      <p:sp>
        <p:nvSpPr>
          <p:cNvPr id="5" name="Shape 3"/>
          <p:cNvSpPr/>
          <p:nvPr/>
        </p:nvSpPr>
        <p:spPr>
          <a:xfrm>
            <a:off x="1463040" y="1847088"/>
            <a:ext cx="6035040" cy="2926080"/>
          </a:xfrm>
          <a:prstGeom prst="rect">
            <a:avLst/>
          </a:prstGeom>
          <a:ln w="15875">
            <a:solidFill>
              <a:srgbClr val="16161A"/>
            </a:solidFill>
            <a:prstDash val="solid"/>
          </a:ln>
        </p:spPr>
      </p:sp>
      <p:sp>
        <p:nvSpPr>
          <p:cNvPr id="6" name="Shape 4"/>
          <p:cNvSpPr/>
          <p:nvPr/>
        </p:nvSpPr>
        <p:spPr>
          <a:xfrm>
            <a:off x="1325880" y="4882896"/>
            <a:ext cx="6309360" cy="0"/>
          </a:xfrm>
          <a:prstGeom prst="line">
            <a:avLst/>
          </a:prstGeom>
          <a:noFill/>
          <a:ln w="19050">
            <a:solidFill>
              <a:srgbClr val="C9C9CF"/>
            </a:solidFill>
            <a:prstDash val="dash"/>
          </a:ln>
        </p:spPr>
      </p:sp>
      <p:sp>
        <p:nvSpPr>
          <p:cNvPr id="7" name="Text 5"/>
          <p:cNvSpPr txBox="1"/>
          <p:nvPr/>
        </p:nvSpPr>
        <p:spPr>
          <a:xfrm>
            <a:off x="1463040" y="4992624"/>
            <a:ext cx="6035040" cy="274320"/>
          </a:xfrm>
          <a:prstGeom prst="rect">
            <a:avLst/>
          </a:prstGeom>
          <a:noFill/>
          <a:ln/>
        </p:spPr>
        <p:txBody>
          <a:bodyPr wrap="square" lIns="0" tIns="0" rIns="0" bIns="0" rtlCol="0" anchor="ctr"/>
          <a:lstStyle/>
          <a:p>
            <a:pPr algn="ctr" indent="0" marL="0">
              <a:lnSpc>
                <a:spcPts val="1200"/>
              </a:lnSpc>
              <a:buNone/>
            </a:pPr>
            <a:r>
              <a:rPr lang="en-US" sz="900" dirty="0">
                <a:solidFill>
                  <a:srgbClr val="A6A6AC"/>
                </a:solidFill>
                <a:latin typeface="Calibri" pitchFamily="34" charset="0"/>
                <a:ea typeface="Calibri" pitchFamily="34" charset="-122"/>
                <a:cs typeface="Calibri" pitchFamily="34" charset="-120"/>
              </a:rPr>
              <a:t>sokak</a:t>
            </a:r>
            <a:endParaRPr lang="en-US" sz="900" dirty="0"/>
          </a:p>
        </p:txBody>
      </p:sp>
      <p:sp>
        <p:nvSpPr>
          <p:cNvPr id="8" name="Shape 6"/>
          <p:cNvSpPr/>
          <p:nvPr/>
        </p:nvSpPr>
        <p:spPr>
          <a:xfrm>
            <a:off x="3840480" y="4745736"/>
            <a:ext cx="1280160" cy="54864"/>
          </a:xfrm>
          <a:prstGeom prst="rect">
            <a:avLst/>
          </a:prstGeom>
          <a:solidFill>
            <a:srgbClr val="FCFCFA"/>
          </a:solidFill>
          <a:ln w="12700">
            <a:solidFill>
              <a:srgbClr val="FCFCFA"/>
            </a:solidFill>
            <a:prstDash val="solid"/>
          </a:ln>
        </p:spPr>
      </p:sp>
      <p:sp>
        <p:nvSpPr>
          <p:cNvPr id="9" name="Shape 7"/>
          <p:cNvSpPr/>
          <p:nvPr/>
        </p:nvSpPr>
        <p:spPr>
          <a:xfrm flipV="1">
            <a:off x="4480560" y="4636008"/>
            <a:ext cx="0" cy="640080"/>
          </a:xfrm>
          <a:prstGeom prst="line">
            <a:avLst/>
          </a:prstGeom>
          <a:noFill/>
          <a:ln w="25400">
            <a:solidFill>
              <a:srgbClr val="8C3A2B"/>
            </a:solidFill>
            <a:prstDash val="solid"/>
            <a:tailEnd type="triangle"/>
          </a:ln>
        </p:spPr>
      </p:sp>
      <p:sp>
        <p:nvSpPr>
          <p:cNvPr id="10" name="Shape 8"/>
          <p:cNvSpPr/>
          <p:nvPr/>
        </p:nvSpPr>
        <p:spPr>
          <a:xfrm>
            <a:off x="3337560" y="3538728"/>
            <a:ext cx="2286000" cy="1207008"/>
          </a:xfrm>
          <a:prstGeom prst="rect">
            <a:avLst/>
          </a:prstGeom>
          <a:solidFill>
            <a:srgbClr val="F6EAE6"/>
          </a:solidFill>
          <a:ln w="15875">
            <a:solidFill>
              <a:srgbClr val="8C3A2B"/>
            </a:solidFill>
            <a:prstDash val="solid"/>
          </a:ln>
        </p:spPr>
      </p:sp>
      <p:sp>
        <p:nvSpPr>
          <p:cNvPr id="11" name="Text 9"/>
          <p:cNvSpPr txBox="1"/>
          <p:nvPr/>
        </p:nvSpPr>
        <p:spPr>
          <a:xfrm>
            <a:off x="3374136" y="3538728"/>
            <a:ext cx="2212848" cy="1207008"/>
          </a:xfrm>
          <a:prstGeom prst="rect">
            <a:avLst/>
          </a:prstGeom>
          <a:noFill/>
          <a:ln/>
        </p:spPr>
        <p:txBody>
          <a:bodyPr wrap="square" lIns="0" tIns="0" rIns="0" bIns="0" rtlCol="0" anchor="ctr"/>
          <a:lstStyle/>
          <a:p>
            <a:pPr algn="ctr" indent="0" marL="0">
              <a:lnSpc>
                <a:spcPts val="1100"/>
              </a:lnSpc>
              <a:buNone/>
            </a:pPr>
            <a:r>
              <a:rPr lang="en-US" sz="1000" dirty="0">
                <a:solidFill>
                  <a:srgbClr val="8C3A2B"/>
                </a:solidFill>
                <a:latin typeface="Calibri" pitchFamily="34" charset="0"/>
                <a:ea typeface="Calibri" pitchFamily="34" charset="-122"/>
                <a:cs typeface="Calibri" pitchFamily="34" charset="-120"/>
              </a:rPr>
              <a:t>GEÇİŞ BÖLGESİ</a:t>
            </a:r>
            <a:endParaRPr lang="en-US" sz="1000" dirty="0"/>
          </a:p>
          <a:p>
            <a:pPr algn="ctr" indent="0" marL="0">
              <a:lnSpc>
                <a:spcPts val="1100"/>
              </a:lnSpc>
              <a:buNone/>
            </a:pPr>
            <a:r>
              <a:rPr lang="en-US" sz="1000" dirty="0">
                <a:solidFill>
                  <a:srgbClr val="8C3A2B"/>
                </a:solidFill>
                <a:latin typeface="Calibri" pitchFamily="34" charset="0"/>
                <a:ea typeface="Calibri" pitchFamily="34" charset="-122"/>
                <a:cs typeface="Calibri" pitchFamily="34" charset="-120"/>
              </a:rPr>
              <a:t>(ürün konmaz)</a:t>
            </a:r>
            <a:endParaRPr lang="en-US" sz="1000" dirty="0"/>
          </a:p>
        </p:txBody>
      </p:sp>
      <p:sp>
        <p:nvSpPr>
          <p:cNvPr id="12" name="Shape 10"/>
          <p:cNvSpPr/>
          <p:nvPr/>
        </p:nvSpPr>
        <p:spPr>
          <a:xfrm>
            <a:off x="1554480" y="4087368"/>
            <a:ext cx="1691640" cy="658368"/>
          </a:xfrm>
          <a:prstGeom prst="rect">
            <a:avLst/>
          </a:prstGeom>
          <a:ln w="9525">
            <a:solidFill>
              <a:srgbClr val="C9C9CF"/>
            </a:solidFill>
            <a:prstDash val="solid"/>
          </a:ln>
        </p:spPr>
      </p:sp>
      <p:sp>
        <p:nvSpPr>
          <p:cNvPr id="13" name="Text 11"/>
          <p:cNvSpPr txBox="1"/>
          <p:nvPr/>
        </p:nvSpPr>
        <p:spPr>
          <a:xfrm>
            <a:off x="1591056" y="4087368"/>
            <a:ext cx="1618488" cy="658368"/>
          </a:xfrm>
          <a:prstGeom prst="rect">
            <a:avLst/>
          </a:prstGeom>
          <a:noFill/>
          <a:ln/>
        </p:spPr>
        <p:txBody>
          <a:bodyPr wrap="square" lIns="0" tIns="0" rIns="0" bIns="0" rtlCol="0" anchor="ctr"/>
          <a:lstStyle/>
          <a:p>
            <a:pPr algn="ctr" indent="0" marL="0">
              <a:lnSpc>
                <a:spcPts val="1100"/>
              </a:lnSpc>
              <a:buNone/>
            </a:pPr>
            <a:r>
              <a:rPr lang="en-US" sz="900" dirty="0">
                <a:solidFill>
                  <a:srgbClr val="2B2B31"/>
                </a:solidFill>
                <a:latin typeface="Calibri" pitchFamily="34" charset="0"/>
                <a:ea typeface="Calibri" pitchFamily="34" charset="-122"/>
                <a:cs typeface="Calibri" pitchFamily="34" charset="-120"/>
              </a:rPr>
              <a:t>vitrin</a:t>
            </a:r>
            <a:endParaRPr lang="en-US" sz="900" dirty="0"/>
          </a:p>
        </p:txBody>
      </p:sp>
      <p:sp>
        <p:nvSpPr>
          <p:cNvPr id="14" name="Shape 12"/>
          <p:cNvSpPr/>
          <p:nvPr/>
        </p:nvSpPr>
        <p:spPr>
          <a:xfrm>
            <a:off x="5715000" y="4087368"/>
            <a:ext cx="1691640" cy="658368"/>
          </a:xfrm>
          <a:prstGeom prst="rect">
            <a:avLst/>
          </a:prstGeom>
          <a:ln w="9525">
            <a:solidFill>
              <a:srgbClr val="C9C9CF"/>
            </a:solidFill>
            <a:prstDash val="solid"/>
          </a:ln>
        </p:spPr>
      </p:sp>
      <p:sp>
        <p:nvSpPr>
          <p:cNvPr id="15" name="Text 13"/>
          <p:cNvSpPr txBox="1"/>
          <p:nvPr/>
        </p:nvSpPr>
        <p:spPr>
          <a:xfrm>
            <a:off x="5751576" y="4087368"/>
            <a:ext cx="1618488" cy="658368"/>
          </a:xfrm>
          <a:prstGeom prst="rect">
            <a:avLst/>
          </a:prstGeom>
          <a:noFill/>
          <a:ln/>
        </p:spPr>
        <p:txBody>
          <a:bodyPr wrap="square" lIns="0" tIns="0" rIns="0" bIns="0" rtlCol="0" anchor="ctr"/>
          <a:lstStyle/>
          <a:p>
            <a:pPr algn="ctr" indent="0" marL="0">
              <a:lnSpc>
                <a:spcPts val="1100"/>
              </a:lnSpc>
              <a:buNone/>
            </a:pPr>
            <a:r>
              <a:rPr lang="en-US" sz="900" dirty="0">
                <a:solidFill>
                  <a:srgbClr val="2B2B31"/>
                </a:solidFill>
                <a:latin typeface="Calibri" pitchFamily="34" charset="0"/>
                <a:ea typeface="Calibri" pitchFamily="34" charset="-122"/>
                <a:cs typeface="Calibri" pitchFamily="34" charset="-120"/>
              </a:rPr>
              <a:t>vitrin</a:t>
            </a:r>
            <a:endParaRPr lang="en-US" sz="900" dirty="0"/>
          </a:p>
        </p:txBody>
      </p:sp>
      <p:sp>
        <p:nvSpPr>
          <p:cNvPr id="16" name="Shape 14"/>
          <p:cNvSpPr/>
          <p:nvPr/>
        </p:nvSpPr>
        <p:spPr>
          <a:xfrm>
            <a:off x="6446520" y="1938528"/>
            <a:ext cx="960120" cy="1508760"/>
          </a:xfrm>
          <a:prstGeom prst="rect">
            <a:avLst/>
          </a:prstGeom>
          <a:ln w="9525">
            <a:solidFill>
              <a:srgbClr val="C9C9CF"/>
            </a:solidFill>
            <a:prstDash val="solid"/>
          </a:ln>
        </p:spPr>
      </p:sp>
      <p:sp>
        <p:nvSpPr>
          <p:cNvPr id="17" name="Text 15"/>
          <p:cNvSpPr txBox="1"/>
          <p:nvPr/>
        </p:nvSpPr>
        <p:spPr>
          <a:xfrm>
            <a:off x="6483096" y="1938528"/>
            <a:ext cx="886968" cy="1508760"/>
          </a:xfrm>
          <a:prstGeom prst="rect">
            <a:avLst/>
          </a:prstGeom>
          <a:noFill/>
          <a:ln/>
        </p:spPr>
        <p:txBody>
          <a:bodyPr wrap="square" lIns="0" tIns="0" rIns="0" bIns="0" rtlCol="0" anchor="ctr"/>
          <a:lstStyle/>
          <a:p>
            <a:pPr algn="ctr" indent="0" marL="0">
              <a:lnSpc>
                <a:spcPts val="1100"/>
              </a:lnSpc>
              <a:buNone/>
            </a:pPr>
            <a:r>
              <a:rPr lang="en-US" sz="900" dirty="0">
                <a:solidFill>
                  <a:srgbClr val="2B2B31"/>
                </a:solidFill>
                <a:latin typeface="Calibri" pitchFamily="34" charset="0"/>
                <a:ea typeface="Calibri" pitchFamily="34" charset="-122"/>
                <a:cs typeface="Calibri" pitchFamily="34" charset="-120"/>
              </a:rPr>
              <a:t>güç</a:t>
            </a:r>
            <a:endParaRPr lang="en-US" sz="900" dirty="0"/>
          </a:p>
          <a:p>
            <a:pPr algn="ctr" indent="0" marL="0">
              <a:lnSpc>
                <a:spcPts val="1100"/>
              </a:lnSpc>
              <a:buNone/>
            </a:pPr>
            <a:r>
              <a:rPr lang="en-US" sz="900" dirty="0">
                <a:solidFill>
                  <a:srgbClr val="2B2B31"/>
                </a:solidFill>
                <a:latin typeface="Calibri" pitchFamily="34" charset="0"/>
                <a:ea typeface="Calibri" pitchFamily="34" charset="-122"/>
                <a:cs typeface="Calibri" pitchFamily="34" charset="-120"/>
              </a:rPr>
              <a:t>duvarı</a:t>
            </a:r>
            <a:endParaRPr lang="en-US" sz="900" dirty="0"/>
          </a:p>
        </p:txBody>
      </p:sp>
      <p:sp>
        <p:nvSpPr>
          <p:cNvPr id="18" name="Text 16"/>
          <p:cNvSpPr txBox="1"/>
          <p:nvPr/>
        </p:nvSpPr>
        <p:spPr>
          <a:xfrm>
            <a:off x="1600200" y="2167128"/>
            <a:ext cx="1737360" cy="274320"/>
          </a:xfrm>
          <a:prstGeom prst="rect">
            <a:avLst/>
          </a:prstGeom>
          <a:noFill/>
          <a:ln/>
        </p:spPr>
        <p:txBody>
          <a:bodyPr wrap="square" lIns="0" tIns="0" rIns="0" bIns="0" rtlCol="0" anchor="ctr"/>
          <a:lstStyle/>
          <a:p>
            <a:pPr algn="l" indent="0" marL="0">
              <a:lnSpc>
                <a:spcPts val="1200"/>
              </a:lnSpc>
              <a:buNone/>
            </a:pPr>
            <a:r>
              <a:rPr lang="en-US" sz="950" dirty="0">
                <a:solidFill>
                  <a:srgbClr val="7A7A82"/>
                </a:solidFill>
                <a:latin typeface="Calibri" pitchFamily="34" charset="0"/>
                <a:ea typeface="Calibri" pitchFamily="34" charset="-122"/>
                <a:cs typeface="Calibri" pitchFamily="34" charset="-120"/>
              </a:rPr>
              <a:t>satış alanı</a:t>
            </a:r>
            <a:endParaRPr lang="en-US" sz="950" dirty="0"/>
          </a:p>
        </p:txBody>
      </p:sp>
      <p:sp>
        <p:nvSpPr>
          <p:cNvPr id="19" name="Shape 17"/>
          <p:cNvSpPr/>
          <p:nvPr/>
        </p:nvSpPr>
        <p:spPr>
          <a:xfrm>
            <a:off x="7799832" y="2011680"/>
            <a:ext cx="201168" cy="201168"/>
          </a:xfrm>
          <a:prstGeom prst="ellipse">
            <a:avLst/>
          </a:prstGeom>
          <a:solidFill>
            <a:srgbClr val="8C3A2B"/>
          </a:solidFill>
          <a:ln w="12700">
            <a:solidFill>
              <a:srgbClr val="8C3A2B"/>
            </a:solidFill>
            <a:prstDash val="solid"/>
          </a:ln>
        </p:spPr>
      </p:sp>
      <p:sp>
        <p:nvSpPr>
          <p:cNvPr id="20" name="Text 18"/>
          <p:cNvSpPr txBox="1"/>
          <p:nvPr/>
        </p:nvSpPr>
        <p:spPr>
          <a:xfrm>
            <a:off x="7799832" y="2011680"/>
            <a:ext cx="201168"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1</a:t>
            </a:r>
            <a:endParaRPr lang="en-US" sz="750" dirty="0"/>
          </a:p>
        </p:txBody>
      </p:sp>
      <p:sp>
        <p:nvSpPr>
          <p:cNvPr id="21" name="Text 19"/>
          <p:cNvSpPr txBox="1"/>
          <p:nvPr/>
        </p:nvSpPr>
        <p:spPr>
          <a:xfrm>
            <a:off x="8129016" y="1984248"/>
            <a:ext cx="3255264" cy="237744"/>
          </a:xfrm>
          <a:prstGeom prst="rect">
            <a:avLst/>
          </a:prstGeom>
          <a:noFill/>
          <a:ln/>
        </p:spPr>
        <p:txBody>
          <a:bodyPr wrap="square" lIns="0" tIns="0" rIns="0" bIns="0" rtlCol="0" anchor="ctr"/>
          <a:lstStyle/>
          <a:p>
            <a:pPr indent="0" marL="0">
              <a:buNone/>
            </a:pPr>
            <a:r>
              <a:rPr lang="en-US" sz="1050" b="1" dirty="0">
                <a:solidFill>
                  <a:srgbClr val="16161A"/>
                </a:solidFill>
                <a:latin typeface="Calibri" pitchFamily="34" charset="0"/>
                <a:ea typeface="Calibri" pitchFamily="34" charset="-122"/>
                <a:cs typeface="Calibri" pitchFamily="34" charset="-120"/>
              </a:rPr>
              <a:t>Işık düzeyi düşer ya da yükselir</a:t>
            </a:r>
            <a:endParaRPr lang="en-US" sz="1050" dirty="0"/>
          </a:p>
        </p:txBody>
      </p:sp>
      <p:sp>
        <p:nvSpPr>
          <p:cNvPr id="22" name="Text 20"/>
          <p:cNvSpPr txBox="1"/>
          <p:nvPr/>
        </p:nvSpPr>
        <p:spPr>
          <a:xfrm>
            <a:off x="8129016" y="2221992"/>
            <a:ext cx="3255264" cy="384048"/>
          </a:xfrm>
          <a:prstGeom prst="rect">
            <a:avLst/>
          </a:prstGeom>
          <a:noFill/>
          <a:ln/>
        </p:spPr>
        <p:txBody>
          <a:bodyPr wrap="square" lIns="0" tIns="0" rIns="0" bIns="0" rtlCol="0" anchor="ctr"/>
          <a:lstStyle/>
          <a:p>
            <a:pPr indent="0" marL="0">
              <a:lnSpc>
                <a:spcPts val="1200"/>
              </a:lnSpc>
              <a:buNone/>
            </a:pPr>
            <a:r>
              <a:rPr lang="en-US" sz="1000" dirty="0">
                <a:solidFill>
                  <a:srgbClr val="7A7A82"/>
                </a:solidFill>
                <a:latin typeface="Calibri" pitchFamily="34" charset="0"/>
                <a:ea typeface="Calibri" pitchFamily="34" charset="-122"/>
                <a:cs typeface="Calibri" pitchFamily="34" charset="-120"/>
              </a:rPr>
              <a:t>Gözün dışarıdan içeriye uyum süresi</a:t>
            </a:r>
            <a:endParaRPr lang="en-US" sz="1000" dirty="0"/>
          </a:p>
        </p:txBody>
      </p:sp>
      <p:sp>
        <p:nvSpPr>
          <p:cNvPr id="23" name="Shape 21"/>
          <p:cNvSpPr/>
          <p:nvPr/>
        </p:nvSpPr>
        <p:spPr>
          <a:xfrm>
            <a:off x="7799832" y="2688336"/>
            <a:ext cx="201168" cy="201168"/>
          </a:xfrm>
          <a:prstGeom prst="ellipse">
            <a:avLst/>
          </a:prstGeom>
          <a:solidFill>
            <a:srgbClr val="8C3A2B"/>
          </a:solidFill>
          <a:ln w="12700">
            <a:solidFill>
              <a:srgbClr val="8C3A2B"/>
            </a:solidFill>
            <a:prstDash val="solid"/>
          </a:ln>
        </p:spPr>
      </p:sp>
      <p:sp>
        <p:nvSpPr>
          <p:cNvPr id="24" name="Text 22"/>
          <p:cNvSpPr txBox="1"/>
          <p:nvPr/>
        </p:nvSpPr>
        <p:spPr>
          <a:xfrm>
            <a:off x="7799832" y="2688336"/>
            <a:ext cx="201168"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2</a:t>
            </a:r>
            <a:endParaRPr lang="en-US" sz="750" dirty="0"/>
          </a:p>
        </p:txBody>
      </p:sp>
      <p:sp>
        <p:nvSpPr>
          <p:cNvPr id="25" name="Text 23"/>
          <p:cNvSpPr txBox="1"/>
          <p:nvPr/>
        </p:nvSpPr>
        <p:spPr>
          <a:xfrm>
            <a:off x="8129016" y="2660904"/>
            <a:ext cx="3255264" cy="237744"/>
          </a:xfrm>
          <a:prstGeom prst="rect">
            <a:avLst/>
          </a:prstGeom>
          <a:noFill/>
          <a:ln/>
        </p:spPr>
        <p:txBody>
          <a:bodyPr wrap="square" lIns="0" tIns="0" rIns="0" bIns="0" rtlCol="0" anchor="ctr"/>
          <a:lstStyle/>
          <a:p>
            <a:pPr indent="0" marL="0">
              <a:buNone/>
            </a:pPr>
            <a:r>
              <a:rPr lang="en-US" sz="1050" b="1" dirty="0">
                <a:solidFill>
                  <a:srgbClr val="16161A"/>
                </a:solidFill>
                <a:latin typeface="Calibri" pitchFamily="34" charset="0"/>
                <a:ea typeface="Calibri" pitchFamily="34" charset="-122"/>
                <a:cs typeface="Calibri" pitchFamily="34" charset="-120"/>
              </a:rPr>
              <a:t>Ses ve koku değişir</a:t>
            </a:r>
            <a:endParaRPr lang="en-US" sz="1050" dirty="0"/>
          </a:p>
        </p:txBody>
      </p:sp>
      <p:sp>
        <p:nvSpPr>
          <p:cNvPr id="26" name="Text 24"/>
          <p:cNvSpPr txBox="1"/>
          <p:nvPr/>
        </p:nvSpPr>
        <p:spPr>
          <a:xfrm>
            <a:off x="8129016" y="2898648"/>
            <a:ext cx="3255264" cy="384048"/>
          </a:xfrm>
          <a:prstGeom prst="rect">
            <a:avLst/>
          </a:prstGeom>
          <a:noFill/>
          <a:ln/>
        </p:spPr>
        <p:txBody>
          <a:bodyPr wrap="square" lIns="0" tIns="0" rIns="0" bIns="0" rtlCol="0" anchor="ctr"/>
          <a:lstStyle/>
          <a:p>
            <a:pPr indent="0" marL="0">
              <a:lnSpc>
                <a:spcPts val="1200"/>
              </a:lnSpc>
              <a:buNone/>
            </a:pPr>
            <a:r>
              <a:rPr lang="en-US" sz="1000" dirty="0">
                <a:solidFill>
                  <a:srgbClr val="7A7A82"/>
                </a:solidFill>
                <a:latin typeface="Calibri" pitchFamily="34" charset="0"/>
                <a:ea typeface="Calibri" pitchFamily="34" charset="-122"/>
                <a:cs typeface="Calibri" pitchFamily="34" charset="-120"/>
              </a:rPr>
              <a:t>Bedene 'başka bir yere girdim' bilgisini veren asıl katman</a:t>
            </a:r>
            <a:endParaRPr lang="en-US" sz="1000" dirty="0"/>
          </a:p>
        </p:txBody>
      </p:sp>
      <p:sp>
        <p:nvSpPr>
          <p:cNvPr id="27" name="Shape 25"/>
          <p:cNvSpPr/>
          <p:nvPr/>
        </p:nvSpPr>
        <p:spPr>
          <a:xfrm>
            <a:off x="7799832" y="3364992"/>
            <a:ext cx="201168" cy="201168"/>
          </a:xfrm>
          <a:prstGeom prst="ellipse">
            <a:avLst/>
          </a:prstGeom>
          <a:solidFill>
            <a:srgbClr val="8C3A2B"/>
          </a:solidFill>
          <a:ln w="12700">
            <a:solidFill>
              <a:srgbClr val="8C3A2B"/>
            </a:solidFill>
            <a:prstDash val="solid"/>
          </a:ln>
        </p:spPr>
      </p:sp>
      <p:sp>
        <p:nvSpPr>
          <p:cNvPr id="28" name="Text 26"/>
          <p:cNvSpPr txBox="1"/>
          <p:nvPr/>
        </p:nvSpPr>
        <p:spPr>
          <a:xfrm>
            <a:off x="7799832" y="3364992"/>
            <a:ext cx="201168"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3</a:t>
            </a:r>
            <a:endParaRPr lang="en-US" sz="750" dirty="0"/>
          </a:p>
        </p:txBody>
      </p:sp>
      <p:sp>
        <p:nvSpPr>
          <p:cNvPr id="29" name="Text 27"/>
          <p:cNvSpPr txBox="1"/>
          <p:nvPr/>
        </p:nvSpPr>
        <p:spPr>
          <a:xfrm>
            <a:off x="8129016" y="3337560"/>
            <a:ext cx="3255264" cy="237744"/>
          </a:xfrm>
          <a:prstGeom prst="rect">
            <a:avLst/>
          </a:prstGeom>
          <a:noFill/>
          <a:ln/>
        </p:spPr>
        <p:txBody>
          <a:bodyPr wrap="square" lIns="0" tIns="0" rIns="0" bIns="0" rtlCol="0" anchor="ctr"/>
          <a:lstStyle/>
          <a:p>
            <a:pPr indent="0" marL="0">
              <a:buNone/>
            </a:pPr>
            <a:r>
              <a:rPr lang="en-US" sz="1050" b="1" dirty="0">
                <a:solidFill>
                  <a:srgbClr val="16161A"/>
                </a:solidFill>
                <a:latin typeface="Calibri" pitchFamily="34" charset="0"/>
                <a:ea typeface="Calibri" pitchFamily="34" charset="-122"/>
                <a:cs typeface="Calibri" pitchFamily="34" charset="-120"/>
              </a:rPr>
              <a:t>Zemin malzemesi ve sertliği değişir</a:t>
            </a:r>
            <a:endParaRPr lang="en-US" sz="1050" dirty="0"/>
          </a:p>
        </p:txBody>
      </p:sp>
      <p:sp>
        <p:nvSpPr>
          <p:cNvPr id="30" name="Text 28"/>
          <p:cNvSpPr txBox="1"/>
          <p:nvPr/>
        </p:nvSpPr>
        <p:spPr>
          <a:xfrm>
            <a:off x="8129016" y="3575304"/>
            <a:ext cx="3255264" cy="384048"/>
          </a:xfrm>
          <a:prstGeom prst="rect">
            <a:avLst/>
          </a:prstGeom>
          <a:noFill/>
          <a:ln/>
        </p:spPr>
        <p:txBody>
          <a:bodyPr wrap="square" lIns="0" tIns="0" rIns="0" bIns="0" rtlCol="0" anchor="ctr"/>
          <a:lstStyle/>
          <a:p>
            <a:pPr indent="0" marL="0">
              <a:lnSpc>
                <a:spcPts val="1200"/>
              </a:lnSpc>
              <a:buNone/>
            </a:pPr>
            <a:r>
              <a:rPr lang="en-US" sz="1000" dirty="0">
                <a:solidFill>
                  <a:srgbClr val="7A7A82"/>
                </a:solidFill>
                <a:latin typeface="Calibri" pitchFamily="34" charset="0"/>
                <a:ea typeface="Calibri" pitchFamily="34" charset="-122"/>
                <a:cs typeface="Calibri" pitchFamily="34" charset="-120"/>
              </a:rPr>
              <a:t>Adımın sesi ve hissi</a:t>
            </a:r>
            <a:endParaRPr lang="en-US" sz="1000" dirty="0"/>
          </a:p>
        </p:txBody>
      </p:sp>
      <p:sp>
        <p:nvSpPr>
          <p:cNvPr id="31" name="Shape 29"/>
          <p:cNvSpPr/>
          <p:nvPr/>
        </p:nvSpPr>
        <p:spPr>
          <a:xfrm>
            <a:off x="7799832" y="4041648"/>
            <a:ext cx="201168" cy="201168"/>
          </a:xfrm>
          <a:prstGeom prst="ellipse">
            <a:avLst/>
          </a:prstGeom>
          <a:solidFill>
            <a:srgbClr val="8C3A2B"/>
          </a:solidFill>
          <a:ln w="12700">
            <a:solidFill>
              <a:srgbClr val="8C3A2B"/>
            </a:solidFill>
            <a:prstDash val="solid"/>
          </a:ln>
        </p:spPr>
      </p:sp>
      <p:sp>
        <p:nvSpPr>
          <p:cNvPr id="32" name="Text 30"/>
          <p:cNvSpPr txBox="1"/>
          <p:nvPr/>
        </p:nvSpPr>
        <p:spPr>
          <a:xfrm>
            <a:off x="7799832" y="4041648"/>
            <a:ext cx="201168"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4</a:t>
            </a:r>
            <a:endParaRPr lang="en-US" sz="750" dirty="0"/>
          </a:p>
        </p:txBody>
      </p:sp>
      <p:sp>
        <p:nvSpPr>
          <p:cNvPr id="33" name="Text 31"/>
          <p:cNvSpPr txBox="1"/>
          <p:nvPr/>
        </p:nvSpPr>
        <p:spPr>
          <a:xfrm>
            <a:off x="8129016" y="4014216"/>
            <a:ext cx="3255264" cy="237744"/>
          </a:xfrm>
          <a:prstGeom prst="rect">
            <a:avLst/>
          </a:prstGeom>
          <a:noFill/>
          <a:ln/>
        </p:spPr>
        <p:txBody>
          <a:bodyPr wrap="square" lIns="0" tIns="0" rIns="0" bIns="0" rtlCol="0" anchor="ctr"/>
          <a:lstStyle/>
          <a:p>
            <a:pPr indent="0" marL="0">
              <a:buNone/>
            </a:pPr>
            <a:r>
              <a:rPr lang="en-US" sz="1050" b="1" dirty="0">
                <a:solidFill>
                  <a:srgbClr val="16161A"/>
                </a:solidFill>
                <a:latin typeface="Calibri" pitchFamily="34" charset="0"/>
                <a:ea typeface="Calibri" pitchFamily="34" charset="-122"/>
                <a:cs typeface="Calibri" pitchFamily="34" charset="-120"/>
              </a:rPr>
              <a:t>Sıcaklık farkı hissedilir</a:t>
            </a:r>
            <a:endParaRPr lang="en-US" sz="1050" dirty="0"/>
          </a:p>
        </p:txBody>
      </p:sp>
      <p:sp>
        <p:nvSpPr>
          <p:cNvPr id="34" name="Text 32"/>
          <p:cNvSpPr txBox="1"/>
          <p:nvPr/>
        </p:nvSpPr>
        <p:spPr>
          <a:xfrm>
            <a:off x="8129016" y="4251960"/>
            <a:ext cx="3255264" cy="384048"/>
          </a:xfrm>
          <a:prstGeom prst="rect">
            <a:avLst/>
          </a:prstGeom>
          <a:noFill/>
          <a:ln/>
        </p:spPr>
        <p:txBody>
          <a:bodyPr wrap="square" lIns="0" tIns="0" rIns="0" bIns="0" rtlCol="0" anchor="ctr"/>
          <a:lstStyle/>
          <a:p>
            <a:pPr indent="0" marL="0">
              <a:lnSpc>
                <a:spcPts val="1200"/>
              </a:lnSpc>
              <a:buNone/>
            </a:pPr>
            <a:r>
              <a:rPr lang="en-US" sz="1000" dirty="0">
                <a:solidFill>
                  <a:srgbClr val="7A7A82"/>
                </a:solidFill>
                <a:latin typeface="Calibri" pitchFamily="34" charset="0"/>
                <a:ea typeface="Calibri" pitchFamily="34" charset="-122"/>
                <a:cs typeface="Calibri" pitchFamily="34" charset="-120"/>
              </a:rPr>
              <a:t>Eşiğin en az fark edilen ama en güçlü aracı</a:t>
            </a:r>
            <a:endParaRPr lang="en-US" sz="1000" dirty="0"/>
          </a:p>
        </p:txBody>
      </p:sp>
      <p:sp>
        <p:nvSpPr>
          <p:cNvPr id="35" name="Text 33"/>
          <p:cNvSpPr txBox="1"/>
          <p:nvPr/>
        </p:nvSpPr>
        <p:spPr>
          <a:xfrm>
            <a:off x="777240" y="5175504"/>
            <a:ext cx="6309360" cy="1188720"/>
          </a:xfrm>
          <a:prstGeom prst="rect">
            <a:avLst/>
          </a:prstGeom>
          <a:noFill/>
          <a:ln/>
        </p:spPr>
        <p:txBody>
          <a:bodyPr wrap="square" lIns="0" tIns="0" rIns="0" bIns="0" rtlCol="0" anchor="ctr"/>
          <a:lstStyle/>
          <a:p>
            <a:pPr indent="0" marL="0">
              <a:lnSpc>
                <a:spcPts val="2300"/>
              </a:lnSpc>
              <a:buNone/>
            </a:pPr>
            <a:r>
              <a:rPr lang="en-US" sz="1300" dirty="0">
                <a:solidFill>
                  <a:srgbClr val="2B2B31"/>
                </a:solidFill>
                <a:latin typeface="Cambria" pitchFamily="34" charset="0"/>
                <a:ea typeface="Cambria" pitchFamily="34" charset="-122"/>
                <a:cs typeface="Cambria" pitchFamily="34" charset="-120"/>
              </a:rPr>
              <a:t>Girişten sonraki ilk 2–4 metre geçiş bölgesidir. Duyular hâlâ dışarıya ayarlıdır; buraya konan ürün ya da bilgi genellikle görülmez (Underhill, 2008). Eşiği sınamanın en basit yolu tek bir sorudur: bu kapıdan geçerken ne değişiyor?</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6161A"/>
        </a:solidFill>
      </p:bgPr>
    </p:bg>
    <p:spTree>
      <p:nvGrpSpPr>
        <p:cNvPr id="1" name=""/>
        <p:cNvGrpSpPr/>
        <p:nvPr/>
      </p:nvGrpSpPr>
      <p:grpSpPr>
        <a:xfrm>
          <a:off x="0" y="0"/>
          <a:ext cx="0" cy="0"/>
          <a:chOff x="0" y="0"/>
          <a:chExt cx="0" cy="0"/>
        </a:xfrm>
      </p:grpSpPr>
      <p:sp>
        <p:nvSpPr>
          <p:cNvPr id="2" name="Text 0"/>
          <p:cNvSpPr txBox="1"/>
          <p:nvPr/>
        </p:nvSpPr>
        <p:spPr>
          <a:xfrm>
            <a:off x="777240" y="1371600"/>
            <a:ext cx="3108960" cy="2377440"/>
          </a:xfrm>
          <a:prstGeom prst="rect">
            <a:avLst/>
          </a:prstGeom>
          <a:noFill/>
          <a:ln/>
        </p:spPr>
        <p:txBody>
          <a:bodyPr wrap="square" lIns="0" tIns="0" rIns="0" bIns="0" rtlCol="0" anchor="ctr"/>
          <a:lstStyle/>
          <a:p>
            <a:pPr indent="0" marL="0">
              <a:buNone/>
            </a:pPr>
            <a:r>
              <a:rPr lang="en-US" sz="13000" b="1" dirty="0">
                <a:solidFill>
                  <a:srgbClr val="8C3A2B"/>
                </a:solidFill>
                <a:latin typeface="Cambria" pitchFamily="34" charset="0"/>
                <a:ea typeface="Cambria" pitchFamily="34" charset="-122"/>
                <a:cs typeface="Cambria" pitchFamily="34" charset="-120"/>
              </a:rPr>
              <a:t>V</a:t>
            </a:r>
            <a:endParaRPr lang="en-US" sz="13000" dirty="0"/>
          </a:p>
        </p:txBody>
      </p:sp>
      <p:sp>
        <p:nvSpPr>
          <p:cNvPr id="3" name="Text 1"/>
          <p:cNvSpPr txBox="1"/>
          <p:nvPr/>
        </p:nvSpPr>
        <p:spPr>
          <a:xfrm>
            <a:off x="777240" y="3611880"/>
            <a:ext cx="10424160" cy="1325880"/>
          </a:xfrm>
          <a:prstGeom prst="rect">
            <a:avLst/>
          </a:prstGeom>
          <a:noFill/>
          <a:ln/>
        </p:spPr>
        <p:txBody>
          <a:bodyPr wrap="square" lIns="0" tIns="0" rIns="0" bIns="0" rtlCol="0" anchor="ctr"/>
          <a:lstStyle/>
          <a:p>
            <a:pPr indent="0" marL="0">
              <a:lnSpc>
                <a:spcPts val="4400"/>
              </a:lnSpc>
              <a:buNone/>
            </a:pPr>
            <a:r>
              <a:rPr lang="en-US" sz="4000" b="1" dirty="0">
                <a:solidFill>
                  <a:srgbClr val="FFFFFF"/>
                </a:solidFill>
                <a:latin typeface="Cambria" pitchFamily="34" charset="0"/>
                <a:ea typeface="Cambria" pitchFamily="34" charset="-122"/>
                <a:cs typeface="Cambria" pitchFamily="34" charset="-120"/>
              </a:rPr>
              <a:t>Mağazanın içi</a:t>
            </a:r>
            <a:endParaRPr lang="en-US" sz="4000" dirty="0"/>
          </a:p>
        </p:txBody>
      </p:sp>
      <p:sp>
        <p:nvSpPr>
          <p:cNvPr id="4" name="Text 2"/>
          <p:cNvSpPr txBox="1"/>
          <p:nvPr/>
        </p:nvSpPr>
        <p:spPr>
          <a:xfrm>
            <a:off x="777240" y="5029200"/>
            <a:ext cx="9509760" cy="822960"/>
          </a:xfrm>
          <a:prstGeom prst="rect">
            <a:avLst/>
          </a:prstGeom>
          <a:noFill/>
          <a:ln/>
        </p:spPr>
        <p:txBody>
          <a:bodyPr wrap="square" lIns="0" tIns="0" rIns="0" bIns="0" rtlCol="0" anchor="ctr"/>
          <a:lstStyle/>
          <a:p>
            <a:pPr indent="0" marL="0">
              <a:lnSpc>
                <a:spcPts val="2200"/>
              </a:lnSpc>
              <a:buNone/>
            </a:pPr>
            <a:r>
              <a:rPr lang="en-US" sz="1500" dirty="0">
                <a:solidFill>
                  <a:srgbClr val="B9B9C0"/>
                </a:solidFill>
                <a:latin typeface="Calibri" pitchFamily="34" charset="0"/>
                <a:ea typeface="Calibri" pitchFamily="34" charset="-122"/>
                <a:cs typeface="Calibri" pitchFamily="34" charset="-120"/>
              </a:rPr>
              <a:t>Hangi işlevler var ve birbirleriyle nasıl ilişkilenirler?</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CFCFA"/>
        </a:solidFill>
      </p:bgPr>
    </p:bg>
    <p:spTree>
      <p:nvGrpSpPr>
        <p:cNvPr id="1" name=""/>
        <p:cNvGrpSpPr/>
        <p:nvPr/>
      </p:nvGrpSpPr>
      <p:grpSpPr>
        <a:xfrm>
          <a:off x="0" y="0"/>
          <a:ext cx="0" cy="0"/>
          <a:chOff x="0" y="0"/>
          <a:chExt cx="0" cy="0"/>
        </a:xfrm>
      </p:grpSpPr>
      <p:sp>
        <p:nvSpPr>
          <p:cNvPr id="2" name="Text 0"/>
          <p:cNvSpPr txBox="1"/>
          <p:nvPr/>
        </p:nvSpPr>
        <p:spPr>
          <a:xfrm>
            <a:off x="777240" y="475488"/>
            <a:ext cx="9601200" cy="237744"/>
          </a:xfrm>
          <a:prstGeom prst="rect">
            <a:avLst/>
          </a:prstGeom>
          <a:noFill/>
          <a:ln/>
        </p:spPr>
        <p:txBody>
          <a:bodyPr wrap="square" lIns="0" tIns="0" rIns="0" bIns="0" rtlCol="0" anchor="ctr"/>
          <a:lstStyle/>
          <a:p>
            <a:pPr indent="0" marL="0">
              <a:buNone/>
            </a:pPr>
            <a:r>
              <a:rPr lang="en-US" sz="950" b="1" spc="260" kern="0" dirty="0">
                <a:solidFill>
                  <a:srgbClr val="7A7A82"/>
                </a:solidFill>
                <a:latin typeface="Calibri" pitchFamily="34" charset="0"/>
                <a:ea typeface="Calibri" pitchFamily="34" charset="-122"/>
                <a:cs typeface="Calibri" pitchFamily="34" charset="-120"/>
              </a:rPr>
              <a:t>V · MAĞAZANIN İÇİ</a:t>
            </a:r>
            <a:endParaRPr lang="en-US" sz="950" dirty="0"/>
          </a:p>
        </p:txBody>
      </p:sp>
      <p:sp>
        <p:nvSpPr>
          <p:cNvPr id="3" name="Text 1"/>
          <p:cNvSpPr txBox="1"/>
          <p:nvPr/>
        </p:nvSpPr>
        <p:spPr>
          <a:xfrm>
            <a:off x="777240" y="822960"/>
            <a:ext cx="10424160" cy="731520"/>
          </a:xfrm>
          <a:prstGeom prst="rect">
            <a:avLst/>
          </a:prstGeom>
          <a:noFill/>
          <a:ln/>
        </p:spPr>
        <p:txBody>
          <a:bodyPr wrap="square" lIns="0" tIns="0" rIns="0" bIns="0" rtlCol="0" anchor="ctr"/>
          <a:lstStyle/>
          <a:p>
            <a:pPr indent="0" marL="0">
              <a:lnSpc>
                <a:spcPts val="3400"/>
              </a:lnSpc>
              <a:buNone/>
            </a:pPr>
            <a:r>
              <a:rPr lang="en-US" sz="2900" b="1" dirty="0">
                <a:solidFill>
                  <a:srgbClr val="16161A"/>
                </a:solidFill>
                <a:latin typeface="Cambria" pitchFamily="34" charset="0"/>
                <a:ea typeface="Cambria" pitchFamily="34" charset="-122"/>
                <a:cs typeface="Cambria" pitchFamily="34" charset="-120"/>
              </a:rPr>
              <a:t>Bir mağazada bulunması gereken işlevler</a:t>
            </a:r>
            <a:endParaRPr lang="en-US" sz="2900" dirty="0"/>
          </a:p>
        </p:txBody>
      </p:sp>
      <p:sp>
        <p:nvSpPr>
          <p:cNvPr id="4" name="Text 2"/>
          <p:cNvSpPr txBox="1"/>
          <p:nvPr/>
        </p:nvSpPr>
        <p:spPr>
          <a:xfrm>
            <a:off x="10972800" y="6355080"/>
            <a:ext cx="438912" cy="237744"/>
          </a:xfrm>
          <a:prstGeom prst="rect">
            <a:avLst/>
          </a:prstGeom>
          <a:noFill/>
          <a:ln/>
        </p:spPr>
        <p:txBody>
          <a:bodyPr wrap="square" lIns="0" tIns="0" rIns="0" bIns="0" rtlCol="0" anchor="ctr"/>
          <a:lstStyle/>
          <a:p>
            <a:pPr algn="r" indent="0" marL="0">
              <a:buNone/>
            </a:pPr>
            <a:r>
              <a:rPr lang="en-US" sz="950" dirty="0">
                <a:solidFill>
                  <a:srgbClr val="A6A6AC"/>
                </a:solidFill>
                <a:latin typeface="Calibri" pitchFamily="34" charset="0"/>
                <a:ea typeface="Calibri" pitchFamily="34" charset="-122"/>
                <a:cs typeface="Calibri" pitchFamily="34" charset="-120"/>
              </a:rPr>
              <a:t>23</a:t>
            </a:r>
            <a:endParaRPr lang="en-US" sz="950" dirty="0"/>
          </a:p>
        </p:txBody>
      </p:sp>
      <p:sp>
        <p:nvSpPr>
          <p:cNvPr id="5" name="Text 3"/>
          <p:cNvSpPr txBox="1"/>
          <p:nvPr/>
        </p:nvSpPr>
        <p:spPr>
          <a:xfrm>
            <a:off x="777240" y="1499616"/>
            <a:ext cx="10634472" cy="548640"/>
          </a:xfrm>
          <a:prstGeom prst="rect">
            <a:avLst/>
          </a:prstGeom>
          <a:noFill/>
          <a:ln/>
        </p:spPr>
        <p:txBody>
          <a:bodyPr wrap="square" lIns="0" tIns="0" rIns="0" bIns="0" rtlCol="0" anchor="ctr"/>
          <a:lstStyle/>
          <a:p>
            <a:pPr indent="0" marL="0">
              <a:lnSpc>
                <a:spcPts val="2300"/>
              </a:lnSpc>
              <a:buNone/>
            </a:pPr>
            <a:r>
              <a:rPr lang="en-US" sz="1450" dirty="0">
                <a:solidFill>
                  <a:srgbClr val="2B2B31"/>
                </a:solidFill>
                <a:latin typeface="Cambria" pitchFamily="34" charset="0"/>
                <a:ea typeface="Cambria" pitchFamily="34" charset="-122"/>
                <a:cs typeface="Cambria" pitchFamily="34" charset="-120"/>
              </a:rPr>
              <a:t>Bu şema bir yerleşim önerisi değildir; işlevlerin listesini ve aralarındaki ilişkiyi gösterir. Hangi işlevin nereye konacağı markaya, ürüne ve mekâna göre değişir.</a:t>
            </a:r>
            <a:endParaRPr lang="en-US" sz="1450" dirty="0"/>
          </a:p>
        </p:txBody>
      </p:sp>
      <p:sp>
        <p:nvSpPr>
          <p:cNvPr id="6" name="Shape 4"/>
          <p:cNvSpPr/>
          <p:nvPr/>
        </p:nvSpPr>
        <p:spPr>
          <a:xfrm>
            <a:off x="777240" y="2432304"/>
            <a:ext cx="1581912" cy="713232"/>
          </a:xfrm>
          <a:prstGeom prst="rect">
            <a:avLst/>
          </a:prstGeom>
          <a:ln w="9525">
            <a:solidFill>
              <a:srgbClr val="C9C9CF"/>
            </a:solidFill>
            <a:prstDash val="solid"/>
          </a:ln>
        </p:spPr>
      </p:sp>
      <p:sp>
        <p:nvSpPr>
          <p:cNvPr id="7" name="Text 5"/>
          <p:cNvSpPr txBox="1"/>
          <p:nvPr/>
        </p:nvSpPr>
        <p:spPr>
          <a:xfrm>
            <a:off x="813816" y="2432304"/>
            <a:ext cx="1508760" cy="713232"/>
          </a:xfrm>
          <a:prstGeom prst="rect">
            <a:avLst/>
          </a:prstGeom>
          <a:noFill/>
          <a:ln/>
        </p:spPr>
        <p:txBody>
          <a:bodyPr wrap="square" lIns="0" tIns="0" rIns="0" bIns="0" rtlCol="0" anchor="ctr"/>
          <a:lstStyle/>
          <a:p>
            <a:pPr algn="ctr" indent="0" marL="0">
              <a:lnSpc>
                <a:spcPts val="1100"/>
              </a:lnSpc>
              <a:buNone/>
            </a:pPr>
            <a:r>
              <a:rPr lang="en-US" sz="950" dirty="0">
                <a:solidFill>
                  <a:srgbClr val="2B2B31"/>
                </a:solidFill>
                <a:latin typeface="Calibri" pitchFamily="34" charset="0"/>
                <a:ea typeface="Calibri" pitchFamily="34" charset="-122"/>
                <a:cs typeface="Calibri" pitchFamily="34" charset="-120"/>
              </a:rPr>
              <a:t>Vitrin</a:t>
            </a:r>
            <a:endParaRPr lang="en-US" sz="950" dirty="0"/>
          </a:p>
        </p:txBody>
      </p:sp>
      <p:sp>
        <p:nvSpPr>
          <p:cNvPr id="8" name="Shape 6"/>
          <p:cNvSpPr/>
          <p:nvPr/>
        </p:nvSpPr>
        <p:spPr>
          <a:xfrm>
            <a:off x="2359152" y="2788920"/>
            <a:ext cx="228600" cy="0"/>
          </a:xfrm>
          <a:prstGeom prst="line">
            <a:avLst/>
          </a:prstGeom>
          <a:noFill/>
          <a:ln w="12700">
            <a:solidFill>
              <a:srgbClr val="C9C9CF"/>
            </a:solidFill>
            <a:prstDash val="solid"/>
          </a:ln>
        </p:spPr>
      </p:sp>
      <p:sp>
        <p:nvSpPr>
          <p:cNvPr id="9" name="Shape 7"/>
          <p:cNvSpPr/>
          <p:nvPr/>
        </p:nvSpPr>
        <p:spPr>
          <a:xfrm>
            <a:off x="2587752" y="2432304"/>
            <a:ext cx="1581912" cy="713232"/>
          </a:xfrm>
          <a:prstGeom prst="rect">
            <a:avLst/>
          </a:prstGeom>
          <a:ln w="9525">
            <a:solidFill>
              <a:srgbClr val="C9C9CF"/>
            </a:solidFill>
            <a:prstDash val="solid"/>
          </a:ln>
        </p:spPr>
      </p:sp>
      <p:sp>
        <p:nvSpPr>
          <p:cNvPr id="10" name="Text 8"/>
          <p:cNvSpPr txBox="1"/>
          <p:nvPr/>
        </p:nvSpPr>
        <p:spPr>
          <a:xfrm>
            <a:off x="2624328" y="2432304"/>
            <a:ext cx="1508760" cy="713232"/>
          </a:xfrm>
          <a:prstGeom prst="rect">
            <a:avLst/>
          </a:prstGeom>
          <a:noFill/>
          <a:ln/>
        </p:spPr>
        <p:txBody>
          <a:bodyPr wrap="square" lIns="0" tIns="0" rIns="0" bIns="0" rtlCol="0" anchor="ctr"/>
          <a:lstStyle/>
          <a:p>
            <a:pPr algn="ctr" indent="0" marL="0">
              <a:lnSpc>
                <a:spcPts val="1100"/>
              </a:lnSpc>
              <a:buNone/>
            </a:pPr>
            <a:r>
              <a:rPr lang="en-US" sz="950" dirty="0">
                <a:solidFill>
                  <a:srgbClr val="2B2B31"/>
                </a:solidFill>
                <a:latin typeface="Calibri" pitchFamily="34" charset="0"/>
                <a:ea typeface="Calibri" pitchFamily="34" charset="-122"/>
                <a:cs typeface="Calibri" pitchFamily="34" charset="-120"/>
              </a:rPr>
              <a:t>Giriş ve</a:t>
            </a:r>
            <a:endParaRPr lang="en-US" sz="950" dirty="0"/>
          </a:p>
          <a:p>
            <a:pPr algn="ctr" indent="0" marL="0">
              <a:lnSpc>
                <a:spcPts val="1100"/>
              </a:lnSpc>
              <a:buNone/>
            </a:pPr>
            <a:r>
              <a:rPr lang="en-US" sz="950" dirty="0">
                <a:solidFill>
                  <a:srgbClr val="2B2B31"/>
                </a:solidFill>
                <a:latin typeface="Calibri" pitchFamily="34" charset="0"/>
                <a:ea typeface="Calibri" pitchFamily="34" charset="-122"/>
                <a:cs typeface="Calibri" pitchFamily="34" charset="-120"/>
              </a:rPr>
              <a:t>geçiş</a:t>
            </a:r>
            <a:endParaRPr lang="en-US" sz="950" dirty="0"/>
          </a:p>
        </p:txBody>
      </p:sp>
      <p:sp>
        <p:nvSpPr>
          <p:cNvPr id="11" name="Shape 9"/>
          <p:cNvSpPr/>
          <p:nvPr/>
        </p:nvSpPr>
        <p:spPr>
          <a:xfrm>
            <a:off x="4169664" y="2788920"/>
            <a:ext cx="228600" cy="0"/>
          </a:xfrm>
          <a:prstGeom prst="line">
            <a:avLst/>
          </a:prstGeom>
          <a:noFill/>
          <a:ln w="12700">
            <a:solidFill>
              <a:srgbClr val="C9C9CF"/>
            </a:solidFill>
            <a:prstDash val="solid"/>
          </a:ln>
        </p:spPr>
      </p:sp>
      <p:sp>
        <p:nvSpPr>
          <p:cNvPr id="12" name="Shape 10"/>
          <p:cNvSpPr/>
          <p:nvPr/>
        </p:nvSpPr>
        <p:spPr>
          <a:xfrm>
            <a:off x="4398264" y="2432304"/>
            <a:ext cx="1581912" cy="713232"/>
          </a:xfrm>
          <a:prstGeom prst="rect">
            <a:avLst/>
          </a:prstGeom>
          <a:ln w="9525">
            <a:solidFill>
              <a:srgbClr val="C9C9CF"/>
            </a:solidFill>
            <a:prstDash val="solid"/>
          </a:ln>
        </p:spPr>
      </p:sp>
      <p:sp>
        <p:nvSpPr>
          <p:cNvPr id="13" name="Text 11"/>
          <p:cNvSpPr txBox="1"/>
          <p:nvPr/>
        </p:nvSpPr>
        <p:spPr>
          <a:xfrm>
            <a:off x="4434840" y="2432304"/>
            <a:ext cx="1508760" cy="713232"/>
          </a:xfrm>
          <a:prstGeom prst="rect">
            <a:avLst/>
          </a:prstGeom>
          <a:noFill/>
          <a:ln/>
        </p:spPr>
        <p:txBody>
          <a:bodyPr wrap="square" lIns="0" tIns="0" rIns="0" bIns="0" rtlCol="0" anchor="ctr"/>
          <a:lstStyle/>
          <a:p>
            <a:pPr algn="ctr" indent="0" marL="0">
              <a:lnSpc>
                <a:spcPts val="1100"/>
              </a:lnSpc>
              <a:buNone/>
            </a:pPr>
            <a:r>
              <a:rPr lang="en-US" sz="950" dirty="0">
                <a:solidFill>
                  <a:srgbClr val="2B2B31"/>
                </a:solidFill>
                <a:latin typeface="Calibri" pitchFamily="34" charset="0"/>
                <a:ea typeface="Calibri" pitchFamily="34" charset="-122"/>
                <a:cs typeface="Calibri" pitchFamily="34" charset="-120"/>
              </a:rPr>
              <a:t>Teşhir</a:t>
            </a:r>
            <a:endParaRPr lang="en-US" sz="950" dirty="0"/>
          </a:p>
        </p:txBody>
      </p:sp>
      <p:sp>
        <p:nvSpPr>
          <p:cNvPr id="14" name="Shape 12"/>
          <p:cNvSpPr/>
          <p:nvPr/>
        </p:nvSpPr>
        <p:spPr>
          <a:xfrm>
            <a:off x="5980176" y="2788920"/>
            <a:ext cx="228600" cy="0"/>
          </a:xfrm>
          <a:prstGeom prst="line">
            <a:avLst/>
          </a:prstGeom>
          <a:noFill/>
          <a:ln w="12700">
            <a:solidFill>
              <a:srgbClr val="C9C9CF"/>
            </a:solidFill>
            <a:prstDash val="solid"/>
          </a:ln>
        </p:spPr>
      </p:sp>
      <p:sp>
        <p:nvSpPr>
          <p:cNvPr id="15" name="Shape 13"/>
          <p:cNvSpPr/>
          <p:nvPr/>
        </p:nvSpPr>
        <p:spPr>
          <a:xfrm>
            <a:off x="6208776" y="2432304"/>
            <a:ext cx="1581912" cy="713232"/>
          </a:xfrm>
          <a:prstGeom prst="rect">
            <a:avLst/>
          </a:prstGeom>
          <a:ln w="9525">
            <a:solidFill>
              <a:srgbClr val="C9C9CF"/>
            </a:solidFill>
            <a:prstDash val="solid"/>
          </a:ln>
        </p:spPr>
      </p:sp>
      <p:sp>
        <p:nvSpPr>
          <p:cNvPr id="16" name="Text 14"/>
          <p:cNvSpPr txBox="1"/>
          <p:nvPr/>
        </p:nvSpPr>
        <p:spPr>
          <a:xfrm>
            <a:off x="6245352" y="2432304"/>
            <a:ext cx="1508760" cy="713232"/>
          </a:xfrm>
          <a:prstGeom prst="rect">
            <a:avLst/>
          </a:prstGeom>
          <a:noFill/>
          <a:ln/>
        </p:spPr>
        <p:txBody>
          <a:bodyPr wrap="square" lIns="0" tIns="0" rIns="0" bIns="0" rtlCol="0" anchor="ctr"/>
          <a:lstStyle/>
          <a:p>
            <a:pPr algn="ctr" indent="0" marL="0">
              <a:lnSpc>
                <a:spcPts val="1100"/>
              </a:lnSpc>
              <a:buNone/>
            </a:pPr>
            <a:r>
              <a:rPr lang="en-US" sz="950" dirty="0">
                <a:solidFill>
                  <a:srgbClr val="2B2B31"/>
                </a:solidFill>
                <a:latin typeface="Calibri" pitchFamily="34" charset="0"/>
                <a:ea typeface="Calibri" pitchFamily="34" charset="-122"/>
                <a:cs typeface="Calibri" pitchFamily="34" charset="-120"/>
              </a:rPr>
              <a:t>Etkileşim ve</a:t>
            </a:r>
            <a:endParaRPr lang="en-US" sz="950" dirty="0"/>
          </a:p>
          <a:p>
            <a:pPr algn="ctr" indent="0" marL="0">
              <a:lnSpc>
                <a:spcPts val="1100"/>
              </a:lnSpc>
              <a:buNone/>
            </a:pPr>
            <a:r>
              <a:rPr lang="en-US" sz="950" dirty="0">
                <a:solidFill>
                  <a:srgbClr val="2B2B31"/>
                </a:solidFill>
                <a:latin typeface="Calibri" pitchFamily="34" charset="0"/>
                <a:ea typeface="Calibri" pitchFamily="34" charset="-122"/>
                <a:cs typeface="Calibri" pitchFamily="34" charset="-120"/>
              </a:rPr>
              <a:t>deneme</a:t>
            </a:r>
            <a:endParaRPr lang="en-US" sz="950" dirty="0"/>
          </a:p>
        </p:txBody>
      </p:sp>
      <p:sp>
        <p:nvSpPr>
          <p:cNvPr id="17" name="Shape 15"/>
          <p:cNvSpPr/>
          <p:nvPr/>
        </p:nvSpPr>
        <p:spPr>
          <a:xfrm>
            <a:off x="7790688" y="2788920"/>
            <a:ext cx="228600" cy="0"/>
          </a:xfrm>
          <a:prstGeom prst="line">
            <a:avLst/>
          </a:prstGeom>
          <a:noFill/>
          <a:ln w="12700">
            <a:solidFill>
              <a:srgbClr val="C9C9CF"/>
            </a:solidFill>
            <a:prstDash val="solid"/>
          </a:ln>
        </p:spPr>
      </p:sp>
      <p:sp>
        <p:nvSpPr>
          <p:cNvPr id="18" name="Shape 16"/>
          <p:cNvSpPr/>
          <p:nvPr/>
        </p:nvSpPr>
        <p:spPr>
          <a:xfrm>
            <a:off x="8019288" y="2432304"/>
            <a:ext cx="1581912" cy="713232"/>
          </a:xfrm>
          <a:prstGeom prst="rect">
            <a:avLst/>
          </a:prstGeom>
          <a:ln w="9525">
            <a:solidFill>
              <a:srgbClr val="C9C9CF"/>
            </a:solidFill>
            <a:prstDash val="solid"/>
          </a:ln>
        </p:spPr>
      </p:sp>
      <p:sp>
        <p:nvSpPr>
          <p:cNvPr id="19" name="Text 17"/>
          <p:cNvSpPr txBox="1"/>
          <p:nvPr/>
        </p:nvSpPr>
        <p:spPr>
          <a:xfrm>
            <a:off x="8055864" y="2432304"/>
            <a:ext cx="1508760" cy="713232"/>
          </a:xfrm>
          <a:prstGeom prst="rect">
            <a:avLst/>
          </a:prstGeom>
          <a:noFill/>
          <a:ln/>
        </p:spPr>
        <p:txBody>
          <a:bodyPr wrap="square" lIns="0" tIns="0" rIns="0" bIns="0" rtlCol="0" anchor="ctr"/>
          <a:lstStyle/>
          <a:p>
            <a:pPr algn="ctr" indent="0" marL="0">
              <a:lnSpc>
                <a:spcPts val="1100"/>
              </a:lnSpc>
              <a:buNone/>
            </a:pPr>
            <a:r>
              <a:rPr lang="en-US" sz="950" dirty="0">
                <a:solidFill>
                  <a:srgbClr val="2B2B31"/>
                </a:solidFill>
                <a:latin typeface="Calibri" pitchFamily="34" charset="0"/>
                <a:ea typeface="Calibri" pitchFamily="34" charset="-122"/>
                <a:cs typeface="Calibri" pitchFamily="34" charset="-120"/>
              </a:rPr>
              <a:t>Deneme</a:t>
            </a:r>
            <a:endParaRPr lang="en-US" sz="950" dirty="0"/>
          </a:p>
          <a:p>
            <a:pPr algn="ctr" indent="0" marL="0">
              <a:lnSpc>
                <a:spcPts val="1100"/>
              </a:lnSpc>
              <a:buNone/>
            </a:pPr>
            <a:r>
              <a:rPr lang="en-US" sz="950" dirty="0">
                <a:solidFill>
                  <a:srgbClr val="2B2B31"/>
                </a:solidFill>
                <a:latin typeface="Calibri" pitchFamily="34" charset="0"/>
                <a:ea typeface="Calibri" pitchFamily="34" charset="-122"/>
                <a:cs typeface="Calibri" pitchFamily="34" charset="-120"/>
              </a:rPr>
              <a:t>kabini</a:t>
            </a:r>
            <a:endParaRPr lang="en-US" sz="950" dirty="0"/>
          </a:p>
        </p:txBody>
      </p:sp>
      <p:sp>
        <p:nvSpPr>
          <p:cNvPr id="20" name="Shape 18"/>
          <p:cNvSpPr/>
          <p:nvPr/>
        </p:nvSpPr>
        <p:spPr>
          <a:xfrm>
            <a:off x="9601200" y="2788920"/>
            <a:ext cx="228600" cy="0"/>
          </a:xfrm>
          <a:prstGeom prst="line">
            <a:avLst/>
          </a:prstGeom>
          <a:noFill/>
          <a:ln w="12700">
            <a:solidFill>
              <a:srgbClr val="C9C9CF"/>
            </a:solidFill>
            <a:prstDash val="solid"/>
          </a:ln>
        </p:spPr>
      </p:sp>
      <p:sp>
        <p:nvSpPr>
          <p:cNvPr id="21" name="Shape 19"/>
          <p:cNvSpPr/>
          <p:nvPr/>
        </p:nvSpPr>
        <p:spPr>
          <a:xfrm>
            <a:off x="9829800" y="2432304"/>
            <a:ext cx="1581912" cy="713232"/>
          </a:xfrm>
          <a:prstGeom prst="rect">
            <a:avLst/>
          </a:prstGeom>
          <a:ln w="9525">
            <a:solidFill>
              <a:srgbClr val="C9C9CF"/>
            </a:solidFill>
            <a:prstDash val="solid"/>
          </a:ln>
        </p:spPr>
      </p:sp>
      <p:sp>
        <p:nvSpPr>
          <p:cNvPr id="22" name="Text 20"/>
          <p:cNvSpPr txBox="1"/>
          <p:nvPr/>
        </p:nvSpPr>
        <p:spPr>
          <a:xfrm>
            <a:off x="9866376" y="2432304"/>
            <a:ext cx="1508760" cy="713232"/>
          </a:xfrm>
          <a:prstGeom prst="rect">
            <a:avLst/>
          </a:prstGeom>
          <a:noFill/>
          <a:ln/>
        </p:spPr>
        <p:txBody>
          <a:bodyPr wrap="square" lIns="0" tIns="0" rIns="0" bIns="0" rtlCol="0" anchor="ctr"/>
          <a:lstStyle/>
          <a:p>
            <a:pPr algn="ctr" indent="0" marL="0">
              <a:lnSpc>
                <a:spcPts val="1100"/>
              </a:lnSpc>
              <a:buNone/>
            </a:pPr>
            <a:r>
              <a:rPr lang="en-US" sz="950" dirty="0">
                <a:solidFill>
                  <a:srgbClr val="2B2B31"/>
                </a:solidFill>
                <a:latin typeface="Calibri" pitchFamily="34" charset="0"/>
                <a:ea typeface="Calibri" pitchFamily="34" charset="-122"/>
                <a:cs typeface="Calibri" pitchFamily="34" charset="-120"/>
              </a:rPr>
              <a:t>Oturma ve</a:t>
            </a:r>
            <a:endParaRPr lang="en-US" sz="950" dirty="0"/>
          </a:p>
          <a:p>
            <a:pPr algn="ctr" indent="0" marL="0">
              <a:lnSpc>
                <a:spcPts val="1100"/>
              </a:lnSpc>
              <a:buNone/>
            </a:pPr>
            <a:r>
              <a:rPr lang="en-US" sz="950" dirty="0">
                <a:solidFill>
                  <a:srgbClr val="2B2B31"/>
                </a:solidFill>
                <a:latin typeface="Calibri" pitchFamily="34" charset="0"/>
                <a:ea typeface="Calibri" pitchFamily="34" charset="-122"/>
                <a:cs typeface="Calibri" pitchFamily="34" charset="-120"/>
              </a:rPr>
              <a:t>bekleme</a:t>
            </a:r>
            <a:endParaRPr lang="en-US" sz="950" dirty="0"/>
          </a:p>
        </p:txBody>
      </p:sp>
      <p:sp>
        <p:nvSpPr>
          <p:cNvPr id="23" name="Text 21"/>
          <p:cNvSpPr txBox="1"/>
          <p:nvPr/>
        </p:nvSpPr>
        <p:spPr>
          <a:xfrm>
            <a:off x="777240" y="2139696"/>
            <a:ext cx="5486400" cy="274320"/>
          </a:xfrm>
          <a:prstGeom prst="rect">
            <a:avLst/>
          </a:prstGeom>
          <a:noFill/>
          <a:ln/>
        </p:spPr>
        <p:txBody>
          <a:bodyPr wrap="square" lIns="0" tIns="0" rIns="0" bIns="0" rtlCol="0" anchor="ctr"/>
          <a:lstStyle/>
          <a:p>
            <a:pPr algn="l" indent="0" marL="0">
              <a:lnSpc>
                <a:spcPts val="1200"/>
              </a:lnSpc>
              <a:buNone/>
            </a:pPr>
            <a:r>
              <a:rPr lang="en-US" sz="950" b="1" dirty="0">
                <a:solidFill>
                  <a:srgbClr val="16161A"/>
                </a:solidFill>
                <a:latin typeface="Calibri" pitchFamily="34" charset="0"/>
                <a:ea typeface="Calibri" pitchFamily="34" charset="-122"/>
                <a:cs typeface="Calibri" pitchFamily="34" charset="-120"/>
              </a:rPr>
              <a:t>ÖN ALAN — müşterinin gördüğü</a:t>
            </a:r>
            <a:endParaRPr lang="en-US" sz="950" dirty="0"/>
          </a:p>
        </p:txBody>
      </p:sp>
      <p:sp>
        <p:nvSpPr>
          <p:cNvPr id="24" name="Shape 22"/>
          <p:cNvSpPr/>
          <p:nvPr/>
        </p:nvSpPr>
        <p:spPr>
          <a:xfrm>
            <a:off x="777240" y="3913632"/>
            <a:ext cx="10634472" cy="0"/>
          </a:xfrm>
          <a:prstGeom prst="line">
            <a:avLst/>
          </a:prstGeom>
          <a:noFill/>
          <a:ln w="12700">
            <a:solidFill>
              <a:srgbClr val="7A7A82"/>
            </a:solidFill>
            <a:prstDash val="dash"/>
          </a:ln>
        </p:spPr>
      </p:sp>
      <p:sp>
        <p:nvSpPr>
          <p:cNvPr id="25" name="Shape 23"/>
          <p:cNvSpPr/>
          <p:nvPr/>
        </p:nvSpPr>
        <p:spPr>
          <a:xfrm>
            <a:off x="5001768" y="3639312"/>
            <a:ext cx="2194560" cy="548640"/>
          </a:xfrm>
          <a:prstGeom prst="rect">
            <a:avLst/>
          </a:prstGeom>
          <a:solidFill>
            <a:srgbClr val="F6EAE6"/>
          </a:solidFill>
          <a:ln w="15875">
            <a:solidFill>
              <a:srgbClr val="8C3A2B"/>
            </a:solidFill>
            <a:prstDash val="solid"/>
          </a:ln>
        </p:spPr>
      </p:sp>
      <p:sp>
        <p:nvSpPr>
          <p:cNvPr id="26" name="Text 24"/>
          <p:cNvSpPr txBox="1"/>
          <p:nvPr/>
        </p:nvSpPr>
        <p:spPr>
          <a:xfrm>
            <a:off x="5038344" y="3639312"/>
            <a:ext cx="2121408" cy="548640"/>
          </a:xfrm>
          <a:prstGeom prst="rect">
            <a:avLst/>
          </a:prstGeom>
          <a:noFill/>
          <a:ln/>
        </p:spPr>
        <p:txBody>
          <a:bodyPr wrap="square" lIns="0" tIns="0" rIns="0" bIns="0" rtlCol="0" anchor="ctr"/>
          <a:lstStyle/>
          <a:p>
            <a:pPr algn="ctr" indent="0" marL="0">
              <a:lnSpc>
                <a:spcPts val="1100"/>
              </a:lnSpc>
              <a:buNone/>
            </a:pPr>
            <a:r>
              <a:rPr lang="en-US" sz="1100" dirty="0">
                <a:solidFill>
                  <a:srgbClr val="8C3A2B"/>
                </a:solidFill>
                <a:latin typeface="Calibri" pitchFamily="34" charset="0"/>
                <a:ea typeface="Calibri" pitchFamily="34" charset="-122"/>
                <a:cs typeface="Calibri" pitchFamily="34" charset="-120"/>
              </a:rPr>
              <a:t>KASA</a:t>
            </a:r>
            <a:endParaRPr lang="en-US" sz="1100" dirty="0"/>
          </a:p>
        </p:txBody>
      </p:sp>
      <p:sp>
        <p:nvSpPr>
          <p:cNvPr id="27" name="Text 25"/>
          <p:cNvSpPr txBox="1"/>
          <p:nvPr/>
        </p:nvSpPr>
        <p:spPr>
          <a:xfrm>
            <a:off x="7269480" y="3675888"/>
            <a:ext cx="4114800" cy="274320"/>
          </a:xfrm>
          <a:prstGeom prst="rect">
            <a:avLst/>
          </a:prstGeom>
          <a:noFill/>
          <a:ln/>
        </p:spPr>
        <p:txBody>
          <a:bodyPr wrap="square" lIns="0" tIns="0" rIns="0" bIns="0" rtlCol="0" anchor="ctr"/>
          <a:lstStyle/>
          <a:p>
            <a:pPr algn="l" indent="0" marL="0">
              <a:lnSpc>
                <a:spcPts val="1200"/>
              </a:lnSpc>
              <a:buNone/>
            </a:pPr>
            <a:r>
              <a:rPr lang="en-US" sz="950" i="1" dirty="0">
                <a:solidFill>
                  <a:srgbClr val="8C3A2B"/>
                </a:solidFill>
                <a:latin typeface="Calibri" pitchFamily="34" charset="0"/>
                <a:ea typeface="Calibri" pitchFamily="34" charset="-122"/>
                <a:cs typeface="Calibri" pitchFamily="34" charset="-120"/>
              </a:rPr>
              <a:t>iki alanın kesiştiği tek nokta</a:t>
            </a:r>
            <a:endParaRPr lang="en-US" sz="950" dirty="0"/>
          </a:p>
        </p:txBody>
      </p:sp>
      <p:sp>
        <p:nvSpPr>
          <p:cNvPr id="28" name="Shape 26"/>
          <p:cNvSpPr/>
          <p:nvPr/>
        </p:nvSpPr>
        <p:spPr>
          <a:xfrm>
            <a:off x="2377440" y="4434840"/>
            <a:ext cx="2103120" cy="713232"/>
          </a:xfrm>
          <a:prstGeom prst="rect">
            <a:avLst/>
          </a:prstGeom>
          <a:solidFill>
            <a:srgbClr val="EFEFEC"/>
          </a:solidFill>
          <a:ln w="9525">
            <a:solidFill>
              <a:srgbClr val="7A7A82"/>
            </a:solidFill>
            <a:prstDash val="solid"/>
          </a:ln>
        </p:spPr>
      </p:sp>
      <p:sp>
        <p:nvSpPr>
          <p:cNvPr id="29" name="Text 27"/>
          <p:cNvSpPr txBox="1"/>
          <p:nvPr/>
        </p:nvSpPr>
        <p:spPr>
          <a:xfrm>
            <a:off x="2414016" y="4434840"/>
            <a:ext cx="2029968" cy="713232"/>
          </a:xfrm>
          <a:prstGeom prst="rect">
            <a:avLst/>
          </a:prstGeom>
          <a:noFill/>
          <a:ln/>
        </p:spPr>
        <p:txBody>
          <a:bodyPr wrap="square" lIns="0" tIns="0" rIns="0" bIns="0" rtlCol="0" anchor="ctr"/>
          <a:lstStyle/>
          <a:p>
            <a:pPr algn="ctr" indent="0" marL="0">
              <a:lnSpc>
                <a:spcPts val="1100"/>
              </a:lnSpc>
              <a:buNone/>
            </a:pPr>
            <a:r>
              <a:rPr lang="en-US" sz="1000" dirty="0">
                <a:solidFill>
                  <a:srgbClr val="2B2B31"/>
                </a:solidFill>
                <a:latin typeface="Calibri" pitchFamily="34" charset="0"/>
                <a:ea typeface="Calibri" pitchFamily="34" charset="-122"/>
                <a:cs typeface="Calibri" pitchFamily="34" charset="-120"/>
              </a:rPr>
              <a:t>Mal kabul</a:t>
            </a:r>
            <a:endParaRPr lang="en-US" sz="1000" dirty="0"/>
          </a:p>
        </p:txBody>
      </p:sp>
      <p:sp>
        <p:nvSpPr>
          <p:cNvPr id="30" name="Shape 28"/>
          <p:cNvSpPr/>
          <p:nvPr/>
        </p:nvSpPr>
        <p:spPr>
          <a:xfrm>
            <a:off x="4480560" y="4791456"/>
            <a:ext cx="548640" cy="0"/>
          </a:xfrm>
          <a:prstGeom prst="line">
            <a:avLst/>
          </a:prstGeom>
          <a:noFill/>
          <a:ln w="12700">
            <a:solidFill>
              <a:srgbClr val="7A7A82"/>
            </a:solidFill>
            <a:prstDash val="solid"/>
          </a:ln>
        </p:spPr>
      </p:sp>
      <p:sp>
        <p:nvSpPr>
          <p:cNvPr id="31" name="Shape 29"/>
          <p:cNvSpPr/>
          <p:nvPr/>
        </p:nvSpPr>
        <p:spPr>
          <a:xfrm>
            <a:off x="5029200" y="4434840"/>
            <a:ext cx="2103120" cy="713232"/>
          </a:xfrm>
          <a:prstGeom prst="rect">
            <a:avLst/>
          </a:prstGeom>
          <a:solidFill>
            <a:srgbClr val="EFEFEC"/>
          </a:solidFill>
          <a:ln w="9525">
            <a:solidFill>
              <a:srgbClr val="7A7A82"/>
            </a:solidFill>
            <a:prstDash val="solid"/>
          </a:ln>
        </p:spPr>
      </p:sp>
      <p:sp>
        <p:nvSpPr>
          <p:cNvPr id="32" name="Text 30"/>
          <p:cNvSpPr txBox="1"/>
          <p:nvPr/>
        </p:nvSpPr>
        <p:spPr>
          <a:xfrm>
            <a:off x="5065776" y="4434840"/>
            <a:ext cx="2029968" cy="713232"/>
          </a:xfrm>
          <a:prstGeom prst="rect">
            <a:avLst/>
          </a:prstGeom>
          <a:noFill/>
          <a:ln/>
        </p:spPr>
        <p:txBody>
          <a:bodyPr wrap="square" lIns="0" tIns="0" rIns="0" bIns="0" rtlCol="0" anchor="ctr"/>
          <a:lstStyle/>
          <a:p>
            <a:pPr algn="ctr" indent="0" marL="0">
              <a:lnSpc>
                <a:spcPts val="1100"/>
              </a:lnSpc>
              <a:buNone/>
            </a:pPr>
            <a:r>
              <a:rPr lang="en-US" sz="1000" dirty="0">
                <a:solidFill>
                  <a:srgbClr val="2B2B31"/>
                </a:solidFill>
                <a:latin typeface="Calibri" pitchFamily="34" charset="0"/>
                <a:ea typeface="Calibri" pitchFamily="34" charset="-122"/>
                <a:cs typeface="Calibri" pitchFamily="34" charset="-120"/>
              </a:rPr>
              <a:t>Depo</a:t>
            </a:r>
            <a:endParaRPr lang="en-US" sz="1000" dirty="0"/>
          </a:p>
        </p:txBody>
      </p:sp>
      <p:sp>
        <p:nvSpPr>
          <p:cNvPr id="33" name="Shape 31"/>
          <p:cNvSpPr/>
          <p:nvPr/>
        </p:nvSpPr>
        <p:spPr>
          <a:xfrm>
            <a:off x="7132320" y="4791456"/>
            <a:ext cx="548640" cy="0"/>
          </a:xfrm>
          <a:prstGeom prst="line">
            <a:avLst/>
          </a:prstGeom>
          <a:noFill/>
          <a:ln w="12700">
            <a:solidFill>
              <a:srgbClr val="7A7A82"/>
            </a:solidFill>
            <a:prstDash val="solid"/>
          </a:ln>
        </p:spPr>
      </p:sp>
      <p:sp>
        <p:nvSpPr>
          <p:cNvPr id="34" name="Shape 32"/>
          <p:cNvSpPr/>
          <p:nvPr/>
        </p:nvSpPr>
        <p:spPr>
          <a:xfrm>
            <a:off x="7680960" y="4434840"/>
            <a:ext cx="2103120" cy="713232"/>
          </a:xfrm>
          <a:prstGeom prst="rect">
            <a:avLst/>
          </a:prstGeom>
          <a:solidFill>
            <a:srgbClr val="EFEFEC"/>
          </a:solidFill>
          <a:ln w="9525">
            <a:solidFill>
              <a:srgbClr val="7A7A82"/>
            </a:solidFill>
            <a:prstDash val="solid"/>
          </a:ln>
        </p:spPr>
      </p:sp>
      <p:sp>
        <p:nvSpPr>
          <p:cNvPr id="35" name="Text 33"/>
          <p:cNvSpPr txBox="1"/>
          <p:nvPr/>
        </p:nvSpPr>
        <p:spPr>
          <a:xfrm>
            <a:off x="7717536" y="4434840"/>
            <a:ext cx="2029968" cy="713232"/>
          </a:xfrm>
          <a:prstGeom prst="rect">
            <a:avLst/>
          </a:prstGeom>
          <a:noFill/>
          <a:ln/>
        </p:spPr>
        <p:txBody>
          <a:bodyPr wrap="square" lIns="0" tIns="0" rIns="0" bIns="0" rtlCol="0" anchor="ctr"/>
          <a:lstStyle/>
          <a:p>
            <a:pPr algn="ctr" indent="0" marL="0">
              <a:lnSpc>
                <a:spcPts val="1100"/>
              </a:lnSpc>
              <a:buNone/>
            </a:pPr>
            <a:r>
              <a:rPr lang="en-US" sz="1000" dirty="0">
                <a:solidFill>
                  <a:srgbClr val="2B2B31"/>
                </a:solidFill>
                <a:latin typeface="Calibri" pitchFamily="34" charset="0"/>
                <a:ea typeface="Calibri" pitchFamily="34" charset="-122"/>
                <a:cs typeface="Calibri" pitchFamily="34" charset="-120"/>
              </a:rPr>
              <a:t>Personel ve WC</a:t>
            </a:r>
            <a:endParaRPr lang="en-US" sz="1000" dirty="0"/>
          </a:p>
        </p:txBody>
      </p:sp>
      <p:sp>
        <p:nvSpPr>
          <p:cNvPr id="36" name="Text 34"/>
          <p:cNvSpPr txBox="1"/>
          <p:nvPr/>
        </p:nvSpPr>
        <p:spPr>
          <a:xfrm>
            <a:off x="777240" y="4160520"/>
            <a:ext cx="5486400" cy="274320"/>
          </a:xfrm>
          <a:prstGeom prst="rect">
            <a:avLst/>
          </a:prstGeom>
          <a:noFill/>
          <a:ln/>
        </p:spPr>
        <p:txBody>
          <a:bodyPr wrap="square" lIns="0" tIns="0" rIns="0" bIns="0" rtlCol="0" anchor="ctr"/>
          <a:lstStyle/>
          <a:p>
            <a:pPr algn="l" indent="0" marL="0">
              <a:lnSpc>
                <a:spcPts val="1200"/>
              </a:lnSpc>
              <a:buNone/>
            </a:pPr>
            <a:r>
              <a:rPr lang="en-US" sz="950" b="1" dirty="0">
                <a:solidFill>
                  <a:srgbClr val="16161A"/>
                </a:solidFill>
                <a:latin typeface="Calibri" pitchFamily="34" charset="0"/>
                <a:ea typeface="Calibri" pitchFamily="34" charset="-122"/>
                <a:cs typeface="Calibri" pitchFamily="34" charset="-120"/>
              </a:rPr>
              <a:t>ARKA ALAN — işletmenin çalıştığı</a:t>
            </a:r>
            <a:endParaRPr lang="en-US" sz="950" dirty="0"/>
          </a:p>
        </p:txBody>
      </p:sp>
      <p:sp>
        <p:nvSpPr>
          <p:cNvPr id="37" name="Shape 35"/>
          <p:cNvSpPr/>
          <p:nvPr/>
        </p:nvSpPr>
        <p:spPr>
          <a:xfrm>
            <a:off x="6099048" y="3145536"/>
            <a:ext cx="0" cy="493776"/>
          </a:xfrm>
          <a:prstGeom prst="line">
            <a:avLst/>
          </a:prstGeom>
          <a:noFill/>
          <a:ln w="12700">
            <a:solidFill>
              <a:srgbClr val="C9C9CF"/>
            </a:solidFill>
            <a:prstDash val="solid"/>
          </a:ln>
        </p:spPr>
      </p:sp>
      <p:sp>
        <p:nvSpPr>
          <p:cNvPr id="38" name="Shape 36"/>
          <p:cNvSpPr/>
          <p:nvPr/>
        </p:nvSpPr>
        <p:spPr>
          <a:xfrm>
            <a:off x="6099048" y="4187952"/>
            <a:ext cx="0" cy="246888"/>
          </a:xfrm>
          <a:prstGeom prst="line">
            <a:avLst/>
          </a:prstGeom>
          <a:noFill/>
          <a:ln w="12700">
            <a:solidFill>
              <a:srgbClr val="7A7A82"/>
            </a:solidFill>
            <a:prstDash val="dash"/>
          </a:ln>
        </p:spPr>
      </p:sp>
      <p:sp>
        <p:nvSpPr>
          <p:cNvPr id="39" name="Shape 37"/>
          <p:cNvSpPr/>
          <p:nvPr/>
        </p:nvSpPr>
        <p:spPr>
          <a:xfrm>
            <a:off x="4023360" y="3145536"/>
            <a:ext cx="0" cy="768096"/>
          </a:xfrm>
          <a:prstGeom prst="line">
            <a:avLst/>
          </a:prstGeom>
          <a:noFill/>
          <a:ln w="15875">
            <a:solidFill>
              <a:srgbClr val="8C3A2B"/>
            </a:solidFill>
            <a:prstDash val="solid"/>
          </a:ln>
        </p:spPr>
      </p:sp>
      <p:sp>
        <p:nvSpPr>
          <p:cNvPr id="40" name="Shape 38"/>
          <p:cNvSpPr/>
          <p:nvPr/>
        </p:nvSpPr>
        <p:spPr>
          <a:xfrm>
            <a:off x="4023360" y="3913632"/>
            <a:ext cx="0" cy="521208"/>
          </a:xfrm>
          <a:prstGeom prst="line">
            <a:avLst/>
          </a:prstGeom>
          <a:noFill/>
          <a:ln w="15875">
            <a:solidFill>
              <a:srgbClr val="8C3A2B"/>
            </a:solidFill>
            <a:prstDash val="solid"/>
          </a:ln>
        </p:spPr>
      </p:sp>
      <p:sp>
        <p:nvSpPr>
          <p:cNvPr id="41" name="Text 39"/>
          <p:cNvSpPr txBox="1"/>
          <p:nvPr/>
        </p:nvSpPr>
        <p:spPr>
          <a:xfrm>
            <a:off x="2788920" y="3246120"/>
            <a:ext cx="1188720" cy="274320"/>
          </a:xfrm>
          <a:prstGeom prst="rect">
            <a:avLst/>
          </a:prstGeom>
          <a:noFill/>
          <a:ln/>
        </p:spPr>
        <p:txBody>
          <a:bodyPr wrap="square" lIns="0" tIns="0" rIns="0" bIns="0" rtlCol="0" anchor="ctr"/>
          <a:lstStyle/>
          <a:p>
            <a:pPr algn="r" indent="0" marL="0">
              <a:lnSpc>
                <a:spcPts val="1050"/>
              </a:lnSpc>
              <a:buNone/>
            </a:pPr>
            <a:r>
              <a:rPr lang="en-US" sz="850" dirty="0">
                <a:solidFill>
                  <a:srgbClr val="8C3A2B"/>
                </a:solidFill>
                <a:latin typeface="Calibri" pitchFamily="34" charset="0"/>
                <a:ea typeface="Calibri" pitchFamily="34" charset="-122"/>
                <a:cs typeface="Calibri" pitchFamily="34" charset="-120"/>
              </a:rPr>
              <a:t>stok</a:t>
            </a:r>
            <a:endParaRPr lang="en-US" sz="850" dirty="0"/>
          </a:p>
          <a:p>
            <a:pPr algn="r" indent="0" marL="0">
              <a:lnSpc>
                <a:spcPts val="1050"/>
              </a:lnSpc>
              <a:buNone/>
            </a:pPr>
            <a:r>
              <a:rPr lang="en-US" sz="850" dirty="0">
                <a:solidFill>
                  <a:srgbClr val="8C3A2B"/>
                </a:solidFill>
                <a:latin typeface="Calibri" pitchFamily="34" charset="0"/>
                <a:ea typeface="Calibri" pitchFamily="34" charset="-122"/>
                <a:cs typeface="Calibri" pitchFamily="34" charset="-120"/>
              </a:rPr>
              <a:t>tazeleme</a:t>
            </a:r>
            <a:endParaRPr lang="en-US" sz="850" dirty="0"/>
          </a:p>
        </p:txBody>
      </p:sp>
      <p:sp>
        <p:nvSpPr>
          <p:cNvPr id="42" name="Text 40"/>
          <p:cNvSpPr txBox="1"/>
          <p:nvPr/>
        </p:nvSpPr>
        <p:spPr>
          <a:xfrm>
            <a:off x="777240" y="5184648"/>
            <a:ext cx="10424160" cy="274320"/>
          </a:xfrm>
          <a:prstGeom prst="rect">
            <a:avLst/>
          </a:prstGeom>
          <a:noFill/>
          <a:ln/>
        </p:spPr>
        <p:txBody>
          <a:bodyPr wrap="square" lIns="0" tIns="0" rIns="0" bIns="0" rtlCol="0" anchor="ctr"/>
          <a:lstStyle/>
          <a:p>
            <a:pPr algn="l" indent="0" marL="0">
              <a:lnSpc>
                <a:spcPts val="1200"/>
              </a:lnSpc>
              <a:buNone/>
            </a:pPr>
            <a:r>
              <a:rPr lang="en-US" sz="900" b="1" dirty="0">
                <a:solidFill>
                  <a:srgbClr val="A6A6AC"/>
                </a:solidFill>
                <a:latin typeface="Calibri" pitchFamily="34" charset="0"/>
                <a:ea typeface="Calibri" pitchFamily="34" charset="-122"/>
                <a:cs typeface="Calibri" pitchFamily="34" charset="-120"/>
              </a:rPr>
              <a:t>KOMŞULUK KURALLARI</a:t>
            </a:r>
            <a:endParaRPr lang="en-US" sz="900" dirty="0"/>
          </a:p>
        </p:txBody>
      </p:sp>
      <p:sp>
        <p:nvSpPr>
          <p:cNvPr id="43" name="Shape 41"/>
          <p:cNvSpPr/>
          <p:nvPr/>
        </p:nvSpPr>
        <p:spPr>
          <a:xfrm>
            <a:off x="813816" y="5495544"/>
            <a:ext cx="91440" cy="91440"/>
          </a:xfrm>
          <a:prstGeom prst="ellipse">
            <a:avLst/>
          </a:prstGeom>
          <a:solidFill>
            <a:srgbClr val="8C3A2B"/>
          </a:solidFill>
          <a:ln w="12700">
            <a:solidFill>
              <a:srgbClr val="8C3A2B"/>
            </a:solidFill>
            <a:prstDash val="solid"/>
          </a:ln>
        </p:spPr>
      </p:sp>
      <p:sp>
        <p:nvSpPr>
          <p:cNvPr id="44" name="Text 42"/>
          <p:cNvSpPr txBox="1"/>
          <p:nvPr/>
        </p:nvSpPr>
        <p:spPr>
          <a:xfrm>
            <a:off x="1069848" y="5413248"/>
            <a:ext cx="4736592" cy="384048"/>
          </a:xfrm>
          <a:prstGeom prst="rect">
            <a:avLst/>
          </a:prstGeom>
          <a:noFill/>
          <a:ln/>
        </p:spPr>
        <p:txBody>
          <a:bodyPr wrap="square" lIns="0" tIns="0" rIns="0" bIns="0" rtlCol="0" anchor="ctr"/>
          <a:lstStyle/>
          <a:p>
            <a:pPr algn="l" indent="0" marL="0">
              <a:lnSpc>
                <a:spcPts val="1350"/>
              </a:lnSpc>
              <a:buNone/>
            </a:pPr>
            <a:r>
              <a:rPr lang="en-US" sz="1100" dirty="0">
                <a:solidFill>
                  <a:srgbClr val="2B2B31"/>
                </a:solidFill>
                <a:latin typeface="Calibri" pitchFamily="34" charset="0"/>
                <a:ea typeface="Calibri" pitchFamily="34" charset="-122"/>
                <a:cs typeface="Calibri" pitchFamily="34" charset="-120"/>
              </a:rPr>
              <a:t>Vitrin ve giriş birbirinin devamıdır; ayrı tasarlanamaz.</a:t>
            </a:r>
            <a:endParaRPr lang="en-US" sz="1100" dirty="0"/>
          </a:p>
        </p:txBody>
      </p:sp>
      <p:sp>
        <p:nvSpPr>
          <p:cNvPr id="45" name="Shape 43"/>
          <p:cNvSpPr/>
          <p:nvPr/>
        </p:nvSpPr>
        <p:spPr>
          <a:xfrm>
            <a:off x="6419088" y="5495544"/>
            <a:ext cx="91440" cy="91440"/>
          </a:xfrm>
          <a:prstGeom prst="ellipse">
            <a:avLst/>
          </a:prstGeom>
          <a:solidFill>
            <a:srgbClr val="8C3A2B"/>
          </a:solidFill>
          <a:ln w="12700">
            <a:solidFill>
              <a:srgbClr val="8C3A2B"/>
            </a:solidFill>
            <a:prstDash val="solid"/>
          </a:ln>
        </p:spPr>
      </p:sp>
      <p:sp>
        <p:nvSpPr>
          <p:cNvPr id="46" name="Text 44"/>
          <p:cNvSpPr txBox="1"/>
          <p:nvPr/>
        </p:nvSpPr>
        <p:spPr>
          <a:xfrm>
            <a:off x="6675120" y="5413248"/>
            <a:ext cx="4736592" cy="384048"/>
          </a:xfrm>
          <a:prstGeom prst="rect">
            <a:avLst/>
          </a:prstGeom>
          <a:noFill/>
          <a:ln/>
        </p:spPr>
        <p:txBody>
          <a:bodyPr wrap="square" lIns="0" tIns="0" rIns="0" bIns="0" rtlCol="0" anchor="ctr"/>
          <a:lstStyle/>
          <a:p>
            <a:pPr algn="l" indent="0" marL="0">
              <a:lnSpc>
                <a:spcPts val="1350"/>
              </a:lnSpc>
              <a:buNone/>
            </a:pPr>
            <a:r>
              <a:rPr lang="en-US" sz="1100" dirty="0">
                <a:solidFill>
                  <a:srgbClr val="2B2B31"/>
                </a:solidFill>
                <a:latin typeface="Calibri" pitchFamily="34" charset="0"/>
                <a:ea typeface="Calibri" pitchFamily="34" charset="-122"/>
                <a:cs typeface="Calibri" pitchFamily="34" charset="-120"/>
              </a:rPr>
              <a:t>Depo satış alanına doğrudan açılmalı; stok tazeleme müşteri rotasını kesmemeli.</a:t>
            </a:r>
            <a:endParaRPr lang="en-US" sz="1100" dirty="0"/>
          </a:p>
        </p:txBody>
      </p:sp>
      <p:sp>
        <p:nvSpPr>
          <p:cNvPr id="47" name="Shape 45"/>
          <p:cNvSpPr/>
          <p:nvPr/>
        </p:nvSpPr>
        <p:spPr>
          <a:xfrm>
            <a:off x="813816" y="5916168"/>
            <a:ext cx="91440" cy="91440"/>
          </a:xfrm>
          <a:prstGeom prst="ellipse">
            <a:avLst/>
          </a:prstGeom>
          <a:solidFill>
            <a:srgbClr val="8C3A2B"/>
          </a:solidFill>
          <a:ln w="12700">
            <a:solidFill>
              <a:srgbClr val="8C3A2B"/>
            </a:solidFill>
            <a:prstDash val="solid"/>
          </a:ln>
        </p:spPr>
      </p:sp>
      <p:sp>
        <p:nvSpPr>
          <p:cNvPr id="48" name="Text 46"/>
          <p:cNvSpPr txBox="1"/>
          <p:nvPr/>
        </p:nvSpPr>
        <p:spPr>
          <a:xfrm>
            <a:off x="1069848" y="5833872"/>
            <a:ext cx="4736592" cy="384048"/>
          </a:xfrm>
          <a:prstGeom prst="rect">
            <a:avLst/>
          </a:prstGeom>
          <a:noFill/>
          <a:ln/>
        </p:spPr>
        <p:txBody>
          <a:bodyPr wrap="square" lIns="0" tIns="0" rIns="0" bIns="0" rtlCol="0" anchor="ctr"/>
          <a:lstStyle/>
          <a:p>
            <a:pPr algn="l" indent="0" marL="0">
              <a:lnSpc>
                <a:spcPts val="1350"/>
              </a:lnSpc>
              <a:buNone/>
            </a:pPr>
            <a:r>
              <a:rPr lang="en-US" sz="1100" dirty="0">
                <a:solidFill>
                  <a:srgbClr val="2B2B31"/>
                </a:solidFill>
                <a:latin typeface="Calibri" pitchFamily="34" charset="0"/>
                <a:ea typeface="Calibri" pitchFamily="34" charset="-122"/>
                <a:cs typeface="Calibri" pitchFamily="34" charset="-120"/>
              </a:rPr>
              <a:t>Kasadan mağazanın tamamı görülebilmeli, aynı anda arka alana ulaşılabilmeli.</a:t>
            </a:r>
            <a:endParaRPr lang="en-US" sz="1100" dirty="0"/>
          </a:p>
        </p:txBody>
      </p:sp>
      <p:sp>
        <p:nvSpPr>
          <p:cNvPr id="49" name="Shape 47"/>
          <p:cNvSpPr/>
          <p:nvPr/>
        </p:nvSpPr>
        <p:spPr>
          <a:xfrm>
            <a:off x="6419088" y="5916168"/>
            <a:ext cx="91440" cy="91440"/>
          </a:xfrm>
          <a:prstGeom prst="ellipse">
            <a:avLst/>
          </a:prstGeom>
          <a:solidFill>
            <a:srgbClr val="8C3A2B"/>
          </a:solidFill>
          <a:ln w="12700">
            <a:solidFill>
              <a:srgbClr val="8C3A2B"/>
            </a:solidFill>
            <a:prstDash val="solid"/>
          </a:ln>
        </p:spPr>
      </p:sp>
      <p:sp>
        <p:nvSpPr>
          <p:cNvPr id="50" name="Text 48"/>
          <p:cNvSpPr txBox="1"/>
          <p:nvPr/>
        </p:nvSpPr>
        <p:spPr>
          <a:xfrm>
            <a:off x="6675120" y="5833872"/>
            <a:ext cx="4736592" cy="384048"/>
          </a:xfrm>
          <a:prstGeom prst="rect">
            <a:avLst/>
          </a:prstGeom>
          <a:noFill/>
          <a:ln/>
        </p:spPr>
        <p:txBody>
          <a:bodyPr wrap="square" lIns="0" tIns="0" rIns="0" bIns="0" rtlCol="0" anchor="ctr"/>
          <a:lstStyle/>
          <a:p>
            <a:pPr algn="l" indent="0" marL="0">
              <a:lnSpc>
                <a:spcPts val="1350"/>
              </a:lnSpc>
              <a:buNone/>
            </a:pPr>
            <a:r>
              <a:rPr lang="en-US" sz="1100" dirty="0">
                <a:solidFill>
                  <a:srgbClr val="2B2B31"/>
                </a:solidFill>
                <a:latin typeface="Calibri" pitchFamily="34" charset="0"/>
                <a:ea typeface="Calibri" pitchFamily="34" charset="-122"/>
                <a:cs typeface="Calibri" pitchFamily="34" charset="-120"/>
              </a:rPr>
              <a:t>Deneme kabini teşhire yakın, ama giriş görüş hattının dışında olmalı.</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CFCFA"/>
        </a:solidFill>
      </p:bgPr>
    </p:bg>
    <p:spTree>
      <p:nvGrpSpPr>
        <p:cNvPr id="1" name=""/>
        <p:cNvGrpSpPr/>
        <p:nvPr/>
      </p:nvGrpSpPr>
      <p:grpSpPr>
        <a:xfrm>
          <a:off x="0" y="0"/>
          <a:ext cx="0" cy="0"/>
          <a:chOff x="0" y="0"/>
          <a:chExt cx="0" cy="0"/>
        </a:xfrm>
      </p:grpSpPr>
      <p:sp>
        <p:nvSpPr>
          <p:cNvPr id="2" name="Text 0"/>
          <p:cNvSpPr txBox="1"/>
          <p:nvPr/>
        </p:nvSpPr>
        <p:spPr>
          <a:xfrm>
            <a:off x="777240" y="475488"/>
            <a:ext cx="9601200" cy="237744"/>
          </a:xfrm>
          <a:prstGeom prst="rect">
            <a:avLst/>
          </a:prstGeom>
          <a:noFill/>
          <a:ln/>
        </p:spPr>
        <p:txBody>
          <a:bodyPr wrap="square" lIns="0" tIns="0" rIns="0" bIns="0" rtlCol="0" anchor="ctr"/>
          <a:lstStyle/>
          <a:p>
            <a:pPr indent="0" marL="0">
              <a:buNone/>
            </a:pPr>
            <a:r>
              <a:rPr lang="en-US" sz="950" b="1" spc="260" kern="0" dirty="0">
                <a:solidFill>
                  <a:srgbClr val="7A7A82"/>
                </a:solidFill>
                <a:latin typeface="Calibri" pitchFamily="34" charset="0"/>
                <a:ea typeface="Calibri" pitchFamily="34" charset="-122"/>
                <a:cs typeface="Calibri" pitchFamily="34" charset="-120"/>
              </a:rPr>
              <a:t>V · MAĞAZANIN İÇİ</a:t>
            </a:r>
            <a:endParaRPr lang="en-US" sz="950" dirty="0"/>
          </a:p>
        </p:txBody>
      </p:sp>
      <p:sp>
        <p:nvSpPr>
          <p:cNvPr id="3" name="Text 1"/>
          <p:cNvSpPr txBox="1"/>
          <p:nvPr/>
        </p:nvSpPr>
        <p:spPr>
          <a:xfrm>
            <a:off x="777240" y="822960"/>
            <a:ext cx="10424160" cy="731520"/>
          </a:xfrm>
          <a:prstGeom prst="rect">
            <a:avLst/>
          </a:prstGeom>
          <a:noFill/>
          <a:ln/>
        </p:spPr>
        <p:txBody>
          <a:bodyPr wrap="square" lIns="0" tIns="0" rIns="0" bIns="0" rtlCol="0" anchor="ctr"/>
          <a:lstStyle/>
          <a:p>
            <a:pPr indent="0" marL="0">
              <a:lnSpc>
                <a:spcPts val="3400"/>
              </a:lnSpc>
              <a:buNone/>
            </a:pPr>
            <a:r>
              <a:rPr lang="en-US" sz="2900" b="1" dirty="0">
                <a:solidFill>
                  <a:srgbClr val="16161A"/>
                </a:solidFill>
                <a:latin typeface="Cambria" pitchFamily="34" charset="0"/>
                <a:ea typeface="Cambria" pitchFamily="34" charset="-122"/>
                <a:cs typeface="Cambria" pitchFamily="34" charset="-120"/>
              </a:rPr>
              <a:t>İki rota birbirine karışmamalı</a:t>
            </a:r>
            <a:endParaRPr lang="en-US" sz="2900" dirty="0"/>
          </a:p>
        </p:txBody>
      </p:sp>
      <p:sp>
        <p:nvSpPr>
          <p:cNvPr id="4" name="Text 2"/>
          <p:cNvSpPr txBox="1"/>
          <p:nvPr/>
        </p:nvSpPr>
        <p:spPr>
          <a:xfrm>
            <a:off x="10972800" y="6355080"/>
            <a:ext cx="438912" cy="237744"/>
          </a:xfrm>
          <a:prstGeom prst="rect">
            <a:avLst/>
          </a:prstGeom>
          <a:noFill/>
          <a:ln/>
        </p:spPr>
        <p:txBody>
          <a:bodyPr wrap="square" lIns="0" tIns="0" rIns="0" bIns="0" rtlCol="0" anchor="ctr"/>
          <a:lstStyle/>
          <a:p>
            <a:pPr algn="r" indent="0" marL="0">
              <a:buNone/>
            </a:pPr>
            <a:r>
              <a:rPr lang="en-US" sz="950" dirty="0">
                <a:solidFill>
                  <a:srgbClr val="A6A6AC"/>
                </a:solidFill>
                <a:latin typeface="Calibri" pitchFamily="34" charset="0"/>
                <a:ea typeface="Calibri" pitchFamily="34" charset="-122"/>
                <a:cs typeface="Calibri" pitchFamily="34" charset="-120"/>
              </a:rPr>
              <a:t>24</a:t>
            </a:r>
            <a:endParaRPr lang="en-US" sz="950" dirty="0"/>
          </a:p>
        </p:txBody>
      </p:sp>
      <p:sp>
        <p:nvSpPr>
          <p:cNvPr id="5" name="Text 3"/>
          <p:cNvSpPr txBox="1"/>
          <p:nvPr/>
        </p:nvSpPr>
        <p:spPr>
          <a:xfrm>
            <a:off x="777240" y="1572768"/>
            <a:ext cx="10634472" cy="548640"/>
          </a:xfrm>
          <a:prstGeom prst="rect">
            <a:avLst/>
          </a:prstGeom>
          <a:noFill/>
          <a:ln/>
        </p:spPr>
        <p:txBody>
          <a:bodyPr wrap="square" lIns="0" tIns="0" rIns="0" bIns="0" rtlCol="0" anchor="ctr"/>
          <a:lstStyle/>
          <a:p>
            <a:pPr indent="0" marL="0">
              <a:lnSpc>
                <a:spcPts val="2300"/>
              </a:lnSpc>
              <a:buNone/>
            </a:pPr>
            <a:r>
              <a:rPr lang="en-US" sz="1450" dirty="0">
                <a:solidFill>
                  <a:srgbClr val="2B2B31"/>
                </a:solidFill>
                <a:latin typeface="Cambria" pitchFamily="34" charset="0"/>
                <a:ea typeface="Cambria" pitchFamily="34" charset="-122"/>
                <a:cs typeface="Cambria" pitchFamily="34" charset="-120"/>
              </a:rPr>
              <a:t>Mağazanın çalışması, çalışanın gününün de tasarlanmış olmasına bağlıdır. İki rota yalnızca kasada buluşur; başka bir yerde kesişirlerse mağaza her teslimatta durur.</a:t>
            </a:r>
            <a:endParaRPr lang="en-US" sz="1450" dirty="0"/>
          </a:p>
        </p:txBody>
      </p:sp>
      <p:sp>
        <p:nvSpPr>
          <p:cNvPr id="6" name="Shape 4"/>
          <p:cNvSpPr/>
          <p:nvPr/>
        </p:nvSpPr>
        <p:spPr>
          <a:xfrm>
            <a:off x="777240" y="2606040"/>
            <a:ext cx="1481328" cy="566928"/>
          </a:xfrm>
          <a:prstGeom prst="rect">
            <a:avLst/>
          </a:prstGeom>
          <a:ln w="9525">
            <a:solidFill>
              <a:srgbClr val="C9C9CF"/>
            </a:solidFill>
            <a:prstDash val="solid"/>
          </a:ln>
        </p:spPr>
      </p:sp>
      <p:sp>
        <p:nvSpPr>
          <p:cNvPr id="7" name="Text 5"/>
          <p:cNvSpPr txBox="1"/>
          <p:nvPr/>
        </p:nvSpPr>
        <p:spPr>
          <a:xfrm>
            <a:off x="813816" y="2606040"/>
            <a:ext cx="1408176" cy="566928"/>
          </a:xfrm>
          <a:prstGeom prst="rect">
            <a:avLst/>
          </a:prstGeom>
          <a:noFill/>
          <a:ln/>
        </p:spPr>
        <p:txBody>
          <a:bodyPr wrap="square" lIns="0" tIns="0" rIns="0" bIns="0" rtlCol="0" anchor="ctr"/>
          <a:lstStyle/>
          <a:p>
            <a:pPr algn="ctr" indent="0" marL="0">
              <a:lnSpc>
                <a:spcPts val="1100"/>
              </a:lnSpc>
              <a:buNone/>
            </a:pPr>
            <a:r>
              <a:rPr lang="en-US" sz="1000" dirty="0">
                <a:solidFill>
                  <a:srgbClr val="2B2B31"/>
                </a:solidFill>
                <a:latin typeface="Calibri" pitchFamily="34" charset="0"/>
                <a:ea typeface="Calibri" pitchFamily="34" charset="-122"/>
                <a:cs typeface="Calibri" pitchFamily="34" charset="-120"/>
              </a:rPr>
              <a:t>Giriş</a:t>
            </a:r>
            <a:endParaRPr lang="en-US" sz="1000" dirty="0"/>
          </a:p>
        </p:txBody>
      </p:sp>
      <p:sp>
        <p:nvSpPr>
          <p:cNvPr id="8" name="Shape 6"/>
          <p:cNvSpPr/>
          <p:nvPr/>
        </p:nvSpPr>
        <p:spPr>
          <a:xfrm>
            <a:off x="2286000" y="2889504"/>
            <a:ext cx="210312" cy="0"/>
          </a:xfrm>
          <a:prstGeom prst="line">
            <a:avLst/>
          </a:prstGeom>
          <a:noFill/>
          <a:ln w="19050">
            <a:solidFill>
              <a:srgbClr val="8C3A2B"/>
            </a:solidFill>
            <a:prstDash val="solid"/>
            <a:tailEnd type="triangle"/>
          </a:ln>
        </p:spPr>
      </p:sp>
      <p:sp>
        <p:nvSpPr>
          <p:cNvPr id="9" name="Shape 7"/>
          <p:cNvSpPr/>
          <p:nvPr/>
        </p:nvSpPr>
        <p:spPr>
          <a:xfrm>
            <a:off x="2523744" y="2606040"/>
            <a:ext cx="1481328" cy="566928"/>
          </a:xfrm>
          <a:prstGeom prst="rect">
            <a:avLst/>
          </a:prstGeom>
          <a:ln w="9525">
            <a:solidFill>
              <a:srgbClr val="C9C9CF"/>
            </a:solidFill>
            <a:prstDash val="solid"/>
          </a:ln>
        </p:spPr>
      </p:sp>
      <p:sp>
        <p:nvSpPr>
          <p:cNvPr id="10" name="Text 8"/>
          <p:cNvSpPr txBox="1"/>
          <p:nvPr/>
        </p:nvSpPr>
        <p:spPr>
          <a:xfrm>
            <a:off x="2560320" y="2606040"/>
            <a:ext cx="1408176" cy="566928"/>
          </a:xfrm>
          <a:prstGeom prst="rect">
            <a:avLst/>
          </a:prstGeom>
          <a:noFill/>
          <a:ln/>
        </p:spPr>
        <p:txBody>
          <a:bodyPr wrap="square" lIns="0" tIns="0" rIns="0" bIns="0" rtlCol="0" anchor="ctr"/>
          <a:lstStyle/>
          <a:p>
            <a:pPr algn="ctr" indent="0" marL="0">
              <a:lnSpc>
                <a:spcPts val="1100"/>
              </a:lnSpc>
              <a:buNone/>
            </a:pPr>
            <a:r>
              <a:rPr lang="en-US" sz="1000" dirty="0">
                <a:solidFill>
                  <a:srgbClr val="2B2B31"/>
                </a:solidFill>
                <a:latin typeface="Calibri" pitchFamily="34" charset="0"/>
                <a:ea typeface="Calibri" pitchFamily="34" charset="-122"/>
                <a:cs typeface="Calibri" pitchFamily="34" charset="-120"/>
              </a:rPr>
              <a:t>Geçiş</a:t>
            </a:r>
            <a:endParaRPr lang="en-US" sz="1000" dirty="0"/>
          </a:p>
        </p:txBody>
      </p:sp>
      <p:sp>
        <p:nvSpPr>
          <p:cNvPr id="11" name="Shape 9"/>
          <p:cNvSpPr/>
          <p:nvPr/>
        </p:nvSpPr>
        <p:spPr>
          <a:xfrm>
            <a:off x="4032504" y="2889504"/>
            <a:ext cx="210312" cy="0"/>
          </a:xfrm>
          <a:prstGeom prst="line">
            <a:avLst/>
          </a:prstGeom>
          <a:noFill/>
          <a:ln w="19050">
            <a:solidFill>
              <a:srgbClr val="8C3A2B"/>
            </a:solidFill>
            <a:prstDash val="solid"/>
            <a:tailEnd type="triangle"/>
          </a:ln>
        </p:spPr>
      </p:sp>
      <p:sp>
        <p:nvSpPr>
          <p:cNvPr id="12" name="Shape 10"/>
          <p:cNvSpPr/>
          <p:nvPr/>
        </p:nvSpPr>
        <p:spPr>
          <a:xfrm>
            <a:off x="4270248" y="2606040"/>
            <a:ext cx="1481328" cy="566928"/>
          </a:xfrm>
          <a:prstGeom prst="rect">
            <a:avLst/>
          </a:prstGeom>
          <a:ln w="9525">
            <a:solidFill>
              <a:srgbClr val="C9C9CF"/>
            </a:solidFill>
            <a:prstDash val="solid"/>
          </a:ln>
        </p:spPr>
      </p:sp>
      <p:sp>
        <p:nvSpPr>
          <p:cNvPr id="13" name="Text 11"/>
          <p:cNvSpPr txBox="1"/>
          <p:nvPr/>
        </p:nvSpPr>
        <p:spPr>
          <a:xfrm>
            <a:off x="4306824" y="2606040"/>
            <a:ext cx="1408176" cy="566928"/>
          </a:xfrm>
          <a:prstGeom prst="rect">
            <a:avLst/>
          </a:prstGeom>
          <a:noFill/>
          <a:ln/>
        </p:spPr>
        <p:txBody>
          <a:bodyPr wrap="square" lIns="0" tIns="0" rIns="0" bIns="0" rtlCol="0" anchor="ctr"/>
          <a:lstStyle/>
          <a:p>
            <a:pPr algn="ctr" indent="0" marL="0">
              <a:lnSpc>
                <a:spcPts val="1100"/>
              </a:lnSpc>
              <a:buNone/>
            </a:pPr>
            <a:r>
              <a:rPr lang="en-US" sz="1000" dirty="0">
                <a:solidFill>
                  <a:srgbClr val="2B2B31"/>
                </a:solidFill>
                <a:latin typeface="Calibri" pitchFamily="34" charset="0"/>
                <a:ea typeface="Calibri" pitchFamily="34" charset="-122"/>
                <a:cs typeface="Calibri" pitchFamily="34" charset="-120"/>
              </a:rPr>
              <a:t>Teşhir</a:t>
            </a:r>
            <a:endParaRPr lang="en-US" sz="1000" dirty="0"/>
          </a:p>
        </p:txBody>
      </p:sp>
      <p:sp>
        <p:nvSpPr>
          <p:cNvPr id="14" name="Shape 12"/>
          <p:cNvSpPr/>
          <p:nvPr/>
        </p:nvSpPr>
        <p:spPr>
          <a:xfrm>
            <a:off x="5779008" y="2889504"/>
            <a:ext cx="210312" cy="0"/>
          </a:xfrm>
          <a:prstGeom prst="line">
            <a:avLst/>
          </a:prstGeom>
          <a:noFill/>
          <a:ln w="19050">
            <a:solidFill>
              <a:srgbClr val="8C3A2B"/>
            </a:solidFill>
            <a:prstDash val="solid"/>
            <a:tailEnd type="triangle"/>
          </a:ln>
        </p:spPr>
      </p:sp>
      <p:sp>
        <p:nvSpPr>
          <p:cNvPr id="15" name="Shape 13"/>
          <p:cNvSpPr/>
          <p:nvPr/>
        </p:nvSpPr>
        <p:spPr>
          <a:xfrm>
            <a:off x="6016752" y="2606040"/>
            <a:ext cx="1481328" cy="566928"/>
          </a:xfrm>
          <a:prstGeom prst="rect">
            <a:avLst/>
          </a:prstGeom>
          <a:ln w="9525">
            <a:solidFill>
              <a:srgbClr val="C9C9CF"/>
            </a:solidFill>
            <a:prstDash val="solid"/>
          </a:ln>
        </p:spPr>
      </p:sp>
      <p:sp>
        <p:nvSpPr>
          <p:cNvPr id="16" name="Text 14"/>
          <p:cNvSpPr txBox="1"/>
          <p:nvPr/>
        </p:nvSpPr>
        <p:spPr>
          <a:xfrm>
            <a:off x="6053328" y="2606040"/>
            <a:ext cx="1408176" cy="566928"/>
          </a:xfrm>
          <a:prstGeom prst="rect">
            <a:avLst/>
          </a:prstGeom>
          <a:noFill/>
          <a:ln/>
        </p:spPr>
        <p:txBody>
          <a:bodyPr wrap="square" lIns="0" tIns="0" rIns="0" bIns="0" rtlCol="0" anchor="ctr"/>
          <a:lstStyle/>
          <a:p>
            <a:pPr algn="ctr" indent="0" marL="0">
              <a:lnSpc>
                <a:spcPts val="1100"/>
              </a:lnSpc>
              <a:buNone/>
            </a:pPr>
            <a:r>
              <a:rPr lang="en-US" sz="1000" dirty="0">
                <a:solidFill>
                  <a:srgbClr val="2B2B31"/>
                </a:solidFill>
                <a:latin typeface="Calibri" pitchFamily="34" charset="0"/>
                <a:ea typeface="Calibri" pitchFamily="34" charset="-122"/>
                <a:cs typeface="Calibri" pitchFamily="34" charset="-120"/>
              </a:rPr>
              <a:t>Deneme</a:t>
            </a:r>
            <a:endParaRPr lang="en-US" sz="1000" dirty="0"/>
          </a:p>
        </p:txBody>
      </p:sp>
      <p:sp>
        <p:nvSpPr>
          <p:cNvPr id="17" name="Shape 15"/>
          <p:cNvSpPr/>
          <p:nvPr/>
        </p:nvSpPr>
        <p:spPr>
          <a:xfrm>
            <a:off x="7525512" y="2889504"/>
            <a:ext cx="210312" cy="0"/>
          </a:xfrm>
          <a:prstGeom prst="line">
            <a:avLst/>
          </a:prstGeom>
          <a:noFill/>
          <a:ln w="19050">
            <a:solidFill>
              <a:srgbClr val="8C3A2B"/>
            </a:solidFill>
            <a:prstDash val="solid"/>
            <a:tailEnd type="triangle"/>
          </a:ln>
        </p:spPr>
      </p:sp>
      <p:sp>
        <p:nvSpPr>
          <p:cNvPr id="18" name="Shape 16"/>
          <p:cNvSpPr/>
          <p:nvPr/>
        </p:nvSpPr>
        <p:spPr>
          <a:xfrm>
            <a:off x="7763256" y="2606040"/>
            <a:ext cx="1481328" cy="566928"/>
          </a:xfrm>
          <a:prstGeom prst="rect">
            <a:avLst/>
          </a:prstGeom>
          <a:solidFill>
            <a:srgbClr val="F6EAE6"/>
          </a:solidFill>
          <a:ln w="15875">
            <a:solidFill>
              <a:srgbClr val="8C3A2B"/>
            </a:solidFill>
            <a:prstDash val="solid"/>
          </a:ln>
        </p:spPr>
      </p:sp>
      <p:sp>
        <p:nvSpPr>
          <p:cNvPr id="19" name="Text 17"/>
          <p:cNvSpPr txBox="1"/>
          <p:nvPr/>
        </p:nvSpPr>
        <p:spPr>
          <a:xfrm>
            <a:off x="7799832" y="2606040"/>
            <a:ext cx="1408176" cy="566928"/>
          </a:xfrm>
          <a:prstGeom prst="rect">
            <a:avLst/>
          </a:prstGeom>
          <a:noFill/>
          <a:ln/>
        </p:spPr>
        <p:txBody>
          <a:bodyPr wrap="square" lIns="0" tIns="0" rIns="0" bIns="0" rtlCol="0" anchor="ctr"/>
          <a:lstStyle/>
          <a:p>
            <a:pPr algn="ctr" indent="0" marL="0">
              <a:lnSpc>
                <a:spcPts val="1100"/>
              </a:lnSpc>
              <a:buNone/>
            </a:pPr>
            <a:r>
              <a:rPr lang="en-US" sz="1000" dirty="0">
                <a:solidFill>
                  <a:srgbClr val="8C3A2B"/>
                </a:solidFill>
                <a:latin typeface="Calibri" pitchFamily="34" charset="0"/>
                <a:ea typeface="Calibri" pitchFamily="34" charset="-122"/>
                <a:cs typeface="Calibri" pitchFamily="34" charset="-120"/>
              </a:rPr>
              <a:t>Kasa</a:t>
            </a:r>
            <a:endParaRPr lang="en-US" sz="1000" dirty="0"/>
          </a:p>
        </p:txBody>
      </p:sp>
      <p:sp>
        <p:nvSpPr>
          <p:cNvPr id="20" name="Shape 18"/>
          <p:cNvSpPr/>
          <p:nvPr/>
        </p:nvSpPr>
        <p:spPr>
          <a:xfrm>
            <a:off x="9272016" y="2889504"/>
            <a:ext cx="210312" cy="0"/>
          </a:xfrm>
          <a:prstGeom prst="line">
            <a:avLst/>
          </a:prstGeom>
          <a:noFill/>
          <a:ln w="19050">
            <a:solidFill>
              <a:srgbClr val="8C3A2B"/>
            </a:solidFill>
            <a:prstDash val="solid"/>
            <a:tailEnd type="triangle"/>
          </a:ln>
        </p:spPr>
      </p:sp>
      <p:sp>
        <p:nvSpPr>
          <p:cNvPr id="21" name="Shape 19"/>
          <p:cNvSpPr/>
          <p:nvPr/>
        </p:nvSpPr>
        <p:spPr>
          <a:xfrm>
            <a:off x="9509760" y="2606040"/>
            <a:ext cx="1481328" cy="566928"/>
          </a:xfrm>
          <a:prstGeom prst="rect">
            <a:avLst/>
          </a:prstGeom>
          <a:ln w="9525">
            <a:solidFill>
              <a:srgbClr val="C9C9CF"/>
            </a:solidFill>
            <a:prstDash val="solid"/>
          </a:ln>
        </p:spPr>
      </p:sp>
      <p:sp>
        <p:nvSpPr>
          <p:cNvPr id="22" name="Text 20"/>
          <p:cNvSpPr txBox="1"/>
          <p:nvPr/>
        </p:nvSpPr>
        <p:spPr>
          <a:xfrm>
            <a:off x="9546336" y="2606040"/>
            <a:ext cx="1408176" cy="566928"/>
          </a:xfrm>
          <a:prstGeom prst="rect">
            <a:avLst/>
          </a:prstGeom>
          <a:noFill/>
          <a:ln/>
        </p:spPr>
        <p:txBody>
          <a:bodyPr wrap="square" lIns="0" tIns="0" rIns="0" bIns="0" rtlCol="0" anchor="ctr"/>
          <a:lstStyle/>
          <a:p>
            <a:pPr algn="ctr" indent="0" marL="0">
              <a:lnSpc>
                <a:spcPts val="1100"/>
              </a:lnSpc>
              <a:buNone/>
            </a:pPr>
            <a:r>
              <a:rPr lang="en-US" sz="1000" dirty="0">
                <a:solidFill>
                  <a:srgbClr val="2B2B31"/>
                </a:solidFill>
                <a:latin typeface="Calibri" pitchFamily="34" charset="0"/>
                <a:ea typeface="Calibri" pitchFamily="34" charset="-122"/>
                <a:cs typeface="Calibri" pitchFamily="34" charset="-120"/>
              </a:rPr>
              <a:t>Çıkış</a:t>
            </a:r>
            <a:endParaRPr lang="en-US" sz="1000" dirty="0"/>
          </a:p>
        </p:txBody>
      </p:sp>
      <p:sp>
        <p:nvSpPr>
          <p:cNvPr id="23" name="Shape 21"/>
          <p:cNvSpPr/>
          <p:nvPr/>
        </p:nvSpPr>
        <p:spPr>
          <a:xfrm>
            <a:off x="777240" y="4709160"/>
            <a:ext cx="1481328" cy="566928"/>
          </a:xfrm>
          <a:prstGeom prst="rect">
            <a:avLst/>
          </a:prstGeom>
          <a:solidFill>
            <a:srgbClr val="EFEFEC"/>
          </a:solidFill>
          <a:ln w="9525">
            <a:solidFill>
              <a:srgbClr val="7A7A82"/>
            </a:solidFill>
            <a:prstDash val="solid"/>
          </a:ln>
        </p:spPr>
      </p:sp>
      <p:sp>
        <p:nvSpPr>
          <p:cNvPr id="24" name="Text 22"/>
          <p:cNvSpPr txBox="1"/>
          <p:nvPr/>
        </p:nvSpPr>
        <p:spPr>
          <a:xfrm>
            <a:off x="813816" y="4709160"/>
            <a:ext cx="1408176" cy="566928"/>
          </a:xfrm>
          <a:prstGeom prst="rect">
            <a:avLst/>
          </a:prstGeom>
          <a:noFill/>
          <a:ln/>
        </p:spPr>
        <p:txBody>
          <a:bodyPr wrap="square" lIns="0" tIns="0" rIns="0" bIns="0" rtlCol="0" anchor="ctr"/>
          <a:lstStyle/>
          <a:p>
            <a:pPr algn="ctr" indent="0" marL="0">
              <a:lnSpc>
                <a:spcPts val="1100"/>
              </a:lnSpc>
              <a:buNone/>
            </a:pPr>
            <a:r>
              <a:rPr lang="en-US" sz="950" dirty="0">
                <a:solidFill>
                  <a:srgbClr val="2B2B31"/>
                </a:solidFill>
                <a:latin typeface="Calibri" pitchFamily="34" charset="0"/>
                <a:ea typeface="Calibri" pitchFamily="34" charset="-122"/>
                <a:cs typeface="Calibri" pitchFamily="34" charset="-120"/>
              </a:rPr>
              <a:t>Mal kabul</a:t>
            </a:r>
            <a:endParaRPr lang="en-US" sz="950" dirty="0"/>
          </a:p>
        </p:txBody>
      </p:sp>
      <p:sp>
        <p:nvSpPr>
          <p:cNvPr id="25" name="Shape 23"/>
          <p:cNvSpPr/>
          <p:nvPr/>
        </p:nvSpPr>
        <p:spPr>
          <a:xfrm>
            <a:off x="2286000" y="4992624"/>
            <a:ext cx="210312" cy="0"/>
          </a:xfrm>
          <a:prstGeom prst="line">
            <a:avLst/>
          </a:prstGeom>
          <a:noFill/>
          <a:ln w="15875">
            <a:solidFill>
              <a:srgbClr val="7A7A82"/>
            </a:solidFill>
            <a:prstDash val="dash"/>
            <a:tailEnd type="triangle"/>
          </a:ln>
        </p:spPr>
      </p:sp>
      <p:sp>
        <p:nvSpPr>
          <p:cNvPr id="26" name="Shape 24"/>
          <p:cNvSpPr/>
          <p:nvPr/>
        </p:nvSpPr>
        <p:spPr>
          <a:xfrm>
            <a:off x="2523744" y="4709160"/>
            <a:ext cx="1481328" cy="566928"/>
          </a:xfrm>
          <a:prstGeom prst="rect">
            <a:avLst/>
          </a:prstGeom>
          <a:solidFill>
            <a:srgbClr val="EFEFEC"/>
          </a:solidFill>
          <a:ln w="9525">
            <a:solidFill>
              <a:srgbClr val="7A7A82"/>
            </a:solidFill>
            <a:prstDash val="solid"/>
          </a:ln>
        </p:spPr>
      </p:sp>
      <p:sp>
        <p:nvSpPr>
          <p:cNvPr id="27" name="Text 25"/>
          <p:cNvSpPr txBox="1"/>
          <p:nvPr/>
        </p:nvSpPr>
        <p:spPr>
          <a:xfrm>
            <a:off x="2560320" y="4709160"/>
            <a:ext cx="1408176" cy="566928"/>
          </a:xfrm>
          <a:prstGeom prst="rect">
            <a:avLst/>
          </a:prstGeom>
          <a:noFill/>
          <a:ln/>
        </p:spPr>
        <p:txBody>
          <a:bodyPr wrap="square" lIns="0" tIns="0" rIns="0" bIns="0" rtlCol="0" anchor="ctr"/>
          <a:lstStyle/>
          <a:p>
            <a:pPr algn="ctr" indent="0" marL="0">
              <a:lnSpc>
                <a:spcPts val="1100"/>
              </a:lnSpc>
              <a:buNone/>
            </a:pPr>
            <a:r>
              <a:rPr lang="en-US" sz="950" dirty="0">
                <a:solidFill>
                  <a:srgbClr val="2B2B31"/>
                </a:solidFill>
                <a:latin typeface="Calibri" pitchFamily="34" charset="0"/>
                <a:ea typeface="Calibri" pitchFamily="34" charset="-122"/>
                <a:cs typeface="Calibri" pitchFamily="34" charset="-120"/>
              </a:rPr>
              <a:t>Depo</a:t>
            </a:r>
            <a:endParaRPr lang="en-US" sz="950" dirty="0"/>
          </a:p>
        </p:txBody>
      </p:sp>
      <p:sp>
        <p:nvSpPr>
          <p:cNvPr id="28" name="Shape 26"/>
          <p:cNvSpPr/>
          <p:nvPr/>
        </p:nvSpPr>
        <p:spPr>
          <a:xfrm>
            <a:off x="4032504" y="4992624"/>
            <a:ext cx="210312" cy="0"/>
          </a:xfrm>
          <a:prstGeom prst="line">
            <a:avLst/>
          </a:prstGeom>
          <a:noFill/>
          <a:ln w="15875">
            <a:solidFill>
              <a:srgbClr val="7A7A82"/>
            </a:solidFill>
            <a:prstDash val="dash"/>
            <a:tailEnd type="triangle"/>
          </a:ln>
        </p:spPr>
      </p:sp>
      <p:sp>
        <p:nvSpPr>
          <p:cNvPr id="29" name="Shape 27"/>
          <p:cNvSpPr/>
          <p:nvPr/>
        </p:nvSpPr>
        <p:spPr>
          <a:xfrm>
            <a:off x="4270248" y="4709160"/>
            <a:ext cx="1481328" cy="566928"/>
          </a:xfrm>
          <a:prstGeom prst="rect">
            <a:avLst/>
          </a:prstGeom>
          <a:solidFill>
            <a:srgbClr val="EFEFEC"/>
          </a:solidFill>
          <a:ln w="9525">
            <a:solidFill>
              <a:srgbClr val="7A7A82"/>
            </a:solidFill>
            <a:prstDash val="solid"/>
          </a:ln>
        </p:spPr>
      </p:sp>
      <p:sp>
        <p:nvSpPr>
          <p:cNvPr id="30" name="Text 28"/>
          <p:cNvSpPr txBox="1"/>
          <p:nvPr/>
        </p:nvSpPr>
        <p:spPr>
          <a:xfrm>
            <a:off x="4306824" y="4709160"/>
            <a:ext cx="1408176" cy="566928"/>
          </a:xfrm>
          <a:prstGeom prst="rect">
            <a:avLst/>
          </a:prstGeom>
          <a:noFill/>
          <a:ln/>
        </p:spPr>
        <p:txBody>
          <a:bodyPr wrap="square" lIns="0" tIns="0" rIns="0" bIns="0" rtlCol="0" anchor="ctr"/>
          <a:lstStyle/>
          <a:p>
            <a:pPr algn="ctr" indent="0" marL="0">
              <a:lnSpc>
                <a:spcPts val="1100"/>
              </a:lnSpc>
              <a:buNone/>
            </a:pPr>
            <a:r>
              <a:rPr lang="en-US" sz="950" dirty="0">
                <a:solidFill>
                  <a:srgbClr val="2B2B31"/>
                </a:solidFill>
                <a:latin typeface="Calibri" pitchFamily="34" charset="0"/>
                <a:ea typeface="Calibri" pitchFamily="34" charset="-122"/>
                <a:cs typeface="Calibri" pitchFamily="34" charset="-120"/>
              </a:rPr>
              <a:t>Stok</a:t>
            </a:r>
            <a:endParaRPr lang="en-US" sz="950" dirty="0"/>
          </a:p>
          <a:p>
            <a:pPr algn="ctr" indent="0" marL="0">
              <a:lnSpc>
                <a:spcPts val="1100"/>
              </a:lnSpc>
              <a:buNone/>
            </a:pPr>
            <a:r>
              <a:rPr lang="en-US" sz="950" dirty="0">
                <a:solidFill>
                  <a:srgbClr val="2B2B31"/>
                </a:solidFill>
                <a:latin typeface="Calibri" pitchFamily="34" charset="0"/>
                <a:ea typeface="Calibri" pitchFamily="34" charset="-122"/>
                <a:cs typeface="Calibri" pitchFamily="34" charset="-120"/>
              </a:rPr>
              <a:t>tazeleme</a:t>
            </a:r>
            <a:endParaRPr lang="en-US" sz="950" dirty="0"/>
          </a:p>
        </p:txBody>
      </p:sp>
      <p:sp>
        <p:nvSpPr>
          <p:cNvPr id="31" name="Shape 29"/>
          <p:cNvSpPr/>
          <p:nvPr/>
        </p:nvSpPr>
        <p:spPr>
          <a:xfrm>
            <a:off x="5779008" y="4992624"/>
            <a:ext cx="210312" cy="0"/>
          </a:xfrm>
          <a:prstGeom prst="line">
            <a:avLst/>
          </a:prstGeom>
          <a:noFill/>
          <a:ln w="15875">
            <a:solidFill>
              <a:srgbClr val="7A7A82"/>
            </a:solidFill>
            <a:prstDash val="dash"/>
            <a:tailEnd type="triangle"/>
          </a:ln>
        </p:spPr>
      </p:sp>
      <p:sp>
        <p:nvSpPr>
          <p:cNvPr id="32" name="Shape 30"/>
          <p:cNvSpPr/>
          <p:nvPr/>
        </p:nvSpPr>
        <p:spPr>
          <a:xfrm>
            <a:off x="6016752" y="4709160"/>
            <a:ext cx="1481328" cy="566928"/>
          </a:xfrm>
          <a:prstGeom prst="rect">
            <a:avLst/>
          </a:prstGeom>
          <a:solidFill>
            <a:srgbClr val="EFEFEC"/>
          </a:solidFill>
          <a:ln w="9525">
            <a:solidFill>
              <a:srgbClr val="7A7A82"/>
            </a:solidFill>
            <a:prstDash val="solid"/>
          </a:ln>
        </p:spPr>
      </p:sp>
      <p:sp>
        <p:nvSpPr>
          <p:cNvPr id="33" name="Text 31"/>
          <p:cNvSpPr txBox="1"/>
          <p:nvPr/>
        </p:nvSpPr>
        <p:spPr>
          <a:xfrm>
            <a:off x="6053328" y="4709160"/>
            <a:ext cx="1408176" cy="566928"/>
          </a:xfrm>
          <a:prstGeom prst="rect">
            <a:avLst/>
          </a:prstGeom>
          <a:noFill/>
          <a:ln/>
        </p:spPr>
        <p:txBody>
          <a:bodyPr wrap="square" lIns="0" tIns="0" rIns="0" bIns="0" rtlCol="0" anchor="ctr"/>
          <a:lstStyle/>
          <a:p>
            <a:pPr algn="ctr" indent="0" marL="0">
              <a:lnSpc>
                <a:spcPts val="1100"/>
              </a:lnSpc>
              <a:buNone/>
            </a:pPr>
            <a:r>
              <a:rPr lang="en-US" sz="950" dirty="0">
                <a:solidFill>
                  <a:srgbClr val="2B2B31"/>
                </a:solidFill>
                <a:latin typeface="Calibri" pitchFamily="34" charset="0"/>
                <a:ea typeface="Calibri" pitchFamily="34" charset="-122"/>
                <a:cs typeface="Calibri" pitchFamily="34" charset="-120"/>
              </a:rPr>
              <a:t>Danışma</a:t>
            </a:r>
            <a:endParaRPr lang="en-US" sz="950" dirty="0"/>
          </a:p>
        </p:txBody>
      </p:sp>
      <p:sp>
        <p:nvSpPr>
          <p:cNvPr id="34" name="Shape 32"/>
          <p:cNvSpPr/>
          <p:nvPr/>
        </p:nvSpPr>
        <p:spPr>
          <a:xfrm>
            <a:off x="7525512" y="4992624"/>
            <a:ext cx="210312" cy="0"/>
          </a:xfrm>
          <a:prstGeom prst="line">
            <a:avLst/>
          </a:prstGeom>
          <a:noFill/>
          <a:ln w="15875">
            <a:solidFill>
              <a:srgbClr val="7A7A82"/>
            </a:solidFill>
            <a:prstDash val="dash"/>
            <a:tailEnd type="triangle"/>
          </a:ln>
        </p:spPr>
      </p:sp>
      <p:sp>
        <p:nvSpPr>
          <p:cNvPr id="35" name="Shape 33"/>
          <p:cNvSpPr/>
          <p:nvPr/>
        </p:nvSpPr>
        <p:spPr>
          <a:xfrm>
            <a:off x="7763256" y="4709160"/>
            <a:ext cx="1481328" cy="566928"/>
          </a:xfrm>
          <a:prstGeom prst="rect">
            <a:avLst/>
          </a:prstGeom>
          <a:solidFill>
            <a:srgbClr val="F6EAE6"/>
          </a:solidFill>
          <a:ln w="15875">
            <a:solidFill>
              <a:srgbClr val="8C3A2B"/>
            </a:solidFill>
            <a:prstDash val="solid"/>
          </a:ln>
        </p:spPr>
      </p:sp>
      <p:sp>
        <p:nvSpPr>
          <p:cNvPr id="36" name="Text 34"/>
          <p:cNvSpPr txBox="1"/>
          <p:nvPr/>
        </p:nvSpPr>
        <p:spPr>
          <a:xfrm>
            <a:off x="7799832" y="4709160"/>
            <a:ext cx="1408176" cy="566928"/>
          </a:xfrm>
          <a:prstGeom prst="rect">
            <a:avLst/>
          </a:prstGeom>
          <a:noFill/>
          <a:ln/>
        </p:spPr>
        <p:txBody>
          <a:bodyPr wrap="square" lIns="0" tIns="0" rIns="0" bIns="0" rtlCol="0" anchor="ctr"/>
          <a:lstStyle/>
          <a:p>
            <a:pPr algn="ctr" indent="0" marL="0">
              <a:lnSpc>
                <a:spcPts val="1100"/>
              </a:lnSpc>
              <a:buNone/>
            </a:pPr>
            <a:r>
              <a:rPr lang="en-US" sz="950" dirty="0">
                <a:solidFill>
                  <a:srgbClr val="8C3A2B"/>
                </a:solidFill>
                <a:latin typeface="Calibri" pitchFamily="34" charset="0"/>
                <a:ea typeface="Calibri" pitchFamily="34" charset="-122"/>
                <a:cs typeface="Calibri" pitchFamily="34" charset="-120"/>
              </a:rPr>
              <a:t>Kasa</a:t>
            </a:r>
            <a:endParaRPr lang="en-US" sz="950" dirty="0"/>
          </a:p>
        </p:txBody>
      </p:sp>
      <p:sp>
        <p:nvSpPr>
          <p:cNvPr id="37" name="Shape 35"/>
          <p:cNvSpPr/>
          <p:nvPr/>
        </p:nvSpPr>
        <p:spPr>
          <a:xfrm>
            <a:off x="9272016" y="4992624"/>
            <a:ext cx="210312" cy="0"/>
          </a:xfrm>
          <a:prstGeom prst="line">
            <a:avLst/>
          </a:prstGeom>
          <a:noFill/>
          <a:ln w="15875">
            <a:solidFill>
              <a:srgbClr val="7A7A82"/>
            </a:solidFill>
            <a:prstDash val="dash"/>
            <a:tailEnd type="triangle"/>
          </a:ln>
        </p:spPr>
      </p:sp>
      <p:sp>
        <p:nvSpPr>
          <p:cNvPr id="38" name="Shape 36"/>
          <p:cNvSpPr/>
          <p:nvPr/>
        </p:nvSpPr>
        <p:spPr>
          <a:xfrm>
            <a:off x="9509760" y="4709160"/>
            <a:ext cx="1481328" cy="566928"/>
          </a:xfrm>
          <a:prstGeom prst="rect">
            <a:avLst/>
          </a:prstGeom>
          <a:solidFill>
            <a:srgbClr val="EFEFEC"/>
          </a:solidFill>
          <a:ln w="9525">
            <a:solidFill>
              <a:srgbClr val="7A7A82"/>
            </a:solidFill>
            <a:prstDash val="solid"/>
          </a:ln>
        </p:spPr>
      </p:sp>
      <p:sp>
        <p:nvSpPr>
          <p:cNvPr id="39" name="Text 37"/>
          <p:cNvSpPr txBox="1"/>
          <p:nvPr/>
        </p:nvSpPr>
        <p:spPr>
          <a:xfrm>
            <a:off x="9546336" y="4709160"/>
            <a:ext cx="1408176" cy="566928"/>
          </a:xfrm>
          <a:prstGeom prst="rect">
            <a:avLst/>
          </a:prstGeom>
          <a:noFill/>
          <a:ln/>
        </p:spPr>
        <p:txBody>
          <a:bodyPr wrap="square" lIns="0" tIns="0" rIns="0" bIns="0" rtlCol="0" anchor="ctr"/>
          <a:lstStyle/>
          <a:p>
            <a:pPr algn="ctr" indent="0" marL="0">
              <a:lnSpc>
                <a:spcPts val="1100"/>
              </a:lnSpc>
              <a:buNone/>
            </a:pPr>
            <a:r>
              <a:rPr lang="en-US" sz="950" dirty="0">
                <a:solidFill>
                  <a:srgbClr val="2B2B31"/>
                </a:solidFill>
                <a:latin typeface="Calibri" pitchFamily="34" charset="0"/>
                <a:ea typeface="Calibri" pitchFamily="34" charset="-122"/>
                <a:cs typeface="Calibri" pitchFamily="34" charset="-120"/>
              </a:rPr>
              <a:t>Kapanış</a:t>
            </a:r>
            <a:endParaRPr lang="en-US" sz="950" dirty="0"/>
          </a:p>
        </p:txBody>
      </p:sp>
      <p:sp>
        <p:nvSpPr>
          <p:cNvPr id="40" name="Text 38"/>
          <p:cNvSpPr txBox="1"/>
          <p:nvPr/>
        </p:nvSpPr>
        <p:spPr>
          <a:xfrm>
            <a:off x="777240" y="2331720"/>
            <a:ext cx="5486400" cy="274320"/>
          </a:xfrm>
          <a:prstGeom prst="rect">
            <a:avLst/>
          </a:prstGeom>
          <a:noFill/>
          <a:ln/>
        </p:spPr>
        <p:txBody>
          <a:bodyPr wrap="square" lIns="0" tIns="0" rIns="0" bIns="0" rtlCol="0" anchor="ctr"/>
          <a:lstStyle/>
          <a:p>
            <a:pPr algn="l" indent="0" marL="0">
              <a:lnSpc>
                <a:spcPts val="1200"/>
              </a:lnSpc>
              <a:buNone/>
            </a:pPr>
            <a:r>
              <a:rPr lang="en-US" sz="950" b="1" dirty="0">
                <a:solidFill>
                  <a:srgbClr val="8C3A2B"/>
                </a:solidFill>
                <a:latin typeface="Calibri" pitchFamily="34" charset="0"/>
                <a:ea typeface="Calibri" pitchFamily="34" charset="-122"/>
                <a:cs typeface="Calibri" pitchFamily="34" charset="-120"/>
              </a:rPr>
              <a:t>MÜŞTERİ ROTASI</a:t>
            </a:r>
            <a:endParaRPr lang="en-US" sz="950" dirty="0"/>
          </a:p>
        </p:txBody>
      </p:sp>
      <p:sp>
        <p:nvSpPr>
          <p:cNvPr id="41" name="Text 39"/>
          <p:cNvSpPr txBox="1"/>
          <p:nvPr/>
        </p:nvSpPr>
        <p:spPr>
          <a:xfrm>
            <a:off x="777240" y="4434840"/>
            <a:ext cx="5486400" cy="274320"/>
          </a:xfrm>
          <a:prstGeom prst="rect">
            <a:avLst/>
          </a:prstGeom>
          <a:noFill/>
          <a:ln/>
        </p:spPr>
        <p:txBody>
          <a:bodyPr wrap="square" lIns="0" tIns="0" rIns="0" bIns="0" rtlCol="0" anchor="ctr"/>
          <a:lstStyle/>
          <a:p>
            <a:pPr algn="l" indent="0" marL="0">
              <a:lnSpc>
                <a:spcPts val="1200"/>
              </a:lnSpc>
              <a:buNone/>
            </a:pPr>
            <a:r>
              <a:rPr lang="en-US" sz="950" b="1" dirty="0">
                <a:solidFill>
                  <a:srgbClr val="7A7A82"/>
                </a:solidFill>
                <a:latin typeface="Calibri" pitchFamily="34" charset="0"/>
                <a:ea typeface="Calibri" pitchFamily="34" charset="-122"/>
                <a:cs typeface="Calibri" pitchFamily="34" charset="-120"/>
              </a:rPr>
              <a:t>PERSONEL ROTASI</a:t>
            </a:r>
            <a:endParaRPr lang="en-US" sz="950" dirty="0"/>
          </a:p>
        </p:txBody>
      </p:sp>
      <p:sp>
        <p:nvSpPr>
          <p:cNvPr id="42" name="Shape 40"/>
          <p:cNvSpPr/>
          <p:nvPr/>
        </p:nvSpPr>
        <p:spPr>
          <a:xfrm>
            <a:off x="8503920" y="3172968"/>
            <a:ext cx="0" cy="1536192"/>
          </a:xfrm>
          <a:prstGeom prst="line">
            <a:avLst/>
          </a:prstGeom>
          <a:noFill/>
          <a:ln w="19050">
            <a:solidFill>
              <a:srgbClr val="8C3A2B"/>
            </a:solidFill>
            <a:prstDash val="solid"/>
          </a:ln>
        </p:spPr>
      </p:sp>
      <p:sp>
        <p:nvSpPr>
          <p:cNvPr id="43" name="Text 41"/>
          <p:cNvSpPr txBox="1"/>
          <p:nvPr/>
        </p:nvSpPr>
        <p:spPr>
          <a:xfrm>
            <a:off x="8732520" y="3456432"/>
            <a:ext cx="2606040" cy="457200"/>
          </a:xfrm>
          <a:prstGeom prst="rect">
            <a:avLst/>
          </a:prstGeom>
          <a:noFill/>
          <a:ln/>
        </p:spPr>
        <p:txBody>
          <a:bodyPr wrap="square" lIns="0" tIns="0" rIns="0" bIns="0" rtlCol="0" anchor="ctr"/>
          <a:lstStyle/>
          <a:p>
            <a:pPr algn="l" indent="0" marL="0">
              <a:lnSpc>
                <a:spcPts val="1400"/>
              </a:lnSpc>
              <a:buNone/>
            </a:pPr>
            <a:r>
              <a:rPr lang="en-US" sz="1100" b="1" dirty="0">
                <a:solidFill>
                  <a:srgbClr val="8C3A2B"/>
                </a:solidFill>
                <a:latin typeface="Calibri" pitchFamily="34" charset="0"/>
                <a:ea typeface="Calibri" pitchFamily="34" charset="-122"/>
                <a:cs typeface="Calibri" pitchFamily="34" charset="-120"/>
              </a:rPr>
              <a:t>Buluşmaları gereken</a:t>
            </a:r>
            <a:endParaRPr lang="en-US" sz="1100" dirty="0"/>
          </a:p>
          <a:p>
            <a:pPr algn="l" indent="0" marL="0">
              <a:lnSpc>
                <a:spcPts val="1400"/>
              </a:lnSpc>
              <a:buNone/>
            </a:pPr>
            <a:r>
              <a:rPr lang="en-US" sz="1100" b="1" dirty="0">
                <a:solidFill>
                  <a:srgbClr val="8C3A2B"/>
                </a:solidFill>
                <a:latin typeface="Calibri" pitchFamily="34" charset="0"/>
                <a:ea typeface="Calibri" pitchFamily="34" charset="-122"/>
                <a:cs typeface="Calibri" pitchFamily="34" charset="-120"/>
              </a:rPr>
              <a:t>tek nokta</a:t>
            </a:r>
            <a:endParaRPr lang="en-US" sz="1100" dirty="0"/>
          </a:p>
        </p:txBody>
      </p:sp>
      <p:sp>
        <p:nvSpPr>
          <p:cNvPr id="44" name="Text 42"/>
          <p:cNvSpPr txBox="1"/>
          <p:nvPr/>
        </p:nvSpPr>
        <p:spPr>
          <a:xfrm>
            <a:off x="8732520" y="3950208"/>
            <a:ext cx="2651760" cy="457200"/>
          </a:xfrm>
          <a:prstGeom prst="rect">
            <a:avLst/>
          </a:prstGeom>
          <a:noFill/>
          <a:ln/>
        </p:spPr>
        <p:txBody>
          <a:bodyPr wrap="square" lIns="0" tIns="0" rIns="0" bIns="0" rtlCol="0" anchor="ctr"/>
          <a:lstStyle/>
          <a:p>
            <a:pPr algn="l" indent="0" marL="0">
              <a:lnSpc>
                <a:spcPts val="1350"/>
              </a:lnSpc>
              <a:buNone/>
            </a:pPr>
            <a:r>
              <a:rPr lang="en-US" sz="1050" dirty="0">
                <a:solidFill>
                  <a:srgbClr val="7A7A82"/>
                </a:solidFill>
                <a:latin typeface="Calibri" pitchFamily="34" charset="0"/>
                <a:ea typeface="Calibri" pitchFamily="34" charset="-122"/>
                <a:cs typeface="Calibri" pitchFamily="34" charset="-120"/>
              </a:rPr>
              <a:t>Kasa hem satışı bitirir hem arka alana açılır.</a:t>
            </a:r>
            <a:endParaRPr lang="en-US" sz="1050" dirty="0"/>
          </a:p>
        </p:txBody>
      </p:sp>
      <p:sp>
        <p:nvSpPr>
          <p:cNvPr id="45" name="Text 43"/>
          <p:cNvSpPr txBox="1"/>
          <p:nvPr/>
        </p:nvSpPr>
        <p:spPr>
          <a:xfrm>
            <a:off x="1051560" y="3639312"/>
            <a:ext cx="384048" cy="384048"/>
          </a:xfrm>
          <a:prstGeom prst="rect">
            <a:avLst/>
          </a:prstGeom>
          <a:noFill/>
          <a:ln/>
        </p:spPr>
        <p:txBody>
          <a:bodyPr wrap="square" lIns="0" tIns="0" rIns="0" bIns="0" rtlCol="0" anchor="ctr"/>
          <a:lstStyle/>
          <a:p>
            <a:pPr algn="ctr" indent="0" marL="0">
              <a:buNone/>
            </a:pPr>
            <a:r>
              <a:rPr lang="en-US" sz="2000" b="1" dirty="0">
                <a:solidFill>
                  <a:srgbClr val="8C3A2B"/>
                </a:solidFill>
                <a:latin typeface="Calibri" pitchFamily="34" charset="0"/>
                <a:ea typeface="Calibri" pitchFamily="34" charset="-122"/>
                <a:cs typeface="Calibri" pitchFamily="34" charset="-120"/>
              </a:rPr>
              <a:t>✕</a:t>
            </a:r>
            <a:endParaRPr lang="en-US" sz="2000" dirty="0"/>
          </a:p>
        </p:txBody>
      </p:sp>
      <p:sp>
        <p:nvSpPr>
          <p:cNvPr id="46" name="Text 44"/>
          <p:cNvSpPr txBox="1"/>
          <p:nvPr/>
        </p:nvSpPr>
        <p:spPr>
          <a:xfrm>
            <a:off x="1536192" y="3611880"/>
            <a:ext cx="6583680" cy="457200"/>
          </a:xfrm>
          <a:prstGeom prst="rect">
            <a:avLst/>
          </a:prstGeom>
          <a:noFill/>
          <a:ln/>
        </p:spPr>
        <p:txBody>
          <a:bodyPr wrap="square" lIns="0" tIns="0" rIns="0" bIns="0" rtlCol="0" anchor="ctr"/>
          <a:lstStyle/>
          <a:p>
            <a:pPr algn="l" indent="0" marL="0">
              <a:lnSpc>
                <a:spcPts val="1500"/>
              </a:lnSpc>
              <a:buNone/>
            </a:pPr>
            <a:r>
              <a:rPr lang="en-US" sz="1150" dirty="0">
                <a:solidFill>
                  <a:srgbClr val="8C3A2B"/>
                </a:solidFill>
                <a:latin typeface="Calibri" pitchFamily="34" charset="0"/>
                <a:ea typeface="Calibri" pitchFamily="34" charset="-122"/>
                <a:cs typeface="Calibri" pitchFamily="34" charset="-120"/>
              </a:rPr>
              <a:t>Başka hiçbir noktada kesişmemeli: mal kabulden depoya giden yol satış alanından geçerse, mağaza her teslimatta durur.</a:t>
            </a:r>
            <a:endParaRPr lang="en-US" sz="1150" dirty="0"/>
          </a:p>
        </p:txBody>
      </p:sp>
      <p:sp>
        <p:nvSpPr>
          <p:cNvPr id="47" name="Text 45"/>
          <p:cNvSpPr txBox="1"/>
          <p:nvPr/>
        </p:nvSpPr>
        <p:spPr>
          <a:xfrm>
            <a:off x="777240" y="5623560"/>
            <a:ext cx="10424160" cy="365760"/>
          </a:xfrm>
          <a:prstGeom prst="rect">
            <a:avLst/>
          </a:prstGeom>
          <a:noFill/>
          <a:ln/>
        </p:spPr>
        <p:txBody>
          <a:bodyPr wrap="square" lIns="0" tIns="0" rIns="0" bIns="0" rtlCol="0" anchor="ctr"/>
          <a:lstStyle/>
          <a:p>
            <a:pPr algn="l" indent="0" marL="0">
              <a:lnSpc>
                <a:spcPts val="1200"/>
              </a:lnSpc>
              <a:buNone/>
            </a:pPr>
            <a:r>
              <a:rPr lang="en-US" sz="1250" i="1" dirty="0">
                <a:solidFill>
                  <a:srgbClr val="2B2B31"/>
                </a:solidFill>
                <a:latin typeface="Cambria" pitchFamily="34" charset="0"/>
                <a:ea typeface="Cambria" pitchFamily="34" charset="-122"/>
                <a:cs typeface="Cambria" pitchFamily="34" charset="-120"/>
              </a:rPr>
              <a:t>Şema rota sırasını gösterir, mekândaki yerlerini değil. Sıra sabittir; yerleşim her mağazada farklıdır.</a:t>
            </a:r>
            <a:endParaRPr lang="en-US" sz="12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6161A"/>
        </a:solidFill>
      </p:bgPr>
    </p:bg>
    <p:spTree>
      <p:nvGrpSpPr>
        <p:cNvPr id="1" name=""/>
        <p:cNvGrpSpPr/>
        <p:nvPr/>
      </p:nvGrpSpPr>
      <p:grpSpPr>
        <a:xfrm>
          <a:off x="0" y="0"/>
          <a:ext cx="0" cy="0"/>
          <a:chOff x="0" y="0"/>
          <a:chExt cx="0" cy="0"/>
        </a:xfrm>
      </p:grpSpPr>
      <p:sp>
        <p:nvSpPr>
          <p:cNvPr id="2" name="Text 0"/>
          <p:cNvSpPr txBox="1"/>
          <p:nvPr/>
        </p:nvSpPr>
        <p:spPr>
          <a:xfrm>
            <a:off x="777240" y="1371600"/>
            <a:ext cx="3108960" cy="2377440"/>
          </a:xfrm>
          <a:prstGeom prst="rect">
            <a:avLst/>
          </a:prstGeom>
          <a:noFill/>
          <a:ln/>
        </p:spPr>
        <p:txBody>
          <a:bodyPr wrap="square" lIns="0" tIns="0" rIns="0" bIns="0" rtlCol="0" anchor="ctr"/>
          <a:lstStyle/>
          <a:p>
            <a:pPr indent="0" marL="0">
              <a:buNone/>
            </a:pPr>
            <a:r>
              <a:rPr lang="en-US" sz="13000" b="1" dirty="0">
                <a:solidFill>
                  <a:srgbClr val="8C3A2B"/>
                </a:solidFill>
                <a:latin typeface="Cambria" pitchFamily="34" charset="0"/>
                <a:ea typeface="Cambria" pitchFamily="34" charset="-122"/>
                <a:cs typeface="Cambria" pitchFamily="34" charset="-120"/>
              </a:rPr>
              <a:t>VI</a:t>
            </a:r>
            <a:endParaRPr lang="en-US" sz="13000" dirty="0"/>
          </a:p>
        </p:txBody>
      </p:sp>
      <p:sp>
        <p:nvSpPr>
          <p:cNvPr id="3" name="Text 1"/>
          <p:cNvSpPr txBox="1"/>
          <p:nvPr/>
        </p:nvSpPr>
        <p:spPr>
          <a:xfrm>
            <a:off x="777240" y="3611880"/>
            <a:ext cx="10424160" cy="1325880"/>
          </a:xfrm>
          <a:prstGeom prst="rect">
            <a:avLst/>
          </a:prstGeom>
          <a:noFill/>
          <a:ln/>
        </p:spPr>
        <p:txBody>
          <a:bodyPr wrap="square" lIns="0" tIns="0" rIns="0" bIns="0" rtlCol="0" anchor="ctr"/>
          <a:lstStyle/>
          <a:p>
            <a:pPr indent="0" marL="0">
              <a:lnSpc>
                <a:spcPts val="4400"/>
              </a:lnSpc>
              <a:buNone/>
            </a:pPr>
            <a:r>
              <a:rPr lang="en-US" sz="4000" b="1" dirty="0">
                <a:solidFill>
                  <a:srgbClr val="FFFFFF"/>
                </a:solidFill>
                <a:latin typeface="Cambria" pitchFamily="34" charset="0"/>
                <a:ea typeface="Cambria" pitchFamily="34" charset="-122"/>
                <a:cs typeface="Cambria" pitchFamily="34" charset="-120"/>
              </a:rPr>
              <a:t>Akış ve yönlendirme</a:t>
            </a:r>
            <a:endParaRPr lang="en-US" sz="4000" dirty="0"/>
          </a:p>
        </p:txBody>
      </p:sp>
      <p:sp>
        <p:nvSpPr>
          <p:cNvPr id="4" name="Text 2"/>
          <p:cNvSpPr txBox="1"/>
          <p:nvPr/>
        </p:nvSpPr>
        <p:spPr>
          <a:xfrm>
            <a:off x="777240" y="5029200"/>
            <a:ext cx="9509760" cy="822960"/>
          </a:xfrm>
          <a:prstGeom prst="rect">
            <a:avLst/>
          </a:prstGeom>
          <a:noFill/>
          <a:ln/>
        </p:spPr>
        <p:txBody>
          <a:bodyPr wrap="square" lIns="0" tIns="0" rIns="0" bIns="0" rtlCol="0" anchor="ctr"/>
          <a:lstStyle/>
          <a:p>
            <a:pPr indent="0" marL="0">
              <a:lnSpc>
                <a:spcPts val="2200"/>
              </a:lnSpc>
              <a:buNone/>
            </a:pPr>
            <a:r>
              <a:rPr lang="en-US" sz="1500" dirty="0">
                <a:solidFill>
                  <a:srgbClr val="B9B9C0"/>
                </a:solidFill>
                <a:latin typeface="Calibri" pitchFamily="34" charset="0"/>
                <a:ea typeface="Calibri" pitchFamily="34" charset="-122"/>
                <a:cs typeface="Calibri" pitchFamily="34" charset="-120"/>
              </a:rPr>
              <a:t>İnsan içeri girdikten sonra nereye gider?</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CFCFA"/>
        </a:solidFill>
      </p:bgPr>
    </p:bg>
    <p:spTree>
      <p:nvGrpSpPr>
        <p:cNvPr id="1" name=""/>
        <p:cNvGrpSpPr/>
        <p:nvPr/>
      </p:nvGrpSpPr>
      <p:grpSpPr>
        <a:xfrm>
          <a:off x="0" y="0"/>
          <a:ext cx="0" cy="0"/>
          <a:chOff x="0" y="0"/>
          <a:chExt cx="0" cy="0"/>
        </a:xfrm>
      </p:grpSpPr>
      <p:sp>
        <p:nvSpPr>
          <p:cNvPr id="2" name="Text 0"/>
          <p:cNvSpPr txBox="1"/>
          <p:nvPr/>
        </p:nvSpPr>
        <p:spPr>
          <a:xfrm>
            <a:off x="777240" y="475488"/>
            <a:ext cx="9601200" cy="237744"/>
          </a:xfrm>
          <a:prstGeom prst="rect">
            <a:avLst/>
          </a:prstGeom>
          <a:noFill/>
          <a:ln/>
        </p:spPr>
        <p:txBody>
          <a:bodyPr wrap="square" lIns="0" tIns="0" rIns="0" bIns="0" rtlCol="0" anchor="ctr"/>
          <a:lstStyle/>
          <a:p>
            <a:pPr indent="0" marL="0">
              <a:buNone/>
            </a:pPr>
            <a:r>
              <a:rPr lang="en-US" sz="950" b="1" spc="260" kern="0" dirty="0">
                <a:solidFill>
                  <a:srgbClr val="7A7A82"/>
                </a:solidFill>
                <a:latin typeface="Calibri" pitchFamily="34" charset="0"/>
                <a:ea typeface="Calibri" pitchFamily="34" charset="-122"/>
                <a:cs typeface="Calibri" pitchFamily="34" charset="-120"/>
              </a:rPr>
              <a:t>VI · AKIŞ VE YÖNLENDİRME</a:t>
            </a:r>
            <a:endParaRPr lang="en-US" sz="950" dirty="0"/>
          </a:p>
        </p:txBody>
      </p:sp>
      <p:sp>
        <p:nvSpPr>
          <p:cNvPr id="3" name="Text 1"/>
          <p:cNvSpPr txBox="1"/>
          <p:nvPr/>
        </p:nvSpPr>
        <p:spPr>
          <a:xfrm>
            <a:off x="777240" y="822960"/>
            <a:ext cx="10424160" cy="731520"/>
          </a:xfrm>
          <a:prstGeom prst="rect">
            <a:avLst/>
          </a:prstGeom>
          <a:noFill/>
          <a:ln/>
        </p:spPr>
        <p:txBody>
          <a:bodyPr wrap="square" lIns="0" tIns="0" rIns="0" bIns="0" rtlCol="0" anchor="ctr"/>
          <a:lstStyle/>
          <a:p>
            <a:pPr indent="0" marL="0">
              <a:lnSpc>
                <a:spcPts val="3400"/>
              </a:lnSpc>
              <a:buNone/>
            </a:pPr>
            <a:r>
              <a:rPr lang="en-US" sz="2900" b="1" dirty="0">
                <a:solidFill>
                  <a:srgbClr val="16161A"/>
                </a:solidFill>
                <a:latin typeface="Cambria" pitchFamily="34" charset="0"/>
                <a:ea typeface="Cambria" pitchFamily="34" charset="-122"/>
                <a:cs typeface="Cambria" pitchFamily="34" charset="-120"/>
              </a:rPr>
              <a:t>Dört plan tipi</a:t>
            </a:r>
            <a:endParaRPr lang="en-US" sz="2900" dirty="0"/>
          </a:p>
        </p:txBody>
      </p:sp>
      <p:sp>
        <p:nvSpPr>
          <p:cNvPr id="4" name="Text 2"/>
          <p:cNvSpPr txBox="1"/>
          <p:nvPr/>
        </p:nvSpPr>
        <p:spPr>
          <a:xfrm>
            <a:off x="10972800" y="6355080"/>
            <a:ext cx="438912" cy="237744"/>
          </a:xfrm>
          <a:prstGeom prst="rect">
            <a:avLst/>
          </a:prstGeom>
          <a:noFill/>
          <a:ln/>
        </p:spPr>
        <p:txBody>
          <a:bodyPr wrap="square" lIns="0" tIns="0" rIns="0" bIns="0" rtlCol="0" anchor="ctr"/>
          <a:lstStyle/>
          <a:p>
            <a:pPr algn="r" indent="0" marL="0">
              <a:buNone/>
            </a:pPr>
            <a:r>
              <a:rPr lang="en-US" sz="950" dirty="0">
                <a:solidFill>
                  <a:srgbClr val="A6A6AC"/>
                </a:solidFill>
                <a:latin typeface="Calibri" pitchFamily="34" charset="0"/>
                <a:ea typeface="Calibri" pitchFamily="34" charset="-122"/>
                <a:cs typeface="Calibri" pitchFamily="34" charset="-120"/>
              </a:rPr>
              <a:t>26</a:t>
            </a:r>
            <a:endParaRPr lang="en-US" sz="950" dirty="0"/>
          </a:p>
        </p:txBody>
      </p:sp>
      <p:sp>
        <p:nvSpPr>
          <p:cNvPr id="5" name="Shape 3"/>
          <p:cNvSpPr/>
          <p:nvPr/>
        </p:nvSpPr>
        <p:spPr>
          <a:xfrm>
            <a:off x="777240" y="2148840"/>
            <a:ext cx="2487168" cy="1737360"/>
          </a:xfrm>
          <a:prstGeom prst="rect">
            <a:avLst/>
          </a:prstGeom>
          <a:ln w="15875">
            <a:solidFill>
              <a:srgbClr val="16161A"/>
            </a:solidFill>
            <a:prstDash val="solid"/>
          </a:ln>
        </p:spPr>
      </p:sp>
      <p:sp>
        <p:nvSpPr>
          <p:cNvPr id="6" name="Shape 4"/>
          <p:cNvSpPr/>
          <p:nvPr/>
        </p:nvSpPr>
        <p:spPr>
          <a:xfrm>
            <a:off x="923544" y="2551176"/>
            <a:ext cx="2194560" cy="0"/>
          </a:xfrm>
          <a:prstGeom prst="line">
            <a:avLst/>
          </a:prstGeom>
          <a:noFill/>
          <a:ln w="17780">
            <a:solidFill>
              <a:srgbClr val="C9C9CF"/>
            </a:solidFill>
            <a:prstDash val="solid"/>
          </a:ln>
        </p:spPr>
      </p:sp>
      <p:sp>
        <p:nvSpPr>
          <p:cNvPr id="7" name="Shape 5"/>
          <p:cNvSpPr/>
          <p:nvPr/>
        </p:nvSpPr>
        <p:spPr>
          <a:xfrm>
            <a:off x="923544" y="2898648"/>
            <a:ext cx="2194560" cy="0"/>
          </a:xfrm>
          <a:prstGeom prst="line">
            <a:avLst/>
          </a:prstGeom>
          <a:noFill/>
          <a:ln w="17780">
            <a:solidFill>
              <a:srgbClr val="C9C9CF"/>
            </a:solidFill>
            <a:prstDash val="solid"/>
          </a:ln>
        </p:spPr>
      </p:sp>
      <p:sp>
        <p:nvSpPr>
          <p:cNvPr id="8" name="Shape 6"/>
          <p:cNvSpPr/>
          <p:nvPr/>
        </p:nvSpPr>
        <p:spPr>
          <a:xfrm>
            <a:off x="923544" y="3246120"/>
            <a:ext cx="2194560" cy="0"/>
          </a:xfrm>
          <a:prstGeom prst="line">
            <a:avLst/>
          </a:prstGeom>
          <a:noFill/>
          <a:ln w="17780">
            <a:solidFill>
              <a:srgbClr val="C9C9CF"/>
            </a:solidFill>
            <a:prstDash val="solid"/>
          </a:ln>
        </p:spPr>
      </p:sp>
      <p:sp>
        <p:nvSpPr>
          <p:cNvPr id="9" name="Shape 7"/>
          <p:cNvSpPr/>
          <p:nvPr/>
        </p:nvSpPr>
        <p:spPr>
          <a:xfrm>
            <a:off x="923544" y="3593592"/>
            <a:ext cx="2194560" cy="0"/>
          </a:xfrm>
          <a:prstGeom prst="line">
            <a:avLst/>
          </a:prstGeom>
          <a:noFill/>
          <a:ln w="17780">
            <a:solidFill>
              <a:srgbClr val="C9C9CF"/>
            </a:solidFill>
            <a:prstDash val="solid"/>
          </a:ln>
        </p:spPr>
      </p:sp>
      <p:sp>
        <p:nvSpPr>
          <p:cNvPr id="10" name="Shape 8"/>
          <p:cNvSpPr/>
          <p:nvPr/>
        </p:nvSpPr>
        <p:spPr>
          <a:xfrm flipV="1">
            <a:off x="2020824" y="3941064"/>
            <a:ext cx="0" cy="329184"/>
          </a:xfrm>
          <a:prstGeom prst="line">
            <a:avLst/>
          </a:prstGeom>
          <a:noFill/>
          <a:ln w="19050">
            <a:solidFill>
              <a:srgbClr val="8C3A2B"/>
            </a:solidFill>
            <a:prstDash val="solid"/>
            <a:tailEnd type="triangle"/>
          </a:ln>
        </p:spPr>
      </p:sp>
      <p:sp>
        <p:nvSpPr>
          <p:cNvPr id="11" name="Text 9"/>
          <p:cNvSpPr txBox="1"/>
          <p:nvPr/>
        </p:nvSpPr>
        <p:spPr>
          <a:xfrm>
            <a:off x="777240" y="1764792"/>
            <a:ext cx="2487168" cy="310896"/>
          </a:xfrm>
          <a:prstGeom prst="rect">
            <a:avLst/>
          </a:prstGeom>
          <a:noFill/>
          <a:ln/>
        </p:spPr>
        <p:txBody>
          <a:bodyPr wrap="square" lIns="0" tIns="0" rIns="0" bIns="0" rtlCol="0" anchor="ctr"/>
          <a:lstStyle/>
          <a:p>
            <a:pPr indent="0" marL="0">
              <a:buNone/>
            </a:pPr>
            <a:r>
              <a:rPr lang="en-US" sz="1450" b="1" dirty="0">
                <a:solidFill>
                  <a:srgbClr val="16161A"/>
                </a:solidFill>
                <a:latin typeface="Cambria" pitchFamily="34" charset="0"/>
                <a:ea typeface="Cambria" pitchFamily="34" charset="-122"/>
                <a:cs typeface="Cambria" pitchFamily="34" charset="-120"/>
              </a:rPr>
              <a:t>Izgara</a:t>
            </a:r>
            <a:endParaRPr lang="en-US" sz="1450" dirty="0"/>
          </a:p>
        </p:txBody>
      </p:sp>
      <p:sp>
        <p:nvSpPr>
          <p:cNvPr id="12" name="Text 10"/>
          <p:cNvSpPr txBox="1"/>
          <p:nvPr/>
        </p:nvSpPr>
        <p:spPr>
          <a:xfrm>
            <a:off x="777240" y="4434840"/>
            <a:ext cx="2487168" cy="868680"/>
          </a:xfrm>
          <a:prstGeom prst="rect">
            <a:avLst/>
          </a:prstGeom>
          <a:noFill/>
          <a:ln/>
        </p:spPr>
        <p:txBody>
          <a:bodyPr wrap="square" lIns="0" tIns="0" rIns="0" bIns="0" rtlCol="0" anchor="ctr"/>
          <a:lstStyle/>
          <a:p>
            <a:pPr indent="0" marL="0">
              <a:lnSpc>
                <a:spcPts val="1350"/>
              </a:lnSpc>
              <a:buNone/>
            </a:pPr>
            <a:r>
              <a:rPr lang="en-US" sz="1050" dirty="0">
                <a:solidFill>
                  <a:srgbClr val="7A7A82"/>
                </a:solidFill>
                <a:latin typeface="Calibri" pitchFamily="34" charset="0"/>
                <a:ea typeface="Calibri" pitchFamily="34" charset="-122"/>
                <a:cs typeface="Calibri" pitchFamily="34" charset="-120"/>
              </a:rPr>
              <a:t>Paralel raf dizileri. Verimli ve tahmin edilebilir; keşif duygusu düşük.</a:t>
            </a:r>
            <a:endParaRPr lang="en-US" sz="1050" dirty="0"/>
          </a:p>
        </p:txBody>
      </p:sp>
      <p:sp>
        <p:nvSpPr>
          <p:cNvPr id="13" name="Text 11"/>
          <p:cNvSpPr txBox="1"/>
          <p:nvPr/>
        </p:nvSpPr>
        <p:spPr>
          <a:xfrm>
            <a:off x="777240" y="5257800"/>
            <a:ext cx="2487168" cy="274320"/>
          </a:xfrm>
          <a:prstGeom prst="rect">
            <a:avLst/>
          </a:prstGeom>
          <a:noFill/>
          <a:ln/>
        </p:spPr>
        <p:txBody>
          <a:bodyPr wrap="square" lIns="0" tIns="0" rIns="0" bIns="0" rtlCol="0" anchor="ctr"/>
          <a:lstStyle/>
          <a:p>
            <a:pPr indent="0" marL="0">
              <a:buNone/>
            </a:pPr>
            <a:r>
              <a:rPr lang="en-US" sz="950" b="1" spc="80" kern="0" dirty="0">
                <a:solidFill>
                  <a:srgbClr val="8C3A2B"/>
                </a:solidFill>
                <a:latin typeface="Calibri" pitchFamily="34" charset="0"/>
                <a:ea typeface="Calibri" pitchFamily="34" charset="-122"/>
                <a:cs typeface="Calibri" pitchFamily="34" charset="-120"/>
              </a:rPr>
              <a:t>market · kırtasiye</a:t>
            </a:r>
            <a:endParaRPr lang="en-US" sz="950" dirty="0"/>
          </a:p>
        </p:txBody>
      </p:sp>
      <p:sp>
        <p:nvSpPr>
          <p:cNvPr id="14" name="Shape 12"/>
          <p:cNvSpPr/>
          <p:nvPr/>
        </p:nvSpPr>
        <p:spPr>
          <a:xfrm>
            <a:off x="3493008" y="2148840"/>
            <a:ext cx="2487168" cy="1737360"/>
          </a:xfrm>
          <a:prstGeom prst="rect">
            <a:avLst/>
          </a:prstGeom>
          <a:ln w="15875">
            <a:solidFill>
              <a:srgbClr val="16161A"/>
            </a:solidFill>
            <a:prstDash val="solid"/>
          </a:ln>
        </p:spPr>
      </p:sp>
      <p:sp>
        <p:nvSpPr>
          <p:cNvPr id="15" name="Shape 13"/>
          <p:cNvSpPr/>
          <p:nvPr/>
        </p:nvSpPr>
        <p:spPr>
          <a:xfrm>
            <a:off x="3867912" y="2569464"/>
            <a:ext cx="685800" cy="320040"/>
          </a:xfrm>
          <a:prstGeom prst="rect">
            <a:avLst/>
          </a:prstGeom>
          <a:ln w="9525">
            <a:solidFill>
              <a:srgbClr val="C9C9CF"/>
            </a:solidFill>
            <a:prstDash val="solid"/>
          </a:ln>
        </p:spPr>
      </p:sp>
      <p:sp>
        <p:nvSpPr>
          <p:cNvPr id="16" name="Shape 14"/>
          <p:cNvSpPr/>
          <p:nvPr/>
        </p:nvSpPr>
        <p:spPr>
          <a:xfrm>
            <a:off x="4873752" y="2496312"/>
            <a:ext cx="548640" cy="457200"/>
          </a:xfrm>
          <a:prstGeom prst="rect">
            <a:avLst/>
          </a:prstGeom>
          <a:ln w="9525">
            <a:solidFill>
              <a:srgbClr val="C9C9CF"/>
            </a:solidFill>
            <a:prstDash val="solid"/>
          </a:ln>
        </p:spPr>
      </p:sp>
      <p:sp>
        <p:nvSpPr>
          <p:cNvPr id="17" name="Shape 15"/>
          <p:cNvSpPr/>
          <p:nvPr/>
        </p:nvSpPr>
        <p:spPr>
          <a:xfrm>
            <a:off x="4142232" y="3163824"/>
            <a:ext cx="822960" cy="274320"/>
          </a:xfrm>
          <a:prstGeom prst="rect">
            <a:avLst/>
          </a:prstGeom>
          <a:ln w="9525">
            <a:solidFill>
              <a:srgbClr val="C9C9CF"/>
            </a:solidFill>
            <a:prstDash val="solid"/>
          </a:ln>
        </p:spPr>
      </p:sp>
      <p:sp>
        <p:nvSpPr>
          <p:cNvPr id="18" name="Shape 16"/>
          <p:cNvSpPr/>
          <p:nvPr/>
        </p:nvSpPr>
        <p:spPr>
          <a:xfrm>
            <a:off x="5102352" y="3255264"/>
            <a:ext cx="457200" cy="292608"/>
          </a:xfrm>
          <a:prstGeom prst="rect">
            <a:avLst/>
          </a:prstGeom>
          <a:ln w="9525">
            <a:solidFill>
              <a:srgbClr val="C9C9CF"/>
            </a:solidFill>
            <a:prstDash val="solid"/>
          </a:ln>
        </p:spPr>
      </p:sp>
      <p:sp>
        <p:nvSpPr>
          <p:cNvPr id="19" name="Shape 17"/>
          <p:cNvSpPr/>
          <p:nvPr/>
        </p:nvSpPr>
        <p:spPr>
          <a:xfrm flipV="1">
            <a:off x="4736592" y="3941064"/>
            <a:ext cx="0" cy="329184"/>
          </a:xfrm>
          <a:prstGeom prst="line">
            <a:avLst/>
          </a:prstGeom>
          <a:noFill/>
          <a:ln w="19050">
            <a:solidFill>
              <a:srgbClr val="8C3A2B"/>
            </a:solidFill>
            <a:prstDash val="solid"/>
            <a:tailEnd type="triangle"/>
          </a:ln>
        </p:spPr>
      </p:sp>
      <p:sp>
        <p:nvSpPr>
          <p:cNvPr id="20" name="Text 18"/>
          <p:cNvSpPr txBox="1"/>
          <p:nvPr/>
        </p:nvSpPr>
        <p:spPr>
          <a:xfrm>
            <a:off x="3493008" y="1764792"/>
            <a:ext cx="2487168" cy="310896"/>
          </a:xfrm>
          <a:prstGeom prst="rect">
            <a:avLst/>
          </a:prstGeom>
          <a:noFill/>
          <a:ln/>
        </p:spPr>
        <p:txBody>
          <a:bodyPr wrap="square" lIns="0" tIns="0" rIns="0" bIns="0" rtlCol="0" anchor="ctr"/>
          <a:lstStyle/>
          <a:p>
            <a:pPr indent="0" marL="0">
              <a:buNone/>
            </a:pPr>
            <a:r>
              <a:rPr lang="en-US" sz="1450" b="1" dirty="0">
                <a:solidFill>
                  <a:srgbClr val="16161A"/>
                </a:solidFill>
                <a:latin typeface="Cambria" pitchFamily="34" charset="0"/>
                <a:ea typeface="Cambria" pitchFamily="34" charset="-122"/>
                <a:cs typeface="Cambria" pitchFamily="34" charset="-120"/>
              </a:rPr>
              <a:t>Serbest akış</a:t>
            </a:r>
            <a:endParaRPr lang="en-US" sz="1450" dirty="0"/>
          </a:p>
        </p:txBody>
      </p:sp>
      <p:sp>
        <p:nvSpPr>
          <p:cNvPr id="21" name="Text 19"/>
          <p:cNvSpPr txBox="1"/>
          <p:nvPr/>
        </p:nvSpPr>
        <p:spPr>
          <a:xfrm>
            <a:off x="3493008" y="4434840"/>
            <a:ext cx="2487168" cy="868680"/>
          </a:xfrm>
          <a:prstGeom prst="rect">
            <a:avLst/>
          </a:prstGeom>
          <a:noFill/>
          <a:ln/>
        </p:spPr>
        <p:txBody>
          <a:bodyPr wrap="square" lIns="0" tIns="0" rIns="0" bIns="0" rtlCol="0" anchor="ctr"/>
          <a:lstStyle/>
          <a:p>
            <a:pPr indent="0" marL="0">
              <a:lnSpc>
                <a:spcPts val="1350"/>
              </a:lnSpc>
              <a:buNone/>
            </a:pPr>
            <a:r>
              <a:rPr lang="en-US" sz="1050" dirty="0">
                <a:solidFill>
                  <a:srgbClr val="7A7A82"/>
                </a:solidFill>
                <a:latin typeface="Calibri" pitchFamily="34" charset="0"/>
                <a:ea typeface="Calibri" pitchFamily="34" charset="-122"/>
                <a:cs typeface="Calibri" pitchFamily="34" charset="-120"/>
              </a:rPr>
              <a:t>Bağımsız yerleşmiş adalar. Keşif yüksek, alan verimi düşük.</a:t>
            </a:r>
            <a:endParaRPr lang="en-US" sz="1050" dirty="0"/>
          </a:p>
        </p:txBody>
      </p:sp>
      <p:sp>
        <p:nvSpPr>
          <p:cNvPr id="22" name="Text 20"/>
          <p:cNvSpPr txBox="1"/>
          <p:nvPr/>
        </p:nvSpPr>
        <p:spPr>
          <a:xfrm>
            <a:off x="3493008" y="5257800"/>
            <a:ext cx="2487168" cy="274320"/>
          </a:xfrm>
          <a:prstGeom prst="rect">
            <a:avLst/>
          </a:prstGeom>
          <a:noFill/>
          <a:ln/>
        </p:spPr>
        <p:txBody>
          <a:bodyPr wrap="square" lIns="0" tIns="0" rIns="0" bIns="0" rtlCol="0" anchor="ctr"/>
          <a:lstStyle/>
          <a:p>
            <a:pPr indent="0" marL="0">
              <a:buNone/>
            </a:pPr>
            <a:r>
              <a:rPr lang="en-US" sz="950" b="1" spc="80" kern="0" dirty="0">
                <a:solidFill>
                  <a:srgbClr val="8C3A2B"/>
                </a:solidFill>
                <a:latin typeface="Calibri" pitchFamily="34" charset="0"/>
                <a:ea typeface="Calibri" pitchFamily="34" charset="-122"/>
                <a:cs typeface="Calibri" pitchFamily="34" charset="-120"/>
              </a:rPr>
              <a:t>butik · konsept</a:t>
            </a:r>
            <a:endParaRPr lang="en-US" sz="950" dirty="0"/>
          </a:p>
        </p:txBody>
      </p:sp>
      <p:sp>
        <p:nvSpPr>
          <p:cNvPr id="23" name="Shape 21"/>
          <p:cNvSpPr/>
          <p:nvPr/>
        </p:nvSpPr>
        <p:spPr>
          <a:xfrm>
            <a:off x="6208776" y="2148840"/>
            <a:ext cx="2487168" cy="1737360"/>
          </a:xfrm>
          <a:prstGeom prst="rect">
            <a:avLst/>
          </a:prstGeom>
          <a:ln w="15875">
            <a:solidFill>
              <a:srgbClr val="16161A"/>
            </a:solidFill>
            <a:prstDash val="solid"/>
          </a:ln>
        </p:spPr>
      </p:sp>
      <p:sp>
        <p:nvSpPr>
          <p:cNvPr id="24" name="Shape 22"/>
          <p:cNvSpPr/>
          <p:nvPr/>
        </p:nvSpPr>
        <p:spPr>
          <a:xfrm>
            <a:off x="6739128" y="2569464"/>
            <a:ext cx="1426464" cy="896112"/>
          </a:xfrm>
          <a:prstGeom prst="rect">
            <a:avLst/>
          </a:prstGeom>
          <a:ln w="19050">
            <a:solidFill>
              <a:srgbClr val="8C3A2B"/>
            </a:solidFill>
            <a:prstDash val="dash"/>
          </a:ln>
        </p:spPr>
      </p:sp>
      <p:sp>
        <p:nvSpPr>
          <p:cNvPr id="25" name="Shape 23"/>
          <p:cNvSpPr/>
          <p:nvPr/>
        </p:nvSpPr>
        <p:spPr>
          <a:xfrm>
            <a:off x="7132320" y="2862072"/>
            <a:ext cx="640080" cy="310896"/>
          </a:xfrm>
          <a:prstGeom prst="rect">
            <a:avLst/>
          </a:prstGeom>
          <a:ln w="9525">
            <a:solidFill>
              <a:srgbClr val="C9C9CF"/>
            </a:solidFill>
            <a:prstDash val="solid"/>
          </a:ln>
        </p:spPr>
      </p:sp>
      <p:sp>
        <p:nvSpPr>
          <p:cNvPr id="26" name="Shape 24"/>
          <p:cNvSpPr/>
          <p:nvPr/>
        </p:nvSpPr>
        <p:spPr>
          <a:xfrm flipV="1">
            <a:off x="7452360" y="3941064"/>
            <a:ext cx="0" cy="329184"/>
          </a:xfrm>
          <a:prstGeom prst="line">
            <a:avLst/>
          </a:prstGeom>
          <a:noFill/>
          <a:ln w="19050">
            <a:solidFill>
              <a:srgbClr val="8C3A2B"/>
            </a:solidFill>
            <a:prstDash val="solid"/>
            <a:tailEnd type="triangle"/>
          </a:ln>
        </p:spPr>
      </p:sp>
      <p:sp>
        <p:nvSpPr>
          <p:cNvPr id="27" name="Text 25"/>
          <p:cNvSpPr txBox="1"/>
          <p:nvPr/>
        </p:nvSpPr>
        <p:spPr>
          <a:xfrm>
            <a:off x="6208776" y="1764792"/>
            <a:ext cx="2487168" cy="310896"/>
          </a:xfrm>
          <a:prstGeom prst="rect">
            <a:avLst/>
          </a:prstGeom>
          <a:noFill/>
          <a:ln/>
        </p:spPr>
        <p:txBody>
          <a:bodyPr wrap="square" lIns="0" tIns="0" rIns="0" bIns="0" rtlCol="0" anchor="ctr"/>
          <a:lstStyle/>
          <a:p>
            <a:pPr indent="0" marL="0">
              <a:buNone/>
            </a:pPr>
            <a:r>
              <a:rPr lang="en-US" sz="1450" b="1" dirty="0">
                <a:solidFill>
                  <a:srgbClr val="16161A"/>
                </a:solidFill>
                <a:latin typeface="Cambria" pitchFamily="34" charset="0"/>
                <a:ea typeface="Cambria" pitchFamily="34" charset="-122"/>
                <a:cs typeface="Cambria" pitchFamily="34" charset="-120"/>
              </a:rPr>
              <a:t>Döngü</a:t>
            </a:r>
            <a:endParaRPr lang="en-US" sz="1450" dirty="0"/>
          </a:p>
        </p:txBody>
      </p:sp>
      <p:sp>
        <p:nvSpPr>
          <p:cNvPr id="28" name="Text 26"/>
          <p:cNvSpPr txBox="1"/>
          <p:nvPr/>
        </p:nvSpPr>
        <p:spPr>
          <a:xfrm>
            <a:off x="6208776" y="4434840"/>
            <a:ext cx="2487168" cy="868680"/>
          </a:xfrm>
          <a:prstGeom prst="rect">
            <a:avLst/>
          </a:prstGeom>
          <a:noFill/>
          <a:ln/>
        </p:spPr>
        <p:txBody>
          <a:bodyPr wrap="square" lIns="0" tIns="0" rIns="0" bIns="0" rtlCol="0" anchor="ctr"/>
          <a:lstStyle/>
          <a:p>
            <a:pPr indent="0" marL="0">
              <a:lnSpc>
                <a:spcPts val="1350"/>
              </a:lnSpc>
              <a:buNone/>
            </a:pPr>
            <a:r>
              <a:rPr lang="en-US" sz="1050" dirty="0">
                <a:solidFill>
                  <a:srgbClr val="7A7A82"/>
                </a:solidFill>
                <a:latin typeface="Calibri" pitchFamily="34" charset="0"/>
                <a:ea typeface="Calibri" pitchFamily="34" charset="-122"/>
                <a:cs typeface="Calibri" pitchFamily="34" charset="-120"/>
              </a:rPr>
              <a:t>Müşteriyi tüm mağazadan geçiren tek rota.</a:t>
            </a:r>
            <a:endParaRPr lang="en-US" sz="1050" dirty="0"/>
          </a:p>
        </p:txBody>
      </p:sp>
      <p:sp>
        <p:nvSpPr>
          <p:cNvPr id="29" name="Text 27"/>
          <p:cNvSpPr txBox="1"/>
          <p:nvPr/>
        </p:nvSpPr>
        <p:spPr>
          <a:xfrm>
            <a:off x="6208776" y="5257800"/>
            <a:ext cx="2487168" cy="274320"/>
          </a:xfrm>
          <a:prstGeom prst="rect">
            <a:avLst/>
          </a:prstGeom>
          <a:noFill/>
          <a:ln/>
        </p:spPr>
        <p:txBody>
          <a:bodyPr wrap="square" lIns="0" tIns="0" rIns="0" bIns="0" rtlCol="0" anchor="ctr"/>
          <a:lstStyle/>
          <a:p>
            <a:pPr indent="0" marL="0">
              <a:buNone/>
            </a:pPr>
            <a:r>
              <a:rPr lang="en-US" sz="950" b="1" spc="80" kern="0" dirty="0">
                <a:solidFill>
                  <a:srgbClr val="8C3A2B"/>
                </a:solidFill>
                <a:latin typeface="Calibri" pitchFamily="34" charset="0"/>
                <a:ea typeface="Calibri" pitchFamily="34" charset="-122"/>
                <a:cs typeface="Calibri" pitchFamily="34" charset="-120"/>
              </a:rPr>
              <a:t>büyük mağaza · mobilya</a:t>
            </a:r>
            <a:endParaRPr lang="en-US" sz="950" dirty="0"/>
          </a:p>
        </p:txBody>
      </p:sp>
      <p:sp>
        <p:nvSpPr>
          <p:cNvPr id="30" name="Shape 28"/>
          <p:cNvSpPr/>
          <p:nvPr/>
        </p:nvSpPr>
        <p:spPr>
          <a:xfrm>
            <a:off x="8924544" y="2148840"/>
            <a:ext cx="2487168" cy="1737360"/>
          </a:xfrm>
          <a:prstGeom prst="rect">
            <a:avLst/>
          </a:prstGeom>
          <a:ln w="15875">
            <a:solidFill>
              <a:srgbClr val="16161A"/>
            </a:solidFill>
            <a:prstDash val="solid"/>
          </a:ln>
        </p:spPr>
      </p:sp>
      <p:sp>
        <p:nvSpPr>
          <p:cNvPr id="31" name="Shape 29"/>
          <p:cNvSpPr/>
          <p:nvPr/>
        </p:nvSpPr>
        <p:spPr>
          <a:xfrm flipV="1">
            <a:off x="9162288" y="2478024"/>
            <a:ext cx="566928" cy="1124712"/>
          </a:xfrm>
          <a:prstGeom prst="line">
            <a:avLst/>
          </a:prstGeom>
          <a:noFill/>
          <a:ln w="17780">
            <a:solidFill>
              <a:srgbClr val="C9C9CF"/>
            </a:solidFill>
            <a:prstDash val="solid"/>
          </a:ln>
        </p:spPr>
      </p:sp>
      <p:sp>
        <p:nvSpPr>
          <p:cNvPr id="32" name="Shape 30"/>
          <p:cNvSpPr/>
          <p:nvPr/>
        </p:nvSpPr>
        <p:spPr>
          <a:xfrm flipV="1">
            <a:off x="9546336" y="2478024"/>
            <a:ext cx="566928" cy="1124712"/>
          </a:xfrm>
          <a:prstGeom prst="line">
            <a:avLst/>
          </a:prstGeom>
          <a:noFill/>
          <a:ln w="17780">
            <a:solidFill>
              <a:srgbClr val="C9C9CF"/>
            </a:solidFill>
            <a:prstDash val="solid"/>
          </a:ln>
        </p:spPr>
      </p:sp>
      <p:sp>
        <p:nvSpPr>
          <p:cNvPr id="33" name="Shape 31"/>
          <p:cNvSpPr/>
          <p:nvPr/>
        </p:nvSpPr>
        <p:spPr>
          <a:xfrm flipV="1">
            <a:off x="9930384" y="2478024"/>
            <a:ext cx="566928" cy="1124712"/>
          </a:xfrm>
          <a:prstGeom prst="line">
            <a:avLst/>
          </a:prstGeom>
          <a:noFill/>
          <a:ln w="17780">
            <a:solidFill>
              <a:srgbClr val="C9C9CF"/>
            </a:solidFill>
            <a:prstDash val="solid"/>
          </a:ln>
        </p:spPr>
      </p:sp>
      <p:sp>
        <p:nvSpPr>
          <p:cNvPr id="34" name="Shape 32"/>
          <p:cNvSpPr/>
          <p:nvPr/>
        </p:nvSpPr>
        <p:spPr>
          <a:xfrm flipV="1">
            <a:off x="10314432" y="2478024"/>
            <a:ext cx="566928" cy="1124712"/>
          </a:xfrm>
          <a:prstGeom prst="line">
            <a:avLst/>
          </a:prstGeom>
          <a:noFill/>
          <a:ln w="17780">
            <a:solidFill>
              <a:srgbClr val="C9C9CF"/>
            </a:solidFill>
            <a:prstDash val="solid"/>
          </a:ln>
        </p:spPr>
      </p:sp>
      <p:sp>
        <p:nvSpPr>
          <p:cNvPr id="35" name="Shape 33"/>
          <p:cNvSpPr/>
          <p:nvPr/>
        </p:nvSpPr>
        <p:spPr>
          <a:xfrm flipV="1">
            <a:off x="10168128" y="3941064"/>
            <a:ext cx="0" cy="329184"/>
          </a:xfrm>
          <a:prstGeom prst="line">
            <a:avLst/>
          </a:prstGeom>
          <a:noFill/>
          <a:ln w="19050">
            <a:solidFill>
              <a:srgbClr val="8C3A2B"/>
            </a:solidFill>
            <a:prstDash val="solid"/>
            <a:tailEnd type="triangle"/>
          </a:ln>
        </p:spPr>
      </p:sp>
      <p:sp>
        <p:nvSpPr>
          <p:cNvPr id="36" name="Text 34"/>
          <p:cNvSpPr txBox="1"/>
          <p:nvPr/>
        </p:nvSpPr>
        <p:spPr>
          <a:xfrm>
            <a:off x="8924544" y="1764792"/>
            <a:ext cx="2487168" cy="310896"/>
          </a:xfrm>
          <a:prstGeom prst="rect">
            <a:avLst/>
          </a:prstGeom>
          <a:noFill/>
          <a:ln/>
        </p:spPr>
        <p:txBody>
          <a:bodyPr wrap="square" lIns="0" tIns="0" rIns="0" bIns="0" rtlCol="0" anchor="ctr"/>
          <a:lstStyle/>
          <a:p>
            <a:pPr indent="0" marL="0">
              <a:buNone/>
            </a:pPr>
            <a:r>
              <a:rPr lang="en-US" sz="1450" b="1" dirty="0">
                <a:solidFill>
                  <a:srgbClr val="16161A"/>
                </a:solidFill>
                <a:latin typeface="Cambria" pitchFamily="34" charset="0"/>
                <a:ea typeface="Cambria" pitchFamily="34" charset="-122"/>
                <a:cs typeface="Cambria" pitchFamily="34" charset="-120"/>
              </a:rPr>
              <a:t>Çapraz</a:t>
            </a:r>
            <a:endParaRPr lang="en-US" sz="1450" dirty="0"/>
          </a:p>
        </p:txBody>
      </p:sp>
      <p:sp>
        <p:nvSpPr>
          <p:cNvPr id="37" name="Text 35"/>
          <p:cNvSpPr txBox="1"/>
          <p:nvPr/>
        </p:nvSpPr>
        <p:spPr>
          <a:xfrm>
            <a:off x="8924544" y="4434840"/>
            <a:ext cx="2487168" cy="868680"/>
          </a:xfrm>
          <a:prstGeom prst="rect">
            <a:avLst/>
          </a:prstGeom>
          <a:noFill/>
          <a:ln/>
        </p:spPr>
        <p:txBody>
          <a:bodyPr wrap="square" lIns="0" tIns="0" rIns="0" bIns="0" rtlCol="0" anchor="ctr"/>
          <a:lstStyle/>
          <a:p>
            <a:pPr indent="0" marL="0">
              <a:lnSpc>
                <a:spcPts val="1350"/>
              </a:lnSpc>
              <a:buNone/>
            </a:pPr>
            <a:r>
              <a:rPr lang="en-US" sz="1050" dirty="0">
                <a:solidFill>
                  <a:srgbClr val="7A7A82"/>
                </a:solidFill>
                <a:latin typeface="Calibri" pitchFamily="34" charset="0"/>
                <a:ea typeface="Calibri" pitchFamily="34" charset="-122"/>
                <a:cs typeface="Calibri" pitchFamily="34" charset="-120"/>
              </a:rPr>
              <a:t>Açılı yerleşim; görüş hatlarını uzatır, ürünü sürekli yeni gösterir.</a:t>
            </a:r>
            <a:endParaRPr lang="en-US" sz="1050" dirty="0"/>
          </a:p>
        </p:txBody>
      </p:sp>
      <p:sp>
        <p:nvSpPr>
          <p:cNvPr id="38" name="Text 36"/>
          <p:cNvSpPr txBox="1"/>
          <p:nvPr/>
        </p:nvSpPr>
        <p:spPr>
          <a:xfrm>
            <a:off x="8924544" y="5257800"/>
            <a:ext cx="2487168" cy="274320"/>
          </a:xfrm>
          <a:prstGeom prst="rect">
            <a:avLst/>
          </a:prstGeom>
          <a:noFill/>
          <a:ln/>
        </p:spPr>
        <p:txBody>
          <a:bodyPr wrap="square" lIns="0" tIns="0" rIns="0" bIns="0" rtlCol="0" anchor="ctr"/>
          <a:lstStyle/>
          <a:p>
            <a:pPr indent="0" marL="0">
              <a:buNone/>
            </a:pPr>
            <a:r>
              <a:rPr lang="en-US" sz="950" b="1" spc="80" kern="0" dirty="0">
                <a:solidFill>
                  <a:srgbClr val="8C3A2B"/>
                </a:solidFill>
                <a:latin typeface="Calibri" pitchFamily="34" charset="0"/>
                <a:ea typeface="Calibri" pitchFamily="34" charset="-122"/>
                <a:cs typeface="Calibri" pitchFamily="34" charset="-120"/>
              </a:rPr>
              <a:t>moda · aksesuar</a:t>
            </a:r>
            <a:endParaRPr lang="en-US" sz="950" dirty="0"/>
          </a:p>
        </p:txBody>
      </p:sp>
      <p:sp>
        <p:nvSpPr>
          <p:cNvPr id="39" name="Text 37"/>
          <p:cNvSpPr txBox="1"/>
          <p:nvPr/>
        </p:nvSpPr>
        <p:spPr>
          <a:xfrm>
            <a:off x="777240" y="5760720"/>
            <a:ext cx="10424160" cy="365760"/>
          </a:xfrm>
          <a:prstGeom prst="rect">
            <a:avLst/>
          </a:prstGeom>
          <a:noFill/>
          <a:ln/>
        </p:spPr>
        <p:txBody>
          <a:bodyPr wrap="square" lIns="0" tIns="0" rIns="0" bIns="0" rtlCol="0" anchor="ctr"/>
          <a:lstStyle/>
          <a:p>
            <a:pPr algn="l" indent="0" marL="0">
              <a:lnSpc>
                <a:spcPts val="1200"/>
              </a:lnSpc>
              <a:buNone/>
            </a:pPr>
            <a:r>
              <a:rPr lang="en-US" sz="1300" i="1" dirty="0">
                <a:solidFill>
                  <a:srgbClr val="8C3A2B"/>
                </a:solidFill>
                <a:latin typeface="Cambria" pitchFamily="34" charset="0"/>
                <a:ea typeface="Cambria" pitchFamily="34" charset="-122"/>
                <a:cs typeface="Cambria" pitchFamily="34" charset="-120"/>
              </a:rPr>
              <a:t>Plan tipi ürünün taranma biçimine göre seçilir; estetik bir tercih değildir.</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CFCFA"/>
        </a:solidFill>
      </p:bgPr>
    </p:bg>
    <p:spTree>
      <p:nvGrpSpPr>
        <p:cNvPr id="1" name=""/>
        <p:cNvGrpSpPr/>
        <p:nvPr/>
      </p:nvGrpSpPr>
      <p:grpSpPr>
        <a:xfrm>
          <a:off x="0" y="0"/>
          <a:ext cx="0" cy="0"/>
          <a:chOff x="0" y="0"/>
          <a:chExt cx="0" cy="0"/>
        </a:xfrm>
      </p:grpSpPr>
      <p:sp>
        <p:nvSpPr>
          <p:cNvPr id="2" name="Text 0"/>
          <p:cNvSpPr txBox="1"/>
          <p:nvPr/>
        </p:nvSpPr>
        <p:spPr>
          <a:xfrm>
            <a:off x="777240" y="475488"/>
            <a:ext cx="9601200" cy="237744"/>
          </a:xfrm>
          <a:prstGeom prst="rect">
            <a:avLst/>
          </a:prstGeom>
          <a:noFill/>
          <a:ln/>
        </p:spPr>
        <p:txBody>
          <a:bodyPr wrap="square" lIns="0" tIns="0" rIns="0" bIns="0" rtlCol="0" anchor="ctr"/>
          <a:lstStyle/>
          <a:p>
            <a:pPr indent="0" marL="0">
              <a:buNone/>
            </a:pPr>
            <a:r>
              <a:rPr lang="en-US" sz="950" b="1" spc="260" kern="0" dirty="0">
                <a:solidFill>
                  <a:srgbClr val="7A7A82"/>
                </a:solidFill>
                <a:latin typeface="Calibri" pitchFamily="34" charset="0"/>
                <a:ea typeface="Calibri" pitchFamily="34" charset="-122"/>
                <a:cs typeface="Calibri" pitchFamily="34" charset="-120"/>
              </a:rPr>
              <a:t>VI · AKIŞ VE YÖNLENDİRME</a:t>
            </a:r>
            <a:endParaRPr lang="en-US" sz="950" dirty="0"/>
          </a:p>
        </p:txBody>
      </p:sp>
      <p:sp>
        <p:nvSpPr>
          <p:cNvPr id="3" name="Text 1"/>
          <p:cNvSpPr txBox="1"/>
          <p:nvPr/>
        </p:nvSpPr>
        <p:spPr>
          <a:xfrm>
            <a:off x="777240" y="822960"/>
            <a:ext cx="10424160" cy="731520"/>
          </a:xfrm>
          <a:prstGeom prst="rect">
            <a:avLst/>
          </a:prstGeom>
          <a:noFill/>
          <a:ln/>
        </p:spPr>
        <p:txBody>
          <a:bodyPr wrap="square" lIns="0" tIns="0" rIns="0" bIns="0" rtlCol="0" anchor="ctr"/>
          <a:lstStyle/>
          <a:p>
            <a:pPr indent="0" marL="0">
              <a:lnSpc>
                <a:spcPts val="3400"/>
              </a:lnSpc>
              <a:buNone/>
            </a:pPr>
            <a:r>
              <a:rPr lang="en-US" sz="2900" b="1" dirty="0">
                <a:solidFill>
                  <a:srgbClr val="16161A"/>
                </a:solidFill>
                <a:latin typeface="Cambria" pitchFamily="34" charset="0"/>
                <a:ea typeface="Cambria" pitchFamily="34" charset="-122"/>
                <a:cs typeface="Cambria" pitchFamily="34" charset="-120"/>
              </a:rPr>
              <a:t>Sağa yönelim, güç duvarı ve görüş hatları</a:t>
            </a:r>
            <a:endParaRPr lang="en-US" sz="2900" dirty="0"/>
          </a:p>
        </p:txBody>
      </p:sp>
      <p:sp>
        <p:nvSpPr>
          <p:cNvPr id="4" name="Text 2"/>
          <p:cNvSpPr txBox="1"/>
          <p:nvPr/>
        </p:nvSpPr>
        <p:spPr>
          <a:xfrm>
            <a:off x="10972800" y="6355080"/>
            <a:ext cx="438912" cy="237744"/>
          </a:xfrm>
          <a:prstGeom prst="rect">
            <a:avLst/>
          </a:prstGeom>
          <a:noFill/>
          <a:ln/>
        </p:spPr>
        <p:txBody>
          <a:bodyPr wrap="square" lIns="0" tIns="0" rIns="0" bIns="0" rtlCol="0" anchor="ctr"/>
          <a:lstStyle/>
          <a:p>
            <a:pPr algn="r" indent="0" marL="0">
              <a:buNone/>
            </a:pPr>
            <a:r>
              <a:rPr lang="en-US" sz="950" dirty="0">
                <a:solidFill>
                  <a:srgbClr val="A6A6AC"/>
                </a:solidFill>
                <a:latin typeface="Calibri" pitchFamily="34" charset="0"/>
                <a:ea typeface="Calibri" pitchFamily="34" charset="-122"/>
                <a:cs typeface="Calibri" pitchFamily="34" charset="-120"/>
              </a:rPr>
              <a:t>27</a:t>
            </a:r>
            <a:endParaRPr lang="en-US" sz="950" dirty="0"/>
          </a:p>
        </p:txBody>
      </p:sp>
      <p:sp>
        <p:nvSpPr>
          <p:cNvPr id="5" name="Shape 3"/>
          <p:cNvSpPr/>
          <p:nvPr/>
        </p:nvSpPr>
        <p:spPr>
          <a:xfrm>
            <a:off x="1051560" y="1920240"/>
            <a:ext cx="5852160" cy="3200400"/>
          </a:xfrm>
          <a:prstGeom prst="rect">
            <a:avLst/>
          </a:prstGeom>
          <a:ln w="15875">
            <a:solidFill>
              <a:srgbClr val="16161A"/>
            </a:solidFill>
            <a:prstDash val="solid"/>
          </a:ln>
        </p:spPr>
      </p:sp>
      <p:sp>
        <p:nvSpPr>
          <p:cNvPr id="6" name="Shape 4"/>
          <p:cNvSpPr/>
          <p:nvPr/>
        </p:nvSpPr>
        <p:spPr>
          <a:xfrm>
            <a:off x="3337560" y="5093208"/>
            <a:ext cx="1280160" cy="54864"/>
          </a:xfrm>
          <a:prstGeom prst="rect">
            <a:avLst/>
          </a:prstGeom>
          <a:solidFill>
            <a:srgbClr val="FCFCFA"/>
          </a:solidFill>
          <a:ln w="12700">
            <a:solidFill>
              <a:srgbClr val="FCFCFA"/>
            </a:solidFill>
            <a:prstDash val="solid"/>
          </a:ln>
        </p:spPr>
      </p:sp>
      <p:sp>
        <p:nvSpPr>
          <p:cNvPr id="7" name="Shape 5"/>
          <p:cNvSpPr/>
          <p:nvPr/>
        </p:nvSpPr>
        <p:spPr>
          <a:xfrm flipV="1">
            <a:off x="3977640" y="4956048"/>
            <a:ext cx="0" cy="621792"/>
          </a:xfrm>
          <a:prstGeom prst="line">
            <a:avLst/>
          </a:prstGeom>
          <a:noFill/>
          <a:ln w="25400">
            <a:solidFill>
              <a:srgbClr val="8C3A2B"/>
            </a:solidFill>
            <a:prstDash val="solid"/>
            <a:tailEnd type="triangle"/>
          </a:ln>
        </p:spPr>
      </p:sp>
      <p:sp>
        <p:nvSpPr>
          <p:cNvPr id="8" name="Shape 6"/>
          <p:cNvSpPr/>
          <p:nvPr/>
        </p:nvSpPr>
        <p:spPr>
          <a:xfrm flipV="1">
            <a:off x="3977640" y="4251960"/>
            <a:ext cx="2240280" cy="548640"/>
          </a:xfrm>
          <a:prstGeom prst="line">
            <a:avLst/>
          </a:prstGeom>
          <a:noFill/>
          <a:ln w="22225">
            <a:solidFill>
              <a:srgbClr val="8C3A2B"/>
            </a:solidFill>
            <a:prstDash val="solid"/>
            <a:tailEnd type="triangle"/>
          </a:ln>
        </p:spPr>
      </p:sp>
      <p:sp>
        <p:nvSpPr>
          <p:cNvPr id="9" name="Shape 7"/>
          <p:cNvSpPr/>
          <p:nvPr/>
        </p:nvSpPr>
        <p:spPr>
          <a:xfrm>
            <a:off x="6035040" y="2057400"/>
            <a:ext cx="749808" cy="1965960"/>
          </a:xfrm>
          <a:prstGeom prst="rect">
            <a:avLst/>
          </a:prstGeom>
          <a:solidFill>
            <a:srgbClr val="F6EAE6"/>
          </a:solidFill>
          <a:ln w="15875">
            <a:solidFill>
              <a:srgbClr val="8C3A2B"/>
            </a:solidFill>
            <a:prstDash val="solid"/>
          </a:ln>
        </p:spPr>
      </p:sp>
      <p:sp>
        <p:nvSpPr>
          <p:cNvPr id="10" name="Text 8"/>
          <p:cNvSpPr txBox="1"/>
          <p:nvPr/>
        </p:nvSpPr>
        <p:spPr>
          <a:xfrm>
            <a:off x="6071616" y="2057400"/>
            <a:ext cx="676656" cy="1965960"/>
          </a:xfrm>
          <a:prstGeom prst="rect">
            <a:avLst/>
          </a:prstGeom>
          <a:noFill/>
          <a:ln/>
        </p:spPr>
        <p:txBody>
          <a:bodyPr wrap="square" lIns="0" tIns="0" rIns="0" bIns="0" rtlCol="0" anchor="ctr"/>
          <a:lstStyle/>
          <a:p>
            <a:pPr algn="ctr" indent="0" marL="0">
              <a:lnSpc>
                <a:spcPts val="1100"/>
              </a:lnSpc>
              <a:buNone/>
            </a:pPr>
            <a:r>
              <a:rPr lang="en-US" sz="950" dirty="0">
                <a:solidFill>
                  <a:srgbClr val="8C3A2B"/>
                </a:solidFill>
                <a:latin typeface="Calibri" pitchFamily="34" charset="0"/>
                <a:ea typeface="Calibri" pitchFamily="34" charset="-122"/>
                <a:cs typeface="Calibri" pitchFamily="34" charset="-120"/>
              </a:rPr>
              <a:t>GÜÇ</a:t>
            </a:r>
            <a:endParaRPr lang="en-US" sz="950" dirty="0"/>
          </a:p>
          <a:p>
            <a:pPr algn="ctr" indent="0" marL="0">
              <a:lnSpc>
                <a:spcPts val="1100"/>
              </a:lnSpc>
              <a:buNone/>
            </a:pPr>
            <a:r>
              <a:rPr lang="en-US" sz="950" dirty="0">
                <a:solidFill>
                  <a:srgbClr val="8C3A2B"/>
                </a:solidFill>
                <a:latin typeface="Calibri" pitchFamily="34" charset="0"/>
                <a:ea typeface="Calibri" pitchFamily="34" charset="-122"/>
                <a:cs typeface="Calibri" pitchFamily="34" charset="-120"/>
              </a:rPr>
              <a:t>DUVARI</a:t>
            </a:r>
            <a:endParaRPr lang="en-US" sz="950" dirty="0"/>
          </a:p>
        </p:txBody>
      </p:sp>
      <p:sp>
        <p:nvSpPr>
          <p:cNvPr id="11" name="Shape 9"/>
          <p:cNvSpPr/>
          <p:nvPr/>
        </p:nvSpPr>
        <p:spPr>
          <a:xfrm flipH="1" flipV="1">
            <a:off x="1280160" y="2194560"/>
            <a:ext cx="2697480" cy="2743200"/>
          </a:xfrm>
          <a:prstGeom prst="line">
            <a:avLst/>
          </a:prstGeom>
          <a:noFill/>
          <a:ln w="11430">
            <a:solidFill>
              <a:srgbClr val="A6A6AC"/>
            </a:solidFill>
            <a:prstDash val="dash"/>
          </a:ln>
        </p:spPr>
      </p:sp>
      <p:sp>
        <p:nvSpPr>
          <p:cNvPr id="12" name="Shape 10"/>
          <p:cNvSpPr/>
          <p:nvPr/>
        </p:nvSpPr>
        <p:spPr>
          <a:xfrm flipV="1">
            <a:off x="3977640" y="2194560"/>
            <a:ext cx="2697480" cy="2743200"/>
          </a:xfrm>
          <a:prstGeom prst="line">
            <a:avLst/>
          </a:prstGeom>
          <a:noFill/>
          <a:ln w="11430">
            <a:solidFill>
              <a:srgbClr val="A6A6AC"/>
            </a:solidFill>
            <a:prstDash val="dash"/>
          </a:ln>
        </p:spPr>
      </p:sp>
      <p:sp>
        <p:nvSpPr>
          <p:cNvPr id="13" name="Shape 11"/>
          <p:cNvSpPr/>
          <p:nvPr/>
        </p:nvSpPr>
        <p:spPr>
          <a:xfrm flipV="1">
            <a:off x="3977640" y="2194560"/>
            <a:ext cx="0" cy="2743200"/>
          </a:xfrm>
          <a:prstGeom prst="line">
            <a:avLst/>
          </a:prstGeom>
          <a:noFill/>
          <a:ln w="11430">
            <a:solidFill>
              <a:srgbClr val="A6A6AC"/>
            </a:solidFill>
            <a:prstDash val="dash"/>
          </a:ln>
        </p:spPr>
      </p:sp>
      <p:sp>
        <p:nvSpPr>
          <p:cNvPr id="14" name="Text 12"/>
          <p:cNvSpPr txBox="1"/>
          <p:nvPr/>
        </p:nvSpPr>
        <p:spPr>
          <a:xfrm>
            <a:off x="1234440" y="2240280"/>
            <a:ext cx="2011680" cy="274320"/>
          </a:xfrm>
          <a:prstGeom prst="rect">
            <a:avLst/>
          </a:prstGeom>
          <a:noFill/>
          <a:ln/>
        </p:spPr>
        <p:txBody>
          <a:bodyPr wrap="square" lIns="0" tIns="0" rIns="0" bIns="0" rtlCol="0" anchor="ctr"/>
          <a:lstStyle/>
          <a:p>
            <a:pPr algn="l" indent="0" marL="0">
              <a:lnSpc>
                <a:spcPts val="1200"/>
              </a:lnSpc>
              <a:buNone/>
            </a:pPr>
            <a:r>
              <a:rPr lang="en-US" sz="900" dirty="0">
                <a:solidFill>
                  <a:srgbClr val="A6A6AC"/>
                </a:solidFill>
                <a:latin typeface="Calibri" pitchFamily="34" charset="0"/>
                <a:ea typeface="Calibri" pitchFamily="34" charset="-122"/>
                <a:cs typeface="Calibri" pitchFamily="34" charset="-120"/>
              </a:rPr>
              <a:t>görüş hatları</a:t>
            </a:r>
            <a:endParaRPr lang="en-US" sz="900" dirty="0"/>
          </a:p>
        </p:txBody>
      </p:sp>
      <p:sp>
        <p:nvSpPr>
          <p:cNvPr id="15" name="Shape 13"/>
          <p:cNvSpPr/>
          <p:nvPr/>
        </p:nvSpPr>
        <p:spPr>
          <a:xfrm>
            <a:off x="7434072" y="1874520"/>
            <a:ext cx="201168" cy="201168"/>
          </a:xfrm>
          <a:prstGeom prst="ellipse">
            <a:avLst/>
          </a:prstGeom>
          <a:solidFill>
            <a:srgbClr val="8C3A2B"/>
          </a:solidFill>
          <a:ln w="12700">
            <a:solidFill>
              <a:srgbClr val="8C3A2B"/>
            </a:solidFill>
            <a:prstDash val="solid"/>
          </a:ln>
        </p:spPr>
      </p:sp>
      <p:sp>
        <p:nvSpPr>
          <p:cNvPr id="16" name="Text 14"/>
          <p:cNvSpPr txBox="1"/>
          <p:nvPr/>
        </p:nvSpPr>
        <p:spPr>
          <a:xfrm>
            <a:off x="7434072" y="1874520"/>
            <a:ext cx="201168"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1</a:t>
            </a:r>
            <a:endParaRPr lang="en-US" sz="750" dirty="0"/>
          </a:p>
        </p:txBody>
      </p:sp>
      <p:sp>
        <p:nvSpPr>
          <p:cNvPr id="17" name="Text 15"/>
          <p:cNvSpPr txBox="1"/>
          <p:nvPr/>
        </p:nvSpPr>
        <p:spPr>
          <a:xfrm>
            <a:off x="7763256" y="1847088"/>
            <a:ext cx="3758184" cy="237744"/>
          </a:xfrm>
          <a:prstGeom prst="rect">
            <a:avLst/>
          </a:prstGeom>
          <a:noFill/>
          <a:ln/>
        </p:spPr>
        <p:txBody>
          <a:bodyPr wrap="square" lIns="0" tIns="0" rIns="0" bIns="0" rtlCol="0" anchor="ctr"/>
          <a:lstStyle/>
          <a:p>
            <a:pPr indent="0" marL="0">
              <a:buNone/>
            </a:pPr>
            <a:r>
              <a:rPr lang="en-US" sz="1050" b="1" dirty="0">
                <a:solidFill>
                  <a:srgbClr val="16161A"/>
                </a:solidFill>
                <a:latin typeface="Calibri" pitchFamily="34" charset="0"/>
                <a:ea typeface="Calibri" pitchFamily="34" charset="-122"/>
                <a:cs typeface="Calibri" pitchFamily="34" charset="-120"/>
              </a:rPr>
              <a:t>İnsanlar girer girmez sağa yönelir</a:t>
            </a:r>
            <a:endParaRPr lang="en-US" sz="1050" dirty="0"/>
          </a:p>
        </p:txBody>
      </p:sp>
      <p:sp>
        <p:nvSpPr>
          <p:cNvPr id="18" name="Text 16"/>
          <p:cNvSpPr txBox="1"/>
          <p:nvPr/>
        </p:nvSpPr>
        <p:spPr>
          <a:xfrm>
            <a:off x="7763256" y="2084832"/>
            <a:ext cx="3758184" cy="384048"/>
          </a:xfrm>
          <a:prstGeom prst="rect">
            <a:avLst/>
          </a:prstGeom>
          <a:noFill/>
          <a:ln/>
        </p:spPr>
        <p:txBody>
          <a:bodyPr wrap="square" lIns="0" tIns="0" rIns="0" bIns="0" rtlCol="0" anchor="ctr"/>
          <a:lstStyle/>
          <a:p>
            <a:pPr indent="0" marL="0">
              <a:lnSpc>
                <a:spcPts val="1200"/>
              </a:lnSpc>
              <a:buNone/>
            </a:pPr>
            <a:r>
              <a:rPr lang="en-US" sz="1000" dirty="0">
                <a:solidFill>
                  <a:srgbClr val="7A7A82"/>
                </a:solidFill>
                <a:latin typeface="Calibri" pitchFamily="34" charset="0"/>
                <a:ea typeface="Calibri" pitchFamily="34" charset="-122"/>
                <a:cs typeface="Calibri" pitchFamily="34" charset="-120"/>
              </a:rPr>
              <a:t>Bu bir eğilimdir, kural değil — ama tasarımın başlangıç noktasıdır</a:t>
            </a:r>
            <a:endParaRPr lang="en-US" sz="1000" dirty="0"/>
          </a:p>
        </p:txBody>
      </p:sp>
      <p:sp>
        <p:nvSpPr>
          <p:cNvPr id="19" name="Shape 17"/>
          <p:cNvSpPr/>
          <p:nvPr/>
        </p:nvSpPr>
        <p:spPr>
          <a:xfrm>
            <a:off x="7434072" y="2551176"/>
            <a:ext cx="201168" cy="201168"/>
          </a:xfrm>
          <a:prstGeom prst="ellipse">
            <a:avLst/>
          </a:prstGeom>
          <a:solidFill>
            <a:srgbClr val="8C3A2B"/>
          </a:solidFill>
          <a:ln w="12700">
            <a:solidFill>
              <a:srgbClr val="8C3A2B"/>
            </a:solidFill>
            <a:prstDash val="solid"/>
          </a:ln>
        </p:spPr>
      </p:sp>
      <p:sp>
        <p:nvSpPr>
          <p:cNvPr id="20" name="Text 18"/>
          <p:cNvSpPr txBox="1"/>
          <p:nvPr/>
        </p:nvSpPr>
        <p:spPr>
          <a:xfrm>
            <a:off x="7434072" y="2551176"/>
            <a:ext cx="201168"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2</a:t>
            </a:r>
            <a:endParaRPr lang="en-US" sz="750" dirty="0"/>
          </a:p>
        </p:txBody>
      </p:sp>
      <p:sp>
        <p:nvSpPr>
          <p:cNvPr id="21" name="Text 19"/>
          <p:cNvSpPr txBox="1"/>
          <p:nvPr/>
        </p:nvSpPr>
        <p:spPr>
          <a:xfrm>
            <a:off x="7763256" y="2523744"/>
            <a:ext cx="3758184" cy="237744"/>
          </a:xfrm>
          <a:prstGeom prst="rect">
            <a:avLst/>
          </a:prstGeom>
          <a:noFill/>
          <a:ln/>
        </p:spPr>
        <p:txBody>
          <a:bodyPr wrap="square" lIns="0" tIns="0" rIns="0" bIns="0" rtlCol="0" anchor="ctr"/>
          <a:lstStyle/>
          <a:p>
            <a:pPr indent="0" marL="0">
              <a:buNone/>
            </a:pPr>
            <a:r>
              <a:rPr lang="en-US" sz="1050" b="1" dirty="0">
                <a:solidFill>
                  <a:srgbClr val="16161A"/>
                </a:solidFill>
                <a:latin typeface="Calibri" pitchFamily="34" charset="0"/>
                <a:ea typeface="Calibri" pitchFamily="34" charset="-122"/>
                <a:cs typeface="Calibri" pitchFamily="34" charset="-120"/>
              </a:rPr>
              <a:t>Sağdaki ilk büyük yüzey: güç duvarı</a:t>
            </a:r>
            <a:endParaRPr lang="en-US" sz="1050" dirty="0"/>
          </a:p>
        </p:txBody>
      </p:sp>
      <p:sp>
        <p:nvSpPr>
          <p:cNvPr id="22" name="Text 20"/>
          <p:cNvSpPr txBox="1"/>
          <p:nvPr/>
        </p:nvSpPr>
        <p:spPr>
          <a:xfrm>
            <a:off x="7763256" y="2761488"/>
            <a:ext cx="3758184" cy="384048"/>
          </a:xfrm>
          <a:prstGeom prst="rect">
            <a:avLst/>
          </a:prstGeom>
          <a:noFill/>
          <a:ln/>
        </p:spPr>
        <p:txBody>
          <a:bodyPr wrap="square" lIns="0" tIns="0" rIns="0" bIns="0" rtlCol="0" anchor="ctr"/>
          <a:lstStyle/>
          <a:p>
            <a:pPr indent="0" marL="0">
              <a:lnSpc>
                <a:spcPts val="1200"/>
              </a:lnSpc>
              <a:buNone/>
            </a:pPr>
            <a:r>
              <a:rPr lang="en-US" sz="1000" dirty="0">
                <a:solidFill>
                  <a:srgbClr val="7A7A82"/>
                </a:solidFill>
                <a:latin typeface="Calibri" pitchFamily="34" charset="0"/>
                <a:ea typeface="Calibri" pitchFamily="34" charset="-122"/>
                <a:cs typeface="Calibri" pitchFamily="34" charset="-120"/>
              </a:rPr>
              <a:t>Markanın kendini tek bakışta anlatma fırsatı; en güçlü ürün buraya</a:t>
            </a:r>
            <a:endParaRPr lang="en-US" sz="1000" dirty="0"/>
          </a:p>
        </p:txBody>
      </p:sp>
      <p:sp>
        <p:nvSpPr>
          <p:cNvPr id="23" name="Shape 21"/>
          <p:cNvSpPr/>
          <p:nvPr/>
        </p:nvSpPr>
        <p:spPr>
          <a:xfrm>
            <a:off x="7434072" y="3227832"/>
            <a:ext cx="201168" cy="201168"/>
          </a:xfrm>
          <a:prstGeom prst="ellipse">
            <a:avLst/>
          </a:prstGeom>
          <a:solidFill>
            <a:srgbClr val="8C3A2B"/>
          </a:solidFill>
          <a:ln w="12700">
            <a:solidFill>
              <a:srgbClr val="8C3A2B"/>
            </a:solidFill>
            <a:prstDash val="solid"/>
          </a:ln>
        </p:spPr>
      </p:sp>
      <p:sp>
        <p:nvSpPr>
          <p:cNvPr id="24" name="Text 22"/>
          <p:cNvSpPr txBox="1"/>
          <p:nvPr/>
        </p:nvSpPr>
        <p:spPr>
          <a:xfrm>
            <a:off x="7434072" y="3227832"/>
            <a:ext cx="201168"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3</a:t>
            </a:r>
            <a:endParaRPr lang="en-US" sz="750" dirty="0"/>
          </a:p>
        </p:txBody>
      </p:sp>
      <p:sp>
        <p:nvSpPr>
          <p:cNvPr id="25" name="Text 23"/>
          <p:cNvSpPr txBox="1"/>
          <p:nvPr/>
        </p:nvSpPr>
        <p:spPr>
          <a:xfrm>
            <a:off x="7763256" y="3200400"/>
            <a:ext cx="3758184" cy="237744"/>
          </a:xfrm>
          <a:prstGeom prst="rect">
            <a:avLst/>
          </a:prstGeom>
          <a:noFill/>
          <a:ln/>
        </p:spPr>
        <p:txBody>
          <a:bodyPr wrap="square" lIns="0" tIns="0" rIns="0" bIns="0" rtlCol="0" anchor="ctr"/>
          <a:lstStyle/>
          <a:p>
            <a:pPr indent="0" marL="0">
              <a:buNone/>
            </a:pPr>
            <a:r>
              <a:rPr lang="en-US" sz="1050" b="1" dirty="0">
                <a:solidFill>
                  <a:srgbClr val="16161A"/>
                </a:solidFill>
                <a:latin typeface="Calibri" pitchFamily="34" charset="0"/>
                <a:ea typeface="Calibri" pitchFamily="34" charset="-122"/>
                <a:cs typeface="Calibri" pitchFamily="34" charset="-120"/>
              </a:rPr>
              <a:t>Girişten mekânın derinliği okunmalı</a:t>
            </a:r>
            <a:endParaRPr lang="en-US" sz="1050" dirty="0"/>
          </a:p>
        </p:txBody>
      </p:sp>
      <p:sp>
        <p:nvSpPr>
          <p:cNvPr id="26" name="Text 24"/>
          <p:cNvSpPr txBox="1"/>
          <p:nvPr/>
        </p:nvSpPr>
        <p:spPr>
          <a:xfrm>
            <a:off x="7763256" y="3438144"/>
            <a:ext cx="3758184" cy="384048"/>
          </a:xfrm>
          <a:prstGeom prst="rect">
            <a:avLst/>
          </a:prstGeom>
          <a:noFill/>
          <a:ln/>
        </p:spPr>
        <p:txBody>
          <a:bodyPr wrap="square" lIns="0" tIns="0" rIns="0" bIns="0" rtlCol="0" anchor="ctr"/>
          <a:lstStyle/>
          <a:p>
            <a:pPr indent="0" marL="0">
              <a:lnSpc>
                <a:spcPts val="1200"/>
              </a:lnSpc>
              <a:buNone/>
            </a:pPr>
            <a:r>
              <a:rPr lang="en-US" sz="1000" dirty="0">
                <a:solidFill>
                  <a:srgbClr val="7A7A82"/>
                </a:solidFill>
                <a:latin typeface="Calibri" pitchFamily="34" charset="0"/>
                <a:ea typeface="Calibri" pitchFamily="34" charset="-122"/>
                <a:cs typeface="Calibri" pitchFamily="34" charset="-120"/>
              </a:rPr>
              <a:t>Görüş hattı kapalıysa insan içeri girmekte tereddüt eder</a:t>
            </a:r>
            <a:endParaRPr lang="en-US" sz="1000" dirty="0"/>
          </a:p>
        </p:txBody>
      </p:sp>
      <p:sp>
        <p:nvSpPr>
          <p:cNvPr id="27" name="Shape 25"/>
          <p:cNvSpPr/>
          <p:nvPr/>
        </p:nvSpPr>
        <p:spPr>
          <a:xfrm>
            <a:off x="7434072" y="3904488"/>
            <a:ext cx="201168" cy="201168"/>
          </a:xfrm>
          <a:prstGeom prst="ellipse">
            <a:avLst/>
          </a:prstGeom>
          <a:solidFill>
            <a:srgbClr val="8C3A2B"/>
          </a:solidFill>
          <a:ln w="12700">
            <a:solidFill>
              <a:srgbClr val="8C3A2B"/>
            </a:solidFill>
            <a:prstDash val="solid"/>
          </a:ln>
        </p:spPr>
      </p:sp>
      <p:sp>
        <p:nvSpPr>
          <p:cNvPr id="28" name="Text 26"/>
          <p:cNvSpPr txBox="1"/>
          <p:nvPr/>
        </p:nvSpPr>
        <p:spPr>
          <a:xfrm>
            <a:off x="7434072" y="3904488"/>
            <a:ext cx="201168"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4</a:t>
            </a:r>
            <a:endParaRPr lang="en-US" sz="750" dirty="0"/>
          </a:p>
        </p:txBody>
      </p:sp>
      <p:sp>
        <p:nvSpPr>
          <p:cNvPr id="29" name="Text 27"/>
          <p:cNvSpPr txBox="1"/>
          <p:nvPr/>
        </p:nvSpPr>
        <p:spPr>
          <a:xfrm>
            <a:off x="7763256" y="3877056"/>
            <a:ext cx="3758184" cy="237744"/>
          </a:xfrm>
          <a:prstGeom prst="rect">
            <a:avLst/>
          </a:prstGeom>
          <a:noFill/>
          <a:ln/>
        </p:spPr>
        <p:txBody>
          <a:bodyPr wrap="square" lIns="0" tIns="0" rIns="0" bIns="0" rtlCol="0" anchor="ctr"/>
          <a:lstStyle/>
          <a:p>
            <a:pPr indent="0" marL="0">
              <a:buNone/>
            </a:pPr>
            <a:r>
              <a:rPr lang="en-US" sz="1050" b="1" dirty="0">
                <a:solidFill>
                  <a:srgbClr val="16161A"/>
                </a:solidFill>
                <a:latin typeface="Calibri" pitchFamily="34" charset="0"/>
                <a:ea typeface="Calibri" pitchFamily="34" charset="-122"/>
                <a:cs typeface="Calibri" pitchFamily="34" charset="-120"/>
              </a:rPr>
              <a:t>Göz hizası bandı en çok dikkat çeker</a:t>
            </a:r>
            <a:endParaRPr lang="en-US" sz="1050" dirty="0"/>
          </a:p>
        </p:txBody>
      </p:sp>
      <p:sp>
        <p:nvSpPr>
          <p:cNvPr id="30" name="Text 28"/>
          <p:cNvSpPr txBox="1"/>
          <p:nvPr/>
        </p:nvSpPr>
        <p:spPr>
          <a:xfrm>
            <a:off x="7763256" y="4114800"/>
            <a:ext cx="3758184" cy="384048"/>
          </a:xfrm>
          <a:prstGeom prst="rect">
            <a:avLst/>
          </a:prstGeom>
          <a:noFill/>
          <a:ln/>
        </p:spPr>
        <p:txBody>
          <a:bodyPr wrap="square" lIns="0" tIns="0" rIns="0" bIns="0" rtlCol="0" anchor="ctr"/>
          <a:lstStyle/>
          <a:p>
            <a:pPr indent="0" marL="0">
              <a:lnSpc>
                <a:spcPts val="1200"/>
              </a:lnSpc>
              <a:buNone/>
            </a:pPr>
            <a:r>
              <a:rPr lang="en-US" sz="1000" dirty="0">
                <a:solidFill>
                  <a:srgbClr val="7A7A82"/>
                </a:solidFill>
                <a:latin typeface="Calibri" pitchFamily="34" charset="0"/>
                <a:ea typeface="Calibri" pitchFamily="34" charset="-122"/>
                <a:cs typeface="Calibri" pitchFamily="34" charset="-120"/>
              </a:rPr>
              <a:t>Yaklaşık 120–150 cm; bu bandın üstü işaret, altı stok içindir</a:t>
            </a:r>
            <a:endParaRPr lang="en-US" sz="1000" dirty="0"/>
          </a:p>
        </p:txBody>
      </p:sp>
      <p:sp>
        <p:nvSpPr>
          <p:cNvPr id="31" name="Text 29"/>
          <p:cNvSpPr txBox="1"/>
          <p:nvPr/>
        </p:nvSpPr>
        <p:spPr>
          <a:xfrm>
            <a:off x="1005840" y="5596128"/>
            <a:ext cx="5943600" cy="274320"/>
          </a:xfrm>
          <a:prstGeom prst="rect">
            <a:avLst/>
          </a:prstGeom>
          <a:noFill/>
          <a:ln/>
        </p:spPr>
        <p:txBody>
          <a:bodyPr wrap="square" lIns="0" tIns="0" rIns="0" bIns="0" rtlCol="0" anchor="ctr"/>
          <a:lstStyle/>
          <a:p>
            <a:pPr algn="ctr" indent="0" marL="0">
              <a:lnSpc>
                <a:spcPts val="1200"/>
              </a:lnSpc>
              <a:buNone/>
            </a:pPr>
            <a:r>
              <a:rPr lang="en-US" sz="900" dirty="0">
                <a:solidFill>
                  <a:srgbClr val="7A7A82"/>
                </a:solidFill>
                <a:latin typeface="Calibri" pitchFamily="34" charset="0"/>
                <a:ea typeface="Calibri" pitchFamily="34" charset="-122"/>
                <a:cs typeface="Calibri" pitchFamily="34" charset="-120"/>
              </a:rPr>
              <a:t>giriş</a:t>
            </a:r>
            <a:endParaRPr lang="en-US" sz="900" dirty="0"/>
          </a:p>
        </p:txBody>
      </p:sp>
      <p:sp>
        <p:nvSpPr>
          <p:cNvPr id="32" name="Text 30"/>
          <p:cNvSpPr txBox="1"/>
          <p:nvPr/>
        </p:nvSpPr>
        <p:spPr>
          <a:xfrm>
            <a:off x="777240" y="5742432"/>
            <a:ext cx="10424160" cy="548640"/>
          </a:xfrm>
          <a:prstGeom prst="rect">
            <a:avLst/>
          </a:prstGeom>
          <a:noFill/>
          <a:ln/>
        </p:spPr>
        <p:txBody>
          <a:bodyPr wrap="square" lIns="0" tIns="0" rIns="0" bIns="0" rtlCol="0" anchor="ctr"/>
          <a:lstStyle/>
          <a:p>
            <a:pPr indent="0" marL="0">
              <a:lnSpc>
                <a:spcPts val="2300"/>
              </a:lnSpc>
              <a:buNone/>
            </a:pPr>
            <a:r>
              <a:rPr lang="en-US" sz="1300" dirty="0">
                <a:solidFill>
                  <a:srgbClr val="2B2B31"/>
                </a:solidFill>
                <a:latin typeface="Cambria" pitchFamily="34" charset="0"/>
                <a:ea typeface="Cambria" pitchFamily="34" charset="-122"/>
                <a:cs typeface="Cambria" pitchFamily="34" charset="-120"/>
              </a:rPr>
              <a:t>Bu örüntüler perakende gözlem araştırmalarından gelir (Underhill, 2008). Kesin kural değil, eğilimdir — ama plan kararlarının çıkış noktası olarak kullanılırlar.</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CFCFA"/>
        </a:solidFill>
      </p:bgPr>
    </p:bg>
    <p:spTree>
      <p:nvGrpSpPr>
        <p:cNvPr id="1" name=""/>
        <p:cNvGrpSpPr/>
        <p:nvPr/>
      </p:nvGrpSpPr>
      <p:grpSpPr>
        <a:xfrm>
          <a:off x="0" y="0"/>
          <a:ext cx="0" cy="0"/>
          <a:chOff x="0" y="0"/>
          <a:chExt cx="0" cy="0"/>
        </a:xfrm>
      </p:grpSpPr>
      <p:sp>
        <p:nvSpPr>
          <p:cNvPr id="2" name="Text 0"/>
          <p:cNvSpPr txBox="1"/>
          <p:nvPr/>
        </p:nvSpPr>
        <p:spPr>
          <a:xfrm>
            <a:off x="777240" y="475488"/>
            <a:ext cx="9601200" cy="237744"/>
          </a:xfrm>
          <a:prstGeom prst="rect">
            <a:avLst/>
          </a:prstGeom>
          <a:noFill/>
          <a:ln/>
        </p:spPr>
        <p:txBody>
          <a:bodyPr wrap="square" lIns="0" tIns="0" rIns="0" bIns="0" rtlCol="0" anchor="ctr"/>
          <a:lstStyle/>
          <a:p>
            <a:pPr indent="0" marL="0">
              <a:buNone/>
            </a:pPr>
            <a:r>
              <a:rPr lang="en-US" sz="950" b="1" spc="260" kern="0" dirty="0">
                <a:solidFill>
                  <a:srgbClr val="7A7A82"/>
                </a:solidFill>
                <a:latin typeface="Calibri" pitchFamily="34" charset="0"/>
                <a:ea typeface="Calibri" pitchFamily="34" charset="-122"/>
                <a:cs typeface="Calibri" pitchFamily="34" charset="-120"/>
              </a:rPr>
              <a:t>VI · AKIŞ VE YÖNLENDİRME</a:t>
            </a:r>
            <a:endParaRPr lang="en-US" sz="950" dirty="0"/>
          </a:p>
        </p:txBody>
      </p:sp>
      <p:sp>
        <p:nvSpPr>
          <p:cNvPr id="3" name="Text 1"/>
          <p:cNvSpPr txBox="1"/>
          <p:nvPr/>
        </p:nvSpPr>
        <p:spPr>
          <a:xfrm>
            <a:off x="777240" y="822960"/>
            <a:ext cx="10424160" cy="731520"/>
          </a:xfrm>
          <a:prstGeom prst="rect">
            <a:avLst/>
          </a:prstGeom>
          <a:noFill/>
          <a:ln/>
        </p:spPr>
        <p:txBody>
          <a:bodyPr wrap="square" lIns="0" tIns="0" rIns="0" bIns="0" rtlCol="0" anchor="ctr"/>
          <a:lstStyle/>
          <a:p>
            <a:pPr indent="0" marL="0">
              <a:lnSpc>
                <a:spcPts val="3400"/>
              </a:lnSpc>
              <a:buNone/>
            </a:pPr>
            <a:r>
              <a:rPr lang="en-US" sz="2900" b="1" dirty="0">
                <a:solidFill>
                  <a:srgbClr val="16161A"/>
                </a:solidFill>
                <a:latin typeface="Cambria" pitchFamily="34" charset="0"/>
                <a:ea typeface="Cambria" pitchFamily="34" charset="-122"/>
                <a:cs typeface="Cambria" pitchFamily="34" charset="-120"/>
              </a:rPr>
              <a:t>Yönlendirmenin iki katmanı</a:t>
            </a:r>
            <a:endParaRPr lang="en-US" sz="2900" dirty="0"/>
          </a:p>
        </p:txBody>
      </p:sp>
      <p:sp>
        <p:nvSpPr>
          <p:cNvPr id="4" name="Text 2"/>
          <p:cNvSpPr txBox="1"/>
          <p:nvPr/>
        </p:nvSpPr>
        <p:spPr>
          <a:xfrm>
            <a:off x="10972800" y="6355080"/>
            <a:ext cx="438912" cy="237744"/>
          </a:xfrm>
          <a:prstGeom prst="rect">
            <a:avLst/>
          </a:prstGeom>
          <a:noFill/>
          <a:ln/>
        </p:spPr>
        <p:txBody>
          <a:bodyPr wrap="square" lIns="0" tIns="0" rIns="0" bIns="0" rtlCol="0" anchor="ctr"/>
          <a:lstStyle/>
          <a:p>
            <a:pPr algn="r" indent="0" marL="0">
              <a:buNone/>
            </a:pPr>
            <a:r>
              <a:rPr lang="en-US" sz="950" dirty="0">
                <a:solidFill>
                  <a:srgbClr val="A6A6AC"/>
                </a:solidFill>
                <a:latin typeface="Calibri" pitchFamily="34" charset="0"/>
                <a:ea typeface="Calibri" pitchFamily="34" charset="-122"/>
                <a:cs typeface="Calibri" pitchFamily="34" charset="-120"/>
              </a:rPr>
              <a:t>28</a:t>
            </a:r>
            <a:endParaRPr lang="en-US" sz="950" dirty="0"/>
          </a:p>
        </p:txBody>
      </p:sp>
      <p:sp>
        <p:nvSpPr>
          <p:cNvPr id="5" name="Text 3"/>
          <p:cNvSpPr txBox="1"/>
          <p:nvPr/>
        </p:nvSpPr>
        <p:spPr>
          <a:xfrm>
            <a:off x="777240" y="2011680"/>
            <a:ext cx="457200" cy="457200"/>
          </a:xfrm>
          <a:prstGeom prst="rect">
            <a:avLst/>
          </a:prstGeom>
          <a:noFill/>
          <a:ln/>
        </p:spPr>
        <p:txBody>
          <a:bodyPr wrap="square" lIns="0" tIns="0" rIns="0" bIns="0" rtlCol="0" anchor="ctr"/>
          <a:lstStyle/>
          <a:p>
            <a:pPr indent="0" marL="0">
              <a:buNone/>
            </a:pPr>
            <a:r>
              <a:rPr lang="en-US" sz="3000" b="1" dirty="0">
                <a:solidFill>
                  <a:srgbClr val="8C3A2B"/>
                </a:solidFill>
                <a:latin typeface="Cambria" pitchFamily="34" charset="0"/>
                <a:ea typeface="Cambria" pitchFamily="34" charset="-122"/>
                <a:cs typeface="Cambria" pitchFamily="34" charset="-120"/>
              </a:rPr>
              <a:t>1</a:t>
            </a:r>
            <a:endParaRPr lang="en-US" sz="3000" dirty="0"/>
          </a:p>
        </p:txBody>
      </p:sp>
      <p:sp>
        <p:nvSpPr>
          <p:cNvPr id="6" name="Text 4"/>
          <p:cNvSpPr txBox="1"/>
          <p:nvPr/>
        </p:nvSpPr>
        <p:spPr>
          <a:xfrm>
            <a:off x="1280160" y="2084832"/>
            <a:ext cx="4206240" cy="310896"/>
          </a:xfrm>
          <a:prstGeom prst="rect">
            <a:avLst/>
          </a:prstGeom>
          <a:noFill/>
          <a:ln/>
        </p:spPr>
        <p:txBody>
          <a:bodyPr wrap="square" lIns="0" tIns="0" rIns="0" bIns="0" rtlCol="0" anchor="ctr"/>
          <a:lstStyle/>
          <a:p>
            <a:pPr indent="0" marL="0">
              <a:buNone/>
            </a:pPr>
            <a:r>
              <a:rPr lang="en-US" sz="1100" b="1" spc="140" kern="0" dirty="0">
                <a:solidFill>
                  <a:srgbClr val="16161A"/>
                </a:solidFill>
                <a:latin typeface="Calibri" pitchFamily="34" charset="0"/>
                <a:ea typeface="Calibri" pitchFamily="34" charset="-122"/>
                <a:cs typeface="Calibri" pitchFamily="34" charset="-120"/>
              </a:rPr>
              <a:t>MEKÂNSAL KATMAN</a:t>
            </a:r>
            <a:endParaRPr lang="en-US" sz="1100" dirty="0"/>
          </a:p>
        </p:txBody>
      </p:sp>
      <p:sp>
        <p:nvSpPr>
          <p:cNvPr id="7" name="Text 5"/>
          <p:cNvSpPr txBox="1"/>
          <p:nvPr/>
        </p:nvSpPr>
        <p:spPr>
          <a:xfrm>
            <a:off x="1280160" y="2395728"/>
            <a:ext cx="4480560" cy="365760"/>
          </a:xfrm>
          <a:prstGeom prst="rect">
            <a:avLst/>
          </a:prstGeom>
          <a:noFill/>
          <a:ln/>
        </p:spPr>
        <p:txBody>
          <a:bodyPr wrap="square" lIns="0" tIns="0" rIns="0" bIns="0" rtlCol="0" anchor="ctr"/>
          <a:lstStyle/>
          <a:p>
            <a:pPr indent="0" marL="0">
              <a:lnSpc>
                <a:spcPts val="1350"/>
              </a:lnSpc>
              <a:buNone/>
            </a:pPr>
            <a:r>
              <a:rPr lang="en-US" sz="1100" dirty="0">
                <a:solidFill>
                  <a:srgbClr val="7A7A82"/>
                </a:solidFill>
                <a:latin typeface="Calibri" pitchFamily="34" charset="0"/>
                <a:ea typeface="Calibri" pitchFamily="34" charset="-122"/>
                <a:cs typeface="Calibri" pitchFamily="34" charset="-120"/>
              </a:rPr>
              <a:t>Önce bu çalışır. İnsanı tabelaya ihtiyaç duymadan yönlendirir.</a:t>
            </a:r>
            <a:endParaRPr lang="en-US" sz="1100" dirty="0"/>
          </a:p>
        </p:txBody>
      </p:sp>
      <p:sp>
        <p:nvSpPr>
          <p:cNvPr id="8" name="Shape 6"/>
          <p:cNvSpPr/>
          <p:nvPr/>
        </p:nvSpPr>
        <p:spPr>
          <a:xfrm>
            <a:off x="841248" y="2971800"/>
            <a:ext cx="91440" cy="91440"/>
          </a:xfrm>
          <a:prstGeom prst="ellipse">
            <a:avLst/>
          </a:prstGeom>
          <a:solidFill>
            <a:srgbClr val="8C3A2B"/>
          </a:solidFill>
          <a:ln w="12700">
            <a:solidFill>
              <a:srgbClr val="8C3A2B"/>
            </a:solidFill>
            <a:prstDash val="solid"/>
          </a:ln>
        </p:spPr>
      </p:sp>
      <p:sp>
        <p:nvSpPr>
          <p:cNvPr id="9" name="Text 7"/>
          <p:cNvSpPr txBox="1"/>
          <p:nvPr/>
        </p:nvSpPr>
        <p:spPr>
          <a:xfrm>
            <a:off x="1143000" y="2907792"/>
            <a:ext cx="4572000" cy="274320"/>
          </a:xfrm>
          <a:prstGeom prst="rect">
            <a:avLst/>
          </a:prstGeom>
          <a:noFill/>
          <a:ln/>
        </p:spPr>
        <p:txBody>
          <a:bodyPr wrap="square" lIns="0" tIns="0" rIns="0" bIns="0" rtlCol="0" anchor="ctr"/>
          <a:lstStyle/>
          <a:p>
            <a:pPr algn="l" indent="0" marL="0">
              <a:lnSpc>
                <a:spcPts val="1200"/>
              </a:lnSpc>
              <a:buNone/>
            </a:pPr>
            <a:r>
              <a:rPr lang="en-US" sz="1150" dirty="0">
                <a:solidFill>
                  <a:srgbClr val="2B2B31"/>
                </a:solidFill>
                <a:latin typeface="Calibri" pitchFamily="34" charset="0"/>
                <a:ea typeface="Calibri" pitchFamily="34" charset="-122"/>
                <a:cs typeface="Calibri" pitchFamily="34" charset="-120"/>
              </a:rPr>
              <a:t>Görüş hatları ve açık perspektifler</a:t>
            </a:r>
            <a:endParaRPr lang="en-US" sz="1150" dirty="0"/>
          </a:p>
        </p:txBody>
      </p:sp>
      <p:sp>
        <p:nvSpPr>
          <p:cNvPr id="10" name="Shape 8"/>
          <p:cNvSpPr/>
          <p:nvPr/>
        </p:nvSpPr>
        <p:spPr>
          <a:xfrm>
            <a:off x="841248" y="3355848"/>
            <a:ext cx="91440" cy="91440"/>
          </a:xfrm>
          <a:prstGeom prst="ellipse">
            <a:avLst/>
          </a:prstGeom>
          <a:solidFill>
            <a:srgbClr val="8C3A2B"/>
          </a:solidFill>
          <a:ln w="12700">
            <a:solidFill>
              <a:srgbClr val="8C3A2B"/>
            </a:solidFill>
            <a:prstDash val="solid"/>
          </a:ln>
        </p:spPr>
      </p:sp>
      <p:sp>
        <p:nvSpPr>
          <p:cNvPr id="11" name="Text 9"/>
          <p:cNvSpPr txBox="1"/>
          <p:nvPr/>
        </p:nvSpPr>
        <p:spPr>
          <a:xfrm>
            <a:off x="1143000" y="3291840"/>
            <a:ext cx="4572000" cy="274320"/>
          </a:xfrm>
          <a:prstGeom prst="rect">
            <a:avLst/>
          </a:prstGeom>
          <a:noFill/>
          <a:ln/>
        </p:spPr>
        <p:txBody>
          <a:bodyPr wrap="square" lIns="0" tIns="0" rIns="0" bIns="0" rtlCol="0" anchor="ctr"/>
          <a:lstStyle/>
          <a:p>
            <a:pPr algn="l" indent="0" marL="0">
              <a:lnSpc>
                <a:spcPts val="1200"/>
              </a:lnSpc>
              <a:buNone/>
            </a:pPr>
            <a:r>
              <a:rPr lang="en-US" sz="1150" dirty="0">
                <a:solidFill>
                  <a:srgbClr val="2B2B31"/>
                </a:solidFill>
                <a:latin typeface="Calibri" pitchFamily="34" charset="0"/>
                <a:ea typeface="Calibri" pitchFamily="34" charset="-122"/>
                <a:cs typeface="Calibri" pitchFamily="34" charset="-120"/>
              </a:rPr>
              <a:t>Işık farkı — aydınlık nokta çeker</a:t>
            </a:r>
            <a:endParaRPr lang="en-US" sz="1150" dirty="0"/>
          </a:p>
        </p:txBody>
      </p:sp>
      <p:sp>
        <p:nvSpPr>
          <p:cNvPr id="12" name="Shape 10"/>
          <p:cNvSpPr/>
          <p:nvPr/>
        </p:nvSpPr>
        <p:spPr>
          <a:xfrm>
            <a:off x="841248" y="3739896"/>
            <a:ext cx="91440" cy="91440"/>
          </a:xfrm>
          <a:prstGeom prst="ellipse">
            <a:avLst/>
          </a:prstGeom>
          <a:solidFill>
            <a:srgbClr val="8C3A2B"/>
          </a:solidFill>
          <a:ln w="12700">
            <a:solidFill>
              <a:srgbClr val="8C3A2B"/>
            </a:solidFill>
            <a:prstDash val="solid"/>
          </a:ln>
        </p:spPr>
      </p:sp>
      <p:sp>
        <p:nvSpPr>
          <p:cNvPr id="13" name="Text 11"/>
          <p:cNvSpPr txBox="1"/>
          <p:nvPr/>
        </p:nvSpPr>
        <p:spPr>
          <a:xfrm>
            <a:off x="1143000" y="3675888"/>
            <a:ext cx="4572000" cy="274320"/>
          </a:xfrm>
          <a:prstGeom prst="rect">
            <a:avLst/>
          </a:prstGeom>
          <a:noFill/>
          <a:ln/>
        </p:spPr>
        <p:txBody>
          <a:bodyPr wrap="square" lIns="0" tIns="0" rIns="0" bIns="0" rtlCol="0" anchor="ctr"/>
          <a:lstStyle/>
          <a:p>
            <a:pPr algn="l" indent="0" marL="0">
              <a:lnSpc>
                <a:spcPts val="1200"/>
              </a:lnSpc>
              <a:buNone/>
            </a:pPr>
            <a:r>
              <a:rPr lang="en-US" sz="1150" dirty="0">
                <a:solidFill>
                  <a:srgbClr val="2B2B31"/>
                </a:solidFill>
                <a:latin typeface="Calibri" pitchFamily="34" charset="0"/>
                <a:ea typeface="Calibri" pitchFamily="34" charset="-122"/>
                <a:cs typeface="Calibri" pitchFamily="34" charset="-120"/>
              </a:rPr>
              <a:t>Tavan yüksekliğindeki değişim</a:t>
            </a:r>
            <a:endParaRPr lang="en-US" sz="1150" dirty="0"/>
          </a:p>
        </p:txBody>
      </p:sp>
      <p:sp>
        <p:nvSpPr>
          <p:cNvPr id="14" name="Shape 12"/>
          <p:cNvSpPr/>
          <p:nvPr/>
        </p:nvSpPr>
        <p:spPr>
          <a:xfrm>
            <a:off x="841248" y="4123944"/>
            <a:ext cx="91440" cy="91440"/>
          </a:xfrm>
          <a:prstGeom prst="ellipse">
            <a:avLst/>
          </a:prstGeom>
          <a:solidFill>
            <a:srgbClr val="8C3A2B"/>
          </a:solidFill>
          <a:ln w="12700">
            <a:solidFill>
              <a:srgbClr val="8C3A2B"/>
            </a:solidFill>
            <a:prstDash val="solid"/>
          </a:ln>
        </p:spPr>
      </p:sp>
      <p:sp>
        <p:nvSpPr>
          <p:cNvPr id="15" name="Text 13"/>
          <p:cNvSpPr txBox="1"/>
          <p:nvPr/>
        </p:nvSpPr>
        <p:spPr>
          <a:xfrm>
            <a:off x="1143000" y="4059936"/>
            <a:ext cx="4572000" cy="274320"/>
          </a:xfrm>
          <a:prstGeom prst="rect">
            <a:avLst/>
          </a:prstGeom>
          <a:noFill/>
          <a:ln/>
        </p:spPr>
        <p:txBody>
          <a:bodyPr wrap="square" lIns="0" tIns="0" rIns="0" bIns="0" rtlCol="0" anchor="ctr"/>
          <a:lstStyle/>
          <a:p>
            <a:pPr algn="l" indent="0" marL="0">
              <a:lnSpc>
                <a:spcPts val="1200"/>
              </a:lnSpc>
              <a:buNone/>
            </a:pPr>
            <a:r>
              <a:rPr lang="en-US" sz="1150" dirty="0">
                <a:solidFill>
                  <a:srgbClr val="2B2B31"/>
                </a:solidFill>
                <a:latin typeface="Calibri" pitchFamily="34" charset="0"/>
                <a:ea typeface="Calibri" pitchFamily="34" charset="-122"/>
                <a:cs typeface="Calibri" pitchFamily="34" charset="-120"/>
              </a:rPr>
              <a:t>Zemin malzemesi ve deseni</a:t>
            </a:r>
            <a:endParaRPr lang="en-US" sz="1150" dirty="0"/>
          </a:p>
        </p:txBody>
      </p:sp>
      <p:sp>
        <p:nvSpPr>
          <p:cNvPr id="16" name="Shape 14"/>
          <p:cNvSpPr/>
          <p:nvPr/>
        </p:nvSpPr>
        <p:spPr>
          <a:xfrm>
            <a:off x="841248" y="4507992"/>
            <a:ext cx="91440" cy="91440"/>
          </a:xfrm>
          <a:prstGeom prst="ellipse">
            <a:avLst/>
          </a:prstGeom>
          <a:solidFill>
            <a:srgbClr val="8C3A2B"/>
          </a:solidFill>
          <a:ln w="12700">
            <a:solidFill>
              <a:srgbClr val="8C3A2B"/>
            </a:solidFill>
            <a:prstDash val="solid"/>
          </a:ln>
        </p:spPr>
      </p:sp>
      <p:sp>
        <p:nvSpPr>
          <p:cNvPr id="17" name="Text 15"/>
          <p:cNvSpPr txBox="1"/>
          <p:nvPr/>
        </p:nvSpPr>
        <p:spPr>
          <a:xfrm>
            <a:off x="1143000" y="4443984"/>
            <a:ext cx="4572000" cy="274320"/>
          </a:xfrm>
          <a:prstGeom prst="rect">
            <a:avLst/>
          </a:prstGeom>
          <a:noFill/>
          <a:ln/>
        </p:spPr>
        <p:txBody>
          <a:bodyPr wrap="square" lIns="0" tIns="0" rIns="0" bIns="0" rtlCol="0" anchor="ctr"/>
          <a:lstStyle/>
          <a:p>
            <a:pPr algn="l" indent="0" marL="0">
              <a:lnSpc>
                <a:spcPts val="1200"/>
              </a:lnSpc>
              <a:buNone/>
            </a:pPr>
            <a:r>
              <a:rPr lang="en-US" sz="1150" dirty="0">
                <a:solidFill>
                  <a:srgbClr val="2B2B31"/>
                </a:solidFill>
                <a:latin typeface="Calibri" pitchFamily="34" charset="0"/>
                <a:ea typeface="Calibri" pitchFamily="34" charset="-122"/>
                <a:cs typeface="Calibri" pitchFamily="34" charset="-120"/>
              </a:rPr>
              <a:t>Koridor genişliği hiyerarşisi</a:t>
            </a:r>
            <a:endParaRPr lang="en-US" sz="1150" dirty="0"/>
          </a:p>
        </p:txBody>
      </p:sp>
      <p:sp>
        <p:nvSpPr>
          <p:cNvPr id="18" name="Shape 16"/>
          <p:cNvSpPr/>
          <p:nvPr/>
        </p:nvSpPr>
        <p:spPr>
          <a:xfrm>
            <a:off x="841248" y="4892040"/>
            <a:ext cx="91440" cy="91440"/>
          </a:xfrm>
          <a:prstGeom prst="ellipse">
            <a:avLst/>
          </a:prstGeom>
          <a:solidFill>
            <a:srgbClr val="8C3A2B"/>
          </a:solidFill>
          <a:ln w="12700">
            <a:solidFill>
              <a:srgbClr val="8C3A2B"/>
            </a:solidFill>
            <a:prstDash val="solid"/>
          </a:ln>
        </p:spPr>
      </p:sp>
      <p:sp>
        <p:nvSpPr>
          <p:cNvPr id="19" name="Text 17"/>
          <p:cNvSpPr txBox="1"/>
          <p:nvPr/>
        </p:nvSpPr>
        <p:spPr>
          <a:xfrm>
            <a:off x="1143000" y="4828032"/>
            <a:ext cx="4572000" cy="274320"/>
          </a:xfrm>
          <a:prstGeom prst="rect">
            <a:avLst/>
          </a:prstGeom>
          <a:noFill/>
          <a:ln/>
        </p:spPr>
        <p:txBody>
          <a:bodyPr wrap="square" lIns="0" tIns="0" rIns="0" bIns="0" rtlCol="0" anchor="ctr"/>
          <a:lstStyle/>
          <a:p>
            <a:pPr algn="l" indent="0" marL="0">
              <a:lnSpc>
                <a:spcPts val="1200"/>
              </a:lnSpc>
              <a:buNone/>
            </a:pPr>
            <a:r>
              <a:rPr lang="en-US" sz="1150" dirty="0">
                <a:solidFill>
                  <a:srgbClr val="2B2B31"/>
                </a:solidFill>
                <a:latin typeface="Calibri" pitchFamily="34" charset="0"/>
                <a:ea typeface="Calibri" pitchFamily="34" charset="-122"/>
                <a:cs typeface="Calibri" pitchFamily="34" charset="-120"/>
              </a:rPr>
              <a:t>Bir odak nesnesi ya da vista</a:t>
            </a:r>
            <a:endParaRPr lang="en-US" sz="1150" dirty="0"/>
          </a:p>
        </p:txBody>
      </p:sp>
      <p:sp>
        <p:nvSpPr>
          <p:cNvPr id="20" name="Text 18"/>
          <p:cNvSpPr txBox="1"/>
          <p:nvPr/>
        </p:nvSpPr>
        <p:spPr>
          <a:xfrm>
            <a:off x="6382512" y="2011680"/>
            <a:ext cx="457200" cy="457200"/>
          </a:xfrm>
          <a:prstGeom prst="rect">
            <a:avLst/>
          </a:prstGeom>
          <a:noFill/>
          <a:ln/>
        </p:spPr>
        <p:txBody>
          <a:bodyPr wrap="square" lIns="0" tIns="0" rIns="0" bIns="0" rtlCol="0" anchor="ctr"/>
          <a:lstStyle/>
          <a:p>
            <a:pPr indent="0" marL="0">
              <a:buNone/>
            </a:pPr>
            <a:r>
              <a:rPr lang="en-US" sz="3000" b="1" dirty="0">
                <a:solidFill>
                  <a:srgbClr val="7A7A82"/>
                </a:solidFill>
                <a:latin typeface="Cambria" pitchFamily="34" charset="0"/>
                <a:ea typeface="Cambria" pitchFamily="34" charset="-122"/>
                <a:cs typeface="Cambria" pitchFamily="34" charset="-120"/>
              </a:rPr>
              <a:t>2</a:t>
            </a:r>
            <a:endParaRPr lang="en-US" sz="3000" dirty="0"/>
          </a:p>
        </p:txBody>
      </p:sp>
      <p:sp>
        <p:nvSpPr>
          <p:cNvPr id="21" name="Text 19"/>
          <p:cNvSpPr txBox="1"/>
          <p:nvPr/>
        </p:nvSpPr>
        <p:spPr>
          <a:xfrm>
            <a:off x="6885432" y="2084832"/>
            <a:ext cx="4206240" cy="310896"/>
          </a:xfrm>
          <a:prstGeom prst="rect">
            <a:avLst/>
          </a:prstGeom>
          <a:noFill/>
          <a:ln/>
        </p:spPr>
        <p:txBody>
          <a:bodyPr wrap="square" lIns="0" tIns="0" rIns="0" bIns="0" rtlCol="0" anchor="ctr"/>
          <a:lstStyle/>
          <a:p>
            <a:pPr indent="0" marL="0">
              <a:buNone/>
            </a:pPr>
            <a:r>
              <a:rPr lang="en-US" sz="1100" b="1" spc="140" kern="0" dirty="0">
                <a:solidFill>
                  <a:srgbClr val="16161A"/>
                </a:solidFill>
                <a:latin typeface="Calibri" pitchFamily="34" charset="0"/>
                <a:ea typeface="Calibri" pitchFamily="34" charset="-122"/>
                <a:cs typeface="Calibri" pitchFamily="34" charset="-120"/>
              </a:rPr>
              <a:t>GRAFİK KATMAN</a:t>
            </a:r>
            <a:endParaRPr lang="en-US" sz="1100" dirty="0"/>
          </a:p>
        </p:txBody>
      </p:sp>
      <p:sp>
        <p:nvSpPr>
          <p:cNvPr id="22" name="Text 20"/>
          <p:cNvSpPr txBox="1"/>
          <p:nvPr/>
        </p:nvSpPr>
        <p:spPr>
          <a:xfrm>
            <a:off x="6885432" y="2395728"/>
            <a:ext cx="4480560" cy="365760"/>
          </a:xfrm>
          <a:prstGeom prst="rect">
            <a:avLst/>
          </a:prstGeom>
          <a:noFill/>
          <a:ln/>
        </p:spPr>
        <p:txBody>
          <a:bodyPr wrap="square" lIns="0" tIns="0" rIns="0" bIns="0" rtlCol="0" anchor="ctr"/>
          <a:lstStyle/>
          <a:p>
            <a:pPr indent="0" marL="0">
              <a:lnSpc>
                <a:spcPts val="1350"/>
              </a:lnSpc>
              <a:buNone/>
            </a:pPr>
            <a:r>
              <a:rPr lang="en-US" sz="1100" dirty="0">
                <a:solidFill>
                  <a:srgbClr val="7A7A82"/>
                </a:solidFill>
                <a:latin typeface="Calibri" pitchFamily="34" charset="0"/>
                <a:ea typeface="Calibri" pitchFamily="34" charset="-122"/>
                <a:cs typeface="Calibri" pitchFamily="34" charset="-120"/>
              </a:rPr>
              <a:t>Sonra gelir. Mekânsal katmanın yerini alamaz, onu tamamlar.</a:t>
            </a:r>
            <a:endParaRPr lang="en-US" sz="1100" dirty="0"/>
          </a:p>
        </p:txBody>
      </p:sp>
      <p:sp>
        <p:nvSpPr>
          <p:cNvPr id="23" name="Shape 21"/>
          <p:cNvSpPr/>
          <p:nvPr/>
        </p:nvSpPr>
        <p:spPr>
          <a:xfrm>
            <a:off x="6446520" y="2971800"/>
            <a:ext cx="91440" cy="91440"/>
          </a:xfrm>
          <a:prstGeom prst="ellipse">
            <a:avLst/>
          </a:prstGeom>
          <a:solidFill>
            <a:srgbClr val="7A7A82"/>
          </a:solidFill>
          <a:ln w="12700">
            <a:solidFill>
              <a:srgbClr val="7A7A82"/>
            </a:solidFill>
            <a:prstDash val="solid"/>
          </a:ln>
        </p:spPr>
      </p:sp>
      <p:sp>
        <p:nvSpPr>
          <p:cNvPr id="24" name="Text 22"/>
          <p:cNvSpPr txBox="1"/>
          <p:nvPr/>
        </p:nvSpPr>
        <p:spPr>
          <a:xfrm>
            <a:off x="6748272" y="2907792"/>
            <a:ext cx="4572000" cy="274320"/>
          </a:xfrm>
          <a:prstGeom prst="rect">
            <a:avLst/>
          </a:prstGeom>
          <a:noFill/>
          <a:ln/>
        </p:spPr>
        <p:txBody>
          <a:bodyPr wrap="square" lIns="0" tIns="0" rIns="0" bIns="0" rtlCol="0" anchor="ctr"/>
          <a:lstStyle/>
          <a:p>
            <a:pPr algn="l" indent="0" marL="0">
              <a:lnSpc>
                <a:spcPts val="1200"/>
              </a:lnSpc>
              <a:buNone/>
            </a:pPr>
            <a:r>
              <a:rPr lang="en-US" sz="1150" dirty="0">
                <a:solidFill>
                  <a:srgbClr val="2B2B31"/>
                </a:solidFill>
                <a:latin typeface="Calibri" pitchFamily="34" charset="0"/>
                <a:ea typeface="Calibri" pitchFamily="34" charset="-122"/>
                <a:cs typeface="Calibri" pitchFamily="34" charset="-120"/>
              </a:rPr>
              <a:t>Bölüm ve kategori tabelaları</a:t>
            </a:r>
            <a:endParaRPr lang="en-US" sz="1150" dirty="0"/>
          </a:p>
        </p:txBody>
      </p:sp>
      <p:sp>
        <p:nvSpPr>
          <p:cNvPr id="25" name="Shape 23"/>
          <p:cNvSpPr/>
          <p:nvPr/>
        </p:nvSpPr>
        <p:spPr>
          <a:xfrm>
            <a:off x="6446520" y="3355848"/>
            <a:ext cx="91440" cy="91440"/>
          </a:xfrm>
          <a:prstGeom prst="ellipse">
            <a:avLst/>
          </a:prstGeom>
          <a:solidFill>
            <a:srgbClr val="7A7A82"/>
          </a:solidFill>
          <a:ln w="12700">
            <a:solidFill>
              <a:srgbClr val="7A7A82"/>
            </a:solidFill>
            <a:prstDash val="solid"/>
          </a:ln>
        </p:spPr>
      </p:sp>
      <p:sp>
        <p:nvSpPr>
          <p:cNvPr id="26" name="Text 24"/>
          <p:cNvSpPr txBox="1"/>
          <p:nvPr/>
        </p:nvSpPr>
        <p:spPr>
          <a:xfrm>
            <a:off x="6748272" y="3291840"/>
            <a:ext cx="4572000" cy="274320"/>
          </a:xfrm>
          <a:prstGeom prst="rect">
            <a:avLst/>
          </a:prstGeom>
          <a:noFill/>
          <a:ln/>
        </p:spPr>
        <p:txBody>
          <a:bodyPr wrap="square" lIns="0" tIns="0" rIns="0" bIns="0" rtlCol="0" anchor="ctr"/>
          <a:lstStyle/>
          <a:p>
            <a:pPr algn="l" indent="0" marL="0">
              <a:lnSpc>
                <a:spcPts val="1200"/>
              </a:lnSpc>
              <a:buNone/>
            </a:pPr>
            <a:r>
              <a:rPr lang="en-US" sz="1150" dirty="0">
                <a:solidFill>
                  <a:srgbClr val="2B2B31"/>
                </a:solidFill>
                <a:latin typeface="Calibri" pitchFamily="34" charset="0"/>
                <a:ea typeface="Calibri" pitchFamily="34" charset="-122"/>
                <a:cs typeface="Calibri" pitchFamily="34" charset="-120"/>
              </a:rPr>
              <a:t>Ürün etiketi ve fiyat bilgisi</a:t>
            </a:r>
            <a:endParaRPr lang="en-US" sz="1150" dirty="0"/>
          </a:p>
        </p:txBody>
      </p:sp>
      <p:sp>
        <p:nvSpPr>
          <p:cNvPr id="27" name="Shape 25"/>
          <p:cNvSpPr/>
          <p:nvPr/>
        </p:nvSpPr>
        <p:spPr>
          <a:xfrm>
            <a:off x="6446520" y="3739896"/>
            <a:ext cx="91440" cy="91440"/>
          </a:xfrm>
          <a:prstGeom prst="ellipse">
            <a:avLst/>
          </a:prstGeom>
          <a:solidFill>
            <a:srgbClr val="7A7A82"/>
          </a:solidFill>
          <a:ln w="12700">
            <a:solidFill>
              <a:srgbClr val="7A7A82"/>
            </a:solidFill>
            <a:prstDash val="solid"/>
          </a:ln>
        </p:spPr>
      </p:sp>
      <p:sp>
        <p:nvSpPr>
          <p:cNvPr id="28" name="Text 26"/>
          <p:cNvSpPr txBox="1"/>
          <p:nvPr/>
        </p:nvSpPr>
        <p:spPr>
          <a:xfrm>
            <a:off x="6748272" y="3675888"/>
            <a:ext cx="4572000" cy="274320"/>
          </a:xfrm>
          <a:prstGeom prst="rect">
            <a:avLst/>
          </a:prstGeom>
          <a:noFill/>
          <a:ln/>
        </p:spPr>
        <p:txBody>
          <a:bodyPr wrap="square" lIns="0" tIns="0" rIns="0" bIns="0" rtlCol="0" anchor="ctr"/>
          <a:lstStyle/>
          <a:p>
            <a:pPr algn="l" indent="0" marL="0">
              <a:lnSpc>
                <a:spcPts val="1200"/>
              </a:lnSpc>
              <a:buNone/>
            </a:pPr>
            <a:r>
              <a:rPr lang="en-US" sz="1150" dirty="0">
                <a:solidFill>
                  <a:srgbClr val="2B2B31"/>
                </a:solidFill>
                <a:latin typeface="Calibri" pitchFamily="34" charset="0"/>
                <a:ea typeface="Calibri" pitchFamily="34" charset="-122"/>
                <a:cs typeface="Calibri" pitchFamily="34" charset="-120"/>
              </a:rPr>
              <a:t>Yön işaretleri ve kat planı</a:t>
            </a:r>
            <a:endParaRPr lang="en-US" sz="1150" dirty="0"/>
          </a:p>
        </p:txBody>
      </p:sp>
      <p:sp>
        <p:nvSpPr>
          <p:cNvPr id="29" name="Shape 27"/>
          <p:cNvSpPr/>
          <p:nvPr/>
        </p:nvSpPr>
        <p:spPr>
          <a:xfrm>
            <a:off x="6446520" y="4123944"/>
            <a:ext cx="91440" cy="91440"/>
          </a:xfrm>
          <a:prstGeom prst="ellipse">
            <a:avLst/>
          </a:prstGeom>
          <a:solidFill>
            <a:srgbClr val="7A7A82"/>
          </a:solidFill>
          <a:ln w="12700">
            <a:solidFill>
              <a:srgbClr val="7A7A82"/>
            </a:solidFill>
            <a:prstDash val="solid"/>
          </a:ln>
        </p:spPr>
      </p:sp>
      <p:sp>
        <p:nvSpPr>
          <p:cNvPr id="30" name="Text 28"/>
          <p:cNvSpPr txBox="1"/>
          <p:nvPr/>
        </p:nvSpPr>
        <p:spPr>
          <a:xfrm>
            <a:off x="6748272" y="4059936"/>
            <a:ext cx="4572000" cy="274320"/>
          </a:xfrm>
          <a:prstGeom prst="rect">
            <a:avLst/>
          </a:prstGeom>
          <a:noFill/>
          <a:ln/>
        </p:spPr>
        <p:txBody>
          <a:bodyPr wrap="square" lIns="0" tIns="0" rIns="0" bIns="0" rtlCol="0" anchor="ctr"/>
          <a:lstStyle/>
          <a:p>
            <a:pPr algn="l" indent="0" marL="0">
              <a:lnSpc>
                <a:spcPts val="1200"/>
              </a:lnSpc>
              <a:buNone/>
            </a:pPr>
            <a:r>
              <a:rPr lang="en-US" sz="1150" dirty="0">
                <a:solidFill>
                  <a:srgbClr val="2B2B31"/>
                </a:solidFill>
                <a:latin typeface="Calibri" pitchFamily="34" charset="0"/>
                <a:ea typeface="Calibri" pitchFamily="34" charset="-122"/>
                <a:cs typeface="Calibri" pitchFamily="34" charset="-120"/>
              </a:rPr>
              <a:t>Kampanya ve bilgi panoları</a:t>
            </a:r>
            <a:endParaRPr lang="en-US" sz="1150" dirty="0"/>
          </a:p>
        </p:txBody>
      </p:sp>
      <p:sp>
        <p:nvSpPr>
          <p:cNvPr id="31" name="Shape 29"/>
          <p:cNvSpPr/>
          <p:nvPr/>
        </p:nvSpPr>
        <p:spPr>
          <a:xfrm>
            <a:off x="6446520" y="4507992"/>
            <a:ext cx="91440" cy="91440"/>
          </a:xfrm>
          <a:prstGeom prst="ellipse">
            <a:avLst/>
          </a:prstGeom>
          <a:solidFill>
            <a:srgbClr val="7A7A82"/>
          </a:solidFill>
          <a:ln w="12700">
            <a:solidFill>
              <a:srgbClr val="7A7A82"/>
            </a:solidFill>
            <a:prstDash val="solid"/>
          </a:ln>
        </p:spPr>
      </p:sp>
      <p:sp>
        <p:nvSpPr>
          <p:cNvPr id="32" name="Text 30"/>
          <p:cNvSpPr txBox="1"/>
          <p:nvPr/>
        </p:nvSpPr>
        <p:spPr>
          <a:xfrm>
            <a:off x="6748272" y="4443984"/>
            <a:ext cx="4572000" cy="274320"/>
          </a:xfrm>
          <a:prstGeom prst="rect">
            <a:avLst/>
          </a:prstGeom>
          <a:noFill/>
          <a:ln/>
        </p:spPr>
        <p:txBody>
          <a:bodyPr wrap="square" lIns="0" tIns="0" rIns="0" bIns="0" rtlCol="0" anchor="ctr"/>
          <a:lstStyle/>
          <a:p>
            <a:pPr algn="l" indent="0" marL="0">
              <a:lnSpc>
                <a:spcPts val="1200"/>
              </a:lnSpc>
              <a:buNone/>
            </a:pPr>
            <a:r>
              <a:rPr lang="en-US" sz="1150" dirty="0">
                <a:solidFill>
                  <a:srgbClr val="2B2B31"/>
                </a:solidFill>
                <a:latin typeface="Calibri" pitchFamily="34" charset="0"/>
                <a:ea typeface="Calibri" pitchFamily="34" charset="-122"/>
                <a:cs typeface="Calibri" pitchFamily="34" charset="-120"/>
              </a:rPr>
              <a:t>Piktogram ve renk kodlama</a:t>
            </a:r>
            <a:endParaRPr lang="en-US" sz="1150" dirty="0"/>
          </a:p>
        </p:txBody>
      </p:sp>
      <p:sp>
        <p:nvSpPr>
          <p:cNvPr id="33" name="Shape 31"/>
          <p:cNvSpPr/>
          <p:nvPr/>
        </p:nvSpPr>
        <p:spPr>
          <a:xfrm>
            <a:off x="6446520" y="4892040"/>
            <a:ext cx="91440" cy="91440"/>
          </a:xfrm>
          <a:prstGeom prst="ellipse">
            <a:avLst/>
          </a:prstGeom>
          <a:solidFill>
            <a:srgbClr val="7A7A82"/>
          </a:solidFill>
          <a:ln w="12700">
            <a:solidFill>
              <a:srgbClr val="7A7A82"/>
            </a:solidFill>
            <a:prstDash val="solid"/>
          </a:ln>
        </p:spPr>
      </p:sp>
      <p:sp>
        <p:nvSpPr>
          <p:cNvPr id="34" name="Text 32"/>
          <p:cNvSpPr txBox="1"/>
          <p:nvPr/>
        </p:nvSpPr>
        <p:spPr>
          <a:xfrm>
            <a:off x="6748272" y="4828032"/>
            <a:ext cx="4572000" cy="274320"/>
          </a:xfrm>
          <a:prstGeom prst="rect">
            <a:avLst/>
          </a:prstGeom>
          <a:noFill/>
          <a:ln/>
        </p:spPr>
        <p:txBody>
          <a:bodyPr wrap="square" lIns="0" tIns="0" rIns="0" bIns="0" rtlCol="0" anchor="ctr"/>
          <a:lstStyle/>
          <a:p>
            <a:pPr algn="l" indent="0" marL="0">
              <a:lnSpc>
                <a:spcPts val="1200"/>
              </a:lnSpc>
              <a:buNone/>
            </a:pPr>
            <a:r>
              <a:rPr lang="en-US" sz="1150" dirty="0">
                <a:solidFill>
                  <a:srgbClr val="2B2B31"/>
                </a:solidFill>
                <a:latin typeface="Calibri" pitchFamily="34" charset="0"/>
                <a:ea typeface="Calibri" pitchFamily="34" charset="-122"/>
                <a:cs typeface="Calibri" pitchFamily="34" charset="-120"/>
              </a:rPr>
              <a:t>Dokunsal harita ve kabartma yazı</a:t>
            </a:r>
            <a:endParaRPr lang="en-US" sz="1150" dirty="0"/>
          </a:p>
        </p:txBody>
      </p:sp>
      <p:sp>
        <p:nvSpPr>
          <p:cNvPr id="35" name="Text 33"/>
          <p:cNvSpPr txBox="1"/>
          <p:nvPr/>
        </p:nvSpPr>
        <p:spPr>
          <a:xfrm>
            <a:off x="777240" y="5394960"/>
            <a:ext cx="10424160" cy="457200"/>
          </a:xfrm>
          <a:prstGeom prst="rect">
            <a:avLst/>
          </a:prstGeom>
          <a:noFill/>
          <a:ln/>
        </p:spPr>
        <p:txBody>
          <a:bodyPr wrap="square" lIns="0" tIns="0" rIns="0" bIns="0" rtlCol="0" anchor="ctr"/>
          <a:lstStyle/>
          <a:p>
            <a:pPr algn="l" indent="0" marL="0">
              <a:lnSpc>
                <a:spcPts val="1200"/>
              </a:lnSpc>
              <a:buNone/>
            </a:pPr>
            <a:r>
              <a:rPr lang="en-US" sz="1400" i="1" dirty="0">
                <a:solidFill>
                  <a:srgbClr val="8C3A2B"/>
                </a:solidFill>
                <a:latin typeface="Cambria" pitchFamily="34" charset="0"/>
                <a:ea typeface="Cambria" pitchFamily="34" charset="-122"/>
                <a:cs typeface="Cambria" pitchFamily="34" charset="-120"/>
              </a:rPr>
              <a:t>İyi bir mağaza tabelayla değil kurguyla yönlendirir. Tabela, kurgunun çözemediğini kapatmak için değil, onu netleştirmek için vardır.</a:t>
            </a:r>
            <a:endParaRPr lang="en-US" sz="1400" dirty="0"/>
          </a:p>
        </p:txBody>
      </p:sp>
      <p:sp>
        <p:nvSpPr>
          <p:cNvPr id="36" name="Text 34"/>
          <p:cNvSpPr txBox="1"/>
          <p:nvPr/>
        </p:nvSpPr>
        <p:spPr>
          <a:xfrm>
            <a:off x="777240" y="5943600"/>
            <a:ext cx="10424160" cy="365760"/>
          </a:xfrm>
          <a:prstGeom prst="rect">
            <a:avLst/>
          </a:prstGeom>
          <a:noFill/>
          <a:ln/>
        </p:spPr>
        <p:txBody>
          <a:bodyPr wrap="square" lIns="0" tIns="0" rIns="0" bIns="0" rtlCol="0" anchor="ctr"/>
          <a:lstStyle/>
          <a:p>
            <a:pPr algn="l" indent="0" marL="0">
              <a:lnSpc>
                <a:spcPts val="1200"/>
              </a:lnSpc>
              <a:buNone/>
            </a:pPr>
            <a:r>
              <a:rPr lang="en-US" sz="1100" dirty="0">
                <a:solidFill>
                  <a:srgbClr val="7A7A82"/>
                </a:solidFill>
                <a:latin typeface="Calibri" pitchFamily="34" charset="0"/>
                <a:ea typeface="Calibri" pitchFamily="34" charset="-122"/>
                <a:cs typeface="Calibri" pitchFamily="34" charset="-120"/>
              </a:rPr>
              <a:t>Türkiye'de 105 engelli kullanıcıyla yapılan bir araştırmada en sık tekrarlanan tek sorun, yönlendirme ve uyarı işaretlerinin yetersizliğidir (Akyazıcı &amp; Yaşar, 2026).</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CFCFA"/>
        </a:solidFill>
      </p:bgPr>
    </p:bg>
    <p:spTree>
      <p:nvGrpSpPr>
        <p:cNvPr id="1" name=""/>
        <p:cNvGrpSpPr/>
        <p:nvPr/>
      </p:nvGrpSpPr>
      <p:grpSpPr>
        <a:xfrm>
          <a:off x="0" y="0"/>
          <a:ext cx="0" cy="0"/>
          <a:chOff x="0" y="0"/>
          <a:chExt cx="0" cy="0"/>
        </a:xfrm>
      </p:grpSpPr>
      <p:sp>
        <p:nvSpPr>
          <p:cNvPr id="2" name="Text 0"/>
          <p:cNvSpPr txBox="1"/>
          <p:nvPr/>
        </p:nvSpPr>
        <p:spPr>
          <a:xfrm>
            <a:off x="777240" y="475488"/>
            <a:ext cx="9601200" cy="237744"/>
          </a:xfrm>
          <a:prstGeom prst="rect">
            <a:avLst/>
          </a:prstGeom>
          <a:noFill/>
          <a:ln/>
        </p:spPr>
        <p:txBody>
          <a:bodyPr wrap="square" lIns="0" tIns="0" rIns="0" bIns="0" rtlCol="0" anchor="ctr"/>
          <a:lstStyle/>
          <a:p>
            <a:pPr indent="0" marL="0">
              <a:buNone/>
            </a:pPr>
            <a:r>
              <a:rPr lang="en-US" sz="950" b="1" spc="260" kern="0" dirty="0">
                <a:solidFill>
                  <a:srgbClr val="7A7A82"/>
                </a:solidFill>
                <a:latin typeface="Calibri" pitchFamily="34" charset="0"/>
                <a:ea typeface="Calibri" pitchFamily="34" charset="-122"/>
                <a:cs typeface="Calibri" pitchFamily="34" charset="-120"/>
              </a:rPr>
              <a:t>VI · AKIŞ VE YÖNLENDİRME</a:t>
            </a:r>
            <a:endParaRPr lang="en-US" sz="950" dirty="0"/>
          </a:p>
        </p:txBody>
      </p:sp>
      <p:sp>
        <p:nvSpPr>
          <p:cNvPr id="3" name="Text 1"/>
          <p:cNvSpPr txBox="1"/>
          <p:nvPr/>
        </p:nvSpPr>
        <p:spPr>
          <a:xfrm>
            <a:off x="777240" y="822960"/>
            <a:ext cx="10424160" cy="731520"/>
          </a:xfrm>
          <a:prstGeom prst="rect">
            <a:avLst/>
          </a:prstGeom>
          <a:noFill/>
          <a:ln/>
        </p:spPr>
        <p:txBody>
          <a:bodyPr wrap="square" lIns="0" tIns="0" rIns="0" bIns="0" rtlCol="0" anchor="ctr"/>
          <a:lstStyle/>
          <a:p>
            <a:pPr indent="0" marL="0">
              <a:lnSpc>
                <a:spcPts val="3400"/>
              </a:lnSpc>
              <a:buNone/>
            </a:pPr>
            <a:r>
              <a:rPr lang="en-US" sz="2900" b="1" dirty="0">
                <a:solidFill>
                  <a:srgbClr val="16161A"/>
                </a:solidFill>
                <a:latin typeface="Cambria" pitchFamily="34" charset="0"/>
                <a:ea typeface="Cambria" pitchFamily="34" charset="-122"/>
                <a:cs typeface="Cambria" pitchFamily="34" charset="-120"/>
              </a:rPr>
              <a:t>Müşteri yolculuğu: yedi an, yedi tasarım sorusu</a:t>
            </a:r>
            <a:endParaRPr lang="en-US" sz="2900" dirty="0"/>
          </a:p>
        </p:txBody>
      </p:sp>
      <p:sp>
        <p:nvSpPr>
          <p:cNvPr id="4" name="Text 2"/>
          <p:cNvSpPr txBox="1"/>
          <p:nvPr/>
        </p:nvSpPr>
        <p:spPr>
          <a:xfrm>
            <a:off x="10972800" y="6355080"/>
            <a:ext cx="438912" cy="237744"/>
          </a:xfrm>
          <a:prstGeom prst="rect">
            <a:avLst/>
          </a:prstGeom>
          <a:noFill/>
          <a:ln/>
        </p:spPr>
        <p:txBody>
          <a:bodyPr wrap="square" lIns="0" tIns="0" rIns="0" bIns="0" rtlCol="0" anchor="ctr"/>
          <a:lstStyle/>
          <a:p>
            <a:pPr algn="r" indent="0" marL="0">
              <a:buNone/>
            </a:pPr>
            <a:r>
              <a:rPr lang="en-US" sz="950" dirty="0">
                <a:solidFill>
                  <a:srgbClr val="A6A6AC"/>
                </a:solidFill>
                <a:latin typeface="Calibri" pitchFamily="34" charset="0"/>
                <a:ea typeface="Calibri" pitchFamily="34" charset="-122"/>
                <a:cs typeface="Calibri" pitchFamily="34" charset="-120"/>
              </a:rPr>
              <a:t>29</a:t>
            </a:r>
            <a:endParaRPr lang="en-US" sz="950" dirty="0"/>
          </a:p>
        </p:txBody>
      </p:sp>
      <p:sp>
        <p:nvSpPr>
          <p:cNvPr id="5" name="Shape 3"/>
          <p:cNvSpPr/>
          <p:nvPr/>
        </p:nvSpPr>
        <p:spPr>
          <a:xfrm>
            <a:off x="868680" y="2286000"/>
            <a:ext cx="1323267" cy="566928"/>
          </a:xfrm>
          <a:prstGeom prst="rect">
            <a:avLst/>
          </a:prstGeom>
          <a:ln w="9525">
            <a:solidFill>
              <a:srgbClr val="C9C9CF"/>
            </a:solidFill>
            <a:prstDash val="solid"/>
          </a:ln>
        </p:spPr>
      </p:sp>
      <p:sp>
        <p:nvSpPr>
          <p:cNvPr id="6" name="Text 4"/>
          <p:cNvSpPr txBox="1"/>
          <p:nvPr/>
        </p:nvSpPr>
        <p:spPr>
          <a:xfrm>
            <a:off x="905256" y="2286000"/>
            <a:ext cx="1250115" cy="566928"/>
          </a:xfrm>
          <a:prstGeom prst="rect">
            <a:avLst/>
          </a:prstGeom>
          <a:noFill/>
          <a:ln/>
        </p:spPr>
        <p:txBody>
          <a:bodyPr wrap="square" lIns="0" tIns="0" rIns="0" bIns="0" rtlCol="0" anchor="ctr"/>
          <a:lstStyle/>
          <a:p>
            <a:pPr algn="ctr" indent="0" marL="0">
              <a:buNone/>
            </a:pPr>
            <a:r>
              <a:rPr lang="en-US" sz="950" b="1" spc="60" kern="0" dirty="0">
                <a:solidFill>
                  <a:srgbClr val="16161A"/>
                </a:solidFill>
                <a:latin typeface="Calibri" pitchFamily="34" charset="0"/>
                <a:ea typeface="Calibri" pitchFamily="34" charset="-122"/>
                <a:cs typeface="Calibri" pitchFamily="34" charset="-120"/>
              </a:rPr>
              <a:t>ÇEKİM</a:t>
            </a:r>
            <a:endParaRPr lang="en-US" sz="950" dirty="0"/>
          </a:p>
        </p:txBody>
      </p:sp>
      <p:sp>
        <p:nvSpPr>
          <p:cNvPr id="7" name="Text 5"/>
          <p:cNvSpPr txBox="1"/>
          <p:nvPr/>
        </p:nvSpPr>
        <p:spPr>
          <a:xfrm>
            <a:off x="868680" y="2962656"/>
            <a:ext cx="1323267" cy="640080"/>
          </a:xfrm>
          <a:prstGeom prst="rect">
            <a:avLst/>
          </a:prstGeom>
          <a:noFill/>
          <a:ln/>
        </p:spPr>
        <p:txBody>
          <a:bodyPr wrap="square" lIns="0" tIns="0" rIns="0" bIns="0" rtlCol="0" anchor="ctr"/>
          <a:lstStyle/>
          <a:p>
            <a:pPr algn="ctr" indent="0" marL="0">
              <a:lnSpc>
                <a:spcPts val="1200"/>
              </a:lnSpc>
              <a:buNone/>
            </a:pPr>
            <a:r>
              <a:rPr lang="en-US" sz="950" dirty="0">
                <a:solidFill>
                  <a:srgbClr val="7A7A82"/>
                </a:solidFill>
                <a:latin typeface="Calibri" pitchFamily="34" charset="0"/>
                <a:ea typeface="Calibri" pitchFamily="34" charset="-122"/>
                <a:cs typeface="Calibri" pitchFamily="34" charset="-120"/>
              </a:rPr>
              <a:t>Cepheden ne</a:t>
            </a:r>
            <a:endParaRPr lang="en-US" sz="950" dirty="0"/>
          </a:p>
          <a:p>
            <a:pPr algn="ctr" indent="0" marL="0">
              <a:lnSpc>
                <a:spcPts val="1200"/>
              </a:lnSpc>
              <a:buNone/>
            </a:pPr>
            <a:r>
              <a:rPr lang="en-US" sz="950" dirty="0">
                <a:solidFill>
                  <a:srgbClr val="7A7A82"/>
                </a:solidFill>
                <a:latin typeface="Calibri" pitchFamily="34" charset="0"/>
                <a:ea typeface="Calibri" pitchFamily="34" charset="-122"/>
                <a:cs typeface="Calibri" pitchFamily="34" charset="-120"/>
              </a:rPr>
              <a:t>görünüyor?</a:t>
            </a:r>
            <a:endParaRPr lang="en-US" sz="950" dirty="0"/>
          </a:p>
        </p:txBody>
      </p:sp>
      <p:sp>
        <p:nvSpPr>
          <p:cNvPr id="8" name="Shape 6"/>
          <p:cNvSpPr/>
          <p:nvPr/>
        </p:nvSpPr>
        <p:spPr>
          <a:xfrm>
            <a:off x="2219379" y="2569464"/>
            <a:ext cx="146304" cy="0"/>
          </a:xfrm>
          <a:prstGeom prst="line">
            <a:avLst/>
          </a:prstGeom>
          <a:noFill/>
          <a:ln w="13970">
            <a:solidFill>
              <a:srgbClr val="C9C9CF"/>
            </a:solidFill>
            <a:prstDash val="solid"/>
            <a:tailEnd type="triangle"/>
          </a:ln>
        </p:spPr>
      </p:sp>
      <p:sp>
        <p:nvSpPr>
          <p:cNvPr id="9" name="Shape 7"/>
          <p:cNvSpPr/>
          <p:nvPr/>
        </p:nvSpPr>
        <p:spPr>
          <a:xfrm>
            <a:off x="2393115" y="2286000"/>
            <a:ext cx="1323267" cy="566928"/>
          </a:xfrm>
          <a:prstGeom prst="rect">
            <a:avLst/>
          </a:prstGeom>
          <a:solidFill>
            <a:srgbClr val="F6EAE6"/>
          </a:solidFill>
          <a:ln w="15875">
            <a:solidFill>
              <a:srgbClr val="8C3A2B"/>
            </a:solidFill>
            <a:prstDash val="solid"/>
          </a:ln>
        </p:spPr>
      </p:sp>
      <p:sp>
        <p:nvSpPr>
          <p:cNvPr id="10" name="Text 8"/>
          <p:cNvSpPr txBox="1"/>
          <p:nvPr/>
        </p:nvSpPr>
        <p:spPr>
          <a:xfrm>
            <a:off x="2429691" y="2286000"/>
            <a:ext cx="1250115" cy="566928"/>
          </a:xfrm>
          <a:prstGeom prst="rect">
            <a:avLst/>
          </a:prstGeom>
          <a:noFill/>
          <a:ln/>
        </p:spPr>
        <p:txBody>
          <a:bodyPr wrap="square" lIns="0" tIns="0" rIns="0" bIns="0" rtlCol="0" anchor="ctr"/>
          <a:lstStyle/>
          <a:p>
            <a:pPr algn="ctr" indent="0" marL="0">
              <a:buNone/>
            </a:pPr>
            <a:r>
              <a:rPr lang="en-US" sz="950" b="1" spc="60" kern="0" dirty="0">
                <a:solidFill>
                  <a:srgbClr val="8C3A2B"/>
                </a:solidFill>
                <a:latin typeface="Calibri" pitchFamily="34" charset="0"/>
                <a:ea typeface="Calibri" pitchFamily="34" charset="-122"/>
                <a:cs typeface="Calibri" pitchFamily="34" charset="-120"/>
              </a:rPr>
              <a:t>EŞİK</a:t>
            </a:r>
            <a:endParaRPr lang="en-US" sz="950" dirty="0"/>
          </a:p>
        </p:txBody>
      </p:sp>
      <p:sp>
        <p:nvSpPr>
          <p:cNvPr id="11" name="Text 9"/>
          <p:cNvSpPr txBox="1"/>
          <p:nvPr/>
        </p:nvSpPr>
        <p:spPr>
          <a:xfrm>
            <a:off x="2393115" y="2962656"/>
            <a:ext cx="1323267" cy="640080"/>
          </a:xfrm>
          <a:prstGeom prst="rect">
            <a:avLst/>
          </a:prstGeom>
          <a:noFill/>
          <a:ln/>
        </p:spPr>
        <p:txBody>
          <a:bodyPr wrap="square" lIns="0" tIns="0" rIns="0" bIns="0" rtlCol="0" anchor="ctr"/>
          <a:lstStyle/>
          <a:p>
            <a:pPr algn="ctr" indent="0" marL="0">
              <a:lnSpc>
                <a:spcPts val="1200"/>
              </a:lnSpc>
              <a:buNone/>
            </a:pPr>
            <a:r>
              <a:rPr lang="en-US" sz="950" dirty="0">
                <a:solidFill>
                  <a:srgbClr val="7A7A82"/>
                </a:solidFill>
                <a:latin typeface="Calibri" pitchFamily="34" charset="0"/>
                <a:ea typeface="Calibri" pitchFamily="34" charset="-122"/>
                <a:cs typeface="Calibri" pitchFamily="34" charset="-120"/>
              </a:rPr>
              <a:t>Girerken ne</a:t>
            </a:r>
            <a:endParaRPr lang="en-US" sz="950" dirty="0"/>
          </a:p>
          <a:p>
            <a:pPr algn="ctr" indent="0" marL="0">
              <a:lnSpc>
                <a:spcPts val="1200"/>
              </a:lnSpc>
              <a:buNone/>
            </a:pPr>
            <a:r>
              <a:rPr lang="en-US" sz="950" dirty="0">
                <a:solidFill>
                  <a:srgbClr val="7A7A82"/>
                </a:solidFill>
                <a:latin typeface="Calibri" pitchFamily="34" charset="0"/>
                <a:ea typeface="Calibri" pitchFamily="34" charset="-122"/>
                <a:cs typeface="Calibri" pitchFamily="34" charset="-120"/>
              </a:rPr>
              <a:t>değişiyor?</a:t>
            </a:r>
            <a:endParaRPr lang="en-US" sz="950" dirty="0"/>
          </a:p>
        </p:txBody>
      </p:sp>
      <p:sp>
        <p:nvSpPr>
          <p:cNvPr id="12" name="Shape 10"/>
          <p:cNvSpPr/>
          <p:nvPr/>
        </p:nvSpPr>
        <p:spPr>
          <a:xfrm>
            <a:off x="3743815" y="2569464"/>
            <a:ext cx="146304" cy="0"/>
          </a:xfrm>
          <a:prstGeom prst="line">
            <a:avLst/>
          </a:prstGeom>
          <a:noFill/>
          <a:ln w="13970">
            <a:solidFill>
              <a:srgbClr val="C9C9CF"/>
            </a:solidFill>
            <a:prstDash val="solid"/>
            <a:tailEnd type="triangle"/>
          </a:ln>
        </p:spPr>
      </p:sp>
      <p:sp>
        <p:nvSpPr>
          <p:cNvPr id="13" name="Shape 11"/>
          <p:cNvSpPr/>
          <p:nvPr/>
        </p:nvSpPr>
        <p:spPr>
          <a:xfrm>
            <a:off x="3917551" y="2286000"/>
            <a:ext cx="1323267" cy="566928"/>
          </a:xfrm>
          <a:prstGeom prst="rect">
            <a:avLst/>
          </a:prstGeom>
          <a:ln w="9525">
            <a:solidFill>
              <a:srgbClr val="C9C9CF"/>
            </a:solidFill>
            <a:prstDash val="solid"/>
          </a:ln>
        </p:spPr>
      </p:sp>
      <p:sp>
        <p:nvSpPr>
          <p:cNvPr id="14" name="Text 12"/>
          <p:cNvSpPr txBox="1"/>
          <p:nvPr/>
        </p:nvSpPr>
        <p:spPr>
          <a:xfrm>
            <a:off x="3954127" y="2286000"/>
            <a:ext cx="1250115" cy="566928"/>
          </a:xfrm>
          <a:prstGeom prst="rect">
            <a:avLst/>
          </a:prstGeom>
          <a:noFill/>
          <a:ln/>
        </p:spPr>
        <p:txBody>
          <a:bodyPr wrap="square" lIns="0" tIns="0" rIns="0" bIns="0" rtlCol="0" anchor="ctr"/>
          <a:lstStyle/>
          <a:p>
            <a:pPr algn="ctr" indent="0" marL="0">
              <a:buNone/>
            </a:pPr>
            <a:r>
              <a:rPr lang="en-US" sz="950" b="1" spc="60" kern="0" dirty="0">
                <a:solidFill>
                  <a:srgbClr val="16161A"/>
                </a:solidFill>
                <a:latin typeface="Calibri" pitchFamily="34" charset="0"/>
                <a:ea typeface="Calibri" pitchFamily="34" charset="-122"/>
                <a:cs typeface="Calibri" pitchFamily="34" charset="-120"/>
              </a:rPr>
              <a:t>YÖNELME</a:t>
            </a:r>
            <a:endParaRPr lang="en-US" sz="950" dirty="0"/>
          </a:p>
        </p:txBody>
      </p:sp>
      <p:sp>
        <p:nvSpPr>
          <p:cNvPr id="15" name="Text 13"/>
          <p:cNvSpPr txBox="1"/>
          <p:nvPr/>
        </p:nvSpPr>
        <p:spPr>
          <a:xfrm>
            <a:off x="3917551" y="2962656"/>
            <a:ext cx="1323267" cy="640080"/>
          </a:xfrm>
          <a:prstGeom prst="rect">
            <a:avLst/>
          </a:prstGeom>
          <a:noFill/>
          <a:ln/>
        </p:spPr>
        <p:txBody>
          <a:bodyPr wrap="square" lIns="0" tIns="0" rIns="0" bIns="0" rtlCol="0" anchor="ctr"/>
          <a:lstStyle/>
          <a:p>
            <a:pPr algn="ctr" indent="0" marL="0">
              <a:lnSpc>
                <a:spcPts val="1200"/>
              </a:lnSpc>
              <a:buNone/>
            </a:pPr>
            <a:r>
              <a:rPr lang="en-US" sz="950" dirty="0">
                <a:solidFill>
                  <a:srgbClr val="7A7A82"/>
                </a:solidFill>
                <a:latin typeface="Calibri" pitchFamily="34" charset="0"/>
                <a:ea typeface="Calibri" pitchFamily="34" charset="-122"/>
                <a:cs typeface="Calibri" pitchFamily="34" charset="-120"/>
              </a:rPr>
              <a:t>Nereye gideceğimi</a:t>
            </a:r>
            <a:endParaRPr lang="en-US" sz="950" dirty="0"/>
          </a:p>
          <a:p>
            <a:pPr algn="ctr" indent="0" marL="0">
              <a:lnSpc>
                <a:spcPts val="1200"/>
              </a:lnSpc>
              <a:buNone/>
            </a:pPr>
            <a:r>
              <a:rPr lang="en-US" sz="950" dirty="0">
                <a:solidFill>
                  <a:srgbClr val="7A7A82"/>
                </a:solidFill>
                <a:latin typeface="Calibri" pitchFamily="34" charset="0"/>
                <a:ea typeface="Calibri" pitchFamily="34" charset="-122"/>
                <a:cs typeface="Calibri" pitchFamily="34" charset="-120"/>
              </a:rPr>
              <a:t>nasıl anlıyorum?</a:t>
            </a:r>
            <a:endParaRPr lang="en-US" sz="950" dirty="0"/>
          </a:p>
        </p:txBody>
      </p:sp>
      <p:sp>
        <p:nvSpPr>
          <p:cNvPr id="16" name="Shape 14"/>
          <p:cNvSpPr/>
          <p:nvPr/>
        </p:nvSpPr>
        <p:spPr>
          <a:xfrm>
            <a:off x="5268250" y="2569464"/>
            <a:ext cx="146304" cy="0"/>
          </a:xfrm>
          <a:prstGeom prst="line">
            <a:avLst/>
          </a:prstGeom>
          <a:noFill/>
          <a:ln w="13970">
            <a:solidFill>
              <a:srgbClr val="C9C9CF"/>
            </a:solidFill>
            <a:prstDash val="solid"/>
            <a:tailEnd type="triangle"/>
          </a:ln>
        </p:spPr>
      </p:sp>
      <p:sp>
        <p:nvSpPr>
          <p:cNvPr id="17" name="Shape 15"/>
          <p:cNvSpPr/>
          <p:nvPr/>
        </p:nvSpPr>
        <p:spPr>
          <a:xfrm>
            <a:off x="5441986" y="2286000"/>
            <a:ext cx="1323267" cy="566928"/>
          </a:xfrm>
          <a:prstGeom prst="rect">
            <a:avLst/>
          </a:prstGeom>
          <a:ln w="9525">
            <a:solidFill>
              <a:srgbClr val="C9C9CF"/>
            </a:solidFill>
            <a:prstDash val="solid"/>
          </a:ln>
        </p:spPr>
      </p:sp>
      <p:sp>
        <p:nvSpPr>
          <p:cNvPr id="18" name="Text 16"/>
          <p:cNvSpPr txBox="1"/>
          <p:nvPr/>
        </p:nvSpPr>
        <p:spPr>
          <a:xfrm>
            <a:off x="5478562" y="2286000"/>
            <a:ext cx="1250115" cy="566928"/>
          </a:xfrm>
          <a:prstGeom prst="rect">
            <a:avLst/>
          </a:prstGeom>
          <a:noFill/>
          <a:ln/>
        </p:spPr>
        <p:txBody>
          <a:bodyPr wrap="square" lIns="0" tIns="0" rIns="0" bIns="0" rtlCol="0" anchor="ctr"/>
          <a:lstStyle/>
          <a:p>
            <a:pPr algn="ctr" indent="0" marL="0">
              <a:buNone/>
            </a:pPr>
            <a:r>
              <a:rPr lang="en-US" sz="950" b="1" spc="60" kern="0" dirty="0">
                <a:solidFill>
                  <a:srgbClr val="16161A"/>
                </a:solidFill>
                <a:latin typeface="Calibri" pitchFamily="34" charset="0"/>
                <a:ea typeface="Calibri" pitchFamily="34" charset="-122"/>
                <a:cs typeface="Calibri" pitchFamily="34" charset="-120"/>
              </a:rPr>
              <a:t>GEZİNME</a:t>
            </a:r>
            <a:endParaRPr lang="en-US" sz="950" dirty="0"/>
          </a:p>
        </p:txBody>
      </p:sp>
      <p:sp>
        <p:nvSpPr>
          <p:cNvPr id="19" name="Text 17"/>
          <p:cNvSpPr txBox="1"/>
          <p:nvPr/>
        </p:nvSpPr>
        <p:spPr>
          <a:xfrm>
            <a:off x="5441986" y="2962656"/>
            <a:ext cx="1323267" cy="640080"/>
          </a:xfrm>
          <a:prstGeom prst="rect">
            <a:avLst/>
          </a:prstGeom>
          <a:noFill/>
          <a:ln/>
        </p:spPr>
        <p:txBody>
          <a:bodyPr wrap="square" lIns="0" tIns="0" rIns="0" bIns="0" rtlCol="0" anchor="ctr"/>
          <a:lstStyle/>
          <a:p>
            <a:pPr algn="ctr" indent="0" marL="0">
              <a:lnSpc>
                <a:spcPts val="1200"/>
              </a:lnSpc>
              <a:buNone/>
            </a:pPr>
            <a:r>
              <a:rPr lang="en-US" sz="950" dirty="0">
                <a:solidFill>
                  <a:srgbClr val="7A7A82"/>
                </a:solidFill>
                <a:latin typeface="Calibri" pitchFamily="34" charset="0"/>
                <a:ea typeface="Calibri" pitchFamily="34" charset="-122"/>
                <a:cs typeface="Calibri" pitchFamily="34" charset="-120"/>
              </a:rPr>
              <a:t>Ürünü nasıl</a:t>
            </a:r>
            <a:endParaRPr lang="en-US" sz="950" dirty="0"/>
          </a:p>
          <a:p>
            <a:pPr algn="ctr" indent="0" marL="0">
              <a:lnSpc>
                <a:spcPts val="1200"/>
              </a:lnSpc>
              <a:buNone/>
            </a:pPr>
            <a:r>
              <a:rPr lang="en-US" sz="950" dirty="0">
                <a:solidFill>
                  <a:srgbClr val="7A7A82"/>
                </a:solidFill>
                <a:latin typeface="Calibri" pitchFamily="34" charset="0"/>
                <a:ea typeface="Calibri" pitchFamily="34" charset="-122"/>
                <a:cs typeface="Calibri" pitchFamily="34" charset="-120"/>
              </a:rPr>
              <a:t>tarıyorum?</a:t>
            </a:r>
            <a:endParaRPr lang="en-US" sz="950" dirty="0"/>
          </a:p>
        </p:txBody>
      </p:sp>
      <p:sp>
        <p:nvSpPr>
          <p:cNvPr id="20" name="Shape 18"/>
          <p:cNvSpPr/>
          <p:nvPr/>
        </p:nvSpPr>
        <p:spPr>
          <a:xfrm>
            <a:off x="6792686" y="2569464"/>
            <a:ext cx="146304" cy="0"/>
          </a:xfrm>
          <a:prstGeom prst="line">
            <a:avLst/>
          </a:prstGeom>
          <a:noFill/>
          <a:ln w="13970">
            <a:solidFill>
              <a:srgbClr val="C9C9CF"/>
            </a:solidFill>
            <a:prstDash val="solid"/>
            <a:tailEnd type="triangle"/>
          </a:ln>
        </p:spPr>
      </p:sp>
      <p:sp>
        <p:nvSpPr>
          <p:cNvPr id="21" name="Shape 19"/>
          <p:cNvSpPr/>
          <p:nvPr/>
        </p:nvSpPr>
        <p:spPr>
          <a:xfrm>
            <a:off x="6966422" y="2286000"/>
            <a:ext cx="1323267" cy="566928"/>
          </a:xfrm>
          <a:prstGeom prst="rect">
            <a:avLst/>
          </a:prstGeom>
          <a:solidFill>
            <a:srgbClr val="F6EAE6"/>
          </a:solidFill>
          <a:ln w="15875">
            <a:solidFill>
              <a:srgbClr val="8C3A2B"/>
            </a:solidFill>
            <a:prstDash val="solid"/>
          </a:ln>
        </p:spPr>
      </p:sp>
      <p:sp>
        <p:nvSpPr>
          <p:cNvPr id="22" name="Text 20"/>
          <p:cNvSpPr txBox="1"/>
          <p:nvPr/>
        </p:nvSpPr>
        <p:spPr>
          <a:xfrm>
            <a:off x="7002998" y="2286000"/>
            <a:ext cx="1250115" cy="566928"/>
          </a:xfrm>
          <a:prstGeom prst="rect">
            <a:avLst/>
          </a:prstGeom>
          <a:noFill/>
          <a:ln/>
        </p:spPr>
        <p:txBody>
          <a:bodyPr wrap="square" lIns="0" tIns="0" rIns="0" bIns="0" rtlCol="0" anchor="ctr"/>
          <a:lstStyle/>
          <a:p>
            <a:pPr algn="ctr" indent="0" marL="0">
              <a:buNone/>
            </a:pPr>
            <a:r>
              <a:rPr lang="en-US" sz="950" b="1" spc="60" kern="0" dirty="0">
                <a:solidFill>
                  <a:srgbClr val="8C3A2B"/>
                </a:solidFill>
                <a:latin typeface="Calibri" pitchFamily="34" charset="0"/>
                <a:ea typeface="Calibri" pitchFamily="34" charset="-122"/>
                <a:cs typeface="Calibri" pitchFamily="34" charset="-120"/>
              </a:rPr>
              <a:t>ETKİLEŞİM</a:t>
            </a:r>
            <a:endParaRPr lang="en-US" sz="950" dirty="0"/>
          </a:p>
        </p:txBody>
      </p:sp>
      <p:sp>
        <p:nvSpPr>
          <p:cNvPr id="23" name="Text 21"/>
          <p:cNvSpPr txBox="1"/>
          <p:nvPr/>
        </p:nvSpPr>
        <p:spPr>
          <a:xfrm>
            <a:off x="6966422" y="2962656"/>
            <a:ext cx="1323267" cy="640080"/>
          </a:xfrm>
          <a:prstGeom prst="rect">
            <a:avLst/>
          </a:prstGeom>
          <a:noFill/>
          <a:ln/>
        </p:spPr>
        <p:txBody>
          <a:bodyPr wrap="square" lIns="0" tIns="0" rIns="0" bIns="0" rtlCol="0" anchor="ctr"/>
          <a:lstStyle/>
          <a:p>
            <a:pPr algn="ctr" indent="0" marL="0">
              <a:lnSpc>
                <a:spcPts val="1200"/>
              </a:lnSpc>
              <a:buNone/>
            </a:pPr>
            <a:r>
              <a:rPr lang="en-US" sz="950" dirty="0">
                <a:solidFill>
                  <a:srgbClr val="7A7A82"/>
                </a:solidFill>
                <a:latin typeface="Calibri" pitchFamily="34" charset="0"/>
                <a:ea typeface="Calibri" pitchFamily="34" charset="-122"/>
                <a:cs typeface="Calibri" pitchFamily="34" charset="-120"/>
              </a:rPr>
              <a:t>Dokunuyor,</a:t>
            </a:r>
            <a:endParaRPr lang="en-US" sz="950" dirty="0"/>
          </a:p>
          <a:p>
            <a:pPr algn="ctr" indent="0" marL="0">
              <a:lnSpc>
                <a:spcPts val="1200"/>
              </a:lnSpc>
              <a:buNone/>
            </a:pPr>
            <a:r>
              <a:rPr lang="en-US" sz="950" dirty="0">
                <a:solidFill>
                  <a:srgbClr val="7A7A82"/>
                </a:solidFill>
                <a:latin typeface="Calibri" pitchFamily="34" charset="0"/>
                <a:ea typeface="Calibri" pitchFamily="34" charset="-122"/>
                <a:cs typeface="Calibri" pitchFamily="34" charset="-120"/>
              </a:rPr>
              <a:t>deniyor muyum?</a:t>
            </a:r>
            <a:endParaRPr lang="en-US" sz="950" dirty="0"/>
          </a:p>
        </p:txBody>
      </p:sp>
      <p:sp>
        <p:nvSpPr>
          <p:cNvPr id="24" name="Shape 22"/>
          <p:cNvSpPr/>
          <p:nvPr/>
        </p:nvSpPr>
        <p:spPr>
          <a:xfrm>
            <a:off x="8317121" y="2569464"/>
            <a:ext cx="146304" cy="0"/>
          </a:xfrm>
          <a:prstGeom prst="line">
            <a:avLst/>
          </a:prstGeom>
          <a:noFill/>
          <a:ln w="13970">
            <a:solidFill>
              <a:srgbClr val="C9C9CF"/>
            </a:solidFill>
            <a:prstDash val="solid"/>
            <a:tailEnd type="triangle"/>
          </a:ln>
        </p:spPr>
      </p:sp>
      <p:sp>
        <p:nvSpPr>
          <p:cNvPr id="25" name="Shape 23"/>
          <p:cNvSpPr/>
          <p:nvPr/>
        </p:nvSpPr>
        <p:spPr>
          <a:xfrm>
            <a:off x="8490857" y="2286000"/>
            <a:ext cx="1323267" cy="566928"/>
          </a:xfrm>
          <a:prstGeom prst="rect">
            <a:avLst/>
          </a:prstGeom>
          <a:ln w="9525">
            <a:solidFill>
              <a:srgbClr val="C9C9CF"/>
            </a:solidFill>
            <a:prstDash val="solid"/>
          </a:ln>
        </p:spPr>
      </p:sp>
      <p:sp>
        <p:nvSpPr>
          <p:cNvPr id="26" name="Text 24"/>
          <p:cNvSpPr txBox="1"/>
          <p:nvPr/>
        </p:nvSpPr>
        <p:spPr>
          <a:xfrm>
            <a:off x="8527433" y="2286000"/>
            <a:ext cx="1250115" cy="566928"/>
          </a:xfrm>
          <a:prstGeom prst="rect">
            <a:avLst/>
          </a:prstGeom>
          <a:noFill/>
          <a:ln/>
        </p:spPr>
        <p:txBody>
          <a:bodyPr wrap="square" lIns="0" tIns="0" rIns="0" bIns="0" rtlCol="0" anchor="ctr"/>
          <a:lstStyle/>
          <a:p>
            <a:pPr algn="ctr" indent="0" marL="0">
              <a:buNone/>
            </a:pPr>
            <a:r>
              <a:rPr lang="en-US" sz="950" b="1" spc="60" kern="0" dirty="0">
                <a:solidFill>
                  <a:srgbClr val="16161A"/>
                </a:solidFill>
                <a:latin typeface="Calibri" pitchFamily="34" charset="0"/>
                <a:ea typeface="Calibri" pitchFamily="34" charset="-122"/>
                <a:cs typeface="Calibri" pitchFamily="34" charset="-120"/>
              </a:rPr>
              <a:t>SATIN ALMA</a:t>
            </a:r>
            <a:endParaRPr lang="en-US" sz="950" dirty="0"/>
          </a:p>
        </p:txBody>
      </p:sp>
      <p:sp>
        <p:nvSpPr>
          <p:cNvPr id="27" name="Text 25"/>
          <p:cNvSpPr txBox="1"/>
          <p:nvPr/>
        </p:nvSpPr>
        <p:spPr>
          <a:xfrm>
            <a:off x="8490857" y="2962656"/>
            <a:ext cx="1323267" cy="640080"/>
          </a:xfrm>
          <a:prstGeom prst="rect">
            <a:avLst/>
          </a:prstGeom>
          <a:noFill/>
          <a:ln/>
        </p:spPr>
        <p:txBody>
          <a:bodyPr wrap="square" lIns="0" tIns="0" rIns="0" bIns="0" rtlCol="0" anchor="ctr"/>
          <a:lstStyle/>
          <a:p>
            <a:pPr algn="ctr" indent="0" marL="0">
              <a:lnSpc>
                <a:spcPts val="1200"/>
              </a:lnSpc>
              <a:buNone/>
            </a:pPr>
            <a:r>
              <a:rPr lang="en-US" sz="950" dirty="0">
                <a:solidFill>
                  <a:srgbClr val="7A7A82"/>
                </a:solidFill>
                <a:latin typeface="Calibri" pitchFamily="34" charset="0"/>
                <a:ea typeface="Calibri" pitchFamily="34" charset="-122"/>
                <a:cs typeface="Calibri" pitchFamily="34" charset="-120"/>
              </a:rPr>
              <a:t>Kasa ve kuyruk</a:t>
            </a:r>
            <a:endParaRPr lang="en-US" sz="950" dirty="0"/>
          </a:p>
          <a:p>
            <a:pPr algn="ctr" indent="0" marL="0">
              <a:lnSpc>
                <a:spcPts val="1200"/>
              </a:lnSpc>
              <a:buNone/>
            </a:pPr>
            <a:r>
              <a:rPr lang="en-US" sz="950" dirty="0">
                <a:solidFill>
                  <a:srgbClr val="7A7A82"/>
                </a:solidFill>
                <a:latin typeface="Calibri" pitchFamily="34" charset="0"/>
                <a:ea typeface="Calibri" pitchFamily="34" charset="-122"/>
                <a:cs typeface="Calibri" pitchFamily="34" charset="-120"/>
              </a:rPr>
              <a:t>nerede?</a:t>
            </a:r>
            <a:endParaRPr lang="en-US" sz="950" dirty="0"/>
          </a:p>
        </p:txBody>
      </p:sp>
      <p:sp>
        <p:nvSpPr>
          <p:cNvPr id="28" name="Shape 26"/>
          <p:cNvSpPr/>
          <p:nvPr/>
        </p:nvSpPr>
        <p:spPr>
          <a:xfrm>
            <a:off x="9841557" y="2569464"/>
            <a:ext cx="146304" cy="0"/>
          </a:xfrm>
          <a:prstGeom prst="line">
            <a:avLst/>
          </a:prstGeom>
          <a:noFill/>
          <a:ln w="13970">
            <a:solidFill>
              <a:srgbClr val="C9C9CF"/>
            </a:solidFill>
            <a:prstDash val="solid"/>
            <a:tailEnd type="triangle"/>
          </a:ln>
        </p:spPr>
      </p:sp>
      <p:sp>
        <p:nvSpPr>
          <p:cNvPr id="29" name="Shape 27"/>
          <p:cNvSpPr/>
          <p:nvPr/>
        </p:nvSpPr>
        <p:spPr>
          <a:xfrm>
            <a:off x="10015293" y="2286000"/>
            <a:ext cx="1323267" cy="566928"/>
          </a:xfrm>
          <a:prstGeom prst="rect">
            <a:avLst/>
          </a:prstGeom>
          <a:ln w="9525">
            <a:solidFill>
              <a:srgbClr val="C9C9CF"/>
            </a:solidFill>
            <a:prstDash val="solid"/>
          </a:ln>
        </p:spPr>
      </p:sp>
      <p:sp>
        <p:nvSpPr>
          <p:cNvPr id="30" name="Text 28"/>
          <p:cNvSpPr txBox="1"/>
          <p:nvPr/>
        </p:nvSpPr>
        <p:spPr>
          <a:xfrm>
            <a:off x="10051869" y="2286000"/>
            <a:ext cx="1250115" cy="566928"/>
          </a:xfrm>
          <a:prstGeom prst="rect">
            <a:avLst/>
          </a:prstGeom>
          <a:noFill/>
          <a:ln/>
        </p:spPr>
        <p:txBody>
          <a:bodyPr wrap="square" lIns="0" tIns="0" rIns="0" bIns="0" rtlCol="0" anchor="ctr"/>
          <a:lstStyle/>
          <a:p>
            <a:pPr algn="ctr" indent="0" marL="0">
              <a:buNone/>
            </a:pPr>
            <a:r>
              <a:rPr lang="en-US" sz="950" b="1" spc="60" kern="0" dirty="0">
                <a:solidFill>
                  <a:srgbClr val="16161A"/>
                </a:solidFill>
                <a:latin typeface="Calibri" pitchFamily="34" charset="0"/>
                <a:ea typeface="Calibri" pitchFamily="34" charset="-122"/>
                <a:cs typeface="Calibri" pitchFamily="34" charset="-120"/>
              </a:rPr>
              <a:t>AYRILMA</a:t>
            </a:r>
            <a:endParaRPr lang="en-US" sz="950" dirty="0"/>
          </a:p>
        </p:txBody>
      </p:sp>
      <p:sp>
        <p:nvSpPr>
          <p:cNvPr id="31" name="Text 29"/>
          <p:cNvSpPr txBox="1"/>
          <p:nvPr/>
        </p:nvSpPr>
        <p:spPr>
          <a:xfrm>
            <a:off x="10015293" y="2962656"/>
            <a:ext cx="1323267" cy="640080"/>
          </a:xfrm>
          <a:prstGeom prst="rect">
            <a:avLst/>
          </a:prstGeom>
          <a:noFill/>
          <a:ln/>
        </p:spPr>
        <p:txBody>
          <a:bodyPr wrap="square" lIns="0" tIns="0" rIns="0" bIns="0" rtlCol="0" anchor="ctr"/>
          <a:lstStyle/>
          <a:p>
            <a:pPr algn="ctr" indent="0" marL="0">
              <a:lnSpc>
                <a:spcPts val="1200"/>
              </a:lnSpc>
              <a:buNone/>
            </a:pPr>
            <a:r>
              <a:rPr lang="en-US" sz="950" dirty="0">
                <a:solidFill>
                  <a:srgbClr val="7A7A82"/>
                </a:solidFill>
                <a:latin typeface="Calibri" pitchFamily="34" charset="0"/>
                <a:ea typeface="Calibri" pitchFamily="34" charset="-122"/>
                <a:cs typeface="Calibri" pitchFamily="34" charset="-120"/>
              </a:rPr>
              <a:t>Çıkarken ne</a:t>
            </a:r>
            <a:endParaRPr lang="en-US" sz="950" dirty="0"/>
          </a:p>
          <a:p>
            <a:pPr algn="ctr" indent="0" marL="0">
              <a:lnSpc>
                <a:spcPts val="1200"/>
              </a:lnSpc>
              <a:buNone/>
            </a:pPr>
            <a:r>
              <a:rPr lang="en-US" sz="950" dirty="0">
                <a:solidFill>
                  <a:srgbClr val="7A7A82"/>
                </a:solidFill>
                <a:latin typeface="Calibri" pitchFamily="34" charset="0"/>
                <a:ea typeface="Calibri" pitchFamily="34" charset="-122"/>
                <a:cs typeface="Calibri" pitchFamily="34" charset="-120"/>
              </a:rPr>
              <a:t>hissediyorum?</a:t>
            </a:r>
            <a:endParaRPr lang="en-US" sz="950" dirty="0"/>
          </a:p>
        </p:txBody>
      </p:sp>
      <p:sp>
        <p:nvSpPr>
          <p:cNvPr id="32" name="Text 30"/>
          <p:cNvSpPr txBox="1"/>
          <p:nvPr/>
        </p:nvSpPr>
        <p:spPr>
          <a:xfrm>
            <a:off x="868680" y="1920240"/>
            <a:ext cx="10469880" cy="274320"/>
          </a:xfrm>
          <a:prstGeom prst="rect">
            <a:avLst/>
          </a:prstGeom>
          <a:noFill/>
          <a:ln/>
        </p:spPr>
        <p:txBody>
          <a:bodyPr wrap="square" lIns="0" tIns="0" rIns="0" bIns="0" rtlCol="0" anchor="ctr"/>
          <a:lstStyle/>
          <a:p>
            <a:pPr algn="ctr" indent="0" marL="0">
              <a:lnSpc>
                <a:spcPts val="1200"/>
              </a:lnSpc>
              <a:buNone/>
            </a:pPr>
            <a:r>
              <a:rPr lang="en-US" sz="950" dirty="0">
                <a:solidFill>
                  <a:srgbClr val="A6A6AC"/>
                </a:solidFill>
                <a:latin typeface="Calibri" pitchFamily="34" charset="0"/>
                <a:ea typeface="Calibri" pitchFamily="34" charset="-122"/>
                <a:cs typeface="Calibri" pitchFamily="34" charset="-120"/>
              </a:rPr>
              <a:t>satın alma öncesi  →  satın alma  →  sonrası</a:t>
            </a:r>
            <a:endParaRPr lang="en-US" sz="950" dirty="0"/>
          </a:p>
        </p:txBody>
      </p:sp>
      <p:sp>
        <p:nvSpPr>
          <p:cNvPr id="33" name="Text 31"/>
          <p:cNvSpPr txBox="1"/>
          <p:nvPr/>
        </p:nvSpPr>
        <p:spPr>
          <a:xfrm>
            <a:off x="777240" y="3931920"/>
            <a:ext cx="5029200" cy="2240280"/>
          </a:xfrm>
          <a:prstGeom prst="rect">
            <a:avLst/>
          </a:prstGeom>
          <a:noFill/>
          <a:ln/>
        </p:spPr>
        <p:txBody>
          <a:bodyPr wrap="square" lIns="0" tIns="0" rIns="0" bIns="0" rtlCol="0" anchor="ctr"/>
          <a:lstStyle/>
          <a:p>
            <a:pPr indent="0" marL="0">
              <a:lnSpc>
                <a:spcPts val="2100"/>
              </a:lnSpc>
              <a:buNone/>
            </a:pPr>
            <a:r>
              <a:rPr lang="en-US" sz="1350" dirty="0">
                <a:solidFill>
                  <a:srgbClr val="2B2B31"/>
                </a:solidFill>
                <a:latin typeface="Cambria" pitchFamily="34" charset="0"/>
                <a:ea typeface="Cambria" pitchFamily="34" charset="-122"/>
                <a:cs typeface="Cambria" pitchFamily="34" charset="-120"/>
              </a:rPr>
              <a:t>Alışveriş tek bir satın alma anı değil, birbirini izleyen anların dizisidir (Lemon &amp; Verhoef, 2016). Her an ayrı bir tasarım sorusu üretir.</a:t>
            </a:r>
            <a:endParaRPr lang="en-US" sz="1350" dirty="0"/>
          </a:p>
          <a:p>
            <a:pPr indent="0" marL="0">
              <a:lnSpc>
                <a:spcPts val="2100"/>
              </a:lnSpc>
              <a:buNone/>
            </a:pPr>
            <a:endParaRPr lang="en-US" sz="1350" dirty="0"/>
          </a:p>
          <a:p>
            <a:pPr indent="0" marL="0">
              <a:lnSpc>
                <a:spcPts val="2100"/>
              </a:lnSpc>
              <a:buNone/>
            </a:pPr>
            <a:r>
              <a:rPr lang="en-US" sz="1350" dirty="0">
                <a:solidFill>
                  <a:srgbClr val="2B2B31"/>
                </a:solidFill>
                <a:latin typeface="Cambria" pitchFamily="34" charset="0"/>
                <a:ea typeface="Cambria" pitchFamily="34" charset="-122"/>
                <a:cs typeface="Cambria" pitchFamily="34" charset="-120"/>
              </a:rPr>
              <a:t>Ancak önemli olan anları tek tek iyileştirmek değil, aralarındaki geçişi kurmaktır. Kopuk iyi anlar bütünlüklü bir deneyim üretmez; bir mağazanın zayıf halkası, en zayıf geçişidir.</a:t>
            </a:r>
            <a:endParaRPr lang="en-US" sz="13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6161A"/>
        </a:solidFill>
      </p:bgPr>
    </p:bg>
    <p:spTree>
      <p:nvGrpSpPr>
        <p:cNvPr id="1" name=""/>
        <p:cNvGrpSpPr/>
        <p:nvPr/>
      </p:nvGrpSpPr>
      <p:grpSpPr>
        <a:xfrm>
          <a:off x="0" y="0"/>
          <a:ext cx="0" cy="0"/>
          <a:chOff x="0" y="0"/>
          <a:chExt cx="0" cy="0"/>
        </a:xfrm>
      </p:grpSpPr>
      <p:sp>
        <p:nvSpPr>
          <p:cNvPr id="2" name="Text 0"/>
          <p:cNvSpPr txBox="1"/>
          <p:nvPr/>
        </p:nvSpPr>
        <p:spPr>
          <a:xfrm>
            <a:off x="777240" y="1371600"/>
            <a:ext cx="3108960" cy="2377440"/>
          </a:xfrm>
          <a:prstGeom prst="rect">
            <a:avLst/>
          </a:prstGeom>
          <a:noFill/>
          <a:ln/>
        </p:spPr>
        <p:txBody>
          <a:bodyPr wrap="square" lIns="0" tIns="0" rIns="0" bIns="0" rtlCol="0" anchor="ctr"/>
          <a:lstStyle/>
          <a:p>
            <a:pPr indent="0" marL="0">
              <a:buNone/>
            </a:pPr>
            <a:r>
              <a:rPr lang="en-US" sz="9200" b="1" dirty="0">
                <a:solidFill>
                  <a:srgbClr val="8C3A2B"/>
                </a:solidFill>
                <a:latin typeface="Cambria" pitchFamily="34" charset="0"/>
                <a:ea typeface="Cambria" pitchFamily="34" charset="-122"/>
                <a:cs typeface="Cambria" pitchFamily="34" charset="-120"/>
              </a:rPr>
              <a:t>VII</a:t>
            </a:r>
            <a:endParaRPr lang="en-US" sz="9200" dirty="0"/>
          </a:p>
        </p:txBody>
      </p:sp>
      <p:sp>
        <p:nvSpPr>
          <p:cNvPr id="3" name="Text 1"/>
          <p:cNvSpPr txBox="1"/>
          <p:nvPr/>
        </p:nvSpPr>
        <p:spPr>
          <a:xfrm>
            <a:off x="777240" y="3611880"/>
            <a:ext cx="10424160" cy="1325880"/>
          </a:xfrm>
          <a:prstGeom prst="rect">
            <a:avLst/>
          </a:prstGeom>
          <a:noFill/>
          <a:ln/>
        </p:spPr>
        <p:txBody>
          <a:bodyPr wrap="square" lIns="0" tIns="0" rIns="0" bIns="0" rtlCol="0" anchor="ctr"/>
          <a:lstStyle/>
          <a:p>
            <a:pPr indent="0" marL="0">
              <a:lnSpc>
                <a:spcPts val="4400"/>
              </a:lnSpc>
              <a:buNone/>
            </a:pPr>
            <a:r>
              <a:rPr lang="en-US" sz="4000" b="1" dirty="0">
                <a:solidFill>
                  <a:srgbClr val="FFFFFF"/>
                </a:solidFill>
                <a:latin typeface="Cambria" pitchFamily="34" charset="0"/>
                <a:ea typeface="Cambria" pitchFamily="34" charset="-122"/>
                <a:cs typeface="Cambria" pitchFamily="34" charset="-120"/>
              </a:rPr>
              <a:t>Duyular</a:t>
            </a:r>
            <a:endParaRPr lang="en-US" sz="4000" dirty="0"/>
          </a:p>
        </p:txBody>
      </p:sp>
      <p:sp>
        <p:nvSpPr>
          <p:cNvPr id="4" name="Text 2"/>
          <p:cNvSpPr txBox="1"/>
          <p:nvPr/>
        </p:nvSpPr>
        <p:spPr>
          <a:xfrm>
            <a:off x="777240" y="5029200"/>
            <a:ext cx="9509760" cy="822960"/>
          </a:xfrm>
          <a:prstGeom prst="rect">
            <a:avLst/>
          </a:prstGeom>
          <a:noFill/>
          <a:ln/>
        </p:spPr>
        <p:txBody>
          <a:bodyPr wrap="square" lIns="0" tIns="0" rIns="0" bIns="0" rtlCol="0" anchor="ctr"/>
          <a:lstStyle/>
          <a:p>
            <a:pPr indent="0" marL="0">
              <a:lnSpc>
                <a:spcPts val="2200"/>
              </a:lnSpc>
              <a:buNone/>
            </a:pPr>
            <a:r>
              <a:rPr lang="en-US" sz="1500" dirty="0">
                <a:solidFill>
                  <a:srgbClr val="B9B9C0"/>
                </a:solidFill>
                <a:latin typeface="Calibri" pitchFamily="34" charset="0"/>
                <a:ea typeface="Calibri" pitchFamily="34" charset="-122"/>
                <a:cs typeface="Calibri" pitchFamily="34" charset="-120"/>
              </a:rPr>
              <a:t>Mekânı yalnızca gözle değil, bütün bedenle deneyimliyoruz.</a:t>
            </a:r>
            <a:endParaRPr lang="en-US" sz="15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CFCFA"/>
        </a:solidFill>
      </p:bgPr>
    </p:bg>
    <p:spTree>
      <p:nvGrpSpPr>
        <p:cNvPr id="1" name=""/>
        <p:cNvGrpSpPr/>
        <p:nvPr/>
      </p:nvGrpSpPr>
      <p:grpSpPr>
        <a:xfrm>
          <a:off x="0" y="0"/>
          <a:ext cx="0" cy="0"/>
          <a:chOff x="0" y="0"/>
          <a:chExt cx="0" cy="0"/>
        </a:xfrm>
      </p:grpSpPr>
      <p:sp>
        <p:nvSpPr>
          <p:cNvPr id="2" name="Text 0"/>
          <p:cNvSpPr txBox="1"/>
          <p:nvPr/>
        </p:nvSpPr>
        <p:spPr>
          <a:xfrm>
            <a:off x="777240" y="475488"/>
            <a:ext cx="9601200" cy="237744"/>
          </a:xfrm>
          <a:prstGeom prst="rect">
            <a:avLst/>
          </a:prstGeom>
          <a:noFill/>
          <a:ln/>
        </p:spPr>
        <p:txBody>
          <a:bodyPr wrap="square" lIns="0" tIns="0" rIns="0" bIns="0" rtlCol="0" anchor="ctr"/>
          <a:lstStyle/>
          <a:p>
            <a:pPr indent="0" marL="0">
              <a:buNone/>
            </a:pPr>
            <a:r>
              <a:rPr lang="en-US" sz="950" b="1" spc="260" kern="0" dirty="0">
                <a:solidFill>
                  <a:srgbClr val="7A7A82"/>
                </a:solidFill>
                <a:latin typeface="Calibri" pitchFamily="34" charset="0"/>
                <a:ea typeface="Calibri" pitchFamily="34" charset="-122"/>
                <a:cs typeface="Calibri" pitchFamily="34" charset="-120"/>
              </a:rPr>
              <a:t>VII · DUYULAR</a:t>
            </a:r>
            <a:endParaRPr lang="en-US" sz="950" dirty="0"/>
          </a:p>
        </p:txBody>
      </p:sp>
      <p:sp>
        <p:nvSpPr>
          <p:cNvPr id="3" name="Text 1"/>
          <p:cNvSpPr txBox="1"/>
          <p:nvPr/>
        </p:nvSpPr>
        <p:spPr>
          <a:xfrm>
            <a:off x="777240" y="822960"/>
            <a:ext cx="10424160" cy="731520"/>
          </a:xfrm>
          <a:prstGeom prst="rect">
            <a:avLst/>
          </a:prstGeom>
          <a:noFill/>
          <a:ln/>
        </p:spPr>
        <p:txBody>
          <a:bodyPr wrap="square" lIns="0" tIns="0" rIns="0" bIns="0" rtlCol="0" anchor="ctr"/>
          <a:lstStyle/>
          <a:p>
            <a:pPr indent="0" marL="0">
              <a:lnSpc>
                <a:spcPts val="3400"/>
              </a:lnSpc>
              <a:buNone/>
            </a:pPr>
            <a:r>
              <a:rPr lang="en-US" sz="2900" b="1" dirty="0">
                <a:solidFill>
                  <a:srgbClr val="16161A"/>
                </a:solidFill>
                <a:latin typeface="Cambria" pitchFamily="34" charset="0"/>
                <a:ea typeface="Cambria" pitchFamily="34" charset="-122"/>
                <a:cs typeface="Cambria" pitchFamily="34" charset="-120"/>
              </a:rPr>
              <a:t>Atmosfer tek bir duyudan doğmaz</a:t>
            </a:r>
            <a:endParaRPr lang="en-US" sz="2900" dirty="0"/>
          </a:p>
        </p:txBody>
      </p:sp>
      <p:sp>
        <p:nvSpPr>
          <p:cNvPr id="4" name="Text 2"/>
          <p:cNvSpPr txBox="1"/>
          <p:nvPr/>
        </p:nvSpPr>
        <p:spPr>
          <a:xfrm>
            <a:off x="10972800" y="6355080"/>
            <a:ext cx="438912" cy="237744"/>
          </a:xfrm>
          <a:prstGeom prst="rect">
            <a:avLst/>
          </a:prstGeom>
          <a:noFill/>
          <a:ln/>
        </p:spPr>
        <p:txBody>
          <a:bodyPr wrap="square" lIns="0" tIns="0" rIns="0" bIns="0" rtlCol="0" anchor="ctr"/>
          <a:lstStyle/>
          <a:p>
            <a:pPr algn="r" indent="0" marL="0">
              <a:buNone/>
            </a:pPr>
            <a:r>
              <a:rPr lang="en-US" sz="950" dirty="0">
                <a:solidFill>
                  <a:srgbClr val="A6A6AC"/>
                </a:solidFill>
                <a:latin typeface="Calibri" pitchFamily="34" charset="0"/>
                <a:ea typeface="Calibri" pitchFamily="34" charset="-122"/>
                <a:cs typeface="Calibri" pitchFamily="34" charset="-120"/>
              </a:rPr>
              <a:t>31</a:t>
            </a:r>
            <a:endParaRPr lang="en-US" sz="950" dirty="0"/>
          </a:p>
        </p:txBody>
      </p:sp>
      <p:sp>
        <p:nvSpPr>
          <p:cNvPr id="5" name="Text 3"/>
          <p:cNvSpPr txBox="1"/>
          <p:nvPr/>
        </p:nvSpPr>
        <p:spPr>
          <a:xfrm>
            <a:off x="777240" y="1627632"/>
            <a:ext cx="10634472" cy="914400"/>
          </a:xfrm>
          <a:prstGeom prst="rect">
            <a:avLst/>
          </a:prstGeom>
          <a:noFill/>
          <a:ln/>
        </p:spPr>
        <p:txBody>
          <a:bodyPr wrap="square" lIns="0" tIns="0" rIns="0" bIns="0" rtlCol="0" anchor="ctr"/>
          <a:lstStyle/>
          <a:p>
            <a:pPr indent="0" marL="0">
              <a:lnSpc>
                <a:spcPts val="2300"/>
              </a:lnSpc>
              <a:buNone/>
            </a:pPr>
            <a:r>
              <a:rPr lang="en-US" sz="1500" dirty="0">
                <a:solidFill>
                  <a:srgbClr val="2B2B31"/>
                </a:solidFill>
                <a:latin typeface="Cambria" pitchFamily="34" charset="0"/>
                <a:ea typeface="Cambria" pitchFamily="34" charset="-122"/>
                <a:cs typeface="Cambria" pitchFamily="34" charset="-120"/>
              </a:rPr>
              <a:t>Mimarlık kültürü görme duyusunu diğerlerinin önüne geçirir; bu da mekânı bedenden koparır (Pallasmaa, 2005). Mağaza, bu tekeli kırmak için en uygun laboratuvardır — çünkü duyusal tasarımın burada ticari bir karşılığı da vardır.</a:t>
            </a:r>
            <a:endParaRPr lang="en-US" sz="1500" dirty="0"/>
          </a:p>
        </p:txBody>
      </p:sp>
      <p:sp>
        <p:nvSpPr>
          <p:cNvPr id="6" name="Shape 4"/>
          <p:cNvSpPr/>
          <p:nvPr/>
        </p:nvSpPr>
        <p:spPr>
          <a:xfrm>
            <a:off x="1920240" y="2990088"/>
            <a:ext cx="2651760" cy="2651760"/>
          </a:xfrm>
          <a:prstGeom prst="ellipse">
            <a:avLst/>
          </a:prstGeom>
          <a:ln w="12700">
            <a:solidFill>
              <a:srgbClr val="C9C9CF"/>
            </a:solidFill>
            <a:prstDash val="solid"/>
          </a:ln>
        </p:spPr>
      </p:sp>
      <p:sp>
        <p:nvSpPr>
          <p:cNvPr id="7" name="Text 5"/>
          <p:cNvSpPr txBox="1"/>
          <p:nvPr/>
        </p:nvSpPr>
        <p:spPr>
          <a:xfrm>
            <a:off x="2423160" y="4151376"/>
            <a:ext cx="1645920" cy="329184"/>
          </a:xfrm>
          <a:prstGeom prst="rect">
            <a:avLst/>
          </a:prstGeom>
          <a:noFill/>
          <a:ln/>
        </p:spPr>
        <p:txBody>
          <a:bodyPr wrap="square" lIns="0" tIns="0" rIns="0" bIns="0" rtlCol="0" anchor="ctr"/>
          <a:lstStyle/>
          <a:p>
            <a:pPr algn="ctr" indent="0" marL="0">
              <a:buNone/>
            </a:pPr>
            <a:r>
              <a:rPr lang="en-US" sz="1050" b="1" spc="140" kern="0" dirty="0">
                <a:solidFill>
                  <a:srgbClr val="8C3A2B"/>
                </a:solidFill>
                <a:latin typeface="Calibri" pitchFamily="34" charset="0"/>
                <a:ea typeface="Calibri" pitchFamily="34" charset="-122"/>
                <a:cs typeface="Calibri" pitchFamily="34" charset="-120"/>
              </a:rPr>
              <a:t>ATMOSFER</a:t>
            </a:r>
            <a:endParaRPr lang="en-US" sz="1050" dirty="0"/>
          </a:p>
        </p:txBody>
      </p:sp>
      <p:sp>
        <p:nvSpPr>
          <p:cNvPr id="8" name="Text 6"/>
          <p:cNvSpPr txBox="1"/>
          <p:nvPr/>
        </p:nvSpPr>
        <p:spPr>
          <a:xfrm>
            <a:off x="2679192" y="2478024"/>
            <a:ext cx="1133856" cy="256032"/>
          </a:xfrm>
          <a:prstGeom prst="rect">
            <a:avLst/>
          </a:prstGeom>
          <a:noFill/>
          <a:ln/>
        </p:spPr>
        <p:txBody>
          <a:bodyPr wrap="square" lIns="0" tIns="0" rIns="0" bIns="0" rtlCol="0" anchor="ctr"/>
          <a:lstStyle/>
          <a:p>
            <a:pPr algn="ctr" indent="0" marL="0">
              <a:buNone/>
            </a:pPr>
            <a:r>
              <a:rPr lang="en-US" sz="950" b="1" dirty="0">
                <a:solidFill>
                  <a:srgbClr val="16161A"/>
                </a:solidFill>
                <a:latin typeface="Calibri" pitchFamily="34" charset="0"/>
                <a:ea typeface="Calibri" pitchFamily="34" charset="-122"/>
                <a:cs typeface="Calibri" pitchFamily="34" charset="-120"/>
              </a:rPr>
              <a:t>GÖRME</a:t>
            </a:r>
            <a:endParaRPr lang="en-US" sz="950" dirty="0"/>
          </a:p>
        </p:txBody>
      </p:sp>
      <p:sp>
        <p:nvSpPr>
          <p:cNvPr id="9" name="Shape 7"/>
          <p:cNvSpPr/>
          <p:nvPr/>
        </p:nvSpPr>
        <p:spPr>
          <a:xfrm flipV="1">
            <a:off x="3246120" y="2752344"/>
            <a:ext cx="0" cy="237744"/>
          </a:xfrm>
          <a:prstGeom prst="line">
            <a:avLst/>
          </a:prstGeom>
          <a:noFill/>
          <a:ln w="12700">
            <a:solidFill>
              <a:srgbClr val="C9C9CF"/>
            </a:solidFill>
            <a:prstDash val="solid"/>
          </a:ln>
        </p:spPr>
      </p:sp>
      <p:sp>
        <p:nvSpPr>
          <p:cNvPr id="10" name="Text 8"/>
          <p:cNvSpPr txBox="1"/>
          <p:nvPr/>
        </p:nvSpPr>
        <p:spPr>
          <a:xfrm>
            <a:off x="4160033" y="3332988"/>
            <a:ext cx="1133856" cy="256032"/>
          </a:xfrm>
          <a:prstGeom prst="rect">
            <a:avLst/>
          </a:prstGeom>
          <a:noFill/>
          <a:ln/>
        </p:spPr>
        <p:txBody>
          <a:bodyPr wrap="square" lIns="0" tIns="0" rIns="0" bIns="0" rtlCol="0" anchor="ctr"/>
          <a:lstStyle/>
          <a:p>
            <a:pPr algn="ctr" indent="0" marL="0">
              <a:buNone/>
            </a:pPr>
            <a:r>
              <a:rPr lang="en-US" sz="950" b="1" dirty="0">
                <a:solidFill>
                  <a:srgbClr val="16161A"/>
                </a:solidFill>
                <a:latin typeface="Calibri" pitchFamily="34" charset="0"/>
                <a:ea typeface="Calibri" pitchFamily="34" charset="-122"/>
                <a:cs typeface="Calibri" pitchFamily="34" charset="-120"/>
              </a:rPr>
              <a:t>İŞİTME</a:t>
            </a:r>
            <a:endParaRPr lang="en-US" sz="950" dirty="0"/>
          </a:p>
        </p:txBody>
      </p:sp>
      <p:sp>
        <p:nvSpPr>
          <p:cNvPr id="11" name="Shape 9"/>
          <p:cNvSpPr/>
          <p:nvPr/>
        </p:nvSpPr>
        <p:spPr>
          <a:xfrm flipV="1">
            <a:off x="4394366" y="3534156"/>
            <a:ext cx="205892" cy="118872"/>
          </a:xfrm>
          <a:prstGeom prst="line">
            <a:avLst/>
          </a:prstGeom>
          <a:noFill/>
          <a:ln w="12700">
            <a:solidFill>
              <a:srgbClr val="C9C9CF"/>
            </a:solidFill>
            <a:prstDash val="solid"/>
          </a:ln>
        </p:spPr>
      </p:sp>
      <p:sp>
        <p:nvSpPr>
          <p:cNvPr id="12" name="Text 10"/>
          <p:cNvSpPr txBox="1"/>
          <p:nvPr/>
        </p:nvSpPr>
        <p:spPr>
          <a:xfrm>
            <a:off x="4160033" y="5042916"/>
            <a:ext cx="1133856" cy="256032"/>
          </a:xfrm>
          <a:prstGeom prst="rect">
            <a:avLst/>
          </a:prstGeom>
          <a:noFill/>
          <a:ln/>
        </p:spPr>
        <p:txBody>
          <a:bodyPr wrap="square" lIns="0" tIns="0" rIns="0" bIns="0" rtlCol="0" anchor="ctr"/>
          <a:lstStyle/>
          <a:p>
            <a:pPr algn="ctr" indent="0" marL="0">
              <a:buNone/>
            </a:pPr>
            <a:r>
              <a:rPr lang="en-US" sz="950" b="1" dirty="0">
                <a:solidFill>
                  <a:srgbClr val="16161A"/>
                </a:solidFill>
                <a:latin typeface="Calibri" pitchFamily="34" charset="0"/>
                <a:ea typeface="Calibri" pitchFamily="34" charset="-122"/>
                <a:cs typeface="Calibri" pitchFamily="34" charset="-120"/>
              </a:rPr>
              <a:t>DOKUNMA</a:t>
            </a:r>
            <a:endParaRPr lang="en-US" sz="950" dirty="0"/>
          </a:p>
        </p:txBody>
      </p:sp>
      <p:sp>
        <p:nvSpPr>
          <p:cNvPr id="13" name="Shape 11"/>
          <p:cNvSpPr/>
          <p:nvPr/>
        </p:nvSpPr>
        <p:spPr>
          <a:xfrm>
            <a:off x="4394366" y="4978908"/>
            <a:ext cx="205892" cy="118872"/>
          </a:xfrm>
          <a:prstGeom prst="line">
            <a:avLst/>
          </a:prstGeom>
          <a:noFill/>
          <a:ln w="12700">
            <a:solidFill>
              <a:srgbClr val="C9C9CF"/>
            </a:solidFill>
            <a:prstDash val="solid"/>
          </a:ln>
        </p:spPr>
      </p:sp>
      <p:sp>
        <p:nvSpPr>
          <p:cNvPr id="14" name="Text 12"/>
          <p:cNvSpPr txBox="1"/>
          <p:nvPr/>
        </p:nvSpPr>
        <p:spPr>
          <a:xfrm>
            <a:off x="2679192" y="5897880"/>
            <a:ext cx="1133856" cy="256032"/>
          </a:xfrm>
          <a:prstGeom prst="rect">
            <a:avLst/>
          </a:prstGeom>
          <a:noFill/>
          <a:ln/>
        </p:spPr>
        <p:txBody>
          <a:bodyPr wrap="square" lIns="0" tIns="0" rIns="0" bIns="0" rtlCol="0" anchor="ctr"/>
          <a:lstStyle/>
          <a:p>
            <a:pPr algn="ctr" indent="0" marL="0">
              <a:buNone/>
            </a:pPr>
            <a:r>
              <a:rPr lang="en-US" sz="950" b="1" dirty="0">
                <a:solidFill>
                  <a:srgbClr val="16161A"/>
                </a:solidFill>
                <a:latin typeface="Calibri" pitchFamily="34" charset="0"/>
                <a:ea typeface="Calibri" pitchFamily="34" charset="-122"/>
                <a:cs typeface="Calibri" pitchFamily="34" charset="-120"/>
              </a:rPr>
              <a:t>KOKLAMA</a:t>
            </a:r>
            <a:endParaRPr lang="en-US" sz="950" dirty="0"/>
          </a:p>
        </p:txBody>
      </p:sp>
      <p:sp>
        <p:nvSpPr>
          <p:cNvPr id="15" name="Shape 13"/>
          <p:cNvSpPr/>
          <p:nvPr/>
        </p:nvSpPr>
        <p:spPr>
          <a:xfrm>
            <a:off x="3246120" y="5641848"/>
            <a:ext cx="0" cy="237744"/>
          </a:xfrm>
          <a:prstGeom prst="line">
            <a:avLst/>
          </a:prstGeom>
          <a:noFill/>
          <a:ln w="12700">
            <a:solidFill>
              <a:srgbClr val="C9C9CF"/>
            </a:solidFill>
            <a:prstDash val="solid"/>
          </a:ln>
        </p:spPr>
      </p:sp>
      <p:sp>
        <p:nvSpPr>
          <p:cNvPr id="16" name="Text 14"/>
          <p:cNvSpPr txBox="1"/>
          <p:nvPr/>
        </p:nvSpPr>
        <p:spPr>
          <a:xfrm>
            <a:off x="1198351" y="5042916"/>
            <a:ext cx="1133856" cy="256032"/>
          </a:xfrm>
          <a:prstGeom prst="rect">
            <a:avLst/>
          </a:prstGeom>
          <a:noFill/>
          <a:ln/>
        </p:spPr>
        <p:txBody>
          <a:bodyPr wrap="square" lIns="0" tIns="0" rIns="0" bIns="0" rtlCol="0" anchor="ctr"/>
          <a:lstStyle/>
          <a:p>
            <a:pPr algn="ctr" indent="0" marL="0">
              <a:buNone/>
            </a:pPr>
            <a:r>
              <a:rPr lang="en-US" sz="950" b="1" dirty="0">
                <a:solidFill>
                  <a:srgbClr val="16161A"/>
                </a:solidFill>
                <a:latin typeface="Calibri" pitchFamily="34" charset="0"/>
                <a:ea typeface="Calibri" pitchFamily="34" charset="-122"/>
                <a:cs typeface="Calibri" pitchFamily="34" charset="-120"/>
              </a:rPr>
              <a:t>TAT</a:t>
            </a:r>
            <a:endParaRPr lang="en-US" sz="950" dirty="0"/>
          </a:p>
        </p:txBody>
      </p:sp>
      <p:sp>
        <p:nvSpPr>
          <p:cNvPr id="17" name="Shape 15"/>
          <p:cNvSpPr/>
          <p:nvPr/>
        </p:nvSpPr>
        <p:spPr>
          <a:xfrm flipH="1">
            <a:off x="1891982" y="4978908"/>
            <a:ext cx="205892" cy="118872"/>
          </a:xfrm>
          <a:prstGeom prst="line">
            <a:avLst/>
          </a:prstGeom>
          <a:noFill/>
          <a:ln w="12700">
            <a:solidFill>
              <a:srgbClr val="C9C9CF"/>
            </a:solidFill>
            <a:prstDash val="solid"/>
          </a:ln>
        </p:spPr>
      </p:sp>
      <p:sp>
        <p:nvSpPr>
          <p:cNvPr id="18" name="Text 16"/>
          <p:cNvSpPr txBox="1"/>
          <p:nvPr/>
        </p:nvSpPr>
        <p:spPr>
          <a:xfrm>
            <a:off x="1198351" y="3332988"/>
            <a:ext cx="1133856" cy="256032"/>
          </a:xfrm>
          <a:prstGeom prst="rect">
            <a:avLst/>
          </a:prstGeom>
          <a:noFill/>
          <a:ln/>
        </p:spPr>
        <p:txBody>
          <a:bodyPr wrap="square" lIns="0" tIns="0" rIns="0" bIns="0" rtlCol="0" anchor="ctr"/>
          <a:lstStyle/>
          <a:p>
            <a:pPr algn="ctr" indent="0" marL="0">
              <a:buNone/>
            </a:pPr>
            <a:r>
              <a:rPr lang="en-US" sz="950" b="1" dirty="0">
                <a:solidFill>
                  <a:srgbClr val="16161A"/>
                </a:solidFill>
                <a:latin typeface="Calibri" pitchFamily="34" charset="0"/>
                <a:ea typeface="Calibri" pitchFamily="34" charset="-122"/>
                <a:cs typeface="Calibri" pitchFamily="34" charset="-120"/>
              </a:rPr>
              <a:t>BEDEN</a:t>
            </a:r>
            <a:endParaRPr lang="en-US" sz="950" dirty="0"/>
          </a:p>
        </p:txBody>
      </p:sp>
      <p:sp>
        <p:nvSpPr>
          <p:cNvPr id="19" name="Shape 17"/>
          <p:cNvSpPr/>
          <p:nvPr/>
        </p:nvSpPr>
        <p:spPr>
          <a:xfrm flipH="1" flipV="1">
            <a:off x="1891982" y="3534156"/>
            <a:ext cx="205892" cy="118872"/>
          </a:xfrm>
          <a:prstGeom prst="line">
            <a:avLst/>
          </a:prstGeom>
          <a:noFill/>
          <a:ln w="12700">
            <a:solidFill>
              <a:srgbClr val="C9C9CF"/>
            </a:solidFill>
            <a:prstDash val="solid"/>
          </a:ln>
        </p:spPr>
      </p:sp>
      <p:sp>
        <p:nvSpPr>
          <p:cNvPr id="20" name="Text 18"/>
          <p:cNvSpPr txBox="1"/>
          <p:nvPr/>
        </p:nvSpPr>
        <p:spPr>
          <a:xfrm>
            <a:off x="6382512" y="2606040"/>
            <a:ext cx="5029200" cy="384048"/>
          </a:xfrm>
          <a:prstGeom prst="rect">
            <a:avLst/>
          </a:prstGeom>
          <a:noFill/>
          <a:ln/>
        </p:spPr>
        <p:txBody>
          <a:bodyPr wrap="square" lIns="0" tIns="0" rIns="0" bIns="0" rtlCol="0" anchor="ctr"/>
          <a:lstStyle/>
          <a:p>
            <a:pPr indent="0" marL="0">
              <a:buNone/>
            </a:pPr>
            <a:r>
              <a:rPr lang="en-US" sz="2000" b="1" dirty="0">
                <a:solidFill>
                  <a:srgbClr val="16161A"/>
                </a:solidFill>
                <a:latin typeface="Cambria" pitchFamily="34" charset="0"/>
                <a:ea typeface="Cambria" pitchFamily="34" charset="-122"/>
                <a:cs typeface="Cambria" pitchFamily="34" charset="-120"/>
              </a:rPr>
              <a:t>Duyusal uyum</a:t>
            </a:r>
            <a:endParaRPr lang="en-US" sz="2000" dirty="0"/>
          </a:p>
        </p:txBody>
      </p:sp>
      <p:sp>
        <p:nvSpPr>
          <p:cNvPr id="21" name="Text 19"/>
          <p:cNvSpPr txBox="1"/>
          <p:nvPr/>
        </p:nvSpPr>
        <p:spPr>
          <a:xfrm>
            <a:off x="6382512" y="3063240"/>
            <a:ext cx="5029200" cy="3063240"/>
          </a:xfrm>
          <a:prstGeom prst="rect">
            <a:avLst/>
          </a:prstGeom>
          <a:noFill/>
          <a:ln/>
        </p:spPr>
        <p:txBody>
          <a:bodyPr wrap="square" lIns="0" tIns="0" rIns="0" bIns="0" rtlCol="0" anchor="ctr"/>
          <a:lstStyle/>
          <a:p>
            <a:pPr indent="0" marL="0">
              <a:lnSpc>
                <a:spcPts val="2000"/>
              </a:lnSpc>
              <a:buNone/>
            </a:pPr>
            <a:r>
              <a:rPr lang="en-US" sz="1300" dirty="0">
                <a:solidFill>
                  <a:srgbClr val="2B2B31"/>
                </a:solidFill>
                <a:latin typeface="Cambria" pitchFamily="34" charset="0"/>
                <a:ea typeface="Cambria" pitchFamily="34" charset="-122"/>
                <a:cs typeface="Cambria" pitchFamily="34" charset="-120"/>
              </a:rPr>
              <a:t>Duyusal etki tek tek uyaranlardan değil, uyaranların birlikte çalışmasından doğar (Spence vd., 2014). Bir kokunun ya da müziğin etkisi, yanındakilerle uyumlu olup olmamasına bağlıdır.</a:t>
            </a:r>
            <a:endParaRPr lang="en-US" sz="1300" dirty="0"/>
          </a:p>
          <a:p>
            <a:pPr indent="0" marL="0">
              <a:lnSpc>
                <a:spcPts val="2000"/>
              </a:lnSpc>
              <a:buNone/>
            </a:pPr>
            <a:endParaRPr lang="en-US" sz="1300" dirty="0"/>
          </a:p>
          <a:p>
            <a:pPr indent="0" marL="0">
              <a:lnSpc>
                <a:spcPts val="2000"/>
              </a:lnSpc>
              <a:buNone/>
            </a:pPr>
            <a:r>
              <a:rPr lang="en-US" sz="1300" dirty="0">
                <a:solidFill>
                  <a:srgbClr val="2B2B31"/>
                </a:solidFill>
                <a:latin typeface="Cambria" pitchFamily="34" charset="0"/>
                <a:ea typeface="Cambria" pitchFamily="34" charset="-122"/>
                <a:cs typeface="Cambria" pitchFamily="34" charset="-120"/>
              </a:rPr>
              <a:t>En dikkat çekici bulgu şudur: birbiriyle uyumsuz duyusal ipuçları, hiç olmamasından daha kötü sonuç verir. Uyumlu bir koku–müzik birlikteliği memnuniyeti artırırken, uyumsuz bir birliktelik değerlendirmeyi düşürür.</a:t>
            </a:r>
            <a:endParaRPr lang="en-US" sz="1300" dirty="0"/>
          </a:p>
          <a:p>
            <a:pPr indent="0" marL="0">
              <a:lnSpc>
                <a:spcPts val="2000"/>
              </a:lnSpc>
              <a:buNone/>
            </a:pPr>
            <a:endParaRPr lang="en-US" sz="1300" dirty="0"/>
          </a:p>
          <a:p>
            <a:pPr indent="0" marL="0">
              <a:lnSpc>
                <a:spcPts val="2000"/>
              </a:lnSpc>
              <a:buNone/>
            </a:pPr>
            <a:r>
              <a:rPr lang="en-US" sz="1300" dirty="0">
                <a:solidFill>
                  <a:srgbClr val="2B2B31"/>
                </a:solidFill>
                <a:latin typeface="Cambria" pitchFamily="34" charset="0"/>
                <a:ea typeface="Cambria" pitchFamily="34" charset="-122"/>
                <a:cs typeface="Cambria" pitchFamily="34" charset="-120"/>
              </a:rPr>
              <a:t>Dolayısıyla duyusal katmanlar tek tek 'iyi' olmak zorunda değildir; birlikte aynı şeyi söylemek zorundadır.</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CFCFA"/>
        </a:solidFill>
      </p:bgPr>
    </p:bg>
    <p:spTree>
      <p:nvGrpSpPr>
        <p:cNvPr id="1" name=""/>
        <p:cNvGrpSpPr/>
        <p:nvPr/>
      </p:nvGrpSpPr>
      <p:grpSpPr>
        <a:xfrm>
          <a:off x="0" y="0"/>
          <a:ext cx="0" cy="0"/>
          <a:chOff x="0" y="0"/>
          <a:chExt cx="0" cy="0"/>
        </a:xfrm>
      </p:grpSpPr>
      <p:sp>
        <p:nvSpPr>
          <p:cNvPr id="2" name="Text 0"/>
          <p:cNvSpPr txBox="1"/>
          <p:nvPr/>
        </p:nvSpPr>
        <p:spPr>
          <a:xfrm>
            <a:off x="777240" y="475488"/>
            <a:ext cx="9601200" cy="237744"/>
          </a:xfrm>
          <a:prstGeom prst="rect">
            <a:avLst/>
          </a:prstGeom>
          <a:noFill/>
          <a:ln/>
        </p:spPr>
        <p:txBody>
          <a:bodyPr wrap="square" lIns="0" tIns="0" rIns="0" bIns="0" rtlCol="0" anchor="ctr"/>
          <a:lstStyle/>
          <a:p>
            <a:pPr indent="0" marL="0">
              <a:buNone/>
            </a:pPr>
            <a:r>
              <a:rPr lang="en-US" sz="950" b="1" spc="260" kern="0" dirty="0">
                <a:solidFill>
                  <a:srgbClr val="7A7A82"/>
                </a:solidFill>
                <a:latin typeface="Calibri" pitchFamily="34" charset="0"/>
                <a:ea typeface="Calibri" pitchFamily="34" charset="-122"/>
                <a:cs typeface="Calibri" pitchFamily="34" charset="-120"/>
              </a:rPr>
              <a:t>VII · DUYULAR</a:t>
            </a:r>
            <a:endParaRPr lang="en-US" sz="950" dirty="0"/>
          </a:p>
        </p:txBody>
      </p:sp>
      <p:sp>
        <p:nvSpPr>
          <p:cNvPr id="3" name="Text 1"/>
          <p:cNvSpPr txBox="1"/>
          <p:nvPr/>
        </p:nvSpPr>
        <p:spPr>
          <a:xfrm>
            <a:off x="777240" y="822960"/>
            <a:ext cx="10424160" cy="731520"/>
          </a:xfrm>
          <a:prstGeom prst="rect">
            <a:avLst/>
          </a:prstGeom>
          <a:noFill/>
          <a:ln/>
        </p:spPr>
        <p:txBody>
          <a:bodyPr wrap="square" lIns="0" tIns="0" rIns="0" bIns="0" rtlCol="0" anchor="ctr"/>
          <a:lstStyle/>
          <a:p>
            <a:pPr indent="0" marL="0">
              <a:lnSpc>
                <a:spcPts val="3400"/>
              </a:lnSpc>
              <a:buNone/>
            </a:pPr>
            <a:r>
              <a:rPr lang="en-US" sz="2900" b="1" dirty="0">
                <a:solidFill>
                  <a:srgbClr val="16161A"/>
                </a:solidFill>
                <a:latin typeface="Cambria" pitchFamily="34" charset="0"/>
                <a:ea typeface="Cambria" pitchFamily="34" charset="-122"/>
                <a:cs typeface="Cambria" pitchFamily="34" charset="-120"/>
              </a:rPr>
              <a:t>Hangi duyu, yolculuğun hangi anında çalışır?</a:t>
            </a:r>
            <a:endParaRPr lang="en-US" sz="2900" dirty="0"/>
          </a:p>
        </p:txBody>
      </p:sp>
      <p:sp>
        <p:nvSpPr>
          <p:cNvPr id="4" name="Text 2"/>
          <p:cNvSpPr txBox="1"/>
          <p:nvPr/>
        </p:nvSpPr>
        <p:spPr>
          <a:xfrm>
            <a:off x="10972800" y="6355080"/>
            <a:ext cx="438912" cy="237744"/>
          </a:xfrm>
          <a:prstGeom prst="rect">
            <a:avLst/>
          </a:prstGeom>
          <a:noFill/>
          <a:ln/>
        </p:spPr>
        <p:txBody>
          <a:bodyPr wrap="square" lIns="0" tIns="0" rIns="0" bIns="0" rtlCol="0" anchor="ctr"/>
          <a:lstStyle/>
          <a:p>
            <a:pPr algn="r" indent="0" marL="0">
              <a:buNone/>
            </a:pPr>
            <a:r>
              <a:rPr lang="en-US" sz="950" dirty="0">
                <a:solidFill>
                  <a:srgbClr val="A6A6AC"/>
                </a:solidFill>
                <a:latin typeface="Calibri" pitchFamily="34" charset="0"/>
                <a:ea typeface="Calibri" pitchFamily="34" charset="-122"/>
                <a:cs typeface="Calibri" pitchFamily="34" charset="-120"/>
              </a:rPr>
              <a:t>32</a:t>
            </a:r>
            <a:endParaRPr lang="en-US" sz="950" dirty="0"/>
          </a:p>
        </p:txBody>
      </p:sp>
      <p:sp>
        <p:nvSpPr>
          <p:cNvPr id="5" name="Text 3"/>
          <p:cNvSpPr txBox="1"/>
          <p:nvPr/>
        </p:nvSpPr>
        <p:spPr>
          <a:xfrm>
            <a:off x="777240" y="1517904"/>
            <a:ext cx="10634472" cy="621792"/>
          </a:xfrm>
          <a:prstGeom prst="rect">
            <a:avLst/>
          </a:prstGeom>
          <a:noFill/>
          <a:ln/>
        </p:spPr>
        <p:txBody>
          <a:bodyPr wrap="square" lIns="0" tIns="0" rIns="0" bIns="0" rtlCol="0" anchor="ctr"/>
          <a:lstStyle/>
          <a:p>
            <a:pPr indent="0" marL="0">
              <a:lnSpc>
                <a:spcPts val="2300"/>
              </a:lnSpc>
              <a:buNone/>
            </a:pPr>
            <a:r>
              <a:rPr lang="en-US" sz="1450" dirty="0">
                <a:solidFill>
                  <a:srgbClr val="2B2B31"/>
                </a:solidFill>
                <a:latin typeface="Cambria" pitchFamily="34" charset="0"/>
                <a:ea typeface="Cambria" pitchFamily="34" charset="-122"/>
                <a:cs typeface="Cambria" pitchFamily="34" charset="-120"/>
              </a:rPr>
              <a:t>Duyular mağazanın her yerinde aynı yoğunlukta çalışmaz. Her duyunun baskın olduğu bir an vardır; tasarımcının işi o anı bilerek kurmaktır.</a:t>
            </a:r>
            <a:endParaRPr lang="en-US" sz="1450" dirty="0"/>
          </a:p>
        </p:txBody>
      </p:sp>
      <p:sp>
        <p:nvSpPr>
          <p:cNvPr id="6" name="Text 4"/>
          <p:cNvSpPr txBox="1"/>
          <p:nvPr/>
        </p:nvSpPr>
        <p:spPr>
          <a:xfrm>
            <a:off x="2221992" y="2176272"/>
            <a:ext cx="1133856" cy="256032"/>
          </a:xfrm>
          <a:prstGeom prst="rect">
            <a:avLst/>
          </a:prstGeom>
          <a:noFill/>
          <a:ln/>
        </p:spPr>
        <p:txBody>
          <a:bodyPr wrap="square" lIns="0" tIns="0" rIns="0" bIns="0" rtlCol="0" anchor="ctr"/>
          <a:lstStyle/>
          <a:p>
            <a:pPr algn="ctr" indent="0" marL="0">
              <a:buNone/>
            </a:pPr>
            <a:r>
              <a:rPr lang="en-US" sz="850" b="1" dirty="0">
                <a:solidFill>
                  <a:srgbClr val="7A7A82"/>
                </a:solidFill>
                <a:latin typeface="Calibri" pitchFamily="34" charset="0"/>
                <a:ea typeface="Calibri" pitchFamily="34" charset="-122"/>
                <a:cs typeface="Calibri" pitchFamily="34" charset="-120"/>
              </a:rPr>
              <a:t>Çekim</a:t>
            </a:r>
            <a:endParaRPr lang="en-US" sz="850" dirty="0"/>
          </a:p>
        </p:txBody>
      </p:sp>
      <p:sp>
        <p:nvSpPr>
          <p:cNvPr id="7" name="Shape 5"/>
          <p:cNvSpPr/>
          <p:nvPr/>
        </p:nvSpPr>
        <p:spPr>
          <a:xfrm>
            <a:off x="2788920" y="2487168"/>
            <a:ext cx="0" cy="3136392"/>
          </a:xfrm>
          <a:prstGeom prst="line">
            <a:avLst/>
          </a:prstGeom>
          <a:noFill/>
          <a:ln w="9525">
            <a:solidFill>
              <a:srgbClr val="EDEDF0"/>
            </a:solidFill>
            <a:prstDash val="solid"/>
          </a:ln>
        </p:spPr>
      </p:sp>
      <p:sp>
        <p:nvSpPr>
          <p:cNvPr id="8" name="Text 6"/>
          <p:cNvSpPr txBox="1"/>
          <p:nvPr/>
        </p:nvSpPr>
        <p:spPr>
          <a:xfrm>
            <a:off x="3608832" y="2176272"/>
            <a:ext cx="1133856" cy="256032"/>
          </a:xfrm>
          <a:prstGeom prst="rect">
            <a:avLst/>
          </a:prstGeom>
          <a:noFill/>
          <a:ln/>
        </p:spPr>
        <p:txBody>
          <a:bodyPr wrap="square" lIns="0" tIns="0" rIns="0" bIns="0" rtlCol="0" anchor="ctr"/>
          <a:lstStyle/>
          <a:p>
            <a:pPr algn="ctr" indent="0" marL="0">
              <a:buNone/>
            </a:pPr>
            <a:r>
              <a:rPr lang="en-US" sz="850" b="1" dirty="0">
                <a:solidFill>
                  <a:srgbClr val="7A7A82"/>
                </a:solidFill>
                <a:latin typeface="Calibri" pitchFamily="34" charset="0"/>
                <a:ea typeface="Calibri" pitchFamily="34" charset="-122"/>
                <a:cs typeface="Calibri" pitchFamily="34" charset="-120"/>
              </a:rPr>
              <a:t>Eşik</a:t>
            </a:r>
            <a:endParaRPr lang="en-US" sz="850" dirty="0"/>
          </a:p>
        </p:txBody>
      </p:sp>
      <p:sp>
        <p:nvSpPr>
          <p:cNvPr id="9" name="Shape 7"/>
          <p:cNvSpPr/>
          <p:nvPr/>
        </p:nvSpPr>
        <p:spPr>
          <a:xfrm>
            <a:off x="4175760" y="2487168"/>
            <a:ext cx="0" cy="3136392"/>
          </a:xfrm>
          <a:prstGeom prst="line">
            <a:avLst/>
          </a:prstGeom>
          <a:noFill/>
          <a:ln w="9525">
            <a:solidFill>
              <a:srgbClr val="EDEDF0"/>
            </a:solidFill>
            <a:prstDash val="solid"/>
          </a:ln>
        </p:spPr>
      </p:sp>
      <p:sp>
        <p:nvSpPr>
          <p:cNvPr id="10" name="Text 8"/>
          <p:cNvSpPr txBox="1"/>
          <p:nvPr/>
        </p:nvSpPr>
        <p:spPr>
          <a:xfrm>
            <a:off x="4995672" y="2176272"/>
            <a:ext cx="1133856" cy="256032"/>
          </a:xfrm>
          <a:prstGeom prst="rect">
            <a:avLst/>
          </a:prstGeom>
          <a:noFill/>
          <a:ln/>
        </p:spPr>
        <p:txBody>
          <a:bodyPr wrap="square" lIns="0" tIns="0" rIns="0" bIns="0" rtlCol="0" anchor="ctr"/>
          <a:lstStyle/>
          <a:p>
            <a:pPr algn="ctr" indent="0" marL="0">
              <a:buNone/>
            </a:pPr>
            <a:r>
              <a:rPr lang="en-US" sz="850" b="1" dirty="0">
                <a:solidFill>
                  <a:srgbClr val="7A7A82"/>
                </a:solidFill>
                <a:latin typeface="Calibri" pitchFamily="34" charset="0"/>
                <a:ea typeface="Calibri" pitchFamily="34" charset="-122"/>
                <a:cs typeface="Calibri" pitchFamily="34" charset="-120"/>
              </a:rPr>
              <a:t>Yönelme</a:t>
            </a:r>
            <a:endParaRPr lang="en-US" sz="850" dirty="0"/>
          </a:p>
        </p:txBody>
      </p:sp>
      <p:sp>
        <p:nvSpPr>
          <p:cNvPr id="11" name="Shape 9"/>
          <p:cNvSpPr/>
          <p:nvPr/>
        </p:nvSpPr>
        <p:spPr>
          <a:xfrm>
            <a:off x="5562600" y="2487168"/>
            <a:ext cx="0" cy="3136392"/>
          </a:xfrm>
          <a:prstGeom prst="line">
            <a:avLst/>
          </a:prstGeom>
          <a:noFill/>
          <a:ln w="9525">
            <a:solidFill>
              <a:srgbClr val="EDEDF0"/>
            </a:solidFill>
            <a:prstDash val="solid"/>
          </a:ln>
        </p:spPr>
      </p:sp>
      <p:sp>
        <p:nvSpPr>
          <p:cNvPr id="12" name="Text 10"/>
          <p:cNvSpPr txBox="1"/>
          <p:nvPr/>
        </p:nvSpPr>
        <p:spPr>
          <a:xfrm>
            <a:off x="6382512" y="2176272"/>
            <a:ext cx="1133856" cy="256032"/>
          </a:xfrm>
          <a:prstGeom prst="rect">
            <a:avLst/>
          </a:prstGeom>
          <a:noFill/>
          <a:ln/>
        </p:spPr>
        <p:txBody>
          <a:bodyPr wrap="square" lIns="0" tIns="0" rIns="0" bIns="0" rtlCol="0" anchor="ctr"/>
          <a:lstStyle/>
          <a:p>
            <a:pPr algn="ctr" indent="0" marL="0">
              <a:buNone/>
            </a:pPr>
            <a:r>
              <a:rPr lang="en-US" sz="850" b="1" dirty="0">
                <a:solidFill>
                  <a:srgbClr val="7A7A82"/>
                </a:solidFill>
                <a:latin typeface="Calibri" pitchFamily="34" charset="0"/>
                <a:ea typeface="Calibri" pitchFamily="34" charset="-122"/>
                <a:cs typeface="Calibri" pitchFamily="34" charset="-120"/>
              </a:rPr>
              <a:t>Gezinme</a:t>
            </a:r>
            <a:endParaRPr lang="en-US" sz="850" dirty="0"/>
          </a:p>
        </p:txBody>
      </p:sp>
      <p:sp>
        <p:nvSpPr>
          <p:cNvPr id="13" name="Shape 11"/>
          <p:cNvSpPr/>
          <p:nvPr/>
        </p:nvSpPr>
        <p:spPr>
          <a:xfrm>
            <a:off x="6949440" y="2487168"/>
            <a:ext cx="0" cy="3136392"/>
          </a:xfrm>
          <a:prstGeom prst="line">
            <a:avLst/>
          </a:prstGeom>
          <a:noFill/>
          <a:ln w="9525">
            <a:solidFill>
              <a:srgbClr val="EDEDF0"/>
            </a:solidFill>
            <a:prstDash val="solid"/>
          </a:ln>
        </p:spPr>
      </p:sp>
      <p:sp>
        <p:nvSpPr>
          <p:cNvPr id="14" name="Text 12"/>
          <p:cNvSpPr txBox="1"/>
          <p:nvPr/>
        </p:nvSpPr>
        <p:spPr>
          <a:xfrm>
            <a:off x="7769352" y="2176272"/>
            <a:ext cx="1133856" cy="256032"/>
          </a:xfrm>
          <a:prstGeom prst="rect">
            <a:avLst/>
          </a:prstGeom>
          <a:noFill/>
          <a:ln/>
        </p:spPr>
        <p:txBody>
          <a:bodyPr wrap="square" lIns="0" tIns="0" rIns="0" bIns="0" rtlCol="0" anchor="ctr"/>
          <a:lstStyle/>
          <a:p>
            <a:pPr algn="ctr" indent="0" marL="0">
              <a:buNone/>
            </a:pPr>
            <a:r>
              <a:rPr lang="en-US" sz="850" b="1" dirty="0">
                <a:solidFill>
                  <a:srgbClr val="7A7A82"/>
                </a:solidFill>
                <a:latin typeface="Calibri" pitchFamily="34" charset="0"/>
                <a:ea typeface="Calibri" pitchFamily="34" charset="-122"/>
                <a:cs typeface="Calibri" pitchFamily="34" charset="-120"/>
              </a:rPr>
              <a:t>Etkileşim</a:t>
            </a:r>
            <a:endParaRPr lang="en-US" sz="850" dirty="0"/>
          </a:p>
        </p:txBody>
      </p:sp>
      <p:sp>
        <p:nvSpPr>
          <p:cNvPr id="15" name="Shape 13"/>
          <p:cNvSpPr/>
          <p:nvPr/>
        </p:nvSpPr>
        <p:spPr>
          <a:xfrm>
            <a:off x="8336280" y="2487168"/>
            <a:ext cx="0" cy="3136392"/>
          </a:xfrm>
          <a:prstGeom prst="line">
            <a:avLst/>
          </a:prstGeom>
          <a:noFill/>
          <a:ln w="9525">
            <a:solidFill>
              <a:srgbClr val="EDEDF0"/>
            </a:solidFill>
            <a:prstDash val="solid"/>
          </a:ln>
        </p:spPr>
      </p:sp>
      <p:sp>
        <p:nvSpPr>
          <p:cNvPr id="16" name="Text 14"/>
          <p:cNvSpPr txBox="1"/>
          <p:nvPr/>
        </p:nvSpPr>
        <p:spPr>
          <a:xfrm>
            <a:off x="9156192" y="2176272"/>
            <a:ext cx="1133856" cy="256032"/>
          </a:xfrm>
          <a:prstGeom prst="rect">
            <a:avLst/>
          </a:prstGeom>
          <a:noFill/>
          <a:ln/>
        </p:spPr>
        <p:txBody>
          <a:bodyPr wrap="square" lIns="0" tIns="0" rIns="0" bIns="0" rtlCol="0" anchor="ctr"/>
          <a:lstStyle/>
          <a:p>
            <a:pPr algn="ctr" indent="0" marL="0">
              <a:buNone/>
            </a:pPr>
            <a:r>
              <a:rPr lang="en-US" sz="850" b="1" dirty="0">
                <a:solidFill>
                  <a:srgbClr val="7A7A82"/>
                </a:solidFill>
                <a:latin typeface="Calibri" pitchFamily="34" charset="0"/>
                <a:ea typeface="Calibri" pitchFamily="34" charset="-122"/>
                <a:cs typeface="Calibri" pitchFamily="34" charset="-120"/>
              </a:rPr>
              <a:t>Satın alma</a:t>
            </a:r>
            <a:endParaRPr lang="en-US" sz="850" dirty="0"/>
          </a:p>
        </p:txBody>
      </p:sp>
      <p:sp>
        <p:nvSpPr>
          <p:cNvPr id="17" name="Shape 15"/>
          <p:cNvSpPr/>
          <p:nvPr/>
        </p:nvSpPr>
        <p:spPr>
          <a:xfrm>
            <a:off x="9723120" y="2487168"/>
            <a:ext cx="0" cy="3136392"/>
          </a:xfrm>
          <a:prstGeom prst="line">
            <a:avLst/>
          </a:prstGeom>
          <a:noFill/>
          <a:ln w="9525">
            <a:solidFill>
              <a:srgbClr val="EDEDF0"/>
            </a:solidFill>
            <a:prstDash val="solid"/>
          </a:ln>
        </p:spPr>
      </p:sp>
      <p:sp>
        <p:nvSpPr>
          <p:cNvPr id="18" name="Text 16"/>
          <p:cNvSpPr txBox="1"/>
          <p:nvPr/>
        </p:nvSpPr>
        <p:spPr>
          <a:xfrm>
            <a:off x="10543032" y="2176272"/>
            <a:ext cx="1133856" cy="256032"/>
          </a:xfrm>
          <a:prstGeom prst="rect">
            <a:avLst/>
          </a:prstGeom>
          <a:noFill/>
          <a:ln/>
        </p:spPr>
        <p:txBody>
          <a:bodyPr wrap="square" lIns="0" tIns="0" rIns="0" bIns="0" rtlCol="0" anchor="ctr"/>
          <a:lstStyle/>
          <a:p>
            <a:pPr algn="ctr" indent="0" marL="0">
              <a:buNone/>
            </a:pPr>
            <a:r>
              <a:rPr lang="en-US" sz="850" b="1" dirty="0">
                <a:solidFill>
                  <a:srgbClr val="7A7A82"/>
                </a:solidFill>
                <a:latin typeface="Calibri" pitchFamily="34" charset="0"/>
                <a:ea typeface="Calibri" pitchFamily="34" charset="-122"/>
                <a:cs typeface="Calibri" pitchFamily="34" charset="-120"/>
              </a:rPr>
              <a:t>Ayrılma</a:t>
            </a:r>
            <a:endParaRPr lang="en-US" sz="850" dirty="0"/>
          </a:p>
        </p:txBody>
      </p:sp>
      <p:sp>
        <p:nvSpPr>
          <p:cNvPr id="19" name="Shape 17"/>
          <p:cNvSpPr/>
          <p:nvPr/>
        </p:nvSpPr>
        <p:spPr>
          <a:xfrm>
            <a:off x="11109960" y="2487168"/>
            <a:ext cx="0" cy="3136392"/>
          </a:xfrm>
          <a:prstGeom prst="line">
            <a:avLst/>
          </a:prstGeom>
          <a:noFill/>
          <a:ln w="9525">
            <a:solidFill>
              <a:srgbClr val="EDEDF0"/>
            </a:solidFill>
            <a:prstDash val="solid"/>
          </a:ln>
        </p:spPr>
      </p:sp>
      <p:sp>
        <p:nvSpPr>
          <p:cNvPr id="20" name="Shape 18"/>
          <p:cNvSpPr/>
          <p:nvPr/>
        </p:nvSpPr>
        <p:spPr>
          <a:xfrm>
            <a:off x="2514600" y="2487168"/>
            <a:ext cx="8869680" cy="0"/>
          </a:xfrm>
          <a:prstGeom prst="line">
            <a:avLst/>
          </a:prstGeom>
          <a:noFill/>
          <a:ln w="12700">
            <a:solidFill>
              <a:srgbClr val="C9C9CF"/>
            </a:solidFill>
            <a:prstDash val="solid"/>
          </a:ln>
        </p:spPr>
      </p:sp>
      <p:sp>
        <p:nvSpPr>
          <p:cNvPr id="21" name="Text 19"/>
          <p:cNvSpPr txBox="1"/>
          <p:nvPr/>
        </p:nvSpPr>
        <p:spPr>
          <a:xfrm>
            <a:off x="777240" y="2724912"/>
            <a:ext cx="1737360" cy="274320"/>
          </a:xfrm>
          <a:prstGeom prst="rect">
            <a:avLst/>
          </a:prstGeom>
          <a:noFill/>
          <a:ln/>
        </p:spPr>
        <p:txBody>
          <a:bodyPr wrap="square" lIns="0" tIns="0" rIns="0" bIns="0" rtlCol="0" anchor="ctr"/>
          <a:lstStyle/>
          <a:p>
            <a:pPr indent="0" marL="0">
              <a:buNone/>
            </a:pPr>
            <a:r>
              <a:rPr lang="en-US" sz="1400" b="1" dirty="0">
                <a:solidFill>
                  <a:srgbClr val="8C3A2B"/>
                </a:solidFill>
                <a:latin typeface="Cambria" pitchFamily="34" charset="0"/>
                <a:ea typeface="Cambria" pitchFamily="34" charset="-122"/>
                <a:cs typeface="Cambria" pitchFamily="34" charset="-120"/>
              </a:rPr>
              <a:t>Görme</a:t>
            </a:r>
            <a:endParaRPr lang="en-US" sz="1400" dirty="0"/>
          </a:p>
        </p:txBody>
      </p:sp>
      <p:sp>
        <p:nvSpPr>
          <p:cNvPr id="22" name="Shape 20"/>
          <p:cNvSpPr/>
          <p:nvPr/>
        </p:nvSpPr>
        <p:spPr>
          <a:xfrm>
            <a:off x="2788920" y="2862072"/>
            <a:ext cx="4160520" cy="0"/>
          </a:xfrm>
          <a:prstGeom prst="line">
            <a:avLst/>
          </a:prstGeom>
          <a:noFill/>
          <a:ln w="19050">
            <a:solidFill>
              <a:srgbClr val="8C3A2B"/>
            </a:solidFill>
            <a:prstDash val="solid"/>
          </a:ln>
        </p:spPr>
      </p:sp>
      <p:sp>
        <p:nvSpPr>
          <p:cNvPr id="23" name="Shape 21"/>
          <p:cNvSpPr/>
          <p:nvPr/>
        </p:nvSpPr>
        <p:spPr>
          <a:xfrm>
            <a:off x="2715768" y="2788920"/>
            <a:ext cx="146304" cy="146304"/>
          </a:xfrm>
          <a:prstGeom prst="ellipse">
            <a:avLst/>
          </a:prstGeom>
          <a:solidFill>
            <a:srgbClr val="8C3A2B"/>
          </a:solidFill>
          <a:ln w="12700">
            <a:solidFill>
              <a:srgbClr val="8C3A2B"/>
            </a:solidFill>
            <a:prstDash val="solid"/>
          </a:ln>
        </p:spPr>
      </p:sp>
      <p:sp>
        <p:nvSpPr>
          <p:cNvPr id="24" name="Shape 22"/>
          <p:cNvSpPr/>
          <p:nvPr/>
        </p:nvSpPr>
        <p:spPr>
          <a:xfrm>
            <a:off x="6876288" y="2788920"/>
            <a:ext cx="146304" cy="146304"/>
          </a:xfrm>
          <a:prstGeom prst="ellipse">
            <a:avLst/>
          </a:prstGeom>
          <a:solidFill>
            <a:srgbClr val="8C3A2B"/>
          </a:solidFill>
          <a:ln w="12700">
            <a:solidFill>
              <a:srgbClr val="8C3A2B"/>
            </a:solidFill>
            <a:prstDash val="solid"/>
          </a:ln>
        </p:spPr>
      </p:sp>
      <p:sp>
        <p:nvSpPr>
          <p:cNvPr id="25" name="Text 23"/>
          <p:cNvSpPr txBox="1"/>
          <p:nvPr/>
        </p:nvSpPr>
        <p:spPr>
          <a:xfrm>
            <a:off x="7150608" y="2724912"/>
            <a:ext cx="4187952" cy="310896"/>
          </a:xfrm>
          <a:prstGeom prst="rect">
            <a:avLst/>
          </a:prstGeom>
          <a:noFill/>
          <a:ln/>
        </p:spPr>
        <p:txBody>
          <a:bodyPr wrap="square" lIns="0" tIns="0" rIns="0" bIns="0" rtlCol="0" anchor="ctr"/>
          <a:lstStyle/>
          <a:p>
            <a:pPr indent="0" marL="0">
              <a:buNone/>
            </a:pPr>
            <a:r>
              <a:rPr lang="en-US" sz="950" dirty="0">
                <a:solidFill>
                  <a:srgbClr val="7A7A82"/>
                </a:solidFill>
                <a:latin typeface="Calibri" pitchFamily="34" charset="0"/>
                <a:ea typeface="Calibri" pitchFamily="34" charset="-122"/>
                <a:cs typeface="Calibri" pitchFamily="34" charset="-120"/>
              </a:rPr>
              <a:t>vitrin silüeti ve ışık lekesi · teşhir kontrastı</a:t>
            </a:r>
            <a:endParaRPr lang="en-US" sz="950" dirty="0"/>
          </a:p>
        </p:txBody>
      </p:sp>
      <p:sp>
        <p:nvSpPr>
          <p:cNvPr id="26" name="Text 24"/>
          <p:cNvSpPr txBox="1"/>
          <p:nvPr/>
        </p:nvSpPr>
        <p:spPr>
          <a:xfrm>
            <a:off x="777240" y="3227832"/>
            <a:ext cx="1737360" cy="274320"/>
          </a:xfrm>
          <a:prstGeom prst="rect">
            <a:avLst/>
          </a:prstGeom>
          <a:noFill/>
          <a:ln/>
        </p:spPr>
        <p:txBody>
          <a:bodyPr wrap="square" lIns="0" tIns="0" rIns="0" bIns="0" rtlCol="0" anchor="ctr"/>
          <a:lstStyle/>
          <a:p>
            <a:pPr indent="0" marL="0">
              <a:buNone/>
            </a:pPr>
            <a:r>
              <a:rPr lang="en-US" sz="1400" b="1" dirty="0">
                <a:solidFill>
                  <a:srgbClr val="8C3A2B"/>
                </a:solidFill>
                <a:latin typeface="Cambria" pitchFamily="34" charset="0"/>
                <a:ea typeface="Cambria" pitchFamily="34" charset="-122"/>
                <a:cs typeface="Cambria" pitchFamily="34" charset="-120"/>
              </a:rPr>
              <a:t>Beden</a:t>
            </a:r>
            <a:endParaRPr lang="en-US" sz="1400" dirty="0"/>
          </a:p>
        </p:txBody>
      </p:sp>
      <p:sp>
        <p:nvSpPr>
          <p:cNvPr id="27" name="Shape 25"/>
          <p:cNvSpPr/>
          <p:nvPr/>
        </p:nvSpPr>
        <p:spPr>
          <a:xfrm>
            <a:off x="4175760" y="3364992"/>
            <a:ext cx="1386840" cy="0"/>
          </a:xfrm>
          <a:prstGeom prst="line">
            <a:avLst/>
          </a:prstGeom>
          <a:noFill/>
          <a:ln w="19050">
            <a:solidFill>
              <a:srgbClr val="8C3A2B"/>
            </a:solidFill>
            <a:prstDash val="solid"/>
          </a:ln>
        </p:spPr>
      </p:sp>
      <p:sp>
        <p:nvSpPr>
          <p:cNvPr id="28" name="Shape 26"/>
          <p:cNvSpPr/>
          <p:nvPr/>
        </p:nvSpPr>
        <p:spPr>
          <a:xfrm>
            <a:off x="4102608" y="3291840"/>
            <a:ext cx="146304" cy="146304"/>
          </a:xfrm>
          <a:prstGeom prst="ellipse">
            <a:avLst/>
          </a:prstGeom>
          <a:solidFill>
            <a:srgbClr val="8C3A2B"/>
          </a:solidFill>
          <a:ln w="12700">
            <a:solidFill>
              <a:srgbClr val="8C3A2B"/>
            </a:solidFill>
            <a:prstDash val="solid"/>
          </a:ln>
        </p:spPr>
      </p:sp>
      <p:sp>
        <p:nvSpPr>
          <p:cNvPr id="29" name="Shape 27"/>
          <p:cNvSpPr/>
          <p:nvPr/>
        </p:nvSpPr>
        <p:spPr>
          <a:xfrm>
            <a:off x="5489448" y="3291840"/>
            <a:ext cx="146304" cy="146304"/>
          </a:xfrm>
          <a:prstGeom prst="ellipse">
            <a:avLst/>
          </a:prstGeom>
          <a:solidFill>
            <a:srgbClr val="8C3A2B"/>
          </a:solidFill>
          <a:ln w="12700">
            <a:solidFill>
              <a:srgbClr val="8C3A2B"/>
            </a:solidFill>
            <a:prstDash val="solid"/>
          </a:ln>
        </p:spPr>
      </p:sp>
      <p:sp>
        <p:nvSpPr>
          <p:cNvPr id="30" name="Text 28"/>
          <p:cNvSpPr txBox="1"/>
          <p:nvPr/>
        </p:nvSpPr>
        <p:spPr>
          <a:xfrm>
            <a:off x="5763768" y="3227832"/>
            <a:ext cx="5574792" cy="310896"/>
          </a:xfrm>
          <a:prstGeom prst="rect">
            <a:avLst/>
          </a:prstGeom>
          <a:noFill/>
          <a:ln/>
        </p:spPr>
        <p:txBody>
          <a:bodyPr wrap="square" lIns="0" tIns="0" rIns="0" bIns="0" rtlCol="0" anchor="ctr"/>
          <a:lstStyle/>
          <a:p>
            <a:pPr indent="0" marL="0">
              <a:buNone/>
            </a:pPr>
            <a:r>
              <a:rPr lang="en-US" sz="950" dirty="0">
                <a:solidFill>
                  <a:srgbClr val="7A7A82"/>
                </a:solidFill>
                <a:latin typeface="Calibri" pitchFamily="34" charset="0"/>
                <a:ea typeface="Calibri" pitchFamily="34" charset="-122"/>
                <a:cs typeface="Calibri" pitchFamily="34" charset="-120"/>
              </a:rPr>
              <a:t>eşikte ısı ve zemin değişimi · koridor genişliği, yoğunluk</a:t>
            </a:r>
            <a:endParaRPr lang="en-US" sz="950" dirty="0"/>
          </a:p>
        </p:txBody>
      </p:sp>
      <p:sp>
        <p:nvSpPr>
          <p:cNvPr id="31" name="Text 29"/>
          <p:cNvSpPr txBox="1"/>
          <p:nvPr/>
        </p:nvSpPr>
        <p:spPr>
          <a:xfrm>
            <a:off x="777240" y="3730752"/>
            <a:ext cx="1737360" cy="274320"/>
          </a:xfrm>
          <a:prstGeom prst="rect">
            <a:avLst/>
          </a:prstGeom>
          <a:noFill/>
          <a:ln/>
        </p:spPr>
        <p:txBody>
          <a:bodyPr wrap="square" lIns="0" tIns="0" rIns="0" bIns="0" rtlCol="0" anchor="ctr"/>
          <a:lstStyle/>
          <a:p>
            <a:pPr indent="0" marL="0">
              <a:buNone/>
            </a:pPr>
            <a:r>
              <a:rPr lang="en-US" sz="1400" b="1" dirty="0">
                <a:solidFill>
                  <a:srgbClr val="8C3A2B"/>
                </a:solidFill>
                <a:latin typeface="Cambria" pitchFamily="34" charset="0"/>
                <a:ea typeface="Cambria" pitchFamily="34" charset="-122"/>
                <a:cs typeface="Cambria" pitchFamily="34" charset="-120"/>
              </a:rPr>
              <a:t>Koklama</a:t>
            </a:r>
            <a:endParaRPr lang="en-US" sz="1400" dirty="0"/>
          </a:p>
        </p:txBody>
      </p:sp>
      <p:sp>
        <p:nvSpPr>
          <p:cNvPr id="32" name="Shape 30"/>
          <p:cNvSpPr/>
          <p:nvPr/>
        </p:nvSpPr>
        <p:spPr>
          <a:xfrm>
            <a:off x="4175760" y="3867912"/>
            <a:ext cx="4160520" cy="0"/>
          </a:xfrm>
          <a:prstGeom prst="line">
            <a:avLst/>
          </a:prstGeom>
          <a:noFill/>
          <a:ln w="19050">
            <a:solidFill>
              <a:srgbClr val="8C3A2B"/>
            </a:solidFill>
            <a:prstDash val="solid"/>
          </a:ln>
        </p:spPr>
      </p:sp>
      <p:sp>
        <p:nvSpPr>
          <p:cNvPr id="33" name="Shape 31"/>
          <p:cNvSpPr/>
          <p:nvPr/>
        </p:nvSpPr>
        <p:spPr>
          <a:xfrm>
            <a:off x="4102608" y="3794760"/>
            <a:ext cx="146304" cy="146304"/>
          </a:xfrm>
          <a:prstGeom prst="ellipse">
            <a:avLst/>
          </a:prstGeom>
          <a:solidFill>
            <a:srgbClr val="8C3A2B"/>
          </a:solidFill>
          <a:ln w="12700">
            <a:solidFill>
              <a:srgbClr val="8C3A2B"/>
            </a:solidFill>
            <a:prstDash val="solid"/>
          </a:ln>
        </p:spPr>
      </p:sp>
      <p:sp>
        <p:nvSpPr>
          <p:cNvPr id="34" name="Shape 32"/>
          <p:cNvSpPr/>
          <p:nvPr/>
        </p:nvSpPr>
        <p:spPr>
          <a:xfrm>
            <a:off x="8263128" y="3794760"/>
            <a:ext cx="146304" cy="146304"/>
          </a:xfrm>
          <a:prstGeom prst="ellipse">
            <a:avLst/>
          </a:prstGeom>
          <a:solidFill>
            <a:srgbClr val="8C3A2B"/>
          </a:solidFill>
          <a:ln w="12700">
            <a:solidFill>
              <a:srgbClr val="8C3A2B"/>
            </a:solidFill>
            <a:prstDash val="solid"/>
          </a:ln>
        </p:spPr>
      </p:sp>
      <p:sp>
        <p:nvSpPr>
          <p:cNvPr id="35" name="Text 33"/>
          <p:cNvSpPr txBox="1"/>
          <p:nvPr/>
        </p:nvSpPr>
        <p:spPr>
          <a:xfrm>
            <a:off x="8537448" y="3730752"/>
            <a:ext cx="2801112" cy="310896"/>
          </a:xfrm>
          <a:prstGeom prst="rect">
            <a:avLst/>
          </a:prstGeom>
          <a:noFill/>
          <a:ln/>
        </p:spPr>
        <p:txBody>
          <a:bodyPr wrap="square" lIns="0" tIns="0" rIns="0" bIns="0" rtlCol="0" anchor="ctr"/>
          <a:lstStyle/>
          <a:p>
            <a:pPr indent="0" marL="0">
              <a:buNone/>
            </a:pPr>
            <a:r>
              <a:rPr lang="en-US" sz="950" dirty="0">
                <a:solidFill>
                  <a:srgbClr val="7A7A82"/>
                </a:solidFill>
                <a:latin typeface="Calibri" pitchFamily="34" charset="0"/>
                <a:ea typeface="Calibri" pitchFamily="34" charset="-122"/>
                <a:cs typeface="Calibri" pitchFamily="34" charset="-120"/>
              </a:rPr>
              <a:t>ilk izlenim · ürünün ve malzemenin kendi kokusu</a:t>
            </a:r>
            <a:endParaRPr lang="en-US" sz="950" dirty="0"/>
          </a:p>
        </p:txBody>
      </p:sp>
      <p:sp>
        <p:nvSpPr>
          <p:cNvPr id="36" name="Text 34"/>
          <p:cNvSpPr txBox="1"/>
          <p:nvPr/>
        </p:nvSpPr>
        <p:spPr>
          <a:xfrm>
            <a:off x="777240" y="4233672"/>
            <a:ext cx="1737360" cy="274320"/>
          </a:xfrm>
          <a:prstGeom prst="rect">
            <a:avLst/>
          </a:prstGeom>
          <a:noFill/>
          <a:ln/>
        </p:spPr>
        <p:txBody>
          <a:bodyPr wrap="square" lIns="0" tIns="0" rIns="0" bIns="0" rtlCol="0" anchor="ctr"/>
          <a:lstStyle/>
          <a:p>
            <a:pPr indent="0" marL="0">
              <a:buNone/>
            </a:pPr>
            <a:r>
              <a:rPr lang="en-US" sz="1400" b="1" dirty="0">
                <a:solidFill>
                  <a:srgbClr val="8C3A2B"/>
                </a:solidFill>
                <a:latin typeface="Cambria" pitchFamily="34" charset="0"/>
                <a:ea typeface="Cambria" pitchFamily="34" charset="-122"/>
                <a:cs typeface="Cambria" pitchFamily="34" charset="-120"/>
              </a:rPr>
              <a:t>İşitme</a:t>
            </a:r>
            <a:endParaRPr lang="en-US" sz="1400" dirty="0"/>
          </a:p>
        </p:txBody>
      </p:sp>
      <p:sp>
        <p:nvSpPr>
          <p:cNvPr id="37" name="Shape 35"/>
          <p:cNvSpPr/>
          <p:nvPr/>
        </p:nvSpPr>
        <p:spPr>
          <a:xfrm>
            <a:off x="6949440" y="4370832"/>
            <a:ext cx="1386840" cy="0"/>
          </a:xfrm>
          <a:prstGeom prst="line">
            <a:avLst/>
          </a:prstGeom>
          <a:noFill/>
          <a:ln w="19050">
            <a:solidFill>
              <a:srgbClr val="8C3A2B"/>
            </a:solidFill>
            <a:prstDash val="solid"/>
          </a:ln>
        </p:spPr>
      </p:sp>
      <p:sp>
        <p:nvSpPr>
          <p:cNvPr id="38" name="Shape 36"/>
          <p:cNvSpPr/>
          <p:nvPr/>
        </p:nvSpPr>
        <p:spPr>
          <a:xfrm>
            <a:off x="6876288" y="4297680"/>
            <a:ext cx="146304" cy="146304"/>
          </a:xfrm>
          <a:prstGeom prst="ellipse">
            <a:avLst/>
          </a:prstGeom>
          <a:solidFill>
            <a:srgbClr val="8C3A2B"/>
          </a:solidFill>
          <a:ln w="12700">
            <a:solidFill>
              <a:srgbClr val="8C3A2B"/>
            </a:solidFill>
            <a:prstDash val="solid"/>
          </a:ln>
        </p:spPr>
      </p:sp>
      <p:sp>
        <p:nvSpPr>
          <p:cNvPr id="39" name="Shape 37"/>
          <p:cNvSpPr/>
          <p:nvPr/>
        </p:nvSpPr>
        <p:spPr>
          <a:xfrm>
            <a:off x="8263128" y="4297680"/>
            <a:ext cx="146304" cy="146304"/>
          </a:xfrm>
          <a:prstGeom prst="ellipse">
            <a:avLst/>
          </a:prstGeom>
          <a:solidFill>
            <a:srgbClr val="8C3A2B"/>
          </a:solidFill>
          <a:ln w="12700">
            <a:solidFill>
              <a:srgbClr val="8C3A2B"/>
            </a:solidFill>
            <a:prstDash val="solid"/>
          </a:ln>
        </p:spPr>
      </p:sp>
      <p:sp>
        <p:nvSpPr>
          <p:cNvPr id="40" name="Text 38"/>
          <p:cNvSpPr txBox="1"/>
          <p:nvPr/>
        </p:nvSpPr>
        <p:spPr>
          <a:xfrm>
            <a:off x="8537448" y="4233672"/>
            <a:ext cx="2801112" cy="310896"/>
          </a:xfrm>
          <a:prstGeom prst="rect">
            <a:avLst/>
          </a:prstGeom>
          <a:noFill/>
          <a:ln/>
        </p:spPr>
        <p:txBody>
          <a:bodyPr wrap="square" lIns="0" tIns="0" rIns="0" bIns="0" rtlCol="0" anchor="ctr"/>
          <a:lstStyle/>
          <a:p>
            <a:pPr indent="0" marL="0">
              <a:buNone/>
            </a:pPr>
            <a:r>
              <a:rPr lang="en-US" sz="950" dirty="0">
                <a:solidFill>
                  <a:srgbClr val="7A7A82"/>
                </a:solidFill>
                <a:latin typeface="Calibri" pitchFamily="34" charset="0"/>
                <a:ea typeface="Calibri" pitchFamily="34" charset="-122"/>
                <a:cs typeface="Calibri" pitchFamily="34" charset="-120"/>
              </a:rPr>
              <a:t>genel akustik · kabinde ve danışmada sessizlik</a:t>
            </a:r>
            <a:endParaRPr lang="en-US" sz="950" dirty="0"/>
          </a:p>
        </p:txBody>
      </p:sp>
      <p:sp>
        <p:nvSpPr>
          <p:cNvPr id="41" name="Text 39"/>
          <p:cNvSpPr txBox="1"/>
          <p:nvPr/>
        </p:nvSpPr>
        <p:spPr>
          <a:xfrm>
            <a:off x="777240" y="4736592"/>
            <a:ext cx="1737360" cy="274320"/>
          </a:xfrm>
          <a:prstGeom prst="rect">
            <a:avLst/>
          </a:prstGeom>
          <a:noFill/>
          <a:ln/>
        </p:spPr>
        <p:txBody>
          <a:bodyPr wrap="square" lIns="0" tIns="0" rIns="0" bIns="0" rtlCol="0" anchor="ctr"/>
          <a:lstStyle/>
          <a:p>
            <a:pPr indent="0" marL="0">
              <a:buNone/>
            </a:pPr>
            <a:r>
              <a:rPr lang="en-US" sz="1400" b="1" dirty="0">
                <a:solidFill>
                  <a:srgbClr val="8C3A2B"/>
                </a:solidFill>
                <a:latin typeface="Cambria" pitchFamily="34" charset="0"/>
                <a:ea typeface="Cambria" pitchFamily="34" charset="-122"/>
                <a:cs typeface="Cambria" pitchFamily="34" charset="-120"/>
              </a:rPr>
              <a:t>Dokunma</a:t>
            </a:r>
            <a:endParaRPr lang="en-US" sz="1400" dirty="0"/>
          </a:p>
        </p:txBody>
      </p:sp>
      <p:sp>
        <p:nvSpPr>
          <p:cNvPr id="42" name="Shape 40"/>
          <p:cNvSpPr/>
          <p:nvPr/>
        </p:nvSpPr>
        <p:spPr>
          <a:xfrm>
            <a:off x="6949440" y="4873752"/>
            <a:ext cx="1386840" cy="0"/>
          </a:xfrm>
          <a:prstGeom prst="line">
            <a:avLst/>
          </a:prstGeom>
          <a:noFill/>
          <a:ln w="19050">
            <a:solidFill>
              <a:srgbClr val="8C3A2B"/>
            </a:solidFill>
            <a:prstDash val="solid"/>
          </a:ln>
        </p:spPr>
      </p:sp>
      <p:sp>
        <p:nvSpPr>
          <p:cNvPr id="43" name="Shape 41"/>
          <p:cNvSpPr/>
          <p:nvPr/>
        </p:nvSpPr>
        <p:spPr>
          <a:xfrm>
            <a:off x="6876288" y="4800600"/>
            <a:ext cx="146304" cy="146304"/>
          </a:xfrm>
          <a:prstGeom prst="ellipse">
            <a:avLst/>
          </a:prstGeom>
          <a:solidFill>
            <a:srgbClr val="8C3A2B"/>
          </a:solidFill>
          <a:ln w="12700">
            <a:solidFill>
              <a:srgbClr val="8C3A2B"/>
            </a:solidFill>
            <a:prstDash val="solid"/>
          </a:ln>
        </p:spPr>
      </p:sp>
      <p:sp>
        <p:nvSpPr>
          <p:cNvPr id="44" name="Shape 42"/>
          <p:cNvSpPr/>
          <p:nvPr/>
        </p:nvSpPr>
        <p:spPr>
          <a:xfrm>
            <a:off x="8263128" y="4800600"/>
            <a:ext cx="146304" cy="146304"/>
          </a:xfrm>
          <a:prstGeom prst="ellipse">
            <a:avLst/>
          </a:prstGeom>
          <a:solidFill>
            <a:srgbClr val="8C3A2B"/>
          </a:solidFill>
          <a:ln w="12700">
            <a:solidFill>
              <a:srgbClr val="8C3A2B"/>
            </a:solidFill>
            <a:prstDash val="solid"/>
          </a:ln>
        </p:spPr>
      </p:sp>
      <p:sp>
        <p:nvSpPr>
          <p:cNvPr id="45" name="Text 43"/>
          <p:cNvSpPr txBox="1"/>
          <p:nvPr/>
        </p:nvSpPr>
        <p:spPr>
          <a:xfrm>
            <a:off x="8537448" y="4736592"/>
            <a:ext cx="2801112" cy="310896"/>
          </a:xfrm>
          <a:prstGeom prst="rect">
            <a:avLst/>
          </a:prstGeom>
          <a:noFill/>
          <a:ln/>
        </p:spPr>
        <p:txBody>
          <a:bodyPr wrap="square" lIns="0" tIns="0" rIns="0" bIns="0" rtlCol="0" anchor="ctr"/>
          <a:lstStyle/>
          <a:p>
            <a:pPr indent="0" marL="0">
              <a:buNone/>
            </a:pPr>
            <a:r>
              <a:rPr lang="en-US" sz="950" dirty="0">
                <a:solidFill>
                  <a:srgbClr val="7A7A82"/>
                </a:solidFill>
                <a:latin typeface="Calibri" pitchFamily="34" charset="0"/>
                <a:ea typeface="Calibri" pitchFamily="34" charset="-122"/>
                <a:cs typeface="Calibri" pitchFamily="34" charset="-120"/>
              </a:rPr>
              <a:t>açık raf ve ürüne erişim · deneme, tezgâh, kumaş</a:t>
            </a:r>
            <a:endParaRPr lang="en-US" sz="950" dirty="0"/>
          </a:p>
        </p:txBody>
      </p:sp>
      <p:sp>
        <p:nvSpPr>
          <p:cNvPr id="46" name="Text 44"/>
          <p:cNvSpPr txBox="1"/>
          <p:nvPr/>
        </p:nvSpPr>
        <p:spPr>
          <a:xfrm>
            <a:off x="777240" y="5239512"/>
            <a:ext cx="1737360" cy="274320"/>
          </a:xfrm>
          <a:prstGeom prst="rect">
            <a:avLst/>
          </a:prstGeom>
          <a:noFill/>
          <a:ln/>
        </p:spPr>
        <p:txBody>
          <a:bodyPr wrap="square" lIns="0" tIns="0" rIns="0" bIns="0" rtlCol="0" anchor="ctr"/>
          <a:lstStyle/>
          <a:p>
            <a:pPr indent="0" marL="0">
              <a:buNone/>
            </a:pPr>
            <a:r>
              <a:rPr lang="en-US" sz="1400" b="1" dirty="0">
                <a:solidFill>
                  <a:srgbClr val="8C3A2B"/>
                </a:solidFill>
                <a:latin typeface="Cambria" pitchFamily="34" charset="0"/>
                <a:ea typeface="Cambria" pitchFamily="34" charset="-122"/>
                <a:cs typeface="Cambria" pitchFamily="34" charset="-120"/>
              </a:rPr>
              <a:t>Tat</a:t>
            </a:r>
            <a:endParaRPr lang="en-US" sz="1400" dirty="0"/>
          </a:p>
        </p:txBody>
      </p:sp>
      <p:sp>
        <p:nvSpPr>
          <p:cNvPr id="47" name="Shape 45"/>
          <p:cNvSpPr/>
          <p:nvPr/>
        </p:nvSpPr>
        <p:spPr>
          <a:xfrm>
            <a:off x="8263128" y="5303520"/>
            <a:ext cx="146304" cy="146304"/>
          </a:xfrm>
          <a:prstGeom prst="ellipse">
            <a:avLst/>
          </a:prstGeom>
          <a:solidFill>
            <a:srgbClr val="8C3A2B"/>
          </a:solidFill>
          <a:ln w="12700">
            <a:solidFill>
              <a:srgbClr val="8C3A2B"/>
            </a:solidFill>
            <a:prstDash val="solid"/>
          </a:ln>
        </p:spPr>
      </p:sp>
      <p:sp>
        <p:nvSpPr>
          <p:cNvPr id="48" name="Text 46"/>
          <p:cNvSpPr txBox="1"/>
          <p:nvPr/>
        </p:nvSpPr>
        <p:spPr>
          <a:xfrm>
            <a:off x="8537448" y="5239512"/>
            <a:ext cx="2801112" cy="310896"/>
          </a:xfrm>
          <a:prstGeom prst="rect">
            <a:avLst/>
          </a:prstGeom>
          <a:noFill/>
          <a:ln/>
        </p:spPr>
        <p:txBody>
          <a:bodyPr wrap="square" lIns="0" tIns="0" rIns="0" bIns="0" rtlCol="0" anchor="ctr"/>
          <a:lstStyle/>
          <a:p>
            <a:pPr indent="0" marL="0">
              <a:buNone/>
            </a:pPr>
            <a:r>
              <a:rPr lang="en-US" sz="950" dirty="0">
                <a:solidFill>
                  <a:srgbClr val="7A7A82"/>
                </a:solidFill>
                <a:latin typeface="Calibri" pitchFamily="34" charset="0"/>
                <a:ea typeface="Calibri" pitchFamily="34" charset="-122"/>
                <a:cs typeface="Calibri" pitchFamily="34" charset="-120"/>
              </a:rPr>
              <a:t>tadım noktası · ikram</a:t>
            </a:r>
            <a:endParaRPr lang="en-US" sz="950" dirty="0"/>
          </a:p>
        </p:txBody>
      </p:sp>
      <p:sp>
        <p:nvSpPr>
          <p:cNvPr id="49" name="Text 47"/>
          <p:cNvSpPr txBox="1"/>
          <p:nvPr/>
        </p:nvSpPr>
        <p:spPr>
          <a:xfrm>
            <a:off x="777240" y="5779008"/>
            <a:ext cx="10424160" cy="365760"/>
          </a:xfrm>
          <a:prstGeom prst="rect">
            <a:avLst/>
          </a:prstGeom>
          <a:noFill/>
          <a:ln/>
        </p:spPr>
        <p:txBody>
          <a:bodyPr wrap="square" lIns="0" tIns="0" rIns="0" bIns="0" rtlCol="0" anchor="ctr"/>
          <a:lstStyle/>
          <a:p>
            <a:pPr algn="l" indent="0" marL="0">
              <a:lnSpc>
                <a:spcPts val="1200"/>
              </a:lnSpc>
              <a:buNone/>
            </a:pPr>
            <a:r>
              <a:rPr lang="en-US" sz="1250" i="1" dirty="0">
                <a:solidFill>
                  <a:srgbClr val="8C3A2B"/>
                </a:solidFill>
                <a:latin typeface="Cambria" pitchFamily="34" charset="0"/>
                <a:ea typeface="Cambria" pitchFamily="34" charset="-122"/>
                <a:cs typeface="Cambria" pitchFamily="34" charset="-120"/>
              </a:rPr>
              <a:t>Bir duyunun baskın olduğu an, o duyu için ayrılacak bütçenin ve dikkatin de nerede olması gerektiğini söyler.</a:t>
            </a:r>
            <a:endParaRPr lang="en-US" sz="12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CFCFA"/>
        </a:solidFill>
      </p:bgPr>
    </p:bg>
    <p:spTree>
      <p:nvGrpSpPr>
        <p:cNvPr id="1" name=""/>
        <p:cNvGrpSpPr/>
        <p:nvPr/>
      </p:nvGrpSpPr>
      <p:grpSpPr>
        <a:xfrm>
          <a:off x="0" y="0"/>
          <a:ext cx="0" cy="0"/>
          <a:chOff x="0" y="0"/>
          <a:chExt cx="0" cy="0"/>
        </a:xfrm>
      </p:grpSpPr>
      <p:sp>
        <p:nvSpPr>
          <p:cNvPr id="2" name="Text 0"/>
          <p:cNvSpPr txBox="1"/>
          <p:nvPr/>
        </p:nvSpPr>
        <p:spPr>
          <a:xfrm>
            <a:off x="777240" y="475488"/>
            <a:ext cx="9601200" cy="237744"/>
          </a:xfrm>
          <a:prstGeom prst="rect">
            <a:avLst/>
          </a:prstGeom>
          <a:noFill/>
          <a:ln/>
        </p:spPr>
        <p:txBody>
          <a:bodyPr wrap="square" lIns="0" tIns="0" rIns="0" bIns="0" rtlCol="0" anchor="ctr"/>
          <a:lstStyle/>
          <a:p>
            <a:pPr indent="0" marL="0">
              <a:buNone/>
            </a:pPr>
            <a:r>
              <a:rPr lang="en-US" sz="950" b="1" spc="260" kern="0" dirty="0">
                <a:solidFill>
                  <a:srgbClr val="7A7A82"/>
                </a:solidFill>
                <a:latin typeface="Calibri" pitchFamily="34" charset="0"/>
                <a:ea typeface="Calibri" pitchFamily="34" charset="-122"/>
                <a:cs typeface="Calibri" pitchFamily="34" charset="-120"/>
              </a:rPr>
              <a:t>VII · DUYULAR</a:t>
            </a:r>
            <a:endParaRPr lang="en-US" sz="950" dirty="0"/>
          </a:p>
        </p:txBody>
      </p:sp>
      <p:sp>
        <p:nvSpPr>
          <p:cNvPr id="3" name="Text 1"/>
          <p:cNvSpPr txBox="1"/>
          <p:nvPr/>
        </p:nvSpPr>
        <p:spPr>
          <a:xfrm>
            <a:off x="777240" y="749808"/>
            <a:ext cx="6217920" cy="658368"/>
          </a:xfrm>
          <a:prstGeom prst="rect">
            <a:avLst/>
          </a:prstGeom>
          <a:noFill/>
          <a:ln/>
        </p:spPr>
        <p:txBody>
          <a:bodyPr wrap="square" lIns="0" tIns="0" rIns="0" bIns="0" rtlCol="0" anchor="ctr"/>
          <a:lstStyle/>
          <a:p>
            <a:pPr indent="0" marL="0">
              <a:buNone/>
            </a:pPr>
            <a:r>
              <a:rPr lang="en-US" sz="3800" b="1" dirty="0">
                <a:solidFill>
                  <a:srgbClr val="8C3A2B"/>
                </a:solidFill>
                <a:latin typeface="Cambria" pitchFamily="34" charset="0"/>
                <a:ea typeface="Cambria" pitchFamily="34" charset="-122"/>
                <a:cs typeface="Cambria" pitchFamily="34" charset="-120"/>
              </a:rPr>
              <a:t>Görme</a:t>
            </a:r>
            <a:endParaRPr lang="en-US" sz="3800" dirty="0"/>
          </a:p>
        </p:txBody>
      </p:sp>
      <p:sp>
        <p:nvSpPr>
          <p:cNvPr id="4" name="Text 2"/>
          <p:cNvSpPr txBox="1"/>
          <p:nvPr/>
        </p:nvSpPr>
        <p:spPr>
          <a:xfrm>
            <a:off x="777240" y="1426464"/>
            <a:ext cx="8686800" cy="256032"/>
          </a:xfrm>
          <a:prstGeom prst="rect">
            <a:avLst/>
          </a:prstGeom>
          <a:noFill/>
          <a:ln/>
        </p:spPr>
        <p:txBody>
          <a:bodyPr wrap="square" lIns="0" tIns="0" rIns="0" bIns="0" rtlCol="0" anchor="ctr"/>
          <a:lstStyle/>
          <a:p>
            <a:pPr indent="0" marL="0">
              <a:buNone/>
            </a:pPr>
            <a:r>
              <a:rPr lang="en-US" sz="1050" spc="160" kern="0" dirty="0">
                <a:solidFill>
                  <a:srgbClr val="7A7A82"/>
                </a:solidFill>
                <a:latin typeface="Calibri" pitchFamily="34" charset="0"/>
                <a:ea typeface="Calibri" pitchFamily="34" charset="-122"/>
                <a:cs typeface="Calibri" pitchFamily="34" charset="-120"/>
              </a:rPr>
              <a:t>IŞIK · RENK · KONTRAST · GÖRÜŞ HATTI</a:t>
            </a:r>
            <a:endParaRPr lang="en-US" sz="1050" dirty="0"/>
          </a:p>
        </p:txBody>
      </p:sp>
      <p:sp>
        <p:nvSpPr>
          <p:cNvPr id="5" name="Text 3"/>
          <p:cNvSpPr txBox="1"/>
          <p:nvPr/>
        </p:nvSpPr>
        <p:spPr>
          <a:xfrm>
            <a:off x="777240" y="1874520"/>
            <a:ext cx="5029200" cy="2834640"/>
          </a:xfrm>
          <a:prstGeom prst="rect">
            <a:avLst/>
          </a:prstGeom>
          <a:noFill/>
          <a:ln/>
        </p:spPr>
        <p:txBody>
          <a:bodyPr wrap="square" lIns="0" tIns="0" rIns="0" bIns="0" rtlCol="0" anchor="ctr"/>
          <a:lstStyle/>
          <a:p>
            <a:pPr indent="0" marL="0">
              <a:lnSpc>
                <a:spcPts val="2100"/>
              </a:lnSpc>
              <a:buNone/>
            </a:pPr>
            <a:r>
              <a:rPr lang="en-US" sz="1350" dirty="0">
                <a:solidFill>
                  <a:srgbClr val="2B2B31"/>
                </a:solidFill>
                <a:latin typeface="Cambria" pitchFamily="34" charset="0"/>
                <a:ea typeface="Cambria" pitchFamily="34" charset="-122"/>
                <a:cs typeface="Cambria" pitchFamily="34" charset="-120"/>
              </a:rPr>
              <a:t>Mağazada görmeyi yöneten şey biçim değil, ışıktır. Işığın düzeyi mekânın hızını belirler: parlak ve düz aydınlatılmış bir mekânda insanlar hızlanır, kontrastlı ve yumuşak aydınlatılmış bir mekânda yavaşlar.</a:t>
            </a:r>
            <a:endParaRPr lang="en-US" sz="1350" dirty="0"/>
          </a:p>
          <a:p>
            <a:pPr indent="0" marL="0">
              <a:lnSpc>
                <a:spcPts val="2100"/>
              </a:lnSpc>
              <a:buNone/>
            </a:pPr>
            <a:endParaRPr lang="en-US" sz="1350" dirty="0"/>
          </a:p>
          <a:p>
            <a:pPr indent="0" marL="0">
              <a:lnSpc>
                <a:spcPts val="2100"/>
              </a:lnSpc>
              <a:buNone/>
            </a:pPr>
            <a:r>
              <a:rPr lang="en-US" sz="1350" dirty="0">
                <a:solidFill>
                  <a:srgbClr val="2B2B31"/>
                </a:solidFill>
                <a:latin typeface="Cambria" pitchFamily="34" charset="0"/>
                <a:ea typeface="Cambria" pitchFamily="34" charset="-122"/>
                <a:cs typeface="Cambria" pitchFamily="34" charset="-120"/>
              </a:rPr>
              <a:t>Kontrast dikkati yönetir. Bir ürünün öne çıkması, ona daha çok ışık verilmesinden değil, çevresine daha az ışık verilmesinden doğar. Her yerin eşit aydınlatıldığı bir mekânda hiçbir ürün öne çıkmaz.</a:t>
            </a:r>
            <a:endParaRPr lang="en-US" sz="1350" dirty="0"/>
          </a:p>
        </p:txBody>
      </p:sp>
      <p:sp>
        <p:nvSpPr>
          <p:cNvPr id="6" name="Text 4"/>
          <p:cNvSpPr txBox="1"/>
          <p:nvPr/>
        </p:nvSpPr>
        <p:spPr>
          <a:xfrm>
            <a:off x="6382512" y="1874520"/>
            <a:ext cx="5029200" cy="2834640"/>
          </a:xfrm>
          <a:prstGeom prst="rect">
            <a:avLst/>
          </a:prstGeom>
          <a:noFill/>
          <a:ln/>
        </p:spPr>
        <p:txBody>
          <a:bodyPr wrap="square" lIns="0" tIns="0" rIns="0" bIns="0" rtlCol="0" anchor="ctr"/>
          <a:lstStyle/>
          <a:p>
            <a:pPr indent="0" marL="0">
              <a:lnSpc>
                <a:spcPts val="2100"/>
              </a:lnSpc>
              <a:buNone/>
            </a:pPr>
            <a:r>
              <a:rPr lang="en-US" sz="1350" dirty="0">
                <a:solidFill>
                  <a:srgbClr val="2B2B31"/>
                </a:solidFill>
                <a:latin typeface="Cambria" pitchFamily="34" charset="0"/>
                <a:ea typeface="Cambria" pitchFamily="34" charset="-122"/>
                <a:cs typeface="Cambria" pitchFamily="34" charset="-120"/>
              </a:rPr>
              <a:t>Işığın rengi ise ürünün rengini doğrudan değiştirir; tekstilde ve gıdada bu, satın alma kararını belirleyen bir etkendir (Spence vd., 2014).</a:t>
            </a:r>
            <a:endParaRPr lang="en-US" sz="1350" dirty="0"/>
          </a:p>
        </p:txBody>
      </p:sp>
      <p:sp>
        <p:nvSpPr>
          <p:cNvPr id="7" name="Text 5"/>
          <p:cNvSpPr txBox="1"/>
          <p:nvPr/>
        </p:nvSpPr>
        <p:spPr>
          <a:xfrm>
            <a:off x="777240" y="4864608"/>
            <a:ext cx="10424160" cy="219456"/>
          </a:xfrm>
          <a:prstGeom prst="rect">
            <a:avLst/>
          </a:prstGeom>
          <a:noFill/>
          <a:ln/>
        </p:spPr>
        <p:txBody>
          <a:bodyPr wrap="square" lIns="0" tIns="0" rIns="0" bIns="0" rtlCol="0" anchor="ctr"/>
          <a:lstStyle/>
          <a:p>
            <a:pPr algn="l" indent="0" marL="0">
              <a:lnSpc>
                <a:spcPts val="1200"/>
              </a:lnSpc>
              <a:buNone/>
            </a:pPr>
            <a:r>
              <a:rPr lang="en-US" sz="900" b="1" dirty="0">
                <a:solidFill>
                  <a:srgbClr val="A6A6AC"/>
                </a:solidFill>
                <a:latin typeface="Calibri" pitchFamily="34" charset="0"/>
                <a:ea typeface="Calibri" pitchFamily="34" charset="-122"/>
                <a:cs typeface="Calibri" pitchFamily="34" charset="-120"/>
              </a:rPr>
              <a:t>MAĞAZADA NASIL KULLANILIR</a:t>
            </a:r>
            <a:endParaRPr lang="en-US" sz="900" dirty="0"/>
          </a:p>
        </p:txBody>
      </p:sp>
      <p:sp>
        <p:nvSpPr>
          <p:cNvPr id="8" name="Text 6"/>
          <p:cNvSpPr txBox="1"/>
          <p:nvPr/>
        </p:nvSpPr>
        <p:spPr>
          <a:xfrm>
            <a:off x="777240" y="5138928"/>
            <a:ext cx="3240024" cy="384048"/>
          </a:xfrm>
          <a:prstGeom prst="rect">
            <a:avLst/>
          </a:prstGeom>
          <a:noFill/>
          <a:ln/>
        </p:spPr>
        <p:txBody>
          <a:bodyPr wrap="square" lIns="0" tIns="0" rIns="0" bIns="0" rtlCol="0" anchor="ctr"/>
          <a:lstStyle/>
          <a:p>
            <a:pPr indent="0" marL="0">
              <a:lnSpc>
                <a:spcPts val="1700"/>
              </a:lnSpc>
              <a:buNone/>
            </a:pPr>
            <a:r>
              <a:rPr lang="en-US" sz="1350" b="1" dirty="0">
                <a:solidFill>
                  <a:srgbClr val="8C3A2B"/>
                </a:solidFill>
                <a:latin typeface="Cambria" pitchFamily="34" charset="0"/>
                <a:ea typeface="Cambria" pitchFamily="34" charset="-122"/>
                <a:cs typeface="Cambria" pitchFamily="34" charset="-120"/>
              </a:rPr>
              <a:t>Vurgu ışığı</a:t>
            </a:r>
            <a:endParaRPr lang="en-US" sz="1350" dirty="0"/>
          </a:p>
        </p:txBody>
      </p:sp>
      <p:sp>
        <p:nvSpPr>
          <p:cNvPr id="9" name="Text 7"/>
          <p:cNvSpPr txBox="1"/>
          <p:nvPr/>
        </p:nvSpPr>
        <p:spPr>
          <a:xfrm>
            <a:off x="777240" y="5550408"/>
            <a:ext cx="3240024" cy="621792"/>
          </a:xfrm>
          <a:prstGeom prst="rect">
            <a:avLst/>
          </a:prstGeom>
          <a:noFill/>
          <a:ln/>
        </p:spPr>
        <p:txBody>
          <a:bodyPr wrap="square" lIns="0" tIns="0" rIns="0" bIns="0" rtlCol="0" anchor="ctr"/>
          <a:lstStyle/>
          <a:p>
            <a:pPr indent="0" marL="0">
              <a:lnSpc>
                <a:spcPts val="1400"/>
              </a:lnSpc>
              <a:buNone/>
            </a:pPr>
            <a:r>
              <a:rPr lang="en-US" sz="1100" dirty="0">
                <a:solidFill>
                  <a:srgbClr val="7A7A82"/>
                </a:solidFill>
                <a:latin typeface="Calibri" pitchFamily="34" charset="0"/>
                <a:ea typeface="Calibri" pitchFamily="34" charset="-122"/>
                <a:cs typeface="Calibri" pitchFamily="34" charset="-120"/>
              </a:rPr>
              <a:t>Genel aydınlatmanın 3–5 katı yoğunlukta nokta ışıkla tekil ürünü öne çıkarmak.</a:t>
            </a:r>
            <a:endParaRPr lang="en-US" sz="1100" dirty="0"/>
          </a:p>
        </p:txBody>
      </p:sp>
      <p:sp>
        <p:nvSpPr>
          <p:cNvPr id="10" name="Text 8"/>
          <p:cNvSpPr txBox="1"/>
          <p:nvPr/>
        </p:nvSpPr>
        <p:spPr>
          <a:xfrm>
            <a:off x="4474464" y="5138928"/>
            <a:ext cx="3240024" cy="384048"/>
          </a:xfrm>
          <a:prstGeom prst="rect">
            <a:avLst/>
          </a:prstGeom>
          <a:noFill/>
          <a:ln/>
        </p:spPr>
        <p:txBody>
          <a:bodyPr wrap="square" lIns="0" tIns="0" rIns="0" bIns="0" rtlCol="0" anchor="ctr"/>
          <a:lstStyle/>
          <a:p>
            <a:pPr indent="0" marL="0">
              <a:lnSpc>
                <a:spcPts val="1700"/>
              </a:lnSpc>
              <a:buNone/>
            </a:pPr>
            <a:r>
              <a:rPr lang="en-US" sz="1350" b="1" dirty="0">
                <a:solidFill>
                  <a:srgbClr val="8C3A2B"/>
                </a:solidFill>
                <a:latin typeface="Cambria" pitchFamily="34" charset="0"/>
                <a:ea typeface="Cambria" pitchFamily="34" charset="-122"/>
                <a:cs typeface="Cambria" pitchFamily="34" charset="-120"/>
              </a:rPr>
              <a:t>Işık koridoru</a:t>
            </a:r>
            <a:endParaRPr lang="en-US" sz="1350" dirty="0"/>
          </a:p>
        </p:txBody>
      </p:sp>
      <p:sp>
        <p:nvSpPr>
          <p:cNvPr id="11" name="Text 9"/>
          <p:cNvSpPr txBox="1"/>
          <p:nvPr/>
        </p:nvSpPr>
        <p:spPr>
          <a:xfrm>
            <a:off x="4474464" y="5550408"/>
            <a:ext cx="3240024" cy="621792"/>
          </a:xfrm>
          <a:prstGeom prst="rect">
            <a:avLst/>
          </a:prstGeom>
          <a:noFill/>
          <a:ln/>
        </p:spPr>
        <p:txBody>
          <a:bodyPr wrap="square" lIns="0" tIns="0" rIns="0" bIns="0" rtlCol="0" anchor="ctr"/>
          <a:lstStyle/>
          <a:p>
            <a:pPr indent="0" marL="0">
              <a:lnSpc>
                <a:spcPts val="1400"/>
              </a:lnSpc>
              <a:buNone/>
            </a:pPr>
            <a:r>
              <a:rPr lang="en-US" sz="1100" dirty="0">
                <a:solidFill>
                  <a:srgbClr val="7A7A82"/>
                </a:solidFill>
                <a:latin typeface="Calibri" pitchFamily="34" charset="0"/>
                <a:ea typeface="Calibri" pitchFamily="34" charset="-122"/>
                <a:cs typeface="Calibri" pitchFamily="34" charset="-120"/>
              </a:rPr>
              <a:t>Zemine düşen ışık lekeleriyle rota çizmek; tabelasız yönlendirme.</a:t>
            </a:r>
            <a:endParaRPr lang="en-US" sz="1100" dirty="0"/>
          </a:p>
        </p:txBody>
      </p:sp>
      <p:sp>
        <p:nvSpPr>
          <p:cNvPr id="12" name="Text 10"/>
          <p:cNvSpPr txBox="1"/>
          <p:nvPr/>
        </p:nvSpPr>
        <p:spPr>
          <a:xfrm>
            <a:off x="8171688" y="5138928"/>
            <a:ext cx="3240024" cy="384048"/>
          </a:xfrm>
          <a:prstGeom prst="rect">
            <a:avLst/>
          </a:prstGeom>
          <a:noFill/>
          <a:ln/>
        </p:spPr>
        <p:txBody>
          <a:bodyPr wrap="square" lIns="0" tIns="0" rIns="0" bIns="0" rtlCol="0" anchor="ctr"/>
          <a:lstStyle/>
          <a:p>
            <a:pPr indent="0" marL="0">
              <a:lnSpc>
                <a:spcPts val="1700"/>
              </a:lnSpc>
              <a:buNone/>
            </a:pPr>
            <a:r>
              <a:rPr lang="en-US" sz="1350" b="1" dirty="0">
                <a:solidFill>
                  <a:srgbClr val="8C3A2B"/>
                </a:solidFill>
                <a:latin typeface="Cambria" pitchFamily="34" charset="0"/>
                <a:ea typeface="Cambria" pitchFamily="34" charset="-122"/>
                <a:cs typeface="Cambria" pitchFamily="34" charset="-120"/>
              </a:rPr>
              <a:t>Karanlık zemin</a:t>
            </a:r>
            <a:endParaRPr lang="en-US" sz="1350" dirty="0"/>
          </a:p>
        </p:txBody>
      </p:sp>
      <p:sp>
        <p:nvSpPr>
          <p:cNvPr id="13" name="Text 11"/>
          <p:cNvSpPr txBox="1"/>
          <p:nvPr/>
        </p:nvSpPr>
        <p:spPr>
          <a:xfrm>
            <a:off x="8171688" y="5550408"/>
            <a:ext cx="3240024" cy="621792"/>
          </a:xfrm>
          <a:prstGeom prst="rect">
            <a:avLst/>
          </a:prstGeom>
          <a:noFill/>
          <a:ln/>
        </p:spPr>
        <p:txBody>
          <a:bodyPr wrap="square" lIns="0" tIns="0" rIns="0" bIns="0" rtlCol="0" anchor="ctr"/>
          <a:lstStyle/>
          <a:p>
            <a:pPr indent="0" marL="0">
              <a:lnSpc>
                <a:spcPts val="1400"/>
              </a:lnSpc>
              <a:buNone/>
            </a:pPr>
            <a:r>
              <a:rPr lang="en-US" sz="1100" dirty="0">
                <a:solidFill>
                  <a:srgbClr val="7A7A82"/>
                </a:solidFill>
                <a:latin typeface="Calibri" pitchFamily="34" charset="0"/>
                <a:ea typeface="Calibri" pitchFamily="34" charset="-122"/>
                <a:cs typeface="Calibri" pitchFamily="34" charset="-120"/>
              </a:rPr>
              <a:t>Koyu duvar ve zeminle kontrastı yükseltip ürünü tek görünür nesne yapmak.</a:t>
            </a:r>
            <a:endParaRPr lang="en-US" sz="1100" dirty="0"/>
          </a:p>
        </p:txBody>
      </p:sp>
      <p:sp>
        <p:nvSpPr>
          <p:cNvPr id="14" name="Text 12"/>
          <p:cNvSpPr txBox="1"/>
          <p:nvPr/>
        </p:nvSpPr>
        <p:spPr>
          <a:xfrm>
            <a:off x="777240" y="6309360"/>
            <a:ext cx="10058400" cy="310896"/>
          </a:xfrm>
          <a:prstGeom prst="rect">
            <a:avLst/>
          </a:prstGeom>
          <a:noFill/>
          <a:ln/>
        </p:spPr>
        <p:txBody>
          <a:bodyPr wrap="square" lIns="0" tIns="0" rIns="0" bIns="0" rtlCol="0" anchor="ctr"/>
          <a:lstStyle/>
          <a:p>
            <a:pPr indent="0" marL="0">
              <a:lnSpc>
                <a:spcPts val="1100"/>
              </a:lnSpc>
              <a:buNone/>
            </a:pPr>
            <a:r>
              <a:rPr lang="en-US" sz="850" dirty="0">
                <a:solidFill>
                  <a:srgbClr val="A6A6AC"/>
                </a:solidFill>
                <a:latin typeface="Calibri" pitchFamily="34" charset="0"/>
                <a:ea typeface="Calibri" pitchFamily="34" charset="-122"/>
                <a:cs typeface="Calibri" pitchFamily="34" charset="-120"/>
              </a:rPr>
              <a:t>Görsel önerisi — Vurgu aydınlatmalı bir vitrin · aynı ürünün iki farklı renk sıcaklığında fotoğrafı</a:t>
            </a:r>
            <a:endParaRPr lang="en-US" sz="850" dirty="0"/>
          </a:p>
        </p:txBody>
      </p:sp>
      <p:sp>
        <p:nvSpPr>
          <p:cNvPr id="15" name="Text 13"/>
          <p:cNvSpPr txBox="1"/>
          <p:nvPr/>
        </p:nvSpPr>
        <p:spPr>
          <a:xfrm>
            <a:off x="10972800" y="6355080"/>
            <a:ext cx="438912" cy="237744"/>
          </a:xfrm>
          <a:prstGeom prst="rect">
            <a:avLst/>
          </a:prstGeom>
          <a:noFill/>
          <a:ln/>
        </p:spPr>
        <p:txBody>
          <a:bodyPr wrap="square" lIns="0" tIns="0" rIns="0" bIns="0" rtlCol="0" anchor="ctr"/>
          <a:lstStyle/>
          <a:p>
            <a:pPr algn="r" indent="0" marL="0">
              <a:buNone/>
            </a:pPr>
            <a:r>
              <a:rPr lang="en-US" sz="950" dirty="0">
                <a:solidFill>
                  <a:srgbClr val="A6A6AC"/>
                </a:solidFill>
                <a:latin typeface="Calibri" pitchFamily="34" charset="0"/>
                <a:ea typeface="Calibri" pitchFamily="34" charset="-122"/>
                <a:cs typeface="Calibri" pitchFamily="34" charset="-120"/>
              </a:rPr>
              <a:t>33</a:t>
            </a:r>
            <a:endParaRPr lang="en-US" sz="9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CFCFA"/>
        </a:solidFill>
      </p:bgPr>
    </p:bg>
    <p:spTree>
      <p:nvGrpSpPr>
        <p:cNvPr id="1" name=""/>
        <p:cNvGrpSpPr/>
        <p:nvPr/>
      </p:nvGrpSpPr>
      <p:grpSpPr>
        <a:xfrm>
          <a:off x="0" y="0"/>
          <a:ext cx="0" cy="0"/>
          <a:chOff x="0" y="0"/>
          <a:chExt cx="0" cy="0"/>
        </a:xfrm>
      </p:grpSpPr>
      <p:sp>
        <p:nvSpPr>
          <p:cNvPr id="2" name="Text 0"/>
          <p:cNvSpPr txBox="1"/>
          <p:nvPr/>
        </p:nvSpPr>
        <p:spPr>
          <a:xfrm>
            <a:off x="777240" y="475488"/>
            <a:ext cx="9601200" cy="237744"/>
          </a:xfrm>
          <a:prstGeom prst="rect">
            <a:avLst/>
          </a:prstGeom>
          <a:noFill/>
          <a:ln/>
        </p:spPr>
        <p:txBody>
          <a:bodyPr wrap="square" lIns="0" tIns="0" rIns="0" bIns="0" rtlCol="0" anchor="ctr"/>
          <a:lstStyle/>
          <a:p>
            <a:pPr indent="0" marL="0">
              <a:buNone/>
            </a:pPr>
            <a:r>
              <a:rPr lang="en-US" sz="950" b="1" spc="260" kern="0" dirty="0">
                <a:solidFill>
                  <a:srgbClr val="7A7A82"/>
                </a:solidFill>
                <a:latin typeface="Calibri" pitchFamily="34" charset="0"/>
                <a:ea typeface="Calibri" pitchFamily="34" charset="-122"/>
                <a:cs typeface="Calibri" pitchFamily="34" charset="-120"/>
              </a:rPr>
              <a:t>VII · DUYULAR</a:t>
            </a:r>
            <a:endParaRPr lang="en-US" sz="950" dirty="0"/>
          </a:p>
        </p:txBody>
      </p:sp>
      <p:sp>
        <p:nvSpPr>
          <p:cNvPr id="3" name="Text 1"/>
          <p:cNvSpPr txBox="1"/>
          <p:nvPr/>
        </p:nvSpPr>
        <p:spPr>
          <a:xfrm>
            <a:off x="777240" y="749808"/>
            <a:ext cx="6217920" cy="658368"/>
          </a:xfrm>
          <a:prstGeom prst="rect">
            <a:avLst/>
          </a:prstGeom>
          <a:noFill/>
          <a:ln/>
        </p:spPr>
        <p:txBody>
          <a:bodyPr wrap="square" lIns="0" tIns="0" rIns="0" bIns="0" rtlCol="0" anchor="ctr"/>
          <a:lstStyle/>
          <a:p>
            <a:pPr indent="0" marL="0">
              <a:buNone/>
            </a:pPr>
            <a:r>
              <a:rPr lang="en-US" sz="3800" b="1" dirty="0">
                <a:solidFill>
                  <a:srgbClr val="8C3A2B"/>
                </a:solidFill>
                <a:latin typeface="Cambria" pitchFamily="34" charset="0"/>
                <a:ea typeface="Cambria" pitchFamily="34" charset="-122"/>
                <a:cs typeface="Cambria" pitchFamily="34" charset="-120"/>
              </a:rPr>
              <a:t>İşitme</a:t>
            </a:r>
            <a:endParaRPr lang="en-US" sz="3800" dirty="0"/>
          </a:p>
        </p:txBody>
      </p:sp>
      <p:sp>
        <p:nvSpPr>
          <p:cNvPr id="4" name="Text 2"/>
          <p:cNvSpPr txBox="1"/>
          <p:nvPr/>
        </p:nvSpPr>
        <p:spPr>
          <a:xfrm>
            <a:off x="777240" y="1426464"/>
            <a:ext cx="8686800" cy="256032"/>
          </a:xfrm>
          <a:prstGeom prst="rect">
            <a:avLst/>
          </a:prstGeom>
          <a:noFill/>
          <a:ln/>
        </p:spPr>
        <p:txBody>
          <a:bodyPr wrap="square" lIns="0" tIns="0" rIns="0" bIns="0" rtlCol="0" anchor="ctr"/>
          <a:lstStyle/>
          <a:p>
            <a:pPr indent="0" marL="0">
              <a:buNone/>
            </a:pPr>
            <a:r>
              <a:rPr lang="en-US" sz="1050" spc="160" kern="0" dirty="0">
                <a:solidFill>
                  <a:srgbClr val="7A7A82"/>
                </a:solidFill>
                <a:latin typeface="Calibri" pitchFamily="34" charset="0"/>
                <a:ea typeface="Calibri" pitchFamily="34" charset="-122"/>
                <a:cs typeface="Calibri" pitchFamily="34" charset="-120"/>
              </a:rPr>
              <a:t>AKUSTİK · MÜZİK · SESSİZLİK</a:t>
            </a:r>
            <a:endParaRPr lang="en-US" sz="1050" dirty="0"/>
          </a:p>
        </p:txBody>
      </p:sp>
      <p:sp>
        <p:nvSpPr>
          <p:cNvPr id="5" name="Text 3"/>
          <p:cNvSpPr txBox="1"/>
          <p:nvPr/>
        </p:nvSpPr>
        <p:spPr>
          <a:xfrm>
            <a:off x="777240" y="1874520"/>
            <a:ext cx="5029200" cy="2834640"/>
          </a:xfrm>
          <a:prstGeom prst="rect">
            <a:avLst/>
          </a:prstGeom>
          <a:noFill/>
          <a:ln/>
        </p:spPr>
        <p:txBody>
          <a:bodyPr wrap="square" lIns="0" tIns="0" rIns="0" bIns="0" rtlCol="0" anchor="ctr"/>
          <a:lstStyle/>
          <a:p>
            <a:pPr indent="0" marL="0">
              <a:lnSpc>
                <a:spcPts val="2100"/>
              </a:lnSpc>
              <a:buNone/>
            </a:pPr>
            <a:r>
              <a:rPr lang="en-US" sz="1350" dirty="0">
                <a:solidFill>
                  <a:srgbClr val="2B2B31"/>
                </a:solidFill>
                <a:latin typeface="Cambria" pitchFamily="34" charset="0"/>
                <a:ea typeface="Cambria" pitchFamily="34" charset="-122"/>
                <a:cs typeface="Cambria" pitchFamily="34" charset="-120"/>
              </a:rPr>
              <a:t>Ses, mağazada en az tasarlanan ve en çok şikâyet edilen duyudur. Akustik malzemeyle belirlenir: sert ve düz yüzeyler sesi yansıtır, gözenekli yüzeyler yutar. Yüksek tavanlı, cam ve sert zeminli bir mekân, hiç müzik çalınmasa bile gürültülüdür.</a:t>
            </a:r>
            <a:endParaRPr lang="en-US" sz="1350" dirty="0"/>
          </a:p>
          <a:p>
            <a:pPr indent="0" marL="0">
              <a:lnSpc>
                <a:spcPts val="2100"/>
              </a:lnSpc>
              <a:buNone/>
            </a:pPr>
            <a:endParaRPr lang="en-US" sz="1350" dirty="0"/>
          </a:p>
          <a:p>
            <a:pPr indent="0" marL="0">
              <a:lnSpc>
                <a:spcPts val="2100"/>
              </a:lnSpc>
              <a:buNone/>
            </a:pPr>
            <a:r>
              <a:rPr lang="en-US" sz="1350" dirty="0">
                <a:solidFill>
                  <a:srgbClr val="2B2B31"/>
                </a:solidFill>
                <a:latin typeface="Cambria" pitchFamily="34" charset="0"/>
                <a:ea typeface="Cambria" pitchFamily="34" charset="-122"/>
                <a:cs typeface="Cambria" pitchFamily="34" charset="-120"/>
              </a:rPr>
              <a:t>Müziğin temposu ve düzeyi kalış süresini etkiler; hızlı ve yüksek müzik hareketi hızlandırır, yavaş ve düşük müzik kalışı uzatır.</a:t>
            </a:r>
            <a:endParaRPr lang="en-US" sz="1350" dirty="0"/>
          </a:p>
        </p:txBody>
      </p:sp>
      <p:sp>
        <p:nvSpPr>
          <p:cNvPr id="6" name="Text 4"/>
          <p:cNvSpPr txBox="1"/>
          <p:nvPr/>
        </p:nvSpPr>
        <p:spPr>
          <a:xfrm>
            <a:off x="6382512" y="1874520"/>
            <a:ext cx="5029200" cy="2834640"/>
          </a:xfrm>
          <a:prstGeom prst="rect">
            <a:avLst/>
          </a:prstGeom>
          <a:noFill/>
          <a:ln/>
        </p:spPr>
        <p:txBody>
          <a:bodyPr wrap="square" lIns="0" tIns="0" rIns="0" bIns="0" rtlCol="0" anchor="ctr"/>
          <a:lstStyle/>
          <a:p>
            <a:pPr indent="0" marL="0">
              <a:lnSpc>
                <a:spcPts val="2100"/>
              </a:lnSpc>
              <a:buNone/>
            </a:pPr>
            <a:r>
              <a:rPr lang="en-US" sz="1350" dirty="0">
                <a:solidFill>
                  <a:srgbClr val="2B2B31"/>
                </a:solidFill>
                <a:latin typeface="Cambria" pitchFamily="34" charset="0"/>
                <a:ea typeface="Cambria" pitchFamily="34" charset="-122"/>
                <a:cs typeface="Cambria" pitchFamily="34" charset="-120"/>
              </a:rPr>
              <a:t>En çok ihmal edilen boyut ise sessizliktir. Karar verilen yerlerde — deneme kabini, danışma noktası, ödeme alanı — sesin düşmesi gerekir.</a:t>
            </a:r>
            <a:endParaRPr lang="en-US" sz="1350" dirty="0"/>
          </a:p>
        </p:txBody>
      </p:sp>
      <p:sp>
        <p:nvSpPr>
          <p:cNvPr id="7" name="Text 5"/>
          <p:cNvSpPr txBox="1"/>
          <p:nvPr/>
        </p:nvSpPr>
        <p:spPr>
          <a:xfrm>
            <a:off x="777240" y="4864608"/>
            <a:ext cx="10424160" cy="219456"/>
          </a:xfrm>
          <a:prstGeom prst="rect">
            <a:avLst/>
          </a:prstGeom>
          <a:noFill/>
          <a:ln/>
        </p:spPr>
        <p:txBody>
          <a:bodyPr wrap="square" lIns="0" tIns="0" rIns="0" bIns="0" rtlCol="0" anchor="ctr"/>
          <a:lstStyle/>
          <a:p>
            <a:pPr algn="l" indent="0" marL="0">
              <a:lnSpc>
                <a:spcPts val="1200"/>
              </a:lnSpc>
              <a:buNone/>
            </a:pPr>
            <a:r>
              <a:rPr lang="en-US" sz="900" b="1" dirty="0">
                <a:solidFill>
                  <a:srgbClr val="A6A6AC"/>
                </a:solidFill>
                <a:latin typeface="Calibri" pitchFamily="34" charset="0"/>
                <a:ea typeface="Calibri" pitchFamily="34" charset="-122"/>
                <a:cs typeface="Calibri" pitchFamily="34" charset="-120"/>
              </a:rPr>
              <a:t>MAĞAZADA NASIL KULLANILIR</a:t>
            </a:r>
            <a:endParaRPr lang="en-US" sz="900" dirty="0"/>
          </a:p>
        </p:txBody>
      </p:sp>
      <p:sp>
        <p:nvSpPr>
          <p:cNvPr id="8" name="Text 6"/>
          <p:cNvSpPr txBox="1"/>
          <p:nvPr/>
        </p:nvSpPr>
        <p:spPr>
          <a:xfrm>
            <a:off x="777240" y="5138928"/>
            <a:ext cx="3240024" cy="384048"/>
          </a:xfrm>
          <a:prstGeom prst="rect">
            <a:avLst/>
          </a:prstGeom>
          <a:noFill/>
          <a:ln/>
        </p:spPr>
        <p:txBody>
          <a:bodyPr wrap="square" lIns="0" tIns="0" rIns="0" bIns="0" rtlCol="0" anchor="ctr"/>
          <a:lstStyle/>
          <a:p>
            <a:pPr indent="0" marL="0">
              <a:lnSpc>
                <a:spcPts val="1700"/>
              </a:lnSpc>
              <a:buNone/>
            </a:pPr>
            <a:r>
              <a:rPr lang="en-US" sz="1350" b="1" dirty="0">
                <a:solidFill>
                  <a:srgbClr val="8C3A2B"/>
                </a:solidFill>
                <a:latin typeface="Cambria" pitchFamily="34" charset="0"/>
                <a:ea typeface="Cambria" pitchFamily="34" charset="-122"/>
                <a:cs typeface="Cambria" pitchFamily="34" charset="-120"/>
              </a:rPr>
              <a:t>Sessiz bölge</a:t>
            </a:r>
            <a:endParaRPr lang="en-US" sz="1350" dirty="0"/>
          </a:p>
        </p:txBody>
      </p:sp>
      <p:sp>
        <p:nvSpPr>
          <p:cNvPr id="9" name="Text 7"/>
          <p:cNvSpPr txBox="1"/>
          <p:nvPr/>
        </p:nvSpPr>
        <p:spPr>
          <a:xfrm>
            <a:off x="777240" y="5550408"/>
            <a:ext cx="3240024" cy="621792"/>
          </a:xfrm>
          <a:prstGeom prst="rect">
            <a:avLst/>
          </a:prstGeom>
          <a:noFill/>
          <a:ln/>
        </p:spPr>
        <p:txBody>
          <a:bodyPr wrap="square" lIns="0" tIns="0" rIns="0" bIns="0" rtlCol="0" anchor="ctr"/>
          <a:lstStyle/>
          <a:p>
            <a:pPr indent="0" marL="0">
              <a:lnSpc>
                <a:spcPts val="1400"/>
              </a:lnSpc>
              <a:buNone/>
            </a:pPr>
            <a:r>
              <a:rPr lang="en-US" sz="1100" dirty="0">
                <a:solidFill>
                  <a:srgbClr val="7A7A82"/>
                </a:solidFill>
                <a:latin typeface="Calibri" pitchFamily="34" charset="0"/>
                <a:ea typeface="Calibri" pitchFamily="34" charset="-122"/>
                <a:cs typeface="Calibri" pitchFamily="34" charset="-120"/>
              </a:rPr>
              <a:t>Kabin ve danışma çevresinde yutucu yüzey kullanarak ses düzeyini düşürmek.</a:t>
            </a:r>
            <a:endParaRPr lang="en-US" sz="1100" dirty="0"/>
          </a:p>
        </p:txBody>
      </p:sp>
      <p:sp>
        <p:nvSpPr>
          <p:cNvPr id="10" name="Text 8"/>
          <p:cNvSpPr txBox="1"/>
          <p:nvPr/>
        </p:nvSpPr>
        <p:spPr>
          <a:xfrm>
            <a:off x="4474464" y="5138928"/>
            <a:ext cx="3240024" cy="384048"/>
          </a:xfrm>
          <a:prstGeom prst="rect">
            <a:avLst/>
          </a:prstGeom>
          <a:noFill/>
          <a:ln/>
        </p:spPr>
        <p:txBody>
          <a:bodyPr wrap="square" lIns="0" tIns="0" rIns="0" bIns="0" rtlCol="0" anchor="ctr"/>
          <a:lstStyle/>
          <a:p>
            <a:pPr indent="0" marL="0">
              <a:lnSpc>
                <a:spcPts val="1700"/>
              </a:lnSpc>
              <a:buNone/>
            </a:pPr>
            <a:r>
              <a:rPr lang="en-US" sz="1350" b="1" dirty="0">
                <a:solidFill>
                  <a:srgbClr val="8C3A2B"/>
                </a:solidFill>
                <a:latin typeface="Cambria" pitchFamily="34" charset="0"/>
                <a:ea typeface="Cambria" pitchFamily="34" charset="-122"/>
                <a:cs typeface="Cambria" pitchFamily="34" charset="-120"/>
              </a:rPr>
              <a:t>Malzeme ile akustik</a:t>
            </a:r>
            <a:endParaRPr lang="en-US" sz="1350" dirty="0"/>
          </a:p>
        </p:txBody>
      </p:sp>
      <p:sp>
        <p:nvSpPr>
          <p:cNvPr id="11" name="Text 9"/>
          <p:cNvSpPr txBox="1"/>
          <p:nvPr/>
        </p:nvSpPr>
        <p:spPr>
          <a:xfrm>
            <a:off x="4474464" y="5550408"/>
            <a:ext cx="3240024" cy="621792"/>
          </a:xfrm>
          <a:prstGeom prst="rect">
            <a:avLst/>
          </a:prstGeom>
          <a:noFill/>
          <a:ln/>
        </p:spPr>
        <p:txBody>
          <a:bodyPr wrap="square" lIns="0" tIns="0" rIns="0" bIns="0" rtlCol="0" anchor="ctr"/>
          <a:lstStyle/>
          <a:p>
            <a:pPr indent="0" marL="0">
              <a:lnSpc>
                <a:spcPts val="1400"/>
              </a:lnSpc>
              <a:buNone/>
            </a:pPr>
            <a:r>
              <a:rPr lang="en-US" sz="1100" dirty="0">
                <a:solidFill>
                  <a:srgbClr val="7A7A82"/>
                </a:solidFill>
                <a:latin typeface="Calibri" pitchFamily="34" charset="0"/>
                <a:ea typeface="Calibri" pitchFamily="34" charset="-122"/>
                <a:cs typeface="Calibri" pitchFamily="34" charset="-120"/>
              </a:rPr>
              <a:t>Halı, kumaş perde, ahşap lata ve akustik tavanla yankıyı kırmak.</a:t>
            </a:r>
            <a:endParaRPr lang="en-US" sz="1100" dirty="0"/>
          </a:p>
        </p:txBody>
      </p:sp>
      <p:sp>
        <p:nvSpPr>
          <p:cNvPr id="12" name="Text 10"/>
          <p:cNvSpPr txBox="1"/>
          <p:nvPr/>
        </p:nvSpPr>
        <p:spPr>
          <a:xfrm>
            <a:off x="8171688" y="5138928"/>
            <a:ext cx="3240024" cy="384048"/>
          </a:xfrm>
          <a:prstGeom prst="rect">
            <a:avLst/>
          </a:prstGeom>
          <a:noFill/>
          <a:ln/>
        </p:spPr>
        <p:txBody>
          <a:bodyPr wrap="square" lIns="0" tIns="0" rIns="0" bIns="0" rtlCol="0" anchor="ctr"/>
          <a:lstStyle/>
          <a:p>
            <a:pPr indent="0" marL="0">
              <a:lnSpc>
                <a:spcPts val="1700"/>
              </a:lnSpc>
              <a:buNone/>
            </a:pPr>
            <a:r>
              <a:rPr lang="en-US" sz="1350" b="1" dirty="0">
                <a:solidFill>
                  <a:srgbClr val="8C3A2B"/>
                </a:solidFill>
                <a:latin typeface="Cambria" pitchFamily="34" charset="0"/>
                <a:ea typeface="Cambria" pitchFamily="34" charset="-122"/>
                <a:cs typeface="Cambria" pitchFamily="34" charset="-120"/>
              </a:rPr>
              <a:t>Ürünün kendi sesi</a:t>
            </a:r>
            <a:endParaRPr lang="en-US" sz="1350" dirty="0"/>
          </a:p>
        </p:txBody>
      </p:sp>
      <p:sp>
        <p:nvSpPr>
          <p:cNvPr id="13" name="Text 11"/>
          <p:cNvSpPr txBox="1"/>
          <p:nvPr/>
        </p:nvSpPr>
        <p:spPr>
          <a:xfrm>
            <a:off x="8171688" y="5550408"/>
            <a:ext cx="3240024" cy="621792"/>
          </a:xfrm>
          <a:prstGeom prst="rect">
            <a:avLst/>
          </a:prstGeom>
          <a:noFill/>
          <a:ln/>
        </p:spPr>
        <p:txBody>
          <a:bodyPr wrap="square" lIns="0" tIns="0" rIns="0" bIns="0" rtlCol="0" anchor="ctr"/>
          <a:lstStyle/>
          <a:p>
            <a:pPr indent="0" marL="0">
              <a:lnSpc>
                <a:spcPts val="1400"/>
              </a:lnSpc>
              <a:buNone/>
            </a:pPr>
            <a:r>
              <a:rPr lang="en-US" sz="1100" dirty="0">
                <a:solidFill>
                  <a:srgbClr val="7A7A82"/>
                </a:solidFill>
                <a:latin typeface="Calibri" pitchFamily="34" charset="0"/>
                <a:ea typeface="Calibri" pitchFamily="34" charset="-122"/>
                <a:cs typeface="Calibri" pitchFamily="34" charset="-120"/>
              </a:rPr>
              <a:t>Plak, enstrüman ya da makine sesini teşhirin parçası hâline getirmek.</a:t>
            </a:r>
            <a:endParaRPr lang="en-US" sz="1100" dirty="0"/>
          </a:p>
        </p:txBody>
      </p:sp>
      <p:sp>
        <p:nvSpPr>
          <p:cNvPr id="14" name="Text 12"/>
          <p:cNvSpPr txBox="1"/>
          <p:nvPr/>
        </p:nvSpPr>
        <p:spPr>
          <a:xfrm>
            <a:off x="777240" y="6309360"/>
            <a:ext cx="10058400" cy="310896"/>
          </a:xfrm>
          <a:prstGeom prst="rect">
            <a:avLst/>
          </a:prstGeom>
          <a:noFill/>
          <a:ln/>
        </p:spPr>
        <p:txBody>
          <a:bodyPr wrap="square" lIns="0" tIns="0" rIns="0" bIns="0" rtlCol="0" anchor="ctr"/>
          <a:lstStyle/>
          <a:p>
            <a:pPr indent="0" marL="0">
              <a:lnSpc>
                <a:spcPts val="1100"/>
              </a:lnSpc>
              <a:buNone/>
            </a:pPr>
            <a:r>
              <a:rPr lang="en-US" sz="850" dirty="0">
                <a:solidFill>
                  <a:srgbClr val="A6A6AC"/>
                </a:solidFill>
                <a:latin typeface="Calibri" pitchFamily="34" charset="0"/>
                <a:ea typeface="Calibri" pitchFamily="34" charset="-122"/>
                <a:cs typeface="Calibri" pitchFamily="34" charset="-120"/>
              </a:rPr>
              <a:t>Görsel önerisi — Akustik yüzey kullanılan bir mağaza içi · dinleme kabini olan bir plak dükkânı</a:t>
            </a:r>
            <a:endParaRPr lang="en-US" sz="850" dirty="0"/>
          </a:p>
        </p:txBody>
      </p:sp>
      <p:sp>
        <p:nvSpPr>
          <p:cNvPr id="15" name="Text 13"/>
          <p:cNvSpPr txBox="1"/>
          <p:nvPr/>
        </p:nvSpPr>
        <p:spPr>
          <a:xfrm>
            <a:off x="10972800" y="6355080"/>
            <a:ext cx="438912" cy="237744"/>
          </a:xfrm>
          <a:prstGeom prst="rect">
            <a:avLst/>
          </a:prstGeom>
          <a:noFill/>
          <a:ln/>
        </p:spPr>
        <p:txBody>
          <a:bodyPr wrap="square" lIns="0" tIns="0" rIns="0" bIns="0" rtlCol="0" anchor="ctr"/>
          <a:lstStyle/>
          <a:p>
            <a:pPr algn="r" indent="0" marL="0">
              <a:buNone/>
            </a:pPr>
            <a:r>
              <a:rPr lang="en-US" sz="950" dirty="0">
                <a:solidFill>
                  <a:srgbClr val="A6A6AC"/>
                </a:solidFill>
                <a:latin typeface="Calibri" pitchFamily="34" charset="0"/>
                <a:ea typeface="Calibri" pitchFamily="34" charset="-122"/>
                <a:cs typeface="Calibri" pitchFamily="34" charset="-120"/>
              </a:rPr>
              <a:t>34</a:t>
            </a:r>
            <a:endParaRPr lang="en-US" sz="9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CFCFA"/>
        </a:solidFill>
      </p:bgPr>
    </p:bg>
    <p:spTree>
      <p:nvGrpSpPr>
        <p:cNvPr id="1" name=""/>
        <p:cNvGrpSpPr/>
        <p:nvPr/>
      </p:nvGrpSpPr>
      <p:grpSpPr>
        <a:xfrm>
          <a:off x="0" y="0"/>
          <a:ext cx="0" cy="0"/>
          <a:chOff x="0" y="0"/>
          <a:chExt cx="0" cy="0"/>
        </a:xfrm>
      </p:grpSpPr>
      <p:sp>
        <p:nvSpPr>
          <p:cNvPr id="2" name="Text 0"/>
          <p:cNvSpPr txBox="1"/>
          <p:nvPr/>
        </p:nvSpPr>
        <p:spPr>
          <a:xfrm>
            <a:off x="777240" y="475488"/>
            <a:ext cx="9601200" cy="237744"/>
          </a:xfrm>
          <a:prstGeom prst="rect">
            <a:avLst/>
          </a:prstGeom>
          <a:noFill/>
          <a:ln/>
        </p:spPr>
        <p:txBody>
          <a:bodyPr wrap="square" lIns="0" tIns="0" rIns="0" bIns="0" rtlCol="0" anchor="ctr"/>
          <a:lstStyle/>
          <a:p>
            <a:pPr indent="0" marL="0">
              <a:buNone/>
            </a:pPr>
            <a:r>
              <a:rPr lang="en-US" sz="950" b="1" spc="260" kern="0" dirty="0">
                <a:solidFill>
                  <a:srgbClr val="7A7A82"/>
                </a:solidFill>
                <a:latin typeface="Calibri" pitchFamily="34" charset="0"/>
                <a:ea typeface="Calibri" pitchFamily="34" charset="-122"/>
                <a:cs typeface="Calibri" pitchFamily="34" charset="-120"/>
              </a:rPr>
              <a:t>VII · DUYULAR</a:t>
            </a:r>
            <a:endParaRPr lang="en-US" sz="950" dirty="0"/>
          </a:p>
        </p:txBody>
      </p:sp>
      <p:sp>
        <p:nvSpPr>
          <p:cNvPr id="3" name="Text 1"/>
          <p:cNvSpPr txBox="1"/>
          <p:nvPr/>
        </p:nvSpPr>
        <p:spPr>
          <a:xfrm>
            <a:off x="777240" y="749808"/>
            <a:ext cx="6217920" cy="658368"/>
          </a:xfrm>
          <a:prstGeom prst="rect">
            <a:avLst/>
          </a:prstGeom>
          <a:noFill/>
          <a:ln/>
        </p:spPr>
        <p:txBody>
          <a:bodyPr wrap="square" lIns="0" tIns="0" rIns="0" bIns="0" rtlCol="0" anchor="ctr"/>
          <a:lstStyle/>
          <a:p>
            <a:pPr indent="0" marL="0">
              <a:buNone/>
            </a:pPr>
            <a:r>
              <a:rPr lang="en-US" sz="3800" b="1" dirty="0">
                <a:solidFill>
                  <a:srgbClr val="8C3A2B"/>
                </a:solidFill>
                <a:latin typeface="Cambria" pitchFamily="34" charset="0"/>
                <a:ea typeface="Cambria" pitchFamily="34" charset="-122"/>
                <a:cs typeface="Cambria" pitchFamily="34" charset="-120"/>
              </a:rPr>
              <a:t>Dokunma</a:t>
            </a:r>
            <a:endParaRPr lang="en-US" sz="3800" dirty="0"/>
          </a:p>
        </p:txBody>
      </p:sp>
      <p:sp>
        <p:nvSpPr>
          <p:cNvPr id="4" name="Text 2"/>
          <p:cNvSpPr txBox="1"/>
          <p:nvPr/>
        </p:nvSpPr>
        <p:spPr>
          <a:xfrm>
            <a:off x="777240" y="1426464"/>
            <a:ext cx="8686800" cy="256032"/>
          </a:xfrm>
          <a:prstGeom prst="rect">
            <a:avLst/>
          </a:prstGeom>
          <a:noFill/>
          <a:ln/>
        </p:spPr>
        <p:txBody>
          <a:bodyPr wrap="square" lIns="0" tIns="0" rIns="0" bIns="0" rtlCol="0" anchor="ctr"/>
          <a:lstStyle/>
          <a:p>
            <a:pPr indent="0" marL="0">
              <a:buNone/>
            </a:pPr>
            <a:r>
              <a:rPr lang="en-US" sz="1050" spc="160" kern="0" dirty="0">
                <a:solidFill>
                  <a:srgbClr val="7A7A82"/>
                </a:solidFill>
                <a:latin typeface="Calibri" pitchFamily="34" charset="0"/>
                <a:ea typeface="Calibri" pitchFamily="34" charset="-122"/>
                <a:cs typeface="Calibri" pitchFamily="34" charset="-120"/>
              </a:rPr>
              <a:t>MALZEME · DOKU · SICAKLIK · AĞIRLIK</a:t>
            </a:r>
            <a:endParaRPr lang="en-US" sz="1050" dirty="0"/>
          </a:p>
        </p:txBody>
      </p:sp>
      <p:sp>
        <p:nvSpPr>
          <p:cNvPr id="5" name="Text 3"/>
          <p:cNvSpPr txBox="1"/>
          <p:nvPr/>
        </p:nvSpPr>
        <p:spPr>
          <a:xfrm>
            <a:off x="777240" y="1874520"/>
            <a:ext cx="5029200" cy="2834640"/>
          </a:xfrm>
          <a:prstGeom prst="rect">
            <a:avLst/>
          </a:prstGeom>
          <a:noFill/>
          <a:ln/>
        </p:spPr>
        <p:txBody>
          <a:bodyPr wrap="square" lIns="0" tIns="0" rIns="0" bIns="0" rtlCol="0" anchor="ctr"/>
          <a:lstStyle/>
          <a:p>
            <a:pPr indent="0" marL="0">
              <a:lnSpc>
                <a:spcPts val="2100"/>
              </a:lnSpc>
              <a:buNone/>
            </a:pPr>
            <a:r>
              <a:rPr lang="en-US" sz="1350" dirty="0">
                <a:solidFill>
                  <a:srgbClr val="2B2B31"/>
                </a:solidFill>
                <a:latin typeface="Cambria" pitchFamily="34" charset="0"/>
                <a:ea typeface="Cambria" pitchFamily="34" charset="-122"/>
                <a:cs typeface="Cambria" pitchFamily="34" charset="-120"/>
              </a:rPr>
              <a:t>Dokunma, mağazanın internete karşı en güçlü olduğu duyudur. İnsan ürünü eline aldığında ona karşı sahiplik duygusu geliştirir; dokunmaya izin veren teşhir düzenleri bu nedenle satın almayı artırır.</a:t>
            </a:r>
            <a:endParaRPr lang="en-US" sz="1350" dirty="0"/>
          </a:p>
          <a:p>
            <a:pPr indent="0" marL="0">
              <a:lnSpc>
                <a:spcPts val="2100"/>
              </a:lnSpc>
              <a:buNone/>
            </a:pPr>
            <a:endParaRPr lang="en-US" sz="1350" dirty="0"/>
          </a:p>
          <a:p>
            <a:pPr indent="0" marL="0">
              <a:lnSpc>
                <a:spcPts val="2100"/>
              </a:lnSpc>
              <a:buNone/>
            </a:pPr>
            <a:r>
              <a:rPr lang="en-US" sz="1350" dirty="0">
                <a:solidFill>
                  <a:srgbClr val="2B2B31"/>
                </a:solidFill>
                <a:latin typeface="Cambria" pitchFamily="34" charset="0"/>
                <a:ea typeface="Cambria" pitchFamily="34" charset="-122"/>
                <a:cs typeface="Cambria" pitchFamily="34" charset="-120"/>
              </a:rPr>
              <a:t>Mekân, dokunma iznini kendisi verir ya da geri alır. Açık raf 'dokun' der, cam dolap 'dokunma' der — sözlü olmayan ama son derece net bir iletişim.</a:t>
            </a:r>
            <a:endParaRPr lang="en-US" sz="1350" dirty="0"/>
          </a:p>
        </p:txBody>
      </p:sp>
      <p:sp>
        <p:nvSpPr>
          <p:cNvPr id="6" name="Text 4"/>
          <p:cNvSpPr txBox="1"/>
          <p:nvPr/>
        </p:nvSpPr>
        <p:spPr>
          <a:xfrm>
            <a:off x="6382512" y="1874520"/>
            <a:ext cx="5029200" cy="2834640"/>
          </a:xfrm>
          <a:prstGeom prst="rect">
            <a:avLst/>
          </a:prstGeom>
          <a:noFill/>
          <a:ln/>
        </p:spPr>
        <p:txBody>
          <a:bodyPr wrap="square" lIns="0" tIns="0" rIns="0" bIns="0" rtlCol="0" anchor="ctr"/>
          <a:lstStyle/>
          <a:p>
            <a:pPr indent="0" marL="0">
              <a:lnSpc>
                <a:spcPts val="2100"/>
              </a:lnSpc>
              <a:buNone/>
            </a:pPr>
            <a:r>
              <a:rPr lang="en-US" sz="1350" dirty="0">
                <a:solidFill>
                  <a:srgbClr val="2B2B31"/>
                </a:solidFill>
                <a:latin typeface="Cambria" pitchFamily="34" charset="0"/>
                <a:ea typeface="Cambria" pitchFamily="34" charset="-122"/>
                <a:cs typeface="Cambria" pitchFamily="34" charset="-120"/>
              </a:rPr>
              <a:t>Dokunma ürünle sınırlı değildir. Kapı kolunun ağırlığı, tezgâhın sıcaklığı ve zeminin sertliği de markanın iddiasını sessizce doğrular ya da yalanlar.</a:t>
            </a:r>
            <a:endParaRPr lang="en-US" sz="1350" dirty="0"/>
          </a:p>
        </p:txBody>
      </p:sp>
      <p:sp>
        <p:nvSpPr>
          <p:cNvPr id="7" name="Text 5"/>
          <p:cNvSpPr txBox="1"/>
          <p:nvPr/>
        </p:nvSpPr>
        <p:spPr>
          <a:xfrm>
            <a:off x="777240" y="4864608"/>
            <a:ext cx="10424160" cy="219456"/>
          </a:xfrm>
          <a:prstGeom prst="rect">
            <a:avLst/>
          </a:prstGeom>
          <a:noFill/>
          <a:ln/>
        </p:spPr>
        <p:txBody>
          <a:bodyPr wrap="square" lIns="0" tIns="0" rIns="0" bIns="0" rtlCol="0" anchor="ctr"/>
          <a:lstStyle/>
          <a:p>
            <a:pPr algn="l" indent="0" marL="0">
              <a:lnSpc>
                <a:spcPts val="1200"/>
              </a:lnSpc>
              <a:buNone/>
            </a:pPr>
            <a:r>
              <a:rPr lang="en-US" sz="900" b="1" dirty="0">
                <a:solidFill>
                  <a:srgbClr val="A6A6AC"/>
                </a:solidFill>
                <a:latin typeface="Calibri" pitchFamily="34" charset="0"/>
                <a:ea typeface="Calibri" pitchFamily="34" charset="-122"/>
                <a:cs typeface="Calibri" pitchFamily="34" charset="-120"/>
              </a:rPr>
              <a:t>MAĞAZADA NASIL KULLANILIR</a:t>
            </a:r>
            <a:endParaRPr lang="en-US" sz="900" dirty="0"/>
          </a:p>
        </p:txBody>
      </p:sp>
      <p:sp>
        <p:nvSpPr>
          <p:cNvPr id="8" name="Text 6"/>
          <p:cNvSpPr txBox="1"/>
          <p:nvPr/>
        </p:nvSpPr>
        <p:spPr>
          <a:xfrm>
            <a:off x="777240" y="5138928"/>
            <a:ext cx="3240024" cy="384048"/>
          </a:xfrm>
          <a:prstGeom prst="rect">
            <a:avLst/>
          </a:prstGeom>
          <a:noFill/>
          <a:ln/>
        </p:spPr>
        <p:txBody>
          <a:bodyPr wrap="square" lIns="0" tIns="0" rIns="0" bIns="0" rtlCol="0" anchor="ctr"/>
          <a:lstStyle/>
          <a:p>
            <a:pPr indent="0" marL="0">
              <a:lnSpc>
                <a:spcPts val="1700"/>
              </a:lnSpc>
              <a:buNone/>
            </a:pPr>
            <a:r>
              <a:rPr lang="en-US" sz="1350" b="1" dirty="0">
                <a:solidFill>
                  <a:srgbClr val="8C3A2B"/>
                </a:solidFill>
                <a:latin typeface="Cambria" pitchFamily="34" charset="0"/>
                <a:ea typeface="Cambria" pitchFamily="34" charset="-122"/>
                <a:cs typeface="Cambria" pitchFamily="34" charset="-120"/>
              </a:rPr>
              <a:t>Açık teşhir</a:t>
            </a:r>
            <a:endParaRPr lang="en-US" sz="1350" dirty="0"/>
          </a:p>
        </p:txBody>
      </p:sp>
      <p:sp>
        <p:nvSpPr>
          <p:cNvPr id="9" name="Text 7"/>
          <p:cNvSpPr txBox="1"/>
          <p:nvPr/>
        </p:nvSpPr>
        <p:spPr>
          <a:xfrm>
            <a:off x="777240" y="5550408"/>
            <a:ext cx="3240024" cy="621792"/>
          </a:xfrm>
          <a:prstGeom prst="rect">
            <a:avLst/>
          </a:prstGeom>
          <a:noFill/>
          <a:ln/>
        </p:spPr>
        <p:txBody>
          <a:bodyPr wrap="square" lIns="0" tIns="0" rIns="0" bIns="0" rtlCol="0" anchor="ctr"/>
          <a:lstStyle/>
          <a:p>
            <a:pPr indent="0" marL="0">
              <a:lnSpc>
                <a:spcPts val="1400"/>
              </a:lnSpc>
              <a:buNone/>
            </a:pPr>
            <a:r>
              <a:rPr lang="en-US" sz="1100" dirty="0">
                <a:solidFill>
                  <a:srgbClr val="7A7A82"/>
                </a:solidFill>
                <a:latin typeface="Calibri" pitchFamily="34" charset="0"/>
                <a:ea typeface="Calibri" pitchFamily="34" charset="-122"/>
                <a:cs typeface="Calibri" pitchFamily="34" charset="-120"/>
              </a:rPr>
              <a:t>Ürünü ambalajsız ve elin ulaşacağı yükseklikte sunmak.</a:t>
            </a:r>
            <a:endParaRPr lang="en-US" sz="1100" dirty="0"/>
          </a:p>
        </p:txBody>
      </p:sp>
      <p:sp>
        <p:nvSpPr>
          <p:cNvPr id="10" name="Text 8"/>
          <p:cNvSpPr txBox="1"/>
          <p:nvPr/>
        </p:nvSpPr>
        <p:spPr>
          <a:xfrm>
            <a:off x="4474464" y="5138928"/>
            <a:ext cx="3240024" cy="384048"/>
          </a:xfrm>
          <a:prstGeom prst="rect">
            <a:avLst/>
          </a:prstGeom>
          <a:noFill/>
          <a:ln/>
        </p:spPr>
        <p:txBody>
          <a:bodyPr wrap="square" lIns="0" tIns="0" rIns="0" bIns="0" rtlCol="0" anchor="ctr"/>
          <a:lstStyle/>
          <a:p>
            <a:pPr indent="0" marL="0">
              <a:lnSpc>
                <a:spcPts val="1700"/>
              </a:lnSpc>
              <a:buNone/>
            </a:pPr>
            <a:r>
              <a:rPr lang="en-US" sz="1350" b="1" dirty="0">
                <a:solidFill>
                  <a:srgbClr val="8C3A2B"/>
                </a:solidFill>
                <a:latin typeface="Cambria" pitchFamily="34" charset="0"/>
                <a:ea typeface="Cambria" pitchFamily="34" charset="-122"/>
                <a:cs typeface="Cambria" pitchFamily="34" charset="-120"/>
              </a:rPr>
              <a:t>Malzeme örneği</a:t>
            </a:r>
            <a:endParaRPr lang="en-US" sz="1350" dirty="0"/>
          </a:p>
        </p:txBody>
      </p:sp>
      <p:sp>
        <p:nvSpPr>
          <p:cNvPr id="11" name="Text 9"/>
          <p:cNvSpPr txBox="1"/>
          <p:nvPr/>
        </p:nvSpPr>
        <p:spPr>
          <a:xfrm>
            <a:off x="4474464" y="5550408"/>
            <a:ext cx="3240024" cy="621792"/>
          </a:xfrm>
          <a:prstGeom prst="rect">
            <a:avLst/>
          </a:prstGeom>
          <a:noFill/>
          <a:ln/>
        </p:spPr>
        <p:txBody>
          <a:bodyPr wrap="square" lIns="0" tIns="0" rIns="0" bIns="0" rtlCol="0" anchor="ctr"/>
          <a:lstStyle/>
          <a:p>
            <a:pPr indent="0" marL="0">
              <a:lnSpc>
                <a:spcPts val="1400"/>
              </a:lnSpc>
              <a:buNone/>
            </a:pPr>
            <a:r>
              <a:rPr lang="en-US" sz="1100" dirty="0">
                <a:solidFill>
                  <a:srgbClr val="7A7A82"/>
                </a:solidFill>
                <a:latin typeface="Calibri" pitchFamily="34" charset="0"/>
                <a:ea typeface="Calibri" pitchFamily="34" charset="-122"/>
                <a:cs typeface="Calibri" pitchFamily="34" charset="-120"/>
              </a:rPr>
              <a:t>Kumaş, deri veya ahşap örneklerini duvarda dokunulabilir hâlde vermek.</a:t>
            </a:r>
            <a:endParaRPr lang="en-US" sz="1100" dirty="0"/>
          </a:p>
        </p:txBody>
      </p:sp>
      <p:sp>
        <p:nvSpPr>
          <p:cNvPr id="12" name="Text 10"/>
          <p:cNvSpPr txBox="1"/>
          <p:nvPr/>
        </p:nvSpPr>
        <p:spPr>
          <a:xfrm>
            <a:off x="8171688" y="5138928"/>
            <a:ext cx="3240024" cy="384048"/>
          </a:xfrm>
          <a:prstGeom prst="rect">
            <a:avLst/>
          </a:prstGeom>
          <a:noFill/>
          <a:ln/>
        </p:spPr>
        <p:txBody>
          <a:bodyPr wrap="square" lIns="0" tIns="0" rIns="0" bIns="0" rtlCol="0" anchor="ctr"/>
          <a:lstStyle/>
          <a:p>
            <a:pPr indent="0" marL="0">
              <a:lnSpc>
                <a:spcPts val="1700"/>
              </a:lnSpc>
              <a:buNone/>
            </a:pPr>
            <a:r>
              <a:rPr lang="en-US" sz="1350" b="1" dirty="0">
                <a:solidFill>
                  <a:srgbClr val="8C3A2B"/>
                </a:solidFill>
                <a:latin typeface="Cambria" pitchFamily="34" charset="0"/>
                <a:ea typeface="Cambria" pitchFamily="34" charset="-122"/>
                <a:cs typeface="Cambria" pitchFamily="34" charset="-120"/>
              </a:rPr>
              <a:t>Dokunsal yönlendirme</a:t>
            </a:r>
            <a:endParaRPr lang="en-US" sz="1350" dirty="0"/>
          </a:p>
        </p:txBody>
      </p:sp>
      <p:sp>
        <p:nvSpPr>
          <p:cNvPr id="13" name="Text 11"/>
          <p:cNvSpPr txBox="1"/>
          <p:nvPr/>
        </p:nvSpPr>
        <p:spPr>
          <a:xfrm>
            <a:off x="8171688" y="5550408"/>
            <a:ext cx="3240024" cy="621792"/>
          </a:xfrm>
          <a:prstGeom prst="rect">
            <a:avLst/>
          </a:prstGeom>
          <a:noFill/>
          <a:ln/>
        </p:spPr>
        <p:txBody>
          <a:bodyPr wrap="square" lIns="0" tIns="0" rIns="0" bIns="0" rtlCol="0" anchor="ctr"/>
          <a:lstStyle/>
          <a:p>
            <a:pPr indent="0" marL="0">
              <a:lnSpc>
                <a:spcPts val="1400"/>
              </a:lnSpc>
              <a:buNone/>
            </a:pPr>
            <a:r>
              <a:rPr lang="en-US" sz="1100" dirty="0">
                <a:solidFill>
                  <a:srgbClr val="7A7A82"/>
                </a:solidFill>
                <a:latin typeface="Calibri" pitchFamily="34" charset="0"/>
                <a:ea typeface="Calibri" pitchFamily="34" charset="-122"/>
                <a:cs typeface="Calibri" pitchFamily="34" charset="-120"/>
              </a:rPr>
              <a:t>Zeminde doku değişimi ve dokunsal harita ile görme engelli kullanıcıya rota vermek.</a:t>
            </a:r>
            <a:endParaRPr lang="en-US" sz="1100" dirty="0"/>
          </a:p>
        </p:txBody>
      </p:sp>
      <p:sp>
        <p:nvSpPr>
          <p:cNvPr id="14" name="Text 12"/>
          <p:cNvSpPr txBox="1"/>
          <p:nvPr/>
        </p:nvSpPr>
        <p:spPr>
          <a:xfrm>
            <a:off x="777240" y="6309360"/>
            <a:ext cx="10058400" cy="310896"/>
          </a:xfrm>
          <a:prstGeom prst="rect">
            <a:avLst/>
          </a:prstGeom>
          <a:noFill/>
          <a:ln/>
        </p:spPr>
        <p:txBody>
          <a:bodyPr wrap="square" lIns="0" tIns="0" rIns="0" bIns="0" rtlCol="0" anchor="ctr"/>
          <a:lstStyle/>
          <a:p>
            <a:pPr indent="0" marL="0">
              <a:lnSpc>
                <a:spcPts val="1100"/>
              </a:lnSpc>
              <a:buNone/>
            </a:pPr>
            <a:r>
              <a:rPr lang="en-US" sz="850" dirty="0">
                <a:solidFill>
                  <a:srgbClr val="A6A6AC"/>
                </a:solidFill>
                <a:latin typeface="Calibri" pitchFamily="34" charset="0"/>
                <a:ea typeface="Calibri" pitchFamily="34" charset="-122"/>
                <a:cs typeface="Calibri" pitchFamily="34" charset="-120"/>
              </a:rPr>
              <a:t>Görsel önerisi — Açık raf ile cam dolabın yan yana göründüğü bir mağaza içi · dokunsal yüzey örneği</a:t>
            </a:r>
            <a:endParaRPr lang="en-US" sz="850" dirty="0"/>
          </a:p>
        </p:txBody>
      </p:sp>
      <p:sp>
        <p:nvSpPr>
          <p:cNvPr id="15" name="Text 13"/>
          <p:cNvSpPr txBox="1"/>
          <p:nvPr/>
        </p:nvSpPr>
        <p:spPr>
          <a:xfrm>
            <a:off x="10972800" y="6355080"/>
            <a:ext cx="438912" cy="237744"/>
          </a:xfrm>
          <a:prstGeom prst="rect">
            <a:avLst/>
          </a:prstGeom>
          <a:noFill/>
          <a:ln/>
        </p:spPr>
        <p:txBody>
          <a:bodyPr wrap="square" lIns="0" tIns="0" rIns="0" bIns="0" rtlCol="0" anchor="ctr"/>
          <a:lstStyle/>
          <a:p>
            <a:pPr algn="r" indent="0" marL="0">
              <a:buNone/>
            </a:pPr>
            <a:r>
              <a:rPr lang="en-US" sz="950" dirty="0">
                <a:solidFill>
                  <a:srgbClr val="A6A6AC"/>
                </a:solidFill>
                <a:latin typeface="Calibri" pitchFamily="34" charset="0"/>
                <a:ea typeface="Calibri" pitchFamily="34" charset="-122"/>
                <a:cs typeface="Calibri" pitchFamily="34" charset="-120"/>
              </a:rPr>
              <a:t>35</a:t>
            </a:r>
            <a:endParaRPr lang="en-US" sz="9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CFCFA"/>
        </a:solidFill>
      </p:bgPr>
    </p:bg>
    <p:spTree>
      <p:nvGrpSpPr>
        <p:cNvPr id="1" name=""/>
        <p:cNvGrpSpPr/>
        <p:nvPr/>
      </p:nvGrpSpPr>
      <p:grpSpPr>
        <a:xfrm>
          <a:off x="0" y="0"/>
          <a:ext cx="0" cy="0"/>
          <a:chOff x="0" y="0"/>
          <a:chExt cx="0" cy="0"/>
        </a:xfrm>
      </p:grpSpPr>
      <p:sp>
        <p:nvSpPr>
          <p:cNvPr id="2" name="Text 0"/>
          <p:cNvSpPr txBox="1"/>
          <p:nvPr/>
        </p:nvSpPr>
        <p:spPr>
          <a:xfrm>
            <a:off x="777240" y="475488"/>
            <a:ext cx="9601200" cy="237744"/>
          </a:xfrm>
          <a:prstGeom prst="rect">
            <a:avLst/>
          </a:prstGeom>
          <a:noFill/>
          <a:ln/>
        </p:spPr>
        <p:txBody>
          <a:bodyPr wrap="square" lIns="0" tIns="0" rIns="0" bIns="0" rtlCol="0" anchor="ctr"/>
          <a:lstStyle/>
          <a:p>
            <a:pPr indent="0" marL="0">
              <a:buNone/>
            </a:pPr>
            <a:r>
              <a:rPr lang="en-US" sz="950" b="1" spc="260" kern="0" dirty="0">
                <a:solidFill>
                  <a:srgbClr val="7A7A82"/>
                </a:solidFill>
                <a:latin typeface="Calibri" pitchFamily="34" charset="0"/>
                <a:ea typeface="Calibri" pitchFamily="34" charset="-122"/>
                <a:cs typeface="Calibri" pitchFamily="34" charset="-120"/>
              </a:rPr>
              <a:t>VII · DUYULAR</a:t>
            </a:r>
            <a:endParaRPr lang="en-US" sz="950" dirty="0"/>
          </a:p>
        </p:txBody>
      </p:sp>
      <p:sp>
        <p:nvSpPr>
          <p:cNvPr id="3" name="Text 1"/>
          <p:cNvSpPr txBox="1"/>
          <p:nvPr/>
        </p:nvSpPr>
        <p:spPr>
          <a:xfrm>
            <a:off x="777240" y="749808"/>
            <a:ext cx="6217920" cy="658368"/>
          </a:xfrm>
          <a:prstGeom prst="rect">
            <a:avLst/>
          </a:prstGeom>
          <a:noFill/>
          <a:ln/>
        </p:spPr>
        <p:txBody>
          <a:bodyPr wrap="square" lIns="0" tIns="0" rIns="0" bIns="0" rtlCol="0" anchor="ctr"/>
          <a:lstStyle/>
          <a:p>
            <a:pPr indent="0" marL="0">
              <a:buNone/>
            </a:pPr>
            <a:r>
              <a:rPr lang="en-US" sz="3800" b="1" dirty="0">
                <a:solidFill>
                  <a:srgbClr val="8C3A2B"/>
                </a:solidFill>
                <a:latin typeface="Cambria" pitchFamily="34" charset="0"/>
                <a:ea typeface="Cambria" pitchFamily="34" charset="-122"/>
                <a:cs typeface="Cambria" pitchFamily="34" charset="-120"/>
              </a:rPr>
              <a:t>Koklama</a:t>
            </a:r>
            <a:endParaRPr lang="en-US" sz="3800" dirty="0"/>
          </a:p>
        </p:txBody>
      </p:sp>
      <p:sp>
        <p:nvSpPr>
          <p:cNvPr id="4" name="Text 2"/>
          <p:cNvSpPr txBox="1"/>
          <p:nvPr/>
        </p:nvSpPr>
        <p:spPr>
          <a:xfrm>
            <a:off x="777240" y="1426464"/>
            <a:ext cx="8686800" cy="256032"/>
          </a:xfrm>
          <a:prstGeom prst="rect">
            <a:avLst/>
          </a:prstGeom>
          <a:noFill/>
          <a:ln/>
        </p:spPr>
        <p:txBody>
          <a:bodyPr wrap="square" lIns="0" tIns="0" rIns="0" bIns="0" rtlCol="0" anchor="ctr"/>
          <a:lstStyle/>
          <a:p>
            <a:pPr indent="0" marL="0">
              <a:buNone/>
            </a:pPr>
            <a:r>
              <a:rPr lang="en-US" sz="1050" spc="160" kern="0" dirty="0">
                <a:solidFill>
                  <a:srgbClr val="7A7A82"/>
                </a:solidFill>
                <a:latin typeface="Calibri" pitchFamily="34" charset="0"/>
                <a:ea typeface="Calibri" pitchFamily="34" charset="-122"/>
                <a:cs typeface="Calibri" pitchFamily="34" charset="-120"/>
              </a:rPr>
              <a:t>KOKU · HAFIZA · KAYNAK</a:t>
            </a:r>
            <a:endParaRPr lang="en-US" sz="1050" dirty="0"/>
          </a:p>
        </p:txBody>
      </p:sp>
      <p:sp>
        <p:nvSpPr>
          <p:cNvPr id="5" name="Text 3"/>
          <p:cNvSpPr txBox="1"/>
          <p:nvPr/>
        </p:nvSpPr>
        <p:spPr>
          <a:xfrm>
            <a:off x="777240" y="1874520"/>
            <a:ext cx="5029200" cy="2834640"/>
          </a:xfrm>
          <a:prstGeom prst="rect">
            <a:avLst/>
          </a:prstGeom>
          <a:noFill/>
          <a:ln/>
        </p:spPr>
        <p:txBody>
          <a:bodyPr wrap="square" lIns="0" tIns="0" rIns="0" bIns="0" rtlCol="0" anchor="ctr"/>
          <a:lstStyle/>
          <a:p>
            <a:pPr indent="0" marL="0">
              <a:lnSpc>
                <a:spcPts val="2100"/>
              </a:lnSpc>
              <a:buNone/>
            </a:pPr>
            <a:r>
              <a:rPr lang="en-US" sz="1350" dirty="0">
                <a:solidFill>
                  <a:srgbClr val="2B2B31"/>
                </a:solidFill>
                <a:latin typeface="Cambria" pitchFamily="34" charset="0"/>
                <a:ea typeface="Cambria" pitchFamily="34" charset="-122"/>
                <a:cs typeface="Cambria" pitchFamily="34" charset="-120"/>
              </a:rPr>
              <a:t>Koku, hafızaya en doğrudan bağlanan duyudur; bir kokunun yıllar sonra bir mekânı hatırlatması bundandır. Bu nedenle koku, mağazanın hatırlanmasında güçlü bir araçtır.</a:t>
            </a:r>
            <a:endParaRPr lang="en-US" sz="1350" dirty="0"/>
          </a:p>
          <a:p>
            <a:pPr indent="0" marL="0">
              <a:lnSpc>
                <a:spcPts val="2100"/>
              </a:lnSpc>
              <a:buNone/>
            </a:pPr>
            <a:endParaRPr lang="en-US" sz="1350" dirty="0"/>
          </a:p>
          <a:p>
            <a:pPr indent="0" marL="0">
              <a:lnSpc>
                <a:spcPts val="2100"/>
              </a:lnSpc>
              <a:buNone/>
            </a:pPr>
            <a:r>
              <a:rPr lang="en-US" sz="1350" dirty="0">
                <a:solidFill>
                  <a:srgbClr val="2B2B31"/>
                </a:solidFill>
                <a:latin typeface="Cambria" pitchFamily="34" charset="0"/>
                <a:ea typeface="Cambria" pitchFamily="34" charset="-122"/>
                <a:cs typeface="Cambria" pitchFamily="34" charset="-120"/>
              </a:rPr>
              <a:t>Ancak koku tasarımı mekâna difüzör koymak değildir. Etkili olan koku, kaynağı görünen kokudur: ürünün kendisi, kullanılan malzeme, taze bir yüzey ya da bir hazırlık tezgâhı. Kaynağı belirsiz yapay koku çoğu insanda rahatsızlık yaratır.</a:t>
            </a:r>
            <a:endParaRPr lang="en-US" sz="1350" dirty="0"/>
          </a:p>
        </p:txBody>
      </p:sp>
      <p:sp>
        <p:nvSpPr>
          <p:cNvPr id="6" name="Text 4"/>
          <p:cNvSpPr txBox="1"/>
          <p:nvPr/>
        </p:nvSpPr>
        <p:spPr>
          <a:xfrm>
            <a:off x="6382512" y="1874520"/>
            <a:ext cx="5029200" cy="2834640"/>
          </a:xfrm>
          <a:prstGeom prst="rect">
            <a:avLst/>
          </a:prstGeom>
          <a:noFill/>
          <a:ln/>
        </p:spPr>
        <p:txBody>
          <a:bodyPr wrap="square" lIns="0" tIns="0" rIns="0" bIns="0" rtlCol="0" anchor="ctr"/>
          <a:lstStyle/>
          <a:p>
            <a:pPr indent="0" marL="0">
              <a:lnSpc>
                <a:spcPts val="2100"/>
              </a:lnSpc>
              <a:buNone/>
            </a:pPr>
            <a:r>
              <a:rPr lang="en-US" sz="1350" dirty="0">
                <a:solidFill>
                  <a:srgbClr val="2B2B31"/>
                </a:solidFill>
                <a:latin typeface="Cambria" pitchFamily="34" charset="0"/>
                <a:ea typeface="Cambria" pitchFamily="34" charset="-122"/>
                <a:cs typeface="Cambria" pitchFamily="34" charset="-120"/>
              </a:rPr>
              <a:t>Üçüncü kural ölçüdür: yoğun koku, koku hassasiyeti olan kullanıcılar için mekânı kullanılamaz kılar.</a:t>
            </a:r>
            <a:endParaRPr lang="en-US" sz="1350" dirty="0"/>
          </a:p>
        </p:txBody>
      </p:sp>
      <p:sp>
        <p:nvSpPr>
          <p:cNvPr id="7" name="Text 5"/>
          <p:cNvSpPr txBox="1"/>
          <p:nvPr/>
        </p:nvSpPr>
        <p:spPr>
          <a:xfrm>
            <a:off x="777240" y="4864608"/>
            <a:ext cx="10424160" cy="219456"/>
          </a:xfrm>
          <a:prstGeom prst="rect">
            <a:avLst/>
          </a:prstGeom>
          <a:noFill/>
          <a:ln/>
        </p:spPr>
        <p:txBody>
          <a:bodyPr wrap="square" lIns="0" tIns="0" rIns="0" bIns="0" rtlCol="0" anchor="ctr"/>
          <a:lstStyle/>
          <a:p>
            <a:pPr algn="l" indent="0" marL="0">
              <a:lnSpc>
                <a:spcPts val="1200"/>
              </a:lnSpc>
              <a:buNone/>
            </a:pPr>
            <a:r>
              <a:rPr lang="en-US" sz="900" b="1" dirty="0">
                <a:solidFill>
                  <a:srgbClr val="A6A6AC"/>
                </a:solidFill>
                <a:latin typeface="Calibri" pitchFamily="34" charset="0"/>
                <a:ea typeface="Calibri" pitchFamily="34" charset="-122"/>
                <a:cs typeface="Calibri" pitchFamily="34" charset="-120"/>
              </a:rPr>
              <a:t>MAĞAZADA NASIL KULLANILIR</a:t>
            </a:r>
            <a:endParaRPr lang="en-US" sz="900" dirty="0"/>
          </a:p>
        </p:txBody>
      </p:sp>
      <p:sp>
        <p:nvSpPr>
          <p:cNvPr id="8" name="Text 6"/>
          <p:cNvSpPr txBox="1"/>
          <p:nvPr/>
        </p:nvSpPr>
        <p:spPr>
          <a:xfrm>
            <a:off x="777240" y="5138928"/>
            <a:ext cx="3240024" cy="384048"/>
          </a:xfrm>
          <a:prstGeom prst="rect">
            <a:avLst/>
          </a:prstGeom>
          <a:noFill/>
          <a:ln/>
        </p:spPr>
        <p:txBody>
          <a:bodyPr wrap="square" lIns="0" tIns="0" rIns="0" bIns="0" rtlCol="0" anchor="ctr"/>
          <a:lstStyle/>
          <a:p>
            <a:pPr indent="0" marL="0">
              <a:lnSpc>
                <a:spcPts val="1700"/>
              </a:lnSpc>
              <a:buNone/>
            </a:pPr>
            <a:r>
              <a:rPr lang="en-US" sz="1350" b="1" dirty="0">
                <a:solidFill>
                  <a:srgbClr val="8C3A2B"/>
                </a:solidFill>
                <a:latin typeface="Cambria" pitchFamily="34" charset="0"/>
                <a:ea typeface="Cambria" pitchFamily="34" charset="-122"/>
                <a:cs typeface="Cambria" pitchFamily="34" charset="-120"/>
              </a:rPr>
              <a:t>Ürünün kendisi</a:t>
            </a:r>
            <a:endParaRPr lang="en-US" sz="1350" dirty="0"/>
          </a:p>
        </p:txBody>
      </p:sp>
      <p:sp>
        <p:nvSpPr>
          <p:cNvPr id="9" name="Text 7"/>
          <p:cNvSpPr txBox="1"/>
          <p:nvPr/>
        </p:nvSpPr>
        <p:spPr>
          <a:xfrm>
            <a:off x="777240" y="5550408"/>
            <a:ext cx="3240024" cy="621792"/>
          </a:xfrm>
          <a:prstGeom prst="rect">
            <a:avLst/>
          </a:prstGeom>
          <a:noFill/>
          <a:ln/>
        </p:spPr>
        <p:txBody>
          <a:bodyPr wrap="square" lIns="0" tIns="0" rIns="0" bIns="0" rtlCol="0" anchor="ctr"/>
          <a:lstStyle/>
          <a:p>
            <a:pPr indent="0" marL="0">
              <a:lnSpc>
                <a:spcPts val="1400"/>
              </a:lnSpc>
              <a:buNone/>
            </a:pPr>
            <a:r>
              <a:rPr lang="en-US" sz="1100" dirty="0">
                <a:solidFill>
                  <a:srgbClr val="7A7A82"/>
                </a:solidFill>
                <a:latin typeface="Calibri" pitchFamily="34" charset="0"/>
                <a:ea typeface="Calibri" pitchFamily="34" charset="-122"/>
                <a:cs typeface="Calibri" pitchFamily="34" charset="-120"/>
              </a:rPr>
              <a:t>Ambalajı kaldırıp kokuyu doğrudan ürüne bırakmak.</a:t>
            </a:r>
            <a:endParaRPr lang="en-US" sz="1100" dirty="0"/>
          </a:p>
        </p:txBody>
      </p:sp>
      <p:sp>
        <p:nvSpPr>
          <p:cNvPr id="10" name="Text 8"/>
          <p:cNvSpPr txBox="1"/>
          <p:nvPr/>
        </p:nvSpPr>
        <p:spPr>
          <a:xfrm>
            <a:off x="4474464" y="5138928"/>
            <a:ext cx="3240024" cy="384048"/>
          </a:xfrm>
          <a:prstGeom prst="rect">
            <a:avLst/>
          </a:prstGeom>
          <a:noFill/>
          <a:ln/>
        </p:spPr>
        <p:txBody>
          <a:bodyPr wrap="square" lIns="0" tIns="0" rIns="0" bIns="0" rtlCol="0" anchor="ctr"/>
          <a:lstStyle/>
          <a:p>
            <a:pPr indent="0" marL="0">
              <a:lnSpc>
                <a:spcPts val="1700"/>
              </a:lnSpc>
              <a:buNone/>
            </a:pPr>
            <a:r>
              <a:rPr lang="en-US" sz="1350" b="1" dirty="0">
                <a:solidFill>
                  <a:srgbClr val="8C3A2B"/>
                </a:solidFill>
                <a:latin typeface="Cambria" pitchFamily="34" charset="0"/>
                <a:ea typeface="Cambria" pitchFamily="34" charset="-122"/>
                <a:cs typeface="Cambria" pitchFamily="34" charset="-120"/>
              </a:rPr>
              <a:t>Üretimi görünür kılmak</a:t>
            </a:r>
            <a:endParaRPr lang="en-US" sz="1350" dirty="0"/>
          </a:p>
        </p:txBody>
      </p:sp>
      <p:sp>
        <p:nvSpPr>
          <p:cNvPr id="11" name="Text 9"/>
          <p:cNvSpPr txBox="1"/>
          <p:nvPr/>
        </p:nvSpPr>
        <p:spPr>
          <a:xfrm>
            <a:off x="4474464" y="5550408"/>
            <a:ext cx="3240024" cy="621792"/>
          </a:xfrm>
          <a:prstGeom prst="rect">
            <a:avLst/>
          </a:prstGeom>
          <a:noFill/>
          <a:ln/>
        </p:spPr>
        <p:txBody>
          <a:bodyPr wrap="square" lIns="0" tIns="0" rIns="0" bIns="0" rtlCol="0" anchor="ctr"/>
          <a:lstStyle/>
          <a:p>
            <a:pPr indent="0" marL="0">
              <a:lnSpc>
                <a:spcPts val="1400"/>
              </a:lnSpc>
              <a:buNone/>
            </a:pPr>
            <a:r>
              <a:rPr lang="en-US" sz="1100" dirty="0">
                <a:solidFill>
                  <a:srgbClr val="7A7A82"/>
                </a:solidFill>
                <a:latin typeface="Calibri" pitchFamily="34" charset="0"/>
                <a:ea typeface="Calibri" pitchFamily="34" charset="-122"/>
                <a:cs typeface="Calibri" pitchFamily="34" charset="-120"/>
              </a:rPr>
              <a:t>Kavurma, fırın veya hazırlık tezgâhını satış alanına açmak.</a:t>
            </a:r>
            <a:endParaRPr lang="en-US" sz="1100" dirty="0"/>
          </a:p>
        </p:txBody>
      </p:sp>
      <p:sp>
        <p:nvSpPr>
          <p:cNvPr id="12" name="Text 10"/>
          <p:cNvSpPr txBox="1"/>
          <p:nvPr/>
        </p:nvSpPr>
        <p:spPr>
          <a:xfrm>
            <a:off x="8171688" y="5138928"/>
            <a:ext cx="3240024" cy="384048"/>
          </a:xfrm>
          <a:prstGeom prst="rect">
            <a:avLst/>
          </a:prstGeom>
          <a:noFill/>
          <a:ln/>
        </p:spPr>
        <p:txBody>
          <a:bodyPr wrap="square" lIns="0" tIns="0" rIns="0" bIns="0" rtlCol="0" anchor="ctr"/>
          <a:lstStyle/>
          <a:p>
            <a:pPr indent="0" marL="0">
              <a:lnSpc>
                <a:spcPts val="1700"/>
              </a:lnSpc>
              <a:buNone/>
            </a:pPr>
            <a:r>
              <a:rPr lang="en-US" sz="1350" b="1" dirty="0">
                <a:solidFill>
                  <a:srgbClr val="8C3A2B"/>
                </a:solidFill>
                <a:latin typeface="Cambria" pitchFamily="34" charset="0"/>
                <a:ea typeface="Cambria" pitchFamily="34" charset="-122"/>
                <a:cs typeface="Cambria" pitchFamily="34" charset="-120"/>
              </a:rPr>
              <a:t>Malzeme kokusu</a:t>
            </a:r>
            <a:endParaRPr lang="en-US" sz="1350" dirty="0"/>
          </a:p>
        </p:txBody>
      </p:sp>
      <p:sp>
        <p:nvSpPr>
          <p:cNvPr id="13" name="Text 11"/>
          <p:cNvSpPr txBox="1"/>
          <p:nvPr/>
        </p:nvSpPr>
        <p:spPr>
          <a:xfrm>
            <a:off x="8171688" y="5550408"/>
            <a:ext cx="3240024" cy="621792"/>
          </a:xfrm>
          <a:prstGeom prst="rect">
            <a:avLst/>
          </a:prstGeom>
          <a:noFill/>
          <a:ln/>
        </p:spPr>
        <p:txBody>
          <a:bodyPr wrap="square" lIns="0" tIns="0" rIns="0" bIns="0" rtlCol="0" anchor="ctr"/>
          <a:lstStyle/>
          <a:p>
            <a:pPr indent="0" marL="0">
              <a:lnSpc>
                <a:spcPts val="1400"/>
              </a:lnSpc>
              <a:buNone/>
            </a:pPr>
            <a:r>
              <a:rPr lang="en-US" sz="1100" dirty="0">
                <a:solidFill>
                  <a:srgbClr val="7A7A82"/>
                </a:solidFill>
                <a:latin typeface="Calibri" pitchFamily="34" charset="0"/>
                <a:ea typeface="Calibri" pitchFamily="34" charset="-122"/>
                <a:cs typeface="Calibri" pitchFamily="34" charset="-120"/>
              </a:rPr>
              <a:t>Ham ahşap, deri ve doğal yağ gibi kendi kokusu olan malzemeleri seçmek.</a:t>
            </a:r>
            <a:endParaRPr lang="en-US" sz="1100" dirty="0"/>
          </a:p>
        </p:txBody>
      </p:sp>
      <p:sp>
        <p:nvSpPr>
          <p:cNvPr id="14" name="Text 12"/>
          <p:cNvSpPr txBox="1"/>
          <p:nvPr/>
        </p:nvSpPr>
        <p:spPr>
          <a:xfrm>
            <a:off x="777240" y="6309360"/>
            <a:ext cx="10058400" cy="310896"/>
          </a:xfrm>
          <a:prstGeom prst="rect">
            <a:avLst/>
          </a:prstGeom>
          <a:noFill/>
          <a:ln/>
        </p:spPr>
        <p:txBody>
          <a:bodyPr wrap="square" lIns="0" tIns="0" rIns="0" bIns="0" rtlCol="0" anchor="ctr"/>
          <a:lstStyle/>
          <a:p>
            <a:pPr indent="0" marL="0">
              <a:lnSpc>
                <a:spcPts val="1100"/>
              </a:lnSpc>
              <a:buNone/>
            </a:pPr>
            <a:r>
              <a:rPr lang="en-US" sz="850" dirty="0">
                <a:solidFill>
                  <a:srgbClr val="A6A6AC"/>
                </a:solidFill>
                <a:latin typeface="Calibri" pitchFamily="34" charset="0"/>
                <a:ea typeface="Calibri" pitchFamily="34" charset="-122"/>
                <a:cs typeface="Calibri" pitchFamily="34" charset="-120"/>
              </a:rPr>
              <a:t>Görsel önerisi — Ambalajsız teşhir yapan bir mağaza · açık kavurma makinesi · deneme lavabosu</a:t>
            </a:r>
            <a:endParaRPr lang="en-US" sz="850" dirty="0"/>
          </a:p>
        </p:txBody>
      </p:sp>
      <p:sp>
        <p:nvSpPr>
          <p:cNvPr id="15" name="Text 13"/>
          <p:cNvSpPr txBox="1"/>
          <p:nvPr/>
        </p:nvSpPr>
        <p:spPr>
          <a:xfrm>
            <a:off x="10972800" y="6355080"/>
            <a:ext cx="438912" cy="237744"/>
          </a:xfrm>
          <a:prstGeom prst="rect">
            <a:avLst/>
          </a:prstGeom>
          <a:noFill/>
          <a:ln/>
        </p:spPr>
        <p:txBody>
          <a:bodyPr wrap="square" lIns="0" tIns="0" rIns="0" bIns="0" rtlCol="0" anchor="ctr"/>
          <a:lstStyle/>
          <a:p>
            <a:pPr algn="r" indent="0" marL="0">
              <a:buNone/>
            </a:pPr>
            <a:r>
              <a:rPr lang="en-US" sz="950" dirty="0">
                <a:solidFill>
                  <a:srgbClr val="A6A6AC"/>
                </a:solidFill>
                <a:latin typeface="Calibri" pitchFamily="34" charset="0"/>
                <a:ea typeface="Calibri" pitchFamily="34" charset="-122"/>
                <a:cs typeface="Calibri" pitchFamily="34" charset="-120"/>
              </a:rPr>
              <a:t>36</a:t>
            </a:r>
            <a:endParaRPr lang="en-US" sz="9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CFCFA"/>
        </a:solidFill>
      </p:bgPr>
    </p:bg>
    <p:spTree>
      <p:nvGrpSpPr>
        <p:cNvPr id="1" name=""/>
        <p:cNvGrpSpPr/>
        <p:nvPr/>
      </p:nvGrpSpPr>
      <p:grpSpPr>
        <a:xfrm>
          <a:off x="0" y="0"/>
          <a:ext cx="0" cy="0"/>
          <a:chOff x="0" y="0"/>
          <a:chExt cx="0" cy="0"/>
        </a:xfrm>
      </p:grpSpPr>
      <p:sp>
        <p:nvSpPr>
          <p:cNvPr id="2" name="Text 0"/>
          <p:cNvSpPr txBox="1"/>
          <p:nvPr/>
        </p:nvSpPr>
        <p:spPr>
          <a:xfrm>
            <a:off x="777240" y="475488"/>
            <a:ext cx="9601200" cy="237744"/>
          </a:xfrm>
          <a:prstGeom prst="rect">
            <a:avLst/>
          </a:prstGeom>
          <a:noFill/>
          <a:ln/>
        </p:spPr>
        <p:txBody>
          <a:bodyPr wrap="square" lIns="0" tIns="0" rIns="0" bIns="0" rtlCol="0" anchor="ctr"/>
          <a:lstStyle/>
          <a:p>
            <a:pPr indent="0" marL="0">
              <a:buNone/>
            </a:pPr>
            <a:r>
              <a:rPr lang="en-US" sz="950" b="1" spc="260" kern="0" dirty="0">
                <a:solidFill>
                  <a:srgbClr val="7A7A82"/>
                </a:solidFill>
                <a:latin typeface="Calibri" pitchFamily="34" charset="0"/>
                <a:ea typeface="Calibri" pitchFamily="34" charset="-122"/>
                <a:cs typeface="Calibri" pitchFamily="34" charset="-120"/>
              </a:rPr>
              <a:t>VII · DUYULAR</a:t>
            </a:r>
            <a:endParaRPr lang="en-US" sz="950" dirty="0"/>
          </a:p>
        </p:txBody>
      </p:sp>
      <p:sp>
        <p:nvSpPr>
          <p:cNvPr id="3" name="Text 1"/>
          <p:cNvSpPr txBox="1"/>
          <p:nvPr/>
        </p:nvSpPr>
        <p:spPr>
          <a:xfrm>
            <a:off x="777240" y="749808"/>
            <a:ext cx="6217920" cy="658368"/>
          </a:xfrm>
          <a:prstGeom prst="rect">
            <a:avLst/>
          </a:prstGeom>
          <a:noFill/>
          <a:ln/>
        </p:spPr>
        <p:txBody>
          <a:bodyPr wrap="square" lIns="0" tIns="0" rIns="0" bIns="0" rtlCol="0" anchor="ctr"/>
          <a:lstStyle/>
          <a:p>
            <a:pPr indent="0" marL="0">
              <a:buNone/>
            </a:pPr>
            <a:r>
              <a:rPr lang="en-US" sz="3800" b="1" dirty="0">
                <a:solidFill>
                  <a:srgbClr val="8C3A2B"/>
                </a:solidFill>
                <a:latin typeface="Cambria" pitchFamily="34" charset="0"/>
                <a:ea typeface="Cambria" pitchFamily="34" charset="-122"/>
                <a:cs typeface="Cambria" pitchFamily="34" charset="-120"/>
              </a:rPr>
              <a:t>Tat</a:t>
            </a:r>
            <a:endParaRPr lang="en-US" sz="3800" dirty="0"/>
          </a:p>
        </p:txBody>
      </p:sp>
      <p:sp>
        <p:nvSpPr>
          <p:cNvPr id="4" name="Text 2"/>
          <p:cNvSpPr txBox="1"/>
          <p:nvPr/>
        </p:nvSpPr>
        <p:spPr>
          <a:xfrm>
            <a:off x="777240" y="1426464"/>
            <a:ext cx="8686800" cy="256032"/>
          </a:xfrm>
          <a:prstGeom prst="rect">
            <a:avLst/>
          </a:prstGeom>
          <a:noFill/>
          <a:ln/>
        </p:spPr>
        <p:txBody>
          <a:bodyPr wrap="square" lIns="0" tIns="0" rIns="0" bIns="0" rtlCol="0" anchor="ctr"/>
          <a:lstStyle/>
          <a:p>
            <a:pPr indent="0" marL="0">
              <a:buNone/>
            </a:pPr>
            <a:r>
              <a:rPr lang="en-US" sz="1050" spc="160" kern="0" dirty="0">
                <a:solidFill>
                  <a:srgbClr val="7A7A82"/>
                </a:solidFill>
                <a:latin typeface="Calibri" pitchFamily="34" charset="0"/>
                <a:ea typeface="Calibri" pitchFamily="34" charset="-122"/>
                <a:cs typeface="Calibri" pitchFamily="34" charset="-120"/>
              </a:rPr>
              <a:t>TADIM · İKRAM · AĞIZDA KALAN</a:t>
            </a:r>
            <a:endParaRPr lang="en-US" sz="1050" dirty="0"/>
          </a:p>
        </p:txBody>
      </p:sp>
      <p:sp>
        <p:nvSpPr>
          <p:cNvPr id="5" name="Text 3"/>
          <p:cNvSpPr txBox="1"/>
          <p:nvPr/>
        </p:nvSpPr>
        <p:spPr>
          <a:xfrm>
            <a:off x="777240" y="1874520"/>
            <a:ext cx="5029200" cy="2834640"/>
          </a:xfrm>
          <a:prstGeom prst="rect">
            <a:avLst/>
          </a:prstGeom>
          <a:noFill/>
          <a:ln/>
        </p:spPr>
        <p:txBody>
          <a:bodyPr wrap="square" lIns="0" tIns="0" rIns="0" bIns="0" rtlCol="0" anchor="ctr"/>
          <a:lstStyle/>
          <a:p>
            <a:pPr indent="0" marL="0">
              <a:lnSpc>
                <a:spcPts val="2100"/>
              </a:lnSpc>
              <a:buNone/>
            </a:pPr>
            <a:r>
              <a:rPr lang="en-US" sz="1350" dirty="0">
                <a:solidFill>
                  <a:srgbClr val="2B2B31"/>
                </a:solidFill>
                <a:latin typeface="Cambria" pitchFamily="34" charset="0"/>
                <a:ea typeface="Cambria" pitchFamily="34" charset="-122"/>
                <a:cs typeface="Cambria" pitchFamily="34" charset="-120"/>
              </a:rPr>
              <a:t>Tat, mağaza tasarımında en dar kullanım alanına sahip duyudur; ancak kullanıldığı yerde etkisi çok güçlüdür. Tadım, ürünle kurulan ilişkiyi anlatımdan deneyime taşır.</a:t>
            </a:r>
            <a:endParaRPr lang="en-US" sz="1350" dirty="0"/>
          </a:p>
          <a:p>
            <a:pPr indent="0" marL="0">
              <a:lnSpc>
                <a:spcPts val="2100"/>
              </a:lnSpc>
              <a:buNone/>
            </a:pPr>
            <a:endParaRPr lang="en-US" sz="1350" dirty="0"/>
          </a:p>
          <a:p>
            <a:pPr indent="0" marL="0">
              <a:lnSpc>
                <a:spcPts val="2100"/>
              </a:lnSpc>
              <a:buNone/>
            </a:pPr>
            <a:r>
              <a:rPr lang="en-US" sz="1350" dirty="0">
                <a:solidFill>
                  <a:srgbClr val="2B2B31"/>
                </a:solidFill>
                <a:latin typeface="Cambria" pitchFamily="34" charset="0"/>
                <a:ea typeface="Cambria" pitchFamily="34" charset="-122"/>
                <a:cs typeface="Cambria" pitchFamily="34" charset="-120"/>
              </a:rPr>
              <a:t>Tadımın mekânsal karşılığı vardır ve genellikle ihmal edilir. Bir tadım noktası tezgâh, lavabo, hijyen alanı, atık çözümü ve insanların durabileceği bir boşluk gerektirir. Bu boşluk hesaplanmadığında tadım noktası dolaşımı tıkar.</a:t>
            </a:r>
            <a:endParaRPr lang="en-US" sz="1350" dirty="0"/>
          </a:p>
        </p:txBody>
      </p:sp>
      <p:sp>
        <p:nvSpPr>
          <p:cNvPr id="6" name="Text 4"/>
          <p:cNvSpPr txBox="1"/>
          <p:nvPr/>
        </p:nvSpPr>
        <p:spPr>
          <a:xfrm>
            <a:off x="6382512" y="1874520"/>
            <a:ext cx="5029200" cy="2834640"/>
          </a:xfrm>
          <a:prstGeom prst="rect">
            <a:avLst/>
          </a:prstGeom>
          <a:noFill/>
          <a:ln/>
        </p:spPr>
        <p:txBody>
          <a:bodyPr wrap="square" lIns="0" tIns="0" rIns="0" bIns="0" rtlCol="0" anchor="ctr"/>
          <a:lstStyle/>
          <a:p>
            <a:pPr indent="0" marL="0">
              <a:lnSpc>
                <a:spcPts val="2100"/>
              </a:lnSpc>
              <a:buNone/>
            </a:pPr>
            <a:r>
              <a:rPr lang="en-US" sz="1350" dirty="0">
                <a:solidFill>
                  <a:srgbClr val="2B2B31"/>
                </a:solidFill>
                <a:latin typeface="Cambria" pitchFamily="34" charset="0"/>
                <a:ea typeface="Cambria" pitchFamily="34" charset="-122"/>
                <a:cs typeface="Cambria" pitchFamily="34" charset="-120"/>
              </a:rPr>
              <a:t>Gıda dışı mağazalarda tat, ikram yoluyla dolaylı olarak devreye girer ve alışverişin süresini uzatır.</a:t>
            </a:r>
            <a:endParaRPr lang="en-US" sz="1350" dirty="0"/>
          </a:p>
        </p:txBody>
      </p:sp>
      <p:sp>
        <p:nvSpPr>
          <p:cNvPr id="7" name="Text 5"/>
          <p:cNvSpPr txBox="1"/>
          <p:nvPr/>
        </p:nvSpPr>
        <p:spPr>
          <a:xfrm>
            <a:off x="777240" y="4864608"/>
            <a:ext cx="10424160" cy="219456"/>
          </a:xfrm>
          <a:prstGeom prst="rect">
            <a:avLst/>
          </a:prstGeom>
          <a:noFill/>
          <a:ln/>
        </p:spPr>
        <p:txBody>
          <a:bodyPr wrap="square" lIns="0" tIns="0" rIns="0" bIns="0" rtlCol="0" anchor="ctr"/>
          <a:lstStyle/>
          <a:p>
            <a:pPr algn="l" indent="0" marL="0">
              <a:lnSpc>
                <a:spcPts val="1200"/>
              </a:lnSpc>
              <a:buNone/>
            </a:pPr>
            <a:r>
              <a:rPr lang="en-US" sz="900" b="1" dirty="0">
                <a:solidFill>
                  <a:srgbClr val="A6A6AC"/>
                </a:solidFill>
                <a:latin typeface="Calibri" pitchFamily="34" charset="0"/>
                <a:ea typeface="Calibri" pitchFamily="34" charset="-122"/>
                <a:cs typeface="Calibri" pitchFamily="34" charset="-120"/>
              </a:rPr>
              <a:t>MAĞAZADA NASIL KULLANILIR</a:t>
            </a:r>
            <a:endParaRPr lang="en-US" sz="900" dirty="0"/>
          </a:p>
        </p:txBody>
      </p:sp>
      <p:sp>
        <p:nvSpPr>
          <p:cNvPr id="8" name="Text 6"/>
          <p:cNvSpPr txBox="1"/>
          <p:nvPr/>
        </p:nvSpPr>
        <p:spPr>
          <a:xfrm>
            <a:off x="777240" y="5138928"/>
            <a:ext cx="3240024" cy="384048"/>
          </a:xfrm>
          <a:prstGeom prst="rect">
            <a:avLst/>
          </a:prstGeom>
          <a:noFill/>
          <a:ln/>
        </p:spPr>
        <p:txBody>
          <a:bodyPr wrap="square" lIns="0" tIns="0" rIns="0" bIns="0" rtlCol="0" anchor="ctr"/>
          <a:lstStyle/>
          <a:p>
            <a:pPr indent="0" marL="0">
              <a:lnSpc>
                <a:spcPts val="1700"/>
              </a:lnSpc>
              <a:buNone/>
            </a:pPr>
            <a:r>
              <a:rPr lang="en-US" sz="1350" b="1" dirty="0">
                <a:solidFill>
                  <a:srgbClr val="8C3A2B"/>
                </a:solidFill>
                <a:latin typeface="Cambria" pitchFamily="34" charset="0"/>
                <a:ea typeface="Cambria" pitchFamily="34" charset="-122"/>
                <a:cs typeface="Cambria" pitchFamily="34" charset="-120"/>
              </a:rPr>
              <a:t>Tadım tezgâhı</a:t>
            </a:r>
            <a:endParaRPr lang="en-US" sz="1350" dirty="0"/>
          </a:p>
        </p:txBody>
      </p:sp>
      <p:sp>
        <p:nvSpPr>
          <p:cNvPr id="9" name="Text 7"/>
          <p:cNvSpPr txBox="1"/>
          <p:nvPr/>
        </p:nvSpPr>
        <p:spPr>
          <a:xfrm>
            <a:off x="777240" y="5550408"/>
            <a:ext cx="3240024" cy="621792"/>
          </a:xfrm>
          <a:prstGeom prst="rect">
            <a:avLst/>
          </a:prstGeom>
          <a:noFill/>
          <a:ln/>
        </p:spPr>
        <p:txBody>
          <a:bodyPr wrap="square" lIns="0" tIns="0" rIns="0" bIns="0" rtlCol="0" anchor="ctr"/>
          <a:lstStyle/>
          <a:p>
            <a:pPr indent="0" marL="0">
              <a:lnSpc>
                <a:spcPts val="1400"/>
              </a:lnSpc>
              <a:buNone/>
            </a:pPr>
            <a:r>
              <a:rPr lang="en-US" sz="1100" dirty="0">
                <a:solidFill>
                  <a:srgbClr val="7A7A82"/>
                </a:solidFill>
                <a:latin typeface="Calibri" pitchFamily="34" charset="0"/>
                <a:ea typeface="Calibri" pitchFamily="34" charset="-122"/>
                <a:cs typeface="Calibri" pitchFamily="34" charset="-120"/>
              </a:rPr>
              <a:t>Açık kap, ölçülü porsiyon, lavabo ve atık; çevresinde 1,5 m boşluk.</a:t>
            </a:r>
            <a:endParaRPr lang="en-US" sz="1100" dirty="0"/>
          </a:p>
        </p:txBody>
      </p:sp>
      <p:sp>
        <p:nvSpPr>
          <p:cNvPr id="10" name="Text 8"/>
          <p:cNvSpPr txBox="1"/>
          <p:nvPr/>
        </p:nvSpPr>
        <p:spPr>
          <a:xfrm>
            <a:off x="4474464" y="5138928"/>
            <a:ext cx="3240024" cy="384048"/>
          </a:xfrm>
          <a:prstGeom prst="rect">
            <a:avLst/>
          </a:prstGeom>
          <a:noFill/>
          <a:ln/>
        </p:spPr>
        <p:txBody>
          <a:bodyPr wrap="square" lIns="0" tIns="0" rIns="0" bIns="0" rtlCol="0" anchor="ctr"/>
          <a:lstStyle/>
          <a:p>
            <a:pPr indent="0" marL="0">
              <a:lnSpc>
                <a:spcPts val="1700"/>
              </a:lnSpc>
              <a:buNone/>
            </a:pPr>
            <a:r>
              <a:rPr lang="en-US" sz="1350" b="1" dirty="0">
                <a:solidFill>
                  <a:srgbClr val="8C3A2B"/>
                </a:solidFill>
                <a:latin typeface="Cambria" pitchFamily="34" charset="0"/>
                <a:ea typeface="Cambria" pitchFamily="34" charset="-122"/>
                <a:cs typeface="Cambria" pitchFamily="34" charset="-120"/>
              </a:rPr>
              <a:t>Açık hazırlık</a:t>
            </a:r>
            <a:endParaRPr lang="en-US" sz="1350" dirty="0"/>
          </a:p>
        </p:txBody>
      </p:sp>
      <p:sp>
        <p:nvSpPr>
          <p:cNvPr id="11" name="Text 9"/>
          <p:cNvSpPr txBox="1"/>
          <p:nvPr/>
        </p:nvSpPr>
        <p:spPr>
          <a:xfrm>
            <a:off x="4474464" y="5550408"/>
            <a:ext cx="3240024" cy="621792"/>
          </a:xfrm>
          <a:prstGeom prst="rect">
            <a:avLst/>
          </a:prstGeom>
          <a:noFill/>
          <a:ln/>
        </p:spPr>
        <p:txBody>
          <a:bodyPr wrap="square" lIns="0" tIns="0" rIns="0" bIns="0" rtlCol="0" anchor="ctr"/>
          <a:lstStyle/>
          <a:p>
            <a:pPr indent="0" marL="0">
              <a:lnSpc>
                <a:spcPts val="1400"/>
              </a:lnSpc>
              <a:buNone/>
            </a:pPr>
            <a:r>
              <a:rPr lang="en-US" sz="1100" dirty="0">
                <a:solidFill>
                  <a:srgbClr val="7A7A82"/>
                </a:solidFill>
                <a:latin typeface="Calibri" pitchFamily="34" charset="0"/>
                <a:ea typeface="Calibri" pitchFamily="34" charset="-122"/>
                <a:cs typeface="Calibri" pitchFamily="34" charset="-120"/>
              </a:rPr>
              <a:t>Demleme veya pişirme sürecini müşteriye açık konumlandırmak.</a:t>
            </a:r>
            <a:endParaRPr lang="en-US" sz="1100" dirty="0"/>
          </a:p>
        </p:txBody>
      </p:sp>
      <p:sp>
        <p:nvSpPr>
          <p:cNvPr id="12" name="Text 10"/>
          <p:cNvSpPr txBox="1"/>
          <p:nvPr/>
        </p:nvSpPr>
        <p:spPr>
          <a:xfrm>
            <a:off x="8171688" y="5138928"/>
            <a:ext cx="3240024" cy="384048"/>
          </a:xfrm>
          <a:prstGeom prst="rect">
            <a:avLst/>
          </a:prstGeom>
          <a:noFill/>
          <a:ln/>
        </p:spPr>
        <p:txBody>
          <a:bodyPr wrap="square" lIns="0" tIns="0" rIns="0" bIns="0" rtlCol="0" anchor="ctr"/>
          <a:lstStyle/>
          <a:p>
            <a:pPr indent="0" marL="0">
              <a:lnSpc>
                <a:spcPts val="1700"/>
              </a:lnSpc>
              <a:buNone/>
            </a:pPr>
            <a:r>
              <a:rPr lang="en-US" sz="1350" b="1" dirty="0">
                <a:solidFill>
                  <a:srgbClr val="8C3A2B"/>
                </a:solidFill>
                <a:latin typeface="Cambria" pitchFamily="34" charset="0"/>
                <a:ea typeface="Cambria" pitchFamily="34" charset="-122"/>
                <a:cs typeface="Cambria" pitchFamily="34" charset="-120"/>
              </a:rPr>
              <a:t>İkram</a:t>
            </a:r>
            <a:endParaRPr lang="en-US" sz="1350" dirty="0"/>
          </a:p>
        </p:txBody>
      </p:sp>
      <p:sp>
        <p:nvSpPr>
          <p:cNvPr id="13" name="Text 11"/>
          <p:cNvSpPr txBox="1"/>
          <p:nvPr/>
        </p:nvSpPr>
        <p:spPr>
          <a:xfrm>
            <a:off x="8171688" y="5550408"/>
            <a:ext cx="3240024" cy="621792"/>
          </a:xfrm>
          <a:prstGeom prst="rect">
            <a:avLst/>
          </a:prstGeom>
          <a:noFill/>
          <a:ln/>
        </p:spPr>
        <p:txBody>
          <a:bodyPr wrap="square" lIns="0" tIns="0" rIns="0" bIns="0" rtlCol="0" anchor="ctr"/>
          <a:lstStyle/>
          <a:p>
            <a:pPr indent="0" marL="0">
              <a:lnSpc>
                <a:spcPts val="1400"/>
              </a:lnSpc>
              <a:buNone/>
            </a:pPr>
            <a:r>
              <a:rPr lang="en-US" sz="1100" dirty="0">
                <a:solidFill>
                  <a:srgbClr val="7A7A82"/>
                </a:solidFill>
                <a:latin typeface="Calibri" pitchFamily="34" charset="0"/>
                <a:ea typeface="Calibri" pitchFamily="34" charset="-122"/>
                <a:cs typeface="Calibri" pitchFamily="34" charset="-120"/>
              </a:rPr>
              <a:t>Çay veya kahve ikramıyla alışverişi bir karşılaşmaya dönüştürmek — çarşı geleneği.</a:t>
            </a:r>
            <a:endParaRPr lang="en-US" sz="1100" dirty="0"/>
          </a:p>
        </p:txBody>
      </p:sp>
      <p:sp>
        <p:nvSpPr>
          <p:cNvPr id="14" name="Text 12"/>
          <p:cNvSpPr txBox="1"/>
          <p:nvPr/>
        </p:nvSpPr>
        <p:spPr>
          <a:xfrm>
            <a:off x="777240" y="6309360"/>
            <a:ext cx="10058400" cy="310896"/>
          </a:xfrm>
          <a:prstGeom prst="rect">
            <a:avLst/>
          </a:prstGeom>
          <a:noFill/>
          <a:ln/>
        </p:spPr>
        <p:txBody>
          <a:bodyPr wrap="square" lIns="0" tIns="0" rIns="0" bIns="0" rtlCol="0" anchor="ctr"/>
          <a:lstStyle/>
          <a:p>
            <a:pPr indent="0" marL="0">
              <a:lnSpc>
                <a:spcPts val="1100"/>
              </a:lnSpc>
              <a:buNone/>
            </a:pPr>
            <a:r>
              <a:rPr lang="en-US" sz="850" dirty="0">
                <a:solidFill>
                  <a:srgbClr val="A6A6AC"/>
                </a:solidFill>
                <a:latin typeface="Calibri" pitchFamily="34" charset="0"/>
                <a:ea typeface="Calibri" pitchFamily="34" charset="-122"/>
                <a:cs typeface="Calibri" pitchFamily="34" charset="-120"/>
              </a:rPr>
              <a:t>Görsel önerisi — Bir tadım tezgâhı · açık demleme alanı olan bir kahve dükkânı</a:t>
            </a:r>
            <a:endParaRPr lang="en-US" sz="850" dirty="0"/>
          </a:p>
        </p:txBody>
      </p:sp>
      <p:sp>
        <p:nvSpPr>
          <p:cNvPr id="15" name="Text 13"/>
          <p:cNvSpPr txBox="1"/>
          <p:nvPr/>
        </p:nvSpPr>
        <p:spPr>
          <a:xfrm>
            <a:off x="10972800" y="6355080"/>
            <a:ext cx="438912" cy="237744"/>
          </a:xfrm>
          <a:prstGeom prst="rect">
            <a:avLst/>
          </a:prstGeom>
          <a:noFill/>
          <a:ln/>
        </p:spPr>
        <p:txBody>
          <a:bodyPr wrap="square" lIns="0" tIns="0" rIns="0" bIns="0" rtlCol="0" anchor="ctr"/>
          <a:lstStyle/>
          <a:p>
            <a:pPr algn="r" indent="0" marL="0">
              <a:buNone/>
            </a:pPr>
            <a:r>
              <a:rPr lang="en-US" sz="950" dirty="0">
                <a:solidFill>
                  <a:srgbClr val="A6A6AC"/>
                </a:solidFill>
                <a:latin typeface="Calibri" pitchFamily="34" charset="0"/>
                <a:ea typeface="Calibri" pitchFamily="34" charset="-122"/>
                <a:cs typeface="Calibri" pitchFamily="34" charset="-120"/>
              </a:rPr>
              <a:t>37</a:t>
            </a:r>
            <a:endParaRPr lang="en-US" sz="9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CFCFA"/>
        </a:solidFill>
      </p:bgPr>
    </p:bg>
    <p:spTree>
      <p:nvGrpSpPr>
        <p:cNvPr id="1" name=""/>
        <p:cNvGrpSpPr/>
        <p:nvPr/>
      </p:nvGrpSpPr>
      <p:grpSpPr>
        <a:xfrm>
          <a:off x="0" y="0"/>
          <a:ext cx="0" cy="0"/>
          <a:chOff x="0" y="0"/>
          <a:chExt cx="0" cy="0"/>
        </a:xfrm>
      </p:grpSpPr>
      <p:sp>
        <p:nvSpPr>
          <p:cNvPr id="2" name="Text 0"/>
          <p:cNvSpPr txBox="1"/>
          <p:nvPr/>
        </p:nvSpPr>
        <p:spPr>
          <a:xfrm>
            <a:off x="777240" y="475488"/>
            <a:ext cx="9601200" cy="237744"/>
          </a:xfrm>
          <a:prstGeom prst="rect">
            <a:avLst/>
          </a:prstGeom>
          <a:noFill/>
          <a:ln/>
        </p:spPr>
        <p:txBody>
          <a:bodyPr wrap="square" lIns="0" tIns="0" rIns="0" bIns="0" rtlCol="0" anchor="ctr"/>
          <a:lstStyle/>
          <a:p>
            <a:pPr indent="0" marL="0">
              <a:buNone/>
            </a:pPr>
            <a:r>
              <a:rPr lang="en-US" sz="950" b="1" spc="260" kern="0" dirty="0">
                <a:solidFill>
                  <a:srgbClr val="7A7A82"/>
                </a:solidFill>
                <a:latin typeface="Calibri" pitchFamily="34" charset="0"/>
                <a:ea typeface="Calibri" pitchFamily="34" charset="-122"/>
                <a:cs typeface="Calibri" pitchFamily="34" charset="-120"/>
              </a:rPr>
              <a:t>VII · DUYULAR</a:t>
            </a:r>
            <a:endParaRPr lang="en-US" sz="950" dirty="0"/>
          </a:p>
        </p:txBody>
      </p:sp>
      <p:sp>
        <p:nvSpPr>
          <p:cNvPr id="3" name="Text 1"/>
          <p:cNvSpPr txBox="1"/>
          <p:nvPr/>
        </p:nvSpPr>
        <p:spPr>
          <a:xfrm>
            <a:off x="777240" y="749808"/>
            <a:ext cx="6217920" cy="658368"/>
          </a:xfrm>
          <a:prstGeom prst="rect">
            <a:avLst/>
          </a:prstGeom>
          <a:noFill/>
          <a:ln/>
        </p:spPr>
        <p:txBody>
          <a:bodyPr wrap="square" lIns="0" tIns="0" rIns="0" bIns="0" rtlCol="0" anchor="ctr"/>
          <a:lstStyle/>
          <a:p>
            <a:pPr indent="0" marL="0">
              <a:buNone/>
            </a:pPr>
            <a:r>
              <a:rPr lang="en-US" sz="3800" b="1" dirty="0">
                <a:solidFill>
                  <a:srgbClr val="8C3A2B"/>
                </a:solidFill>
                <a:latin typeface="Cambria" pitchFamily="34" charset="0"/>
                <a:ea typeface="Cambria" pitchFamily="34" charset="-122"/>
                <a:cs typeface="Cambria" pitchFamily="34" charset="-120"/>
              </a:rPr>
              <a:t>Beden ve hareket</a:t>
            </a:r>
            <a:endParaRPr lang="en-US" sz="3800" dirty="0"/>
          </a:p>
        </p:txBody>
      </p:sp>
      <p:sp>
        <p:nvSpPr>
          <p:cNvPr id="4" name="Text 2"/>
          <p:cNvSpPr txBox="1"/>
          <p:nvPr/>
        </p:nvSpPr>
        <p:spPr>
          <a:xfrm>
            <a:off x="777240" y="1426464"/>
            <a:ext cx="8686800" cy="256032"/>
          </a:xfrm>
          <a:prstGeom prst="rect">
            <a:avLst/>
          </a:prstGeom>
          <a:noFill/>
          <a:ln/>
        </p:spPr>
        <p:txBody>
          <a:bodyPr wrap="square" lIns="0" tIns="0" rIns="0" bIns="0" rtlCol="0" anchor="ctr"/>
          <a:lstStyle/>
          <a:p>
            <a:pPr indent="0" marL="0">
              <a:buNone/>
            </a:pPr>
            <a:r>
              <a:rPr lang="en-US" sz="1050" spc="160" kern="0" dirty="0">
                <a:solidFill>
                  <a:srgbClr val="7A7A82"/>
                </a:solidFill>
                <a:latin typeface="Calibri" pitchFamily="34" charset="0"/>
                <a:ea typeface="Calibri" pitchFamily="34" charset="-122"/>
                <a:cs typeface="Calibri" pitchFamily="34" charset="-120"/>
              </a:rPr>
              <a:t>ISI · HAVA · KOT · RİTİM · YOĞUNLUK</a:t>
            </a:r>
            <a:endParaRPr lang="en-US" sz="1050" dirty="0"/>
          </a:p>
        </p:txBody>
      </p:sp>
      <p:sp>
        <p:nvSpPr>
          <p:cNvPr id="5" name="Text 3"/>
          <p:cNvSpPr txBox="1"/>
          <p:nvPr/>
        </p:nvSpPr>
        <p:spPr>
          <a:xfrm>
            <a:off x="777240" y="1874520"/>
            <a:ext cx="5029200" cy="2834640"/>
          </a:xfrm>
          <a:prstGeom prst="rect">
            <a:avLst/>
          </a:prstGeom>
          <a:noFill/>
          <a:ln/>
        </p:spPr>
        <p:txBody>
          <a:bodyPr wrap="square" lIns="0" tIns="0" rIns="0" bIns="0" rtlCol="0" anchor="ctr"/>
          <a:lstStyle/>
          <a:p>
            <a:pPr indent="0" marL="0">
              <a:lnSpc>
                <a:spcPts val="2100"/>
              </a:lnSpc>
              <a:buNone/>
            </a:pPr>
            <a:r>
              <a:rPr lang="en-US" sz="1350" dirty="0">
                <a:solidFill>
                  <a:srgbClr val="2B2B31"/>
                </a:solidFill>
                <a:latin typeface="Cambria" pitchFamily="34" charset="0"/>
                <a:ea typeface="Cambria" pitchFamily="34" charset="-122"/>
                <a:cs typeface="Cambria" pitchFamily="34" charset="-120"/>
              </a:rPr>
              <a:t>Beş duyunun dışında, mekânı bedenimizle algıladığımız bir katman daha vardır: sıcaklık, hava akımı, kot farkı, tavan yüksekliğindeki değişim ve insan yoğunluğu.</a:t>
            </a:r>
            <a:endParaRPr lang="en-US" sz="1350" dirty="0"/>
          </a:p>
          <a:p>
            <a:pPr indent="0" marL="0">
              <a:lnSpc>
                <a:spcPts val="2100"/>
              </a:lnSpc>
              <a:buNone/>
            </a:pPr>
            <a:endParaRPr lang="en-US" sz="1350" dirty="0"/>
          </a:p>
          <a:p>
            <a:pPr indent="0" marL="0">
              <a:lnSpc>
                <a:spcPts val="2100"/>
              </a:lnSpc>
              <a:buNone/>
            </a:pPr>
            <a:r>
              <a:rPr lang="en-US" sz="1350" dirty="0">
                <a:solidFill>
                  <a:srgbClr val="2B2B31"/>
                </a:solidFill>
                <a:latin typeface="Cambria" pitchFamily="34" charset="0"/>
                <a:ea typeface="Cambria" pitchFamily="34" charset="-122"/>
                <a:cs typeface="Cambria" pitchFamily="34" charset="-120"/>
              </a:rPr>
              <a:t>Sıcaklık farkı bir eşik aracıdır. Tavan yüksekliğindeki değişim mekânı bölmeden bölgelere ayırır; alçalan bir tavan yakınlık, yükselen bir tavan tören duygusu üretir.</a:t>
            </a:r>
            <a:endParaRPr lang="en-US" sz="1350" dirty="0"/>
          </a:p>
        </p:txBody>
      </p:sp>
      <p:sp>
        <p:nvSpPr>
          <p:cNvPr id="6" name="Text 4"/>
          <p:cNvSpPr txBox="1"/>
          <p:nvPr/>
        </p:nvSpPr>
        <p:spPr>
          <a:xfrm>
            <a:off x="6382512" y="1874520"/>
            <a:ext cx="5029200" cy="2834640"/>
          </a:xfrm>
          <a:prstGeom prst="rect">
            <a:avLst/>
          </a:prstGeom>
          <a:noFill/>
          <a:ln/>
        </p:spPr>
        <p:txBody>
          <a:bodyPr wrap="square" lIns="0" tIns="0" rIns="0" bIns="0" rtlCol="0" anchor="ctr"/>
          <a:lstStyle/>
          <a:p>
            <a:pPr indent="0" marL="0">
              <a:lnSpc>
                <a:spcPts val="2100"/>
              </a:lnSpc>
              <a:buNone/>
            </a:pPr>
            <a:r>
              <a:rPr lang="en-US" sz="1350" dirty="0">
                <a:solidFill>
                  <a:srgbClr val="2B2B31"/>
                </a:solidFill>
                <a:latin typeface="Cambria" pitchFamily="34" charset="0"/>
                <a:ea typeface="Cambria" pitchFamily="34" charset="-122"/>
                <a:cs typeface="Cambria" pitchFamily="34" charset="-120"/>
              </a:rPr>
              <a:t>Yoğunluk ise en güçlü etkendir. Kalabalık bir mekânda insanlar ürünü incelemeyi bırakır, hızlanır ve erken çıkar. Boşluk, tasarımın israfı değil aracıdır.</a:t>
            </a:r>
            <a:endParaRPr lang="en-US" sz="1350" dirty="0"/>
          </a:p>
        </p:txBody>
      </p:sp>
      <p:sp>
        <p:nvSpPr>
          <p:cNvPr id="7" name="Text 5"/>
          <p:cNvSpPr txBox="1"/>
          <p:nvPr/>
        </p:nvSpPr>
        <p:spPr>
          <a:xfrm>
            <a:off x="777240" y="4864608"/>
            <a:ext cx="10424160" cy="219456"/>
          </a:xfrm>
          <a:prstGeom prst="rect">
            <a:avLst/>
          </a:prstGeom>
          <a:noFill/>
          <a:ln/>
        </p:spPr>
        <p:txBody>
          <a:bodyPr wrap="square" lIns="0" tIns="0" rIns="0" bIns="0" rtlCol="0" anchor="ctr"/>
          <a:lstStyle/>
          <a:p>
            <a:pPr algn="l" indent="0" marL="0">
              <a:lnSpc>
                <a:spcPts val="1200"/>
              </a:lnSpc>
              <a:buNone/>
            </a:pPr>
            <a:r>
              <a:rPr lang="en-US" sz="900" b="1" dirty="0">
                <a:solidFill>
                  <a:srgbClr val="A6A6AC"/>
                </a:solidFill>
                <a:latin typeface="Calibri" pitchFamily="34" charset="0"/>
                <a:ea typeface="Calibri" pitchFamily="34" charset="-122"/>
                <a:cs typeface="Calibri" pitchFamily="34" charset="-120"/>
              </a:rPr>
              <a:t>MAĞAZADA NASIL KULLANILIR</a:t>
            </a:r>
            <a:endParaRPr lang="en-US" sz="900" dirty="0"/>
          </a:p>
        </p:txBody>
      </p:sp>
      <p:sp>
        <p:nvSpPr>
          <p:cNvPr id="8" name="Text 6"/>
          <p:cNvSpPr txBox="1"/>
          <p:nvPr/>
        </p:nvSpPr>
        <p:spPr>
          <a:xfrm>
            <a:off x="777240" y="5138928"/>
            <a:ext cx="3240024" cy="384048"/>
          </a:xfrm>
          <a:prstGeom prst="rect">
            <a:avLst/>
          </a:prstGeom>
          <a:noFill/>
          <a:ln/>
        </p:spPr>
        <p:txBody>
          <a:bodyPr wrap="square" lIns="0" tIns="0" rIns="0" bIns="0" rtlCol="0" anchor="ctr"/>
          <a:lstStyle/>
          <a:p>
            <a:pPr indent="0" marL="0">
              <a:lnSpc>
                <a:spcPts val="1700"/>
              </a:lnSpc>
              <a:buNone/>
            </a:pPr>
            <a:r>
              <a:rPr lang="en-US" sz="1350" b="1" dirty="0">
                <a:solidFill>
                  <a:srgbClr val="8C3A2B"/>
                </a:solidFill>
                <a:latin typeface="Cambria" pitchFamily="34" charset="0"/>
                <a:ea typeface="Cambria" pitchFamily="34" charset="-122"/>
                <a:cs typeface="Cambria" pitchFamily="34" charset="-120"/>
              </a:rPr>
              <a:t>Tavanla bölgeleme</a:t>
            </a:r>
            <a:endParaRPr lang="en-US" sz="1350" dirty="0"/>
          </a:p>
        </p:txBody>
      </p:sp>
      <p:sp>
        <p:nvSpPr>
          <p:cNvPr id="9" name="Text 7"/>
          <p:cNvSpPr txBox="1"/>
          <p:nvPr/>
        </p:nvSpPr>
        <p:spPr>
          <a:xfrm>
            <a:off x="777240" y="5550408"/>
            <a:ext cx="3240024" cy="621792"/>
          </a:xfrm>
          <a:prstGeom prst="rect">
            <a:avLst/>
          </a:prstGeom>
          <a:noFill/>
          <a:ln/>
        </p:spPr>
        <p:txBody>
          <a:bodyPr wrap="square" lIns="0" tIns="0" rIns="0" bIns="0" rtlCol="0" anchor="ctr"/>
          <a:lstStyle/>
          <a:p>
            <a:pPr indent="0" marL="0">
              <a:lnSpc>
                <a:spcPts val="1400"/>
              </a:lnSpc>
              <a:buNone/>
            </a:pPr>
            <a:r>
              <a:rPr lang="en-US" sz="1100" dirty="0">
                <a:solidFill>
                  <a:srgbClr val="7A7A82"/>
                </a:solidFill>
                <a:latin typeface="Calibri" pitchFamily="34" charset="0"/>
                <a:ea typeface="Calibri" pitchFamily="34" charset="-122"/>
                <a:cs typeface="Calibri" pitchFamily="34" charset="-120"/>
              </a:rPr>
              <a:t>Duvar örmeden, tavan yüksekliğini değiştirerek alan tanımlamak.</a:t>
            </a:r>
            <a:endParaRPr lang="en-US" sz="1100" dirty="0"/>
          </a:p>
        </p:txBody>
      </p:sp>
      <p:sp>
        <p:nvSpPr>
          <p:cNvPr id="10" name="Text 8"/>
          <p:cNvSpPr txBox="1"/>
          <p:nvPr/>
        </p:nvSpPr>
        <p:spPr>
          <a:xfrm>
            <a:off x="4474464" y="5138928"/>
            <a:ext cx="3240024" cy="384048"/>
          </a:xfrm>
          <a:prstGeom prst="rect">
            <a:avLst/>
          </a:prstGeom>
          <a:noFill/>
          <a:ln/>
        </p:spPr>
        <p:txBody>
          <a:bodyPr wrap="square" lIns="0" tIns="0" rIns="0" bIns="0" rtlCol="0" anchor="ctr"/>
          <a:lstStyle/>
          <a:p>
            <a:pPr indent="0" marL="0">
              <a:lnSpc>
                <a:spcPts val="1700"/>
              </a:lnSpc>
              <a:buNone/>
            </a:pPr>
            <a:r>
              <a:rPr lang="en-US" sz="1350" b="1" dirty="0">
                <a:solidFill>
                  <a:srgbClr val="8C3A2B"/>
                </a:solidFill>
                <a:latin typeface="Cambria" pitchFamily="34" charset="0"/>
                <a:ea typeface="Cambria" pitchFamily="34" charset="-122"/>
                <a:cs typeface="Cambria" pitchFamily="34" charset="-120"/>
              </a:rPr>
              <a:t>Koridor hiyerarşisi</a:t>
            </a:r>
            <a:endParaRPr lang="en-US" sz="1350" dirty="0"/>
          </a:p>
        </p:txBody>
      </p:sp>
      <p:sp>
        <p:nvSpPr>
          <p:cNvPr id="11" name="Text 9"/>
          <p:cNvSpPr txBox="1"/>
          <p:nvPr/>
        </p:nvSpPr>
        <p:spPr>
          <a:xfrm>
            <a:off x="4474464" y="5550408"/>
            <a:ext cx="3240024" cy="621792"/>
          </a:xfrm>
          <a:prstGeom prst="rect">
            <a:avLst/>
          </a:prstGeom>
          <a:noFill/>
          <a:ln/>
        </p:spPr>
        <p:txBody>
          <a:bodyPr wrap="square" lIns="0" tIns="0" rIns="0" bIns="0" rtlCol="0" anchor="ctr"/>
          <a:lstStyle/>
          <a:p>
            <a:pPr indent="0" marL="0">
              <a:lnSpc>
                <a:spcPts val="1400"/>
              </a:lnSpc>
              <a:buNone/>
            </a:pPr>
            <a:r>
              <a:rPr lang="en-US" sz="1100" dirty="0">
                <a:solidFill>
                  <a:srgbClr val="7A7A82"/>
                </a:solidFill>
                <a:latin typeface="Calibri" pitchFamily="34" charset="0"/>
                <a:ea typeface="Calibri" pitchFamily="34" charset="-122"/>
                <a:cs typeface="Calibri" pitchFamily="34" charset="-120"/>
              </a:rPr>
              <a:t>Ana rotayı geniş, keşif rotalarını dar tutarak hız farkı yaratmak.</a:t>
            </a:r>
            <a:endParaRPr lang="en-US" sz="1100" dirty="0"/>
          </a:p>
        </p:txBody>
      </p:sp>
      <p:sp>
        <p:nvSpPr>
          <p:cNvPr id="12" name="Text 10"/>
          <p:cNvSpPr txBox="1"/>
          <p:nvPr/>
        </p:nvSpPr>
        <p:spPr>
          <a:xfrm>
            <a:off x="8171688" y="5138928"/>
            <a:ext cx="3240024" cy="384048"/>
          </a:xfrm>
          <a:prstGeom prst="rect">
            <a:avLst/>
          </a:prstGeom>
          <a:noFill/>
          <a:ln/>
        </p:spPr>
        <p:txBody>
          <a:bodyPr wrap="square" lIns="0" tIns="0" rIns="0" bIns="0" rtlCol="0" anchor="ctr"/>
          <a:lstStyle/>
          <a:p>
            <a:pPr indent="0" marL="0">
              <a:lnSpc>
                <a:spcPts val="1700"/>
              </a:lnSpc>
              <a:buNone/>
            </a:pPr>
            <a:r>
              <a:rPr lang="en-US" sz="1350" b="1" dirty="0">
                <a:solidFill>
                  <a:srgbClr val="8C3A2B"/>
                </a:solidFill>
                <a:latin typeface="Cambria" pitchFamily="34" charset="0"/>
                <a:ea typeface="Cambria" pitchFamily="34" charset="-122"/>
                <a:cs typeface="Cambria" pitchFamily="34" charset="-120"/>
              </a:rPr>
              <a:t>Eşikte sıcaklık</a:t>
            </a:r>
            <a:endParaRPr lang="en-US" sz="1350" dirty="0"/>
          </a:p>
        </p:txBody>
      </p:sp>
      <p:sp>
        <p:nvSpPr>
          <p:cNvPr id="13" name="Text 11"/>
          <p:cNvSpPr txBox="1"/>
          <p:nvPr/>
        </p:nvSpPr>
        <p:spPr>
          <a:xfrm>
            <a:off x="8171688" y="5550408"/>
            <a:ext cx="3240024" cy="621792"/>
          </a:xfrm>
          <a:prstGeom prst="rect">
            <a:avLst/>
          </a:prstGeom>
          <a:noFill/>
          <a:ln/>
        </p:spPr>
        <p:txBody>
          <a:bodyPr wrap="square" lIns="0" tIns="0" rIns="0" bIns="0" rtlCol="0" anchor="ctr"/>
          <a:lstStyle/>
          <a:p>
            <a:pPr indent="0" marL="0">
              <a:lnSpc>
                <a:spcPts val="1400"/>
              </a:lnSpc>
              <a:buNone/>
            </a:pPr>
            <a:r>
              <a:rPr lang="en-US" sz="1100" dirty="0">
                <a:solidFill>
                  <a:srgbClr val="7A7A82"/>
                </a:solidFill>
                <a:latin typeface="Calibri" pitchFamily="34" charset="0"/>
                <a:ea typeface="Calibri" pitchFamily="34" charset="-122"/>
                <a:cs typeface="Calibri" pitchFamily="34" charset="-120"/>
              </a:rPr>
              <a:t>Girişte hissedilen ısı değişimini bilinçli bir geçiş aracı olarak kullanmak.</a:t>
            </a:r>
            <a:endParaRPr lang="en-US" sz="1100" dirty="0"/>
          </a:p>
        </p:txBody>
      </p:sp>
      <p:sp>
        <p:nvSpPr>
          <p:cNvPr id="14" name="Text 12"/>
          <p:cNvSpPr txBox="1"/>
          <p:nvPr/>
        </p:nvSpPr>
        <p:spPr>
          <a:xfrm>
            <a:off x="777240" y="6309360"/>
            <a:ext cx="10058400" cy="310896"/>
          </a:xfrm>
          <a:prstGeom prst="rect">
            <a:avLst/>
          </a:prstGeom>
          <a:noFill/>
          <a:ln/>
        </p:spPr>
        <p:txBody>
          <a:bodyPr wrap="square" lIns="0" tIns="0" rIns="0" bIns="0" rtlCol="0" anchor="ctr"/>
          <a:lstStyle/>
          <a:p>
            <a:pPr indent="0" marL="0">
              <a:lnSpc>
                <a:spcPts val="1100"/>
              </a:lnSpc>
              <a:buNone/>
            </a:pPr>
            <a:r>
              <a:rPr lang="en-US" sz="850" dirty="0">
                <a:solidFill>
                  <a:srgbClr val="A6A6AC"/>
                </a:solidFill>
                <a:latin typeface="Calibri" pitchFamily="34" charset="0"/>
                <a:ea typeface="Calibri" pitchFamily="34" charset="-122"/>
                <a:cs typeface="Calibri" pitchFamily="34" charset="-120"/>
              </a:rPr>
              <a:t>Görsel önerisi — Tavan yüksekliği değişen bir mağaza kesiti veya fotoğrafı</a:t>
            </a:r>
            <a:endParaRPr lang="en-US" sz="850" dirty="0"/>
          </a:p>
        </p:txBody>
      </p:sp>
      <p:sp>
        <p:nvSpPr>
          <p:cNvPr id="15" name="Text 13"/>
          <p:cNvSpPr txBox="1"/>
          <p:nvPr/>
        </p:nvSpPr>
        <p:spPr>
          <a:xfrm>
            <a:off x="10972800" y="6355080"/>
            <a:ext cx="438912" cy="237744"/>
          </a:xfrm>
          <a:prstGeom prst="rect">
            <a:avLst/>
          </a:prstGeom>
          <a:noFill/>
          <a:ln/>
        </p:spPr>
        <p:txBody>
          <a:bodyPr wrap="square" lIns="0" tIns="0" rIns="0" bIns="0" rtlCol="0" anchor="ctr"/>
          <a:lstStyle/>
          <a:p>
            <a:pPr algn="r" indent="0" marL="0">
              <a:buNone/>
            </a:pPr>
            <a:r>
              <a:rPr lang="en-US" sz="950" dirty="0">
                <a:solidFill>
                  <a:srgbClr val="A6A6AC"/>
                </a:solidFill>
                <a:latin typeface="Calibri" pitchFamily="34" charset="0"/>
                <a:ea typeface="Calibri" pitchFamily="34" charset="-122"/>
                <a:cs typeface="Calibri" pitchFamily="34" charset="-120"/>
              </a:rPr>
              <a:t>38</a:t>
            </a:r>
            <a:endParaRPr lang="en-US" sz="9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CFCFA"/>
        </a:solidFill>
      </p:bgPr>
    </p:bg>
    <p:spTree>
      <p:nvGrpSpPr>
        <p:cNvPr id="1" name=""/>
        <p:cNvGrpSpPr/>
        <p:nvPr/>
      </p:nvGrpSpPr>
      <p:grpSpPr>
        <a:xfrm>
          <a:off x="0" y="0"/>
          <a:ext cx="0" cy="0"/>
          <a:chOff x="0" y="0"/>
          <a:chExt cx="0" cy="0"/>
        </a:xfrm>
      </p:grpSpPr>
      <p:sp>
        <p:nvSpPr>
          <p:cNvPr id="2" name="Text 0"/>
          <p:cNvSpPr txBox="1"/>
          <p:nvPr/>
        </p:nvSpPr>
        <p:spPr>
          <a:xfrm>
            <a:off x="777240" y="475488"/>
            <a:ext cx="9601200" cy="237744"/>
          </a:xfrm>
          <a:prstGeom prst="rect">
            <a:avLst/>
          </a:prstGeom>
          <a:noFill/>
          <a:ln/>
        </p:spPr>
        <p:txBody>
          <a:bodyPr wrap="square" lIns="0" tIns="0" rIns="0" bIns="0" rtlCol="0" anchor="ctr"/>
          <a:lstStyle/>
          <a:p>
            <a:pPr indent="0" marL="0">
              <a:buNone/>
            </a:pPr>
            <a:r>
              <a:rPr lang="en-US" sz="950" b="1" spc="260" kern="0" dirty="0">
                <a:solidFill>
                  <a:srgbClr val="7A7A82"/>
                </a:solidFill>
                <a:latin typeface="Calibri" pitchFamily="34" charset="0"/>
                <a:ea typeface="Calibri" pitchFamily="34" charset="-122"/>
                <a:cs typeface="Calibri" pitchFamily="34" charset="-120"/>
              </a:rPr>
              <a:t>VII · DUYULAR</a:t>
            </a:r>
            <a:endParaRPr lang="en-US" sz="950" dirty="0"/>
          </a:p>
        </p:txBody>
      </p:sp>
      <p:sp>
        <p:nvSpPr>
          <p:cNvPr id="3" name="Text 1"/>
          <p:cNvSpPr txBox="1"/>
          <p:nvPr/>
        </p:nvSpPr>
        <p:spPr>
          <a:xfrm>
            <a:off x="777240" y="822960"/>
            <a:ext cx="10424160" cy="731520"/>
          </a:xfrm>
          <a:prstGeom prst="rect">
            <a:avLst/>
          </a:prstGeom>
          <a:noFill/>
          <a:ln/>
        </p:spPr>
        <p:txBody>
          <a:bodyPr wrap="square" lIns="0" tIns="0" rIns="0" bIns="0" rtlCol="0" anchor="ctr"/>
          <a:lstStyle/>
          <a:p>
            <a:pPr indent="0" marL="0">
              <a:lnSpc>
                <a:spcPts val="3400"/>
              </a:lnSpc>
              <a:buNone/>
            </a:pPr>
            <a:r>
              <a:rPr lang="en-US" sz="2900" b="1" dirty="0">
                <a:solidFill>
                  <a:srgbClr val="16161A"/>
                </a:solidFill>
                <a:latin typeface="Cambria" pitchFamily="34" charset="0"/>
                <a:ea typeface="Cambria" pitchFamily="34" charset="-122"/>
                <a:cs typeface="Cambria" pitchFamily="34" charset="-120"/>
              </a:rPr>
              <a:t>Fazlası, eksiği kadar sorunludur</a:t>
            </a:r>
            <a:endParaRPr lang="en-US" sz="2900" dirty="0"/>
          </a:p>
        </p:txBody>
      </p:sp>
      <p:sp>
        <p:nvSpPr>
          <p:cNvPr id="4" name="Text 2"/>
          <p:cNvSpPr txBox="1"/>
          <p:nvPr/>
        </p:nvSpPr>
        <p:spPr>
          <a:xfrm>
            <a:off x="10972800" y="6355080"/>
            <a:ext cx="438912" cy="237744"/>
          </a:xfrm>
          <a:prstGeom prst="rect">
            <a:avLst/>
          </a:prstGeom>
          <a:noFill/>
          <a:ln/>
        </p:spPr>
        <p:txBody>
          <a:bodyPr wrap="square" lIns="0" tIns="0" rIns="0" bIns="0" rtlCol="0" anchor="ctr"/>
          <a:lstStyle/>
          <a:p>
            <a:pPr algn="r" indent="0" marL="0">
              <a:buNone/>
            </a:pPr>
            <a:r>
              <a:rPr lang="en-US" sz="950" dirty="0">
                <a:solidFill>
                  <a:srgbClr val="A6A6AC"/>
                </a:solidFill>
                <a:latin typeface="Calibri" pitchFamily="34" charset="0"/>
                <a:ea typeface="Calibri" pitchFamily="34" charset="-122"/>
                <a:cs typeface="Calibri" pitchFamily="34" charset="-120"/>
              </a:rPr>
              <a:t>39</a:t>
            </a:r>
            <a:endParaRPr lang="en-US" sz="950" dirty="0"/>
          </a:p>
        </p:txBody>
      </p:sp>
      <p:sp>
        <p:nvSpPr>
          <p:cNvPr id="5" name="Text 3"/>
          <p:cNvSpPr txBox="1"/>
          <p:nvPr/>
        </p:nvSpPr>
        <p:spPr>
          <a:xfrm>
            <a:off x="777240" y="1627632"/>
            <a:ext cx="10634472" cy="594360"/>
          </a:xfrm>
          <a:prstGeom prst="rect">
            <a:avLst/>
          </a:prstGeom>
          <a:noFill/>
          <a:ln/>
        </p:spPr>
        <p:txBody>
          <a:bodyPr wrap="square" lIns="0" tIns="0" rIns="0" bIns="0" rtlCol="0" anchor="ctr"/>
          <a:lstStyle/>
          <a:p>
            <a:pPr indent="0" marL="0">
              <a:lnSpc>
                <a:spcPts val="2300"/>
              </a:lnSpc>
              <a:buNone/>
            </a:pPr>
            <a:r>
              <a:rPr lang="en-US" sz="1500" dirty="0">
                <a:solidFill>
                  <a:srgbClr val="2B2B31"/>
                </a:solidFill>
                <a:latin typeface="Cambria" pitchFamily="34" charset="0"/>
                <a:ea typeface="Cambria" pitchFamily="34" charset="-122"/>
                <a:cs typeface="Cambria" pitchFamily="34" charset="-120"/>
              </a:rPr>
              <a:t>Duyusal tasarım denildiğinde akla çoğunlukla daha fazla uyaran eklemek gelir. Oysa güncel araştırmalar tersini gösteriyor: mağazalarda asıl sorun duyusal yoksunluk değil, duyusal aşırılıktır.</a:t>
            </a:r>
            <a:endParaRPr lang="en-US" sz="1500" dirty="0"/>
          </a:p>
        </p:txBody>
      </p:sp>
      <p:sp>
        <p:nvSpPr>
          <p:cNvPr id="6" name="Shape 4"/>
          <p:cNvSpPr/>
          <p:nvPr/>
        </p:nvSpPr>
        <p:spPr>
          <a:xfrm>
            <a:off x="3108960" y="2286000"/>
            <a:ext cx="3456432" cy="274320"/>
          </a:xfrm>
          <a:prstGeom prst="rect">
            <a:avLst/>
          </a:prstGeom>
          <a:solidFill>
            <a:srgbClr val="C9C9CF"/>
          </a:solidFill>
          <a:ln w="12700">
            <a:solidFill>
              <a:srgbClr val="C9C9CF"/>
            </a:solidFill>
            <a:prstDash val="solid"/>
          </a:ln>
        </p:spPr>
      </p:sp>
      <p:sp>
        <p:nvSpPr>
          <p:cNvPr id="7" name="Text 5"/>
          <p:cNvSpPr txBox="1"/>
          <p:nvPr/>
        </p:nvSpPr>
        <p:spPr>
          <a:xfrm>
            <a:off x="777240" y="2286000"/>
            <a:ext cx="2194560" cy="274320"/>
          </a:xfrm>
          <a:prstGeom prst="rect">
            <a:avLst/>
          </a:prstGeom>
          <a:noFill/>
          <a:ln/>
        </p:spPr>
        <p:txBody>
          <a:bodyPr wrap="square" lIns="0" tIns="0" rIns="0" bIns="0" rtlCol="0" anchor="ctr"/>
          <a:lstStyle/>
          <a:p>
            <a:pPr algn="r" indent="0" marL="0">
              <a:buNone/>
            </a:pPr>
            <a:r>
              <a:rPr lang="en-US" sz="1000" dirty="0">
                <a:solidFill>
                  <a:srgbClr val="2B2B31"/>
                </a:solidFill>
                <a:latin typeface="Calibri" pitchFamily="34" charset="0"/>
                <a:ea typeface="Calibri" pitchFamily="34" charset="-122"/>
                <a:cs typeface="Calibri" pitchFamily="34" charset="-120"/>
              </a:rPr>
              <a:t>Personel yaklaşımı</a:t>
            </a:r>
            <a:endParaRPr lang="en-US" sz="1000" dirty="0"/>
          </a:p>
        </p:txBody>
      </p:sp>
      <p:sp>
        <p:nvSpPr>
          <p:cNvPr id="8" name="Text 6"/>
          <p:cNvSpPr txBox="1"/>
          <p:nvPr/>
        </p:nvSpPr>
        <p:spPr>
          <a:xfrm>
            <a:off x="6656832" y="2286000"/>
            <a:ext cx="640080" cy="274320"/>
          </a:xfrm>
          <a:prstGeom prst="rect">
            <a:avLst/>
          </a:prstGeom>
          <a:noFill/>
          <a:ln/>
        </p:spPr>
        <p:txBody>
          <a:bodyPr wrap="square" lIns="0" tIns="0" rIns="0" bIns="0" rtlCol="0" anchor="ctr"/>
          <a:lstStyle/>
          <a:p>
            <a:pPr indent="0" marL="0">
              <a:buNone/>
            </a:pPr>
            <a:r>
              <a:rPr lang="en-US" sz="1000" b="1" dirty="0">
                <a:solidFill>
                  <a:srgbClr val="7A7A82"/>
                </a:solidFill>
                <a:latin typeface="Calibri" pitchFamily="34" charset="0"/>
                <a:ea typeface="Calibri" pitchFamily="34" charset="-122"/>
                <a:cs typeface="Calibri" pitchFamily="34" charset="-120"/>
              </a:rPr>
              <a:t>3,40</a:t>
            </a:r>
            <a:endParaRPr lang="en-US" sz="1000" dirty="0"/>
          </a:p>
        </p:txBody>
      </p:sp>
      <p:sp>
        <p:nvSpPr>
          <p:cNvPr id="9" name="Shape 7"/>
          <p:cNvSpPr/>
          <p:nvPr/>
        </p:nvSpPr>
        <p:spPr>
          <a:xfrm>
            <a:off x="3108960" y="2688336"/>
            <a:ext cx="3168396" cy="274320"/>
          </a:xfrm>
          <a:prstGeom prst="rect">
            <a:avLst/>
          </a:prstGeom>
          <a:solidFill>
            <a:srgbClr val="C9C9CF"/>
          </a:solidFill>
          <a:ln w="12700">
            <a:solidFill>
              <a:srgbClr val="C9C9CF"/>
            </a:solidFill>
            <a:prstDash val="solid"/>
          </a:ln>
        </p:spPr>
      </p:sp>
      <p:sp>
        <p:nvSpPr>
          <p:cNvPr id="10" name="Text 8"/>
          <p:cNvSpPr txBox="1"/>
          <p:nvPr/>
        </p:nvSpPr>
        <p:spPr>
          <a:xfrm>
            <a:off x="777240" y="2688336"/>
            <a:ext cx="2194560" cy="274320"/>
          </a:xfrm>
          <a:prstGeom prst="rect">
            <a:avLst/>
          </a:prstGeom>
          <a:noFill/>
          <a:ln/>
        </p:spPr>
        <p:txBody>
          <a:bodyPr wrap="square" lIns="0" tIns="0" rIns="0" bIns="0" rtlCol="0" anchor="ctr"/>
          <a:lstStyle/>
          <a:p>
            <a:pPr algn="r" indent="0" marL="0">
              <a:buNone/>
            </a:pPr>
            <a:r>
              <a:rPr lang="en-US" sz="1000" dirty="0">
                <a:solidFill>
                  <a:srgbClr val="2B2B31"/>
                </a:solidFill>
                <a:latin typeface="Calibri" pitchFamily="34" charset="0"/>
                <a:ea typeface="Calibri" pitchFamily="34" charset="-122"/>
                <a:cs typeface="Calibri" pitchFamily="34" charset="-120"/>
              </a:rPr>
              <a:t>Görsel algı ve aydınlatma</a:t>
            </a:r>
            <a:endParaRPr lang="en-US" sz="1000" dirty="0"/>
          </a:p>
        </p:txBody>
      </p:sp>
      <p:sp>
        <p:nvSpPr>
          <p:cNvPr id="11" name="Text 9"/>
          <p:cNvSpPr txBox="1"/>
          <p:nvPr/>
        </p:nvSpPr>
        <p:spPr>
          <a:xfrm>
            <a:off x="6368796" y="2688336"/>
            <a:ext cx="640080" cy="274320"/>
          </a:xfrm>
          <a:prstGeom prst="rect">
            <a:avLst/>
          </a:prstGeom>
          <a:noFill/>
          <a:ln/>
        </p:spPr>
        <p:txBody>
          <a:bodyPr wrap="square" lIns="0" tIns="0" rIns="0" bIns="0" rtlCol="0" anchor="ctr"/>
          <a:lstStyle/>
          <a:p>
            <a:pPr indent="0" marL="0">
              <a:buNone/>
            </a:pPr>
            <a:r>
              <a:rPr lang="en-US" sz="1000" b="1" dirty="0">
                <a:solidFill>
                  <a:srgbClr val="7A7A82"/>
                </a:solidFill>
                <a:latin typeface="Calibri" pitchFamily="34" charset="0"/>
                <a:ea typeface="Calibri" pitchFamily="34" charset="-122"/>
                <a:cs typeface="Calibri" pitchFamily="34" charset="-120"/>
              </a:rPr>
              <a:t>3,20</a:t>
            </a:r>
            <a:endParaRPr lang="en-US" sz="1000" dirty="0"/>
          </a:p>
        </p:txBody>
      </p:sp>
      <p:sp>
        <p:nvSpPr>
          <p:cNvPr id="12" name="Shape 10"/>
          <p:cNvSpPr/>
          <p:nvPr/>
        </p:nvSpPr>
        <p:spPr>
          <a:xfrm>
            <a:off x="3108960" y="3090672"/>
            <a:ext cx="3024378" cy="274320"/>
          </a:xfrm>
          <a:prstGeom prst="rect">
            <a:avLst/>
          </a:prstGeom>
          <a:solidFill>
            <a:srgbClr val="C9C9CF"/>
          </a:solidFill>
          <a:ln w="12700">
            <a:solidFill>
              <a:srgbClr val="C9C9CF"/>
            </a:solidFill>
            <a:prstDash val="solid"/>
          </a:ln>
        </p:spPr>
      </p:sp>
      <p:sp>
        <p:nvSpPr>
          <p:cNvPr id="13" name="Text 11"/>
          <p:cNvSpPr txBox="1"/>
          <p:nvPr/>
        </p:nvSpPr>
        <p:spPr>
          <a:xfrm>
            <a:off x="777240" y="3090672"/>
            <a:ext cx="2194560" cy="274320"/>
          </a:xfrm>
          <a:prstGeom prst="rect">
            <a:avLst/>
          </a:prstGeom>
          <a:noFill/>
          <a:ln/>
        </p:spPr>
        <p:txBody>
          <a:bodyPr wrap="square" lIns="0" tIns="0" rIns="0" bIns="0" rtlCol="0" anchor="ctr"/>
          <a:lstStyle/>
          <a:p>
            <a:pPr algn="r" indent="0" marL="0">
              <a:buNone/>
            </a:pPr>
            <a:r>
              <a:rPr lang="en-US" sz="1000" dirty="0">
                <a:solidFill>
                  <a:srgbClr val="2B2B31"/>
                </a:solidFill>
                <a:latin typeface="Calibri" pitchFamily="34" charset="0"/>
                <a:ea typeface="Calibri" pitchFamily="34" charset="-122"/>
                <a:cs typeface="Calibri" pitchFamily="34" charset="-120"/>
              </a:rPr>
              <a:t>Erişilebilirlik ve algılanabilirlik</a:t>
            </a:r>
            <a:endParaRPr lang="en-US" sz="1000" dirty="0"/>
          </a:p>
        </p:txBody>
      </p:sp>
      <p:sp>
        <p:nvSpPr>
          <p:cNvPr id="14" name="Text 12"/>
          <p:cNvSpPr txBox="1"/>
          <p:nvPr/>
        </p:nvSpPr>
        <p:spPr>
          <a:xfrm>
            <a:off x="6224778" y="3090672"/>
            <a:ext cx="640080" cy="274320"/>
          </a:xfrm>
          <a:prstGeom prst="rect">
            <a:avLst/>
          </a:prstGeom>
          <a:noFill/>
          <a:ln/>
        </p:spPr>
        <p:txBody>
          <a:bodyPr wrap="square" lIns="0" tIns="0" rIns="0" bIns="0" rtlCol="0" anchor="ctr"/>
          <a:lstStyle/>
          <a:p>
            <a:pPr indent="0" marL="0">
              <a:buNone/>
            </a:pPr>
            <a:r>
              <a:rPr lang="en-US" sz="1000" b="1" dirty="0">
                <a:solidFill>
                  <a:srgbClr val="7A7A82"/>
                </a:solidFill>
                <a:latin typeface="Calibri" pitchFamily="34" charset="0"/>
                <a:ea typeface="Calibri" pitchFamily="34" charset="-122"/>
                <a:cs typeface="Calibri" pitchFamily="34" charset="-120"/>
              </a:rPr>
              <a:t>3,10</a:t>
            </a:r>
            <a:endParaRPr lang="en-US" sz="1000" dirty="0"/>
          </a:p>
        </p:txBody>
      </p:sp>
      <p:sp>
        <p:nvSpPr>
          <p:cNvPr id="15" name="Shape 13"/>
          <p:cNvSpPr/>
          <p:nvPr/>
        </p:nvSpPr>
        <p:spPr>
          <a:xfrm>
            <a:off x="3108960" y="3493008"/>
            <a:ext cx="2865958" cy="274320"/>
          </a:xfrm>
          <a:prstGeom prst="rect">
            <a:avLst/>
          </a:prstGeom>
          <a:solidFill>
            <a:srgbClr val="8C3A2B"/>
          </a:solidFill>
          <a:ln w="12700">
            <a:solidFill>
              <a:srgbClr val="8C3A2B"/>
            </a:solidFill>
            <a:prstDash val="solid"/>
          </a:ln>
        </p:spPr>
      </p:sp>
      <p:sp>
        <p:nvSpPr>
          <p:cNvPr id="16" name="Text 14"/>
          <p:cNvSpPr txBox="1"/>
          <p:nvPr/>
        </p:nvSpPr>
        <p:spPr>
          <a:xfrm>
            <a:off x="777240" y="3493008"/>
            <a:ext cx="2194560" cy="274320"/>
          </a:xfrm>
          <a:prstGeom prst="rect">
            <a:avLst/>
          </a:prstGeom>
          <a:noFill/>
          <a:ln/>
        </p:spPr>
        <p:txBody>
          <a:bodyPr wrap="square" lIns="0" tIns="0" rIns="0" bIns="0" rtlCol="0" anchor="ctr"/>
          <a:lstStyle/>
          <a:p>
            <a:pPr algn="r" indent="0" marL="0">
              <a:buNone/>
            </a:pPr>
            <a:r>
              <a:rPr lang="en-US" sz="1000" b="1" dirty="0">
                <a:solidFill>
                  <a:srgbClr val="8C3A2B"/>
                </a:solidFill>
                <a:latin typeface="Calibri" pitchFamily="34" charset="0"/>
                <a:ea typeface="Calibri" pitchFamily="34" charset="-122"/>
                <a:cs typeface="Calibri" pitchFamily="34" charset="-120"/>
              </a:rPr>
              <a:t>Fiziksel dolaşım ve erişim</a:t>
            </a:r>
            <a:endParaRPr lang="en-US" sz="1000" dirty="0"/>
          </a:p>
        </p:txBody>
      </p:sp>
      <p:sp>
        <p:nvSpPr>
          <p:cNvPr id="17" name="Text 15"/>
          <p:cNvSpPr txBox="1"/>
          <p:nvPr/>
        </p:nvSpPr>
        <p:spPr>
          <a:xfrm>
            <a:off x="6066358" y="3493008"/>
            <a:ext cx="640080" cy="274320"/>
          </a:xfrm>
          <a:prstGeom prst="rect">
            <a:avLst/>
          </a:prstGeom>
          <a:noFill/>
          <a:ln/>
        </p:spPr>
        <p:txBody>
          <a:bodyPr wrap="square" lIns="0" tIns="0" rIns="0" bIns="0" rtlCol="0" anchor="ctr"/>
          <a:lstStyle/>
          <a:p>
            <a:pPr indent="0" marL="0">
              <a:buNone/>
            </a:pPr>
            <a:r>
              <a:rPr lang="en-US" sz="1000" b="1" dirty="0">
                <a:solidFill>
                  <a:srgbClr val="8C3A2B"/>
                </a:solidFill>
                <a:latin typeface="Calibri" pitchFamily="34" charset="0"/>
                <a:ea typeface="Calibri" pitchFamily="34" charset="-122"/>
                <a:cs typeface="Calibri" pitchFamily="34" charset="-120"/>
              </a:rPr>
              <a:t>2,99</a:t>
            </a:r>
            <a:endParaRPr lang="en-US" sz="1000" dirty="0"/>
          </a:p>
        </p:txBody>
      </p:sp>
      <p:sp>
        <p:nvSpPr>
          <p:cNvPr id="18" name="Shape 16"/>
          <p:cNvSpPr/>
          <p:nvPr/>
        </p:nvSpPr>
        <p:spPr>
          <a:xfrm>
            <a:off x="3108960" y="3895344"/>
            <a:ext cx="2721940" cy="274320"/>
          </a:xfrm>
          <a:prstGeom prst="rect">
            <a:avLst/>
          </a:prstGeom>
          <a:solidFill>
            <a:srgbClr val="8C3A2B"/>
          </a:solidFill>
          <a:ln w="12700">
            <a:solidFill>
              <a:srgbClr val="8C3A2B"/>
            </a:solidFill>
            <a:prstDash val="solid"/>
          </a:ln>
        </p:spPr>
      </p:sp>
      <p:sp>
        <p:nvSpPr>
          <p:cNvPr id="19" name="Text 17"/>
          <p:cNvSpPr txBox="1"/>
          <p:nvPr/>
        </p:nvSpPr>
        <p:spPr>
          <a:xfrm>
            <a:off x="777240" y="3895344"/>
            <a:ext cx="2194560" cy="274320"/>
          </a:xfrm>
          <a:prstGeom prst="rect">
            <a:avLst/>
          </a:prstGeom>
          <a:noFill/>
          <a:ln/>
        </p:spPr>
        <p:txBody>
          <a:bodyPr wrap="square" lIns="0" tIns="0" rIns="0" bIns="0" rtlCol="0" anchor="ctr"/>
          <a:lstStyle/>
          <a:p>
            <a:pPr algn="r" indent="0" marL="0">
              <a:buNone/>
            </a:pPr>
            <a:r>
              <a:rPr lang="en-US" sz="1000" b="1" dirty="0">
                <a:solidFill>
                  <a:srgbClr val="8C3A2B"/>
                </a:solidFill>
                <a:latin typeface="Calibri" pitchFamily="34" charset="0"/>
                <a:ea typeface="Calibri" pitchFamily="34" charset="-122"/>
                <a:cs typeface="Calibri" pitchFamily="34" charset="-120"/>
              </a:rPr>
              <a:t>İşitsel ve duyusal konfor</a:t>
            </a:r>
            <a:endParaRPr lang="en-US" sz="1000" dirty="0"/>
          </a:p>
        </p:txBody>
      </p:sp>
      <p:sp>
        <p:nvSpPr>
          <p:cNvPr id="20" name="Text 18"/>
          <p:cNvSpPr txBox="1"/>
          <p:nvPr/>
        </p:nvSpPr>
        <p:spPr>
          <a:xfrm>
            <a:off x="5922340" y="3895344"/>
            <a:ext cx="640080" cy="274320"/>
          </a:xfrm>
          <a:prstGeom prst="rect">
            <a:avLst/>
          </a:prstGeom>
          <a:noFill/>
          <a:ln/>
        </p:spPr>
        <p:txBody>
          <a:bodyPr wrap="square" lIns="0" tIns="0" rIns="0" bIns="0" rtlCol="0" anchor="ctr"/>
          <a:lstStyle/>
          <a:p>
            <a:pPr indent="0" marL="0">
              <a:buNone/>
            </a:pPr>
            <a:r>
              <a:rPr lang="en-US" sz="1000" b="1" dirty="0">
                <a:solidFill>
                  <a:srgbClr val="8C3A2B"/>
                </a:solidFill>
                <a:latin typeface="Calibri" pitchFamily="34" charset="0"/>
                <a:ea typeface="Calibri" pitchFamily="34" charset="-122"/>
                <a:cs typeface="Calibri" pitchFamily="34" charset="-120"/>
              </a:rPr>
              <a:t>2,89</a:t>
            </a:r>
            <a:endParaRPr lang="en-US" sz="1000" dirty="0"/>
          </a:p>
        </p:txBody>
      </p:sp>
      <p:sp>
        <p:nvSpPr>
          <p:cNvPr id="21" name="Shape 19"/>
          <p:cNvSpPr/>
          <p:nvPr/>
        </p:nvSpPr>
        <p:spPr>
          <a:xfrm>
            <a:off x="3108960" y="2176272"/>
            <a:ext cx="0" cy="2048256"/>
          </a:xfrm>
          <a:prstGeom prst="line">
            <a:avLst/>
          </a:prstGeom>
          <a:noFill/>
          <a:ln w="11430">
            <a:solidFill>
              <a:srgbClr val="C9C9CF"/>
            </a:solidFill>
            <a:prstDash val="solid"/>
          </a:ln>
        </p:spPr>
      </p:sp>
      <p:sp>
        <p:nvSpPr>
          <p:cNvPr id="22" name="Text 20"/>
          <p:cNvSpPr txBox="1"/>
          <p:nvPr/>
        </p:nvSpPr>
        <p:spPr>
          <a:xfrm>
            <a:off x="3108960" y="4315968"/>
            <a:ext cx="5943600" cy="274320"/>
          </a:xfrm>
          <a:prstGeom prst="rect">
            <a:avLst/>
          </a:prstGeom>
          <a:noFill/>
          <a:ln/>
        </p:spPr>
        <p:txBody>
          <a:bodyPr wrap="square" lIns="0" tIns="0" rIns="0" bIns="0" rtlCol="0" anchor="ctr"/>
          <a:lstStyle/>
          <a:p>
            <a:pPr algn="l" indent="0" marL="0">
              <a:lnSpc>
                <a:spcPts val="1200"/>
              </a:lnSpc>
              <a:buNone/>
            </a:pPr>
            <a:r>
              <a:rPr lang="en-US" sz="900" dirty="0">
                <a:solidFill>
                  <a:srgbClr val="A6A6AC"/>
                </a:solidFill>
                <a:latin typeface="Calibri" pitchFamily="34" charset="0"/>
                <a:ea typeface="Calibri" pitchFamily="34" charset="-122"/>
                <a:cs typeface="Calibri" pitchFamily="34" charset="-120"/>
              </a:rPr>
              <a:t>1 = en olumsuz   ·   5 = en olumlu   ·   105 katılımcı</a:t>
            </a:r>
            <a:endParaRPr lang="en-US" sz="900" dirty="0"/>
          </a:p>
        </p:txBody>
      </p:sp>
      <p:sp>
        <p:nvSpPr>
          <p:cNvPr id="23" name="Text 21"/>
          <p:cNvSpPr txBox="1"/>
          <p:nvPr/>
        </p:nvSpPr>
        <p:spPr>
          <a:xfrm>
            <a:off x="777240" y="4526280"/>
            <a:ext cx="5029200" cy="1737360"/>
          </a:xfrm>
          <a:prstGeom prst="rect">
            <a:avLst/>
          </a:prstGeom>
          <a:noFill/>
          <a:ln/>
        </p:spPr>
        <p:txBody>
          <a:bodyPr wrap="square" lIns="0" tIns="0" rIns="0" bIns="0" rtlCol="0" anchor="ctr"/>
          <a:lstStyle/>
          <a:p>
            <a:pPr indent="0" marL="0">
              <a:lnSpc>
                <a:spcPts val="1900"/>
              </a:lnSpc>
              <a:buNone/>
            </a:pPr>
            <a:r>
              <a:rPr lang="en-US" sz="1250" dirty="0">
                <a:solidFill>
                  <a:srgbClr val="2B2B31"/>
                </a:solidFill>
                <a:latin typeface="Cambria" pitchFamily="34" charset="0"/>
                <a:ea typeface="Cambria" pitchFamily="34" charset="-122"/>
                <a:cs typeface="Cambria" pitchFamily="34" charset="-120"/>
              </a:rPr>
              <a:t>İstanbul'da 105 engelli kullanıcıyla yapılan bir araştırmada büyük mağaza iç mekânları beş boyutta değerlendirildi. En düşük puanı işitsel ve duyusal konfor aldı: yüksek müzik, anlaşılmayan anonslar, genel duyusal yük (Akyazıcı &amp; Yaşar, 2026).</a:t>
            </a:r>
            <a:endParaRPr lang="en-US" sz="1250" dirty="0"/>
          </a:p>
        </p:txBody>
      </p:sp>
      <p:sp>
        <p:nvSpPr>
          <p:cNvPr id="24" name="Text 22"/>
          <p:cNvSpPr txBox="1"/>
          <p:nvPr/>
        </p:nvSpPr>
        <p:spPr>
          <a:xfrm>
            <a:off x="6382512" y="4526280"/>
            <a:ext cx="5029200" cy="1737360"/>
          </a:xfrm>
          <a:prstGeom prst="rect">
            <a:avLst/>
          </a:prstGeom>
          <a:noFill/>
          <a:ln/>
        </p:spPr>
        <p:txBody>
          <a:bodyPr wrap="square" lIns="0" tIns="0" rIns="0" bIns="0" rtlCol="0" anchor="ctr"/>
          <a:lstStyle/>
          <a:p>
            <a:pPr indent="0" marL="0">
              <a:lnSpc>
                <a:spcPts val="1900"/>
              </a:lnSpc>
              <a:buNone/>
            </a:pPr>
            <a:r>
              <a:rPr lang="en-US" sz="1250" dirty="0">
                <a:solidFill>
                  <a:srgbClr val="2B2B31"/>
                </a:solidFill>
                <a:latin typeface="Cambria" pitchFamily="34" charset="0"/>
                <a:ea typeface="Cambria" pitchFamily="34" charset="-122"/>
                <a:cs typeface="Cambria" pitchFamily="34" charset="-120"/>
              </a:rPr>
              <a:t>Görme engelli kullanıcılar için en sorunlu boyut görsel algı ve aydınlatmaydı; parlama ve okunamayan etiketler öne çıktı.</a:t>
            </a:r>
            <a:endParaRPr lang="en-US" sz="1250" dirty="0"/>
          </a:p>
          <a:p>
            <a:pPr indent="0" marL="0">
              <a:lnSpc>
                <a:spcPts val="1900"/>
              </a:lnSpc>
              <a:buNone/>
            </a:pPr>
            <a:endParaRPr lang="en-US" sz="1250" dirty="0"/>
          </a:p>
          <a:p>
            <a:pPr indent="0" marL="0">
              <a:lnSpc>
                <a:spcPts val="1900"/>
              </a:lnSpc>
              <a:buNone/>
            </a:pPr>
            <a:r>
              <a:rPr lang="en-US" sz="1250" dirty="0">
                <a:solidFill>
                  <a:srgbClr val="2B2B31"/>
                </a:solidFill>
                <a:latin typeface="Cambria" pitchFamily="34" charset="0"/>
                <a:ea typeface="Cambria" pitchFamily="34" charset="-122"/>
                <a:cs typeface="Cambria" pitchFamily="34" charset="-120"/>
              </a:rPr>
              <a:t>Çıkan ilke: her uyaranın bir gerekçesi olmalıdır. Gerekçesi olmayan uyaran, birileri için engeldir.</a:t>
            </a:r>
            <a:endParaRPr lang="en-US" sz="12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CFCFA"/>
        </a:solidFill>
      </p:bgPr>
    </p:bg>
    <p:spTree>
      <p:nvGrpSpPr>
        <p:cNvPr id="1" name=""/>
        <p:cNvGrpSpPr/>
        <p:nvPr/>
      </p:nvGrpSpPr>
      <p:grpSpPr>
        <a:xfrm>
          <a:off x="0" y="0"/>
          <a:ext cx="0" cy="0"/>
          <a:chOff x="0" y="0"/>
          <a:chExt cx="0" cy="0"/>
        </a:xfrm>
      </p:grpSpPr>
      <p:sp>
        <p:nvSpPr>
          <p:cNvPr id="2" name="Text 0"/>
          <p:cNvSpPr txBox="1"/>
          <p:nvPr/>
        </p:nvSpPr>
        <p:spPr>
          <a:xfrm>
            <a:off x="777240" y="1737360"/>
            <a:ext cx="10424160" cy="2926080"/>
          </a:xfrm>
          <a:prstGeom prst="rect">
            <a:avLst/>
          </a:prstGeom>
          <a:noFill/>
          <a:ln/>
        </p:spPr>
        <p:txBody>
          <a:bodyPr wrap="square" lIns="0" tIns="0" rIns="0" bIns="0" rtlCol="0" anchor="ctr"/>
          <a:lstStyle/>
          <a:p>
            <a:pPr indent="0" marL="0">
              <a:lnSpc>
                <a:spcPts val="4200"/>
              </a:lnSpc>
              <a:buNone/>
            </a:pPr>
            <a:r>
              <a:rPr lang="en-US" sz="2900" i="1" dirty="0">
                <a:solidFill>
                  <a:srgbClr val="16161A"/>
                </a:solidFill>
                <a:latin typeface="Cambria" pitchFamily="34" charset="0"/>
                <a:ea typeface="Cambria" pitchFamily="34" charset="-122"/>
                <a:cs typeface="Cambria" pitchFamily="34" charset="-120"/>
              </a:rPr>
              <a:t>Duyusal tasarım bir estetik katman değil, hizmetin işleyen bir parçasıdır.</a:t>
            </a:r>
            <a:endParaRPr lang="en-US" sz="2900" dirty="0"/>
          </a:p>
        </p:txBody>
      </p:sp>
      <p:sp>
        <p:nvSpPr>
          <p:cNvPr id="3" name="Text 1"/>
          <p:cNvSpPr txBox="1"/>
          <p:nvPr/>
        </p:nvSpPr>
        <p:spPr>
          <a:xfrm>
            <a:off x="777240" y="4846320"/>
            <a:ext cx="10424160" cy="365760"/>
          </a:xfrm>
          <a:prstGeom prst="rect">
            <a:avLst/>
          </a:prstGeom>
          <a:noFill/>
          <a:ln/>
        </p:spPr>
        <p:txBody>
          <a:bodyPr wrap="square" lIns="0" tIns="0" rIns="0" bIns="0" rtlCol="0" anchor="ctr"/>
          <a:lstStyle/>
          <a:p>
            <a:pPr indent="0" marL="0">
              <a:buNone/>
            </a:pPr>
            <a:r>
              <a:rPr lang="en-US" sz="1400" b="1" dirty="0">
                <a:solidFill>
                  <a:srgbClr val="8C3A2B"/>
                </a:solidFill>
                <a:latin typeface="Calibri" pitchFamily="34" charset="0"/>
                <a:ea typeface="Calibri" pitchFamily="34" charset="-122"/>
                <a:cs typeface="Calibri" pitchFamily="34" charset="-120"/>
              </a:rPr>
              <a:t>Tonin, Ferrara &amp; Nickel, 2026</a:t>
            </a:r>
            <a:endParaRPr lang="en-US" sz="1400" dirty="0"/>
          </a:p>
        </p:txBody>
      </p:sp>
      <p:sp>
        <p:nvSpPr>
          <p:cNvPr id="4" name="Text 2"/>
          <p:cNvSpPr txBox="1"/>
          <p:nvPr/>
        </p:nvSpPr>
        <p:spPr>
          <a:xfrm>
            <a:off x="10972800" y="6355080"/>
            <a:ext cx="438912" cy="237744"/>
          </a:xfrm>
          <a:prstGeom prst="rect">
            <a:avLst/>
          </a:prstGeom>
          <a:noFill/>
          <a:ln/>
        </p:spPr>
        <p:txBody>
          <a:bodyPr wrap="square" lIns="0" tIns="0" rIns="0" bIns="0" rtlCol="0" anchor="ctr"/>
          <a:lstStyle/>
          <a:p>
            <a:pPr algn="r" indent="0" marL="0">
              <a:buNone/>
            </a:pPr>
            <a:r>
              <a:rPr lang="en-US" sz="950" dirty="0">
                <a:solidFill>
                  <a:srgbClr val="A6A6AC"/>
                </a:solidFill>
                <a:latin typeface="Calibri" pitchFamily="34" charset="0"/>
                <a:ea typeface="Calibri" pitchFamily="34" charset="-122"/>
                <a:cs typeface="Calibri" pitchFamily="34" charset="-120"/>
              </a:rPr>
              <a:t>40</a:t>
            </a:r>
            <a:endParaRPr lang="en-US" sz="9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6161A"/>
        </a:solidFill>
      </p:bgPr>
    </p:bg>
    <p:spTree>
      <p:nvGrpSpPr>
        <p:cNvPr id="1" name=""/>
        <p:cNvGrpSpPr/>
        <p:nvPr/>
      </p:nvGrpSpPr>
      <p:grpSpPr>
        <a:xfrm>
          <a:off x="0" y="0"/>
          <a:ext cx="0" cy="0"/>
          <a:chOff x="0" y="0"/>
          <a:chExt cx="0" cy="0"/>
        </a:xfrm>
      </p:grpSpPr>
      <p:sp>
        <p:nvSpPr>
          <p:cNvPr id="2" name="Text 0"/>
          <p:cNvSpPr txBox="1"/>
          <p:nvPr/>
        </p:nvSpPr>
        <p:spPr>
          <a:xfrm>
            <a:off x="777240" y="1371600"/>
            <a:ext cx="3108960" cy="2377440"/>
          </a:xfrm>
          <a:prstGeom prst="rect">
            <a:avLst/>
          </a:prstGeom>
          <a:noFill/>
          <a:ln/>
        </p:spPr>
        <p:txBody>
          <a:bodyPr wrap="square" lIns="0" tIns="0" rIns="0" bIns="0" rtlCol="0" anchor="ctr"/>
          <a:lstStyle/>
          <a:p>
            <a:pPr indent="0" marL="0">
              <a:buNone/>
            </a:pPr>
            <a:r>
              <a:rPr lang="en-US" sz="9200" b="1" dirty="0">
                <a:solidFill>
                  <a:srgbClr val="8C3A2B"/>
                </a:solidFill>
                <a:latin typeface="Cambria" pitchFamily="34" charset="0"/>
                <a:ea typeface="Cambria" pitchFamily="34" charset="-122"/>
                <a:cs typeface="Cambria" pitchFamily="34" charset="-120"/>
              </a:rPr>
              <a:t>VIII</a:t>
            </a:r>
            <a:endParaRPr lang="en-US" sz="9200" dirty="0"/>
          </a:p>
        </p:txBody>
      </p:sp>
      <p:sp>
        <p:nvSpPr>
          <p:cNvPr id="3" name="Text 1"/>
          <p:cNvSpPr txBox="1"/>
          <p:nvPr/>
        </p:nvSpPr>
        <p:spPr>
          <a:xfrm>
            <a:off x="777240" y="3611880"/>
            <a:ext cx="10424160" cy="1325880"/>
          </a:xfrm>
          <a:prstGeom prst="rect">
            <a:avLst/>
          </a:prstGeom>
          <a:noFill/>
          <a:ln/>
        </p:spPr>
        <p:txBody>
          <a:bodyPr wrap="square" lIns="0" tIns="0" rIns="0" bIns="0" rtlCol="0" anchor="ctr"/>
          <a:lstStyle/>
          <a:p>
            <a:pPr indent="0" marL="0">
              <a:lnSpc>
                <a:spcPts val="4400"/>
              </a:lnSpc>
              <a:buNone/>
            </a:pPr>
            <a:r>
              <a:rPr lang="en-US" sz="4000" b="1" dirty="0">
                <a:solidFill>
                  <a:srgbClr val="FFFFFF"/>
                </a:solidFill>
                <a:latin typeface="Cambria" pitchFamily="34" charset="0"/>
                <a:ea typeface="Cambria" pitchFamily="34" charset="-122"/>
                <a:cs typeface="Cambria" pitchFamily="34" charset="-120"/>
              </a:rPr>
              <a:t>Işık ve malzeme</a:t>
            </a:r>
            <a:endParaRPr lang="en-US" sz="4000" dirty="0"/>
          </a:p>
        </p:txBody>
      </p:sp>
      <p:sp>
        <p:nvSpPr>
          <p:cNvPr id="4" name="Text 2"/>
          <p:cNvSpPr txBox="1"/>
          <p:nvPr/>
        </p:nvSpPr>
        <p:spPr>
          <a:xfrm>
            <a:off x="777240" y="5029200"/>
            <a:ext cx="9509760" cy="822960"/>
          </a:xfrm>
          <a:prstGeom prst="rect">
            <a:avLst/>
          </a:prstGeom>
          <a:noFill/>
          <a:ln/>
        </p:spPr>
        <p:txBody>
          <a:bodyPr wrap="square" lIns="0" tIns="0" rIns="0" bIns="0" rtlCol="0" anchor="ctr"/>
          <a:lstStyle/>
          <a:p>
            <a:pPr indent="0" marL="0">
              <a:lnSpc>
                <a:spcPts val="2200"/>
              </a:lnSpc>
              <a:buNone/>
            </a:pPr>
            <a:r>
              <a:rPr lang="en-US" sz="1500" dirty="0">
                <a:solidFill>
                  <a:srgbClr val="B9B9C0"/>
                </a:solidFill>
                <a:latin typeface="Calibri" pitchFamily="34" charset="0"/>
                <a:ea typeface="Calibri" pitchFamily="34" charset="-122"/>
                <a:cs typeface="Calibri" pitchFamily="34" charset="-120"/>
              </a:rPr>
              <a:t>Atmosferi kuran iki somut araç.</a:t>
            </a:r>
            <a:endParaRPr lang="en-US" sz="15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CFCFA"/>
        </a:solidFill>
      </p:bgPr>
    </p:bg>
    <p:spTree>
      <p:nvGrpSpPr>
        <p:cNvPr id="1" name=""/>
        <p:cNvGrpSpPr/>
        <p:nvPr/>
      </p:nvGrpSpPr>
      <p:grpSpPr>
        <a:xfrm>
          <a:off x="0" y="0"/>
          <a:ext cx="0" cy="0"/>
          <a:chOff x="0" y="0"/>
          <a:chExt cx="0" cy="0"/>
        </a:xfrm>
      </p:grpSpPr>
      <p:sp>
        <p:nvSpPr>
          <p:cNvPr id="2" name="Text 0"/>
          <p:cNvSpPr txBox="1"/>
          <p:nvPr/>
        </p:nvSpPr>
        <p:spPr>
          <a:xfrm>
            <a:off x="777240" y="475488"/>
            <a:ext cx="9601200" cy="237744"/>
          </a:xfrm>
          <a:prstGeom prst="rect">
            <a:avLst/>
          </a:prstGeom>
          <a:noFill/>
          <a:ln/>
        </p:spPr>
        <p:txBody>
          <a:bodyPr wrap="square" lIns="0" tIns="0" rIns="0" bIns="0" rtlCol="0" anchor="ctr"/>
          <a:lstStyle/>
          <a:p>
            <a:pPr indent="0" marL="0">
              <a:buNone/>
            </a:pPr>
            <a:r>
              <a:rPr lang="en-US" sz="950" b="1" spc="260" kern="0" dirty="0">
                <a:solidFill>
                  <a:srgbClr val="7A7A82"/>
                </a:solidFill>
                <a:latin typeface="Calibri" pitchFamily="34" charset="0"/>
                <a:ea typeface="Calibri" pitchFamily="34" charset="-122"/>
                <a:cs typeface="Calibri" pitchFamily="34" charset="-120"/>
              </a:rPr>
              <a:t>VIII · IŞIK VE MALZEME</a:t>
            </a:r>
            <a:endParaRPr lang="en-US" sz="950" dirty="0"/>
          </a:p>
        </p:txBody>
      </p:sp>
      <p:sp>
        <p:nvSpPr>
          <p:cNvPr id="3" name="Text 1"/>
          <p:cNvSpPr txBox="1"/>
          <p:nvPr/>
        </p:nvSpPr>
        <p:spPr>
          <a:xfrm>
            <a:off x="777240" y="822960"/>
            <a:ext cx="10424160" cy="731520"/>
          </a:xfrm>
          <a:prstGeom prst="rect">
            <a:avLst/>
          </a:prstGeom>
          <a:noFill/>
          <a:ln/>
        </p:spPr>
        <p:txBody>
          <a:bodyPr wrap="square" lIns="0" tIns="0" rIns="0" bIns="0" rtlCol="0" anchor="ctr"/>
          <a:lstStyle/>
          <a:p>
            <a:pPr indent="0" marL="0">
              <a:lnSpc>
                <a:spcPts val="3400"/>
              </a:lnSpc>
              <a:buNone/>
            </a:pPr>
            <a:r>
              <a:rPr lang="en-US" sz="2900" b="1" dirty="0">
                <a:solidFill>
                  <a:srgbClr val="16161A"/>
                </a:solidFill>
                <a:latin typeface="Cambria" pitchFamily="34" charset="0"/>
                <a:ea typeface="Cambria" pitchFamily="34" charset="-122"/>
                <a:cs typeface="Cambria" pitchFamily="34" charset="-120"/>
              </a:rPr>
              <a:t>Aydınlatma dört katmandan oluşur</a:t>
            </a:r>
            <a:endParaRPr lang="en-US" sz="2900" dirty="0"/>
          </a:p>
        </p:txBody>
      </p:sp>
      <p:sp>
        <p:nvSpPr>
          <p:cNvPr id="4" name="Text 2"/>
          <p:cNvSpPr txBox="1"/>
          <p:nvPr/>
        </p:nvSpPr>
        <p:spPr>
          <a:xfrm>
            <a:off x="10972800" y="6355080"/>
            <a:ext cx="438912" cy="237744"/>
          </a:xfrm>
          <a:prstGeom prst="rect">
            <a:avLst/>
          </a:prstGeom>
          <a:noFill/>
          <a:ln/>
        </p:spPr>
        <p:txBody>
          <a:bodyPr wrap="square" lIns="0" tIns="0" rIns="0" bIns="0" rtlCol="0" anchor="ctr"/>
          <a:lstStyle/>
          <a:p>
            <a:pPr algn="r" indent="0" marL="0">
              <a:buNone/>
            </a:pPr>
            <a:r>
              <a:rPr lang="en-US" sz="950" dirty="0">
                <a:solidFill>
                  <a:srgbClr val="A6A6AC"/>
                </a:solidFill>
                <a:latin typeface="Calibri" pitchFamily="34" charset="0"/>
                <a:ea typeface="Calibri" pitchFamily="34" charset="-122"/>
                <a:cs typeface="Calibri" pitchFamily="34" charset="-120"/>
              </a:rPr>
              <a:t>42</a:t>
            </a:r>
            <a:endParaRPr lang="en-US" sz="950" dirty="0"/>
          </a:p>
        </p:txBody>
      </p:sp>
      <p:sp>
        <p:nvSpPr>
          <p:cNvPr id="5" name="Shape 3"/>
          <p:cNvSpPr/>
          <p:nvPr/>
        </p:nvSpPr>
        <p:spPr>
          <a:xfrm>
            <a:off x="868680" y="4800600"/>
            <a:ext cx="6400800" cy="0"/>
          </a:xfrm>
          <a:prstGeom prst="line">
            <a:avLst/>
          </a:prstGeom>
          <a:noFill/>
          <a:ln w="19050">
            <a:solidFill>
              <a:srgbClr val="16161A"/>
            </a:solidFill>
            <a:prstDash val="solid"/>
          </a:ln>
        </p:spPr>
      </p:sp>
      <p:sp>
        <p:nvSpPr>
          <p:cNvPr id="6" name="Shape 4"/>
          <p:cNvSpPr/>
          <p:nvPr/>
        </p:nvSpPr>
        <p:spPr>
          <a:xfrm>
            <a:off x="868680" y="2148840"/>
            <a:ext cx="6400800" cy="0"/>
          </a:xfrm>
          <a:prstGeom prst="line">
            <a:avLst/>
          </a:prstGeom>
          <a:noFill/>
          <a:ln w="19050">
            <a:solidFill>
              <a:srgbClr val="16161A"/>
            </a:solidFill>
            <a:prstDash val="solid"/>
          </a:ln>
        </p:spPr>
      </p:sp>
      <p:sp>
        <p:nvSpPr>
          <p:cNvPr id="7" name="Shape 5"/>
          <p:cNvSpPr/>
          <p:nvPr/>
        </p:nvSpPr>
        <p:spPr>
          <a:xfrm>
            <a:off x="868680" y="2148840"/>
            <a:ext cx="0" cy="2651760"/>
          </a:xfrm>
          <a:prstGeom prst="line">
            <a:avLst/>
          </a:prstGeom>
          <a:noFill/>
          <a:ln w="12700">
            <a:solidFill>
              <a:srgbClr val="C9C9CF"/>
            </a:solidFill>
            <a:prstDash val="solid"/>
          </a:ln>
        </p:spPr>
      </p:sp>
      <p:sp>
        <p:nvSpPr>
          <p:cNvPr id="8" name="Shape 6"/>
          <p:cNvSpPr/>
          <p:nvPr/>
        </p:nvSpPr>
        <p:spPr>
          <a:xfrm>
            <a:off x="7269480" y="2148840"/>
            <a:ext cx="0" cy="2651760"/>
          </a:xfrm>
          <a:prstGeom prst="line">
            <a:avLst/>
          </a:prstGeom>
          <a:noFill/>
          <a:ln w="19050">
            <a:solidFill>
              <a:srgbClr val="16161A"/>
            </a:solidFill>
            <a:prstDash val="solid"/>
          </a:ln>
        </p:spPr>
      </p:sp>
      <p:sp>
        <p:nvSpPr>
          <p:cNvPr id="9" name="Text 7"/>
          <p:cNvSpPr txBox="1"/>
          <p:nvPr/>
        </p:nvSpPr>
        <p:spPr>
          <a:xfrm>
            <a:off x="7360920" y="3337560"/>
            <a:ext cx="1097280" cy="274320"/>
          </a:xfrm>
          <a:prstGeom prst="rect">
            <a:avLst/>
          </a:prstGeom>
          <a:noFill/>
          <a:ln/>
        </p:spPr>
        <p:txBody>
          <a:bodyPr wrap="square" lIns="0" tIns="0" rIns="0" bIns="0" rtlCol="0" anchor="ctr"/>
          <a:lstStyle/>
          <a:p>
            <a:pPr algn="l" indent="0" marL="0">
              <a:lnSpc>
                <a:spcPts val="1200"/>
              </a:lnSpc>
              <a:buNone/>
            </a:pPr>
            <a:r>
              <a:rPr lang="en-US" sz="900" dirty="0">
                <a:solidFill>
                  <a:srgbClr val="7A7A82"/>
                </a:solidFill>
                <a:latin typeface="Calibri" pitchFamily="34" charset="0"/>
                <a:ea typeface="Calibri" pitchFamily="34" charset="-122"/>
                <a:cs typeface="Calibri" pitchFamily="34" charset="-120"/>
              </a:rPr>
              <a:t>cephe</a:t>
            </a:r>
            <a:endParaRPr lang="en-US" sz="900" dirty="0"/>
          </a:p>
        </p:txBody>
      </p:sp>
      <p:sp>
        <p:nvSpPr>
          <p:cNvPr id="10" name="Shape 8"/>
          <p:cNvSpPr/>
          <p:nvPr/>
        </p:nvSpPr>
        <p:spPr>
          <a:xfrm>
            <a:off x="1325880" y="3566160"/>
            <a:ext cx="1371600" cy="502920"/>
          </a:xfrm>
          <a:prstGeom prst="rect">
            <a:avLst/>
          </a:prstGeom>
          <a:ln w="9525">
            <a:solidFill>
              <a:srgbClr val="C9C9CF"/>
            </a:solidFill>
            <a:prstDash val="solid"/>
          </a:ln>
        </p:spPr>
      </p:sp>
      <p:sp>
        <p:nvSpPr>
          <p:cNvPr id="11" name="Shape 9"/>
          <p:cNvSpPr/>
          <p:nvPr/>
        </p:nvSpPr>
        <p:spPr>
          <a:xfrm>
            <a:off x="3703320" y="3886200"/>
            <a:ext cx="1097280" cy="182880"/>
          </a:xfrm>
          <a:prstGeom prst="rect">
            <a:avLst/>
          </a:prstGeom>
          <a:ln w="9525">
            <a:solidFill>
              <a:srgbClr val="C9C9CF"/>
            </a:solidFill>
            <a:prstDash val="solid"/>
          </a:ln>
        </p:spPr>
      </p:sp>
      <p:sp>
        <p:nvSpPr>
          <p:cNvPr id="12" name="Shape 10"/>
          <p:cNvSpPr/>
          <p:nvPr/>
        </p:nvSpPr>
        <p:spPr>
          <a:xfrm>
            <a:off x="6172200" y="3749040"/>
            <a:ext cx="868680" cy="320040"/>
          </a:xfrm>
          <a:prstGeom prst="rect">
            <a:avLst/>
          </a:prstGeom>
          <a:ln w="9525">
            <a:solidFill>
              <a:srgbClr val="C9C9CF"/>
            </a:solidFill>
            <a:prstDash val="solid"/>
          </a:ln>
        </p:spPr>
      </p:sp>
      <p:sp>
        <p:nvSpPr>
          <p:cNvPr id="13" name="Shape 11"/>
          <p:cNvSpPr/>
          <p:nvPr/>
        </p:nvSpPr>
        <p:spPr>
          <a:xfrm>
            <a:off x="2039112" y="2176272"/>
            <a:ext cx="128016" cy="128016"/>
          </a:xfrm>
          <a:prstGeom prst="ellipse">
            <a:avLst/>
          </a:prstGeom>
          <a:solidFill>
            <a:srgbClr val="7A7A82"/>
          </a:solidFill>
          <a:ln w="12700">
            <a:solidFill>
              <a:srgbClr val="7A7A82"/>
            </a:solidFill>
            <a:prstDash val="solid"/>
          </a:ln>
        </p:spPr>
      </p:sp>
      <p:sp>
        <p:nvSpPr>
          <p:cNvPr id="14" name="Shape 12"/>
          <p:cNvSpPr/>
          <p:nvPr/>
        </p:nvSpPr>
        <p:spPr>
          <a:xfrm flipH="1">
            <a:off x="1600200" y="2304288"/>
            <a:ext cx="502920" cy="2496312"/>
          </a:xfrm>
          <a:prstGeom prst="line">
            <a:avLst/>
          </a:prstGeom>
          <a:noFill/>
          <a:ln w="10160">
            <a:solidFill>
              <a:srgbClr val="C9C9CF"/>
            </a:solidFill>
            <a:prstDash val="dot"/>
          </a:ln>
        </p:spPr>
      </p:sp>
      <p:sp>
        <p:nvSpPr>
          <p:cNvPr id="15" name="Shape 13"/>
          <p:cNvSpPr/>
          <p:nvPr/>
        </p:nvSpPr>
        <p:spPr>
          <a:xfrm>
            <a:off x="2103120" y="2304288"/>
            <a:ext cx="0" cy="2496312"/>
          </a:xfrm>
          <a:prstGeom prst="line">
            <a:avLst/>
          </a:prstGeom>
          <a:noFill/>
          <a:ln w="10160">
            <a:solidFill>
              <a:srgbClr val="C9C9CF"/>
            </a:solidFill>
            <a:prstDash val="dot"/>
          </a:ln>
        </p:spPr>
      </p:sp>
      <p:sp>
        <p:nvSpPr>
          <p:cNvPr id="16" name="Shape 14"/>
          <p:cNvSpPr/>
          <p:nvPr/>
        </p:nvSpPr>
        <p:spPr>
          <a:xfrm>
            <a:off x="2103120" y="2304288"/>
            <a:ext cx="502920" cy="2496312"/>
          </a:xfrm>
          <a:prstGeom prst="line">
            <a:avLst/>
          </a:prstGeom>
          <a:noFill/>
          <a:ln w="10160">
            <a:solidFill>
              <a:srgbClr val="C9C9CF"/>
            </a:solidFill>
            <a:prstDash val="dot"/>
          </a:ln>
        </p:spPr>
      </p:sp>
      <p:sp>
        <p:nvSpPr>
          <p:cNvPr id="17" name="Shape 15"/>
          <p:cNvSpPr/>
          <p:nvPr/>
        </p:nvSpPr>
        <p:spPr>
          <a:xfrm>
            <a:off x="4187952" y="2176272"/>
            <a:ext cx="128016" cy="128016"/>
          </a:xfrm>
          <a:prstGeom prst="ellipse">
            <a:avLst/>
          </a:prstGeom>
          <a:solidFill>
            <a:srgbClr val="8C3A2B"/>
          </a:solidFill>
          <a:ln w="12700">
            <a:solidFill>
              <a:srgbClr val="8C3A2B"/>
            </a:solidFill>
            <a:prstDash val="solid"/>
          </a:ln>
        </p:spPr>
      </p:sp>
      <p:sp>
        <p:nvSpPr>
          <p:cNvPr id="18" name="Shape 16"/>
          <p:cNvSpPr/>
          <p:nvPr/>
        </p:nvSpPr>
        <p:spPr>
          <a:xfrm flipH="1">
            <a:off x="4069080" y="2304288"/>
            <a:ext cx="182880" cy="1563624"/>
          </a:xfrm>
          <a:prstGeom prst="line">
            <a:avLst/>
          </a:prstGeom>
          <a:noFill/>
          <a:ln w="12700">
            <a:solidFill>
              <a:srgbClr val="8C3A2B"/>
            </a:solidFill>
            <a:prstDash val="solid"/>
          </a:ln>
        </p:spPr>
      </p:sp>
      <p:sp>
        <p:nvSpPr>
          <p:cNvPr id="19" name="Shape 17"/>
          <p:cNvSpPr/>
          <p:nvPr/>
        </p:nvSpPr>
        <p:spPr>
          <a:xfrm>
            <a:off x="4251960" y="2304288"/>
            <a:ext cx="457200" cy="1563624"/>
          </a:xfrm>
          <a:prstGeom prst="line">
            <a:avLst/>
          </a:prstGeom>
          <a:noFill/>
          <a:ln w="12700">
            <a:solidFill>
              <a:srgbClr val="8C3A2B"/>
            </a:solidFill>
            <a:prstDash val="solid"/>
          </a:ln>
        </p:spPr>
      </p:sp>
      <p:sp>
        <p:nvSpPr>
          <p:cNvPr id="20" name="Shape 18"/>
          <p:cNvSpPr/>
          <p:nvPr/>
        </p:nvSpPr>
        <p:spPr>
          <a:xfrm>
            <a:off x="5696712" y="2176272"/>
            <a:ext cx="128016" cy="128016"/>
          </a:xfrm>
          <a:prstGeom prst="ellipse">
            <a:avLst/>
          </a:prstGeom>
          <a:solidFill>
            <a:srgbClr val="7A7A82"/>
          </a:solidFill>
          <a:ln w="12700">
            <a:solidFill>
              <a:srgbClr val="7A7A82"/>
            </a:solidFill>
            <a:prstDash val="solid"/>
          </a:ln>
        </p:spPr>
      </p:sp>
      <p:sp>
        <p:nvSpPr>
          <p:cNvPr id="21" name="Shape 19"/>
          <p:cNvSpPr/>
          <p:nvPr/>
        </p:nvSpPr>
        <p:spPr>
          <a:xfrm>
            <a:off x="5614416" y="2423160"/>
            <a:ext cx="292608" cy="292608"/>
          </a:xfrm>
          <a:prstGeom prst="ellipse">
            <a:avLst/>
          </a:prstGeom>
          <a:ln w="12700">
            <a:solidFill>
              <a:srgbClr val="7A7A82"/>
            </a:solidFill>
            <a:prstDash val="solid"/>
          </a:ln>
        </p:spPr>
      </p:sp>
      <p:sp>
        <p:nvSpPr>
          <p:cNvPr id="22" name="Shape 20"/>
          <p:cNvSpPr/>
          <p:nvPr/>
        </p:nvSpPr>
        <p:spPr>
          <a:xfrm>
            <a:off x="6793992" y="2176272"/>
            <a:ext cx="128016" cy="128016"/>
          </a:xfrm>
          <a:prstGeom prst="ellipse">
            <a:avLst/>
          </a:prstGeom>
          <a:solidFill>
            <a:srgbClr val="7A7A82"/>
          </a:solidFill>
          <a:ln w="12700">
            <a:solidFill>
              <a:srgbClr val="7A7A82"/>
            </a:solidFill>
            <a:prstDash val="solid"/>
          </a:ln>
        </p:spPr>
      </p:sp>
      <p:sp>
        <p:nvSpPr>
          <p:cNvPr id="23" name="Shape 21"/>
          <p:cNvSpPr/>
          <p:nvPr/>
        </p:nvSpPr>
        <p:spPr>
          <a:xfrm>
            <a:off x="6858000" y="2304288"/>
            <a:ext cx="502920" cy="1417320"/>
          </a:xfrm>
          <a:prstGeom prst="line">
            <a:avLst/>
          </a:prstGeom>
          <a:noFill/>
          <a:ln w="11430">
            <a:solidFill>
              <a:srgbClr val="C9C9CF"/>
            </a:solidFill>
            <a:prstDash val="dot"/>
          </a:ln>
        </p:spPr>
      </p:sp>
      <p:sp>
        <p:nvSpPr>
          <p:cNvPr id="24" name="Shape 22"/>
          <p:cNvSpPr/>
          <p:nvPr/>
        </p:nvSpPr>
        <p:spPr>
          <a:xfrm>
            <a:off x="7662672" y="2148840"/>
            <a:ext cx="201168" cy="201168"/>
          </a:xfrm>
          <a:prstGeom prst="ellipse">
            <a:avLst/>
          </a:prstGeom>
          <a:solidFill>
            <a:srgbClr val="7A7A82"/>
          </a:solidFill>
          <a:ln w="12700">
            <a:solidFill>
              <a:srgbClr val="7A7A82"/>
            </a:solidFill>
            <a:prstDash val="solid"/>
          </a:ln>
        </p:spPr>
      </p:sp>
      <p:sp>
        <p:nvSpPr>
          <p:cNvPr id="25" name="Text 23"/>
          <p:cNvSpPr txBox="1"/>
          <p:nvPr/>
        </p:nvSpPr>
        <p:spPr>
          <a:xfrm>
            <a:off x="7662672" y="2148840"/>
            <a:ext cx="201168"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1</a:t>
            </a:r>
            <a:endParaRPr lang="en-US" sz="750" dirty="0"/>
          </a:p>
        </p:txBody>
      </p:sp>
      <p:sp>
        <p:nvSpPr>
          <p:cNvPr id="26" name="Text 24"/>
          <p:cNvSpPr txBox="1"/>
          <p:nvPr/>
        </p:nvSpPr>
        <p:spPr>
          <a:xfrm>
            <a:off x="7991856" y="2121408"/>
            <a:ext cx="3529584" cy="237744"/>
          </a:xfrm>
          <a:prstGeom prst="rect">
            <a:avLst/>
          </a:prstGeom>
          <a:noFill/>
          <a:ln/>
        </p:spPr>
        <p:txBody>
          <a:bodyPr wrap="square" lIns="0" tIns="0" rIns="0" bIns="0" rtlCol="0" anchor="ctr"/>
          <a:lstStyle/>
          <a:p>
            <a:pPr indent="0" marL="0">
              <a:buNone/>
            </a:pPr>
            <a:r>
              <a:rPr lang="en-US" sz="1050" b="1" dirty="0">
                <a:solidFill>
                  <a:srgbClr val="16161A"/>
                </a:solidFill>
                <a:latin typeface="Calibri" pitchFamily="34" charset="0"/>
                <a:ea typeface="Calibri" pitchFamily="34" charset="-122"/>
                <a:cs typeface="Calibri" pitchFamily="34" charset="-120"/>
              </a:rPr>
              <a:t>Genel</a:t>
            </a:r>
            <a:endParaRPr lang="en-US" sz="1050" dirty="0"/>
          </a:p>
        </p:txBody>
      </p:sp>
      <p:sp>
        <p:nvSpPr>
          <p:cNvPr id="27" name="Text 25"/>
          <p:cNvSpPr txBox="1"/>
          <p:nvPr/>
        </p:nvSpPr>
        <p:spPr>
          <a:xfrm>
            <a:off x="7991856" y="2359152"/>
            <a:ext cx="3529584" cy="384048"/>
          </a:xfrm>
          <a:prstGeom prst="rect">
            <a:avLst/>
          </a:prstGeom>
          <a:noFill/>
          <a:ln/>
        </p:spPr>
        <p:txBody>
          <a:bodyPr wrap="square" lIns="0" tIns="0" rIns="0" bIns="0" rtlCol="0" anchor="ctr"/>
          <a:lstStyle/>
          <a:p>
            <a:pPr indent="0" marL="0">
              <a:lnSpc>
                <a:spcPts val="1200"/>
              </a:lnSpc>
              <a:buNone/>
            </a:pPr>
            <a:r>
              <a:rPr lang="en-US" sz="1000" dirty="0">
                <a:solidFill>
                  <a:srgbClr val="7A7A82"/>
                </a:solidFill>
                <a:latin typeface="Calibri" pitchFamily="34" charset="0"/>
                <a:ea typeface="Calibri" pitchFamily="34" charset="-122"/>
                <a:cs typeface="Calibri" pitchFamily="34" charset="-120"/>
              </a:rPr>
              <a:t>Mekânın temel görülebilirliği — yaygın · düz</a:t>
            </a:r>
            <a:endParaRPr lang="en-US" sz="1000" dirty="0"/>
          </a:p>
        </p:txBody>
      </p:sp>
      <p:sp>
        <p:nvSpPr>
          <p:cNvPr id="28" name="Shape 26"/>
          <p:cNvSpPr/>
          <p:nvPr/>
        </p:nvSpPr>
        <p:spPr>
          <a:xfrm>
            <a:off x="7662672" y="2825496"/>
            <a:ext cx="201168" cy="201168"/>
          </a:xfrm>
          <a:prstGeom prst="ellipse">
            <a:avLst/>
          </a:prstGeom>
          <a:solidFill>
            <a:srgbClr val="8C3A2B"/>
          </a:solidFill>
          <a:ln w="12700">
            <a:solidFill>
              <a:srgbClr val="8C3A2B"/>
            </a:solidFill>
            <a:prstDash val="solid"/>
          </a:ln>
        </p:spPr>
      </p:sp>
      <p:sp>
        <p:nvSpPr>
          <p:cNvPr id="29" name="Text 27"/>
          <p:cNvSpPr txBox="1"/>
          <p:nvPr/>
        </p:nvSpPr>
        <p:spPr>
          <a:xfrm>
            <a:off x="7662672" y="2825496"/>
            <a:ext cx="201168"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2</a:t>
            </a:r>
            <a:endParaRPr lang="en-US" sz="750" dirty="0"/>
          </a:p>
        </p:txBody>
      </p:sp>
      <p:sp>
        <p:nvSpPr>
          <p:cNvPr id="30" name="Text 28"/>
          <p:cNvSpPr txBox="1"/>
          <p:nvPr/>
        </p:nvSpPr>
        <p:spPr>
          <a:xfrm>
            <a:off x="7991856" y="2798064"/>
            <a:ext cx="3529584" cy="237744"/>
          </a:xfrm>
          <a:prstGeom prst="rect">
            <a:avLst/>
          </a:prstGeom>
          <a:noFill/>
          <a:ln/>
        </p:spPr>
        <p:txBody>
          <a:bodyPr wrap="square" lIns="0" tIns="0" rIns="0" bIns="0" rtlCol="0" anchor="ctr"/>
          <a:lstStyle/>
          <a:p>
            <a:pPr indent="0" marL="0">
              <a:buNone/>
            </a:pPr>
            <a:r>
              <a:rPr lang="en-US" sz="1050" b="1" dirty="0">
                <a:solidFill>
                  <a:srgbClr val="16161A"/>
                </a:solidFill>
                <a:latin typeface="Calibri" pitchFamily="34" charset="0"/>
                <a:ea typeface="Calibri" pitchFamily="34" charset="-122"/>
                <a:cs typeface="Calibri" pitchFamily="34" charset="-120"/>
              </a:rPr>
              <a:t>Vurgu</a:t>
            </a:r>
            <a:endParaRPr lang="en-US" sz="1050" dirty="0"/>
          </a:p>
        </p:txBody>
      </p:sp>
      <p:sp>
        <p:nvSpPr>
          <p:cNvPr id="31" name="Text 29"/>
          <p:cNvSpPr txBox="1"/>
          <p:nvPr/>
        </p:nvSpPr>
        <p:spPr>
          <a:xfrm>
            <a:off x="7991856" y="3035808"/>
            <a:ext cx="3529584" cy="384048"/>
          </a:xfrm>
          <a:prstGeom prst="rect">
            <a:avLst/>
          </a:prstGeom>
          <a:noFill/>
          <a:ln/>
        </p:spPr>
        <p:txBody>
          <a:bodyPr wrap="square" lIns="0" tIns="0" rIns="0" bIns="0" rtlCol="0" anchor="ctr"/>
          <a:lstStyle/>
          <a:p>
            <a:pPr indent="0" marL="0">
              <a:lnSpc>
                <a:spcPts val="1200"/>
              </a:lnSpc>
              <a:buNone/>
            </a:pPr>
            <a:r>
              <a:rPr lang="en-US" sz="1000" dirty="0">
                <a:solidFill>
                  <a:srgbClr val="7A7A82"/>
                </a:solidFill>
                <a:latin typeface="Calibri" pitchFamily="34" charset="0"/>
                <a:ea typeface="Calibri" pitchFamily="34" charset="-122"/>
                <a:cs typeface="Calibri" pitchFamily="34" charset="-120"/>
              </a:rPr>
              <a:t>Ürünü öne çıkarır — genel ışığın 3–5 katı — yönlü · dar açı</a:t>
            </a:r>
            <a:endParaRPr lang="en-US" sz="1000" dirty="0"/>
          </a:p>
        </p:txBody>
      </p:sp>
      <p:sp>
        <p:nvSpPr>
          <p:cNvPr id="32" name="Shape 30"/>
          <p:cNvSpPr/>
          <p:nvPr/>
        </p:nvSpPr>
        <p:spPr>
          <a:xfrm>
            <a:off x="7662672" y="3502152"/>
            <a:ext cx="201168" cy="201168"/>
          </a:xfrm>
          <a:prstGeom prst="ellipse">
            <a:avLst/>
          </a:prstGeom>
          <a:solidFill>
            <a:srgbClr val="7A7A82"/>
          </a:solidFill>
          <a:ln w="12700">
            <a:solidFill>
              <a:srgbClr val="7A7A82"/>
            </a:solidFill>
            <a:prstDash val="solid"/>
          </a:ln>
        </p:spPr>
      </p:sp>
      <p:sp>
        <p:nvSpPr>
          <p:cNvPr id="33" name="Text 31"/>
          <p:cNvSpPr txBox="1"/>
          <p:nvPr/>
        </p:nvSpPr>
        <p:spPr>
          <a:xfrm>
            <a:off x="7662672" y="3502152"/>
            <a:ext cx="201168"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3</a:t>
            </a:r>
            <a:endParaRPr lang="en-US" sz="750" dirty="0"/>
          </a:p>
        </p:txBody>
      </p:sp>
      <p:sp>
        <p:nvSpPr>
          <p:cNvPr id="34" name="Text 32"/>
          <p:cNvSpPr txBox="1"/>
          <p:nvPr/>
        </p:nvSpPr>
        <p:spPr>
          <a:xfrm>
            <a:off x="7991856" y="3474720"/>
            <a:ext cx="3529584" cy="237744"/>
          </a:xfrm>
          <a:prstGeom prst="rect">
            <a:avLst/>
          </a:prstGeom>
          <a:noFill/>
          <a:ln/>
        </p:spPr>
        <p:txBody>
          <a:bodyPr wrap="square" lIns="0" tIns="0" rIns="0" bIns="0" rtlCol="0" anchor="ctr"/>
          <a:lstStyle/>
          <a:p>
            <a:pPr indent="0" marL="0">
              <a:buNone/>
            </a:pPr>
            <a:r>
              <a:rPr lang="en-US" sz="1050" b="1" dirty="0">
                <a:solidFill>
                  <a:srgbClr val="16161A"/>
                </a:solidFill>
                <a:latin typeface="Calibri" pitchFamily="34" charset="0"/>
                <a:ea typeface="Calibri" pitchFamily="34" charset="-122"/>
                <a:cs typeface="Calibri" pitchFamily="34" charset="-120"/>
              </a:rPr>
              <a:t>Dekorati̇f</a:t>
            </a:r>
            <a:endParaRPr lang="en-US" sz="1050" dirty="0"/>
          </a:p>
        </p:txBody>
      </p:sp>
      <p:sp>
        <p:nvSpPr>
          <p:cNvPr id="35" name="Text 33"/>
          <p:cNvSpPr txBox="1"/>
          <p:nvPr/>
        </p:nvSpPr>
        <p:spPr>
          <a:xfrm>
            <a:off x="7991856" y="3712464"/>
            <a:ext cx="3529584" cy="384048"/>
          </a:xfrm>
          <a:prstGeom prst="rect">
            <a:avLst/>
          </a:prstGeom>
          <a:noFill/>
          <a:ln/>
        </p:spPr>
        <p:txBody>
          <a:bodyPr wrap="square" lIns="0" tIns="0" rIns="0" bIns="0" rtlCol="0" anchor="ctr"/>
          <a:lstStyle/>
          <a:p>
            <a:pPr indent="0" marL="0">
              <a:lnSpc>
                <a:spcPts val="1200"/>
              </a:lnSpc>
              <a:buNone/>
            </a:pPr>
            <a:r>
              <a:rPr lang="en-US" sz="1000" dirty="0">
                <a:solidFill>
                  <a:srgbClr val="7A7A82"/>
                </a:solidFill>
                <a:latin typeface="Calibri" pitchFamily="34" charset="0"/>
                <a:ea typeface="Calibri" pitchFamily="34" charset="-122"/>
                <a:cs typeface="Calibri" pitchFamily="34" charset="-120"/>
              </a:rPr>
              <a:t>Kendisi bir nesne; marka kişiliğini taşır — görünür armatür</a:t>
            </a:r>
            <a:endParaRPr lang="en-US" sz="1000" dirty="0"/>
          </a:p>
        </p:txBody>
      </p:sp>
      <p:sp>
        <p:nvSpPr>
          <p:cNvPr id="36" name="Shape 34"/>
          <p:cNvSpPr/>
          <p:nvPr/>
        </p:nvSpPr>
        <p:spPr>
          <a:xfrm>
            <a:off x="7662672" y="4178808"/>
            <a:ext cx="201168" cy="201168"/>
          </a:xfrm>
          <a:prstGeom prst="ellipse">
            <a:avLst/>
          </a:prstGeom>
          <a:solidFill>
            <a:srgbClr val="7A7A82"/>
          </a:solidFill>
          <a:ln w="12700">
            <a:solidFill>
              <a:srgbClr val="7A7A82"/>
            </a:solidFill>
            <a:prstDash val="solid"/>
          </a:ln>
        </p:spPr>
      </p:sp>
      <p:sp>
        <p:nvSpPr>
          <p:cNvPr id="37" name="Text 35"/>
          <p:cNvSpPr txBox="1"/>
          <p:nvPr/>
        </p:nvSpPr>
        <p:spPr>
          <a:xfrm>
            <a:off x="7662672" y="4178808"/>
            <a:ext cx="201168"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4</a:t>
            </a:r>
            <a:endParaRPr lang="en-US" sz="750" dirty="0"/>
          </a:p>
        </p:txBody>
      </p:sp>
      <p:sp>
        <p:nvSpPr>
          <p:cNvPr id="38" name="Text 36"/>
          <p:cNvSpPr txBox="1"/>
          <p:nvPr/>
        </p:nvSpPr>
        <p:spPr>
          <a:xfrm>
            <a:off x="7991856" y="4151376"/>
            <a:ext cx="3529584" cy="237744"/>
          </a:xfrm>
          <a:prstGeom prst="rect">
            <a:avLst/>
          </a:prstGeom>
          <a:noFill/>
          <a:ln/>
        </p:spPr>
        <p:txBody>
          <a:bodyPr wrap="square" lIns="0" tIns="0" rIns="0" bIns="0" rtlCol="0" anchor="ctr"/>
          <a:lstStyle/>
          <a:p>
            <a:pPr indent="0" marL="0">
              <a:buNone/>
            </a:pPr>
            <a:r>
              <a:rPr lang="en-US" sz="1050" b="1" dirty="0">
                <a:solidFill>
                  <a:srgbClr val="16161A"/>
                </a:solidFill>
                <a:latin typeface="Calibri" pitchFamily="34" charset="0"/>
                <a:ea typeface="Calibri" pitchFamily="34" charset="-122"/>
                <a:cs typeface="Calibri" pitchFamily="34" charset="-120"/>
              </a:rPr>
              <a:t>Vi̇tri̇n</a:t>
            </a:r>
            <a:endParaRPr lang="en-US" sz="1050" dirty="0"/>
          </a:p>
        </p:txBody>
      </p:sp>
      <p:sp>
        <p:nvSpPr>
          <p:cNvPr id="39" name="Text 37"/>
          <p:cNvSpPr txBox="1"/>
          <p:nvPr/>
        </p:nvSpPr>
        <p:spPr>
          <a:xfrm>
            <a:off x="7991856" y="4389120"/>
            <a:ext cx="3529584" cy="384048"/>
          </a:xfrm>
          <a:prstGeom prst="rect">
            <a:avLst/>
          </a:prstGeom>
          <a:noFill/>
          <a:ln/>
        </p:spPr>
        <p:txBody>
          <a:bodyPr wrap="square" lIns="0" tIns="0" rIns="0" bIns="0" rtlCol="0" anchor="ctr"/>
          <a:lstStyle/>
          <a:p>
            <a:pPr indent="0" marL="0">
              <a:lnSpc>
                <a:spcPts val="1200"/>
              </a:lnSpc>
              <a:buNone/>
            </a:pPr>
            <a:r>
              <a:rPr lang="en-US" sz="1000" dirty="0">
                <a:solidFill>
                  <a:srgbClr val="7A7A82"/>
                </a:solidFill>
                <a:latin typeface="Calibri" pitchFamily="34" charset="0"/>
                <a:ea typeface="Calibri" pitchFamily="34" charset="-122"/>
                <a:cs typeface="Calibri" pitchFamily="34" charset="-120"/>
              </a:rPr>
              <a:t>Dışarıdan okunur; gündüz ve gece ayrı hesaplanır — cepheye yönlü</a:t>
            </a:r>
            <a:endParaRPr lang="en-US" sz="1000" dirty="0"/>
          </a:p>
        </p:txBody>
      </p:sp>
      <p:sp>
        <p:nvSpPr>
          <p:cNvPr id="40" name="Text 38"/>
          <p:cNvSpPr txBox="1"/>
          <p:nvPr/>
        </p:nvSpPr>
        <p:spPr>
          <a:xfrm>
            <a:off x="777240" y="5120640"/>
            <a:ext cx="10424160" cy="960120"/>
          </a:xfrm>
          <a:prstGeom prst="rect">
            <a:avLst/>
          </a:prstGeom>
          <a:noFill/>
          <a:ln/>
        </p:spPr>
        <p:txBody>
          <a:bodyPr wrap="square" lIns="0" tIns="0" rIns="0" bIns="0" rtlCol="0" anchor="ctr"/>
          <a:lstStyle/>
          <a:p>
            <a:pPr indent="0" marL="0">
              <a:lnSpc>
                <a:spcPts val="2300"/>
              </a:lnSpc>
              <a:buNone/>
            </a:pPr>
            <a:r>
              <a:rPr lang="en-US" sz="1350" dirty="0">
                <a:solidFill>
                  <a:srgbClr val="2B2B31"/>
                </a:solidFill>
                <a:latin typeface="Cambria" pitchFamily="34" charset="0"/>
                <a:ea typeface="Cambria" pitchFamily="34" charset="-122"/>
                <a:cs typeface="Cambria" pitchFamily="34" charset="-120"/>
              </a:rPr>
              <a:t>Tek bir genel ışıkla mağaza çözülmez. Vurgunun etkisi mutlak parlaklıktan değil, çevresiyle arasındaki farktan doğar (Petermans &amp; Van Cleempoel, 2009). En sık yapılan hata, aydınlatmayı görselleştirme aşamasında düşünmektir: ışık plan ve kesitle birlikte kurulur, tavan planında karşılığı olmayan bir ışık fikri henüz tasarlanmamıştır.</a:t>
            </a:r>
            <a:endParaRPr lang="en-US" sz="1350" dirty="0"/>
          </a:p>
        </p:txBody>
      </p:sp>
      <p:sp>
        <p:nvSpPr>
          <p:cNvPr id="41" name="Text 39"/>
          <p:cNvSpPr txBox="1"/>
          <p:nvPr/>
        </p:nvSpPr>
        <p:spPr>
          <a:xfrm>
            <a:off x="868680" y="4928616"/>
            <a:ext cx="6400800" cy="274320"/>
          </a:xfrm>
          <a:prstGeom prst="rect">
            <a:avLst/>
          </a:prstGeom>
          <a:noFill/>
          <a:ln/>
        </p:spPr>
        <p:txBody>
          <a:bodyPr wrap="square" lIns="0" tIns="0" rIns="0" bIns="0" rtlCol="0" anchor="ctr"/>
          <a:lstStyle/>
          <a:p>
            <a:pPr algn="ctr" indent="0" marL="0">
              <a:lnSpc>
                <a:spcPts val="1200"/>
              </a:lnSpc>
              <a:buNone/>
            </a:pPr>
            <a:r>
              <a:rPr lang="en-US" sz="900" dirty="0">
                <a:solidFill>
                  <a:srgbClr val="A6A6AC"/>
                </a:solidFill>
                <a:latin typeface="Calibri" pitchFamily="34" charset="0"/>
                <a:ea typeface="Calibri" pitchFamily="34" charset="-122"/>
                <a:cs typeface="Calibri" pitchFamily="34" charset="-120"/>
              </a:rPr>
              <a:t>şematik kesit</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CFCFA"/>
        </a:solidFill>
      </p:bgPr>
    </p:bg>
    <p:spTree>
      <p:nvGrpSpPr>
        <p:cNvPr id="1" name=""/>
        <p:cNvGrpSpPr/>
        <p:nvPr/>
      </p:nvGrpSpPr>
      <p:grpSpPr>
        <a:xfrm>
          <a:off x="0" y="0"/>
          <a:ext cx="0" cy="0"/>
          <a:chOff x="0" y="0"/>
          <a:chExt cx="0" cy="0"/>
        </a:xfrm>
      </p:grpSpPr>
      <p:sp>
        <p:nvSpPr>
          <p:cNvPr id="2" name="Text 0"/>
          <p:cNvSpPr txBox="1"/>
          <p:nvPr/>
        </p:nvSpPr>
        <p:spPr>
          <a:xfrm>
            <a:off x="777240" y="475488"/>
            <a:ext cx="9601200" cy="237744"/>
          </a:xfrm>
          <a:prstGeom prst="rect">
            <a:avLst/>
          </a:prstGeom>
          <a:noFill/>
          <a:ln/>
        </p:spPr>
        <p:txBody>
          <a:bodyPr wrap="square" lIns="0" tIns="0" rIns="0" bIns="0" rtlCol="0" anchor="ctr"/>
          <a:lstStyle/>
          <a:p>
            <a:pPr indent="0" marL="0">
              <a:buNone/>
            </a:pPr>
            <a:r>
              <a:rPr lang="en-US" sz="950" b="1" spc="260" kern="0" dirty="0">
                <a:solidFill>
                  <a:srgbClr val="7A7A82"/>
                </a:solidFill>
                <a:latin typeface="Calibri" pitchFamily="34" charset="0"/>
                <a:ea typeface="Calibri" pitchFamily="34" charset="-122"/>
                <a:cs typeface="Calibri" pitchFamily="34" charset="-120"/>
              </a:rPr>
              <a:t>VIII · IŞIK VE MALZEME</a:t>
            </a:r>
            <a:endParaRPr lang="en-US" sz="950" dirty="0"/>
          </a:p>
        </p:txBody>
      </p:sp>
      <p:sp>
        <p:nvSpPr>
          <p:cNvPr id="3" name="Text 1"/>
          <p:cNvSpPr txBox="1"/>
          <p:nvPr/>
        </p:nvSpPr>
        <p:spPr>
          <a:xfrm>
            <a:off x="777240" y="822960"/>
            <a:ext cx="10424160" cy="731520"/>
          </a:xfrm>
          <a:prstGeom prst="rect">
            <a:avLst/>
          </a:prstGeom>
          <a:noFill/>
          <a:ln/>
        </p:spPr>
        <p:txBody>
          <a:bodyPr wrap="square" lIns="0" tIns="0" rIns="0" bIns="0" rtlCol="0" anchor="ctr"/>
          <a:lstStyle/>
          <a:p>
            <a:pPr indent="0" marL="0">
              <a:lnSpc>
                <a:spcPts val="3400"/>
              </a:lnSpc>
              <a:buNone/>
            </a:pPr>
            <a:r>
              <a:rPr lang="en-US" sz="2900" b="1" dirty="0">
                <a:solidFill>
                  <a:srgbClr val="16161A"/>
                </a:solidFill>
                <a:latin typeface="Cambria" pitchFamily="34" charset="0"/>
                <a:ea typeface="Cambria" pitchFamily="34" charset="-122"/>
                <a:cs typeface="Cambria" pitchFamily="34" charset="-120"/>
              </a:rPr>
              <a:t>Malzeme: dokunulan, dokunulmayan, değişen</a:t>
            </a:r>
            <a:endParaRPr lang="en-US" sz="2900" dirty="0"/>
          </a:p>
        </p:txBody>
      </p:sp>
      <p:sp>
        <p:nvSpPr>
          <p:cNvPr id="4" name="Text 2"/>
          <p:cNvSpPr txBox="1"/>
          <p:nvPr/>
        </p:nvSpPr>
        <p:spPr>
          <a:xfrm>
            <a:off x="10972800" y="6355080"/>
            <a:ext cx="438912" cy="237744"/>
          </a:xfrm>
          <a:prstGeom prst="rect">
            <a:avLst/>
          </a:prstGeom>
          <a:noFill/>
          <a:ln/>
        </p:spPr>
        <p:txBody>
          <a:bodyPr wrap="square" lIns="0" tIns="0" rIns="0" bIns="0" rtlCol="0" anchor="ctr"/>
          <a:lstStyle/>
          <a:p>
            <a:pPr algn="r" indent="0" marL="0">
              <a:buNone/>
            </a:pPr>
            <a:r>
              <a:rPr lang="en-US" sz="950" dirty="0">
                <a:solidFill>
                  <a:srgbClr val="A6A6AC"/>
                </a:solidFill>
                <a:latin typeface="Calibri" pitchFamily="34" charset="0"/>
                <a:ea typeface="Calibri" pitchFamily="34" charset="-122"/>
                <a:cs typeface="Calibri" pitchFamily="34" charset="-120"/>
              </a:rPr>
              <a:t>43</a:t>
            </a:r>
            <a:endParaRPr lang="en-US" sz="950" dirty="0"/>
          </a:p>
        </p:txBody>
      </p:sp>
      <p:sp>
        <p:nvSpPr>
          <p:cNvPr id="5" name="Shape 3"/>
          <p:cNvSpPr/>
          <p:nvPr/>
        </p:nvSpPr>
        <p:spPr>
          <a:xfrm>
            <a:off x="777240" y="2057400"/>
            <a:ext cx="3246120" cy="1874520"/>
          </a:xfrm>
          <a:prstGeom prst="rect">
            <a:avLst/>
          </a:prstGeom>
          <a:ln w="9525">
            <a:solidFill>
              <a:srgbClr val="C9C9CF"/>
            </a:solidFill>
            <a:prstDash val="solid"/>
          </a:ln>
        </p:spPr>
      </p:sp>
      <p:sp>
        <p:nvSpPr>
          <p:cNvPr id="6" name="Text 4"/>
          <p:cNvSpPr txBox="1"/>
          <p:nvPr/>
        </p:nvSpPr>
        <p:spPr>
          <a:xfrm>
            <a:off x="1005840" y="2286000"/>
            <a:ext cx="2788920" cy="310896"/>
          </a:xfrm>
          <a:prstGeom prst="rect">
            <a:avLst/>
          </a:prstGeom>
          <a:noFill/>
          <a:ln/>
        </p:spPr>
        <p:txBody>
          <a:bodyPr wrap="square" lIns="0" tIns="0" rIns="0" bIns="0" rtlCol="0" anchor="ctr"/>
          <a:lstStyle/>
          <a:p>
            <a:pPr indent="0" marL="0">
              <a:buNone/>
            </a:pPr>
            <a:r>
              <a:rPr lang="en-US" sz="1100" b="1" spc="140" kern="0" dirty="0">
                <a:solidFill>
                  <a:srgbClr val="16161A"/>
                </a:solidFill>
                <a:latin typeface="Calibri" pitchFamily="34" charset="0"/>
                <a:ea typeface="Calibri" pitchFamily="34" charset="-122"/>
                <a:cs typeface="Calibri" pitchFamily="34" charset="-120"/>
              </a:rPr>
              <a:t>DOKUNULAN</a:t>
            </a:r>
            <a:endParaRPr lang="en-US" sz="1100" dirty="0"/>
          </a:p>
        </p:txBody>
      </p:sp>
      <p:sp>
        <p:nvSpPr>
          <p:cNvPr id="7" name="Text 5"/>
          <p:cNvSpPr txBox="1"/>
          <p:nvPr/>
        </p:nvSpPr>
        <p:spPr>
          <a:xfrm>
            <a:off x="1005840" y="2660904"/>
            <a:ext cx="2788920" cy="548640"/>
          </a:xfrm>
          <a:prstGeom prst="rect">
            <a:avLst/>
          </a:prstGeom>
          <a:noFill/>
          <a:ln/>
        </p:spPr>
        <p:txBody>
          <a:bodyPr wrap="square" lIns="0" tIns="0" rIns="0" bIns="0" rtlCol="0" anchor="ctr"/>
          <a:lstStyle/>
          <a:p>
            <a:pPr indent="0" marL="0">
              <a:lnSpc>
                <a:spcPts val="1800"/>
              </a:lnSpc>
              <a:buNone/>
            </a:pPr>
            <a:r>
              <a:rPr lang="en-US" sz="1300" dirty="0">
                <a:solidFill>
                  <a:srgbClr val="16161A"/>
                </a:solidFill>
                <a:latin typeface="Cambria" pitchFamily="34" charset="0"/>
                <a:ea typeface="Cambria" pitchFamily="34" charset="-122"/>
                <a:cs typeface="Cambria" pitchFamily="34" charset="-120"/>
              </a:rPr>
              <a:t>Tezgâh, kapı kolu, korkuluk, raf, kabin duvarı.</a:t>
            </a:r>
            <a:endParaRPr lang="en-US" sz="1300" dirty="0"/>
          </a:p>
        </p:txBody>
      </p:sp>
      <p:sp>
        <p:nvSpPr>
          <p:cNvPr id="8" name="Text 6"/>
          <p:cNvSpPr txBox="1"/>
          <p:nvPr/>
        </p:nvSpPr>
        <p:spPr>
          <a:xfrm>
            <a:off x="1005840" y="3227832"/>
            <a:ext cx="2788920" cy="640080"/>
          </a:xfrm>
          <a:prstGeom prst="rect">
            <a:avLst/>
          </a:prstGeom>
          <a:noFill/>
          <a:ln/>
        </p:spPr>
        <p:txBody>
          <a:bodyPr wrap="square" lIns="0" tIns="0" rIns="0" bIns="0" rtlCol="0" anchor="ctr"/>
          <a:lstStyle/>
          <a:p>
            <a:pPr indent="0" marL="0">
              <a:lnSpc>
                <a:spcPts val="1350"/>
              </a:lnSpc>
              <a:buNone/>
            </a:pPr>
            <a:r>
              <a:rPr lang="en-US" sz="1050" dirty="0">
                <a:solidFill>
                  <a:srgbClr val="7A7A82"/>
                </a:solidFill>
                <a:latin typeface="Calibri" pitchFamily="34" charset="0"/>
                <a:ea typeface="Calibri" pitchFamily="34" charset="-122"/>
                <a:cs typeface="Calibri" pitchFamily="34" charset="-120"/>
              </a:rPr>
              <a:t>Dokunsal niteliğiyle birlikte aşınma ve temizlik davranışına göre seçilir.</a:t>
            </a:r>
            <a:endParaRPr lang="en-US" sz="1050" dirty="0"/>
          </a:p>
        </p:txBody>
      </p:sp>
      <p:sp>
        <p:nvSpPr>
          <p:cNvPr id="9" name="Shape 7"/>
          <p:cNvSpPr/>
          <p:nvPr/>
        </p:nvSpPr>
        <p:spPr>
          <a:xfrm>
            <a:off x="4425696" y="2057400"/>
            <a:ext cx="3246120" cy="1874520"/>
          </a:xfrm>
          <a:prstGeom prst="rect">
            <a:avLst/>
          </a:prstGeom>
          <a:ln w="9525">
            <a:solidFill>
              <a:srgbClr val="C9C9CF"/>
            </a:solidFill>
            <a:prstDash val="solid"/>
          </a:ln>
        </p:spPr>
      </p:sp>
      <p:sp>
        <p:nvSpPr>
          <p:cNvPr id="10" name="Text 8"/>
          <p:cNvSpPr txBox="1"/>
          <p:nvPr/>
        </p:nvSpPr>
        <p:spPr>
          <a:xfrm>
            <a:off x="4654296" y="2286000"/>
            <a:ext cx="2788920" cy="310896"/>
          </a:xfrm>
          <a:prstGeom prst="rect">
            <a:avLst/>
          </a:prstGeom>
          <a:noFill/>
          <a:ln/>
        </p:spPr>
        <p:txBody>
          <a:bodyPr wrap="square" lIns="0" tIns="0" rIns="0" bIns="0" rtlCol="0" anchor="ctr"/>
          <a:lstStyle/>
          <a:p>
            <a:pPr indent="0" marL="0">
              <a:buNone/>
            </a:pPr>
            <a:r>
              <a:rPr lang="en-US" sz="1100" b="1" spc="140" kern="0" dirty="0">
                <a:solidFill>
                  <a:srgbClr val="16161A"/>
                </a:solidFill>
                <a:latin typeface="Calibri" pitchFamily="34" charset="0"/>
                <a:ea typeface="Calibri" pitchFamily="34" charset="-122"/>
                <a:cs typeface="Calibri" pitchFamily="34" charset="-120"/>
              </a:rPr>
              <a:t>DOKUNULMAYAN</a:t>
            </a:r>
            <a:endParaRPr lang="en-US" sz="1100" dirty="0"/>
          </a:p>
        </p:txBody>
      </p:sp>
      <p:sp>
        <p:nvSpPr>
          <p:cNvPr id="11" name="Text 9"/>
          <p:cNvSpPr txBox="1"/>
          <p:nvPr/>
        </p:nvSpPr>
        <p:spPr>
          <a:xfrm>
            <a:off x="4654296" y="2660904"/>
            <a:ext cx="2788920" cy="548640"/>
          </a:xfrm>
          <a:prstGeom prst="rect">
            <a:avLst/>
          </a:prstGeom>
          <a:noFill/>
          <a:ln/>
        </p:spPr>
        <p:txBody>
          <a:bodyPr wrap="square" lIns="0" tIns="0" rIns="0" bIns="0" rtlCol="0" anchor="ctr"/>
          <a:lstStyle/>
          <a:p>
            <a:pPr indent="0" marL="0">
              <a:lnSpc>
                <a:spcPts val="1800"/>
              </a:lnSpc>
              <a:buNone/>
            </a:pPr>
            <a:r>
              <a:rPr lang="en-US" sz="1300" dirty="0">
                <a:solidFill>
                  <a:srgbClr val="16161A"/>
                </a:solidFill>
                <a:latin typeface="Cambria" pitchFamily="34" charset="0"/>
                <a:ea typeface="Cambria" pitchFamily="34" charset="-122"/>
                <a:cs typeface="Cambria" pitchFamily="34" charset="-120"/>
              </a:rPr>
              <a:t>Tavan, üst duvar, uzaktaki yüzeyler.</a:t>
            </a:r>
            <a:endParaRPr lang="en-US" sz="1300" dirty="0"/>
          </a:p>
        </p:txBody>
      </p:sp>
      <p:sp>
        <p:nvSpPr>
          <p:cNvPr id="12" name="Text 10"/>
          <p:cNvSpPr txBox="1"/>
          <p:nvPr/>
        </p:nvSpPr>
        <p:spPr>
          <a:xfrm>
            <a:off x="4654296" y="3227832"/>
            <a:ext cx="2788920" cy="640080"/>
          </a:xfrm>
          <a:prstGeom prst="rect">
            <a:avLst/>
          </a:prstGeom>
          <a:noFill/>
          <a:ln/>
        </p:spPr>
        <p:txBody>
          <a:bodyPr wrap="square" lIns="0" tIns="0" rIns="0" bIns="0" rtlCol="0" anchor="ctr"/>
          <a:lstStyle/>
          <a:p>
            <a:pPr indent="0" marL="0">
              <a:lnSpc>
                <a:spcPts val="1350"/>
              </a:lnSpc>
              <a:buNone/>
            </a:pPr>
            <a:r>
              <a:rPr lang="en-US" sz="1050" dirty="0">
                <a:solidFill>
                  <a:srgbClr val="7A7A82"/>
                </a:solidFill>
                <a:latin typeface="Calibri" pitchFamily="34" charset="0"/>
                <a:ea typeface="Calibri" pitchFamily="34" charset="-122"/>
                <a:cs typeface="Calibri" pitchFamily="34" charset="-120"/>
              </a:rPr>
              <a:t>Öncelikle görsel ve akustik rolüyle değerlendirilir; maliyet burada dengelenir.</a:t>
            </a:r>
            <a:endParaRPr lang="en-US" sz="1050" dirty="0"/>
          </a:p>
        </p:txBody>
      </p:sp>
      <p:sp>
        <p:nvSpPr>
          <p:cNvPr id="13" name="Shape 11"/>
          <p:cNvSpPr/>
          <p:nvPr/>
        </p:nvSpPr>
        <p:spPr>
          <a:xfrm>
            <a:off x="8074152" y="2057400"/>
            <a:ext cx="3246120" cy="1874520"/>
          </a:xfrm>
          <a:prstGeom prst="rect">
            <a:avLst/>
          </a:prstGeom>
          <a:solidFill>
            <a:srgbClr val="F6EAE6"/>
          </a:solidFill>
          <a:ln w="15875">
            <a:solidFill>
              <a:srgbClr val="8C3A2B"/>
            </a:solidFill>
            <a:prstDash val="solid"/>
          </a:ln>
        </p:spPr>
      </p:sp>
      <p:sp>
        <p:nvSpPr>
          <p:cNvPr id="14" name="Text 12"/>
          <p:cNvSpPr txBox="1"/>
          <p:nvPr/>
        </p:nvSpPr>
        <p:spPr>
          <a:xfrm>
            <a:off x="8302752" y="2286000"/>
            <a:ext cx="2788920" cy="310896"/>
          </a:xfrm>
          <a:prstGeom prst="rect">
            <a:avLst/>
          </a:prstGeom>
          <a:noFill/>
          <a:ln/>
        </p:spPr>
        <p:txBody>
          <a:bodyPr wrap="square" lIns="0" tIns="0" rIns="0" bIns="0" rtlCol="0" anchor="ctr"/>
          <a:lstStyle/>
          <a:p>
            <a:pPr indent="0" marL="0">
              <a:buNone/>
            </a:pPr>
            <a:r>
              <a:rPr lang="en-US" sz="1100" b="1" spc="140" kern="0" dirty="0">
                <a:solidFill>
                  <a:srgbClr val="8C3A2B"/>
                </a:solidFill>
                <a:latin typeface="Calibri" pitchFamily="34" charset="0"/>
                <a:ea typeface="Calibri" pitchFamily="34" charset="-122"/>
                <a:cs typeface="Calibri" pitchFamily="34" charset="-120"/>
              </a:rPr>
              <a:t>DEĞİŞEN</a:t>
            </a:r>
            <a:endParaRPr lang="en-US" sz="1100" dirty="0"/>
          </a:p>
        </p:txBody>
      </p:sp>
      <p:sp>
        <p:nvSpPr>
          <p:cNvPr id="15" name="Text 13"/>
          <p:cNvSpPr txBox="1"/>
          <p:nvPr/>
        </p:nvSpPr>
        <p:spPr>
          <a:xfrm>
            <a:off x="8302752" y="2660904"/>
            <a:ext cx="2788920" cy="548640"/>
          </a:xfrm>
          <a:prstGeom prst="rect">
            <a:avLst/>
          </a:prstGeom>
          <a:noFill/>
          <a:ln/>
        </p:spPr>
        <p:txBody>
          <a:bodyPr wrap="square" lIns="0" tIns="0" rIns="0" bIns="0" rtlCol="0" anchor="ctr"/>
          <a:lstStyle/>
          <a:p>
            <a:pPr indent="0" marL="0">
              <a:lnSpc>
                <a:spcPts val="1800"/>
              </a:lnSpc>
              <a:buNone/>
            </a:pPr>
            <a:r>
              <a:rPr lang="en-US" sz="1300" dirty="0">
                <a:solidFill>
                  <a:srgbClr val="16161A"/>
                </a:solidFill>
                <a:latin typeface="Cambria" pitchFamily="34" charset="0"/>
                <a:ea typeface="Cambria" pitchFamily="34" charset="-122"/>
                <a:cs typeface="Cambria" pitchFamily="34" charset="-120"/>
              </a:rPr>
              <a:t>Teşhir birimleri, kampanya yüzeyleri, vitrin arkalığı.</a:t>
            </a:r>
            <a:endParaRPr lang="en-US" sz="1300" dirty="0"/>
          </a:p>
        </p:txBody>
      </p:sp>
      <p:sp>
        <p:nvSpPr>
          <p:cNvPr id="16" name="Text 14"/>
          <p:cNvSpPr txBox="1"/>
          <p:nvPr/>
        </p:nvSpPr>
        <p:spPr>
          <a:xfrm>
            <a:off x="8302752" y="3227832"/>
            <a:ext cx="2788920" cy="640080"/>
          </a:xfrm>
          <a:prstGeom prst="rect">
            <a:avLst/>
          </a:prstGeom>
          <a:noFill/>
          <a:ln/>
        </p:spPr>
        <p:txBody>
          <a:bodyPr wrap="square" lIns="0" tIns="0" rIns="0" bIns="0" rtlCol="0" anchor="ctr"/>
          <a:lstStyle/>
          <a:p>
            <a:pPr indent="0" marL="0">
              <a:lnSpc>
                <a:spcPts val="1350"/>
              </a:lnSpc>
              <a:buNone/>
            </a:pPr>
            <a:r>
              <a:rPr lang="en-US" sz="1050" dirty="0">
                <a:solidFill>
                  <a:srgbClr val="7A7A82"/>
                </a:solidFill>
                <a:latin typeface="Calibri" pitchFamily="34" charset="0"/>
                <a:ea typeface="Calibri" pitchFamily="34" charset="-122"/>
                <a:cs typeface="Calibri" pitchFamily="34" charset="-120"/>
              </a:rPr>
              <a:t>Sökülebilirlik, parça değiştirilebilirliği ve ikinci kullanım ömrü belirleyicidir.</a:t>
            </a:r>
            <a:endParaRPr lang="en-US" sz="1050" dirty="0"/>
          </a:p>
        </p:txBody>
      </p:sp>
      <p:sp>
        <p:nvSpPr>
          <p:cNvPr id="17" name="Text 15"/>
          <p:cNvSpPr txBox="1"/>
          <p:nvPr/>
        </p:nvSpPr>
        <p:spPr>
          <a:xfrm>
            <a:off x="777240" y="4343400"/>
            <a:ext cx="5029200" cy="1737360"/>
          </a:xfrm>
          <a:prstGeom prst="rect">
            <a:avLst/>
          </a:prstGeom>
          <a:noFill/>
          <a:ln/>
        </p:spPr>
        <p:txBody>
          <a:bodyPr wrap="square" lIns="0" tIns="0" rIns="0" bIns="0" rtlCol="0" anchor="ctr"/>
          <a:lstStyle/>
          <a:p>
            <a:pPr indent="0" marL="0">
              <a:lnSpc>
                <a:spcPts val="2300"/>
              </a:lnSpc>
              <a:buNone/>
            </a:pPr>
            <a:r>
              <a:rPr lang="en-US" sz="1350" dirty="0">
                <a:solidFill>
                  <a:srgbClr val="2B2B31"/>
                </a:solidFill>
                <a:latin typeface="Cambria" pitchFamily="34" charset="0"/>
                <a:ea typeface="Cambria" pitchFamily="34" charset="-122"/>
                <a:cs typeface="Cambria" pitchFamily="34" charset="-120"/>
              </a:rPr>
              <a:t>Malzeme mağazada iki iş görür: markanın dilini kurar ve günlük kullanımın yükünü taşır. Üçüncü bir ölçüt zamandır — mağaza iç mekânları diğer mekân tiplerine göre çok daha sık yenilenir.</a:t>
            </a:r>
            <a:endParaRPr lang="en-US" sz="1350" dirty="0"/>
          </a:p>
        </p:txBody>
      </p:sp>
      <p:sp>
        <p:nvSpPr>
          <p:cNvPr id="18" name="Text 16"/>
          <p:cNvSpPr txBox="1"/>
          <p:nvPr/>
        </p:nvSpPr>
        <p:spPr>
          <a:xfrm>
            <a:off x="6382512" y="4343400"/>
            <a:ext cx="5029200" cy="1737360"/>
          </a:xfrm>
          <a:prstGeom prst="rect">
            <a:avLst/>
          </a:prstGeom>
          <a:noFill/>
          <a:ln/>
        </p:spPr>
        <p:txBody>
          <a:bodyPr wrap="square" lIns="0" tIns="0" rIns="0" bIns="0" rtlCol="0" anchor="ctr"/>
          <a:lstStyle/>
          <a:p>
            <a:pPr indent="0" marL="0">
              <a:lnSpc>
                <a:spcPts val="2300"/>
              </a:lnSpc>
              <a:buNone/>
            </a:pPr>
            <a:r>
              <a:rPr lang="en-US" sz="1350" dirty="0">
                <a:solidFill>
                  <a:srgbClr val="2B2B31"/>
                </a:solidFill>
                <a:latin typeface="Cambria" pitchFamily="34" charset="0"/>
                <a:ea typeface="Cambria" pitchFamily="34" charset="-122"/>
                <a:cs typeface="Cambria" pitchFamily="34" charset="-120"/>
              </a:rPr>
              <a:t>Bu nedenle sökülebilirlik ve malzemenin ikinci bir kullanım ömrü, artık estetik kadar önemli bir tasarım ölçütüdür. Bir mağazayı sökülemez biçimde inşa etmek, beş yıl sonrasının atığını bugünden üretmek demektir.</a:t>
            </a:r>
            <a:endParaRPr lang="en-US" sz="13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6161A"/>
        </a:solidFill>
      </p:bgPr>
    </p:bg>
    <p:spTree>
      <p:nvGrpSpPr>
        <p:cNvPr id="1" name=""/>
        <p:cNvGrpSpPr/>
        <p:nvPr/>
      </p:nvGrpSpPr>
      <p:grpSpPr>
        <a:xfrm>
          <a:off x="0" y="0"/>
          <a:ext cx="0" cy="0"/>
          <a:chOff x="0" y="0"/>
          <a:chExt cx="0" cy="0"/>
        </a:xfrm>
      </p:grpSpPr>
      <p:sp>
        <p:nvSpPr>
          <p:cNvPr id="2" name="Text 0"/>
          <p:cNvSpPr txBox="1"/>
          <p:nvPr/>
        </p:nvSpPr>
        <p:spPr>
          <a:xfrm>
            <a:off x="777240" y="1371600"/>
            <a:ext cx="3108960" cy="2377440"/>
          </a:xfrm>
          <a:prstGeom prst="rect">
            <a:avLst/>
          </a:prstGeom>
          <a:noFill/>
          <a:ln/>
        </p:spPr>
        <p:txBody>
          <a:bodyPr wrap="square" lIns="0" tIns="0" rIns="0" bIns="0" rtlCol="0" anchor="ctr"/>
          <a:lstStyle/>
          <a:p>
            <a:pPr indent="0" marL="0">
              <a:buNone/>
            </a:pPr>
            <a:r>
              <a:rPr lang="en-US" sz="13000" b="1" dirty="0">
                <a:solidFill>
                  <a:srgbClr val="8C3A2B"/>
                </a:solidFill>
                <a:latin typeface="Cambria" pitchFamily="34" charset="0"/>
                <a:ea typeface="Cambria" pitchFamily="34" charset="-122"/>
                <a:cs typeface="Cambria" pitchFamily="34" charset="-120"/>
              </a:rPr>
              <a:t>IX</a:t>
            </a:r>
            <a:endParaRPr lang="en-US" sz="13000" dirty="0"/>
          </a:p>
        </p:txBody>
      </p:sp>
      <p:sp>
        <p:nvSpPr>
          <p:cNvPr id="3" name="Text 1"/>
          <p:cNvSpPr txBox="1"/>
          <p:nvPr/>
        </p:nvSpPr>
        <p:spPr>
          <a:xfrm>
            <a:off x="777240" y="3611880"/>
            <a:ext cx="10424160" cy="1325880"/>
          </a:xfrm>
          <a:prstGeom prst="rect">
            <a:avLst/>
          </a:prstGeom>
          <a:noFill/>
          <a:ln/>
        </p:spPr>
        <p:txBody>
          <a:bodyPr wrap="square" lIns="0" tIns="0" rIns="0" bIns="0" rtlCol="0" anchor="ctr"/>
          <a:lstStyle/>
          <a:p>
            <a:pPr indent="0" marL="0">
              <a:lnSpc>
                <a:spcPts val="4400"/>
              </a:lnSpc>
              <a:buNone/>
            </a:pPr>
            <a:r>
              <a:rPr lang="en-US" sz="4000" b="1" dirty="0">
                <a:solidFill>
                  <a:srgbClr val="FFFFFF"/>
                </a:solidFill>
                <a:latin typeface="Cambria" pitchFamily="34" charset="0"/>
                <a:ea typeface="Cambria" pitchFamily="34" charset="-122"/>
                <a:cs typeface="Cambria" pitchFamily="34" charset="-120"/>
              </a:rPr>
              <a:t>Teknoloji</a:t>
            </a:r>
            <a:endParaRPr lang="en-US" sz="4000" dirty="0"/>
          </a:p>
        </p:txBody>
      </p:sp>
      <p:sp>
        <p:nvSpPr>
          <p:cNvPr id="4" name="Text 2"/>
          <p:cNvSpPr txBox="1"/>
          <p:nvPr/>
        </p:nvSpPr>
        <p:spPr>
          <a:xfrm>
            <a:off x="777240" y="5029200"/>
            <a:ext cx="9509760" cy="822960"/>
          </a:xfrm>
          <a:prstGeom prst="rect">
            <a:avLst/>
          </a:prstGeom>
          <a:noFill/>
          <a:ln/>
        </p:spPr>
        <p:txBody>
          <a:bodyPr wrap="square" lIns="0" tIns="0" rIns="0" bIns="0" rtlCol="0" anchor="ctr"/>
          <a:lstStyle/>
          <a:p>
            <a:pPr indent="0" marL="0">
              <a:lnSpc>
                <a:spcPts val="2200"/>
              </a:lnSpc>
              <a:buNone/>
            </a:pPr>
            <a:r>
              <a:rPr lang="en-US" sz="1500" dirty="0">
                <a:solidFill>
                  <a:srgbClr val="B9B9C0"/>
                </a:solidFill>
                <a:latin typeface="Calibri" pitchFamily="34" charset="0"/>
                <a:ea typeface="Calibri" pitchFamily="34" charset="-122"/>
                <a:cs typeface="Calibri" pitchFamily="34" charset="-120"/>
              </a:rPr>
              <a:t>Nerede işe yarar, nerede mekânı bozar?</a:t>
            </a:r>
            <a:endParaRPr lang="en-US" sz="15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CFCFA"/>
        </a:solidFill>
      </p:bgPr>
    </p:bg>
    <p:spTree>
      <p:nvGrpSpPr>
        <p:cNvPr id="1" name=""/>
        <p:cNvGrpSpPr/>
        <p:nvPr/>
      </p:nvGrpSpPr>
      <p:grpSpPr>
        <a:xfrm>
          <a:off x="0" y="0"/>
          <a:ext cx="0" cy="0"/>
          <a:chOff x="0" y="0"/>
          <a:chExt cx="0" cy="0"/>
        </a:xfrm>
      </p:grpSpPr>
      <p:sp>
        <p:nvSpPr>
          <p:cNvPr id="2" name="Text 0"/>
          <p:cNvSpPr txBox="1"/>
          <p:nvPr/>
        </p:nvSpPr>
        <p:spPr>
          <a:xfrm>
            <a:off x="777240" y="475488"/>
            <a:ext cx="9601200" cy="237744"/>
          </a:xfrm>
          <a:prstGeom prst="rect">
            <a:avLst/>
          </a:prstGeom>
          <a:noFill/>
          <a:ln/>
        </p:spPr>
        <p:txBody>
          <a:bodyPr wrap="square" lIns="0" tIns="0" rIns="0" bIns="0" rtlCol="0" anchor="ctr"/>
          <a:lstStyle/>
          <a:p>
            <a:pPr indent="0" marL="0">
              <a:buNone/>
            </a:pPr>
            <a:r>
              <a:rPr lang="en-US" sz="950" b="1" spc="260" kern="0" dirty="0">
                <a:solidFill>
                  <a:srgbClr val="7A7A82"/>
                </a:solidFill>
                <a:latin typeface="Calibri" pitchFamily="34" charset="0"/>
                <a:ea typeface="Calibri" pitchFamily="34" charset="-122"/>
                <a:cs typeface="Calibri" pitchFamily="34" charset="-120"/>
              </a:rPr>
              <a:t>IX · TEKNOLOJİ</a:t>
            </a:r>
            <a:endParaRPr lang="en-US" sz="950" dirty="0"/>
          </a:p>
        </p:txBody>
      </p:sp>
      <p:sp>
        <p:nvSpPr>
          <p:cNvPr id="3" name="Text 1"/>
          <p:cNvSpPr txBox="1"/>
          <p:nvPr/>
        </p:nvSpPr>
        <p:spPr>
          <a:xfrm>
            <a:off x="777240" y="822960"/>
            <a:ext cx="10424160" cy="731520"/>
          </a:xfrm>
          <a:prstGeom prst="rect">
            <a:avLst/>
          </a:prstGeom>
          <a:noFill/>
          <a:ln/>
        </p:spPr>
        <p:txBody>
          <a:bodyPr wrap="square" lIns="0" tIns="0" rIns="0" bIns="0" rtlCol="0" anchor="ctr"/>
          <a:lstStyle/>
          <a:p>
            <a:pPr indent="0" marL="0">
              <a:lnSpc>
                <a:spcPts val="3400"/>
              </a:lnSpc>
              <a:buNone/>
            </a:pPr>
            <a:r>
              <a:rPr lang="en-US" sz="2900" b="1" dirty="0">
                <a:solidFill>
                  <a:srgbClr val="16161A"/>
                </a:solidFill>
                <a:latin typeface="Cambria" pitchFamily="34" charset="0"/>
                <a:ea typeface="Cambria" pitchFamily="34" charset="-122"/>
                <a:cs typeface="Cambria" pitchFamily="34" charset="-120"/>
              </a:rPr>
              <a:t>Teknoloji yolculuğun neresine girer?</a:t>
            </a:r>
            <a:endParaRPr lang="en-US" sz="2900" dirty="0"/>
          </a:p>
        </p:txBody>
      </p:sp>
      <p:sp>
        <p:nvSpPr>
          <p:cNvPr id="4" name="Text 2"/>
          <p:cNvSpPr txBox="1"/>
          <p:nvPr/>
        </p:nvSpPr>
        <p:spPr>
          <a:xfrm>
            <a:off x="10972800" y="6355080"/>
            <a:ext cx="438912" cy="237744"/>
          </a:xfrm>
          <a:prstGeom prst="rect">
            <a:avLst/>
          </a:prstGeom>
          <a:noFill/>
          <a:ln/>
        </p:spPr>
        <p:txBody>
          <a:bodyPr wrap="square" lIns="0" tIns="0" rIns="0" bIns="0" rtlCol="0" anchor="ctr"/>
          <a:lstStyle/>
          <a:p>
            <a:pPr algn="r" indent="0" marL="0">
              <a:buNone/>
            </a:pPr>
            <a:r>
              <a:rPr lang="en-US" sz="950" dirty="0">
                <a:solidFill>
                  <a:srgbClr val="A6A6AC"/>
                </a:solidFill>
                <a:latin typeface="Calibri" pitchFamily="34" charset="0"/>
                <a:ea typeface="Calibri" pitchFamily="34" charset="-122"/>
                <a:cs typeface="Calibri" pitchFamily="34" charset="-120"/>
              </a:rPr>
              <a:t>45</a:t>
            </a:r>
            <a:endParaRPr lang="en-US" sz="950" dirty="0"/>
          </a:p>
        </p:txBody>
      </p:sp>
      <p:sp>
        <p:nvSpPr>
          <p:cNvPr id="5" name="Shape 3"/>
          <p:cNvSpPr/>
          <p:nvPr/>
        </p:nvSpPr>
        <p:spPr>
          <a:xfrm>
            <a:off x="868680" y="2148840"/>
            <a:ext cx="1323267" cy="548640"/>
          </a:xfrm>
          <a:prstGeom prst="rect">
            <a:avLst/>
          </a:prstGeom>
          <a:ln w="9525">
            <a:solidFill>
              <a:srgbClr val="C9C9CF"/>
            </a:solidFill>
            <a:prstDash val="solid"/>
          </a:ln>
        </p:spPr>
      </p:sp>
      <p:sp>
        <p:nvSpPr>
          <p:cNvPr id="6" name="Text 4"/>
          <p:cNvSpPr txBox="1"/>
          <p:nvPr/>
        </p:nvSpPr>
        <p:spPr>
          <a:xfrm>
            <a:off x="905256" y="2148840"/>
            <a:ext cx="1250115" cy="548640"/>
          </a:xfrm>
          <a:prstGeom prst="rect">
            <a:avLst/>
          </a:prstGeom>
          <a:noFill/>
          <a:ln/>
        </p:spPr>
        <p:txBody>
          <a:bodyPr wrap="square" lIns="0" tIns="0" rIns="0" bIns="0" rtlCol="0" anchor="ctr"/>
          <a:lstStyle/>
          <a:p>
            <a:pPr algn="ctr" indent="0" marL="0">
              <a:buNone/>
            </a:pPr>
            <a:r>
              <a:rPr lang="en-US" sz="950" b="1" dirty="0">
                <a:solidFill>
                  <a:srgbClr val="16161A"/>
                </a:solidFill>
                <a:latin typeface="Calibri" pitchFamily="34" charset="0"/>
                <a:ea typeface="Calibri" pitchFamily="34" charset="-122"/>
                <a:cs typeface="Calibri" pitchFamily="34" charset="-120"/>
              </a:rPr>
              <a:t>ÇEKİM</a:t>
            </a:r>
            <a:endParaRPr lang="en-US" sz="950" dirty="0"/>
          </a:p>
        </p:txBody>
      </p:sp>
      <p:sp>
        <p:nvSpPr>
          <p:cNvPr id="7" name="Shape 5"/>
          <p:cNvSpPr/>
          <p:nvPr/>
        </p:nvSpPr>
        <p:spPr>
          <a:xfrm flipV="1">
            <a:off x="1530314" y="2770632"/>
            <a:ext cx="0" cy="585216"/>
          </a:xfrm>
          <a:prstGeom prst="line">
            <a:avLst/>
          </a:prstGeom>
          <a:noFill/>
          <a:ln w="13970">
            <a:solidFill>
              <a:srgbClr val="C9C9CF"/>
            </a:solidFill>
            <a:prstDash val="solid"/>
            <a:tailEnd type="triangle"/>
          </a:ln>
        </p:spPr>
      </p:sp>
      <p:sp>
        <p:nvSpPr>
          <p:cNvPr id="8" name="Text 6"/>
          <p:cNvSpPr txBox="1"/>
          <p:nvPr/>
        </p:nvSpPr>
        <p:spPr>
          <a:xfrm>
            <a:off x="822960" y="3429000"/>
            <a:ext cx="1414707" cy="640080"/>
          </a:xfrm>
          <a:prstGeom prst="rect">
            <a:avLst/>
          </a:prstGeom>
          <a:noFill/>
          <a:ln/>
        </p:spPr>
        <p:txBody>
          <a:bodyPr wrap="square" lIns="0" tIns="0" rIns="0" bIns="0" rtlCol="0" anchor="ctr"/>
          <a:lstStyle/>
          <a:p>
            <a:pPr algn="ctr" indent="0" marL="0">
              <a:lnSpc>
                <a:spcPts val="1200"/>
              </a:lnSpc>
              <a:buNone/>
            </a:pPr>
            <a:r>
              <a:rPr lang="en-US" sz="950" dirty="0">
                <a:solidFill>
                  <a:srgbClr val="7A7A82"/>
                </a:solidFill>
                <a:latin typeface="Calibri" pitchFamily="34" charset="0"/>
                <a:ea typeface="Calibri" pitchFamily="34" charset="-122"/>
                <a:cs typeface="Calibri" pitchFamily="34" charset="-120"/>
              </a:rPr>
              <a:t>dijital cephe</a:t>
            </a:r>
            <a:endParaRPr lang="en-US" sz="950" dirty="0"/>
          </a:p>
          <a:p>
            <a:pPr algn="ctr" indent="0" marL="0">
              <a:lnSpc>
                <a:spcPts val="1200"/>
              </a:lnSpc>
              <a:buNone/>
            </a:pPr>
            <a:r>
              <a:rPr lang="en-US" sz="950" dirty="0">
                <a:solidFill>
                  <a:srgbClr val="7A7A82"/>
                </a:solidFill>
                <a:latin typeface="Calibri" pitchFamily="34" charset="0"/>
                <a:ea typeface="Calibri" pitchFamily="34" charset="-122"/>
                <a:cs typeface="Calibri" pitchFamily="34" charset="-120"/>
              </a:rPr>
              <a:t>yayını</a:t>
            </a:r>
            <a:endParaRPr lang="en-US" sz="950" dirty="0"/>
          </a:p>
        </p:txBody>
      </p:sp>
      <p:sp>
        <p:nvSpPr>
          <p:cNvPr id="9" name="Shape 7"/>
          <p:cNvSpPr/>
          <p:nvPr/>
        </p:nvSpPr>
        <p:spPr>
          <a:xfrm>
            <a:off x="2393115" y="2148840"/>
            <a:ext cx="1323267" cy="548640"/>
          </a:xfrm>
          <a:prstGeom prst="rect">
            <a:avLst/>
          </a:prstGeom>
          <a:ln w="9525">
            <a:solidFill>
              <a:srgbClr val="C9C9CF"/>
            </a:solidFill>
            <a:prstDash val="solid"/>
          </a:ln>
        </p:spPr>
      </p:sp>
      <p:sp>
        <p:nvSpPr>
          <p:cNvPr id="10" name="Text 8"/>
          <p:cNvSpPr txBox="1"/>
          <p:nvPr/>
        </p:nvSpPr>
        <p:spPr>
          <a:xfrm>
            <a:off x="2429691" y="2148840"/>
            <a:ext cx="1250115" cy="548640"/>
          </a:xfrm>
          <a:prstGeom prst="rect">
            <a:avLst/>
          </a:prstGeom>
          <a:noFill/>
          <a:ln/>
        </p:spPr>
        <p:txBody>
          <a:bodyPr wrap="square" lIns="0" tIns="0" rIns="0" bIns="0" rtlCol="0" anchor="ctr"/>
          <a:lstStyle/>
          <a:p>
            <a:pPr algn="ctr" indent="0" marL="0">
              <a:buNone/>
            </a:pPr>
            <a:r>
              <a:rPr lang="en-US" sz="950" b="1" dirty="0">
                <a:solidFill>
                  <a:srgbClr val="16161A"/>
                </a:solidFill>
                <a:latin typeface="Calibri" pitchFamily="34" charset="0"/>
                <a:ea typeface="Calibri" pitchFamily="34" charset="-122"/>
                <a:cs typeface="Calibri" pitchFamily="34" charset="-120"/>
              </a:rPr>
              <a:t>EŞİK</a:t>
            </a:r>
            <a:endParaRPr lang="en-US" sz="950" dirty="0"/>
          </a:p>
        </p:txBody>
      </p:sp>
      <p:sp>
        <p:nvSpPr>
          <p:cNvPr id="11" name="Text 9"/>
          <p:cNvSpPr txBox="1"/>
          <p:nvPr/>
        </p:nvSpPr>
        <p:spPr>
          <a:xfrm>
            <a:off x="2347395" y="3429000"/>
            <a:ext cx="1414707" cy="640080"/>
          </a:xfrm>
          <a:prstGeom prst="rect">
            <a:avLst/>
          </a:prstGeom>
          <a:noFill/>
          <a:ln/>
        </p:spPr>
        <p:txBody>
          <a:bodyPr wrap="square" lIns="0" tIns="0" rIns="0" bIns="0" rtlCol="0" anchor="ctr"/>
          <a:lstStyle/>
          <a:p>
            <a:pPr algn="ctr" indent="0" marL="0">
              <a:lnSpc>
                <a:spcPts val="1200"/>
              </a:lnSpc>
              <a:buNone/>
            </a:pPr>
            <a:r>
              <a:rPr lang="en-US" sz="950" i="1" dirty="0">
                <a:solidFill>
                  <a:srgbClr val="A6A6AC"/>
                </a:solidFill>
                <a:latin typeface="Calibri" pitchFamily="34" charset="0"/>
                <a:ea typeface="Calibri" pitchFamily="34" charset="-122"/>
                <a:cs typeface="Calibri" pitchFamily="34" charset="-120"/>
              </a:rPr>
              <a:t>teknoloji</a:t>
            </a:r>
            <a:endParaRPr lang="en-US" sz="950" dirty="0"/>
          </a:p>
          <a:p>
            <a:pPr algn="ctr" indent="0" marL="0">
              <a:lnSpc>
                <a:spcPts val="1200"/>
              </a:lnSpc>
              <a:buNone/>
            </a:pPr>
            <a:r>
              <a:rPr lang="en-US" sz="950" i="1" dirty="0">
                <a:solidFill>
                  <a:srgbClr val="A6A6AC"/>
                </a:solidFill>
                <a:latin typeface="Calibri" pitchFamily="34" charset="0"/>
                <a:ea typeface="Calibri" pitchFamily="34" charset="-122"/>
                <a:cs typeface="Calibri" pitchFamily="34" charset="-120"/>
              </a:rPr>
              <a:t>gerekmez</a:t>
            </a:r>
            <a:endParaRPr lang="en-US" sz="950" dirty="0"/>
          </a:p>
        </p:txBody>
      </p:sp>
      <p:sp>
        <p:nvSpPr>
          <p:cNvPr id="12" name="Shape 10"/>
          <p:cNvSpPr/>
          <p:nvPr/>
        </p:nvSpPr>
        <p:spPr>
          <a:xfrm>
            <a:off x="3917551" y="2148840"/>
            <a:ext cx="1323267" cy="548640"/>
          </a:xfrm>
          <a:prstGeom prst="rect">
            <a:avLst/>
          </a:prstGeom>
          <a:ln w="9525">
            <a:solidFill>
              <a:srgbClr val="C9C9CF"/>
            </a:solidFill>
            <a:prstDash val="solid"/>
          </a:ln>
        </p:spPr>
      </p:sp>
      <p:sp>
        <p:nvSpPr>
          <p:cNvPr id="13" name="Text 11"/>
          <p:cNvSpPr txBox="1"/>
          <p:nvPr/>
        </p:nvSpPr>
        <p:spPr>
          <a:xfrm>
            <a:off x="3954127" y="2148840"/>
            <a:ext cx="1250115" cy="548640"/>
          </a:xfrm>
          <a:prstGeom prst="rect">
            <a:avLst/>
          </a:prstGeom>
          <a:noFill/>
          <a:ln/>
        </p:spPr>
        <p:txBody>
          <a:bodyPr wrap="square" lIns="0" tIns="0" rIns="0" bIns="0" rtlCol="0" anchor="ctr"/>
          <a:lstStyle/>
          <a:p>
            <a:pPr algn="ctr" indent="0" marL="0">
              <a:buNone/>
            </a:pPr>
            <a:r>
              <a:rPr lang="en-US" sz="950" b="1" dirty="0">
                <a:solidFill>
                  <a:srgbClr val="16161A"/>
                </a:solidFill>
                <a:latin typeface="Calibri" pitchFamily="34" charset="0"/>
                <a:ea typeface="Calibri" pitchFamily="34" charset="-122"/>
                <a:cs typeface="Calibri" pitchFamily="34" charset="-120"/>
              </a:rPr>
              <a:t>YÖNELME</a:t>
            </a:r>
            <a:endParaRPr lang="en-US" sz="950" dirty="0"/>
          </a:p>
        </p:txBody>
      </p:sp>
      <p:sp>
        <p:nvSpPr>
          <p:cNvPr id="14" name="Shape 12"/>
          <p:cNvSpPr/>
          <p:nvPr/>
        </p:nvSpPr>
        <p:spPr>
          <a:xfrm flipV="1">
            <a:off x="4579185" y="2770632"/>
            <a:ext cx="0" cy="585216"/>
          </a:xfrm>
          <a:prstGeom prst="line">
            <a:avLst/>
          </a:prstGeom>
          <a:noFill/>
          <a:ln w="13970">
            <a:solidFill>
              <a:srgbClr val="C9C9CF"/>
            </a:solidFill>
            <a:prstDash val="solid"/>
            <a:tailEnd type="triangle"/>
          </a:ln>
        </p:spPr>
      </p:sp>
      <p:sp>
        <p:nvSpPr>
          <p:cNvPr id="15" name="Text 13"/>
          <p:cNvSpPr txBox="1"/>
          <p:nvPr/>
        </p:nvSpPr>
        <p:spPr>
          <a:xfrm>
            <a:off x="3871831" y="3429000"/>
            <a:ext cx="1414707" cy="640080"/>
          </a:xfrm>
          <a:prstGeom prst="rect">
            <a:avLst/>
          </a:prstGeom>
          <a:noFill/>
          <a:ln/>
        </p:spPr>
        <p:txBody>
          <a:bodyPr wrap="square" lIns="0" tIns="0" rIns="0" bIns="0" rtlCol="0" anchor="ctr"/>
          <a:lstStyle/>
          <a:p>
            <a:pPr algn="ctr" indent="0" marL="0">
              <a:lnSpc>
                <a:spcPts val="1200"/>
              </a:lnSpc>
              <a:buNone/>
            </a:pPr>
            <a:r>
              <a:rPr lang="en-US" sz="950" dirty="0">
                <a:solidFill>
                  <a:srgbClr val="7A7A82"/>
                </a:solidFill>
                <a:latin typeface="Calibri" pitchFamily="34" charset="0"/>
                <a:ea typeface="Calibri" pitchFamily="34" charset="-122"/>
                <a:cs typeface="Calibri" pitchFamily="34" charset="-120"/>
              </a:rPr>
              <a:t>ekranlı kat</a:t>
            </a:r>
            <a:endParaRPr lang="en-US" sz="950" dirty="0"/>
          </a:p>
          <a:p>
            <a:pPr algn="ctr" indent="0" marL="0">
              <a:lnSpc>
                <a:spcPts val="1200"/>
              </a:lnSpc>
              <a:buNone/>
            </a:pPr>
            <a:r>
              <a:rPr lang="en-US" sz="950" dirty="0">
                <a:solidFill>
                  <a:srgbClr val="7A7A82"/>
                </a:solidFill>
                <a:latin typeface="Calibri" pitchFamily="34" charset="0"/>
                <a:ea typeface="Calibri" pitchFamily="34" charset="-122"/>
                <a:cs typeface="Calibri" pitchFamily="34" charset="-120"/>
              </a:rPr>
              <a:t>planı</a:t>
            </a:r>
            <a:endParaRPr lang="en-US" sz="950" dirty="0"/>
          </a:p>
        </p:txBody>
      </p:sp>
      <p:sp>
        <p:nvSpPr>
          <p:cNvPr id="16" name="Shape 14"/>
          <p:cNvSpPr/>
          <p:nvPr/>
        </p:nvSpPr>
        <p:spPr>
          <a:xfrm>
            <a:off x="5441986" y="2148840"/>
            <a:ext cx="1323267" cy="548640"/>
          </a:xfrm>
          <a:prstGeom prst="rect">
            <a:avLst/>
          </a:prstGeom>
          <a:ln w="9525">
            <a:solidFill>
              <a:srgbClr val="C9C9CF"/>
            </a:solidFill>
            <a:prstDash val="solid"/>
          </a:ln>
        </p:spPr>
      </p:sp>
      <p:sp>
        <p:nvSpPr>
          <p:cNvPr id="17" name="Text 15"/>
          <p:cNvSpPr txBox="1"/>
          <p:nvPr/>
        </p:nvSpPr>
        <p:spPr>
          <a:xfrm>
            <a:off x="5478562" y="2148840"/>
            <a:ext cx="1250115" cy="548640"/>
          </a:xfrm>
          <a:prstGeom prst="rect">
            <a:avLst/>
          </a:prstGeom>
          <a:noFill/>
          <a:ln/>
        </p:spPr>
        <p:txBody>
          <a:bodyPr wrap="square" lIns="0" tIns="0" rIns="0" bIns="0" rtlCol="0" anchor="ctr"/>
          <a:lstStyle/>
          <a:p>
            <a:pPr algn="ctr" indent="0" marL="0">
              <a:buNone/>
            </a:pPr>
            <a:r>
              <a:rPr lang="en-US" sz="950" b="1" dirty="0">
                <a:solidFill>
                  <a:srgbClr val="16161A"/>
                </a:solidFill>
                <a:latin typeface="Calibri" pitchFamily="34" charset="0"/>
                <a:ea typeface="Calibri" pitchFamily="34" charset="-122"/>
                <a:cs typeface="Calibri" pitchFamily="34" charset="-120"/>
              </a:rPr>
              <a:t>GEZİNME</a:t>
            </a:r>
            <a:endParaRPr lang="en-US" sz="950" dirty="0"/>
          </a:p>
        </p:txBody>
      </p:sp>
      <p:sp>
        <p:nvSpPr>
          <p:cNvPr id="18" name="Shape 16"/>
          <p:cNvSpPr/>
          <p:nvPr/>
        </p:nvSpPr>
        <p:spPr>
          <a:xfrm flipV="1">
            <a:off x="6103620" y="2770632"/>
            <a:ext cx="0" cy="585216"/>
          </a:xfrm>
          <a:prstGeom prst="line">
            <a:avLst/>
          </a:prstGeom>
          <a:noFill/>
          <a:ln w="13970">
            <a:solidFill>
              <a:srgbClr val="C9C9CF"/>
            </a:solidFill>
            <a:prstDash val="solid"/>
            <a:tailEnd type="triangle"/>
          </a:ln>
        </p:spPr>
      </p:sp>
      <p:sp>
        <p:nvSpPr>
          <p:cNvPr id="19" name="Text 17"/>
          <p:cNvSpPr txBox="1"/>
          <p:nvPr/>
        </p:nvSpPr>
        <p:spPr>
          <a:xfrm>
            <a:off x="5396266" y="3429000"/>
            <a:ext cx="1414707" cy="640080"/>
          </a:xfrm>
          <a:prstGeom prst="rect">
            <a:avLst/>
          </a:prstGeom>
          <a:noFill/>
          <a:ln/>
        </p:spPr>
        <p:txBody>
          <a:bodyPr wrap="square" lIns="0" tIns="0" rIns="0" bIns="0" rtlCol="0" anchor="ctr"/>
          <a:lstStyle/>
          <a:p>
            <a:pPr algn="ctr" indent="0" marL="0">
              <a:lnSpc>
                <a:spcPts val="1200"/>
              </a:lnSpc>
              <a:buNone/>
            </a:pPr>
            <a:r>
              <a:rPr lang="en-US" sz="950" dirty="0">
                <a:solidFill>
                  <a:srgbClr val="7A7A82"/>
                </a:solidFill>
                <a:latin typeface="Calibri" pitchFamily="34" charset="0"/>
                <a:ea typeface="Calibri" pitchFamily="34" charset="-122"/>
                <a:cs typeface="Calibri" pitchFamily="34" charset="-120"/>
              </a:rPr>
              <a:t>raf üstü stok</a:t>
            </a:r>
            <a:endParaRPr lang="en-US" sz="950" dirty="0"/>
          </a:p>
          <a:p>
            <a:pPr algn="ctr" indent="0" marL="0">
              <a:lnSpc>
                <a:spcPts val="1200"/>
              </a:lnSpc>
              <a:buNone/>
            </a:pPr>
            <a:r>
              <a:rPr lang="en-US" sz="950" dirty="0">
                <a:solidFill>
                  <a:srgbClr val="7A7A82"/>
                </a:solidFill>
                <a:latin typeface="Calibri" pitchFamily="34" charset="0"/>
                <a:ea typeface="Calibri" pitchFamily="34" charset="-122"/>
                <a:cs typeface="Calibri" pitchFamily="34" charset="-120"/>
              </a:rPr>
              <a:t>ve fiyat bilgisi</a:t>
            </a:r>
            <a:endParaRPr lang="en-US" sz="950" dirty="0"/>
          </a:p>
        </p:txBody>
      </p:sp>
      <p:sp>
        <p:nvSpPr>
          <p:cNvPr id="20" name="Shape 18"/>
          <p:cNvSpPr/>
          <p:nvPr/>
        </p:nvSpPr>
        <p:spPr>
          <a:xfrm>
            <a:off x="6966422" y="2148840"/>
            <a:ext cx="1323267" cy="548640"/>
          </a:xfrm>
          <a:prstGeom prst="rect">
            <a:avLst/>
          </a:prstGeom>
          <a:solidFill>
            <a:srgbClr val="F6EAE6"/>
          </a:solidFill>
          <a:ln w="15875">
            <a:solidFill>
              <a:srgbClr val="8C3A2B"/>
            </a:solidFill>
            <a:prstDash val="solid"/>
          </a:ln>
        </p:spPr>
      </p:sp>
      <p:sp>
        <p:nvSpPr>
          <p:cNvPr id="21" name="Text 19"/>
          <p:cNvSpPr txBox="1"/>
          <p:nvPr/>
        </p:nvSpPr>
        <p:spPr>
          <a:xfrm>
            <a:off x="7002998" y="2148840"/>
            <a:ext cx="1250115" cy="548640"/>
          </a:xfrm>
          <a:prstGeom prst="rect">
            <a:avLst/>
          </a:prstGeom>
          <a:noFill/>
          <a:ln/>
        </p:spPr>
        <p:txBody>
          <a:bodyPr wrap="square" lIns="0" tIns="0" rIns="0" bIns="0" rtlCol="0" anchor="ctr"/>
          <a:lstStyle/>
          <a:p>
            <a:pPr algn="ctr" indent="0" marL="0">
              <a:buNone/>
            </a:pPr>
            <a:r>
              <a:rPr lang="en-US" sz="950" b="1" dirty="0">
                <a:solidFill>
                  <a:srgbClr val="8C3A2B"/>
                </a:solidFill>
                <a:latin typeface="Calibri" pitchFamily="34" charset="0"/>
                <a:ea typeface="Calibri" pitchFamily="34" charset="-122"/>
                <a:cs typeface="Calibri" pitchFamily="34" charset="-120"/>
              </a:rPr>
              <a:t>ETKİLEŞİM</a:t>
            </a:r>
            <a:endParaRPr lang="en-US" sz="950" dirty="0"/>
          </a:p>
        </p:txBody>
      </p:sp>
      <p:sp>
        <p:nvSpPr>
          <p:cNvPr id="22" name="Shape 20"/>
          <p:cNvSpPr/>
          <p:nvPr/>
        </p:nvSpPr>
        <p:spPr>
          <a:xfrm flipV="1">
            <a:off x="7628055" y="2770632"/>
            <a:ext cx="0" cy="585216"/>
          </a:xfrm>
          <a:prstGeom prst="line">
            <a:avLst/>
          </a:prstGeom>
          <a:noFill/>
          <a:ln w="13970">
            <a:solidFill>
              <a:srgbClr val="C9C9CF"/>
            </a:solidFill>
            <a:prstDash val="solid"/>
            <a:tailEnd type="triangle"/>
          </a:ln>
        </p:spPr>
      </p:sp>
      <p:sp>
        <p:nvSpPr>
          <p:cNvPr id="23" name="Text 21"/>
          <p:cNvSpPr txBox="1"/>
          <p:nvPr/>
        </p:nvSpPr>
        <p:spPr>
          <a:xfrm>
            <a:off x="6920702" y="3429000"/>
            <a:ext cx="1414707" cy="640080"/>
          </a:xfrm>
          <a:prstGeom prst="rect">
            <a:avLst/>
          </a:prstGeom>
          <a:noFill/>
          <a:ln/>
        </p:spPr>
        <p:txBody>
          <a:bodyPr wrap="square" lIns="0" tIns="0" rIns="0" bIns="0" rtlCol="0" anchor="ctr"/>
          <a:lstStyle/>
          <a:p>
            <a:pPr algn="ctr" indent="0" marL="0">
              <a:lnSpc>
                <a:spcPts val="1200"/>
              </a:lnSpc>
              <a:buNone/>
            </a:pPr>
            <a:r>
              <a:rPr lang="en-US" sz="950" dirty="0">
                <a:solidFill>
                  <a:srgbClr val="8C3A2B"/>
                </a:solidFill>
                <a:latin typeface="Calibri" pitchFamily="34" charset="0"/>
                <a:ea typeface="Calibri" pitchFamily="34" charset="-122"/>
                <a:cs typeface="Calibri" pitchFamily="34" charset="-120"/>
              </a:rPr>
              <a:t>sanal deneme</a:t>
            </a:r>
            <a:endParaRPr lang="en-US" sz="950" dirty="0"/>
          </a:p>
          <a:p>
            <a:pPr algn="ctr" indent="0" marL="0">
              <a:lnSpc>
                <a:spcPts val="1200"/>
              </a:lnSpc>
              <a:buNone/>
            </a:pPr>
            <a:r>
              <a:rPr lang="en-US" sz="950" dirty="0">
                <a:solidFill>
                  <a:srgbClr val="8C3A2B"/>
                </a:solidFill>
                <a:latin typeface="Calibri" pitchFamily="34" charset="0"/>
                <a:ea typeface="Calibri" pitchFamily="34" charset="-122"/>
                <a:cs typeface="Calibri" pitchFamily="34" charset="-120"/>
              </a:rPr>
              <a:t>konfigüratör</a:t>
            </a:r>
            <a:endParaRPr lang="en-US" sz="950" dirty="0"/>
          </a:p>
        </p:txBody>
      </p:sp>
      <p:sp>
        <p:nvSpPr>
          <p:cNvPr id="24" name="Shape 22"/>
          <p:cNvSpPr/>
          <p:nvPr/>
        </p:nvSpPr>
        <p:spPr>
          <a:xfrm>
            <a:off x="8490857" y="2148840"/>
            <a:ext cx="1323267" cy="548640"/>
          </a:xfrm>
          <a:prstGeom prst="rect">
            <a:avLst/>
          </a:prstGeom>
          <a:ln w="9525">
            <a:solidFill>
              <a:srgbClr val="C9C9CF"/>
            </a:solidFill>
            <a:prstDash val="solid"/>
          </a:ln>
        </p:spPr>
      </p:sp>
      <p:sp>
        <p:nvSpPr>
          <p:cNvPr id="25" name="Text 23"/>
          <p:cNvSpPr txBox="1"/>
          <p:nvPr/>
        </p:nvSpPr>
        <p:spPr>
          <a:xfrm>
            <a:off x="8527433" y="2148840"/>
            <a:ext cx="1250115" cy="548640"/>
          </a:xfrm>
          <a:prstGeom prst="rect">
            <a:avLst/>
          </a:prstGeom>
          <a:noFill/>
          <a:ln/>
        </p:spPr>
        <p:txBody>
          <a:bodyPr wrap="square" lIns="0" tIns="0" rIns="0" bIns="0" rtlCol="0" anchor="ctr"/>
          <a:lstStyle/>
          <a:p>
            <a:pPr algn="ctr" indent="0" marL="0">
              <a:buNone/>
            </a:pPr>
            <a:r>
              <a:rPr lang="en-US" sz="950" b="1" dirty="0">
                <a:solidFill>
                  <a:srgbClr val="16161A"/>
                </a:solidFill>
                <a:latin typeface="Calibri" pitchFamily="34" charset="0"/>
                <a:ea typeface="Calibri" pitchFamily="34" charset="-122"/>
                <a:cs typeface="Calibri" pitchFamily="34" charset="-120"/>
              </a:rPr>
              <a:t>SATIN ALMA</a:t>
            </a:r>
            <a:endParaRPr lang="en-US" sz="950" dirty="0"/>
          </a:p>
        </p:txBody>
      </p:sp>
      <p:sp>
        <p:nvSpPr>
          <p:cNvPr id="26" name="Shape 24"/>
          <p:cNvSpPr/>
          <p:nvPr/>
        </p:nvSpPr>
        <p:spPr>
          <a:xfrm flipV="1">
            <a:off x="9152491" y="2770632"/>
            <a:ext cx="0" cy="585216"/>
          </a:xfrm>
          <a:prstGeom prst="line">
            <a:avLst/>
          </a:prstGeom>
          <a:noFill/>
          <a:ln w="13970">
            <a:solidFill>
              <a:srgbClr val="C9C9CF"/>
            </a:solidFill>
            <a:prstDash val="solid"/>
            <a:tailEnd type="triangle"/>
          </a:ln>
        </p:spPr>
      </p:sp>
      <p:sp>
        <p:nvSpPr>
          <p:cNvPr id="27" name="Text 25"/>
          <p:cNvSpPr txBox="1"/>
          <p:nvPr/>
        </p:nvSpPr>
        <p:spPr>
          <a:xfrm>
            <a:off x="8445137" y="3429000"/>
            <a:ext cx="1414707" cy="640080"/>
          </a:xfrm>
          <a:prstGeom prst="rect">
            <a:avLst/>
          </a:prstGeom>
          <a:noFill/>
          <a:ln/>
        </p:spPr>
        <p:txBody>
          <a:bodyPr wrap="square" lIns="0" tIns="0" rIns="0" bIns="0" rtlCol="0" anchor="ctr"/>
          <a:lstStyle/>
          <a:p>
            <a:pPr algn="ctr" indent="0" marL="0">
              <a:lnSpc>
                <a:spcPts val="1200"/>
              </a:lnSpc>
              <a:buNone/>
            </a:pPr>
            <a:r>
              <a:rPr lang="en-US" sz="950" dirty="0">
                <a:solidFill>
                  <a:srgbClr val="7A7A82"/>
                </a:solidFill>
                <a:latin typeface="Calibri" pitchFamily="34" charset="0"/>
                <a:ea typeface="Calibri" pitchFamily="34" charset="-122"/>
                <a:cs typeface="Calibri" pitchFamily="34" charset="-120"/>
              </a:rPr>
              <a:t>temassız ödeme</a:t>
            </a:r>
            <a:endParaRPr lang="en-US" sz="950" dirty="0"/>
          </a:p>
          <a:p>
            <a:pPr algn="ctr" indent="0" marL="0">
              <a:lnSpc>
                <a:spcPts val="1200"/>
              </a:lnSpc>
              <a:buNone/>
            </a:pPr>
            <a:r>
              <a:rPr lang="en-US" sz="950" dirty="0">
                <a:solidFill>
                  <a:srgbClr val="7A7A82"/>
                </a:solidFill>
                <a:latin typeface="Calibri" pitchFamily="34" charset="0"/>
                <a:ea typeface="Calibri" pitchFamily="34" charset="-122"/>
                <a:cs typeface="Calibri" pitchFamily="34" charset="-120"/>
              </a:rPr>
              <a:t>kasa dışı ödeme</a:t>
            </a:r>
            <a:endParaRPr lang="en-US" sz="950" dirty="0"/>
          </a:p>
        </p:txBody>
      </p:sp>
      <p:sp>
        <p:nvSpPr>
          <p:cNvPr id="28" name="Shape 26"/>
          <p:cNvSpPr/>
          <p:nvPr/>
        </p:nvSpPr>
        <p:spPr>
          <a:xfrm>
            <a:off x="10015293" y="2148840"/>
            <a:ext cx="1323267" cy="548640"/>
          </a:xfrm>
          <a:prstGeom prst="rect">
            <a:avLst/>
          </a:prstGeom>
          <a:ln w="9525">
            <a:solidFill>
              <a:srgbClr val="C9C9CF"/>
            </a:solidFill>
            <a:prstDash val="solid"/>
          </a:ln>
        </p:spPr>
      </p:sp>
      <p:sp>
        <p:nvSpPr>
          <p:cNvPr id="29" name="Text 27"/>
          <p:cNvSpPr txBox="1"/>
          <p:nvPr/>
        </p:nvSpPr>
        <p:spPr>
          <a:xfrm>
            <a:off x="10051869" y="2148840"/>
            <a:ext cx="1250115" cy="548640"/>
          </a:xfrm>
          <a:prstGeom prst="rect">
            <a:avLst/>
          </a:prstGeom>
          <a:noFill/>
          <a:ln/>
        </p:spPr>
        <p:txBody>
          <a:bodyPr wrap="square" lIns="0" tIns="0" rIns="0" bIns="0" rtlCol="0" anchor="ctr"/>
          <a:lstStyle/>
          <a:p>
            <a:pPr algn="ctr" indent="0" marL="0">
              <a:buNone/>
            </a:pPr>
            <a:r>
              <a:rPr lang="en-US" sz="950" b="1" dirty="0">
                <a:solidFill>
                  <a:srgbClr val="16161A"/>
                </a:solidFill>
                <a:latin typeface="Calibri" pitchFamily="34" charset="0"/>
                <a:ea typeface="Calibri" pitchFamily="34" charset="-122"/>
                <a:cs typeface="Calibri" pitchFamily="34" charset="-120"/>
              </a:rPr>
              <a:t>AYRILMA</a:t>
            </a:r>
            <a:endParaRPr lang="en-US" sz="950" dirty="0"/>
          </a:p>
        </p:txBody>
      </p:sp>
      <p:sp>
        <p:nvSpPr>
          <p:cNvPr id="30" name="Shape 28"/>
          <p:cNvSpPr/>
          <p:nvPr/>
        </p:nvSpPr>
        <p:spPr>
          <a:xfrm flipV="1">
            <a:off x="10676926" y="2770632"/>
            <a:ext cx="0" cy="585216"/>
          </a:xfrm>
          <a:prstGeom prst="line">
            <a:avLst/>
          </a:prstGeom>
          <a:noFill/>
          <a:ln w="13970">
            <a:solidFill>
              <a:srgbClr val="C9C9CF"/>
            </a:solidFill>
            <a:prstDash val="solid"/>
            <a:tailEnd type="triangle"/>
          </a:ln>
        </p:spPr>
      </p:sp>
      <p:sp>
        <p:nvSpPr>
          <p:cNvPr id="31" name="Text 29"/>
          <p:cNvSpPr txBox="1"/>
          <p:nvPr/>
        </p:nvSpPr>
        <p:spPr>
          <a:xfrm>
            <a:off x="9969573" y="3429000"/>
            <a:ext cx="1414707" cy="640080"/>
          </a:xfrm>
          <a:prstGeom prst="rect">
            <a:avLst/>
          </a:prstGeom>
          <a:noFill/>
          <a:ln/>
        </p:spPr>
        <p:txBody>
          <a:bodyPr wrap="square" lIns="0" tIns="0" rIns="0" bIns="0" rtlCol="0" anchor="ctr"/>
          <a:lstStyle/>
          <a:p>
            <a:pPr algn="ctr" indent="0" marL="0">
              <a:lnSpc>
                <a:spcPts val="1200"/>
              </a:lnSpc>
              <a:buNone/>
            </a:pPr>
            <a:r>
              <a:rPr lang="en-US" sz="950" dirty="0">
                <a:solidFill>
                  <a:srgbClr val="7A7A82"/>
                </a:solidFill>
                <a:latin typeface="Calibri" pitchFamily="34" charset="0"/>
                <a:ea typeface="Calibri" pitchFamily="34" charset="-122"/>
                <a:cs typeface="Calibri" pitchFamily="34" charset="-120"/>
              </a:rPr>
              <a:t>dijital fiş</a:t>
            </a:r>
            <a:endParaRPr lang="en-US" sz="950" dirty="0"/>
          </a:p>
          <a:p>
            <a:pPr algn="ctr" indent="0" marL="0">
              <a:lnSpc>
                <a:spcPts val="1200"/>
              </a:lnSpc>
              <a:buNone/>
            </a:pPr>
            <a:r>
              <a:rPr lang="en-US" sz="950" dirty="0">
                <a:solidFill>
                  <a:srgbClr val="7A7A82"/>
                </a:solidFill>
                <a:latin typeface="Calibri" pitchFamily="34" charset="0"/>
                <a:ea typeface="Calibri" pitchFamily="34" charset="-122"/>
                <a:cs typeface="Calibri" pitchFamily="34" charset="-120"/>
              </a:rPr>
              <a:t>teslimat takibi</a:t>
            </a:r>
            <a:endParaRPr lang="en-US" sz="950" dirty="0"/>
          </a:p>
        </p:txBody>
      </p:sp>
      <p:sp>
        <p:nvSpPr>
          <p:cNvPr id="32" name="Text 30"/>
          <p:cNvSpPr txBox="1"/>
          <p:nvPr/>
        </p:nvSpPr>
        <p:spPr>
          <a:xfrm>
            <a:off x="868680" y="4206240"/>
            <a:ext cx="10469880" cy="365760"/>
          </a:xfrm>
          <a:prstGeom prst="rect">
            <a:avLst/>
          </a:prstGeom>
          <a:noFill/>
          <a:ln/>
        </p:spPr>
        <p:txBody>
          <a:bodyPr wrap="square" lIns="0" tIns="0" rIns="0" bIns="0" rtlCol="0" anchor="ctr"/>
          <a:lstStyle/>
          <a:p>
            <a:pPr algn="ctr" indent="0" marL="0">
              <a:lnSpc>
                <a:spcPts val="1200"/>
              </a:lnSpc>
              <a:buNone/>
            </a:pPr>
            <a:r>
              <a:rPr lang="en-US" sz="1300" i="1" dirty="0">
                <a:solidFill>
                  <a:srgbClr val="8C3A2B"/>
                </a:solidFill>
                <a:latin typeface="Cambria" pitchFamily="34" charset="0"/>
                <a:ea typeface="Cambria" pitchFamily="34" charset="-122"/>
                <a:cs typeface="Cambria" pitchFamily="34" charset="-120"/>
              </a:rPr>
              <a:t>Teknoloji yolculuğun tamamına değil, belirli anlarına girer. Her ana bir ekran koymak, hiçbirine koymamaktan daha kötüdür.</a:t>
            </a:r>
            <a:endParaRPr lang="en-US" sz="1300" dirty="0"/>
          </a:p>
        </p:txBody>
      </p:sp>
      <p:sp>
        <p:nvSpPr>
          <p:cNvPr id="33" name="Text 31"/>
          <p:cNvSpPr txBox="1"/>
          <p:nvPr/>
        </p:nvSpPr>
        <p:spPr>
          <a:xfrm>
            <a:off x="777240" y="4709160"/>
            <a:ext cx="5029200" cy="1463040"/>
          </a:xfrm>
          <a:prstGeom prst="rect">
            <a:avLst/>
          </a:prstGeom>
          <a:noFill/>
          <a:ln/>
        </p:spPr>
        <p:txBody>
          <a:bodyPr wrap="square" lIns="0" tIns="0" rIns="0" bIns="0" rtlCol="0" anchor="ctr"/>
          <a:lstStyle/>
          <a:p>
            <a:pPr indent="0" marL="0">
              <a:lnSpc>
                <a:spcPts val="2300"/>
              </a:lnSpc>
              <a:buNone/>
            </a:pPr>
            <a:r>
              <a:rPr lang="en-US" sz="1300" dirty="0">
                <a:solidFill>
                  <a:srgbClr val="2B2B31"/>
                </a:solidFill>
                <a:latin typeface="Cambria" pitchFamily="34" charset="0"/>
                <a:ea typeface="Cambria" pitchFamily="34" charset="-122"/>
                <a:cs typeface="Cambria" pitchFamily="34" charset="-120"/>
              </a:rPr>
              <a:t>Müşteri bugün bir markayla birden çok kanaldan temas ediyor: sosyal medyada görüyor, internette inceliyor, mağazada deniyor, tekrar internetten alıyor. Fiziksel ve dijital katmanların iç içe geçtiği bu duruma literatürde 'phygital' deniyor (Xi &amp; Idris, 2026).</a:t>
            </a:r>
            <a:endParaRPr lang="en-US" sz="1300" dirty="0"/>
          </a:p>
        </p:txBody>
      </p:sp>
      <p:sp>
        <p:nvSpPr>
          <p:cNvPr id="34" name="Text 32"/>
          <p:cNvSpPr txBox="1"/>
          <p:nvPr/>
        </p:nvSpPr>
        <p:spPr>
          <a:xfrm>
            <a:off x="6382512" y="4709160"/>
            <a:ext cx="5029200" cy="1463040"/>
          </a:xfrm>
          <a:prstGeom prst="rect">
            <a:avLst/>
          </a:prstGeom>
          <a:noFill/>
          <a:ln/>
        </p:spPr>
        <p:txBody>
          <a:bodyPr wrap="square" lIns="0" tIns="0" rIns="0" bIns="0" rtlCol="0" anchor="ctr"/>
          <a:lstStyle/>
          <a:p>
            <a:pPr indent="0" marL="0">
              <a:lnSpc>
                <a:spcPts val="2300"/>
              </a:lnSpc>
              <a:buNone/>
            </a:pPr>
            <a:r>
              <a:rPr lang="en-US" sz="1300" dirty="0">
                <a:solidFill>
                  <a:srgbClr val="2B2B31"/>
                </a:solidFill>
                <a:latin typeface="Cambria" pitchFamily="34" charset="0"/>
                <a:ea typeface="Cambria" pitchFamily="34" charset="-122"/>
                <a:cs typeface="Cambria" pitchFamily="34" charset="-120"/>
              </a:rPr>
              <a:t>Bunun mağaza tasarımı açısından sonucu şudur: mağaza artık yolculuğun tamamı değil, bir parçasıdır. İnsan geldiğinde ürünü çoğu zaman zaten biliyordur. O hâlde mağazanın işi bilgi vermek değil, ekranın veremediğini vermektir.</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CFCFA"/>
        </a:solidFill>
      </p:bgPr>
    </p:bg>
    <p:spTree>
      <p:nvGrpSpPr>
        <p:cNvPr id="1" name=""/>
        <p:cNvGrpSpPr/>
        <p:nvPr/>
      </p:nvGrpSpPr>
      <p:grpSpPr>
        <a:xfrm>
          <a:off x="0" y="0"/>
          <a:ext cx="0" cy="0"/>
          <a:chOff x="0" y="0"/>
          <a:chExt cx="0" cy="0"/>
        </a:xfrm>
      </p:grpSpPr>
      <p:sp>
        <p:nvSpPr>
          <p:cNvPr id="2" name="Text 0"/>
          <p:cNvSpPr txBox="1"/>
          <p:nvPr/>
        </p:nvSpPr>
        <p:spPr>
          <a:xfrm>
            <a:off x="777240" y="475488"/>
            <a:ext cx="9601200" cy="237744"/>
          </a:xfrm>
          <a:prstGeom prst="rect">
            <a:avLst/>
          </a:prstGeom>
          <a:noFill/>
          <a:ln/>
        </p:spPr>
        <p:txBody>
          <a:bodyPr wrap="square" lIns="0" tIns="0" rIns="0" bIns="0" rtlCol="0" anchor="ctr"/>
          <a:lstStyle/>
          <a:p>
            <a:pPr indent="0" marL="0">
              <a:buNone/>
            </a:pPr>
            <a:r>
              <a:rPr lang="en-US" sz="950" b="1" spc="260" kern="0" dirty="0">
                <a:solidFill>
                  <a:srgbClr val="7A7A82"/>
                </a:solidFill>
                <a:latin typeface="Calibri" pitchFamily="34" charset="0"/>
                <a:ea typeface="Calibri" pitchFamily="34" charset="-122"/>
                <a:cs typeface="Calibri" pitchFamily="34" charset="-120"/>
              </a:rPr>
              <a:t>IX · TEKNOLOJİ</a:t>
            </a:r>
            <a:endParaRPr lang="en-US" sz="950" dirty="0"/>
          </a:p>
        </p:txBody>
      </p:sp>
      <p:sp>
        <p:nvSpPr>
          <p:cNvPr id="3" name="Text 1"/>
          <p:cNvSpPr txBox="1"/>
          <p:nvPr/>
        </p:nvSpPr>
        <p:spPr>
          <a:xfrm>
            <a:off x="777240" y="822960"/>
            <a:ext cx="10424160" cy="731520"/>
          </a:xfrm>
          <a:prstGeom prst="rect">
            <a:avLst/>
          </a:prstGeom>
          <a:noFill/>
          <a:ln/>
        </p:spPr>
        <p:txBody>
          <a:bodyPr wrap="square" lIns="0" tIns="0" rIns="0" bIns="0" rtlCol="0" anchor="ctr"/>
          <a:lstStyle/>
          <a:p>
            <a:pPr indent="0" marL="0">
              <a:lnSpc>
                <a:spcPts val="3400"/>
              </a:lnSpc>
              <a:buNone/>
            </a:pPr>
            <a:r>
              <a:rPr lang="en-US" sz="2900" b="1" dirty="0">
                <a:solidFill>
                  <a:srgbClr val="16161A"/>
                </a:solidFill>
                <a:latin typeface="Cambria" pitchFamily="34" charset="0"/>
                <a:ea typeface="Cambria" pitchFamily="34" charset="-122"/>
                <a:cs typeface="Cambria" pitchFamily="34" charset="-120"/>
              </a:rPr>
              <a:t>Ne işe yarar, ne işe yaramaz</a:t>
            </a:r>
            <a:endParaRPr lang="en-US" sz="2900" dirty="0"/>
          </a:p>
        </p:txBody>
      </p:sp>
      <p:sp>
        <p:nvSpPr>
          <p:cNvPr id="4" name="Text 2"/>
          <p:cNvSpPr txBox="1"/>
          <p:nvPr/>
        </p:nvSpPr>
        <p:spPr>
          <a:xfrm>
            <a:off x="10972800" y="6355080"/>
            <a:ext cx="438912" cy="237744"/>
          </a:xfrm>
          <a:prstGeom prst="rect">
            <a:avLst/>
          </a:prstGeom>
          <a:noFill/>
          <a:ln/>
        </p:spPr>
        <p:txBody>
          <a:bodyPr wrap="square" lIns="0" tIns="0" rIns="0" bIns="0" rtlCol="0" anchor="ctr"/>
          <a:lstStyle/>
          <a:p>
            <a:pPr algn="r" indent="0" marL="0">
              <a:buNone/>
            </a:pPr>
            <a:r>
              <a:rPr lang="en-US" sz="950" dirty="0">
                <a:solidFill>
                  <a:srgbClr val="A6A6AC"/>
                </a:solidFill>
                <a:latin typeface="Calibri" pitchFamily="34" charset="0"/>
                <a:ea typeface="Calibri" pitchFamily="34" charset="-122"/>
                <a:cs typeface="Calibri" pitchFamily="34" charset="-120"/>
              </a:rPr>
              <a:t>46</a:t>
            </a:r>
            <a:endParaRPr lang="en-US" sz="950" dirty="0"/>
          </a:p>
        </p:txBody>
      </p:sp>
      <p:sp>
        <p:nvSpPr>
          <p:cNvPr id="5" name="Shape 3"/>
          <p:cNvSpPr/>
          <p:nvPr/>
        </p:nvSpPr>
        <p:spPr>
          <a:xfrm>
            <a:off x="777240" y="2103120"/>
            <a:ext cx="5029200" cy="3017520"/>
          </a:xfrm>
          <a:prstGeom prst="rect">
            <a:avLst/>
          </a:prstGeom>
          <a:solidFill>
            <a:srgbClr val="F6EAE6"/>
          </a:solidFill>
          <a:ln w="15875">
            <a:solidFill>
              <a:srgbClr val="8C3A2B"/>
            </a:solidFill>
            <a:prstDash val="solid"/>
          </a:ln>
        </p:spPr>
      </p:sp>
      <p:sp>
        <p:nvSpPr>
          <p:cNvPr id="6" name="Text 4"/>
          <p:cNvSpPr txBox="1"/>
          <p:nvPr/>
        </p:nvSpPr>
        <p:spPr>
          <a:xfrm>
            <a:off x="1069848" y="2359152"/>
            <a:ext cx="4443984" cy="310896"/>
          </a:xfrm>
          <a:prstGeom prst="rect">
            <a:avLst/>
          </a:prstGeom>
          <a:noFill/>
          <a:ln/>
        </p:spPr>
        <p:txBody>
          <a:bodyPr wrap="square" lIns="0" tIns="0" rIns="0" bIns="0" rtlCol="0" anchor="ctr"/>
          <a:lstStyle/>
          <a:p>
            <a:pPr indent="0" marL="0">
              <a:buNone/>
            </a:pPr>
            <a:r>
              <a:rPr lang="en-US" sz="1100" b="1" spc="160" kern="0" dirty="0">
                <a:solidFill>
                  <a:srgbClr val="8C3A2B"/>
                </a:solidFill>
                <a:latin typeface="Calibri" pitchFamily="34" charset="0"/>
                <a:ea typeface="Calibri" pitchFamily="34" charset="-122"/>
                <a:cs typeface="Calibri" pitchFamily="34" charset="-120"/>
              </a:rPr>
              <a:t>İŞE YARAR</a:t>
            </a:r>
            <a:endParaRPr lang="en-US" sz="1100" dirty="0"/>
          </a:p>
        </p:txBody>
      </p:sp>
      <p:sp>
        <p:nvSpPr>
          <p:cNvPr id="7" name="Shape 5"/>
          <p:cNvSpPr/>
          <p:nvPr/>
        </p:nvSpPr>
        <p:spPr>
          <a:xfrm>
            <a:off x="1115568" y="2889504"/>
            <a:ext cx="91440" cy="91440"/>
          </a:xfrm>
          <a:prstGeom prst="ellipse">
            <a:avLst/>
          </a:prstGeom>
          <a:solidFill>
            <a:srgbClr val="8C3A2B"/>
          </a:solidFill>
          <a:ln w="12700">
            <a:solidFill>
              <a:srgbClr val="8C3A2B"/>
            </a:solidFill>
            <a:prstDash val="solid"/>
          </a:ln>
        </p:spPr>
      </p:sp>
      <p:sp>
        <p:nvSpPr>
          <p:cNvPr id="8" name="Text 6"/>
          <p:cNvSpPr txBox="1"/>
          <p:nvPr/>
        </p:nvSpPr>
        <p:spPr>
          <a:xfrm>
            <a:off x="1399032" y="2779776"/>
            <a:ext cx="4114800" cy="457200"/>
          </a:xfrm>
          <a:prstGeom prst="rect">
            <a:avLst/>
          </a:prstGeom>
          <a:noFill/>
          <a:ln/>
        </p:spPr>
        <p:txBody>
          <a:bodyPr wrap="square" lIns="0" tIns="0" rIns="0" bIns="0" rtlCol="0" anchor="ctr"/>
          <a:lstStyle/>
          <a:p>
            <a:pPr indent="0" marL="0">
              <a:lnSpc>
                <a:spcPts val="1400"/>
              </a:lnSpc>
              <a:buNone/>
            </a:pPr>
            <a:r>
              <a:rPr lang="en-US" sz="1150" dirty="0">
                <a:solidFill>
                  <a:srgbClr val="2B2B31"/>
                </a:solidFill>
                <a:latin typeface="Calibri" pitchFamily="34" charset="0"/>
                <a:ea typeface="Calibri" pitchFamily="34" charset="-122"/>
                <a:cs typeface="Calibri" pitchFamily="34" charset="-120"/>
              </a:rPr>
              <a:t>Bir engeli kaldırıyorsa — stok sorgusu, beden bulma, sıra beklememe</a:t>
            </a:r>
            <a:endParaRPr lang="en-US" sz="1150" dirty="0"/>
          </a:p>
        </p:txBody>
      </p:sp>
      <p:sp>
        <p:nvSpPr>
          <p:cNvPr id="9" name="Shape 7"/>
          <p:cNvSpPr/>
          <p:nvPr/>
        </p:nvSpPr>
        <p:spPr>
          <a:xfrm>
            <a:off x="1115568" y="3346704"/>
            <a:ext cx="91440" cy="91440"/>
          </a:xfrm>
          <a:prstGeom prst="ellipse">
            <a:avLst/>
          </a:prstGeom>
          <a:solidFill>
            <a:srgbClr val="8C3A2B"/>
          </a:solidFill>
          <a:ln w="12700">
            <a:solidFill>
              <a:srgbClr val="8C3A2B"/>
            </a:solidFill>
            <a:prstDash val="solid"/>
          </a:ln>
        </p:spPr>
      </p:sp>
      <p:sp>
        <p:nvSpPr>
          <p:cNvPr id="10" name="Text 8"/>
          <p:cNvSpPr txBox="1"/>
          <p:nvPr/>
        </p:nvSpPr>
        <p:spPr>
          <a:xfrm>
            <a:off x="1399032" y="3236976"/>
            <a:ext cx="4114800" cy="457200"/>
          </a:xfrm>
          <a:prstGeom prst="rect">
            <a:avLst/>
          </a:prstGeom>
          <a:noFill/>
          <a:ln/>
        </p:spPr>
        <p:txBody>
          <a:bodyPr wrap="square" lIns="0" tIns="0" rIns="0" bIns="0" rtlCol="0" anchor="ctr"/>
          <a:lstStyle/>
          <a:p>
            <a:pPr indent="0" marL="0">
              <a:lnSpc>
                <a:spcPts val="1400"/>
              </a:lnSpc>
              <a:buNone/>
            </a:pPr>
            <a:r>
              <a:rPr lang="en-US" sz="1150" dirty="0">
                <a:solidFill>
                  <a:srgbClr val="2B2B31"/>
                </a:solidFill>
                <a:latin typeface="Calibri" pitchFamily="34" charset="0"/>
                <a:ea typeface="Calibri" pitchFamily="34" charset="-122"/>
                <a:cs typeface="Calibri" pitchFamily="34" charset="-120"/>
              </a:rPr>
              <a:t>Ürünü kullanım bağlamında gösteriyorsa — mankende, odada, bedende</a:t>
            </a:r>
            <a:endParaRPr lang="en-US" sz="1150" dirty="0"/>
          </a:p>
        </p:txBody>
      </p:sp>
      <p:sp>
        <p:nvSpPr>
          <p:cNvPr id="11" name="Shape 9"/>
          <p:cNvSpPr/>
          <p:nvPr/>
        </p:nvSpPr>
        <p:spPr>
          <a:xfrm>
            <a:off x="1115568" y="3803904"/>
            <a:ext cx="91440" cy="91440"/>
          </a:xfrm>
          <a:prstGeom prst="ellipse">
            <a:avLst/>
          </a:prstGeom>
          <a:solidFill>
            <a:srgbClr val="8C3A2B"/>
          </a:solidFill>
          <a:ln w="12700">
            <a:solidFill>
              <a:srgbClr val="8C3A2B"/>
            </a:solidFill>
            <a:prstDash val="solid"/>
          </a:ln>
        </p:spPr>
      </p:sp>
      <p:sp>
        <p:nvSpPr>
          <p:cNvPr id="12" name="Text 10"/>
          <p:cNvSpPr txBox="1"/>
          <p:nvPr/>
        </p:nvSpPr>
        <p:spPr>
          <a:xfrm>
            <a:off x="1399032" y="3694176"/>
            <a:ext cx="4114800" cy="457200"/>
          </a:xfrm>
          <a:prstGeom prst="rect">
            <a:avLst/>
          </a:prstGeom>
          <a:noFill/>
          <a:ln/>
        </p:spPr>
        <p:txBody>
          <a:bodyPr wrap="square" lIns="0" tIns="0" rIns="0" bIns="0" rtlCol="0" anchor="ctr"/>
          <a:lstStyle/>
          <a:p>
            <a:pPr indent="0" marL="0">
              <a:lnSpc>
                <a:spcPts val="1400"/>
              </a:lnSpc>
              <a:buNone/>
            </a:pPr>
            <a:r>
              <a:rPr lang="en-US" sz="1150" dirty="0">
                <a:solidFill>
                  <a:srgbClr val="2B2B31"/>
                </a:solidFill>
                <a:latin typeface="Calibri" pitchFamily="34" charset="0"/>
                <a:ea typeface="Calibri" pitchFamily="34" charset="-122"/>
                <a:cs typeface="Calibri" pitchFamily="34" charset="-120"/>
              </a:rPr>
              <a:t>Kişiselleştirmeyi mümkün kılıyorsa — ölçü, renk, isim</a:t>
            </a:r>
            <a:endParaRPr lang="en-US" sz="1150" dirty="0"/>
          </a:p>
        </p:txBody>
      </p:sp>
      <p:sp>
        <p:nvSpPr>
          <p:cNvPr id="13" name="Shape 11"/>
          <p:cNvSpPr/>
          <p:nvPr/>
        </p:nvSpPr>
        <p:spPr>
          <a:xfrm>
            <a:off x="1115568" y="4261104"/>
            <a:ext cx="91440" cy="91440"/>
          </a:xfrm>
          <a:prstGeom prst="ellipse">
            <a:avLst/>
          </a:prstGeom>
          <a:solidFill>
            <a:srgbClr val="8C3A2B"/>
          </a:solidFill>
          <a:ln w="12700">
            <a:solidFill>
              <a:srgbClr val="8C3A2B"/>
            </a:solidFill>
            <a:prstDash val="solid"/>
          </a:ln>
        </p:spPr>
      </p:sp>
      <p:sp>
        <p:nvSpPr>
          <p:cNvPr id="14" name="Text 12"/>
          <p:cNvSpPr txBox="1"/>
          <p:nvPr/>
        </p:nvSpPr>
        <p:spPr>
          <a:xfrm>
            <a:off x="1399032" y="4151376"/>
            <a:ext cx="4114800" cy="457200"/>
          </a:xfrm>
          <a:prstGeom prst="rect">
            <a:avLst/>
          </a:prstGeom>
          <a:noFill/>
          <a:ln/>
        </p:spPr>
        <p:txBody>
          <a:bodyPr wrap="square" lIns="0" tIns="0" rIns="0" bIns="0" rtlCol="0" anchor="ctr"/>
          <a:lstStyle/>
          <a:p>
            <a:pPr indent="0" marL="0">
              <a:lnSpc>
                <a:spcPts val="1400"/>
              </a:lnSpc>
              <a:buNone/>
            </a:pPr>
            <a:r>
              <a:rPr lang="en-US" sz="1150" dirty="0">
                <a:solidFill>
                  <a:srgbClr val="2B2B31"/>
                </a:solidFill>
                <a:latin typeface="Calibri" pitchFamily="34" charset="0"/>
                <a:ea typeface="Calibri" pitchFamily="34" charset="-122"/>
                <a:cs typeface="Calibri" pitchFamily="34" charset="-120"/>
              </a:rPr>
              <a:t>Erişilebilirliği artırıyorsa — sesli bilgi, büyük punto, dokunsal karşılık</a:t>
            </a:r>
            <a:endParaRPr lang="en-US" sz="1150" dirty="0"/>
          </a:p>
        </p:txBody>
      </p:sp>
      <p:sp>
        <p:nvSpPr>
          <p:cNvPr id="15" name="Shape 13"/>
          <p:cNvSpPr/>
          <p:nvPr/>
        </p:nvSpPr>
        <p:spPr>
          <a:xfrm>
            <a:off x="1115568" y="4718304"/>
            <a:ext cx="91440" cy="91440"/>
          </a:xfrm>
          <a:prstGeom prst="ellipse">
            <a:avLst/>
          </a:prstGeom>
          <a:solidFill>
            <a:srgbClr val="8C3A2B"/>
          </a:solidFill>
          <a:ln w="12700">
            <a:solidFill>
              <a:srgbClr val="8C3A2B"/>
            </a:solidFill>
            <a:prstDash val="solid"/>
          </a:ln>
        </p:spPr>
      </p:sp>
      <p:sp>
        <p:nvSpPr>
          <p:cNvPr id="16" name="Text 14"/>
          <p:cNvSpPr txBox="1"/>
          <p:nvPr/>
        </p:nvSpPr>
        <p:spPr>
          <a:xfrm>
            <a:off x="1399032" y="4608576"/>
            <a:ext cx="4114800" cy="457200"/>
          </a:xfrm>
          <a:prstGeom prst="rect">
            <a:avLst/>
          </a:prstGeom>
          <a:noFill/>
          <a:ln/>
        </p:spPr>
        <p:txBody>
          <a:bodyPr wrap="square" lIns="0" tIns="0" rIns="0" bIns="0" rtlCol="0" anchor="ctr"/>
          <a:lstStyle/>
          <a:p>
            <a:pPr indent="0" marL="0">
              <a:lnSpc>
                <a:spcPts val="1400"/>
              </a:lnSpc>
              <a:buNone/>
            </a:pPr>
            <a:r>
              <a:rPr lang="en-US" sz="1150" dirty="0">
                <a:solidFill>
                  <a:srgbClr val="2B2B31"/>
                </a:solidFill>
                <a:latin typeface="Calibri" pitchFamily="34" charset="0"/>
                <a:ea typeface="Calibri" pitchFamily="34" charset="-122"/>
                <a:cs typeface="Calibri" pitchFamily="34" charset="-120"/>
              </a:rPr>
              <a:t>Mekânın kendisiyle uyumluysa — malzemeye ve ışığa gömülüyse</a:t>
            </a:r>
            <a:endParaRPr lang="en-US" sz="1150" dirty="0"/>
          </a:p>
        </p:txBody>
      </p:sp>
      <p:sp>
        <p:nvSpPr>
          <p:cNvPr id="17" name="Shape 15"/>
          <p:cNvSpPr/>
          <p:nvPr/>
        </p:nvSpPr>
        <p:spPr>
          <a:xfrm>
            <a:off x="6382512" y="2103120"/>
            <a:ext cx="5029200" cy="3017520"/>
          </a:xfrm>
          <a:prstGeom prst="rect">
            <a:avLst/>
          </a:prstGeom>
          <a:ln w="9525">
            <a:solidFill>
              <a:srgbClr val="C9C9CF"/>
            </a:solidFill>
            <a:prstDash val="solid"/>
          </a:ln>
        </p:spPr>
      </p:sp>
      <p:sp>
        <p:nvSpPr>
          <p:cNvPr id="18" name="Text 16"/>
          <p:cNvSpPr txBox="1"/>
          <p:nvPr/>
        </p:nvSpPr>
        <p:spPr>
          <a:xfrm>
            <a:off x="6675120" y="2359152"/>
            <a:ext cx="4443984" cy="310896"/>
          </a:xfrm>
          <a:prstGeom prst="rect">
            <a:avLst/>
          </a:prstGeom>
          <a:noFill/>
          <a:ln/>
        </p:spPr>
        <p:txBody>
          <a:bodyPr wrap="square" lIns="0" tIns="0" rIns="0" bIns="0" rtlCol="0" anchor="ctr"/>
          <a:lstStyle/>
          <a:p>
            <a:pPr indent="0" marL="0">
              <a:buNone/>
            </a:pPr>
            <a:r>
              <a:rPr lang="en-US" sz="1100" b="1" spc="160" kern="0" dirty="0">
                <a:solidFill>
                  <a:srgbClr val="7A7A82"/>
                </a:solidFill>
                <a:latin typeface="Calibri" pitchFamily="34" charset="0"/>
                <a:ea typeface="Calibri" pitchFamily="34" charset="-122"/>
                <a:cs typeface="Calibri" pitchFamily="34" charset="-120"/>
              </a:rPr>
              <a:t>İŞE YARAMAZ</a:t>
            </a:r>
            <a:endParaRPr lang="en-US" sz="1100" dirty="0"/>
          </a:p>
        </p:txBody>
      </p:sp>
      <p:sp>
        <p:nvSpPr>
          <p:cNvPr id="19" name="Shape 17"/>
          <p:cNvSpPr/>
          <p:nvPr/>
        </p:nvSpPr>
        <p:spPr>
          <a:xfrm>
            <a:off x="6720840" y="2889504"/>
            <a:ext cx="91440" cy="91440"/>
          </a:xfrm>
          <a:prstGeom prst="ellipse">
            <a:avLst/>
          </a:prstGeom>
          <a:solidFill>
            <a:srgbClr val="A6A6AC"/>
          </a:solidFill>
          <a:ln w="12700">
            <a:solidFill>
              <a:srgbClr val="A6A6AC"/>
            </a:solidFill>
            <a:prstDash val="solid"/>
          </a:ln>
        </p:spPr>
      </p:sp>
      <p:sp>
        <p:nvSpPr>
          <p:cNvPr id="20" name="Text 18"/>
          <p:cNvSpPr txBox="1"/>
          <p:nvPr/>
        </p:nvSpPr>
        <p:spPr>
          <a:xfrm>
            <a:off x="7004304" y="2779776"/>
            <a:ext cx="4114800" cy="457200"/>
          </a:xfrm>
          <a:prstGeom prst="rect">
            <a:avLst/>
          </a:prstGeom>
          <a:noFill/>
          <a:ln/>
        </p:spPr>
        <p:txBody>
          <a:bodyPr wrap="square" lIns="0" tIns="0" rIns="0" bIns="0" rtlCol="0" anchor="ctr"/>
          <a:lstStyle/>
          <a:p>
            <a:pPr indent="0" marL="0">
              <a:lnSpc>
                <a:spcPts val="1400"/>
              </a:lnSpc>
              <a:buNone/>
            </a:pPr>
            <a:r>
              <a:rPr lang="en-US" sz="1150" dirty="0">
                <a:solidFill>
                  <a:srgbClr val="7A7A82"/>
                </a:solidFill>
                <a:latin typeface="Calibri" pitchFamily="34" charset="0"/>
                <a:ea typeface="Calibri" pitchFamily="34" charset="-122"/>
                <a:cs typeface="Calibri" pitchFamily="34" charset="-120"/>
              </a:rPr>
              <a:t>Duvara asılmış, kimsenin bakmadığı ekran</a:t>
            </a:r>
            <a:endParaRPr lang="en-US" sz="1150" dirty="0"/>
          </a:p>
        </p:txBody>
      </p:sp>
      <p:sp>
        <p:nvSpPr>
          <p:cNvPr id="21" name="Shape 19"/>
          <p:cNvSpPr/>
          <p:nvPr/>
        </p:nvSpPr>
        <p:spPr>
          <a:xfrm>
            <a:off x="6720840" y="3346704"/>
            <a:ext cx="91440" cy="91440"/>
          </a:xfrm>
          <a:prstGeom prst="ellipse">
            <a:avLst/>
          </a:prstGeom>
          <a:solidFill>
            <a:srgbClr val="A6A6AC"/>
          </a:solidFill>
          <a:ln w="12700">
            <a:solidFill>
              <a:srgbClr val="A6A6AC"/>
            </a:solidFill>
            <a:prstDash val="solid"/>
          </a:ln>
        </p:spPr>
      </p:sp>
      <p:sp>
        <p:nvSpPr>
          <p:cNvPr id="22" name="Text 20"/>
          <p:cNvSpPr txBox="1"/>
          <p:nvPr/>
        </p:nvSpPr>
        <p:spPr>
          <a:xfrm>
            <a:off x="7004304" y="3236976"/>
            <a:ext cx="4114800" cy="457200"/>
          </a:xfrm>
          <a:prstGeom prst="rect">
            <a:avLst/>
          </a:prstGeom>
          <a:noFill/>
          <a:ln/>
        </p:spPr>
        <p:txBody>
          <a:bodyPr wrap="square" lIns="0" tIns="0" rIns="0" bIns="0" rtlCol="0" anchor="ctr"/>
          <a:lstStyle/>
          <a:p>
            <a:pPr indent="0" marL="0">
              <a:lnSpc>
                <a:spcPts val="1400"/>
              </a:lnSpc>
              <a:buNone/>
            </a:pPr>
            <a:r>
              <a:rPr lang="en-US" sz="1150" dirty="0">
                <a:solidFill>
                  <a:srgbClr val="7A7A82"/>
                </a:solidFill>
                <a:latin typeface="Calibri" pitchFamily="34" charset="0"/>
                <a:ea typeface="Calibri" pitchFamily="34" charset="-122"/>
                <a:cs typeface="Calibri" pitchFamily="34" charset="-120"/>
              </a:rPr>
              <a:t>Telefonda zaten olan bilgiyi tekrar eden arayüz</a:t>
            </a:r>
            <a:endParaRPr lang="en-US" sz="1150" dirty="0"/>
          </a:p>
        </p:txBody>
      </p:sp>
      <p:sp>
        <p:nvSpPr>
          <p:cNvPr id="23" name="Shape 21"/>
          <p:cNvSpPr/>
          <p:nvPr/>
        </p:nvSpPr>
        <p:spPr>
          <a:xfrm>
            <a:off x="6720840" y="3803904"/>
            <a:ext cx="91440" cy="91440"/>
          </a:xfrm>
          <a:prstGeom prst="ellipse">
            <a:avLst/>
          </a:prstGeom>
          <a:solidFill>
            <a:srgbClr val="A6A6AC"/>
          </a:solidFill>
          <a:ln w="12700">
            <a:solidFill>
              <a:srgbClr val="A6A6AC"/>
            </a:solidFill>
            <a:prstDash val="solid"/>
          </a:ln>
        </p:spPr>
      </p:sp>
      <p:sp>
        <p:nvSpPr>
          <p:cNvPr id="24" name="Text 22"/>
          <p:cNvSpPr txBox="1"/>
          <p:nvPr/>
        </p:nvSpPr>
        <p:spPr>
          <a:xfrm>
            <a:off x="7004304" y="3694176"/>
            <a:ext cx="4114800" cy="457200"/>
          </a:xfrm>
          <a:prstGeom prst="rect">
            <a:avLst/>
          </a:prstGeom>
          <a:noFill/>
          <a:ln/>
        </p:spPr>
        <p:txBody>
          <a:bodyPr wrap="square" lIns="0" tIns="0" rIns="0" bIns="0" rtlCol="0" anchor="ctr"/>
          <a:lstStyle/>
          <a:p>
            <a:pPr indent="0" marL="0">
              <a:lnSpc>
                <a:spcPts val="1400"/>
              </a:lnSpc>
              <a:buNone/>
            </a:pPr>
            <a:r>
              <a:rPr lang="en-US" sz="1150" dirty="0">
                <a:solidFill>
                  <a:srgbClr val="7A7A82"/>
                </a:solidFill>
                <a:latin typeface="Calibri" pitchFamily="34" charset="0"/>
                <a:ea typeface="Calibri" pitchFamily="34" charset="-122"/>
                <a:cs typeface="Calibri" pitchFamily="34" charset="-120"/>
              </a:rPr>
              <a:t>Kullanımı personel yardımı gerektiren 'self-servis' cihaz</a:t>
            </a:r>
            <a:endParaRPr lang="en-US" sz="1150" dirty="0"/>
          </a:p>
        </p:txBody>
      </p:sp>
      <p:sp>
        <p:nvSpPr>
          <p:cNvPr id="25" name="Shape 23"/>
          <p:cNvSpPr/>
          <p:nvPr/>
        </p:nvSpPr>
        <p:spPr>
          <a:xfrm>
            <a:off x="6720840" y="4261104"/>
            <a:ext cx="91440" cy="91440"/>
          </a:xfrm>
          <a:prstGeom prst="ellipse">
            <a:avLst/>
          </a:prstGeom>
          <a:solidFill>
            <a:srgbClr val="A6A6AC"/>
          </a:solidFill>
          <a:ln w="12700">
            <a:solidFill>
              <a:srgbClr val="A6A6AC"/>
            </a:solidFill>
            <a:prstDash val="solid"/>
          </a:ln>
        </p:spPr>
      </p:sp>
      <p:sp>
        <p:nvSpPr>
          <p:cNvPr id="26" name="Text 24"/>
          <p:cNvSpPr txBox="1"/>
          <p:nvPr/>
        </p:nvSpPr>
        <p:spPr>
          <a:xfrm>
            <a:off x="7004304" y="4151376"/>
            <a:ext cx="4114800" cy="457200"/>
          </a:xfrm>
          <a:prstGeom prst="rect">
            <a:avLst/>
          </a:prstGeom>
          <a:noFill/>
          <a:ln/>
        </p:spPr>
        <p:txBody>
          <a:bodyPr wrap="square" lIns="0" tIns="0" rIns="0" bIns="0" rtlCol="0" anchor="ctr"/>
          <a:lstStyle/>
          <a:p>
            <a:pPr indent="0" marL="0">
              <a:lnSpc>
                <a:spcPts val="1400"/>
              </a:lnSpc>
              <a:buNone/>
            </a:pPr>
            <a:r>
              <a:rPr lang="en-US" sz="1150" dirty="0">
                <a:solidFill>
                  <a:srgbClr val="7A7A82"/>
                </a:solidFill>
                <a:latin typeface="Calibri" pitchFamily="34" charset="0"/>
                <a:ea typeface="Calibri" pitchFamily="34" charset="-122"/>
                <a:cs typeface="Calibri" pitchFamily="34" charset="-120"/>
              </a:rPr>
              <a:t>Bakımı yapılmadığında mekânı bozan, kapalı duran ünite</a:t>
            </a:r>
            <a:endParaRPr lang="en-US" sz="1150" dirty="0"/>
          </a:p>
        </p:txBody>
      </p:sp>
      <p:sp>
        <p:nvSpPr>
          <p:cNvPr id="27" name="Shape 25"/>
          <p:cNvSpPr/>
          <p:nvPr/>
        </p:nvSpPr>
        <p:spPr>
          <a:xfrm>
            <a:off x="6720840" y="4718304"/>
            <a:ext cx="91440" cy="91440"/>
          </a:xfrm>
          <a:prstGeom prst="ellipse">
            <a:avLst/>
          </a:prstGeom>
          <a:solidFill>
            <a:srgbClr val="A6A6AC"/>
          </a:solidFill>
          <a:ln w="12700">
            <a:solidFill>
              <a:srgbClr val="A6A6AC"/>
            </a:solidFill>
            <a:prstDash val="solid"/>
          </a:ln>
        </p:spPr>
      </p:sp>
      <p:sp>
        <p:nvSpPr>
          <p:cNvPr id="28" name="Text 26"/>
          <p:cNvSpPr txBox="1"/>
          <p:nvPr/>
        </p:nvSpPr>
        <p:spPr>
          <a:xfrm>
            <a:off x="7004304" y="4608576"/>
            <a:ext cx="4114800" cy="457200"/>
          </a:xfrm>
          <a:prstGeom prst="rect">
            <a:avLst/>
          </a:prstGeom>
          <a:noFill/>
          <a:ln/>
        </p:spPr>
        <p:txBody>
          <a:bodyPr wrap="square" lIns="0" tIns="0" rIns="0" bIns="0" rtlCol="0" anchor="ctr"/>
          <a:lstStyle/>
          <a:p>
            <a:pPr indent="0" marL="0">
              <a:lnSpc>
                <a:spcPts val="1400"/>
              </a:lnSpc>
              <a:buNone/>
            </a:pPr>
            <a:r>
              <a:rPr lang="en-US" sz="1150" dirty="0">
                <a:solidFill>
                  <a:srgbClr val="7A7A82"/>
                </a:solidFill>
                <a:latin typeface="Calibri" pitchFamily="34" charset="0"/>
                <a:ea typeface="Calibri" pitchFamily="34" charset="-122"/>
                <a:cs typeface="Calibri" pitchFamily="34" charset="-120"/>
              </a:rPr>
              <a:t>Zayıf çözülmüş bir planı örtmek için eklenen gösteri</a:t>
            </a:r>
            <a:endParaRPr lang="en-US" sz="1150" dirty="0"/>
          </a:p>
        </p:txBody>
      </p:sp>
      <p:sp>
        <p:nvSpPr>
          <p:cNvPr id="29" name="Text 27"/>
          <p:cNvSpPr txBox="1"/>
          <p:nvPr/>
        </p:nvSpPr>
        <p:spPr>
          <a:xfrm>
            <a:off x="777240" y="5349240"/>
            <a:ext cx="10424160" cy="640080"/>
          </a:xfrm>
          <a:prstGeom prst="rect">
            <a:avLst/>
          </a:prstGeom>
          <a:noFill/>
          <a:ln/>
        </p:spPr>
        <p:txBody>
          <a:bodyPr wrap="square" lIns="0" tIns="0" rIns="0" bIns="0" rtlCol="0" anchor="ctr"/>
          <a:lstStyle/>
          <a:p>
            <a:pPr algn="l" indent="0" marL="0">
              <a:lnSpc>
                <a:spcPts val="1800"/>
              </a:lnSpc>
              <a:buNone/>
            </a:pPr>
            <a:r>
              <a:rPr lang="en-US" sz="1250" dirty="0">
                <a:solidFill>
                  <a:srgbClr val="2B2B31"/>
                </a:solidFill>
                <a:latin typeface="Cambria" pitchFamily="34" charset="0"/>
                <a:ea typeface="Cambria" pitchFamily="34" charset="-122"/>
                <a:cs typeface="Cambria" pitchFamily="34" charset="-120"/>
              </a:rPr>
              <a:t>Elli çalışmayı inceleyen bir derleme, gelişmiş sistemler yaygınlaştıkça bile malzemenin, ışığın, sesin ve rengin anlatım gücünün belirleyici kaldığını gösteriyor. Dijital sistemler bu nitelikleri ikame etmiyor, derinleştiriyor (Ratnayake vd., 2026).</a:t>
            </a:r>
            <a:endParaRPr lang="en-US" sz="1250" dirty="0"/>
          </a:p>
        </p:txBody>
      </p:sp>
      <p:sp>
        <p:nvSpPr>
          <p:cNvPr id="30" name="Text 28"/>
          <p:cNvSpPr txBox="1"/>
          <p:nvPr/>
        </p:nvSpPr>
        <p:spPr>
          <a:xfrm>
            <a:off x="777240" y="6035040"/>
            <a:ext cx="10424160" cy="365760"/>
          </a:xfrm>
          <a:prstGeom prst="rect">
            <a:avLst/>
          </a:prstGeom>
          <a:noFill/>
          <a:ln/>
        </p:spPr>
        <p:txBody>
          <a:bodyPr wrap="square" lIns="0" tIns="0" rIns="0" bIns="0" rtlCol="0" anchor="ctr"/>
          <a:lstStyle/>
          <a:p>
            <a:pPr algn="l" indent="0" marL="0">
              <a:lnSpc>
                <a:spcPts val="1200"/>
              </a:lnSpc>
              <a:buNone/>
            </a:pPr>
            <a:r>
              <a:rPr lang="en-US" sz="1400" i="1" dirty="0">
                <a:solidFill>
                  <a:srgbClr val="8C3A2B"/>
                </a:solidFill>
                <a:latin typeface="Cambria" pitchFamily="34" charset="0"/>
                <a:ea typeface="Cambria" pitchFamily="34" charset="-122"/>
                <a:cs typeface="Cambria" pitchFamily="34" charset="-120"/>
              </a:rPr>
              <a:t>Kısacası: iyi çözülmemiş bir mekânı teknoloji kurtarmaz.</a:t>
            </a:r>
            <a:endParaRPr lang="en-US" sz="14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CFCFA"/>
        </a:solidFill>
      </p:bgPr>
    </p:bg>
    <p:spTree>
      <p:nvGrpSpPr>
        <p:cNvPr id="1" name=""/>
        <p:cNvGrpSpPr/>
        <p:nvPr/>
      </p:nvGrpSpPr>
      <p:grpSpPr>
        <a:xfrm>
          <a:off x="0" y="0"/>
          <a:ext cx="0" cy="0"/>
          <a:chOff x="0" y="0"/>
          <a:chExt cx="0" cy="0"/>
        </a:xfrm>
      </p:grpSpPr>
      <p:sp>
        <p:nvSpPr>
          <p:cNvPr id="2" name="Text 0"/>
          <p:cNvSpPr txBox="1"/>
          <p:nvPr/>
        </p:nvSpPr>
        <p:spPr>
          <a:xfrm>
            <a:off x="777240" y="475488"/>
            <a:ext cx="9601200" cy="237744"/>
          </a:xfrm>
          <a:prstGeom prst="rect">
            <a:avLst/>
          </a:prstGeom>
          <a:noFill/>
          <a:ln/>
        </p:spPr>
        <p:txBody>
          <a:bodyPr wrap="square" lIns="0" tIns="0" rIns="0" bIns="0" rtlCol="0" anchor="ctr"/>
          <a:lstStyle/>
          <a:p>
            <a:pPr indent="0" marL="0">
              <a:buNone/>
            </a:pPr>
            <a:r>
              <a:rPr lang="en-US" sz="950" b="1" spc="260" kern="0" dirty="0">
                <a:solidFill>
                  <a:srgbClr val="7A7A82"/>
                </a:solidFill>
                <a:latin typeface="Calibri" pitchFamily="34" charset="0"/>
                <a:ea typeface="Calibri" pitchFamily="34" charset="-122"/>
                <a:cs typeface="Calibri" pitchFamily="34" charset="-120"/>
              </a:rPr>
              <a:t>IX · TEKNOLOJİ</a:t>
            </a:r>
            <a:endParaRPr lang="en-US" sz="950" dirty="0"/>
          </a:p>
        </p:txBody>
      </p:sp>
      <p:sp>
        <p:nvSpPr>
          <p:cNvPr id="3" name="Text 1"/>
          <p:cNvSpPr txBox="1"/>
          <p:nvPr/>
        </p:nvSpPr>
        <p:spPr>
          <a:xfrm>
            <a:off x="777240" y="822960"/>
            <a:ext cx="10424160" cy="731520"/>
          </a:xfrm>
          <a:prstGeom prst="rect">
            <a:avLst/>
          </a:prstGeom>
          <a:noFill/>
          <a:ln/>
        </p:spPr>
        <p:txBody>
          <a:bodyPr wrap="square" lIns="0" tIns="0" rIns="0" bIns="0" rtlCol="0" anchor="ctr"/>
          <a:lstStyle/>
          <a:p>
            <a:pPr indent="0" marL="0">
              <a:lnSpc>
                <a:spcPts val="3400"/>
              </a:lnSpc>
              <a:buNone/>
            </a:pPr>
            <a:r>
              <a:rPr lang="en-US" sz="2900" b="1" dirty="0">
                <a:solidFill>
                  <a:srgbClr val="16161A"/>
                </a:solidFill>
                <a:latin typeface="Cambria" pitchFamily="34" charset="0"/>
                <a:ea typeface="Cambria" pitchFamily="34" charset="-122"/>
                <a:cs typeface="Cambria" pitchFamily="34" charset="-120"/>
              </a:rPr>
              <a:t>Somut olan, hayalî olandan güçlüdür</a:t>
            </a:r>
            <a:endParaRPr lang="en-US" sz="2900" dirty="0"/>
          </a:p>
        </p:txBody>
      </p:sp>
      <p:sp>
        <p:nvSpPr>
          <p:cNvPr id="4" name="Text 2"/>
          <p:cNvSpPr txBox="1"/>
          <p:nvPr/>
        </p:nvSpPr>
        <p:spPr>
          <a:xfrm>
            <a:off x="10972800" y="6355080"/>
            <a:ext cx="438912" cy="237744"/>
          </a:xfrm>
          <a:prstGeom prst="rect">
            <a:avLst/>
          </a:prstGeom>
          <a:noFill/>
          <a:ln/>
        </p:spPr>
        <p:txBody>
          <a:bodyPr wrap="square" lIns="0" tIns="0" rIns="0" bIns="0" rtlCol="0" anchor="ctr"/>
          <a:lstStyle/>
          <a:p>
            <a:pPr algn="r" indent="0" marL="0">
              <a:buNone/>
            </a:pPr>
            <a:r>
              <a:rPr lang="en-US" sz="950" dirty="0">
                <a:solidFill>
                  <a:srgbClr val="A6A6AC"/>
                </a:solidFill>
                <a:latin typeface="Calibri" pitchFamily="34" charset="0"/>
                <a:ea typeface="Calibri" pitchFamily="34" charset="-122"/>
                <a:cs typeface="Calibri" pitchFamily="34" charset="-120"/>
              </a:rPr>
              <a:t>47</a:t>
            </a:r>
            <a:endParaRPr lang="en-US" sz="950" dirty="0"/>
          </a:p>
        </p:txBody>
      </p:sp>
      <p:sp>
        <p:nvSpPr>
          <p:cNvPr id="5" name="Shape 3"/>
          <p:cNvSpPr/>
          <p:nvPr/>
        </p:nvSpPr>
        <p:spPr>
          <a:xfrm>
            <a:off x="1234440" y="2331720"/>
            <a:ext cx="4206240" cy="2011680"/>
          </a:xfrm>
          <a:prstGeom prst="rect">
            <a:avLst/>
          </a:prstGeom>
          <a:solidFill>
            <a:srgbClr val="F6EAE6"/>
          </a:solidFill>
          <a:ln w="15875">
            <a:solidFill>
              <a:srgbClr val="8C3A2B"/>
            </a:solidFill>
            <a:prstDash val="solid"/>
          </a:ln>
        </p:spPr>
      </p:sp>
      <p:sp>
        <p:nvSpPr>
          <p:cNvPr id="6" name="Text 4"/>
          <p:cNvSpPr txBox="1"/>
          <p:nvPr/>
        </p:nvSpPr>
        <p:spPr>
          <a:xfrm>
            <a:off x="1481328" y="2560320"/>
            <a:ext cx="3712464" cy="292608"/>
          </a:xfrm>
          <a:prstGeom prst="rect">
            <a:avLst/>
          </a:prstGeom>
          <a:noFill/>
          <a:ln/>
        </p:spPr>
        <p:txBody>
          <a:bodyPr wrap="square" lIns="0" tIns="0" rIns="0" bIns="0" rtlCol="0" anchor="ctr"/>
          <a:lstStyle/>
          <a:p>
            <a:pPr indent="0" marL="0">
              <a:buNone/>
            </a:pPr>
            <a:r>
              <a:rPr lang="en-US" sz="1050" b="1" spc="140" kern="0" dirty="0">
                <a:solidFill>
                  <a:srgbClr val="8C3A2B"/>
                </a:solidFill>
                <a:latin typeface="Calibri" pitchFamily="34" charset="0"/>
                <a:ea typeface="Calibri" pitchFamily="34" charset="-122"/>
                <a:cs typeface="Calibri" pitchFamily="34" charset="-120"/>
              </a:rPr>
              <a:t>BAĞLAMSAL SUNUM</a:t>
            </a:r>
            <a:endParaRPr lang="en-US" sz="1050" dirty="0"/>
          </a:p>
        </p:txBody>
      </p:sp>
      <p:sp>
        <p:nvSpPr>
          <p:cNvPr id="7" name="Text 5"/>
          <p:cNvSpPr txBox="1"/>
          <p:nvPr/>
        </p:nvSpPr>
        <p:spPr>
          <a:xfrm>
            <a:off x="1481328" y="2898648"/>
            <a:ext cx="3712464" cy="548640"/>
          </a:xfrm>
          <a:prstGeom prst="rect">
            <a:avLst/>
          </a:prstGeom>
          <a:noFill/>
          <a:ln/>
        </p:spPr>
        <p:txBody>
          <a:bodyPr wrap="square" lIns="0" tIns="0" rIns="0" bIns="0" rtlCol="0" anchor="ctr"/>
          <a:lstStyle/>
          <a:p>
            <a:pPr indent="0" marL="0">
              <a:lnSpc>
                <a:spcPts val="1900"/>
              </a:lnSpc>
              <a:buNone/>
            </a:pPr>
            <a:r>
              <a:rPr lang="en-US" sz="1400" dirty="0">
                <a:solidFill>
                  <a:srgbClr val="16161A"/>
                </a:solidFill>
                <a:latin typeface="Cambria" pitchFamily="34" charset="0"/>
                <a:ea typeface="Cambria" pitchFamily="34" charset="-122"/>
                <a:cs typeface="Cambria" pitchFamily="34" charset="-120"/>
              </a:rPr>
              <a:t>Ürün tanıdık ve kullanımla ilgili bir ortamda gösterilir.</a:t>
            </a:r>
            <a:endParaRPr lang="en-US" sz="1400" dirty="0"/>
          </a:p>
        </p:txBody>
      </p:sp>
      <p:sp>
        <p:nvSpPr>
          <p:cNvPr id="8" name="Text 6"/>
          <p:cNvSpPr txBox="1"/>
          <p:nvPr/>
        </p:nvSpPr>
        <p:spPr>
          <a:xfrm>
            <a:off x="1481328" y="3502152"/>
            <a:ext cx="3712464" cy="685800"/>
          </a:xfrm>
          <a:prstGeom prst="rect">
            <a:avLst/>
          </a:prstGeom>
          <a:noFill/>
          <a:ln/>
        </p:spPr>
        <p:txBody>
          <a:bodyPr wrap="square" lIns="0" tIns="0" rIns="0" bIns="0" rtlCol="0" anchor="ctr"/>
          <a:lstStyle/>
          <a:p>
            <a:pPr indent="0" marL="0">
              <a:lnSpc>
                <a:spcPts val="1350"/>
              </a:lnSpc>
              <a:buNone/>
            </a:pPr>
            <a:r>
              <a:rPr lang="en-US" sz="1050" dirty="0">
                <a:solidFill>
                  <a:srgbClr val="7A7A82"/>
                </a:solidFill>
                <a:latin typeface="Calibri" pitchFamily="34" charset="0"/>
                <a:ea typeface="Calibri" pitchFamily="34" charset="-122"/>
                <a:cs typeface="Calibri" pitchFamily="34" charset="-120"/>
              </a:rPr>
              <a:t>Mankende giyilmiş bir ceket · döşenmiş bir odada duran mobilya · masada kurulmuş bir sofra takımı</a:t>
            </a:r>
            <a:endParaRPr lang="en-US" sz="1050" dirty="0"/>
          </a:p>
        </p:txBody>
      </p:sp>
      <p:sp>
        <p:nvSpPr>
          <p:cNvPr id="9" name="Shape 7"/>
          <p:cNvSpPr/>
          <p:nvPr/>
        </p:nvSpPr>
        <p:spPr>
          <a:xfrm>
            <a:off x="6720840" y="2331720"/>
            <a:ext cx="4206240" cy="2011680"/>
          </a:xfrm>
          <a:prstGeom prst="rect">
            <a:avLst/>
          </a:prstGeom>
          <a:ln w="9525">
            <a:solidFill>
              <a:srgbClr val="C9C9CF"/>
            </a:solidFill>
            <a:prstDash val="solid"/>
          </a:ln>
        </p:spPr>
      </p:sp>
      <p:sp>
        <p:nvSpPr>
          <p:cNvPr id="10" name="Text 8"/>
          <p:cNvSpPr txBox="1"/>
          <p:nvPr/>
        </p:nvSpPr>
        <p:spPr>
          <a:xfrm>
            <a:off x="6967728" y="2560320"/>
            <a:ext cx="3712464" cy="292608"/>
          </a:xfrm>
          <a:prstGeom prst="rect">
            <a:avLst/>
          </a:prstGeom>
          <a:noFill/>
          <a:ln/>
        </p:spPr>
        <p:txBody>
          <a:bodyPr wrap="square" lIns="0" tIns="0" rIns="0" bIns="0" rtlCol="0" anchor="ctr"/>
          <a:lstStyle/>
          <a:p>
            <a:pPr indent="0" marL="0">
              <a:buNone/>
            </a:pPr>
            <a:r>
              <a:rPr lang="en-US" sz="1050" b="1" spc="140" kern="0" dirty="0">
                <a:solidFill>
                  <a:srgbClr val="7A7A82"/>
                </a:solidFill>
                <a:latin typeface="Calibri" pitchFamily="34" charset="0"/>
                <a:ea typeface="Calibri" pitchFamily="34" charset="-122"/>
                <a:cs typeface="Calibri" pitchFamily="34" charset="-120"/>
              </a:rPr>
              <a:t>HAYALÎ SUNUM</a:t>
            </a:r>
            <a:endParaRPr lang="en-US" sz="1050" dirty="0"/>
          </a:p>
        </p:txBody>
      </p:sp>
      <p:sp>
        <p:nvSpPr>
          <p:cNvPr id="11" name="Text 9"/>
          <p:cNvSpPr txBox="1"/>
          <p:nvPr/>
        </p:nvSpPr>
        <p:spPr>
          <a:xfrm>
            <a:off x="6967728" y="2898648"/>
            <a:ext cx="3712464" cy="548640"/>
          </a:xfrm>
          <a:prstGeom prst="rect">
            <a:avLst/>
          </a:prstGeom>
          <a:noFill/>
          <a:ln/>
        </p:spPr>
        <p:txBody>
          <a:bodyPr wrap="square" lIns="0" tIns="0" rIns="0" bIns="0" rtlCol="0" anchor="ctr"/>
          <a:lstStyle/>
          <a:p>
            <a:pPr indent="0" marL="0">
              <a:lnSpc>
                <a:spcPts val="1900"/>
              </a:lnSpc>
              <a:buNone/>
            </a:pPr>
            <a:r>
              <a:rPr lang="en-US" sz="1400" dirty="0">
                <a:solidFill>
                  <a:srgbClr val="16161A"/>
                </a:solidFill>
                <a:latin typeface="Cambria" pitchFamily="34" charset="0"/>
                <a:ea typeface="Cambria" pitchFamily="34" charset="-122"/>
                <a:cs typeface="Cambria" pitchFamily="34" charset="-120"/>
              </a:rPr>
              <a:t>Ürün fantastik, soyut ya da alışılmadık bir kurgu içinde sunulur.</a:t>
            </a:r>
            <a:endParaRPr lang="en-US" sz="1400" dirty="0"/>
          </a:p>
        </p:txBody>
      </p:sp>
      <p:sp>
        <p:nvSpPr>
          <p:cNvPr id="12" name="Text 10"/>
          <p:cNvSpPr txBox="1"/>
          <p:nvPr/>
        </p:nvSpPr>
        <p:spPr>
          <a:xfrm>
            <a:off x="6967728" y="3502152"/>
            <a:ext cx="3712464" cy="685800"/>
          </a:xfrm>
          <a:prstGeom prst="rect">
            <a:avLst/>
          </a:prstGeom>
          <a:noFill/>
          <a:ln/>
        </p:spPr>
        <p:txBody>
          <a:bodyPr wrap="square" lIns="0" tIns="0" rIns="0" bIns="0" rtlCol="0" anchor="ctr"/>
          <a:lstStyle/>
          <a:p>
            <a:pPr indent="0" marL="0">
              <a:lnSpc>
                <a:spcPts val="1350"/>
              </a:lnSpc>
              <a:buNone/>
            </a:pPr>
            <a:r>
              <a:rPr lang="en-US" sz="1050" dirty="0">
                <a:solidFill>
                  <a:srgbClr val="7A7A82"/>
                </a:solidFill>
                <a:latin typeface="Calibri" pitchFamily="34" charset="0"/>
                <a:ea typeface="Calibri" pitchFamily="34" charset="-122"/>
                <a:cs typeface="Calibri" pitchFamily="34" charset="-120"/>
              </a:rPr>
              <a:t>Havada asılı duran ürün · soyut bir sahnede tek başına sergilenen nesne</a:t>
            </a:r>
            <a:endParaRPr lang="en-US" sz="1050" dirty="0"/>
          </a:p>
        </p:txBody>
      </p:sp>
      <p:sp>
        <p:nvSpPr>
          <p:cNvPr id="13" name="Shape 11"/>
          <p:cNvSpPr/>
          <p:nvPr/>
        </p:nvSpPr>
        <p:spPr>
          <a:xfrm>
            <a:off x="5623560" y="3337560"/>
            <a:ext cx="914400" cy="0"/>
          </a:xfrm>
          <a:prstGeom prst="line">
            <a:avLst/>
          </a:prstGeom>
          <a:noFill/>
          <a:ln w="15875">
            <a:solidFill>
              <a:srgbClr val="C9C9CF"/>
            </a:solidFill>
            <a:prstDash val="solid"/>
            <a:tailEnd type="triangle"/>
          </a:ln>
        </p:spPr>
      </p:sp>
      <p:sp>
        <p:nvSpPr>
          <p:cNvPr id="14" name="Text 12"/>
          <p:cNvSpPr txBox="1"/>
          <p:nvPr/>
        </p:nvSpPr>
        <p:spPr>
          <a:xfrm>
            <a:off x="5349240" y="2834640"/>
            <a:ext cx="1463040" cy="274320"/>
          </a:xfrm>
          <a:prstGeom prst="rect">
            <a:avLst/>
          </a:prstGeom>
          <a:noFill/>
          <a:ln/>
        </p:spPr>
        <p:txBody>
          <a:bodyPr wrap="square" lIns="0" tIns="0" rIns="0" bIns="0" rtlCol="0" anchor="ctr"/>
          <a:lstStyle/>
          <a:p>
            <a:pPr algn="ctr" indent="0" marL="0">
              <a:lnSpc>
                <a:spcPts val="1200"/>
              </a:lnSpc>
              <a:buNone/>
            </a:pPr>
            <a:r>
              <a:rPr lang="en-US" sz="1000" b="1" dirty="0">
                <a:solidFill>
                  <a:srgbClr val="8C3A2B"/>
                </a:solidFill>
                <a:latin typeface="Calibri" pitchFamily="34" charset="0"/>
                <a:ea typeface="Calibri" pitchFamily="34" charset="-122"/>
                <a:cs typeface="Calibri" pitchFamily="34" charset="-120"/>
              </a:rPr>
              <a:t>daha güçlü</a:t>
            </a:r>
            <a:endParaRPr lang="en-US" sz="1000" dirty="0"/>
          </a:p>
        </p:txBody>
      </p:sp>
      <p:sp>
        <p:nvSpPr>
          <p:cNvPr id="15" name="Text 13"/>
          <p:cNvSpPr txBox="1"/>
          <p:nvPr/>
        </p:nvSpPr>
        <p:spPr>
          <a:xfrm>
            <a:off x="777240" y="4754880"/>
            <a:ext cx="5029200" cy="1463040"/>
          </a:xfrm>
          <a:prstGeom prst="rect">
            <a:avLst/>
          </a:prstGeom>
          <a:noFill/>
          <a:ln/>
        </p:spPr>
        <p:txBody>
          <a:bodyPr wrap="square" lIns="0" tIns="0" rIns="0" bIns="0" rtlCol="0" anchor="ctr"/>
          <a:lstStyle/>
          <a:p>
            <a:pPr indent="0" marL="0">
              <a:lnSpc>
                <a:spcPts val="2300"/>
              </a:lnSpc>
              <a:buNone/>
            </a:pPr>
            <a:r>
              <a:rPr lang="en-US" sz="1300" dirty="0">
                <a:solidFill>
                  <a:srgbClr val="2B2B31"/>
                </a:solidFill>
                <a:latin typeface="Cambria" pitchFamily="34" charset="0"/>
                <a:ea typeface="Cambria" pitchFamily="34" charset="-122"/>
                <a:cs typeface="Cambria" pitchFamily="34" charset="-120"/>
              </a:rPr>
              <a:t>Sanal gerçeklik tabanlı mağaza içi teşhirler üzerine yapılan çok çalışmalı bir deney, teknolojinin etkisinin teknik yetkinlikten çok tasarım mantığına bağlı olduğunu gösterdi. Dört ayrı çalışma dizisinde bağlamsal sunumlar tutarlı biçimde daha güçlü tepki üretti (Ishaq vd., 2026).</a:t>
            </a:r>
            <a:endParaRPr lang="en-US" sz="1300" dirty="0"/>
          </a:p>
        </p:txBody>
      </p:sp>
      <p:sp>
        <p:nvSpPr>
          <p:cNvPr id="16" name="Text 14"/>
          <p:cNvSpPr txBox="1"/>
          <p:nvPr/>
        </p:nvSpPr>
        <p:spPr>
          <a:xfrm>
            <a:off x="6382512" y="4754880"/>
            <a:ext cx="5029200" cy="1463040"/>
          </a:xfrm>
          <a:prstGeom prst="rect">
            <a:avLst/>
          </a:prstGeom>
          <a:noFill/>
          <a:ln/>
        </p:spPr>
        <p:txBody>
          <a:bodyPr wrap="square" lIns="0" tIns="0" rIns="0" bIns="0" rtlCol="0" anchor="ctr"/>
          <a:lstStyle/>
          <a:p>
            <a:pPr indent="0" marL="0">
              <a:lnSpc>
                <a:spcPts val="2300"/>
              </a:lnSpc>
              <a:buNone/>
            </a:pPr>
            <a:r>
              <a:rPr lang="en-US" sz="1300" dirty="0">
                <a:solidFill>
                  <a:srgbClr val="2B2B31"/>
                </a:solidFill>
                <a:latin typeface="Cambria" pitchFamily="34" charset="0"/>
                <a:ea typeface="Cambria" pitchFamily="34" charset="-122"/>
                <a:cs typeface="Cambria" pitchFamily="34" charset="-120"/>
              </a:rPr>
              <a:t>Nedeni basit: insanlar bir ürünü değerlendirirken onu nasıl kullanacaklarını hayal eder. Ürünü tanıdık bir kullanım durumuna yerleştiren sunum bu işi kolaylaştırır. Bulgu dijital olmayan teşhir için de geçerlidir — manken, oda kurgusu ve masa düzeni aynı ilkeyle çalışır.</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6161A"/>
        </a:solidFill>
      </p:bgPr>
    </p:bg>
    <p:spTree>
      <p:nvGrpSpPr>
        <p:cNvPr id="1" name=""/>
        <p:cNvGrpSpPr/>
        <p:nvPr/>
      </p:nvGrpSpPr>
      <p:grpSpPr>
        <a:xfrm>
          <a:off x="0" y="0"/>
          <a:ext cx="0" cy="0"/>
          <a:chOff x="0" y="0"/>
          <a:chExt cx="0" cy="0"/>
        </a:xfrm>
      </p:grpSpPr>
      <p:sp>
        <p:nvSpPr>
          <p:cNvPr id="2" name="Text 0"/>
          <p:cNvSpPr txBox="1"/>
          <p:nvPr/>
        </p:nvSpPr>
        <p:spPr>
          <a:xfrm>
            <a:off x="777240" y="1371600"/>
            <a:ext cx="3108960" cy="2377440"/>
          </a:xfrm>
          <a:prstGeom prst="rect">
            <a:avLst/>
          </a:prstGeom>
          <a:noFill/>
          <a:ln/>
        </p:spPr>
        <p:txBody>
          <a:bodyPr wrap="square" lIns="0" tIns="0" rIns="0" bIns="0" rtlCol="0" anchor="ctr"/>
          <a:lstStyle/>
          <a:p>
            <a:pPr indent="0" marL="0">
              <a:buNone/>
            </a:pPr>
            <a:r>
              <a:rPr lang="en-US" sz="13000" b="1" dirty="0">
                <a:solidFill>
                  <a:srgbClr val="8C3A2B"/>
                </a:solidFill>
                <a:latin typeface="Cambria" pitchFamily="34" charset="0"/>
                <a:ea typeface="Cambria" pitchFamily="34" charset="-122"/>
                <a:cs typeface="Cambria" pitchFamily="34" charset="-120"/>
              </a:rPr>
              <a:t>X</a:t>
            </a:r>
            <a:endParaRPr lang="en-US" sz="13000" dirty="0"/>
          </a:p>
        </p:txBody>
      </p:sp>
      <p:sp>
        <p:nvSpPr>
          <p:cNvPr id="3" name="Text 1"/>
          <p:cNvSpPr txBox="1"/>
          <p:nvPr/>
        </p:nvSpPr>
        <p:spPr>
          <a:xfrm>
            <a:off x="777240" y="3611880"/>
            <a:ext cx="10424160" cy="1325880"/>
          </a:xfrm>
          <a:prstGeom prst="rect">
            <a:avLst/>
          </a:prstGeom>
          <a:noFill/>
          <a:ln/>
        </p:spPr>
        <p:txBody>
          <a:bodyPr wrap="square" lIns="0" tIns="0" rIns="0" bIns="0" rtlCol="0" anchor="ctr"/>
          <a:lstStyle/>
          <a:p>
            <a:pPr indent="0" marL="0">
              <a:lnSpc>
                <a:spcPts val="4400"/>
              </a:lnSpc>
              <a:buNone/>
            </a:pPr>
            <a:r>
              <a:rPr lang="en-US" sz="4000" b="1" dirty="0">
                <a:solidFill>
                  <a:srgbClr val="FFFFFF"/>
                </a:solidFill>
                <a:latin typeface="Cambria" pitchFamily="34" charset="0"/>
                <a:ea typeface="Cambria" pitchFamily="34" charset="-122"/>
                <a:cs typeface="Cambria" pitchFamily="34" charset="-120"/>
              </a:rPr>
              <a:t>Herkes için mağaza</a:t>
            </a:r>
            <a:endParaRPr lang="en-US" sz="4000" dirty="0"/>
          </a:p>
        </p:txBody>
      </p:sp>
      <p:sp>
        <p:nvSpPr>
          <p:cNvPr id="4" name="Text 2"/>
          <p:cNvSpPr txBox="1"/>
          <p:nvPr/>
        </p:nvSpPr>
        <p:spPr>
          <a:xfrm>
            <a:off x="777240" y="5029200"/>
            <a:ext cx="9509760" cy="822960"/>
          </a:xfrm>
          <a:prstGeom prst="rect">
            <a:avLst/>
          </a:prstGeom>
          <a:noFill/>
          <a:ln/>
        </p:spPr>
        <p:txBody>
          <a:bodyPr wrap="square" lIns="0" tIns="0" rIns="0" bIns="0" rtlCol="0" anchor="ctr"/>
          <a:lstStyle/>
          <a:p>
            <a:pPr indent="0" marL="0">
              <a:lnSpc>
                <a:spcPts val="2200"/>
              </a:lnSpc>
              <a:buNone/>
            </a:pPr>
            <a:r>
              <a:rPr lang="en-US" sz="1500" dirty="0">
                <a:solidFill>
                  <a:srgbClr val="B9B9C0"/>
                </a:solidFill>
                <a:latin typeface="Calibri" pitchFamily="34" charset="0"/>
                <a:ea typeface="Calibri" pitchFamily="34" charset="-122"/>
                <a:cs typeface="Calibri" pitchFamily="34" charset="-120"/>
              </a:rPr>
              <a:t>Erişilebilirlik bir ek değil, tasarımın ölçütlerinden biridir.</a:t>
            </a:r>
            <a:endParaRPr lang="en-US" sz="15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CFCFA"/>
        </a:solidFill>
      </p:bgPr>
    </p:bg>
    <p:spTree>
      <p:nvGrpSpPr>
        <p:cNvPr id="1" name=""/>
        <p:cNvGrpSpPr/>
        <p:nvPr/>
      </p:nvGrpSpPr>
      <p:grpSpPr>
        <a:xfrm>
          <a:off x="0" y="0"/>
          <a:ext cx="0" cy="0"/>
          <a:chOff x="0" y="0"/>
          <a:chExt cx="0" cy="0"/>
        </a:xfrm>
      </p:grpSpPr>
      <p:sp>
        <p:nvSpPr>
          <p:cNvPr id="2" name="Text 0"/>
          <p:cNvSpPr txBox="1"/>
          <p:nvPr/>
        </p:nvSpPr>
        <p:spPr>
          <a:xfrm>
            <a:off x="777240" y="475488"/>
            <a:ext cx="9601200" cy="237744"/>
          </a:xfrm>
          <a:prstGeom prst="rect">
            <a:avLst/>
          </a:prstGeom>
          <a:noFill/>
          <a:ln/>
        </p:spPr>
        <p:txBody>
          <a:bodyPr wrap="square" lIns="0" tIns="0" rIns="0" bIns="0" rtlCol="0" anchor="ctr"/>
          <a:lstStyle/>
          <a:p>
            <a:pPr indent="0" marL="0">
              <a:buNone/>
            </a:pPr>
            <a:r>
              <a:rPr lang="en-US" sz="950" b="1" spc="260" kern="0" dirty="0">
                <a:solidFill>
                  <a:srgbClr val="7A7A82"/>
                </a:solidFill>
                <a:latin typeface="Calibri" pitchFamily="34" charset="0"/>
                <a:ea typeface="Calibri" pitchFamily="34" charset="-122"/>
                <a:cs typeface="Calibri" pitchFamily="34" charset="-120"/>
              </a:rPr>
              <a:t>X · HERKES İÇİN MAĞAZA</a:t>
            </a:r>
            <a:endParaRPr lang="en-US" sz="950" dirty="0"/>
          </a:p>
        </p:txBody>
      </p:sp>
      <p:sp>
        <p:nvSpPr>
          <p:cNvPr id="3" name="Text 1"/>
          <p:cNvSpPr txBox="1"/>
          <p:nvPr/>
        </p:nvSpPr>
        <p:spPr>
          <a:xfrm>
            <a:off x="777240" y="822960"/>
            <a:ext cx="10424160" cy="731520"/>
          </a:xfrm>
          <a:prstGeom prst="rect">
            <a:avLst/>
          </a:prstGeom>
          <a:noFill/>
          <a:ln/>
        </p:spPr>
        <p:txBody>
          <a:bodyPr wrap="square" lIns="0" tIns="0" rIns="0" bIns="0" rtlCol="0" anchor="ctr"/>
          <a:lstStyle/>
          <a:p>
            <a:pPr indent="0" marL="0">
              <a:lnSpc>
                <a:spcPts val="3400"/>
              </a:lnSpc>
              <a:buNone/>
            </a:pPr>
            <a:r>
              <a:rPr lang="en-US" sz="2900" b="1" dirty="0">
                <a:solidFill>
                  <a:srgbClr val="16161A"/>
                </a:solidFill>
                <a:latin typeface="Cambria" pitchFamily="34" charset="0"/>
                <a:ea typeface="Cambria" pitchFamily="34" charset="-122"/>
                <a:cs typeface="Cambria" pitchFamily="34" charset="-120"/>
              </a:rPr>
              <a:t>Dört ilke ve uygulanmış karşılıkları</a:t>
            </a:r>
            <a:endParaRPr lang="en-US" sz="2900" dirty="0"/>
          </a:p>
        </p:txBody>
      </p:sp>
      <p:sp>
        <p:nvSpPr>
          <p:cNvPr id="4" name="Text 2"/>
          <p:cNvSpPr txBox="1"/>
          <p:nvPr/>
        </p:nvSpPr>
        <p:spPr>
          <a:xfrm>
            <a:off x="10972800" y="6355080"/>
            <a:ext cx="438912" cy="237744"/>
          </a:xfrm>
          <a:prstGeom prst="rect">
            <a:avLst/>
          </a:prstGeom>
          <a:noFill/>
          <a:ln/>
        </p:spPr>
        <p:txBody>
          <a:bodyPr wrap="square" lIns="0" tIns="0" rIns="0" bIns="0" rtlCol="0" anchor="ctr"/>
          <a:lstStyle/>
          <a:p>
            <a:pPr algn="r" indent="0" marL="0">
              <a:buNone/>
            </a:pPr>
            <a:r>
              <a:rPr lang="en-US" sz="950" dirty="0">
                <a:solidFill>
                  <a:srgbClr val="A6A6AC"/>
                </a:solidFill>
                <a:latin typeface="Calibri" pitchFamily="34" charset="0"/>
                <a:ea typeface="Calibri" pitchFamily="34" charset="-122"/>
                <a:cs typeface="Calibri" pitchFamily="34" charset="-120"/>
              </a:rPr>
              <a:t>49</a:t>
            </a:r>
            <a:endParaRPr lang="en-US" sz="950" dirty="0"/>
          </a:p>
        </p:txBody>
      </p:sp>
      <p:sp>
        <p:nvSpPr>
          <p:cNvPr id="5" name="Text 3"/>
          <p:cNvSpPr txBox="1"/>
          <p:nvPr/>
        </p:nvSpPr>
        <p:spPr>
          <a:xfrm>
            <a:off x="777240" y="1627632"/>
            <a:ext cx="10634472" cy="960120"/>
          </a:xfrm>
          <a:prstGeom prst="rect">
            <a:avLst/>
          </a:prstGeom>
          <a:noFill/>
          <a:ln/>
        </p:spPr>
        <p:txBody>
          <a:bodyPr wrap="square" lIns="0" tIns="0" rIns="0" bIns="0" rtlCol="0" anchor="ctr"/>
          <a:lstStyle/>
          <a:p>
            <a:pPr indent="0" marL="0">
              <a:lnSpc>
                <a:spcPts val="2300"/>
              </a:lnSpc>
              <a:buNone/>
            </a:pPr>
            <a:r>
              <a:rPr lang="en-US" sz="1400" dirty="0">
                <a:solidFill>
                  <a:srgbClr val="2B2B31"/>
                </a:solidFill>
                <a:latin typeface="Cambria" pitchFamily="34" charset="0"/>
                <a:ea typeface="Cambria" pitchFamily="34" charset="-122"/>
                <a:cs typeface="Cambria" pitchFamily="34" charset="-120"/>
              </a:rPr>
              <a:t>Erişilebilirlik çoğu zaman rampa ve asansöre indirgenir. Oysa zorluk üreten şeylerin çoğu görünmezdir ve gruplar farklı şeylerden zorlanır: görme engelli kullanıcılar için parlama ve düşük kontrast, bilişsel engeli olanlar için ses ve duyusal yük, fiziksel engeli olanlar için dar geçit ve yoğunluk (Akyazıcı &amp; Yaşar, 2026).</a:t>
            </a:r>
            <a:endParaRPr lang="en-US" sz="1400" dirty="0"/>
          </a:p>
        </p:txBody>
      </p:sp>
      <p:sp>
        <p:nvSpPr>
          <p:cNvPr id="6" name="Shape 4"/>
          <p:cNvSpPr/>
          <p:nvPr/>
        </p:nvSpPr>
        <p:spPr>
          <a:xfrm>
            <a:off x="777240" y="2788920"/>
            <a:ext cx="2487168" cy="1737360"/>
          </a:xfrm>
          <a:prstGeom prst="rect">
            <a:avLst/>
          </a:prstGeom>
          <a:ln w="9525">
            <a:solidFill>
              <a:srgbClr val="C9C9CF"/>
            </a:solidFill>
            <a:prstDash val="solid"/>
          </a:ln>
        </p:spPr>
      </p:sp>
      <p:sp>
        <p:nvSpPr>
          <p:cNvPr id="7" name="Text 5"/>
          <p:cNvSpPr txBox="1"/>
          <p:nvPr/>
        </p:nvSpPr>
        <p:spPr>
          <a:xfrm>
            <a:off x="978408" y="2935224"/>
            <a:ext cx="548640" cy="384048"/>
          </a:xfrm>
          <a:prstGeom prst="rect">
            <a:avLst/>
          </a:prstGeom>
          <a:noFill/>
          <a:ln/>
        </p:spPr>
        <p:txBody>
          <a:bodyPr wrap="square" lIns="0" tIns="0" rIns="0" bIns="0" rtlCol="0" anchor="ctr"/>
          <a:lstStyle/>
          <a:p>
            <a:pPr indent="0" marL="0">
              <a:buNone/>
            </a:pPr>
            <a:r>
              <a:rPr lang="en-US" sz="2400" b="1" dirty="0">
                <a:solidFill>
                  <a:srgbClr val="8C3A2B"/>
                </a:solidFill>
                <a:latin typeface="Cambria" pitchFamily="34" charset="0"/>
                <a:ea typeface="Cambria" pitchFamily="34" charset="-122"/>
                <a:cs typeface="Cambria" pitchFamily="34" charset="-120"/>
              </a:rPr>
              <a:t>1</a:t>
            </a:r>
            <a:endParaRPr lang="en-US" sz="2400" dirty="0"/>
          </a:p>
        </p:txBody>
      </p:sp>
      <p:sp>
        <p:nvSpPr>
          <p:cNvPr id="8" name="Text 6"/>
          <p:cNvSpPr txBox="1"/>
          <p:nvPr/>
        </p:nvSpPr>
        <p:spPr>
          <a:xfrm>
            <a:off x="978408" y="3383280"/>
            <a:ext cx="2084832" cy="310896"/>
          </a:xfrm>
          <a:prstGeom prst="rect">
            <a:avLst/>
          </a:prstGeom>
          <a:noFill/>
          <a:ln/>
        </p:spPr>
        <p:txBody>
          <a:bodyPr wrap="square" lIns="0" tIns="0" rIns="0" bIns="0" rtlCol="0" anchor="ctr"/>
          <a:lstStyle/>
          <a:p>
            <a:pPr indent="0" marL="0">
              <a:buNone/>
            </a:pPr>
            <a:r>
              <a:rPr lang="en-US" sz="1400" b="1" dirty="0">
                <a:solidFill>
                  <a:srgbClr val="16161A"/>
                </a:solidFill>
                <a:latin typeface="Cambria" pitchFamily="34" charset="0"/>
                <a:ea typeface="Cambria" pitchFamily="34" charset="-122"/>
                <a:cs typeface="Cambria" pitchFamily="34" charset="-120"/>
              </a:rPr>
              <a:t>Anlamlı uyaran</a:t>
            </a:r>
            <a:endParaRPr lang="en-US" sz="1400" dirty="0"/>
          </a:p>
        </p:txBody>
      </p:sp>
      <p:sp>
        <p:nvSpPr>
          <p:cNvPr id="9" name="Text 7"/>
          <p:cNvSpPr txBox="1"/>
          <p:nvPr/>
        </p:nvSpPr>
        <p:spPr>
          <a:xfrm>
            <a:off x="978408" y="3721608"/>
            <a:ext cx="2084832" cy="749808"/>
          </a:xfrm>
          <a:prstGeom prst="rect">
            <a:avLst/>
          </a:prstGeom>
          <a:noFill/>
          <a:ln/>
        </p:spPr>
        <p:txBody>
          <a:bodyPr wrap="square" lIns="0" tIns="0" rIns="0" bIns="0" rtlCol="0" anchor="ctr"/>
          <a:lstStyle/>
          <a:p>
            <a:pPr indent="0" marL="0">
              <a:lnSpc>
                <a:spcPts val="1350"/>
              </a:lnSpc>
              <a:buNone/>
            </a:pPr>
            <a:r>
              <a:rPr lang="en-US" sz="1050" dirty="0">
                <a:solidFill>
                  <a:srgbClr val="7A7A82"/>
                </a:solidFill>
                <a:latin typeface="Calibri" pitchFamily="34" charset="0"/>
                <a:ea typeface="Calibri" pitchFamily="34" charset="-122"/>
                <a:cs typeface="Calibri" pitchFamily="34" charset="-120"/>
              </a:rPr>
              <a:t>Her duyusal uyaranın açık bir işlevi olmalı; gereksiz yoğunluk üretilmemeli.</a:t>
            </a:r>
            <a:endParaRPr lang="en-US" sz="1050" dirty="0"/>
          </a:p>
        </p:txBody>
      </p:sp>
      <p:sp>
        <p:nvSpPr>
          <p:cNvPr id="10" name="Shape 8"/>
          <p:cNvSpPr/>
          <p:nvPr/>
        </p:nvSpPr>
        <p:spPr>
          <a:xfrm>
            <a:off x="3493008" y="2788920"/>
            <a:ext cx="2487168" cy="1737360"/>
          </a:xfrm>
          <a:prstGeom prst="rect">
            <a:avLst/>
          </a:prstGeom>
          <a:ln w="9525">
            <a:solidFill>
              <a:srgbClr val="C9C9CF"/>
            </a:solidFill>
            <a:prstDash val="solid"/>
          </a:ln>
        </p:spPr>
      </p:sp>
      <p:sp>
        <p:nvSpPr>
          <p:cNvPr id="11" name="Text 9"/>
          <p:cNvSpPr txBox="1"/>
          <p:nvPr/>
        </p:nvSpPr>
        <p:spPr>
          <a:xfrm>
            <a:off x="3694176" y="2935224"/>
            <a:ext cx="548640" cy="384048"/>
          </a:xfrm>
          <a:prstGeom prst="rect">
            <a:avLst/>
          </a:prstGeom>
          <a:noFill/>
          <a:ln/>
        </p:spPr>
        <p:txBody>
          <a:bodyPr wrap="square" lIns="0" tIns="0" rIns="0" bIns="0" rtlCol="0" anchor="ctr"/>
          <a:lstStyle/>
          <a:p>
            <a:pPr indent="0" marL="0">
              <a:buNone/>
            </a:pPr>
            <a:r>
              <a:rPr lang="en-US" sz="2400" b="1" dirty="0">
                <a:solidFill>
                  <a:srgbClr val="8C3A2B"/>
                </a:solidFill>
                <a:latin typeface="Cambria" pitchFamily="34" charset="0"/>
                <a:ea typeface="Cambria" pitchFamily="34" charset="-122"/>
                <a:cs typeface="Cambria" pitchFamily="34" charset="-120"/>
              </a:rPr>
              <a:t>2</a:t>
            </a:r>
            <a:endParaRPr lang="en-US" sz="2400" dirty="0"/>
          </a:p>
        </p:txBody>
      </p:sp>
      <p:sp>
        <p:nvSpPr>
          <p:cNvPr id="12" name="Text 10"/>
          <p:cNvSpPr txBox="1"/>
          <p:nvPr/>
        </p:nvSpPr>
        <p:spPr>
          <a:xfrm>
            <a:off x="3694176" y="3383280"/>
            <a:ext cx="2084832" cy="310896"/>
          </a:xfrm>
          <a:prstGeom prst="rect">
            <a:avLst/>
          </a:prstGeom>
          <a:noFill/>
          <a:ln/>
        </p:spPr>
        <p:txBody>
          <a:bodyPr wrap="square" lIns="0" tIns="0" rIns="0" bIns="0" rtlCol="0" anchor="ctr"/>
          <a:lstStyle/>
          <a:p>
            <a:pPr indent="0" marL="0">
              <a:buNone/>
            </a:pPr>
            <a:r>
              <a:rPr lang="en-US" sz="1400" b="1" dirty="0">
                <a:solidFill>
                  <a:srgbClr val="16161A"/>
                </a:solidFill>
                <a:latin typeface="Cambria" pitchFamily="34" charset="0"/>
                <a:ea typeface="Cambria" pitchFamily="34" charset="-122"/>
                <a:cs typeface="Cambria" pitchFamily="34" charset="-120"/>
              </a:rPr>
              <a:t>Seçim ve kontrol</a:t>
            </a:r>
            <a:endParaRPr lang="en-US" sz="1400" dirty="0"/>
          </a:p>
        </p:txBody>
      </p:sp>
      <p:sp>
        <p:nvSpPr>
          <p:cNvPr id="13" name="Text 11"/>
          <p:cNvSpPr txBox="1"/>
          <p:nvPr/>
        </p:nvSpPr>
        <p:spPr>
          <a:xfrm>
            <a:off x="3694176" y="3721608"/>
            <a:ext cx="2084832" cy="749808"/>
          </a:xfrm>
          <a:prstGeom prst="rect">
            <a:avLst/>
          </a:prstGeom>
          <a:noFill/>
          <a:ln/>
        </p:spPr>
        <p:txBody>
          <a:bodyPr wrap="square" lIns="0" tIns="0" rIns="0" bIns="0" rtlCol="0" anchor="ctr"/>
          <a:lstStyle/>
          <a:p>
            <a:pPr indent="0" marL="0">
              <a:lnSpc>
                <a:spcPts val="1350"/>
              </a:lnSpc>
              <a:buNone/>
            </a:pPr>
            <a:r>
              <a:rPr lang="en-US" sz="1050" dirty="0">
                <a:solidFill>
                  <a:srgbClr val="7A7A82"/>
                </a:solidFill>
                <a:latin typeface="Calibri" pitchFamily="34" charset="0"/>
                <a:ea typeface="Calibri" pitchFamily="34" charset="-122"/>
                <a:cs typeface="Calibri" pitchFamily="34" charset="-120"/>
              </a:rPr>
              <a:t>Temel hizmetlere birden çok yoldan ulaşılabilmeli: sakinleştirilmiş mod, personel desteği.</a:t>
            </a:r>
            <a:endParaRPr lang="en-US" sz="1050" dirty="0"/>
          </a:p>
        </p:txBody>
      </p:sp>
      <p:sp>
        <p:nvSpPr>
          <p:cNvPr id="14" name="Shape 12"/>
          <p:cNvSpPr/>
          <p:nvPr/>
        </p:nvSpPr>
        <p:spPr>
          <a:xfrm>
            <a:off x="6208776" y="2788920"/>
            <a:ext cx="2487168" cy="1737360"/>
          </a:xfrm>
          <a:prstGeom prst="rect">
            <a:avLst/>
          </a:prstGeom>
          <a:ln w="9525">
            <a:solidFill>
              <a:srgbClr val="C9C9CF"/>
            </a:solidFill>
            <a:prstDash val="solid"/>
          </a:ln>
        </p:spPr>
      </p:sp>
      <p:sp>
        <p:nvSpPr>
          <p:cNvPr id="15" name="Text 13"/>
          <p:cNvSpPr txBox="1"/>
          <p:nvPr/>
        </p:nvSpPr>
        <p:spPr>
          <a:xfrm>
            <a:off x="6409944" y="2935224"/>
            <a:ext cx="548640" cy="384048"/>
          </a:xfrm>
          <a:prstGeom prst="rect">
            <a:avLst/>
          </a:prstGeom>
          <a:noFill/>
          <a:ln/>
        </p:spPr>
        <p:txBody>
          <a:bodyPr wrap="square" lIns="0" tIns="0" rIns="0" bIns="0" rtlCol="0" anchor="ctr"/>
          <a:lstStyle/>
          <a:p>
            <a:pPr indent="0" marL="0">
              <a:buNone/>
            </a:pPr>
            <a:r>
              <a:rPr lang="en-US" sz="2400" b="1" dirty="0">
                <a:solidFill>
                  <a:srgbClr val="8C3A2B"/>
                </a:solidFill>
                <a:latin typeface="Cambria" pitchFamily="34" charset="0"/>
                <a:ea typeface="Cambria" pitchFamily="34" charset="-122"/>
                <a:cs typeface="Cambria" pitchFamily="34" charset="-120"/>
              </a:rPr>
              <a:t>3</a:t>
            </a:r>
            <a:endParaRPr lang="en-US" sz="2400" dirty="0"/>
          </a:p>
        </p:txBody>
      </p:sp>
      <p:sp>
        <p:nvSpPr>
          <p:cNvPr id="16" name="Text 14"/>
          <p:cNvSpPr txBox="1"/>
          <p:nvPr/>
        </p:nvSpPr>
        <p:spPr>
          <a:xfrm>
            <a:off x="6409944" y="3383280"/>
            <a:ext cx="2084832" cy="310896"/>
          </a:xfrm>
          <a:prstGeom prst="rect">
            <a:avLst/>
          </a:prstGeom>
          <a:noFill/>
          <a:ln/>
        </p:spPr>
        <p:txBody>
          <a:bodyPr wrap="square" lIns="0" tIns="0" rIns="0" bIns="0" rtlCol="0" anchor="ctr"/>
          <a:lstStyle/>
          <a:p>
            <a:pPr indent="0" marL="0">
              <a:buNone/>
            </a:pPr>
            <a:r>
              <a:rPr lang="en-US" sz="1400" b="1" dirty="0">
                <a:solidFill>
                  <a:srgbClr val="16161A"/>
                </a:solidFill>
                <a:latin typeface="Cambria" pitchFamily="34" charset="0"/>
                <a:ea typeface="Cambria" pitchFamily="34" charset="-122"/>
                <a:cs typeface="Cambria" pitchFamily="34" charset="-120"/>
              </a:rPr>
              <a:t>Öngörülebilirlik</a:t>
            </a:r>
            <a:endParaRPr lang="en-US" sz="1400" dirty="0"/>
          </a:p>
        </p:txBody>
      </p:sp>
      <p:sp>
        <p:nvSpPr>
          <p:cNvPr id="17" name="Text 15"/>
          <p:cNvSpPr txBox="1"/>
          <p:nvPr/>
        </p:nvSpPr>
        <p:spPr>
          <a:xfrm>
            <a:off x="6409944" y="3721608"/>
            <a:ext cx="2084832" cy="749808"/>
          </a:xfrm>
          <a:prstGeom prst="rect">
            <a:avLst/>
          </a:prstGeom>
          <a:noFill/>
          <a:ln/>
        </p:spPr>
        <p:txBody>
          <a:bodyPr wrap="square" lIns="0" tIns="0" rIns="0" bIns="0" rtlCol="0" anchor="ctr"/>
          <a:lstStyle/>
          <a:p>
            <a:pPr indent="0" marL="0">
              <a:lnSpc>
                <a:spcPts val="1350"/>
              </a:lnSpc>
              <a:buNone/>
            </a:pPr>
            <a:r>
              <a:rPr lang="en-US" sz="1050" dirty="0">
                <a:solidFill>
                  <a:srgbClr val="7A7A82"/>
                </a:solidFill>
                <a:latin typeface="Calibri" pitchFamily="34" charset="0"/>
                <a:ea typeface="Calibri" pitchFamily="34" charset="-122"/>
                <a:cs typeface="Calibri" pitchFamily="34" charset="-120"/>
              </a:rPr>
              <a:t>Duyusal koşullar önceden bildirilmeli; sakin saatler, duyusal bölgeleme.</a:t>
            </a:r>
            <a:endParaRPr lang="en-US" sz="1050" dirty="0"/>
          </a:p>
        </p:txBody>
      </p:sp>
      <p:sp>
        <p:nvSpPr>
          <p:cNvPr id="18" name="Shape 16"/>
          <p:cNvSpPr/>
          <p:nvPr/>
        </p:nvSpPr>
        <p:spPr>
          <a:xfrm>
            <a:off x="8924544" y="2788920"/>
            <a:ext cx="2487168" cy="1737360"/>
          </a:xfrm>
          <a:prstGeom prst="rect">
            <a:avLst/>
          </a:prstGeom>
          <a:ln w="9525">
            <a:solidFill>
              <a:srgbClr val="C9C9CF"/>
            </a:solidFill>
            <a:prstDash val="solid"/>
          </a:ln>
        </p:spPr>
      </p:sp>
      <p:sp>
        <p:nvSpPr>
          <p:cNvPr id="19" name="Text 17"/>
          <p:cNvSpPr txBox="1"/>
          <p:nvPr/>
        </p:nvSpPr>
        <p:spPr>
          <a:xfrm>
            <a:off x="9125712" y="2935224"/>
            <a:ext cx="548640" cy="384048"/>
          </a:xfrm>
          <a:prstGeom prst="rect">
            <a:avLst/>
          </a:prstGeom>
          <a:noFill/>
          <a:ln/>
        </p:spPr>
        <p:txBody>
          <a:bodyPr wrap="square" lIns="0" tIns="0" rIns="0" bIns="0" rtlCol="0" anchor="ctr"/>
          <a:lstStyle/>
          <a:p>
            <a:pPr indent="0" marL="0">
              <a:buNone/>
            </a:pPr>
            <a:r>
              <a:rPr lang="en-US" sz="2400" b="1" dirty="0">
                <a:solidFill>
                  <a:srgbClr val="8C3A2B"/>
                </a:solidFill>
                <a:latin typeface="Cambria" pitchFamily="34" charset="0"/>
                <a:ea typeface="Cambria" pitchFamily="34" charset="-122"/>
                <a:cs typeface="Cambria" pitchFamily="34" charset="-120"/>
              </a:rPr>
              <a:t>4</a:t>
            </a:r>
            <a:endParaRPr lang="en-US" sz="2400" dirty="0"/>
          </a:p>
        </p:txBody>
      </p:sp>
      <p:sp>
        <p:nvSpPr>
          <p:cNvPr id="20" name="Text 18"/>
          <p:cNvSpPr txBox="1"/>
          <p:nvPr/>
        </p:nvSpPr>
        <p:spPr>
          <a:xfrm>
            <a:off x="9125712" y="3383280"/>
            <a:ext cx="2084832" cy="310896"/>
          </a:xfrm>
          <a:prstGeom prst="rect">
            <a:avLst/>
          </a:prstGeom>
          <a:noFill/>
          <a:ln/>
        </p:spPr>
        <p:txBody>
          <a:bodyPr wrap="square" lIns="0" tIns="0" rIns="0" bIns="0" rtlCol="0" anchor="ctr"/>
          <a:lstStyle/>
          <a:p>
            <a:pPr indent="0" marL="0">
              <a:buNone/>
            </a:pPr>
            <a:r>
              <a:rPr lang="en-US" sz="1400" b="1" dirty="0">
                <a:solidFill>
                  <a:srgbClr val="16161A"/>
                </a:solidFill>
                <a:latin typeface="Cambria" pitchFamily="34" charset="0"/>
                <a:ea typeface="Cambria" pitchFamily="34" charset="-122"/>
                <a:cs typeface="Cambria" pitchFamily="34" charset="-120"/>
              </a:rPr>
              <a:t>Eşdeğerlik</a:t>
            </a:r>
            <a:endParaRPr lang="en-US" sz="1400" dirty="0"/>
          </a:p>
        </p:txBody>
      </p:sp>
      <p:sp>
        <p:nvSpPr>
          <p:cNvPr id="21" name="Text 19"/>
          <p:cNvSpPr txBox="1"/>
          <p:nvPr/>
        </p:nvSpPr>
        <p:spPr>
          <a:xfrm>
            <a:off x="9125712" y="3721608"/>
            <a:ext cx="2084832" cy="749808"/>
          </a:xfrm>
          <a:prstGeom prst="rect">
            <a:avLst/>
          </a:prstGeom>
          <a:noFill/>
          <a:ln/>
        </p:spPr>
        <p:txBody>
          <a:bodyPr wrap="square" lIns="0" tIns="0" rIns="0" bIns="0" rtlCol="0" anchor="ctr"/>
          <a:lstStyle/>
          <a:p>
            <a:pPr indent="0" marL="0">
              <a:lnSpc>
                <a:spcPts val="1350"/>
              </a:lnSpc>
              <a:buNone/>
            </a:pPr>
            <a:r>
              <a:rPr lang="en-US" sz="1050" dirty="0">
                <a:solidFill>
                  <a:srgbClr val="7A7A82"/>
                </a:solidFill>
                <a:latin typeface="Calibri" pitchFamily="34" charset="0"/>
                <a:ea typeface="Calibri" pitchFamily="34" charset="-122"/>
                <a:cs typeface="Calibri" pitchFamily="34" charset="-120"/>
              </a:rPr>
              <a:t>Fiziksel ve dijital kanallar arasında hizmet eşdeğer olmalı.</a:t>
            </a:r>
            <a:endParaRPr lang="en-US" sz="1050" dirty="0"/>
          </a:p>
        </p:txBody>
      </p:sp>
      <p:sp>
        <p:nvSpPr>
          <p:cNvPr id="22" name="Text 20"/>
          <p:cNvSpPr txBox="1"/>
          <p:nvPr/>
        </p:nvSpPr>
        <p:spPr>
          <a:xfrm>
            <a:off x="777240" y="4681728"/>
            <a:ext cx="10424160" cy="274320"/>
          </a:xfrm>
          <a:prstGeom prst="rect">
            <a:avLst/>
          </a:prstGeom>
          <a:noFill/>
          <a:ln/>
        </p:spPr>
        <p:txBody>
          <a:bodyPr wrap="square" lIns="0" tIns="0" rIns="0" bIns="0" rtlCol="0" anchor="ctr"/>
          <a:lstStyle/>
          <a:p>
            <a:pPr algn="l" indent="0" marL="0">
              <a:lnSpc>
                <a:spcPts val="1200"/>
              </a:lnSpc>
              <a:buNone/>
            </a:pPr>
            <a:r>
              <a:rPr lang="en-US" sz="1000" dirty="0">
                <a:solidFill>
                  <a:srgbClr val="7A7A82"/>
                </a:solidFill>
                <a:latin typeface="Calibri" pitchFamily="34" charset="0"/>
                <a:ea typeface="Calibri" pitchFamily="34" charset="-122"/>
                <a:cs typeface="Calibri" pitchFamily="34" charset="-120"/>
              </a:rPr>
              <a:t>Tonin, Ferrara &amp; Nickel (2026) — Avrupa Erişilebilirlik Yasası temelli performans ilkeleri</a:t>
            </a:r>
            <a:endParaRPr lang="en-US" sz="1000" dirty="0"/>
          </a:p>
        </p:txBody>
      </p:sp>
      <p:sp>
        <p:nvSpPr>
          <p:cNvPr id="23" name="Text 21"/>
          <p:cNvSpPr txBox="1"/>
          <p:nvPr/>
        </p:nvSpPr>
        <p:spPr>
          <a:xfrm>
            <a:off x="777240" y="5029200"/>
            <a:ext cx="2315718" cy="384048"/>
          </a:xfrm>
          <a:prstGeom prst="rect">
            <a:avLst/>
          </a:prstGeom>
          <a:noFill/>
          <a:ln/>
        </p:spPr>
        <p:txBody>
          <a:bodyPr wrap="square" lIns="0" tIns="0" rIns="0" bIns="0" rtlCol="0" anchor="ctr"/>
          <a:lstStyle/>
          <a:p>
            <a:pPr indent="0" marL="0">
              <a:lnSpc>
                <a:spcPts val="1700"/>
              </a:lnSpc>
              <a:buNone/>
            </a:pPr>
            <a:r>
              <a:rPr lang="en-US" sz="1350" b="1" dirty="0">
                <a:solidFill>
                  <a:srgbClr val="8C3A2B"/>
                </a:solidFill>
                <a:latin typeface="Cambria" pitchFamily="34" charset="0"/>
                <a:ea typeface="Cambria" pitchFamily="34" charset="-122"/>
                <a:cs typeface="Cambria" pitchFamily="34" charset="-120"/>
              </a:rPr>
              <a:t>Tesco</a:t>
            </a:r>
            <a:endParaRPr lang="en-US" sz="1350" dirty="0"/>
          </a:p>
        </p:txBody>
      </p:sp>
      <p:sp>
        <p:nvSpPr>
          <p:cNvPr id="24" name="Text 22"/>
          <p:cNvSpPr txBox="1"/>
          <p:nvPr/>
        </p:nvSpPr>
        <p:spPr>
          <a:xfrm>
            <a:off x="777240" y="5440680"/>
            <a:ext cx="2315718" cy="621792"/>
          </a:xfrm>
          <a:prstGeom prst="rect">
            <a:avLst/>
          </a:prstGeom>
          <a:noFill/>
          <a:ln/>
        </p:spPr>
        <p:txBody>
          <a:bodyPr wrap="square" lIns="0" tIns="0" rIns="0" bIns="0" rtlCol="0" anchor="ctr"/>
          <a:lstStyle/>
          <a:p>
            <a:pPr indent="0" marL="0">
              <a:lnSpc>
                <a:spcPts val="1400"/>
              </a:lnSpc>
              <a:buNone/>
            </a:pPr>
            <a:r>
              <a:rPr lang="en-US" sz="1100" dirty="0">
                <a:solidFill>
                  <a:srgbClr val="7A7A82"/>
                </a:solidFill>
                <a:latin typeface="Calibri" pitchFamily="34" charset="0"/>
                <a:ea typeface="Calibri" pitchFamily="34" charset="-122"/>
                <a:cs typeface="Calibri" pitchFamily="34" charset="-120"/>
              </a:rPr>
              <a:t>Sakin saat: belirli saatlerde müzik ve anonsların kapatılması, ışığın kısılması.</a:t>
            </a:r>
            <a:endParaRPr lang="en-US" sz="1100" dirty="0"/>
          </a:p>
        </p:txBody>
      </p:sp>
      <p:sp>
        <p:nvSpPr>
          <p:cNvPr id="25" name="Text 23"/>
          <p:cNvSpPr txBox="1"/>
          <p:nvPr/>
        </p:nvSpPr>
        <p:spPr>
          <a:xfrm>
            <a:off x="3550158" y="5029200"/>
            <a:ext cx="2315718" cy="384048"/>
          </a:xfrm>
          <a:prstGeom prst="rect">
            <a:avLst/>
          </a:prstGeom>
          <a:noFill/>
          <a:ln/>
        </p:spPr>
        <p:txBody>
          <a:bodyPr wrap="square" lIns="0" tIns="0" rIns="0" bIns="0" rtlCol="0" anchor="ctr"/>
          <a:lstStyle/>
          <a:p>
            <a:pPr indent="0" marL="0">
              <a:lnSpc>
                <a:spcPts val="1700"/>
              </a:lnSpc>
              <a:buNone/>
            </a:pPr>
            <a:r>
              <a:rPr lang="en-US" sz="1350" b="1" dirty="0">
                <a:solidFill>
                  <a:srgbClr val="8C3A2B"/>
                </a:solidFill>
                <a:latin typeface="Cambria" pitchFamily="34" charset="0"/>
                <a:ea typeface="Cambria" pitchFamily="34" charset="-122"/>
                <a:cs typeface="Cambria" pitchFamily="34" charset="-120"/>
              </a:rPr>
              <a:t>Walmart</a:t>
            </a:r>
            <a:endParaRPr lang="en-US" sz="1350" dirty="0"/>
          </a:p>
        </p:txBody>
      </p:sp>
      <p:sp>
        <p:nvSpPr>
          <p:cNvPr id="26" name="Text 24"/>
          <p:cNvSpPr txBox="1"/>
          <p:nvPr/>
        </p:nvSpPr>
        <p:spPr>
          <a:xfrm>
            <a:off x="3550158" y="5440680"/>
            <a:ext cx="2315718" cy="621792"/>
          </a:xfrm>
          <a:prstGeom prst="rect">
            <a:avLst/>
          </a:prstGeom>
          <a:noFill/>
          <a:ln/>
        </p:spPr>
        <p:txBody>
          <a:bodyPr wrap="square" lIns="0" tIns="0" rIns="0" bIns="0" rtlCol="0" anchor="ctr"/>
          <a:lstStyle/>
          <a:p>
            <a:pPr indent="0" marL="0">
              <a:lnSpc>
                <a:spcPts val="1400"/>
              </a:lnSpc>
              <a:buNone/>
            </a:pPr>
            <a:r>
              <a:rPr lang="en-US" sz="1100" dirty="0">
                <a:solidFill>
                  <a:srgbClr val="7A7A82"/>
                </a:solidFill>
                <a:latin typeface="Calibri" pitchFamily="34" charset="0"/>
                <a:ea typeface="Calibri" pitchFamily="34" charset="-122"/>
                <a:cs typeface="Calibri" pitchFamily="34" charset="-120"/>
              </a:rPr>
              <a:t>Duyusal dostu saatler; aynı yaklaşımın düzenli bir protokol olarak uygulanması.</a:t>
            </a:r>
            <a:endParaRPr lang="en-US" sz="1100" dirty="0"/>
          </a:p>
        </p:txBody>
      </p:sp>
      <p:sp>
        <p:nvSpPr>
          <p:cNvPr id="27" name="Text 25"/>
          <p:cNvSpPr txBox="1"/>
          <p:nvPr/>
        </p:nvSpPr>
        <p:spPr>
          <a:xfrm>
            <a:off x="6323076" y="5029200"/>
            <a:ext cx="2315718" cy="384048"/>
          </a:xfrm>
          <a:prstGeom prst="rect">
            <a:avLst/>
          </a:prstGeom>
          <a:noFill/>
          <a:ln/>
        </p:spPr>
        <p:txBody>
          <a:bodyPr wrap="square" lIns="0" tIns="0" rIns="0" bIns="0" rtlCol="0" anchor="ctr"/>
          <a:lstStyle/>
          <a:p>
            <a:pPr indent="0" marL="0">
              <a:lnSpc>
                <a:spcPts val="1700"/>
              </a:lnSpc>
              <a:buNone/>
            </a:pPr>
            <a:r>
              <a:rPr lang="en-US" sz="1350" b="1" dirty="0">
                <a:solidFill>
                  <a:srgbClr val="8C3A2B"/>
                </a:solidFill>
                <a:latin typeface="Cambria" pitchFamily="34" charset="0"/>
                <a:ea typeface="Cambria" pitchFamily="34" charset="-122"/>
                <a:cs typeface="Cambria" pitchFamily="34" charset="-120"/>
              </a:rPr>
              <a:t>IKEA</a:t>
            </a:r>
            <a:endParaRPr lang="en-US" sz="1350" dirty="0"/>
          </a:p>
        </p:txBody>
      </p:sp>
      <p:sp>
        <p:nvSpPr>
          <p:cNvPr id="28" name="Text 26"/>
          <p:cNvSpPr txBox="1"/>
          <p:nvPr/>
        </p:nvSpPr>
        <p:spPr>
          <a:xfrm>
            <a:off x="6323076" y="5440680"/>
            <a:ext cx="2315718" cy="621792"/>
          </a:xfrm>
          <a:prstGeom prst="rect">
            <a:avLst/>
          </a:prstGeom>
          <a:noFill/>
          <a:ln/>
        </p:spPr>
        <p:txBody>
          <a:bodyPr wrap="square" lIns="0" tIns="0" rIns="0" bIns="0" rtlCol="0" anchor="ctr"/>
          <a:lstStyle/>
          <a:p>
            <a:pPr indent="0" marL="0">
              <a:lnSpc>
                <a:spcPts val="1400"/>
              </a:lnSpc>
              <a:buNone/>
            </a:pPr>
            <a:r>
              <a:rPr lang="en-US" sz="1100" dirty="0">
                <a:solidFill>
                  <a:srgbClr val="7A7A82"/>
                </a:solidFill>
                <a:latin typeface="Calibri" pitchFamily="34" charset="0"/>
                <a:ea typeface="Calibri" pitchFamily="34" charset="-122"/>
                <a:cs typeface="Calibri" pitchFamily="34" charset="-120"/>
              </a:rPr>
              <a:t>Dokunsal yönlendirme ve dokunsal harita hizmeti.</a:t>
            </a:r>
            <a:endParaRPr lang="en-US" sz="1100" dirty="0"/>
          </a:p>
        </p:txBody>
      </p:sp>
      <p:sp>
        <p:nvSpPr>
          <p:cNvPr id="29" name="Text 27"/>
          <p:cNvSpPr txBox="1"/>
          <p:nvPr/>
        </p:nvSpPr>
        <p:spPr>
          <a:xfrm>
            <a:off x="9095994" y="5029200"/>
            <a:ext cx="2315718" cy="384048"/>
          </a:xfrm>
          <a:prstGeom prst="rect">
            <a:avLst/>
          </a:prstGeom>
          <a:noFill/>
          <a:ln/>
        </p:spPr>
        <p:txBody>
          <a:bodyPr wrap="square" lIns="0" tIns="0" rIns="0" bIns="0" rtlCol="0" anchor="ctr"/>
          <a:lstStyle/>
          <a:p>
            <a:pPr indent="0" marL="0">
              <a:lnSpc>
                <a:spcPts val="1700"/>
              </a:lnSpc>
              <a:buNone/>
            </a:pPr>
            <a:r>
              <a:rPr lang="en-US" sz="1350" b="1" dirty="0">
                <a:solidFill>
                  <a:srgbClr val="8C3A2B"/>
                </a:solidFill>
                <a:latin typeface="Cambria" pitchFamily="34" charset="0"/>
                <a:ea typeface="Cambria" pitchFamily="34" charset="-122"/>
                <a:cs typeface="Cambria" pitchFamily="34" charset="-120"/>
              </a:rPr>
              <a:t>Mastercard</a:t>
            </a:r>
            <a:endParaRPr lang="en-US" sz="1350" dirty="0"/>
          </a:p>
        </p:txBody>
      </p:sp>
      <p:sp>
        <p:nvSpPr>
          <p:cNvPr id="30" name="Text 28"/>
          <p:cNvSpPr txBox="1"/>
          <p:nvPr/>
        </p:nvSpPr>
        <p:spPr>
          <a:xfrm>
            <a:off x="9095994" y="5440680"/>
            <a:ext cx="2315718" cy="621792"/>
          </a:xfrm>
          <a:prstGeom prst="rect">
            <a:avLst/>
          </a:prstGeom>
          <a:noFill/>
          <a:ln/>
        </p:spPr>
        <p:txBody>
          <a:bodyPr wrap="square" lIns="0" tIns="0" rIns="0" bIns="0" rtlCol="0" anchor="ctr"/>
          <a:lstStyle/>
          <a:p>
            <a:pPr indent="0" marL="0">
              <a:lnSpc>
                <a:spcPts val="1400"/>
              </a:lnSpc>
              <a:buNone/>
            </a:pPr>
            <a:r>
              <a:rPr lang="en-US" sz="1100" dirty="0">
                <a:solidFill>
                  <a:srgbClr val="7A7A82"/>
                </a:solidFill>
                <a:latin typeface="Calibri" pitchFamily="34" charset="0"/>
                <a:ea typeface="Calibri" pitchFamily="34" charset="-122"/>
                <a:cs typeface="Calibri" pitchFamily="34" charset="-120"/>
              </a:rPr>
              <a:t>Touch Card: kartta dokunsal çentik; ödeme anında bağımsızlık.</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16161A"/>
        </a:solidFill>
      </p:bgPr>
    </p:bg>
    <p:spTree>
      <p:nvGrpSpPr>
        <p:cNvPr id="1" name=""/>
        <p:cNvGrpSpPr/>
        <p:nvPr/>
      </p:nvGrpSpPr>
      <p:grpSpPr>
        <a:xfrm>
          <a:off x="0" y="0"/>
          <a:ext cx="0" cy="0"/>
          <a:chOff x="0" y="0"/>
          <a:chExt cx="0" cy="0"/>
        </a:xfrm>
      </p:grpSpPr>
      <p:sp>
        <p:nvSpPr>
          <p:cNvPr id="2" name="Text 0"/>
          <p:cNvSpPr txBox="1"/>
          <p:nvPr/>
        </p:nvSpPr>
        <p:spPr>
          <a:xfrm>
            <a:off x="777240" y="1371600"/>
            <a:ext cx="3108960" cy="2377440"/>
          </a:xfrm>
          <a:prstGeom prst="rect">
            <a:avLst/>
          </a:prstGeom>
          <a:noFill/>
          <a:ln/>
        </p:spPr>
        <p:txBody>
          <a:bodyPr wrap="square" lIns="0" tIns="0" rIns="0" bIns="0" rtlCol="0" anchor="ctr"/>
          <a:lstStyle/>
          <a:p>
            <a:pPr indent="0" marL="0">
              <a:buNone/>
            </a:pPr>
            <a:r>
              <a:rPr lang="en-US" sz="13000" b="1" dirty="0">
                <a:solidFill>
                  <a:srgbClr val="8C3A2B"/>
                </a:solidFill>
                <a:latin typeface="Cambria" pitchFamily="34" charset="0"/>
                <a:ea typeface="Cambria" pitchFamily="34" charset="-122"/>
                <a:cs typeface="Cambria" pitchFamily="34" charset="-120"/>
              </a:rPr>
              <a:t>XI</a:t>
            </a:r>
            <a:endParaRPr lang="en-US" sz="13000" dirty="0"/>
          </a:p>
        </p:txBody>
      </p:sp>
      <p:sp>
        <p:nvSpPr>
          <p:cNvPr id="3" name="Text 1"/>
          <p:cNvSpPr txBox="1"/>
          <p:nvPr/>
        </p:nvSpPr>
        <p:spPr>
          <a:xfrm>
            <a:off x="777240" y="3611880"/>
            <a:ext cx="10424160" cy="1325880"/>
          </a:xfrm>
          <a:prstGeom prst="rect">
            <a:avLst/>
          </a:prstGeom>
          <a:noFill/>
          <a:ln/>
        </p:spPr>
        <p:txBody>
          <a:bodyPr wrap="square" lIns="0" tIns="0" rIns="0" bIns="0" rtlCol="0" anchor="ctr"/>
          <a:lstStyle/>
          <a:p>
            <a:pPr indent="0" marL="0">
              <a:lnSpc>
                <a:spcPts val="4400"/>
              </a:lnSpc>
              <a:buNone/>
            </a:pPr>
            <a:r>
              <a:rPr lang="en-US" sz="4000" b="1" dirty="0">
                <a:solidFill>
                  <a:srgbClr val="FFFFFF"/>
                </a:solidFill>
                <a:latin typeface="Cambria" pitchFamily="34" charset="0"/>
                <a:ea typeface="Cambria" pitchFamily="34" charset="-122"/>
                <a:cs typeface="Cambria" pitchFamily="34" charset="-120"/>
              </a:rPr>
              <a:t>Örnekler</a:t>
            </a:r>
            <a:endParaRPr lang="en-US" sz="4000" dirty="0"/>
          </a:p>
        </p:txBody>
      </p:sp>
      <p:sp>
        <p:nvSpPr>
          <p:cNvPr id="4" name="Text 2"/>
          <p:cNvSpPr txBox="1"/>
          <p:nvPr/>
        </p:nvSpPr>
        <p:spPr>
          <a:xfrm>
            <a:off x="777240" y="5029200"/>
            <a:ext cx="9509760" cy="822960"/>
          </a:xfrm>
          <a:prstGeom prst="rect">
            <a:avLst/>
          </a:prstGeom>
          <a:noFill/>
          <a:ln/>
        </p:spPr>
        <p:txBody>
          <a:bodyPr wrap="square" lIns="0" tIns="0" rIns="0" bIns="0" rtlCol="0" anchor="ctr"/>
          <a:lstStyle/>
          <a:p>
            <a:pPr indent="0" marL="0">
              <a:lnSpc>
                <a:spcPts val="2200"/>
              </a:lnSpc>
              <a:buNone/>
            </a:pPr>
            <a:r>
              <a:rPr lang="en-US" sz="1500" dirty="0">
                <a:solidFill>
                  <a:srgbClr val="B9B9C0"/>
                </a:solidFill>
                <a:latin typeface="Calibri" pitchFamily="34" charset="0"/>
                <a:ea typeface="Calibri" pitchFamily="34" charset="-122"/>
                <a:cs typeface="Calibri" pitchFamily="34" charset="-120"/>
              </a:rPr>
              <a:t>Dünyadan ve Türkiye'den okunabilir mağaza örnekleri.</a:t>
            </a:r>
            <a:endParaRPr lang="en-US" sz="15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CFCFA"/>
        </a:solidFill>
      </p:bgPr>
    </p:bg>
    <p:spTree>
      <p:nvGrpSpPr>
        <p:cNvPr id="1" name=""/>
        <p:cNvGrpSpPr/>
        <p:nvPr/>
      </p:nvGrpSpPr>
      <p:grpSpPr>
        <a:xfrm>
          <a:off x="0" y="0"/>
          <a:ext cx="0" cy="0"/>
          <a:chOff x="0" y="0"/>
          <a:chExt cx="0" cy="0"/>
        </a:xfrm>
      </p:grpSpPr>
      <p:sp>
        <p:nvSpPr>
          <p:cNvPr id="2" name="Text 0"/>
          <p:cNvSpPr txBox="1"/>
          <p:nvPr/>
        </p:nvSpPr>
        <p:spPr>
          <a:xfrm>
            <a:off x="777240" y="475488"/>
            <a:ext cx="9601200" cy="237744"/>
          </a:xfrm>
          <a:prstGeom prst="rect">
            <a:avLst/>
          </a:prstGeom>
          <a:noFill/>
          <a:ln/>
        </p:spPr>
        <p:txBody>
          <a:bodyPr wrap="square" lIns="0" tIns="0" rIns="0" bIns="0" rtlCol="0" anchor="ctr"/>
          <a:lstStyle/>
          <a:p>
            <a:pPr indent="0" marL="0">
              <a:buNone/>
            </a:pPr>
            <a:r>
              <a:rPr lang="en-US" sz="950" b="1" spc="260" kern="0" dirty="0">
                <a:solidFill>
                  <a:srgbClr val="7A7A82"/>
                </a:solidFill>
                <a:latin typeface="Calibri" pitchFamily="34" charset="0"/>
                <a:ea typeface="Calibri" pitchFamily="34" charset="-122"/>
                <a:cs typeface="Calibri" pitchFamily="34" charset="-120"/>
              </a:rPr>
              <a:t>XI · ÖRNEKLER</a:t>
            </a:r>
            <a:endParaRPr lang="en-US" sz="950" dirty="0"/>
          </a:p>
        </p:txBody>
      </p:sp>
      <p:sp>
        <p:nvSpPr>
          <p:cNvPr id="3" name="Text 1"/>
          <p:cNvSpPr txBox="1"/>
          <p:nvPr/>
        </p:nvSpPr>
        <p:spPr>
          <a:xfrm>
            <a:off x="777240" y="822960"/>
            <a:ext cx="10424160" cy="731520"/>
          </a:xfrm>
          <a:prstGeom prst="rect">
            <a:avLst/>
          </a:prstGeom>
          <a:noFill/>
          <a:ln/>
        </p:spPr>
        <p:txBody>
          <a:bodyPr wrap="square" lIns="0" tIns="0" rIns="0" bIns="0" rtlCol="0" anchor="ctr"/>
          <a:lstStyle/>
          <a:p>
            <a:pPr indent="0" marL="0">
              <a:lnSpc>
                <a:spcPts val="3400"/>
              </a:lnSpc>
              <a:buNone/>
            </a:pPr>
            <a:r>
              <a:rPr lang="en-US" sz="2900" b="1" dirty="0">
                <a:solidFill>
                  <a:srgbClr val="16161A"/>
                </a:solidFill>
                <a:latin typeface="Cambria" pitchFamily="34" charset="0"/>
                <a:ea typeface="Cambria" pitchFamily="34" charset="-122"/>
                <a:cs typeface="Cambria" pitchFamily="34" charset="-120"/>
              </a:rPr>
              <a:t>Dünyadan</a:t>
            </a:r>
            <a:endParaRPr lang="en-US" sz="2900" dirty="0"/>
          </a:p>
        </p:txBody>
      </p:sp>
      <p:sp>
        <p:nvSpPr>
          <p:cNvPr id="4" name="Text 2"/>
          <p:cNvSpPr txBox="1"/>
          <p:nvPr/>
        </p:nvSpPr>
        <p:spPr>
          <a:xfrm>
            <a:off x="10972800" y="6355080"/>
            <a:ext cx="438912" cy="237744"/>
          </a:xfrm>
          <a:prstGeom prst="rect">
            <a:avLst/>
          </a:prstGeom>
          <a:noFill/>
          <a:ln/>
        </p:spPr>
        <p:txBody>
          <a:bodyPr wrap="square" lIns="0" tIns="0" rIns="0" bIns="0" rtlCol="0" anchor="ctr"/>
          <a:lstStyle/>
          <a:p>
            <a:pPr algn="r" indent="0" marL="0">
              <a:buNone/>
            </a:pPr>
            <a:r>
              <a:rPr lang="en-US" sz="950" dirty="0">
                <a:solidFill>
                  <a:srgbClr val="A6A6AC"/>
                </a:solidFill>
                <a:latin typeface="Calibri" pitchFamily="34" charset="0"/>
                <a:ea typeface="Calibri" pitchFamily="34" charset="-122"/>
                <a:cs typeface="Calibri" pitchFamily="34" charset="-120"/>
              </a:rPr>
              <a:t>51</a:t>
            </a:r>
            <a:endParaRPr lang="en-US" sz="950" dirty="0"/>
          </a:p>
        </p:txBody>
      </p:sp>
      <p:sp>
        <p:nvSpPr>
          <p:cNvPr id="5" name="Text 3"/>
          <p:cNvSpPr txBox="1"/>
          <p:nvPr/>
        </p:nvSpPr>
        <p:spPr>
          <a:xfrm>
            <a:off x="777240" y="1828800"/>
            <a:ext cx="3240024" cy="384048"/>
          </a:xfrm>
          <a:prstGeom prst="rect">
            <a:avLst/>
          </a:prstGeom>
          <a:noFill/>
          <a:ln/>
        </p:spPr>
        <p:txBody>
          <a:bodyPr wrap="square" lIns="0" tIns="0" rIns="0" bIns="0" rtlCol="0" anchor="ctr"/>
          <a:lstStyle/>
          <a:p>
            <a:pPr indent="0" marL="0">
              <a:lnSpc>
                <a:spcPts val="1700"/>
              </a:lnSpc>
              <a:buNone/>
            </a:pPr>
            <a:r>
              <a:rPr lang="en-US" sz="1350" b="1" dirty="0">
                <a:solidFill>
                  <a:srgbClr val="8C3A2B"/>
                </a:solidFill>
                <a:latin typeface="Cambria" pitchFamily="34" charset="0"/>
                <a:ea typeface="Cambria" pitchFamily="34" charset="-122"/>
                <a:cs typeface="Cambria" pitchFamily="34" charset="-120"/>
              </a:rPr>
              <a:t>Prada Epicenter, New York</a:t>
            </a:r>
            <a:endParaRPr lang="en-US" sz="1350" dirty="0"/>
          </a:p>
        </p:txBody>
      </p:sp>
      <p:sp>
        <p:nvSpPr>
          <p:cNvPr id="6" name="Text 4"/>
          <p:cNvSpPr txBox="1"/>
          <p:nvPr/>
        </p:nvSpPr>
        <p:spPr>
          <a:xfrm>
            <a:off x="777240" y="2240280"/>
            <a:ext cx="3240024" cy="621792"/>
          </a:xfrm>
          <a:prstGeom prst="rect">
            <a:avLst/>
          </a:prstGeom>
          <a:noFill/>
          <a:ln/>
        </p:spPr>
        <p:txBody>
          <a:bodyPr wrap="square" lIns="0" tIns="0" rIns="0" bIns="0" rtlCol="0" anchor="ctr"/>
          <a:lstStyle/>
          <a:p>
            <a:pPr indent="0" marL="0">
              <a:lnSpc>
                <a:spcPts val="1400"/>
              </a:lnSpc>
              <a:buNone/>
            </a:pPr>
            <a:r>
              <a:rPr lang="en-US" sz="1100" dirty="0">
                <a:solidFill>
                  <a:srgbClr val="7A7A82"/>
                </a:solidFill>
                <a:latin typeface="Calibri" pitchFamily="34" charset="0"/>
                <a:ea typeface="Calibri" pitchFamily="34" charset="-122"/>
                <a:cs typeface="Calibri" pitchFamily="34" charset="-120"/>
              </a:rPr>
              <a:t>OMA, 2001. Satış alanını dalga biçimli ahşap zeminle sahneye dönüştüren, mağazayı kültür mekânı gibi ele alan erken örnek.</a:t>
            </a:r>
            <a:endParaRPr lang="en-US" sz="1100" dirty="0"/>
          </a:p>
        </p:txBody>
      </p:sp>
      <p:sp>
        <p:nvSpPr>
          <p:cNvPr id="7" name="Text 5"/>
          <p:cNvSpPr txBox="1"/>
          <p:nvPr/>
        </p:nvSpPr>
        <p:spPr>
          <a:xfrm>
            <a:off x="4474464" y="1828800"/>
            <a:ext cx="3240024" cy="384048"/>
          </a:xfrm>
          <a:prstGeom prst="rect">
            <a:avLst/>
          </a:prstGeom>
          <a:noFill/>
          <a:ln/>
        </p:spPr>
        <p:txBody>
          <a:bodyPr wrap="square" lIns="0" tIns="0" rIns="0" bIns="0" rtlCol="0" anchor="ctr"/>
          <a:lstStyle/>
          <a:p>
            <a:pPr indent="0" marL="0">
              <a:lnSpc>
                <a:spcPts val="1700"/>
              </a:lnSpc>
              <a:buNone/>
            </a:pPr>
            <a:r>
              <a:rPr lang="en-US" sz="1350" b="1" dirty="0">
                <a:solidFill>
                  <a:srgbClr val="8C3A2B"/>
                </a:solidFill>
                <a:latin typeface="Cambria" pitchFamily="34" charset="0"/>
                <a:ea typeface="Cambria" pitchFamily="34" charset="-122"/>
                <a:cs typeface="Cambria" pitchFamily="34" charset="-120"/>
              </a:rPr>
              <a:t>Dover Street Market, Londra</a:t>
            </a:r>
            <a:endParaRPr lang="en-US" sz="1350" dirty="0"/>
          </a:p>
        </p:txBody>
      </p:sp>
      <p:sp>
        <p:nvSpPr>
          <p:cNvPr id="8" name="Text 6"/>
          <p:cNvSpPr txBox="1"/>
          <p:nvPr/>
        </p:nvSpPr>
        <p:spPr>
          <a:xfrm>
            <a:off x="4474464" y="2240280"/>
            <a:ext cx="3240024" cy="621792"/>
          </a:xfrm>
          <a:prstGeom prst="rect">
            <a:avLst/>
          </a:prstGeom>
          <a:noFill/>
          <a:ln/>
        </p:spPr>
        <p:txBody>
          <a:bodyPr wrap="square" lIns="0" tIns="0" rIns="0" bIns="0" rtlCol="0" anchor="ctr"/>
          <a:lstStyle/>
          <a:p>
            <a:pPr indent="0" marL="0">
              <a:lnSpc>
                <a:spcPts val="1400"/>
              </a:lnSpc>
              <a:buNone/>
            </a:pPr>
            <a:r>
              <a:rPr lang="en-US" sz="1100" dirty="0">
                <a:solidFill>
                  <a:srgbClr val="7A7A82"/>
                </a:solidFill>
                <a:latin typeface="Calibri" pitchFamily="34" charset="0"/>
                <a:ea typeface="Calibri" pitchFamily="34" charset="-122"/>
                <a:cs typeface="Calibri" pitchFamily="34" charset="-120"/>
              </a:rPr>
              <a:t>Markaların kendi kurdukları stantlarla bir arada bulunduğu, düzenli olarak yeniden kurulan kurgu.</a:t>
            </a:r>
            <a:endParaRPr lang="en-US" sz="1100" dirty="0"/>
          </a:p>
        </p:txBody>
      </p:sp>
      <p:sp>
        <p:nvSpPr>
          <p:cNvPr id="9" name="Text 7"/>
          <p:cNvSpPr txBox="1"/>
          <p:nvPr/>
        </p:nvSpPr>
        <p:spPr>
          <a:xfrm>
            <a:off x="8171688" y="1828800"/>
            <a:ext cx="3240024" cy="384048"/>
          </a:xfrm>
          <a:prstGeom prst="rect">
            <a:avLst/>
          </a:prstGeom>
          <a:noFill/>
          <a:ln/>
        </p:spPr>
        <p:txBody>
          <a:bodyPr wrap="square" lIns="0" tIns="0" rIns="0" bIns="0" rtlCol="0" anchor="ctr"/>
          <a:lstStyle/>
          <a:p>
            <a:pPr indent="0" marL="0">
              <a:lnSpc>
                <a:spcPts val="1700"/>
              </a:lnSpc>
              <a:buNone/>
            </a:pPr>
            <a:r>
              <a:rPr lang="en-US" sz="1350" b="1" dirty="0">
                <a:solidFill>
                  <a:srgbClr val="8C3A2B"/>
                </a:solidFill>
                <a:latin typeface="Cambria" pitchFamily="34" charset="0"/>
                <a:ea typeface="Cambria" pitchFamily="34" charset="-122"/>
                <a:cs typeface="Cambria" pitchFamily="34" charset="-120"/>
              </a:rPr>
              <a:t>Gentle Monster, Seul</a:t>
            </a:r>
            <a:endParaRPr lang="en-US" sz="1350" dirty="0"/>
          </a:p>
        </p:txBody>
      </p:sp>
      <p:sp>
        <p:nvSpPr>
          <p:cNvPr id="10" name="Text 8"/>
          <p:cNvSpPr txBox="1"/>
          <p:nvPr/>
        </p:nvSpPr>
        <p:spPr>
          <a:xfrm>
            <a:off x="8171688" y="2240280"/>
            <a:ext cx="3240024" cy="621792"/>
          </a:xfrm>
          <a:prstGeom prst="rect">
            <a:avLst/>
          </a:prstGeom>
          <a:noFill/>
          <a:ln/>
        </p:spPr>
        <p:txBody>
          <a:bodyPr wrap="square" lIns="0" tIns="0" rIns="0" bIns="0" rtlCol="0" anchor="ctr"/>
          <a:lstStyle/>
          <a:p>
            <a:pPr indent="0" marL="0">
              <a:lnSpc>
                <a:spcPts val="1400"/>
              </a:lnSpc>
              <a:buNone/>
            </a:pPr>
            <a:r>
              <a:rPr lang="en-US" sz="1100" dirty="0">
                <a:solidFill>
                  <a:srgbClr val="7A7A82"/>
                </a:solidFill>
                <a:latin typeface="Calibri" pitchFamily="34" charset="0"/>
                <a:ea typeface="Calibri" pitchFamily="34" charset="-122"/>
                <a:cs typeface="Calibri" pitchFamily="34" charset="-120"/>
              </a:rPr>
              <a:t>Gözlük satan mekânı büyük ölçekli enstalasyonlarla kuran, ürünü neredeyse arka plana iten yaklaşım.</a:t>
            </a:r>
            <a:endParaRPr lang="en-US" sz="1100" dirty="0"/>
          </a:p>
        </p:txBody>
      </p:sp>
      <p:sp>
        <p:nvSpPr>
          <p:cNvPr id="11" name="Text 9"/>
          <p:cNvSpPr txBox="1"/>
          <p:nvPr/>
        </p:nvSpPr>
        <p:spPr>
          <a:xfrm>
            <a:off x="777240" y="2944368"/>
            <a:ext cx="3240024" cy="384048"/>
          </a:xfrm>
          <a:prstGeom prst="rect">
            <a:avLst/>
          </a:prstGeom>
          <a:noFill/>
          <a:ln/>
        </p:spPr>
        <p:txBody>
          <a:bodyPr wrap="square" lIns="0" tIns="0" rIns="0" bIns="0" rtlCol="0" anchor="ctr"/>
          <a:lstStyle/>
          <a:p>
            <a:pPr indent="0" marL="0">
              <a:lnSpc>
                <a:spcPts val="1700"/>
              </a:lnSpc>
              <a:buNone/>
            </a:pPr>
            <a:r>
              <a:rPr lang="en-US" sz="1350" b="1" dirty="0">
                <a:solidFill>
                  <a:srgbClr val="8C3A2B"/>
                </a:solidFill>
                <a:latin typeface="Cambria" pitchFamily="34" charset="0"/>
                <a:ea typeface="Cambria" pitchFamily="34" charset="-122"/>
                <a:cs typeface="Cambria" pitchFamily="34" charset="-120"/>
              </a:rPr>
              <a:t>Aesop</a:t>
            </a:r>
            <a:endParaRPr lang="en-US" sz="1350" dirty="0"/>
          </a:p>
        </p:txBody>
      </p:sp>
      <p:sp>
        <p:nvSpPr>
          <p:cNvPr id="12" name="Text 10"/>
          <p:cNvSpPr txBox="1"/>
          <p:nvPr/>
        </p:nvSpPr>
        <p:spPr>
          <a:xfrm>
            <a:off x="777240" y="3355848"/>
            <a:ext cx="3240024" cy="621792"/>
          </a:xfrm>
          <a:prstGeom prst="rect">
            <a:avLst/>
          </a:prstGeom>
          <a:noFill/>
          <a:ln/>
        </p:spPr>
        <p:txBody>
          <a:bodyPr wrap="square" lIns="0" tIns="0" rIns="0" bIns="0" rtlCol="0" anchor="ctr"/>
          <a:lstStyle/>
          <a:p>
            <a:pPr indent="0" marL="0">
              <a:lnSpc>
                <a:spcPts val="1400"/>
              </a:lnSpc>
              <a:buNone/>
            </a:pPr>
            <a:r>
              <a:rPr lang="en-US" sz="1100" dirty="0">
                <a:solidFill>
                  <a:srgbClr val="7A7A82"/>
                </a:solidFill>
                <a:latin typeface="Calibri" pitchFamily="34" charset="0"/>
                <a:ea typeface="Calibri" pitchFamily="34" charset="-122"/>
                <a:cs typeface="Calibri" pitchFamily="34" charset="-120"/>
              </a:rPr>
              <a:t>Her mağazanın yerel bir tasarımcı ve yerel malzemeyle kurulması; tek bir mağaza tipinin olmaması.</a:t>
            </a:r>
            <a:endParaRPr lang="en-US" sz="1100" dirty="0"/>
          </a:p>
        </p:txBody>
      </p:sp>
      <p:sp>
        <p:nvSpPr>
          <p:cNvPr id="13" name="Text 11"/>
          <p:cNvSpPr txBox="1"/>
          <p:nvPr/>
        </p:nvSpPr>
        <p:spPr>
          <a:xfrm>
            <a:off x="4474464" y="2944368"/>
            <a:ext cx="3240024" cy="384048"/>
          </a:xfrm>
          <a:prstGeom prst="rect">
            <a:avLst/>
          </a:prstGeom>
          <a:noFill/>
          <a:ln/>
        </p:spPr>
        <p:txBody>
          <a:bodyPr wrap="square" lIns="0" tIns="0" rIns="0" bIns="0" rtlCol="0" anchor="ctr"/>
          <a:lstStyle/>
          <a:p>
            <a:pPr indent="0" marL="0">
              <a:lnSpc>
                <a:spcPts val="1700"/>
              </a:lnSpc>
              <a:buNone/>
            </a:pPr>
            <a:r>
              <a:rPr lang="en-US" sz="1350" b="1" dirty="0">
                <a:solidFill>
                  <a:srgbClr val="8C3A2B"/>
                </a:solidFill>
                <a:latin typeface="Cambria" pitchFamily="34" charset="0"/>
                <a:ea typeface="Cambria" pitchFamily="34" charset="-122"/>
                <a:cs typeface="Cambria" pitchFamily="34" charset="-120"/>
              </a:rPr>
              <a:t>Muji</a:t>
            </a:r>
            <a:endParaRPr lang="en-US" sz="1350" dirty="0"/>
          </a:p>
        </p:txBody>
      </p:sp>
      <p:sp>
        <p:nvSpPr>
          <p:cNvPr id="14" name="Text 12"/>
          <p:cNvSpPr txBox="1"/>
          <p:nvPr/>
        </p:nvSpPr>
        <p:spPr>
          <a:xfrm>
            <a:off x="4474464" y="3355848"/>
            <a:ext cx="3240024" cy="621792"/>
          </a:xfrm>
          <a:prstGeom prst="rect">
            <a:avLst/>
          </a:prstGeom>
          <a:noFill/>
          <a:ln/>
        </p:spPr>
        <p:txBody>
          <a:bodyPr wrap="square" lIns="0" tIns="0" rIns="0" bIns="0" rtlCol="0" anchor="ctr"/>
          <a:lstStyle/>
          <a:p>
            <a:pPr indent="0" marL="0">
              <a:lnSpc>
                <a:spcPts val="1400"/>
              </a:lnSpc>
              <a:buNone/>
            </a:pPr>
            <a:r>
              <a:rPr lang="en-US" sz="1100" dirty="0">
                <a:solidFill>
                  <a:srgbClr val="7A7A82"/>
                </a:solidFill>
                <a:latin typeface="Calibri" pitchFamily="34" charset="0"/>
                <a:ea typeface="Calibri" pitchFamily="34" charset="-122"/>
                <a:cs typeface="Calibri" pitchFamily="34" charset="-120"/>
              </a:rPr>
              <a:t>Malzeme, ışık ve ürün dilinin tek bir sadelik fikrinde buluşması.</a:t>
            </a:r>
            <a:endParaRPr lang="en-US" sz="1100" dirty="0"/>
          </a:p>
        </p:txBody>
      </p:sp>
      <p:sp>
        <p:nvSpPr>
          <p:cNvPr id="15" name="Text 13"/>
          <p:cNvSpPr txBox="1"/>
          <p:nvPr/>
        </p:nvSpPr>
        <p:spPr>
          <a:xfrm>
            <a:off x="8171688" y="2944368"/>
            <a:ext cx="3240024" cy="384048"/>
          </a:xfrm>
          <a:prstGeom prst="rect">
            <a:avLst/>
          </a:prstGeom>
          <a:noFill/>
          <a:ln/>
        </p:spPr>
        <p:txBody>
          <a:bodyPr wrap="square" lIns="0" tIns="0" rIns="0" bIns="0" rtlCol="0" anchor="ctr"/>
          <a:lstStyle/>
          <a:p>
            <a:pPr indent="0" marL="0">
              <a:lnSpc>
                <a:spcPts val="1700"/>
              </a:lnSpc>
              <a:buNone/>
            </a:pPr>
            <a:r>
              <a:rPr lang="en-US" sz="1350" b="1" dirty="0">
                <a:solidFill>
                  <a:srgbClr val="8C3A2B"/>
                </a:solidFill>
                <a:latin typeface="Cambria" pitchFamily="34" charset="0"/>
                <a:ea typeface="Cambria" pitchFamily="34" charset="-122"/>
                <a:cs typeface="Cambria" pitchFamily="34" charset="-120"/>
              </a:rPr>
              <a:t>Apple Store</a:t>
            </a:r>
            <a:endParaRPr lang="en-US" sz="1350" dirty="0"/>
          </a:p>
        </p:txBody>
      </p:sp>
      <p:sp>
        <p:nvSpPr>
          <p:cNvPr id="16" name="Text 14"/>
          <p:cNvSpPr txBox="1"/>
          <p:nvPr/>
        </p:nvSpPr>
        <p:spPr>
          <a:xfrm>
            <a:off x="8171688" y="3355848"/>
            <a:ext cx="3240024" cy="621792"/>
          </a:xfrm>
          <a:prstGeom prst="rect">
            <a:avLst/>
          </a:prstGeom>
          <a:noFill/>
          <a:ln/>
        </p:spPr>
        <p:txBody>
          <a:bodyPr wrap="square" lIns="0" tIns="0" rIns="0" bIns="0" rtlCol="0" anchor="ctr"/>
          <a:lstStyle/>
          <a:p>
            <a:pPr indent="0" marL="0">
              <a:lnSpc>
                <a:spcPts val="1400"/>
              </a:lnSpc>
              <a:buNone/>
            </a:pPr>
            <a:r>
              <a:rPr lang="en-US" sz="1100" dirty="0">
                <a:solidFill>
                  <a:srgbClr val="7A7A82"/>
                </a:solidFill>
                <a:latin typeface="Calibri" pitchFamily="34" charset="0"/>
                <a:ea typeface="Calibri" pitchFamily="34" charset="-122"/>
                <a:cs typeface="Calibri" pitchFamily="34" charset="-120"/>
              </a:rPr>
              <a:t>Şeffaflık, gün ışığı ve ürünün dokunmaya açık sunumu; teşhirin neredeyse kaldırılması.</a:t>
            </a:r>
            <a:endParaRPr lang="en-US" sz="1100" dirty="0"/>
          </a:p>
        </p:txBody>
      </p:sp>
      <p:sp>
        <p:nvSpPr>
          <p:cNvPr id="17" name="Text 15"/>
          <p:cNvSpPr txBox="1"/>
          <p:nvPr/>
        </p:nvSpPr>
        <p:spPr>
          <a:xfrm>
            <a:off x="777240" y="4069080"/>
            <a:ext cx="10424160" cy="219456"/>
          </a:xfrm>
          <a:prstGeom prst="rect">
            <a:avLst/>
          </a:prstGeom>
          <a:noFill/>
          <a:ln/>
        </p:spPr>
        <p:txBody>
          <a:bodyPr wrap="square" lIns="0" tIns="0" rIns="0" bIns="0" rtlCol="0" anchor="ctr"/>
          <a:lstStyle/>
          <a:p>
            <a:pPr algn="l" indent="0" marL="0">
              <a:lnSpc>
                <a:spcPts val="1200"/>
              </a:lnSpc>
              <a:buNone/>
            </a:pPr>
            <a:r>
              <a:rPr lang="en-US" sz="900" b="1" dirty="0">
                <a:solidFill>
                  <a:srgbClr val="A6A6AC"/>
                </a:solidFill>
                <a:latin typeface="Calibri" pitchFamily="34" charset="0"/>
                <a:ea typeface="Calibri" pitchFamily="34" charset="-122"/>
                <a:cs typeface="Calibri" pitchFamily="34" charset="-120"/>
              </a:rPr>
              <a:t>Duyusal kimliğin ürün kararından doğduğu iki örnek</a:t>
            </a:r>
            <a:endParaRPr lang="en-US" sz="900" dirty="0"/>
          </a:p>
        </p:txBody>
      </p:sp>
      <p:sp>
        <p:nvSpPr>
          <p:cNvPr id="18" name="Text 16"/>
          <p:cNvSpPr txBox="1"/>
          <p:nvPr/>
        </p:nvSpPr>
        <p:spPr>
          <a:xfrm>
            <a:off x="777240" y="4370832"/>
            <a:ext cx="5088636" cy="384048"/>
          </a:xfrm>
          <a:prstGeom prst="rect">
            <a:avLst/>
          </a:prstGeom>
          <a:noFill/>
          <a:ln/>
        </p:spPr>
        <p:txBody>
          <a:bodyPr wrap="square" lIns="0" tIns="0" rIns="0" bIns="0" rtlCol="0" anchor="ctr"/>
          <a:lstStyle/>
          <a:p>
            <a:pPr indent="0" marL="0">
              <a:lnSpc>
                <a:spcPts val="1700"/>
              </a:lnSpc>
              <a:buNone/>
            </a:pPr>
            <a:r>
              <a:rPr lang="en-US" sz="1350" b="1" dirty="0">
                <a:solidFill>
                  <a:srgbClr val="8C3A2B"/>
                </a:solidFill>
                <a:latin typeface="Cambria" pitchFamily="34" charset="0"/>
                <a:ea typeface="Cambria" pitchFamily="34" charset="-122"/>
                <a:cs typeface="Cambria" pitchFamily="34" charset="-120"/>
              </a:rPr>
              <a:t>Lush</a:t>
            </a:r>
            <a:endParaRPr lang="en-US" sz="1350" dirty="0"/>
          </a:p>
        </p:txBody>
      </p:sp>
      <p:sp>
        <p:nvSpPr>
          <p:cNvPr id="19" name="Text 17"/>
          <p:cNvSpPr txBox="1"/>
          <p:nvPr/>
        </p:nvSpPr>
        <p:spPr>
          <a:xfrm>
            <a:off x="777240" y="4782312"/>
            <a:ext cx="5088636" cy="621792"/>
          </a:xfrm>
          <a:prstGeom prst="rect">
            <a:avLst/>
          </a:prstGeom>
          <a:noFill/>
          <a:ln/>
        </p:spPr>
        <p:txBody>
          <a:bodyPr wrap="square" lIns="0" tIns="0" rIns="0" bIns="0" rtlCol="0" anchor="ctr"/>
          <a:lstStyle/>
          <a:p>
            <a:pPr indent="0" marL="0">
              <a:lnSpc>
                <a:spcPts val="1400"/>
              </a:lnSpc>
              <a:buNone/>
            </a:pPr>
            <a:r>
              <a:rPr lang="en-US" sz="1100" dirty="0">
                <a:solidFill>
                  <a:srgbClr val="7A7A82"/>
                </a:solidFill>
                <a:latin typeface="Calibri" pitchFamily="34" charset="0"/>
                <a:ea typeface="Calibri" pitchFamily="34" charset="-122"/>
                <a:cs typeface="Calibri" pitchFamily="34" charset="-120"/>
              </a:rPr>
              <a:t>Ambalajın kaldırılmasıyla kokunun mekânın ana malzemesi hâline gelmesi.</a:t>
            </a:r>
            <a:endParaRPr lang="en-US" sz="1100" dirty="0"/>
          </a:p>
        </p:txBody>
      </p:sp>
      <p:sp>
        <p:nvSpPr>
          <p:cNvPr id="20" name="Text 18"/>
          <p:cNvSpPr txBox="1"/>
          <p:nvPr/>
        </p:nvSpPr>
        <p:spPr>
          <a:xfrm>
            <a:off x="6323076" y="4370832"/>
            <a:ext cx="5088636" cy="384048"/>
          </a:xfrm>
          <a:prstGeom prst="rect">
            <a:avLst/>
          </a:prstGeom>
          <a:noFill/>
          <a:ln/>
        </p:spPr>
        <p:txBody>
          <a:bodyPr wrap="square" lIns="0" tIns="0" rIns="0" bIns="0" rtlCol="0" anchor="ctr"/>
          <a:lstStyle/>
          <a:p>
            <a:pPr indent="0" marL="0">
              <a:lnSpc>
                <a:spcPts val="1700"/>
              </a:lnSpc>
              <a:buNone/>
            </a:pPr>
            <a:r>
              <a:rPr lang="en-US" sz="1350" b="1" dirty="0">
                <a:solidFill>
                  <a:srgbClr val="8C3A2B"/>
                </a:solidFill>
                <a:latin typeface="Cambria" pitchFamily="34" charset="0"/>
                <a:ea typeface="Cambria" pitchFamily="34" charset="-122"/>
                <a:cs typeface="Cambria" pitchFamily="34" charset="-120"/>
              </a:rPr>
              <a:t>Camper</a:t>
            </a:r>
            <a:endParaRPr lang="en-US" sz="1350" dirty="0"/>
          </a:p>
        </p:txBody>
      </p:sp>
      <p:sp>
        <p:nvSpPr>
          <p:cNvPr id="21" name="Text 19"/>
          <p:cNvSpPr txBox="1"/>
          <p:nvPr/>
        </p:nvSpPr>
        <p:spPr>
          <a:xfrm>
            <a:off x="6323076" y="4782312"/>
            <a:ext cx="5088636" cy="621792"/>
          </a:xfrm>
          <a:prstGeom prst="rect">
            <a:avLst/>
          </a:prstGeom>
          <a:noFill/>
          <a:ln/>
        </p:spPr>
        <p:txBody>
          <a:bodyPr wrap="square" lIns="0" tIns="0" rIns="0" bIns="0" rtlCol="0" anchor="ctr"/>
          <a:lstStyle/>
          <a:p>
            <a:pPr indent="0" marL="0">
              <a:lnSpc>
                <a:spcPts val="1400"/>
              </a:lnSpc>
              <a:buNone/>
            </a:pPr>
            <a:r>
              <a:rPr lang="en-US" sz="1100" dirty="0">
                <a:solidFill>
                  <a:srgbClr val="7A7A82"/>
                </a:solidFill>
                <a:latin typeface="Calibri" pitchFamily="34" charset="0"/>
                <a:ea typeface="Calibri" pitchFamily="34" charset="-122"/>
                <a:cs typeface="Calibri" pitchFamily="34" charset="-120"/>
              </a:rPr>
              <a:t>Mağazaların farklı tasarımcılara açılması; kurumsal şablon yerine çoğulluk.</a:t>
            </a:r>
            <a:endParaRPr lang="en-US" sz="1100" dirty="0"/>
          </a:p>
        </p:txBody>
      </p:sp>
      <p:sp>
        <p:nvSpPr>
          <p:cNvPr id="22" name="Text 20"/>
          <p:cNvSpPr txBox="1"/>
          <p:nvPr/>
        </p:nvSpPr>
        <p:spPr>
          <a:xfrm>
            <a:off x="777240" y="6309360"/>
            <a:ext cx="10058400" cy="310896"/>
          </a:xfrm>
          <a:prstGeom prst="rect">
            <a:avLst/>
          </a:prstGeom>
          <a:noFill/>
          <a:ln/>
        </p:spPr>
        <p:txBody>
          <a:bodyPr wrap="square" lIns="0" tIns="0" rIns="0" bIns="0" rtlCol="0" anchor="ctr"/>
          <a:lstStyle/>
          <a:p>
            <a:pPr indent="0" marL="0">
              <a:lnSpc>
                <a:spcPts val="1100"/>
              </a:lnSpc>
              <a:buNone/>
            </a:pPr>
            <a:r>
              <a:rPr lang="en-US" sz="850" dirty="0">
                <a:solidFill>
                  <a:srgbClr val="A6A6AC"/>
                </a:solidFill>
                <a:latin typeface="Calibri" pitchFamily="34" charset="0"/>
                <a:ea typeface="Calibri" pitchFamily="34" charset="-122"/>
                <a:cs typeface="Calibri" pitchFamily="34" charset="-120"/>
              </a:rPr>
              <a:t>Görsel önerisi — Her marka için birer iç mekân fotoğrafı yeterli; Prada Epicenter'ın dalga zemini ve Gentle Monster'ın enstalasyonları en çarpıcı görseller.</a:t>
            </a:r>
            <a:endParaRPr lang="en-US" sz="8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CFCFA"/>
        </a:solidFill>
      </p:bgPr>
    </p:bg>
    <p:spTree>
      <p:nvGrpSpPr>
        <p:cNvPr id="1" name=""/>
        <p:cNvGrpSpPr/>
        <p:nvPr/>
      </p:nvGrpSpPr>
      <p:grpSpPr>
        <a:xfrm>
          <a:off x="0" y="0"/>
          <a:ext cx="0" cy="0"/>
          <a:chOff x="0" y="0"/>
          <a:chExt cx="0" cy="0"/>
        </a:xfrm>
      </p:grpSpPr>
      <p:sp>
        <p:nvSpPr>
          <p:cNvPr id="2" name="Text 0"/>
          <p:cNvSpPr txBox="1"/>
          <p:nvPr/>
        </p:nvSpPr>
        <p:spPr>
          <a:xfrm>
            <a:off x="777240" y="475488"/>
            <a:ext cx="9601200" cy="237744"/>
          </a:xfrm>
          <a:prstGeom prst="rect">
            <a:avLst/>
          </a:prstGeom>
          <a:noFill/>
          <a:ln/>
        </p:spPr>
        <p:txBody>
          <a:bodyPr wrap="square" lIns="0" tIns="0" rIns="0" bIns="0" rtlCol="0" anchor="ctr"/>
          <a:lstStyle/>
          <a:p>
            <a:pPr indent="0" marL="0">
              <a:buNone/>
            </a:pPr>
            <a:r>
              <a:rPr lang="en-US" sz="950" b="1" spc="260" kern="0" dirty="0">
                <a:solidFill>
                  <a:srgbClr val="7A7A82"/>
                </a:solidFill>
                <a:latin typeface="Calibri" pitchFamily="34" charset="0"/>
                <a:ea typeface="Calibri" pitchFamily="34" charset="-122"/>
                <a:cs typeface="Calibri" pitchFamily="34" charset="-120"/>
              </a:rPr>
              <a:t>XI · ÖRNEKLER</a:t>
            </a:r>
            <a:endParaRPr lang="en-US" sz="950" dirty="0"/>
          </a:p>
        </p:txBody>
      </p:sp>
      <p:sp>
        <p:nvSpPr>
          <p:cNvPr id="3" name="Text 1"/>
          <p:cNvSpPr txBox="1"/>
          <p:nvPr/>
        </p:nvSpPr>
        <p:spPr>
          <a:xfrm>
            <a:off x="777240" y="822960"/>
            <a:ext cx="10424160" cy="731520"/>
          </a:xfrm>
          <a:prstGeom prst="rect">
            <a:avLst/>
          </a:prstGeom>
          <a:noFill/>
          <a:ln/>
        </p:spPr>
        <p:txBody>
          <a:bodyPr wrap="square" lIns="0" tIns="0" rIns="0" bIns="0" rtlCol="0" anchor="ctr"/>
          <a:lstStyle/>
          <a:p>
            <a:pPr indent="0" marL="0">
              <a:lnSpc>
                <a:spcPts val="3400"/>
              </a:lnSpc>
              <a:buNone/>
            </a:pPr>
            <a:r>
              <a:rPr lang="en-US" sz="2900" b="1" dirty="0">
                <a:solidFill>
                  <a:srgbClr val="16161A"/>
                </a:solidFill>
                <a:latin typeface="Cambria" pitchFamily="34" charset="0"/>
                <a:ea typeface="Cambria" pitchFamily="34" charset="-122"/>
                <a:cs typeface="Cambria" pitchFamily="34" charset="-120"/>
              </a:rPr>
              <a:t>Türkiye'den</a:t>
            </a:r>
            <a:endParaRPr lang="en-US" sz="2900" dirty="0"/>
          </a:p>
        </p:txBody>
      </p:sp>
      <p:sp>
        <p:nvSpPr>
          <p:cNvPr id="4" name="Text 2"/>
          <p:cNvSpPr txBox="1"/>
          <p:nvPr/>
        </p:nvSpPr>
        <p:spPr>
          <a:xfrm>
            <a:off x="10972800" y="6355080"/>
            <a:ext cx="438912" cy="237744"/>
          </a:xfrm>
          <a:prstGeom prst="rect">
            <a:avLst/>
          </a:prstGeom>
          <a:noFill/>
          <a:ln/>
        </p:spPr>
        <p:txBody>
          <a:bodyPr wrap="square" lIns="0" tIns="0" rIns="0" bIns="0" rtlCol="0" anchor="ctr"/>
          <a:lstStyle/>
          <a:p>
            <a:pPr algn="r" indent="0" marL="0">
              <a:buNone/>
            </a:pPr>
            <a:r>
              <a:rPr lang="en-US" sz="950" dirty="0">
                <a:solidFill>
                  <a:srgbClr val="A6A6AC"/>
                </a:solidFill>
                <a:latin typeface="Calibri" pitchFamily="34" charset="0"/>
                <a:ea typeface="Calibri" pitchFamily="34" charset="-122"/>
                <a:cs typeface="Calibri" pitchFamily="34" charset="-120"/>
              </a:rPr>
              <a:t>52</a:t>
            </a:r>
            <a:endParaRPr lang="en-US" sz="950" dirty="0"/>
          </a:p>
        </p:txBody>
      </p:sp>
      <p:sp>
        <p:nvSpPr>
          <p:cNvPr id="5" name="Text 3"/>
          <p:cNvSpPr txBox="1"/>
          <p:nvPr/>
        </p:nvSpPr>
        <p:spPr>
          <a:xfrm>
            <a:off x="777240" y="1828800"/>
            <a:ext cx="3240024" cy="384048"/>
          </a:xfrm>
          <a:prstGeom prst="rect">
            <a:avLst/>
          </a:prstGeom>
          <a:noFill/>
          <a:ln/>
        </p:spPr>
        <p:txBody>
          <a:bodyPr wrap="square" lIns="0" tIns="0" rIns="0" bIns="0" rtlCol="0" anchor="ctr"/>
          <a:lstStyle/>
          <a:p>
            <a:pPr indent="0" marL="0">
              <a:lnSpc>
                <a:spcPts val="1700"/>
              </a:lnSpc>
              <a:buNone/>
            </a:pPr>
            <a:r>
              <a:rPr lang="en-US" sz="1350" b="1" dirty="0">
                <a:solidFill>
                  <a:srgbClr val="8C3A2B"/>
                </a:solidFill>
                <a:latin typeface="Cambria" pitchFamily="34" charset="0"/>
                <a:ea typeface="Cambria" pitchFamily="34" charset="-122"/>
                <a:cs typeface="Cambria" pitchFamily="34" charset="-120"/>
              </a:rPr>
              <a:t>Kapalı Çarşı ve Mısır Çarşısı</a:t>
            </a:r>
            <a:endParaRPr lang="en-US" sz="1350" dirty="0"/>
          </a:p>
        </p:txBody>
      </p:sp>
      <p:sp>
        <p:nvSpPr>
          <p:cNvPr id="6" name="Text 4"/>
          <p:cNvSpPr txBox="1"/>
          <p:nvPr/>
        </p:nvSpPr>
        <p:spPr>
          <a:xfrm>
            <a:off x="777240" y="2240280"/>
            <a:ext cx="3240024" cy="621792"/>
          </a:xfrm>
          <a:prstGeom prst="rect">
            <a:avLst/>
          </a:prstGeom>
          <a:noFill/>
          <a:ln/>
        </p:spPr>
        <p:txBody>
          <a:bodyPr wrap="square" lIns="0" tIns="0" rIns="0" bIns="0" rtlCol="0" anchor="ctr"/>
          <a:lstStyle/>
          <a:p>
            <a:pPr indent="0" marL="0">
              <a:lnSpc>
                <a:spcPts val="1400"/>
              </a:lnSpc>
              <a:buNone/>
            </a:pPr>
            <a:r>
              <a:rPr lang="en-US" sz="1100" dirty="0">
                <a:solidFill>
                  <a:srgbClr val="7A7A82"/>
                </a:solidFill>
                <a:latin typeface="Calibri" pitchFamily="34" charset="0"/>
                <a:ea typeface="Calibri" pitchFamily="34" charset="-122"/>
                <a:cs typeface="Calibri" pitchFamily="34" charset="-120"/>
              </a:rPr>
              <a:t>Bedesten, arasta ve han tiplerinin zamanla birbirine eklenmesiyle oluşan, hâlâ çalışan bir ticaret örgüsü.</a:t>
            </a:r>
            <a:endParaRPr lang="en-US" sz="1100" dirty="0"/>
          </a:p>
        </p:txBody>
      </p:sp>
      <p:sp>
        <p:nvSpPr>
          <p:cNvPr id="7" name="Text 5"/>
          <p:cNvSpPr txBox="1"/>
          <p:nvPr/>
        </p:nvSpPr>
        <p:spPr>
          <a:xfrm>
            <a:off x="4474464" y="1828800"/>
            <a:ext cx="3240024" cy="384048"/>
          </a:xfrm>
          <a:prstGeom prst="rect">
            <a:avLst/>
          </a:prstGeom>
          <a:noFill/>
          <a:ln/>
        </p:spPr>
        <p:txBody>
          <a:bodyPr wrap="square" lIns="0" tIns="0" rIns="0" bIns="0" rtlCol="0" anchor="ctr"/>
          <a:lstStyle/>
          <a:p>
            <a:pPr indent="0" marL="0">
              <a:lnSpc>
                <a:spcPts val="1700"/>
              </a:lnSpc>
              <a:buNone/>
            </a:pPr>
            <a:r>
              <a:rPr lang="en-US" sz="1350" b="1" dirty="0">
                <a:solidFill>
                  <a:srgbClr val="8C3A2B"/>
                </a:solidFill>
                <a:latin typeface="Cambria" pitchFamily="34" charset="0"/>
                <a:ea typeface="Cambria" pitchFamily="34" charset="-122"/>
                <a:cs typeface="Cambria" pitchFamily="34" charset="-120"/>
              </a:rPr>
              <a:t>Beyoğlu pasajları</a:t>
            </a:r>
            <a:endParaRPr lang="en-US" sz="1350" dirty="0"/>
          </a:p>
        </p:txBody>
      </p:sp>
      <p:sp>
        <p:nvSpPr>
          <p:cNvPr id="8" name="Text 6"/>
          <p:cNvSpPr txBox="1"/>
          <p:nvPr/>
        </p:nvSpPr>
        <p:spPr>
          <a:xfrm>
            <a:off x="4474464" y="2240280"/>
            <a:ext cx="3240024" cy="621792"/>
          </a:xfrm>
          <a:prstGeom prst="rect">
            <a:avLst/>
          </a:prstGeom>
          <a:noFill/>
          <a:ln/>
        </p:spPr>
        <p:txBody>
          <a:bodyPr wrap="square" lIns="0" tIns="0" rIns="0" bIns="0" rtlCol="0" anchor="ctr"/>
          <a:lstStyle/>
          <a:p>
            <a:pPr indent="0" marL="0">
              <a:lnSpc>
                <a:spcPts val="1400"/>
              </a:lnSpc>
              <a:buNone/>
            </a:pPr>
            <a:r>
              <a:rPr lang="en-US" sz="1100" dirty="0">
                <a:solidFill>
                  <a:srgbClr val="7A7A82"/>
                </a:solidFill>
                <a:latin typeface="Calibri" pitchFamily="34" charset="0"/>
                <a:ea typeface="Calibri" pitchFamily="34" charset="-122"/>
                <a:cs typeface="Calibri" pitchFamily="34" charset="-120"/>
              </a:rPr>
              <a:t>Çiçek Pasajı, Hazzopulo, Atlas — on dokuzuncu yüzyıl pasajının yerel yorumları; sokakla iç mekân arası tipoloji.</a:t>
            </a:r>
            <a:endParaRPr lang="en-US" sz="1100" dirty="0"/>
          </a:p>
        </p:txBody>
      </p:sp>
      <p:sp>
        <p:nvSpPr>
          <p:cNvPr id="9" name="Text 7"/>
          <p:cNvSpPr txBox="1"/>
          <p:nvPr/>
        </p:nvSpPr>
        <p:spPr>
          <a:xfrm>
            <a:off x="8171688" y="1828800"/>
            <a:ext cx="3240024" cy="384048"/>
          </a:xfrm>
          <a:prstGeom prst="rect">
            <a:avLst/>
          </a:prstGeom>
          <a:noFill/>
          <a:ln/>
        </p:spPr>
        <p:txBody>
          <a:bodyPr wrap="square" lIns="0" tIns="0" rIns="0" bIns="0" rtlCol="0" anchor="ctr"/>
          <a:lstStyle/>
          <a:p>
            <a:pPr indent="0" marL="0">
              <a:lnSpc>
                <a:spcPts val="1700"/>
              </a:lnSpc>
              <a:buNone/>
            </a:pPr>
            <a:r>
              <a:rPr lang="en-US" sz="1350" b="1" dirty="0">
                <a:solidFill>
                  <a:srgbClr val="8C3A2B"/>
                </a:solidFill>
                <a:latin typeface="Cambria" pitchFamily="34" charset="0"/>
                <a:ea typeface="Cambria" pitchFamily="34" charset="-122"/>
                <a:cs typeface="Cambria" pitchFamily="34" charset="-120"/>
              </a:rPr>
              <a:t>Arasta ve bedestenler</a:t>
            </a:r>
            <a:endParaRPr lang="en-US" sz="1350" dirty="0"/>
          </a:p>
        </p:txBody>
      </p:sp>
      <p:sp>
        <p:nvSpPr>
          <p:cNvPr id="10" name="Text 8"/>
          <p:cNvSpPr txBox="1"/>
          <p:nvPr/>
        </p:nvSpPr>
        <p:spPr>
          <a:xfrm>
            <a:off x="8171688" y="2240280"/>
            <a:ext cx="3240024" cy="621792"/>
          </a:xfrm>
          <a:prstGeom prst="rect">
            <a:avLst/>
          </a:prstGeom>
          <a:noFill/>
          <a:ln/>
        </p:spPr>
        <p:txBody>
          <a:bodyPr wrap="square" lIns="0" tIns="0" rIns="0" bIns="0" rtlCol="0" anchor="ctr"/>
          <a:lstStyle/>
          <a:p>
            <a:pPr indent="0" marL="0">
              <a:lnSpc>
                <a:spcPts val="1400"/>
              </a:lnSpc>
              <a:buNone/>
            </a:pPr>
            <a:r>
              <a:rPr lang="en-US" sz="1100" dirty="0">
                <a:solidFill>
                  <a:srgbClr val="7A7A82"/>
                </a:solidFill>
                <a:latin typeface="Calibri" pitchFamily="34" charset="0"/>
                <a:ea typeface="Calibri" pitchFamily="34" charset="-122"/>
                <a:cs typeface="Calibri" pitchFamily="34" charset="-120"/>
              </a:rPr>
              <a:t>Bursa, Edirne, Antalya — ışığı ve ritmi üstten kurgulanan örtülü ticaret sokağı.</a:t>
            </a:r>
            <a:endParaRPr lang="en-US" sz="1100" dirty="0"/>
          </a:p>
        </p:txBody>
      </p:sp>
      <p:sp>
        <p:nvSpPr>
          <p:cNvPr id="11" name="Text 9"/>
          <p:cNvSpPr txBox="1"/>
          <p:nvPr/>
        </p:nvSpPr>
        <p:spPr>
          <a:xfrm>
            <a:off x="777240" y="4069080"/>
            <a:ext cx="10424160" cy="219456"/>
          </a:xfrm>
          <a:prstGeom prst="rect">
            <a:avLst/>
          </a:prstGeom>
          <a:noFill/>
          <a:ln/>
        </p:spPr>
        <p:txBody>
          <a:bodyPr wrap="square" lIns="0" tIns="0" rIns="0" bIns="0" rtlCol="0" anchor="ctr"/>
          <a:lstStyle/>
          <a:p>
            <a:pPr algn="l" indent="0" marL="0">
              <a:lnSpc>
                <a:spcPts val="1200"/>
              </a:lnSpc>
              <a:buNone/>
            </a:pPr>
            <a:r>
              <a:rPr lang="en-US" sz="900" b="1" dirty="0">
                <a:solidFill>
                  <a:srgbClr val="A6A6AC"/>
                </a:solidFill>
                <a:latin typeface="Calibri" pitchFamily="34" charset="0"/>
                <a:ea typeface="Calibri" pitchFamily="34" charset="-122"/>
                <a:cs typeface="Calibri" pitchFamily="34" charset="-120"/>
              </a:rPr>
              <a:t>Güncel mağaza tasarımı</a:t>
            </a:r>
            <a:endParaRPr lang="en-US" sz="900" dirty="0"/>
          </a:p>
        </p:txBody>
      </p:sp>
      <p:sp>
        <p:nvSpPr>
          <p:cNvPr id="12" name="Text 10"/>
          <p:cNvSpPr txBox="1"/>
          <p:nvPr/>
        </p:nvSpPr>
        <p:spPr>
          <a:xfrm>
            <a:off x="777240" y="4370832"/>
            <a:ext cx="3240024" cy="384048"/>
          </a:xfrm>
          <a:prstGeom prst="rect">
            <a:avLst/>
          </a:prstGeom>
          <a:noFill/>
          <a:ln/>
        </p:spPr>
        <p:txBody>
          <a:bodyPr wrap="square" lIns="0" tIns="0" rIns="0" bIns="0" rtlCol="0" anchor="ctr"/>
          <a:lstStyle/>
          <a:p>
            <a:pPr indent="0" marL="0">
              <a:lnSpc>
                <a:spcPts val="1700"/>
              </a:lnSpc>
              <a:buNone/>
            </a:pPr>
            <a:r>
              <a:rPr lang="en-US" sz="1350" b="1" dirty="0">
                <a:solidFill>
                  <a:srgbClr val="8C3A2B"/>
                </a:solidFill>
                <a:latin typeface="Cambria" pitchFamily="34" charset="0"/>
                <a:ea typeface="Cambria" pitchFamily="34" charset="-122"/>
                <a:cs typeface="Cambria" pitchFamily="34" charset="-120"/>
              </a:rPr>
              <a:t>Vakko Fashion Center</a:t>
            </a:r>
            <a:endParaRPr lang="en-US" sz="1350" dirty="0"/>
          </a:p>
        </p:txBody>
      </p:sp>
      <p:sp>
        <p:nvSpPr>
          <p:cNvPr id="13" name="Text 11"/>
          <p:cNvSpPr txBox="1"/>
          <p:nvPr/>
        </p:nvSpPr>
        <p:spPr>
          <a:xfrm>
            <a:off x="777240" y="4782312"/>
            <a:ext cx="3240024" cy="621792"/>
          </a:xfrm>
          <a:prstGeom prst="rect">
            <a:avLst/>
          </a:prstGeom>
          <a:noFill/>
          <a:ln/>
        </p:spPr>
        <p:txBody>
          <a:bodyPr wrap="square" lIns="0" tIns="0" rIns="0" bIns="0" rtlCol="0" anchor="ctr"/>
          <a:lstStyle/>
          <a:p>
            <a:pPr indent="0" marL="0">
              <a:lnSpc>
                <a:spcPts val="1400"/>
              </a:lnSpc>
              <a:buNone/>
            </a:pPr>
            <a:r>
              <a:rPr lang="en-US" sz="1100" dirty="0">
                <a:solidFill>
                  <a:srgbClr val="7A7A82"/>
                </a:solidFill>
                <a:latin typeface="Calibri" pitchFamily="34" charset="0"/>
                <a:ea typeface="Calibri" pitchFamily="34" charset="-122"/>
                <a:cs typeface="Calibri" pitchFamily="34" charset="-120"/>
              </a:rPr>
              <a:t>REX, 2010. Marka merkezi ile mağaza deneyimini birleştiren, cam kutu strüktürüyle tanınan yapı.</a:t>
            </a:r>
            <a:endParaRPr lang="en-US" sz="1100" dirty="0"/>
          </a:p>
        </p:txBody>
      </p:sp>
      <p:sp>
        <p:nvSpPr>
          <p:cNvPr id="14" name="Text 12"/>
          <p:cNvSpPr txBox="1"/>
          <p:nvPr/>
        </p:nvSpPr>
        <p:spPr>
          <a:xfrm>
            <a:off x="4474464" y="4370832"/>
            <a:ext cx="3240024" cy="384048"/>
          </a:xfrm>
          <a:prstGeom prst="rect">
            <a:avLst/>
          </a:prstGeom>
          <a:noFill/>
          <a:ln/>
        </p:spPr>
        <p:txBody>
          <a:bodyPr wrap="square" lIns="0" tIns="0" rIns="0" bIns="0" rtlCol="0" anchor="ctr"/>
          <a:lstStyle/>
          <a:p>
            <a:pPr indent="0" marL="0">
              <a:lnSpc>
                <a:spcPts val="1700"/>
              </a:lnSpc>
              <a:buNone/>
            </a:pPr>
            <a:r>
              <a:rPr lang="en-US" sz="1350" b="1" dirty="0">
                <a:solidFill>
                  <a:srgbClr val="8C3A2B"/>
                </a:solidFill>
                <a:latin typeface="Cambria" pitchFamily="34" charset="0"/>
                <a:ea typeface="Cambria" pitchFamily="34" charset="-122"/>
                <a:cs typeface="Cambria" pitchFamily="34" charset="-120"/>
              </a:rPr>
              <a:t>Armaggan, Nuruosmaniye</a:t>
            </a:r>
            <a:endParaRPr lang="en-US" sz="1350" dirty="0"/>
          </a:p>
        </p:txBody>
      </p:sp>
      <p:sp>
        <p:nvSpPr>
          <p:cNvPr id="15" name="Text 13"/>
          <p:cNvSpPr txBox="1"/>
          <p:nvPr/>
        </p:nvSpPr>
        <p:spPr>
          <a:xfrm>
            <a:off x="4474464" y="4782312"/>
            <a:ext cx="3240024" cy="621792"/>
          </a:xfrm>
          <a:prstGeom prst="rect">
            <a:avLst/>
          </a:prstGeom>
          <a:noFill/>
          <a:ln/>
        </p:spPr>
        <p:txBody>
          <a:bodyPr wrap="square" lIns="0" tIns="0" rIns="0" bIns="0" rtlCol="0" anchor="ctr"/>
          <a:lstStyle/>
          <a:p>
            <a:pPr indent="0" marL="0">
              <a:lnSpc>
                <a:spcPts val="1400"/>
              </a:lnSpc>
              <a:buNone/>
            </a:pPr>
            <a:r>
              <a:rPr lang="en-US" sz="1100" dirty="0">
                <a:solidFill>
                  <a:srgbClr val="7A7A82"/>
                </a:solidFill>
                <a:latin typeface="Calibri" pitchFamily="34" charset="0"/>
                <a:ea typeface="Calibri" pitchFamily="34" charset="-122"/>
                <a:cs typeface="Calibri" pitchFamily="34" charset="-120"/>
              </a:rPr>
              <a:t>Türk zanaatını çok katlı bir mekânda sergi ile satış arasında konumlandıran güçlü teşhir dili.</a:t>
            </a:r>
            <a:endParaRPr lang="en-US" sz="1100" dirty="0"/>
          </a:p>
        </p:txBody>
      </p:sp>
      <p:sp>
        <p:nvSpPr>
          <p:cNvPr id="16" name="Text 14"/>
          <p:cNvSpPr txBox="1"/>
          <p:nvPr/>
        </p:nvSpPr>
        <p:spPr>
          <a:xfrm>
            <a:off x="8171688" y="4370832"/>
            <a:ext cx="3240024" cy="384048"/>
          </a:xfrm>
          <a:prstGeom prst="rect">
            <a:avLst/>
          </a:prstGeom>
          <a:noFill/>
          <a:ln/>
        </p:spPr>
        <p:txBody>
          <a:bodyPr wrap="square" lIns="0" tIns="0" rIns="0" bIns="0" rtlCol="0" anchor="ctr"/>
          <a:lstStyle/>
          <a:p>
            <a:pPr indent="0" marL="0">
              <a:lnSpc>
                <a:spcPts val="1700"/>
              </a:lnSpc>
              <a:buNone/>
            </a:pPr>
            <a:r>
              <a:rPr lang="en-US" sz="1350" b="1" dirty="0">
                <a:solidFill>
                  <a:srgbClr val="8C3A2B"/>
                </a:solidFill>
                <a:latin typeface="Cambria" pitchFamily="34" charset="0"/>
                <a:ea typeface="Cambria" pitchFamily="34" charset="-122"/>
                <a:cs typeface="Cambria" pitchFamily="34" charset="-120"/>
              </a:rPr>
              <a:t>Bağımsız butikler</a:t>
            </a:r>
            <a:endParaRPr lang="en-US" sz="1350" dirty="0"/>
          </a:p>
        </p:txBody>
      </p:sp>
      <p:sp>
        <p:nvSpPr>
          <p:cNvPr id="17" name="Text 15"/>
          <p:cNvSpPr txBox="1"/>
          <p:nvPr/>
        </p:nvSpPr>
        <p:spPr>
          <a:xfrm>
            <a:off x="8171688" y="4782312"/>
            <a:ext cx="3240024" cy="621792"/>
          </a:xfrm>
          <a:prstGeom prst="rect">
            <a:avLst/>
          </a:prstGeom>
          <a:noFill/>
          <a:ln/>
        </p:spPr>
        <p:txBody>
          <a:bodyPr wrap="square" lIns="0" tIns="0" rIns="0" bIns="0" rtlCol="0" anchor="ctr"/>
          <a:lstStyle/>
          <a:p>
            <a:pPr indent="0" marL="0">
              <a:lnSpc>
                <a:spcPts val="1400"/>
              </a:lnSpc>
              <a:buNone/>
            </a:pPr>
            <a:r>
              <a:rPr lang="en-US" sz="1100" dirty="0">
                <a:solidFill>
                  <a:srgbClr val="7A7A82"/>
                </a:solidFill>
                <a:latin typeface="Calibri" pitchFamily="34" charset="0"/>
                <a:ea typeface="Calibri" pitchFamily="34" charset="-122"/>
                <a:cs typeface="Calibri" pitchFamily="34" charset="-120"/>
              </a:rPr>
              <a:t>Karaköy, Çukurcuma, Alaçatı — küçük ölçekli, yerel malzemeli, çoğu zaman tek mekânlık tasarımlar.</a:t>
            </a:r>
            <a:endParaRPr lang="en-US" sz="11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16161A"/>
        </a:solidFill>
      </p:bgPr>
    </p:bg>
    <p:spTree>
      <p:nvGrpSpPr>
        <p:cNvPr id="1" name=""/>
        <p:cNvGrpSpPr/>
        <p:nvPr/>
      </p:nvGrpSpPr>
      <p:grpSpPr>
        <a:xfrm>
          <a:off x="0" y="0"/>
          <a:ext cx="0" cy="0"/>
          <a:chOff x="0" y="0"/>
          <a:chExt cx="0" cy="0"/>
        </a:xfrm>
      </p:grpSpPr>
      <p:sp>
        <p:nvSpPr>
          <p:cNvPr id="2" name="Text 0"/>
          <p:cNvSpPr txBox="1"/>
          <p:nvPr/>
        </p:nvSpPr>
        <p:spPr>
          <a:xfrm>
            <a:off x="777240" y="914400"/>
            <a:ext cx="9601200" cy="640080"/>
          </a:xfrm>
          <a:prstGeom prst="rect">
            <a:avLst/>
          </a:prstGeom>
          <a:noFill/>
          <a:ln/>
        </p:spPr>
        <p:txBody>
          <a:bodyPr wrap="square" lIns="0" tIns="0" rIns="0" bIns="0" rtlCol="0" anchor="ctr"/>
          <a:lstStyle/>
          <a:p>
            <a:pPr indent="0" marL="0">
              <a:buNone/>
            </a:pPr>
            <a:r>
              <a:rPr lang="en-US" sz="3000" b="1" dirty="0">
                <a:solidFill>
                  <a:srgbClr val="8C3A2B"/>
                </a:solidFill>
                <a:latin typeface="Cambria" pitchFamily="34" charset="0"/>
                <a:ea typeface="Cambria" pitchFamily="34" charset="-122"/>
                <a:cs typeface="Cambria" pitchFamily="34" charset="-120"/>
              </a:rPr>
              <a:t>Toparlarsak</a:t>
            </a:r>
            <a:endParaRPr lang="en-US" sz="3000" dirty="0"/>
          </a:p>
        </p:txBody>
      </p:sp>
      <p:sp>
        <p:nvSpPr>
          <p:cNvPr id="3" name="Text 1"/>
          <p:cNvSpPr txBox="1"/>
          <p:nvPr/>
        </p:nvSpPr>
        <p:spPr>
          <a:xfrm>
            <a:off x="777240" y="1783080"/>
            <a:ext cx="10424160" cy="4297680"/>
          </a:xfrm>
          <a:prstGeom prst="rect">
            <a:avLst/>
          </a:prstGeom>
          <a:noFill/>
          <a:ln/>
        </p:spPr>
        <p:txBody>
          <a:bodyPr wrap="square" lIns="0" tIns="0" rIns="0" bIns="0" rtlCol="0" anchor="ctr"/>
          <a:lstStyle/>
          <a:p>
            <a:pPr indent="0" marL="0">
              <a:lnSpc>
                <a:spcPts val="2700"/>
              </a:lnSpc>
              <a:buNone/>
            </a:pPr>
            <a:r>
              <a:rPr lang="en-US" sz="1600" dirty="0">
                <a:solidFill>
                  <a:srgbClr val="E8E8EC"/>
                </a:solidFill>
                <a:latin typeface="Cambria" pitchFamily="34" charset="0"/>
                <a:ea typeface="Cambria" pitchFamily="34" charset="-122"/>
                <a:cs typeface="Cambria" pitchFamily="34" charset="-120"/>
              </a:rPr>
              <a:t>Mağaza tasarımı, bir markanın ne olduğunu anlayıp onu insanların bedeniyle karşılaşacağı bir mekâna çevirme işidir.</a:t>
            </a:r>
            <a:endParaRPr lang="en-US" sz="1600" dirty="0"/>
          </a:p>
          <a:p>
            <a:pPr indent="0" marL="0">
              <a:lnSpc>
                <a:spcPts val="2700"/>
              </a:lnSpc>
              <a:buNone/>
            </a:pPr>
            <a:endParaRPr lang="en-US" sz="1600" dirty="0"/>
          </a:p>
          <a:p>
            <a:pPr indent="0" marL="0">
              <a:lnSpc>
                <a:spcPts val="2700"/>
              </a:lnSpc>
              <a:buNone/>
            </a:pPr>
            <a:r>
              <a:rPr lang="en-US" sz="1600" dirty="0">
                <a:solidFill>
                  <a:srgbClr val="E8E8EC"/>
                </a:solidFill>
                <a:latin typeface="Cambria" pitchFamily="34" charset="0"/>
                <a:ea typeface="Cambria" pitchFamily="34" charset="-122"/>
                <a:cs typeface="Cambria" pitchFamily="34" charset="-120"/>
              </a:rPr>
              <a:t>Bu çeviri gözle sınırlı değildir. Işık, malzeme, ses, koku ve mekânın bedene verdiği hisler birlikte çalışır ve ancak birbiriyle uyumlu olduklarında bir anlam üretirler.</a:t>
            </a:r>
            <a:endParaRPr lang="en-US" sz="1600" dirty="0"/>
          </a:p>
          <a:p>
            <a:pPr indent="0" marL="0">
              <a:lnSpc>
                <a:spcPts val="2700"/>
              </a:lnSpc>
              <a:buNone/>
            </a:pPr>
            <a:endParaRPr lang="en-US" sz="1600" dirty="0"/>
          </a:p>
          <a:p>
            <a:pPr indent="0" marL="0">
              <a:lnSpc>
                <a:spcPts val="2700"/>
              </a:lnSpc>
              <a:buNone/>
            </a:pPr>
            <a:r>
              <a:rPr lang="en-US" sz="1600" dirty="0">
                <a:solidFill>
                  <a:srgbClr val="E8E8EC"/>
                </a:solidFill>
                <a:latin typeface="Cambria" pitchFamily="34" charset="0"/>
                <a:ea typeface="Cambria" pitchFamily="34" charset="-122"/>
                <a:cs typeface="Cambria" pitchFamily="34" charset="-120"/>
              </a:rPr>
              <a:t>Duyusal tasarım bir süsleme katmanı değil, mekânın işleyen bir parçasıdır. Her uyaranın bir gerekçesi olmalıdır — çünkü gerekçesi olmayan uyaran, birileri için engeldir.</a:t>
            </a:r>
            <a:endParaRPr lang="en-US" sz="1600" dirty="0"/>
          </a:p>
          <a:p>
            <a:pPr indent="0" marL="0">
              <a:lnSpc>
                <a:spcPts val="2700"/>
              </a:lnSpc>
              <a:buNone/>
            </a:pPr>
            <a:endParaRPr lang="en-US" sz="1600" dirty="0"/>
          </a:p>
          <a:p>
            <a:pPr indent="0" marL="0">
              <a:lnSpc>
                <a:spcPts val="2700"/>
              </a:lnSpc>
              <a:buNone/>
            </a:pPr>
            <a:r>
              <a:rPr lang="en-US" sz="1600" dirty="0">
                <a:solidFill>
                  <a:srgbClr val="E8E8EC"/>
                </a:solidFill>
                <a:latin typeface="Cambria" pitchFamily="34" charset="0"/>
                <a:ea typeface="Cambria" pitchFamily="34" charset="-122"/>
                <a:cs typeface="Cambria" pitchFamily="34" charset="-120"/>
              </a:rPr>
              <a:t>Ve iyi bir mağaza yalnızca müşterinin gördüğü yer değildir. Çalışanın günü, deponun rotası ve herkesin erişebilirliği de aynı tasarımın parçasıdır.</a:t>
            </a:r>
            <a:endParaRPr lang="en-US" sz="16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CFCFA"/>
        </a:solidFill>
      </p:bgPr>
    </p:bg>
    <p:spTree>
      <p:nvGrpSpPr>
        <p:cNvPr id="1" name=""/>
        <p:cNvGrpSpPr/>
        <p:nvPr/>
      </p:nvGrpSpPr>
      <p:grpSpPr>
        <a:xfrm>
          <a:off x="0" y="0"/>
          <a:ext cx="0" cy="0"/>
          <a:chOff x="0" y="0"/>
          <a:chExt cx="0" cy="0"/>
        </a:xfrm>
      </p:grpSpPr>
      <p:sp>
        <p:nvSpPr>
          <p:cNvPr id="2" name="Text 0"/>
          <p:cNvSpPr txBox="1"/>
          <p:nvPr/>
        </p:nvSpPr>
        <p:spPr>
          <a:xfrm>
            <a:off x="777240" y="475488"/>
            <a:ext cx="9601200" cy="237744"/>
          </a:xfrm>
          <a:prstGeom prst="rect">
            <a:avLst/>
          </a:prstGeom>
          <a:noFill/>
          <a:ln/>
        </p:spPr>
        <p:txBody>
          <a:bodyPr wrap="square" lIns="0" tIns="0" rIns="0" bIns="0" rtlCol="0" anchor="ctr"/>
          <a:lstStyle/>
          <a:p>
            <a:pPr indent="0" marL="0">
              <a:buNone/>
            </a:pPr>
            <a:r>
              <a:rPr lang="en-US" sz="950" b="1" spc="260" kern="0" dirty="0">
                <a:solidFill>
                  <a:srgbClr val="7A7A82"/>
                </a:solidFill>
                <a:latin typeface="Calibri" pitchFamily="34" charset="0"/>
                <a:ea typeface="Calibri" pitchFamily="34" charset="-122"/>
                <a:cs typeface="Calibri" pitchFamily="34" charset="-120"/>
              </a:rPr>
              <a:t>KAYNAKÇA</a:t>
            </a:r>
            <a:endParaRPr lang="en-US" sz="950" dirty="0"/>
          </a:p>
        </p:txBody>
      </p:sp>
      <p:sp>
        <p:nvSpPr>
          <p:cNvPr id="3" name="Text 1"/>
          <p:cNvSpPr txBox="1"/>
          <p:nvPr/>
        </p:nvSpPr>
        <p:spPr>
          <a:xfrm>
            <a:off x="777240" y="822960"/>
            <a:ext cx="10241280" cy="548640"/>
          </a:xfrm>
          <a:prstGeom prst="rect">
            <a:avLst/>
          </a:prstGeom>
          <a:noFill/>
          <a:ln/>
        </p:spPr>
        <p:txBody>
          <a:bodyPr wrap="square" lIns="0" tIns="0" rIns="0" bIns="0" rtlCol="0" anchor="ctr"/>
          <a:lstStyle/>
          <a:p>
            <a:pPr indent="0" marL="0">
              <a:buNone/>
            </a:pPr>
            <a:r>
              <a:rPr lang="en-US" sz="2600" b="1" dirty="0">
                <a:solidFill>
                  <a:srgbClr val="16161A"/>
                </a:solidFill>
                <a:latin typeface="Cambria" pitchFamily="34" charset="0"/>
                <a:ea typeface="Cambria" pitchFamily="34" charset="-122"/>
                <a:cs typeface="Cambria" pitchFamily="34" charset="-120"/>
              </a:rPr>
              <a:t>Güncel araştırmalar</a:t>
            </a:r>
            <a:endParaRPr lang="en-US" sz="2600" dirty="0"/>
          </a:p>
        </p:txBody>
      </p:sp>
      <p:sp>
        <p:nvSpPr>
          <p:cNvPr id="4" name="Text 2"/>
          <p:cNvSpPr txBox="1"/>
          <p:nvPr/>
        </p:nvSpPr>
        <p:spPr>
          <a:xfrm>
            <a:off x="777240" y="1664208"/>
            <a:ext cx="5029200" cy="868680"/>
          </a:xfrm>
          <a:prstGeom prst="rect">
            <a:avLst/>
          </a:prstGeom>
          <a:noFill/>
          <a:ln/>
        </p:spPr>
        <p:txBody>
          <a:bodyPr wrap="square" lIns="0" tIns="0" rIns="0" bIns="0" rtlCol="0" anchor="ctr"/>
          <a:lstStyle/>
          <a:p>
            <a:pPr indent="0" marL="0">
              <a:lnSpc>
                <a:spcPts val="1400"/>
              </a:lnSpc>
              <a:buNone/>
            </a:pPr>
            <a:r>
              <a:rPr lang="en-US" sz="1050" dirty="0">
                <a:solidFill>
                  <a:srgbClr val="2B2B31"/>
                </a:solidFill>
                <a:latin typeface="Calibri" pitchFamily="34" charset="0"/>
                <a:ea typeface="Calibri" pitchFamily="34" charset="-122"/>
                <a:cs typeface="Calibri" pitchFamily="34" charset="-120"/>
              </a:rPr>
              <a:t>Akyazıcı, A. O. &amp; Yaşar, D. (2026). Disability-Specific Spatial Friction in Department Store Interiors: A Mixed-Methods Study of Inclusive Retail Design. Buildings, 16(12), 2405.</a:t>
            </a:r>
            <a:endParaRPr lang="en-US" sz="1050" dirty="0"/>
          </a:p>
        </p:txBody>
      </p:sp>
      <p:sp>
        <p:nvSpPr>
          <p:cNvPr id="5" name="Text 3"/>
          <p:cNvSpPr txBox="1"/>
          <p:nvPr/>
        </p:nvSpPr>
        <p:spPr>
          <a:xfrm>
            <a:off x="777240" y="2596896"/>
            <a:ext cx="5029200" cy="868680"/>
          </a:xfrm>
          <a:prstGeom prst="rect">
            <a:avLst/>
          </a:prstGeom>
          <a:noFill/>
          <a:ln/>
        </p:spPr>
        <p:txBody>
          <a:bodyPr wrap="square" lIns="0" tIns="0" rIns="0" bIns="0" rtlCol="0" anchor="ctr"/>
          <a:lstStyle/>
          <a:p>
            <a:pPr indent="0" marL="0">
              <a:lnSpc>
                <a:spcPts val="1400"/>
              </a:lnSpc>
              <a:buNone/>
            </a:pPr>
            <a:r>
              <a:rPr lang="en-US" sz="1050" dirty="0">
                <a:solidFill>
                  <a:srgbClr val="2B2B31"/>
                </a:solidFill>
                <a:latin typeface="Calibri" pitchFamily="34" charset="0"/>
                <a:ea typeface="Calibri" pitchFamily="34" charset="-122"/>
                <a:cs typeface="Calibri" pitchFamily="34" charset="-120"/>
              </a:rPr>
              <a:t>Ishaq, M. I., Raza, A., Haider, A., Goudarzi, K. &amp; Talpur, Q. (2026). Immersive Retail Technologies and Customer Experiences: A Multi-Study Experimental Design. Psychology &amp; Marketing.</a:t>
            </a:r>
            <a:endParaRPr lang="en-US" sz="1050" dirty="0"/>
          </a:p>
        </p:txBody>
      </p:sp>
      <p:sp>
        <p:nvSpPr>
          <p:cNvPr id="6" name="Text 4"/>
          <p:cNvSpPr txBox="1"/>
          <p:nvPr/>
        </p:nvSpPr>
        <p:spPr>
          <a:xfrm>
            <a:off x="777240" y="3529584"/>
            <a:ext cx="5029200" cy="868680"/>
          </a:xfrm>
          <a:prstGeom prst="rect">
            <a:avLst/>
          </a:prstGeom>
          <a:noFill/>
          <a:ln/>
        </p:spPr>
        <p:txBody>
          <a:bodyPr wrap="square" lIns="0" tIns="0" rIns="0" bIns="0" rtlCol="0" anchor="ctr"/>
          <a:lstStyle/>
          <a:p>
            <a:pPr indent="0" marL="0">
              <a:lnSpc>
                <a:spcPts val="1400"/>
              </a:lnSpc>
              <a:buNone/>
            </a:pPr>
            <a:r>
              <a:rPr lang="en-US" sz="1050" dirty="0">
                <a:solidFill>
                  <a:srgbClr val="2B2B31"/>
                </a:solidFill>
                <a:latin typeface="Calibri" pitchFamily="34" charset="0"/>
                <a:ea typeface="Calibri" pitchFamily="34" charset="-122"/>
                <a:cs typeface="Calibri" pitchFamily="34" charset="-120"/>
              </a:rPr>
              <a:t>Ratnayake, J. C., Jayasuriya, N., Suraweera, T. &amp; De Silva, L. (2026). Integrating Industry 4.0 and 5.0 Technologies in Luxury Fashion Retail Interiors. Social Sciences &amp; Humanities Open, 13, 102798.</a:t>
            </a:r>
            <a:endParaRPr lang="en-US" sz="1050" dirty="0"/>
          </a:p>
        </p:txBody>
      </p:sp>
      <p:sp>
        <p:nvSpPr>
          <p:cNvPr id="7" name="Text 5"/>
          <p:cNvSpPr txBox="1"/>
          <p:nvPr/>
        </p:nvSpPr>
        <p:spPr>
          <a:xfrm>
            <a:off x="6382512" y="1664208"/>
            <a:ext cx="5029200" cy="868680"/>
          </a:xfrm>
          <a:prstGeom prst="rect">
            <a:avLst/>
          </a:prstGeom>
          <a:noFill/>
          <a:ln/>
        </p:spPr>
        <p:txBody>
          <a:bodyPr wrap="square" lIns="0" tIns="0" rIns="0" bIns="0" rtlCol="0" anchor="ctr"/>
          <a:lstStyle/>
          <a:p>
            <a:pPr indent="0" marL="0">
              <a:lnSpc>
                <a:spcPts val="1400"/>
              </a:lnSpc>
              <a:buNone/>
            </a:pPr>
            <a:r>
              <a:rPr lang="en-US" sz="1050" dirty="0">
                <a:solidFill>
                  <a:srgbClr val="2B2B31"/>
                </a:solidFill>
                <a:latin typeface="Calibri" pitchFamily="34" charset="0"/>
                <a:ea typeface="Calibri" pitchFamily="34" charset="-122"/>
                <a:cs typeface="Calibri" pitchFamily="34" charset="-120"/>
              </a:rPr>
              <a:t>Tonin, P. E., Ferrara, M. &amp; Nickel, E. (2026). Inclusive Sensory Design in Phygital Retail: Regulatory Guidelines Bridging Accessibility and Brand Experience. IntechOpen.</a:t>
            </a:r>
            <a:endParaRPr lang="en-US" sz="1050" dirty="0"/>
          </a:p>
        </p:txBody>
      </p:sp>
      <p:sp>
        <p:nvSpPr>
          <p:cNvPr id="8" name="Text 6"/>
          <p:cNvSpPr txBox="1"/>
          <p:nvPr/>
        </p:nvSpPr>
        <p:spPr>
          <a:xfrm>
            <a:off x="6382512" y="2596896"/>
            <a:ext cx="5029200" cy="868680"/>
          </a:xfrm>
          <a:prstGeom prst="rect">
            <a:avLst/>
          </a:prstGeom>
          <a:noFill/>
          <a:ln/>
        </p:spPr>
        <p:txBody>
          <a:bodyPr wrap="square" lIns="0" tIns="0" rIns="0" bIns="0" rtlCol="0" anchor="ctr"/>
          <a:lstStyle/>
          <a:p>
            <a:pPr indent="0" marL="0">
              <a:lnSpc>
                <a:spcPts val="1400"/>
              </a:lnSpc>
              <a:buNone/>
            </a:pPr>
            <a:r>
              <a:rPr lang="en-US" sz="1050" dirty="0">
                <a:solidFill>
                  <a:srgbClr val="2B2B31"/>
                </a:solidFill>
                <a:latin typeface="Calibri" pitchFamily="34" charset="0"/>
                <a:ea typeface="Calibri" pitchFamily="34" charset="-122"/>
                <a:cs typeface="Calibri" pitchFamily="34" charset="-120"/>
              </a:rPr>
              <a:t>Xi, C. &amp; Idris, M. Z. (2026). Omnichannel Fashion Retail Experience Design Informed by Brand Personality. Textile &amp; Leather Review, 9, 1053–1119.</a:t>
            </a:r>
            <a:endParaRPr lang="en-US" sz="1050" dirty="0"/>
          </a:p>
        </p:txBody>
      </p:sp>
      <p:sp>
        <p:nvSpPr>
          <p:cNvPr id="9" name="Text 7"/>
          <p:cNvSpPr txBox="1"/>
          <p:nvPr/>
        </p:nvSpPr>
        <p:spPr>
          <a:xfrm>
            <a:off x="6382512" y="3529584"/>
            <a:ext cx="5029200" cy="868680"/>
          </a:xfrm>
          <a:prstGeom prst="rect">
            <a:avLst/>
          </a:prstGeom>
          <a:noFill/>
          <a:ln/>
        </p:spPr>
        <p:txBody>
          <a:bodyPr wrap="square" lIns="0" tIns="0" rIns="0" bIns="0" rtlCol="0" anchor="ctr"/>
          <a:lstStyle/>
          <a:p>
            <a:pPr indent="0" marL="0">
              <a:lnSpc>
                <a:spcPts val="1400"/>
              </a:lnSpc>
              <a:buNone/>
            </a:pPr>
            <a:r>
              <a:rPr lang="en-US" sz="1050" dirty="0">
                <a:solidFill>
                  <a:srgbClr val="2B2B31"/>
                </a:solidFill>
                <a:latin typeface="Calibri" pitchFamily="34" charset="0"/>
                <a:ea typeface="Calibri" pitchFamily="34" charset="-122"/>
                <a:cs typeface="Calibri" pitchFamily="34" charset="-120"/>
              </a:rPr>
              <a:t>Quartier, K., Claes, S. &amp; Vanrie, J. (2020). A Holistic Competence Framework for (Future) Retail Design and Retail Design Education. Journal of Retailing and Consumer Services.</a:t>
            </a:r>
            <a:endParaRPr lang="en-US" sz="1050" dirty="0"/>
          </a:p>
        </p:txBody>
      </p:sp>
      <p:sp>
        <p:nvSpPr>
          <p:cNvPr id="10" name="Text 8"/>
          <p:cNvSpPr txBox="1"/>
          <p:nvPr/>
        </p:nvSpPr>
        <p:spPr>
          <a:xfrm>
            <a:off x="10972800" y="6355080"/>
            <a:ext cx="438912" cy="237744"/>
          </a:xfrm>
          <a:prstGeom prst="rect">
            <a:avLst/>
          </a:prstGeom>
          <a:noFill/>
          <a:ln/>
        </p:spPr>
        <p:txBody>
          <a:bodyPr wrap="square" lIns="0" tIns="0" rIns="0" bIns="0" rtlCol="0" anchor="ctr"/>
          <a:lstStyle/>
          <a:p>
            <a:pPr algn="r" indent="0" marL="0">
              <a:buNone/>
            </a:pPr>
            <a:r>
              <a:rPr lang="en-US" sz="950" dirty="0">
                <a:solidFill>
                  <a:srgbClr val="A6A6AC"/>
                </a:solidFill>
                <a:latin typeface="Calibri" pitchFamily="34" charset="0"/>
                <a:ea typeface="Calibri" pitchFamily="34" charset="-122"/>
                <a:cs typeface="Calibri" pitchFamily="34" charset="-120"/>
              </a:rPr>
              <a:t>54</a:t>
            </a:r>
            <a:endParaRPr lang="en-US" sz="9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CFCFA"/>
        </a:solidFill>
      </p:bgPr>
    </p:bg>
    <p:spTree>
      <p:nvGrpSpPr>
        <p:cNvPr id="1" name=""/>
        <p:cNvGrpSpPr/>
        <p:nvPr/>
      </p:nvGrpSpPr>
      <p:grpSpPr>
        <a:xfrm>
          <a:off x="0" y="0"/>
          <a:ext cx="0" cy="0"/>
          <a:chOff x="0" y="0"/>
          <a:chExt cx="0" cy="0"/>
        </a:xfrm>
      </p:grpSpPr>
      <p:sp>
        <p:nvSpPr>
          <p:cNvPr id="2" name="Text 0"/>
          <p:cNvSpPr txBox="1"/>
          <p:nvPr/>
        </p:nvSpPr>
        <p:spPr>
          <a:xfrm>
            <a:off x="777240" y="475488"/>
            <a:ext cx="9601200" cy="237744"/>
          </a:xfrm>
          <a:prstGeom prst="rect">
            <a:avLst/>
          </a:prstGeom>
          <a:noFill/>
          <a:ln/>
        </p:spPr>
        <p:txBody>
          <a:bodyPr wrap="square" lIns="0" tIns="0" rIns="0" bIns="0" rtlCol="0" anchor="ctr"/>
          <a:lstStyle/>
          <a:p>
            <a:pPr indent="0" marL="0">
              <a:buNone/>
            </a:pPr>
            <a:r>
              <a:rPr lang="en-US" sz="950" b="1" spc="260" kern="0" dirty="0">
                <a:solidFill>
                  <a:srgbClr val="7A7A82"/>
                </a:solidFill>
                <a:latin typeface="Calibri" pitchFamily="34" charset="0"/>
                <a:ea typeface="Calibri" pitchFamily="34" charset="-122"/>
                <a:cs typeface="Calibri" pitchFamily="34" charset="-120"/>
              </a:rPr>
              <a:t>KAYNAKÇA</a:t>
            </a:r>
            <a:endParaRPr lang="en-US" sz="950" dirty="0"/>
          </a:p>
        </p:txBody>
      </p:sp>
      <p:sp>
        <p:nvSpPr>
          <p:cNvPr id="3" name="Text 1"/>
          <p:cNvSpPr txBox="1"/>
          <p:nvPr/>
        </p:nvSpPr>
        <p:spPr>
          <a:xfrm>
            <a:off x="777240" y="822960"/>
            <a:ext cx="10241280" cy="548640"/>
          </a:xfrm>
          <a:prstGeom prst="rect">
            <a:avLst/>
          </a:prstGeom>
          <a:noFill/>
          <a:ln/>
        </p:spPr>
        <p:txBody>
          <a:bodyPr wrap="square" lIns="0" tIns="0" rIns="0" bIns="0" rtlCol="0" anchor="ctr"/>
          <a:lstStyle/>
          <a:p>
            <a:pPr indent="0" marL="0">
              <a:buNone/>
            </a:pPr>
            <a:r>
              <a:rPr lang="en-US" sz="2600" b="1" dirty="0">
                <a:solidFill>
                  <a:srgbClr val="16161A"/>
                </a:solidFill>
                <a:latin typeface="Cambria" pitchFamily="34" charset="0"/>
                <a:ea typeface="Cambria" pitchFamily="34" charset="-122"/>
                <a:cs typeface="Cambria" pitchFamily="34" charset="-120"/>
              </a:rPr>
              <a:t>Temel kaynaklar</a:t>
            </a:r>
            <a:endParaRPr lang="en-US" sz="2600" dirty="0"/>
          </a:p>
        </p:txBody>
      </p:sp>
      <p:sp>
        <p:nvSpPr>
          <p:cNvPr id="4" name="Text 2"/>
          <p:cNvSpPr txBox="1"/>
          <p:nvPr/>
        </p:nvSpPr>
        <p:spPr>
          <a:xfrm>
            <a:off x="777240" y="1664208"/>
            <a:ext cx="5029200" cy="868680"/>
          </a:xfrm>
          <a:prstGeom prst="rect">
            <a:avLst/>
          </a:prstGeom>
          <a:noFill/>
          <a:ln/>
        </p:spPr>
        <p:txBody>
          <a:bodyPr wrap="square" lIns="0" tIns="0" rIns="0" bIns="0" rtlCol="0" anchor="ctr"/>
          <a:lstStyle/>
          <a:p>
            <a:pPr indent="0" marL="0">
              <a:lnSpc>
                <a:spcPts val="1400"/>
              </a:lnSpc>
              <a:buNone/>
            </a:pPr>
            <a:r>
              <a:rPr lang="en-US" sz="1050" dirty="0">
                <a:solidFill>
                  <a:srgbClr val="2B2B31"/>
                </a:solidFill>
                <a:latin typeface="Calibri" pitchFamily="34" charset="0"/>
                <a:ea typeface="Calibri" pitchFamily="34" charset="-122"/>
                <a:cs typeface="Calibri" pitchFamily="34" charset="-120"/>
              </a:rPr>
              <a:t>Bitner, M. J. (1992). Servicescapes: The Impact of Physical Surroundings on Customers and Employees. Journal of Marketing, 56(2), 57–71.</a:t>
            </a:r>
            <a:endParaRPr lang="en-US" sz="1050" dirty="0"/>
          </a:p>
        </p:txBody>
      </p:sp>
      <p:sp>
        <p:nvSpPr>
          <p:cNvPr id="5" name="Text 3"/>
          <p:cNvSpPr txBox="1"/>
          <p:nvPr/>
        </p:nvSpPr>
        <p:spPr>
          <a:xfrm>
            <a:off x="777240" y="2596896"/>
            <a:ext cx="5029200" cy="868680"/>
          </a:xfrm>
          <a:prstGeom prst="rect">
            <a:avLst/>
          </a:prstGeom>
          <a:noFill/>
          <a:ln/>
        </p:spPr>
        <p:txBody>
          <a:bodyPr wrap="square" lIns="0" tIns="0" rIns="0" bIns="0" rtlCol="0" anchor="ctr"/>
          <a:lstStyle/>
          <a:p>
            <a:pPr indent="0" marL="0">
              <a:lnSpc>
                <a:spcPts val="1400"/>
              </a:lnSpc>
              <a:buNone/>
            </a:pPr>
            <a:r>
              <a:rPr lang="en-US" sz="1050" dirty="0">
                <a:solidFill>
                  <a:srgbClr val="2B2B31"/>
                </a:solidFill>
                <a:latin typeface="Calibri" pitchFamily="34" charset="0"/>
                <a:ea typeface="Calibri" pitchFamily="34" charset="-122"/>
                <a:cs typeface="Calibri" pitchFamily="34" charset="-120"/>
              </a:rPr>
              <a:t>Cezar, M. (1983). Tipik Yapılarıyla Osmanlı Şehirciliğinde Çarşı ve Klasik Dönem İmar Sistemi. Mimar Sinan Üniversitesi Yayınları.</a:t>
            </a:r>
            <a:endParaRPr lang="en-US" sz="1050" dirty="0"/>
          </a:p>
        </p:txBody>
      </p:sp>
      <p:sp>
        <p:nvSpPr>
          <p:cNvPr id="6" name="Text 4"/>
          <p:cNvSpPr txBox="1"/>
          <p:nvPr/>
        </p:nvSpPr>
        <p:spPr>
          <a:xfrm>
            <a:off x="777240" y="3529584"/>
            <a:ext cx="5029200" cy="868680"/>
          </a:xfrm>
          <a:prstGeom prst="rect">
            <a:avLst/>
          </a:prstGeom>
          <a:noFill/>
          <a:ln/>
        </p:spPr>
        <p:txBody>
          <a:bodyPr wrap="square" lIns="0" tIns="0" rIns="0" bIns="0" rtlCol="0" anchor="ctr"/>
          <a:lstStyle/>
          <a:p>
            <a:pPr indent="0" marL="0">
              <a:lnSpc>
                <a:spcPts val="1400"/>
              </a:lnSpc>
              <a:buNone/>
            </a:pPr>
            <a:r>
              <a:rPr lang="en-US" sz="1050" dirty="0">
                <a:solidFill>
                  <a:srgbClr val="2B2B31"/>
                </a:solidFill>
                <a:latin typeface="Calibri" pitchFamily="34" charset="0"/>
                <a:ea typeface="Calibri" pitchFamily="34" charset="-122"/>
                <a:cs typeface="Calibri" pitchFamily="34" charset="-120"/>
              </a:rPr>
              <a:t>Klanten, R., Ehmann, S. &amp; Borges, S. (Eds.) (2013). Brand Spaces: Branded Architecture and the Future of Retail Design. Gestalten.</a:t>
            </a:r>
            <a:endParaRPr lang="en-US" sz="1050" dirty="0"/>
          </a:p>
        </p:txBody>
      </p:sp>
      <p:sp>
        <p:nvSpPr>
          <p:cNvPr id="7" name="Text 5"/>
          <p:cNvSpPr txBox="1"/>
          <p:nvPr/>
        </p:nvSpPr>
        <p:spPr>
          <a:xfrm>
            <a:off x="777240" y="4462272"/>
            <a:ext cx="5029200" cy="868680"/>
          </a:xfrm>
          <a:prstGeom prst="rect">
            <a:avLst/>
          </a:prstGeom>
          <a:noFill/>
          <a:ln/>
        </p:spPr>
        <p:txBody>
          <a:bodyPr wrap="square" lIns="0" tIns="0" rIns="0" bIns="0" rtlCol="0" anchor="ctr"/>
          <a:lstStyle/>
          <a:p>
            <a:pPr indent="0" marL="0">
              <a:lnSpc>
                <a:spcPts val="1400"/>
              </a:lnSpc>
              <a:buNone/>
            </a:pPr>
            <a:r>
              <a:rPr lang="en-US" sz="1050" dirty="0">
                <a:solidFill>
                  <a:srgbClr val="2B2B31"/>
                </a:solidFill>
                <a:latin typeface="Calibri" pitchFamily="34" charset="0"/>
                <a:ea typeface="Calibri" pitchFamily="34" charset="-122"/>
                <a:cs typeface="Calibri" pitchFamily="34" charset="-120"/>
              </a:rPr>
              <a:t>Kotler, P. (1973). Atmospherics as a Marketing Tool. Journal of Retailing, 49(4), 48–64.</a:t>
            </a:r>
            <a:endParaRPr lang="en-US" sz="1050" dirty="0"/>
          </a:p>
        </p:txBody>
      </p:sp>
      <p:sp>
        <p:nvSpPr>
          <p:cNvPr id="8" name="Text 6"/>
          <p:cNvSpPr txBox="1"/>
          <p:nvPr/>
        </p:nvSpPr>
        <p:spPr>
          <a:xfrm>
            <a:off x="6382512" y="1664208"/>
            <a:ext cx="5029200" cy="868680"/>
          </a:xfrm>
          <a:prstGeom prst="rect">
            <a:avLst/>
          </a:prstGeom>
          <a:noFill/>
          <a:ln/>
        </p:spPr>
        <p:txBody>
          <a:bodyPr wrap="square" lIns="0" tIns="0" rIns="0" bIns="0" rtlCol="0" anchor="ctr"/>
          <a:lstStyle/>
          <a:p>
            <a:pPr indent="0" marL="0">
              <a:lnSpc>
                <a:spcPts val="1400"/>
              </a:lnSpc>
              <a:buNone/>
            </a:pPr>
            <a:r>
              <a:rPr lang="en-US" sz="1050" dirty="0">
                <a:solidFill>
                  <a:srgbClr val="2B2B31"/>
                </a:solidFill>
                <a:latin typeface="Calibri" pitchFamily="34" charset="0"/>
                <a:ea typeface="Calibri" pitchFamily="34" charset="-122"/>
                <a:cs typeface="Calibri" pitchFamily="34" charset="-120"/>
              </a:rPr>
              <a:t>Krishna, A. (2012). An Integrative Review of Sensory Marketing. Journal of Consumer Psychology, 22(3), 332–351.</a:t>
            </a:r>
            <a:endParaRPr lang="en-US" sz="1050" dirty="0"/>
          </a:p>
        </p:txBody>
      </p:sp>
      <p:sp>
        <p:nvSpPr>
          <p:cNvPr id="9" name="Text 7"/>
          <p:cNvSpPr txBox="1"/>
          <p:nvPr/>
        </p:nvSpPr>
        <p:spPr>
          <a:xfrm>
            <a:off x="6382512" y="2596896"/>
            <a:ext cx="5029200" cy="868680"/>
          </a:xfrm>
          <a:prstGeom prst="rect">
            <a:avLst/>
          </a:prstGeom>
          <a:noFill/>
          <a:ln/>
        </p:spPr>
        <p:txBody>
          <a:bodyPr wrap="square" lIns="0" tIns="0" rIns="0" bIns="0" rtlCol="0" anchor="ctr"/>
          <a:lstStyle/>
          <a:p>
            <a:pPr indent="0" marL="0">
              <a:lnSpc>
                <a:spcPts val="1400"/>
              </a:lnSpc>
              <a:buNone/>
            </a:pPr>
            <a:r>
              <a:rPr lang="en-US" sz="1050" dirty="0">
                <a:solidFill>
                  <a:srgbClr val="2B2B31"/>
                </a:solidFill>
                <a:latin typeface="Calibri" pitchFamily="34" charset="0"/>
                <a:ea typeface="Calibri" pitchFamily="34" charset="-122"/>
                <a:cs typeface="Calibri" pitchFamily="34" charset="-120"/>
              </a:rPr>
              <a:t>Lemon, K. N. &amp; Verhoef, P. C. (2016). Understanding Customer Experience Throughout the Customer Journey. Journal of Marketing, 80(6), 69–96.</a:t>
            </a:r>
            <a:endParaRPr lang="en-US" sz="1050" dirty="0"/>
          </a:p>
        </p:txBody>
      </p:sp>
      <p:sp>
        <p:nvSpPr>
          <p:cNvPr id="10" name="Text 8"/>
          <p:cNvSpPr txBox="1"/>
          <p:nvPr/>
        </p:nvSpPr>
        <p:spPr>
          <a:xfrm>
            <a:off x="6382512" y="3529584"/>
            <a:ext cx="5029200" cy="868680"/>
          </a:xfrm>
          <a:prstGeom prst="rect">
            <a:avLst/>
          </a:prstGeom>
          <a:noFill/>
          <a:ln/>
        </p:spPr>
        <p:txBody>
          <a:bodyPr wrap="square" lIns="0" tIns="0" rIns="0" bIns="0" rtlCol="0" anchor="ctr"/>
          <a:lstStyle/>
          <a:p>
            <a:pPr indent="0" marL="0">
              <a:lnSpc>
                <a:spcPts val="1400"/>
              </a:lnSpc>
              <a:buNone/>
            </a:pPr>
            <a:r>
              <a:rPr lang="en-US" sz="1050" dirty="0">
                <a:solidFill>
                  <a:srgbClr val="2B2B31"/>
                </a:solidFill>
                <a:latin typeface="Calibri" pitchFamily="34" charset="0"/>
                <a:ea typeface="Calibri" pitchFamily="34" charset="-122"/>
                <a:cs typeface="Calibri" pitchFamily="34" charset="-120"/>
              </a:rPr>
              <a:t>Mehrabian, A. &amp; Russell, J. A. (1974). An Approach to Environmental Psychology. MIT Press.</a:t>
            </a:r>
            <a:endParaRPr lang="en-US" sz="1050" dirty="0"/>
          </a:p>
        </p:txBody>
      </p:sp>
      <p:sp>
        <p:nvSpPr>
          <p:cNvPr id="11" name="Text 9"/>
          <p:cNvSpPr txBox="1"/>
          <p:nvPr/>
        </p:nvSpPr>
        <p:spPr>
          <a:xfrm>
            <a:off x="6382512" y="4462272"/>
            <a:ext cx="5029200" cy="868680"/>
          </a:xfrm>
          <a:prstGeom prst="rect">
            <a:avLst/>
          </a:prstGeom>
          <a:noFill/>
          <a:ln/>
        </p:spPr>
        <p:txBody>
          <a:bodyPr wrap="square" lIns="0" tIns="0" rIns="0" bIns="0" rtlCol="0" anchor="ctr"/>
          <a:lstStyle/>
          <a:p>
            <a:pPr indent="0" marL="0">
              <a:lnSpc>
                <a:spcPts val="1400"/>
              </a:lnSpc>
              <a:buNone/>
            </a:pPr>
            <a:r>
              <a:rPr lang="en-US" sz="1050" dirty="0">
                <a:solidFill>
                  <a:srgbClr val="2B2B31"/>
                </a:solidFill>
                <a:latin typeface="Calibri" pitchFamily="34" charset="0"/>
                <a:ea typeface="Calibri" pitchFamily="34" charset="-122"/>
                <a:cs typeface="Calibri" pitchFamily="34" charset="-120"/>
              </a:rPr>
              <a:t>Mesher, L. (2010). Basics Interior Design: Retail Design. AVA Publishing.</a:t>
            </a:r>
            <a:endParaRPr lang="en-US" sz="1050" dirty="0"/>
          </a:p>
        </p:txBody>
      </p:sp>
      <p:sp>
        <p:nvSpPr>
          <p:cNvPr id="12" name="Text 10"/>
          <p:cNvSpPr txBox="1"/>
          <p:nvPr/>
        </p:nvSpPr>
        <p:spPr>
          <a:xfrm>
            <a:off x="10972800" y="6355080"/>
            <a:ext cx="438912" cy="237744"/>
          </a:xfrm>
          <a:prstGeom prst="rect">
            <a:avLst/>
          </a:prstGeom>
          <a:noFill/>
          <a:ln/>
        </p:spPr>
        <p:txBody>
          <a:bodyPr wrap="square" lIns="0" tIns="0" rIns="0" bIns="0" rtlCol="0" anchor="ctr"/>
          <a:lstStyle/>
          <a:p>
            <a:pPr algn="r" indent="0" marL="0">
              <a:buNone/>
            </a:pPr>
            <a:r>
              <a:rPr lang="en-US" sz="950" dirty="0">
                <a:solidFill>
                  <a:srgbClr val="A6A6AC"/>
                </a:solidFill>
                <a:latin typeface="Calibri" pitchFamily="34" charset="0"/>
                <a:ea typeface="Calibri" pitchFamily="34" charset="-122"/>
                <a:cs typeface="Calibri" pitchFamily="34" charset="-120"/>
              </a:rPr>
              <a:t>55</a:t>
            </a:r>
            <a:endParaRPr lang="en-US" sz="9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CFCFA"/>
        </a:solidFill>
      </p:bgPr>
    </p:bg>
    <p:spTree>
      <p:nvGrpSpPr>
        <p:cNvPr id="1" name=""/>
        <p:cNvGrpSpPr/>
        <p:nvPr/>
      </p:nvGrpSpPr>
      <p:grpSpPr>
        <a:xfrm>
          <a:off x="0" y="0"/>
          <a:ext cx="0" cy="0"/>
          <a:chOff x="0" y="0"/>
          <a:chExt cx="0" cy="0"/>
        </a:xfrm>
      </p:grpSpPr>
      <p:sp>
        <p:nvSpPr>
          <p:cNvPr id="2" name="Text 0"/>
          <p:cNvSpPr txBox="1"/>
          <p:nvPr/>
        </p:nvSpPr>
        <p:spPr>
          <a:xfrm>
            <a:off x="777240" y="475488"/>
            <a:ext cx="9601200" cy="237744"/>
          </a:xfrm>
          <a:prstGeom prst="rect">
            <a:avLst/>
          </a:prstGeom>
          <a:noFill/>
          <a:ln/>
        </p:spPr>
        <p:txBody>
          <a:bodyPr wrap="square" lIns="0" tIns="0" rIns="0" bIns="0" rtlCol="0" anchor="ctr"/>
          <a:lstStyle/>
          <a:p>
            <a:pPr indent="0" marL="0">
              <a:buNone/>
            </a:pPr>
            <a:r>
              <a:rPr lang="en-US" sz="950" b="1" spc="260" kern="0" dirty="0">
                <a:solidFill>
                  <a:srgbClr val="7A7A82"/>
                </a:solidFill>
                <a:latin typeface="Calibri" pitchFamily="34" charset="0"/>
                <a:ea typeface="Calibri" pitchFamily="34" charset="-122"/>
                <a:cs typeface="Calibri" pitchFamily="34" charset="-120"/>
              </a:rPr>
              <a:t>KAYNAKÇA</a:t>
            </a:r>
            <a:endParaRPr lang="en-US" sz="950" dirty="0"/>
          </a:p>
        </p:txBody>
      </p:sp>
      <p:sp>
        <p:nvSpPr>
          <p:cNvPr id="3" name="Text 1"/>
          <p:cNvSpPr txBox="1"/>
          <p:nvPr/>
        </p:nvSpPr>
        <p:spPr>
          <a:xfrm>
            <a:off x="777240" y="822960"/>
            <a:ext cx="10241280" cy="548640"/>
          </a:xfrm>
          <a:prstGeom prst="rect">
            <a:avLst/>
          </a:prstGeom>
          <a:noFill/>
          <a:ln/>
        </p:spPr>
        <p:txBody>
          <a:bodyPr wrap="square" lIns="0" tIns="0" rIns="0" bIns="0" rtlCol="0" anchor="ctr"/>
          <a:lstStyle/>
          <a:p>
            <a:pPr indent="0" marL="0">
              <a:buNone/>
            </a:pPr>
            <a:r>
              <a:rPr lang="en-US" sz="2600" b="1" dirty="0">
                <a:solidFill>
                  <a:srgbClr val="16161A"/>
                </a:solidFill>
                <a:latin typeface="Cambria" pitchFamily="34" charset="0"/>
                <a:ea typeface="Cambria" pitchFamily="34" charset="-122"/>
                <a:cs typeface="Cambria" pitchFamily="34" charset="-120"/>
              </a:rPr>
              <a:t>Temel kaynaklar (devamı)</a:t>
            </a:r>
            <a:endParaRPr lang="en-US" sz="2600" dirty="0"/>
          </a:p>
        </p:txBody>
      </p:sp>
      <p:sp>
        <p:nvSpPr>
          <p:cNvPr id="4" name="Text 2"/>
          <p:cNvSpPr txBox="1"/>
          <p:nvPr/>
        </p:nvSpPr>
        <p:spPr>
          <a:xfrm>
            <a:off x="777240" y="1664208"/>
            <a:ext cx="5029200" cy="868680"/>
          </a:xfrm>
          <a:prstGeom prst="rect">
            <a:avLst/>
          </a:prstGeom>
          <a:noFill/>
          <a:ln/>
        </p:spPr>
        <p:txBody>
          <a:bodyPr wrap="square" lIns="0" tIns="0" rIns="0" bIns="0" rtlCol="0" anchor="ctr"/>
          <a:lstStyle/>
          <a:p>
            <a:pPr indent="0" marL="0">
              <a:lnSpc>
                <a:spcPts val="1400"/>
              </a:lnSpc>
              <a:buNone/>
            </a:pPr>
            <a:r>
              <a:rPr lang="en-US" sz="1050" dirty="0">
                <a:solidFill>
                  <a:srgbClr val="2B2B31"/>
                </a:solidFill>
                <a:latin typeface="Calibri" pitchFamily="34" charset="0"/>
                <a:ea typeface="Calibri" pitchFamily="34" charset="-122"/>
                <a:cs typeface="Calibri" pitchFamily="34" charset="-120"/>
              </a:rPr>
              <a:t>Pallasmaa, J. (2005). The Eyes of the Skin: Architecture and the Senses. Wiley. [Türkçesi: Tenin Gözleri, YEM Yayın]</a:t>
            </a:r>
            <a:endParaRPr lang="en-US" sz="1050" dirty="0"/>
          </a:p>
        </p:txBody>
      </p:sp>
      <p:sp>
        <p:nvSpPr>
          <p:cNvPr id="5" name="Text 3"/>
          <p:cNvSpPr txBox="1"/>
          <p:nvPr/>
        </p:nvSpPr>
        <p:spPr>
          <a:xfrm>
            <a:off x="777240" y="2596896"/>
            <a:ext cx="5029200" cy="868680"/>
          </a:xfrm>
          <a:prstGeom prst="rect">
            <a:avLst/>
          </a:prstGeom>
          <a:noFill/>
          <a:ln/>
        </p:spPr>
        <p:txBody>
          <a:bodyPr wrap="square" lIns="0" tIns="0" rIns="0" bIns="0" rtlCol="0" anchor="ctr"/>
          <a:lstStyle/>
          <a:p>
            <a:pPr indent="0" marL="0">
              <a:lnSpc>
                <a:spcPts val="1400"/>
              </a:lnSpc>
              <a:buNone/>
            </a:pPr>
            <a:r>
              <a:rPr lang="en-US" sz="1050" dirty="0">
                <a:solidFill>
                  <a:srgbClr val="2B2B31"/>
                </a:solidFill>
                <a:latin typeface="Calibri" pitchFamily="34" charset="0"/>
                <a:ea typeface="Calibri" pitchFamily="34" charset="-122"/>
                <a:cs typeface="Calibri" pitchFamily="34" charset="-120"/>
              </a:rPr>
              <a:t>Petermans, A. &amp; Van Cleempoel, K. (2009). Retail Design: Lighting as a Design Tool for the Retail Environment.</a:t>
            </a:r>
            <a:endParaRPr lang="en-US" sz="1050" dirty="0"/>
          </a:p>
        </p:txBody>
      </p:sp>
      <p:sp>
        <p:nvSpPr>
          <p:cNvPr id="6" name="Text 4"/>
          <p:cNvSpPr txBox="1"/>
          <p:nvPr/>
        </p:nvSpPr>
        <p:spPr>
          <a:xfrm>
            <a:off x="777240" y="3529584"/>
            <a:ext cx="5029200" cy="868680"/>
          </a:xfrm>
          <a:prstGeom prst="rect">
            <a:avLst/>
          </a:prstGeom>
          <a:noFill/>
          <a:ln/>
        </p:spPr>
        <p:txBody>
          <a:bodyPr wrap="square" lIns="0" tIns="0" rIns="0" bIns="0" rtlCol="0" anchor="ctr"/>
          <a:lstStyle/>
          <a:p>
            <a:pPr indent="0" marL="0">
              <a:lnSpc>
                <a:spcPts val="1400"/>
              </a:lnSpc>
              <a:buNone/>
            </a:pPr>
            <a:r>
              <a:rPr lang="en-US" sz="1050" dirty="0">
                <a:solidFill>
                  <a:srgbClr val="2B2B31"/>
                </a:solidFill>
                <a:latin typeface="Calibri" pitchFamily="34" charset="0"/>
                <a:ea typeface="Calibri" pitchFamily="34" charset="-122"/>
                <a:cs typeface="Calibri" pitchFamily="34" charset="-120"/>
              </a:rPr>
              <a:t>Pine, B. J. &amp; Gilmore, J. H. (1998). Welcome to the Experience Economy. Harvard Business Review, 76(4), 97–105.</a:t>
            </a:r>
            <a:endParaRPr lang="en-US" sz="1050" dirty="0"/>
          </a:p>
        </p:txBody>
      </p:sp>
      <p:sp>
        <p:nvSpPr>
          <p:cNvPr id="7" name="Text 5"/>
          <p:cNvSpPr txBox="1"/>
          <p:nvPr/>
        </p:nvSpPr>
        <p:spPr>
          <a:xfrm>
            <a:off x="777240" y="4462272"/>
            <a:ext cx="5029200" cy="868680"/>
          </a:xfrm>
          <a:prstGeom prst="rect">
            <a:avLst/>
          </a:prstGeom>
          <a:noFill/>
          <a:ln/>
        </p:spPr>
        <p:txBody>
          <a:bodyPr wrap="square" lIns="0" tIns="0" rIns="0" bIns="0" rtlCol="0" anchor="ctr"/>
          <a:lstStyle/>
          <a:p>
            <a:pPr indent="0" marL="0">
              <a:lnSpc>
                <a:spcPts val="1400"/>
              </a:lnSpc>
              <a:buNone/>
            </a:pPr>
            <a:r>
              <a:rPr lang="en-US" sz="1050" dirty="0">
                <a:solidFill>
                  <a:srgbClr val="2B2B31"/>
                </a:solidFill>
                <a:latin typeface="Calibri" pitchFamily="34" charset="0"/>
                <a:ea typeface="Calibri" pitchFamily="34" charset="-122"/>
                <a:cs typeface="Calibri" pitchFamily="34" charset="-120"/>
              </a:rPr>
              <a:t>Quartier, K., Petermans, A., Melewar, T. C. &amp; Dennis, C. (Eds.) (2021). The Value of Design in Retail and Branding. Emerald.</a:t>
            </a:r>
            <a:endParaRPr lang="en-US" sz="1050" dirty="0"/>
          </a:p>
        </p:txBody>
      </p:sp>
      <p:sp>
        <p:nvSpPr>
          <p:cNvPr id="8" name="Text 6"/>
          <p:cNvSpPr txBox="1"/>
          <p:nvPr/>
        </p:nvSpPr>
        <p:spPr>
          <a:xfrm>
            <a:off x="777240" y="5394960"/>
            <a:ext cx="5029200" cy="868680"/>
          </a:xfrm>
          <a:prstGeom prst="rect">
            <a:avLst/>
          </a:prstGeom>
          <a:noFill/>
          <a:ln/>
        </p:spPr>
        <p:txBody>
          <a:bodyPr wrap="square" lIns="0" tIns="0" rIns="0" bIns="0" rtlCol="0" anchor="ctr"/>
          <a:lstStyle/>
          <a:p>
            <a:pPr indent="0" marL="0">
              <a:lnSpc>
                <a:spcPts val="1400"/>
              </a:lnSpc>
              <a:buNone/>
            </a:pPr>
            <a:r>
              <a:rPr lang="en-US" sz="1050" dirty="0">
                <a:solidFill>
                  <a:srgbClr val="2B2B31"/>
                </a:solidFill>
                <a:latin typeface="Calibri" pitchFamily="34" charset="0"/>
                <a:ea typeface="Calibri" pitchFamily="34" charset="-122"/>
                <a:cs typeface="Calibri" pitchFamily="34" charset="-120"/>
              </a:rPr>
              <a:t>Schittich, C. (Ed.) (2002). Interior Spaces: Space, Light, Material. Edition Detail.</a:t>
            </a:r>
            <a:endParaRPr lang="en-US" sz="1050" dirty="0"/>
          </a:p>
        </p:txBody>
      </p:sp>
      <p:sp>
        <p:nvSpPr>
          <p:cNvPr id="9" name="Text 7"/>
          <p:cNvSpPr txBox="1"/>
          <p:nvPr/>
        </p:nvSpPr>
        <p:spPr>
          <a:xfrm>
            <a:off x="6382512" y="1664208"/>
            <a:ext cx="5029200" cy="868680"/>
          </a:xfrm>
          <a:prstGeom prst="rect">
            <a:avLst/>
          </a:prstGeom>
          <a:noFill/>
          <a:ln/>
        </p:spPr>
        <p:txBody>
          <a:bodyPr wrap="square" lIns="0" tIns="0" rIns="0" bIns="0" rtlCol="0" anchor="ctr"/>
          <a:lstStyle/>
          <a:p>
            <a:pPr indent="0" marL="0">
              <a:lnSpc>
                <a:spcPts val="1400"/>
              </a:lnSpc>
              <a:buNone/>
            </a:pPr>
            <a:r>
              <a:rPr lang="en-US" sz="1050" dirty="0">
                <a:solidFill>
                  <a:srgbClr val="2B2B31"/>
                </a:solidFill>
                <a:latin typeface="Calibri" pitchFamily="34" charset="0"/>
                <a:ea typeface="Calibri" pitchFamily="34" charset="-122"/>
                <a:cs typeface="Calibri" pitchFamily="34" charset="-120"/>
              </a:rPr>
              <a:t>Spence, C., Puccinelli, N. M., Grewal, D. &amp; Roggeveen, A. L. (2014). Store Atmospherics: A Multisensory Perspective. Psychology &amp; Marketing, 31(7), 472–488.</a:t>
            </a:r>
            <a:endParaRPr lang="en-US" sz="1050" dirty="0"/>
          </a:p>
        </p:txBody>
      </p:sp>
      <p:sp>
        <p:nvSpPr>
          <p:cNvPr id="10" name="Text 8"/>
          <p:cNvSpPr txBox="1"/>
          <p:nvPr/>
        </p:nvSpPr>
        <p:spPr>
          <a:xfrm>
            <a:off x="6382512" y="2596896"/>
            <a:ext cx="5029200" cy="868680"/>
          </a:xfrm>
          <a:prstGeom prst="rect">
            <a:avLst/>
          </a:prstGeom>
          <a:noFill/>
          <a:ln/>
        </p:spPr>
        <p:txBody>
          <a:bodyPr wrap="square" lIns="0" tIns="0" rIns="0" bIns="0" rtlCol="0" anchor="ctr"/>
          <a:lstStyle/>
          <a:p>
            <a:pPr indent="0" marL="0">
              <a:lnSpc>
                <a:spcPts val="1400"/>
              </a:lnSpc>
              <a:buNone/>
            </a:pPr>
            <a:r>
              <a:rPr lang="en-US" sz="1050" dirty="0">
                <a:solidFill>
                  <a:srgbClr val="2B2B31"/>
                </a:solidFill>
                <a:latin typeface="Calibri" pitchFamily="34" charset="0"/>
                <a:ea typeface="Calibri" pitchFamily="34" charset="-122"/>
                <a:cs typeface="Calibri" pitchFamily="34" charset="-120"/>
              </a:rPr>
              <a:t>Underhill, P. (2008). Why We Buy: The Science of Shopping (Rev. ed.). Simon &amp; Schuster.</a:t>
            </a:r>
            <a:endParaRPr lang="en-US" sz="1050" dirty="0"/>
          </a:p>
        </p:txBody>
      </p:sp>
      <p:sp>
        <p:nvSpPr>
          <p:cNvPr id="11" name="Text 9"/>
          <p:cNvSpPr txBox="1"/>
          <p:nvPr/>
        </p:nvSpPr>
        <p:spPr>
          <a:xfrm>
            <a:off x="6382512" y="3529584"/>
            <a:ext cx="5029200" cy="868680"/>
          </a:xfrm>
          <a:prstGeom prst="rect">
            <a:avLst/>
          </a:prstGeom>
          <a:noFill/>
          <a:ln/>
        </p:spPr>
        <p:txBody>
          <a:bodyPr wrap="square" lIns="0" tIns="0" rIns="0" bIns="0" rtlCol="0" anchor="ctr"/>
          <a:lstStyle/>
          <a:p>
            <a:pPr indent="0" marL="0">
              <a:lnSpc>
                <a:spcPts val="1400"/>
              </a:lnSpc>
              <a:buNone/>
            </a:pPr>
            <a:r>
              <a:rPr lang="en-US" sz="1050" dirty="0">
                <a:solidFill>
                  <a:srgbClr val="2B2B31"/>
                </a:solidFill>
                <a:latin typeface="Calibri" pitchFamily="34" charset="0"/>
                <a:ea typeface="Calibri" pitchFamily="34" charset="-122"/>
                <a:cs typeface="Calibri" pitchFamily="34" charset="-120"/>
              </a:rPr>
              <a:t>Wheeler, A. (2017). Designing Brand Identity (5th ed.). Wiley.</a:t>
            </a:r>
            <a:endParaRPr lang="en-US" sz="1050" dirty="0"/>
          </a:p>
        </p:txBody>
      </p:sp>
      <p:sp>
        <p:nvSpPr>
          <p:cNvPr id="12" name="Text 10"/>
          <p:cNvSpPr txBox="1"/>
          <p:nvPr/>
        </p:nvSpPr>
        <p:spPr>
          <a:xfrm>
            <a:off x="6382512" y="4462272"/>
            <a:ext cx="5029200" cy="868680"/>
          </a:xfrm>
          <a:prstGeom prst="rect">
            <a:avLst/>
          </a:prstGeom>
          <a:noFill/>
          <a:ln/>
        </p:spPr>
        <p:txBody>
          <a:bodyPr wrap="square" lIns="0" tIns="0" rIns="0" bIns="0" rtlCol="0" anchor="ctr"/>
          <a:lstStyle/>
          <a:p>
            <a:pPr indent="0" marL="0">
              <a:lnSpc>
                <a:spcPts val="1400"/>
              </a:lnSpc>
              <a:buNone/>
            </a:pPr>
            <a:r>
              <a:rPr lang="en-US" sz="1050" dirty="0">
                <a:solidFill>
                  <a:srgbClr val="2B2B31"/>
                </a:solidFill>
                <a:latin typeface="Calibri" pitchFamily="34" charset="0"/>
                <a:ea typeface="Calibri" pitchFamily="34" charset="-122"/>
                <a:cs typeface="Calibri" pitchFamily="34" charset="-120"/>
              </a:rPr>
              <a:t>Zumthor, P. (2006). Atmospheres. Birkhäuser. [Türkçesi: Atmosferler]</a:t>
            </a:r>
            <a:endParaRPr lang="en-US" sz="1050" dirty="0"/>
          </a:p>
        </p:txBody>
      </p:sp>
      <p:sp>
        <p:nvSpPr>
          <p:cNvPr id="13" name="Text 11"/>
          <p:cNvSpPr txBox="1"/>
          <p:nvPr/>
        </p:nvSpPr>
        <p:spPr>
          <a:xfrm>
            <a:off x="10972800" y="6355080"/>
            <a:ext cx="438912" cy="237744"/>
          </a:xfrm>
          <a:prstGeom prst="rect">
            <a:avLst/>
          </a:prstGeom>
          <a:noFill/>
          <a:ln/>
        </p:spPr>
        <p:txBody>
          <a:bodyPr wrap="square" lIns="0" tIns="0" rIns="0" bIns="0" rtlCol="0" anchor="ctr"/>
          <a:lstStyle/>
          <a:p>
            <a:pPr algn="r" indent="0" marL="0">
              <a:buNone/>
            </a:pPr>
            <a:r>
              <a:rPr lang="en-US" sz="950" dirty="0">
                <a:solidFill>
                  <a:srgbClr val="A6A6AC"/>
                </a:solidFill>
                <a:latin typeface="Calibri" pitchFamily="34" charset="0"/>
                <a:ea typeface="Calibri" pitchFamily="34" charset="-122"/>
                <a:cs typeface="Calibri" pitchFamily="34" charset="-120"/>
              </a:rPr>
              <a:t>56</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56</Slides>
  <Notes>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Mağaza Tasarımı — Teorik Giriş</dc:title>
  <dc:subject>PptxGenJS Presentation</dc:subject>
  <dc:creator>PptxGenJS</dc:creator>
  <cp:lastModifiedBy>PptxGenJS</cp:lastModifiedBy>
  <cp:revision>1</cp:revision>
  <dcterms:created xsi:type="dcterms:W3CDTF">2026-09-03T08:46:07Z</dcterms:created>
  <dcterms:modified xsi:type="dcterms:W3CDTF">2026-09-03T08:46:07Z</dcterms:modified>
</cp:coreProperties>
</file>